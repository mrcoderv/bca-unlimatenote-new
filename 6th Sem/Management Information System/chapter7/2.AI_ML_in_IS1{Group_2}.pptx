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09e7507cb_2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09e7507cb_2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09e7507cb_2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30f17140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30f17140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30f17140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2d3068979_9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2d3068979_9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2d3068979_9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s://images.unsplash.com/photo-1677442135703-1787eea5ce01?w=1200&amp;q=80" id="16" name="Google Shape;16;p3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A1628">
              <a:alpha val="94901"/>
            </a:srgbClr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" y="3657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GROUP 2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822960"/>
            <a:ext cx="7083425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Artificial </a:t>
            </a:r>
            <a:endParaRPr b="1" i="0" sz="4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Intelligence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&amp; Machine Learning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9615" y="2743200"/>
            <a:ext cx="502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in Information Systems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3337560"/>
            <a:ext cx="2286000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40080" y="35204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Raghav  ·  Shishir  ·  Shuprabha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&amp; ML in 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4050" y="-160025"/>
            <a:ext cx="3579949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to AI &amp; Machine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5760" y="1280160"/>
            <a:ext cx="50292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65760" y="1280160"/>
            <a:ext cx="228600" cy="1051560"/>
          </a:xfrm>
          <a:prstGeom prst="roundRect">
            <a:avLst>
              <a:gd fmla="val 32000" name="adj"/>
            </a:avLst>
          </a:prstGeom>
          <a:solidFill>
            <a:srgbClr val="0D948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31520" y="169164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simulation{virtual copy} of human intelligence in machines that are programmed to think, reason, learn, and problem-solve autonomously.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65760" y="2468880"/>
            <a:ext cx="50292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65760" y="2468880"/>
            <a:ext cx="228600" cy="1051560"/>
          </a:xfrm>
          <a:prstGeom prst="roundRect">
            <a:avLst>
              <a:gd fmla="val 32000" name="adj"/>
            </a:avLst>
          </a:prstGeom>
          <a:solidFill>
            <a:srgbClr val="6366F1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31520" y="2560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31520" y="288036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subset of AI that enables systems to automatically learn and improve from experience without being explicitly programmed.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65760" y="3657600"/>
            <a:ext cx="50292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365760" y="3657600"/>
            <a:ext cx="228600" cy="1051560"/>
          </a:xfrm>
          <a:prstGeom prst="roundRect">
            <a:avLst>
              <a:gd fmla="val 32000" name="adj"/>
            </a:avLst>
          </a:prstGeom>
          <a:solidFill>
            <a:srgbClr val="F59E0B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731520" y="3749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31520" y="40690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further subset using multi-layered neural networks to model complex patterns in data, inspired by the human brain.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images.unsplash.com/photo-1620712943543-bcc4688e7485?w=800&amp;q=80" id="47" name="Google Shape;47;p4"/>
          <p:cNvSpPr/>
          <p:nvPr/>
        </p:nvSpPr>
        <p:spPr>
          <a:xfrm>
            <a:off x="5669280" y="1188720"/>
            <a:ext cx="32004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Google Shape;48;p4"/>
          <p:cNvSpPr/>
          <p:nvPr/>
        </p:nvSpPr>
        <p:spPr>
          <a:xfrm>
            <a:off x="5669280" y="4297680"/>
            <a:ext cx="3200400" cy="548640"/>
          </a:xfrm>
          <a:prstGeom prst="rect">
            <a:avLst/>
          </a:prstGeom>
          <a:solidFill>
            <a:srgbClr val="0A1628">
              <a:alpha val="80000"/>
            </a:srgbClr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760720" y="43434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Neural network visualization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2765" y="1395095"/>
            <a:ext cx="3531235" cy="26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Types of Machine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74320" y="1234440"/>
            <a:ext cx="2743200" cy="3703320"/>
          </a:xfrm>
          <a:prstGeom prst="roundRect">
            <a:avLst>
              <a:gd fmla="val 4000" name="adj"/>
            </a:avLst>
          </a:prstGeom>
          <a:solidFill>
            <a:srgbClr val="11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27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https://images.unsplash.com/photo-1551288049-bebda4e38f71?w=500&amp;q=80" id="61" name="Google Shape;61;p5"/>
          <p:cNvSpPr/>
          <p:nvPr/>
        </p:nvSpPr>
        <p:spPr>
          <a:xfrm>
            <a:off x="411480" y="137160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2" name="Google Shape;62;p5"/>
          <p:cNvSpPr/>
          <p:nvPr/>
        </p:nvSpPr>
        <p:spPr>
          <a:xfrm>
            <a:off x="274320" y="1234440"/>
            <a:ext cx="2743200" cy="1371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20040" y="2820035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Supervised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65760" y="309067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Trains on labeled data. The model learns input-output mappings to make predictions on new, unseen data.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65760" y="4005072"/>
            <a:ext cx="2560320" cy="1828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65760" y="4069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Examples: Email spam detection, image recognition, house price prediction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200400" y="1234440"/>
            <a:ext cx="2743200" cy="3703320"/>
          </a:xfrm>
          <a:prstGeom prst="roundRect">
            <a:avLst>
              <a:gd fmla="val 4000" name="adj"/>
            </a:avLst>
          </a:prstGeom>
          <a:solidFill>
            <a:srgbClr val="11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27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https://images.unsplash.com/photo-1460925895917-afdab827c52f?w=500&amp;q=80" id="68" name="Google Shape;68;p5"/>
          <p:cNvSpPr/>
          <p:nvPr/>
        </p:nvSpPr>
        <p:spPr>
          <a:xfrm>
            <a:off x="3337560" y="137160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9" name="Google Shape;69;p5"/>
          <p:cNvSpPr/>
          <p:nvPr/>
        </p:nvSpPr>
        <p:spPr>
          <a:xfrm>
            <a:off x="3200400" y="1234440"/>
            <a:ext cx="2743200" cy="1371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291840" y="282067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Unsupervised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91840" y="309067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Finds hidden patterns in unlabeled data. Discovers structure without predefined correct answers.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91840" y="4005072"/>
            <a:ext cx="2560320" cy="1828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3291840" y="4069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Examples: Customer segmentation, anomaly detection, topic modeling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126480" y="1234440"/>
            <a:ext cx="2743200" cy="3703320"/>
          </a:xfrm>
          <a:prstGeom prst="roundRect">
            <a:avLst>
              <a:gd fmla="val 4000" name="adj"/>
            </a:avLst>
          </a:prstGeom>
          <a:solidFill>
            <a:srgbClr val="11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27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https://images.unsplash.com/photo-1485827404703-89b55fcc595e?w=500&amp;q=80" id="75" name="Google Shape;75;p5"/>
          <p:cNvSpPr/>
          <p:nvPr/>
        </p:nvSpPr>
        <p:spPr>
          <a:xfrm>
            <a:off x="6263640" y="1371600"/>
            <a:ext cx="2468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6" name="Google Shape;76;p5"/>
          <p:cNvSpPr/>
          <p:nvPr/>
        </p:nvSpPr>
        <p:spPr>
          <a:xfrm>
            <a:off x="6126480" y="1234440"/>
            <a:ext cx="2743200" cy="1371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217920" y="2770505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Reinforcement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217920" y="3090672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Learns through trial and error. An agent receives rewards or penalties based on actions in an environment.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217920" y="4005072"/>
            <a:ext cx="2560320" cy="1828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217920" y="4069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Examples: Game AI (AlphaGo), robotics, self-driving cars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0720" y="1257300"/>
            <a:ext cx="2703195" cy="139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445" y="1315085"/>
            <a:ext cx="2759710" cy="1455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5845" y="1285875"/>
            <a:ext cx="2745105" cy="1528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&amp; ML Applications in Information Systems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images.unsplash.com/photo-1518186285589-2f7649de83e0?w=800&amp;q=80" id="93" name="Google Shape;93;p6"/>
          <p:cNvSpPr/>
          <p:nvPr/>
        </p:nvSpPr>
        <p:spPr>
          <a:xfrm>
            <a:off x="5303520" y="1143000"/>
            <a:ext cx="365760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4" name="Google Shape;94;p6"/>
          <p:cNvSpPr/>
          <p:nvPr/>
        </p:nvSpPr>
        <p:spPr>
          <a:xfrm>
            <a:off x="5303520" y="4389120"/>
            <a:ext cx="3657600" cy="548640"/>
          </a:xfrm>
          <a:prstGeom prst="rect">
            <a:avLst/>
          </a:prstGeom>
          <a:solidFill>
            <a:srgbClr val="0A1628">
              <a:alpha val="90196"/>
            </a:srgbClr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5394960" y="44348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AI powering business intelligence &amp; data systems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74320" y="1188720"/>
            <a:ext cx="4754880" cy="694944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11480" y="1389888"/>
            <a:ext cx="292608" cy="29260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11480" y="1371600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22960" y="124358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Decision Support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22960" y="1517904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analyzes large datasets to help managers make data-driven decisions in real time.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74320" y="1956816"/>
            <a:ext cx="4754880" cy="694944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11480" y="2157984"/>
            <a:ext cx="292608" cy="292608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11480" y="2139696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22960" y="201168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Natural Language 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22960" y="2286000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Enables IS to understand and generate human language — chatbots, search, translation.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274320" y="2724912"/>
            <a:ext cx="4754880" cy="694944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11480" y="2926080"/>
            <a:ext cx="292608" cy="29260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11480" y="2907792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22960" y="277977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Predictive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22960" y="3054096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Forecasts trends, customer behavior, and system failures before they occur.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74320" y="3493008"/>
            <a:ext cx="4754880" cy="694944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11480" y="3694176"/>
            <a:ext cx="292608" cy="29260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11480" y="3675888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22960" y="354787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Intelligent Automation (RPA)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22960" y="3822192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Automates routine IS tasks like data entry, report generation, and workflow routing.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274320" y="4261104"/>
            <a:ext cx="4754880" cy="694944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11480" y="4462272"/>
            <a:ext cx="292608" cy="29260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11480" y="4443984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22960" y="431596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Cybersecurity &amp; Fraud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22960" y="4590288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ML models detect anomalies, intrusions, and fraudulent transactions in real time.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9370" y="1024255"/>
            <a:ext cx="402463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475" y="0"/>
            <a:ext cx="7277824" cy="54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Benefits &amp; Limitations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274320" y="118872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0F7057"/>
          </a:solidFill>
          <a:ln cap="flat" cmpd="sng" w="12700">
            <a:solidFill>
              <a:srgbClr val="0F7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365760" y="1234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74320" y="1737360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0D2B22"/>
          </a:solidFill>
          <a:ln cap="flat" cmpd="sng" w="12700">
            <a:solidFill>
              <a:srgbClr val="1A5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11480" y="17830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→  Automates repetitive &amp; time-consuming tasks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274320" y="2258568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0D2B22"/>
          </a:solidFill>
          <a:ln cap="flat" cmpd="sng" w="12700">
            <a:solidFill>
              <a:srgbClr val="1A5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411480" y="23042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→  Processes vast amounts of data at high speed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74320" y="2779776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0D2B22"/>
          </a:solidFill>
          <a:ln cap="flat" cmpd="sng" w="12700">
            <a:solidFill>
              <a:srgbClr val="1A5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11480" y="282549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→  Improves decision-making 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74320" y="3300984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0D2B22"/>
          </a:solidFill>
          <a:ln cap="flat" cmpd="sng" w="12700">
            <a:solidFill>
              <a:srgbClr val="1A5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11480" y="334670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→  Personalized user experiences at 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74320" y="3822192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0D2B22"/>
          </a:solidFill>
          <a:ln cap="flat" cmpd="sng" w="12700">
            <a:solidFill>
              <a:srgbClr val="1A5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11480" y="386791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→  Reduces human error in critical 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74320" y="4343400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0D2B22"/>
          </a:solidFill>
          <a:ln cap="flat" cmpd="sng" w="12700">
            <a:solidFill>
              <a:srgbClr val="1A5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11480" y="43891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→  Enables 24/7 intelligent service delivery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846320" y="118872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7C2020"/>
          </a:solidFill>
          <a:ln cap="flat" cmpd="sng" w="12700">
            <a:solidFill>
              <a:srgbClr val="7C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937760" y="1234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LIMITATIONS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846320" y="1737360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2B1010"/>
          </a:solidFill>
          <a:ln cap="flat" cmpd="sng" w="12700">
            <a:solidFill>
              <a:srgbClr val="5A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983480" y="178308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→  High cost of data collection and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846320" y="2258568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2B1010"/>
          </a:solidFill>
          <a:ln cap="flat" cmpd="sng" w="12700">
            <a:solidFill>
              <a:srgbClr val="5A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983480" y="23042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→  Requires large, high-quality datasets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846320" y="2779776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2B1010"/>
          </a:solidFill>
          <a:ln cap="flat" cmpd="sng" w="12700">
            <a:solidFill>
              <a:srgbClr val="5A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983480" y="282549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→  Black-box models lack explainability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846320" y="3300984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2B1010"/>
          </a:solidFill>
          <a:ln cap="flat" cmpd="sng" w="12700">
            <a:solidFill>
              <a:srgbClr val="5A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983480" y="334670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→  Prone to bias if training data is biased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846320" y="3822192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2B1010"/>
          </a:solidFill>
          <a:ln cap="flat" cmpd="sng" w="12700">
            <a:solidFill>
              <a:srgbClr val="5A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983480" y="386791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→  Vulnerable to adversarial attacks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846320" y="4343400"/>
            <a:ext cx="4023360" cy="438912"/>
          </a:xfrm>
          <a:prstGeom prst="roundRect">
            <a:avLst>
              <a:gd fmla="val 14583" name="adj"/>
            </a:avLst>
          </a:prstGeom>
          <a:solidFill>
            <a:srgbClr val="2B1010"/>
          </a:solidFill>
          <a:ln cap="flat" cmpd="sng" w="12700">
            <a:solidFill>
              <a:srgbClr val="5A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4983480" y="43891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→  Risk of job displacement &amp; over-reliance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Ethical Concerns in AI &amp; ML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images.unsplash.com/photo-1485827404703-89b55fcc595e?w=800&amp;q=80" id="174" name="Google Shape;174;p9"/>
          <p:cNvSpPr/>
          <p:nvPr/>
        </p:nvSpPr>
        <p:spPr>
          <a:xfrm>
            <a:off x="274320" y="11887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5" name="Google Shape;175;p9"/>
          <p:cNvSpPr/>
          <p:nvPr/>
        </p:nvSpPr>
        <p:spPr>
          <a:xfrm>
            <a:off x="274320" y="3291840"/>
            <a:ext cx="3474720" cy="457200"/>
          </a:xfrm>
          <a:prstGeom prst="rect">
            <a:avLst/>
          </a:prstGeom>
          <a:solidFill>
            <a:srgbClr val="0A1628">
              <a:alpha val="90196"/>
            </a:srgbClr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365760" y="33375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AI ethics at the frontier of technology &amp; society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977640" y="1188720"/>
            <a:ext cx="233172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977640" y="1188720"/>
            <a:ext cx="2331720" cy="10972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4069080" y="132588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Bias &amp; Fairness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055338" y="1522986"/>
            <a:ext cx="21489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</a:rPr>
              <a:t>AI can be unfair if it learns from biased data.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</a:rPr>
              <a:t>It may treat some people better than others.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Example:</a:t>
            </a:r>
            <a:r>
              <a:rPr lang="en-US" sz="800">
                <a:solidFill>
                  <a:schemeClr val="dk1"/>
                </a:solidFill>
              </a:rPr>
              <a:t> Unfair hiring, loan approval, or police decisions.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t/>
            </a:r>
            <a:endParaRPr sz="55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537953" y="1472258"/>
            <a:ext cx="2331600" cy="8046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510528" y="1188720"/>
            <a:ext cx="2331720" cy="10972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601930" y="1316793"/>
            <a:ext cx="214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dk1"/>
                </a:solidFill>
              </a:rPr>
              <a:t>Privacy &amp; Monitoring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629330" y="1687044"/>
            <a:ext cx="214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collects a lot of personal information.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track people using cameras and facial recognition.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can reduce people's privacy.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977640" y="2148840"/>
            <a:ext cx="233172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3977640" y="2148840"/>
            <a:ext cx="2331720" cy="10972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069080" y="228600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Transparency &amp; Explainability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055333" y="2651794"/>
            <a:ext cx="214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Sometimes AI gives answers without explaining why.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should understand how AI makes decisions.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510528" y="2148840"/>
            <a:ext cx="233172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6510528" y="2148840"/>
            <a:ext cx="2331720" cy="1097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6601968" y="228600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Job Displacement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601968" y="2551176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and robots can do many human jobs.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may reduce jobs, especially repetitive work.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Workers need new skills for future jobs.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977640" y="3108960"/>
            <a:ext cx="233172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3977640" y="3108960"/>
            <a:ext cx="2331720" cy="10972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069080" y="324612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Accountability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069080" y="3511296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AI makes a mistake, who is responsible?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company, developer, or user should be accountable.{ka laee xopne kai bhayo bhane }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510528" y="3108960"/>
            <a:ext cx="2331720" cy="804672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510528" y="3108960"/>
            <a:ext cx="2331720" cy="109728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601968" y="324612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Misinformation &amp; Deepfakes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629400" y="3502151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can create fake photos, videos, and news.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can spread false information and confuse people.{rasmika mandana case}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274320" y="3886200"/>
            <a:ext cx="8595360" cy="868680"/>
          </a:xfrm>
          <a:prstGeom prst="roundRect">
            <a:avLst>
              <a:gd fmla="val 10526" name="adj"/>
            </a:avLst>
          </a:prstGeom>
          <a:solidFill>
            <a:srgbClr val="0A1628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57200" y="404241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CCFBF1"/>
                </a:solidFill>
                <a:latin typeface="Cambria"/>
                <a:ea typeface="Cambria"/>
                <a:cs typeface="Cambria"/>
                <a:sym typeface="Cambria"/>
              </a:rPr>
              <a:t>"</a:t>
            </a:r>
            <a:r>
              <a:rPr i="1" lang="en-US" sz="1100">
                <a:solidFill>
                  <a:srgbClr val="CCFBF1"/>
                </a:solidFill>
                <a:latin typeface="Cambria"/>
                <a:ea typeface="Cambria"/>
                <a:cs typeface="Cambria"/>
                <a:sym typeface="Cambria"/>
              </a:rPr>
              <a:t>AI is powerful, but it should be fair, safe, and responsible. We must use AI in a way that helps people without causing harm.</a:t>
            </a:r>
            <a:endParaRPr b="0" i="1" sz="1100" u="none" cap="none" strike="noStrike">
              <a:solidFill>
                <a:srgbClr val="CCFBF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1" sz="1100" u="none" cap="none" strike="noStrike">
              <a:solidFill>
                <a:srgbClr val="CCFBF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धेरै उपयोगी छ, तर यसलाई न्यायपूर्ण, सुरक्षित र जिम्मेवारीका साथ प्रयोग गर्नुपर्छ। AI ले मानिसलाई सहयोग गर्नुपर्छ, हानि होइन।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" y="1248410"/>
            <a:ext cx="3827145" cy="2551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cap="flat" cmpd="sng" w="12700">
            <a:solidFill>
              <a:srgbClr val="11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Real-World Examples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274320" y="1188720"/>
            <a:ext cx="1965960" cy="3794760"/>
          </a:xfrm>
          <a:prstGeom prst="roundRect">
            <a:avLst>
              <a:gd fmla="val 4651" name="adj"/>
            </a:avLst>
          </a:prstGeom>
          <a:solidFill>
            <a:srgbClr val="11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27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274320" y="1188720"/>
            <a:ext cx="1965960" cy="164592"/>
          </a:xfrm>
          <a:prstGeom prst="rect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914400" y="1371600"/>
            <a:ext cx="685800" cy="6858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https://upload.wikimedia.org/wikipedia/commons/thumb/c/c1/Google_%22G%22_logo.svg/120px-Google_%22G%22_logo.svg.png" id="216" name="Google Shape;216;p10"/>
          <p:cNvSpPr/>
          <p:nvPr/>
        </p:nvSpPr>
        <p:spPr>
          <a:xfrm>
            <a:off x="932688" y="1399032"/>
            <a:ext cx="649224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7" name="Google Shape;217;p10"/>
          <p:cNvSpPr/>
          <p:nvPr/>
        </p:nvSpPr>
        <p:spPr>
          <a:xfrm>
            <a:off x="365760" y="213055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Google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48640" y="2496312"/>
            <a:ext cx="1417320" cy="27432"/>
          </a:xfrm>
          <a:prstGeom prst="rect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384048" y="257860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🔍 </a:t>
            </a:r>
            <a:r>
              <a:rPr b="1" lang="en-US" sz="1100">
                <a:solidFill>
                  <a:schemeClr val="lt1"/>
                </a:solidFill>
              </a:rPr>
              <a:t>Google Search</a:t>
            </a:r>
            <a:r>
              <a:rPr lang="en-US" sz="1100">
                <a:solidFill>
                  <a:schemeClr val="lt1"/>
                </a:solidFill>
              </a:rPr>
              <a:t> – Finds the best search results.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84048" y="312724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🌐 </a:t>
            </a:r>
            <a:r>
              <a:rPr b="1" lang="en-US" sz="1100">
                <a:solidFill>
                  <a:schemeClr val="lt1"/>
                </a:solidFill>
              </a:rPr>
              <a:t>Google Translate</a:t>
            </a:r>
            <a:r>
              <a:rPr lang="en-US" sz="1100">
                <a:solidFill>
                  <a:schemeClr val="lt1"/>
                </a:solidFill>
              </a:rPr>
              <a:t> – Translates languages.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84048" y="367588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📧 </a:t>
            </a:r>
            <a:r>
              <a:rPr b="1" lang="en-US" sz="1100">
                <a:solidFill>
                  <a:schemeClr val="lt1"/>
                </a:solidFill>
              </a:rPr>
              <a:t>Gmail Smart Reply</a:t>
            </a:r>
            <a:r>
              <a:rPr lang="en-US" sz="1100">
                <a:solidFill>
                  <a:schemeClr val="lt1"/>
                </a:solidFill>
              </a:rPr>
              <a:t> – Suggests quick email replies.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2441448" y="1188720"/>
            <a:ext cx="1965960" cy="3794760"/>
          </a:xfrm>
          <a:prstGeom prst="roundRect">
            <a:avLst>
              <a:gd fmla="val 4651" name="adj"/>
            </a:avLst>
          </a:prstGeom>
          <a:solidFill>
            <a:srgbClr val="11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27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2441448" y="1188720"/>
            <a:ext cx="1965960" cy="164592"/>
          </a:xfrm>
          <a:prstGeom prst="rect">
            <a:avLst/>
          </a:prstGeom>
          <a:solidFill>
            <a:srgbClr val="E31937"/>
          </a:solidFill>
          <a:ln cap="flat" cmpd="sng" w="12700">
            <a:solidFill>
              <a:srgbClr val="E31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3081528" y="1371600"/>
            <a:ext cx="685800" cy="6858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https://upload.wikimedia.org/wikipedia/commons/thumb/b/bd/Tesla_Motors.svg/120px-Tesla_Motors.svg.png" id="225" name="Google Shape;225;p10"/>
          <p:cNvSpPr/>
          <p:nvPr/>
        </p:nvSpPr>
        <p:spPr>
          <a:xfrm>
            <a:off x="3099816" y="1399032"/>
            <a:ext cx="649224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6" name="Google Shape;226;p10"/>
          <p:cNvSpPr/>
          <p:nvPr/>
        </p:nvSpPr>
        <p:spPr>
          <a:xfrm>
            <a:off x="2532888" y="213055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Tesla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2715768" y="2496312"/>
            <a:ext cx="1417320" cy="27432"/>
          </a:xfrm>
          <a:prstGeom prst="rect">
            <a:avLst/>
          </a:prstGeom>
          <a:solidFill>
            <a:srgbClr val="E31937"/>
          </a:solidFill>
          <a:ln cap="flat" cmpd="sng" w="12700">
            <a:solidFill>
              <a:srgbClr val="E31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2551175" y="4224523"/>
            <a:ext cx="1755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⚡ </a:t>
            </a:r>
            <a:r>
              <a:rPr b="1" lang="en-US" sz="1100">
                <a:solidFill>
                  <a:schemeClr val="lt1"/>
                </a:solidFill>
              </a:rPr>
              <a:t>Battery Management</a:t>
            </a:r>
            <a:r>
              <a:rPr lang="en-US" sz="1100">
                <a:solidFill>
                  <a:schemeClr val="lt1"/>
                </a:solidFill>
              </a:rPr>
              <a:t> – Makes battery use more efficient. like advance regenerative braking system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2551176" y="257860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🚗 </a:t>
            </a:r>
            <a:r>
              <a:rPr b="1" lang="en-US" sz="1100">
                <a:solidFill>
                  <a:schemeClr val="lt1"/>
                </a:solidFill>
              </a:rPr>
              <a:t>Self-Driving Cars</a:t>
            </a:r>
            <a:r>
              <a:rPr lang="en-US" sz="1100">
                <a:solidFill>
                  <a:schemeClr val="lt1"/>
                </a:solidFill>
              </a:rPr>
              <a:t> – Helps cars drive safely.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2551176" y="312724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👀 </a:t>
            </a:r>
            <a:r>
              <a:rPr b="1" lang="en-US" sz="1100">
                <a:solidFill>
                  <a:schemeClr val="lt1"/>
                </a:solidFill>
              </a:rPr>
              <a:t>Detects Roads &amp; Objects</a:t>
            </a:r>
            <a:r>
              <a:rPr lang="en-US" sz="1100">
                <a:solidFill>
                  <a:schemeClr val="lt1"/>
                </a:solidFill>
              </a:rPr>
              <a:t> – Uses cameras and AI.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2551176" y="367588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🔄</a:t>
            </a:r>
            <a:r>
              <a:rPr b="1" lang="en-US" sz="1100">
                <a:solidFill>
                  <a:schemeClr val="lt1"/>
                </a:solidFill>
              </a:rPr>
              <a:t> Optimus Humanoid Robot</a:t>
            </a:r>
            <a:r>
              <a:rPr lang="en-US" sz="1100">
                <a:solidFill>
                  <a:schemeClr val="lt1"/>
                </a:solidFill>
              </a:rPr>
              <a:t> – Tesla is developing Optimus, a humanoid robot.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608576" y="1188720"/>
            <a:ext cx="1965960" cy="3794760"/>
          </a:xfrm>
          <a:prstGeom prst="roundRect">
            <a:avLst>
              <a:gd fmla="val 4651" name="adj"/>
            </a:avLst>
          </a:prstGeom>
          <a:solidFill>
            <a:srgbClr val="11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27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608576" y="1188720"/>
            <a:ext cx="1965960" cy="164592"/>
          </a:xfrm>
          <a:prstGeom prst="rect">
            <a:avLst/>
          </a:prstGeom>
          <a:solidFill>
            <a:srgbClr val="00A4EF"/>
          </a:solidFill>
          <a:ln cap="flat" cmpd="sng" w="12700">
            <a:solidFill>
              <a:srgbClr val="00A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5248656" y="1371600"/>
            <a:ext cx="685800" cy="6858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https://upload.wikimedia.org/wikipedia/commons/thumb/4/44/Microsoft_logo.svg/120px-Microsoft_logo.svg.png" id="235" name="Google Shape;235;p10"/>
          <p:cNvSpPr/>
          <p:nvPr/>
        </p:nvSpPr>
        <p:spPr>
          <a:xfrm>
            <a:off x="5266944" y="1399032"/>
            <a:ext cx="649224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6" name="Google Shape;236;p10"/>
          <p:cNvSpPr/>
          <p:nvPr/>
        </p:nvSpPr>
        <p:spPr>
          <a:xfrm>
            <a:off x="4700016" y="213055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Microsoft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882896" y="2496312"/>
            <a:ext cx="1417320" cy="27432"/>
          </a:xfrm>
          <a:prstGeom prst="rect">
            <a:avLst/>
          </a:prstGeom>
          <a:solidFill>
            <a:srgbClr val="00A4EF"/>
          </a:solidFill>
          <a:ln cap="flat" cmpd="sng" w="12700">
            <a:solidFill>
              <a:srgbClr val="00A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4718304" y="2578608"/>
            <a:ext cx="1755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🤖 </a:t>
            </a:r>
            <a:r>
              <a:rPr b="1" lang="en-US" sz="1100">
                <a:solidFill>
                  <a:schemeClr val="lt1"/>
                </a:solidFill>
              </a:rPr>
              <a:t>Microsoft Copilot</a:t>
            </a:r>
            <a:r>
              <a:rPr lang="en-US" sz="1100">
                <a:solidFill>
                  <a:schemeClr val="lt1"/>
                </a:solidFill>
              </a:rPr>
              <a:t> – Helps write documents and code.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718304" y="312724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☁️ </a:t>
            </a:r>
            <a:r>
              <a:rPr b="1" lang="en-US" sz="1100">
                <a:solidFill>
                  <a:schemeClr val="lt1"/>
                </a:solidFill>
              </a:rPr>
              <a:t>Azure AI</a:t>
            </a:r>
            <a:r>
              <a:rPr lang="en-US" sz="1100">
                <a:solidFill>
                  <a:schemeClr val="lt1"/>
                </a:solidFill>
              </a:rPr>
              <a:t> – AI tools for businesses.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718304" y="367588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💼 </a:t>
            </a:r>
            <a:r>
              <a:rPr b="1" lang="en-US" sz="1100">
                <a:solidFill>
                  <a:schemeClr val="lt1"/>
                </a:solidFill>
              </a:rPr>
              <a:t>LinkedIn AI</a:t>
            </a:r>
            <a:r>
              <a:rPr lang="en-US" sz="1100">
                <a:solidFill>
                  <a:schemeClr val="lt1"/>
                </a:solidFill>
              </a:rPr>
              <a:t> – Suggests jobs and connections.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718304" y="422452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🔎 </a:t>
            </a:r>
            <a:r>
              <a:rPr b="1" lang="en-US" sz="1100">
                <a:solidFill>
                  <a:schemeClr val="lt1"/>
                </a:solidFill>
              </a:rPr>
              <a:t>Bing AI Search</a:t>
            </a:r>
            <a:r>
              <a:rPr lang="en-US" sz="1100">
                <a:solidFill>
                  <a:schemeClr val="lt1"/>
                </a:solidFill>
              </a:rPr>
              <a:t> </a:t>
            </a:r>
            <a:r>
              <a:rPr b="1" lang="en-US" sz="1100">
                <a:solidFill>
                  <a:schemeClr val="lt1"/>
                </a:solidFill>
              </a:rPr>
              <a:t>engine</a:t>
            </a:r>
            <a:r>
              <a:rPr lang="en-US" sz="1100">
                <a:solidFill>
                  <a:schemeClr val="lt1"/>
                </a:solidFill>
              </a:rPr>
              <a:t>– Gives smarter search results.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775704" y="1188720"/>
            <a:ext cx="1965960" cy="3794760"/>
          </a:xfrm>
          <a:prstGeom prst="roundRect">
            <a:avLst>
              <a:gd fmla="val 4651" name="adj"/>
            </a:avLst>
          </a:prstGeom>
          <a:solidFill>
            <a:srgbClr val="112240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27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775704" y="1188720"/>
            <a:ext cx="1965960" cy="164592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7415784" y="1371600"/>
            <a:ext cx="685800" cy="6858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https://upload.wikimedia.org/wikipedia/commons/thumb/a/a9/Amazon_logo.svg/200px-Amazon_logo.svg.png" id="245" name="Google Shape;245;p10"/>
          <p:cNvSpPr/>
          <p:nvPr/>
        </p:nvSpPr>
        <p:spPr>
          <a:xfrm>
            <a:off x="7434072" y="1399032"/>
            <a:ext cx="649224" cy="6492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6" name="Google Shape;246;p10"/>
          <p:cNvSpPr/>
          <p:nvPr/>
        </p:nvSpPr>
        <p:spPr>
          <a:xfrm>
            <a:off x="6867144" y="2130552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Amazon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7050024" y="2496312"/>
            <a:ext cx="1417320" cy="27432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885432" y="257860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🛒 </a:t>
            </a:r>
            <a:r>
              <a:rPr b="1" lang="en-US" sz="1100">
                <a:solidFill>
                  <a:schemeClr val="lt1"/>
                </a:solidFill>
              </a:rPr>
              <a:t>Product Recommendations</a:t>
            </a:r>
            <a:r>
              <a:rPr lang="en-US" sz="1100">
                <a:solidFill>
                  <a:schemeClr val="lt1"/>
                </a:solidFill>
              </a:rPr>
              <a:t> – Suggests products you may like.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885432" y="312724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🗣️ </a:t>
            </a:r>
            <a:r>
              <a:rPr b="1" lang="en-US" sz="1100">
                <a:solidFill>
                  <a:schemeClr val="lt1"/>
                </a:solidFill>
              </a:rPr>
              <a:t>Alexa</a:t>
            </a:r>
            <a:r>
              <a:rPr lang="en-US" sz="1100">
                <a:solidFill>
                  <a:schemeClr val="lt1"/>
                </a:solidFill>
              </a:rPr>
              <a:t> – Voice assistant that answers questions.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885432" y="367588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📦 </a:t>
            </a:r>
            <a:r>
              <a:rPr b="1" lang="en-US" sz="1100">
                <a:solidFill>
                  <a:schemeClr val="lt1"/>
                </a:solidFill>
              </a:rPr>
              <a:t>Warehouse Robots</a:t>
            </a:r>
            <a:r>
              <a:rPr lang="en-US" sz="1100">
                <a:solidFill>
                  <a:schemeClr val="lt1"/>
                </a:solidFill>
              </a:rPr>
              <a:t> – Helps pack and move products.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885432" y="4224528"/>
            <a:ext cx="17556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☁️ </a:t>
            </a:r>
            <a:r>
              <a:rPr b="1" lang="en-US" sz="1100">
                <a:solidFill>
                  <a:schemeClr val="lt1"/>
                </a:solidFill>
              </a:rPr>
              <a:t>AWS AI Services</a:t>
            </a:r>
            <a:r>
              <a:rPr lang="en-US" sz="1100">
                <a:solidFill>
                  <a:schemeClr val="lt1"/>
                </a:solidFill>
              </a:rPr>
              <a:t> – AI tools for developers and companies.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1363345"/>
            <a:ext cx="885825" cy="72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5895" y="1363345"/>
            <a:ext cx="1587500" cy="1012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8195" y="1363345"/>
            <a:ext cx="1965960" cy="1011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2755" y="1353185"/>
            <a:ext cx="1943735" cy="10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384050" y="4270248"/>
            <a:ext cx="1755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📷 </a:t>
            </a:r>
            <a:r>
              <a:rPr b="1" lang="en-US" sz="1100">
                <a:solidFill>
                  <a:schemeClr val="lt1"/>
                </a:solidFill>
              </a:rPr>
              <a:t>Google Photos</a:t>
            </a:r>
            <a:r>
              <a:rPr lang="en-US" sz="1100">
                <a:solidFill>
                  <a:schemeClr val="lt1"/>
                </a:solidFill>
              </a:rPr>
              <a:t> – Finds people, places, and objects in your photos.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864" y="1192151"/>
            <a:ext cx="2745324" cy="205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175" y="998500"/>
            <a:ext cx="1923050" cy="192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1"/>
          <p:cNvPicPr preferRelativeResize="0"/>
          <p:nvPr/>
        </p:nvPicPr>
        <p:blipFill rotWithShape="1">
          <a:blip r:embed="rId5">
            <a:alphaModFix/>
          </a:blip>
          <a:srcRect b="47979" l="0" r="0" t="0"/>
          <a:stretch/>
        </p:blipFill>
        <p:spPr>
          <a:xfrm>
            <a:off x="4044150" y="823700"/>
            <a:ext cx="3314175" cy="24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1"/>
          <p:cNvPicPr preferRelativeResize="0"/>
          <p:nvPr/>
        </p:nvPicPr>
        <p:blipFill rotWithShape="1">
          <a:blip r:embed="rId6">
            <a:alphaModFix/>
          </a:blip>
          <a:srcRect b="-4840" l="-1290" r="1290" t="4840"/>
          <a:stretch/>
        </p:blipFill>
        <p:spPr>
          <a:xfrm>
            <a:off x="6880725" y="898263"/>
            <a:ext cx="2522624" cy="252262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 txBox="1"/>
          <p:nvPr/>
        </p:nvSpPr>
        <p:spPr>
          <a:xfrm>
            <a:off x="7504800" y="3714575"/>
            <a:ext cx="163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amazon:alexa </a:t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4695575" y="3714575"/>
            <a:ext cx="163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microsoft:copilot 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1922013" y="3763500"/>
            <a:ext cx="216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tesla: </a:t>
            </a:r>
            <a:r>
              <a:rPr lang="en-US"/>
              <a:t>Humanoid Robot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64038" y="3763500"/>
            <a:ext cx="216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Google: gemini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529175" y="187250"/>
            <a:ext cx="40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popular ai tool and product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80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