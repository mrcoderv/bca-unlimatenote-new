
<file path=[Content_Types].xml><?xml version="1.0" encoding="utf-8"?>
<Types xmlns="http://schemas.openxmlformats.org/package/2006/content-types">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charts/chart1.xml" ContentType="application/vnd.openxmlformats-officedocument.drawingml.chart+xml"/>
  <Override PartName="/ppt/notesSlides/notesSlide1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8"/>
  </p:notesMasterIdLst>
  <p:sldIdLst>
    <p:sldId id="256" r:id="rId2"/>
    <p:sldId id="257" r:id="rId3"/>
    <p:sldId id="258" r:id="rId4"/>
    <p:sldId id="260" r:id="rId5"/>
    <p:sldId id="262" r:id="rId6"/>
    <p:sldId id="264" r:id="rId7"/>
    <p:sldId id="265" r:id="rId8"/>
    <p:sldId id="266" r:id="rId9"/>
    <p:sldId id="267" r:id="rId10"/>
    <p:sldId id="268" r:id="rId11"/>
    <p:sldId id="269" r:id="rId12"/>
    <p:sldId id="270" r:id="rId13"/>
    <p:sldId id="271" r:id="rId14"/>
    <p:sldId id="272" r:id="rId15"/>
    <p:sldId id="273" r:id="rId16"/>
    <p:sldId id="274" r:id="rId17"/>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4610"/>
  </p:normalViewPr>
  <p:slideViewPr>
    <p:cSldViewPr snapToGrid="0" snapToObjects="1">
      <p:cViewPr varScale="1">
        <p:scale>
          <a:sx n="82" d="100"/>
          <a:sy n="82" d="100"/>
        </p:scale>
        <p:origin x="691" y="7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ableStyles" Target="tableStyles.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title>
      <c:tx>
        <c:rich>
          <a:bodyPr/>
          <a:lstStyle/>
          <a:p>
            <a:pPr>
              <a:defRPr sz="1200" b="0" i="0" u="none" strike="noStrike">
                <a:solidFill>
                  <a:srgbClr val="FFFFFF"/>
                </a:solidFill>
                <a:latin typeface="Arial"/>
              </a:defRPr>
            </a:pPr>
            <a:r>
              <a:rPr lang="en-US" sz="1200" b="0" i="0" u="none" strike="noStrike">
                <a:solidFill>
                  <a:srgbClr val="FFFFFF"/>
                </a:solidFill>
                <a:latin typeface="Arial"/>
              </a:rPr>
              <a:t>% of Enterprises Using Gen AI</a:t>
            </a:r>
          </a:p>
        </c:rich>
      </c:tx>
      <c:overlay val="0"/>
    </c:title>
    <c:autoTitleDeleted val="0"/>
    <c:plotArea>
      <c:layout/>
      <c:lineChart>
        <c:grouping val="standard"/>
        <c:varyColors val="0"/>
        <c:ser>
          <c:idx val="0"/>
          <c:order val="0"/>
          <c:tx>
            <c:strRef>
              <c:f>Sheet1!$B$1</c:f>
              <c:strCache>
                <c:ptCount val="1"/>
                <c:pt idx="0">
                  <c:v>Enterprise Gen AI Adoption (illustrative)</c:v>
                </c:pt>
              </c:strCache>
            </c:strRef>
          </c:tx>
          <c:spPr>
            <a:ln w="38100" cap="flat">
              <a:solidFill>
                <a:srgbClr val="2DD4BF"/>
              </a:solidFill>
              <a:prstDash val="solid"/>
              <a:round/>
            </a:ln>
            <a:effectLst/>
          </c:spPr>
          <c:marker>
            <c:symbol val="circle"/>
            <c:size val="6"/>
            <c:spPr>
              <a:solidFill>
                <a:srgbClr val="2DD4BF"/>
              </a:solidFill>
              <a:ln w="9525" cap="flat">
                <a:solidFill>
                  <a:srgbClr val="2DD4BF"/>
                </a:solidFill>
                <a:prstDash val="solid"/>
                <a:round/>
              </a:ln>
              <a:effectLst/>
            </c:spPr>
          </c:marker>
          <c:dLbls>
            <c:numFmt formatCode="#,##0" sourceLinked="0"/>
            <c:spPr>
              <a:noFill/>
              <a:ln>
                <a:noFill/>
              </a:ln>
              <a:effectLst/>
            </c:spPr>
            <c:txPr>
              <a:bodyPr/>
              <a:lstStyle/>
              <a:p>
                <a:pPr>
                  <a:defRPr sz="1000" b="0" i="0" u="none" strike="noStrike">
                    <a:solidFill>
                      <a:srgbClr val="FFFFFF"/>
                    </a:solidFill>
                    <a:latin typeface="Arial"/>
                  </a:defRPr>
                </a:pPr>
                <a:endParaRPr lang="en-US"/>
              </a:p>
            </c:txPr>
            <c:dLblPos val="t"/>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Sheet1!$A$2:$A$6</c:f>
              <c:strCache>
                <c:ptCount val="5"/>
                <c:pt idx="0">
                  <c:v>2023</c:v>
                </c:pt>
                <c:pt idx="1">
                  <c:v>2024</c:v>
                </c:pt>
                <c:pt idx="2">
                  <c:v>2025</c:v>
                </c:pt>
                <c:pt idx="3">
                  <c:v>2026</c:v>
                </c:pt>
                <c:pt idx="4">
                  <c:v>2027</c:v>
                </c:pt>
              </c:strCache>
            </c:strRef>
          </c:cat>
          <c:val>
            <c:numRef>
              <c:f>Sheet1!$B$2:$B$6</c:f>
              <c:numCache>
                <c:formatCode>General</c:formatCode>
                <c:ptCount val="5"/>
                <c:pt idx="0">
                  <c:v>20</c:v>
                </c:pt>
                <c:pt idx="1">
                  <c:v>38</c:v>
                </c:pt>
                <c:pt idx="2">
                  <c:v>55</c:v>
                </c:pt>
                <c:pt idx="3">
                  <c:v>72</c:v>
                </c:pt>
                <c:pt idx="4">
                  <c:v>85</c:v>
                </c:pt>
              </c:numCache>
            </c:numRef>
          </c:val>
          <c:smooth val="1"/>
          <c:extLst>
            <c:ext xmlns:c16="http://schemas.microsoft.com/office/drawing/2014/chart" uri="{C3380CC4-5D6E-409C-BE32-E72D297353CC}">
              <c16:uniqueId val="{00000000-14E8-4EF3-8B3C-F2C99F4C8928}"/>
            </c:ext>
          </c:extLst>
        </c:ser>
        <c:dLbls>
          <c:dLblPos val="t"/>
          <c:showLegendKey val="0"/>
          <c:showVal val="1"/>
          <c:showCatName val="0"/>
          <c:showSerName val="0"/>
          <c:showPercent val="0"/>
          <c:showBubbleSize val="0"/>
        </c:dLbls>
        <c:marker val="1"/>
        <c:smooth val="0"/>
        <c:axId val="2094734554"/>
        <c:axId val="2094734552"/>
      </c:line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B9BEDE"/>
                </a:solidFill>
                <a:latin typeface="Arial"/>
              </a:defRPr>
            </a:pPr>
            <a:endParaRPr lang="en-US"/>
          </a:p>
        </c:txPr>
        <c:crossAx val="2094734552"/>
        <c:crosses val="autoZero"/>
        <c:auto val="1"/>
        <c:lblAlgn val="ctr"/>
        <c:lblOffset val="100"/>
        <c:noMultiLvlLbl val="1"/>
      </c:catAx>
      <c:valAx>
        <c:axId val="2094734552"/>
        <c:scaling>
          <c:orientation val="minMax"/>
        </c:scaling>
        <c:delete val="0"/>
        <c:axPos val="l"/>
        <c:majorGridlines>
          <c:spPr>
            <a:ln w="6350" cap="flat">
              <a:solidFill>
                <a:srgbClr val="3A4172"/>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B9BEDE"/>
                </a:solidFill>
                <a:latin typeface="Arial"/>
              </a:defRPr>
            </a:pPr>
            <a:endParaRPr lang="en-US"/>
          </a:p>
        </c:txPr>
        <c:crossAx val="2094734554"/>
        <c:crosses val="autoZero"/>
        <c:crossBetween val="between"/>
      </c:valAx>
      <c:spPr>
        <a:solidFill>
          <a:srgbClr val="1E2555"/>
        </a:solidFill>
        <a:ln>
          <a:noFill/>
        </a:ln>
        <a:effectLst/>
      </c:spPr>
    </c:plotArea>
    <c:plotVisOnly val="1"/>
    <c:dispBlanksAs val="span"/>
    <c:showDLblsOverMax val="1"/>
  </c:chart>
  <c:spPr>
    <a:solidFill>
      <a:srgbClr val="1E2555"/>
    </a:solidFill>
    <a:ln>
      <a:noFill/>
    </a:ln>
    <a:effectLst/>
  </c:sp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35603256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8" Type="http://schemas.openxmlformats.org/officeDocument/2006/relationships/image" Target="../media/image7.png"/><Relationship Id="rId3" Type="http://schemas.openxmlformats.org/officeDocument/2006/relationships/image" Target="../media/image2.png"/><Relationship Id="rId7" Type="http://schemas.openxmlformats.org/officeDocument/2006/relationships/image" Target="../media/image6.png"/><Relationship Id="rId2" Type="http://schemas.openxmlformats.org/officeDocument/2006/relationships/notesSlide" Target="../notesSlides/notesSlide2.xml"/><Relationship Id="rId1" Type="http://schemas.openxmlformats.org/officeDocument/2006/relationships/slideLayout" Target="../slideLayouts/slideLayout1.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 Id="rId9" Type="http://schemas.openxmlformats.org/officeDocument/2006/relationships/image" Target="../media/image8.png"/></Relationships>
</file>

<file path=ppt/slides/_rels/slide3.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3.xml"/><Relationship Id="rId1" Type="http://schemas.openxmlformats.org/officeDocument/2006/relationships/slideLayout" Target="../slideLayouts/slideLayout1.xml"/><Relationship Id="rId4" Type="http://schemas.openxmlformats.org/officeDocument/2006/relationships/image" Target="../media/image10.png"/></Relationships>
</file>

<file path=ppt/slides/_rels/slide4.xml.rels><?xml version="1.0" encoding="UTF-8" standalone="yes"?>
<Relationships xmlns="http://schemas.openxmlformats.org/package/2006/relationships"><Relationship Id="rId3" Type="http://schemas.openxmlformats.org/officeDocument/2006/relationships/image" Target="../media/image11.png"/><Relationship Id="rId7" Type="http://schemas.openxmlformats.org/officeDocument/2006/relationships/image" Target="../media/image10.png"/><Relationship Id="rId2" Type="http://schemas.openxmlformats.org/officeDocument/2006/relationships/notesSlide" Target="../notesSlides/notesSlide4.xml"/><Relationship Id="rId1" Type="http://schemas.openxmlformats.org/officeDocument/2006/relationships/slideLayout" Target="../slideLayouts/slideLayout1.xml"/><Relationship Id="rId6" Type="http://schemas.openxmlformats.org/officeDocument/2006/relationships/image" Target="../media/image1.png"/><Relationship Id="rId5" Type="http://schemas.openxmlformats.org/officeDocument/2006/relationships/image" Target="../media/image3.png"/><Relationship Id="rId4" Type="http://schemas.openxmlformats.org/officeDocument/2006/relationships/image" Target="../media/image12.png"/></Relationships>
</file>

<file path=ppt/slides/_rels/slide5.xml.rels><?xml version="1.0" encoding="UTF-8" standalone="yes"?>
<Relationships xmlns="http://schemas.openxmlformats.org/package/2006/relationships"><Relationship Id="rId8" Type="http://schemas.openxmlformats.org/officeDocument/2006/relationships/image" Target="../media/image16.png"/><Relationship Id="rId3" Type="http://schemas.openxmlformats.org/officeDocument/2006/relationships/image" Target="../media/image13.png"/><Relationship Id="rId7" Type="http://schemas.openxmlformats.org/officeDocument/2006/relationships/image" Target="../media/image11.png"/><Relationship Id="rId2" Type="http://schemas.openxmlformats.org/officeDocument/2006/relationships/notesSlide" Target="../notesSlides/notesSlide5.xml"/><Relationship Id="rId1" Type="http://schemas.openxmlformats.org/officeDocument/2006/relationships/slideLayout" Target="../slideLayouts/slideLayout1.xml"/><Relationship Id="rId6" Type="http://schemas.openxmlformats.org/officeDocument/2006/relationships/image" Target="../media/image15.png"/><Relationship Id="rId5" Type="http://schemas.openxmlformats.org/officeDocument/2006/relationships/image" Target="../media/image4.png"/><Relationship Id="rId4" Type="http://schemas.openxmlformats.org/officeDocument/2006/relationships/image" Target="../media/image14.png"/></Relationships>
</file>

<file path=ppt/slides/_rels/slide6.xml.rels><?xml version="1.0" encoding="UTF-8" standalone="yes"?>
<Relationships xmlns="http://schemas.openxmlformats.org/package/2006/relationships"><Relationship Id="rId8" Type="http://schemas.openxmlformats.org/officeDocument/2006/relationships/image" Target="../media/image21.png"/><Relationship Id="rId3" Type="http://schemas.openxmlformats.org/officeDocument/2006/relationships/image" Target="../media/image17.png"/><Relationship Id="rId7" Type="http://schemas.openxmlformats.org/officeDocument/2006/relationships/image" Target="../media/image20.png"/><Relationship Id="rId2" Type="http://schemas.openxmlformats.org/officeDocument/2006/relationships/notesSlide" Target="../notesSlides/notesSlide6.xml"/><Relationship Id="rId1" Type="http://schemas.openxmlformats.org/officeDocument/2006/relationships/slideLayout" Target="../slideLayouts/slideLayout1.xml"/><Relationship Id="rId6" Type="http://schemas.openxmlformats.org/officeDocument/2006/relationships/image" Target="../media/image19.png"/><Relationship Id="rId5" Type="http://schemas.openxmlformats.org/officeDocument/2006/relationships/image" Target="../media/image18.png"/><Relationship Id="rId4" Type="http://schemas.openxmlformats.org/officeDocument/2006/relationships/image" Target="../media/image8.png"/></Relationships>
</file>

<file path=ppt/slides/_rels/slide7.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7.xml"/><Relationship Id="rId1" Type="http://schemas.openxmlformats.org/officeDocument/2006/relationships/slideLayout" Target="../slideLayouts/slideLayout1.xml"/><Relationship Id="rId6" Type="http://schemas.openxmlformats.org/officeDocument/2006/relationships/image" Target="../media/image5.png"/><Relationship Id="rId5" Type="http://schemas.openxmlformats.org/officeDocument/2006/relationships/image" Target="../media/image16.png"/><Relationship Id="rId4" Type="http://schemas.openxmlformats.org/officeDocument/2006/relationships/image" Target="../media/image21.png"/></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9.xml"/><Relationship Id="rId1" Type="http://schemas.openxmlformats.org/officeDocument/2006/relationships/slideLayout" Target="../slideLayouts/slideLayout1.xml"/><Relationship Id="rId5" Type="http://schemas.openxmlformats.org/officeDocument/2006/relationships/image" Target="../media/image23.png"/><Relationship Id="rId4" Type="http://schemas.openxmlformats.org/officeDocument/2006/relationships/image" Target="../media/image17.png"/></Relationships>
</file>

<file path=ppt/slides/_rels/slide10.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10.xml"/><Relationship Id="rId1" Type="http://schemas.openxmlformats.org/officeDocument/2006/relationships/slideLayout" Target="../slideLayouts/slideLayout1.xml"/><Relationship Id="rId6" Type="http://schemas.openxmlformats.org/officeDocument/2006/relationships/image" Target="../media/image18.png"/><Relationship Id="rId5" Type="http://schemas.openxmlformats.org/officeDocument/2006/relationships/image" Target="../media/image19.png"/><Relationship Id="rId4" Type="http://schemas.openxmlformats.org/officeDocument/2006/relationships/image" Target="../media/image16.png"/></Relationships>
</file>

<file path=ppt/slides/_rels/slide11.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11.xml"/><Relationship Id="rId1" Type="http://schemas.openxmlformats.org/officeDocument/2006/relationships/slideLayout" Target="../slideLayouts/slideLayout1.xml"/><Relationship Id="rId5" Type="http://schemas.openxmlformats.org/officeDocument/2006/relationships/image" Target="../media/image17.png"/><Relationship Id="rId4" Type="http://schemas.openxmlformats.org/officeDocument/2006/relationships/image" Target="../media/image18.png"/></Relationships>
</file>

<file path=ppt/slides/_rels/slide12.xml.rels><?xml version="1.0" encoding="UTF-8" standalone="yes"?>
<Relationships xmlns="http://schemas.openxmlformats.org/package/2006/relationships"><Relationship Id="rId8" Type="http://schemas.openxmlformats.org/officeDocument/2006/relationships/image" Target="../media/image26.png"/><Relationship Id="rId3" Type="http://schemas.openxmlformats.org/officeDocument/2006/relationships/image" Target="../media/image13.png"/><Relationship Id="rId7" Type="http://schemas.openxmlformats.org/officeDocument/2006/relationships/image" Target="../media/image14.png"/><Relationship Id="rId2" Type="http://schemas.openxmlformats.org/officeDocument/2006/relationships/notesSlide" Target="../notesSlides/notesSlide12.xml"/><Relationship Id="rId1" Type="http://schemas.openxmlformats.org/officeDocument/2006/relationships/slideLayout" Target="../slideLayouts/slideLayout1.xml"/><Relationship Id="rId6" Type="http://schemas.openxmlformats.org/officeDocument/2006/relationships/image" Target="../media/image15.png"/><Relationship Id="rId5" Type="http://schemas.openxmlformats.org/officeDocument/2006/relationships/image" Target="../media/image9.png"/><Relationship Id="rId4" Type="http://schemas.openxmlformats.org/officeDocument/2006/relationships/image" Target="../media/image1.png"/></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14.xml"/><Relationship Id="rId1" Type="http://schemas.openxmlformats.org/officeDocument/2006/relationships/slideLayout" Target="../slideLayouts/slideLayout1.xml"/><Relationship Id="rId6" Type="http://schemas.openxmlformats.org/officeDocument/2006/relationships/image" Target="../media/image25.png"/><Relationship Id="rId5" Type="http://schemas.openxmlformats.org/officeDocument/2006/relationships/image" Target="../media/image3.png"/><Relationship Id="rId4" Type="http://schemas.openxmlformats.org/officeDocument/2006/relationships/image" Target="../media/image8.png"/></Relationships>
</file>

<file path=ppt/slides/_rels/slide15.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15.xml"/><Relationship Id="rId1" Type="http://schemas.openxmlformats.org/officeDocument/2006/relationships/slideLayout" Target="../slideLayouts/slideLayout1.xml"/><Relationship Id="rId4" Type="http://schemas.openxmlformats.org/officeDocument/2006/relationships/chart" Target="../charts/chart1.xml"/></Relationships>
</file>

<file path=ppt/slides/_rels/slide1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51A3D"/>
        </a:solidFill>
        <a:effectLst/>
      </p:bgPr>
    </p:bg>
    <p:spTree>
      <p:nvGrpSpPr>
        <p:cNvPr id="1" name=""/>
        <p:cNvGrpSpPr/>
        <p:nvPr/>
      </p:nvGrpSpPr>
      <p:grpSpPr>
        <a:xfrm>
          <a:off x="0" y="0"/>
          <a:ext cx="0" cy="0"/>
          <a:chOff x="0" y="0"/>
          <a:chExt cx="0" cy="0"/>
        </a:xfrm>
      </p:grpSpPr>
      <p:sp>
        <p:nvSpPr>
          <p:cNvPr id="2" name="Shape 0"/>
          <p:cNvSpPr/>
          <p:nvPr/>
        </p:nvSpPr>
        <p:spPr>
          <a:xfrm>
            <a:off x="8778240" y="-1645920"/>
            <a:ext cx="5029200" cy="5029200"/>
          </a:xfrm>
          <a:prstGeom prst="ellipse">
            <a:avLst/>
          </a:prstGeom>
          <a:solidFill>
            <a:srgbClr val="1E2555"/>
          </a:solidFill>
          <a:ln/>
        </p:spPr>
      </p:sp>
      <p:sp>
        <p:nvSpPr>
          <p:cNvPr id="3" name="Shape 1"/>
          <p:cNvSpPr/>
          <p:nvPr/>
        </p:nvSpPr>
        <p:spPr>
          <a:xfrm>
            <a:off x="-2011680" y="4206240"/>
            <a:ext cx="4572000" cy="4572000"/>
          </a:xfrm>
          <a:prstGeom prst="ellipse">
            <a:avLst/>
          </a:prstGeom>
          <a:solidFill>
            <a:srgbClr val="1E2555"/>
          </a:solidFill>
          <a:ln/>
        </p:spPr>
      </p:sp>
      <p:sp>
        <p:nvSpPr>
          <p:cNvPr id="4" name="Shape 2"/>
          <p:cNvSpPr/>
          <p:nvPr/>
        </p:nvSpPr>
        <p:spPr>
          <a:xfrm>
            <a:off x="822960" y="822960"/>
            <a:ext cx="868680" cy="868680"/>
          </a:xfrm>
          <a:prstGeom prst="ellipse">
            <a:avLst/>
          </a:prstGeom>
          <a:solidFill>
            <a:srgbClr val="1E2555"/>
          </a:solidFill>
          <a:ln/>
        </p:spPr>
      </p:sp>
      <p:pic>
        <p:nvPicPr>
          <p:cNvPr id="5" name="Image 0" descr="/home/claude/genai_pptx/icons/brain_teal.png"/>
          <p:cNvPicPr>
            <a:picLocks noChangeAspect="1"/>
          </p:cNvPicPr>
          <p:nvPr/>
        </p:nvPicPr>
        <p:blipFill>
          <a:blip r:embed="rId3"/>
          <a:stretch>
            <a:fillRect/>
          </a:stretch>
        </p:blipFill>
        <p:spPr>
          <a:xfrm>
            <a:off x="1018413" y="1018413"/>
            <a:ext cx="477774" cy="477774"/>
          </a:xfrm>
          <a:prstGeom prst="rect">
            <a:avLst/>
          </a:prstGeom>
        </p:spPr>
      </p:pic>
      <p:sp>
        <p:nvSpPr>
          <p:cNvPr id="6" name="Text 3"/>
          <p:cNvSpPr/>
          <p:nvPr/>
        </p:nvSpPr>
        <p:spPr>
          <a:xfrm>
            <a:off x="822960" y="2331720"/>
            <a:ext cx="9875520" cy="365760"/>
          </a:xfrm>
          <a:prstGeom prst="rect">
            <a:avLst/>
          </a:prstGeom>
          <a:noFill/>
          <a:ln/>
        </p:spPr>
        <p:txBody>
          <a:bodyPr wrap="square" lIns="0" tIns="0" rIns="0" bIns="0" rtlCol="0" anchor="ctr"/>
          <a:lstStyle/>
          <a:p>
            <a:pPr marL="0" indent="0">
              <a:buNone/>
            </a:pPr>
            <a:r>
              <a:rPr lang="en-US" sz="1500" b="1" kern="0" spc="300" dirty="0">
                <a:solidFill>
                  <a:srgbClr val="2DD4BF"/>
                </a:solidFill>
                <a:latin typeface="Calibri" pitchFamily="34" charset="0"/>
                <a:ea typeface="Calibri" pitchFamily="34" charset="-122"/>
                <a:cs typeface="Calibri" pitchFamily="34" charset="-120"/>
              </a:rPr>
              <a:t>GENERATIVE AI &amp; INFORMATION SYSTEMS</a:t>
            </a:r>
            <a:endParaRPr lang="en-US" sz="1500" dirty="0"/>
          </a:p>
        </p:txBody>
      </p:sp>
      <p:sp>
        <p:nvSpPr>
          <p:cNvPr id="7" name="Text 4"/>
          <p:cNvSpPr/>
          <p:nvPr/>
        </p:nvSpPr>
        <p:spPr>
          <a:xfrm>
            <a:off x="777240" y="2697480"/>
            <a:ext cx="10515600" cy="1371600"/>
          </a:xfrm>
          <a:prstGeom prst="rect">
            <a:avLst/>
          </a:prstGeom>
          <a:noFill/>
          <a:ln/>
        </p:spPr>
        <p:txBody>
          <a:bodyPr wrap="square" lIns="0" tIns="0" rIns="0" bIns="0" rtlCol="0" anchor="ctr"/>
          <a:lstStyle/>
          <a:p>
            <a:pPr marL="0" indent="0">
              <a:buNone/>
            </a:pPr>
            <a:r>
              <a:rPr lang="en-US" sz="5200" b="1" dirty="0">
                <a:solidFill>
                  <a:srgbClr val="FFFFFF"/>
                </a:solidFill>
                <a:latin typeface="Cambria" pitchFamily="34" charset="0"/>
                <a:ea typeface="Cambria" pitchFamily="34" charset="-122"/>
                <a:cs typeface="Cambria" pitchFamily="34" charset="-120"/>
              </a:rPr>
              <a:t>Generative AI and IS</a:t>
            </a:r>
            <a:endParaRPr lang="en-US" sz="5200" dirty="0"/>
          </a:p>
        </p:txBody>
      </p:sp>
      <p:sp>
        <p:nvSpPr>
          <p:cNvPr id="8" name="Text 5"/>
          <p:cNvSpPr/>
          <p:nvPr/>
        </p:nvSpPr>
        <p:spPr>
          <a:xfrm>
            <a:off x="822960" y="3794760"/>
            <a:ext cx="8686800" cy="640080"/>
          </a:xfrm>
          <a:prstGeom prst="rect">
            <a:avLst/>
          </a:prstGeom>
          <a:noFill/>
          <a:ln/>
        </p:spPr>
        <p:txBody>
          <a:bodyPr wrap="square" lIns="0" tIns="0" rIns="0" bIns="0" rtlCol="0" anchor="ctr"/>
          <a:lstStyle/>
          <a:p>
            <a:pPr marL="0" indent="0">
              <a:buNone/>
            </a:pPr>
            <a:r>
              <a:rPr lang="en-US" sz="1600" dirty="0">
                <a:solidFill>
                  <a:srgbClr val="C7CCE6"/>
                </a:solidFill>
                <a:latin typeface="Calibri" pitchFamily="34" charset="0"/>
                <a:ea typeface="Calibri" pitchFamily="34" charset="-122"/>
                <a:cs typeface="Calibri" pitchFamily="34" charset="-120"/>
              </a:rPr>
              <a:t>How machines that create text, images, and code are reshaping business and information systems</a:t>
            </a:r>
            <a:endParaRPr lang="en-US" sz="1600" dirty="0"/>
          </a:p>
        </p:txBody>
      </p:sp>
      <p:sp>
        <p:nvSpPr>
          <p:cNvPr id="9" name="Shape 6"/>
          <p:cNvSpPr/>
          <p:nvPr/>
        </p:nvSpPr>
        <p:spPr>
          <a:xfrm>
            <a:off x="822960" y="4617720"/>
            <a:ext cx="2926080" cy="0"/>
          </a:xfrm>
          <a:prstGeom prst="line">
            <a:avLst/>
          </a:prstGeom>
          <a:noFill/>
          <a:ln w="12700">
            <a:solidFill>
              <a:srgbClr val="39406B"/>
            </a:solidFill>
            <a:prstDash val="solid"/>
          </a:ln>
        </p:spPr>
      </p:sp>
      <p:sp>
        <p:nvSpPr>
          <p:cNvPr id="10" name="Text 7"/>
          <p:cNvSpPr/>
          <p:nvPr/>
        </p:nvSpPr>
        <p:spPr>
          <a:xfrm>
            <a:off x="822960" y="4800600"/>
            <a:ext cx="8229600" cy="365760"/>
          </a:xfrm>
          <a:prstGeom prst="rect">
            <a:avLst/>
          </a:prstGeom>
          <a:noFill/>
          <a:ln/>
        </p:spPr>
        <p:txBody>
          <a:bodyPr wrap="square" lIns="0" tIns="0" rIns="0" bIns="0" rtlCol="0" anchor="ctr"/>
          <a:lstStyle/>
          <a:p>
            <a:pPr marL="0" indent="0">
              <a:buNone/>
            </a:pPr>
            <a:r>
              <a:rPr lang="en-US" sz="1400" dirty="0">
                <a:solidFill>
                  <a:srgbClr val="9AA1C9"/>
                </a:solidFill>
                <a:latin typeface="Calibri" pitchFamily="34" charset="0"/>
                <a:ea typeface="Calibri" pitchFamily="34" charset="-122"/>
                <a:cs typeface="Calibri" pitchFamily="34" charset="-120"/>
              </a:rPr>
              <a:t>Presented by  </a:t>
            </a:r>
            <a:r>
              <a:rPr lang="en-US" sz="1400" b="1" dirty="0">
                <a:solidFill>
                  <a:srgbClr val="FFFFFF"/>
                </a:solidFill>
                <a:latin typeface="Calibri" pitchFamily="34" charset="0"/>
                <a:ea typeface="Calibri" pitchFamily="34" charset="-122"/>
                <a:cs typeface="Calibri" pitchFamily="34" charset="-120"/>
              </a:rPr>
              <a:t>Samyog   •   Arun   •   Keshab</a:t>
            </a:r>
            <a:endParaRPr lang="en-US" sz="1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640080" y="384048"/>
            <a:ext cx="7315200" cy="320040"/>
          </a:xfrm>
          <a:prstGeom prst="rect">
            <a:avLst/>
          </a:prstGeom>
          <a:noFill/>
          <a:ln/>
        </p:spPr>
        <p:txBody>
          <a:bodyPr wrap="square" lIns="0" tIns="0" rIns="0" bIns="0" rtlCol="0" anchor="ctr"/>
          <a:lstStyle/>
          <a:p>
            <a:pPr marL="0" indent="0">
              <a:buNone/>
            </a:pPr>
            <a:r>
              <a:rPr lang="en-US" sz="1300" b="1" kern="0" spc="200" dirty="0">
                <a:solidFill>
                  <a:srgbClr val="0F9B8E"/>
                </a:solidFill>
                <a:latin typeface="Calibri" pitchFamily="34" charset="0"/>
                <a:ea typeface="Calibri" pitchFamily="34" charset="-122"/>
                <a:cs typeface="Calibri" pitchFamily="34" charset="-120"/>
              </a:rPr>
              <a:t>OVERVIEW</a:t>
            </a:r>
            <a:endParaRPr lang="en-US" sz="1300" dirty="0"/>
          </a:p>
        </p:txBody>
      </p:sp>
      <p:sp>
        <p:nvSpPr>
          <p:cNvPr id="3" name="Text 1"/>
          <p:cNvSpPr/>
          <p:nvPr/>
        </p:nvSpPr>
        <p:spPr>
          <a:xfrm>
            <a:off x="640080" y="685800"/>
            <a:ext cx="9601200" cy="731520"/>
          </a:xfrm>
          <a:prstGeom prst="rect">
            <a:avLst/>
          </a:prstGeom>
          <a:noFill/>
          <a:ln/>
        </p:spPr>
        <p:txBody>
          <a:bodyPr wrap="square" lIns="0" tIns="0" rIns="0" bIns="0" rtlCol="0" anchor="ctr"/>
          <a:lstStyle/>
          <a:p>
            <a:pPr marL="0" indent="0">
              <a:buNone/>
            </a:pPr>
            <a:r>
              <a:rPr lang="en-US" sz="3200" b="1" dirty="0">
                <a:solidFill>
                  <a:srgbClr val="1E2340"/>
                </a:solidFill>
                <a:latin typeface="Cambria" pitchFamily="34" charset="0"/>
                <a:ea typeface="Cambria" pitchFamily="34" charset="-122"/>
                <a:cs typeface="Cambria" pitchFamily="34" charset="-120"/>
              </a:rPr>
              <a:t>What We'll Cover</a:t>
            </a:r>
            <a:endParaRPr lang="en-US" sz="3200" dirty="0"/>
          </a:p>
        </p:txBody>
      </p:sp>
      <p:sp>
        <p:nvSpPr>
          <p:cNvPr id="4" name="Shape 2"/>
          <p:cNvSpPr/>
          <p:nvPr/>
        </p:nvSpPr>
        <p:spPr>
          <a:xfrm>
            <a:off x="640080" y="1737360"/>
            <a:ext cx="3246120" cy="1417320"/>
          </a:xfrm>
          <a:prstGeom prst="roundRect">
            <a:avLst>
              <a:gd name="adj" fmla="val 5161"/>
            </a:avLst>
          </a:prstGeom>
          <a:solidFill>
            <a:srgbClr val="F7F8FC"/>
          </a:solidFill>
          <a:ln/>
          <a:effectLst>
            <a:outerShdw blurRad="101600" dist="38100" dir="5400000" algn="bl" rotWithShape="0">
              <a:srgbClr val="1E2340">
                <a:alpha val="12000"/>
              </a:srgbClr>
            </a:outerShdw>
          </a:effectLst>
        </p:spPr>
      </p:sp>
      <p:sp>
        <p:nvSpPr>
          <p:cNvPr id="5" name="Shape 3"/>
          <p:cNvSpPr/>
          <p:nvPr/>
        </p:nvSpPr>
        <p:spPr>
          <a:xfrm>
            <a:off x="841248" y="1938528"/>
            <a:ext cx="502920" cy="502920"/>
          </a:xfrm>
          <a:prstGeom prst="ellipse">
            <a:avLst/>
          </a:prstGeom>
          <a:solidFill>
            <a:srgbClr val="E9EBF7"/>
          </a:solidFill>
          <a:ln/>
        </p:spPr>
      </p:sp>
      <p:pic>
        <p:nvPicPr>
          <p:cNvPr id="6" name="Image 0" descr="/home/claude/genai_pptx/icons/robot_dark.png"/>
          <p:cNvPicPr>
            <a:picLocks noChangeAspect="1"/>
          </p:cNvPicPr>
          <p:nvPr/>
        </p:nvPicPr>
        <p:blipFill>
          <a:blip r:embed="rId3"/>
          <a:stretch>
            <a:fillRect/>
          </a:stretch>
        </p:blipFill>
        <p:spPr>
          <a:xfrm>
            <a:off x="941832" y="2039112"/>
            <a:ext cx="301752" cy="301752"/>
          </a:xfrm>
          <a:prstGeom prst="rect">
            <a:avLst/>
          </a:prstGeom>
        </p:spPr>
      </p:pic>
      <p:sp>
        <p:nvSpPr>
          <p:cNvPr id="7" name="Text 4"/>
          <p:cNvSpPr/>
          <p:nvPr/>
        </p:nvSpPr>
        <p:spPr>
          <a:xfrm>
            <a:off x="3246120" y="1901952"/>
            <a:ext cx="502920" cy="320040"/>
          </a:xfrm>
          <a:prstGeom prst="rect">
            <a:avLst/>
          </a:prstGeom>
          <a:noFill/>
          <a:ln/>
        </p:spPr>
        <p:txBody>
          <a:bodyPr wrap="square" lIns="0" tIns="0" rIns="0" bIns="0" rtlCol="0" anchor="ctr"/>
          <a:lstStyle/>
          <a:p>
            <a:pPr marL="0" indent="0" algn="r">
              <a:buNone/>
            </a:pPr>
            <a:r>
              <a:rPr lang="en-US" sz="1600" b="1" dirty="0">
                <a:solidFill>
                  <a:srgbClr val="D7DAEE"/>
                </a:solidFill>
                <a:latin typeface="Cambria" pitchFamily="34" charset="0"/>
                <a:ea typeface="Cambria" pitchFamily="34" charset="-122"/>
                <a:cs typeface="Cambria" pitchFamily="34" charset="-120"/>
              </a:rPr>
              <a:t>01</a:t>
            </a:r>
            <a:endParaRPr lang="en-US" sz="1600" dirty="0"/>
          </a:p>
        </p:txBody>
      </p:sp>
      <p:sp>
        <p:nvSpPr>
          <p:cNvPr id="8" name="Text 5"/>
          <p:cNvSpPr/>
          <p:nvPr/>
        </p:nvSpPr>
        <p:spPr>
          <a:xfrm>
            <a:off x="841248" y="2487168"/>
            <a:ext cx="2843784" cy="320040"/>
          </a:xfrm>
          <a:prstGeom prst="rect">
            <a:avLst/>
          </a:prstGeom>
          <a:noFill/>
          <a:ln/>
        </p:spPr>
        <p:txBody>
          <a:bodyPr wrap="square" lIns="0" tIns="0" rIns="0" bIns="0" rtlCol="0" anchor="ctr"/>
          <a:lstStyle/>
          <a:p>
            <a:pPr marL="0" indent="0">
              <a:buNone/>
            </a:pPr>
            <a:r>
              <a:rPr lang="en-US" sz="1250" b="1" dirty="0">
                <a:solidFill>
                  <a:srgbClr val="1E2340"/>
                </a:solidFill>
                <a:latin typeface="Calibri" pitchFamily="34" charset="0"/>
                <a:ea typeface="Calibri" pitchFamily="34" charset="-122"/>
                <a:cs typeface="Calibri" pitchFamily="34" charset="-120"/>
              </a:rPr>
              <a:t>Introduction to Generative AI</a:t>
            </a:r>
            <a:endParaRPr lang="en-US" sz="1250" dirty="0"/>
          </a:p>
        </p:txBody>
      </p:sp>
      <p:sp>
        <p:nvSpPr>
          <p:cNvPr id="9" name="Text 6"/>
          <p:cNvSpPr/>
          <p:nvPr/>
        </p:nvSpPr>
        <p:spPr>
          <a:xfrm>
            <a:off x="841248" y="2788920"/>
            <a:ext cx="2843784" cy="320040"/>
          </a:xfrm>
          <a:prstGeom prst="rect">
            <a:avLst/>
          </a:prstGeom>
          <a:noFill/>
          <a:ln/>
        </p:spPr>
        <p:txBody>
          <a:bodyPr wrap="square" lIns="0" tIns="0" rIns="0" bIns="0" rtlCol="0" anchor="ctr"/>
          <a:lstStyle/>
          <a:p>
            <a:pPr marL="0" indent="0">
              <a:buNone/>
            </a:pPr>
            <a:r>
              <a:rPr lang="en-US" sz="1000" dirty="0">
                <a:solidFill>
                  <a:srgbClr val="6B7280"/>
                </a:solidFill>
                <a:latin typeface="Calibri" pitchFamily="34" charset="0"/>
                <a:ea typeface="Calibri" pitchFamily="34" charset="-122"/>
                <a:cs typeface="Calibri" pitchFamily="34" charset="-120"/>
              </a:rPr>
              <a:t>Defining the technology and its rise</a:t>
            </a:r>
            <a:endParaRPr lang="en-US" sz="1000" dirty="0"/>
          </a:p>
        </p:txBody>
      </p:sp>
      <p:sp>
        <p:nvSpPr>
          <p:cNvPr id="10" name="Shape 7"/>
          <p:cNvSpPr/>
          <p:nvPr/>
        </p:nvSpPr>
        <p:spPr>
          <a:xfrm>
            <a:off x="4114800" y="1737360"/>
            <a:ext cx="3246120" cy="1417320"/>
          </a:xfrm>
          <a:prstGeom prst="roundRect">
            <a:avLst>
              <a:gd name="adj" fmla="val 5161"/>
            </a:avLst>
          </a:prstGeom>
          <a:solidFill>
            <a:srgbClr val="F7F8FC"/>
          </a:solidFill>
          <a:ln/>
          <a:effectLst>
            <a:outerShdw blurRad="101600" dist="38100" dir="5400000" algn="bl" rotWithShape="0">
              <a:srgbClr val="1E2340">
                <a:alpha val="12000"/>
              </a:srgbClr>
            </a:outerShdw>
          </a:effectLst>
        </p:spPr>
      </p:sp>
      <p:sp>
        <p:nvSpPr>
          <p:cNvPr id="11" name="Shape 8"/>
          <p:cNvSpPr/>
          <p:nvPr/>
        </p:nvSpPr>
        <p:spPr>
          <a:xfrm>
            <a:off x="4315968" y="1938528"/>
            <a:ext cx="502920" cy="502920"/>
          </a:xfrm>
          <a:prstGeom prst="ellipse">
            <a:avLst/>
          </a:prstGeom>
          <a:solidFill>
            <a:srgbClr val="153A38"/>
          </a:solidFill>
          <a:ln/>
        </p:spPr>
      </p:sp>
      <p:pic>
        <p:nvPicPr>
          <p:cNvPr id="12" name="Image 1" descr="/home/claude/genai_pptx/icons/cogs.png"/>
          <p:cNvPicPr>
            <a:picLocks noChangeAspect="1"/>
          </p:cNvPicPr>
          <p:nvPr/>
        </p:nvPicPr>
        <p:blipFill>
          <a:blip r:embed="rId4"/>
          <a:stretch>
            <a:fillRect/>
          </a:stretch>
        </p:blipFill>
        <p:spPr>
          <a:xfrm>
            <a:off x="4416552" y="2039112"/>
            <a:ext cx="301752" cy="301752"/>
          </a:xfrm>
          <a:prstGeom prst="rect">
            <a:avLst/>
          </a:prstGeom>
        </p:spPr>
      </p:pic>
      <p:sp>
        <p:nvSpPr>
          <p:cNvPr id="13" name="Text 9"/>
          <p:cNvSpPr/>
          <p:nvPr/>
        </p:nvSpPr>
        <p:spPr>
          <a:xfrm>
            <a:off x="6720840" y="1901952"/>
            <a:ext cx="502920" cy="320040"/>
          </a:xfrm>
          <a:prstGeom prst="rect">
            <a:avLst/>
          </a:prstGeom>
          <a:noFill/>
          <a:ln/>
        </p:spPr>
        <p:txBody>
          <a:bodyPr wrap="square" lIns="0" tIns="0" rIns="0" bIns="0" rtlCol="0" anchor="ctr"/>
          <a:lstStyle/>
          <a:p>
            <a:pPr marL="0" indent="0" algn="r">
              <a:buNone/>
            </a:pPr>
            <a:r>
              <a:rPr lang="en-US" sz="1600" b="1" dirty="0">
                <a:solidFill>
                  <a:srgbClr val="D7DAEE"/>
                </a:solidFill>
                <a:latin typeface="Cambria" pitchFamily="34" charset="0"/>
                <a:ea typeface="Cambria" pitchFamily="34" charset="-122"/>
                <a:cs typeface="Cambria" pitchFamily="34" charset="-120"/>
              </a:rPr>
              <a:t>02</a:t>
            </a:r>
            <a:endParaRPr lang="en-US" sz="1600" dirty="0"/>
          </a:p>
        </p:txBody>
      </p:sp>
      <p:sp>
        <p:nvSpPr>
          <p:cNvPr id="14" name="Text 10"/>
          <p:cNvSpPr/>
          <p:nvPr/>
        </p:nvSpPr>
        <p:spPr>
          <a:xfrm>
            <a:off x="4315968" y="2487168"/>
            <a:ext cx="2843784" cy="320040"/>
          </a:xfrm>
          <a:prstGeom prst="rect">
            <a:avLst/>
          </a:prstGeom>
          <a:noFill/>
          <a:ln/>
        </p:spPr>
        <p:txBody>
          <a:bodyPr wrap="square" lIns="0" tIns="0" rIns="0" bIns="0" rtlCol="0" anchor="ctr"/>
          <a:lstStyle/>
          <a:p>
            <a:pPr marL="0" indent="0">
              <a:buNone/>
            </a:pPr>
            <a:r>
              <a:rPr lang="en-US" sz="1250" b="1" dirty="0">
                <a:solidFill>
                  <a:srgbClr val="1E2340"/>
                </a:solidFill>
                <a:latin typeface="Calibri" pitchFamily="34" charset="0"/>
                <a:ea typeface="Calibri" pitchFamily="34" charset="-122"/>
                <a:cs typeface="Calibri" pitchFamily="34" charset="-120"/>
              </a:rPr>
              <a:t>How Generative AI Works</a:t>
            </a:r>
            <a:endParaRPr lang="en-US" sz="1250" dirty="0"/>
          </a:p>
        </p:txBody>
      </p:sp>
      <p:sp>
        <p:nvSpPr>
          <p:cNvPr id="15" name="Text 11"/>
          <p:cNvSpPr/>
          <p:nvPr/>
        </p:nvSpPr>
        <p:spPr>
          <a:xfrm>
            <a:off x="4315968" y="2788920"/>
            <a:ext cx="2843784" cy="320040"/>
          </a:xfrm>
          <a:prstGeom prst="rect">
            <a:avLst/>
          </a:prstGeom>
          <a:noFill/>
          <a:ln/>
        </p:spPr>
        <p:txBody>
          <a:bodyPr wrap="square" lIns="0" tIns="0" rIns="0" bIns="0" rtlCol="0" anchor="ctr"/>
          <a:lstStyle/>
          <a:p>
            <a:pPr marL="0" indent="0">
              <a:buNone/>
            </a:pPr>
            <a:r>
              <a:rPr lang="en-US" sz="1000" dirty="0">
                <a:solidFill>
                  <a:srgbClr val="6B7280"/>
                </a:solidFill>
                <a:latin typeface="Calibri" pitchFamily="34" charset="0"/>
                <a:ea typeface="Calibri" pitchFamily="34" charset="-122"/>
                <a:cs typeface="Calibri" pitchFamily="34" charset="-120"/>
              </a:rPr>
              <a:t>Models, training, and generation</a:t>
            </a:r>
            <a:endParaRPr lang="en-US" sz="1000" dirty="0"/>
          </a:p>
        </p:txBody>
      </p:sp>
      <p:sp>
        <p:nvSpPr>
          <p:cNvPr id="16" name="Shape 12"/>
          <p:cNvSpPr/>
          <p:nvPr/>
        </p:nvSpPr>
        <p:spPr>
          <a:xfrm>
            <a:off x="7589520" y="1737360"/>
            <a:ext cx="3246120" cy="1417320"/>
          </a:xfrm>
          <a:prstGeom prst="roundRect">
            <a:avLst>
              <a:gd name="adj" fmla="val 5161"/>
            </a:avLst>
          </a:prstGeom>
          <a:solidFill>
            <a:srgbClr val="F7F8FC"/>
          </a:solidFill>
          <a:ln/>
          <a:effectLst>
            <a:outerShdw blurRad="101600" dist="38100" dir="5400000" algn="bl" rotWithShape="0">
              <a:srgbClr val="1E2340">
                <a:alpha val="12000"/>
              </a:srgbClr>
            </a:outerShdw>
          </a:effectLst>
        </p:spPr>
      </p:sp>
      <p:sp>
        <p:nvSpPr>
          <p:cNvPr id="17" name="Shape 13"/>
          <p:cNvSpPr/>
          <p:nvPr/>
        </p:nvSpPr>
        <p:spPr>
          <a:xfrm>
            <a:off x="7790688" y="1938528"/>
            <a:ext cx="502920" cy="502920"/>
          </a:xfrm>
          <a:prstGeom prst="ellipse">
            <a:avLst/>
          </a:prstGeom>
          <a:solidFill>
            <a:srgbClr val="153A38"/>
          </a:solidFill>
          <a:ln/>
        </p:spPr>
      </p:sp>
      <p:pic>
        <p:nvPicPr>
          <p:cNvPr id="18" name="Image 2" descr="/home/claude/genai_pptx/icons/chart.png"/>
          <p:cNvPicPr>
            <a:picLocks noChangeAspect="1"/>
          </p:cNvPicPr>
          <p:nvPr/>
        </p:nvPicPr>
        <p:blipFill>
          <a:blip r:embed="rId5"/>
          <a:stretch>
            <a:fillRect/>
          </a:stretch>
        </p:blipFill>
        <p:spPr>
          <a:xfrm>
            <a:off x="7891272" y="2039112"/>
            <a:ext cx="301752" cy="301752"/>
          </a:xfrm>
          <a:prstGeom prst="rect">
            <a:avLst/>
          </a:prstGeom>
        </p:spPr>
      </p:pic>
      <p:sp>
        <p:nvSpPr>
          <p:cNvPr id="19" name="Text 14"/>
          <p:cNvSpPr/>
          <p:nvPr/>
        </p:nvSpPr>
        <p:spPr>
          <a:xfrm>
            <a:off x="10195560" y="1901952"/>
            <a:ext cx="502920" cy="320040"/>
          </a:xfrm>
          <a:prstGeom prst="rect">
            <a:avLst/>
          </a:prstGeom>
          <a:noFill/>
          <a:ln/>
        </p:spPr>
        <p:txBody>
          <a:bodyPr wrap="square" lIns="0" tIns="0" rIns="0" bIns="0" rtlCol="0" anchor="ctr"/>
          <a:lstStyle/>
          <a:p>
            <a:pPr marL="0" indent="0" algn="r">
              <a:buNone/>
            </a:pPr>
            <a:r>
              <a:rPr lang="en-US" sz="1600" b="1" dirty="0">
                <a:solidFill>
                  <a:srgbClr val="D7DAEE"/>
                </a:solidFill>
                <a:latin typeface="Cambria" pitchFamily="34" charset="0"/>
                <a:ea typeface="Cambria" pitchFamily="34" charset="-122"/>
                <a:cs typeface="Cambria" pitchFamily="34" charset="-120"/>
              </a:rPr>
              <a:t>03</a:t>
            </a:r>
            <a:endParaRPr lang="en-US" sz="1600" dirty="0"/>
          </a:p>
        </p:txBody>
      </p:sp>
      <p:sp>
        <p:nvSpPr>
          <p:cNvPr id="20" name="Text 15"/>
          <p:cNvSpPr/>
          <p:nvPr/>
        </p:nvSpPr>
        <p:spPr>
          <a:xfrm>
            <a:off x="7790688" y="2487168"/>
            <a:ext cx="2843784" cy="320040"/>
          </a:xfrm>
          <a:prstGeom prst="rect">
            <a:avLst/>
          </a:prstGeom>
          <a:noFill/>
          <a:ln/>
        </p:spPr>
        <p:txBody>
          <a:bodyPr wrap="square" lIns="0" tIns="0" rIns="0" bIns="0" rtlCol="0" anchor="ctr"/>
          <a:lstStyle/>
          <a:p>
            <a:pPr marL="0" indent="0">
              <a:buNone/>
            </a:pPr>
            <a:r>
              <a:rPr lang="en-US" sz="1250" b="1" dirty="0">
                <a:solidFill>
                  <a:srgbClr val="1E2340"/>
                </a:solidFill>
                <a:latin typeface="Calibri" pitchFamily="34" charset="0"/>
                <a:ea typeface="Calibri" pitchFamily="34" charset="-122"/>
                <a:cs typeface="Calibri" pitchFamily="34" charset="-120"/>
              </a:rPr>
              <a:t>Applications in Business &amp; IS</a:t>
            </a:r>
            <a:endParaRPr lang="en-US" sz="1250" dirty="0"/>
          </a:p>
        </p:txBody>
      </p:sp>
      <p:sp>
        <p:nvSpPr>
          <p:cNvPr id="21" name="Text 16"/>
          <p:cNvSpPr/>
          <p:nvPr/>
        </p:nvSpPr>
        <p:spPr>
          <a:xfrm>
            <a:off x="7790688" y="2788920"/>
            <a:ext cx="2843784" cy="320040"/>
          </a:xfrm>
          <a:prstGeom prst="rect">
            <a:avLst/>
          </a:prstGeom>
          <a:noFill/>
          <a:ln/>
        </p:spPr>
        <p:txBody>
          <a:bodyPr wrap="square" lIns="0" tIns="0" rIns="0" bIns="0" rtlCol="0" anchor="ctr"/>
          <a:lstStyle/>
          <a:p>
            <a:pPr marL="0" indent="0">
              <a:buNone/>
            </a:pPr>
            <a:r>
              <a:rPr lang="en-US" sz="1000" dirty="0">
                <a:solidFill>
                  <a:srgbClr val="6B7280"/>
                </a:solidFill>
                <a:latin typeface="Calibri" pitchFamily="34" charset="0"/>
                <a:ea typeface="Calibri" pitchFamily="34" charset="-122"/>
                <a:cs typeface="Calibri" pitchFamily="34" charset="-120"/>
              </a:rPr>
              <a:t>Where it's used across the enterprise</a:t>
            </a:r>
            <a:endParaRPr lang="en-US" sz="1000" dirty="0"/>
          </a:p>
        </p:txBody>
      </p:sp>
      <p:sp>
        <p:nvSpPr>
          <p:cNvPr id="22" name="Shape 17"/>
          <p:cNvSpPr/>
          <p:nvPr/>
        </p:nvSpPr>
        <p:spPr>
          <a:xfrm>
            <a:off x="640080" y="3337560"/>
            <a:ext cx="3246120" cy="1417320"/>
          </a:xfrm>
          <a:prstGeom prst="roundRect">
            <a:avLst>
              <a:gd name="adj" fmla="val 5161"/>
            </a:avLst>
          </a:prstGeom>
          <a:solidFill>
            <a:srgbClr val="F7F8FC"/>
          </a:solidFill>
          <a:ln/>
          <a:effectLst>
            <a:outerShdw blurRad="101600" dist="38100" dir="5400000" algn="bl" rotWithShape="0">
              <a:srgbClr val="1E2340">
                <a:alpha val="12000"/>
              </a:srgbClr>
            </a:outerShdw>
          </a:effectLst>
        </p:spPr>
      </p:sp>
      <p:sp>
        <p:nvSpPr>
          <p:cNvPr id="23" name="Shape 18"/>
          <p:cNvSpPr/>
          <p:nvPr/>
        </p:nvSpPr>
        <p:spPr>
          <a:xfrm>
            <a:off x="841248" y="3538728"/>
            <a:ext cx="502920" cy="502920"/>
          </a:xfrm>
          <a:prstGeom prst="ellipse">
            <a:avLst/>
          </a:prstGeom>
          <a:solidFill>
            <a:srgbClr val="153A38"/>
          </a:solidFill>
          <a:ln/>
        </p:spPr>
      </p:sp>
      <p:pic>
        <p:nvPicPr>
          <p:cNvPr id="24" name="Image 3" descr="/home/claude/genai_pptx/icons/lightbulb.png"/>
          <p:cNvPicPr>
            <a:picLocks noChangeAspect="1"/>
          </p:cNvPicPr>
          <p:nvPr/>
        </p:nvPicPr>
        <p:blipFill>
          <a:blip r:embed="rId6"/>
          <a:stretch>
            <a:fillRect/>
          </a:stretch>
        </p:blipFill>
        <p:spPr>
          <a:xfrm>
            <a:off x="941832" y="3639312"/>
            <a:ext cx="301752" cy="301752"/>
          </a:xfrm>
          <a:prstGeom prst="rect">
            <a:avLst/>
          </a:prstGeom>
        </p:spPr>
      </p:pic>
      <p:sp>
        <p:nvSpPr>
          <p:cNvPr id="25" name="Text 19"/>
          <p:cNvSpPr/>
          <p:nvPr/>
        </p:nvSpPr>
        <p:spPr>
          <a:xfrm>
            <a:off x="3246120" y="3502152"/>
            <a:ext cx="502920" cy="320040"/>
          </a:xfrm>
          <a:prstGeom prst="rect">
            <a:avLst/>
          </a:prstGeom>
          <a:noFill/>
          <a:ln/>
        </p:spPr>
        <p:txBody>
          <a:bodyPr wrap="square" lIns="0" tIns="0" rIns="0" bIns="0" rtlCol="0" anchor="ctr"/>
          <a:lstStyle/>
          <a:p>
            <a:pPr marL="0" indent="0" algn="r">
              <a:buNone/>
            </a:pPr>
            <a:r>
              <a:rPr lang="en-US" sz="1600" b="1" dirty="0">
                <a:solidFill>
                  <a:srgbClr val="D7DAEE"/>
                </a:solidFill>
                <a:latin typeface="Cambria" pitchFamily="34" charset="0"/>
                <a:ea typeface="Cambria" pitchFamily="34" charset="-122"/>
                <a:cs typeface="Cambria" pitchFamily="34" charset="-120"/>
              </a:rPr>
              <a:t>04</a:t>
            </a:r>
            <a:endParaRPr lang="en-US" sz="1600" dirty="0"/>
          </a:p>
        </p:txBody>
      </p:sp>
      <p:sp>
        <p:nvSpPr>
          <p:cNvPr id="26" name="Text 20"/>
          <p:cNvSpPr/>
          <p:nvPr/>
        </p:nvSpPr>
        <p:spPr>
          <a:xfrm>
            <a:off x="841248" y="4087368"/>
            <a:ext cx="2843784" cy="320040"/>
          </a:xfrm>
          <a:prstGeom prst="rect">
            <a:avLst/>
          </a:prstGeom>
          <a:noFill/>
          <a:ln/>
        </p:spPr>
        <p:txBody>
          <a:bodyPr wrap="square" lIns="0" tIns="0" rIns="0" bIns="0" rtlCol="0" anchor="ctr"/>
          <a:lstStyle/>
          <a:p>
            <a:pPr marL="0" indent="0">
              <a:buNone/>
            </a:pPr>
            <a:r>
              <a:rPr lang="en-US" sz="1250" b="1" dirty="0">
                <a:solidFill>
                  <a:srgbClr val="1E2340"/>
                </a:solidFill>
                <a:latin typeface="Calibri" pitchFamily="34" charset="0"/>
                <a:ea typeface="Calibri" pitchFamily="34" charset="-122"/>
                <a:cs typeface="Calibri" pitchFamily="34" charset="-120"/>
              </a:rPr>
              <a:t>Benefits &amp; Opportunities</a:t>
            </a:r>
            <a:endParaRPr lang="en-US" sz="1250" dirty="0"/>
          </a:p>
        </p:txBody>
      </p:sp>
      <p:sp>
        <p:nvSpPr>
          <p:cNvPr id="27" name="Text 21"/>
          <p:cNvSpPr/>
          <p:nvPr/>
        </p:nvSpPr>
        <p:spPr>
          <a:xfrm>
            <a:off x="841248" y="4389120"/>
            <a:ext cx="2843784" cy="320040"/>
          </a:xfrm>
          <a:prstGeom prst="rect">
            <a:avLst/>
          </a:prstGeom>
          <a:noFill/>
          <a:ln/>
        </p:spPr>
        <p:txBody>
          <a:bodyPr wrap="square" lIns="0" tIns="0" rIns="0" bIns="0" rtlCol="0" anchor="ctr"/>
          <a:lstStyle/>
          <a:p>
            <a:pPr marL="0" indent="0">
              <a:buNone/>
            </a:pPr>
            <a:r>
              <a:rPr lang="en-US" sz="1000" dirty="0">
                <a:solidFill>
                  <a:srgbClr val="6B7280"/>
                </a:solidFill>
                <a:latin typeface="Calibri" pitchFamily="34" charset="0"/>
                <a:ea typeface="Calibri" pitchFamily="34" charset="-122"/>
                <a:cs typeface="Calibri" pitchFamily="34" charset="-120"/>
              </a:rPr>
              <a:t>Value created for organizations</a:t>
            </a:r>
            <a:endParaRPr lang="en-US" sz="1000" dirty="0"/>
          </a:p>
        </p:txBody>
      </p:sp>
      <p:sp>
        <p:nvSpPr>
          <p:cNvPr id="28" name="Shape 22"/>
          <p:cNvSpPr/>
          <p:nvPr/>
        </p:nvSpPr>
        <p:spPr>
          <a:xfrm>
            <a:off x="4114800" y="3337560"/>
            <a:ext cx="3246120" cy="1417320"/>
          </a:xfrm>
          <a:prstGeom prst="roundRect">
            <a:avLst>
              <a:gd name="adj" fmla="val 5161"/>
            </a:avLst>
          </a:prstGeom>
          <a:solidFill>
            <a:srgbClr val="F7F8FC"/>
          </a:solidFill>
          <a:ln/>
          <a:effectLst>
            <a:outerShdw blurRad="101600" dist="38100" dir="5400000" algn="bl" rotWithShape="0">
              <a:srgbClr val="1E2340">
                <a:alpha val="12000"/>
              </a:srgbClr>
            </a:outerShdw>
          </a:effectLst>
        </p:spPr>
      </p:sp>
      <p:sp>
        <p:nvSpPr>
          <p:cNvPr id="29" name="Shape 23"/>
          <p:cNvSpPr/>
          <p:nvPr/>
        </p:nvSpPr>
        <p:spPr>
          <a:xfrm>
            <a:off x="4315968" y="3538728"/>
            <a:ext cx="502920" cy="502920"/>
          </a:xfrm>
          <a:prstGeom prst="ellipse">
            <a:avLst/>
          </a:prstGeom>
          <a:solidFill>
            <a:srgbClr val="153A38"/>
          </a:solidFill>
          <a:ln/>
        </p:spPr>
      </p:sp>
      <p:pic>
        <p:nvPicPr>
          <p:cNvPr id="30" name="Image 4" descr="/home/claude/genai_pptx/icons/warning.png"/>
          <p:cNvPicPr>
            <a:picLocks noChangeAspect="1"/>
          </p:cNvPicPr>
          <p:nvPr/>
        </p:nvPicPr>
        <p:blipFill>
          <a:blip r:embed="rId7"/>
          <a:stretch>
            <a:fillRect/>
          </a:stretch>
        </p:blipFill>
        <p:spPr>
          <a:xfrm>
            <a:off x="4416552" y="3639312"/>
            <a:ext cx="301752" cy="301752"/>
          </a:xfrm>
          <a:prstGeom prst="rect">
            <a:avLst/>
          </a:prstGeom>
        </p:spPr>
      </p:pic>
      <p:sp>
        <p:nvSpPr>
          <p:cNvPr id="31" name="Text 24"/>
          <p:cNvSpPr/>
          <p:nvPr/>
        </p:nvSpPr>
        <p:spPr>
          <a:xfrm>
            <a:off x="6720840" y="3502152"/>
            <a:ext cx="502920" cy="320040"/>
          </a:xfrm>
          <a:prstGeom prst="rect">
            <a:avLst/>
          </a:prstGeom>
          <a:noFill/>
          <a:ln/>
        </p:spPr>
        <p:txBody>
          <a:bodyPr wrap="square" lIns="0" tIns="0" rIns="0" bIns="0" rtlCol="0" anchor="ctr"/>
          <a:lstStyle/>
          <a:p>
            <a:pPr marL="0" indent="0" algn="r">
              <a:buNone/>
            </a:pPr>
            <a:r>
              <a:rPr lang="en-US" sz="1600" b="1" dirty="0">
                <a:solidFill>
                  <a:srgbClr val="D7DAEE"/>
                </a:solidFill>
                <a:latin typeface="Cambria" pitchFamily="34" charset="0"/>
                <a:ea typeface="Cambria" pitchFamily="34" charset="-122"/>
                <a:cs typeface="Cambria" pitchFamily="34" charset="-120"/>
              </a:rPr>
              <a:t>05</a:t>
            </a:r>
            <a:endParaRPr lang="en-US" sz="1600" dirty="0"/>
          </a:p>
        </p:txBody>
      </p:sp>
      <p:sp>
        <p:nvSpPr>
          <p:cNvPr id="32" name="Text 25"/>
          <p:cNvSpPr/>
          <p:nvPr/>
        </p:nvSpPr>
        <p:spPr>
          <a:xfrm>
            <a:off x="4315968" y="4087368"/>
            <a:ext cx="2843784" cy="320040"/>
          </a:xfrm>
          <a:prstGeom prst="rect">
            <a:avLst/>
          </a:prstGeom>
          <a:noFill/>
          <a:ln/>
        </p:spPr>
        <p:txBody>
          <a:bodyPr wrap="square" lIns="0" tIns="0" rIns="0" bIns="0" rtlCol="0" anchor="ctr"/>
          <a:lstStyle/>
          <a:p>
            <a:pPr marL="0" indent="0">
              <a:buNone/>
            </a:pPr>
            <a:r>
              <a:rPr lang="en-US" sz="1250" b="1" dirty="0">
                <a:solidFill>
                  <a:srgbClr val="1E2340"/>
                </a:solidFill>
                <a:latin typeface="Calibri" pitchFamily="34" charset="0"/>
                <a:ea typeface="Calibri" pitchFamily="34" charset="-122"/>
                <a:cs typeface="Calibri" pitchFamily="34" charset="-120"/>
              </a:rPr>
              <a:t>Risks, Challenges &amp; Ethics</a:t>
            </a:r>
            <a:endParaRPr lang="en-US" sz="1250" dirty="0"/>
          </a:p>
        </p:txBody>
      </p:sp>
      <p:sp>
        <p:nvSpPr>
          <p:cNvPr id="33" name="Text 26"/>
          <p:cNvSpPr/>
          <p:nvPr/>
        </p:nvSpPr>
        <p:spPr>
          <a:xfrm>
            <a:off x="4315968" y="4389120"/>
            <a:ext cx="2843784" cy="320040"/>
          </a:xfrm>
          <a:prstGeom prst="rect">
            <a:avLst/>
          </a:prstGeom>
          <a:noFill/>
          <a:ln/>
        </p:spPr>
        <p:txBody>
          <a:bodyPr wrap="square" lIns="0" tIns="0" rIns="0" bIns="0" rtlCol="0" anchor="ctr"/>
          <a:lstStyle/>
          <a:p>
            <a:pPr marL="0" indent="0">
              <a:buNone/>
            </a:pPr>
            <a:r>
              <a:rPr lang="en-US" sz="1000" dirty="0">
                <a:solidFill>
                  <a:srgbClr val="6B7280"/>
                </a:solidFill>
                <a:latin typeface="Calibri" pitchFamily="34" charset="0"/>
                <a:ea typeface="Calibri" pitchFamily="34" charset="-122"/>
                <a:cs typeface="Calibri" pitchFamily="34" charset="-120"/>
              </a:rPr>
              <a:t>What to watch out for</a:t>
            </a:r>
            <a:endParaRPr lang="en-US" sz="1000" dirty="0"/>
          </a:p>
        </p:txBody>
      </p:sp>
      <p:sp>
        <p:nvSpPr>
          <p:cNvPr id="34" name="Shape 27"/>
          <p:cNvSpPr/>
          <p:nvPr/>
        </p:nvSpPr>
        <p:spPr>
          <a:xfrm>
            <a:off x="7589520" y="3337560"/>
            <a:ext cx="3246120" cy="1417320"/>
          </a:xfrm>
          <a:prstGeom prst="roundRect">
            <a:avLst>
              <a:gd name="adj" fmla="val 5161"/>
            </a:avLst>
          </a:prstGeom>
          <a:solidFill>
            <a:srgbClr val="F7F8FC"/>
          </a:solidFill>
          <a:ln/>
          <a:effectLst>
            <a:outerShdw blurRad="101600" dist="38100" dir="5400000" algn="bl" rotWithShape="0">
              <a:srgbClr val="1E2340">
                <a:alpha val="12000"/>
              </a:srgbClr>
            </a:outerShdw>
          </a:effectLst>
        </p:spPr>
      </p:sp>
      <p:sp>
        <p:nvSpPr>
          <p:cNvPr id="35" name="Shape 28"/>
          <p:cNvSpPr/>
          <p:nvPr/>
        </p:nvSpPr>
        <p:spPr>
          <a:xfrm>
            <a:off x="7790688" y="3538728"/>
            <a:ext cx="502920" cy="502920"/>
          </a:xfrm>
          <a:prstGeom prst="ellipse">
            <a:avLst/>
          </a:prstGeom>
          <a:solidFill>
            <a:srgbClr val="153A38"/>
          </a:solidFill>
          <a:ln/>
        </p:spPr>
      </p:sp>
      <p:pic>
        <p:nvPicPr>
          <p:cNvPr id="36" name="Image 5" descr="/home/claude/genai_pptx/icons/layer.png"/>
          <p:cNvPicPr>
            <a:picLocks noChangeAspect="1"/>
          </p:cNvPicPr>
          <p:nvPr/>
        </p:nvPicPr>
        <p:blipFill>
          <a:blip r:embed="rId8"/>
          <a:stretch>
            <a:fillRect/>
          </a:stretch>
        </p:blipFill>
        <p:spPr>
          <a:xfrm>
            <a:off x="7891272" y="3639312"/>
            <a:ext cx="301752" cy="301752"/>
          </a:xfrm>
          <a:prstGeom prst="rect">
            <a:avLst/>
          </a:prstGeom>
        </p:spPr>
      </p:pic>
      <p:sp>
        <p:nvSpPr>
          <p:cNvPr id="37" name="Text 29"/>
          <p:cNvSpPr/>
          <p:nvPr/>
        </p:nvSpPr>
        <p:spPr>
          <a:xfrm>
            <a:off x="10195560" y="3502152"/>
            <a:ext cx="502920" cy="320040"/>
          </a:xfrm>
          <a:prstGeom prst="rect">
            <a:avLst/>
          </a:prstGeom>
          <a:noFill/>
          <a:ln/>
        </p:spPr>
        <p:txBody>
          <a:bodyPr wrap="square" lIns="0" tIns="0" rIns="0" bIns="0" rtlCol="0" anchor="ctr"/>
          <a:lstStyle/>
          <a:p>
            <a:pPr marL="0" indent="0" algn="r">
              <a:buNone/>
            </a:pPr>
            <a:r>
              <a:rPr lang="en-US" sz="1600" b="1" dirty="0">
                <a:solidFill>
                  <a:srgbClr val="D7DAEE"/>
                </a:solidFill>
                <a:latin typeface="Cambria" pitchFamily="34" charset="0"/>
                <a:ea typeface="Cambria" pitchFamily="34" charset="-122"/>
                <a:cs typeface="Cambria" pitchFamily="34" charset="-120"/>
              </a:rPr>
              <a:t>06</a:t>
            </a:r>
            <a:endParaRPr lang="en-US" sz="1600" dirty="0"/>
          </a:p>
        </p:txBody>
      </p:sp>
      <p:sp>
        <p:nvSpPr>
          <p:cNvPr id="38" name="Text 30"/>
          <p:cNvSpPr/>
          <p:nvPr/>
        </p:nvSpPr>
        <p:spPr>
          <a:xfrm>
            <a:off x="7790688" y="4087368"/>
            <a:ext cx="2843784" cy="320040"/>
          </a:xfrm>
          <a:prstGeom prst="rect">
            <a:avLst/>
          </a:prstGeom>
          <a:noFill/>
          <a:ln/>
        </p:spPr>
        <p:txBody>
          <a:bodyPr wrap="square" lIns="0" tIns="0" rIns="0" bIns="0" rtlCol="0" anchor="ctr"/>
          <a:lstStyle/>
          <a:p>
            <a:pPr marL="0" indent="0">
              <a:buNone/>
            </a:pPr>
            <a:r>
              <a:rPr lang="en-US" sz="1250" b="1" dirty="0">
                <a:solidFill>
                  <a:srgbClr val="1E2340"/>
                </a:solidFill>
                <a:latin typeface="Calibri" pitchFamily="34" charset="0"/>
                <a:ea typeface="Calibri" pitchFamily="34" charset="-122"/>
                <a:cs typeface="Calibri" pitchFamily="34" charset="-120"/>
              </a:rPr>
              <a:t>Popular Generative AI Tools</a:t>
            </a:r>
            <a:endParaRPr lang="en-US" sz="1250" dirty="0"/>
          </a:p>
        </p:txBody>
      </p:sp>
      <p:sp>
        <p:nvSpPr>
          <p:cNvPr id="39" name="Text 31"/>
          <p:cNvSpPr/>
          <p:nvPr/>
        </p:nvSpPr>
        <p:spPr>
          <a:xfrm>
            <a:off x="7790688" y="4389120"/>
            <a:ext cx="2843784" cy="320040"/>
          </a:xfrm>
          <a:prstGeom prst="rect">
            <a:avLst/>
          </a:prstGeom>
          <a:noFill/>
          <a:ln/>
        </p:spPr>
        <p:txBody>
          <a:bodyPr wrap="square" lIns="0" tIns="0" rIns="0" bIns="0" rtlCol="0" anchor="ctr"/>
          <a:lstStyle/>
          <a:p>
            <a:pPr marL="0" indent="0">
              <a:buNone/>
            </a:pPr>
            <a:r>
              <a:rPr lang="en-US" sz="1000" dirty="0">
                <a:solidFill>
                  <a:srgbClr val="6B7280"/>
                </a:solidFill>
                <a:latin typeface="Calibri" pitchFamily="34" charset="0"/>
                <a:ea typeface="Calibri" pitchFamily="34" charset="-122"/>
                <a:cs typeface="Calibri" pitchFamily="34" charset="-120"/>
              </a:rPr>
              <a:t>The current landscape</a:t>
            </a:r>
            <a:endParaRPr lang="en-US" sz="1000" dirty="0"/>
          </a:p>
        </p:txBody>
      </p:sp>
      <p:sp>
        <p:nvSpPr>
          <p:cNvPr id="40" name="Shape 32"/>
          <p:cNvSpPr/>
          <p:nvPr/>
        </p:nvSpPr>
        <p:spPr>
          <a:xfrm>
            <a:off x="640080" y="4937760"/>
            <a:ext cx="3246120" cy="1417320"/>
          </a:xfrm>
          <a:prstGeom prst="roundRect">
            <a:avLst>
              <a:gd name="adj" fmla="val 5161"/>
            </a:avLst>
          </a:prstGeom>
          <a:solidFill>
            <a:srgbClr val="F7F8FC"/>
          </a:solidFill>
          <a:ln/>
          <a:effectLst>
            <a:outerShdw blurRad="101600" dist="38100" dir="5400000" algn="bl" rotWithShape="0">
              <a:srgbClr val="1E2340">
                <a:alpha val="12000"/>
              </a:srgbClr>
            </a:outerShdw>
          </a:effectLst>
        </p:spPr>
      </p:sp>
      <p:sp>
        <p:nvSpPr>
          <p:cNvPr id="41" name="Shape 33"/>
          <p:cNvSpPr/>
          <p:nvPr/>
        </p:nvSpPr>
        <p:spPr>
          <a:xfrm>
            <a:off x="841248" y="5138928"/>
            <a:ext cx="502920" cy="502920"/>
          </a:xfrm>
          <a:prstGeom prst="ellipse">
            <a:avLst/>
          </a:prstGeom>
          <a:solidFill>
            <a:srgbClr val="153A38"/>
          </a:solidFill>
          <a:ln/>
        </p:spPr>
      </p:sp>
      <p:pic>
        <p:nvPicPr>
          <p:cNvPr id="42" name="Image 6" descr="/home/claude/genai_pptx/icons/rocket.png"/>
          <p:cNvPicPr>
            <a:picLocks noChangeAspect="1"/>
          </p:cNvPicPr>
          <p:nvPr/>
        </p:nvPicPr>
        <p:blipFill>
          <a:blip r:embed="rId9"/>
          <a:stretch>
            <a:fillRect/>
          </a:stretch>
        </p:blipFill>
        <p:spPr>
          <a:xfrm>
            <a:off x="941832" y="5239512"/>
            <a:ext cx="301752" cy="301752"/>
          </a:xfrm>
          <a:prstGeom prst="rect">
            <a:avLst/>
          </a:prstGeom>
        </p:spPr>
      </p:pic>
      <p:sp>
        <p:nvSpPr>
          <p:cNvPr id="43" name="Text 34"/>
          <p:cNvSpPr/>
          <p:nvPr/>
        </p:nvSpPr>
        <p:spPr>
          <a:xfrm>
            <a:off x="3246120" y="5102352"/>
            <a:ext cx="502920" cy="320040"/>
          </a:xfrm>
          <a:prstGeom prst="rect">
            <a:avLst/>
          </a:prstGeom>
          <a:noFill/>
          <a:ln/>
        </p:spPr>
        <p:txBody>
          <a:bodyPr wrap="square" lIns="0" tIns="0" rIns="0" bIns="0" rtlCol="0" anchor="ctr"/>
          <a:lstStyle/>
          <a:p>
            <a:pPr marL="0" indent="0" algn="r">
              <a:buNone/>
            </a:pPr>
            <a:r>
              <a:rPr lang="en-US" sz="1600" b="1" dirty="0">
                <a:solidFill>
                  <a:srgbClr val="D7DAEE"/>
                </a:solidFill>
                <a:latin typeface="Cambria" pitchFamily="34" charset="0"/>
                <a:ea typeface="Cambria" pitchFamily="34" charset="-122"/>
                <a:cs typeface="Cambria" pitchFamily="34" charset="-120"/>
              </a:rPr>
              <a:t>07</a:t>
            </a:r>
            <a:endParaRPr lang="en-US" sz="1600" dirty="0"/>
          </a:p>
        </p:txBody>
      </p:sp>
      <p:sp>
        <p:nvSpPr>
          <p:cNvPr id="44" name="Text 35"/>
          <p:cNvSpPr/>
          <p:nvPr/>
        </p:nvSpPr>
        <p:spPr>
          <a:xfrm>
            <a:off x="841248" y="5687568"/>
            <a:ext cx="2843784" cy="320040"/>
          </a:xfrm>
          <a:prstGeom prst="rect">
            <a:avLst/>
          </a:prstGeom>
          <a:noFill/>
          <a:ln/>
        </p:spPr>
        <p:txBody>
          <a:bodyPr wrap="square" lIns="0" tIns="0" rIns="0" bIns="0" rtlCol="0" anchor="ctr"/>
          <a:lstStyle/>
          <a:p>
            <a:pPr marL="0" indent="0">
              <a:buNone/>
            </a:pPr>
            <a:r>
              <a:rPr lang="en-US" sz="1250" b="1" dirty="0">
                <a:solidFill>
                  <a:srgbClr val="1E2340"/>
                </a:solidFill>
                <a:latin typeface="Calibri" pitchFamily="34" charset="0"/>
                <a:ea typeface="Calibri" pitchFamily="34" charset="-122"/>
                <a:cs typeface="Calibri" pitchFamily="34" charset="-120"/>
              </a:rPr>
              <a:t>Future of Generative AI</a:t>
            </a:r>
            <a:endParaRPr lang="en-US" sz="1250" dirty="0"/>
          </a:p>
        </p:txBody>
      </p:sp>
      <p:sp>
        <p:nvSpPr>
          <p:cNvPr id="45" name="Text 36"/>
          <p:cNvSpPr/>
          <p:nvPr/>
        </p:nvSpPr>
        <p:spPr>
          <a:xfrm>
            <a:off x="841248" y="5989320"/>
            <a:ext cx="2843784" cy="320040"/>
          </a:xfrm>
          <a:prstGeom prst="rect">
            <a:avLst/>
          </a:prstGeom>
          <a:noFill/>
          <a:ln/>
        </p:spPr>
        <p:txBody>
          <a:bodyPr wrap="square" lIns="0" tIns="0" rIns="0" bIns="0" rtlCol="0" anchor="ctr"/>
          <a:lstStyle/>
          <a:p>
            <a:pPr marL="0" indent="0">
              <a:buNone/>
            </a:pPr>
            <a:r>
              <a:rPr lang="en-US" sz="1000" dirty="0">
                <a:solidFill>
                  <a:srgbClr val="6B7280"/>
                </a:solidFill>
                <a:latin typeface="Calibri" pitchFamily="34" charset="0"/>
                <a:ea typeface="Calibri" pitchFamily="34" charset="-122"/>
                <a:cs typeface="Calibri" pitchFamily="34" charset="-120"/>
              </a:rPr>
              <a:t>Where the technology is headed</a:t>
            </a:r>
            <a:endParaRPr lang="en-US" sz="1000" dirty="0"/>
          </a:p>
        </p:txBody>
      </p:sp>
      <p:sp>
        <p:nvSpPr>
          <p:cNvPr id="46" name="Text 37"/>
          <p:cNvSpPr/>
          <p:nvPr/>
        </p:nvSpPr>
        <p:spPr>
          <a:xfrm>
            <a:off x="457200" y="6473952"/>
            <a:ext cx="5486400" cy="274320"/>
          </a:xfrm>
          <a:prstGeom prst="rect">
            <a:avLst/>
          </a:prstGeom>
          <a:noFill/>
          <a:ln/>
        </p:spPr>
        <p:txBody>
          <a:bodyPr wrap="square" lIns="0" tIns="0" rIns="0" bIns="0" rtlCol="0" anchor="ctr"/>
          <a:lstStyle/>
          <a:p>
            <a:pPr marL="0" indent="0">
              <a:buNone/>
            </a:pPr>
            <a:r>
              <a:rPr lang="en-US" sz="1000" dirty="0">
                <a:solidFill>
                  <a:srgbClr val="6B7280"/>
                </a:solidFill>
                <a:latin typeface="Calibri" pitchFamily="34" charset="0"/>
                <a:ea typeface="Calibri" pitchFamily="34" charset="-122"/>
                <a:cs typeface="Calibri" pitchFamily="34" charset="-120"/>
              </a:rPr>
              <a:t>Generative AI and IS</a:t>
            </a:r>
            <a:endParaRPr lang="en-US" sz="1000" dirty="0"/>
          </a:p>
        </p:txBody>
      </p:sp>
      <p:sp>
        <p:nvSpPr>
          <p:cNvPr id="47" name="Text 38"/>
          <p:cNvSpPr/>
          <p:nvPr/>
        </p:nvSpPr>
        <p:spPr>
          <a:xfrm>
            <a:off x="11274552" y="6473952"/>
            <a:ext cx="457200" cy="274320"/>
          </a:xfrm>
          <a:prstGeom prst="rect">
            <a:avLst/>
          </a:prstGeom>
          <a:noFill/>
          <a:ln/>
        </p:spPr>
        <p:txBody>
          <a:bodyPr wrap="square" lIns="0" tIns="0" rIns="0" bIns="0" rtlCol="0" anchor="ctr"/>
          <a:lstStyle/>
          <a:p>
            <a:pPr marL="0" indent="0" algn="r">
              <a:buNone/>
            </a:pPr>
            <a:r>
              <a:rPr lang="en-US" sz="1000" dirty="0">
                <a:solidFill>
                  <a:srgbClr val="6B7280"/>
                </a:solidFill>
                <a:latin typeface="Calibri" pitchFamily="34" charset="0"/>
                <a:ea typeface="Calibri" pitchFamily="34" charset="-122"/>
                <a:cs typeface="Calibri" pitchFamily="34" charset="-120"/>
              </a:rPr>
              <a:t>2</a:t>
            </a:r>
            <a:endParaRPr lang="en-US" sz="1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640080" y="384048"/>
            <a:ext cx="7315200" cy="320040"/>
          </a:xfrm>
          <a:prstGeom prst="rect">
            <a:avLst/>
          </a:prstGeom>
          <a:noFill/>
          <a:ln/>
        </p:spPr>
        <p:txBody>
          <a:bodyPr wrap="square" lIns="0" tIns="0" rIns="0" bIns="0" rtlCol="0" anchor="ctr"/>
          <a:lstStyle/>
          <a:p>
            <a:pPr marL="0" indent="0">
              <a:buNone/>
            </a:pPr>
            <a:r>
              <a:rPr lang="en-US" sz="1300" b="1" kern="0" spc="200" dirty="0">
                <a:solidFill>
                  <a:srgbClr val="0F9B8E"/>
                </a:solidFill>
                <a:latin typeface="Calibri" pitchFamily="34" charset="0"/>
                <a:ea typeface="Calibri" pitchFamily="34" charset="-122"/>
                <a:cs typeface="Calibri" pitchFamily="34" charset="-120"/>
              </a:rPr>
              <a:t>1. INTRODUCTION TO GENERATIVE AI</a:t>
            </a:r>
            <a:endParaRPr lang="en-US" sz="1300" dirty="0"/>
          </a:p>
        </p:txBody>
      </p:sp>
      <p:sp>
        <p:nvSpPr>
          <p:cNvPr id="3" name="Text 1"/>
          <p:cNvSpPr/>
          <p:nvPr/>
        </p:nvSpPr>
        <p:spPr>
          <a:xfrm>
            <a:off x="640080" y="685800"/>
            <a:ext cx="9601200" cy="731520"/>
          </a:xfrm>
          <a:prstGeom prst="rect">
            <a:avLst/>
          </a:prstGeom>
          <a:noFill/>
          <a:ln/>
        </p:spPr>
        <p:txBody>
          <a:bodyPr wrap="square" lIns="0" tIns="0" rIns="0" bIns="0" rtlCol="0" anchor="ctr"/>
          <a:lstStyle/>
          <a:p>
            <a:pPr marL="0" indent="0">
              <a:buNone/>
            </a:pPr>
            <a:r>
              <a:rPr lang="en-US" sz="3200" b="1" dirty="0">
                <a:solidFill>
                  <a:srgbClr val="1E2340"/>
                </a:solidFill>
                <a:latin typeface="Cambria" pitchFamily="34" charset="0"/>
                <a:ea typeface="Cambria" pitchFamily="34" charset="-122"/>
                <a:cs typeface="Cambria" pitchFamily="34" charset="-120"/>
              </a:rPr>
              <a:t>What Is Generative AI?</a:t>
            </a:r>
            <a:endParaRPr lang="en-US" sz="3200" dirty="0"/>
          </a:p>
        </p:txBody>
      </p:sp>
      <p:sp>
        <p:nvSpPr>
          <p:cNvPr id="4" name="Text 2"/>
          <p:cNvSpPr/>
          <p:nvPr/>
        </p:nvSpPr>
        <p:spPr>
          <a:xfrm>
            <a:off x="457200" y="1290424"/>
            <a:ext cx="5577840" cy="1600200"/>
          </a:xfrm>
          <a:prstGeom prst="rect">
            <a:avLst/>
          </a:prstGeom>
          <a:noFill/>
          <a:ln/>
        </p:spPr>
        <p:txBody>
          <a:bodyPr wrap="square" lIns="0" tIns="0" rIns="0" bIns="0" rtlCol="0" anchor="ctr"/>
          <a:lstStyle/>
          <a:p>
            <a:pPr>
              <a:lnSpc>
                <a:spcPct val="125000"/>
              </a:lnSpc>
            </a:pPr>
            <a:r>
              <a:rPr lang="en-US" sz="1600" dirty="0"/>
              <a:t>Generative AI (Gen AI) is a type of Artificial Intelligence that creates new content such as text, images, videos, music, audio, and computer code by learning patterns from large amounts of existing data.</a:t>
            </a:r>
          </a:p>
        </p:txBody>
      </p:sp>
      <p:sp>
        <p:nvSpPr>
          <p:cNvPr id="7" name="Text 5"/>
          <p:cNvSpPr/>
          <p:nvPr/>
        </p:nvSpPr>
        <p:spPr>
          <a:xfrm>
            <a:off x="457200" y="2615184"/>
            <a:ext cx="5715000" cy="1826187"/>
          </a:xfrm>
          <a:prstGeom prst="rect">
            <a:avLst/>
          </a:prstGeom>
          <a:noFill/>
          <a:ln/>
        </p:spPr>
        <p:txBody>
          <a:bodyPr wrap="square" lIns="0" tIns="0" rIns="0" bIns="0" rtlCol="0" anchor="ctr"/>
          <a:lstStyle/>
          <a:p>
            <a:r>
              <a:rPr lang="en-US" sz="1600" b="1" dirty="0"/>
              <a:t>Examples of generated content:</a:t>
            </a:r>
            <a:endParaRPr lang="en-US" sz="1600" dirty="0"/>
          </a:p>
          <a:p>
            <a:r>
              <a:rPr lang="en-US" sz="1600" dirty="0"/>
              <a:t>Text </a:t>
            </a:r>
          </a:p>
          <a:p>
            <a:r>
              <a:rPr lang="en-US" sz="1600" dirty="0"/>
              <a:t>Images </a:t>
            </a:r>
          </a:p>
          <a:p>
            <a:r>
              <a:rPr lang="en-US" sz="1600" dirty="0"/>
              <a:t>Videos </a:t>
            </a:r>
          </a:p>
          <a:p>
            <a:r>
              <a:rPr lang="en-US" sz="1600" dirty="0"/>
              <a:t>Music </a:t>
            </a:r>
          </a:p>
          <a:p>
            <a:r>
              <a:rPr lang="en-US" sz="1600" dirty="0"/>
              <a:t>Code</a:t>
            </a:r>
            <a:r>
              <a:rPr lang="en-US" sz="1200" dirty="0"/>
              <a:t> </a:t>
            </a:r>
          </a:p>
        </p:txBody>
      </p:sp>
      <p:sp>
        <p:nvSpPr>
          <p:cNvPr id="9" name="Text 7"/>
          <p:cNvSpPr/>
          <p:nvPr/>
        </p:nvSpPr>
        <p:spPr>
          <a:xfrm>
            <a:off x="493776" y="3291840"/>
            <a:ext cx="5388864" cy="2595776"/>
          </a:xfrm>
          <a:prstGeom prst="rect">
            <a:avLst/>
          </a:prstGeom>
          <a:noFill/>
          <a:ln/>
        </p:spPr>
        <p:txBody>
          <a:bodyPr wrap="square" lIns="0" tIns="0" rIns="0" bIns="0" rtlCol="0" anchor="ctr"/>
          <a:lstStyle/>
          <a:p>
            <a:pPr marL="0" indent="0">
              <a:buNone/>
            </a:pPr>
            <a:endParaRPr lang="en-US" sz="1250" dirty="0"/>
          </a:p>
        </p:txBody>
      </p:sp>
      <p:sp>
        <p:nvSpPr>
          <p:cNvPr id="12" name="Text 10"/>
          <p:cNvSpPr/>
          <p:nvPr/>
        </p:nvSpPr>
        <p:spPr>
          <a:xfrm>
            <a:off x="960120" y="4517136"/>
            <a:ext cx="5212080" cy="292608"/>
          </a:xfrm>
          <a:prstGeom prst="rect">
            <a:avLst/>
          </a:prstGeom>
          <a:noFill/>
          <a:ln/>
        </p:spPr>
        <p:txBody>
          <a:bodyPr wrap="square" lIns="0" tIns="0" rIns="0" bIns="0" rtlCol="0" anchor="ctr"/>
          <a:lstStyle/>
          <a:p>
            <a:pPr marL="0" indent="0">
              <a:buNone/>
            </a:pPr>
            <a:endParaRPr lang="en-US" sz="1250" dirty="0"/>
          </a:p>
        </p:txBody>
      </p:sp>
      <p:sp>
        <p:nvSpPr>
          <p:cNvPr id="14" name="Shape 12"/>
          <p:cNvSpPr/>
          <p:nvPr/>
        </p:nvSpPr>
        <p:spPr>
          <a:xfrm>
            <a:off x="6172200" y="1211580"/>
            <a:ext cx="4937760" cy="4160520"/>
          </a:xfrm>
          <a:prstGeom prst="roundRect">
            <a:avLst>
              <a:gd name="adj" fmla="val 2198"/>
            </a:avLst>
          </a:prstGeom>
          <a:solidFill>
            <a:srgbClr val="151A3D"/>
          </a:solidFill>
          <a:ln/>
          <a:effectLst>
            <a:outerShdw blurRad="101600" dist="38100" dir="5400000" algn="bl" rotWithShape="0">
              <a:srgbClr val="1E2340">
                <a:alpha val="12000"/>
              </a:srgbClr>
            </a:outerShdw>
          </a:effectLst>
        </p:spPr>
      </p:sp>
      <p:sp>
        <p:nvSpPr>
          <p:cNvPr id="15" name="Text 13"/>
          <p:cNvSpPr/>
          <p:nvPr/>
        </p:nvSpPr>
        <p:spPr>
          <a:xfrm>
            <a:off x="6324600" y="1290424"/>
            <a:ext cx="3916680" cy="698396"/>
          </a:xfrm>
          <a:prstGeom prst="rect">
            <a:avLst/>
          </a:prstGeom>
          <a:noFill/>
          <a:ln/>
        </p:spPr>
        <p:txBody>
          <a:bodyPr wrap="square" lIns="0" tIns="0" rIns="0" bIns="0" rtlCol="0" anchor="ctr"/>
          <a:lstStyle/>
          <a:p>
            <a:pPr marL="0" indent="0">
              <a:buNone/>
            </a:pPr>
            <a:r>
              <a:rPr lang="en-US" sz="1400" b="1" dirty="0">
                <a:solidFill>
                  <a:srgbClr val="FFFFFF"/>
                </a:solidFill>
                <a:latin typeface="Calibri" pitchFamily="34" charset="0"/>
                <a:ea typeface="Calibri" pitchFamily="34" charset="-122"/>
                <a:cs typeface="Calibri" pitchFamily="34" charset="-120"/>
              </a:rPr>
              <a:t>Discriminative  vs.  Generative</a:t>
            </a:r>
            <a:endParaRPr lang="en-US" sz="1400" dirty="0"/>
          </a:p>
        </p:txBody>
      </p:sp>
      <p:sp>
        <p:nvSpPr>
          <p:cNvPr id="16" name="Shape 14"/>
          <p:cNvSpPr/>
          <p:nvPr/>
        </p:nvSpPr>
        <p:spPr>
          <a:xfrm>
            <a:off x="6324600" y="1815084"/>
            <a:ext cx="4297680" cy="1554480"/>
          </a:xfrm>
          <a:prstGeom prst="roundRect">
            <a:avLst>
              <a:gd name="adj" fmla="val 4706"/>
            </a:avLst>
          </a:prstGeom>
          <a:solidFill>
            <a:srgbClr val="1E2555"/>
          </a:solidFill>
          <a:ln/>
        </p:spPr>
        <p:txBody>
          <a:bodyPr/>
          <a:lstStyle/>
          <a:p>
            <a:endParaRPr lang="en-US"/>
          </a:p>
        </p:txBody>
      </p:sp>
      <p:sp>
        <p:nvSpPr>
          <p:cNvPr id="17" name="Shape 15"/>
          <p:cNvSpPr/>
          <p:nvPr/>
        </p:nvSpPr>
        <p:spPr>
          <a:xfrm>
            <a:off x="6469380" y="2381452"/>
            <a:ext cx="502920" cy="502920"/>
          </a:xfrm>
          <a:prstGeom prst="ellipse">
            <a:avLst/>
          </a:prstGeom>
          <a:solidFill>
            <a:srgbClr val="233066"/>
          </a:solidFill>
          <a:ln/>
        </p:spPr>
      </p:sp>
      <p:pic>
        <p:nvPicPr>
          <p:cNvPr id="18" name="Image 0" descr="/home/claude/genai_pptx/icons/search_teal.png"/>
          <p:cNvPicPr>
            <a:picLocks noChangeAspect="1"/>
          </p:cNvPicPr>
          <p:nvPr/>
        </p:nvPicPr>
        <p:blipFill>
          <a:blip r:embed="rId3"/>
          <a:stretch>
            <a:fillRect/>
          </a:stretch>
        </p:blipFill>
        <p:spPr>
          <a:xfrm>
            <a:off x="6533388" y="2464308"/>
            <a:ext cx="301752" cy="301752"/>
          </a:xfrm>
          <a:prstGeom prst="rect">
            <a:avLst/>
          </a:prstGeom>
        </p:spPr>
      </p:pic>
      <p:sp>
        <p:nvSpPr>
          <p:cNvPr id="19" name="Text 16"/>
          <p:cNvSpPr/>
          <p:nvPr/>
        </p:nvSpPr>
        <p:spPr>
          <a:xfrm>
            <a:off x="7117080" y="1924812"/>
            <a:ext cx="3947160" cy="438912"/>
          </a:xfrm>
          <a:prstGeom prst="rect">
            <a:avLst/>
          </a:prstGeom>
          <a:noFill/>
          <a:ln/>
        </p:spPr>
        <p:txBody>
          <a:bodyPr wrap="square" lIns="0" tIns="0" rIns="0" bIns="0" rtlCol="0" anchor="ctr"/>
          <a:lstStyle/>
          <a:p>
            <a:pPr marL="0" indent="0">
              <a:buNone/>
            </a:pPr>
            <a:r>
              <a:rPr lang="en-US" sz="1300" b="1" dirty="0">
                <a:solidFill>
                  <a:srgbClr val="FFFFFF"/>
                </a:solidFill>
                <a:latin typeface="Calibri" pitchFamily="34" charset="0"/>
                <a:ea typeface="Calibri" pitchFamily="34" charset="-122"/>
                <a:cs typeface="Calibri" pitchFamily="34" charset="-120"/>
              </a:rPr>
              <a:t>Traditional AI</a:t>
            </a:r>
            <a:endParaRPr lang="en-US" sz="1300" dirty="0"/>
          </a:p>
        </p:txBody>
      </p:sp>
      <p:sp>
        <p:nvSpPr>
          <p:cNvPr id="20" name="Text 17"/>
          <p:cNvSpPr/>
          <p:nvPr/>
        </p:nvSpPr>
        <p:spPr>
          <a:xfrm>
            <a:off x="6987540" y="2308860"/>
            <a:ext cx="3556052" cy="868680"/>
          </a:xfrm>
          <a:prstGeom prst="rect">
            <a:avLst/>
          </a:prstGeom>
          <a:noFill/>
          <a:ln/>
        </p:spPr>
        <p:txBody>
          <a:bodyPr wrap="square" lIns="0" tIns="0" rIns="0" bIns="0" rtlCol="0" anchor="ctr"/>
          <a:lstStyle/>
          <a:p>
            <a:pPr marL="0" indent="0">
              <a:lnSpc>
                <a:spcPct val="120000"/>
              </a:lnSpc>
              <a:buNone/>
            </a:pPr>
            <a:r>
              <a:rPr lang="en-US" sz="1400" dirty="0">
                <a:solidFill>
                  <a:srgbClr val="B9BEDE"/>
                </a:solidFill>
                <a:latin typeface="Calibri" pitchFamily="34" charset="0"/>
                <a:ea typeface="Calibri" pitchFamily="34" charset="-122"/>
                <a:cs typeface="Calibri" pitchFamily="34" charset="-120"/>
              </a:rPr>
              <a:t>Classifies or predicts a label from existing data — for example, flagging spam email, scoring credit risk, or detecting fraud. The output is a decision about data that already exists.</a:t>
            </a:r>
            <a:endParaRPr lang="en-US" sz="1400" dirty="0"/>
          </a:p>
        </p:txBody>
      </p:sp>
      <p:sp>
        <p:nvSpPr>
          <p:cNvPr id="21" name="Shape 18"/>
          <p:cNvSpPr/>
          <p:nvPr/>
        </p:nvSpPr>
        <p:spPr>
          <a:xfrm>
            <a:off x="6348984" y="3452420"/>
            <a:ext cx="4297680" cy="1554480"/>
          </a:xfrm>
          <a:prstGeom prst="roundRect">
            <a:avLst>
              <a:gd name="adj" fmla="val 4706"/>
            </a:avLst>
          </a:prstGeom>
          <a:solidFill>
            <a:srgbClr val="0F9B8E"/>
          </a:solidFill>
          <a:ln/>
        </p:spPr>
        <p:txBody>
          <a:bodyPr/>
          <a:lstStyle/>
          <a:p>
            <a:endParaRPr lang="en-US" dirty="0"/>
          </a:p>
        </p:txBody>
      </p:sp>
      <p:sp>
        <p:nvSpPr>
          <p:cNvPr id="22" name="Shape 19"/>
          <p:cNvSpPr/>
          <p:nvPr/>
        </p:nvSpPr>
        <p:spPr>
          <a:xfrm>
            <a:off x="6448231" y="4014216"/>
            <a:ext cx="502920" cy="502920"/>
          </a:xfrm>
          <a:prstGeom prst="ellipse">
            <a:avLst/>
          </a:prstGeom>
          <a:solidFill>
            <a:srgbClr val="0C7B70"/>
          </a:solidFill>
          <a:ln/>
        </p:spPr>
        <p:txBody>
          <a:bodyPr/>
          <a:lstStyle/>
          <a:p>
            <a:endParaRPr lang="en-US" dirty="0"/>
          </a:p>
        </p:txBody>
      </p:sp>
      <p:pic>
        <p:nvPicPr>
          <p:cNvPr id="23" name="Image 1" descr="/home/claude/genai_pptx/icons/magic.png"/>
          <p:cNvPicPr>
            <a:picLocks noChangeAspect="1"/>
          </p:cNvPicPr>
          <p:nvPr/>
        </p:nvPicPr>
        <p:blipFill>
          <a:blip r:embed="rId4"/>
          <a:stretch>
            <a:fillRect/>
          </a:stretch>
        </p:blipFill>
        <p:spPr>
          <a:xfrm>
            <a:off x="6569964" y="4114800"/>
            <a:ext cx="301752" cy="301752"/>
          </a:xfrm>
          <a:prstGeom prst="rect">
            <a:avLst/>
          </a:prstGeom>
        </p:spPr>
      </p:pic>
      <p:sp>
        <p:nvSpPr>
          <p:cNvPr id="24" name="Text 20"/>
          <p:cNvSpPr/>
          <p:nvPr/>
        </p:nvSpPr>
        <p:spPr>
          <a:xfrm>
            <a:off x="7053072" y="3579876"/>
            <a:ext cx="4011168" cy="393192"/>
          </a:xfrm>
          <a:prstGeom prst="rect">
            <a:avLst/>
          </a:prstGeom>
          <a:noFill/>
          <a:ln/>
        </p:spPr>
        <p:txBody>
          <a:bodyPr wrap="square" lIns="0" tIns="0" rIns="0" bIns="0" rtlCol="0" anchor="ctr"/>
          <a:lstStyle/>
          <a:p>
            <a:pPr marL="0" indent="0">
              <a:buNone/>
            </a:pPr>
            <a:r>
              <a:rPr lang="en-US" sz="1300" b="1" dirty="0">
                <a:solidFill>
                  <a:srgbClr val="FFFFFF"/>
                </a:solidFill>
                <a:latin typeface="Calibri" pitchFamily="34" charset="0"/>
                <a:ea typeface="Calibri" pitchFamily="34" charset="-122"/>
                <a:cs typeface="Calibri" pitchFamily="34" charset="-120"/>
              </a:rPr>
              <a:t>Generative AI</a:t>
            </a:r>
            <a:endParaRPr lang="en-US" sz="1300" dirty="0"/>
          </a:p>
        </p:txBody>
      </p:sp>
      <p:sp>
        <p:nvSpPr>
          <p:cNvPr id="25" name="Text 21"/>
          <p:cNvSpPr/>
          <p:nvPr/>
        </p:nvSpPr>
        <p:spPr>
          <a:xfrm>
            <a:off x="7007352" y="3894224"/>
            <a:ext cx="3536240" cy="845727"/>
          </a:xfrm>
          <a:prstGeom prst="rect">
            <a:avLst/>
          </a:prstGeom>
          <a:noFill/>
          <a:ln/>
        </p:spPr>
        <p:txBody>
          <a:bodyPr wrap="square" lIns="0" tIns="0" rIns="0" bIns="0" rtlCol="0" anchor="ctr"/>
          <a:lstStyle/>
          <a:p>
            <a:pPr marL="0" indent="0">
              <a:lnSpc>
                <a:spcPct val="120000"/>
              </a:lnSpc>
              <a:buNone/>
            </a:pPr>
            <a:r>
              <a:rPr lang="en-US" sz="1400" dirty="0">
                <a:solidFill>
                  <a:srgbClr val="E4FBF7"/>
                </a:solidFill>
                <a:latin typeface="Calibri" pitchFamily="34" charset="0"/>
                <a:ea typeface="Calibri" pitchFamily="34" charset="-122"/>
                <a:cs typeface="Calibri" pitchFamily="34" charset="-120"/>
              </a:rPr>
              <a:t>Creates entirely new content — text, images, code, audio, or video — that did not exist before, by predicting the most plausible next word, pixel, or token from what it has learned.</a:t>
            </a:r>
            <a:endParaRPr lang="en-US" sz="1400" dirty="0"/>
          </a:p>
        </p:txBody>
      </p:sp>
      <p:sp>
        <p:nvSpPr>
          <p:cNvPr id="26" name="Text 22"/>
          <p:cNvSpPr/>
          <p:nvPr/>
        </p:nvSpPr>
        <p:spPr>
          <a:xfrm>
            <a:off x="457200" y="6473952"/>
            <a:ext cx="5486400" cy="274320"/>
          </a:xfrm>
          <a:prstGeom prst="rect">
            <a:avLst/>
          </a:prstGeom>
          <a:noFill/>
          <a:ln/>
        </p:spPr>
        <p:txBody>
          <a:bodyPr wrap="square" lIns="0" tIns="0" rIns="0" bIns="0" rtlCol="0" anchor="ctr"/>
          <a:lstStyle/>
          <a:p>
            <a:pPr marL="0" indent="0">
              <a:buNone/>
            </a:pPr>
            <a:r>
              <a:rPr lang="en-US" sz="1000" dirty="0">
                <a:solidFill>
                  <a:srgbClr val="6B7280"/>
                </a:solidFill>
                <a:latin typeface="Calibri" pitchFamily="34" charset="0"/>
                <a:ea typeface="Calibri" pitchFamily="34" charset="-122"/>
                <a:cs typeface="Calibri" pitchFamily="34" charset="-120"/>
              </a:rPr>
              <a:t>Generative AI and IS</a:t>
            </a:r>
            <a:endParaRPr lang="en-US" sz="1000" dirty="0"/>
          </a:p>
        </p:txBody>
      </p:sp>
      <p:sp>
        <p:nvSpPr>
          <p:cNvPr id="27" name="Text 23"/>
          <p:cNvSpPr/>
          <p:nvPr/>
        </p:nvSpPr>
        <p:spPr>
          <a:xfrm>
            <a:off x="11274552" y="6473952"/>
            <a:ext cx="457200" cy="274320"/>
          </a:xfrm>
          <a:prstGeom prst="rect">
            <a:avLst/>
          </a:prstGeom>
          <a:noFill/>
          <a:ln/>
        </p:spPr>
        <p:txBody>
          <a:bodyPr wrap="square" lIns="0" tIns="0" rIns="0" bIns="0" rtlCol="0" anchor="ctr"/>
          <a:lstStyle/>
          <a:p>
            <a:pPr marL="0" indent="0" algn="r">
              <a:buNone/>
            </a:pPr>
            <a:r>
              <a:rPr lang="en-US" sz="1000" dirty="0">
                <a:solidFill>
                  <a:srgbClr val="6B7280"/>
                </a:solidFill>
                <a:latin typeface="Calibri" pitchFamily="34" charset="0"/>
                <a:ea typeface="Calibri" pitchFamily="34" charset="-122"/>
                <a:cs typeface="Calibri" pitchFamily="34" charset="-120"/>
              </a:rPr>
              <a:t>3</a:t>
            </a:r>
            <a:endParaRPr lang="en-US" sz="1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5">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640080" y="384048"/>
            <a:ext cx="7315200" cy="320040"/>
          </a:xfrm>
          <a:prstGeom prst="rect">
            <a:avLst/>
          </a:prstGeom>
          <a:noFill/>
          <a:ln/>
        </p:spPr>
        <p:txBody>
          <a:bodyPr wrap="square" lIns="0" tIns="0" rIns="0" bIns="0" rtlCol="0" anchor="ctr"/>
          <a:lstStyle/>
          <a:p>
            <a:pPr marL="0" indent="0">
              <a:buNone/>
            </a:pPr>
            <a:r>
              <a:rPr lang="en-US" b="1" kern="0" spc="200" dirty="0">
                <a:solidFill>
                  <a:srgbClr val="0F9B8E"/>
                </a:solidFill>
                <a:latin typeface="Calibri" pitchFamily="34" charset="0"/>
                <a:ea typeface="Calibri" pitchFamily="34" charset="-122"/>
                <a:cs typeface="Calibri" pitchFamily="34" charset="-120"/>
              </a:rPr>
              <a:t>2</a:t>
            </a:r>
            <a:r>
              <a:rPr lang="en-US" sz="1300" b="1" kern="0" spc="200" dirty="0">
                <a:solidFill>
                  <a:srgbClr val="0F9B8E"/>
                </a:solidFill>
                <a:latin typeface="Calibri" pitchFamily="34" charset="0"/>
                <a:ea typeface="Calibri" pitchFamily="34" charset="-122"/>
                <a:cs typeface="Calibri" pitchFamily="34" charset="-120"/>
              </a:rPr>
              <a:t>. </a:t>
            </a:r>
            <a:r>
              <a:rPr lang="en-US" b="1" kern="0" spc="200" dirty="0">
                <a:solidFill>
                  <a:srgbClr val="0F9B8E"/>
                </a:solidFill>
                <a:latin typeface="Calibri" pitchFamily="34" charset="0"/>
                <a:ea typeface="Calibri" pitchFamily="34" charset="-122"/>
                <a:cs typeface="Calibri" pitchFamily="34" charset="-120"/>
              </a:rPr>
              <a:t>HOW GENERATIVE AI WORKS</a:t>
            </a:r>
            <a:endParaRPr lang="en-US" dirty="0"/>
          </a:p>
        </p:txBody>
      </p:sp>
      <p:sp>
        <p:nvSpPr>
          <p:cNvPr id="4" name="Text 2"/>
          <p:cNvSpPr/>
          <p:nvPr/>
        </p:nvSpPr>
        <p:spPr>
          <a:xfrm>
            <a:off x="640080" y="704088"/>
            <a:ext cx="10881360" cy="1719072"/>
          </a:xfrm>
          <a:prstGeom prst="rect">
            <a:avLst/>
          </a:prstGeom>
          <a:noFill/>
          <a:ln/>
        </p:spPr>
        <p:txBody>
          <a:bodyPr wrap="square" lIns="0" tIns="0" rIns="0" bIns="0" rtlCol="0" anchor="ctr"/>
          <a:lstStyle/>
          <a:p>
            <a:pPr marL="0" indent="0">
              <a:lnSpc>
                <a:spcPct val="125000"/>
              </a:lnSpc>
              <a:buNone/>
            </a:pPr>
            <a:r>
              <a:rPr lang="en-US" sz="1600" dirty="0">
                <a:solidFill>
                  <a:srgbClr val="1E2340"/>
                </a:solidFill>
                <a:latin typeface="Calibri" pitchFamily="34" charset="0"/>
                <a:ea typeface="Calibri" pitchFamily="34" charset="-122"/>
                <a:cs typeface="Calibri" pitchFamily="34" charset="-120"/>
              </a:rPr>
              <a:t>Generative models are trained on huge datasets to learn statistical patterns rather than memorized facts. Once trained, they generate new content by repeatedly predicting the </a:t>
            </a:r>
            <a:r>
              <a:rPr lang="en-US" sz="1600" dirty="0" err="1">
                <a:solidFill>
                  <a:srgbClr val="1E2340"/>
                </a:solidFill>
                <a:latin typeface="Calibri" pitchFamily="34" charset="0"/>
                <a:ea typeface="Calibri" pitchFamily="34" charset="-122"/>
                <a:cs typeface="Calibri" pitchFamily="34" charset="-120"/>
              </a:rPr>
              <a:t>ost</a:t>
            </a:r>
            <a:r>
              <a:rPr lang="en-US" sz="1600" dirty="0">
                <a:solidFill>
                  <a:srgbClr val="1E2340"/>
                </a:solidFill>
                <a:latin typeface="Calibri" pitchFamily="34" charset="0"/>
                <a:ea typeface="Calibri" pitchFamily="34" charset="-122"/>
                <a:cs typeface="Calibri" pitchFamily="34" charset="-120"/>
              </a:rPr>
              <a:t> probable next piece of data — the next word, pixel, or token — conditioned on everything produced so far. This same predict-and-extend loop underlies text, image, and code generation alike.</a:t>
            </a:r>
            <a:endParaRPr lang="en-US" sz="1600" dirty="0"/>
          </a:p>
        </p:txBody>
      </p:sp>
      <p:sp>
        <p:nvSpPr>
          <p:cNvPr id="5" name="Shape 3"/>
          <p:cNvSpPr/>
          <p:nvPr/>
        </p:nvSpPr>
        <p:spPr>
          <a:xfrm>
            <a:off x="640080" y="2606040"/>
            <a:ext cx="2514600" cy="2651760"/>
          </a:xfrm>
          <a:prstGeom prst="roundRect">
            <a:avLst>
              <a:gd name="adj" fmla="val 3636"/>
            </a:avLst>
          </a:prstGeom>
          <a:solidFill>
            <a:srgbClr val="F7F8FC"/>
          </a:solidFill>
          <a:ln/>
          <a:effectLst>
            <a:outerShdw blurRad="101600" dist="38100" dir="5400000" algn="bl" rotWithShape="0">
              <a:srgbClr val="1E2340">
                <a:alpha val="12000"/>
              </a:srgbClr>
            </a:outerShdw>
          </a:effectLst>
        </p:spPr>
      </p:sp>
      <p:sp>
        <p:nvSpPr>
          <p:cNvPr id="6" name="Shape 4"/>
          <p:cNvSpPr/>
          <p:nvPr/>
        </p:nvSpPr>
        <p:spPr>
          <a:xfrm>
            <a:off x="1577340" y="2880360"/>
            <a:ext cx="640080" cy="640080"/>
          </a:xfrm>
          <a:prstGeom prst="ellipse">
            <a:avLst/>
          </a:prstGeom>
          <a:solidFill>
            <a:srgbClr val="151A3D"/>
          </a:solidFill>
          <a:ln/>
        </p:spPr>
      </p:sp>
      <p:pic>
        <p:nvPicPr>
          <p:cNvPr id="7" name="Image 0" descr="/home/claude/genai_pptx/icons/database_teal.png"/>
          <p:cNvPicPr>
            <a:picLocks noChangeAspect="1"/>
          </p:cNvPicPr>
          <p:nvPr/>
        </p:nvPicPr>
        <p:blipFill>
          <a:blip r:embed="rId3"/>
          <a:stretch>
            <a:fillRect/>
          </a:stretch>
        </p:blipFill>
        <p:spPr>
          <a:xfrm>
            <a:off x="1721358" y="3024378"/>
            <a:ext cx="352044" cy="352044"/>
          </a:xfrm>
          <a:prstGeom prst="rect">
            <a:avLst/>
          </a:prstGeom>
        </p:spPr>
      </p:pic>
      <p:sp>
        <p:nvSpPr>
          <p:cNvPr id="8" name="Text 5"/>
          <p:cNvSpPr/>
          <p:nvPr/>
        </p:nvSpPr>
        <p:spPr>
          <a:xfrm>
            <a:off x="777240" y="3657600"/>
            <a:ext cx="2240280" cy="365760"/>
          </a:xfrm>
          <a:prstGeom prst="rect">
            <a:avLst/>
          </a:prstGeom>
          <a:noFill/>
          <a:ln/>
        </p:spPr>
        <p:txBody>
          <a:bodyPr wrap="square" lIns="0" tIns="0" rIns="0" bIns="0" rtlCol="0" anchor="ctr"/>
          <a:lstStyle/>
          <a:p>
            <a:pPr marL="0" indent="0" algn="ctr">
              <a:buNone/>
            </a:pPr>
            <a:r>
              <a:rPr lang="en-US" sz="1300" b="1" dirty="0">
                <a:solidFill>
                  <a:srgbClr val="1E2340"/>
                </a:solidFill>
                <a:latin typeface="Calibri" pitchFamily="34" charset="0"/>
                <a:ea typeface="Calibri" pitchFamily="34" charset="-122"/>
                <a:cs typeface="Calibri" pitchFamily="34" charset="-120"/>
              </a:rPr>
              <a:t>1. Training Data</a:t>
            </a:r>
            <a:endParaRPr lang="en-US" sz="1300" dirty="0"/>
          </a:p>
        </p:txBody>
      </p:sp>
      <p:sp>
        <p:nvSpPr>
          <p:cNvPr id="9" name="Text 6"/>
          <p:cNvSpPr/>
          <p:nvPr/>
        </p:nvSpPr>
        <p:spPr>
          <a:xfrm>
            <a:off x="804672" y="4050792"/>
            <a:ext cx="2185416" cy="1097280"/>
          </a:xfrm>
          <a:prstGeom prst="rect">
            <a:avLst/>
          </a:prstGeom>
          <a:noFill/>
          <a:ln/>
        </p:spPr>
        <p:txBody>
          <a:bodyPr wrap="square" lIns="0" tIns="0" rIns="0" bIns="0" rtlCol="0" anchor="ctr"/>
          <a:lstStyle/>
          <a:p>
            <a:pPr marL="0" indent="0" algn="ctr">
              <a:lnSpc>
                <a:spcPct val="120000"/>
              </a:lnSpc>
              <a:buNone/>
            </a:pPr>
            <a:r>
              <a:rPr lang="en-US" sz="1400" dirty="0">
                <a:solidFill>
                  <a:srgbClr val="6B7280"/>
                </a:solidFill>
                <a:latin typeface="Calibri" pitchFamily="34" charset="0"/>
                <a:ea typeface="Calibri" pitchFamily="34" charset="-122"/>
                <a:cs typeface="Calibri" pitchFamily="34" charset="-120"/>
              </a:rPr>
              <a:t>Massive collections of text, images, audio, and code are gathered and cleaned to serve as the model's learning material</a:t>
            </a:r>
            <a:endParaRPr lang="en-US" sz="1400" dirty="0"/>
          </a:p>
        </p:txBody>
      </p:sp>
      <p:pic>
        <p:nvPicPr>
          <p:cNvPr id="10" name="Image 1" descr="/home/claude/genai_pptx/icons/arrowRight.png"/>
          <p:cNvPicPr>
            <a:picLocks noChangeAspect="1"/>
          </p:cNvPicPr>
          <p:nvPr/>
        </p:nvPicPr>
        <p:blipFill>
          <a:blip r:embed="rId4"/>
          <a:stretch>
            <a:fillRect/>
          </a:stretch>
        </p:blipFill>
        <p:spPr>
          <a:xfrm>
            <a:off x="3191256" y="3611880"/>
            <a:ext cx="246888" cy="246888"/>
          </a:xfrm>
          <a:prstGeom prst="rect">
            <a:avLst/>
          </a:prstGeom>
        </p:spPr>
      </p:pic>
      <p:sp>
        <p:nvSpPr>
          <p:cNvPr id="11" name="Shape 7"/>
          <p:cNvSpPr/>
          <p:nvPr/>
        </p:nvSpPr>
        <p:spPr>
          <a:xfrm>
            <a:off x="3474720" y="2606040"/>
            <a:ext cx="2514600" cy="2651760"/>
          </a:xfrm>
          <a:prstGeom prst="roundRect">
            <a:avLst>
              <a:gd name="adj" fmla="val 3636"/>
            </a:avLst>
          </a:prstGeom>
          <a:solidFill>
            <a:srgbClr val="F7F8FC"/>
          </a:solidFill>
          <a:ln/>
          <a:effectLst>
            <a:outerShdw blurRad="101600" dist="38100" dir="5400000" algn="bl" rotWithShape="0">
              <a:srgbClr val="1E2340">
                <a:alpha val="12000"/>
              </a:srgbClr>
            </a:outerShdw>
          </a:effectLst>
        </p:spPr>
      </p:sp>
      <p:sp>
        <p:nvSpPr>
          <p:cNvPr id="12" name="Shape 8"/>
          <p:cNvSpPr/>
          <p:nvPr/>
        </p:nvSpPr>
        <p:spPr>
          <a:xfrm>
            <a:off x="4411980" y="2880360"/>
            <a:ext cx="640080" cy="640080"/>
          </a:xfrm>
          <a:prstGeom prst="ellipse">
            <a:avLst/>
          </a:prstGeom>
          <a:solidFill>
            <a:srgbClr val="151A3D"/>
          </a:solidFill>
          <a:ln/>
        </p:spPr>
      </p:sp>
      <p:pic>
        <p:nvPicPr>
          <p:cNvPr id="13" name="Image 2" descr="/home/claude/genai_pptx/icons/cogs_teal.png"/>
          <p:cNvPicPr>
            <a:picLocks noChangeAspect="1"/>
          </p:cNvPicPr>
          <p:nvPr/>
        </p:nvPicPr>
        <p:blipFill>
          <a:blip r:embed="rId5"/>
          <a:stretch>
            <a:fillRect/>
          </a:stretch>
        </p:blipFill>
        <p:spPr>
          <a:xfrm>
            <a:off x="4555998" y="3024378"/>
            <a:ext cx="352044" cy="352044"/>
          </a:xfrm>
          <a:prstGeom prst="rect">
            <a:avLst/>
          </a:prstGeom>
        </p:spPr>
      </p:pic>
      <p:sp>
        <p:nvSpPr>
          <p:cNvPr id="14" name="Text 9"/>
          <p:cNvSpPr/>
          <p:nvPr/>
        </p:nvSpPr>
        <p:spPr>
          <a:xfrm>
            <a:off x="3611880" y="3657600"/>
            <a:ext cx="2240280" cy="365760"/>
          </a:xfrm>
          <a:prstGeom prst="rect">
            <a:avLst/>
          </a:prstGeom>
          <a:noFill/>
          <a:ln/>
        </p:spPr>
        <p:txBody>
          <a:bodyPr wrap="square" lIns="0" tIns="0" rIns="0" bIns="0" rtlCol="0" anchor="ctr"/>
          <a:lstStyle/>
          <a:p>
            <a:pPr marL="0" indent="0" algn="ctr">
              <a:buNone/>
            </a:pPr>
            <a:r>
              <a:rPr lang="en-US" sz="1300" b="1" dirty="0">
                <a:solidFill>
                  <a:srgbClr val="1E2340"/>
                </a:solidFill>
                <a:latin typeface="Calibri" pitchFamily="34" charset="0"/>
                <a:ea typeface="Calibri" pitchFamily="34" charset="-122"/>
                <a:cs typeface="Calibri" pitchFamily="34" charset="-120"/>
              </a:rPr>
              <a:t>2. Model Training</a:t>
            </a:r>
            <a:endParaRPr lang="en-US" sz="1300" dirty="0"/>
          </a:p>
        </p:txBody>
      </p:sp>
      <p:sp>
        <p:nvSpPr>
          <p:cNvPr id="15" name="Text 10"/>
          <p:cNvSpPr/>
          <p:nvPr/>
        </p:nvSpPr>
        <p:spPr>
          <a:xfrm>
            <a:off x="3639312" y="4050792"/>
            <a:ext cx="2185416" cy="1097280"/>
          </a:xfrm>
          <a:prstGeom prst="rect">
            <a:avLst/>
          </a:prstGeom>
          <a:noFill/>
          <a:ln/>
        </p:spPr>
        <p:txBody>
          <a:bodyPr wrap="square" lIns="0" tIns="0" rIns="0" bIns="0" rtlCol="0" anchor="ctr"/>
          <a:lstStyle/>
          <a:p>
            <a:pPr marL="0" indent="0" algn="ctr">
              <a:lnSpc>
                <a:spcPct val="120000"/>
              </a:lnSpc>
              <a:buNone/>
            </a:pPr>
            <a:r>
              <a:rPr lang="en-US" sz="1400" dirty="0">
                <a:solidFill>
                  <a:srgbClr val="6B7280"/>
                </a:solidFill>
                <a:latin typeface="Calibri" pitchFamily="34" charset="0"/>
                <a:ea typeface="Calibri" pitchFamily="34" charset="-122"/>
                <a:cs typeface="Calibri" pitchFamily="34" charset="-120"/>
              </a:rPr>
              <a:t>A neural network repeatedly adjusts billions of internal weights to better predict patterns, structure, and relationships in the data</a:t>
            </a:r>
            <a:endParaRPr lang="en-US" sz="1400" dirty="0"/>
          </a:p>
        </p:txBody>
      </p:sp>
      <p:pic>
        <p:nvPicPr>
          <p:cNvPr id="16" name="Image 3" descr="/home/claude/genai_pptx/icons/arrowRight.png"/>
          <p:cNvPicPr>
            <a:picLocks noChangeAspect="1"/>
          </p:cNvPicPr>
          <p:nvPr/>
        </p:nvPicPr>
        <p:blipFill>
          <a:blip r:embed="rId4"/>
          <a:stretch>
            <a:fillRect/>
          </a:stretch>
        </p:blipFill>
        <p:spPr>
          <a:xfrm>
            <a:off x="6025896" y="3611880"/>
            <a:ext cx="246888" cy="246888"/>
          </a:xfrm>
          <a:prstGeom prst="rect">
            <a:avLst/>
          </a:prstGeom>
        </p:spPr>
      </p:pic>
      <p:sp>
        <p:nvSpPr>
          <p:cNvPr id="17" name="Shape 11"/>
          <p:cNvSpPr/>
          <p:nvPr/>
        </p:nvSpPr>
        <p:spPr>
          <a:xfrm>
            <a:off x="6309360" y="2606040"/>
            <a:ext cx="2514600" cy="2651760"/>
          </a:xfrm>
          <a:prstGeom prst="roundRect">
            <a:avLst>
              <a:gd name="adj" fmla="val 3636"/>
            </a:avLst>
          </a:prstGeom>
          <a:solidFill>
            <a:srgbClr val="F7F8FC"/>
          </a:solidFill>
          <a:ln/>
          <a:effectLst>
            <a:outerShdw blurRad="101600" dist="38100" dir="5400000" algn="bl" rotWithShape="0">
              <a:srgbClr val="1E2340">
                <a:alpha val="12000"/>
              </a:srgbClr>
            </a:outerShdw>
          </a:effectLst>
        </p:spPr>
      </p:sp>
      <p:sp>
        <p:nvSpPr>
          <p:cNvPr id="18" name="Shape 12"/>
          <p:cNvSpPr/>
          <p:nvPr/>
        </p:nvSpPr>
        <p:spPr>
          <a:xfrm>
            <a:off x="7246620" y="2880360"/>
            <a:ext cx="640080" cy="640080"/>
          </a:xfrm>
          <a:prstGeom prst="ellipse">
            <a:avLst/>
          </a:prstGeom>
          <a:solidFill>
            <a:srgbClr val="151A3D"/>
          </a:solidFill>
          <a:ln/>
        </p:spPr>
      </p:sp>
      <p:pic>
        <p:nvPicPr>
          <p:cNvPr id="19" name="Image 4" descr="/home/claude/genai_pptx/icons/brain_teal.png"/>
          <p:cNvPicPr>
            <a:picLocks noChangeAspect="1"/>
          </p:cNvPicPr>
          <p:nvPr/>
        </p:nvPicPr>
        <p:blipFill>
          <a:blip r:embed="rId6"/>
          <a:stretch>
            <a:fillRect/>
          </a:stretch>
        </p:blipFill>
        <p:spPr>
          <a:xfrm>
            <a:off x="7390638" y="3024378"/>
            <a:ext cx="352044" cy="352044"/>
          </a:xfrm>
          <a:prstGeom prst="rect">
            <a:avLst/>
          </a:prstGeom>
        </p:spPr>
      </p:pic>
      <p:sp>
        <p:nvSpPr>
          <p:cNvPr id="20" name="Text 13"/>
          <p:cNvSpPr/>
          <p:nvPr/>
        </p:nvSpPr>
        <p:spPr>
          <a:xfrm>
            <a:off x="6446520" y="3657600"/>
            <a:ext cx="2240280" cy="365760"/>
          </a:xfrm>
          <a:prstGeom prst="rect">
            <a:avLst/>
          </a:prstGeom>
          <a:noFill/>
          <a:ln/>
        </p:spPr>
        <p:txBody>
          <a:bodyPr wrap="square" lIns="0" tIns="0" rIns="0" bIns="0" rtlCol="0" anchor="ctr"/>
          <a:lstStyle/>
          <a:p>
            <a:pPr marL="0" indent="0" algn="ctr">
              <a:buNone/>
            </a:pPr>
            <a:r>
              <a:rPr lang="en-US" sz="1300" b="1" dirty="0">
                <a:solidFill>
                  <a:srgbClr val="1E2340"/>
                </a:solidFill>
                <a:latin typeface="Calibri" pitchFamily="34" charset="0"/>
                <a:ea typeface="Calibri" pitchFamily="34" charset="-122"/>
                <a:cs typeface="Calibri" pitchFamily="34" charset="-120"/>
              </a:rPr>
              <a:t>3. Learned Model</a:t>
            </a:r>
            <a:endParaRPr lang="en-US" sz="1300" dirty="0"/>
          </a:p>
        </p:txBody>
      </p:sp>
      <p:sp>
        <p:nvSpPr>
          <p:cNvPr id="21" name="Text 14"/>
          <p:cNvSpPr/>
          <p:nvPr/>
        </p:nvSpPr>
        <p:spPr>
          <a:xfrm>
            <a:off x="6473952" y="4050792"/>
            <a:ext cx="2185416" cy="1097280"/>
          </a:xfrm>
          <a:prstGeom prst="rect">
            <a:avLst/>
          </a:prstGeom>
          <a:noFill/>
          <a:ln/>
        </p:spPr>
        <p:txBody>
          <a:bodyPr wrap="square" lIns="0" tIns="0" rIns="0" bIns="0" rtlCol="0" anchor="ctr"/>
          <a:lstStyle/>
          <a:p>
            <a:pPr marL="0" indent="0" algn="ctr">
              <a:lnSpc>
                <a:spcPct val="120000"/>
              </a:lnSpc>
              <a:buNone/>
            </a:pPr>
            <a:r>
              <a:rPr lang="en-US" sz="1400" dirty="0">
                <a:solidFill>
                  <a:srgbClr val="6B7280"/>
                </a:solidFill>
                <a:latin typeface="Calibri" pitchFamily="34" charset="0"/>
                <a:ea typeface="Calibri" pitchFamily="34" charset="-122"/>
                <a:cs typeface="Calibri" pitchFamily="34" charset="-120"/>
              </a:rPr>
              <a:t>The result is a large model that encodes broad knowledge as billions of numerical parameters, ready to be queried</a:t>
            </a:r>
            <a:endParaRPr lang="en-US" sz="1400" dirty="0"/>
          </a:p>
        </p:txBody>
      </p:sp>
      <p:pic>
        <p:nvPicPr>
          <p:cNvPr id="22" name="Image 5" descr="/home/claude/genai_pptx/icons/arrowRight.png"/>
          <p:cNvPicPr>
            <a:picLocks noChangeAspect="1"/>
          </p:cNvPicPr>
          <p:nvPr/>
        </p:nvPicPr>
        <p:blipFill>
          <a:blip r:embed="rId4"/>
          <a:stretch>
            <a:fillRect/>
          </a:stretch>
        </p:blipFill>
        <p:spPr>
          <a:xfrm>
            <a:off x="8860536" y="3611880"/>
            <a:ext cx="246888" cy="246888"/>
          </a:xfrm>
          <a:prstGeom prst="rect">
            <a:avLst/>
          </a:prstGeom>
        </p:spPr>
      </p:pic>
      <p:sp>
        <p:nvSpPr>
          <p:cNvPr id="23" name="Shape 15"/>
          <p:cNvSpPr/>
          <p:nvPr/>
        </p:nvSpPr>
        <p:spPr>
          <a:xfrm>
            <a:off x="9144000" y="2606040"/>
            <a:ext cx="2514600" cy="2651760"/>
          </a:xfrm>
          <a:prstGeom prst="roundRect">
            <a:avLst>
              <a:gd name="adj" fmla="val 3636"/>
            </a:avLst>
          </a:prstGeom>
          <a:solidFill>
            <a:srgbClr val="F7F8FC"/>
          </a:solidFill>
          <a:ln/>
          <a:effectLst>
            <a:outerShdw blurRad="101600" dist="38100" dir="5400000" algn="bl" rotWithShape="0">
              <a:srgbClr val="1E2340">
                <a:alpha val="12000"/>
              </a:srgbClr>
            </a:outerShdw>
          </a:effectLst>
        </p:spPr>
      </p:sp>
      <p:sp>
        <p:nvSpPr>
          <p:cNvPr id="24" name="Shape 16"/>
          <p:cNvSpPr/>
          <p:nvPr/>
        </p:nvSpPr>
        <p:spPr>
          <a:xfrm>
            <a:off x="10081260" y="2880360"/>
            <a:ext cx="640080" cy="640080"/>
          </a:xfrm>
          <a:prstGeom prst="ellipse">
            <a:avLst/>
          </a:prstGeom>
          <a:solidFill>
            <a:srgbClr val="151A3D"/>
          </a:solidFill>
          <a:ln/>
        </p:spPr>
      </p:sp>
      <p:pic>
        <p:nvPicPr>
          <p:cNvPr id="25" name="Image 6" descr="/home/claude/genai_pptx/icons/magic_teal.png"/>
          <p:cNvPicPr>
            <a:picLocks noChangeAspect="1"/>
          </p:cNvPicPr>
          <p:nvPr/>
        </p:nvPicPr>
        <p:blipFill>
          <a:blip r:embed="rId7"/>
          <a:stretch>
            <a:fillRect/>
          </a:stretch>
        </p:blipFill>
        <p:spPr>
          <a:xfrm>
            <a:off x="10225278" y="3024378"/>
            <a:ext cx="352044" cy="352044"/>
          </a:xfrm>
          <a:prstGeom prst="rect">
            <a:avLst/>
          </a:prstGeom>
        </p:spPr>
      </p:pic>
      <p:sp>
        <p:nvSpPr>
          <p:cNvPr id="26" name="Text 17"/>
          <p:cNvSpPr/>
          <p:nvPr/>
        </p:nvSpPr>
        <p:spPr>
          <a:xfrm>
            <a:off x="9281160" y="3657600"/>
            <a:ext cx="2240280" cy="365760"/>
          </a:xfrm>
          <a:prstGeom prst="rect">
            <a:avLst/>
          </a:prstGeom>
          <a:noFill/>
          <a:ln/>
        </p:spPr>
        <p:txBody>
          <a:bodyPr wrap="square" lIns="0" tIns="0" rIns="0" bIns="0" rtlCol="0" anchor="ctr"/>
          <a:lstStyle/>
          <a:p>
            <a:pPr marL="0" indent="0" algn="ctr">
              <a:buNone/>
            </a:pPr>
            <a:r>
              <a:rPr lang="en-US" sz="1300" b="1" dirty="0">
                <a:solidFill>
                  <a:srgbClr val="1E2340"/>
                </a:solidFill>
                <a:latin typeface="Calibri" pitchFamily="34" charset="0"/>
                <a:ea typeface="Calibri" pitchFamily="34" charset="-122"/>
                <a:cs typeface="Calibri" pitchFamily="34" charset="-120"/>
              </a:rPr>
              <a:t>4. Generation</a:t>
            </a:r>
            <a:endParaRPr lang="en-US" sz="1300" dirty="0"/>
          </a:p>
        </p:txBody>
      </p:sp>
      <p:sp>
        <p:nvSpPr>
          <p:cNvPr id="27" name="Text 18"/>
          <p:cNvSpPr/>
          <p:nvPr/>
        </p:nvSpPr>
        <p:spPr>
          <a:xfrm>
            <a:off x="9308592" y="4050792"/>
            <a:ext cx="2185416" cy="1097280"/>
          </a:xfrm>
          <a:prstGeom prst="rect">
            <a:avLst/>
          </a:prstGeom>
          <a:noFill/>
          <a:ln/>
        </p:spPr>
        <p:txBody>
          <a:bodyPr wrap="square" lIns="0" tIns="0" rIns="0" bIns="0" rtlCol="0" anchor="ctr"/>
          <a:lstStyle/>
          <a:p>
            <a:pPr marL="0" indent="0" algn="ctr">
              <a:lnSpc>
                <a:spcPct val="120000"/>
              </a:lnSpc>
              <a:buNone/>
            </a:pPr>
            <a:r>
              <a:rPr lang="en-US" sz="1400" dirty="0">
                <a:solidFill>
                  <a:srgbClr val="6B7280"/>
                </a:solidFill>
                <a:latin typeface="Calibri" pitchFamily="34" charset="0"/>
                <a:ea typeface="Calibri" pitchFamily="34" charset="-122"/>
                <a:cs typeface="Calibri" pitchFamily="34" charset="-120"/>
              </a:rPr>
              <a:t>Given a prompt, the model predicts and assembles new, original content one token or pixel at a time</a:t>
            </a:r>
            <a:endParaRPr lang="en-US" sz="1400" dirty="0"/>
          </a:p>
        </p:txBody>
      </p:sp>
      <p:sp>
        <p:nvSpPr>
          <p:cNvPr id="28" name="Text 19"/>
          <p:cNvSpPr/>
          <p:nvPr/>
        </p:nvSpPr>
        <p:spPr>
          <a:xfrm>
            <a:off x="457200" y="6473952"/>
            <a:ext cx="5486400" cy="274320"/>
          </a:xfrm>
          <a:prstGeom prst="rect">
            <a:avLst/>
          </a:prstGeom>
          <a:noFill/>
          <a:ln/>
        </p:spPr>
        <p:txBody>
          <a:bodyPr wrap="square" lIns="0" tIns="0" rIns="0" bIns="0" rtlCol="0" anchor="ctr"/>
          <a:lstStyle/>
          <a:p>
            <a:pPr marL="0" indent="0">
              <a:buNone/>
            </a:pPr>
            <a:r>
              <a:rPr lang="en-US" sz="1000" dirty="0">
                <a:solidFill>
                  <a:srgbClr val="6B7280"/>
                </a:solidFill>
                <a:latin typeface="Calibri" pitchFamily="34" charset="0"/>
                <a:ea typeface="Calibri" pitchFamily="34" charset="-122"/>
                <a:cs typeface="Calibri" pitchFamily="34" charset="-120"/>
              </a:rPr>
              <a:t>Generative AI and IS</a:t>
            </a:r>
            <a:endParaRPr lang="en-US" sz="1000" dirty="0"/>
          </a:p>
        </p:txBody>
      </p:sp>
      <p:sp>
        <p:nvSpPr>
          <p:cNvPr id="29" name="Text 20"/>
          <p:cNvSpPr/>
          <p:nvPr/>
        </p:nvSpPr>
        <p:spPr>
          <a:xfrm>
            <a:off x="11274552" y="6473952"/>
            <a:ext cx="457200" cy="274320"/>
          </a:xfrm>
          <a:prstGeom prst="rect">
            <a:avLst/>
          </a:prstGeom>
          <a:noFill/>
          <a:ln/>
        </p:spPr>
        <p:txBody>
          <a:bodyPr wrap="square" lIns="0" tIns="0" rIns="0" bIns="0" rtlCol="0" anchor="ctr"/>
          <a:lstStyle/>
          <a:p>
            <a:pPr marL="0" indent="0" algn="r">
              <a:buNone/>
            </a:pPr>
            <a:r>
              <a:rPr lang="en-US" sz="1000" dirty="0">
                <a:solidFill>
                  <a:srgbClr val="6B7280"/>
                </a:solidFill>
                <a:latin typeface="Calibri" pitchFamily="34" charset="0"/>
                <a:ea typeface="Calibri" pitchFamily="34" charset="-122"/>
                <a:cs typeface="Calibri" pitchFamily="34" charset="-120"/>
              </a:rPr>
              <a:t>5</a:t>
            </a:r>
            <a:endParaRPr lang="en-US" sz="1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7">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640080" y="384048"/>
            <a:ext cx="7315200" cy="320040"/>
          </a:xfrm>
          <a:prstGeom prst="rect">
            <a:avLst/>
          </a:prstGeom>
          <a:noFill/>
          <a:ln/>
        </p:spPr>
        <p:txBody>
          <a:bodyPr wrap="square" lIns="0" tIns="0" rIns="0" bIns="0" rtlCol="0" anchor="ctr"/>
          <a:lstStyle/>
          <a:p>
            <a:pPr marL="0" indent="0">
              <a:buNone/>
            </a:pPr>
            <a:r>
              <a:rPr lang="en-US" b="1" kern="0" spc="200" dirty="0">
                <a:solidFill>
                  <a:srgbClr val="0F9B8E"/>
                </a:solidFill>
                <a:latin typeface="Calibri" pitchFamily="34" charset="0"/>
                <a:ea typeface="Calibri" pitchFamily="34" charset="-122"/>
                <a:cs typeface="Calibri" pitchFamily="34" charset="-120"/>
              </a:rPr>
              <a:t>3. APPLICATIONS IN BUSINESS &amp; IS</a:t>
            </a:r>
            <a:endParaRPr lang="en-US" dirty="0"/>
          </a:p>
        </p:txBody>
      </p:sp>
      <p:sp>
        <p:nvSpPr>
          <p:cNvPr id="3" name="Text 1"/>
          <p:cNvSpPr/>
          <p:nvPr/>
        </p:nvSpPr>
        <p:spPr>
          <a:xfrm>
            <a:off x="640080" y="685800"/>
            <a:ext cx="9601200" cy="731520"/>
          </a:xfrm>
          <a:prstGeom prst="rect">
            <a:avLst/>
          </a:prstGeom>
          <a:noFill/>
          <a:ln/>
        </p:spPr>
        <p:txBody>
          <a:bodyPr wrap="square" lIns="0" tIns="0" rIns="0" bIns="0" rtlCol="0" anchor="ctr"/>
          <a:lstStyle/>
          <a:p>
            <a:pPr marL="0" indent="0">
              <a:buNone/>
            </a:pPr>
            <a:r>
              <a:rPr lang="en-US" sz="3200" b="1" dirty="0">
                <a:solidFill>
                  <a:srgbClr val="1E2340"/>
                </a:solidFill>
                <a:latin typeface="Cambria" pitchFamily="34" charset="0"/>
                <a:ea typeface="Cambria" pitchFamily="34" charset="-122"/>
                <a:cs typeface="Cambria" pitchFamily="34" charset="-120"/>
              </a:rPr>
              <a:t>Where Generative AI Creates Value</a:t>
            </a:r>
            <a:endParaRPr lang="en-US" sz="3200" dirty="0"/>
          </a:p>
        </p:txBody>
      </p:sp>
      <p:sp>
        <p:nvSpPr>
          <p:cNvPr id="4" name="Shape 2"/>
          <p:cNvSpPr/>
          <p:nvPr/>
        </p:nvSpPr>
        <p:spPr>
          <a:xfrm>
            <a:off x="640080" y="1645920"/>
            <a:ext cx="3520440" cy="1965960"/>
          </a:xfrm>
          <a:prstGeom prst="roundRect">
            <a:avLst>
              <a:gd name="adj" fmla="val 4651"/>
            </a:avLst>
          </a:prstGeom>
          <a:solidFill>
            <a:srgbClr val="F7F8FC"/>
          </a:solidFill>
          <a:ln/>
          <a:effectLst>
            <a:outerShdw blurRad="101600" dist="38100" dir="5400000" algn="bl" rotWithShape="0">
              <a:srgbClr val="1E2340">
                <a:alpha val="12000"/>
              </a:srgbClr>
            </a:outerShdw>
          </a:effectLst>
        </p:spPr>
      </p:sp>
      <p:sp>
        <p:nvSpPr>
          <p:cNvPr id="5" name="Shape 3"/>
          <p:cNvSpPr/>
          <p:nvPr/>
        </p:nvSpPr>
        <p:spPr>
          <a:xfrm>
            <a:off x="868680" y="1874520"/>
            <a:ext cx="548640" cy="548640"/>
          </a:xfrm>
          <a:prstGeom prst="ellipse">
            <a:avLst/>
          </a:prstGeom>
          <a:solidFill>
            <a:srgbClr val="151A3D"/>
          </a:solidFill>
          <a:ln/>
        </p:spPr>
      </p:sp>
      <p:pic>
        <p:nvPicPr>
          <p:cNvPr id="6" name="Image 0" descr="/home/claude/genai_pptx/icons/comment_teal.png"/>
          <p:cNvPicPr>
            <a:picLocks noChangeAspect="1"/>
          </p:cNvPicPr>
          <p:nvPr/>
        </p:nvPicPr>
        <p:blipFill>
          <a:blip r:embed="rId3"/>
          <a:stretch>
            <a:fillRect/>
          </a:stretch>
        </p:blipFill>
        <p:spPr>
          <a:xfrm>
            <a:off x="978408" y="1984248"/>
            <a:ext cx="329184" cy="329184"/>
          </a:xfrm>
          <a:prstGeom prst="rect">
            <a:avLst/>
          </a:prstGeom>
        </p:spPr>
      </p:pic>
      <p:sp>
        <p:nvSpPr>
          <p:cNvPr id="7" name="Text 4"/>
          <p:cNvSpPr/>
          <p:nvPr/>
        </p:nvSpPr>
        <p:spPr>
          <a:xfrm>
            <a:off x="1554480" y="1901952"/>
            <a:ext cx="2423160" cy="457200"/>
          </a:xfrm>
          <a:prstGeom prst="rect">
            <a:avLst/>
          </a:prstGeom>
          <a:noFill/>
          <a:ln/>
        </p:spPr>
        <p:txBody>
          <a:bodyPr wrap="square" lIns="0" tIns="0" rIns="0" bIns="0" rtlCol="0" anchor="ctr"/>
          <a:lstStyle/>
          <a:p>
            <a:pPr marL="0" indent="0">
              <a:buNone/>
            </a:pPr>
            <a:r>
              <a:rPr lang="en-US" sz="1250" b="1" dirty="0">
                <a:solidFill>
                  <a:srgbClr val="1E2340"/>
                </a:solidFill>
                <a:latin typeface="Calibri" pitchFamily="34" charset="0"/>
                <a:ea typeface="Calibri" pitchFamily="34" charset="-122"/>
                <a:cs typeface="Calibri" pitchFamily="34" charset="-120"/>
              </a:rPr>
              <a:t>Customer Service</a:t>
            </a:r>
            <a:endParaRPr lang="en-US" sz="1250" dirty="0"/>
          </a:p>
        </p:txBody>
      </p:sp>
      <p:sp>
        <p:nvSpPr>
          <p:cNvPr id="8" name="Text 5"/>
          <p:cNvSpPr/>
          <p:nvPr/>
        </p:nvSpPr>
        <p:spPr>
          <a:xfrm>
            <a:off x="868680" y="2514600"/>
            <a:ext cx="3063240" cy="1051560"/>
          </a:xfrm>
          <a:prstGeom prst="rect">
            <a:avLst/>
          </a:prstGeom>
          <a:noFill/>
          <a:ln/>
        </p:spPr>
        <p:txBody>
          <a:bodyPr wrap="square" lIns="0" tIns="0" rIns="0" bIns="0" rtlCol="0" anchor="ctr"/>
          <a:lstStyle/>
          <a:p>
            <a:pPr marL="0" indent="0">
              <a:lnSpc>
                <a:spcPct val="120000"/>
              </a:lnSpc>
              <a:buNone/>
            </a:pPr>
            <a:r>
              <a:rPr lang="en-US" sz="1400" dirty="0">
                <a:solidFill>
                  <a:srgbClr val="6B7280"/>
                </a:solidFill>
                <a:latin typeface="Calibri" pitchFamily="34" charset="0"/>
                <a:ea typeface="Calibri" pitchFamily="34" charset="-122"/>
                <a:cs typeface="Calibri" pitchFamily="34" charset="-120"/>
              </a:rPr>
              <a:t>AI chatbots and virtual assistants provide 24/7 support, answering customer queries and resolving issues quickly</a:t>
            </a:r>
            <a:endParaRPr lang="en-US" sz="1400" dirty="0"/>
          </a:p>
        </p:txBody>
      </p:sp>
      <p:sp>
        <p:nvSpPr>
          <p:cNvPr id="9" name="Shape 6"/>
          <p:cNvSpPr/>
          <p:nvPr/>
        </p:nvSpPr>
        <p:spPr>
          <a:xfrm>
            <a:off x="4480560" y="1645920"/>
            <a:ext cx="3520440" cy="1965960"/>
          </a:xfrm>
          <a:prstGeom prst="roundRect">
            <a:avLst>
              <a:gd name="adj" fmla="val 4651"/>
            </a:avLst>
          </a:prstGeom>
          <a:solidFill>
            <a:srgbClr val="F7F8FC"/>
          </a:solidFill>
          <a:ln/>
          <a:effectLst>
            <a:outerShdw blurRad="101600" dist="38100" dir="5400000" algn="bl" rotWithShape="0">
              <a:srgbClr val="1E2340">
                <a:alpha val="12000"/>
              </a:srgbClr>
            </a:outerShdw>
          </a:effectLst>
        </p:spPr>
      </p:sp>
      <p:sp>
        <p:nvSpPr>
          <p:cNvPr id="10" name="Shape 7"/>
          <p:cNvSpPr/>
          <p:nvPr/>
        </p:nvSpPr>
        <p:spPr>
          <a:xfrm>
            <a:off x="4709160" y="1874520"/>
            <a:ext cx="548640" cy="548640"/>
          </a:xfrm>
          <a:prstGeom prst="ellipse">
            <a:avLst/>
          </a:prstGeom>
          <a:solidFill>
            <a:srgbClr val="151A3D"/>
          </a:solidFill>
          <a:ln/>
        </p:spPr>
      </p:sp>
      <p:pic>
        <p:nvPicPr>
          <p:cNvPr id="11" name="Image 1" descr="/home/claude/genai_pptx/icons/code_teal.png"/>
          <p:cNvPicPr>
            <a:picLocks noChangeAspect="1"/>
          </p:cNvPicPr>
          <p:nvPr/>
        </p:nvPicPr>
        <p:blipFill>
          <a:blip r:embed="rId4"/>
          <a:stretch>
            <a:fillRect/>
          </a:stretch>
        </p:blipFill>
        <p:spPr>
          <a:xfrm>
            <a:off x="4818888" y="1984248"/>
            <a:ext cx="329184" cy="329184"/>
          </a:xfrm>
          <a:prstGeom prst="rect">
            <a:avLst/>
          </a:prstGeom>
        </p:spPr>
      </p:pic>
      <p:sp>
        <p:nvSpPr>
          <p:cNvPr id="12" name="Text 8"/>
          <p:cNvSpPr/>
          <p:nvPr/>
        </p:nvSpPr>
        <p:spPr>
          <a:xfrm>
            <a:off x="5394960" y="1901952"/>
            <a:ext cx="2423160" cy="457200"/>
          </a:xfrm>
          <a:prstGeom prst="rect">
            <a:avLst/>
          </a:prstGeom>
          <a:noFill/>
          <a:ln/>
        </p:spPr>
        <p:txBody>
          <a:bodyPr wrap="square" lIns="0" tIns="0" rIns="0" bIns="0" rtlCol="0" anchor="ctr"/>
          <a:lstStyle/>
          <a:p>
            <a:pPr marL="0" indent="0">
              <a:buNone/>
            </a:pPr>
            <a:r>
              <a:rPr lang="en-US" sz="1250" b="1" dirty="0">
                <a:solidFill>
                  <a:srgbClr val="1E2340"/>
                </a:solidFill>
                <a:latin typeface="Calibri" pitchFamily="34" charset="0"/>
                <a:ea typeface="Calibri" pitchFamily="34" charset="-122"/>
                <a:cs typeface="Calibri" pitchFamily="34" charset="-120"/>
              </a:rPr>
              <a:t>Software Development</a:t>
            </a:r>
            <a:endParaRPr lang="en-US" sz="1250" dirty="0"/>
          </a:p>
        </p:txBody>
      </p:sp>
      <p:sp>
        <p:nvSpPr>
          <p:cNvPr id="13" name="Text 9"/>
          <p:cNvSpPr/>
          <p:nvPr/>
        </p:nvSpPr>
        <p:spPr>
          <a:xfrm>
            <a:off x="4709160" y="2514600"/>
            <a:ext cx="3063240" cy="1051560"/>
          </a:xfrm>
          <a:prstGeom prst="rect">
            <a:avLst/>
          </a:prstGeom>
          <a:noFill/>
          <a:ln/>
        </p:spPr>
        <p:txBody>
          <a:bodyPr wrap="square" lIns="0" tIns="0" rIns="0" bIns="0" rtlCol="0" anchor="ctr"/>
          <a:lstStyle/>
          <a:p>
            <a:pPr marL="0" indent="0">
              <a:lnSpc>
                <a:spcPct val="120000"/>
              </a:lnSpc>
              <a:buNone/>
            </a:pPr>
            <a:r>
              <a:rPr lang="en-US" sz="1400" dirty="0">
                <a:solidFill>
                  <a:srgbClr val="6B7280"/>
                </a:solidFill>
                <a:latin typeface="Calibri" pitchFamily="34" charset="0"/>
                <a:ea typeface="Calibri" pitchFamily="34" charset="-122"/>
                <a:cs typeface="Calibri" pitchFamily="34" charset="-120"/>
              </a:rPr>
              <a:t>Generates code, detects bugs, and creates documentation, speeding up the software development process</a:t>
            </a:r>
            <a:endParaRPr lang="en-US" sz="1400" dirty="0"/>
          </a:p>
        </p:txBody>
      </p:sp>
      <p:sp>
        <p:nvSpPr>
          <p:cNvPr id="14" name="Shape 10"/>
          <p:cNvSpPr/>
          <p:nvPr/>
        </p:nvSpPr>
        <p:spPr>
          <a:xfrm>
            <a:off x="8321040" y="1645920"/>
            <a:ext cx="3520440" cy="1965960"/>
          </a:xfrm>
          <a:prstGeom prst="roundRect">
            <a:avLst>
              <a:gd name="adj" fmla="val 4651"/>
            </a:avLst>
          </a:prstGeom>
          <a:solidFill>
            <a:srgbClr val="F7F8FC"/>
          </a:solidFill>
          <a:ln/>
          <a:effectLst>
            <a:outerShdw blurRad="101600" dist="38100" dir="5400000" algn="bl" rotWithShape="0">
              <a:srgbClr val="1E2340">
                <a:alpha val="12000"/>
              </a:srgbClr>
            </a:outerShdw>
          </a:effectLst>
        </p:spPr>
      </p:sp>
      <p:sp>
        <p:nvSpPr>
          <p:cNvPr id="15" name="Shape 11"/>
          <p:cNvSpPr/>
          <p:nvPr/>
        </p:nvSpPr>
        <p:spPr>
          <a:xfrm>
            <a:off x="8549640" y="1874520"/>
            <a:ext cx="548640" cy="548640"/>
          </a:xfrm>
          <a:prstGeom prst="ellipse">
            <a:avLst/>
          </a:prstGeom>
          <a:solidFill>
            <a:srgbClr val="151A3D"/>
          </a:solidFill>
          <a:ln/>
        </p:spPr>
      </p:sp>
      <p:pic>
        <p:nvPicPr>
          <p:cNvPr id="16" name="Image 2" descr="/home/claude/genai_pptx/icons/chart_teal.png"/>
          <p:cNvPicPr>
            <a:picLocks noChangeAspect="1"/>
          </p:cNvPicPr>
          <p:nvPr/>
        </p:nvPicPr>
        <p:blipFill>
          <a:blip r:embed="rId5"/>
          <a:stretch>
            <a:fillRect/>
          </a:stretch>
        </p:blipFill>
        <p:spPr>
          <a:xfrm>
            <a:off x="8659368" y="1984248"/>
            <a:ext cx="329184" cy="329184"/>
          </a:xfrm>
          <a:prstGeom prst="rect">
            <a:avLst/>
          </a:prstGeom>
        </p:spPr>
      </p:pic>
      <p:sp>
        <p:nvSpPr>
          <p:cNvPr id="17" name="Text 12"/>
          <p:cNvSpPr/>
          <p:nvPr/>
        </p:nvSpPr>
        <p:spPr>
          <a:xfrm>
            <a:off x="9235440" y="1901952"/>
            <a:ext cx="2423160" cy="457200"/>
          </a:xfrm>
          <a:prstGeom prst="rect">
            <a:avLst/>
          </a:prstGeom>
          <a:noFill/>
          <a:ln/>
        </p:spPr>
        <p:txBody>
          <a:bodyPr wrap="square" lIns="0" tIns="0" rIns="0" bIns="0" rtlCol="0" anchor="ctr"/>
          <a:lstStyle/>
          <a:p>
            <a:pPr marL="0" indent="0">
              <a:buNone/>
            </a:pPr>
            <a:r>
              <a:rPr lang="en-US" sz="1250" b="1" dirty="0">
                <a:solidFill>
                  <a:srgbClr val="1E2340"/>
                </a:solidFill>
                <a:latin typeface="Calibri" pitchFamily="34" charset="0"/>
                <a:ea typeface="Calibri" pitchFamily="34" charset="-122"/>
                <a:cs typeface="Calibri" pitchFamily="34" charset="-120"/>
              </a:rPr>
              <a:t>Business Intelligence</a:t>
            </a:r>
            <a:endParaRPr lang="en-US" sz="1250" dirty="0"/>
          </a:p>
        </p:txBody>
      </p:sp>
      <p:sp>
        <p:nvSpPr>
          <p:cNvPr id="18" name="Text 13"/>
          <p:cNvSpPr/>
          <p:nvPr/>
        </p:nvSpPr>
        <p:spPr>
          <a:xfrm>
            <a:off x="8549640" y="2514600"/>
            <a:ext cx="3063240" cy="1051560"/>
          </a:xfrm>
          <a:prstGeom prst="rect">
            <a:avLst/>
          </a:prstGeom>
          <a:noFill/>
          <a:ln/>
        </p:spPr>
        <p:txBody>
          <a:bodyPr wrap="square" lIns="0" tIns="0" rIns="0" bIns="0" rtlCol="0" anchor="ctr"/>
          <a:lstStyle/>
          <a:p>
            <a:pPr marL="0" indent="0">
              <a:lnSpc>
                <a:spcPct val="120000"/>
              </a:lnSpc>
              <a:buNone/>
            </a:pPr>
            <a:r>
              <a:rPr lang="en-US" sz="1400" dirty="0">
                <a:solidFill>
                  <a:srgbClr val="6B7280"/>
                </a:solidFill>
                <a:latin typeface="Calibri" pitchFamily="34" charset="0"/>
                <a:ea typeface="Calibri" pitchFamily="34" charset="-122"/>
                <a:cs typeface="Calibri" pitchFamily="34" charset="-120"/>
              </a:rPr>
              <a:t>Analyzes business data to generate insights and decision support, helping managers make faster, better-informed decisions</a:t>
            </a:r>
            <a:endParaRPr lang="en-US" sz="1400" dirty="0"/>
          </a:p>
        </p:txBody>
      </p:sp>
      <p:sp>
        <p:nvSpPr>
          <p:cNvPr id="19" name="Shape 14"/>
          <p:cNvSpPr/>
          <p:nvPr/>
        </p:nvSpPr>
        <p:spPr>
          <a:xfrm>
            <a:off x="640080" y="3886200"/>
            <a:ext cx="3520440" cy="1965960"/>
          </a:xfrm>
          <a:prstGeom prst="roundRect">
            <a:avLst>
              <a:gd name="adj" fmla="val 4651"/>
            </a:avLst>
          </a:prstGeom>
          <a:solidFill>
            <a:srgbClr val="F7F8FC"/>
          </a:solidFill>
          <a:ln/>
          <a:effectLst>
            <a:outerShdw blurRad="101600" dist="38100" dir="5400000" algn="bl" rotWithShape="0">
              <a:srgbClr val="1E2340">
                <a:alpha val="12000"/>
              </a:srgbClr>
            </a:outerShdw>
          </a:effectLst>
        </p:spPr>
      </p:sp>
      <p:sp>
        <p:nvSpPr>
          <p:cNvPr id="20" name="Shape 15"/>
          <p:cNvSpPr/>
          <p:nvPr/>
        </p:nvSpPr>
        <p:spPr>
          <a:xfrm>
            <a:off x="868680" y="4114800"/>
            <a:ext cx="548640" cy="548640"/>
          </a:xfrm>
          <a:prstGeom prst="ellipse">
            <a:avLst/>
          </a:prstGeom>
          <a:solidFill>
            <a:srgbClr val="151A3D"/>
          </a:solidFill>
          <a:ln/>
        </p:spPr>
      </p:sp>
      <p:pic>
        <p:nvPicPr>
          <p:cNvPr id="21" name="Image 3" descr="/home/claude/genai_pptx/icons/image_teal.png"/>
          <p:cNvPicPr>
            <a:picLocks noChangeAspect="1"/>
          </p:cNvPicPr>
          <p:nvPr/>
        </p:nvPicPr>
        <p:blipFill>
          <a:blip r:embed="rId6"/>
          <a:stretch>
            <a:fillRect/>
          </a:stretch>
        </p:blipFill>
        <p:spPr>
          <a:xfrm>
            <a:off x="978408" y="4224528"/>
            <a:ext cx="329184" cy="329184"/>
          </a:xfrm>
          <a:prstGeom prst="rect">
            <a:avLst/>
          </a:prstGeom>
        </p:spPr>
      </p:pic>
      <p:sp>
        <p:nvSpPr>
          <p:cNvPr id="22" name="Text 16"/>
          <p:cNvSpPr/>
          <p:nvPr/>
        </p:nvSpPr>
        <p:spPr>
          <a:xfrm>
            <a:off x="1554480" y="4142232"/>
            <a:ext cx="2423160" cy="457200"/>
          </a:xfrm>
          <a:prstGeom prst="rect">
            <a:avLst/>
          </a:prstGeom>
          <a:noFill/>
          <a:ln/>
        </p:spPr>
        <p:txBody>
          <a:bodyPr wrap="square" lIns="0" tIns="0" rIns="0" bIns="0" rtlCol="0" anchor="ctr"/>
          <a:lstStyle/>
          <a:p>
            <a:pPr marL="0" indent="0">
              <a:buNone/>
            </a:pPr>
            <a:r>
              <a:rPr lang="en-US" sz="1250" b="1" dirty="0">
                <a:solidFill>
                  <a:srgbClr val="1E2340"/>
                </a:solidFill>
                <a:latin typeface="Calibri" pitchFamily="34" charset="0"/>
                <a:ea typeface="Calibri" pitchFamily="34" charset="-122"/>
                <a:cs typeface="Calibri" pitchFamily="34" charset="-120"/>
              </a:rPr>
              <a:t>Content Creation</a:t>
            </a:r>
            <a:endParaRPr lang="en-US" sz="1250" dirty="0"/>
          </a:p>
        </p:txBody>
      </p:sp>
      <p:sp>
        <p:nvSpPr>
          <p:cNvPr id="23" name="Text 17"/>
          <p:cNvSpPr/>
          <p:nvPr/>
        </p:nvSpPr>
        <p:spPr>
          <a:xfrm>
            <a:off x="868680" y="4754880"/>
            <a:ext cx="3063240" cy="1051560"/>
          </a:xfrm>
          <a:prstGeom prst="rect">
            <a:avLst/>
          </a:prstGeom>
          <a:noFill/>
          <a:ln/>
        </p:spPr>
        <p:txBody>
          <a:bodyPr wrap="square" lIns="0" tIns="0" rIns="0" bIns="0" rtlCol="0" anchor="ctr"/>
          <a:lstStyle/>
          <a:p>
            <a:pPr marL="0" indent="0">
              <a:lnSpc>
                <a:spcPct val="120000"/>
              </a:lnSpc>
              <a:buNone/>
            </a:pPr>
            <a:r>
              <a:rPr lang="en-US" sz="1400" dirty="0">
                <a:solidFill>
                  <a:srgbClr val="6B7280"/>
                </a:solidFill>
                <a:latin typeface="Calibri" pitchFamily="34" charset="0"/>
                <a:ea typeface="Calibri" pitchFamily="34" charset="-122"/>
                <a:cs typeface="Calibri" pitchFamily="34" charset="-120"/>
              </a:rPr>
              <a:t>Generates emails, reports, marketing content, product descriptions, and presentations, saving time and boosting productivity</a:t>
            </a:r>
            <a:endParaRPr lang="en-US" sz="1400" dirty="0"/>
          </a:p>
        </p:txBody>
      </p:sp>
      <p:sp>
        <p:nvSpPr>
          <p:cNvPr id="24" name="Shape 18"/>
          <p:cNvSpPr/>
          <p:nvPr/>
        </p:nvSpPr>
        <p:spPr>
          <a:xfrm>
            <a:off x="4480560" y="3886200"/>
            <a:ext cx="3520440" cy="1965960"/>
          </a:xfrm>
          <a:prstGeom prst="roundRect">
            <a:avLst>
              <a:gd name="adj" fmla="val 4651"/>
            </a:avLst>
          </a:prstGeom>
          <a:solidFill>
            <a:srgbClr val="F7F8FC"/>
          </a:solidFill>
          <a:ln/>
          <a:effectLst>
            <a:outerShdw blurRad="101600" dist="38100" dir="5400000" algn="bl" rotWithShape="0">
              <a:srgbClr val="1E2340">
                <a:alpha val="12000"/>
              </a:srgbClr>
            </a:outerShdw>
          </a:effectLst>
        </p:spPr>
      </p:sp>
      <p:sp>
        <p:nvSpPr>
          <p:cNvPr id="25" name="Shape 19"/>
          <p:cNvSpPr/>
          <p:nvPr/>
        </p:nvSpPr>
        <p:spPr>
          <a:xfrm>
            <a:off x="4709160" y="4114800"/>
            <a:ext cx="548640" cy="548640"/>
          </a:xfrm>
          <a:prstGeom prst="ellipse">
            <a:avLst/>
          </a:prstGeom>
          <a:solidFill>
            <a:srgbClr val="151A3D"/>
          </a:solidFill>
          <a:ln/>
        </p:spPr>
      </p:sp>
      <p:pic>
        <p:nvPicPr>
          <p:cNvPr id="26" name="Image 4" descr="/home/claude/genai_pptx/icons/database_teal.png"/>
          <p:cNvPicPr>
            <a:picLocks noChangeAspect="1"/>
          </p:cNvPicPr>
          <p:nvPr/>
        </p:nvPicPr>
        <p:blipFill>
          <a:blip r:embed="rId7"/>
          <a:stretch>
            <a:fillRect/>
          </a:stretch>
        </p:blipFill>
        <p:spPr>
          <a:xfrm>
            <a:off x="4818888" y="4224528"/>
            <a:ext cx="329184" cy="329184"/>
          </a:xfrm>
          <a:prstGeom prst="rect">
            <a:avLst/>
          </a:prstGeom>
        </p:spPr>
      </p:pic>
      <p:sp>
        <p:nvSpPr>
          <p:cNvPr id="27" name="Text 20"/>
          <p:cNvSpPr/>
          <p:nvPr/>
        </p:nvSpPr>
        <p:spPr>
          <a:xfrm>
            <a:off x="5394960" y="4142232"/>
            <a:ext cx="2423160" cy="457200"/>
          </a:xfrm>
          <a:prstGeom prst="rect">
            <a:avLst/>
          </a:prstGeom>
          <a:noFill/>
          <a:ln/>
        </p:spPr>
        <p:txBody>
          <a:bodyPr wrap="square" lIns="0" tIns="0" rIns="0" bIns="0" rtlCol="0" anchor="ctr"/>
          <a:lstStyle/>
          <a:p>
            <a:pPr marL="0" indent="0">
              <a:buNone/>
            </a:pPr>
            <a:r>
              <a:rPr lang="en-US" sz="1250" b="1" dirty="0">
                <a:solidFill>
                  <a:srgbClr val="1E2340"/>
                </a:solidFill>
                <a:latin typeface="Calibri" pitchFamily="34" charset="0"/>
                <a:ea typeface="Calibri" pitchFamily="34" charset="-122"/>
                <a:cs typeface="Calibri" pitchFamily="34" charset="-120"/>
              </a:rPr>
              <a:t>Knowledge Management</a:t>
            </a:r>
            <a:endParaRPr lang="en-US" sz="1250" dirty="0"/>
          </a:p>
        </p:txBody>
      </p:sp>
      <p:sp>
        <p:nvSpPr>
          <p:cNvPr id="28" name="Text 21"/>
          <p:cNvSpPr/>
          <p:nvPr/>
        </p:nvSpPr>
        <p:spPr>
          <a:xfrm>
            <a:off x="4709160" y="4754880"/>
            <a:ext cx="3063240" cy="1051560"/>
          </a:xfrm>
          <a:prstGeom prst="rect">
            <a:avLst/>
          </a:prstGeom>
          <a:noFill/>
          <a:ln/>
        </p:spPr>
        <p:txBody>
          <a:bodyPr wrap="square" lIns="0" tIns="0" rIns="0" bIns="0" rtlCol="0" anchor="ctr"/>
          <a:lstStyle/>
          <a:p>
            <a:pPr marL="0" indent="0">
              <a:lnSpc>
                <a:spcPct val="120000"/>
              </a:lnSpc>
              <a:buNone/>
            </a:pPr>
            <a:r>
              <a:rPr lang="en-US" sz="1400" dirty="0">
                <a:solidFill>
                  <a:srgbClr val="6B7280"/>
                </a:solidFill>
                <a:latin typeface="Calibri" pitchFamily="34" charset="0"/>
                <a:ea typeface="Calibri" pitchFamily="34" charset="-122"/>
                <a:cs typeface="Calibri" pitchFamily="34" charset="-120"/>
              </a:rPr>
              <a:t>Organizes company documents and answers employee questions, making information easy to search and retrieve</a:t>
            </a:r>
            <a:endParaRPr lang="en-US" sz="1400" dirty="0"/>
          </a:p>
        </p:txBody>
      </p:sp>
      <p:sp>
        <p:nvSpPr>
          <p:cNvPr id="29" name="Shape 22"/>
          <p:cNvSpPr/>
          <p:nvPr/>
        </p:nvSpPr>
        <p:spPr>
          <a:xfrm>
            <a:off x="8321040" y="3886200"/>
            <a:ext cx="3520440" cy="1965960"/>
          </a:xfrm>
          <a:prstGeom prst="roundRect">
            <a:avLst>
              <a:gd name="adj" fmla="val 4651"/>
            </a:avLst>
          </a:prstGeom>
          <a:solidFill>
            <a:srgbClr val="F7F8FC"/>
          </a:solidFill>
          <a:ln/>
          <a:effectLst>
            <a:outerShdw blurRad="101600" dist="38100" dir="5400000" algn="bl" rotWithShape="0">
              <a:srgbClr val="1E2340">
                <a:alpha val="12000"/>
              </a:srgbClr>
            </a:outerShdw>
          </a:effectLst>
        </p:spPr>
      </p:sp>
      <p:sp>
        <p:nvSpPr>
          <p:cNvPr id="30" name="Shape 23"/>
          <p:cNvSpPr/>
          <p:nvPr/>
        </p:nvSpPr>
        <p:spPr>
          <a:xfrm>
            <a:off x="8549640" y="4114800"/>
            <a:ext cx="548640" cy="548640"/>
          </a:xfrm>
          <a:prstGeom prst="ellipse">
            <a:avLst/>
          </a:prstGeom>
          <a:solidFill>
            <a:srgbClr val="151A3D"/>
          </a:solidFill>
          <a:ln/>
        </p:spPr>
      </p:sp>
      <p:pic>
        <p:nvPicPr>
          <p:cNvPr id="31" name="Image 5" descr="/home/claude/genai_pptx/icons/users_teal.png"/>
          <p:cNvPicPr>
            <a:picLocks noChangeAspect="1"/>
          </p:cNvPicPr>
          <p:nvPr/>
        </p:nvPicPr>
        <p:blipFill>
          <a:blip r:embed="rId8"/>
          <a:stretch>
            <a:fillRect/>
          </a:stretch>
        </p:blipFill>
        <p:spPr>
          <a:xfrm>
            <a:off x="8659368" y="4224528"/>
            <a:ext cx="329184" cy="329184"/>
          </a:xfrm>
          <a:prstGeom prst="rect">
            <a:avLst/>
          </a:prstGeom>
        </p:spPr>
      </p:pic>
      <p:sp>
        <p:nvSpPr>
          <p:cNvPr id="32" name="Text 24"/>
          <p:cNvSpPr/>
          <p:nvPr/>
        </p:nvSpPr>
        <p:spPr>
          <a:xfrm>
            <a:off x="9235440" y="4142232"/>
            <a:ext cx="2423160" cy="457200"/>
          </a:xfrm>
          <a:prstGeom prst="rect">
            <a:avLst/>
          </a:prstGeom>
          <a:noFill/>
          <a:ln/>
        </p:spPr>
        <p:txBody>
          <a:bodyPr wrap="square" lIns="0" tIns="0" rIns="0" bIns="0" rtlCol="0" anchor="ctr"/>
          <a:lstStyle/>
          <a:p>
            <a:pPr marL="0" indent="0">
              <a:buNone/>
            </a:pPr>
            <a:r>
              <a:rPr lang="en-US" sz="1250" b="1" dirty="0">
                <a:solidFill>
                  <a:srgbClr val="1E2340"/>
                </a:solidFill>
                <a:latin typeface="Calibri" pitchFamily="34" charset="0"/>
                <a:ea typeface="Calibri" pitchFamily="34" charset="-122"/>
                <a:cs typeface="Calibri" pitchFamily="34" charset="-120"/>
              </a:rPr>
              <a:t>Sales &amp; Marketing</a:t>
            </a:r>
            <a:endParaRPr lang="en-US" sz="1250" dirty="0"/>
          </a:p>
        </p:txBody>
      </p:sp>
      <p:sp>
        <p:nvSpPr>
          <p:cNvPr id="33" name="Text 25"/>
          <p:cNvSpPr/>
          <p:nvPr/>
        </p:nvSpPr>
        <p:spPr>
          <a:xfrm>
            <a:off x="8549640" y="4754880"/>
            <a:ext cx="3063240" cy="1051560"/>
          </a:xfrm>
          <a:prstGeom prst="rect">
            <a:avLst/>
          </a:prstGeom>
          <a:noFill/>
          <a:ln/>
        </p:spPr>
        <p:txBody>
          <a:bodyPr wrap="square" lIns="0" tIns="0" rIns="0" bIns="0" rtlCol="0" anchor="ctr"/>
          <a:lstStyle/>
          <a:p>
            <a:pPr marL="0" indent="0">
              <a:lnSpc>
                <a:spcPct val="120000"/>
              </a:lnSpc>
              <a:buNone/>
            </a:pPr>
            <a:r>
              <a:rPr lang="en-US" sz="1400" dirty="0">
                <a:solidFill>
                  <a:srgbClr val="6B7280"/>
                </a:solidFill>
                <a:latin typeface="Calibri" pitchFamily="34" charset="0"/>
                <a:ea typeface="Calibri" pitchFamily="34" charset="-122"/>
                <a:cs typeface="Calibri" pitchFamily="34" charset="-120"/>
              </a:rPr>
              <a:t>Creates personalized advertisements and social media posts, and recommends products based on customer preferences</a:t>
            </a:r>
            <a:endParaRPr lang="en-US" sz="1400" dirty="0"/>
          </a:p>
        </p:txBody>
      </p:sp>
      <p:sp>
        <p:nvSpPr>
          <p:cNvPr id="34" name="Text 26"/>
          <p:cNvSpPr/>
          <p:nvPr/>
        </p:nvSpPr>
        <p:spPr>
          <a:xfrm>
            <a:off x="457200" y="6473952"/>
            <a:ext cx="5486400" cy="274320"/>
          </a:xfrm>
          <a:prstGeom prst="rect">
            <a:avLst/>
          </a:prstGeom>
          <a:noFill/>
          <a:ln/>
        </p:spPr>
        <p:txBody>
          <a:bodyPr wrap="square" lIns="0" tIns="0" rIns="0" bIns="0" rtlCol="0" anchor="ctr"/>
          <a:lstStyle/>
          <a:p>
            <a:pPr marL="0" indent="0">
              <a:buNone/>
            </a:pPr>
            <a:r>
              <a:rPr lang="en-US" sz="1000" dirty="0">
                <a:solidFill>
                  <a:srgbClr val="6B7280"/>
                </a:solidFill>
                <a:latin typeface="Calibri" pitchFamily="34" charset="0"/>
                <a:ea typeface="Calibri" pitchFamily="34" charset="-122"/>
                <a:cs typeface="Calibri" pitchFamily="34" charset="-120"/>
              </a:rPr>
              <a:t>Generative AI and IS</a:t>
            </a:r>
            <a:endParaRPr lang="en-US" sz="1000" dirty="0"/>
          </a:p>
        </p:txBody>
      </p:sp>
      <p:sp>
        <p:nvSpPr>
          <p:cNvPr id="35" name="Text 27"/>
          <p:cNvSpPr/>
          <p:nvPr/>
        </p:nvSpPr>
        <p:spPr>
          <a:xfrm>
            <a:off x="11274552" y="6473952"/>
            <a:ext cx="457200" cy="274320"/>
          </a:xfrm>
          <a:prstGeom prst="rect">
            <a:avLst/>
          </a:prstGeom>
          <a:noFill/>
          <a:ln/>
        </p:spPr>
        <p:txBody>
          <a:bodyPr wrap="square" lIns="0" tIns="0" rIns="0" bIns="0" rtlCol="0" anchor="ctr"/>
          <a:lstStyle/>
          <a:p>
            <a:pPr marL="0" indent="0" algn="r">
              <a:buNone/>
            </a:pPr>
            <a:r>
              <a:rPr lang="en-US" sz="1000" dirty="0">
                <a:solidFill>
                  <a:srgbClr val="6B7280"/>
                </a:solidFill>
                <a:latin typeface="Calibri" pitchFamily="34" charset="0"/>
                <a:ea typeface="Calibri" pitchFamily="34" charset="-122"/>
                <a:cs typeface="Calibri" pitchFamily="34" charset="-120"/>
              </a:rPr>
              <a:t>7</a:t>
            </a:r>
            <a:endParaRPr lang="en-US" sz="1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8">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640080" y="384048"/>
            <a:ext cx="7315200" cy="320040"/>
          </a:xfrm>
          <a:prstGeom prst="rect">
            <a:avLst/>
          </a:prstGeom>
          <a:noFill/>
          <a:ln/>
        </p:spPr>
        <p:txBody>
          <a:bodyPr wrap="square" lIns="0" tIns="0" rIns="0" bIns="0" rtlCol="0" anchor="ctr"/>
          <a:lstStyle/>
          <a:p>
            <a:pPr marL="0" indent="0">
              <a:buNone/>
            </a:pPr>
            <a:r>
              <a:rPr lang="en-US" b="1" kern="0" spc="200" dirty="0">
                <a:solidFill>
                  <a:srgbClr val="0F9B8E"/>
                </a:solidFill>
                <a:latin typeface="Calibri" pitchFamily="34" charset="0"/>
                <a:ea typeface="Calibri" pitchFamily="34" charset="-122"/>
                <a:cs typeface="Calibri" pitchFamily="34" charset="-120"/>
              </a:rPr>
              <a:t>3. APPLICATIONS IN BUSINESS &amp; IS</a:t>
            </a:r>
            <a:endParaRPr lang="en-US" dirty="0"/>
          </a:p>
        </p:txBody>
      </p:sp>
      <p:sp>
        <p:nvSpPr>
          <p:cNvPr id="3" name="Text 1"/>
          <p:cNvSpPr/>
          <p:nvPr/>
        </p:nvSpPr>
        <p:spPr>
          <a:xfrm>
            <a:off x="640080" y="685800"/>
            <a:ext cx="9601200" cy="731520"/>
          </a:xfrm>
          <a:prstGeom prst="rect">
            <a:avLst/>
          </a:prstGeom>
          <a:noFill/>
          <a:ln/>
        </p:spPr>
        <p:txBody>
          <a:bodyPr wrap="square" lIns="0" tIns="0" rIns="0" bIns="0" rtlCol="0" anchor="ctr"/>
          <a:lstStyle/>
          <a:p>
            <a:pPr marL="0" indent="0">
              <a:buNone/>
            </a:pPr>
            <a:r>
              <a:rPr lang="en-US" sz="3200" b="1" dirty="0">
                <a:solidFill>
                  <a:srgbClr val="1E2340"/>
                </a:solidFill>
                <a:latin typeface="Cambria" pitchFamily="34" charset="0"/>
                <a:ea typeface="Cambria" pitchFamily="34" charset="-122"/>
                <a:cs typeface="Cambria" pitchFamily="34" charset="-120"/>
              </a:rPr>
              <a:t>More Ways Generative AI Adds Value</a:t>
            </a:r>
            <a:endParaRPr lang="en-US" sz="3200" dirty="0"/>
          </a:p>
        </p:txBody>
      </p:sp>
      <p:sp>
        <p:nvSpPr>
          <p:cNvPr id="4" name="Shape 2"/>
          <p:cNvSpPr/>
          <p:nvPr/>
        </p:nvSpPr>
        <p:spPr>
          <a:xfrm>
            <a:off x="640080" y="1645920"/>
            <a:ext cx="3520440" cy="1965960"/>
          </a:xfrm>
          <a:prstGeom prst="roundRect">
            <a:avLst>
              <a:gd name="adj" fmla="val 4651"/>
            </a:avLst>
          </a:prstGeom>
          <a:solidFill>
            <a:srgbClr val="F7F8FC"/>
          </a:solidFill>
          <a:ln/>
          <a:effectLst>
            <a:outerShdw blurRad="101600" dist="38100" dir="5400000" algn="bl" rotWithShape="0">
              <a:srgbClr val="1E2340">
                <a:alpha val="12000"/>
              </a:srgbClr>
            </a:outerShdw>
          </a:effectLst>
        </p:spPr>
      </p:sp>
      <p:sp>
        <p:nvSpPr>
          <p:cNvPr id="5" name="Shape 3"/>
          <p:cNvSpPr/>
          <p:nvPr/>
        </p:nvSpPr>
        <p:spPr>
          <a:xfrm>
            <a:off x="868680" y="1874520"/>
            <a:ext cx="548640" cy="548640"/>
          </a:xfrm>
          <a:prstGeom prst="ellipse">
            <a:avLst/>
          </a:prstGeom>
          <a:solidFill>
            <a:srgbClr val="151A3D"/>
          </a:solidFill>
          <a:ln/>
        </p:spPr>
      </p:sp>
      <p:pic>
        <p:nvPicPr>
          <p:cNvPr id="6" name="Image 0" descr="/home/claude/genai_pptx/icons/comment_teal.png"/>
          <p:cNvPicPr>
            <a:picLocks noChangeAspect="1"/>
          </p:cNvPicPr>
          <p:nvPr/>
        </p:nvPicPr>
        <p:blipFill>
          <a:blip r:embed="rId3"/>
          <a:stretch>
            <a:fillRect/>
          </a:stretch>
        </p:blipFill>
        <p:spPr>
          <a:xfrm>
            <a:off x="978408" y="1984248"/>
            <a:ext cx="329184" cy="329184"/>
          </a:xfrm>
          <a:prstGeom prst="rect">
            <a:avLst/>
          </a:prstGeom>
        </p:spPr>
      </p:pic>
      <p:sp>
        <p:nvSpPr>
          <p:cNvPr id="7" name="Text 4"/>
          <p:cNvSpPr/>
          <p:nvPr/>
        </p:nvSpPr>
        <p:spPr>
          <a:xfrm>
            <a:off x="1554480" y="1901952"/>
            <a:ext cx="2423160" cy="457200"/>
          </a:xfrm>
          <a:prstGeom prst="rect">
            <a:avLst/>
          </a:prstGeom>
          <a:noFill/>
          <a:ln/>
        </p:spPr>
        <p:txBody>
          <a:bodyPr wrap="square" lIns="0" tIns="0" rIns="0" bIns="0" rtlCol="0" anchor="ctr"/>
          <a:lstStyle/>
          <a:p>
            <a:pPr marL="0" indent="0">
              <a:buNone/>
            </a:pPr>
            <a:r>
              <a:rPr lang="en-US" sz="1250" b="1" dirty="0">
                <a:solidFill>
                  <a:srgbClr val="1E2340"/>
                </a:solidFill>
                <a:latin typeface="Calibri" pitchFamily="34" charset="0"/>
                <a:ea typeface="Calibri" pitchFamily="34" charset="-122"/>
                <a:cs typeface="Calibri" pitchFamily="34" charset="-120"/>
              </a:rPr>
              <a:t>HR Management</a:t>
            </a:r>
            <a:endParaRPr lang="en-US" sz="1250" dirty="0"/>
          </a:p>
        </p:txBody>
      </p:sp>
      <p:sp>
        <p:nvSpPr>
          <p:cNvPr id="8" name="Text 5"/>
          <p:cNvSpPr/>
          <p:nvPr/>
        </p:nvSpPr>
        <p:spPr>
          <a:xfrm>
            <a:off x="868680" y="2514600"/>
            <a:ext cx="3063240" cy="1051560"/>
          </a:xfrm>
          <a:prstGeom prst="rect">
            <a:avLst/>
          </a:prstGeom>
          <a:noFill/>
          <a:ln/>
        </p:spPr>
        <p:txBody>
          <a:bodyPr wrap="square" lIns="0" tIns="0" rIns="0" bIns="0" rtlCol="0" anchor="ctr"/>
          <a:lstStyle/>
          <a:p>
            <a:pPr marL="0" indent="0">
              <a:lnSpc>
                <a:spcPct val="120000"/>
              </a:lnSpc>
              <a:buNone/>
            </a:pPr>
            <a:r>
              <a:rPr lang="en-US" sz="1400" dirty="0">
                <a:solidFill>
                  <a:srgbClr val="6B7280"/>
                </a:solidFill>
                <a:latin typeface="Calibri" pitchFamily="34" charset="0"/>
                <a:ea typeface="Calibri" pitchFamily="34" charset="-122"/>
                <a:cs typeface="Calibri" pitchFamily="34" charset="-120"/>
              </a:rPr>
              <a:t>Screens resumes and assists in recruitment, and creates job descriptions and employee training materials</a:t>
            </a:r>
            <a:endParaRPr lang="en-US" sz="1400" dirty="0"/>
          </a:p>
        </p:txBody>
      </p:sp>
      <p:sp>
        <p:nvSpPr>
          <p:cNvPr id="9" name="Shape 6"/>
          <p:cNvSpPr/>
          <p:nvPr/>
        </p:nvSpPr>
        <p:spPr>
          <a:xfrm>
            <a:off x="4480560" y="1645920"/>
            <a:ext cx="3520440" cy="1965960"/>
          </a:xfrm>
          <a:prstGeom prst="roundRect">
            <a:avLst>
              <a:gd name="adj" fmla="val 4651"/>
            </a:avLst>
          </a:prstGeom>
          <a:solidFill>
            <a:srgbClr val="F7F8FC"/>
          </a:solidFill>
          <a:ln/>
          <a:effectLst>
            <a:outerShdw blurRad="101600" dist="38100" dir="5400000" algn="bl" rotWithShape="0">
              <a:srgbClr val="1E2340">
                <a:alpha val="12000"/>
              </a:srgbClr>
            </a:outerShdw>
          </a:effectLst>
        </p:spPr>
      </p:sp>
      <p:sp>
        <p:nvSpPr>
          <p:cNvPr id="10" name="Shape 7"/>
          <p:cNvSpPr/>
          <p:nvPr/>
        </p:nvSpPr>
        <p:spPr>
          <a:xfrm>
            <a:off x="4709160" y="1874520"/>
            <a:ext cx="548640" cy="548640"/>
          </a:xfrm>
          <a:prstGeom prst="ellipse">
            <a:avLst/>
          </a:prstGeom>
          <a:solidFill>
            <a:srgbClr val="151A3D"/>
          </a:solidFill>
          <a:ln/>
        </p:spPr>
      </p:sp>
      <p:pic>
        <p:nvPicPr>
          <p:cNvPr id="11" name="Image 1" descr="/home/claude/genai_pptx/icons/code_teal.png"/>
          <p:cNvPicPr>
            <a:picLocks noChangeAspect="1"/>
          </p:cNvPicPr>
          <p:nvPr/>
        </p:nvPicPr>
        <p:blipFill>
          <a:blip r:embed="rId4"/>
          <a:stretch>
            <a:fillRect/>
          </a:stretch>
        </p:blipFill>
        <p:spPr>
          <a:xfrm>
            <a:off x="4818888" y="1984248"/>
            <a:ext cx="329184" cy="329184"/>
          </a:xfrm>
          <a:prstGeom prst="rect">
            <a:avLst/>
          </a:prstGeom>
        </p:spPr>
      </p:pic>
      <p:sp>
        <p:nvSpPr>
          <p:cNvPr id="12" name="Text 8"/>
          <p:cNvSpPr/>
          <p:nvPr/>
        </p:nvSpPr>
        <p:spPr>
          <a:xfrm>
            <a:off x="5394960" y="1901952"/>
            <a:ext cx="2423160" cy="457200"/>
          </a:xfrm>
          <a:prstGeom prst="rect">
            <a:avLst/>
          </a:prstGeom>
          <a:noFill/>
          <a:ln/>
        </p:spPr>
        <p:txBody>
          <a:bodyPr wrap="square" lIns="0" tIns="0" rIns="0" bIns="0" rtlCol="0" anchor="ctr"/>
          <a:lstStyle/>
          <a:p>
            <a:pPr marL="0" indent="0">
              <a:buNone/>
            </a:pPr>
            <a:r>
              <a:rPr lang="en-US" sz="1250" b="1" dirty="0">
                <a:solidFill>
                  <a:srgbClr val="1E2340"/>
                </a:solidFill>
                <a:latin typeface="Calibri" pitchFamily="34" charset="0"/>
                <a:ea typeface="Calibri" pitchFamily="34" charset="-122"/>
                <a:cs typeface="Calibri" pitchFamily="34" charset="-120"/>
              </a:rPr>
              <a:t>Financial Management</a:t>
            </a:r>
            <a:endParaRPr lang="en-US" sz="1250" dirty="0"/>
          </a:p>
        </p:txBody>
      </p:sp>
      <p:sp>
        <p:nvSpPr>
          <p:cNvPr id="13" name="Text 9"/>
          <p:cNvSpPr/>
          <p:nvPr/>
        </p:nvSpPr>
        <p:spPr>
          <a:xfrm>
            <a:off x="4709160" y="2514600"/>
            <a:ext cx="3063240" cy="1051560"/>
          </a:xfrm>
          <a:prstGeom prst="rect">
            <a:avLst/>
          </a:prstGeom>
          <a:noFill/>
          <a:ln/>
        </p:spPr>
        <p:txBody>
          <a:bodyPr wrap="square" lIns="0" tIns="0" rIns="0" bIns="0" rtlCol="0" anchor="ctr"/>
          <a:lstStyle/>
          <a:p>
            <a:pPr marL="0" indent="0">
              <a:lnSpc>
                <a:spcPct val="120000"/>
              </a:lnSpc>
              <a:buNone/>
            </a:pPr>
            <a:r>
              <a:rPr lang="en-US" sz="1400" dirty="0">
                <a:solidFill>
                  <a:srgbClr val="6B7280"/>
                </a:solidFill>
                <a:latin typeface="Calibri" pitchFamily="34" charset="0"/>
                <a:ea typeface="Calibri" pitchFamily="34" charset="-122"/>
                <a:cs typeface="Calibri" pitchFamily="34" charset="-120"/>
              </a:rPr>
              <a:t>Generates financial reports and forecasts, and detects fraudulent transactions and unusual activity</a:t>
            </a:r>
            <a:endParaRPr lang="en-US" sz="1400" dirty="0"/>
          </a:p>
        </p:txBody>
      </p:sp>
      <p:sp>
        <p:nvSpPr>
          <p:cNvPr id="14" name="Shape 10"/>
          <p:cNvSpPr/>
          <p:nvPr/>
        </p:nvSpPr>
        <p:spPr>
          <a:xfrm>
            <a:off x="8321040" y="1645920"/>
            <a:ext cx="3520440" cy="1965960"/>
          </a:xfrm>
          <a:prstGeom prst="roundRect">
            <a:avLst>
              <a:gd name="adj" fmla="val 4651"/>
            </a:avLst>
          </a:prstGeom>
          <a:solidFill>
            <a:srgbClr val="F7F8FC"/>
          </a:solidFill>
          <a:ln/>
          <a:effectLst>
            <a:outerShdw blurRad="101600" dist="38100" dir="5400000" algn="bl" rotWithShape="0">
              <a:srgbClr val="1E2340">
                <a:alpha val="12000"/>
              </a:srgbClr>
            </a:outerShdw>
          </a:effectLst>
        </p:spPr>
      </p:sp>
      <p:sp>
        <p:nvSpPr>
          <p:cNvPr id="15" name="Shape 11"/>
          <p:cNvSpPr/>
          <p:nvPr/>
        </p:nvSpPr>
        <p:spPr>
          <a:xfrm>
            <a:off x="8549640" y="1874520"/>
            <a:ext cx="548640" cy="548640"/>
          </a:xfrm>
          <a:prstGeom prst="ellipse">
            <a:avLst/>
          </a:prstGeom>
          <a:solidFill>
            <a:srgbClr val="151A3D"/>
          </a:solidFill>
          <a:ln/>
        </p:spPr>
      </p:sp>
      <p:pic>
        <p:nvPicPr>
          <p:cNvPr id="16" name="Image 2" descr="/home/claude/genai_pptx/icons/chart_teal.png"/>
          <p:cNvPicPr>
            <a:picLocks noChangeAspect="1"/>
          </p:cNvPicPr>
          <p:nvPr/>
        </p:nvPicPr>
        <p:blipFill>
          <a:blip r:embed="rId5"/>
          <a:stretch>
            <a:fillRect/>
          </a:stretch>
        </p:blipFill>
        <p:spPr>
          <a:xfrm>
            <a:off x="8659368" y="1984248"/>
            <a:ext cx="329184" cy="329184"/>
          </a:xfrm>
          <a:prstGeom prst="rect">
            <a:avLst/>
          </a:prstGeom>
        </p:spPr>
      </p:pic>
      <p:sp>
        <p:nvSpPr>
          <p:cNvPr id="17" name="Text 12"/>
          <p:cNvSpPr/>
          <p:nvPr/>
        </p:nvSpPr>
        <p:spPr>
          <a:xfrm>
            <a:off x="9235440" y="1901952"/>
            <a:ext cx="2423160" cy="457200"/>
          </a:xfrm>
          <a:prstGeom prst="rect">
            <a:avLst/>
          </a:prstGeom>
          <a:noFill/>
          <a:ln/>
        </p:spPr>
        <p:txBody>
          <a:bodyPr wrap="square" lIns="0" tIns="0" rIns="0" bIns="0" rtlCol="0" anchor="ctr"/>
          <a:lstStyle/>
          <a:p>
            <a:pPr marL="0" indent="0">
              <a:buNone/>
            </a:pPr>
            <a:r>
              <a:rPr lang="en-US" sz="1250" b="1" dirty="0">
                <a:solidFill>
                  <a:srgbClr val="1E2340"/>
                </a:solidFill>
                <a:latin typeface="Calibri" pitchFamily="34" charset="0"/>
                <a:ea typeface="Calibri" pitchFamily="34" charset="-122"/>
                <a:cs typeface="Calibri" pitchFamily="34" charset="-120"/>
              </a:rPr>
              <a:t>Supply Chain</a:t>
            </a:r>
            <a:endParaRPr lang="en-US" sz="1250" dirty="0"/>
          </a:p>
        </p:txBody>
      </p:sp>
      <p:sp>
        <p:nvSpPr>
          <p:cNvPr id="18" name="Text 13"/>
          <p:cNvSpPr/>
          <p:nvPr/>
        </p:nvSpPr>
        <p:spPr>
          <a:xfrm>
            <a:off x="8549640" y="2514600"/>
            <a:ext cx="3063240" cy="1051560"/>
          </a:xfrm>
          <a:prstGeom prst="rect">
            <a:avLst/>
          </a:prstGeom>
          <a:noFill/>
          <a:ln/>
        </p:spPr>
        <p:txBody>
          <a:bodyPr wrap="square" lIns="0" tIns="0" rIns="0" bIns="0" rtlCol="0" anchor="ctr"/>
          <a:lstStyle/>
          <a:p>
            <a:pPr marL="0" indent="0">
              <a:lnSpc>
                <a:spcPct val="120000"/>
              </a:lnSpc>
              <a:buNone/>
            </a:pPr>
            <a:r>
              <a:rPr lang="en-US" sz="1400" dirty="0">
                <a:solidFill>
                  <a:srgbClr val="6B7280"/>
                </a:solidFill>
                <a:latin typeface="Calibri" pitchFamily="34" charset="0"/>
                <a:ea typeface="Calibri" pitchFamily="34" charset="-122"/>
                <a:cs typeface="Calibri" pitchFamily="34" charset="-120"/>
              </a:rPr>
              <a:t>Predicts product demand and optimizes inventory levels and delivery planning across the supply chain</a:t>
            </a:r>
            <a:endParaRPr lang="en-US" sz="1400" dirty="0"/>
          </a:p>
        </p:txBody>
      </p:sp>
      <p:sp>
        <p:nvSpPr>
          <p:cNvPr id="19" name="Shape 14"/>
          <p:cNvSpPr/>
          <p:nvPr/>
        </p:nvSpPr>
        <p:spPr>
          <a:xfrm>
            <a:off x="640080" y="3886200"/>
            <a:ext cx="3520440" cy="1965960"/>
          </a:xfrm>
          <a:prstGeom prst="roundRect">
            <a:avLst>
              <a:gd name="adj" fmla="val 4651"/>
            </a:avLst>
          </a:prstGeom>
          <a:solidFill>
            <a:srgbClr val="F7F8FC"/>
          </a:solidFill>
          <a:ln/>
          <a:effectLst>
            <a:outerShdw blurRad="101600" dist="38100" dir="5400000" algn="bl" rotWithShape="0">
              <a:srgbClr val="1E2340">
                <a:alpha val="12000"/>
              </a:srgbClr>
            </a:outerShdw>
          </a:effectLst>
        </p:spPr>
      </p:sp>
      <p:sp>
        <p:nvSpPr>
          <p:cNvPr id="20" name="Shape 15"/>
          <p:cNvSpPr/>
          <p:nvPr/>
        </p:nvSpPr>
        <p:spPr>
          <a:xfrm>
            <a:off x="868680" y="4114800"/>
            <a:ext cx="548640" cy="548640"/>
          </a:xfrm>
          <a:prstGeom prst="ellipse">
            <a:avLst/>
          </a:prstGeom>
          <a:solidFill>
            <a:srgbClr val="151A3D"/>
          </a:solidFill>
          <a:ln/>
        </p:spPr>
      </p:sp>
      <p:pic>
        <p:nvPicPr>
          <p:cNvPr id="21" name="Image 3" descr="/home/claude/genai_pptx/icons/image_teal.png"/>
          <p:cNvPicPr>
            <a:picLocks noChangeAspect="1"/>
          </p:cNvPicPr>
          <p:nvPr/>
        </p:nvPicPr>
        <p:blipFill>
          <a:blip r:embed="rId6"/>
          <a:stretch>
            <a:fillRect/>
          </a:stretch>
        </p:blipFill>
        <p:spPr>
          <a:xfrm>
            <a:off x="978408" y="4224528"/>
            <a:ext cx="329184" cy="329184"/>
          </a:xfrm>
          <a:prstGeom prst="rect">
            <a:avLst/>
          </a:prstGeom>
        </p:spPr>
      </p:pic>
      <p:sp>
        <p:nvSpPr>
          <p:cNvPr id="22" name="Text 16"/>
          <p:cNvSpPr/>
          <p:nvPr/>
        </p:nvSpPr>
        <p:spPr>
          <a:xfrm>
            <a:off x="1554480" y="4142232"/>
            <a:ext cx="2423160" cy="457200"/>
          </a:xfrm>
          <a:prstGeom prst="rect">
            <a:avLst/>
          </a:prstGeom>
          <a:noFill/>
          <a:ln/>
        </p:spPr>
        <p:txBody>
          <a:bodyPr wrap="square" lIns="0" tIns="0" rIns="0" bIns="0" rtlCol="0" anchor="ctr"/>
          <a:lstStyle/>
          <a:p>
            <a:pPr marL="0" indent="0">
              <a:buNone/>
            </a:pPr>
            <a:r>
              <a:rPr lang="en-US" sz="1250" b="1" dirty="0">
                <a:solidFill>
                  <a:srgbClr val="1E2340"/>
                </a:solidFill>
                <a:latin typeface="Calibri" pitchFamily="34" charset="0"/>
                <a:ea typeface="Calibri" pitchFamily="34" charset="-122"/>
                <a:cs typeface="Calibri" pitchFamily="34" charset="-120"/>
              </a:rPr>
              <a:t>Healthcare Systems</a:t>
            </a:r>
            <a:endParaRPr lang="en-US" sz="1250" dirty="0"/>
          </a:p>
        </p:txBody>
      </p:sp>
      <p:sp>
        <p:nvSpPr>
          <p:cNvPr id="23" name="Text 17"/>
          <p:cNvSpPr/>
          <p:nvPr/>
        </p:nvSpPr>
        <p:spPr>
          <a:xfrm>
            <a:off x="868680" y="4754880"/>
            <a:ext cx="3063240" cy="1051560"/>
          </a:xfrm>
          <a:prstGeom prst="rect">
            <a:avLst/>
          </a:prstGeom>
          <a:noFill/>
          <a:ln/>
        </p:spPr>
        <p:txBody>
          <a:bodyPr wrap="square" lIns="0" tIns="0" rIns="0" bIns="0" rtlCol="0" anchor="ctr"/>
          <a:lstStyle/>
          <a:p>
            <a:pPr marL="0" indent="0">
              <a:lnSpc>
                <a:spcPct val="120000"/>
              </a:lnSpc>
              <a:buNone/>
            </a:pPr>
            <a:r>
              <a:rPr lang="en-US" sz="1400" dirty="0">
                <a:solidFill>
                  <a:srgbClr val="6B7280"/>
                </a:solidFill>
                <a:latin typeface="Calibri" pitchFamily="34" charset="0"/>
                <a:ea typeface="Calibri" pitchFamily="34" charset="-122"/>
                <a:cs typeface="Calibri" pitchFamily="34" charset="-120"/>
              </a:rPr>
              <a:t>Summarizes patient records and assists with medical documentation and clinical decision support</a:t>
            </a:r>
            <a:endParaRPr lang="en-US" sz="1400" dirty="0"/>
          </a:p>
        </p:txBody>
      </p:sp>
      <p:sp>
        <p:nvSpPr>
          <p:cNvPr id="24" name="Shape 18"/>
          <p:cNvSpPr/>
          <p:nvPr/>
        </p:nvSpPr>
        <p:spPr>
          <a:xfrm>
            <a:off x="4480560" y="3886200"/>
            <a:ext cx="3520440" cy="1965960"/>
          </a:xfrm>
          <a:prstGeom prst="roundRect">
            <a:avLst>
              <a:gd name="adj" fmla="val 4651"/>
            </a:avLst>
          </a:prstGeom>
          <a:solidFill>
            <a:srgbClr val="F7F8FC"/>
          </a:solidFill>
          <a:ln/>
          <a:effectLst>
            <a:outerShdw blurRad="101600" dist="38100" dir="5400000" algn="bl" rotWithShape="0">
              <a:srgbClr val="1E2340">
                <a:alpha val="12000"/>
              </a:srgbClr>
            </a:outerShdw>
          </a:effectLst>
        </p:spPr>
      </p:sp>
      <p:sp>
        <p:nvSpPr>
          <p:cNvPr id="25" name="Shape 19"/>
          <p:cNvSpPr/>
          <p:nvPr/>
        </p:nvSpPr>
        <p:spPr>
          <a:xfrm>
            <a:off x="4709160" y="4114800"/>
            <a:ext cx="548640" cy="548640"/>
          </a:xfrm>
          <a:prstGeom prst="ellipse">
            <a:avLst/>
          </a:prstGeom>
          <a:solidFill>
            <a:srgbClr val="151A3D"/>
          </a:solidFill>
          <a:ln/>
        </p:spPr>
      </p:sp>
      <p:pic>
        <p:nvPicPr>
          <p:cNvPr id="26" name="Image 4" descr="/home/claude/genai_pptx/icons/database_teal.png"/>
          <p:cNvPicPr>
            <a:picLocks noChangeAspect="1"/>
          </p:cNvPicPr>
          <p:nvPr/>
        </p:nvPicPr>
        <p:blipFill>
          <a:blip r:embed="rId7"/>
          <a:stretch>
            <a:fillRect/>
          </a:stretch>
        </p:blipFill>
        <p:spPr>
          <a:xfrm>
            <a:off x="4818888" y="4224528"/>
            <a:ext cx="329184" cy="329184"/>
          </a:xfrm>
          <a:prstGeom prst="rect">
            <a:avLst/>
          </a:prstGeom>
        </p:spPr>
      </p:pic>
      <p:sp>
        <p:nvSpPr>
          <p:cNvPr id="27" name="Text 20"/>
          <p:cNvSpPr/>
          <p:nvPr/>
        </p:nvSpPr>
        <p:spPr>
          <a:xfrm>
            <a:off x="5394960" y="4142232"/>
            <a:ext cx="2423160" cy="457200"/>
          </a:xfrm>
          <a:prstGeom prst="rect">
            <a:avLst/>
          </a:prstGeom>
          <a:noFill/>
          <a:ln/>
        </p:spPr>
        <p:txBody>
          <a:bodyPr wrap="square" lIns="0" tIns="0" rIns="0" bIns="0" rtlCol="0" anchor="ctr"/>
          <a:lstStyle/>
          <a:p>
            <a:pPr marL="0" indent="0">
              <a:buNone/>
            </a:pPr>
            <a:r>
              <a:rPr lang="en-US" sz="1250" b="1" dirty="0">
                <a:solidFill>
                  <a:srgbClr val="1E2340"/>
                </a:solidFill>
                <a:latin typeface="Calibri" pitchFamily="34" charset="0"/>
                <a:ea typeface="Calibri" pitchFamily="34" charset="-122"/>
                <a:cs typeface="Calibri" pitchFamily="34" charset="-120"/>
              </a:rPr>
              <a:t>Education &amp; E-Learning</a:t>
            </a:r>
            <a:endParaRPr lang="en-US" sz="1250" dirty="0"/>
          </a:p>
        </p:txBody>
      </p:sp>
      <p:sp>
        <p:nvSpPr>
          <p:cNvPr id="28" name="Text 21"/>
          <p:cNvSpPr/>
          <p:nvPr/>
        </p:nvSpPr>
        <p:spPr>
          <a:xfrm>
            <a:off x="4709160" y="4754880"/>
            <a:ext cx="3063240" cy="1051560"/>
          </a:xfrm>
          <a:prstGeom prst="rect">
            <a:avLst/>
          </a:prstGeom>
          <a:noFill/>
          <a:ln/>
        </p:spPr>
        <p:txBody>
          <a:bodyPr wrap="square" lIns="0" tIns="0" rIns="0" bIns="0" rtlCol="0" anchor="ctr"/>
          <a:lstStyle/>
          <a:p>
            <a:pPr marL="0" indent="0">
              <a:lnSpc>
                <a:spcPct val="120000"/>
              </a:lnSpc>
              <a:buNone/>
            </a:pPr>
            <a:r>
              <a:rPr lang="en-US" sz="1400" dirty="0">
                <a:solidFill>
                  <a:srgbClr val="6B7280"/>
                </a:solidFill>
                <a:latin typeface="Calibri" pitchFamily="34" charset="0"/>
                <a:ea typeface="Calibri" pitchFamily="34" charset="-122"/>
                <a:cs typeface="Calibri" pitchFamily="34" charset="-120"/>
              </a:rPr>
              <a:t>Creates quizzes, notes, and personalized learning materials that support both students and teachers</a:t>
            </a:r>
            <a:endParaRPr lang="en-US" sz="1400" dirty="0"/>
          </a:p>
        </p:txBody>
      </p:sp>
      <p:sp>
        <p:nvSpPr>
          <p:cNvPr id="29" name="Shape 22"/>
          <p:cNvSpPr/>
          <p:nvPr/>
        </p:nvSpPr>
        <p:spPr>
          <a:xfrm>
            <a:off x="8321040" y="3886200"/>
            <a:ext cx="3520440" cy="1965960"/>
          </a:xfrm>
          <a:prstGeom prst="roundRect">
            <a:avLst>
              <a:gd name="adj" fmla="val 4651"/>
            </a:avLst>
          </a:prstGeom>
          <a:solidFill>
            <a:srgbClr val="F7F8FC"/>
          </a:solidFill>
          <a:ln/>
          <a:effectLst>
            <a:outerShdw blurRad="101600" dist="38100" dir="5400000" algn="bl" rotWithShape="0">
              <a:srgbClr val="1E2340">
                <a:alpha val="12000"/>
              </a:srgbClr>
            </a:outerShdw>
          </a:effectLst>
        </p:spPr>
      </p:sp>
      <p:sp>
        <p:nvSpPr>
          <p:cNvPr id="30" name="Shape 23"/>
          <p:cNvSpPr/>
          <p:nvPr/>
        </p:nvSpPr>
        <p:spPr>
          <a:xfrm>
            <a:off x="8549640" y="4114800"/>
            <a:ext cx="548640" cy="548640"/>
          </a:xfrm>
          <a:prstGeom prst="ellipse">
            <a:avLst/>
          </a:prstGeom>
          <a:solidFill>
            <a:srgbClr val="151A3D"/>
          </a:solidFill>
          <a:ln/>
        </p:spPr>
      </p:sp>
      <p:pic>
        <p:nvPicPr>
          <p:cNvPr id="31" name="Image 5" descr="/home/claude/genai_pptx/icons/users_teal.png"/>
          <p:cNvPicPr>
            <a:picLocks noChangeAspect="1"/>
          </p:cNvPicPr>
          <p:nvPr/>
        </p:nvPicPr>
        <p:blipFill>
          <a:blip r:embed="rId8"/>
          <a:stretch>
            <a:fillRect/>
          </a:stretch>
        </p:blipFill>
        <p:spPr>
          <a:xfrm>
            <a:off x="8659368" y="4224528"/>
            <a:ext cx="329184" cy="329184"/>
          </a:xfrm>
          <a:prstGeom prst="rect">
            <a:avLst/>
          </a:prstGeom>
        </p:spPr>
      </p:pic>
      <p:sp>
        <p:nvSpPr>
          <p:cNvPr id="32" name="Text 24"/>
          <p:cNvSpPr/>
          <p:nvPr/>
        </p:nvSpPr>
        <p:spPr>
          <a:xfrm>
            <a:off x="9235440" y="4142232"/>
            <a:ext cx="2423160" cy="457200"/>
          </a:xfrm>
          <a:prstGeom prst="rect">
            <a:avLst/>
          </a:prstGeom>
          <a:noFill/>
          <a:ln/>
        </p:spPr>
        <p:txBody>
          <a:bodyPr wrap="square" lIns="0" tIns="0" rIns="0" bIns="0" rtlCol="0" anchor="ctr"/>
          <a:lstStyle/>
          <a:p>
            <a:pPr marL="0" indent="0">
              <a:buNone/>
            </a:pPr>
            <a:r>
              <a:rPr lang="en-US" sz="1250" b="1" dirty="0">
                <a:solidFill>
                  <a:srgbClr val="1E2340"/>
                </a:solidFill>
                <a:latin typeface="Calibri" pitchFamily="34" charset="0"/>
                <a:ea typeface="Calibri" pitchFamily="34" charset="-122"/>
                <a:cs typeface="Calibri" pitchFamily="34" charset="-120"/>
              </a:rPr>
              <a:t>Cybersecurity</a:t>
            </a:r>
            <a:endParaRPr lang="en-US" sz="1250" dirty="0"/>
          </a:p>
        </p:txBody>
      </p:sp>
      <p:sp>
        <p:nvSpPr>
          <p:cNvPr id="33" name="Text 25"/>
          <p:cNvSpPr/>
          <p:nvPr/>
        </p:nvSpPr>
        <p:spPr>
          <a:xfrm>
            <a:off x="8549640" y="4754880"/>
            <a:ext cx="3063240" cy="1051560"/>
          </a:xfrm>
          <a:prstGeom prst="rect">
            <a:avLst/>
          </a:prstGeom>
          <a:noFill/>
          <a:ln/>
        </p:spPr>
        <p:txBody>
          <a:bodyPr wrap="square" lIns="0" tIns="0" rIns="0" bIns="0" rtlCol="0" anchor="ctr"/>
          <a:lstStyle/>
          <a:p>
            <a:pPr marL="0" indent="0">
              <a:lnSpc>
                <a:spcPct val="120000"/>
              </a:lnSpc>
              <a:buNone/>
            </a:pPr>
            <a:r>
              <a:rPr lang="en-US" sz="1400" dirty="0">
                <a:solidFill>
                  <a:srgbClr val="6B7280"/>
                </a:solidFill>
                <a:latin typeface="Calibri" pitchFamily="34" charset="0"/>
                <a:ea typeface="Calibri" pitchFamily="34" charset="-122"/>
                <a:cs typeface="Calibri" pitchFamily="34" charset="-120"/>
              </a:rPr>
              <a:t>Detects security threats and suspicious activity, and assists in responding to cyberattacks</a:t>
            </a:r>
            <a:endParaRPr lang="en-US" sz="1400" dirty="0"/>
          </a:p>
        </p:txBody>
      </p:sp>
      <p:sp>
        <p:nvSpPr>
          <p:cNvPr id="34" name="Text 26"/>
          <p:cNvSpPr/>
          <p:nvPr/>
        </p:nvSpPr>
        <p:spPr>
          <a:xfrm>
            <a:off x="457200" y="6473952"/>
            <a:ext cx="5486400" cy="274320"/>
          </a:xfrm>
          <a:prstGeom prst="rect">
            <a:avLst/>
          </a:prstGeom>
          <a:noFill/>
          <a:ln/>
        </p:spPr>
        <p:txBody>
          <a:bodyPr wrap="square" lIns="0" tIns="0" rIns="0" bIns="0" rtlCol="0" anchor="ctr"/>
          <a:lstStyle/>
          <a:p>
            <a:pPr marL="0" indent="0">
              <a:buNone/>
            </a:pPr>
            <a:r>
              <a:rPr lang="en-US" sz="1000" dirty="0">
                <a:solidFill>
                  <a:srgbClr val="6B7280"/>
                </a:solidFill>
                <a:latin typeface="Calibri" pitchFamily="34" charset="0"/>
                <a:ea typeface="Calibri" pitchFamily="34" charset="-122"/>
                <a:cs typeface="Calibri" pitchFamily="34" charset="-120"/>
              </a:rPr>
              <a:t>Generative AI and IS</a:t>
            </a:r>
            <a:endParaRPr lang="en-US" sz="1000" dirty="0"/>
          </a:p>
        </p:txBody>
      </p:sp>
      <p:sp>
        <p:nvSpPr>
          <p:cNvPr id="35" name="Text 27"/>
          <p:cNvSpPr/>
          <p:nvPr/>
        </p:nvSpPr>
        <p:spPr>
          <a:xfrm>
            <a:off x="11274552" y="6473952"/>
            <a:ext cx="457200" cy="274320"/>
          </a:xfrm>
          <a:prstGeom prst="rect">
            <a:avLst/>
          </a:prstGeom>
          <a:noFill/>
          <a:ln/>
        </p:spPr>
        <p:txBody>
          <a:bodyPr wrap="square" lIns="0" tIns="0" rIns="0" bIns="0" rtlCol="0" anchor="ctr"/>
          <a:lstStyle/>
          <a:p>
            <a:pPr marL="0" indent="0" algn="r">
              <a:buNone/>
            </a:pPr>
            <a:r>
              <a:rPr lang="en-US" sz="1000" dirty="0">
                <a:solidFill>
                  <a:srgbClr val="6B7280"/>
                </a:solidFill>
                <a:latin typeface="Calibri" pitchFamily="34" charset="0"/>
                <a:ea typeface="Calibri" pitchFamily="34" charset="-122"/>
                <a:cs typeface="Calibri" pitchFamily="34" charset="-120"/>
              </a:rPr>
              <a:t>9</a:t>
            </a:r>
            <a:endParaRPr lang="en-US" sz="10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640080" y="384048"/>
            <a:ext cx="7315200" cy="320040"/>
          </a:xfrm>
          <a:prstGeom prst="rect">
            <a:avLst/>
          </a:prstGeom>
          <a:noFill/>
          <a:ln/>
        </p:spPr>
        <p:txBody>
          <a:bodyPr wrap="square" lIns="0" tIns="0" rIns="0" bIns="0" rtlCol="0" anchor="ctr"/>
          <a:lstStyle/>
          <a:p>
            <a:pPr marL="0" indent="0">
              <a:buNone/>
            </a:pPr>
            <a:r>
              <a:rPr lang="en-US" sz="1300" b="1" kern="0" spc="200" dirty="0">
                <a:solidFill>
                  <a:srgbClr val="0F9B8E"/>
                </a:solidFill>
                <a:latin typeface="Calibri" pitchFamily="34" charset="0"/>
                <a:ea typeface="Calibri" pitchFamily="34" charset="-122"/>
                <a:cs typeface="Calibri" pitchFamily="34" charset="-120"/>
              </a:rPr>
              <a:t>4. BENEFITS AND OPPORTUNITIES</a:t>
            </a:r>
            <a:endParaRPr lang="en-US" sz="1300" dirty="0"/>
          </a:p>
        </p:txBody>
      </p:sp>
      <p:sp>
        <p:nvSpPr>
          <p:cNvPr id="3" name="Text 1"/>
          <p:cNvSpPr/>
          <p:nvPr/>
        </p:nvSpPr>
        <p:spPr>
          <a:xfrm>
            <a:off x="640080" y="685800"/>
            <a:ext cx="9601200" cy="731520"/>
          </a:xfrm>
          <a:prstGeom prst="rect">
            <a:avLst/>
          </a:prstGeom>
          <a:noFill/>
          <a:ln/>
        </p:spPr>
        <p:txBody>
          <a:bodyPr wrap="square" lIns="0" tIns="0" rIns="0" bIns="0" rtlCol="0" anchor="ctr"/>
          <a:lstStyle/>
          <a:p>
            <a:pPr marL="0" indent="0">
              <a:buNone/>
            </a:pPr>
            <a:r>
              <a:rPr lang="en-US" sz="3200" b="1" dirty="0">
                <a:solidFill>
                  <a:srgbClr val="1E2340"/>
                </a:solidFill>
                <a:latin typeface="Cambria" pitchFamily="34" charset="0"/>
                <a:ea typeface="Cambria" pitchFamily="34" charset="-122"/>
                <a:cs typeface="Cambria" pitchFamily="34" charset="-120"/>
              </a:rPr>
              <a:t>Why Organizations Are Investing</a:t>
            </a:r>
            <a:endParaRPr lang="en-US" sz="3200" dirty="0"/>
          </a:p>
        </p:txBody>
      </p:sp>
      <p:sp>
        <p:nvSpPr>
          <p:cNvPr id="4" name="Shape 2"/>
          <p:cNvSpPr/>
          <p:nvPr/>
        </p:nvSpPr>
        <p:spPr>
          <a:xfrm>
            <a:off x="640080" y="1691640"/>
            <a:ext cx="2514600" cy="3429000"/>
          </a:xfrm>
          <a:prstGeom prst="roundRect">
            <a:avLst>
              <a:gd name="adj" fmla="val 3636"/>
            </a:avLst>
          </a:prstGeom>
          <a:solidFill>
            <a:srgbClr val="F7F8FC"/>
          </a:solidFill>
          <a:ln/>
          <a:effectLst>
            <a:outerShdw blurRad="101600" dist="38100" dir="5400000" algn="bl" rotWithShape="0">
              <a:srgbClr val="1E2340">
                <a:alpha val="12000"/>
              </a:srgbClr>
            </a:outerShdw>
          </a:effectLst>
        </p:spPr>
      </p:sp>
      <p:sp>
        <p:nvSpPr>
          <p:cNvPr id="5" name="Shape 3"/>
          <p:cNvSpPr/>
          <p:nvPr/>
        </p:nvSpPr>
        <p:spPr>
          <a:xfrm>
            <a:off x="1577340" y="1965960"/>
            <a:ext cx="640080" cy="640080"/>
          </a:xfrm>
          <a:prstGeom prst="ellipse">
            <a:avLst/>
          </a:prstGeom>
          <a:solidFill>
            <a:srgbClr val="151A3D"/>
          </a:solidFill>
          <a:ln/>
        </p:spPr>
      </p:sp>
      <p:pic>
        <p:nvPicPr>
          <p:cNvPr id="6" name="Image 0" descr="/home/claude/genai_pptx/icons/clock_teal.png"/>
          <p:cNvPicPr>
            <a:picLocks noChangeAspect="1"/>
          </p:cNvPicPr>
          <p:nvPr/>
        </p:nvPicPr>
        <p:blipFill>
          <a:blip r:embed="rId3"/>
          <a:stretch>
            <a:fillRect/>
          </a:stretch>
        </p:blipFill>
        <p:spPr>
          <a:xfrm>
            <a:off x="1721358" y="2109978"/>
            <a:ext cx="352044" cy="352044"/>
          </a:xfrm>
          <a:prstGeom prst="rect">
            <a:avLst/>
          </a:prstGeom>
        </p:spPr>
      </p:pic>
      <p:sp>
        <p:nvSpPr>
          <p:cNvPr id="7" name="Text 4"/>
          <p:cNvSpPr/>
          <p:nvPr/>
        </p:nvSpPr>
        <p:spPr>
          <a:xfrm>
            <a:off x="822960" y="2807208"/>
            <a:ext cx="2148840" cy="548640"/>
          </a:xfrm>
          <a:prstGeom prst="rect">
            <a:avLst/>
          </a:prstGeom>
          <a:noFill/>
          <a:ln/>
        </p:spPr>
        <p:txBody>
          <a:bodyPr wrap="square" lIns="0" tIns="0" rIns="0" bIns="0" rtlCol="0" anchor="ctr"/>
          <a:lstStyle/>
          <a:p>
            <a:pPr marL="0" indent="0" algn="ctr">
              <a:buNone/>
            </a:pPr>
            <a:r>
              <a:rPr lang="en-US" sz="1250" b="1" dirty="0">
                <a:solidFill>
                  <a:srgbClr val="1E2340"/>
                </a:solidFill>
                <a:latin typeface="Calibri" pitchFamily="34" charset="0"/>
                <a:ea typeface="Calibri" pitchFamily="34" charset="-122"/>
                <a:cs typeface="Calibri" pitchFamily="34" charset="-120"/>
              </a:rPr>
              <a:t>Speed &amp; Efficiency</a:t>
            </a:r>
            <a:endParaRPr lang="en-US" sz="1250" dirty="0"/>
          </a:p>
        </p:txBody>
      </p:sp>
      <p:sp>
        <p:nvSpPr>
          <p:cNvPr id="8" name="Text 5"/>
          <p:cNvSpPr/>
          <p:nvPr/>
        </p:nvSpPr>
        <p:spPr>
          <a:xfrm>
            <a:off x="841248" y="3383280"/>
            <a:ext cx="2112264" cy="1600200"/>
          </a:xfrm>
          <a:prstGeom prst="rect">
            <a:avLst/>
          </a:prstGeom>
          <a:noFill/>
          <a:ln/>
        </p:spPr>
        <p:txBody>
          <a:bodyPr wrap="square" lIns="0" tIns="0" rIns="0" bIns="0" rtlCol="0" anchor="ctr"/>
          <a:lstStyle/>
          <a:p>
            <a:pPr marL="0" indent="0" algn="ctr">
              <a:lnSpc>
                <a:spcPct val="125000"/>
              </a:lnSpc>
              <a:buNone/>
            </a:pPr>
            <a:r>
              <a:rPr lang="en-US" sz="1400" dirty="0">
                <a:solidFill>
                  <a:srgbClr val="6B7280"/>
                </a:solidFill>
                <a:latin typeface="Calibri" pitchFamily="34" charset="0"/>
                <a:ea typeface="Calibri" pitchFamily="34" charset="-122"/>
                <a:cs typeface="Calibri" pitchFamily="34" charset="-120"/>
              </a:rPr>
              <a:t>Automates repetitive drafting, coding, and analysis tasks that once took hours, freeing employees to focus on judgment-driven work</a:t>
            </a:r>
            <a:endParaRPr lang="en-US" sz="1400" dirty="0"/>
          </a:p>
        </p:txBody>
      </p:sp>
      <p:sp>
        <p:nvSpPr>
          <p:cNvPr id="9" name="Shape 6"/>
          <p:cNvSpPr/>
          <p:nvPr/>
        </p:nvSpPr>
        <p:spPr>
          <a:xfrm>
            <a:off x="3474720" y="1691640"/>
            <a:ext cx="2514600" cy="3429000"/>
          </a:xfrm>
          <a:prstGeom prst="roundRect">
            <a:avLst>
              <a:gd name="adj" fmla="val 3636"/>
            </a:avLst>
          </a:prstGeom>
          <a:solidFill>
            <a:srgbClr val="F7F8FC"/>
          </a:solidFill>
          <a:ln/>
          <a:effectLst>
            <a:outerShdw blurRad="101600" dist="38100" dir="5400000" algn="bl" rotWithShape="0">
              <a:srgbClr val="1E2340">
                <a:alpha val="12000"/>
              </a:srgbClr>
            </a:outerShdw>
          </a:effectLst>
        </p:spPr>
      </p:sp>
      <p:sp>
        <p:nvSpPr>
          <p:cNvPr id="10" name="Shape 7"/>
          <p:cNvSpPr/>
          <p:nvPr/>
        </p:nvSpPr>
        <p:spPr>
          <a:xfrm>
            <a:off x="4411980" y="1965960"/>
            <a:ext cx="640080" cy="640080"/>
          </a:xfrm>
          <a:prstGeom prst="ellipse">
            <a:avLst/>
          </a:prstGeom>
          <a:solidFill>
            <a:srgbClr val="151A3D"/>
          </a:solidFill>
          <a:ln/>
        </p:spPr>
      </p:sp>
      <p:pic>
        <p:nvPicPr>
          <p:cNvPr id="11" name="Image 1" descr="/home/claude/genai_pptx/icons/moneybill_teal.png"/>
          <p:cNvPicPr>
            <a:picLocks noChangeAspect="1"/>
          </p:cNvPicPr>
          <p:nvPr/>
        </p:nvPicPr>
        <p:blipFill>
          <a:blip r:embed="rId4"/>
          <a:stretch>
            <a:fillRect/>
          </a:stretch>
        </p:blipFill>
        <p:spPr>
          <a:xfrm>
            <a:off x="4555998" y="2109978"/>
            <a:ext cx="352044" cy="352044"/>
          </a:xfrm>
          <a:prstGeom prst="rect">
            <a:avLst/>
          </a:prstGeom>
        </p:spPr>
      </p:pic>
      <p:sp>
        <p:nvSpPr>
          <p:cNvPr id="12" name="Text 8"/>
          <p:cNvSpPr/>
          <p:nvPr/>
        </p:nvSpPr>
        <p:spPr>
          <a:xfrm>
            <a:off x="3657600" y="2807208"/>
            <a:ext cx="2148840" cy="548640"/>
          </a:xfrm>
          <a:prstGeom prst="rect">
            <a:avLst/>
          </a:prstGeom>
          <a:noFill/>
          <a:ln/>
        </p:spPr>
        <p:txBody>
          <a:bodyPr wrap="square" lIns="0" tIns="0" rIns="0" bIns="0" rtlCol="0" anchor="ctr"/>
          <a:lstStyle/>
          <a:p>
            <a:pPr marL="0" indent="0" algn="ctr">
              <a:buNone/>
            </a:pPr>
            <a:r>
              <a:rPr lang="en-US" sz="1250" b="1" dirty="0">
                <a:solidFill>
                  <a:srgbClr val="1E2340"/>
                </a:solidFill>
                <a:latin typeface="Calibri" pitchFamily="34" charset="0"/>
                <a:ea typeface="Calibri" pitchFamily="34" charset="-122"/>
                <a:cs typeface="Calibri" pitchFamily="34" charset="-120"/>
              </a:rPr>
              <a:t>Cost Reduction</a:t>
            </a:r>
            <a:endParaRPr lang="en-US" sz="1250" dirty="0"/>
          </a:p>
        </p:txBody>
      </p:sp>
      <p:sp>
        <p:nvSpPr>
          <p:cNvPr id="13" name="Text 9"/>
          <p:cNvSpPr/>
          <p:nvPr/>
        </p:nvSpPr>
        <p:spPr>
          <a:xfrm>
            <a:off x="3675888" y="3383280"/>
            <a:ext cx="2112264" cy="1600200"/>
          </a:xfrm>
          <a:prstGeom prst="rect">
            <a:avLst/>
          </a:prstGeom>
          <a:noFill/>
          <a:ln/>
        </p:spPr>
        <p:txBody>
          <a:bodyPr wrap="square" lIns="0" tIns="0" rIns="0" bIns="0" rtlCol="0" anchor="ctr"/>
          <a:lstStyle/>
          <a:p>
            <a:pPr marL="0" indent="0" algn="ctr">
              <a:lnSpc>
                <a:spcPct val="125000"/>
              </a:lnSpc>
              <a:buNone/>
            </a:pPr>
            <a:r>
              <a:rPr lang="en-US" sz="1400" dirty="0">
                <a:solidFill>
                  <a:srgbClr val="6B7280"/>
                </a:solidFill>
                <a:latin typeface="Calibri" pitchFamily="34" charset="0"/>
                <a:ea typeface="Calibri" pitchFamily="34" charset="-122"/>
                <a:cs typeface="Calibri" pitchFamily="34" charset="-120"/>
              </a:rPr>
              <a:t>Lowers labor costs for content, support, and analysis functions by handling first-draft and routine work at machine speed</a:t>
            </a:r>
            <a:endParaRPr lang="en-US" sz="1400" dirty="0"/>
          </a:p>
        </p:txBody>
      </p:sp>
      <p:sp>
        <p:nvSpPr>
          <p:cNvPr id="14" name="Shape 10"/>
          <p:cNvSpPr/>
          <p:nvPr/>
        </p:nvSpPr>
        <p:spPr>
          <a:xfrm>
            <a:off x="6309360" y="1691640"/>
            <a:ext cx="2514600" cy="3429000"/>
          </a:xfrm>
          <a:prstGeom prst="roundRect">
            <a:avLst>
              <a:gd name="adj" fmla="val 3636"/>
            </a:avLst>
          </a:prstGeom>
          <a:solidFill>
            <a:srgbClr val="F7F8FC"/>
          </a:solidFill>
          <a:ln/>
          <a:effectLst>
            <a:outerShdw blurRad="101600" dist="38100" dir="5400000" algn="bl" rotWithShape="0">
              <a:srgbClr val="1E2340">
                <a:alpha val="12000"/>
              </a:srgbClr>
            </a:outerShdw>
          </a:effectLst>
        </p:spPr>
      </p:sp>
      <p:sp>
        <p:nvSpPr>
          <p:cNvPr id="15" name="Shape 11"/>
          <p:cNvSpPr/>
          <p:nvPr/>
        </p:nvSpPr>
        <p:spPr>
          <a:xfrm>
            <a:off x="7246620" y="1965960"/>
            <a:ext cx="640080" cy="640080"/>
          </a:xfrm>
          <a:prstGeom prst="ellipse">
            <a:avLst/>
          </a:prstGeom>
          <a:solidFill>
            <a:srgbClr val="151A3D"/>
          </a:solidFill>
          <a:ln/>
        </p:spPr>
      </p:sp>
      <p:pic>
        <p:nvPicPr>
          <p:cNvPr id="16" name="Image 2" descr="/home/claude/genai_pptx/icons/users_teal.png"/>
          <p:cNvPicPr>
            <a:picLocks noChangeAspect="1"/>
          </p:cNvPicPr>
          <p:nvPr/>
        </p:nvPicPr>
        <p:blipFill>
          <a:blip r:embed="rId5"/>
          <a:stretch>
            <a:fillRect/>
          </a:stretch>
        </p:blipFill>
        <p:spPr>
          <a:xfrm>
            <a:off x="7390638" y="2109978"/>
            <a:ext cx="352044" cy="352044"/>
          </a:xfrm>
          <a:prstGeom prst="rect">
            <a:avLst/>
          </a:prstGeom>
        </p:spPr>
      </p:pic>
      <p:sp>
        <p:nvSpPr>
          <p:cNvPr id="17" name="Text 12"/>
          <p:cNvSpPr/>
          <p:nvPr/>
        </p:nvSpPr>
        <p:spPr>
          <a:xfrm>
            <a:off x="6492240" y="2807208"/>
            <a:ext cx="2148840" cy="548640"/>
          </a:xfrm>
          <a:prstGeom prst="rect">
            <a:avLst/>
          </a:prstGeom>
          <a:noFill/>
          <a:ln/>
        </p:spPr>
        <p:txBody>
          <a:bodyPr wrap="square" lIns="0" tIns="0" rIns="0" bIns="0" rtlCol="0" anchor="ctr"/>
          <a:lstStyle/>
          <a:p>
            <a:pPr marL="0" indent="0" algn="ctr">
              <a:buNone/>
            </a:pPr>
            <a:r>
              <a:rPr lang="en-US" sz="1250" b="1" dirty="0">
                <a:solidFill>
                  <a:srgbClr val="1E2340"/>
                </a:solidFill>
                <a:latin typeface="Calibri" pitchFamily="34" charset="0"/>
                <a:ea typeface="Calibri" pitchFamily="34" charset="-122"/>
                <a:cs typeface="Calibri" pitchFamily="34" charset="-120"/>
              </a:rPr>
              <a:t>Personalization at Scale</a:t>
            </a:r>
            <a:endParaRPr lang="en-US" sz="1250" dirty="0"/>
          </a:p>
        </p:txBody>
      </p:sp>
      <p:sp>
        <p:nvSpPr>
          <p:cNvPr id="18" name="Text 13"/>
          <p:cNvSpPr/>
          <p:nvPr/>
        </p:nvSpPr>
        <p:spPr>
          <a:xfrm>
            <a:off x="6510528" y="3383280"/>
            <a:ext cx="2112264" cy="1600200"/>
          </a:xfrm>
          <a:prstGeom prst="rect">
            <a:avLst/>
          </a:prstGeom>
          <a:noFill/>
          <a:ln/>
        </p:spPr>
        <p:txBody>
          <a:bodyPr wrap="square" lIns="0" tIns="0" rIns="0" bIns="0" rtlCol="0" anchor="ctr"/>
          <a:lstStyle/>
          <a:p>
            <a:pPr marL="0" indent="0" algn="ctr">
              <a:lnSpc>
                <a:spcPct val="125000"/>
              </a:lnSpc>
              <a:buNone/>
            </a:pPr>
            <a:r>
              <a:rPr lang="en-US" sz="1400" dirty="0">
                <a:solidFill>
                  <a:srgbClr val="6B7280"/>
                </a:solidFill>
                <a:latin typeface="Calibri" pitchFamily="34" charset="0"/>
                <a:ea typeface="Calibri" pitchFamily="34" charset="-122"/>
                <a:cs typeface="Calibri" pitchFamily="34" charset="-120"/>
              </a:rPr>
              <a:t>Tailors messaging, recommendations, and support to each individual user, something manual processes cannot do cost-effectively</a:t>
            </a:r>
            <a:endParaRPr lang="en-US" sz="1400" dirty="0"/>
          </a:p>
        </p:txBody>
      </p:sp>
      <p:sp>
        <p:nvSpPr>
          <p:cNvPr id="19" name="Shape 14"/>
          <p:cNvSpPr/>
          <p:nvPr/>
        </p:nvSpPr>
        <p:spPr>
          <a:xfrm>
            <a:off x="9144000" y="1691640"/>
            <a:ext cx="2514600" cy="3429000"/>
          </a:xfrm>
          <a:prstGeom prst="roundRect">
            <a:avLst>
              <a:gd name="adj" fmla="val 3636"/>
            </a:avLst>
          </a:prstGeom>
          <a:solidFill>
            <a:srgbClr val="F7F8FC"/>
          </a:solidFill>
          <a:ln/>
          <a:effectLst>
            <a:outerShdw blurRad="101600" dist="38100" dir="5400000" algn="bl" rotWithShape="0">
              <a:srgbClr val="1E2340">
                <a:alpha val="12000"/>
              </a:srgbClr>
            </a:outerShdw>
          </a:effectLst>
        </p:spPr>
      </p:sp>
      <p:sp>
        <p:nvSpPr>
          <p:cNvPr id="20" name="Shape 15"/>
          <p:cNvSpPr/>
          <p:nvPr/>
        </p:nvSpPr>
        <p:spPr>
          <a:xfrm>
            <a:off x="10081260" y="1965960"/>
            <a:ext cx="640080" cy="640080"/>
          </a:xfrm>
          <a:prstGeom prst="ellipse">
            <a:avLst/>
          </a:prstGeom>
          <a:solidFill>
            <a:srgbClr val="151A3D"/>
          </a:solidFill>
          <a:ln/>
        </p:spPr>
      </p:sp>
      <p:pic>
        <p:nvPicPr>
          <p:cNvPr id="21" name="Image 3" descr="/home/claude/genai_pptx/icons/lightbulb_teal.png"/>
          <p:cNvPicPr>
            <a:picLocks noChangeAspect="1"/>
          </p:cNvPicPr>
          <p:nvPr/>
        </p:nvPicPr>
        <p:blipFill>
          <a:blip r:embed="rId6"/>
          <a:stretch>
            <a:fillRect/>
          </a:stretch>
        </p:blipFill>
        <p:spPr>
          <a:xfrm>
            <a:off x="10225278" y="2109978"/>
            <a:ext cx="352044" cy="352044"/>
          </a:xfrm>
          <a:prstGeom prst="rect">
            <a:avLst/>
          </a:prstGeom>
        </p:spPr>
      </p:pic>
      <p:sp>
        <p:nvSpPr>
          <p:cNvPr id="22" name="Text 16"/>
          <p:cNvSpPr/>
          <p:nvPr/>
        </p:nvSpPr>
        <p:spPr>
          <a:xfrm>
            <a:off x="9326880" y="2807208"/>
            <a:ext cx="2148840" cy="548640"/>
          </a:xfrm>
          <a:prstGeom prst="rect">
            <a:avLst/>
          </a:prstGeom>
          <a:noFill/>
          <a:ln/>
        </p:spPr>
        <p:txBody>
          <a:bodyPr wrap="square" lIns="0" tIns="0" rIns="0" bIns="0" rtlCol="0" anchor="ctr"/>
          <a:lstStyle/>
          <a:p>
            <a:pPr marL="0" indent="0" algn="ctr">
              <a:buNone/>
            </a:pPr>
            <a:r>
              <a:rPr lang="en-US" sz="1250" b="1" dirty="0">
                <a:solidFill>
                  <a:srgbClr val="1E2340"/>
                </a:solidFill>
                <a:latin typeface="Calibri" pitchFamily="34" charset="0"/>
                <a:ea typeface="Calibri" pitchFamily="34" charset="-122"/>
                <a:cs typeface="Calibri" pitchFamily="34" charset="-120"/>
              </a:rPr>
              <a:t>Innovation &amp; Creativity</a:t>
            </a:r>
            <a:endParaRPr lang="en-US" sz="1250" dirty="0"/>
          </a:p>
        </p:txBody>
      </p:sp>
      <p:sp>
        <p:nvSpPr>
          <p:cNvPr id="23" name="Text 17"/>
          <p:cNvSpPr/>
          <p:nvPr/>
        </p:nvSpPr>
        <p:spPr>
          <a:xfrm>
            <a:off x="9345168" y="3383280"/>
            <a:ext cx="2112264" cy="1600200"/>
          </a:xfrm>
          <a:prstGeom prst="rect">
            <a:avLst/>
          </a:prstGeom>
          <a:noFill/>
          <a:ln/>
        </p:spPr>
        <p:txBody>
          <a:bodyPr wrap="square" lIns="0" tIns="0" rIns="0" bIns="0" rtlCol="0" anchor="ctr"/>
          <a:lstStyle/>
          <a:p>
            <a:pPr marL="0" indent="0" algn="ctr">
              <a:lnSpc>
                <a:spcPct val="125000"/>
              </a:lnSpc>
              <a:buNone/>
            </a:pPr>
            <a:r>
              <a:rPr lang="en-US" sz="1400" dirty="0">
                <a:solidFill>
                  <a:srgbClr val="6B7280"/>
                </a:solidFill>
                <a:latin typeface="Calibri" pitchFamily="34" charset="0"/>
                <a:ea typeface="Calibri" pitchFamily="34" charset="-122"/>
                <a:cs typeface="Calibri" pitchFamily="34" charset="-120"/>
              </a:rPr>
              <a:t>Rapidly prototypes ideas, designs, and product concepts, shortening the cycle from concept to testable output</a:t>
            </a:r>
            <a:endParaRPr lang="en-US" sz="1400" dirty="0"/>
          </a:p>
        </p:txBody>
      </p:sp>
      <p:sp>
        <p:nvSpPr>
          <p:cNvPr id="24" name="Text 18"/>
          <p:cNvSpPr/>
          <p:nvPr/>
        </p:nvSpPr>
        <p:spPr>
          <a:xfrm>
            <a:off x="457200" y="6473952"/>
            <a:ext cx="5486400" cy="274320"/>
          </a:xfrm>
          <a:prstGeom prst="rect">
            <a:avLst/>
          </a:prstGeom>
          <a:noFill/>
          <a:ln/>
        </p:spPr>
        <p:txBody>
          <a:bodyPr wrap="square" lIns="0" tIns="0" rIns="0" bIns="0" rtlCol="0" anchor="ctr"/>
          <a:lstStyle/>
          <a:p>
            <a:pPr marL="0" indent="0">
              <a:buNone/>
            </a:pPr>
            <a:r>
              <a:rPr lang="en-US" sz="1000" dirty="0">
                <a:solidFill>
                  <a:srgbClr val="6B7280"/>
                </a:solidFill>
                <a:latin typeface="Calibri" pitchFamily="34" charset="0"/>
                <a:ea typeface="Calibri" pitchFamily="34" charset="-122"/>
                <a:cs typeface="Calibri" pitchFamily="34" charset="-120"/>
              </a:rPr>
              <a:t>Generative AI and IS</a:t>
            </a:r>
            <a:endParaRPr lang="en-US" sz="1000" dirty="0"/>
          </a:p>
        </p:txBody>
      </p:sp>
      <p:sp>
        <p:nvSpPr>
          <p:cNvPr id="25" name="Text 19"/>
          <p:cNvSpPr/>
          <p:nvPr/>
        </p:nvSpPr>
        <p:spPr>
          <a:xfrm>
            <a:off x="11274552" y="6473952"/>
            <a:ext cx="457200" cy="274320"/>
          </a:xfrm>
          <a:prstGeom prst="rect">
            <a:avLst/>
          </a:prstGeom>
          <a:noFill/>
          <a:ln/>
        </p:spPr>
        <p:txBody>
          <a:bodyPr wrap="square" lIns="0" tIns="0" rIns="0" bIns="0" rtlCol="0" anchor="ctr"/>
          <a:lstStyle/>
          <a:p>
            <a:pPr marL="0" indent="0" algn="r">
              <a:buNone/>
            </a:pPr>
            <a:r>
              <a:rPr lang="en-US" sz="1000" dirty="0">
                <a:solidFill>
                  <a:srgbClr val="6B7280"/>
                </a:solidFill>
                <a:latin typeface="Calibri" pitchFamily="34" charset="0"/>
                <a:ea typeface="Calibri" pitchFamily="34" charset="-122"/>
                <a:cs typeface="Calibri" pitchFamily="34" charset="-120"/>
              </a:rPr>
              <a:t>10</a:t>
            </a:r>
            <a:endParaRPr lang="en-US" sz="10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11">
    <p:bg>
      <p:bgPr>
        <a:solidFill>
          <a:srgbClr val="151A3D"/>
        </a:solidFill>
        <a:effectLst/>
      </p:bgPr>
    </p:bg>
    <p:spTree>
      <p:nvGrpSpPr>
        <p:cNvPr id="1" name=""/>
        <p:cNvGrpSpPr/>
        <p:nvPr/>
      </p:nvGrpSpPr>
      <p:grpSpPr>
        <a:xfrm>
          <a:off x="0" y="0"/>
          <a:ext cx="0" cy="0"/>
          <a:chOff x="0" y="0"/>
          <a:chExt cx="0" cy="0"/>
        </a:xfrm>
      </p:grpSpPr>
      <p:sp>
        <p:nvSpPr>
          <p:cNvPr id="2" name="Text 0"/>
          <p:cNvSpPr/>
          <p:nvPr/>
        </p:nvSpPr>
        <p:spPr>
          <a:xfrm>
            <a:off x="640080" y="384048"/>
            <a:ext cx="7315200" cy="320040"/>
          </a:xfrm>
          <a:prstGeom prst="rect">
            <a:avLst/>
          </a:prstGeom>
          <a:noFill/>
          <a:ln/>
        </p:spPr>
        <p:txBody>
          <a:bodyPr wrap="square" lIns="0" tIns="0" rIns="0" bIns="0" rtlCol="0" anchor="ctr"/>
          <a:lstStyle/>
          <a:p>
            <a:pPr marL="0" indent="0">
              <a:buNone/>
            </a:pPr>
            <a:r>
              <a:rPr lang="en-US" sz="1300" b="1" kern="0" spc="200" dirty="0">
                <a:solidFill>
                  <a:srgbClr val="2DD4BF"/>
                </a:solidFill>
                <a:latin typeface="Calibri" pitchFamily="34" charset="0"/>
                <a:ea typeface="Calibri" pitchFamily="34" charset="-122"/>
                <a:cs typeface="Calibri" pitchFamily="34" charset="-120"/>
              </a:rPr>
              <a:t>4. BENEFITS AND OPPORTUNITIES</a:t>
            </a:r>
            <a:endParaRPr lang="en-US" sz="1300" dirty="0"/>
          </a:p>
        </p:txBody>
      </p:sp>
      <p:sp>
        <p:nvSpPr>
          <p:cNvPr id="3" name="Text 1"/>
          <p:cNvSpPr/>
          <p:nvPr/>
        </p:nvSpPr>
        <p:spPr>
          <a:xfrm>
            <a:off x="640080" y="685800"/>
            <a:ext cx="9601200" cy="731520"/>
          </a:xfrm>
          <a:prstGeom prst="rect">
            <a:avLst/>
          </a:prstGeom>
          <a:noFill/>
          <a:ln/>
        </p:spPr>
        <p:txBody>
          <a:bodyPr wrap="square" lIns="0" tIns="0" rIns="0" bIns="0" rtlCol="0" anchor="ctr"/>
          <a:lstStyle/>
          <a:p>
            <a:pPr marL="0" indent="0">
              <a:buNone/>
            </a:pPr>
            <a:r>
              <a:rPr lang="en-US" sz="3200" b="1" dirty="0">
                <a:solidFill>
                  <a:srgbClr val="FFFFFF"/>
                </a:solidFill>
                <a:latin typeface="Cambria" pitchFamily="34" charset="0"/>
                <a:ea typeface="Cambria" pitchFamily="34" charset="-122"/>
                <a:cs typeface="Cambria" pitchFamily="34" charset="-120"/>
              </a:rPr>
              <a:t>Measured Business Impact</a:t>
            </a:r>
            <a:endParaRPr lang="en-US" sz="3200" dirty="0"/>
          </a:p>
        </p:txBody>
      </p:sp>
      <p:sp>
        <p:nvSpPr>
          <p:cNvPr id="4" name="Shape 2"/>
          <p:cNvSpPr/>
          <p:nvPr/>
        </p:nvSpPr>
        <p:spPr>
          <a:xfrm>
            <a:off x="640080" y="1920240"/>
            <a:ext cx="2514600" cy="2651760"/>
          </a:xfrm>
          <a:prstGeom prst="roundRect">
            <a:avLst>
              <a:gd name="adj" fmla="val 3636"/>
            </a:avLst>
          </a:prstGeom>
          <a:solidFill>
            <a:srgbClr val="1E2555"/>
          </a:solidFill>
          <a:ln/>
        </p:spPr>
      </p:sp>
      <p:sp>
        <p:nvSpPr>
          <p:cNvPr id="5" name="Text 3"/>
          <p:cNvSpPr/>
          <p:nvPr/>
        </p:nvSpPr>
        <p:spPr>
          <a:xfrm>
            <a:off x="777240" y="2286000"/>
            <a:ext cx="2240280" cy="822960"/>
          </a:xfrm>
          <a:prstGeom prst="rect">
            <a:avLst/>
          </a:prstGeom>
          <a:noFill/>
          <a:ln/>
        </p:spPr>
        <p:txBody>
          <a:bodyPr wrap="square" lIns="0" tIns="0" rIns="0" bIns="0" rtlCol="0" anchor="ctr"/>
          <a:lstStyle/>
          <a:p>
            <a:pPr marL="0" indent="0" algn="ctr">
              <a:buNone/>
            </a:pPr>
            <a:r>
              <a:rPr lang="en-US" sz="3400" b="1" dirty="0">
                <a:solidFill>
                  <a:srgbClr val="2DD4BF"/>
                </a:solidFill>
                <a:latin typeface="Cambria" pitchFamily="34" charset="0"/>
                <a:ea typeface="Cambria" pitchFamily="34" charset="-122"/>
                <a:cs typeface="Cambria" pitchFamily="34" charset="-120"/>
              </a:rPr>
              <a:t>30–40%</a:t>
            </a:r>
            <a:endParaRPr lang="en-US" sz="3400" dirty="0"/>
          </a:p>
        </p:txBody>
      </p:sp>
      <p:sp>
        <p:nvSpPr>
          <p:cNvPr id="6" name="Text 4"/>
          <p:cNvSpPr/>
          <p:nvPr/>
        </p:nvSpPr>
        <p:spPr>
          <a:xfrm>
            <a:off x="868680" y="3291840"/>
            <a:ext cx="2057400" cy="1097280"/>
          </a:xfrm>
          <a:prstGeom prst="rect">
            <a:avLst/>
          </a:prstGeom>
          <a:noFill/>
          <a:ln/>
        </p:spPr>
        <p:txBody>
          <a:bodyPr wrap="square" lIns="0" tIns="0" rIns="0" bIns="0" rtlCol="0" anchor="ctr"/>
          <a:lstStyle/>
          <a:p>
            <a:pPr marL="0" indent="0" algn="ctr">
              <a:lnSpc>
                <a:spcPct val="120000"/>
              </a:lnSpc>
              <a:buNone/>
            </a:pPr>
            <a:r>
              <a:rPr lang="en-US" sz="1050" dirty="0">
                <a:solidFill>
                  <a:srgbClr val="D6DAF1"/>
                </a:solidFill>
                <a:latin typeface="Calibri" pitchFamily="34" charset="0"/>
                <a:ea typeface="Calibri" pitchFamily="34" charset="-122"/>
                <a:cs typeface="Calibri" pitchFamily="34" charset="-120"/>
              </a:rPr>
              <a:t>Faster content &amp; report creation for early adopters</a:t>
            </a:r>
            <a:endParaRPr lang="en-US" sz="1050" dirty="0"/>
          </a:p>
        </p:txBody>
      </p:sp>
      <p:sp>
        <p:nvSpPr>
          <p:cNvPr id="7" name="Shape 5"/>
          <p:cNvSpPr/>
          <p:nvPr/>
        </p:nvSpPr>
        <p:spPr>
          <a:xfrm>
            <a:off x="3474720" y="1920240"/>
            <a:ext cx="2514600" cy="2651760"/>
          </a:xfrm>
          <a:prstGeom prst="roundRect">
            <a:avLst>
              <a:gd name="adj" fmla="val 3636"/>
            </a:avLst>
          </a:prstGeom>
          <a:solidFill>
            <a:srgbClr val="1E2555"/>
          </a:solidFill>
          <a:ln/>
        </p:spPr>
      </p:sp>
      <p:sp>
        <p:nvSpPr>
          <p:cNvPr id="8" name="Text 6"/>
          <p:cNvSpPr/>
          <p:nvPr/>
        </p:nvSpPr>
        <p:spPr>
          <a:xfrm>
            <a:off x="3611880" y="2286000"/>
            <a:ext cx="2240280" cy="822960"/>
          </a:xfrm>
          <a:prstGeom prst="rect">
            <a:avLst/>
          </a:prstGeom>
          <a:noFill/>
          <a:ln/>
        </p:spPr>
        <p:txBody>
          <a:bodyPr wrap="square" lIns="0" tIns="0" rIns="0" bIns="0" rtlCol="0" anchor="ctr"/>
          <a:lstStyle/>
          <a:p>
            <a:pPr marL="0" indent="0" algn="ctr">
              <a:buNone/>
            </a:pPr>
            <a:r>
              <a:rPr lang="en-US" sz="3400" b="1" dirty="0">
                <a:solidFill>
                  <a:srgbClr val="2DD4BF"/>
                </a:solidFill>
                <a:latin typeface="Cambria" pitchFamily="34" charset="0"/>
                <a:ea typeface="Cambria" pitchFamily="34" charset="-122"/>
                <a:cs typeface="Cambria" pitchFamily="34" charset="-120"/>
              </a:rPr>
              <a:t>2–3x</a:t>
            </a:r>
            <a:endParaRPr lang="en-US" sz="3400" dirty="0"/>
          </a:p>
        </p:txBody>
      </p:sp>
      <p:sp>
        <p:nvSpPr>
          <p:cNvPr id="9" name="Text 7"/>
          <p:cNvSpPr/>
          <p:nvPr/>
        </p:nvSpPr>
        <p:spPr>
          <a:xfrm>
            <a:off x="3703320" y="3291840"/>
            <a:ext cx="2057400" cy="1097280"/>
          </a:xfrm>
          <a:prstGeom prst="rect">
            <a:avLst/>
          </a:prstGeom>
          <a:noFill/>
          <a:ln/>
        </p:spPr>
        <p:txBody>
          <a:bodyPr wrap="square" lIns="0" tIns="0" rIns="0" bIns="0" rtlCol="0" anchor="ctr"/>
          <a:lstStyle/>
          <a:p>
            <a:pPr marL="0" indent="0" algn="ctr">
              <a:lnSpc>
                <a:spcPct val="120000"/>
              </a:lnSpc>
              <a:buNone/>
            </a:pPr>
            <a:r>
              <a:rPr lang="en-US" sz="1050" dirty="0">
                <a:solidFill>
                  <a:srgbClr val="D6DAF1"/>
                </a:solidFill>
                <a:latin typeface="Calibri" pitchFamily="34" charset="0"/>
                <a:ea typeface="Calibri" pitchFamily="34" charset="-122"/>
                <a:cs typeface="Calibri" pitchFamily="34" charset="-120"/>
              </a:rPr>
              <a:t>Increase in developer productivity with AI coding tools</a:t>
            </a:r>
            <a:endParaRPr lang="en-US" sz="1050" dirty="0"/>
          </a:p>
        </p:txBody>
      </p:sp>
      <p:sp>
        <p:nvSpPr>
          <p:cNvPr id="10" name="Shape 8"/>
          <p:cNvSpPr/>
          <p:nvPr/>
        </p:nvSpPr>
        <p:spPr>
          <a:xfrm>
            <a:off x="6309360" y="1920240"/>
            <a:ext cx="2514600" cy="2651760"/>
          </a:xfrm>
          <a:prstGeom prst="roundRect">
            <a:avLst>
              <a:gd name="adj" fmla="val 3636"/>
            </a:avLst>
          </a:prstGeom>
          <a:solidFill>
            <a:srgbClr val="1E2555"/>
          </a:solidFill>
          <a:ln/>
        </p:spPr>
      </p:sp>
      <p:sp>
        <p:nvSpPr>
          <p:cNvPr id="11" name="Text 9"/>
          <p:cNvSpPr/>
          <p:nvPr/>
        </p:nvSpPr>
        <p:spPr>
          <a:xfrm>
            <a:off x="6446520" y="2286000"/>
            <a:ext cx="2240280" cy="822960"/>
          </a:xfrm>
          <a:prstGeom prst="rect">
            <a:avLst/>
          </a:prstGeom>
          <a:noFill/>
          <a:ln/>
        </p:spPr>
        <p:txBody>
          <a:bodyPr wrap="square" lIns="0" tIns="0" rIns="0" bIns="0" rtlCol="0" anchor="ctr"/>
          <a:lstStyle/>
          <a:p>
            <a:pPr marL="0" indent="0" algn="ctr">
              <a:buNone/>
            </a:pPr>
            <a:r>
              <a:rPr lang="en-US" sz="3400" b="1" dirty="0">
                <a:solidFill>
                  <a:srgbClr val="2DD4BF"/>
                </a:solidFill>
                <a:latin typeface="Cambria" pitchFamily="34" charset="0"/>
                <a:ea typeface="Cambria" pitchFamily="34" charset="-122"/>
                <a:cs typeface="Cambria" pitchFamily="34" charset="-120"/>
              </a:rPr>
              <a:t>24/7</a:t>
            </a:r>
            <a:endParaRPr lang="en-US" sz="3400" dirty="0"/>
          </a:p>
        </p:txBody>
      </p:sp>
      <p:sp>
        <p:nvSpPr>
          <p:cNvPr id="12" name="Text 10"/>
          <p:cNvSpPr/>
          <p:nvPr/>
        </p:nvSpPr>
        <p:spPr>
          <a:xfrm>
            <a:off x="6537960" y="3291840"/>
            <a:ext cx="2057400" cy="1097280"/>
          </a:xfrm>
          <a:prstGeom prst="rect">
            <a:avLst/>
          </a:prstGeom>
          <a:noFill/>
          <a:ln/>
        </p:spPr>
        <p:txBody>
          <a:bodyPr wrap="square" lIns="0" tIns="0" rIns="0" bIns="0" rtlCol="0" anchor="ctr"/>
          <a:lstStyle/>
          <a:p>
            <a:pPr marL="0" indent="0" algn="ctr">
              <a:lnSpc>
                <a:spcPct val="120000"/>
              </a:lnSpc>
              <a:buNone/>
            </a:pPr>
            <a:r>
              <a:rPr lang="en-US" sz="1050" dirty="0">
                <a:solidFill>
                  <a:srgbClr val="D6DAF1"/>
                </a:solidFill>
                <a:latin typeface="Calibri" pitchFamily="34" charset="0"/>
                <a:ea typeface="Calibri" pitchFamily="34" charset="-122"/>
                <a:cs typeface="Calibri" pitchFamily="34" charset="-120"/>
              </a:rPr>
              <a:t>Availability of AI-driven customer support</a:t>
            </a:r>
            <a:endParaRPr lang="en-US" sz="1050" dirty="0"/>
          </a:p>
        </p:txBody>
      </p:sp>
      <p:sp>
        <p:nvSpPr>
          <p:cNvPr id="13" name="Shape 11"/>
          <p:cNvSpPr/>
          <p:nvPr/>
        </p:nvSpPr>
        <p:spPr>
          <a:xfrm>
            <a:off x="9144000" y="1920240"/>
            <a:ext cx="2514600" cy="2651760"/>
          </a:xfrm>
          <a:prstGeom prst="roundRect">
            <a:avLst>
              <a:gd name="adj" fmla="val 3636"/>
            </a:avLst>
          </a:prstGeom>
          <a:solidFill>
            <a:srgbClr val="1E2555"/>
          </a:solidFill>
          <a:ln/>
        </p:spPr>
      </p:sp>
      <p:sp>
        <p:nvSpPr>
          <p:cNvPr id="14" name="Text 12"/>
          <p:cNvSpPr/>
          <p:nvPr/>
        </p:nvSpPr>
        <p:spPr>
          <a:xfrm>
            <a:off x="9281160" y="2286000"/>
            <a:ext cx="2240280" cy="822960"/>
          </a:xfrm>
          <a:prstGeom prst="rect">
            <a:avLst/>
          </a:prstGeom>
          <a:noFill/>
          <a:ln/>
        </p:spPr>
        <p:txBody>
          <a:bodyPr wrap="square" lIns="0" tIns="0" rIns="0" bIns="0" rtlCol="0" anchor="ctr"/>
          <a:lstStyle/>
          <a:p>
            <a:pPr marL="0" indent="0" algn="ctr">
              <a:buNone/>
            </a:pPr>
            <a:r>
              <a:rPr lang="en-US" sz="3400" b="1" dirty="0">
                <a:solidFill>
                  <a:srgbClr val="2DD4BF"/>
                </a:solidFill>
                <a:latin typeface="Cambria" pitchFamily="34" charset="0"/>
                <a:ea typeface="Cambria" pitchFamily="34" charset="-122"/>
                <a:cs typeface="Cambria" pitchFamily="34" charset="-120"/>
              </a:rPr>
              <a:t>↑ CSAT</a:t>
            </a:r>
            <a:endParaRPr lang="en-US" sz="3400" dirty="0"/>
          </a:p>
        </p:txBody>
      </p:sp>
      <p:sp>
        <p:nvSpPr>
          <p:cNvPr id="15" name="Text 13"/>
          <p:cNvSpPr/>
          <p:nvPr/>
        </p:nvSpPr>
        <p:spPr>
          <a:xfrm>
            <a:off x="9372600" y="3291840"/>
            <a:ext cx="2057400" cy="1097280"/>
          </a:xfrm>
          <a:prstGeom prst="rect">
            <a:avLst/>
          </a:prstGeom>
          <a:noFill/>
          <a:ln/>
        </p:spPr>
        <p:txBody>
          <a:bodyPr wrap="square" lIns="0" tIns="0" rIns="0" bIns="0" rtlCol="0" anchor="ctr"/>
          <a:lstStyle/>
          <a:p>
            <a:pPr marL="0" indent="0" algn="ctr">
              <a:lnSpc>
                <a:spcPct val="120000"/>
              </a:lnSpc>
              <a:buNone/>
            </a:pPr>
            <a:r>
              <a:rPr lang="en-US" sz="1050" dirty="0">
                <a:solidFill>
                  <a:srgbClr val="D6DAF1"/>
                </a:solidFill>
                <a:latin typeface="Calibri" pitchFamily="34" charset="0"/>
                <a:ea typeface="Calibri" pitchFamily="34" charset="-122"/>
                <a:cs typeface="Calibri" pitchFamily="34" charset="-120"/>
              </a:rPr>
              <a:t>Higher satisfaction from faster, personalized responses</a:t>
            </a:r>
            <a:endParaRPr lang="en-US" sz="1050" dirty="0"/>
          </a:p>
        </p:txBody>
      </p:sp>
      <p:sp>
        <p:nvSpPr>
          <p:cNvPr id="16" name="Text 14"/>
          <p:cNvSpPr/>
          <p:nvPr/>
        </p:nvSpPr>
        <p:spPr>
          <a:xfrm>
            <a:off x="640080" y="4800600"/>
            <a:ext cx="10881360" cy="365760"/>
          </a:xfrm>
          <a:prstGeom prst="rect">
            <a:avLst/>
          </a:prstGeom>
          <a:noFill/>
          <a:ln/>
        </p:spPr>
        <p:txBody>
          <a:bodyPr wrap="square" lIns="0" tIns="0" rIns="0" bIns="0" rtlCol="0" anchor="ctr"/>
          <a:lstStyle/>
          <a:p>
            <a:pPr marL="0" indent="0">
              <a:buNone/>
            </a:pPr>
            <a:r>
              <a:rPr lang="en-US" sz="950" i="1" dirty="0">
                <a:solidFill>
                  <a:srgbClr val="8B92C2"/>
                </a:solidFill>
                <a:latin typeface="Calibri" pitchFamily="34" charset="0"/>
                <a:ea typeface="Calibri" pitchFamily="34" charset="-122"/>
                <a:cs typeface="Calibri" pitchFamily="34" charset="-120"/>
              </a:rPr>
              <a:t>Figures are illustrative, directional estimates commonly cited in industry adoption studies.</a:t>
            </a:r>
            <a:endParaRPr lang="en-US" sz="950" dirty="0"/>
          </a:p>
        </p:txBody>
      </p:sp>
      <p:sp>
        <p:nvSpPr>
          <p:cNvPr id="17" name="Text 15"/>
          <p:cNvSpPr/>
          <p:nvPr/>
        </p:nvSpPr>
        <p:spPr>
          <a:xfrm>
            <a:off x="457200" y="6473952"/>
            <a:ext cx="5486400" cy="274320"/>
          </a:xfrm>
          <a:prstGeom prst="rect">
            <a:avLst/>
          </a:prstGeom>
          <a:noFill/>
          <a:ln/>
        </p:spPr>
        <p:txBody>
          <a:bodyPr wrap="square" lIns="0" tIns="0" rIns="0" bIns="0" rtlCol="0" anchor="ctr"/>
          <a:lstStyle/>
          <a:p>
            <a:pPr marL="0" indent="0">
              <a:buNone/>
            </a:pPr>
            <a:r>
              <a:rPr lang="en-US" sz="1000" dirty="0">
                <a:solidFill>
                  <a:srgbClr val="6B7280"/>
                </a:solidFill>
                <a:latin typeface="Calibri" pitchFamily="34" charset="0"/>
                <a:ea typeface="Calibri" pitchFamily="34" charset="-122"/>
                <a:cs typeface="Calibri" pitchFamily="34" charset="-120"/>
              </a:rPr>
              <a:t>Generative AI and IS</a:t>
            </a:r>
            <a:endParaRPr lang="en-US" sz="1000" dirty="0"/>
          </a:p>
        </p:txBody>
      </p:sp>
      <p:sp>
        <p:nvSpPr>
          <p:cNvPr id="18" name="Text 16"/>
          <p:cNvSpPr/>
          <p:nvPr/>
        </p:nvSpPr>
        <p:spPr>
          <a:xfrm>
            <a:off x="11274552" y="6473952"/>
            <a:ext cx="457200" cy="274320"/>
          </a:xfrm>
          <a:prstGeom prst="rect">
            <a:avLst/>
          </a:prstGeom>
          <a:noFill/>
          <a:ln/>
        </p:spPr>
        <p:txBody>
          <a:bodyPr wrap="square" lIns="0" tIns="0" rIns="0" bIns="0" rtlCol="0" anchor="ctr"/>
          <a:lstStyle/>
          <a:p>
            <a:pPr marL="0" indent="0" algn="r">
              <a:buNone/>
            </a:pPr>
            <a:r>
              <a:rPr lang="en-US" sz="1000" dirty="0">
                <a:solidFill>
                  <a:srgbClr val="6B7280"/>
                </a:solidFill>
                <a:latin typeface="Calibri" pitchFamily="34" charset="0"/>
                <a:ea typeface="Calibri" pitchFamily="34" charset="-122"/>
                <a:cs typeface="Calibri" pitchFamily="34" charset="-120"/>
              </a:rPr>
              <a:t>11</a:t>
            </a:r>
            <a:endParaRPr lang="en-US" sz="10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640080" y="384048"/>
            <a:ext cx="7315200" cy="320040"/>
          </a:xfrm>
          <a:prstGeom prst="rect">
            <a:avLst/>
          </a:prstGeom>
          <a:noFill/>
          <a:ln/>
        </p:spPr>
        <p:txBody>
          <a:bodyPr wrap="square" lIns="0" tIns="0" rIns="0" bIns="0" rtlCol="0" anchor="ctr"/>
          <a:lstStyle/>
          <a:p>
            <a:pPr marL="0" indent="0">
              <a:buNone/>
            </a:pPr>
            <a:r>
              <a:rPr lang="en-US" sz="1300" b="1" kern="0" spc="200" dirty="0">
                <a:solidFill>
                  <a:srgbClr val="C2410C"/>
                </a:solidFill>
                <a:latin typeface="Calibri" pitchFamily="34" charset="0"/>
                <a:ea typeface="Calibri" pitchFamily="34" charset="-122"/>
                <a:cs typeface="Calibri" pitchFamily="34" charset="-120"/>
              </a:rPr>
              <a:t>5. RISKS, CHALLENGES &amp; ETHICAL ISSUES</a:t>
            </a:r>
            <a:endParaRPr lang="en-US" sz="1300" dirty="0"/>
          </a:p>
        </p:txBody>
      </p:sp>
      <p:sp>
        <p:nvSpPr>
          <p:cNvPr id="3" name="Text 1"/>
          <p:cNvSpPr/>
          <p:nvPr/>
        </p:nvSpPr>
        <p:spPr>
          <a:xfrm>
            <a:off x="640080" y="685800"/>
            <a:ext cx="9601200" cy="731520"/>
          </a:xfrm>
          <a:prstGeom prst="rect">
            <a:avLst/>
          </a:prstGeom>
          <a:noFill/>
          <a:ln/>
        </p:spPr>
        <p:txBody>
          <a:bodyPr wrap="square" lIns="0" tIns="0" rIns="0" bIns="0" rtlCol="0" anchor="ctr"/>
          <a:lstStyle/>
          <a:p>
            <a:pPr marL="0" indent="0">
              <a:buNone/>
            </a:pPr>
            <a:r>
              <a:rPr lang="en-US" sz="3200" b="1" dirty="0">
                <a:solidFill>
                  <a:srgbClr val="1E2340"/>
                </a:solidFill>
                <a:latin typeface="Cambria" pitchFamily="34" charset="0"/>
                <a:ea typeface="Cambria" pitchFamily="34" charset="-122"/>
                <a:cs typeface="Cambria" pitchFamily="34" charset="-120"/>
              </a:rPr>
              <a:t>Technical Risks to Manage</a:t>
            </a:r>
            <a:endParaRPr lang="en-US" sz="3200" dirty="0"/>
          </a:p>
        </p:txBody>
      </p:sp>
      <p:sp>
        <p:nvSpPr>
          <p:cNvPr id="4" name="Shape 2"/>
          <p:cNvSpPr/>
          <p:nvPr/>
        </p:nvSpPr>
        <p:spPr>
          <a:xfrm>
            <a:off x="640080" y="1645920"/>
            <a:ext cx="3520440" cy="2880360"/>
          </a:xfrm>
          <a:prstGeom prst="roundRect">
            <a:avLst>
              <a:gd name="adj" fmla="val 3175"/>
            </a:avLst>
          </a:prstGeom>
          <a:solidFill>
            <a:srgbClr val="F7F8FC"/>
          </a:solidFill>
          <a:ln/>
          <a:effectLst>
            <a:outerShdw blurRad="101600" dist="38100" dir="5400000" algn="bl" rotWithShape="0">
              <a:srgbClr val="1E2340">
                <a:alpha val="12000"/>
              </a:srgbClr>
            </a:outerShdw>
          </a:effectLst>
        </p:spPr>
      </p:sp>
      <p:sp>
        <p:nvSpPr>
          <p:cNvPr id="5" name="Shape 3"/>
          <p:cNvSpPr/>
          <p:nvPr/>
        </p:nvSpPr>
        <p:spPr>
          <a:xfrm>
            <a:off x="914400" y="1901952"/>
            <a:ext cx="566928" cy="566928"/>
          </a:xfrm>
          <a:prstGeom prst="ellipse">
            <a:avLst/>
          </a:prstGeom>
          <a:solidFill>
            <a:srgbClr val="7C2D12"/>
          </a:solidFill>
          <a:ln/>
        </p:spPr>
      </p:sp>
      <p:pic>
        <p:nvPicPr>
          <p:cNvPr id="6" name="Image 0" descr="/home/claude/genai_pptx/icons/warning_teal.png"/>
          <p:cNvPicPr>
            <a:picLocks noChangeAspect="1"/>
          </p:cNvPicPr>
          <p:nvPr/>
        </p:nvPicPr>
        <p:blipFill>
          <a:blip r:embed="rId3"/>
          <a:stretch>
            <a:fillRect/>
          </a:stretch>
        </p:blipFill>
        <p:spPr>
          <a:xfrm>
            <a:off x="1027786" y="2015338"/>
            <a:ext cx="340157" cy="340157"/>
          </a:xfrm>
          <a:prstGeom prst="rect">
            <a:avLst/>
          </a:prstGeom>
        </p:spPr>
      </p:pic>
      <p:sp>
        <p:nvSpPr>
          <p:cNvPr id="7" name="Text 4"/>
          <p:cNvSpPr/>
          <p:nvPr/>
        </p:nvSpPr>
        <p:spPr>
          <a:xfrm>
            <a:off x="914400" y="2606040"/>
            <a:ext cx="2971800" cy="411480"/>
          </a:xfrm>
          <a:prstGeom prst="rect">
            <a:avLst/>
          </a:prstGeom>
          <a:noFill/>
          <a:ln/>
        </p:spPr>
        <p:txBody>
          <a:bodyPr wrap="square" lIns="0" tIns="0" rIns="0" bIns="0" rtlCol="0" anchor="ctr"/>
          <a:lstStyle/>
          <a:p>
            <a:pPr marL="0" indent="0">
              <a:buNone/>
            </a:pPr>
            <a:r>
              <a:rPr lang="en-US" sz="1400" b="1" dirty="0">
                <a:solidFill>
                  <a:srgbClr val="1E2340"/>
                </a:solidFill>
                <a:latin typeface="Calibri" pitchFamily="34" charset="0"/>
                <a:ea typeface="Calibri" pitchFamily="34" charset="-122"/>
                <a:cs typeface="Calibri" pitchFamily="34" charset="-120"/>
              </a:rPr>
              <a:t>Hallucination</a:t>
            </a:r>
            <a:endParaRPr lang="en-US" sz="1400" dirty="0"/>
          </a:p>
        </p:txBody>
      </p:sp>
      <p:sp>
        <p:nvSpPr>
          <p:cNvPr id="8" name="Text 5"/>
          <p:cNvSpPr/>
          <p:nvPr/>
        </p:nvSpPr>
        <p:spPr>
          <a:xfrm>
            <a:off x="914400" y="3017520"/>
            <a:ext cx="2971800" cy="1371600"/>
          </a:xfrm>
          <a:prstGeom prst="rect">
            <a:avLst/>
          </a:prstGeom>
          <a:noFill/>
          <a:ln/>
        </p:spPr>
        <p:txBody>
          <a:bodyPr wrap="square" lIns="0" tIns="0" rIns="0" bIns="0" rtlCol="0" anchor="ctr"/>
          <a:lstStyle/>
          <a:p>
            <a:pPr marL="0" indent="0">
              <a:lnSpc>
                <a:spcPct val="125000"/>
              </a:lnSpc>
              <a:buNone/>
            </a:pPr>
            <a:r>
              <a:rPr lang="en-US" sz="1000" dirty="0">
                <a:solidFill>
                  <a:srgbClr val="6B7280"/>
                </a:solidFill>
                <a:latin typeface="Calibri" pitchFamily="34" charset="0"/>
                <a:ea typeface="Calibri" pitchFamily="34" charset="-122"/>
                <a:cs typeface="Calibri" pitchFamily="34" charset="-120"/>
              </a:rPr>
              <a:t>Models can generate confident, plausible-sounding statements that are simply false, including fabricated citations, statistics, or facts presented with total certainty</a:t>
            </a:r>
            <a:endParaRPr lang="en-US" sz="1000" dirty="0"/>
          </a:p>
        </p:txBody>
      </p:sp>
      <p:sp>
        <p:nvSpPr>
          <p:cNvPr id="9" name="Shape 6"/>
          <p:cNvSpPr/>
          <p:nvPr/>
        </p:nvSpPr>
        <p:spPr>
          <a:xfrm>
            <a:off x="4480560" y="1645920"/>
            <a:ext cx="3520440" cy="2880360"/>
          </a:xfrm>
          <a:prstGeom prst="roundRect">
            <a:avLst>
              <a:gd name="adj" fmla="val 3175"/>
            </a:avLst>
          </a:prstGeom>
          <a:solidFill>
            <a:srgbClr val="F7F8FC"/>
          </a:solidFill>
          <a:ln/>
          <a:effectLst>
            <a:outerShdw blurRad="101600" dist="38100" dir="5400000" algn="bl" rotWithShape="0">
              <a:srgbClr val="1E2340">
                <a:alpha val="12000"/>
              </a:srgbClr>
            </a:outerShdw>
          </a:effectLst>
        </p:spPr>
      </p:sp>
      <p:sp>
        <p:nvSpPr>
          <p:cNvPr id="10" name="Shape 7"/>
          <p:cNvSpPr/>
          <p:nvPr/>
        </p:nvSpPr>
        <p:spPr>
          <a:xfrm>
            <a:off x="4754880" y="1901952"/>
            <a:ext cx="566928" cy="566928"/>
          </a:xfrm>
          <a:prstGeom prst="ellipse">
            <a:avLst/>
          </a:prstGeom>
          <a:solidFill>
            <a:srgbClr val="7C2D12"/>
          </a:solidFill>
          <a:ln/>
        </p:spPr>
      </p:sp>
      <p:pic>
        <p:nvPicPr>
          <p:cNvPr id="11" name="Image 1" descr="/home/claude/genai_pptx/icons/balance_teal.png"/>
          <p:cNvPicPr>
            <a:picLocks noChangeAspect="1"/>
          </p:cNvPicPr>
          <p:nvPr/>
        </p:nvPicPr>
        <p:blipFill>
          <a:blip r:embed="rId4"/>
          <a:stretch>
            <a:fillRect/>
          </a:stretch>
        </p:blipFill>
        <p:spPr>
          <a:xfrm>
            <a:off x="4868266" y="2015338"/>
            <a:ext cx="340157" cy="340157"/>
          </a:xfrm>
          <a:prstGeom prst="rect">
            <a:avLst/>
          </a:prstGeom>
        </p:spPr>
      </p:pic>
      <p:sp>
        <p:nvSpPr>
          <p:cNvPr id="12" name="Text 8"/>
          <p:cNvSpPr/>
          <p:nvPr/>
        </p:nvSpPr>
        <p:spPr>
          <a:xfrm>
            <a:off x="4754880" y="2606040"/>
            <a:ext cx="2971800" cy="411480"/>
          </a:xfrm>
          <a:prstGeom prst="rect">
            <a:avLst/>
          </a:prstGeom>
          <a:noFill/>
          <a:ln/>
        </p:spPr>
        <p:txBody>
          <a:bodyPr wrap="square" lIns="0" tIns="0" rIns="0" bIns="0" rtlCol="0" anchor="ctr"/>
          <a:lstStyle/>
          <a:p>
            <a:pPr marL="0" indent="0">
              <a:buNone/>
            </a:pPr>
            <a:r>
              <a:rPr lang="en-US" sz="1400" b="1" dirty="0">
                <a:solidFill>
                  <a:srgbClr val="1E2340"/>
                </a:solidFill>
                <a:latin typeface="Calibri" pitchFamily="34" charset="0"/>
                <a:ea typeface="Calibri" pitchFamily="34" charset="-122"/>
                <a:cs typeface="Calibri" pitchFamily="34" charset="-120"/>
              </a:rPr>
              <a:t>Bias</a:t>
            </a:r>
            <a:endParaRPr lang="en-US" sz="1400" dirty="0"/>
          </a:p>
        </p:txBody>
      </p:sp>
      <p:sp>
        <p:nvSpPr>
          <p:cNvPr id="13" name="Text 9"/>
          <p:cNvSpPr/>
          <p:nvPr/>
        </p:nvSpPr>
        <p:spPr>
          <a:xfrm>
            <a:off x="4754880" y="3017520"/>
            <a:ext cx="2971800" cy="1371600"/>
          </a:xfrm>
          <a:prstGeom prst="rect">
            <a:avLst/>
          </a:prstGeom>
          <a:noFill/>
          <a:ln/>
        </p:spPr>
        <p:txBody>
          <a:bodyPr wrap="square" lIns="0" tIns="0" rIns="0" bIns="0" rtlCol="0" anchor="ctr"/>
          <a:lstStyle/>
          <a:p>
            <a:pPr marL="0" indent="0">
              <a:lnSpc>
                <a:spcPct val="125000"/>
              </a:lnSpc>
              <a:buNone/>
            </a:pPr>
            <a:r>
              <a:rPr lang="en-US" sz="1000" dirty="0">
                <a:solidFill>
                  <a:srgbClr val="6B7280"/>
                </a:solidFill>
                <a:latin typeface="Calibri" pitchFamily="34" charset="0"/>
                <a:ea typeface="Calibri" pitchFamily="34" charset="-122"/>
                <a:cs typeface="Calibri" pitchFamily="34" charset="-120"/>
              </a:rPr>
              <a:t>Because models learn from historical data, they can absorb and amplify the biases present in that data, producing unfair or skewed outputs for certain groups</a:t>
            </a:r>
            <a:endParaRPr lang="en-US" sz="1000" dirty="0"/>
          </a:p>
        </p:txBody>
      </p:sp>
      <p:sp>
        <p:nvSpPr>
          <p:cNvPr id="14" name="Shape 10"/>
          <p:cNvSpPr/>
          <p:nvPr/>
        </p:nvSpPr>
        <p:spPr>
          <a:xfrm>
            <a:off x="8321040" y="1645920"/>
            <a:ext cx="3520440" cy="2880360"/>
          </a:xfrm>
          <a:prstGeom prst="roundRect">
            <a:avLst>
              <a:gd name="adj" fmla="val 3175"/>
            </a:avLst>
          </a:prstGeom>
          <a:solidFill>
            <a:srgbClr val="F7F8FC"/>
          </a:solidFill>
          <a:ln/>
          <a:effectLst>
            <a:outerShdw blurRad="101600" dist="38100" dir="5400000" algn="bl" rotWithShape="0">
              <a:srgbClr val="1E2340">
                <a:alpha val="12000"/>
              </a:srgbClr>
            </a:outerShdw>
          </a:effectLst>
        </p:spPr>
      </p:sp>
      <p:sp>
        <p:nvSpPr>
          <p:cNvPr id="15" name="Shape 11"/>
          <p:cNvSpPr/>
          <p:nvPr/>
        </p:nvSpPr>
        <p:spPr>
          <a:xfrm>
            <a:off x="8595360" y="1901952"/>
            <a:ext cx="566928" cy="566928"/>
          </a:xfrm>
          <a:prstGeom prst="ellipse">
            <a:avLst/>
          </a:prstGeom>
          <a:solidFill>
            <a:srgbClr val="7C2D12"/>
          </a:solidFill>
          <a:ln/>
        </p:spPr>
      </p:sp>
      <p:pic>
        <p:nvPicPr>
          <p:cNvPr id="16" name="Image 2" descr="/home/claude/genai_pptx/icons/eye_teal.png"/>
          <p:cNvPicPr>
            <a:picLocks noChangeAspect="1"/>
          </p:cNvPicPr>
          <p:nvPr/>
        </p:nvPicPr>
        <p:blipFill>
          <a:blip r:embed="rId5"/>
          <a:stretch>
            <a:fillRect/>
          </a:stretch>
        </p:blipFill>
        <p:spPr>
          <a:xfrm>
            <a:off x="8708746" y="2015338"/>
            <a:ext cx="340157" cy="340157"/>
          </a:xfrm>
          <a:prstGeom prst="rect">
            <a:avLst/>
          </a:prstGeom>
        </p:spPr>
      </p:pic>
      <p:sp>
        <p:nvSpPr>
          <p:cNvPr id="17" name="Text 12"/>
          <p:cNvSpPr/>
          <p:nvPr/>
        </p:nvSpPr>
        <p:spPr>
          <a:xfrm>
            <a:off x="8595360" y="2606040"/>
            <a:ext cx="2971800" cy="411480"/>
          </a:xfrm>
          <a:prstGeom prst="rect">
            <a:avLst/>
          </a:prstGeom>
          <a:noFill/>
          <a:ln/>
        </p:spPr>
        <p:txBody>
          <a:bodyPr wrap="square" lIns="0" tIns="0" rIns="0" bIns="0" rtlCol="0" anchor="ctr"/>
          <a:lstStyle/>
          <a:p>
            <a:pPr marL="0" indent="0">
              <a:buNone/>
            </a:pPr>
            <a:r>
              <a:rPr lang="en-US" sz="1400" b="1" dirty="0">
                <a:solidFill>
                  <a:srgbClr val="1E2340"/>
                </a:solidFill>
                <a:latin typeface="Calibri" pitchFamily="34" charset="0"/>
                <a:ea typeface="Calibri" pitchFamily="34" charset="-122"/>
                <a:cs typeface="Calibri" pitchFamily="34" charset="-120"/>
              </a:rPr>
              <a:t>Lack of Transparency</a:t>
            </a:r>
            <a:endParaRPr lang="en-US" sz="1400" dirty="0"/>
          </a:p>
        </p:txBody>
      </p:sp>
      <p:sp>
        <p:nvSpPr>
          <p:cNvPr id="18" name="Text 13"/>
          <p:cNvSpPr/>
          <p:nvPr/>
        </p:nvSpPr>
        <p:spPr>
          <a:xfrm>
            <a:off x="8595360" y="3017520"/>
            <a:ext cx="2971800" cy="1371600"/>
          </a:xfrm>
          <a:prstGeom prst="rect">
            <a:avLst/>
          </a:prstGeom>
          <a:noFill/>
          <a:ln/>
        </p:spPr>
        <p:txBody>
          <a:bodyPr wrap="square" lIns="0" tIns="0" rIns="0" bIns="0" rtlCol="0" anchor="ctr"/>
          <a:lstStyle/>
          <a:p>
            <a:pPr marL="0" indent="0">
              <a:lnSpc>
                <a:spcPct val="125000"/>
              </a:lnSpc>
              <a:buNone/>
            </a:pPr>
            <a:r>
              <a:rPr lang="en-US" sz="1000" dirty="0">
                <a:solidFill>
                  <a:srgbClr val="6B7280"/>
                </a:solidFill>
                <a:latin typeface="Calibri" pitchFamily="34" charset="0"/>
                <a:ea typeface="Calibri" pitchFamily="34" charset="-122"/>
                <a:cs typeface="Calibri" pitchFamily="34" charset="-120"/>
              </a:rPr>
              <a:t>The internal reasoning of large models is largely a "black box," making it difficult to explain, audit, or fully trust a specific output</a:t>
            </a:r>
            <a:endParaRPr lang="en-US" sz="1000" dirty="0"/>
          </a:p>
        </p:txBody>
      </p:sp>
      <p:sp>
        <p:nvSpPr>
          <p:cNvPr id="19" name="Shape 14"/>
          <p:cNvSpPr/>
          <p:nvPr/>
        </p:nvSpPr>
        <p:spPr>
          <a:xfrm>
            <a:off x="640080" y="4800600"/>
            <a:ext cx="11201400" cy="914400"/>
          </a:xfrm>
          <a:prstGeom prst="roundRect">
            <a:avLst>
              <a:gd name="adj" fmla="val 8000"/>
            </a:avLst>
          </a:prstGeom>
          <a:solidFill>
            <a:srgbClr val="FFF7ED"/>
          </a:solidFill>
          <a:ln/>
        </p:spPr>
      </p:sp>
      <p:sp>
        <p:nvSpPr>
          <p:cNvPr id="20" name="Shape 15"/>
          <p:cNvSpPr/>
          <p:nvPr/>
        </p:nvSpPr>
        <p:spPr>
          <a:xfrm>
            <a:off x="841248" y="4956048"/>
            <a:ext cx="502920" cy="502920"/>
          </a:xfrm>
          <a:prstGeom prst="ellipse">
            <a:avLst/>
          </a:prstGeom>
          <a:solidFill>
            <a:srgbClr val="9A3412"/>
          </a:solidFill>
          <a:ln/>
        </p:spPr>
      </p:sp>
      <p:pic>
        <p:nvPicPr>
          <p:cNvPr id="21" name="Image 3" descr="/home/claude/genai_pptx/icons/warning_teal.png"/>
          <p:cNvPicPr>
            <a:picLocks noChangeAspect="1"/>
          </p:cNvPicPr>
          <p:nvPr/>
        </p:nvPicPr>
        <p:blipFill>
          <a:blip r:embed="rId3"/>
          <a:stretch>
            <a:fillRect/>
          </a:stretch>
        </p:blipFill>
        <p:spPr>
          <a:xfrm>
            <a:off x="941832" y="5056632"/>
            <a:ext cx="301752" cy="301752"/>
          </a:xfrm>
          <a:prstGeom prst="rect">
            <a:avLst/>
          </a:prstGeom>
        </p:spPr>
      </p:pic>
      <p:sp>
        <p:nvSpPr>
          <p:cNvPr id="22" name="Text 16"/>
          <p:cNvSpPr/>
          <p:nvPr/>
        </p:nvSpPr>
        <p:spPr>
          <a:xfrm>
            <a:off x="1536192" y="4846320"/>
            <a:ext cx="9692640" cy="777240"/>
          </a:xfrm>
          <a:prstGeom prst="rect">
            <a:avLst/>
          </a:prstGeom>
          <a:noFill/>
          <a:ln/>
        </p:spPr>
        <p:txBody>
          <a:bodyPr wrap="square" lIns="0" tIns="0" rIns="0" bIns="0" rtlCol="0" anchor="ctr"/>
          <a:lstStyle/>
          <a:p>
            <a:pPr marL="0" indent="0">
              <a:lnSpc>
                <a:spcPct val="120000"/>
              </a:lnSpc>
              <a:buNone/>
            </a:pPr>
            <a:r>
              <a:rPr lang="en-US" sz="1100" dirty="0">
                <a:solidFill>
                  <a:srgbClr val="7C2D12"/>
                </a:solidFill>
                <a:latin typeface="Calibri" pitchFamily="34" charset="0"/>
                <a:ea typeface="Calibri" pitchFamily="34" charset="-122"/>
                <a:cs typeface="Calibri" pitchFamily="34" charset="-120"/>
              </a:rPr>
              <a:t>Because generative outputs feel authoritative, IS teams must build human review and validation steps into any workflow that uses them for decisions.</a:t>
            </a:r>
            <a:endParaRPr lang="en-US" sz="1100" dirty="0"/>
          </a:p>
        </p:txBody>
      </p:sp>
      <p:sp>
        <p:nvSpPr>
          <p:cNvPr id="23" name="Text 17"/>
          <p:cNvSpPr/>
          <p:nvPr/>
        </p:nvSpPr>
        <p:spPr>
          <a:xfrm>
            <a:off x="457200" y="6473952"/>
            <a:ext cx="5486400" cy="274320"/>
          </a:xfrm>
          <a:prstGeom prst="rect">
            <a:avLst/>
          </a:prstGeom>
          <a:noFill/>
          <a:ln/>
        </p:spPr>
        <p:txBody>
          <a:bodyPr wrap="square" lIns="0" tIns="0" rIns="0" bIns="0" rtlCol="0" anchor="ctr"/>
          <a:lstStyle/>
          <a:p>
            <a:pPr marL="0" indent="0">
              <a:buNone/>
            </a:pPr>
            <a:r>
              <a:rPr lang="en-US" sz="1000" dirty="0">
                <a:solidFill>
                  <a:srgbClr val="6B7280"/>
                </a:solidFill>
                <a:latin typeface="Calibri" pitchFamily="34" charset="0"/>
                <a:ea typeface="Calibri" pitchFamily="34" charset="-122"/>
                <a:cs typeface="Calibri" pitchFamily="34" charset="-120"/>
              </a:rPr>
              <a:t>Generative AI and IS</a:t>
            </a:r>
            <a:endParaRPr lang="en-US" sz="1000" dirty="0"/>
          </a:p>
        </p:txBody>
      </p:sp>
      <p:sp>
        <p:nvSpPr>
          <p:cNvPr id="24" name="Text 18"/>
          <p:cNvSpPr/>
          <p:nvPr/>
        </p:nvSpPr>
        <p:spPr>
          <a:xfrm>
            <a:off x="11274552" y="6473952"/>
            <a:ext cx="457200" cy="274320"/>
          </a:xfrm>
          <a:prstGeom prst="rect">
            <a:avLst/>
          </a:prstGeom>
          <a:noFill/>
          <a:ln/>
        </p:spPr>
        <p:txBody>
          <a:bodyPr wrap="square" lIns="0" tIns="0" rIns="0" bIns="0" rtlCol="0" anchor="ctr"/>
          <a:lstStyle/>
          <a:p>
            <a:pPr marL="0" indent="0" algn="r">
              <a:buNone/>
            </a:pPr>
            <a:r>
              <a:rPr lang="en-US" sz="1000" dirty="0">
                <a:solidFill>
                  <a:srgbClr val="6B7280"/>
                </a:solidFill>
                <a:latin typeface="Calibri" pitchFamily="34" charset="0"/>
                <a:ea typeface="Calibri" pitchFamily="34" charset="-122"/>
                <a:cs typeface="Calibri" pitchFamily="34" charset="-120"/>
              </a:rPr>
              <a:t>12</a:t>
            </a:r>
            <a:endParaRPr lang="en-US" sz="10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3">
    <p:bg>
      <p:bgPr>
        <a:solidFill>
          <a:srgbClr val="F7F8FC"/>
        </a:solidFill>
        <a:effectLst/>
      </p:bgPr>
    </p:bg>
    <p:spTree>
      <p:nvGrpSpPr>
        <p:cNvPr id="1" name=""/>
        <p:cNvGrpSpPr/>
        <p:nvPr/>
      </p:nvGrpSpPr>
      <p:grpSpPr>
        <a:xfrm>
          <a:off x="0" y="0"/>
          <a:ext cx="0" cy="0"/>
          <a:chOff x="0" y="0"/>
          <a:chExt cx="0" cy="0"/>
        </a:xfrm>
      </p:grpSpPr>
      <p:sp>
        <p:nvSpPr>
          <p:cNvPr id="2" name="Text 0"/>
          <p:cNvSpPr/>
          <p:nvPr/>
        </p:nvSpPr>
        <p:spPr>
          <a:xfrm>
            <a:off x="640080" y="384048"/>
            <a:ext cx="7315200" cy="320040"/>
          </a:xfrm>
          <a:prstGeom prst="rect">
            <a:avLst/>
          </a:prstGeom>
          <a:noFill/>
          <a:ln/>
        </p:spPr>
        <p:txBody>
          <a:bodyPr wrap="square" lIns="0" tIns="0" rIns="0" bIns="0" rtlCol="0" anchor="ctr"/>
          <a:lstStyle/>
          <a:p>
            <a:pPr marL="0" indent="0">
              <a:buNone/>
            </a:pPr>
            <a:r>
              <a:rPr lang="en-US" sz="1300" b="1" kern="0" spc="200" dirty="0">
                <a:solidFill>
                  <a:srgbClr val="C2410C"/>
                </a:solidFill>
                <a:latin typeface="Calibri" pitchFamily="34" charset="0"/>
                <a:ea typeface="Calibri" pitchFamily="34" charset="-122"/>
                <a:cs typeface="Calibri" pitchFamily="34" charset="-120"/>
              </a:rPr>
              <a:t>5. RISKS, CHALLENGES &amp; ETHICAL ISSUES</a:t>
            </a:r>
            <a:endParaRPr lang="en-US" sz="1300" dirty="0"/>
          </a:p>
        </p:txBody>
      </p:sp>
      <p:sp>
        <p:nvSpPr>
          <p:cNvPr id="3" name="Text 1"/>
          <p:cNvSpPr/>
          <p:nvPr/>
        </p:nvSpPr>
        <p:spPr>
          <a:xfrm>
            <a:off x="640080" y="685800"/>
            <a:ext cx="9601200" cy="731520"/>
          </a:xfrm>
          <a:prstGeom prst="rect">
            <a:avLst/>
          </a:prstGeom>
          <a:noFill/>
          <a:ln/>
        </p:spPr>
        <p:txBody>
          <a:bodyPr wrap="square" lIns="0" tIns="0" rIns="0" bIns="0" rtlCol="0" anchor="ctr"/>
          <a:lstStyle/>
          <a:p>
            <a:pPr marL="0" indent="0">
              <a:buNone/>
            </a:pPr>
            <a:r>
              <a:rPr lang="en-US" sz="3200" b="1" dirty="0">
                <a:solidFill>
                  <a:srgbClr val="1E2340"/>
                </a:solidFill>
                <a:latin typeface="Cambria" pitchFamily="34" charset="0"/>
                <a:ea typeface="Cambria" pitchFamily="34" charset="-122"/>
                <a:cs typeface="Cambria" pitchFamily="34" charset="-120"/>
              </a:rPr>
              <a:t>Ethical &amp; Societal Concerns</a:t>
            </a:r>
            <a:endParaRPr lang="en-US" sz="3200" dirty="0"/>
          </a:p>
        </p:txBody>
      </p:sp>
      <p:sp>
        <p:nvSpPr>
          <p:cNvPr id="4" name="Shape 2"/>
          <p:cNvSpPr/>
          <p:nvPr/>
        </p:nvSpPr>
        <p:spPr>
          <a:xfrm>
            <a:off x="640080" y="1645920"/>
            <a:ext cx="5257800" cy="1554480"/>
          </a:xfrm>
          <a:prstGeom prst="roundRect">
            <a:avLst>
              <a:gd name="adj" fmla="val 5882"/>
            </a:avLst>
          </a:prstGeom>
          <a:solidFill>
            <a:srgbClr val="FFFFFF"/>
          </a:solidFill>
          <a:ln/>
          <a:effectLst>
            <a:outerShdw blurRad="101600" dist="38100" dir="5400000" algn="bl" rotWithShape="0">
              <a:srgbClr val="1E2340">
                <a:alpha val="12000"/>
              </a:srgbClr>
            </a:outerShdw>
          </a:effectLst>
        </p:spPr>
      </p:sp>
      <p:sp>
        <p:nvSpPr>
          <p:cNvPr id="5" name="Shape 3"/>
          <p:cNvSpPr/>
          <p:nvPr/>
        </p:nvSpPr>
        <p:spPr>
          <a:xfrm>
            <a:off x="868680" y="2103120"/>
            <a:ext cx="594360" cy="594360"/>
          </a:xfrm>
          <a:prstGeom prst="ellipse">
            <a:avLst/>
          </a:prstGeom>
          <a:solidFill>
            <a:srgbClr val="7C2D12"/>
          </a:solidFill>
          <a:ln/>
        </p:spPr>
      </p:sp>
      <p:pic>
        <p:nvPicPr>
          <p:cNvPr id="6" name="Image 0" descr="/home/claude/genai_pptx/icons/gavel_teal.png"/>
          <p:cNvPicPr>
            <a:picLocks noChangeAspect="1"/>
          </p:cNvPicPr>
          <p:nvPr/>
        </p:nvPicPr>
        <p:blipFill>
          <a:blip r:embed="rId3"/>
          <a:stretch>
            <a:fillRect/>
          </a:stretch>
        </p:blipFill>
        <p:spPr>
          <a:xfrm>
            <a:off x="987552" y="2221992"/>
            <a:ext cx="356616" cy="356616"/>
          </a:xfrm>
          <a:prstGeom prst="rect">
            <a:avLst/>
          </a:prstGeom>
        </p:spPr>
      </p:pic>
      <p:sp>
        <p:nvSpPr>
          <p:cNvPr id="7" name="Text 4"/>
          <p:cNvSpPr/>
          <p:nvPr/>
        </p:nvSpPr>
        <p:spPr>
          <a:xfrm>
            <a:off x="1600200" y="1828800"/>
            <a:ext cx="4069080" cy="365760"/>
          </a:xfrm>
          <a:prstGeom prst="rect">
            <a:avLst/>
          </a:prstGeom>
          <a:noFill/>
          <a:ln/>
        </p:spPr>
        <p:txBody>
          <a:bodyPr wrap="square" lIns="0" tIns="0" rIns="0" bIns="0" rtlCol="0" anchor="ctr"/>
          <a:lstStyle/>
          <a:p>
            <a:pPr marL="0" indent="0">
              <a:buNone/>
            </a:pPr>
            <a:r>
              <a:rPr lang="en-US" sz="1300" b="1" dirty="0">
                <a:solidFill>
                  <a:srgbClr val="1E2340"/>
                </a:solidFill>
                <a:latin typeface="Calibri" pitchFamily="34" charset="0"/>
                <a:ea typeface="Calibri" pitchFamily="34" charset="-122"/>
                <a:cs typeface="Calibri" pitchFamily="34" charset="-120"/>
              </a:rPr>
              <a:t>Intellectual Property</a:t>
            </a:r>
            <a:endParaRPr lang="en-US" sz="1300" dirty="0"/>
          </a:p>
        </p:txBody>
      </p:sp>
      <p:sp>
        <p:nvSpPr>
          <p:cNvPr id="8" name="Text 5"/>
          <p:cNvSpPr/>
          <p:nvPr/>
        </p:nvSpPr>
        <p:spPr>
          <a:xfrm>
            <a:off x="1600200" y="2194560"/>
            <a:ext cx="4069080" cy="914400"/>
          </a:xfrm>
          <a:prstGeom prst="rect">
            <a:avLst/>
          </a:prstGeom>
          <a:noFill/>
          <a:ln/>
        </p:spPr>
        <p:txBody>
          <a:bodyPr wrap="square" lIns="0" tIns="0" rIns="0" bIns="0" rtlCol="0" anchor="ctr"/>
          <a:lstStyle/>
          <a:p>
            <a:pPr marL="0" indent="0">
              <a:lnSpc>
                <a:spcPct val="120000"/>
              </a:lnSpc>
              <a:buNone/>
            </a:pPr>
            <a:r>
              <a:rPr lang="en-US" sz="970" dirty="0">
                <a:solidFill>
                  <a:srgbClr val="6B7280"/>
                </a:solidFill>
                <a:latin typeface="Calibri" pitchFamily="34" charset="0"/>
                <a:ea typeface="Calibri" pitchFamily="34" charset="-122"/>
                <a:cs typeface="Calibri" pitchFamily="34" charset="-120"/>
              </a:rPr>
              <a:t>Many models are trained on copyrighted text and images scraped from the web, raising unresolved legal questions about consent, compensation, and who owns AI-generated output</a:t>
            </a:r>
            <a:endParaRPr lang="en-US" sz="970" dirty="0"/>
          </a:p>
        </p:txBody>
      </p:sp>
      <p:sp>
        <p:nvSpPr>
          <p:cNvPr id="9" name="Shape 6"/>
          <p:cNvSpPr/>
          <p:nvPr/>
        </p:nvSpPr>
        <p:spPr>
          <a:xfrm>
            <a:off x="6263640" y="1645920"/>
            <a:ext cx="5257800" cy="1554480"/>
          </a:xfrm>
          <a:prstGeom prst="roundRect">
            <a:avLst>
              <a:gd name="adj" fmla="val 5882"/>
            </a:avLst>
          </a:prstGeom>
          <a:solidFill>
            <a:srgbClr val="FFFFFF"/>
          </a:solidFill>
          <a:ln/>
          <a:effectLst>
            <a:outerShdw blurRad="101600" dist="38100" dir="5400000" algn="bl" rotWithShape="0">
              <a:srgbClr val="1E2340">
                <a:alpha val="12000"/>
              </a:srgbClr>
            </a:outerShdw>
          </a:effectLst>
        </p:spPr>
      </p:sp>
      <p:sp>
        <p:nvSpPr>
          <p:cNvPr id="10" name="Shape 7"/>
          <p:cNvSpPr/>
          <p:nvPr/>
        </p:nvSpPr>
        <p:spPr>
          <a:xfrm>
            <a:off x="6492240" y="2103120"/>
            <a:ext cx="594360" cy="594360"/>
          </a:xfrm>
          <a:prstGeom prst="ellipse">
            <a:avLst/>
          </a:prstGeom>
          <a:solidFill>
            <a:srgbClr val="7C2D12"/>
          </a:solidFill>
          <a:ln/>
        </p:spPr>
      </p:sp>
      <p:pic>
        <p:nvPicPr>
          <p:cNvPr id="11" name="Image 1" descr="/home/claude/genai_pptx/icons/users_teal.png"/>
          <p:cNvPicPr>
            <a:picLocks noChangeAspect="1"/>
          </p:cNvPicPr>
          <p:nvPr/>
        </p:nvPicPr>
        <p:blipFill>
          <a:blip r:embed="rId4"/>
          <a:stretch>
            <a:fillRect/>
          </a:stretch>
        </p:blipFill>
        <p:spPr>
          <a:xfrm>
            <a:off x="6611112" y="2221992"/>
            <a:ext cx="356616" cy="356616"/>
          </a:xfrm>
          <a:prstGeom prst="rect">
            <a:avLst/>
          </a:prstGeom>
        </p:spPr>
      </p:pic>
      <p:sp>
        <p:nvSpPr>
          <p:cNvPr id="12" name="Text 8"/>
          <p:cNvSpPr/>
          <p:nvPr/>
        </p:nvSpPr>
        <p:spPr>
          <a:xfrm>
            <a:off x="7223760" y="1828800"/>
            <a:ext cx="4069080" cy="365760"/>
          </a:xfrm>
          <a:prstGeom prst="rect">
            <a:avLst/>
          </a:prstGeom>
          <a:noFill/>
          <a:ln/>
        </p:spPr>
        <p:txBody>
          <a:bodyPr wrap="square" lIns="0" tIns="0" rIns="0" bIns="0" rtlCol="0" anchor="ctr"/>
          <a:lstStyle/>
          <a:p>
            <a:pPr marL="0" indent="0">
              <a:buNone/>
            </a:pPr>
            <a:r>
              <a:rPr lang="en-US" sz="1300" b="1" dirty="0">
                <a:solidFill>
                  <a:srgbClr val="1E2340"/>
                </a:solidFill>
                <a:latin typeface="Calibri" pitchFamily="34" charset="0"/>
                <a:ea typeface="Calibri" pitchFamily="34" charset="-122"/>
                <a:cs typeface="Calibri" pitchFamily="34" charset="-120"/>
              </a:rPr>
              <a:t>Job Displacement</a:t>
            </a:r>
            <a:endParaRPr lang="en-US" sz="1300" dirty="0"/>
          </a:p>
        </p:txBody>
      </p:sp>
      <p:sp>
        <p:nvSpPr>
          <p:cNvPr id="13" name="Text 9"/>
          <p:cNvSpPr/>
          <p:nvPr/>
        </p:nvSpPr>
        <p:spPr>
          <a:xfrm>
            <a:off x="7223760" y="2194560"/>
            <a:ext cx="4069080" cy="914400"/>
          </a:xfrm>
          <a:prstGeom prst="rect">
            <a:avLst/>
          </a:prstGeom>
          <a:noFill/>
          <a:ln/>
        </p:spPr>
        <p:txBody>
          <a:bodyPr wrap="square" lIns="0" tIns="0" rIns="0" bIns="0" rtlCol="0" anchor="ctr"/>
          <a:lstStyle/>
          <a:p>
            <a:pPr marL="0" indent="0">
              <a:lnSpc>
                <a:spcPct val="120000"/>
              </a:lnSpc>
              <a:buNone/>
            </a:pPr>
            <a:r>
              <a:rPr lang="en-US" sz="970" dirty="0">
                <a:solidFill>
                  <a:srgbClr val="6B7280"/>
                </a:solidFill>
                <a:latin typeface="Calibri" pitchFamily="34" charset="0"/>
                <a:ea typeface="Calibri" pitchFamily="34" charset="-122"/>
                <a:cs typeface="Calibri" pitchFamily="34" charset="-120"/>
              </a:rPr>
              <a:t>As content creation, support, and coding tasks become automatable, organizations must rethink workforce needs and invest in reskilling rather than pure headcount reduction</a:t>
            </a:r>
            <a:endParaRPr lang="en-US" sz="970" dirty="0"/>
          </a:p>
        </p:txBody>
      </p:sp>
      <p:sp>
        <p:nvSpPr>
          <p:cNvPr id="14" name="Shape 10"/>
          <p:cNvSpPr/>
          <p:nvPr/>
        </p:nvSpPr>
        <p:spPr>
          <a:xfrm>
            <a:off x="640080" y="3474720"/>
            <a:ext cx="5257800" cy="1554480"/>
          </a:xfrm>
          <a:prstGeom prst="roundRect">
            <a:avLst>
              <a:gd name="adj" fmla="val 5882"/>
            </a:avLst>
          </a:prstGeom>
          <a:solidFill>
            <a:srgbClr val="FFFFFF"/>
          </a:solidFill>
          <a:ln/>
          <a:effectLst>
            <a:outerShdw blurRad="101600" dist="38100" dir="5400000" algn="bl" rotWithShape="0">
              <a:srgbClr val="1E2340">
                <a:alpha val="12000"/>
              </a:srgbClr>
            </a:outerShdw>
          </a:effectLst>
        </p:spPr>
      </p:sp>
      <p:sp>
        <p:nvSpPr>
          <p:cNvPr id="15" name="Shape 11"/>
          <p:cNvSpPr/>
          <p:nvPr/>
        </p:nvSpPr>
        <p:spPr>
          <a:xfrm>
            <a:off x="868680" y="3931920"/>
            <a:ext cx="594360" cy="594360"/>
          </a:xfrm>
          <a:prstGeom prst="ellipse">
            <a:avLst/>
          </a:prstGeom>
          <a:solidFill>
            <a:srgbClr val="7C2D12"/>
          </a:solidFill>
          <a:ln/>
        </p:spPr>
      </p:sp>
      <p:pic>
        <p:nvPicPr>
          <p:cNvPr id="16" name="Image 2" descr="/home/claude/genai_pptx/icons/globe_teal.png"/>
          <p:cNvPicPr>
            <a:picLocks noChangeAspect="1"/>
          </p:cNvPicPr>
          <p:nvPr/>
        </p:nvPicPr>
        <p:blipFill>
          <a:blip r:embed="rId5"/>
          <a:stretch>
            <a:fillRect/>
          </a:stretch>
        </p:blipFill>
        <p:spPr>
          <a:xfrm>
            <a:off x="987552" y="4050792"/>
            <a:ext cx="356616" cy="356616"/>
          </a:xfrm>
          <a:prstGeom prst="rect">
            <a:avLst/>
          </a:prstGeom>
        </p:spPr>
      </p:pic>
      <p:sp>
        <p:nvSpPr>
          <p:cNvPr id="17" name="Text 12"/>
          <p:cNvSpPr/>
          <p:nvPr/>
        </p:nvSpPr>
        <p:spPr>
          <a:xfrm>
            <a:off x="1600200" y="3657600"/>
            <a:ext cx="4069080" cy="365760"/>
          </a:xfrm>
          <a:prstGeom prst="rect">
            <a:avLst/>
          </a:prstGeom>
          <a:noFill/>
          <a:ln/>
        </p:spPr>
        <p:txBody>
          <a:bodyPr wrap="square" lIns="0" tIns="0" rIns="0" bIns="0" rtlCol="0" anchor="ctr"/>
          <a:lstStyle/>
          <a:p>
            <a:pPr marL="0" indent="0">
              <a:buNone/>
            </a:pPr>
            <a:r>
              <a:rPr lang="en-US" sz="1300" b="1" dirty="0">
                <a:solidFill>
                  <a:srgbClr val="1E2340"/>
                </a:solidFill>
                <a:latin typeface="Calibri" pitchFamily="34" charset="0"/>
                <a:ea typeface="Calibri" pitchFamily="34" charset="-122"/>
                <a:cs typeface="Calibri" pitchFamily="34" charset="-120"/>
              </a:rPr>
              <a:t>Misinformation</a:t>
            </a:r>
            <a:endParaRPr lang="en-US" sz="1300" dirty="0"/>
          </a:p>
        </p:txBody>
      </p:sp>
      <p:sp>
        <p:nvSpPr>
          <p:cNvPr id="18" name="Text 13"/>
          <p:cNvSpPr/>
          <p:nvPr/>
        </p:nvSpPr>
        <p:spPr>
          <a:xfrm>
            <a:off x="1600200" y="4023360"/>
            <a:ext cx="4069080" cy="914400"/>
          </a:xfrm>
          <a:prstGeom prst="rect">
            <a:avLst/>
          </a:prstGeom>
          <a:noFill/>
          <a:ln/>
        </p:spPr>
        <p:txBody>
          <a:bodyPr wrap="square" lIns="0" tIns="0" rIns="0" bIns="0" rtlCol="0" anchor="ctr"/>
          <a:lstStyle/>
          <a:p>
            <a:pPr marL="0" indent="0">
              <a:lnSpc>
                <a:spcPct val="120000"/>
              </a:lnSpc>
              <a:buNone/>
            </a:pPr>
            <a:r>
              <a:rPr lang="en-US" sz="970" dirty="0">
                <a:solidFill>
                  <a:srgbClr val="6B7280"/>
                </a:solidFill>
                <a:latin typeface="Calibri" pitchFamily="34" charset="0"/>
                <a:ea typeface="Calibri" pitchFamily="34" charset="-122"/>
                <a:cs typeface="Calibri" pitchFamily="34" charset="-120"/>
              </a:rPr>
              <a:t>Deepfake video, cloned voices, and fluent synthetic text can spread false information at a scale and speed that outpaces manual fact-checking</a:t>
            </a:r>
            <a:endParaRPr lang="en-US" sz="970" dirty="0"/>
          </a:p>
        </p:txBody>
      </p:sp>
      <p:sp>
        <p:nvSpPr>
          <p:cNvPr id="19" name="Shape 14"/>
          <p:cNvSpPr/>
          <p:nvPr/>
        </p:nvSpPr>
        <p:spPr>
          <a:xfrm>
            <a:off x="6263640" y="3474720"/>
            <a:ext cx="5257800" cy="1554480"/>
          </a:xfrm>
          <a:prstGeom prst="roundRect">
            <a:avLst>
              <a:gd name="adj" fmla="val 5882"/>
            </a:avLst>
          </a:prstGeom>
          <a:solidFill>
            <a:srgbClr val="FFFFFF"/>
          </a:solidFill>
          <a:ln/>
          <a:effectLst>
            <a:outerShdw blurRad="101600" dist="38100" dir="5400000" algn="bl" rotWithShape="0">
              <a:srgbClr val="1E2340">
                <a:alpha val="12000"/>
              </a:srgbClr>
            </a:outerShdw>
          </a:effectLst>
        </p:spPr>
      </p:sp>
      <p:sp>
        <p:nvSpPr>
          <p:cNvPr id="20" name="Shape 15"/>
          <p:cNvSpPr/>
          <p:nvPr/>
        </p:nvSpPr>
        <p:spPr>
          <a:xfrm>
            <a:off x="6492240" y="3931920"/>
            <a:ext cx="594360" cy="594360"/>
          </a:xfrm>
          <a:prstGeom prst="ellipse">
            <a:avLst/>
          </a:prstGeom>
          <a:solidFill>
            <a:srgbClr val="7C2D12"/>
          </a:solidFill>
          <a:ln/>
        </p:spPr>
      </p:sp>
      <p:pic>
        <p:nvPicPr>
          <p:cNvPr id="21" name="Image 3" descr="/home/claude/genai_pptx/icons/userSecret_teal.png"/>
          <p:cNvPicPr>
            <a:picLocks noChangeAspect="1"/>
          </p:cNvPicPr>
          <p:nvPr/>
        </p:nvPicPr>
        <p:blipFill>
          <a:blip r:embed="rId6"/>
          <a:stretch>
            <a:fillRect/>
          </a:stretch>
        </p:blipFill>
        <p:spPr>
          <a:xfrm>
            <a:off x="6611112" y="4050792"/>
            <a:ext cx="356616" cy="356616"/>
          </a:xfrm>
          <a:prstGeom prst="rect">
            <a:avLst/>
          </a:prstGeom>
        </p:spPr>
      </p:pic>
      <p:sp>
        <p:nvSpPr>
          <p:cNvPr id="22" name="Text 16"/>
          <p:cNvSpPr/>
          <p:nvPr/>
        </p:nvSpPr>
        <p:spPr>
          <a:xfrm>
            <a:off x="7223760" y="3657600"/>
            <a:ext cx="4069080" cy="365760"/>
          </a:xfrm>
          <a:prstGeom prst="rect">
            <a:avLst/>
          </a:prstGeom>
          <a:noFill/>
          <a:ln/>
        </p:spPr>
        <p:txBody>
          <a:bodyPr wrap="square" lIns="0" tIns="0" rIns="0" bIns="0" rtlCol="0" anchor="ctr"/>
          <a:lstStyle/>
          <a:p>
            <a:pPr marL="0" indent="0">
              <a:buNone/>
            </a:pPr>
            <a:r>
              <a:rPr lang="en-US" sz="1300" b="1" dirty="0">
                <a:solidFill>
                  <a:srgbClr val="1E2340"/>
                </a:solidFill>
                <a:latin typeface="Calibri" pitchFamily="34" charset="0"/>
                <a:ea typeface="Calibri" pitchFamily="34" charset="-122"/>
                <a:cs typeface="Calibri" pitchFamily="34" charset="-120"/>
              </a:rPr>
              <a:t>Privacy</a:t>
            </a:r>
            <a:endParaRPr lang="en-US" sz="1300" dirty="0"/>
          </a:p>
        </p:txBody>
      </p:sp>
      <p:sp>
        <p:nvSpPr>
          <p:cNvPr id="23" name="Text 17"/>
          <p:cNvSpPr/>
          <p:nvPr/>
        </p:nvSpPr>
        <p:spPr>
          <a:xfrm>
            <a:off x="7223760" y="4023360"/>
            <a:ext cx="4069080" cy="914400"/>
          </a:xfrm>
          <a:prstGeom prst="rect">
            <a:avLst/>
          </a:prstGeom>
          <a:noFill/>
          <a:ln/>
        </p:spPr>
        <p:txBody>
          <a:bodyPr wrap="square" lIns="0" tIns="0" rIns="0" bIns="0" rtlCol="0" anchor="ctr"/>
          <a:lstStyle/>
          <a:p>
            <a:pPr marL="0" indent="0">
              <a:lnSpc>
                <a:spcPct val="120000"/>
              </a:lnSpc>
              <a:buNone/>
            </a:pPr>
            <a:r>
              <a:rPr lang="en-US" sz="970" dirty="0">
                <a:solidFill>
                  <a:srgbClr val="6B7280"/>
                </a:solidFill>
                <a:latin typeface="Calibri" pitchFamily="34" charset="0"/>
                <a:ea typeface="Calibri" pitchFamily="34" charset="-122"/>
                <a:cs typeface="Calibri" pitchFamily="34" charset="-120"/>
              </a:rPr>
              <a:t>Models can memorize fragments of their training data or sensitive information entered in prompts, creating a risk of unintended data exposure</a:t>
            </a:r>
            <a:endParaRPr lang="en-US" sz="970" dirty="0"/>
          </a:p>
        </p:txBody>
      </p:sp>
      <p:sp>
        <p:nvSpPr>
          <p:cNvPr id="24" name="Text 18"/>
          <p:cNvSpPr/>
          <p:nvPr/>
        </p:nvSpPr>
        <p:spPr>
          <a:xfrm>
            <a:off x="457200" y="6473952"/>
            <a:ext cx="5486400" cy="274320"/>
          </a:xfrm>
          <a:prstGeom prst="rect">
            <a:avLst/>
          </a:prstGeom>
          <a:noFill/>
          <a:ln/>
        </p:spPr>
        <p:txBody>
          <a:bodyPr wrap="square" lIns="0" tIns="0" rIns="0" bIns="0" rtlCol="0" anchor="ctr"/>
          <a:lstStyle/>
          <a:p>
            <a:pPr marL="0" indent="0">
              <a:buNone/>
            </a:pPr>
            <a:r>
              <a:rPr lang="en-US" sz="1000" dirty="0">
                <a:solidFill>
                  <a:srgbClr val="6B7280"/>
                </a:solidFill>
                <a:latin typeface="Calibri" pitchFamily="34" charset="0"/>
                <a:ea typeface="Calibri" pitchFamily="34" charset="-122"/>
                <a:cs typeface="Calibri" pitchFamily="34" charset="-120"/>
              </a:rPr>
              <a:t>Generative AI and IS</a:t>
            </a:r>
            <a:endParaRPr lang="en-US" sz="1000" dirty="0"/>
          </a:p>
        </p:txBody>
      </p:sp>
      <p:sp>
        <p:nvSpPr>
          <p:cNvPr id="25" name="Text 19"/>
          <p:cNvSpPr/>
          <p:nvPr/>
        </p:nvSpPr>
        <p:spPr>
          <a:xfrm>
            <a:off x="11274552" y="6473952"/>
            <a:ext cx="457200" cy="274320"/>
          </a:xfrm>
          <a:prstGeom prst="rect">
            <a:avLst/>
          </a:prstGeom>
          <a:noFill/>
          <a:ln/>
        </p:spPr>
        <p:txBody>
          <a:bodyPr wrap="square" lIns="0" tIns="0" rIns="0" bIns="0" rtlCol="0" anchor="ctr"/>
          <a:lstStyle/>
          <a:p>
            <a:pPr marL="0" indent="0" algn="r">
              <a:buNone/>
            </a:pPr>
            <a:r>
              <a:rPr lang="en-US" sz="1000" dirty="0">
                <a:solidFill>
                  <a:srgbClr val="6B7280"/>
                </a:solidFill>
                <a:latin typeface="Calibri" pitchFamily="34" charset="0"/>
                <a:ea typeface="Calibri" pitchFamily="34" charset="-122"/>
                <a:cs typeface="Calibri" pitchFamily="34" charset="-120"/>
              </a:rPr>
              <a:t>13</a:t>
            </a:r>
            <a:endParaRPr lang="en-US" sz="10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4">
    <p:bg>
      <p:bgPr>
        <a:solidFill>
          <a:srgbClr val="151A3D"/>
        </a:solidFill>
        <a:effectLst/>
      </p:bgPr>
    </p:bg>
    <p:spTree>
      <p:nvGrpSpPr>
        <p:cNvPr id="1" name=""/>
        <p:cNvGrpSpPr/>
        <p:nvPr/>
      </p:nvGrpSpPr>
      <p:grpSpPr>
        <a:xfrm>
          <a:off x="0" y="0"/>
          <a:ext cx="0" cy="0"/>
          <a:chOff x="0" y="0"/>
          <a:chExt cx="0" cy="0"/>
        </a:xfrm>
      </p:grpSpPr>
      <p:sp>
        <p:nvSpPr>
          <p:cNvPr id="2" name="Text 0"/>
          <p:cNvSpPr/>
          <p:nvPr/>
        </p:nvSpPr>
        <p:spPr>
          <a:xfrm>
            <a:off x="640080" y="384048"/>
            <a:ext cx="7315200" cy="320040"/>
          </a:xfrm>
          <a:prstGeom prst="rect">
            <a:avLst/>
          </a:prstGeom>
          <a:noFill/>
          <a:ln/>
        </p:spPr>
        <p:txBody>
          <a:bodyPr wrap="square" lIns="0" tIns="0" rIns="0" bIns="0" rtlCol="0" anchor="ctr"/>
          <a:lstStyle/>
          <a:p>
            <a:pPr marL="0" indent="0">
              <a:buNone/>
            </a:pPr>
            <a:r>
              <a:rPr lang="en-US" sz="1300" b="1" kern="0" spc="200" dirty="0">
                <a:solidFill>
                  <a:srgbClr val="2DD4BF"/>
                </a:solidFill>
                <a:latin typeface="Calibri" pitchFamily="34" charset="0"/>
                <a:ea typeface="Calibri" pitchFamily="34" charset="-122"/>
                <a:cs typeface="Calibri" pitchFamily="34" charset="-120"/>
              </a:rPr>
              <a:t>5. RISKS, CHALLENGES &amp; ETHICAL ISSUES</a:t>
            </a:r>
            <a:endParaRPr lang="en-US" sz="1300" dirty="0"/>
          </a:p>
        </p:txBody>
      </p:sp>
      <p:sp>
        <p:nvSpPr>
          <p:cNvPr id="3" name="Text 1"/>
          <p:cNvSpPr/>
          <p:nvPr/>
        </p:nvSpPr>
        <p:spPr>
          <a:xfrm>
            <a:off x="640080" y="685800"/>
            <a:ext cx="9601200" cy="731520"/>
          </a:xfrm>
          <a:prstGeom prst="rect">
            <a:avLst/>
          </a:prstGeom>
          <a:noFill/>
          <a:ln/>
        </p:spPr>
        <p:txBody>
          <a:bodyPr wrap="square" lIns="0" tIns="0" rIns="0" bIns="0" rtlCol="0" anchor="ctr"/>
          <a:lstStyle/>
          <a:p>
            <a:pPr marL="0" indent="0">
              <a:buNone/>
            </a:pPr>
            <a:r>
              <a:rPr lang="en-US" sz="3200" b="1" dirty="0">
                <a:solidFill>
                  <a:srgbClr val="FFFFFF"/>
                </a:solidFill>
                <a:latin typeface="Cambria" pitchFamily="34" charset="0"/>
                <a:ea typeface="Cambria" pitchFamily="34" charset="-122"/>
                <a:cs typeface="Cambria" pitchFamily="34" charset="-120"/>
              </a:rPr>
              <a:t>Security &amp; Governance for IS Teams</a:t>
            </a:r>
            <a:endParaRPr lang="en-US" sz="3200" dirty="0"/>
          </a:p>
        </p:txBody>
      </p:sp>
      <p:sp>
        <p:nvSpPr>
          <p:cNvPr id="4" name="Shape 2"/>
          <p:cNvSpPr/>
          <p:nvPr/>
        </p:nvSpPr>
        <p:spPr>
          <a:xfrm>
            <a:off x="640080" y="1783080"/>
            <a:ext cx="10881360" cy="1188720"/>
          </a:xfrm>
          <a:prstGeom prst="roundRect">
            <a:avLst>
              <a:gd name="adj" fmla="val 6154"/>
            </a:avLst>
          </a:prstGeom>
          <a:solidFill>
            <a:srgbClr val="1E2555"/>
          </a:solidFill>
          <a:ln/>
        </p:spPr>
      </p:sp>
      <p:sp>
        <p:nvSpPr>
          <p:cNvPr id="5" name="Shape 3"/>
          <p:cNvSpPr/>
          <p:nvPr/>
        </p:nvSpPr>
        <p:spPr>
          <a:xfrm>
            <a:off x="868680" y="2075688"/>
            <a:ext cx="594360" cy="594360"/>
          </a:xfrm>
          <a:prstGeom prst="ellipse">
            <a:avLst/>
          </a:prstGeom>
          <a:solidFill>
            <a:srgbClr val="3B1F1F"/>
          </a:solidFill>
          <a:ln/>
        </p:spPr>
      </p:sp>
      <p:pic>
        <p:nvPicPr>
          <p:cNvPr id="6" name="Image 0" descr="/home/claude/genai_pptx/icons/shield_teal.png"/>
          <p:cNvPicPr>
            <a:picLocks noChangeAspect="1"/>
          </p:cNvPicPr>
          <p:nvPr/>
        </p:nvPicPr>
        <p:blipFill>
          <a:blip r:embed="rId3"/>
          <a:stretch>
            <a:fillRect/>
          </a:stretch>
        </p:blipFill>
        <p:spPr>
          <a:xfrm>
            <a:off x="987552" y="2194560"/>
            <a:ext cx="356616" cy="356616"/>
          </a:xfrm>
          <a:prstGeom prst="rect">
            <a:avLst/>
          </a:prstGeom>
        </p:spPr>
      </p:pic>
      <p:sp>
        <p:nvSpPr>
          <p:cNvPr id="7" name="Text 4"/>
          <p:cNvSpPr/>
          <p:nvPr/>
        </p:nvSpPr>
        <p:spPr>
          <a:xfrm>
            <a:off x="1691640" y="1965960"/>
            <a:ext cx="2651760" cy="822960"/>
          </a:xfrm>
          <a:prstGeom prst="rect">
            <a:avLst/>
          </a:prstGeom>
          <a:noFill/>
          <a:ln/>
        </p:spPr>
        <p:txBody>
          <a:bodyPr wrap="square" lIns="0" tIns="0" rIns="0" bIns="0" rtlCol="0" anchor="ctr"/>
          <a:lstStyle/>
          <a:p>
            <a:pPr marL="0" indent="0">
              <a:buNone/>
            </a:pPr>
            <a:r>
              <a:rPr lang="en-US" sz="1350" b="1" dirty="0">
                <a:solidFill>
                  <a:srgbClr val="2DD4BF"/>
                </a:solidFill>
                <a:latin typeface="Calibri" pitchFamily="34" charset="0"/>
                <a:ea typeface="Calibri" pitchFamily="34" charset="-122"/>
                <a:cs typeface="Calibri" pitchFamily="34" charset="-120"/>
              </a:rPr>
              <a:t>Data Leakage</a:t>
            </a:r>
            <a:endParaRPr lang="en-US" sz="1350" dirty="0"/>
          </a:p>
        </p:txBody>
      </p:sp>
      <p:sp>
        <p:nvSpPr>
          <p:cNvPr id="8" name="Text 5"/>
          <p:cNvSpPr/>
          <p:nvPr/>
        </p:nvSpPr>
        <p:spPr>
          <a:xfrm>
            <a:off x="4480560" y="1947672"/>
            <a:ext cx="6766560" cy="868680"/>
          </a:xfrm>
          <a:prstGeom prst="rect">
            <a:avLst/>
          </a:prstGeom>
          <a:noFill/>
          <a:ln/>
        </p:spPr>
        <p:txBody>
          <a:bodyPr wrap="square" lIns="0" tIns="0" rIns="0" bIns="0" rtlCol="0" anchor="ctr"/>
          <a:lstStyle/>
          <a:p>
            <a:pPr marL="0" indent="0">
              <a:lnSpc>
                <a:spcPct val="115000"/>
              </a:lnSpc>
              <a:buNone/>
            </a:pPr>
            <a:r>
              <a:rPr lang="en-US" sz="1100" dirty="0">
                <a:solidFill>
                  <a:srgbClr val="D6DAF1"/>
                </a:solidFill>
                <a:latin typeface="Calibri" pitchFamily="34" charset="0"/>
                <a:ea typeface="Calibri" pitchFamily="34" charset="-122"/>
                <a:cs typeface="Calibri" pitchFamily="34" charset="-120"/>
              </a:rPr>
              <a:t>Employees pasting confidential business data into public AI tools can unintentionally expose it outside the organization's control</a:t>
            </a:r>
            <a:endParaRPr lang="en-US" sz="1100" dirty="0"/>
          </a:p>
        </p:txBody>
      </p:sp>
      <p:sp>
        <p:nvSpPr>
          <p:cNvPr id="9" name="Shape 6"/>
          <p:cNvSpPr/>
          <p:nvPr/>
        </p:nvSpPr>
        <p:spPr>
          <a:xfrm>
            <a:off x="640080" y="3154680"/>
            <a:ext cx="10881360" cy="1188720"/>
          </a:xfrm>
          <a:prstGeom prst="roundRect">
            <a:avLst>
              <a:gd name="adj" fmla="val 6154"/>
            </a:avLst>
          </a:prstGeom>
          <a:solidFill>
            <a:srgbClr val="1E2555"/>
          </a:solidFill>
          <a:ln/>
        </p:spPr>
      </p:sp>
      <p:sp>
        <p:nvSpPr>
          <p:cNvPr id="10" name="Shape 7"/>
          <p:cNvSpPr/>
          <p:nvPr/>
        </p:nvSpPr>
        <p:spPr>
          <a:xfrm>
            <a:off x="868680" y="3447288"/>
            <a:ext cx="594360" cy="594360"/>
          </a:xfrm>
          <a:prstGeom prst="ellipse">
            <a:avLst/>
          </a:prstGeom>
          <a:solidFill>
            <a:srgbClr val="3B1F1F"/>
          </a:solidFill>
          <a:ln/>
        </p:spPr>
      </p:sp>
      <p:pic>
        <p:nvPicPr>
          <p:cNvPr id="11" name="Image 1" descr="/home/claude/genai_pptx/icons/userSecret_teal.png"/>
          <p:cNvPicPr>
            <a:picLocks noChangeAspect="1"/>
          </p:cNvPicPr>
          <p:nvPr/>
        </p:nvPicPr>
        <p:blipFill>
          <a:blip r:embed="rId4"/>
          <a:stretch>
            <a:fillRect/>
          </a:stretch>
        </p:blipFill>
        <p:spPr>
          <a:xfrm>
            <a:off x="987552" y="3566160"/>
            <a:ext cx="356616" cy="356616"/>
          </a:xfrm>
          <a:prstGeom prst="rect">
            <a:avLst/>
          </a:prstGeom>
        </p:spPr>
      </p:pic>
      <p:sp>
        <p:nvSpPr>
          <p:cNvPr id="12" name="Text 8"/>
          <p:cNvSpPr/>
          <p:nvPr/>
        </p:nvSpPr>
        <p:spPr>
          <a:xfrm>
            <a:off x="1691640" y="3337560"/>
            <a:ext cx="2651760" cy="822960"/>
          </a:xfrm>
          <a:prstGeom prst="rect">
            <a:avLst/>
          </a:prstGeom>
          <a:noFill/>
          <a:ln/>
        </p:spPr>
        <p:txBody>
          <a:bodyPr wrap="square" lIns="0" tIns="0" rIns="0" bIns="0" rtlCol="0" anchor="ctr"/>
          <a:lstStyle/>
          <a:p>
            <a:pPr marL="0" indent="0">
              <a:buNone/>
            </a:pPr>
            <a:r>
              <a:rPr lang="en-US" sz="1350" b="1" dirty="0">
                <a:solidFill>
                  <a:srgbClr val="2DD4BF"/>
                </a:solidFill>
                <a:latin typeface="Calibri" pitchFamily="34" charset="0"/>
                <a:ea typeface="Calibri" pitchFamily="34" charset="-122"/>
                <a:cs typeface="Calibri" pitchFamily="34" charset="-120"/>
              </a:rPr>
              <a:t>Prompt Injection</a:t>
            </a:r>
            <a:endParaRPr lang="en-US" sz="1350" dirty="0"/>
          </a:p>
        </p:txBody>
      </p:sp>
      <p:sp>
        <p:nvSpPr>
          <p:cNvPr id="13" name="Text 9"/>
          <p:cNvSpPr/>
          <p:nvPr/>
        </p:nvSpPr>
        <p:spPr>
          <a:xfrm>
            <a:off x="4480560" y="3319272"/>
            <a:ext cx="6766560" cy="868680"/>
          </a:xfrm>
          <a:prstGeom prst="rect">
            <a:avLst/>
          </a:prstGeom>
          <a:noFill/>
          <a:ln/>
        </p:spPr>
        <p:txBody>
          <a:bodyPr wrap="square" lIns="0" tIns="0" rIns="0" bIns="0" rtlCol="0" anchor="ctr"/>
          <a:lstStyle/>
          <a:p>
            <a:pPr marL="0" indent="0">
              <a:lnSpc>
                <a:spcPct val="115000"/>
              </a:lnSpc>
              <a:buNone/>
            </a:pPr>
            <a:r>
              <a:rPr lang="en-US" sz="1100" dirty="0">
                <a:solidFill>
                  <a:srgbClr val="D6DAF1"/>
                </a:solidFill>
                <a:latin typeface="Calibri" pitchFamily="34" charset="0"/>
                <a:ea typeface="Calibri" pitchFamily="34" charset="-122"/>
                <a:cs typeface="Calibri" pitchFamily="34" charset="-120"/>
              </a:rPr>
              <a:t>Malicious or hidden inputs can manipulate AI-driven applications into ignoring instructions or leaking data they shouldn't</a:t>
            </a:r>
            <a:endParaRPr lang="en-US" sz="1100" dirty="0"/>
          </a:p>
        </p:txBody>
      </p:sp>
      <p:sp>
        <p:nvSpPr>
          <p:cNvPr id="14" name="Shape 10"/>
          <p:cNvSpPr/>
          <p:nvPr/>
        </p:nvSpPr>
        <p:spPr>
          <a:xfrm>
            <a:off x="640080" y="4526280"/>
            <a:ext cx="10881360" cy="1188720"/>
          </a:xfrm>
          <a:prstGeom prst="roundRect">
            <a:avLst>
              <a:gd name="adj" fmla="val 6154"/>
            </a:avLst>
          </a:prstGeom>
          <a:solidFill>
            <a:srgbClr val="1E2555"/>
          </a:solidFill>
          <a:ln/>
        </p:spPr>
      </p:sp>
      <p:sp>
        <p:nvSpPr>
          <p:cNvPr id="15" name="Shape 11"/>
          <p:cNvSpPr/>
          <p:nvPr/>
        </p:nvSpPr>
        <p:spPr>
          <a:xfrm>
            <a:off x="868680" y="4818888"/>
            <a:ext cx="594360" cy="594360"/>
          </a:xfrm>
          <a:prstGeom prst="ellipse">
            <a:avLst/>
          </a:prstGeom>
          <a:solidFill>
            <a:srgbClr val="3B1F1F"/>
          </a:solidFill>
          <a:ln/>
        </p:spPr>
      </p:sp>
      <p:pic>
        <p:nvPicPr>
          <p:cNvPr id="16" name="Image 2" descr="/home/claude/genai_pptx/icons/balance_teal.png"/>
          <p:cNvPicPr>
            <a:picLocks noChangeAspect="1"/>
          </p:cNvPicPr>
          <p:nvPr/>
        </p:nvPicPr>
        <p:blipFill>
          <a:blip r:embed="rId5"/>
          <a:stretch>
            <a:fillRect/>
          </a:stretch>
        </p:blipFill>
        <p:spPr>
          <a:xfrm>
            <a:off x="987552" y="4937760"/>
            <a:ext cx="356616" cy="356616"/>
          </a:xfrm>
          <a:prstGeom prst="rect">
            <a:avLst/>
          </a:prstGeom>
        </p:spPr>
      </p:pic>
      <p:sp>
        <p:nvSpPr>
          <p:cNvPr id="17" name="Text 12"/>
          <p:cNvSpPr/>
          <p:nvPr/>
        </p:nvSpPr>
        <p:spPr>
          <a:xfrm>
            <a:off x="1691640" y="4709160"/>
            <a:ext cx="2651760" cy="822960"/>
          </a:xfrm>
          <a:prstGeom prst="rect">
            <a:avLst/>
          </a:prstGeom>
          <a:noFill/>
          <a:ln/>
        </p:spPr>
        <p:txBody>
          <a:bodyPr wrap="square" lIns="0" tIns="0" rIns="0" bIns="0" rtlCol="0" anchor="ctr"/>
          <a:lstStyle/>
          <a:p>
            <a:pPr marL="0" indent="0">
              <a:buNone/>
            </a:pPr>
            <a:r>
              <a:rPr lang="en-US" sz="1350" b="1" dirty="0">
                <a:solidFill>
                  <a:srgbClr val="2DD4BF"/>
                </a:solidFill>
                <a:latin typeface="Calibri" pitchFamily="34" charset="0"/>
                <a:ea typeface="Calibri" pitchFamily="34" charset="-122"/>
                <a:cs typeface="Calibri" pitchFamily="34" charset="-120"/>
              </a:rPr>
              <a:t>Regulatory Compliance</a:t>
            </a:r>
            <a:endParaRPr lang="en-US" sz="1350" dirty="0"/>
          </a:p>
        </p:txBody>
      </p:sp>
      <p:sp>
        <p:nvSpPr>
          <p:cNvPr id="18" name="Text 13"/>
          <p:cNvSpPr/>
          <p:nvPr/>
        </p:nvSpPr>
        <p:spPr>
          <a:xfrm>
            <a:off x="4480560" y="4690872"/>
            <a:ext cx="6766560" cy="868680"/>
          </a:xfrm>
          <a:prstGeom prst="rect">
            <a:avLst/>
          </a:prstGeom>
          <a:noFill/>
          <a:ln/>
        </p:spPr>
        <p:txBody>
          <a:bodyPr wrap="square" lIns="0" tIns="0" rIns="0" bIns="0" rtlCol="0" anchor="ctr"/>
          <a:lstStyle/>
          <a:p>
            <a:pPr marL="0" indent="0">
              <a:lnSpc>
                <a:spcPct val="115000"/>
              </a:lnSpc>
              <a:buNone/>
            </a:pPr>
            <a:r>
              <a:rPr lang="en-US" sz="1100" dirty="0">
                <a:solidFill>
                  <a:srgbClr val="D6DAF1"/>
                </a:solidFill>
                <a:latin typeface="Calibri" pitchFamily="34" charset="0"/>
                <a:ea typeface="Calibri" pitchFamily="34" charset="-122"/>
                <a:cs typeface="Calibri" pitchFamily="34" charset="-120"/>
              </a:rPr>
              <a:t>IS teams must keep pace with emerging AI governance laws, such as the EU AI Act, that impose new documentation and risk requirements</a:t>
            </a:r>
            <a:endParaRPr lang="en-US" sz="1100" dirty="0"/>
          </a:p>
        </p:txBody>
      </p:sp>
      <p:sp>
        <p:nvSpPr>
          <p:cNvPr id="19" name="Text 14"/>
          <p:cNvSpPr/>
          <p:nvPr/>
        </p:nvSpPr>
        <p:spPr>
          <a:xfrm>
            <a:off x="457200" y="6473952"/>
            <a:ext cx="5486400" cy="274320"/>
          </a:xfrm>
          <a:prstGeom prst="rect">
            <a:avLst/>
          </a:prstGeom>
          <a:noFill/>
          <a:ln/>
        </p:spPr>
        <p:txBody>
          <a:bodyPr wrap="square" lIns="0" tIns="0" rIns="0" bIns="0" rtlCol="0" anchor="ctr"/>
          <a:lstStyle/>
          <a:p>
            <a:pPr marL="0" indent="0">
              <a:buNone/>
            </a:pPr>
            <a:r>
              <a:rPr lang="en-US" sz="1000" dirty="0">
                <a:solidFill>
                  <a:srgbClr val="6B7280"/>
                </a:solidFill>
                <a:latin typeface="Calibri" pitchFamily="34" charset="0"/>
                <a:ea typeface="Calibri" pitchFamily="34" charset="-122"/>
                <a:cs typeface="Calibri" pitchFamily="34" charset="-120"/>
              </a:rPr>
              <a:t>Generative AI and IS</a:t>
            </a:r>
            <a:endParaRPr lang="en-US" sz="1000" dirty="0"/>
          </a:p>
        </p:txBody>
      </p:sp>
      <p:sp>
        <p:nvSpPr>
          <p:cNvPr id="20" name="Text 15"/>
          <p:cNvSpPr/>
          <p:nvPr/>
        </p:nvSpPr>
        <p:spPr>
          <a:xfrm>
            <a:off x="11274552" y="6473952"/>
            <a:ext cx="457200" cy="274320"/>
          </a:xfrm>
          <a:prstGeom prst="rect">
            <a:avLst/>
          </a:prstGeom>
          <a:noFill/>
          <a:ln/>
        </p:spPr>
        <p:txBody>
          <a:bodyPr wrap="square" lIns="0" tIns="0" rIns="0" bIns="0" rtlCol="0" anchor="ctr"/>
          <a:lstStyle/>
          <a:p>
            <a:pPr marL="0" indent="0" algn="r">
              <a:buNone/>
            </a:pPr>
            <a:r>
              <a:rPr lang="en-US" sz="1000" dirty="0">
                <a:solidFill>
                  <a:srgbClr val="6B7280"/>
                </a:solidFill>
                <a:latin typeface="Calibri" pitchFamily="34" charset="0"/>
                <a:ea typeface="Calibri" pitchFamily="34" charset="-122"/>
                <a:cs typeface="Calibri" pitchFamily="34" charset="-120"/>
              </a:rPr>
              <a:t>14</a:t>
            </a:r>
            <a:endParaRPr lang="en-US" sz="10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640080" y="384048"/>
            <a:ext cx="7315200" cy="320040"/>
          </a:xfrm>
          <a:prstGeom prst="rect">
            <a:avLst/>
          </a:prstGeom>
          <a:noFill/>
          <a:ln/>
        </p:spPr>
        <p:txBody>
          <a:bodyPr wrap="square" lIns="0" tIns="0" rIns="0" bIns="0" rtlCol="0" anchor="ctr"/>
          <a:lstStyle/>
          <a:p>
            <a:pPr marL="0" indent="0">
              <a:buNone/>
            </a:pPr>
            <a:r>
              <a:rPr lang="en-US" sz="1300" b="1" kern="0" spc="200" dirty="0">
                <a:solidFill>
                  <a:srgbClr val="0F9B8E"/>
                </a:solidFill>
                <a:latin typeface="Calibri" pitchFamily="34" charset="0"/>
                <a:ea typeface="Calibri" pitchFamily="34" charset="-122"/>
                <a:cs typeface="Calibri" pitchFamily="34" charset="-120"/>
              </a:rPr>
              <a:t>6. POPULAR GENERATIVE AI TOOLS</a:t>
            </a:r>
            <a:endParaRPr lang="en-US" sz="1300" dirty="0"/>
          </a:p>
        </p:txBody>
      </p:sp>
      <p:sp>
        <p:nvSpPr>
          <p:cNvPr id="3" name="Text 1"/>
          <p:cNvSpPr/>
          <p:nvPr/>
        </p:nvSpPr>
        <p:spPr>
          <a:xfrm>
            <a:off x="640080" y="685800"/>
            <a:ext cx="9601200" cy="731520"/>
          </a:xfrm>
          <a:prstGeom prst="rect">
            <a:avLst/>
          </a:prstGeom>
          <a:noFill/>
          <a:ln/>
        </p:spPr>
        <p:txBody>
          <a:bodyPr wrap="square" lIns="0" tIns="0" rIns="0" bIns="0" rtlCol="0" anchor="ctr"/>
          <a:lstStyle/>
          <a:p>
            <a:pPr marL="0" indent="0">
              <a:buNone/>
            </a:pPr>
            <a:r>
              <a:rPr lang="en-US" sz="3200" b="1" dirty="0">
                <a:solidFill>
                  <a:srgbClr val="1E2340"/>
                </a:solidFill>
                <a:latin typeface="Cambria" pitchFamily="34" charset="0"/>
                <a:ea typeface="Cambria" pitchFamily="34" charset="-122"/>
                <a:cs typeface="Cambria" pitchFamily="34" charset="-120"/>
              </a:rPr>
              <a:t>The Current Landscape</a:t>
            </a:r>
            <a:endParaRPr lang="en-US" sz="3200" dirty="0"/>
          </a:p>
        </p:txBody>
      </p:sp>
      <p:sp>
        <p:nvSpPr>
          <p:cNvPr id="4" name="Shape 2"/>
          <p:cNvSpPr/>
          <p:nvPr/>
        </p:nvSpPr>
        <p:spPr>
          <a:xfrm>
            <a:off x="640080" y="1645920"/>
            <a:ext cx="3520440" cy="1965960"/>
          </a:xfrm>
          <a:prstGeom prst="roundRect">
            <a:avLst>
              <a:gd name="adj" fmla="val 4651"/>
            </a:avLst>
          </a:prstGeom>
          <a:solidFill>
            <a:srgbClr val="F7F8FC"/>
          </a:solidFill>
          <a:ln/>
          <a:effectLst>
            <a:outerShdw blurRad="101600" dist="38100" dir="5400000" algn="bl" rotWithShape="0">
              <a:srgbClr val="1E2340">
                <a:alpha val="12000"/>
              </a:srgbClr>
            </a:outerShdw>
          </a:effectLst>
        </p:spPr>
      </p:sp>
      <p:sp>
        <p:nvSpPr>
          <p:cNvPr id="5" name="Shape 3"/>
          <p:cNvSpPr/>
          <p:nvPr/>
        </p:nvSpPr>
        <p:spPr>
          <a:xfrm>
            <a:off x="868680" y="1874520"/>
            <a:ext cx="548640" cy="548640"/>
          </a:xfrm>
          <a:prstGeom prst="ellipse">
            <a:avLst/>
          </a:prstGeom>
          <a:solidFill>
            <a:srgbClr val="151A3D"/>
          </a:solidFill>
          <a:ln/>
        </p:spPr>
      </p:sp>
      <p:pic>
        <p:nvPicPr>
          <p:cNvPr id="6" name="Image 0" descr="/home/claude/genai_pptx/icons/comment_teal.png"/>
          <p:cNvPicPr>
            <a:picLocks noChangeAspect="1"/>
          </p:cNvPicPr>
          <p:nvPr/>
        </p:nvPicPr>
        <p:blipFill>
          <a:blip r:embed="rId3"/>
          <a:stretch>
            <a:fillRect/>
          </a:stretch>
        </p:blipFill>
        <p:spPr>
          <a:xfrm>
            <a:off x="978408" y="1984248"/>
            <a:ext cx="329184" cy="329184"/>
          </a:xfrm>
          <a:prstGeom prst="rect">
            <a:avLst/>
          </a:prstGeom>
        </p:spPr>
      </p:pic>
      <p:sp>
        <p:nvSpPr>
          <p:cNvPr id="7" name="Text 4"/>
          <p:cNvSpPr/>
          <p:nvPr/>
        </p:nvSpPr>
        <p:spPr>
          <a:xfrm>
            <a:off x="1554480" y="1901952"/>
            <a:ext cx="2423160" cy="411480"/>
          </a:xfrm>
          <a:prstGeom prst="rect">
            <a:avLst/>
          </a:prstGeom>
          <a:noFill/>
          <a:ln/>
        </p:spPr>
        <p:txBody>
          <a:bodyPr wrap="square" lIns="0" tIns="0" rIns="0" bIns="0" rtlCol="0" anchor="ctr"/>
          <a:lstStyle/>
          <a:p>
            <a:pPr marL="0" indent="0">
              <a:buNone/>
            </a:pPr>
            <a:r>
              <a:rPr lang="en-US" sz="1400" b="1" dirty="0">
                <a:solidFill>
                  <a:srgbClr val="1E2340"/>
                </a:solidFill>
                <a:latin typeface="Calibri" pitchFamily="34" charset="0"/>
                <a:ea typeface="Calibri" pitchFamily="34" charset="-122"/>
                <a:cs typeface="Calibri" pitchFamily="34" charset="-120"/>
              </a:rPr>
              <a:t>Claude</a:t>
            </a:r>
            <a:endParaRPr lang="en-US" sz="1400" dirty="0"/>
          </a:p>
        </p:txBody>
      </p:sp>
      <p:sp>
        <p:nvSpPr>
          <p:cNvPr id="8" name="Text 5"/>
          <p:cNvSpPr/>
          <p:nvPr/>
        </p:nvSpPr>
        <p:spPr>
          <a:xfrm>
            <a:off x="868680" y="2514600"/>
            <a:ext cx="3063240" cy="1005840"/>
          </a:xfrm>
          <a:prstGeom prst="rect">
            <a:avLst/>
          </a:prstGeom>
          <a:noFill/>
          <a:ln/>
        </p:spPr>
        <p:txBody>
          <a:bodyPr wrap="square" lIns="0" tIns="0" rIns="0" bIns="0" rtlCol="0" anchor="ctr"/>
          <a:lstStyle/>
          <a:p>
            <a:pPr marL="0" indent="0">
              <a:lnSpc>
                <a:spcPct val="120000"/>
              </a:lnSpc>
              <a:buNone/>
            </a:pPr>
            <a:r>
              <a:rPr lang="en-US" sz="950" dirty="0">
                <a:solidFill>
                  <a:srgbClr val="6B7280"/>
                </a:solidFill>
                <a:latin typeface="Calibri" pitchFamily="34" charset="0"/>
                <a:ea typeface="Calibri" pitchFamily="34" charset="-122"/>
                <a:cs typeface="Calibri" pitchFamily="34" charset="-120"/>
              </a:rPr>
              <a:t>Anthropic's assistant, known for careful reasoning, long-document handling, and agentic workflows in enterprise settings</a:t>
            </a:r>
            <a:endParaRPr lang="en-US" sz="950" dirty="0"/>
          </a:p>
        </p:txBody>
      </p:sp>
      <p:sp>
        <p:nvSpPr>
          <p:cNvPr id="9" name="Shape 6"/>
          <p:cNvSpPr/>
          <p:nvPr/>
        </p:nvSpPr>
        <p:spPr>
          <a:xfrm>
            <a:off x="4480560" y="1645920"/>
            <a:ext cx="3520440" cy="1965960"/>
          </a:xfrm>
          <a:prstGeom prst="roundRect">
            <a:avLst>
              <a:gd name="adj" fmla="val 4651"/>
            </a:avLst>
          </a:prstGeom>
          <a:solidFill>
            <a:srgbClr val="F7F8FC"/>
          </a:solidFill>
          <a:ln/>
          <a:effectLst>
            <a:outerShdw blurRad="101600" dist="38100" dir="5400000" algn="bl" rotWithShape="0">
              <a:srgbClr val="1E2340">
                <a:alpha val="12000"/>
              </a:srgbClr>
            </a:outerShdw>
          </a:effectLst>
        </p:spPr>
      </p:sp>
      <p:sp>
        <p:nvSpPr>
          <p:cNvPr id="10" name="Shape 7"/>
          <p:cNvSpPr/>
          <p:nvPr/>
        </p:nvSpPr>
        <p:spPr>
          <a:xfrm>
            <a:off x="4709160" y="1874520"/>
            <a:ext cx="548640" cy="548640"/>
          </a:xfrm>
          <a:prstGeom prst="ellipse">
            <a:avLst/>
          </a:prstGeom>
          <a:solidFill>
            <a:srgbClr val="151A3D"/>
          </a:solidFill>
          <a:ln/>
        </p:spPr>
      </p:sp>
      <p:pic>
        <p:nvPicPr>
          <p:cNvPr id="11" name="Image 1" descr="/home/claude/genai_pptx/icons/brain_teal.png"/>
          <p:cNvPicPr>
            <a:picLocks noChangeAspect="1"/>
          </p:cNvPicPr>
          <p:nvPr/>
        </p:nvPicPr>
        <p:blipFill>
          <a:blip r:embed="rId4"/>
          <a:stretch>
            <a:fillRect/>
          </a:stretch>
        </p:blipFill>
        <p:spPr>
          <a:xfrm>
            <a:off x="4818888" y="1984248"/>
            <a:ext cx="329184" cy="329184"/>
          </a:xfrm>
          <a:prstGeom prst="rect">
            <a:avLst/>
          </a:prstGeom>
        </p:spPr>
      </p:pic>
      <p:sp>
        <p:nvSpPr>
          <p:cNvPr id="12" name="Text 8"/>
          <p:cNvSpPr/>
          <p:nvPr/>
        </p:nvSpPr>
        <p:spPr>
          <a:xfrm>
            <a:off x="5394960" y="1901952"/>
            <a:ext cx="2423160" cy="411480"/>
          </a:xfrm>
          <a:prstGeom prst="rect">
            <a:avLst/>
          </a:prstGeom>
          <a:noFill/>
          <a:ln/>
        </p:spPr>
        <p:txBody>
          <a:bodyPr wrap="square" lIns="0" tIns="0" rIns="0" bIns="0" rtlCol="0" anchor="ctr"/>
          <a:lstStyle/>
          <a:p>
            <a:pPr marL="0" indent="0">
              <a:buNone/>
            </a:pPr>
            <a:r>
              <a:rPr lang="en-US" sz="1400" b="1" dirty="0">
                <a:solidFill>
                  <a:srgbClr val="1E2340"/>
                </a:solidFill>
                <a:latin typeface="Calibri" pitchFamily="34" charset="0"/>
                <a:ea typeface="Calibri" pitchFamily="34" charset="-122"/>
                <a:cs typeface="Calibri" pitchFamily="34" charset="-120"/>
              </a:rPr>
              <a:t>ChatGPT</a:t>
            </a:r>
            <a:endParaRPr lang="en-US" sz="1400" dirty="0"/>
          </a:p>
        </p:txBody>
      </p:sp>
      <p:sp>
        <p:nvSpPr>
          <p:cNvPr id="13" name="Text 9"/>
          <p:cNvSpPr/>
          <p:nvPr/>
        </p:nvSpPr>
        <p:spPr>
          <a:xfrm>
            <a:off x="4709160" y="2514600"/>
            <a:ext cx="3063240" cy="1005840"/>
          </a:xfrm>
          <a:prstGeom prst="rect">
            <a:avLst/>
          </a:prstGeom>
          <a:noFill/>
          <a:ln/>
        </p:spPr>
        <p:txBody>
          <a:bodyPr wrap="square" lIns="0" tIns="0" rIns="0" bIns="0" rtlCol="0" anchor="ctr"/>
          <a:lstStyle/>
          <a:p>
            <a:pPr marL="0" indent="0">
              <a:lnSpc>
                <a:spcPct val="120000"/>
              </a:lnSpc>
              <a:buNone/>
            </a:pPr>
            <a:r>
              <a:rPr lang="en-US" sz="950" dirty="0">
                <a:solidFill>
                  <a:srgbClr val="6B7280"/>
                </a:solidFill>
                <a:latin typeface="Calibri" pitchFamily="34" charset="0"/>
                <a:ea typeface="Calibri" pitchFamily="34" charset="-122"/>
                <a:cs typeface="Calibri" pitchFamily="34" charset="-120"/>
              </a:rPr>
              <a:t>OpenAI's general-purpose conversational AI, widely adopted for everyday writing, research, and coding help</a:t>
            </a:r>
            <a:endParaRPr lang="en-US" sz="950" dirty="0"/>
          </a:p>
        </p:txBody>
      </p:sp>
      <p:sp>
        <p:nvSpPr>
          <p:cNvPr id="14" name="Shape 10"/>
          <p:cNvSpPr/>
          <p:nvPr/>
        </p:nvSpPr>
        <p:spPr>
          <a:xfrm>
            <a:off x="8321040" y="1645920"/>
            <a:ext cx="3520440" cy="1965960"/>
          </a:xfrm>
          <a:prstGeom prst="roundRect">
            <a:avLst>
              <a:gd name="adj" fmla="val 4651"/>
            </a:avLst>
          </a:prstGeom>
          <a:solidFill>
            <a:srgbClr val="F7F8FC"/>
          </a:solidFill>
          <a:ln/>
          <a:effectLst>
            <a:outerShdw blurRad="101600" dist="38100" dir="5400000" algn="bl" rotWithShape="0">
              <a:srgbClr val="1E2340">
                <a:alpha val="12000"/>
              </a:srgbClr>
            </a:outerShdw>
          </a:effectLst>
        </p:spPr>
      </p:sp>
      <p:sp>
        <p:nvSpPr>
          <p:cNvPr id="15" name="Shape 11"/>
          <p:cNvSpPr/>
          <p:nvPr/>
        </p:nvSpPr>
        <p:spPr>
          <a:xfrm>
            <a:off x="8549640" y="1874520"/>
            <a:ext cx="548640" cy="548640"/>
          </a:xfrm>
          <a:prstGeom prst="ellipse">
            <a:avLst/>
          </a:prstGeom>
          <a:solidFill>
            <a:srgbClr val="151A3D"/>
          </a:solidFill>
          <a:ln/>
        </p:spPr>
      </p:sp>
      <p:pic>
        <p:nvPicPr>
          <p:cNvPr id="16" name="Image 2" descr="/home/claude/genai_pptx/icons/search_teal.png"/>
          <p:cNvPicPr>
            <a:picLocks noChangeAspect="1"/>
          </p:cNvPicPr>
          <p:nvPr/>
        </p:nvPicPr>
        <p:blipFill>
          <a:blip r:embed="rId5"/>
          <a:stretch>
            <a:fillRect/>
          </a:stretch>
        </p:blipFill>
        <p:spPr>
          <a:xfrm>
            <a:off x="8659368" y="1984248"/>
            <a:ext cx="329184" cy="329184"/>
          </a:xfrm>
          <a:prstGeom prst="rect">
            <a:avLst/>
          </a:prstGeom>
        </p:spPr>
      </p:pic>
      <p:sp>
        <p:nvSpPr>
          <p:cNvPr id="17" name="Text 12"/>
          <p:cNvSpPr/>
          <p:nvPr/>
        </p:nvSpPr>
        <p:spPr>
          <a:xfrm>
            <a:off x="9235440" y="1901952"/>
            <a:ext cx="2423160" cy="411480"/>
          </a:xfrm>
          <a:prstGeom prst="rect">
            <a:avLst/>
          </a:prstGeom>
          <a:noFill/>
          <a:ln/>
        </p:spPr>
        <p:txBody>
          <a:bodyPr wrap="square" lIns="0" tIns="0" rIns="0" bIns="0" rtlCol="0" anchor="ctr"/>
          <a:lstStyle/>
          <a:p>
            <a:pPr marL="0" indent="0">
              <a:buNone/>
            </a:pPr>
            <a:r>
              <a:rPr lang="en-US" sz="1400" b="1" dirty="0">
                <a:solidFill>
                  <a:srgbClr val="1E2340"/>
                </a:solidFill>
                <a:latin typeface="Calibri" pitchFamily="34" charset="0"/>
                <a:ea typeface="Calibri" pitchFamily="34" charset="-122"/>
                <a:cs typeface="Calibri" pitchFamily="34" charset="-120"/>
              </a:rPr>
              <a:t>Gemini</a:t>
            </a:r>
            <a:endParaRPr lang="en-US" sz="1400" dirty="0"/>
          </a:p>
        </p:txBody>
      </p:sp>
      <p:sp>
        <p:nvSpPr>
          <p:cNvPr id="18" name="Text 13"/>
          <p:cNvSpPr/>
          <p:nvPr/>
        </p:nvSpPr>
        <p:spPr>
          <a:xfrm>
            <a:off x="8549640" y="2514600"/>
            <a:ext cx="3063240" cy="1005840"/>
          </a:xfrm>
          <a:prstGeom prst="rect">
            <a:avLst/>
          </a:prstGeom>
          <a:noFill/>
          <a:ln/>
        </p:spPr>
        <p:txBody>
          <a:bodyPr wrap="square" lIns="0" tIns="0" rIns="0" bIns="0" rtlCol="0" anchor="ctr"/>
          <a:lstStyle/>
          <a:p>
            <a:pPr marL="0" indent="0">
              <a:lnSpc>
                <a:spcPct val="120000"/>
              </a:lnSpc>
              <a:buNone/>
            </a:pPr>
            <a:r>
              <a:rPr lang="en-US" sz="950" dirty="0">
                <a:solidFill>
                  <a:srgbClr val="6B7280"/>
                </a:solidFill>
                <a:latin typeface="Calibri" pitchFamily="34" charset="0"/>
                <a:ea typeface="Calibri" pitchFamily="34" charset="-122"/>
                <a:cs typeface="Calibri" pitchFamily="34" charset="-120"/>
              </a:rPr>
              <a:t>Google's multimodal assistant, tightly integrated with Search, Docs, and the broader Workspace suite</a:t>
            </a:r>
            <a:endParaRPr lang="en-US" sz="950" dirty="0"/>
          </a:p>
        </p:txBody>
      </p:sp>
      <p:sp>
        <p:nvSpPr>
          <p:cNvPr id="19" name="Shape 14"/>
          <p:cNvSpPr/>
          <p:nvPr/>
        </p:nvSpPr>
        <p:spPr>
          <a:xfrm>
            <a:off x="640080" y="3886200"/>
            <a:ext cx="3520440" cy="1965960"/>
          </a:xfrm>
          <a:prstGeom prst="roundRect">
            <a:avLst>
              <a:gd name="adj" fmla="val 4651"/>
            </a:avLst>
          </a:prstGeom>
          <a:solidFill>
            <a:srgbClr val="F7F8FC"/>
          </a:solidFill>
          <a:ln/>
          <a:effectLst>
            <a:outerShdw blurRad="101600" dist="38100" dir="5400000" algn="bl" rotWithShape="0">
              <a:srgbClr val="1E2340">
                <a:alpha val="12000"/>
              </a:srgbClr>
            </a:outerShdw>
          </a:effectLst>
        </p:spPr>
      </p:sp>
      <p:sp>
        <p:nvSpPr>
          <p:cNvPr id="20" name="Shape 15"/>
          <p:cNvSpPr/>
          <p:nvPr/>
        </p:nvSpPr>
        <p:spPr>
          <a:xfrm>
            <a:off x="868680" y="4114800"/>
            <a:ext cx="548640" cy="548640"/>
          </a:xfrm>
          <a:prstGeom prst="ellipse">
            <a:avLst/>
          </a:prstGeom>
          <a:solidFill>
            <a:srgbClr val="151A3D"/>
          </a:solidFill>
          <a:ln/>
        </p:spPr>
      </p:sp>
      <p:pic>
        <p:nvPicPr>
          <p:cNvPr id="21" name="Image 3" descr="/home/claude/genai_pptx/icons/image_teal.png"/>
          <p:cNvPicPr>
            <a:picLocks noChangeAspect="1"/>
          </p:cNvPicPr>
          <p:nvPr/>
        </p:nvPicPr>
        <p:blipFill>
          <a:blip r:embed="rId6"/>
          <a:stretch>
            <a:fillRect/>
          </a:stretch>
        </p:blipFill>
        <p:spPr>
          <a:xfrm>
            <a:off x="978408" y="4224528"/>
            <a:ext cx="329184" cy="329184"/>
          </a:xfrm>
          <a:prstGeom prst="rect">
            <a:avLst/>
          </a:prstGeom>
        </p:spPr>
      </p:pic>
      <p:sp>
        <p:nvSpPr>
          <p:cNvPr id="22" name="Text 16"/>
          <p:cNvSpPr/>
          <p:nvPr/>
        </p:nvSpPr>
        <p:spPr>
          <a:xfrm>
            <a:off x="1554480" y="4142232"/>
            <a:ext cx="2423160" cy="411480"/>
          </a:xfrm>
          <a:prstGeom prst="rect">
            <a:avLst/>
          </a:prstGeom>
          <a:noFill/>
          <a:ln/>
        </p:spPr>
        <p:txBody>
          <a:bodyPr wrap="square" lIns="0" tIns="0" rIns="0" bIns="0" rtlCol="0" anchor="ctr"/>
          <a:lstStyle/>
          <a:p>
            <a:pPr marL="0" indent="0">
              <a:buNone/>
            </a:pPr>
            <a:r>
              <a:rPr lang="en-US" sz="1400" b="1" dirty="0">
                <a:solidFill>
                  <a:srgbClr val="1E2340"/>
                </a:solidFill>
                <a:latin typeface="Calibri" pitchFamily="34" charset="0"/>
                <a:ea typeface="Calibri" pitchFamily="34" charset="-122"/>
                <a:cs typeface="Calibri" pitchFamily="34" charset="-120"/>
              </a:rPr>
              <a:t>Midjourney</a:t>
            </a:r>
            <a:endParaRPr lang="en-US" sz="1400" dirty="0"/>
          </a:p>
        </p:txBody>
      </p:sp>
      <p:sp>
        <p:nvSpPr>
          <p:cNvPr id="23" name="Text 17"/>
          <p:cNvSpPr/>
          <p:nvPr/>
        </p:nvSpPr>
        <p:spPr>
          <a:xfrm>
            <a:off x="868680" y="4754880"/>
            <a:ext cx="3063240" cy="1005840"/>
          </a:xfrm>
          <a:prstGeom prst="rect">
            <a:avLst/>
          </a:prstGeom>
          <a:noFill/>
          <a:ln/>
        </p:spPr>
        <p:txBody>
          <a:bodyPr wrap="square" lIns="0" tIns="0" rIns="0" bIns="0" rtlCol="0" anchor="ctr"/>
          <a:lstStyle/>
          <a:p>
            <a:pPr marL="0" indent="0">
              <a:lnSpc>
                <a:spcPct val="120000"/>
              </a:lnSpc>
              <a:buNone/>
            </a:pPr>
            <a:r>
              <a:rPr lang="en-US" sz="950" dirty="0">
                <a:solidFill>
                  <a:srgbClr val="6B7280"/>
                </a:solidFill>
                <a:latin typeface="Calibri" pitchFamily="34" charset="0"/>
                <a:ea typeface="Calibri" pitchFamily="34" charset="-122"/>
                <a:cs typeface="Calibri" pitchFamily="34" charset="-120"/>
              </a:rPr>
              <a:t>A leading text-to-image generator favored by designers and artists for stylized, high-quality visuals</a:t>
            </a:r>
            <a:endParaRPr lang="en-US" sz="950" dirty="0"/>
          </a:p>
        </p:txBody>
      </p:sp>
      <p:sp>
        <p:nvSpPr>
          <p:cNvPr id="24" name="Shape 18"/>
          <p:cNvSpPr/>
          <p:nvPr/>
        </p:nvSpPr>
        <p:spPr>
          <a:xfrm>
            <a:off x="4480560" y="3886200"/>
            <a:ext cx="3520440" cy="1965960"/>
          </a:xfrm>
          <a:prstGeom prst="roundRect">
            <a:avLst>
              <a:gd name="adj" fmla="val 4651"/>
            </a:avLst>
          </a:prstGeom>
          <a:solidFill>
            <a:srgbClr val="F7F8FC"/>
          </a:solidFill>
          <a:ln/>
          <a:effectLst>
            <a:outerShdw blurRad="101600" dist="38100" dir="5400000" algn="bl" rotWithShape="0">
              <a:srgbClr val="1E2340">
                <a:alpha val="12000"/>
              </a:srgbClr>
            </a:outerShdw>
          </a:effectLst>
        </p:spPr>
      </p:sp>
      <p:sp>
        <p:nvSpPr>
          <p:cNvPr id="25" name="Shape 19"/>
          <p:cNvSpPr/>
          <p:nvPr/>
        </p:nvSpPr>
        <p:spPr>
          <a:xfrm>
            <a:off x="4709160" y="4114800"/>
            <a:ext cx="548640" cy="548640"/>
          </a:xfrm>
          <a:prstGeom prst="ellipse">
            <a:avLst/>
          </a:prstGeom>
          <a:solidFill>
            <a:srgbClr val="151A3D"/>
          </a:solidFill>
          <a:ln/>
        </p:spPr>
      </p:sp>
      <p:pic>
        <p:nvPicPr>
          <p:cNvPr id="26" name="Image 4" descr="/home/claude/genai_pptx/icons/code_teal.png"/>
          <p:cNvPicPr>
            <a:picLocks noChangeAspect="1"/>
          </p:cNvPicPr>
          <p:nvPr/>
        </p:nvPicPr>
        <p:blipFill>
          <a:blip r:embed="rId7"/>
          <a:stretch>
            <a:fillRect/>
          </a:stretch>
        </p:blipFill>
        <p:spPr>
          <a:xfrm>
            <a:off x="4818888" y="4224528"/>
            <a:ext cx="329184" cy="329184"/>
          </a:xfrm>
          <a:prstGeom prst="rect">
            <a:avLst/>
          </a:prstGeom>
        </p:spPr>
      </p:pic>
      <p:sp>
        <p:nvSpPr>
          <p:cNvPr id="27" name="Text 20"/>
          <p:cNvSpPr/>
          <p:nvPr/>
        </p:nvSpPr>
        <p:spPr>
          <a:xfrm>
            <a:off x="5394960" y="4142232"/>
            <a:ext cx="2423160" cy="411480"/>
          </a:xfrm>
          <a:prstGeom prst="rect">
            <a:avLst/>
          </a:prstGeom>
          <a:noFill/>
          <a:ln/>
        </p:spPr>
        <p:txBody>
          <a:bodyPr wrap="square" lIns="0" tIns="0" rIns="0" bIns="0" rtlCol="0" anchor="ctr"/>
          <a:lstStyle/>
          <a:p>
            <a:pPr marL="0" indent="0">
              <a:buNone/>
            </a:pPr>
            <a:r>
              <a:rPr lang="en-US" sz="1400" b="1" dirty="0">
                <a:solidFill>
                  <a:srgbClr val="1E2340"/>
                </a:solidFill>
                <a:latin typeface="Calibri" pitchFamily="34" charset="0"/>
                <a:ea typeface="Calibri" pitchFamily="34" charset="-122"/>
                <a:cs typeface="Calibri" pitchFamily="34" charset="-120"/>
              </a:rPr>
              <a:t>GitHub Copilot</a:t>
            </a:r>
            <a:endParaRPr lang="en-US" sz="1400" dirty="0"/>
          </a:p>
        </p:txBody>
      </p:sp>
      <p:sp>
        <p:nvSpPr>
          <p:cNvPr id="28" name="Text 21"/>
          <p:cNvSpPr/>
          <p:nvPr/>
        </p:nvSpPr>
        <p:spPr>
          <a:xfrm>
            <a:off x="4709160" y="4754880"/>
            <a:ext cx="3063240" cy="1005840"/>
          </a:xfrm>
          <a:prstGeom prst="rect">
            <a:avLst/>
          </a:prstGeom>
          <a:noFill/>
          <a:ln/>
        </p:spPr>
        <p:txBody>
          <a:bodyPr wrap="square" lIns="0" tIns="0" rIns="0" bIns="0" rtlCol="0" anchor="ctr"/>
          <a:lstStyle/>
          <a:p>
            <a:pPr marL="0" indent="0">
              <a:lnSpc>
                <a:spcPct val="120000"/>
              </a:lnSpc>
              <a:buNone/>
            </a:pPr>
            <a:r>
              <a:rPr lang="en-US" sz="950" dirty="0">
                <a:solidFill>
                  <a:srgbClr val="6B7280"/>
                </a:solidFill>
                <a:latin typeface="Calibri" pitchFamily="34" charset="0"/>
                <a:ea typeface="Calibri" pitchFamily="34" charset="-122"/>
                <a:cs typeface="Calibri" pitchFamily="34" charset="-120"/>
              </a:rPr>
              <a:t>An AI pair-programmer built into code editors that suggests completions, functions, and tests in real time</a:t>
            </a:r>
            <a:endParaRPr lang="en-US" sz="950" dirty="0"/>
          </a:p>
        </p:txBody>
      </p:sp>
      <p:sp>
        <p:nvSpPr>
          <p:cNvPr id="29" name="Shape 22"/>
          <p:cNvSpPr/>
          <p:nvPr/>
        </p:nvSpPr>
        <p:spPr>
          <a:xfrm>
            <a:off x="8321040" y="3886200"/>
            <a:ext cx="3520440" cy="1965960"/>
          </a:xfrm>
          <a:prstGeom prst="roundRect">
            <a:avLst>
              <a:gd name="adj" fmla="val 4651"/>
            </a:avLst>
          </a:prstGeom>
          <a:solidFill>
            <a:srgbClr val="F7F8FC"/>
          </a:solidFill>
          <a:ln/>
          <a:effectLst>
            <a:outerShdw blurRad="101600" dist="38100" dir="5400000" algn="bl" rotWithShape="0">
              <a:srgbClr val="1E2340">
                <a:alpha val="12000"/>
              </a:srgbClr>
            </a:outerShdw>
          </a:effectLst>
        </p:spPr>
      </p:sp>
      <p:sp>
        <p:nvSpPr>
          <p:cNvPr id="30" name="Shape 23"/>
          <p:cNvSpPr/>
          <p:nvPr/>
        </p:nvSpPr>
        <p:spPr>
          <a:xfrm>
            <a:off x="8549640" y="4114800"/>
            <a:ext cx="548640" cy="548640"/>
          </a:xfrm>
          <a:prstGeom prst="ellipse">
            <a:avLst/>
          </a:prstGeom>
          <a:solidFill>
            <a:srgbClr val="151A3D"/>
          </a:solidFill>
          <a:ln/>
        </p:spPr>
      </p:sp>
      <p:pic>
        <p:nvPicPr>
          <p:cNvPr id="31" name="Image 5" descr="/home/claude/genai_pptx/icons/mic_teal.png"/>
          <p:cNvPicPr>
            <a:picLocks noChangeAspect="1"/>
          </p:cNvPicPr>
          <p:nvPr/>
        </p:nvPicPr>
        <p:blipFill>
          <a:blip r:embed="rId8"/>
          <a:stretch>
            <a:fillRect/>
          </a:stretch>
        </p:blipFill>
        <p:spPr>
          <a:xfrm>
            <a:off x="8659368" y="4224528"/>
            <a:ext cx="329184" cy="329184"/>
          </a:xfrm>
          <a:prstGeom prst="rect">
            <a:avLst/>
          </a:prstGeom>
        </p:spPr>
      </p:pic>
      <p:sp>
        <p:nvSpPr>
          <p:cNvPr id="32" name="Text 24"/>
          <p:cNvSpPr/>
          <p:nvPr/>
        </p:nvSpPr>
        <p:spPr>
          <a:xfrm>
            <a:off x="9235440" y="4142232"/>
            <a:ext cx="2423160" cy="411480"/>
          </a:xfrm>
          <a:prstGeom prst="rect">
            <a:avLst/>
          </a:prstGeom>
          <a:noFill/>
          <a:ln/>
        </p:spPr>
        <p:txBody>
          <a:bodyPr wrap="square" lIns="0" tIns="0" rIns="0" bIns="0" rtlCol="0" anchor="ctr"/>
          <a:lstStyle/>
          <a:p>
            <a:pPr marL="0" indent="0">
              <a:buNone/>
            </a:pPr>
            <a:r>
              <a:rPr lang="en-US" sz="1400" b="1" dirty="0">
                <a:solidFill>
                  <a:srgbClr val="1E2340"/>
                </a:solidFill>
                <a:latin typeface="Calibri" pitchFamily="34" charset="0"/>
                <a:ea typeface="Calibri" pitchFamily="34" charset="-122"/>
                <a:cs typeface="Calibri" pitchFamily="34" charset="-120"/>
              </a:rPr>
              <a:t>ElevenLabs</a:t>
            </a:r>
            <a:endParaRPr lang="en-US" sz="1400" dirty="0"/>
          </a:p>
        </p:txBody>
      </p:sp>
      <p:sp>
        <p:nvSpPr>
          <p:cNvPr id="33" name="Text 25"/>
          <p:cNvSpPr/>
          <p:nvPr/>
        </p:nvSpPr>
        <p:spPr>
          <a:xfrm>
            <a:off x="8549640" y="4754880"/>
            <a:ext cx="3063240" cy="1005840"/>
          </a:xfrm>
          <a:prstGeom prst="rect">
            <a:avLst/>
          </a:prstGeom>
          <a:noFill/>
          <a:ln/>
        </p:spPr>
        <p:txBody>
          <a:bodyPr wrap="square" lIns="0" tIns="0" rIns="0" bIns="0" rtlCol="0" anchor="ctr"/>
          <a:lstStyle/>
          <a:p>
            <a:pPr marL="0" indent="0">
              <a:lnSpc>
                <a:spcPct val="120000"/>
              </a:lnSpc>
              <a:buNone/>
            </a:pPr>
            <a:r>
              <a:rPr lang="en-US" sz="950" dirty="0">
                <a:solidFill>
                  <a:srgbClr val="6B7280"/>
                </a:solidFill>
                <a:latin typeface="Calibri" pitchFamily="34" charset="0"/>
                <a:ea typeface="Calibri" pitchFamily="34" charset="-122"/>
                <a:cs typeface="Calibri" pitchFamily="34" charset="-120"/>
              </a:rPr>
              <a:t>A voice AI platform used for realistic speech synthesis, narration, and voice cloning</a:t>
            </a:r>
            <a:endParaRPr lang="en-US" sz="950" dirty="0"/>
          </a:p>
        </p:txBody>
      </p:sp>
      <p:sp>
        <p:nvSpPr>
          <p:cNvPr id="34" name="Text 26"/>
          <p:cNvSpPr/>
          <p:nvPr/>
        </p:nvSpPr>
        <p:spPr>
          <a:xfrm>
            <a:off x="457200" y="6473952"/>
            <a:ext cx="5486400" cy="274320"/>
          </a:xfrm>
          <a:prstGeom prst="rect">
            <a:avLst/>
          </a:prstGeom>
          <a:noFill/>
          <a:ln/>
        </p:spPr>
        <p:txBody>
          <a:bodyPr wrap="square" lIns="0" tIns="0" rIns="0" bIns="0" rtlCol="0" anchor="ctr"/>
          <a:lstStyle/>
          <a:p>
            <a:pPr marL="0" indent="0">
              <a:buNone/>
            </a:pPr>
            <a:r>
              <a:rPr lang="en-US" sz="1000" dirty="0">
                <a:solidFill>
                  <a:srgbClr val="6B7280"/>
                </a:solidFill>
                <a:latin typeface="Calibri" pitchFamily="34" charset="0"/>
                <a:ea typeface="Calibri" pitchFamily="34" charset="-122"/>
                <a:cs typeface="Calibri" pitchFamily="34" charset="-120"/>
              </a:rPr>
              <a:t>Generative AI and IS</a:t>
            </a:r>
            <a:endParaRPr lang="en-US" sz="1000" dirty="0"/>
          </a:p>
        </p:txBody>
      </p:sp>
      <p:sp>
        <p:nvSpPr>
          <p:cNvPr id="35" name="Text 27"/>
          <p:cNvSpPr/>
          <p:nvPr/>
        </p:nvSpPr>
        <p:spPr>
          <a:xfrm>
            <a:off x="11274552" y="6473952"/>
            <a:ext cx="457200" cy="274320"/>
          </a:xfrm>
          <a:prstGeom prst="rect">
            <a:avLst/>
          </a:prstGeom>
          <a:noFill/>
          <a:ln/>
        </p:spPr>
        <p:txBody>
          <a:bodyPr wrap="square" lIns="0" tIns="0" rIns="0" bIns="0" rtlCol="0" anchor="ctr"/>
          <a:lstStyle/>
          <a:p>
            <a:pPr marL="0" indent="0" algn="r">
              <a:buNone/>
            </a:pPr>
            <a:r>
              <a:rPr lang="en-US" sz="1000" dirty="0">
                <a:solidFill>
                  <a:srgbClr val="6B7280"/>
                </a:solidFill>
                <a:latin typeface="Calibri" pitchFamily="34" charset="0"/>
                <a:ea typeface="Calibri" pitchFamily="34" charset="-122"/>
                <a:cs typeface="Calibri" pitchFamily="34" charset="-120"/>
              </a:rPr>
              <a:t>15</a:t>
            </a:r>
            <a:endParaRPr lang="en-US" sz="10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6">
    <p:bg>
      <p:bgPr>
        <a:solidFill>
          <a:srgbClr val="F7F8FC"/>
        </a:solidFill>
        <a:effectLst/>
      </p:bgPr>
    </p:bg>
    <p:spTree>
      <p:nvGrpSpPr>
        <p:cNvPr id="1" name=""/>
        <p:cNvGrpSpPr/>
        <p:nvPr/>
      </p:nvGrpSpPr>
      <p:grpSpPr>
        <a:xfrm>
          <a:off x="0" y="0"/>
          <a:ext cx="0" cy="0"/>
          <a:chOff x="0" y="0"/>
          <a:chExt cx="0" cy="0"/>
        </a:xfrm>
      </p:grpSpPr>
      <p:sp>
        <p:nvSpPr>
          <p:cNvPr id="2" name="Text 0"/>
          <p:cNvSpPr/>
          <p:nvPr/>
        </p:nvSpPr>
        <p:spPr>
          <a:xfrm>
            <a:off x="640080" y="384048"/>
            <a:ext cx="7315200" cy="320040"/>
          </a:xfrm>
          <a:prstGeom prst="rect">
            <a:avLst/>
          </a:prstGeom>
          <a:noFill/>
          <a:ln/>
        </p:spPr>
        <p:txBody>
          <a:bodyPr wrap="square" lIns="0" tIns="0" rIns="0" bIns="0" rtlCol="0" anchor="ctr"/>
          <a:lstStyle/>
          <a:p>
            <a:pPr marL="0" indent="0">
              <a:buNone/>
            </a:pPr>
            <a:r>
              <a:rPr lang="en-US" sz="1300" b="1" kern="0" spc="200" dirty="0">
                <a:solidFill>
                  <a:srgbClr val="0F9B8E"/>
                </a:solidFill>
                <a:latin typeface="Calibri" pitchFamily="34" charset="0"/>
                <a:ea typeface="Calibri" pitchFamily="34" charset="-122"/>
                <a:cs typeface="Calibri" pitchFamily="34" charset="-120"/>
              </a:rPr>
              <a:t>6. POPULAR GENERATIVE AI TOOLS</a:t>
            </a:r>
            <a:endParaRPr lang="en-US" sz="1300" dirty="0"/>
          </a:p>
        </p:txBody>
      </p:sp>
      <p:sp>
        <p:nvSpPr>
          <p:cNvPr id="3" name="Text 1"/>
          <p:cNvSpPr/>
          <p:nvPr/>
        </p:nvSpPr>
        <p:spPr>
          <a:xfrm>
            <a:off x="640080" y="685800"/>
            <a:ext cx="9601200" cy="731520"/>
          </a:xfrm>
          <a:prstGeom prst="rect">
            <a:avLst/>
          </a:prstGeom>
          <a:noFill/>
          <a:ln/>
        </p:spPr>
        <p:txBody>
          <a:bodyPr wrap="square" lIns="0" tIns="0" rIns="0" bIns="0" rtlCol="0" anchor="ctr"/>
          <a:lstStyle/>
          <a:p>
            <a:pPr marL="0" indent="0">
              <a:buNone/>
            </a:pPr>
            <a:r>
              <a:rPr lang="en-US" sz="3200" b="1" dirty="0">
                <a:solidFill>
                  <a:srgbClr val="1E2340"/>
                </a:solidFill>
                <a:latin typeface="Cambria" pitchFamily="34" charset="0"/>
                <a:ea typeface="Cambria" pitchFamily="34" charset="-122"/>
                <a:cs typeface="Cambria" pitchFamily="34" charset="-120"/>
              </a:rPr>
              <a:t>Choosing the Right Tool</a:t>
            </a:r>
            <a:endParaRPr lang="en-US" sz="3200" dirty="0"/>
          </a:p>
        </p:txBody>
      </p:sp>
      <p:sp>
        <p:nvSpPr>
          <p:cNvPr id="4" name="Text 2"/>
          <p:cNvSpPr/>
          <p:nvPr/>
        </p:nvSpPr>
        <p:spPr>
          <a:xfrm>
            <a:off x="640080" y="1417320"/>
            <a:ext cx="10881360" cy="457200"/>
          </a:xfrm>
          <a:prstGeom prst="rect">
            <a:avLst/>
          </a:prstGeom>
          <a:noFill/>
          <a:ln/>
        </p:spPr>
        <p:txBody>
          <a:bodyPr wrap="square" lIns="0" tIns="0" rIns="0" bIns="0" rtlCol="0" anchor="ctr"/>
          <a:lstStyle/>
          <a:p>
            <a:pPr marL="0" indent="0">
              <a:lnSpc>
                <a:spcPct val="120000"/>
              </a:lnSpc>
              <a:buNone/>
            </a:pPr>
            <a:r>
              <a:rPr lang="en-US" sz="1200" dirty="0">
                <a:solidFill>
                  <a:srgbClr val="6B7280"/>
                </a:solidFill>
                <a:latin typeface="Calibri" pitchFamily="34" charset="0"/>
                <a:ea typeface="Calibri" pitchFamily="34" charset="-122"/>
                <a:cs typeface="Calibri" pitchFamily="34" charset="-120"/>
              </a:rPr>
              <a:t>No single tool fits every job. In practice, organizations mix and match based on the content type, level of oversight required, and how deeply the tool needs to integrate with existing systems.</a:t>
            </a:r>
            <a:endParaRPr lang="en-US" sz="1200" dirty="0"/>
          </a:p>
        </p:txBody>
      </p:sp>
      <p:graphicFrame>
        <p:nvGraphicFramePr>
          <p:cNvPr id="17" name="Table 0"/>
          <p:cNvGraphicFramePr>
            <a:graphicFrameLocks noGrp="1"/>
          </p:cNvGraphicFramePr>
          <p:nvPr>
            <p:extLst>
              <p:ext uri="{D42A27DB-BD31-4B8C-83A1-F6EECF244321}">
                <p14:modId xmlns:p14="http://schemas.microsoft.com/office/powerpoint/2010/main" val="1579011935"/>
              </p:ext>
            </p:extLst>
          </p:nvPr>
        </p:nvGraphicFramePr>
        <p:xfrm>
          <a:off x="640080" y="2011680"/>
          <a:ext cx="10881360" cy="3749040"/>
        </p:xfrm>
        <a:graphic>
          <a:graphicData uri="http://schemas.openxmlformats.org/drawingml/2006/table">
            <a:tbl>
              <a:tblPr/>
              <a:tblGrid>
                <a:gridCol w="2286000">
                  <a:extLst>
                    <a:ext uri="{9D8B030D-6E8A-4147-A177-3AD203B41FA5}">
                      <a16:colId xmlns:a16="http://schemas.microsoft.com/office/drawing/2014/main" val="20000"/>
                    </a:ext>
                  </a:extLst>
                </a:gridCol>
                <a:gridCol w="3566160">
                  <a:extLst>
                    <a:ext uri="{9D8B030D-6E8A-4147-A177-3AD203B41FA5}">
                      <a16:colId xmlns:a16="http://schemas.microsoft.com/office/drawing/2014/main" val="20001"/>
                    </a:ext>
                  </a:extLst>
                </a:gridCol>
                <a:gridCol w="2286000">
                  <a:extLst>
                    <a:ext uri="{9D8B030D-6E8A-4147-A177-3AD203B41FA5}">
                      <a16:colId xmlns:a16="http://schemas.microsoft.com/office/drawing/2014/main" val="20002"/>
                    </a:ext>
                  </a:extLst>
                </a:gridCol>
                <a:gridCol w="2743200">
                  <a:extLst>
                    <a:ext uri="{9D8B030D-6E8A-4147-A177-3AD203B41FA5}">
                      <a16:colId xmlns:a16="http://schemas.microsoft.com/office/drawing/2014/main" val="20003"/>
                    </a:ext>
                  </a:extLst>
                </a:gridCol>
              </a:tblGrid>
              <a:tr h="624840">
                <a:tc>
                  <a:txBody>
                    <a:bodyPr/>
                    <a:lstStyle/>
                    <a:p>
                      <a:pPr marL="0" indent="0">
                        <a:buNone/>
                      </a:pPr>
                      <a:r>
                        <a:rPr lang="en-US" sz="1150" b="1" dirty="0">
                          <a:solidFill>
                            <a:srgbClr val="FFFFFF"/>
                          </a:solidFill>
                          <a:latin typeface="Calibri" pitchFamily="34" charset="0"/>
                          <a:ea typeface="Calibri" pitchFamily="34" charset="-122"/>
                          <a:cs typeface="Calibri" pitchFamily="34" charset="-120"/>
                        </a:rPr>
                        <a:t>Tool</a:t>
                      </a:r>
                      <a:endParaRPr lang="en-US" sz="1150" dirty="0">
                        <a:latin typeface="Calibri" charset="0"/>
                        <a:ea typeface="Calibri" charset="0"/>
                        <a:cs typeface="Calibri" charset="0"/>
                      </a:endParaRPr>
                    </a:p>
                  </a:txBody>
                  <a:tcPr marL="127000" marR="127000" marT="76200" marB="76200" anchor="ctr">
                    <a:lnL w="6350" cap="flat" cmpd="sng" algn="ctr">
                      <a:solidFill>
                        <a:srgbClr val="E4E7F0"/>
                      </a:solidFill>
                      <a:prstDash val="solid"/>
                      <a:round/>
                      <a:headEnd type="none" w="med" len="med"/>
                      <a:tailEnd type="none" w="med" len="med"/>
                    </a:lnL>
                    <a:lnR w="6350" cap="flat" cmpd="sng" algn="ctr">
                      <a:solidFill>
                        <a:srgbClr val="E4E7F0"/>
                      </a:solidFill>
                      <a:prstDash val="solid"/>
                      <a:round/>
                      <a:headEnd type="none" w="med" len="med"/>
                      <a:tailEnd type="none" w="med" len="med"/>
                    </a:lnR>
                    <a:lnT w="6350" cap="flat" cmpd="sng" algn="ctr">
                      <a:solidFill>
                        <a:srgbClr val="E4E7F0"/>
                      </a:solidFill>
                      <a:prstDash val="solid"/>
                      <a:round/>
                      <a:headEnd type="none" w="med" len="med"/>
                      <a:tailEnd type="none" w="med" len="med"/>
                    </a:lnT>
                    <a:lnB w="6350" cap="flat" cmpd="sng" algn="ctr">
                      <a:solidFill>
                        <a:srgbClr val="E4E7F0"/>
                      </a:solidFill>
                      <a:prstDash val="solid"/>
                      <a:round/>
                      <a:headEnd type="none" w="med" len="med"/>
                      <a:tailEnd type="none" w="med" len="med"/>
                    </a:lnB>
                    <a:solidFill>
                      <a:srgbClr val="151A3D"/>
                    </a:solidFill>
                  </a:tcPr>
                </a:tc>
                <a:tc>
                  <a:txBody>
                    <a:bodyPr/>
                    <a:lstStyle/>
                    <a:p>
                      <a:pPr marL="0" indent="0">
                        <a:buNone/>
                      </a:pPr>
                      <a:r>
                        <a:rPr lang="en-US" sz="1150" b="1" dirty="0">
                          <a:solidFill>
                            <a:srgbClr val="FFFFFF"/>
                          </a:solidFill>
                          <a:latin typeface="Calibri" pitchFamily="34" charset="0"/>
                          <a:ea typeface="Calibri" pitchFamily="34" charset="-122"/>
                          <a:cs typeface="Calibri" pitchFamily="34" charset="-120"/>
                        </a:rPr>
                        <a:t>Primary Use</a:t>
                      </a:r>
                      <a:endParaRPr lang="en-US" sz="1150" dirty="0">
                        <a:latin typeface="Calibri" charset="0"/>
                        <a:ea typeface="Calibri" charset="0"/>
                        <a:cs typeface="Calibri" charset="0"/>
                      </a:endParaRPr>
                    </a:p>
                  </a:txBody>
                  <a:tcPr marL="127000" marR="127000" marT="76200" marB="76200" anchor="ctr">
                    <a:lnL w="6350" cap="flat" cmpd="sng" algn="ctr">
                      <a:solidFill>
                        <a:srgbClr val="E4E7F0"/>
                      </a:solidFill>
                      <a:prstDash val="solid"/>
                      <a:round/>
                      <a:headEnd type="none" w="med" len="med"/>
                      <a:tailEnd type="none" w="med" len="med"/>
                    </a:lnL>
                    <a:lnR w="6350" cap="flat" cmpd="sng" algn="ctr">
                      <a:solidFill>
                        <a:srgbClr val="E4E7F0"/>
                      </a:solidFill>
                      <a:prstDash val="solid"/>
                      <a:round/>
                      <a:headEnd type="none" w="med" len="med"/>
                      <a:tailEnd type="none" w="med" len="med"/>
                    </a:lnR>
                    <a:lnT w="6350" cap="flat" cmpd="sng" algn="ctr">
                      <a:solidFill>
                        <a:srgbClr val="E4E7F0"/>
                      </a:solidFill>
                      <a:prstDash val="solid"/>
                      <a:round/>
                      <a:headEnd type="none" w="med" len="med"/>
                      <a:tailEnd type="none" w="med" len="med"/>
                    </a:lnT>
                    <a:lnB w="6350" cap="flat" cmpd="sng" algn="ctr">
                      <a:solidFill>
                        <a:srgbClr val="E4E7F0"/>
                      </a:solidFill>
                      <a:prstDash val="solid"/>
                      <a:round/>
                      <a:headEnd type="none" w="med" len="med"/>
                      <a:tailEnd type="none" w="med" len="med"/>
                    </a:lnB>
                    <a:solidFill>
                      <a:srgbClr val="151A3D"/>
                    </a:solidFill>
                  </a:tcPr>
                </a:tc>
                <a:tc>
                  <a:txBody>
                    <a:bodyPr/>
                    <a:lstStyle/>
                    <a:p>
                      <a:pPr marL="0" indent="0">
                        <a:buNone/>
                      </a:pPr>
                      <a:r>
                        <a:rPr lang="en-US" sz="1150" b="1" dirty="0">
                          <a:solidFill>
                            <a:srgbClr val="FFFFFF"/>
                          </a:solidFill>
                          <a:latin typeface="Calibri" pitchFamily="34" charset="0"/>
                          <a:ea typeface="Calibri" pitchFamily="34" charset="-122"/>
                          <a:cs typeface="Calibri" pitchFamily="34" charset="-120"/>
                        </a:rPr>
                        <a:t>Content Type</a:t>
                      </a:r>
                      <a:endParaRPr lang="en-US" sz="1150" dirty="0">
                        <a:latin typeface="Calibri" charset="0"/>
                        <a:ea typeface="Calibri" charset="0"/>
                        <a:cs typeface="Calibri" charset="0"/>
                      </a:endParaRPr>
                    </a:p>
                  </a:txBody>
                  <a:tcPr marL="127000" marR="127000" marT="76200" marB="76200" anchor="ctr">
                    <a:lnL w="6350" cap="flat" cmpd="sng" algn="ctr">
                      <a:solidFill>
                        <a:srgbClr val="E4E7F0"/>
                      </a:solidFill>
                      <a:prstDash val="solid"/>
                      <a:round/>
                      <a:headEnd type="none" w="med" len="med"/>
                      <a:tailEnd type="none" w="med" len="med"/>
                    </a:lnL>
                    <a:lnR w="6350" cap="flat" cmpd="sng" algn="ctr">
                      <a:solidFill>
                        <a:srgbClr val="E4E7F0"/>
                      </a:solidFill>
                      <a:prstDash val="solid"/>
                      <a:round/>
                      <a:headEnd type="none" w="med" len="med"/>
                      <a:tailEnd type="none" w="med" len="med"/>
                    </a:lnR>
                    <a:lnT w="6350" cap="flat" cmpd="sng" algn="ctr">
                      <a:solidFill>
                        <a:srgbClr val="E4E7F0"/>
                      </a:solidFill>
                      <a:prstDash val="solid"/>
                      <a:round/>
                      <a:headEnd type="none" w="med" len="med"/>
                      <a:tailEnd type="none" w="med" len="med"/>
                    </a:lnT>
                    <a:lnB w="6350" cap="flat" cmpd="sng" algn="ctr">
                      <a:solidFill>
                        <a:srgbClr val="E4E7F0"/>
                      </a:solidFill>
                      <a:prstDash val="solid"/>
                      <a:round/>
                      <a:headEnd type="none" w="med" len="med"/>
                      <a:tailEnd type="none" w="med" len="med"/>
                    </a:lnB>
                    <a:solidFill>
                      <a:srgbClr val="151A3D"/>
                    </a:solidFill>
                  </a:tcPr>
                </a:tc>
                <a:tc>
                  <a:txBody>
                    <a:bodyPr/>
                    <a:lstStyle/>
                    <a:p>
                      <a:pPr marL="0" indent="0">
                        <a:buNone/>
                      </a:pPr>
                      <a:r>
                        <a:rPr lang="en-US" sz="1150" b="1" dirty="0">
                          <a:solidFill>
                            <a:srgbClr val="FFFFFF"/>
                          </a:solidFill>
                          <a:latin typeface="Calibri" pitchFamily="34" charset="0"/>
                          <a:ea typeface="Calibri" pitchFamily="34" charset="-122"/>
                          <a:cs typeface="Calibri" pitchFamily="34" charset="-120"/>
                        </a:rPr>
                        <a:t>Best For</a:t>
                      </a:r>
                      <a:endParaRPr lang="en-US" sz="1150" dirty="0">
                        <a:latin typeface="Calibri" charset="0"/>
                        <a:ea typeface="Calibri" charset="0"/>
                        <a:cs typeface="Calibri" charset="0"/>
                      </a:endParaRPr>
                    </a:p>
                  </a:txBody>
                  <a:tcPr marL="127000" marR="127000" marT="76200" marB="76200" anchor="ctr">
                    <a:lnL w="6350" cap="flat" cmpd="sng" algn="ctr">
                      <a:solidFill>
                        <a:srgbClr val="E4E7F0"/>
                      </a:solidFill>
                      <a:prstDash val="solid"/>
                      <a:round/>
                      <a:headEnd type="none" w="med" len="med"/>
                      <a:tailEnd type="none" w="med" len="med"/>
                    </a:lnL>
                    <a:lnR w="6350" cap="flat" cmpd="sng" algn="ctr">
                      <a:solidFill>
                        <a:srgbClr val="E4E7F0"/>
                      </a:solidFill>
                      <a:prstDash val="solid"/>
                      <a:round/>
                      <a:headEnd type="none" w="med" len="med"/>
                      <a:tailEnd type="none" w="med" len="med"/>
                    </a:lnR>
                    <a:lnT w="6350" cap="flat" cmpd="sng" algn="ctr">
                      <a:solidFill>
                        <a:srgbClr val="E4E7F0"/>
                      </a:solidFill>
                      <a:prstDash val="solid"/>
                      <a:round/>
                      <a:headEnd type="none" w="med" len="med"/>
                      <a:tailEnd type="none" w="med" len="med"/>
                    </a:lnT>
                    <a:lnB w="6350" cap="flat" cmpd="sng" algn="ctr">
                      <a:solidFill>
                        <a:srgbClr val="E4E7F0"/>
                      </a:solidFill>
                      <a:prstDash val="solid"/>
                      <a:round/>
                      <a:headEnd type="none" w="med" len="med"/>
                      <a:tailEnd type="none" w="med" len="med"/>
                    </a:lnB>
                    <a:solidFill>
                      <a:srgbClr val="151A3D"/>
                    </a:solidFill>
                  </a:tcPr>
                </a:tc>
                <a:extLst>
                  <a:ext uri="{0D108BD9-81ED-4DB2-BD59-A6C34878D82A}">
                    <a16:rowId xmlns:a16="http://schemas.microsoft.com/office/drawing/2014/main" val="10000"/>
                  </a:ext>
                </a:extLst>
              </a:tr>
              <a:tr h="624840">
                <a:tc>
                  <a:txBody>
                    <a:bodyPr/>
                    <a:lstStyle/>
                    <a:p>
                      <a:pPr marL="0" indent="0">
                        <a:buNone/>
                      </a:pPr>
                      <a:r>
                        <a:rPr lang="en-US" sz="1150" dirty="0">
                          <a:solidFill>
                            <a:srgbClr val="1E2340"/>
                          </a:solidFill>
                          <a:latin typeface="Calibri" pitchFamily="34" charset="0"/>
                          <a:ea typeface="Calibri" pitchFamily="34" charset="-122"/>
                          <a:cs typeface="Calibri" pitchFamily="34" charset="-120"/>
                        </a:rPr>
                        <a:t>Claude</a:t>
                      </a:r>
                      <a:endParaRPr lang="en-US" sz="1150" dirty="0">
                        <a:latin typeface="Calibri" charset="0"/>
                        <a:ea typeface="Calibri" charset="0"/>
                        <a:cs typeface="Calibri" charset="0"/>
                      </a:endParaRPr>
                    </a:p>
                  </a:txBody>
                  <a:tcPr marL="127000" marR="127000" marT="76200" marB="76200" anchor="ctr">
                    <a:lnL w="6350" cap="flat" cmpd="sng" algn="ctr">
                      <a:solidFill>
                        <a:srgbClr val="E4E7F0"/>
                      </a:solidFill>
                      <a:prstDash val="solid"/>
                      <a:round/>
                      <a:headEnd type="none" w="med" len="med"/>
                      <a:tailEnd type="none" w="med" len="med"/>
                    </a:lnL>
                    <a:lnR w="6350" cap="flat" cmpd="sng" algn="ctr">
                      <a:solidFill>
                        <a:srgbClr val="E4E7F0"/>
                      </a:solidFill>
                      <a:prstDash val="solid"/>
                      <a:round/>
                      <a:headEnd type="none" w="med" len="med"/>
                      <a:tailEnd type="none" w="med" len="med"/>
                    </a:lnR>
                    <a:lnT w="6350" cap="flat" cmpd="sng" algn="ctr">
                      <a:solidFill>
                        <a:srgbClr val="E4E7F0"/>
                      </a:solidFill>
                      <a:prstDash val="solid"/>
                      <a:round/>
                      <a:headEnd type="none" w="med" len="med"/>
                      <a:tailEnd type="none" w="med" len="med"/>
                    </a:lnT>
                    <a:lnB w="6350" cap="flat" cmpd="sng" algn="ctr">
                      <a:solidFill>
                        <a:srgbClr val="E4E7F0"/>
                      </a:solidFill>
                      <a:prstDash val="solid"/>
                      <a:round/>
                      <a:headEnd type="none" w="med" len="med"/>
                      <a:tailEnd type="none" w="med" len="med"/>
                    </a:lnB>
                    <a:solidFill>
                      <a:srgbClr val="FFFFFF"/>
                    </a:solidFill>
                  </a:tcPr>
                </a:tc>
                <a:tc>
                  <a:txBody>
                    <a:bodyPr/>
                    <a:lstStyle/>
                    <a:p>
                      <a:pPr marL="0" indent="0">
                        <a:buNone/>
                      </a:pPr>
                      <a:r>
                        <a:rPr lang="en-US" sz="1150" dirty="0">
                          <a:solidFill>
                            <a:srgbClr val="1E2340"/>
                          </a:solidFill>
                          <a:latin typeface="Calibri" pitchFamily="34" charset="0"/>
                          <a:ea typeface="Calibri" pitchFamily="34" charset="-122"/>
                          <a:cs typeface="Calibri" pitchFamily="34" charset="-120"/>
                        </a:rPr>
                        <a:t>Conversation, long-document writing, agentic workflows</a:t>
                      </a:r>
                      <a:endParaRPr lang="en-US" sz="1150" dirty="0">
                        <a:latin typeface="Calibri" charset="0"/>
                        <a:ea typeface="Calibri" charset="0"/>
                        <a:cs typeface="Calibri" charset="0"/>
                      </a:endParaRPr>
                    </a:p>
                  </a:txBody>
                  <a:tcPr marL="127000" marR="127000" marT="76200" marB="76200" anchor="ctr">
                    <a:lnL w="6350" cap="flat" cmpd="sng" algn="ctr">
                      <a:solidFill>
                        <a:srgbClr val="E4E7F0"/>
                      </a:solidFill>
                      <a:prstDash val="solid"/>
                      <a:round/>
                      <a:headEnd type="none" w="med" len="med"/>
                      <a:tailEnd type="none" w="med" len="med"/>
                    </a:lnL>
                    <a:lnR w="6350" cap="flat" cmpd="sng" algn="ctr">
                      <a:solidFill>
                        <a:srgbClr val="E4E7F0"/>
                      </a:solidFill>
                      <a:prstDash val="solid"/>
                      <a:round/>
                      <a:headEnd type="none" w="med" len="med"/>
                      <a:tailEnd type="none" w="med" len="med"/>
                    </a:lnR>
                    <a:lnT w="6350" cap="flat" cmpd="sng" algn="ctr">
                      <a:solidFill>
                        <a:srgbClr val="E4E7F0"/>
                      </a:solidFill>
                      <a:prstDash val="solid"/>
                      <a:round/>
                      <a:headEnd type="none" w="med" len="med"/>
                      <a:tailEnd type="none" w="med" len="med"/>
                    </a:lnT>
                    <a:lnB w="6350" cap="flat" cmpd="sng" algn="ctr">
                      <a:solidFill>
                        <a:srgbClr val="E4E7F0"/>
                      </a:solidFill>
                      <a:prstDash val="solid"/>
                      <a:round/>
                      <a:headEnd type="none" w="med" len="med"/>
                      <a:tailEnd type="none" w="med" len="med"/>
                    </a:lnB>
                    <a:solidFill>
                      <a:srgbClr val="FFFFFF"/>
                    </a:solidFill>
                  </a:tcPr>
                </a:tc>
                <a:tc>
                  <a:txBody>
                    <a:bodyPr/>
                    <a:lstStyle/>
                    <a:p>
                      <a:pPr marL="0" indent="0">
                        <a:buNone/>
                      </a:pPr>
                      <a:r>
                        <a:rPr lang="en-US" sz="1150" dirty="0">
                          <a:solidFill>
                            <a:srgbClr val="1E2340"/>
                          </a:solidFill>
                          <a:latin typeface="Calibri" pitchFamily="34" charset="0"/>
                          <a:ea typeface="Calibri" pitchFamily="34" charset="-122"/>
                          <a:cs typeface="Calibri" pitchFamily="34" charset="-120"/>
                        </a:rPr>
                        <a:t>Text, code, documents</a:t>
                      </a:r>
                      <a:endParaRPr lang="en-US" sz="1150" dirty="0">
                        <a:latin typeface="Calibri" charset="0"/>
                        <a:ea typeface="Calibri" charset="0"/>
                        <a:cs typeface="Calibri" charset="0"/>
                      </a:endParaRPr>
                    </a:p>
                  </a:txBody>
                  <a:tcPr marL="127000" marR="127000" marT="76200" marB="76200" anchor="ctr">
                    <a:lnL w="6350" cap="flat" cmpd="sng" algn="ctr">
                      <a:solidFill>
                        <a:srgbClr val="E4E7F0"/>
                      </a:solidFill>
                      <a:prstDash val="solid"/>
                      <a:round/>
                      <a:headEnd type="none" w="med" len="med"/>
                      <a:tailEnd type="none" w="med" len="med"/>
                    </a:lnL>
                    <a:lnR w="6350" cap="flat" cmpd="sng" algn="ctr">
                      <a:solidFill>
                        <a:srgbClr val="E4E7F0"/>
                      </a:solidFill>
                      <a:prstDash val="solid"/>
                      <a:round/>
                      <a:headEnd type="none" w="med" len="med"/>
                      <a:tailEnd type="none" w="med" len="med"/>
                    </a:lnR>
                    <a:lnT w="6350" cap="flat" cmpd="sng" algn="ctr">
                      <a:solidFill>
                        <a:srgbClr val="E4E7F0"/>
                      </a:solidFill>
                      <a:prstDash val="solid"/>
                      <a:round/>
                      <a:headEnd type="none" w="med" len="med"/>
                      <a:tailEnd type="none" w="med" len="med"/>
                    </a:lnT>
                    <a:lnB w="6350" cap="flat" cmpd="sng" algn="ctr">
                      <a:solidFill>
                        <a:srgbClr val="E4E7F0"/>
                      </a:solidFill>
                      <a:prstDash val="solid"/>
                      <a:round/>
                      <a:headEnd type="none" w="med" len="med"/>
                      <a:tailEnd type="none" w="med" len="med"/>
                    </a:lnB>
                    <a:solidFill>
                      <a:srgbClr val="FFFFFF"/>
                    </a:solidFill>
                  </a:tcPr>
                </a:tc>
                <a:tc>
                  <a:txBody>
                    <a:bodyPr/>
                    <a:lstStyle/>
                    <a:p>
                      <a:pPr marL="0" indent="0">
                        <a:buNone/>
                      </a:pPr>
                      <a:r>
                        <a:rPr lang="en-US" sz="1150" dirty="0">
                          <a:solidFill>
                            <a:srgbClr val="1E2340"/>
                          </a:solidFill>
                          <a:latin typeface="Calibri" pitchFamily="34" charset="0"/>
                          <a:ea typeface="Calibri" pitchFamily="34" charset="-122"/>
                          <a:cs typeface="Calibri" pitchFamily="34" charset="-120"/>
                        </a:rPr>
                        <a:t>Enterprise &amp; IS tasks</a:t>
                      </a:r>
                      <a:endParaRPr lang="en-US" sz="1150" dirty="0">
                        <a:latin typeface="Calibri" charset="0"/>
                        <a:ea typeface="Calibri" charset="0"/>
                        <a:cs typeface="Calibri" charset="0"/>
                      </a:endParaRPr>
                    </a:p>
                  </a:txBody>
                  <a:tcPr marL="127000" marR="127000" marT="76200" marB="76200" anchor="ctr">
                    <a:lnL w="6350" cap="flat" cmpd="sng" algn="ctr">
                      <a:solidFill>
                        <a:srgbClr val="E4E7F0"/>
                      </a:solidFill>
                      <a:prstDash val="solid"/>
                      <a:round/>
                      <a:headEnd type="none" w="med" len="med"/>
                      <a:tailEnd type="none" w="med" len="med"/>
                    </a:lnL>
                    <a:lnR w="6350" cap="flat" cmpd="sng" algn="ctr">
                      <a:solidFill>
                        <a:srgbClr val="E4E7F0"/>
                      </a:solidFill>
                      <a:prstDash val="solid"/>
                      <a:round/>
                      <a:headEnd type="none" w="med" len="med"/>
                      <a:tailEnd type="none" w="med" len="med"/>
                    </a:lnR>
                    <a:lnT w="6350" cap="flat" cmpd="sng" algn="ctr">
                      <a:solidFill>
                        <a:srgbClr val="E4E7F0"/>
                      </a:solidFill>
                      <a:prstDash val="solid"/>
                      <a:round/>
                      <a:headEnd type="none" w="med" len="med"/>
                      <a:tailEnd type="none" w="med" len="med"/>
                    </a:lnT>
                    <a:lnB w="6350" cap="flat" cmpd="sng" algn="ctr">
                      <a:solidFill>
                        <a:srgbClr val="E4E7F0"/>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624840">
                <a:tc>
                  <a:txBody>
                    <a:bodyPr/>
                    <a:lstStyle/>
                    <a:p>
                      <a:pPr marL="0" indent="0">
                        <a:buNone/>
                      </a:pPr>
                      <a:r>
                        <a:rPr lang="en-US" sz="1150" dirty="0">
                          <a:solidFill>
                            <a:srgbClr val="1E2340"/>
                          </a:solidFill>
                          <a:latin typeface="Calibri" pitchFamily="34" charset="0"/>
                          <a:ea typeface="Calibri" pitchFamily="34" charset="-122"/>
                          <a:cs typeface="Calibri" pitchFamily="34" charset="-120"/>
                        </a:rPr>
                        <a:t>ChatGPT</a:t>
                      </a:r>
                      <a:endParaRPr lang="en-US" sz="1150" dirty="0">
                        <a:latin typeface="Calibri" charset="0"/>
                        <a:ea typeface="Calibri" charset="0"/>
                        <a:cs typeface="Calibri" charset="0"/>
                      </a:endParaRPr>
                    </a:p>
                  </a:txBody>
                  <a:tcPr marL="127000" marR="127000" marT="76200" marB="76200" anchor="ctr">
                    <a:lnL w="6350" cap="flat" cmpd="sng" algn="ctr">
                      <a:solidFill>
                        <a:srgbClr val="E4E7F0"/>
                      </a:solidFill>
                      <a:prstDash val="solid"/>
                      <a:round/>
                      <a:headEnd type="none" w="med" len="med"/>
                      <a:tailEnd type="none" w="med" len="med"/>
                    </a:lnL>
                    <a:lnR w="6350" cap="flat" cmpd="sng" algn="ctr">
                      <a:solidFill>
                        <a:srgbClr val="E4E7F0"/>
                      </a:solidFill>
                      <a:prstDash val="solid"/>
                      <a:round/>
                      <a:headEnd type="none" w="med" len="med"/>
                      <a:tailEnd type="none" w="med" len="med"/>
                    </a:lnR>
                    <a:lnT w="6350" cap="flat" cmpd="sng" algn="ctr">
                      <a:solidFill>
                        <a:srgbClr val="E4E7F0"/>
                      </a:solidFill>
                      <a:prstDash val="solid"/>
                      <a:round/>
                      <a:headEnd type="none" w="med" len="med"/>
                      <a:tailEnd type="none" w="med" len="med"/>
                    </a:lnT>
                    <a:lnB w="6350" cap="flat" cmpd="sng" algn="ctr">
                      <a:solidFill>
                        <a:srgbClr val="E4E7F0"/>
                      </a:solidFill>
                      <a:prstDash val="solid"/>
                      <a:round/>
                      <a:headEnd type="none" w="med" len="med"/>
                      <a:tailEnd type="none" w="med" len="med"/>
                    </a:lnB>
                    <a:solidFill>
                      <a:srgbClr val="EEF1FA"/>
                    </a:solidFill>
                  </a:tcPr>
                </a:tc>
                <a:tc>
                  <a:txBody>
                    <a:bodyPr/>
                    <a:lstStyle/>
                    <a:p>
                      <a:pPr marL="0" indent="0">
                        <a:buNone/>
                      </a:pPr>
                      <a:r>
                        <a:rPr lang="en-US" sz="1150" dirty="0">
                          <a:solidFill>
                            <a:srgbClr val="1E2340"/>
                          </a:solidFill>
                          <a:latin typeface="Calibri" pitchFamily="34" charset="0"/>
                          <a:ea typeface="Calibri" pitchFamily="34" charset="-122"/>
                          <a:cs typeface="Calibri" pitchFamily="34" charset="-120"/>
                        </a:rPr>
                        <a:t>General-purpose assistant for varied everyday tasks</a:t>
                      </a:r>
                      <a:endParaRPr lang="en-US" sz="1150" dirty="0">
                        <a:latin typeface="Calibri" charset="0"/>
                        <a:ea typeface="Calibri" charset="0"/>
                        <a:cs typeface="Calibri" charset="0"/>
                      </a:endParaRPr>
                    </a:p>
                  </a:txBody>
                  <a:tcPr marL="127000" marR="127000" marT="76200" marB="76200" anchor="ctr">
                    <a:lnL w="6350" cap="flat" cmpd="sng" algn="ctr">
                      <a:solidFill>
                        <a:srgbClr val="E4E7F0"/>
                      </a:solidFill>
                      <a:prstDash val="solid"/>
                      <a:round/>
                      <a:headEnd type="none" w="med" len="med"/>
                      <a:tailEnd type="none" w="med" len="med"/>
                    </a:lnL>
                    <a:lnR w="6350" cap="flat" cmpd="sng" algn="ctr">
                      <a:solidFill>
                        <a:srgbClr val="E4E7F0"/>
                      </a:solidFill>
                      <a:prstDash val="solid"/>
                      <a:round/>
                      <a:headEnd type="none" w="med" len="med"/>
                      <a:tailEnd type="none" w="med" len="med"/>
                    </a:lnR>
                    <a:lnT w="6350" cap="flat" cmpd="sng" algn="ctr">
                      <a:solidFill>
                        <a:srgbClr val="E4E7F0"/>
                      </a:solidFill>
                      <a:prstDash val="solid"/>
                      <a:round/>
                      <a:headEnd type="none" w="med" len="med"/>
                      <a:tailEnd type="none" w="med" len="med"/>
                    </a:lnT>
                    <a:lnB w="6350" cap="flat" cmpd="sng" algn="ctr">
                      <a:solidFill>
                        <a:srgbClr val="E4E7F0"/>
                      </a:solidFill>
                      <a:prstDash val="solid"/>
                      <a:round/>
                      <a:headEnd type="none" w="med" len="med"/>
                      <a:tailEnd type="none" w="med" len="med"/>
                    </a:lnB>
                    <a:solidFill>
                      <a:srgbClr val="EEF1FA"/>
                    </a:solidFill>
                  </a:tcPr>
                </a:tc>
                <a:tc>
                  <a:txBody>
                    <a:bodyPr/>
                    <a:lstStyle/>
                    <a:p>
                      <a:pPr marL="0" indent="0">
                        <a:buNone/>
                      </a:pPr>
                      <a:r>
                        <a:rPr lang="en-US" sz="1150" dirty="0">
                          <a:solidFill>
                            <a:srgbClr val="1E2340"/>
                          </a:solidFill>
                          <a:latin typeface="Calibri" pitchFamily="34" charset="0"/>
                          <a:ea typeface="Calibri" pitchFamily="34" charset="-122"/>
                          <a:cs typeface="Calibri" pitchFamily="34" charset="-120"/>
                        </a:rPr>
                        <a:t>Text, image, voice</a:t>
                      </a:r>
                      <a:endParaRPr lang="en-US" sz="1150" dirty="0">
                        <a:latin typeface="Calibri" charset="0"/>
                        <a:ea typeface="Calibri" charset="0"/>
                        <a:cs typeface="Calibri" charset="0"/>
                      </a:endParaRPr>
                    </a:p>
                  </a:txBody>
                  <a:tcPr marL="127000" marR="127000" marT="76200" marB="76200" anchor="ctr">
                    <a:lnL w="6350" cap="flat" cmpd="sng" algn="ctr">
                      <a:solidFill>
                        <a:srgbClr val="E4E7F0"/>
                      </a:solidFill>
                      <a:prstDash val="solid"/>
                      <a:round/>
                      <a:headEnd type="none" w="med" len="med"/>
                      <a:tailEnd type="none" w="med" len="med"/>
                    </a:lnL>
                    <a:lnR w="6350" cap="flat" cmpd="sng" algn="ctr">
                      <a:solidFill>
                        <a:srgbClr val="E4E7F0"/>
                      </a:solidFill>
                      <a:prstDash val="solid"/>
                      <a:round/>
                      <a:headEnd type="none" w="med" len="med"/>
                      <a:tailEnd type="none" w="med" len="med"/>
                    </a:lnR>
                    <a:lnT w="6350" cap="flat" cmpd="sng" algn="ctr">
                      <a:solidFill>
                        <a:srgbClr val="E4E7F0"/>
                      </a:solidFill>
                      <a:prstDash val="solid"/>
                      <a:round/>
                      <a:headEnd type="none" w="med" len="med"/>
                      <a:tailEnd type="none" w="med" len="med"/>
                    </a:lnT>
                    <a:lnB w="6350" cap="flat" cmpd="sng" algn="ctr">
                      <a:solidFill>
                        <a:srgbClr val="E4E7F0"/>
                      </a:solidFill>
                      <a:prstDash val="solid"/>
                      <a:round/>
                      <a:headEnd type="none" w="med" len="med"/>
                      <a:tailEnd type="none" w="med" len="med"/>
                    </a:lnB>
                    <a:solidFill>
                      <a:srgbClr val="EEF1FA"/>
                    </a:solidFill>
                  </a:tcPr>
                </a:tc>
                <a:tc>
                  <a:txBody>
                    <a:bodyPr/>
                    <a:lstStyle/>
                    <a:p>
                      <a:pPr marL="0" indent="0">
                        <a:buNone/>
                      </a:pPr>
                      <a:r>
                        <a:rPr lang="en-US" sz="1150" dirty="0">
                          <a:solidFill>
                            <a:srgbClr val="1E2340"/>
                          </a:solidFill>
                          <a:latin typeface="Calibri" pitchFamily="34" charset="0"/>
                          <a:ea typeface="Calibri" pitchFamily="34" charset="-122"/>
                          <a:cs typeface="Calibri" pitchFamily="34" charset="-120"/>
                        </a:rPr>
                        <a:t>Broad everyday use</a:t>
                      </a:r>
                      <a:endParaRPr lang="en-US" sz="1150" dirty="0">
                        <a:latin typeface="Calibri" charset="0"/>
                        <a:ea typeface="Calibri" charset="0"/>
                        <a:cs typeface="Calibri" charset="0"/>
                      </a:endParaRPr>
                    </a:p>
                  </a:txBody>
                  <a:tcPr marL="127000" marR="127000" marT="76200" marB="76200" anchor="ctr">
                    <a:lnL w="6350" cap="flat" cmpd="sng" algn="ctr">
                      <a:solidFill>
                        <a:srgbClr val="E4E7F0"/>
                      </a:solidFill>
                      <a:prstDash val="solid"/>
                      <a:round/>
                      <a:headEnd type="none" w="med" len="med"/>
                      <a:tailEnd type="none" w="med" len="med"/>
                    </a:lnL>
                    <a:lnR w="6350" cap="flat" cmpd="sng" algn="ctr">
                      <a:solidFill>
                        <a:srgbClr val="E4E7F0"/>
                      </a:solidFill>
                      <a:prstDash val="solid"/>
                      <a:round/>
                      <a:headEnd type="none" w="med" len="med"/>
                      <a:tailEnd type="none" w="med" len="med"/>
                    </a:lnR>
                    <a:lnT w="6350" cap="flat" cmpd="sng" algn="ctr">
                      <a:solidFill>
                        <a:srgbClr val="E4E7F0"/>
                      </a:solidFill>
                      <a:prstDash val="solid"/>
                      <a:round/>
                      <a:headEnd type="none" w="med" len="med"/>
                      <a:tailEnd type="none" w="med" len="med"/>
                    </a:lnT>
                    <a:lnB w="6350" cap="flat" cmpd="sng" algn="ctr">
                      <a:solidFill>
                        <a:srgbClr val="E4E7F0"/>
                      </a:solidFill>
                      <a:prstDash val="solid"/>
                      <a:round/>
                      <a:headEnd type="none" w="med" len="med"/>
                      <a:tailEnd type="none" w="med" len="med"/>
                    </a:lnB>
                    <a:solidFill>
                      <a:srgbClr val="EEF1FA"/>
                    </a:solidFill>
                  </a:tcPr>
                </a:tc>
                <a:extLst>
                  <a:ext uri="{0D108BD9-81ED-4DB2-BD59-A6C34878D82A}">
                    <a16:rowId xmlns:a16="http://schemas.microsoft.com/office/drawing/2014/main" val="10002"/>
                  </a:ext>
                </a:extLst>
              </a:tr>
              <a:tr h="624840">
                <a:tc>
                  <a:txBody>
                    <a:bodyPr/>
                    <a:lstStyle/>
                    <a:p>
                      <a:pPr marL="0" indent="0">
                        <a:buNone/>
                      </a:pPr>
                      <a:r>
                        <a:rPr lang="en-US" sz="1150" dirty="0">
                          <a:solidFill>
                            <a:srgbClr val="1E2340"/>
                          </a:solidFill>
                          <a:latin typeface="Calibri" pitchFamily="34" charset="0"/>
                          <a:ea typeface="Calibri" pitchFamily="34" charset="-122"/>
                          <a:cs typeface="Calibri" pitchFamily="34" charset="-120"/>
                        </a:rPr>
                        <a:t>Gemini</a:t>
                      </a:r>
                      <a:endParaRPr lang="en-US" sz="1150" dirty="0">
                        <a:latin typeface="Calibri" charset="0"/>
                        <a:ea typeface="Calibri" charset="0"/>
                        <a:cs typeface="Calibri" charset="0"/>
                      </a:endParaRPr>
                    </a:p>
                  </a:txBody>
                  <a:tcPr marL="127000" marR="127000" marT="76200" marB="76200" anchor="ctr">
                    <a:lnL w="6350" cap="flat" cmpd="sng" algn="ctr">
                      <a:solidFill>
                        <a:srgbClr val="E4E7F0"/>
                      </a:solidFill>
                      <a:prstDash val="solid"/>
                      <a:round/>
                      <a:headEnd type="none" w="med" len="med"/>
                      <a:tailEnd type="none" w="med" len="med"/>
                    </a:lnL>
                    <a:lnR w="6350" cap="flat" cmpd="sng" algn="ctr">
                      <a:solidFill>
                        <a:srgbClr val="E4E7F0"/>
                      </a:solidFill>
                      <a:prstDash val="solid"/>
                      <a:round/>
                      <a:headEnd type="none" w="med" len="med"/>
                      <a:tailEnd type="none" w="med" len="med"/>
                    </a:lnR>
                    <a:lnT w="6350" cap="flat" cmpd="sng" algn="ctr">
                      <a:solidFill>
                        <a:srgbClr val="E4E7F0"/>
                      </a:solidFill>
                      <a:prstDash val="solid"/>
                      <a:round/>
                      <a:headEnd type="none" w="med" len="med"/>
                      <a:tailEnd type="none" w="med" len="med"/>
                    </a:lnT>
                    <a:lnB w="6350" cap="flat" cmpd="sng" algn="ctr">
                      <a:solidFill>
                        <a:srgbClr val="E4E7F0"/>
                      </a:solidFill>
                      <a:prstDash val="solid"/>
                      <a:round/>
                      <a:headEnd type="none" w="med" len="med"/>
                      <a:tailEnd type="none" w="med" len="med"/>
                    </a:lnB>
                    <a:solidFill>
                      <a:srgbClr val="FFFFFF"/>
                    </a:solidFill>
                  </a:tcPr>
                </a:tc>
                <a:tc>
                  <a:txBody>
                    <a:bodyPr/>
                    <a:lstStyle/>
                    <a:p>
                      <a:pPr marL="0" indent="0">
                        <a:buNone/>
                      </a:pPr>
                      <a:r>
                        <a:rPr lang="en-US" sz="1150" dirty="0">
                          <a:solidFill>
                            <a:srgbClr val="1E2340"/>
                          </a:solidFill>
                          <a:latin typeface="Calibri" pitchFamily="34" charset="0"/>
                          <a:ea typeface="Calibri" pitchFamily="34" charset="-122"/>
                          <a:cs typeface="Calibri" pitchFamily="34" charset="-120"/>
                        </a:rPr>
                        <a:t>Search-integrated assistant across Google's ecosystem</a:t>
                      </a:r>
                      <a:endParaRPr lang="en-US" sz="1150" dirty="0">
                        <a:latin typeface="Calibri" charset="0"/>
                        <a:ea typeface="Calibri" charset="0"/>
                        <a:cs typeface="Calibri" charset="0"/>
                      </a:endParaRPr>
                    </a:p>
                  </a:txBody>
                  <a:tcPr marL="127000" marR="127000" marT="76200" marB="76200" anchor="ctr">
                    <a:lnL w="6350" cap="flat" cmpd="sng" algn="ctr">
                      <a:solidFill>
                        <a:srgbClr val="E4E7F0"/>
                      </a:solidFill>
                      <a:prstDash val="solid"/>
                      <a:round/>
                      <a:headEnd type="none" w="med" len="med"/>
                      <a:tailEnd type="none" w="med" len="med"/>
                    </a:lnL>
                    <a:lnR w="6350" cap="flat" cmpd="sng" algn="ctr">
                      <a:solidFill>
                        <a:srgbClr val="E4E7F0"/>
                      </a:solidFill>
                      <a:prstDash val="solid"/>
                      <a:round/>
                      <a:headEnd type="none" w="med" len="med"/>
                      <a:tailEnd type="none" w="med" len="med"/>
                    </a:lnR>
                    <a:lnT w="6350" cap="flat" cmpd="sng" algn="ctr">
                      <a:solidFill>
                        <a:srgbClr val="E4E7F0"/>
                      </a:solidFill>
                      <a:prstDash val="solid"/>
                      <a:round/>
                      <a:headEnd type="none" w="med" len="med"/>
                      <a:tailEnd type="none" w="med" len="med"/>
                    </a:lnT>
                    <a:lnB w="6350" cap="flat" cmpd="sng" algn="ctr">
                      <a:solidFill>
                        <a:srgbClr val="E4E7F0"/>
                      </a:solidFill>
                      <a:prstDash val="solid"/>
                      <a:round/>
                      <a:headEnd type="none" w="med" len="med"/>
                      <a:tailEnd type="none" w="med" len="med"/>
                    </a:lnB>
                    <a:solidFill>
                      <a:srgbClr val="FFFFFF"/>
                    </a:solidFill>
                  </a:tcPr>
                </a:tc>
                <a:tc>
                  <a:txBody>
                    <a:bodyPr/>
                    <a:lstStyle/>
                    <a:p>
                      <a:pPr marL="0" indent="0">
                        <a:buNone/>
                      </a:pPr>
                      <a:r>
                        <a:rPr lang="en-US" sz="1150" dirty="0">
                          <a:solidFill>
                            <a:srgbClr val="1E2340"/>
                          </a:solidFill>
                          <a:latin typeface="Calibri" pitchFamily="34" charset="0"/>
                          <a:ea typeface="Calibri" pitchFamily="34" charset="-122"/>
                          <a:cs typeface="Calibri" pitchFamily="34" charset="-120"/>
                        </a:rPr>
                        <a:t>Text, image, video</a:t>
                      </a:r>
                      <a:endParaRPr lang="en-US" sz="1150" dirty="0">
                        <a:latin typeface="Calibri" charset="0"/>
                        <a:ea typeface="Calibri" charset="0"/>
                        <a:cs typeface="Calibri" charset="0"/>
                      </a:endParaRPr>
                    </a:p>
                  </a:txBody>
                  <a:tcPr marL="127000" marR="127000" marT="76200" marB="76200" anchor="ctr">
                    <a:lnL w="6350" cap="flat" cmpd="sng" algn="ctr">
                      <a:solidFill>
                        <a:srgbClr val="E4E7F0"/>
                      </a:solidFill>
                      <a:prstDash val="solid"/>
                      <a:round/>
                      <a:headEnd type="none" w="med" len="med"/>
                      <a:tailEnd type="none" w="med" len="med"/>
                    </a:lnL>
                    <a:lnR w="6350" cap="flat" cmpd="sng" algn="ctr">
                      <a:solidFill>
                        <a:srgbClr val="E4E7F0"/>
                      </a:solidFill>
                      <a:prstDash val="solid"/>
                      <a:round/>
                      <a:headEnd type="none" w="med" len="med"/>
                      <a:tailEnd type="none" w="med" len="med"/>
                    </a:lnR>
                    <a:lnT w="6350" cap="flat" cmpd="sng" algn="ctr">
                      <a:solidFill>
                        <a:srgbClr val="E4E7F0"/>
                      </a:solidFill>
                      <a:prstDash val="solid"/>
                      <a:round/>
                      <a:headEnd type="none" w="med" len="med"/>
                      <a:tailEnd type="none" w="med" len="med"/>
                    </a:lnT>
                    <a:lnB w="6350" cap="flat" cmpd="sng" algn="ctr">
                      <a:solidFill>
                        <a:srgbClr val="E4E7F0"/>
                      </a:solidFill>
                      <a:prstDash val="solid"/>
                      <a:round/>
                      <a:headEnd type="none" w="med" len="med"/>
                      <a:tailEnd type="none" w="med" len="med"/>
                    </a:lnB>
                    <a:solidFill>
                      <a:srgbClr val="FFFFFF"/>
                    </a:solidFill>
                  </a:tcPr>
                </a:tc>
                <a:tc>
                  <a:txBody>
                    <a:bodyPr/>
                    <a:lstStyle/>
                    <a:p>
                      <a:pPr marL="0" indent="0">
                        <a:buNone/>
                      </a:pPr>
                      <a:r>
                        <a:rPr lang="en-US" sz="1150" dirty="0">
                          <a:solidFill>
                            <a:srgbClr val="1E2340"/>
                          </a:solidFill>
                          <a:latin typeface="Calibri" pitchFamily="34" charset="0"/>
                          <a:ea typeface="Calibri" pitchFamily="34" charset="-122"/>
                          <a:cs typeface="Calibri" pitchFamily="34" charset="-120"/>
                        </a:rPr>
                        <a:t>Google Workspace users</a:t>
                      </a:r>
                      <a:endParaRPr lang="en-US" sz="1150" dirty="0">
                        <a:latin typeface="Calibri" charset="0"/>
                        <a:ea typeface="Calibri" charset="0"/>
                        <a:cs typeface="Calibri" charset="0"/>
                      </a:endParaRPr>
                    </a:p>
                  </a:txBody>
                  <a:tcPr marL="127000" marR="127000" marT="76200" marB="76200" anchor="ctr">
                    <a:lnL w="6350" cap="flat" cmpd="sng" algn="ctr">
                      <a:solidFill>
                        <a:srgbClr val="E4E7F0"/>
                      </a:solidFill>
                      <a:prstDash val="solid"/>
                      <a:round/>
                      <a:headEnd type="none" w="med" len="med"/>
                      <a:tailEnd type="none" w="med" len="med"/>
                    </a:lnL>
                    <a:lnR w="6350" cap="flat" cmpd="sng" algn="ctr">
                      <a:solidFill>
                        <a:srgbClr val="E4E7F0"/>
                      </a:solidFill>
                      <a:prstDash val="solid"/>
                      <a:round/>
                      <a:headEnd type="none" w="med" len="med"/>
                      <a:tailEnd type="none" w="med" len="med"/>
                    </a:lnR>
                    <a:lnT w="6350" cap="flat" cmpd="sng" algn="ctr">
                      <a:solidFill>
                        <a:srgbClr val="E4E7F0"/>
                      </a:solidFill>
                      <a:prstDash val="solid"/>
                      <a:round/>
                      <a:headEnd type="none" w="med" len="med"/>
                      <a:tailEnd type="none" w="med" len="med"/>
                    </a:lnT>
                    <a:lnB w="6350" cap="flat" cmpd="sng" algn="ctr">
                      <a:solidFill>
                        <a:srgbClr val="E4E7F0"/>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624840">
                <a:tc>
                  <a:txBody>
                    <a:bodyPr/>
                    <a:lstStyle/>
                    <a:p>
                      <a:pPr marL="0" indent="0">
                        <a:buNone/>
                      </a:pPr>
                      <a:r>
                        <a:rPr lang="en-US" sz="1150" dirty="0">
                          <a:solidFill>
                            <a:srgbClr val="1E2340"/>
                          </a:solidFill>
                          <a:latin typeface="Calibri" pitchFamily="34" charset="0"/>
                          <a:ea typeface="Calibri" pitchFamily="34" charset="-122"/>
                          <a:cs typeface="Calibri" pitchFamily="34" charset="-120"/>
                        </a:rPr>
                        <a:t>Midjourney</a:t>
                      </a:r>
                      <a:endParaRPr lang="en-US" sz="1150" dirty="0">
                        <a:latin typeface="Calibri" charset="0"/>
                        <a:ea typeface="Calibri" charset="0"/>
                        <a:cs typeface="Calibri" charset="0"/>
                      </a:endParaRPr>
                    </a:p>
                  </a:txBody>
                  <a:tcPr marL="127000" marR="127000" marT="76200" marB="76200" anchor="ctr">
                    <a:lnL w="6350" cap="flat" cmpd="sng" algn="ctr">
                      <a:solidFill>
                        <a:srgbClr val="E4E7F0"/>
                      </a:solidFill>
                      <a:prstDash val="solid"/>
                      <a:round/>
                      <a:headEnd type="none" w="med" len="med"/>
                      <a:tailEnd type="none" w="med" len="med"/>
                    </a:lnL>
                    <a:lnR w="6350" cap="flat" cmpd="sng" algn="ctr">
                      <a:solidFill>
                        <a:srgbClr val="E4E7F0"/>
                      </a:solidFill>
                      <a:prstDash val="solid"/>
                      <a:round/>
                      <a:headEnd type="none" w="med" len="med"/>
                      <a:tailEnd type="none" w="med" len="med"/>
                    </a:lnR>
                    <a:lnT w="6350" cap="flat" cmpd="sng" algn="ctr">
                      <a:solidFill>
                        <a:srgbClr val="E4E7F0"/>
                      </a:solidFill>
                      <a:prstDash val="solid"/>
                      <a:round/>
                      <a:headEnd type="none" w="med" len="med"/>
                      <a:tailEnd type="none" w="med" len="med"/>
                    </a:lnT>
                    <a:lnB w="6350" cap="flat" cmpd="sng" algn="ctr">
                      <a:solidFill>
                        <a:srgbClr val="E4E7F0"/>
                      </a:solidFill>
                      <a:prstDash val="solid"/>
                      <a:round/>
                      <a:headEnd type="none" w="med" len="med"/>
                      <a:tailEnd type="none" w="med" len="med"/>
                    </a:lnB>
                    <a:solidFill>
                      <a:srgbClr val="EEF1FA"/>
                    </a:solidFill>
                  </a:tcPr>
                </a:tc>
                <a:tc>
                  <a:txBody>
                    <a:bodyPr/>
                    <a:lstStyle/>
                    <a:p>
                      <a:pPr marL="0" indent="0">
                        <a:buNone/>
                      </a:pPr>
                      <a:r>
                        <a:rPr lang="en-US" sz="1150" dirty="0">
                          <a:solidFill>
                            <a:srgbClr val="1E2340"/>
                          </a:solidFill>
                          <a:latin typeface="Calibri" pitchFamily="34" charset="0"/>
                          <a:ea typeface="Calibri" pitchFamily="34" charset="-122"/>
                          <a:cs typeface="Calibri" pitchFamily="34" charset="-120"/>
                        </a:rPr>
                        <a:t>High-fidelity, stylized image generation</a:t>
                      </a:r>
                      <a:endParaRPr lang="en-US" sz="1150" dirty="0">
                        <a:latin typeface="Calibri" charset="0"/>
                        <a:ea typeface="Calibri" charset="0"/>
                        <a:cs typeface="Calibri" charset="0"/>
                      </a:endParaRPr>
                    </a:p>
                  </a:txBody>
                  <a:tcPr marL="127000" marR="127000" marT="76200" marB="76200" anchor="ctr">
                    <a:lnL w="6350" cap="flat" cmpd="sng" algn="ctr">
                      <a:solidFill>
                        <a:srgbClr val="E4E7F0"/>
                      </a:solidFill>
                      <a:prstDash val="solid"/>
                      <a:round/>
                      <a:headEnd type="none" w="med" len="med"/>
                      <a:tailEnd type="none" w="med" len="med"/>
                    </a:lnL>
                    <a:lnR w="6350" cap="flat" cmpd="sng" algn="ctr">
                      <a:solidFill>
                        <a:srgbClr val="E4E7F0"/>
                      </a:solidFill>
                      <a:prstDash val="solid"/>
                      <a:round/>
                      <a:headEnd type="none" w="med" len="med"/>
                      <a:tailEnd type="none" w="med" len="med"/>
                    </a:lnR>
                    <a:lnT w="6350" cap="flat" cmpd="sng" algn="ctr">
                      <a:solidFill>
                        <a:srgbClr val="E4E7F0"/>
                      </a:solidFill>
                      <a:prstDash val="solid"/>
                      <a:round/>
                      <a:headEnd type="none" w="med" len="med"/>
                      <a:tailEnd type="none" w="med" len="med"/>
                    </a:lnT>
                    <a:lnB w="6350" cap="flat" cmpd="sng" algn="ctr">
                      <a:solidFill>
                        <a:srgbClr val="E4E7F0"/>
                      </a:solidFill>
                      <a:prstDash val="solid"/>
                      <a:round/>
                      <a:headEnd type="none" w="med" len="med"/>
                      <a:tailEnd type="none" w="med" len="med"/>
                    </a:lnB>
                    <a:solidFill>
                      <a:srgbClr val="EEF1FA"/>
                    </a:solidFill>
                  </a:tcPr>
                </a:tc>
                <a:tc>
                  <a:txBody>
                    <a:bodyPr/>
                    <a:lstStyle/>
                    <a:p>
                      <a:pPr marL="0" indent="0">
                        <a:buNone/>
                      </a:pPr>
                      <a:r>
                        <a:rPr lang="en-US" sz="1150" dirty="0">
                          <a:solidFill>
                            <a:srgbClr val="1E2340"/>
                          </a:solidFill>
                          <a:latin typeface="Calibri" pitchFamily="34" charset="0"/>
                          <a:ea typeface="Calibri" pitchFamily="34" charset="-122"/>
                          <a:cs typeface="Calibri" pitchFamily="34" charset="-120"/>
                        </a:rPr>
                        <a:t>Images</a:t>
                      </a:r>
                      <a:endParaRPr lang="en-US" sz="1150" dirty="0">
                        <a:latin typeface="Calibri" charset="0"/>
                        <a:ea typeface="Calibri" charset="0"/>
                        <a:cs typeface="Calibri" charset="0"/>
                      </a:endParaRPr>
                    </a:p>
                  </a:txBody>
                  <a:tcPr marL="127000" marR="127000" marT="76200" marB="76200" anchor="ctr">
                    <a:lnL w="6350" cap="flat" cmpd="sng" algn="ctr">
                      <a:solidFill>
                        <a:srgbClr val="E4E7F0"/>
                      </a:solidFill>
                      <a:prstDash val="solid"/>
                      <a:round/>
                      <a:headEnd type="none" w="med" len="med"/>
                      <a:tailEnd type="none" w="med" len="med"/>
                    </a:lnL>
                    <a:lnR w="6350" cap="flat" cmpd="sng" algn="ctr">
                      <a:solidFill>
                        <a:srgbClr val="E4E7F0"/>
                      </a:solidFill>
                      <a:prstDash val="solid"/>
                      <a:round/>
                      <a:headEnd type="none" w="med" len="med"/>
                      <a:tailEnd type="none" w="med" len="med"/>
                    </a:lnR>
                    <a:lnT w="6350" cap="flat" cmpd="sng" algn="ctr">
                      <a:solidFill>
                        <a:srgbClr val="E4E7F0"/>
                      </a:solidFill>
                      <a:prstDash val="solid"/>
                      <a:round/>
                      <a:headEnd type="none" w="med" len="med"/>
                      <a:tailEnd type="none" w="med" len="med"/>
                    </a:lnT>
                    <a:lnB w="6350" cap="flat" cmpd="sng" algn="ctr">
                      <a:solidFill>
                        <a:srgbClr val="E4E7F0"/>
                      </a:solidFill>
                      <a:prstDash val="solid"/>
                      <a:round/>
                      <a:headEnd type="none" w="med" len="med"/>
                      <a:tailEnd type="none" w="med" len="med"/>
                    </a:lnB>
                    <a:solidFill>
                      <a:srgbClr val="EEF1FA"/>
                    </a:solidFill>
                  </a:tcPr>
                </a:tc>
                <a:tc>
                  <a:txBody>
                    <a:bodyPr/>
                    <a:lstStyle/>
                    <a:p>
                      <a:pPr marL="0" indent="0">
                        <a:buNone/>
                      </a:pPr>
                      <a:r>
                        <a:rPr lang="en-US" sz="1150" dirty="0">
                          <a:solidFill>
                            <a:srgbClr val="1E2340"/>
                          </a:solidFill>
                          <a:latin typeface="Calibri" pitchFamily="34" charset="0"/>
                          <a:ea typeface="Calibri" pitchFamily="34" charset="-122"/>
                          <a:cs typeface="Calibri" pitchFamily="34" charset="-120"/>
                        </a:rPr>
                        <a:t>Creative &amp; marketing design</a:t>
                      </a:r>
                      <a:endParaRPr lang="en-US" sz="1150" dirty="0">
                        <a:latin typeface="Calibri" charset="0"/>
                        <a:ea typeface="Calibri" charset="0"/>
                        <a:cs typeface="Calibri" charset="0"/>
                      </a:endParaRPr>
                    </a:p>
                  </a:txBody>
                  <a:tcPr marL="127000" marR="127000" marT="76200" marB="76200" anchor="ctr">
                    <a:lnL w="6350" cap="flat" cmpd="sng" algn="ctr">
                      <a:solidFill>
                        <a:srgbClr val="E4E7F0"/>
                      </a:solidFill>
                      <a:prstDash val="solid"/>
                      <a:round/>
                      <a:headEnd type="none" w="med" len="med"/>
                      <a:tailEnd type="none" w="med" len="med"/>
                    </a:lnL>
                    <a:lnR w="6350" cap="flat" cmpd="sng" algn="ctr">
                      <a:solidFill>
                        <a:srgbClr val="E4E7F0"/>
                      </a:solidFill>
                      <a:prstDash val="solid"/>
                      <a:round/>
                      <a:headEnd type="none" w="med" len="med"/>
                      <a:tailEnd type="none" w="med" len="med"/>
                    </a:lnR>
                    <a:lnT w="6350" cap="flat" cmpd="sng" algn="ctr">
                      <a:solidFill>
                        <a:srgbClr val="E4E7F0"/>
                      </a:solidFill>
                      <a:prstDash val="solid"/>
                      <a:round/>
                      <a:headEnd type="none" w="med" len="med"/>
                      <a:tailEnd type="none" w="med" len="med"/>
                    </a:lnT>
                    <a:lnB w="6350" cap="flat" cmpd="sng" algn="ctr">
                      <a:solidFill>
                        <a:srgbClr val="E4E7F0"/>
                      </a:solidFill>
                      <a:prstDash val="solid"/>
                      <a:round/>
                      <a:headEnd type="none" w="med" len="med"/>
                      <a:tailEnd type="none" w="med" len="med"/>
                    </a:lnB>
                    <a:solidFill>
                      <a:srgbClr val="EEF1FA"/>
                    </a:solidFill>
                  </a:tcPr>
                </a:tc>
                <a:extLst>
                  <a:ext uri="{0D108BD9-81ED-4DB2-BD59-A6C34878D82A}">
                    <a16:rowId xmlns:a16="http://schemas.microsoft.com/office/drawing/2014/main" val="10004"/>
                  </a:ext>
                </a:extLst>
              </a:tr>
              <a:tr h="624840">
                <a:tc>
                  <a:txBody>
                    <a:bodyPr/>
                    <a:lstStyle/>
                    <a:p>
                      <a:pPr marL="0" indent="0">
                        <a:buNone/>
                      </a:pPr>
                      <a:r>
                        <a:rPr lang="en-US" sz="1150" dirty="0">
                          <a:solidFill>
                            <a:srgbClr val="1E2340"/>
                          </a:solidFill>
                          <a:latin typeface="Calibri" pitchFamily="34" charset="0"/>
                          <a:ea typeface="Calibri" pitchFamily="34" charset="-122"/>
                          <a:cs typeface="Calibri" pitchFamily="34" charset="-120"/>
                        </a:rPr>
                        <a:t>GitHub Copilot</a:t>
                      </a:r>
                      <a:endParaRPr lang="en-US" sz="1150" dirty="0">
                        <a:latin typeface="Calibri" charset="0"/>
                        <a:ea typeface="Calibri" charset="0"/>
                        <a:cs typeface="Calibri" charset="0"/>
                      </a:endParaRPr>
                    </a:p>
                  </a:txBody>
                  <a:tcPr marL="127000" marR="127000" marT="76200" marB="76200" anchor="ctr">
                    <a:lnL w="6350" cap="flat" cmpd="sng" algn="ctr">
                      <a:solidFill>
                        <a:srgbClr val="E4E7F0"/>
                      </a:solidFill>
                      <a:prstDash val="solid"/>
                      <a:round/>
                      <a:headEnd type="none" w="med" len="med"/>
                      <a:tailEnd type="none" w="med" len="med"/>
                    </a:lnL>
                    <a:lnR w="6350" cap="flat" cmpd="sng" algn="ctr">
                      <a:solidFill>
                        <a:srgbClr val="E4E7F0"/>
                      </a:solidFill>
                      <a:prstDash val="solid"/>
                      <a:round/>
                      <a:headEnd type="none" w="med" len="med"/>
                      <a:tailEnd type="none" w="med" len="med"/>
                    </a:lnR>
                    <a:lnT w="6350" cap="flat" cmpd="sng" algn="ctr">
                      <a:solidFill>
                        <a:srgbClr val="E4E7F0"/>
                      </a:solidFill>
                      <a:prstDash val="solid"/>
                      <a:round/>
                      <a:headEnd type="none" w="med" len="med"/>
                      <a:tailEnd type="none" w="med" len="med"/>
                    </a:lnT>
                    <a:lnB w="6350" cap="flat" cmpd="sng" algn="ctr">
                      <a:solidFill>
                        <a:srgbClr val="E4E7F0"/>
                      </a:solidFill>
                      <a:prstDash val="solid"/>
                      <a:round/>
                      <a:headEnd type="none" w="med" len="med"/>
                      <a:tailEnd type="none" w="med" len="med"/>
                    </a:lnB>
                    <a:solidFill>
                      <a:srgbClr val="FFFFFF"/>
                    </a:solidFill>
                  </a:tcPr>
                </a:tc>
                <a:tc>
                  <a:txBody>
                    <a:bodyPr/>
                    <a:lstStyle/>
                    <a:p>
                      <a:pPr marL="0" indent="0">
                        <a:buNone/>
                      </a:pPr>
                      <a:r>
                        <a:rPr lang="en-US" sz="1150" dirty="0">
                          <a:solidFill>
                            <a:srgbClr val="1E2340"/>
                          </a:solidFill>
                          <a:latin typeface="Calibri" pitchFamily="34" charset="0"/>
                          <a:ea typeface="Calibri" pitchFamily="34" charset="-122"/>
                          <a:cs typeface="Calibri" pitchFamily="34" charset="-120"/>
                        </a:rPr>
                        <a:t>In-editor code completion and suggestions</a:t>
                      </a:r>
                      <a:endParaRPr lang="en-US" sz="1150" dirty="0">
                        <a:latin typeface="Calibri" charset="0"/>
                        <a:ea typeface="Calibri" charset="0"/>
                        <a:cs typeface="Calibri" charset="0"/>
                      </a:endParaRPr>
                    </a:p>
                  </a:txBody>
                  <a:tcPr marL="127000" marR="127000" marT="76200" marB="76200" anchor="ctr">
                    <a:lnL w="6350" cap="flat" cmpd="sng" algn="ctr">
                      <a:solidFill>
                        <a:srgbClr val="E4E7F0"/>
                      </a:solidFill>
                      <a:prstDash val="solid"/>
                      <a:round/>
                      <a:headEnd type="none" w="med" len="med"/>
                      <a:tailEnd type="none" w="med" len="med"/>
                    </a:lnL>
                    <a:lnR w="6350" cap="flat" cmpd="sng" algn="ctr">
                      <a:solidFill>
                        <a:srgbClr val="E4E7F0"/>
                      </a:solidFill>
                      <a:prstDash val="solid"/>
                      <a:round/>
                      <a:headEnd type="none" w="med" len="med"/>
                      <a:tailEnd type="none" w="med" len="med"/>
                    </a:lnR>
                    <a:lnT w="6350" cap="flat" cmpd="sng" algn="ctr">
                      <a:solidFill>
                        <a:srgbClr val="E4E7F0"/>
                      </a:solidFill>
                      <a:prstDash val="solid"/>
                      <a:round/>
                      <a:headEnd type="none" w="med" len="med"/>
                      <a:tailEnd type="none" w="med" len="med"/>
                    </a:lnT>
                    <a:lnB w="6350" cap="flat" cmpd="sng" algn="ctr">
                      <a:solidFill>
                        <a:srgbClr val="E4E7F0"/>
                      </a:solidFill>
                      <a:prstDash val="solid"/>
                      <a:round/>
                      <a:headEnd type="none" w="med" len="med"/>
                      <a:tailEnd type="none" w="med" len="med"/>
                    </a:lnB>
                    <a:solidFill>
                      <a:srgbClr val="FFFFFF"/>
                    </a:solidFill>
                  </a:tcPr>
                </a:tc>
                <a:tc>
                  <a:txBody>
                    <a:bodyPr/>
                    <a:lstStyle/>
                    <a:p>
                      <a:pPr marL="0" indent="0">
                        <a:buNone/>
                      </a:pPr>
                      <a:r>
                        <a:rPr lang="en-US" sz="1150" dirty="0">
                          <a:solidFill>
                            <a:srgbClr val="1E2340"/>
                          </a:solidFill>
                          <a:latin typeface="Calibri" pitchFamily="34" charset="0"/>
                          <a:ea typeface="Calibri" pitchFamily="34" charset="-122"/>
                          <a:cs typeface="Calibri" pitchFamily="34" charset="-120"/>
                        </a:rPr>
                        <a:t>Code</a:t>
                      </a:r>
                      <a:endParaRPr lang="en-US" sz="1150" dirty="0">
                        <a:latin typeface="Calibri" charset="0"/>
                        <a:ea typeface="Calibri" charset="0"/>
                        <a:cs typeface="Calibri" charset="0"/>
                      </a:endParaRPr>
                    </a:p>
                  </a:txBody>
                  <a:tcPr marL="127000" marR="127000" marT="76200" marB="76200" anchor="ctr">
                    <a:lnL w="6350" cap="flat" cmpd="sng" algn="ctr">
                      <a:solidFill>
                        <a:srgbClr val="E4E7F0"/>
                      </a:solidFill>
                      <a:prstDash val="solid"/>
                      <a:round/>
                      <a:headEnd type="none" w="med" len="med"/>
                      <a:tailEnd type="none" w="med" len="med"/>
                    </a:lnL>
                    <a:lnR w="6350" cap="flat" cmpd="sng" algn="ctr">
                      <a:solidFill>
                        <a:srgbClr val="E4E7F0"/>
                      </a:solidFill>
                      <a:prstDash val="solid"/>
                      <a:round/>
                      <a:headEnd type="none" w="med" len="med"/>
                      <a:tailEnd type="none" w="med" len="med"/>
                    </a:lnR>
                    <a:lnT w="6350" cap="flat" cmpd="sng" algn="ctr">
                      <a:solidFill>
                        <a:srgbClr val="E4E7F0"/>
                      </a:solidFill>
                      <a:prstDash val="solid"/>
                      <a:round/>
                      <a:headEnd type="none" w="med" len="med"/>
                      <a:tailEnd type="none" w="med" len="med"/>
                    </a:lnT>
                    <a:lnB w="6350" cap="flat" cmpd="sng" algn="ctr">
                      <a:solidFill>
                        <a:srgbClr val="E4E7F0"/>
                      </a:solidFill>
                      <a:prstDash val="solid"/>
                      <a:round/>
                      <a:headEnd type="none" w="med" len="med"/>
                      <a:tailEnd type="none" w="med" len="med"/>
                    </a:lnB>
                    <a:solidFill>
                      <a:srgbClr val="FFFFFF"/>
                    </a:solidFill>
                  </a:tcPr>
                </a:tc>
                <a:tc>
                  <a:txBody>
                    <a:bodyPr/>
                    <a:lstStyle/>
                    <a:p>
                      <a:pPr marL="0" indent="0">
                        <a:buNone/>
                      </a:pPr>
                      <a:r>
                        <a:rPr lang="en-US" sz="1150" dirty="0">
                          <a:solidFill>
                            <a:srgbClr val="1E2340"/>
                          </a:solidFill>
                          <a:latin typeface="Calibri" pitchFamily="34" charset="0"/>
                          <a:ea typeface="Calibri" pitchFamily="34" charset="-122"/>
                          <a:cs typeface="Calibri" pitchFamily="34" charset="-120"/>
                        </a:rPr>
                        <a:t>Software development</a:t>
                      </a:r>
                      <a:endParaRPr lang="en-US" sz="1150" dirty="0">
                        <a:latin typeface="Calibri" charset="0"/>
                        <a:ea typeface="Calibri" charset="0"/>
                        <a:cs typeface="Calibri" charset="0"/>
                      </a:endParaRPr>
                    </a:p>
                  </a:txBody>
                  <a:tcPr marL="127000" marR="127000" marT="76200" marB="76200" anchor="ctr">
                    <a:lnL w="6350" cap="flat" cmpd="sng" algn="ctr">
                      <a:solidFill>
                        <a:srgbClr val="E4E7F0"/>
                      </a:solidFill>
                      <a:prstDash val="solid"/>
                      <a:round/>
                      <a:headEnd type="none" w="med" len="med"/>
                      <a:tailEnd type="none" w="med" len="med"/>
                    </a:lnL>
                    <a:lnR w="6350" cap="flat" cmpd="sng" algn="ctr">
                      <a:solidFill>
                        <a:srgbClr val="E4E7F0"/>
                      </a:solidFill>
                      <a:prstDash val="solid"/>
                      <a:round/>
                      <a:headEnd type="none" w="med" len="med"/>
                      <a:tailEnd type="none" w="med" len="med"/>
                    </a:lnR>
                    <a:lnT w="6350" cap="flat" cmpd="sng" algn="ctr">
                      <a:solidFill>
                        <a:srgbClr val="E4E7F0"/>
                      </a:solidFill>
                      <a:prstDash val="solid"/>
                      <a:round/>
                      <a:headEnd type="none" w="med" len="med"/>
                      <a:tailEnd type="none" w="med" len="med"/>
                    </a:lnT>
                    <a:lnB w="6350" cap="flat" cmpd="sng" algn="ctr">
                      <a:solidFill>
                        <a:srgbClr val="E4E7F0"/>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bl>
          </a:graphicData>
        </a:graphic>
      </p:graphicFrame>
      <p:sp>
        <p:nvSpPr>
          <p:cNvPr id="6" name="Text 3"/>
          <p:cNvSpPr/>
          <p:nvPr/>
        </p:nvSpPr>
        <p:spPr>
          <a:xfrm>
            <a:off x="457200" y="6473952"/>
            <a:ext cx="5486400" cy="274320"/>
          </a:xfrm>
          <a:prstGeom prst="rect">
            <a:avLst/>
          </a:prstGeom>
          <a:noFill/>
          <a:ln/>
        </p:spPr>
        <p:txBody>
          <a:bodyPr wrap="square" lIns="0" tIns="0" rIns="0" bIns="0" rtlCol="0" anchor="ctr"/>
          <a:lstStyle/>
          <a:p>
            <a:pPr marL="0" indent="0">
              <a:buNone/>
            </a:pPr>
            <a:r>
              <a:rPr lang="en-US" sz="1000" dirty="0">
                <a:solidFill>
                  <a:srgbClr val="6B7280"/>
                </a:solidFill>
                <a:latin typeface="Calibri" pitchFamily="34" charset="0"/>
                <a:ea typeface="Calibri" pitchFamily="34" charset="-122"/>
                <a:cs typeface="Calibri" pitchFamily="34" charset="-120"/>
              </a:rPr>
              <a:t>Generative AI and IS</a:t>
            </a:r>
            <a:endParaRPr lang="en-US" sz="1000" dirty="0"/>
          </a:p>
        </p:txBody>
      </p:sp>
      <p:sp>
        <p:nvSpPr>
          <p:cNvPr id="7" name="Text 4"/>
          <p:cNvSpPr/>
          <p:nvPr/>
        </p:nvSpPr>
        <p:spPr>
          <a:xfrm>
            <a:off x="11274552" y="6473952"/>
            <a:ext cx="457200" cy="274320"/>
          </a:xfrm>
          <a:prstGeom prst="rect">
            <a:avLst/>
          </a:prstGeom>
          <a:noFill/>
          <a:ln/>
        </p:spPr>
        <p:txBody>
          <a:bodyPr wrap="square" lIns="0" tIns="0" rIns="0" bIns="0" rtlCol="0" anchor="ctr"/>
          <a:lstStyle/>
          <a:p>
            <a:pPr marL="0" indent="0" algn="r">
              <a:buNone/>
            </a:pPr>
            <a:r>
              <a:rPr lang="en-US" sz="1000" dirty="0">
                <a:solidFill>
                  <a:srgbClr val="6B7280"/>
                </a:solidFill>
                <a:latin typeface="Calibri" pitchFamily="34" charset="0"/>
                <a:ea typeface="Calibri" pitchFamily="34" charset="-122"/>
                <a:cs typeface="Calibri" pitchFamily="34" charset="-120"/>
              </a:rPr>
              <a:t>16</a:t>
            </a:r>
            <a:endParaRPr lang="en-US" sz="10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640080" y="384048"/>
            <a:ext cx="7315200" cy="320040"/>
          </a:xfrm>
          <a:prstGeom prst="rect">
            <a:avLst/>
          </a:prstGeom>
          <a:noFill/>
          <a:ln/>
        </p:spPr>
        <p:txBody>
          <a:bodyPr wrap="square" lIns="0" tIns="0" rIns="0" bIns="0" rtlCol="0" anchor="ctr"/>
          <a:lstStyle/>
          <a:p>
            <a:pPr marL="0" indent="0">
              <a:buNone/>
            </a:pPr>
            <a:r>
              <a:rPr lang="en-US" sz="1300" b="1" kern="0" spc="200" dirty="0">
                <a:solidFill>
                  <a:srgbClr val="0F9B8E"/>
                </a:solidFill>
                <a:latin typeface="Calibri" pitchFamily="34" charset="0"/>
                <a:ea typeface="Calibri" pitchFamily="34" charset="-122"/>
                <a:cs typeface="Calibri" pitchFamily="34" charset="-120"/>
              </a:rPr>
              <a:t>7. FUTURE OF GENERATIVE AI</a:t>
            </a:r>
            <a:endParaRPr lang="en-US" sz="1300" dirty="0"/>
          </a:p>
        </p:txBody>
      </p:sp>
      <p:sp>
        <p:nvSpPr>
          <p:cNvPr id="3" name="Text 1"/>
          <p:cNvSpPr/>
          <p:nvPr/>
        </p:nvSpPr>
        <p:spPr>
          <a:xfrm>
            <a:off x="640080" y="685800"/>
            <a:ext cx="9601200" cy="731520"/>
          </a:xfrm>
          <a:prstGeom prst="rect">
            <a:avLst/>
          </a:prstGeom>
          <a:noFill/>
          <a:ln/>
        </p:spPr>
        <p:txBody>
          <a:bodyPr wrap="square" lIns="0" tIns="0" rIns="0" bIns="0" rtlCol="0" anchor="ctr"/>
          <a:lstStyle/>
          <a:p>
            <a:pPr marL="0" indent="0">
              <a:buNone/>
            </a:pPr>
            <a:r>
              <a:rPr lang="en-US" sz="3200" b="1" dirty="0">
                <a:solidFill>
                  <a:srgbClr val="1E2340"/>
                </a:solidFill>
                <a:latin typeface="Cambria" pitchFamily="34" charset="0"/>
                <a:ea typeface="Cambria" pitchFamily="34" charset="-122"/>
                <a:cs typeface="Cambria" pitchFamily="34" charset="-120"/>
              </a:rPr>
              <a:t>Where the Technology Is Headed</a:t>
            </a:r>
            <a:endParaRPr lang="en-US" sz="3200" dirty="0"/>
          </a:p>
        </p:txBody>
      </p:sp>
      <p:sp>
        <p:nvSpPr>
          <p:cNvPr id="4" name="Shape 2"/>
          <p:cNvSpPr/>
          <p:nvPr/>
        </p:nvSpPr>
        <p:spPr>
          <a:xfrm>
            <a:off x="640080" y="1691640"/>
            <a:ext cx="2514600" cy="3429000"/>
          </a:xfrm>
          <a:prstGeom prst="roundRect">
            <a:avLst>
              <a:gd name="adj" fmla="val 3636"/>
            </a:avLst>
          </a:prstGeom>
          <a:solidFill>
            <a:srgbClr val="F7F8FC"/>
          </a:solidFill>
          <a:ln/>
          <a:effectLst>
            <a:outerShdw blurRad="101600" dist="38100" dir="5400000" algn="bl" rotWithShape="0">
              <a:srgbClr val="1E2340">
                <a:alpha val="12000"/>
              </a:srgbClr>
            </a:outerShdw>
          </a:effectLst>
        </p:spPr>
      </p:sp>
      <p:sp>
        <p:nvSpPr>
          <p:cNvPr id="5" name="Shape 3"/>
          <p:cNvSpPr/>
          <p:nvPr/>
        </p:nvSpPr>
        <p:spPr>
          <a:xfrm>
            <a:off x="1577340" y="1965960"/>
            <a:ext cx="640080" cy="640080"/>
          </a:xfrm>
          <a:prstGeom prst="ellipse">
            <a:avLst/>
          </a:prstGeom>
          <a:solidFill>
            <a:srgbClr val="151A3D"/>
          </a:solidFill>
          <a:ln/>
        </p:spPr>
      </p:sp>
      <p:pic>
        <p:nvPicPr>
          <p:cNvPr id="6" name="Image 0" descr="/home/claude/genai_pptx/icons/puzzle_teal.png"/>
          <p:cNvPicPr>
            <a:picLocks noChangeAspect="1"/>
          </p:cNvPicPr>
          <p:nvPr/>
        </p:nvPicPr>
        <p:blipFill>
          <a:blip r:embed="rId3"/>
          <a:stretch>
            <a:fillRect/>
          </a:stretch>
        </p:blipFill>
        <p:spPr>
          <a:xfrm>
            <a:off x="1721358" y="2109978"/>
            <a:ext cx="352044" cy="352044"/>
          </a:xfrm>
          <a:prstGeom prst="rect">
            <a:avLst/>
          </a:prstGeom>
        </p:spPr>
      </p:pic>
      <p:sp>
        <p:nvSpPr>
          <p:cNvPr id="7" name="Text 4"/>
          <p:cNvSpPr/>
          <p:nvPr/>
        </p:nvSpPr>
        <p:spPr>
          <a:xfrm>
            <a:off x="822960" y="2807208"/>
            <a:ext cx="2148840" cy="548640"/>
          </a:xfrm>
          <a:prstGeom prst="rect">
            <a:avLst/>
          </a:prstGeom>
          <a:noFill/>
          <a:ln/>
        </p:spPr>
        <p:txBody>
          <a:bodyPr wrap="square" lIns="0" tIns="0" rIns="0" bIns="0" rtlCol="0" anchor="ctr"/>
          <a:lstStyle/>
          <a:p>
            <a:pPr marL="0" indent="0" algn="ctr">
              <a:buNone/>
            </a:pPr>
            <a:r>
              <a:rPr lang="en-US" sz="1250" b="1" dirty="0">
                <a:solidFill>
                  <a:srgbClr val="1E2340"/>
                </a:solidFill>
                <a:latin typeface="Calibri" pitchFamily="34" charset="0"/>
                <a:ea typeface="Calibri" pitchFamily="34" charset="-122"/>
                <a:cs typeface="Calibri" pitchFamily="34" charset="-120"/>
              </a:rPr>
              <a:t>Multimodal Models</a:t>
            </a:r>
            <a:endParaRPr lang="en-US" sz="1250" dirty="0"/>
          </a:p>
        </p:txBody>
      </p:sp>
      <p:sp>
        <p:nvSpPr>
          <p:cNvPr id="8" name="Text 5"/>
          <p:cNvSpPr/>
          <p:nvPr/>
        </p:nvSpPr>
        <p:spPr>
          <a:xfrm>
            <a:off x="841248" y="3383280"/>
            <a:ext cx="2112264" cy="1600200"/>
          </a:xfrm>
          <a:prstGeom prst="rect">
            <a:avLst/>
          </a:prstGeom>
          <a:noFill/>
          <a:ln/>
        </p:spPr>
        <p:txBody>
          <a:bodyPr wrap="square" lIns="0" tIns="0" rIns="0" bIns="0" rtlCol="0" anchor="ctr"/>
          <a:lstStyle/>
          <a:p>
            <a:pPr marL="0" indent="0" algn="ctr">
              <a:lnSpc>
                <a:spcPct val="125000"/>
              </a:lnSpc>
              <a:buNone/>
            </a:pPr>
            <a:r>
              <a:rPr lang="en-US" sz="950" dirty="0">
                <a:solidFill>
                  <a:srgbClr val="6B7280"/>
                </a:solidFill>
                <a:latin typeface="Calibri" pitchFamily="34" charset="0"/>
                <a:ea typeface="Calibri" pitchFamily="34" charset="-122"/>
                <a:cs typeface="Calibri" pitchFamily="34" charset="-120"/>
              </a:rPr>
              <a:t>Future systems will seamlessly combine text, image, audio, and video understanding in a single reasoning process, rather than treating each as a separate tool</a:t>
            </a:r>
            <a:endParaRPr lang="en-US" sz="950" dirty="0"/>
          </a:p>
        </p:txBody>
      </p:sp>
      <p:sp>
        <p:nvSpPr>
          <p:cNvPr id="9" name="Shape 6"/>
          <p:cNvSpPr/>
          <p:nvPr/>
        </p:nvSpPr>
        <p:spPr>
          <a:xfrm>
            <a:off x="3474720" y="1691640"/>
            <a:ext cx="2514600" cy="3429000"/>
          </a:xfrm>
          <a:prstGeom prst="roundRect">
            <a:avLst>
              <a:gd name="adj" fmla="val 3636"/>
            </a:avLst>
          </a:prstGeom>
          <a:solidFill>
            <a:srgbClr val="F7F8FC"/>
          </a:solidFill>
          <a:ln/>
          <a:effectLst>
            <a:outerShdw blurRad="101600" dist="38100" dir="5400000" algn="bl" rotWithShape="0">
              <a:srgbClr val="1E2340">
                <a:alpha val="12000"/>
              </a:srgbClr>
            </a:outerShdw>
          </a:effectLst>
        </p:spPr>
      </p:sp>
      <p:sp>
        <p:nvSpPr>
          <p:cNvPr id="10" name="Shape 7"/>
          <p:cNvSpPr/>
          <p:nvPr/>
        </p:nvSpPr>
        <p:spPr>
          <a:xfrm>
            <a:off x="4411980" y="1965960"/>
            <a:ext cx="640080" cy="640080"/>
          </a:xfrm>
          <a:prstGeom prst="ellipse">
            <a:avLst/>
          </a:prstGeom>
          <a:solidFill>
            <a:srgbClr val="151A3D"/>
          </a:solidFill>
          <a:ln/>
        </p:spPr>
      </p:sp>
      <p:pic>
        <p:nvPicPr>
          <p:cNvPr id="11" name="Image 1" descr="/home/claude/genai_pptx/icons/rocket_teal.png"/>
          <p:cNvPicPr>
            <a:picLocks noChangeAspect="1"/>
          </p:cNvPicPr>
          <p:nvPr/>
        </p:nvPicPr>
        <p:blipFill>
          <a:blip r:embed="rId4"/>
          <a:stretch>
            <a:fillRect/>
          </a:stretch>
        </p:blipFill>
        <p:spPr>
          <a:xfrm>
            <a:off x="4555998" y="2109978"/>
            <a:ext cx="352044" cy="352044"/>
          </a:xfrm>
          <a:prstGeom prst="rect">
            <a:avLst/>
          </a:prstGeom>
        </p:spPr>
      </p:pic>
      <p:sp>
        <p:nvSpPr>
          <p:cNvPr id="12" name="Text 8"/>
          <p:cNvSpPr/>
          <p:nvPr/>
        </p:nvSpPr>
        <p:spPr>
          <a:xfrm>
            <a:off x="3657600" y="2807208"/>
            <a:ext cx="2148840" cy="548640"/>
          </a:xfrm>
          <a:prstGeom prst="rect">
            <a:avLst/>
          </a:prstGeom>
          <a:noFill/>
          <a:ln/>
        </p:spPr>
        <p:txBody>
          <a:bodyPr wrap="square" lIns="0" tIns="0" rIns="0" bIns="0" rtlCol="0" anchor="ctr"/>
          <a:lstStyle/>
          <a:p>
            <a:pPr marL="0" indent="0" algn="ctr">
              <a:buNone/>
            </a:pPr>
            <a:r>
              <a:rPr lang="en-US" sz="1250" b="1" dirty="0">
                <a:solidFill>
                  <a:srgbClr val="1E2340"/>
                </a:solidFill>
                <a:latin typeface="Calibri" pitchFamily="34" charset="0"/>
                <a:ea typeface="Calibri" pitchFamily="34" charset="-122"/>
                <a:cs typeface="Calibri" pitchFamily="34" charset="-120"/>
              </a:rPr>
              <a:t>Agentic AI</a:t>
            </a:r>
            <a:endParaRPr lang="en-US" sz="1250" dirty="0"/>
          </a:p>
        </p:txBody>
      </p:sp>
      <p:sp>
        <p:nvSpPr>
          <p:cNvPr id="13" name="Text 9"/>
          <p:cNvSpPr/>
          <p:nvPr/>
        </p:nvSpPr>
        <p:spPr>
          <a:xfrm>
            <a:off x="3675888" y="3383280"/>
            <a:ext cx="2112264" cy="1600200"/>
          </a:xfrm>
          <a:prstGeom prst="rect">
            <a:avLst/>
          </a:prstGeom>
          <a:noFill/>
          <a:ln/>
        </p:spPr>
        <p:txBody>
          <a:bodyPr wrap="square" lIns="0" tIns="0" rIns="0" bIns="0" rtlCol="0" anchor="ctr"/>
          <a:lstStyle/>
          <a:p>
            <a:pPr marL="0" indent="0" algn="ctr">
              <a:lnSpc>
                <a:spcPct val="125000"/>
              </a:lnSpc>
              <a:buNone/>
            </a:pPr>
            <a:r>
              <a:rPr lang="en-US" sz="950" dirty="0">
                <a:solidFill>
                  <a:srgbClr val="6B7280"/>
                </a:solidFill>
                <a:latin typeface="Calibri" pitchFamily="34" charset="0"/>
                <a:ea typeface="Calibri" pitchFamily="34" charset="-122"/>
                <a:cs typeface="Calibri" pitchFamily="34" charset="-120"/>
              </a:rPr>
              <a:t>Instead of answering one prompt at a time, systems will plan, execute, and adjust multi-step tasks autonomously, checking in with humans only when needed</a:t>
            </a:r>
            <a:endParaRPr lang="en-US" sz="950" dirty="0"/>
          </a:p>
        </p:txBody>
      </p:sp>
      <p:sp>
        <p:nvSpPr>
          <p:cNvPr id="14" name="Shape 10"/>
          <p:cNvSpPr/>
          <p:nvPr/>
        </p:nvSpPr>
        <p:spPr>
          <a:xfrm>
            <a:off x="6309360" y="1691640"/>
            <a:ext cx="2514600" cy="3429000"/>
          </a:xfrm>
          <a:prstGeom prst="roundRect">
            <a:avLst>
              <a:gd name="adj" fmla="val 3636"/>
            </a:avLst>
          </a:prstGeom>
          <a:solidFill>
            <a:srgbClr val="F7F8FC"/>
          </a:solidFill>
          <a:ln/>
          <a:effectLst>
            <a:outerShdw blurRad="101600" dist="38100" dir="5400000" algn="bl" rotWithShape="0">
              <a:srgbClr val="1E2340">
                <a:alpha val="12000"/>
              </a:srgbClr>
            </a:outerShdw>
          </a:effectLst>
        </p:spPr>
      </p:sp>
      <p:sp>
        <p:nvSpPr>
          <p:cNvPr id="15" name="Shape 11"/>
          <p:cNvSpPr/>
          <p:nvPr/>
        </p:nvSpPr>
        <p:spPr>
          <a:xfrm>
            <a:off x="7246620" y="1965960"/>
            <a:ext cx="640080" cy="640080"/>
          </a:xfrm>
          <a:prstGeom prst="ellipse">
            <a:avLst/>
          </a:prstGeom>
          <a:solidFill>
            <a:srgbClr val="151A3D"/>
          </a:solidFill>
          <a:ln/>
        </p:spPr>
      </p:sp>
      <p:pic>
        <p:nvPicPr>
          <p:cNvPr id="16" name="Image 2" descr="/home/claude/genai_pptx/icons/cogs_teal.png"/>
          <p:cNvPicPr>
            <a:picLocks noChangeAspect="1"/>
          </p:cNvPicPr>
          <p:nvPr/>
        </p:nvPicPr>
        <p:blipFill>
          <a:blip r:embed="rId5"/>
          <a:stretch>
            <a:fillRect/>
          </a:stretch>
        </p:blipFill>
        <p:spPr>
          <a:xfrm>
            <a:off x="7390638" y="2109978"/>
            <a:ext cx="352044" cy="352044"/>
          </a:xfrm>
          <a:prstGeom prst="rect">
            <a:avLst/>
          </a:prstGeom>
        </p:spPr>
      </p:pic>
      <p:sp>
        <p:nvSpPr>
          <p:cNvPr id="17" name="Text 12"/>
          <p:cNvSpPr/>
          <p:nvPr/>
        </p:nvSpPr>
        <p:spPr>
          <a:xfrm>
            <a:off x="6492240" y="2807208"/>
            <a:ext cx="2148840" cy="548640"/>
          </a:xfrm>
          <a:prstGeom prst="rect">
            <a:avLst/>
          </a:prstGeom>
          <a:noFill/>
          <a:ln/>
        </p:spPr>
        <p:txBody>
          <a:bodyPr wrap="square" lIns="0" tIns="0" rIns="0" bIns="0" rtlCol="0" anchor="ctr"/>
          <a:lstStyle/>
          <a:p>
            <a:pPr marL="0" indent="0" algn="ctr">
              <a:buNone/>
            </a:pPr>
            <a:r>
              <a:rPr lang="en-US" sz="1250" b="1" dirty="0">
                <a:solidFill>
                  <a:srgbClr val="1E2340"/>
                </a:solidFill>
                <a:latin typeface="Calibri" pitchFamily="34" charset="0"/>
                <a:ea typeface="Calibri" pitchFamily="34" charset="-122"/>
                <a:cs typeface="Calibri" pitchFamily="34" charset="-120"/>
              </a:rPr>
              <a:t>Domain-Specific Models</a:t>
            </a:r>
            <a:endParaRPr lang="en-US" sz="1250" dirty="0"/>
          </a:p>
        </p:txBody>
      </p:sp>
      <p:sp>
        <p:nvSpPr>
          <p:cNvPr id="18" name="Text 13"/>
          <p:cNvSpPr/>
          <p:nvPr/>
        </p:nvSpPr>
        <p:spPr>
          <a:xfrm>
            <a:off x="6510528" y="3383280"/>
            <a:ext cx="2112264" cy="1600200"/>
          </a:xfrm>
          <a:prstGeom prst="rect">
            <a:avLst/>
          </a:prstGeom>
          <a:noFill/>
          <a:ln/>
        </p:spPr>
        <p:txBody>
          <a:bodyPr wrap="square" lIns="0" tIns="0" rIns="0" bIns="0" rtlCol="0" anchor="ctr"/>
          <a:lstStyle/>
          <a:p>
            <a:pPr marL="0" indent="0" algn="ctr">
              <a:lnSpc>
                <a:spcPct val="125000"/>
              </a:lnSpc>
              <a:buNone/>
            </a:pPr>
            <a:r>
              <a:rPr lang="en-US" sz="950" dirty="0">
                <a:solidFill>
                  <a:srgbClr val="6B7280"/>
                </a:solidFill>
                <a:latin typeface="Calibri" pitchFamily="34" charset="0"/>
                <a:ea typeface="Calibri" pitchFamily="34" charset="-122"/>
                <a:cs typeface="Calibri" pitchFamily="34" charset="-120"/>
              </a:rPr>
              <a:t>Expect more specialized models fine-tuned on the vocabulary and standards of individual fields like finance, healthcare, and law</a:t>
            </a:r>
            <a:endParaRPr lang="en-US" sz="950" dirty="0"/>
          </a:p>
        </p:txBody>
      </p:sp>
      <p:sp>
        <p:nvSpPr>
          <p:cNvPr id="19" name="Shape 14"/>
          <p:cNvSpPr/>
          <p:nvPr/>
        </p:nvSpPr>
        <p:spPr>
          <a:xfrm>
            <a:off x="9144000" y="1691640"/>
            <a:ext cx="2514600" cy="3429000"/>
          </a:xfrm>
          <a:prstGeom prst="roundRect">
            <a:avLst>
              <a:gd name="adj" fmla="val 3636"/>
            </a:avLst>
          </a:prstGeom>
          <a:solidFill>
            <a:srgbClr val="F7F8FC"/>
          </a:solidFill>
          <a:ln/>
          <a:effectLst>
            <a:outerShdw blurRad="101600" dist="38100" dir="5400000" algn="bl" rotWithShape="0">
              <a:srgbClr val="1E2340">
                <a:alpha val="12000"/>
              </a:srgbClr>
            </a:outerShdw>
          </a:effectLst>
        </p:spPr>
      </p:sp>
      <p:sp>
        <p:nvSpPr>
          <p:cNvPr id="20" name="Shape 15"/>
          <p:cNvSpPr/>
          <p:nvPr/>
        </p:nvSpPr>
        <p:spPr>
          <a:xfrm>
            <a:off x="10081260" y="1965960"/>
            <a:ext cx="640080" cy="640080"/>
          </a:xfrm>
          <a:prstGeom prst="ellipse">
            <a:avLst/>
          </a:prstGeom>
          <a:solidFill>
            <a:srgbClr val="151A3D"/>
          </a:solidFill>
          <a:ln/>
        </p:spPr>
      </p:sp>
      <p:pic>
        <p:nvPicPr>
          <p:cNvPr id="21" name="Image 3" descr="/home/claude/genai_pptx/icons/shield_teal.png"/>
          <p:cNvPicPr>
            <a:picLocks noChangeAspect="1"/>
          </p:cNvPicPr>
          <p:nvPr/>
        </p:nvPicPr>
        <p:blipFill>
          <a:blip r:embed="rId6"/>
          <a:stretch>
            <a:fillRect/>
          </a:stretch>
        </p:blipFill>
        <p:spPr>
          <a:xfrm>
            <a:off x="10225278" y="2109978"/>
            <a:ext cx="352044" cy="352044"/>
          </a:xfrm>
          <a:prstGeom prst="rect">
            <a:avLst/>
          </a:prstGeom>
        </p:spPr>
      </p:pic>
      <p:sp>
        <p:nvSpPr>
          <p:cNvPr id="22" name="Text 16"/>
          <p:cNvSpPr/>
          <p:nvPr/>
        </p:nvSpPr>
        <p:spPr>
          <a:xfrm>
            <a:off x="9326880" y="2807208"/>
            <a:ext cx="2148840" cy="548640"/>
          </a:xfrm>
          <a:prstGeom prst="rect">
            <a:avLst/>
          </a:prstGeom>
          <a:noFill/>
          <a:ln/>
        </p:spPr>
        <p:txBody>
          <a:bodyPr wrap="square" lIns="0" tIns="0" rIns="0" bIns="0" rtlCol="0" anchor="ctr"/>
          <a:lstStyle/>
          <a:p>
            <a:pPr marL="0" indent="0" algn="ctr">
              <a:buNone/>
            </a:pPr>
            <a:r>
              <a:rPr lang="en-US" sz="1250" b="1" dirty="0">
                <a:solidFill>
                  <a:srgbClr val="1E2340"/>
                </a:solidFill>
                <a:latin typeface="Calibri" pitchFamily="34" charset="0"/>
                <a:ea typeface="Calibri" pitchFamily="34" charset="-122"/>
                <a:cs typeface="Calibri" pitchFamily="34" charset="-120"/>
              </a:rPr>
              <a:t>Responsible AI by Design</a:t>
            </a:r>
            <a:endParaRPr lang="en-US" sz="1250" dirty="0"/>
          </a:p>
        </p:txBody>
      </p:sp>
      <p:sp>
        <p:nvSpPr>
          <p:cNvPr id="23" name="Text 17"/>
          <p:cNvSpPr/>
          <p:nvPr/>
        </p:nvSpPr>
        <p:spPr>
          <a:xfrm>
            <a:off x="9345168" y="3383280"/>
            <a:ext cx="2112264" cy="1600200"/>
          </a:xfrm>
          <a:prstGeom prst="rect">
            <a:avLst/>
          </a:prstGeom>
          <a:noFill/>
          <a:ln/>
        </p:spPr>
        <p:txBody>
          <a:bodyPr wrap="square" lIns="0" tIns="0" rIns="0" bIns="0" rtlCol="0" anchor="ctr"/>
          <a:lstStyle/>
          <a:p>
            <a:pPr marL="0" indent="0" algn="ctr">
              <a:lnSpc>
                <a:spcPct val="125000"/>
              </a:lnSpc>
              <a:buNone/>
            </a:pPr>
            <a:r>
              <a:rPr lang="en-US" sz="950" dirty="0">
                <a:solidFill>
                  <a:srgbClr val="6B7280"/>
                </a:solidFill>
                <a:latin typeface="Calibri" pitchFamily="34" charset="0"/>
                <a:ea typeface="Calibri" pitchFamily="34" charset="-122"/>
                <a:cs typeface="Calibri" pitchFamily="34" charset="-120"/>
              </a:rPr>
              <a:t>Safety, transparency, and regulatory compliance will increasingly be built into models from the start rather than added on afterward</a:t>
            </a:r>
            <a:endParaRPr lang="en-US" sz="950" dirty="0"/>
          </a:p>
        </p:txBody>
      </p:sp>
      <p:sp>
        <p:nvSpPr>
          <p:cNvPr id="24" name="Text 18"/>
          <p:cNvSpPr/>
          <p:nvPr/>
        </p:nvSpPr>
        <p:spPr>
          <a:xfrm>
            <a:off x="457200" y="6473952"/>
            <a:ext cx="5486400" cy="274320"/>
          </a:xfrm>
          <a:prstGeom prst="rect">
            <a:avLst/>
          </a:prstGeom>
          <a:noFill/>
          <a:ln/>
        </p:spPr>
        <p:txBody>
          <a:bodyPr wrap="square" lIns="0" tIns="0" rIns="0" bIns="0" rtlCol="0" anchor="ctr"/>
          <a:lstStyle/>
          <a:p>
            <a:pPr marL="0" indent="0">
              <a:buNone/>
            </a:pPr>
            <a:r>
              <a:rPr lang="en-US" sz="1000" dirty="0">
                <a:solidFill>
                  <a:srgbClr val="6B7280"/>
                </a:solidFill>
                <a:latin typeface="Calibri" pitchFamily="34" charset="0"/>
                <a:ea typeface="Calibri" pitchFamily="34" charset="-122"/>
                <a:cs typeface="Calibri" pitchFamily="34" charset="-120"/>
              </a:rPr>
              <a:t>Generative AI and IS</a:t>
            </a:r>
            <a:endParaRPr lang="en-US" sz="1000" dirty="0"/>
          </a:p>
        </p:txBody>
      </p:sp>
      <p:sp>
        <p:nvSpPr>
          <p:cNvPr id="25" name="Text 19"/>
          <p:cNvSpPr/>
          <p:nvPr/>
        </p:nvSpPr>
        <p:spPr>
          <a:xfrm>
            <a:off x="11274552" y="6473952"/>
            <a:ext cx="457200" cy="274320"/>
          </a:xfrm>
          <a:prstGeom prst="rect">
            <a:avLst/>
          </a:prstGeom>
          <a:noFill/>
          <a:ln/>
        </p:spPr>
        <p:txBody>
          <a:bodyPr wrap="square" lIns="0" tIns="0" rIns="0" bIns="0" rtlCol="0" anchor="ctr"/>
          <a:lstStyle/>
          <a:p>
            <a:pPr marL="0" indent="0" algn="r">
              <a:buNone/>
            </a:pPr>
            <a:r>
              <a:rPr lang="en-US" sz="1000" dirty="0">
                <a:solidFill>
                  <a:srgbClr val="6B7280"/>
                </a:solidFill>
                <a:latin typeface="Calibri" pitchFamily="34" charset="0"/>
                <a:ea typeface="Calibri" pitchFamily="34" charset="-122"/>
                <a:cs typeface="Calibri" pitchFamily="34" charset="-120"/>
              </a:rPr>
              <a:t>17</a:t>
            </a:r>
            <a:endParaRPr lang="en-US" sz="10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8">
    <p:bg>
      <p:bgPr>
        <a:solidFill>
          <a:srgbClr val="151A3D"/>
        </a:solidFill>
        <a:effectLst/>
      </p:bgPr>
    </p:bg>
    <p:spTree>
      <p:nvGrpSpPr>
        <p:cNvPr id="1" name=""/>
        <p:cNvGrpSpPr/>
        <p:nvPr/>
      </p:nvGrpSpPr>
      <p:grpSpPr>
        <a:xfrm>
          <a:off x="0" y="0"/>
          <a:ext cx="0" cy="0"/>
          <a:chOff x="0" y="0"/>
          <a:chExt cx="0" cy="0"/>
        </a:xfrm>
      </p:grpSpPr>
      <p:sp>
        <p:nvSpPr>
          <p:cNvPr id="2" name="Text 0"/>
          <p:cNvSpPr/>
          <p:nvPr/>
        </p:nvSpPr>
        <p:spPr>
          <a:xfrm>
            <a:off x="640080" y="384048"/>
            <a:ext cx="7315200" cy="320040"/>
          </a:xfrm>
          <a:prstGeom prst="rect">
            <a:avLst/>
          </a:prstGeom>
          <a:noFill/>
          <a:ln/>
        </p:spPr>
        <p:txBody>
          <a:bodyPr wrap="square" lIns="0" tIns="0" rIns="0" bIns="0" rtlCol="0" anchor="ctr"/>
          <a:lstStyle/>
          <a:p>
            <a:pPr marL="0" indent="0">
              <a:buNone/>
            </a:pPr>
            <a:r>
              <a:rPr lang="en-US" sz="1300" b="1" kern="0" spc="200" dirty="0">
                <a:solidFill>
                  <a:srgbClr val="2DD4BF"/>
                </a:solidFill>
                <a:latin typeface="Calibri" pitchFamily="34" charset="0"/>
                <a:ea typeface="Calibri" pitchFamily="34" charset="-122"/>
                <a:cs typeface="Calibri" pitchFamily="34" charset="-120"/>
              </a:rPr>
              <a:t>7. FUTURE OF GENERATIVE AI</a:t>
            </a:r>
            <a:endParaRPr lang="en-US" sz="1300" dirty="0"/>
          </a:p>
        </p:txBody>
      </p:sp>
      <p:sp>
        <p:nvSpPr>
          <p:cNvPr id="3" name="Text 1"/>
          <p:cNvSpPr/>
          <p:nvPr/>
        </p:nvSpPr>
        <p:spPr>
          <a:xfrm>
            <a:off x="640080" y="685800"/>
            <a:ext cx="9601200" cy="731520"/>
          </a:xfrm>
          <a:prstGeom prst="rect">
            <a:avLst/>
          </a:prstGeom>
          <a:noFill/>
          <a:ln/>
        </p:spPr>
        <p:txBody>
          <a:bodyPr wrap="square" lIns="0" tIns="0" rIns="0" bIns="0" rtlCol="0" anchor="ctr"/>
          <a:lstStyle/>
          <a:p>
            <a:pPr marL="0" indent="0">
              <a:buNone/>
            </a:pPr>
            <a:r>
              <a:rPr lang="en-US" sz="3200" b="1" dirty="0">
                <a:solidFill>
                  <a:srgbClr val="FFFFFF"/>
                </a:solidFill>
                <a:latin typeface="Cambria" pitchFamily="34" charset="0"/>
                <a:ea typeface="Cambria" pitchFamily="34" charset="-122"/>
                <a:cs typeface="Cambria" pitchFamily="34" charset="-120"/>
              </a:rPr>
              <a:t>Growing Role in Information Systems</a:t>
            </a:r>
            <a:endParaRPr lang="en-US" sz="3200" dirty="0"/>
          </a:p>
        </p:txBody>
      </p:sp>
      <p:sp>
        <p:nvSpPr>
          <p:cNvPr id="4" name="Text 2"/>
          <p:cNvSpPr/>
          <p:nvPr/>
        </p:nvSpPr>
        <p:spPr>
          <a:xfrm>
            <a:off x="640080" y="1508760"/>
            <a:ext cx="5303520" cy="1920240"/>
          </a:xfrm>
          <a:prstGeom prst="rect">
            <a:avLst/>
          </a:prstGeom>
          <a:noFill/>
          <a:ln/>
        </p:spPr>
        <p:txBody>
          <a:bodyPr wrap="square" lIns="0" tIns="0" rIns="0" bIns="0" rtlCol="0" anchor="ctr"/>
          <a:lstStyle/>
          <a:p>
            <a:pPr marL="0" indent="0">
              <a:lnSpc>
                <a:spcPct val="130000"/>
              </a:lnSpc>
              <a:buNone/>
            </a:pPr>
            <a:r>
              <a:rPr lang="en-US" sz="1200" dirty="0">
                <a:solidFill>
                  <a:srgbClr val="D6DAF1"/>
                </a:solidFill>
                <a:latin typeface="Calibri" pitchFamily="34" charset="0"/>
                <a:ea typeface="Calibri" pitchFamily="34" charset="-122"/>
                <a:cs typeface="Calibri" pitchFamily="34" charset="-120"/>
              </a:rPr>
              <a:t>As agentic and multimodal AI mature, Information Systems will shift from AI as a support tool to AI as an active participant. Rather than only assisting a human who initiates every step, future systems will monitor operations, flag anomalies, and execute routine decisions on their own, with people reviewing exceptions and setting the guardrails.</a:t>
            </a:r>
            <a:endParaRPr lang="en-US" sz="1200" dirty="0"/>
          </a:p>
        </p:txBody>
      </p:sp>
      <p:sp>
        <p:nvSpPr>
          <p:cNvPr id="5" name="Shape 3"/>
          <p:cNvSpPr/>
          <p:nvPr/>
        </p:nvSpPr>
        <p:spPr>
          <a:xfrm>
            <a:off x="640080" y="3593592"/>
            <a:ext cx="274320" cy="274320"/>
          </a:xfrm>
          <a:prstGeom prst="ellipse">
            <a:avLst/>
          </a:prstGeom>
          <a:solidFill>
            <a:srgbClr val="0C7B70"/>
          </a:solidFill>
          <a:ln/>
        </p:spPr>
      </p:sp>
      <p:pic>
        <p:nvPicPr>
          <p:cNvPr id="6" name="Image 0" descr="/home/claude/genai_pptx/icons/check.png"/>
          <p:cNvPicPr>
            <a:picLocks noChangeAspect="1"/>
          </p:cNvPicPr>
          <p:nvPr/>
        </p:nvPicPr>
        <p:blipFill>
          <a:blip r:embed="rId3"/>
          <a:stretch>
            <a:fillRect/>
          </a:stretch>
        </p:blipFill>
        <p:spPr>
          <a:xfrm>
            <a:off x="688086" y="3641598"/>
            <a:ext cx="178308" cy="178308"/>
          </a:xfrm>
          <a:prstGeom prst="rect">
            <a:avLst/>
          </a:prstGeom>
        </p:spPr>
      </p:pic>
      <p:sp>
        <p:nvSpPr>
          <p:cNvPr id="7" name="Text 4"/>
          <p:cNvSpPr/>
          <p:nvPr/>
        </p:nvSpPr>
        <p:spPr>
          <a:xfrm>
            <a:off x="1024128" y="3520440"/>
            <a:ext cx="4892040" cy="274320"/>
          </a:xfrm>
          <a:prstGeom prst="rect">
            <a:avLst/>
          </a:prstGeom>
          <a:noFill/>
          <a:ln/>
        </p:spPr>
        <p:txBody>
          <a:bodyPr wrap="square" lIns="0" tIns="0" rIns="0" bIns="0" rtlCol="0" anchor="ctr"/>
          <a:lstStyle/>
          <a:p>
            <a:pPr marL="0" indent="0">
              <a:buNone/>
            </a:pPr>
            <a:r>
              <a:rPr lang="en-US" sz="1150" b="1" dirty="0">
                <a:solidFill>
                  <a:srgbClr val="FFFFFF"/>
                </a:solidFill>
                <a:latin typeface="Calibri" pitchFamily="34" charset="0"/>
                <a:ea typeface="Calibri" pitchFamily="34" charset="-122"/>
                <a:cs typeface="Calibri" pitchFamily="34" charset="-120"/>
              </a:rPr>
              <a:t>Autonomous IT operations</a:t>
            </a:r>
            <a:endParaRPr lang="en-US" sz="1150" dirty="0"/>
          </a:p>
        </p:txBody>
      </p:sp>
      <p:sp>
        <p:nvSpPr>
          <p:cNvPr id="8" name="Text 5"/>
          <p:cNvSpPr/>
          <p:nvPr/>
        </p:nvSpPr>
        <p:spPr>
          <a:xfrm>
            <a:off x="1024128" y="3767328"/>
            <a:ext cx="4892040" cy="457200"/>
          </a:xfrm>
          <a:prstGeom prst="rect">
            <a:avLst/>
          </a:prstGeom>
          <a:noFill/>
          <a:ln/>
        </p:spPr>
        <p:txBody>
          <a:bodyPr wrap="square" lIns="0" tIns="0" rIns="0" bIns="0" rtlCol="0" anchor="ctr"/>
          <a:lstStyle/>
          <a:p>
            <a:pPr marL="0" indent="0">
              <a:lnSpc>
                <a:spcPct val="115000"/>
              </a:lnSpc>
              <a:buNone/>
            </a:pPr>
            <a:r>
              <a:rPr lang="en-US" sz="970" dirty="0">
                <a:solidFill>
                  <a:srgbClr val="AEB4DC"/>
                </a:solidFill>
                <a:latin typeface="Calibri" pitchFamily="34" charset="0"/>
                <a:ea typeface="Calibri" pitchFamily="34" charset="-122"/>
                <a:cs typeface="Calibri" pitchFamily="34" charset="-120"/>
              </a:rPr>
              <a:t>Systems that monitor infrastructure and resolve routine incidents without waiting for a ticket</a:t>
            </a:r>
            <a:endParaRPr lang="en-US" sz="970" dirty="0"/>
          </a:p>
        </p:txBody>
      </p:sp>
      <p:sp>
        <p:nvSpPr>
          <p:cNvPr id="9" name="Shape 6"/>
          <p:cNvSpPr/>
          <p:nvPr/>
        </p:nvSpPr>
        <p:spPr>
          <a:xfrm>
            <a:off x="640080" y="4251960"/>
            <a:ext cx="274320" cy="274320"/>
          </a:xfrm>
          <a:prstGeom prst="ellipse">
            <a:avLst/>
          </a:prstGeom>
          <a:solidFill>
            <a:srgbClr val="0C7B70"/>
          </a:solidFill>
          <a:ln/>
        </p:spPr>
      </p:sp>
      <p:pic>
        <p:nvPicPr>
          <p:cNvPr id="10" name="Image 1" descr="/home/claude/genai_pptx/icons/check.png"/>
          <p:cNvPicPr>
            <a:picLocks noChangeAspect="1"/>
          </p:cNvPicPr>
          <p:nvPr/>
        </p:nvPicPr>
        <p:blipFill>
          <a:blip r:embed="rId3"/>
          <a:stretch>
            <a:fillRect/>
          </a:stretch>
        </p:blipFill>
        <p:spPr>
          <a:xfrm>
            <a:off x="688086" y="4299966"/>
            <a:ext cx="178308" cy="178308"/>
          </a:xfrm>
          <a:prstGeom prst="rect">
            <a:avLst/>
          </a:prstGeom>
        </p:spPr>
      </p:pic>
      <p:sp>
        <p:nvSpPr>
          <p:cNvPr id="11" name="Text 7"/>
          <p:cNvSpPr/>
          <p:nvPr/>
        </p:nvSpPr>
        <p:spPr>
          <a:xfrm>
            <a:off x="1024128" y="4178808"/>
            <a:ext cx="4892040" cy="274320"/>
          </a:xfrm>
          <a:prstGeom prst="rect">
            <a:avLst/>
          </a:prstGeom>
          <a:noFill/>
          <a:ln/>
        </p:spPr>
        <p:txBody>
          <a:bodyPr wrap="square" lIns="0" tIns="0" rIns="0" bIns="0" rtlCol="0" anchor="ctr"/>
          <a:lstStyle/>
          <a:p>
            <a:pPr marL="0" indent="0">
              <a:buNone/>
            </a:pPr>
            <a:r>
              <a:rPr lang="en-US" sz="1150" b="1" dirty="0">
                <a:solidFill>
                  <a:srgbClr val="FFFFFF"/>
                </a:solidFill>
                <a:latin typeface="Calibri" pitchFamily="34" charset="0"/>
                <a:ea typeface="Calibri" pitchFamily="34" charset="-122"/>
                <a:cs typeface="Calibri" pitchFamily="34" charset="-120"/>
              </a:rPr>
              <a:t>Embedded AI copilots</a:t>
            </a:r>
            <a:endParaRPr lang="en-US" sz="1150" dirty="0"/>
          </a:p>
        </p:txBody>
      </p:sp>
      <p:sp>
        <p:nvSpPr>
          <p:cNvPr id="12" name="Text 8"/>
          <p:cNvSpPr/>
          <p:nvPr/>
        </p:nvSpPr>
        <p:spPr>
          <a:xfrm>
            <a:off x="1024128" y="4425696"/>
            <a:ext cx="4892040" cy="457200"/>
          </a:xfrm>
          <a:prstGeom prst="rect">
            <a:avLst/>
          </a:prstGeom>
          <a:noFill/>
          <a:ln/>
        </p:spPr>
        <p:txBody>
          <a:bodyPr wrap="square" lIns="0" tIns="0" rIns="0" bIns="0" rtlCol="0" anchor="ctr"/>
          <a:lstStyle/>
          <a:p>
            <a:pPr marL="0" indent="0">
              <a:lnSpc>
                <a:spcPct val="115000"/>
              </a:lnSpc>
              <a:buNone/>
            </a:pPr>
            <a:r>
              <a:rPr lang="en-US" sz="970" dirty="0">
                <a:solidFill>
                  <a:srgbClr val="AEB4DC"/>
                </a:solidFill>
                <a:latin typeface="Calibri" pitchFamily="34" charset="0"/>
                <a:ea typeface="Calibri" pitchFamily="34" charset="-122"/>
                <a:cs typeface="Calibri" pitchFamily="34" charset="-120"/>
              </a:rPr>
              <a:t>Generative assistants built directly into every enterprise application, not just standalone chat tools</a:t>
            </a:r>
            <a:endParaRPr lang="en-US" sz="970" dirty="0"/>
          </a:p>
        </p:txBody>
      </p:sp>
      <p:sp>
        <p:nvSpPr>
          <p:cNvPr id="13" name="Shape 9"/>
          <p:cNvSpPr/>
          <p:nvPr/>
        </p:nvSpPr>
        <p:spPr>
          <a:xfrm>
            <a:off x="640080" y="4910328"/>
            <a:ext cx="274320" cy="274320"/>
          </a:xfrm>
          <a:prstGeom prst="ellipse">
            <a:avLst/>
          </a:prstGeom>
          <a:solidFill>
            <a:srgbClr val="0C7B70"/>
          </a:solidFill>
          <a:ln/>
        </p:spPr>
      </p:sp>
      <p:pic>
        <p:nvPicPr>
          <p:cNvPr id="14" name="Image 2" descr="/home/claude/genai_pptx/icons/check.png"/>
          <p:cNvPicPr>
            <a:picLocks noChangeAspect="1"/>
          </p:cNvPicPr>
          <p:nvPr/>
        </p:nvPicPr>
        <p:blipFill>
          <a:blip r:embed="rId3"/>
          <a:stretch>
            <a:fillRect/>
          </a:stretch>
        </p:blipFill>
        <p:spPr>
          <a:xfrm>
            <a:off x="688086" y="4958334"/>
            <a:ext cx="178308" cy="178308"/>
          </a:xfrm>
          <a:prstGeom prst="rect">
            <a:avLst/>
          </a:prstGeom>
        </p:spPr>
      </p:pic>
      <p:sp>
        <p:nvSpPr>
          <p:cNvPr id="15" name="Text 10"/>
          <p:cNvSpPr/>
          <p:nvPr/>
        </p:nvSpPr>
        <p:spPr>
          <a:xfrm>
            <a:off x="1024128" y="4837176"/>
            <a:ext cx="4892040" cy="274320"/>
          </a:xfrm>
          <a:prstGeom prst="rect">
            <a:avLst/>
          </a:prstGeom>
          <a:noFill/>
          <a:ln/>
        </p:spPr>
        <p:txBody>
          <a:bodyPr wrap="square" lIns="0" tIns="0" rIns="0" bIns="0" rtlCol="0" anchor="ctr"/>
          <a:lstStyle/>
          <a:p>
            <a:pPr marL="0" indent="0">
              <a:buNone/>
            </a:pPr>
            <a:r>
              <a:rPr lang="en-US" sz="1150" b="1" dirty="0">
                <a:solidFill>
                  <a:srgbClr val="FFFFFF"/>
                </a:solidFill>
                <a:latin typeface="Calibri" pitchFamily="34" charset="0"/>
                <a:ea typeface="Calibri" pitchFamily="34" charset="-122"/>
                <a:cs typeface="Calibri" pitchFamily="34" charset="-120"/>
              </a:rPr>
              <a:t>Self-updating business intelligence</a:t>
            </a:r>
            <a:endParaRPr lang="en-US" sz="1150" dirty="0"/>
          </a:p>
        </p:txBody>
      </p:sp>
      <p:sp>
        <p:nvSpPr>
          <p:cNvPr id="16" name="Text 11"/>
          <p:cNvSpPr/>
          <p:nvPr/>
        </p:nvSpPr>
        <p:spPr>
          <a:xfrm>
            <a:off x="1024128" y="5084064"/>
            <a:ext cx="4892040" cy="457200"/>
          </a:xfrm>
          <a:prstGeom prst="rect">
            <a:avLst/>
          </a:prstGeom>
          <a:noFill/>
          <a:ln/>
        </p:spPr>
        <p:txBody>
          <a:bodyPr wrap="square" lIns="0" tIns="0" rIns="0" bIns="0" rtlCol="0" anchor="ctr"/>
          <a:lstStyle/>
          <a:p>
            <a:pPr marL="0" indent="0">
              <a:lnSpc>
                <a:spcPct val="115000"/>
              </a:lnSpc>
              <a:buNone/>
            </a:pPr>
            <a:r>
              <a:rPr lang="en-US" sz="970" dirty="0">
                <a:solidFill>
                  <a:srgbClr val="AEB4DC"/>
                </a:solidFill>
                <a:latin typeface="Calibri" pitchFamily="34" charset="0"/>
                <a:ea typeface="Calibri" pitchFamily="34" charset="-122"/>
                <a:cs typeface="Calibri" pitchFamily="34" charset="-120"/>
              </a:rPr>
              <a:t>Dashboards and reports that refresh and reinterpret themselves in real time as new data arrives</a:t>
            </a:r>
            <a:endParaRPr lang="en-US" sz="970" dirty="0"/>
          </a:p>
        </p:txBody>
      </p:sp>
      <p:graphicFrame>
        <p:nvGraphicFramePr>
          <p:cNvPr id="17" name="Chart 0"/>
          <p:cNvGraphicFramePr/>
          <p:nvPr/>
        </p:nvGraphicFramePr>
        <p:xfrm>
          <a:off x="6400800" y="1600200"/>
          <a:ext cx="5120640" cy="3931920"/>
        </p:xfrm>
        <a:graphic>
          <a:graphicData uri="http://schemas.openxmlformats.org/drawingml/2006/chart">
            <c:chart xmlns:c="http://schemas.openxmlformats.org/drawingml/2006/chart" xmlns:r="http://schemas.openxmlformats.org/officeDocument/2006/relationships" r:id="rId4"/>
          </a:graphicData>
        </a:graphic>
      </p:graphicFrame>
      <p:sp>
        <p:nvSpPr>
          <p:cNvPr id="18" name="Text 12"/>
          <p:cNvSpPr/>
          <p:nvPr/>
        </p:nvSpPr>
        <p:spPr>
          <a:xfrm>
            <a:off x="457200" y="6473952"/>
            <a:ext cx="5486400" cy="274320"/>
          </a:xfrm>
          <a:prstGeom prst="rect">
            <a:avLst/>
          </a:prstGeom>
          <a:noFill/>
          <a:ln/>
        </p:spPr>
        <p:txBody>
          <a:bodyPr wrap="square" lIns="0" tIns="0" rIns="0" bIns="0" rtlCol="0" anchor="ctr"/>
          <a:lstStyle/>
          <a:p>
            <a:pPr marL="0" indent="0">
              <a:buNone/>
            </a:pPr>
            <a:r>
              <a:rPr lang="en-US" sz="1000" dirty="0">
                <a:solidFill>
                  <a:srgbClr val="6B7280"/>
                </a:solidFill>
                <a:latin typeface="Calibri" pitchFamily="34" charset="0"/>
                <a:ea typeface="Calibri" pitchFamily="34" charset="-122"/>
                <a:cs typeface="Calibri" pitchFamily="34" charset="-120"/>
              </a:rPr>
              <a:t>Generative AI and IS</a:t>
            </a:r>
            <a:endParaRPr lang="en-US" sz="1000" dirty="0"/>
          </a:p>
        </p:txBody>
      </p:sp>
      <p:sp>
        <p:nvSpPr>
          <p:cNvPr id="19" name="Text 13"/>
          <p:cNvSpPr/>
          <p:nvPr/>
        </p:nvSpPr>
        <p:spPr>
          <a:xfrm>
            <a:off x="11274552" y="6473952"/>
            <a:ext cx="457200" cy="274320"/>
          </a:xfrm>
          <a:prstGeom prst="rect">
            <a:avLst/>
          </a:prstGeom>
          <a:noFill/>
          <a:ln/>
        </p:spPr>
        <p:txBody>
          <a:bodyPr wrap="square" lIns="0" tIns="0" rIns="0" bIns="0" rtlCol="0" anchor="ctr"/>
          <a:lstStyle/>
          <a:p>
            <a:pPr marL="0" indent="0" algn="r">
              <a:buNone/>
            </a:pPr>
            <a:r>
              <a:rPr lang="en-US" sz="1000" dirty="0">
                <a:solidFill>
                  <a:srgbClr val="6B7280"/>
                </a:solidFill>
                <a:latin typeface="Calibri" pitchFamily="34" charset="0"/>
                <a:ea typeface="Calibri" pitchFamily="34" charset="-122"/>
                <a:cs typeface="Calibri" pitchFamily="34" charset="-120"/>
              </a:rPr>
              <a:t>18</a:t>
            </a:r>
            <a:endParaRPr lang="en-US" sz="10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9">
    <p:bg>
      <p:bgPr>
        <a:solidFill>
          <a:srgbClr val="151A3D"/>
        </a:solidFill>
        <a:effectLst/>
      </p:bgPr>
    </p:bg>
    <p:spTree>
      <p:nvGrpSpPr>
        <p:cNvPr id="1" name=""/>
        <p:cNvGrpSpPr/>
        <p:nvPr/>
      </p:nvGrpSpPr>
      <p:grpSpPr>
        <a:xfrm>
          <a:off x="0" y="0"/>
          <a:ext cx="0" cy="0"/>
          <a:chOff x="0" y="0"/>
          <a:chExt cx="0" cy="0"/>
        </a:xfrm>
      </p:grpSpPr>
      <p:sp>
        <p:nvSpPr>
          <p:cNvPr id="2" name="Shape 0"/>
          <p:cNvSpPr/>
          <p:nvPr/>
        </p:nvSpPr>
        <p:spPr>
          <a:xfrm>
            <a:off x="8778240" y="-1645920"/>
            <a:ext cx="5029200" cy="5029200"/>
          </a:xfrm>
          <a:prstGeom prst="ellipse">
            <a:avLst/>
          </a:prstGeom>
          <a:solidFill>
            <a:srgbClr val="1E2555"/>
          </a:solidFill>
          <a:ln/>
        </p:spPr>
      </p:sp>
      <p:sp>
        <p:nvSpPr>
          <p:cNvPr id="3" name="Shape 1"/>
          <p:cNvSpPr/>
          <p:nvPr/>
        </p:nvSpPr>
        <p:spPr>
          <a:xfrm>
            <a:off x="-2011680" y="4389120"/>
            <a:ext cx="4572000" cy="4572000"/>
          </a:xfrm>
          <a:prstGeom prst="ellipse">
            <a:avLst/>
          </a:prstGeom>
          <a:solidFill>
            <a:srgbClr val="1E2555"/>
          </a:solidFill>
          <a:ln/>
        </p:spPr>
      </p:sp>
      <p:sp>
        <p:nvSpPr>
          <p:cNvPr id="4" name="Shape 2"/>
          <p:cNvSpPr/>
          <p:nvPr/>
        </p:nvSpPr>
        <p:spPr>
          <a:xfrm>
            <a:off x="822960" y="777240"/>
            <a:ext cx="777240" cy="777240"/>
          </a:xfrm>
          <a:prstGeom prst="ellipse">
            <a:avLst/>
          </a:prstGeom>
          <a:solidFill>
            <a:srgbClr val="1E2555"/>
          </a:solidFill>
          <a:ln/>
        </p:spPr>
      </p:sp>
      <p:pic>
        <p:nvPicPr>
          <p:cNvPr id="5" name="Image 0" descr="/home/claude/genai_pptx/icons/brain_teal.png"/>
          <p:cNvPicPr>
            <a:picLocks noChangeAspect="1"/>
          </p:cNvPicPr>
          <p:nvPr/>
        </p:nvPicPr>
        <p:blipFill>
          <a:blip r:embed="rId3"/>
          <a:stretch>
            <a:fillRect/>
          </a:stretch>
        </p:blipFill>
        <p:spPr>
          <a:xfrm>
            <a:off x="997839" y="952119"/>
            <a:ext cx="427482" cy="427482"/>
          </a:xfrm>
          <a:prstGeom prst="rect">
            <a:avLst/>
          </a:prstGeom>
        </p:spPr>
      </p:pic>
      <p:sp>
        <p:nvSpPr>
          <p:cNvPr id="6" name="Text 3"/>
          <p:cNvSpPr/>
          <p:nvPr/>
        </p:nvSpPr>
        <p:spPr>
          <a:xfrm>
            <a:off x="822960" y="1691640"/>
            <a:ext cx="7315200" cy="320040"/>
          </a:xfrm>
          <a:prstGeom prst="rect">
            <a:avLst/>
          </a:prstGeom>
          <a:noFill/>
          <a:ln/>
        </p:spPr>
        <p:txBody>
          <a:bodyPr wrap="square" lIns="0" tIns="0" rIns="0" bIns="0" rtlCol="0" anchor="ctr"/>
          <a:lstStyle/>
          <a:p>
            <a:pPr marL="0" indent="0">
              <a:buNone/>
            </a:pPr>
            <a:r>
              <a:rPr lang="en-US" sz="1300" b="1" kern="0" spc="200" dirty="0">
                <a:solidFill>
                  <a:srgbClr val="2DD4BF"/>
                </a:solidFill>
                <a:latin typeface="Calibri" pitchFamily="34" charset="0"/>
                <a:ea typeface="Calibri" pitchFamily="34" charset="-122"/>
                <a:cs typeface="Calibri" pitchFamily="34" charset="-120"/>
              </a:rPr>
              <a:t>KEY TAKEAWAY</a:t>
            </a:r>
            <a:endParaRPr lang="en-US" sz="1300" dirty="0"/>
          </a:p>
        </p:txBody>
      </p:sp>
      <p:sp>
        <p:nvSpPr>
          <p:cNvPr id="7" name="Text 4"/>
          <p:cNvSpPr/>
          <p:nvPr/>
        </p:nvSpPr>
        <p:spPr>
          <a:xfrm>
            <a:off x="822960" y="2011680"/>
            <a:ext cx="9601200" cy="1188720"/>
          </a:xfrm>
          <a:prstGeom prst="rect">
            <a:avLst/>
          </a:prstGeom>
          <a:noFill/>
          <a:ln/>
        </p:spPr>
        <p:txBody>
          <a:bodyPr wrap="square" lIns="0" tIns="0" rIns="0" bIns="0" rtlCol="0" anchor="ctr"/>
          <a:lstStyle/>
          <a:p>
            <a:pPr marL="0" indent="0">
              <a:lnSpc>
                <a:spcPct val="110000"/>
              </a:lnSpc>
              <a:buNone/>
            </a:pPr>
            <a:r>
              <a:rPr lang="en-US" sz="2800" b="1" dirty="0">
                <a:solidFill>
                  <a:srgbClr val="FFFFFF"/>
                </a:solidFill>
                <a:latin typeface="Cambria" pitchFamily="34" charset="0"/>
                <a:ea typeface="Cambria" pitchFamily="34" charset="-122"/>
                <a:cs typeface="Cambria" pitchFamily="34" charset="-120"/>
              </a:rPr>
              <a:t>Generative AI is becoming core infrastructure for Information Systems</a:t>
            </a:r>
            <a:endParaRPr lang="en-US" sz="2800" dirty="0"/>
          </a:p>
        </p:txBody>
      </p:sp>
      <p:sp>
        <p:nvSpPr>
          <p:cNvPr id="8" name="Text 5"/>
          <p:cNvSpPr/>
          <p:nvPr/>
        </p:nvSpPr>
        <p:spPr>
          <a:xfrm>
            <a:off x="822960" y="3246120"/>
            <a:ext cx="8686800" cy="731520"/>
          </a:xfrm>
          <a:prstGeom prst="rect">
            <a:avLst/>
          </a:prstGeom>
          <a:noFill/>
          <a:ln/>
        </p:spPr>
        <p:txBody>
          <a:bodyPr wrap="square" lIns="0" tIns="0" rIns="0" bIns="0" rtlCol="0" anchor="ctr"/>
          <a:lstStyle/>
          <a:p>
            <a:pPr marL="0" indent="0">
              <a:lnSpc>
                <a:spcPct val="125000"/>
              </a:lnSpc>
              <a:buNone/>
            </a:pPr>
            <a:r>
              <a:rPr lang="en-US" sz="1400" dirty="0">
                <a:solidFill>
                  <a:srgbClr val="C7CCE6"/>
                </a:solidFill>
                <a:latin typeface="Calibri" pitchFamily="34" charset="0"/>
                <a:ea typeface="Calibri" pitchFamily="34" charset="-122"/>
                <a:cs typeface="Calibri" pitchFamily="34" charset="-120"/>
              </a:rPr>
              <a:t>Success depends on balancing its speed, creativity, and scale against real risks around accuracy, ethics, and governance.</a:t>
            </a:r>
            <a:endParaRPr lang="en-US" sz="1400" dirty="0"/>
          </a:p>
        </p:txBody>
      </p:sp>
      <p:sp>
        <p:nvSpPr>
          <p:cNvPr id="9" name="Shape 6"/>
          <p:cNvSpPr/>
          <p:nvPr/>
        </p:nvSpPr>
        <p:spPr>
          <a:xfrm>
            <a:off x="822960" y="4297680"/>
            <a:ext cx="2926080" cy="0"/>
          </a:xfrm>
          <a:prstGeom prst="line">
            <a:avLst/>
          </a:prstGeom>
          <a:noFill/>
          <a:ln w="12700">
            <a:solidFill>
              <a:srgbClr val="39406B"/>
            </a:solidFill>
            <a:prstDash val="solid"/>
          </a:ln>
        </p:spPr>
      </p:sp>
      <p:sp>
        <p:nvSpPr>
          <p:cNvPr id="10" name="Text 7"/>
          <p:cNvSpPr/>
          <p:nvPr/>
        </p:nvSpPr>
        <p:spPr>
          <a:xfrm>
            <a:off x="822960" y="4526280"/>
            <a:ext cx="5486400" cy="548640"/>
          </a:xfrm>
          <a:prstGeom prst="rect">
            <a:avLst/>
          </a:prstGeom>
          <a:noFill/>
          <a:ln/>
        </p:spPr>
        <p:txBody>
          <a:bodyPr wrap="square" lIns="0" tIns="0" rIns="0" bIns="0" rtlCol="0" anchor="ctr"/>
          <a:lstStyle/>
          <a:p>
            <a:pPr marL="0" indent="0">
              <a:buNone/>
            </a:pPr>
            <a:r>
              <a:rPr lang="en-US" sz="2200" b="1" dirty="0">
                <a:solidFill>
                  <a:srgbClr val="2DD4BF"/>
                </a:solidFill>
                <a:latin typeface="Cambria" pitchFamily="34" charset="0"/>
                <a:ea typeface="Cambria" pitchFamily="34" charset="-122"/>
                <a:cs typeface="Cambria" pitchFamily="34" charset="-120"/>
              </a:rPr>
              <a:t>Thank You</a:t>
            </a:r>
            <a:endParaRPr lang="en-US" sz="2200" dirty="0"/>
          </a:p>
        </p:txBody>
      </p:sp>
      <p:sp>
        <p:nvSpPr>
          <p:cNvPr id="11" name="Text 8"/>
          <p:cNvSpPr/>
          <p:nvPr/>
        </p:nvSpPr>
        <p:spPr>
          <a:xfrm>
            <a:off x="822960" y="5074920"/>
            <a:ext cx="8229600" cy="365760"/>
          </a:xfrm>
          <a:prstGeom prst="rect">
            <a:avLst/>
          </a:prstGeom>
          <a:noFill/>
          <a:ln/>
        </p:spPr>
        <p:txBody>
          <a:bodyPr wrap="square" lIns="0" tIns="0" rIns="0" bIns="0" rtlCol="0" anchor="ctr"/>
          <a:lstStyle/>
          <a:p>
            <a:pPr marL="0" indent="0">
              <a:buNone/>
            </a:pPr>
            <a:r>
              <a:rPr lang="en-US" sz="1300" dirty="0">
                <a:solidFill>
                  <a:srgbClr val="9AA1C9"/>
                </a:solidFill>
                <a:latin typeface="Calibri" pitchFamily="34" charset="0"/>
                <a:ea typeface="Calibri" pitchFamily="34" charset="-122"/>
                <a:cs typeface="Calibri" pitchFamily="34" charset="-120"/>
              </a:rPr>
              <a:t>Presented by  </a:t>
            </a:r>
            <a:r>
              <a:rPr lang="en-US" sz="1300" b="1" dirty="0">
                <a:solidFill>
                  <a:srgbClr val="FFFFFF"/>
                </a:solidFill>
                <a:latin typeface="Calibri" pitchFamily="34" charset="0"/>
                <a:ea typeface="Calibri" pitchFamily="34" charset="-122"/>
                <a:cs typeface="Calibri" pitchFamily="34" charset="-120"/>
              </a:rPr>
              <a:t>Samyog   •   Arun   •   Keshab</a:t>
            </a:r>
            <a:endParaRPr lang="en-US" sz="13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94</TotalTime>
  <Words>1724</Words>
  <Application>Microsoft Office PowerPoint</Application>
  <PresentationFormat>Widescreen</PresentationFormat>
  <Paragraphs>237</Paragraphs>
  <Slides>16</Slides>
  <Notes>16</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16</vt:i4>
      </vt:variant>
    </vt:vector>
  </HeadingPairs>
  <TitlesOfParts>
    <vt:vector size="20" baseType="lpstr">
      <vt:lpstr>Arial</vt:lpstr>
      <vt:lpstr>Calibri</vt:lpstr>
      <vt:lpstr>Cambria</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Generative AI and Information Systems</dc:title>
  <dc:subject>PptxGenJS Presentation</dc:subject>
  <dc:creator>Samyog, Arun, Keshab</dc:creator>
  <cp:lastModifiedBy>keshab basnet</cp:lastModifiedBy>
  <cp:revision>4</cp:revision>
  <dcterms:created xsi:type="dcterms:W3CDTF">2026-07-05T06:37:24Z</dcterms:created>
  <dcterms:modified xsi:type="dcterms:W3CDTF">2026-07-06T03:13:19Z</dcterms:modified>
</cp:coreProperties>
</file>