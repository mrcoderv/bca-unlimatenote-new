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embeddedFontLst>
    <p:embeddedFont>
      <p:font typeface="Dela Gothic One" panose="020B0604020202020204" charset="-128"/>
      <p:regular r:id="rId20"/>
    </p:embeddedFont>
    <p:embeddedFont>
      <p:font typeface="DM Sans" pitchFamily="2" charset="0"/>
      <p:regular r:id="rId21"/>
      <p:bold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2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" name="Google Shape;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" name="Google Shape;14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4" name="Google Shape;19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9" name="Google Shape;23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6" name="Google Shape;26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master 1">
  <p:cSld name="Slide master 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master 2">
  <p:cSld name="Slide master 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7" name="Google Shape;17;p3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9" name="Google Shape;19;p3" descr="preencoded.png">
            <a:hlinkClick r:id="rId4"/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EFAULT">
  <p:cSld name="DEFAUL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9.png"/><Relationship Id="rId3" Type="http://schemas.microsoft.com/office/2007/relationships/media" Target="../media/media1.mp4"/><Relationship Id="rId2" Type="http://schemas.openxmlformats.org/officeDocument/2006/relationships/video" Target="NULL" TargetMode="External"/><Relationship Id="rId1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/>
          <p:nvPr/>
        </p:nvSpPr>
        <p:spPr>
          <a:xfrm>
            <a:off x="5203794" y="1066304"/>
            <a:ext cx="6889883" cy="2969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700"/>
              <a:buFont typeface="Dela Gothic One"/>
              <a:buNone/>
            </a:pPr>
            <a:r>
              <a:rPr lang="en-US" sz="4800" b="1" i="0" u="none" strike="noStrike" cap="none" dirty="0">
                <a:solidFill>
                  <a:srgbClr val="FAEBEB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Digital Transformation and Innovation through Information Systems (IS)</a:t>
            </a:r>
            <a:endParaRPr sz="4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8475406" y="4322817"/>
            <a:ext cx="2651745" cy="475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b="1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Presented by: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5203794" y="4798715"/>
            <a:ext cx="6355993" cy="992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</a:pPr>
            <a:r>
              <a:rPr lang="en-US" sz="1600" b="0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Niraj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Adhikari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</a:pPr>
            <a:r>
              <a:rPr lang="en-US" sz="1600" b="0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Raghav Panthi</a:t>
            </a:r>
            <a:endParaRPr lang="en-US" sz="16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R="0" lvl="0" algn="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DM Sans"/>
              </a:rPr>
              <a:t>Srishti Sharma</a:t>
            </a:r>
            <a:endParaRPr sz="16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631908" y="0"/>
            <a:ext cx="5123230" cy="564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Introduction</a:t>
            </a:r>
            <a:endParaRPr sz="4800" b="1" i="0" u="none" strike="noStrike" cap="none" dirty="0">
              <a:solidFill>
                <a:srgbClr val="FFFF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631908" y="645452"/>
            <a:ext cx="11172446" cy="451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800"/>
              <a:buFont typeface="Dela Gothic One"/>
              <a:buNone/>
            </a:pPr>
            <a:r>
              <a:rPr lang="en-US" sz="4000" b="1" i="0" u="none" strike="noStrike" cap="none" dirty="0">
                <a:solidFill>
                  <a:srgbClr val="FAEBEB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Digital Transformation and Innovation through IS</a:t>
            </a:r>
            <a:endParaRPr sz="4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79830" y="1951889"/>
            <a:ext cx="5075308" cy="3554854"/>
            <a:chOff x="679830" y="2383830"/>
            <a:chExt cx="5158849" cy="1896864"/>
          </a:xfrm>
        </p:grpSpPr>
        <p:sp>
          <p:nvSpPr>
            <p:cNvPr id="38" name="Google Shape;38;p6"/>
            <p:cNvSpPr/>
            <p:nvPr/>
          </p:nvSpPr>
          <p:spPr>
            <a:xfrm>
              <a:off x="679830" y="2383830"/>
              <a:ext cx="4865665" cy="282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AEBEB"/>
                </a:buClr>
                <a:buSzPts val="1750"/>
                <a:buFont typeface="Dela Gothic One"/>
                <a:buNone/>
              </a:pPr>
              <a:r>
                <a:rPr lang="en-US" sz="2800" b="0" i="0" u="none" strike="noStrike" cap="none" dirty="0">
                  <a:solidFill>
                    <a:srgbClr val="FAEBEB"/>
                  </a:solidFill>
                  <a:latin typeface="Times New Roman" panose="02020603050405020304" pitchFamily="18" charset="0"/>
                  <a:ea typeface="Dela Gothic One"/>
                  <a:cs typeface="Times New Roman" panose="02020603050405020304" pitchFamily="18" charset="0"/>
                  <a:sym typeface="Dela Gothic One"/>
                </a:rPr>
                <a:t>What is Digital Transformation?</a:t>
              </a:r>
              <a:endParaRPr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39" name="Google Shape;39;p6"/>
            <p:cNvSpPr/>
            <p:nvPr/>
          </p:nvSpPr>
          <p:spPr>
            <a:xfrm>
              <a:off x="679830" y="2828826"/>
              <a:ext cx="5158849" cy="14518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74320" marR="0" lvl="0" indent="-27432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FFFF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Digital Transformation is the integration of digital technologies into all areas of an organization.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74320" marR="0" lvl="0" indent="-27432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FFFF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It changes how businesses operate and deliver value to customers.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74320" marR="0" lvl="0" indent="-27432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FFFF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It improves efficiency, productivity, and customer experience.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218131" y="1931547"/>
            <a:ext cx="5348006" cy="3900837"/>
            <a:chOff x="6218131" y="2383830"/>
            <a:chExt cx="5348006" cy="3740961"/>
          </a:xfrm>
          <a:noFill/>
        </p:grpSpPr>
        <p:sp>
          <p:nvSpPr>
            <p:cNvPr id="40" name="Google Shape;40;p6"/>
            <p:cNvSpPr/>
            <p:nvPr/>
          </p:nvSpPr>
          <p:spPr>
            <a:xfrm>
              <a:off x="6311444" y="2383830"/>
              <a:ext cx="5254692" cy="44499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AEBEB"/>
                </a:buClr>
                <a:buSzPts val="1750"/>
                <a:buFont typeface="Dela Gothic One"/>
                <a:buNone/>
              </a:pPr>
              <a:r>
                <a:rPr lang="en-US" sz="2800" b="0" i="0" u="none" strike="noStrike" cap="none" dirty="0">
                  <a:solidFill>
                    <a:srgbClr val="FAEBEB"/>
                  </a:solidFill>
                  <a:latin typeface="Times New Roman" panose="02020603050405020304" pitchFamily="18" charset="0"/>
                  <a:ea typeface="Dela Gothic One"/>
                  <a:cs typeface="Times New Roman" panose="02020603050405020304" pitchFamily="18" charset="0"/>
                  <a:sym typeface="Dela Gothic One"/>
                </a:rPr>
                <a:t>What is Information System (IS)?</a:t>
              </a:r>
              <a:endParaRPr sz="2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6311445" y="2828826"/>
              <a:ext cx="5254692" cy="41423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350"/>
                <a:buFont typeface="DM Sans"/>
                <a:buNone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An Information System is a combination of: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6311444" y="3243063"/>
              <a:ext cx="5254692" cy="175786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74320" marR="0" lvl="0" indent="-27432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3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People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74320" marR="0" lvl="0" indent="-27432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3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Hardware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74320" marR="0" lvl="0" indent="-27432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3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Software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74320" marR="0" lvl="0" indent="-27432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3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Data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74320" marR="0" lvl="0" indent="-27432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3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Networks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74320" marR="0" lvl="0" indent="-27432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3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Procedures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6218131" y="5589605"/>
              <a:ext cx="5254692" cy="53518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350"/>
                <a:buFont typeface="DM Sans"/>
                <a:buNone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It helps organizations collect, process, store, and distribute information for decision-making.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;p7"/>
          <p:cNvSpPr/>
          <p:nvPr/>
        </p:nvSpPr>
        <p:spPr>
          <a:xfrm>
            <a:off x="631908" y="1281548"/>
            <a:ext cx="4252226" cy="2432112"/>
          </a:xfrm>
          <a:prstGeom prst="roundRect">
            <a:avLst>
              <a:gd name="adj" fmla="val 6479"/>
            </a:avLst>
          </a:prstGeom>
          <a:solidFill>
            <a:srgbClr val="C91313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384810" y="191135"/>
            <a:ext cx="10296525" cy="451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800"/>
              <a:buFont typeface="Dela Gothic One"/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Why Digital Transformation?</a:t>
            </a:r>
            <a:endParaRPr sz="4800" b="1" i="0" u="none" strike="noStrike" cap="none" dirty="0">
              <a:solidFill>
                <a:srgbClr val="FFFF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1402658" y="1350072"/>
            <a:ext cx="3300589" cy="2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50"/>
              <a:buFont typeface="Dela Gothic One"/>
              <a:buNone/>
            </a:pPr>
            <a:r>
              <a:rPr lang="en-US" sz="2000" b="0" i="0" u="none" strike="noStrike" cap="none" dirty="0">
                <a:solidFill>
                  <a:srgbClr val="FAEBEB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Traditional Business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662525" y="1876527"/>
            <a:ext cx="3696898" cy="124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74320" marR="0" lvl="0" indent="-27432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Paper-based records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74320" marR="0" lvl="0" indent="-27432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Manual processes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74320" marR="0" lvl="0" indent="-27432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Slow communication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74320" marR="0" lvl="0" indent="-27432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Limited customer reach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6187920" y="1281549"/>
            <a:ext cx="4362093" cy="2489062"/>
          </a:xfrm>
          <a:prstGeom prst="roundRect">
            <a:avLst>
              <a:gd name="adj" fmla="val 6479"/>
            </a:avLst>
          </a:prstGeom>
          <a:solidFill>
            <a:srgbClr val="C91313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7317778" y="1281548"/>
            <a:ext cx="2792865" cy="2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50"/>
              <a:buFont typeface="Dela Gothic One"/>
              <a:buNone/>
            </a:pPr>
            <a:r>
              <a:rPr lang="en-US" sz="2000" b="0" i="0" u="none" strike="noStrike" cap="none" dirty="0">
                <a:solidFill>
                  <a:srgbClr val="FAEBEB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Digital Business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6354969" y="1808005"/>
            <a:ext cx="5026577" cy="124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74320" marR="0" lvl="0" indent="-27432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Cloud storage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74320" marR="0" lvl="0" indent="-27432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Automation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74320" marR="0" lvl="0" indent="-27432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Online services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74320" marR="0" lvl="0" indent="-27432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Global connectivity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631908" y="3770611"/>
            <a:ext cx="3232725" cy="33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100"/>
              <a:buFont typeface="Dela Gothic One"/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Objectives</a:t>
            </a:r>
            <a:endParaRPr sz="4800" b="1" i="0" u="none" strike="noStrike" cap="none" dirty="0">
              <a:solidFill>
                <a:srgbClr val="FFFF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631908" y="4597896"/>
            <a:ext cx="3443374" cy="919758"/>
          </a:xfrm>
          <a:prstGeom prst="roundRect">
            <a:avLst>
              <a:gd name="adj" fmla="val 7832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809704" y="4775696"/>
            <a:ext cx="2449389" cy="2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50"/>
              <a:buFont typeface="Dela Gothic One"/>
              <a:buNone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Improve efficiency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4328806" y="4597896"/>
            <a:ext cx="3443374" cy="919758"/>
          </a:xfrm>
          <a:prstGeom prst="roundRect">
            <a:avLst>
              <a:gd name="adj" fmla="val 7832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4506602" y="4775696"/>
            <a:ext cx="2198910" cy="2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50"/>
              <a:buFont typeface="Dela Gothic One"/>
              <a:buNone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Reduce costs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8025703" y="4597896"/>
            <a:ext cx="3443374" cy="919758"/>
          </a:xfrm>
          <a:prstGeom prst="roundRect">
            <a:avLst>
              <a:gd name="adj" fmla="val 7832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8203500" y="4775696"/>
            <a:ext cx="3096900" cy="564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50"/>
              <a:buFont typeface="Dela Gothic One"/>
              <a:buNone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Better customer service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31909" y="5680571"/>
            <a:ext cx="5244380" cy="637679"/>
          </a:xfrm>
          <a:prstGeom prst="roundRect">
            <a:avLst>
              <a:gd name="adj" fmla="val 11297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809705" y="5858371"/>
            <a:ext cx="3051078" cy="2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50"/>
              <a:buFont typeface="Dela Gothic One"/>
              <a:buNone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Faster decision making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177205" y="5680571"/>
            <a:ext cx="5244477" cy="637679"/>
          </a:xfrm>
          <a:prstGeom prst="roundRect">
            <a:avLst>
              <a:gd name="adj" fmla="val 11297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6355000" y="5858371"/>
            <a:ext cx="2604837" cy="2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50"/>
              <a:buFont typeface="Dela Gothic One"/>
              <a:buNone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Business innovation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/>
          <p:nvPr/>
        </p:nvSpPr>
        <p:spPr>
          <a:xfrm>
            <a:off x="445096" y="407879"/>
            <a:ext cx="10763679" cy="76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3600" b="1" i="0" u="none" strike="noStrike" cap="none" dirty="0">
                <a:solidFill>
                  <a:srgbClr val="FFFF00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Role of Information Systems in Digital Transformation</a:t>
            </a:r>
            <a:endParaRPr sz="3600" b="1" i="0" u="none" strike="noStrike" cap="none" dirty="0">
              <a:solidFill>
                <a:srgbClr val="FFFF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631908" y="1376859"/>
            <a:ext cx="6965577" cy="15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lang="en-US" sz="12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Information Systems enable organizations to: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73" name="Google Shape;73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1909" y="1407319"/>
            <a:ext cx="5011808" cy="244881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/>
          <p:nvPr/>
        </p:nvSpPr>
        <p:spPr>
          <a:xfrm>
            <a:off x="1180475" y="1739701"/>
            <a:ext cx="4355086" cy="47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ela Gothic One"/>
              <a:buNone/>
            </a:pPr>
            <a:r>
              <a:rPr lang="en-US" sz="2400" b="1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Automate Business Processes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1180475" y="2290017"/>
            <a:ext cx="4148609" cy="134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2880" marR="0" lvl="0" indent="-182880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Payroll</a:t>
            </a:r>
            <a:endParaRPr lang="en-US"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82880" marR="0" lvl="0" indent="-182880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Inventory</a:t>
            </a:r>
            <a:endParaRPr lang="en-US"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82880" marR="0" lvl="0" indent="-182880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Billing</a:t>
            </a:r>
            <a:endParaRPr lang="en-US"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82880" marR="0" lvl="0" indent="-182880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Attendance</a:t>
            </a:r>
            <a:endParaRPr lang="en-US"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77" name="Google Shape;77;p8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1909" y="4363954"/>
            <a:ext cx="5080634" cy="207768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/>
          <p:nvPr/>
        </p:nvSpPr>
        <p:spPr>
          <a:xfrm>
            <a:off x="1180475" y="4632587"/>
            <a:ext cx="3796524" cy="520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ela Gothic One"/>
              <a:buNone/>
            </a:pPr>
            <a:r>
              <a:rPr lang="en-US" sz="2400" b="1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Improve Decision Making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1180475" y="5228083"/>
            <a:ext cx="4227267" cy="1044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2880" marR="0" lvl="0" indent="-182880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Real-time reports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82880" marR="0" lvl="0" indent="-182880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Business intelligence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82880" marR="0" lvl="0" indent="-182880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Data analytics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664394" y="4377691"/>
            <a:ext cx="5262135" cy="2106652"/>
            <a:chOff x="7215000" y="4334984"/>
            <a:chExt cx="5262135" cy="2106652"/>
          </a:xfrm>
        </p:grpSpPr>
        <p:pic>
          <p:nvPicPr>
            <p:cNvPr id="81" name="Google Shape;81;p8" descr="preencoded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7215000" y="4334984"/>
              <a:ext cx="5080633" cy="2106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8"/>
            <p:cNvSpPr/>
            <p:nvPr/>
          </p:nvSpPr>
          <p:spPr>
            <a:xfrm>
              <a:off x="7662444" y="4440753"/>
              <a:ext cx="4814691" cy="430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150"/>
                <a:buFont typeface="Dela Gothic One"/>
                <a:buNone/>
              </a:pPr>
              <a:r>
                <a:rPr lang="en-US" sz="2400" b="1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ela Gothic One"/>
                  <a:cs typeface="Times New Roman" panose="02020603050405020304" pitchFamily="18" charset="0"/>
                  <a:sym typeface="Dela Gothic One"/>
                </a:rPr>
                <a:t>Enhance Communication</a:t>
              </a:r>
              <a:endParaRPr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7662444" y="4973071"/>
              <a:ext cx="4814690" cy="140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82880" marR="0" lvl="0" indent="-182880" algn="l" rtl="0">
                <a:lnSpc>
                  <a:spcPct val="10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90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Email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182880" marR="0" lvl="0" indent="-182880" algn="l" rtl="0">
                <a:lnSpc>
                  <a:spcPct val="10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90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Video conferencing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182880" marR="0" lvl="0" indent="-182880" algn="l" rtl="0">
                <a:lnSpc>
                  <a:spcPct val="10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90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ERP ( Enterprise Resource Planning )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182880" marR="0" lvl="0" indent="-182880" algn="l" rtl="0">
                <a:lnSpc>
                  <a:spcPct val="10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90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CRM(Customer Relationship Management)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664395" y="1407319"/>
            <a:ext cx="5080632" cy="2448817"/>
            <a:chOff x="570891" y="5874400"/>
            <a:chExt cx="7215299" cy="2448817"/>
          </a:xfrm>
        </p:grpSpPr>
        <p:pic>
          <p:nvPicPr>
            <p:cNvPr id="85" name="Google Shape;85;p8" descr="preencoded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570891" y="5874400"/>
              <a:ext cx="7215299" cy="24488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8"/>
            <p:cNvSpPr/>
            <p:nvPr/>
          </p:nvSpPr>
          <p:spPr>
            <a:xfrm>
              <a:off x="1136514" y="5936771"/>
              <a:ext cx="5985857" cy="585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150"/>
                <a:buFont typeface="Dela Gothic One"/>
                <a:buNone/>
              </a:pPr>
              <a:r>
                <a:rPr lang="en-US" sz="2400" b="1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ela Gothic One"/>
                  <a:cs typeface="Times New Roman" panose="02020603050405020304" pitchFamily="18" charset="0"/>
                  <a:sym typeface="Dela Gothic One"/>
                </a:rPr>
                <a:t>Improve Customer Experience</a:t>
              </a:r>
              <a:endParaRPr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1345390" y="6671988"/>
              <a:ext cx="5679238" cy="1362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82880" marR="0" lvl="0" indent="-182880" algn="l" rtl="0">
                <a:lnSpc>
                  <a:spcPct val="10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90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Online shopping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182880" marR="0" lvl="0" indent="-182880" algn="l" rtl="0">
                <a:lnSpc>
                  <a:spcPct val="10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90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Mobile banking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182880" marR="0" lvl="0" indent="-182880" algn="l" rtl="0">
                <a:lnSpc>
                  <a:spcPct val="10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90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Digital payments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182880" marR="0" lvl="0" indent="-182880" algn="l" rtl="0">
                <a:lnSpc>
                  <a:spcPct val="10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90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Customer support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/>
          <p:nvPr/>
        </p:nvSpPr>
        <p:spPr>
          <a:xfrm>
            <a:off x="631908" y="6629"/>
            <a:ext cx="6434373" cy="526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300"/>
              <a:buFont typeface="Dela Gothic One"/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Emerging Technologies</a:t>
            </a:r>
            <a:endParaRPr sz="4800" b="1" i="0" u="none" strike="noStrike" cap="none" dirty="0">
              <a:solidFill>
                <a:srgbClr val="FFFF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631908" y="1347093"/>
            <a:ext cx="5393099" cy="2415778"/>
          </a:xfrm>
          <a:prstGeom prst="roundRect">
            <a:avLst>
              <a:gd name="adj" fmla="val 2781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798195" y="1513384"/>
            <a:ext cx="479810" cy="479822"/>
          </a:xfrm>
          <a:prstGeom prst="roundRect">
            <a:avLst>
              <a:gd name="adj" fmla="val 15879301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Google Shape;97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30153" y="1645345"/>
            <a:ext cx="215895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/>
          <p:nvPr/>
        </p:nvSpPr>
        <p:spPr>
          <a:xfrm>
            <a:off x="1585971" y="1571795"/>
            <a:ext cx="4167300" cy="1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lang="en-US" sz="24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Artificial Intelligence (AI)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1272448" y="2175421"/>
            <a:ext cx="5060526" cy="11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Chatbots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Recommendation systems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Image recognition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Fraud detection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6166688" y="1347093"/>
            <a:ext cx="5393099" cy="2415778"/>
          </a:xfrm>
          <a:prstGeom prst="roundRect">
            <a:avLst>
              <a:gd name="adj" fmla="val 2781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6332974" y="1513384"/>
            <a:ext cx="479810" cy="479822"/>
          </a:xfrm>
          <a:prstGeom prst="roundRect">
            <a:avLst>
              <a:gd name="adj" fmla="val 15879301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" name="Google Shape;102;p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64932" y="1645345"/>
            <a:ext cx="215895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/>
          <p:nvPr/>
        </p:nvSpPr>
        <p:spPr>
          <a:xfrm>
            <a:off x="7066281" y="1598216"/>
            <a:ext cx="3232986" cy="15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lang="en-US" sz="24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Cloud Computing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6680827" y="2226918"/>
            <a:ext cx="5060526" cy="11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Online storage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Software as a Service (SaaS)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Remote collaboration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Scalable infrastructure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631908" y="3904555"/>
            <a:ext cx="5393099" cy="2415778"/>
          </a:xfrm>
          <a:prstGeom prst="roundRect">
            <a:avLst>
              <a:gd name="adj" fmla="val 2781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798195" y="4070846"/>
            <a:ext cx="479810" cy="479822"/>
          </a:xfrm>
          <a:prstGeom prst="roundRect">
            <a:avLst>
              <a:gd name="adj" fmla="val 15879301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7" name="Google Shape;107;p9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30153" y="4202807"/>
            <a:ext cx="215895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9"/>
          <p:cNvSpPr/>
          <p:nvPr/>
        </p:nvSpPr>
        <p:spPr>
          <a:xfrm>
            <a:off x="1692382" y="4179242"/>
            <a:ext cx="2938885" cy="263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lang="en-US" sz="24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Internet of Things (IoT)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1278005" y="4684863"/>
            <a:ext cx="5060526" cy="11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Smart homes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Smart factories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Smart healthcare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Wearable devices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6166688" y="3904555"/>
            <a:ext cx="5393099" cy="2415778"/>
          </a:xfrm>
          <a:prstGeom prst="roundRect">
            <a:avLst>
              <a:gd name="adj" fmla="val 2781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6332974" y="4070846"/>
            <a:ext cx="479810" cy="479822"/>
          </a:xfrm>
          <a:prstGeom prst="roundRect">
            <a:avLst>
              <a:gd name="adj" fmla="val 15879301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" name="Google Shape;112;p9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464932" y="4202807"/>
            <a:ext cx="215895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9"/>
          <p:cNvSpPr/>
          <p:nvPr/>
        </p:nvSpPr>
        <p:spPr>
          <a:xfrm>
            <a:off x="7188381" y="4086224"/>
            <a:ext cx="2104575" cy="263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lang="en-US" sz="24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Big Data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6762693" y="4692352"/>
            <a:ext cx="5060526" cy="11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Large-scale data analysis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Customer insights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Predictive analytics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54000" marR="0" lvl="0" indent="-25400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Better business decisions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0" descr="preencoded.png"/>
          <p:cNvPicPr preferRelativeResize="0"/>
          <p:nvPr/>
        </p:nvPicPr>
        <p:blipFill rotWithShape="1">
          <a:blip r:embed="rId1"/>
          <a:srcRect b="6523"/>
          <a:stretch>
            <a:fillRect/>
          </a:stretch>
        </p:blipFill>
        <p:spPr>
          <a:xfrm>
            <a:off x="0" y="266330"/>
            <a:ext cx="4267200" cy="641063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/>
          <p:nvPr/>
        </p:nvSpPr>
        <p:spPr>
          <a:xfrm>
            <a:off x="5014033" y="0"/>
            <a:ext cx="6545754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800"/>
              <a:buFont typeface="Dela Gothic One"/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Business Impact</a:t>
            </a:r>
            <a:endParaRPr sz="4800" b="1" i="0" u="none" strike="noStrike" cap="none" dirty="0">
              <a:solidFill>
                <a:srgbClr val="FFFF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381044" y="1508891"/>
            <a:ext cx="4059018" cy="1789280"/>
            <a:chOff x="5203795" y="1130710"/>
            <a:chExt cx="4283882" cy="1251929"/>
          </a:xfrm>
        </p:grpSpPr>
        <p:pic>
          <p:nvPicPr>
            <p:cNvPr id="123" name="Google Shape;123;p10" descr="preencoded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5203795" y="1130710"/>
              <a:ext cx="4168591" cy="12519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0"/>
            <p:cNvSpPr/>
            <p:nvPr/>
          </p:nvSpPr>
          <p:spPr>
            <a:xfrm>
              <a:off x="5319086" y="1142863"/>
              <a:ext cx="4168591" cy="3687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400"/>
                <a:buFont typeface="Dela Gothic One"/>
                <a:buNone/>
              </a:pPr>
              <a:r>
                <a:rPr lang="en-US" sz="2400" b="1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ela Gothic One"/>
                  <a:cs typeface="Times New Roman" panose="02020603050405020304" pitchFamily="18" charset="0"/>
                  <a:sym typeface="Dela Gothic One"/>
                </a:rPr>
                <a:t>Increased Productivity</a:t>
              </a:r>
              <a:endParaRPr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25" name="Google Shape;125;p10"/>
            <p:cNvSpPr/>
            <p:nvPr/>
          </p:nvSpPr>
          <p:spPr>
            <a:xfrm>
              <a:off x="5323883" y="1710121"/>
              <a:ext cx="3976113" cy="417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050"/>
                <a:buFont typeface="DM Sans"/>
                <a:buNone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Automation reduces manual work.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8440062" y="1508891"/>
            <a:ext cx="3659283" cy="1789279"/>
            <a:chOff x="5203794" y="2484140"/>
            <a:chExt cx="6355993" cy="1007170"/>
          </a:xfrm>
        </p:grpSpPr>
        <p:pic>
          <p:nvPicPr>
            <p:cNvPr id="126" name="Google Shape;126;p10" descr="preencoded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5203794" y="2484140"/>
              <a:ext cx="6355993" cy="10071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10"/>
            <p:cNvSpPr/>
            <p:nvPr/>
          </p:nvSpPr>
          <p:spPr>
            <a:xfrm>
              <a:off x="5434374" y="2638524"/>
              <a:ext cx="5213231" cy="222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400"/>
                <a:buFont typeface="Dela Gothic One"/>
                <a:buNone/>
              </a:pPr>
              <a:r>
                <a:rPr lang="en-US" sz="2400" b="1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ela Gothic One"/>
                  <a:cs typeface="Times New Roman" panose="02020603050405020304" pitchFamily="18" charset="0"/>
                  <a:sym typeface="Dela Gothic One"/>
                </a:rPr>
                <a:t>Cost Reduction</a:t>
              </a:r>
              <a:endParaRPr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28" name="Google Shape;128;p10"/>
            <p:cNvSpPr/>
            <p:nvPr/>
          </p:nvSpPr>
          <p:spPr>
            <a:xfrm>
              <a:off x="5434373" y="2922191"/>
              <a:ext cx="5971033" cy="414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13360" marR="0" lvl="0" indent="-213360" algn="l" rtl="0">
                <a:lnSpc>
                  <a:spcPct val="11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0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Less paperwork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13360" marR="0" lvl="0" indent="-213360" algn="l" rtl="0">
                <a:lnSpc>
                  <a:spcPct val="11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0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Reduced operational expenses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387717" y="3969612"/>
            <a:ext cx="3934010" cy="1789280"/>
            <a:chOff x="5203794" y="3592810"/>
            <a:chExt cx="6590105" cy="616704"/>
          </a:xfrm>
        </p:grpSpPr>
        <p:pic>
          <p:nvPicPr>
            <p:cNvPr id="129" name="Google Shape;129;p10" descr="preencoded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203794" y="3592810"/>
              <a:ext cx="6590105" cy="6167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10"/>
            <p:cNvSpPr/>
            <p:nvPr/>
          </p:nvSpPr>
          <p:spPr>
            <a:xfrm>
              <a:off x="5360889" y="3670072"/>
              <a:ext cx="6210634" cy="308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400"/>
                <a:buFont typeface="Dela Gothic One"/>
                <a:buNone/>
              </a:pPr>
              <a:r>
                <a:rPr lang="en-US" sz="2400" b="1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ela Gothic One"/>
                  <a:cs typeface="Times New Roman" panose="02020603050405020304" pitchFamily="18" charset="0"/>
                  <a:sym typeface="Dela Gothic One"/>
                </a:rPr>
                <a:t>Better Customer Experience</a:t>
              </a:r>
              <a:endParaRPr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31" name="Google Shape;131;p10"/>
            <p:cNvSpPr/>
            <p:nvPr/>
          </p:nvSpPr>
          <p:spPr>
            <a:xfrm>
              <a:off x="5360889" y="3812405"/>
              <a:ext cx="5971034" cy="3971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13360" marR="0" lvl="0" indent="-213360" algn="l" rtl="0">
                <a:lnSpc>
                  <a:spcPct val="11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0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Personalized services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13360" marR="0" lvl="0" indent="-213360" algn="l" rtl="0">
                <a:lnSpc>
                  <a:spcPct val="11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0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Faster response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13360" marR="0" lvl="0" indent="-213360" algn="l" rtl="0">
                <a:lnSpc>
                  <a:spcPct val="11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0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Online support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446734" y="3969610"/>
            <a:ext cx="3659283" cy="1789279"/>
            <a:chOff x="5203794" y="4926608"/>
            <a:chExt cx="6355993" cy="1232297"/>
          </a:xfrm>
        </p:grpSpPr>
        <p:pic>
          <p:nvPicPr>
            <p:cNvPr id="132" name="Google Shape;132;p10" descr="preencoded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203794" y="4926608"/>
              <a:ext cx="6355993" cy="12322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10"/>
            <p:cNvSpPr/>
            <p:nvPr/>
          </p:nvSpPr>
          <p:spPr>
            <a:xfrm>
              <a:off x="5434378" y="5080995"/>
              <a:ext cx="5523318" cy="4958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400"/>
                <a:buFont typeface="Dela Gothic One"/>
                <a:buNone/>
              </a:pPr>
              <a:r>
                <a:rPr lang="en-US" sz="2400" b="1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ela Gothic One"/>
                  <a:cs typeface="Times New Roman" panose="02020603050405020304" pitchFamily="18" charset="0"/>
                  <a:sym typeface="Dela Gothic One"/>
                </a:rPr>
                <a:t>Competitive Advantage</a:t>
              </a:r>
              <a:endParaRPr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34" name="Google Shape;134;p10"/>
            <p:cNvSpPr/>
            <p:nvPr/>
          </p:nvSpPr>
          <p:spPr>
            <a:xfrm>
              <a:off x="5434373" y="5364659"/>
              <a:ext cx="5971033" cy="639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13360" marR="0" lvl="0" indent="-213360" algn="l" rtl="0">
                <a:lnSpc>
                  <a:spcPct val="11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0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Faster innovation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13360" marR="0" lvl="0" indent="-213360" algn="l" rtl="0">
                <a:lnSpc>
                  <a:spcPct val="11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0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Better products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13360" marR="0" lvl="0" indent="-213360" algn="l" rtl="0">
                <a:lnSpc>
                  <a:spcPct val="11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05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Improved market reach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1;p11"/>
          <p:cNvSpPr/>
          <p:nvPr/>
        </p:nvSpPr>
        <p:spPr>
          <a:xfrm>
            <a:off x="6263375" y="1434082"/>
            <a:ext cx="5503824" cy="3809358"/>
          </a:xfrm>
          <a:prstGeom prst="roundRect">
            <a:avLst>
              <a:gd name="adj" fmla="val 4693"/>
            </a:avLst>
          </a:prstGeom>
          <a:solidFill>
            <a:srgbClr val="C91313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386102" y="117107"/>
            <a:ext cx="7056918" cy="59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700"/>
              <a:buFont typeface="Dela Gothic One"/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Societal Impact</a:t>
            </a:r>
            <a:endParaRPr sz="4800" b="1" i="0" u="none" strike="noStrike" cap="none" dirty="0">
              <a:solidFill>
                <a:srgbClr val="FFFF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386102" y="1434082"/>
            <a:ext cx="5503824" cy="3809358"/>
          </a:xfrm>
          <a:prstGeom prst="roundRect">
            <a:avLst>
              <a:gd name="adj" fmla="val 4693"/>
            </a:avLst>
          </a:prstGeom>
          <a:solidFill>
            <a:srgbClr val="C91313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566576" y="1614560"/>
            <a:ext cx="3051099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850"/>
              <a:buFont typeface="Dela Gothic One"/>
              <a:buNone/>
            </a:pPr>
            <a:r>
              <a:rPr lang="en-US" sz="2400" b="1" i="0" u="none" strike="noStrike" cap="none" dirty="0">
                <a:solidFill>
                  <a:srgbClr val="FAEBEB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Positive Impacts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566576" y="2091902"/>
            <a:ext cx="5142875" cy="300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400"/>
              <a:buFont typeface="Arial" panose="0208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Easy access to information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42900" marR="0" lvl="0" indent="-34290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400"/>
              <a:buFont typeface="Arial" panose="0208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Online education</a:t>
            </a:r>
            <a:endParaRPr lang="en-US"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42900" marR="0" lvl="0" indent="-34290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400"/>
              <a:buFont typeface="Arial" panose="0208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Digital healthcare</a:t>
            </a:r>
            <a:endParaRPr lang="en-US"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42900" marR="0" lvl="0" indent="-34290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400"/>
              <a:buFont typeface="Arial" panose="0208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Mobile banking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42900" marR="0" lvl="0" indent="-34290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400"/>
              <a:buFont typeface="Arial" panose="0208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Online government services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42900" marR="0" lvl="0" indent="-34290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400"/>
              <a:buFont typeface="Arial" panose="0208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Digital payments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6523520" y="1614560"/>
            <a:ext cx="2985120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850"/>
              <a:buFont typeface="Dela Gothic One"/>
              <a:buNone/>
            </a:pPr>
            <a:r>
              <a:rPr lang="en-US" sz="2400" b="1" i="0" u="none" strike="noStrike" cap="none" dirty="0">
                <a:solidFill>
                  <a:srgbClr val="FAEBEB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Challenges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6523520" y="2268882"/>
            <a:ext cx="5243679" cy="241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4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Job displacement due to automation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4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Privacy concerns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4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Cybersecurity threats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4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Digital divide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/>
          <p:nvPr/>
        </p:nvSpPr>
        <p:spPr>
          <a:xfrm>
            <a:off x="307444" y="42120"/>
            <a:ext cx="10894442" cy="59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700"/>
              <a:buFont typeface="Dela Gothic One"/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Challenges in Digital Transformation</a:t>
            </a:r>
            <a:endParaRPr sz="4800" b="1" i="0" u="none" strike="noStrike" cap="none" dirty="0">
              <a:solidFill>
                <a:srgbClr val="FFFF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52" name="Google Shape;152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07444" y="1021262"/>
            <a:ext cx="3738729" cy="210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2"/>
          <p:cNvSpPr/>
          <p:nvPr/>
        </p:nvSpPr>
        <p:spPr>
          <a:xfrm>
            <a:off x="633804" y="1227154"/>
            <a:ext cx="3412356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400" b="1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Cybersecurity Risks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633809" y="1692626"/>
            <a:ext cx="3193837" cy="992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Hacking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Data breaches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Malware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55" name="Google Shape;155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237738" y="1021262"/>
            <a:ext cx="3738729" cy="210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2"/>
          <p:cNvSpPr/>
          <p:nvPr/>
        </p:nvSpPr>
        <p:spPr>
          <a:xfrm>
            <a:off x="4372520" y="1227141"/>
            <a:ext cx="3576986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400" b="1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High Implementation Cost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4564104" y="1764858"/>
            <a:ext cx="3193837" cy="992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Software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Infrastructure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Employee training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58" name="Google Shape;158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68031" y="1021262"/>
            <a:ext cx="3738834" cy="210671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2"/>
          <p:cNvSpPr/>
          <p:nvPr/>
        </p:nvSpPr>
        <p:spPr>
          <a:xfrm>
            <a:off x="8494397" y="1227141"/>
            <a:ext cx="3193943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400" b="1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Resistance to Change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8494397" y="1929114"/>
            <a:ext cx="3193943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Arial" panose="0208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Employees may hesitate to adopt new systems.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25375" y="4129399"/>
            <a:ext cx="4741594" cy="1707339"/>
            <a:chOff x="307444" y="3308453"/>
            <a:chExt cx="3738729" cy="1457821"/>
          </a:xfrm>
        </p:grpSpPr>
        <p:pic>
          <p:nvPicPr>
            <p:cNvPr id="161" name="Google Shape;161;p12" descr="preencoded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307444" y="3308453"/>
              <a:ext cx="3738729" cy="14578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2"/>
            <p:cNvSpPr/>
            <p:nvPr/>
          </p:nvSpPr>
          <p:spPr>
            <a:xfrm>
              <a:off x="633811" y="3514332"/>
              <a:ext cx="2521517" cy="2968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850"/>
                <a:buFont typeface="Dela Gothic One"/>
                <a:buNone/>
              </a:pPr>
              <a:r>
                <a:rPr lang="en-US" sz="2400" b="1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ela Gothic One"/>
                  <a:cs typeface="Times New Roman" panose="02020603050405020304" pitchFamily="18" charset="0"/>
                  <a:sym typeface="Dela Gothic One"/>
                </a:rPr>
                <a:t>Data Privacy</a:t>
              </a:r>
              <a:endParaRPr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63" name="Google Shape;163;p12"/>
            <p:cNvSpPr/>
            <p:nvPr/>
          </p:nvSpPr>
          <p:spPr>
            <a:xfrm>
              <a:off x="633811" y="3919442"/>
              <a:ext cx="3193837" cy="6409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84480" marR="0" lvl="0" indent="-28448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40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Protecting customer information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84480" marR="0" lvl="0" indent="-28448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40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Compliance with regulations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428387" y="4129398"/>
            <a:ext cx="5063308" cy="1707339"/>
            <a:chOff x="4237738" y="3308453"/>
            <a:chExt cx="3738729" cy="1457821"/>
          </a:xfrm>
        </p:grpSpPr>
        <p:pic>
          <p:nvPicPr>
            <p:cNvPr id="164" name="Google Shape;164;p12" descr="preencoded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4237738" y="3308453"/>
              <a:ext cx="3738729" cy="14578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12"/>
            <p:cNvSpPr/>
            <p:nvPr/>
          </p:nvSpPr>
          <p:spPr>
            <a:xfrm>
              <a:off x="4564104" y="3514332"/>
              <a:ext cx="2521517" cy="2968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850"/>
                <a:buFont typeface="Dela Gothic One"/>
                <a:buNone/>
              </a:pPr>
              <a:r>
                <a:rPr lang="en-US" sz="2400" b="1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ela Gothic One"/>
                  <a:cs typeface="Times New Roman" panose="02020603050405020304" pitchFamily="18" charset="0"/>
                  <a:sym typeface="Dela Gothic One"/>
                </a:rPr>
                <a:t>Skill Gap</a:t>
              </a:r>
              <a:endParaRPr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66" name="Google Shape;166;p12"/>
            <p:cNvSpPr/>
            <p:nvPr/>
          </p:nvSpPr>
          <p:spPr>
            <a:xfrm>
              <a:off x="4564104" y="3919442"/>
              <a:ext cx="3193837" cy="6409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84480" marR="0" lvl="0" indent="-28448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40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Need for digital literacy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  <a:p>
              <a:pPr marL="284480" marR="0" lvl="0" indent="-28448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400"/>
                <a:buFont typeface="DM Sans"/>
                <a:buChar char="•"/>
              </a:pPr>
              <a:r>
                <a:rPr lang="en-US" sz="20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M Sans"/>
                  <a:cs typeface="Times New Roman" panose="02020603050405020304" pitchFamily="18" charset="0"/>
                  <a:sym typeface="DM Sans"/>
                </a:rPr>
                <a:t>Continuous learning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1;p11"/>
          <p:cNvSpPr/>
          <p:nvPr/>
        </p:nvSpPr>
        <p:spPr>
          <a:xfrm>
            <a:off x="6514164" y="4911429"/>
            <a:ext cx="5503824" cy="1507650"/>
          </a:xfrm>
          <a:prstGeom prst="roundRect">
            <a:avLst>
              <a:gd name="adj" fmla="val 4693"/>
            </a:avLst>
          </a:prstGeom>
          <a:solidFill>
            <a:schemeClr val="accent6">
              <a:lumMod val="50000"/>
              <a:alpha val="94901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141;p11"/>
          <p:cNvSpPr/>
          <p:nvPr/>
        </p:nvSpPr>
        <p:spPr>
          <a:xfrm>
            <a:off x="6514164" y="3140017"/>
            <a:ext cx="5503824" cy="1507650"/>
          </a:xfrm>
          <a:prstGeom prst="roundRect">
            <a:avLst>
              <a:gd name="adj" fmla="val 4693"/>
            </a:avLst>
          </a:prstGeom>
          <a:solidFill>
            <a:schemeClr val="accent6">
              <a:lumMod val="50000"/>
              <a:alpha val="94901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141;p11"/>
          <p:cNvSpPr/>
          <p:nvPr/>
        </p:nvSpPr>
        <p:spPr>
          <a:xfrm>
            <a:off x="6514164" y="1404494"/>
            <a:ext cx="5503824" cy="1507650"/>
          </a:xfrm>
          <a:prstGeom prst="roundRect">
            <a:avLst>
              <a:gd name="adj" fmla="val 4693"/>
            </a:avLst>
          </a:prstGeom>
          <a:solidFill>
            <a:schemeClr val="accent6">
              <a:lumMod val="50000"/>
              <a:alpha val="94901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41;p11"/>
          <p:cNvSpPr/>
          <p:nvPr/>
        </p:nvSpPr>
        <p:spPr>
          <a:xfrm>
            <a:off x="479214" y="4941017"/>
            <a:ext cx="5503824" cy="1507650"/>
          </a:xfrm>
          <a:prstGeom prst="roundRect">
            <a:avLst>
              <a:gd name="adj" fmla="val 4693"/>
            </a:avLst>
          </a:prstGeom>
          <a:solidFill>
            <a:schemeClr val="accent6">
              <a:lumMod val="50000"/>
              <a:alpha val="94901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141;p11"/>
          <p:cNvSpPr/>
          <p:nvPr/>
        </p:nvSpPr>
        <p:spPr>
          <a:xfrm>
            <a:off x="479214" y="3169605"/>
            <a:ext cx="5503824" cy="1507650"/>
          </a:xfrm>
          <a:prstGeom prst="roundRect">
            <a:avLst>
              <a:gd name="adj" fmla="val 4693"/>
            </a:avLst>
          </a:prstGeom>
          <a:solidFill>
            <a:schemeClr val="accent6">
              <a:lumMod val="50000"/>
              <a:alpha val="94901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41;p11"/>
          <p:cNvSpPr/>
          <p:nvPr/>
        </p:nvSpPr>
        <p:spPr>
          <a:xfrm>
            <a:off x="479214" y="1434082"/>
            <a:ext cx="5503824" cy="1507650"/>
          </a:xfrm>
          <a:prstGeom prst="roundRect">
            <a:avLst>
              <a:gd name="adj" fmla="val 4693"/>
            </a:avLst>
          </a:prstGeom>
          <a:solidFill>
            <a:schemeClr val="accent6">
              <a:lumMod val="50000"/>
              <a:alpha val="94901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464759" y="78979"/>
            <a:ext cx="5360754" cy="59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700"/>
              <a:buFont typeface="Dela Gothic One"/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Future Trends</a:t>
            </a:r>
            <a:endParaRPr sz="4800" b="1" i="0" u="none" strike="noStrike" cap="none" dirty="0">
              <a:solidFill>
                <a:srgbClr val="FFFF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73" name="Google Shape;173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1908" y="1488877"/>
            <a:ext cx="451335" cy="4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3"/>
          <p:cNvSpPr/>
          <p:nvPr/>
        </p:nvSpPr>
        <p:spPr>
          <a:xfrm>
            <a:off x="1241091" y="1505565"/>
            <a:ext cx="4741947" cy="517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400" b="1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Artificial Intelligence Everywhere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1241091" y="2068533"/>
            <a:ext cx="4363296" cy="87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 will automate more business operations.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76" name="Google Shape;176;p1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587615" y="1495226"/>
            <a:ext cx="451335" cy="4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3"/>
          <p:cNvSpPr/>
          <p:nvPr/>
        </p:nvSpPr>
        <p:spPr>
          <a:xfrm>
            <a:off x="7338161" y="1451370"/>
            <a:ext cx="3249977" cy="451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400" b="1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Hyper Automation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7338161" y="2029418"/>
            <a:ext cx="4509710" cy="83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 and robots work together to automate business processes. 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79" name="Google Shape;179;p13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1908" y="3220938"/>
            <a:ext cx="451335" cy="4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3"/>
          <p:cNvSpPr/>
          <p:nvPr/>
        </p:nvSpPr>
        <p:spPr>
          <a:xfrm>
            <a:off x="1388991" y="3205559"/>
            <a:ext cx="2375535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400" b="1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Blockchain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1388991" y="3780531"/>
            <a:ext cx="4436522" cy="978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 secure system for storing and sharing digital records. 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82" name="Google Shape;182;p13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87615" y="3227287"/>
            <a:ext cx="451335" cy="4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3"/>
          <p:cNvSpPr/>
          <p:nvPr/>
        </p:nvSpPr>
        <p:spPr>
          <a:xfrm>
            <a:off x="7344410" y="3211830"/>
            <a:ext cx="3571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400" b="1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6</a:t>
            </a:r>
            <a:r>
              <a:rPr lang="en-US" sz="2400" b="1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G Technology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7174865" y="3549015"/>
            <a:ext cx="4672965" cy="72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The next generation of mobile networks with faster speeds and lower delay. 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85" name="Google Shape;185;p13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1908" y="4953000"/>
            <a:ext cx="451335" cy="4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3"/>
          <p:cNvSpPr/>
          <p:nvPr/>
        </p:nvSpPr>
        <p:spPr>
          <a:xfrm>
            <a:off x="1388745" y="5000625"/>
            <a:ext cx="3325495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400" b="1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Edge Computing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1388991" y="5405917"/>
            <a:ext cx="4215396" cy="798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Data is processed closer to device where it is created, reducing delay. 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88" name="Google Shape;188;p13" descr="preencoded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587615" y="4959349"/>
            <a:ext cx="451335" cy="4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3"/>
          <p:cNvSpPr/>
          <p:nvPr/>
        </p:nvSpPr>
        <p:spPr>
          <a:xfrm>
            <a:off x="7344698" y="5007156"/>
            <a:ext cx="2375535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400" b="1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Green IT</a:t>
            </a:r>
            <a:endParaRPr sz="2400" b="1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7344698" y="5404646"/>
            <a:ext cx="4368088" cy="791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Environment-friendly computing that reduces energy use and electronic waste. 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/>
          <p:nvPr/>
        </p:nvSpPr>
        <p:spPr>
          <a:xfrm>
            <a:off x="464820" y="0"/>
            <a:ext cx="86741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700"/>
              <a:buFont typeface="Dela Gothic One"/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Real-World Examples</a:t>
            </a:r>
            <a:endParaRPr sz="4800" b="1" i="0" u="none" strike="noStrike" cap="none" dirty="0">
              <a:solidFill>
                <a:srgbClr val="FFFF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97" name="Google Shape;197;p1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12244" y="1111046"/>
            <a:ext cx="2231408" cy="11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4"/>
          <p:cNvSpPr/>
          <p:nvPr/>
        </p:nvSpPr>
        <p:spPr>
          <a:xfrm>
            <a:off x="612244" y="2443319"/>
            <a:ext cx="2375535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8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Amazon</a:t>
            </a:r>
            <a:endParaRPr sz="2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168910" y="3074670"/>
            <a:ext cx="2858770" cy="268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AI-based product recommendations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Automated warehouses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Cloud services (AWS)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00" name="Google Shape;200;p1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400618" y="1111046"/>
            <a:ext cx="2231408" cy="11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4"/>
          <p:cNvSpPr/>
          <p:nvPr/>
        </p:nvSpPr>
        <p:spPr>
          <a:xfrm>
            <a:off x="3400618" y="2443319"/>
            <a:ext cx="2375535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8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Google</a:t>
            </a:r>
            <a:endParaRPr sz="2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3253134" y="3074550"/>
            <a:ext cx="2562756" cy="992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AI-powered search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Google Cloud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Google Workspace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03" name="Google Shape;203;p1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188992" y="1111046"/>
            <a:ext cx="2231408" cy="11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4"/>
          <p:cNvSpPr/>
          <p:nvPr/>
        </p:nvSpPr>
        <p:spPr>
          <a:xfrm>
            <a:off x="6188992" y="2443319"/>
            <a:ext cx="2375535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8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eSewa</a:t>
            </a:r>
            <a:endParaRPr sz="2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6041508" y="3074550"/>
            <a:ext cx="2562756" cy="1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Digital wallet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Online payments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Utility bill payment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Money transfer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06" name="Google Shape;206;p14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977366" y="1111046"/>
            <a:ext cx="2231408" cy="11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4"/>
          <p:cNvSpPr/>
          <p:nvPr/>
        </p:nvSpPr>
        <p:spPr>
          <a:xfrm>
            <a:off x="8977366" y="2443319"/>
            <a:ext cx="2375535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8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Khalti by IME</a:t>
            </a:r>
            <a:endParaRPr sz="2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8829882" y="3074550"/>
            <a:ext cx="2562756" cy="134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QR payments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Mobile recharge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Ticket booking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4480" marR="0" lvl="0" indent="-28448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Banking integration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/>
          <p:nvPr/>
        </p:nvSpPr>
        <p:spPr>
          <a:xfrm>
            <a:off x="435263" y="74364"/>
            <a:ext cx="4584982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100"/>
              <a:buFont typeface="Dela Gothic One"/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Conclusion</a:t>
            </a:r>
            <a:endParaRPr sz="4800" b="1" i="0" u="none" strike="noStrike" cap="none" dirty="0">
              <a:solidFill>
                <a:srgbClr val="FFFF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16" name="Google Shape;216;p1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60070" y="1137920"/>
            <a:ext cx="3558540" cy="2169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5"/>
          <p:cNvSpPr/>
          <p:nvPr/>
        </p:nvSpPr>
        <p:spPr>
          <a:xfrm>
            <a:off x="2248885" y="1320170"/>
            <a:ext cx="181268" cy="226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ela Gothic One"/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1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730430" y="1742182"/>
            <a:ext cx="3218278" cy="49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50"/>
              <a:buFont typeface="Dela Gothic One"/>
              <a:buNone/>
            </a:pPr>
            <a:r>
              <a:rPr lang="en-US" sz="24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Digital Transformation is changing every industry.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19" name="Google Shape;219;p1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244975" y="1137920"/>
            <a:ext cx="3563620" cy="214249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5"/>
          <p:cNvSpPr/>
          <p:nvPr/>
        </p:nvSpPr>
        <p:spPr>
          <a:xfrm>
            <a:off x="5933579" y="1290674"/>
            <a:ext cx="181268" cy="226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ela Gothic One"/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2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4415124" y="1742181"/>
            <a:ext cx="3218278" cy="1179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50"/>
              <a:buFont typeface="Dela Gothic One"/>
              <a:buNone/>
            </a:pPr>
            <a:r>
              <a:rPr lang="en-US" sz="24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Information Systems are the backbone of digital transformation.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22" name="Google Shape;222;p1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9761" y="1138039"/>
            <a:ext cx="3558391" cy="194984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5"/>
          <p:cNvSpPr/>
          <p:nvPr/>
        </p:nvSpPr>
        <p:spPr>
          <a:xfrm>
            <a:off x="9618273" y="1290674"/>
            <a:ext cx="181268" cy="226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ela Gothic One"/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3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8099818" y="1742182"/>
            <a:ext cx="3218278" cy="49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50"/>
              <a:buFont typeface="Dela Gothic One"/>
              <a:buNone/>
            </a:pPr>
            <a:r>
              <a:rPr lang="en-US" sz="24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AI, Cloud, IoT, and Big Data are driving innovation.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25" name="Google Shape;225;p1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14762" y="3353095"/>
            <a:ext cx="5400738" cy="151923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5"/>
          <p:cNvSpPr/>
          <p:nvPr/>
        </p:nvSpPr>
        <p:spPr>
          <a:xfrm>
            <a:off x="3124496" y="3468209"/>
            <a:ext cx="181268" cy="226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ela Gothic One"/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4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685453" y="3799023"/>
            <a:ext cx="5060625" cy="49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50"/>
              <a:buFont typeface="Dela Gothic One"/>
              <a:buNone/>
            </a:pPr>
            <a:r>
              <a:rPr lang="en-US" sz="24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Organizations must overcome security and implementation challenges.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114847" y="3353095"/>
            <a:ext cx="5536356" cy="1519238"/>
            <a:chOff x="6087414" y="2783582"/>
            <a:chExt cx="5573874" cy="1519238"/>
          </a:xfrm>
        </p:grpSpPr>
        <p:pic>
          <p:nvPicPr>
            <p:cNvPr id="228" name="Google Shape;228;p15" descr="preencoded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087414" y="2783582"/>
              <a:ext cx="5400738" cy="15192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15"/>
            <p:cNvSpPr/>
            <p:nvPr/>
          </p:nvSpPr>
          <p:spPr>
            <a:xfrm>
              <a:off x="8697149" y="2896889"/>
              <a:ext cx="181268" cy="226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Dela Gothic One"/>
                <a:buNone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Times New Roman" panose="02020603050405020304" pitchFamily="18" charset="0"/>
                  <a:ea typeface="Dela Gothic One"/>
                  <a:cs typeface="Times New Roman" panose="02020603050405020304" pitchFamily="18" charset="0"/>
                  <a:sym typeface="Dela Gothic One"/>
                </a:rPr>
                <a:t>5</a:t>
              </a:r>
              <a:endParaRPr sz="2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6137650" y="3229510"/>
              <a:ext cx="5523638" cy="745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E5E5"/>
                </a:buClr>
                <a:buSzPts val="1550"/>
                <a:buFont typeface="Dela Gothic One"/>
                <a:buNone/>
              </a:pPr>
              <a:r>
                <a:rPr lang="en-US" sz="2400" b="0" i="0" u="none" strike="noStrike" cap="none" dirty="0">
                  <a:solidFill>
                    <a:srgbClr val="FFE5E5"/>
                  </a:solidFill>
                  <a:latin typeface="Times New Roman" panose="02020603050405020304" pitchFamily="18" charset="0"/>
                  <a:ea typeface="Dela Gothic One"/>
                  <a:cs typeface="Times New Roman" panose="02020603050405020304" pitchFamily="18" charset="0"/>
                  <a:sym typeface="Dela Gothic One"/>
                </a:rPr>
                <a:t>Businesses adopting digital transformation gain a competitive advantage.</a:t>
              </a:r>
              <a:endParaRPr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231" name="Google Shape;231;p15"/>
          <p:cNvSpPr/>
          <p:nvPr/>
        </p:nvSpPr>
        <p:spPr>
          <a:xfrm>
            <a:off x="631908" y="5023247"/>
            <a:ext cx="3789863" cy="3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500"/>
              <a:buFont typeface="Dela Gothic One"/>
              <a:buNone/>
            </a:pPr>
            <a:r>
              <a:rPr lang="en-US" sz="4000" b="0" i="0" u="none" strike="noStrike" cap="none">
                <a:solidFill>
                  <a:srgbClr val="FAEBEB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Final Thought</a:t>
            </a:r>
            <a:endParaRPr sz="4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631908" y="5610225"/>
            <a:ext cx="10927878" cy="1046214"/>
          </a:xfrm>
          <a:prstGeom prst="roundRect">
            <a:avLst>
              <a:gd name="adj" fmla="val 8898"/>
            </a:avLst>
          </a:prstGeom>
          <a:solidFill>
            <a:srgbClr val="0A0A0A">
              <a:alpha val="94901"/>
            </a:srgbClr>
          </a:solidFill>
          <a:ln w="19050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3" name="Google Shape;233;p15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60373" y="5538688"/>
            <a:ext cx="181268" cy="181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5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469717" y="6538036"/>
            <a:ext cx="181268" cy="18127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5"/>
          <p:cNvSpPr/>
          <p:nvPr/>
        </p:nvSpPr>
        <p:spPr>
          <a:xfrm>
            <a:off x="877469" y="5855791"/>
            <a:ext cx="10436758" cy="221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M Sans"/>
              <a:buNone/>
            </a:pPr>
            <a:r>
              <a:rPr lang="en-US" sz="18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"Digital Transformation is not just about technology—it is about using technology to create better value for businesses and society."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/>
          <p:nvPr/>
        </p:nvSpPr>
        <p:spPr>
          <a:xfrm>
            <a:off x="577560" y="153883"/>
            <a:ext cx="7715679" cy="59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700"/>
              <a:buFont typeface="Dela Gothic One"/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Benefits Summary</a:t>
            </a:r>
            <a:endParaRPr sz="4800" b="1" i="0" u="none" strike="noStrike" cap="none" dirty="0">
              <a:solidFill>
                <a:srgbClr val="FFFF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42" name="Google Shape;242;p1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1908" y="1488877"/>
            <a:ext cx="451335" cy="4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6"/>
          <p:cNvSpPr/>
          <p:nvPr/>
        </p:nvSpPr>
        <p:spPr>
          <a:xfrm>
            <a:off x="180413" y="2107430"/>
            <a:ext cx="41691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8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Digital Transformation</a:t>
            </a:r>
            <a:endParaRPr sz="2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631908" y="2570956"/>
            <a:ext cx="3492214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Benefits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45" name="Google Shape;245;p1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49740" y="1488877"/>
            <a:ext cx="451335" cy="4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6"/>
          <p:cNvSpPr/>
          <p:nvPr/>
        </p:nvSpPr>
        <p:spPr>
          <a:xfrm>
            <a:off x="4349740" y="2165846"/>
            <a:ext cx="2375535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8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Automation</a:t>
            </a:r>
            <a:endParaRPr sz="2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4349740" y="2570956"/>
            <a:ext cx="3492214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Saves time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48" name="Google Shape;248;p16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067572" y="1488877"/>
            <a:ext cx="451335" cy="4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6"/>
          <p:cNvSpPr/>
          <p:nvPr/>
        </p:nvSpPr>
        <p:spPr>
          <a:xfrm>
            <a:off x="8067572" y="2165846"/>
            <a:ext cx="3967112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8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Cloud Computing</a:t>
            </a:r>
            <a:endParaRPr sz="2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8067572" y="2570956"/>
            <a:ext cx="3492214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Anywhere access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51" name="Google Shape;251;p16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1908" y="3220938"/>
            <a:ext cx="451335" cy="4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6"/>
          <p:cNvSpPr/>
          <p:nvPr/>
        </p:nvSpPr>
        <p:spPr>
          <a:xfrm>
            <a:off x="631908" y="3897908"/>
            <a:ext cx="2375535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8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AI</a:t>
            </a:r>
            <a:endParaRPr sz="2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631908" y="4303018"/>
            <a:ext cx="3492214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Smart decisions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54" name="Google Shape;254;p16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49740" y="3220938"/>
            <a:ext cx="451335" cy="4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6"/>
          <p:cNvSpPr/>
          <p:nvPr/>
        </p:nvSpPr>
        <p:spPr>
          <a:xfrm>
            <a:off x="4349740" y="3897908"/>
            <a:ext cx="2375535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8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Big Data</a:t>
            </a:r>
            <a:endParaRPr sz="2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4349740" y="4303018"/>
            <a:ext cx="3492214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b="0" i="0" u="none" strike="noStrike" cap="none" dirty="0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Better insights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57" name="Google Shape;257;p16" descr="preencoded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067572" y="3220938"/>
            <a:ext cx="451335" cy="4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6"/>
          <p:cNvSpPr/>
          <p:nvPr/>
        </p:nvSpPr>
        <p:spPr>
          <a:xfrm>
            <a:off x="8067572" y="3897908"/>
            <a:ext cx="2375535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8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IoT</a:t>
            </a:r>
            <a:endParaRPr sz="2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8067572" y="4303018"/>
            <a:ext cx="3492214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Smart devices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60" name="Google Shape;260;p16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31908" y="4953000"/>
            <a:ext cx="451335" cy="4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6"/>
          <p:cNvSpPr/>
          <p:nvPr/>
        </p:nvSpPr>
        <p:spPr>
          <a:xfrm>
            <a:off x="631895" y="5629975"/>
            <a:ext cx="49269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lang="en-US" sz="28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ela Gothic One"/>
                <a:cs typeface="Times New Roman" panose="02020603050405020304" pitchFamily="18" charset="0"/>
                <a:sym typeface="Dela Gothic One"/>
              </a:rPr>
              <a:t>Information Systems</a:t>
            </a:r>
            <a:endParaRPr sz="2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631908" y="6035080"/>
            <a:ext cx="3492214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2000" b="0" i="0" u="none" strike="noStrike" cap="none">
                <a:solidFill>
                  <a:srgbClr val="FFE5E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Better management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OOOOOO ANY QUESTIONS? - Am I the only one Meme Generato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595" y="1396180"/>
            <a:ext cx="6400405" cy="4454013"/>
          </a:xfrm>
          <a:prstGeom prst="rect">
            <a:avLst/>
          </a:prstGeom>
        </p:spPr>
      </p:pic>
      <p:pic>
        <p:nvPicPr>
          <p:cNvPr id="3" name="Jethalal_Thank_You_Meme_Video_Download_TMKOC_Memes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st="2269.000000" end="4513.000000"/>
                </p14:media>
              </p:ext>
            </p:extLst>
          </p:nvPr>
        </p:nvPicPr>
        <p:blipFill>
          <a:blip r:embed="rId4"/>
          <a:srcRect l="21629" r="21381"/>
          <a:stretch>
            <a:fillRect/>
          </a:stretch>
        </p:blipFill>
        <p:spPr>
          <a:xfrm>
            <a:off x="698090" y="1396180"/>
            <a:ext cx="4483510" cy="44328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4059</Words>
  <Application>WPS Presentation</Application>
  <PresentationFormat>Widescreen</PresentationFormat>
  <Paragraphs>299</Paragraphs>
  <Slides>13</Slides>
  <Notes>13</Notes>
  <HiddenSlides>0</HiddenSlides>
  <MMClips>1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Arial</vt:lpstr>
      <vt:lpstr>DejaVu Sans</vt:lpstr>
      <vt:lpstr>Calibri</vt:lpstr>
      <vt:lpstr>Dela Gothic One</vt:lpstr>
      <vt:lpstr>C059</vt:lpstr>
      <vt:lpstr>Times New Roman</vt:lpstr>
      <vt:lpstr>DM Sans</vt:lpstr>
      <vt:lpstr>Microsoft YaHei</vt:lpstr>
      <vt:lpstr>Droid Sans Fallback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mrrv</cp:lastModifiedBy>
  <cp:revision>6</cp:revision>
  <dcterms:created xsi:type="dcterms:W3CDTF">2026-07-07T00:43:03Z</dcterms:created>
  <dcterms:modified xsi:type="dcterms:W3CDTF">2026-07-07T00:43:03Z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