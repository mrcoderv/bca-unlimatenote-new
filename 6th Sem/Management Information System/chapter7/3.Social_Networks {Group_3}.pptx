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81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7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pt/assets/out2/card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389380"/>
            <a:ext cx="10149840" cy="4846320"/>
          </a:xfrm>
          <a:prstGeom prst="rect">
            <a:avLst/>
          </a:prstGeom>
        </p:spPr>
      </p:pic>
      <p:pic>
        <p:nvPicPr>
          <p:cNvPr id="4" name="Image 2" descr="/home/claude/ppt/assets/out2/deco-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" y="137160"/>
            <a:ext cx="914400" cy="914400"/>
          </a:xfrm>
          <a:prstGeom prst="rect">
            <a:avLst/>
          </a:prstGeom>
        </p:spPr>
      </p:pic>
      <p:pic>
        <p:nvPicPr>
          <p:cNvPr id="5" name="Image 3" descr="/home/claude/ppt/assets/out2/deco-scro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137160"/>
            <a:ext cx="914400" cy="914400"/>
          </a:xfrm>
          <a:prstGeom prst="rect">
            <a:avLst/>
          </a:prstGeom>
        </p:spPr>
      </p:pic>
      <p:pic>
        <p:nvPicPr>
          <p:cNvPr id="6" name="Image 4" descr="/home/claude/ppt/assets/out2/deco-qui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5806440"/>
            <a:ext cx="914400" cy="914400"/>
          </a:xfrm>
          <a:prstGeom prst="rect">
            <a:avLst/>
          </a:prstGeom>
        </p:spPr>
      </p:pic>
      <p:pic>
        <p:nvPicPr>
          <p:cNvPr id="7" name="Image 5" descr="/home/claude/ppt/assets/out2/deco-hourgla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7392" y="5806440"/>
            <a:ext cx="914400" cy="9144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371600" y="19202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7 · EMERGING TRENDS IN INFORMATION SYSTEMS</a:t>
            </a:r>
            <a:endParaRPr lang="en-US" sz="1300" dirty="0"/>
          </a:p>
        </p:txBody>
      </p:sp>
      <p:sp>
        <p:nvSpPr>
          <p:cNvPr id="9" name="Text 1"/>
          <p:cNvSpPr/>
          <p:nvPr/>
        </p:nvSpPr>
        <p:spPr>
          <a:xfrm>
            <a:off x="1371600" y="237744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Networks and</a:t>
            </a:r>
            <a:endParaRPr lang="en-US" sz="4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Information Systems</a:t>
            </a:r>
            <a:endParaRPr lang="en-US" sz="4000" dirty="0"/>
          </a:p>
        </p:txBody>
      </p:sp>
      <p:sp>
        <p:nvSpPr>
          <p:cNvPr id="10" name="Text 2"/>
          <p:cNvSpPr/>
          <p:nvPr/>
        </p:nvSpPr>
        <p:spPr>
          <a:xfrm>
            <a:off x="1371600" y="41605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Platforms, Business Communication, CRM,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Impact &amp; Digital Ethics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by·  Sadikshya  · Rashni . Ankita</a:t>
            </a:r>
            <a:endParaRPr lang="en-US" sz="1400" dirty="0"/>
          </a:p>
        </p:txBody>
      </p:sp>
      <p:sp>
        <p:nvSpPr>
          <p:cNvPr id="12" name="Text 4"/>
          <p:cNvSpPr/>
          <p:nvPr/>
        </p:nvSpPr>
        <p:spPr>
          <a:xfrm>
            <a:off x="1371600" y="54406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Systems (CMP 314)  |  BCA 6th Semester  |  Pokhara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Presentation Roadmap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18745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01–02</a:t>
            </a:r>
            <a:endParaRPr lang="en-US" sz="1300" dirty="0"/>
          </a:p>
        </p:txBody>
      </p:sp>
      <p:pic>
        <p:nvPicPr>
          <p:cNvPr id="7" name="Image 2" descr="/home/claude/ppt/assets/out2/icon-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1984248"/>
            <a:ext cx="384048" cy="384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23160" y="18745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Social Networks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9144000" y="1874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960120" y="25877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03–04</a:t>
            </a:r>
            <a:endParaRPr lang="en-US" sz="1300" dirty="0"/>
          </a:p>
        </p:txBody>
      </p:sp>
      <p:pic>
        <p:nvPicPr>
          <p:cNvPr id="11" name="Image 3" descr="/home/claude/ppt/assets/out2/icon-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2697480"/>
            <a:ext cx="384048" cy="3840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423160" y="258775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Business Communication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9144000" y="25877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960120" y="33009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05–06</a:t>
            </a:r>
            <a:endParaRPr lang="en-US" sz="1300" dirty="0"/>
          </a:p>
        </p:txBody>
      </p:sp>
      <p:pic>
        <p:nvPicPr>
          <p:cNvPr id="15" name="Image 4" descr="/home/claude/ppt/assets/out2/icon-handshak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4520" y="3410712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423160" y="3300984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CRM &amp; Marketing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144000" y="330098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960120" y="401421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07–08</a:t>
            </a:r>
            <a:endParaRPr lang="en-US" sz="1300" dirty="0"/>
          </a:p>
        </p:txBody>
      </p:sp>
      <p:pic>
        <p:nvPicPr>
          <p:cNvPr id="19" name="Image 5" descr="/home/claude/ppt/assets/out2/icon-buil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4520" y="4123944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423160" y="401421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Organizations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9144000" y="401421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Sadikshya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960120" y="472744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09–10</a:t>
            </a:r>
            <a:endParaRPr lang="en-US" sz="1300" dirty="0"/>
          </a:p>
        </p:txBody>
      </p:sp>
      <p:pic>
        <p:nvPicPr>
          <p:cNvPr id="23" name="Image 6" descr="/home/claude/ppt/assets/out2/icon-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4520" y="4837176"/>
            <a:ext cx="384048" cy="38404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423160" y="472744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Security &amp; Ethical Issues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9144000" y="47274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960120" y="54406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11–12</a:t>
            </a:r>
            <a:endParaRPr lang="en-US" sz="1300" dirty="0"/>
          </a:p>
        </p:txBody>
      </p:sp>
      <p:pic>
        <p:nvPicPr>
          <p:cNvPr id="27" name="Image 7" descr="/home/claude/ppt/assets/out2/icon-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4520" y="5550408"/>
            <a:ext cx="384048" cy="38404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423160" y="54406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Social Networking Platforms</a:t>
            </a:r>
            <a:endParaRPr lang="en-US" sz="1500" dirty="0"/>
          </a:p>
        </p:txBody>
      </p:sp>
      <p:sp>
        <p:nvSpPr>
          <p:cNvPr id="29" name="Text 19"/>
          <p:cNvSpPr/>
          <p:nvPr/>
        </p:nvSpPr>
        <p:spPr>
          <a:xfrm>
            <a:off x="9144000" y="5440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</a:t>
            </a:r>
            <a:endParaRPr lang="en-US" sz="1300" dirty="0"/>
          </a:p>
        </p:txBody>
      </p:sp>
      <p:sp>
        <p:nvSpPr>
          <p:cNvPr id="30" name="Text 20"/>
          <p:cNvSpPr/>
          <p:nvPr/>
        </p:nvSpPr>
        <p:spPr>
          <a:xfrm>
            <a:off x="960120" y="6199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topics, two per presenter — each explored in depth across the slides that follow.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pt/assets/out2/card-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777240"/>
            <a:ext cx="10149840" cy="5303520"/>
          </a:xfrm>
          <a:prstGeom prst="rect">
            <a:avLst/>
          </a:prstGeom>
        </p:spPr>
      </p:pic>
      <p:pic>
        <p:nvPicPr>
          <p:cNvPr id="4" name="Image 2" descr="/home/claude/ppt/assets/out2/deco-book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"/>
            <a:ext cx="822960" cy="822960"/>
          </a:xfrm>
          <a:prstGeom prst="rect">
            <a:avLst/>
          </a:prstGeom>
        </p:spPr>
      </p:pic>
      <p:pic>
        <p:nvPicPr>
          <p:cNvPr id="5" name="Image 3" descr="/home/claude/ppt/assets/out2/deco-inkswir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580644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155448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ONE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1463040" y="201168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 to Social Networks</a:t>
            </a:r>
            <a:endParaRPr lang="en-US" sz="3400" dirty="0"/>
          </a:p>
        </p:txBody>
      </p:sp>
      <p:pic>
        <p:nvPicPr>
          <p:cNvPr id="8" name="Image 4" descr="/home/claude/ppt/assets/out2/deco-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556" y="3429000"/>
            <a:ext cx="1005840" cy="1005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201168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evolution, and the building blocks of every social platform.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1463040" y="53949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Rashmi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876" y="22860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Social Network?</a:t>
            </a:r>
            <a:endParaRPr lang="en-US" sz="3000" dirty="0"/>
          </a:p>
        </p:txBody>
      </p:sp>
      <p:pic>
        <p:nvPicPr>
          <p:cNvPr id="5" name="Image 1" descr="/home/claude/ppt/assets/out2/card-half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43228"/>
            <a:ext cx="5212080" cy="4892040"/>
          </a:xfrm>
          <a:prstGeom prst="rect">
            <a:avLst/>
          </a:prstGeom>
        </p:spPr>
      </p:pic>
      <p:pic>
        <p:nvPicPr>
          <p:cNvPr id="6" name="Image 2" descr="/home/claude/ppt/assets/out2/card-half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558" y="1412748"/>
            <a:ext cx="5394960" cy="4892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960120" y="2194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network is a web or mobile-based platform that allows individuals and organizations to create a profile, build a network of connections, and share content, ideas, and interests within that network in real time.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960120" y="37947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Information Systems view, a social network is a socio-technical system: people (social) interacting through hardware, software and data (technical).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3550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Elements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355080" y="2286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— 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400800" y="23042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355080" y="3063240"/>
            <a:ext cx="103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— 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0" y="30815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55080" y="38404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Sharing — 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0" y="3858768"/>
            <a:ext cx="1266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55080" y="4617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— 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4636008"/>
            <a:ext cx="99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52BA58-D1E0-B0EF-0336-6FDB3469BAFF}"/>
              </a:ext>
            </a:extLst>
          </p:cNvPr>
          <p:cNvSpPr txBox="1"/>
          <p:nvPr/>
        </p:nvSpPr>
        <p:spPr>
          <a:xfrm>
            <a:off x="7033260" y="244010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identity — name, photo, bio, interests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46CF25-C2F2-6400-B68B-5AF67A8F8B2B}"/>
              </a:ext>
            </a:extLst>
          </p:cNvPr>
          <p:cNvSpPr txBox="1"/>
          <p:nvPr/>
        </p:nvSpPr>
        <p:spPr>
          <a:xfrm>
            <a:off x="7437120" y="3187684"/>
            <a:ext cx="6640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followers, or professional contacts (the 'graph')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827325-F88D-B3DB-2274-7AE7537AAF1D}"/>
              </a:ext>
            </a:extLst>
          </p:cNvPr>
          <p:cNvSpPr txBox="1"/>
          <p:nvPr/>
        </p:nvSpPr>
        <p:spPr>
          <a:xfrm>
            <a:off x="7689533" y="3989516"/>
            <a:ext cx="7115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photos, video, links shared to the network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C3284A-D05E-B9F2-8169-8D8E55763A96}"/>
              </a:ext>
            </a:extLst>
          </p:cNvPr>
          <p:cNvSpPr txBox="1"/>
          <p:nvPr/>
        </p:nvSpPr>
        <p:spPr>
          <a:xfrm>
            <a:off x="7391400" y="4782866"/>
            <a:ext cx="7477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comments, shares, messages driving 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Evolution of Social Networks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60120" y="1947672"/>
            <a:ext cx="310896" cy="310896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7" name="Text 3"/>
          <p:cNvSpPr/>
          <p:nvPr/>
        </p:nvSpPr>
        <p:spPr>
          <a:xfrm>
            <a:off x="96012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417320" y="18928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1997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514600" y="18928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SixDegrees.com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40680" y="189280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recognizable social networking site with profiles &amp; friend lists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60120" y="2788920"/>
            <a:ext cx="310896" cy="310896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417320" y="27340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2003–04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14600" y="2734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MySpace &amp; Facebook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40680" y="273405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adoption; customizable profiles, the 'News Feed'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60120" y="3630168"/>
            <a:ext cx="310896" cy="310896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17" name="Text 13"/>
          <p:cNvSpPr/>
          <p:nvPr/>
        </p:nvSpPr>
        <p:spPr>
          <a:xfrm>
            <a:off x="96012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417320" y="35753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2006–10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514600" y="35753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&amp; Instagram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40680" y="357530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Micro-blogging and visual-first sharing emerge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60120" y="4471416"/>
            <a:ext cx="310896" cy="310896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22" name="Text 18"/>
          <p:cNvSpPr/>
          <p:nvPr/>
        </p:nvSpPr>
        <p:spPr>
          <a:xfrm>
            <a:off x="960120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417320" y="44165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2011–16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514600" y="4416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era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440680" y="441655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Snapchat, WhatsApp; smartphones drive daily usage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60120" y="5312664"/>
            <a:ext cx="310896" cy="310896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27" name="Text 23"/>
          <p:cNvSpPr/>
          <p:nvPr/>
        </p:nvSpPr>
        <p:spPr>
          <a:xfrm>
            <a:off x="96012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417320" y="5257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2017–Now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514600" y="5257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&amp; Video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5440680" y="52578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Reels; AI-curated feeds and short-form video dominate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Characteristics of Social Networks</a:t>
            </a:r>
            <a:endParaRPr lang="en-US" sz="3000" dirty="0"/>
          </a:p>
        </p:txBody>
      </p:sp>
      <p:pic>
        <p:nvPicPr>
          <p:cNvPr id="5" name="Image 1" descr="/home/claude/ppt/assets/out2/card-third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3474720" cy="4480560"/>
          </a:xfrm>
          <a:prstGeom prst="rect">
            <a:avLst/>
          </a:prstGeom>
        </p:spPr>
      </p:pic>
      <p:pic>
        <p:nvPicPr>
          <p:cNvPr id="6" name="Image 2" descr="/home/claude/ppt/assets/out2/card-third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554480"/>
            <a:ext cx="3474720" cy="4480560"/>
          </a:xfrm>
          <a:prstGeom prst="rect">
            <a:avLst/>
          </a:prstGeom>
        </p:spPr>
      </p:pic>
      <p:pic>
        <p:nvPicPr>
          <p:cNvPr id="7" name="Image 3" descr="/home/claude/ppt/assets/out2/card-third-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1554480"/>
            <a:ext cx="3474720" cy="4480560"/>
          </a:xfrm>
          <a:prstGeom prst="rect">
            <a:avLst/>
          </a:prstGeom>
        </p:spPr>
      </p:pic>
      <p:pic>
        <p:nvPicPr>
          <p:cNvPr id="8" name="Image 4" descr="/home/claude/ppt/assets/out2/icon-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1828800"/>
            <a:ext cx="640080" cy="6400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Network Structure</a:t>
            </a:r>
            <a:endParaRPr lang="en-US" sz="1550" dirty="0"/>
          </a:p>
        </p:txBody>
      </p:sp>
      <p:sp>
        <p:nvSpPr>
          <p:cNvPr id="10" name="Text 3"/>
          <p:cNvSpPr/>
          <p:nvPr/>
        </p:nvSpPr>
        <p:spPr>
          <a:xfrm>
            <a:off x="96012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nodes (users) and ties (relationships) — the basis of social graph analysis.</a:t>
            </a:r>
            <a:endParaRPr lang="en-US" sz="1200" dirty="0"/>
          </a:p>
        </p:txBody>
      </p:sp>
      <p:pic>
        <p:nvPicPr>
          <p:cNvPr id="11" name="Image 5" descr="/home/claude/ppt/assets/out2/icon-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828800"/>
            <a:ext cx="640080" cy="6400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720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User-Generated Content</a:t>
            </a:r>
            <a:endParaRPr lang="en-US" sz="1550" dirty="0"/>
          </a:p>
        </p:txBody>
      </p:sp>
      <p:sp>
        <p:nvSpPr>
          <p:cNvPr id="13" name="Text 5"/>
          <p:cNvSpPr/>
          <p:nvPr/>
        </p:nvSpPr>
        <p:spPr>
          <a:xfrm>
            <a:off x="466344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created by users themselves: posts, reviews, videos — not the platform owner.</a:t>
            </a:r>
            <a:endParaRPr lang="en-US" sz="1200" dirty="0"/>
          </a:p>
        </p:txBody>
      </p:sp>
      <p:pic>
        <p:nvPicPr>
          <p:cNvPr id="14" name="Image 6" descr="/home/claude/ppt/assets/out2/icon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1828800"/>
            <a:ext cx="640080" cy="64008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2753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Algorithmic Curation</a:t>
            </a:r>
            <a:endParaRPr lang="en-US" sz="1550" dirty="0"/>
          </a:p>
        </p:txBody>
      </p:sp>
      <p:sp>
        <p:nvSpPr>
          <p:cNvPr id="16" name="Text 7"/>
          <p:cNvSpPr/>
          <p:nvPr/>
        </p:nvSpPr>
        <p:spPr>
          <a:xfrm>
            <a:off x="836676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are ranked by algorithms optimizing for engagement, not chronology.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pt/assets/out2/card-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777240"/>
            <a:ext cx="10149840" cy="5303520"/>
          </a:xfrm>
          <a:prstGeom prst="rect">
            <a:avLst/>
          </a:prstGeom>
        </p:spPr>
      </p:pic>
      <p:pic>
        <p:nvPicPr>
          <p:cNvPr id="4" name="Image 2" descr="/home/claude/ppt/assets/out2/deco-book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"/>
            <a:ext cx="822960" cy="822960"/>
          </a:xfrm>
          <a:prstGeom prst="rect">
            <a:avLst/>
          </a:prstGeom>
        </p:spPr>
      </p:pic>
      <p:pic>
        <p:nvPicPr>
          <p:cNvPr id="5" name="Image 3" descr="/home/claude/ppt/assets/out2/deco-inkswir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580644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155448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1463040" y="201168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Media &amp; Business Communication</a:t>
            </a:r>
            <a:endParaRPr lang="en-US" sz="3400" dirty="0"/>
          </a:p>
        </p:txBody>
      </p:sp>
      <p:pic>
        <p:nvPicPr>
          <p:cNvPr id="8" name="Image 4" descr="/home/claude/ppt/assets/out2/deco-scro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556" y="3429000"/>
            <a:ext cx="1005840" cy="1005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201168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organizations speak with customers, employees, and the public in real time.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1463040" y="53949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Rashmi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COMMUNICATION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Communication Channels &amp; Their Roles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pic>
        <p:nvPicPr>
          <p:cNvPr id="6" name="Image 2" descr="/home/claude/ppt/assets/out2/icon-face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20240"/>
            <a:ext cx="384048" cy="3840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54480" y="1874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Facebook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3794760" y="1874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pages, groups, customer service via Messenger</a:t>
            </a:r>
            <a:endParaRPr lang="en-US" sz="1300" dirty="0"/>
          </a:p>
        </p:txBody>
      </p:sp>
      <p:pic>
        <p:nvPicPr>
          <p:cNvPr id="9" name="Image 3" descr="/home/claude/ppt/assets/out2/icon-inst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74320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5448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Instagram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3794760" y="2697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branding, Stories/Reels, influencer partnerships</a:t>
            </a:r>
            <a:endParaRPr lang="en-US" sz="1300" dirty="0"/>
          </a:p>
        </p:txBody>
      </p:sp>
      <p:pic>
        <p:nvPicPr>
          <p:cNvPr id="12" name="Image 4" descr="/home/claude/ppt/assets/out2/icon-linked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566160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5448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3794760" y="3520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networking, thought leadership, recruitment</a:t>
            </a:r>
            <a:endParaRPr lang="en-US" sz="1300" dirty="0"/>
          </a:p>
        </p:txBody>
      </p:sp>
      <p:pic>
        <p:nvPicPr>
          <p:cNvPr id="15" name="Image 5" descr="/home/claude/ppt/assets/out2/icon-twit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389120"/>
            <a:ext cx="384048" cy="38404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54480" y="4343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 (Twitter)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3794760" y="4343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announcements, customer support, PR</a:t>
            </a:r>
            <a:endParaRPr lang="en-US" sz="1300" dirty="0"/>
          </a:p>
        </p:txBody>
      </p:sp>
      <p:pic>
        <p:nvPicPr>
          <p:cNvPr id="18" name="Image 6" descr="/home/claude/ppt/assets/out2/icon-youtu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5212080"/>
            <a:ext cx="384048" cy="38404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554480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YouTube</a:t>
            </a:r>
            <a:endParaRPr lang="en-US" sz="1400" dirty="0"/>
          </a:p>
        </p:txBody>
      </p:sp>
      <p:sp>
        <p:nvSpPr>
          <p:cNvPr id="20" name="Text 11"/>
          <p:cNvSpPr/>
          <p:nvPr/>
        </p:nvSpPr>
        <p:spPr>
          <a:xfrm>
            <a:off x="3794760" y="5166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Tutorials, product demos, long-form storytelling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COMMUNICATION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Businesses Communicate on Social Media</a:t>
            </a:r>
            <a:endParaRPr lang="en-US" sz="3000" dirty="0"/>
          </a:p>
        </p:txBody>
      </p:sp>
      <p:pic>
        <p:nvPicPr>
          <p:cNvPr id="5" name="Image 1" descr="/home/claude/ppt/assets/out2/card-third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3474720" cy="4480560"/>
          </a:xfrm>
          <a:prstGeom prst="rect">
            <a:avLst/>
          </a:prstGeom>
        </p:spPr>
      </p:pic>
      <p:pic>
        <p:nvPicPr>
          <p:cNvPr id="6" name="Image 2" descr="/home/claude/ppt/assets/out2/card-third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554480"/>
            <a:ext cx="3474720" cy="4480560"/>
          </a:xfrm>
          <a:prstGeom prst="rect">
            <a:avLst/>
          </a:prstGeom>
        </p:spPr>
      </p:pic>
      <p:pic>
        <p:nvPicPr>
          <p:cNvPr id="7" name="Image 3" descr="/home/claude/ppt/assets/out2/card-third-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1554480"/>
            <a:ext cx="3474720" cy="4480560"/>
          </a:xfrm>
          <a:prstGeom prst="rect">
            <a:avLst/>
          </a:prstGeom>
        </p:spPr>
      </p:pic>
      <p:pic>
        <p:nvPicPr>
          <p:cNvPr id="8" name="Image 4" descr="/home/claude/ppt/assets/out2/icon-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1828800"/>
            <a:ext cx="640080" cy="6400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Wider Reach</a:t>
            </a:r>
            <a:endParaRPr lang="en-US" sz="1550" dirty="0"/>
          </a:p>
        </p:txBody>
      </p:sp>
      <p:sp>
        <p:nvSpPr>
          <p:cNvPr id="10" name="Text 3"/>
          <p:cNvSpPr/>
          <p:nvPr/>
        </p:nvSpPr>
        <p:spPr>
          <a:xfrm>
            <a:off x="96012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global audiences instantly at a fraction of traditional advertising cost.</a:t>
            </a:r>
            <a:endParaRPr lang="en-US" sz="1200" dirty="0"/>
          </a:p>
        </p:txBody>
      </p:sp>
      <p:pic>
        <p:nvPicPr>
          <p:cNvPr id="11" name="Image 5" descr="/home/claude/ppt/assets/out2/icon-com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828800"/>
            <a:ext cx="640080" cy="6400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720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Two-Way Dialogue</a:t>
            </a:r>
            <a:endParaRPr lang="en-US" sz="1550" dirty="0"/>
          </a:p>
        </p:txBody>
      </p:sp>
      <p:sp>
        <p:nvSpPr>
          <p:cNvPr id="13" name="Text 5"/>
          <p:cNvSpPr/>
          <p:nvPr/>
        </p:nvSpPr>
        <p:spPr>
          <a:xfrm>
            <a:off x="466344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respond, ask questions, and give feedback directly and publicly.</a:t>
            </a:r>
            <a:endParaRPr lang="en-US" sz="1200" dirty="0"/>
          </a:p>
        </p:txBody>
      </p:sp>
      <p:pic>
        <p:nvPicPr>
          <p:cNvPr id="14" name="Image 6" descr="/home/claude/ppt/assets/out2/icon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1828800"/>
            <a:ext cx="640080" cy="64008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2753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Measurable Results</a:t>
            </a:r>
            <a:endParaRPr lang="en-US" sz="1550" dirty="0"/>
          </a:p>
        </p:txBody>
      </p:sp>
      <p:sp>
        <p:nvSpPr>
          <p:cNvPr id="16" name="Text 7"/>
          <p:cNvSpPr/>
          <p:nvPr/>
        </p:nvSpPr>
        <p:spPr>
          <a:xfrm>
            <a:off x="836676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reach, and conversions are tracked with built-in analytics.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COMMUNICATION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Building a Communication Strategy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60120" y="1965960"/>
            <a:ext cx="502920" cy="502920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7" name="Text 3"/>
          <p:cNvSpPr/>
          <p:nvPr/>
        </p:nvSpPr>
        <p:spPr>
          <a:xfrm>
            <a:off x="9601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E4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69164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88620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goals, define audience, build a content calendar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960120" y="2926080"/>
            <a:ext cx="502920" cy="502920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11" name="Text 7"/>
          <p:cNvSpPr/>
          <p:nvPr/>
        </p:nvSpPr>
        <p:spPr>
          <a:xfrm>
            <a:off x="9601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E4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2880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86200" y="2880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on-brand content matched to each platform's format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60120" y="3886200"/>
            <a:ext cx="502920" cy="502920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E4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691640" y="3840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Engage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886200" y="3840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comments &amp; messages with a consistent tone of voice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960120" y="4846320"/>
            <a:ext cx="502920" cy="502920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19" name="Text 15"/>
          <p:cNvSpPr/>
          <p:nvPr/>
        </p:nvSpPr>
        <p:spPr>
          <a:xfrm>
            <a:off x="9601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E4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691640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886200" y="4800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sentiment and mentions; prepare for crisis communication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pt/assets/out2/card-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777240"/>
            <a:ext cx="10149840" cy="5303520"/>
          </a:xfrm>
          <a:prstGeom prst="rect">
            <a:avLst/>
          </a:prstGeom>
        </p:spPr>
      </p:pic>
      <p:pic>
        <p:nvPicPr>
          <p:cNvPr id="4" name="Image 2" descr="/home/claude/ppt/assets/out2/deco-book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"/>
            <a:ext cx="822960" cy="822960"/>
          </a:xfrm>
          <a:prstGeom prst="rect">
            <a:avLst/>
          </a:prstGeom>
        </p:spPr>
      </p:pic>
      <p:pic>
        <p:nvPicPr>
          <p:cNvPr id="5" name="Image 3" descr="/home/claude/ppt/assets/out2/deco-inkswir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580644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155448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THREE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1463040" y="201168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CRM &amp; Marketing</a:t>
            </a:r>
            <a:endParaRPr lang="en-US" sz="3400" dirty="0"/>
          </a:p>
        </p:txBody>
      </p:sp>
      <p:pic>
        <p:nvPicPr>
          <p:cNvPr id="8" name="Image 4" descr="/home/claude/ppt/assets/out2/deco-qui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556" y="3429000"/>
            <a:ext cx="1005840" cy="1005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201168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social conversations into lasting customer relationships.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1463040" y="53949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Sadikshya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 RELATIONSHIPS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Social CRM?</a:t>
            </a:r>
            <a:endParaRPr lang="en-US" sz="3000" dirty="0"/>
          </a:p>
        </p:txBody>
      </p:sp>
      <p:pic>
        <p:nvPicPr>
          <p:cNvPr id="5" name="Image 1" descr="/home/claude/ppt/assets/out2/card-half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5212080" cy="4892040"/>
          </a:xfrm>
          <a:prstGeom prst="rect">
            <a:avLst/>
          </a:prstGeom>
        </p:spPr>
      </p:pic>
      <p:pic>
        <p:nvPicPr>
          <p:cNvPr id="6" name="Image 2" descr="/home/claude/ppt/assets/out2/card-half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554480"/>
            <a:ext cx="5394960" cy="4892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960120" y="21945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CRM (Customer Relationship Management) extends traditional CRM by integrating social media data — using platforms to listen, engage, and build stronger, more personal relationships with customers.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3550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Traditional CRM vs. Social CRM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3550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CRM: 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355080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Company-controlled, one-way data collection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355080" y="3200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CRM: 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355080" y="34930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Customer-driven, two-way public conversation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35508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tools: Hootsuite, Sprout Social, Salesforce Service Cloud, HubSpot.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 RELATIONSHIPS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Social CRM Cycle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60120" y="1965960"/>
            <a:ext cx="502920" cy="502920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7" name="Text 3"/>
          <p:cNvSpPr/>
          <p:nvPr/>
        </p:nvSpPr>
        <p:spPr>
          <a:xfrm>
            <a:off x="9601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E4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69164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Listen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88620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brand mentions, hashtags, comments &amp; reviews across platforms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960120" y="2926080"/>
            <a:ext cx="502920" cy="502920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11" name="Text 7"/>
          <p:cNvSpPr/>
          <p:nvPr/>
        </p:nvSpPr>
        <p:spPr>
          <a:xfrm>
            <a:off x="9601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E4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2880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Engage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86200" y="2880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promptly and personally; join relevant conversations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60120" y="3886200"/>
            <a:ext cx="502920" cy="502920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E4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691640" y="3840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Analyze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886200" y="3840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sentiment, reach, and campaign performance with analytics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960120" y="4846320"/>
            <a:ext cx="502920" cy="502920"/>
          </a:xfrm>
          <a:prstGeom prst="ellipse">
            <a:avLst/>
          </a:prstGeom>
          <a:solidFill>
            <a:srgbClr val="8A5A2B"/>
          </a:solidFill>
          <a:ln/>
        </p:spPr>
      </p:sp>
      <p:sp>
        <p:nvSpPr>
          <p:cNvPr id="19" name="Text 15"/>
          <p:cNvSpPr/>
          <p:nvPr/>
        </p:nvSpPr>
        <p:spPr>
          <a:xfrm>
            <a:off x="9601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E4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691640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Grow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886200" y="4800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engaged followers into loyal, repeat customers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 RELATIONSHIPS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Media Marketing Strategies</a:t>
            </a:r>
            <a:endParaRPr lang="en-US" sz="3000" dirty="0"/>
          </a:p>
        </p:txBody>
      </p:sp>
      <p:pic>
        <p:nvPicPr>
          <p:cNvPr id="5" name="Image 1" descr="/home/claude/ppt/assets/out2/card-third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3474720" cy="4480560"/>
          </a:xfrm>
          <a:prstGeom prst="rect">
            <a:avLst/>
          </a:prstGeom>
        </p:spPr>
      </p:pic>
      <p:pic>
        <p:nvPicPr>
          <p:cNvPr id="6" name="Image 2" descr="/home/claude/ppt/assets/out2/card-third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554480"/>
            <a:ext cx="3474720" cy="4480560"/>
          </a:xfrm>
          <a:prstGeom prst="rect">
            <a:avLst/>
          </a:prstGeom>
        </p:spPr>
      </p:pic>
      <p:pic>
        <p:nvPicPr>
          <p:cNvPr id="7" name="Image 3" descr="/home/claude/ppt/assets/out2/card-third-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1554480"/>
            <a:ext cx="3474720" cy="4480560"/>
          </a:xfrm>
          <a:prstGeom prst="rect">
            <a:avLst/>
          </a:prstGeom>
        </p:spPr>
      </p:pic>
      <p:pic>
        <p:nvPicPr>
          <p:cNvPr id="8" name="Image 4" descr="/home/claude/ppt/assets/out2/icon-bullho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1828800"/>
            <a:ext cx="640080" cy="6400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Influencer Marketing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96012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creators to reach their trusted, engaged audiences.</a:t>
            </a:r>
            <a:endParaRPr lang="en-US" sz="1200" dirty="0"/>
          </a:p>
        </p:txBody>
      </p:sp>
      <p:pic>
        <p:nvPicPr>
          <p:cNvPr id="11" name="Image 5" descr="/home/claude/ppt/assets/out2/icon-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828800"/>
            <a:ext cx="640080" cy="6400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720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Targeted Advertising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466344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demographic &amp; behavioral data to reach the right audience segment.</a:t>
            </a:r>
            <a:endParaRPr lang="en-US" sz="1200" dirty="0"/>
          </a:p>
        </p:txBody>
      </p:sp>
      <p:pic>
        <p:nvPicPr>
          <p:cNvPr id="14" name="Image 6" descr="/home/claude/ppt/assets/out2/icon-thumbs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1828800"/>
            <a:ext cx="640080" cy="64008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2753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Content Marketing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836676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Valuable, shareable content that builds trust ahead of a direct sale.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pt/assets/out2/card-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777240"/>
            <a:ext cx="10149840" cy="5303520"/>
          </a:xfrm>
          <a:prstGeom prst="rect">
            <a:avLst/>
          </a:prstGeom>
        </p:spPr>
      </p:pic>
      <p:pic>
        <p:nvPicPr>
          <p:cNvPr id="4" name="Image 2" descr="/home/claude/ppt/assets/out2/deco-book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"/>
            <a:ext cx="822960" cy="822960"/>
          </a:xfrm>
          <a:prstGeom prst="rect">
            <a:avLst/>
          </a:prstGeom>
        </p:spPr>
      </p:pic>
      <p:pic>
        <p:nvPicPr>
          <p:cNvPr id="5" name="Image 3" descr="/home/claude/ppt/assets/out2/deco-inkswir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580644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155448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FOUR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1463040" y="201168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 on Organizations</a:t>
            </a:r>
            <a:endParaRPr lang="en-US" sz="3400" dirty="0"/>
          </a:p>
        </p:txBody>
      </p:sp>
      <p:pic>
        <p:nvPicPr>
          <p:cNvPr id="8" name="Image 4" descr="/home/claude/ppt/assets/out2/deco-hourgl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556" y="3429000"/>
            <a:ext cx="1005840" cy="1005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201168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organizational upside — and the risks that come with being always-on.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1463040" y="53949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Sadikshya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ORGANIZATIONAL IMPACT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Opportunities for Organizations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pic>
        <p:nvPicPr>
          <p:cNvPr id="6" name="Image 2" descr="/home/claude/ppt/assets/out2/icon-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65960"/>
            <a:ext cx="384048" cy="3840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544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Brand Building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023360" y="19202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presence increases visibility and recognition worldwide</a:t>
            </a:r>
            <a:endParaRPr lang="en-US" sz="1300" dirty="0"/>
          </a:p>
        </p:txBody>
      </p:sp>
      <p:pic>
        <p:nvPicPr>
          <p:cNvPr id="9" name="Image 3" descr="/home/claude/ppt/assets/out2/icon-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92608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5448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Recruitment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023360" y="28803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similar platforms widen access to talent</a:t>
            </a:r>
            <a:endParaRPr lang="en-US" sz="1300" dirty="0"/>
          </a:p>
        </p:txBody>
      </p:sp>
      <p:pic>
        <p:nvPicPr>
          <p:cNvPr id="12" name="Image 4" descr="/home/claude/ppt/assets/out2/icon-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886200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5448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Insight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023360" y="3840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feedback and conversation reveal real customer needs</a:t>
            </a:r>
            <a:endParaRPr lang="en-US" sz="1300" dirty="0"/>
          </a:p>
        </p:txBody>
      </p:sp>
      <p:pic>
        <p:nvPicPr>
          <p:cNvPr id="15" name="Image 5" descr="/home/claude/ppt/assets/out2/icon-syn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846320"/>
            <a:ext cx="384048" cy="38404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54480" y="4800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4023360" y="48006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Crowdsourcing ideas and feedback speeds up product development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ORGANIZATIONAL IMPACT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Organizations Face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pic>
        <p:nvPicPr>
          <p:cNvPr id="6" name="Image 2" descr="/home/claude/ppt/assets/out2/icon-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65960"/>
            <a:ext cx="384048" cy="3840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5448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Reputational Risk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389120" y="1920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viral complaint can damage brand image within hours</a:t>
            </a:r>
            <a:endParaRPr lang="en-US" sz="1300" dirty="0"/>
          </a:p>
        </p:txBody>
      </p:sp>
      <p:pic>
        <p:nvPicPr>
          <p:cNvPr id="9" name="Image 3" descr="/home/claude/ppt/assets/out2/icon-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92608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5448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Constant Response Pressure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389120" y="2880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expect near-instant replies, straining support teams</a:t>
            </a:r>
            <a:endParaRPr lang="en-US" sz="1300" dirty="0"/>
          </a:p>
        </p:txBody>
      </p:sp>
      <p:pic>
        <p:nvPicPr>
          <p:cNvPr id="12" name="Image 4" descr="/home/claude/ppt/assets/out2/icon-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886200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5448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Message Consistency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38912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voices posting can dilute or contradict brand messaging</a:t>
            </a:r>
            <a:endParaRPr lang="en-US" sz="1300" dirty="0"/>
          </a:p>
        </p:txBody>
      </p:sp>
      <p:pic>
        <p:nvPicPr>
          <p:cNvPr id="15" name="Image 5" descr="/home/claude/ppt/assets/out2/icon-user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846320"/>
            <a:ext cx="384048" cy="38404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5448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Employee Productivity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4389120" y="4800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Unregulated use during work hours can reduce output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ORGANIZATIONAL IMPACT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Managing Social Media Responsibly</a:t>
            </a:r>
            <a:endParaRPr lang="en-US" sz="3000" dirty="0"/>
          </a:p>
        </p:txBody>
      </p:sp>
      <p:pic>
        <p:nvPicPr>
          <p:cNvPr id="5" name="Image 1" descr="/home/claude/ppt/assets/out2/card-third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3474720" cy="4480560"/>
          </a:xfrm>
          <a:prstGeom prst="rect">
            <a:avLst/>
          </a:prstGeom>
        </p:spPr>
      </p:pic>
      <p:pic>
        <p:nvPicPr>
          <p:cNvPr id="6" name="Image 2" descr="/home/claude/ppt/assets/out2/card-third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554480"/>
            <a:ext cx="3474720" cy="4480560"/>
          </a:xfrm>
          <a:prstGeom prst="rect">
            <a:avLst/>
          </a:prstGeom>
        </p:spPr>
      </p:pic>
      <p:pic>
        <p:nvPicPr>
          <p:cNvPr id="7" name="Image 3" descr="/home/claude/ppt/assets/out2/card-third-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1554480"/>
            <a:ext cx="3474720" cy="4480560"/>
          </a:xfrm>
          <a:prstGeom prst="rect">
            <a:avLst/>
          </a:prstGeom>
        </p:spPr>
      </p:pic>
      <p:pic>
        <p:nvPicPr>
          <p:cNvPr id="8" name="Image 4" descr="/home/claude/ppt/assets/out2/icon-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1828800"/>
            <a:ext cx="640080" cy="6400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Media Policy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96012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guidelines on tone, response time, and escalation for staff.</a:t>
            </a:r>
            <a:endParaRPr lang="en-US" sz="1200" dirty="0"/>
          </a:p>
        </p:txBody>
      </p:sp>
      <p:pic>
        <p:nvPicPr>
          <p:cNvPr id="11" name="Image 5" descr="/home/claude/ppt/assets/out2/icon-user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828800"/>
            <a:ext cx="640080" cy="6400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720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Staff Training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466344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learn brand voice and how to handle sensitive comments.</a:t>
            </a:r>
            <a:endParaRPr lang="en-US" sz="1200" dirty="0"/>
          </a:p>
        </p:txBody>
      </p:sp>
      <p:pic>
        <p:nvPicPr>
          <p:cNvPr id="14" name="Image 6" descr="/home/claude/ppt/assets/out2/icon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1828800"/>
            <a:ext cx="640080" cy="64008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2753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 Tools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836676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track mentions and flag issues before they escalate.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pt/assets/out2/card-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777240"/>
            <a:ext cx="10149840" cy="5303520"/>
          </a:xfrm>
          <a:prstGeom prst="rect">
            <a:avLst/>
          </a:prstGeom>
        </p:spPr>
      </p:pic>
      <p:pic>
        <p:nvPicPr>
          <p:cNvPr id="4" name="Image 2" descr="/home/claude/ppt/assets/out2/deco-book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"/>
            <a:ext cx="822960" cy="822960"/>
          </a:xfrm>
          <a:prstGeom prst="rect">
            <a:avLst/>
          </a:prstGeom>
        </p:spPr>
      </p:pic>
      <p:pic>
        <p:nvPicPr>
          <p:cNvPr id="5" name="Image 3" descr="/home/claude/ppt/assets/out2/deco-inkswir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580644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155448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FIVE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1463040" y="201168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Privacy, Security &amp; Ethical Issues</a:t>
            </a:r>
            <a:endParaRPr lang="en-US" sz="3400" dirty="0"/>
          </a:p>
        </p:txBody>
      </p:sp>
      <p:pic>
        <p:nvPicPr>
          <p:cNvPr id="8" name="Image 4" descr="/home/claude/ppt/assets/out2/deco-magnif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556" y="3429000"/>
            <a:ext cx="1005840" cy="1005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201168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risks and responsibilities that come with a connected world.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1463040" y="53949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Ankita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RISK &amp; RESPONSIBILITY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Privacy Concerns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pic>
        <p:nvPicPr>
          <p:cNvPr id="6" name="Image 2" descr="/home/claude/ppt/assets/out2/icon-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65960"/>
            <a:ext cx="384048" cy="3840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5448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389120" y="1920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gather location, behavior &amp; personal data, often beyond what users realize</a:t>
            </a:r>
            <a:endParaRPr lang="en-US" sz="1250" dirty="0"/>
          </a:p>
        </p:txBody>
      </p:sp>
      <p:pic>
        <p:nvPicPr>
          <p:cNvPr id="9" name="Image 3" descr="/home/claude/ppt/assets/out2/icon-usersecr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92608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5448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Third-Party Sharing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389120" y="2880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may be sold or shared with advertisers and analytics partners</a:t>
            </a:r>
            <a:endParaRPr lang="en-US" sz="1250" dirty="0"/>
          </a:p>
        </p:txBody>
      </p:sp>
      <p:pic>
        <p:nvPicPr>
          <p:cNvPr id="12" name="Image 4" descr="/home/claude/ppt/assets/out2/icon-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886200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5448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Surveillance &amp; Profiling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389120" y="3840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 is used to build detailed behavioral profiles for targeting</a:t>
            </a:r>
            <a:endParaRPr lang="en-US" sz="1250" dirty="0"/>
          </a:p>
        </p:txBody>
      </p:sp>
      <p:pic>
        <p:nvPicPr>
          <p:cNvPr id="15" name="Image 5" descr="/home/claude/ppt/assets/out2/icon-bal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846320"/>
            <a:ext cx="384048" cy="38404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54480" y="4800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Regulation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4389120" y="4800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like GDPR (EU) set rules for consent, data access &amp; the 'right to be forgotten'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RISK &amp; RESPONSIBILITY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Common Security Threats</a:t>
            </a:r>
            <a:endParaRPr lang="en-US" sz="3000" dirty="0"/>
          </a:p>
        </p:txBody>
      </p:sp>
      <p:pic>
        <p:nvPicPr>
          <p:cNvPr id="5" name="Image 1" descr="/home/claude/ppt/assets/out2/card-third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3474720" cy="4480560"/>
          </a:xfrm>
          <a:prstGeom prst="rect">
            <a:avLst/>
          </a:prstGeom>
        </p:spPr>
      </p:pic>
      <p:pic>
        <p:nvPicPr>
          <p:cNvPr id="6" name="Image 2" descr="/home/claude/ppt/assets/out2/card-third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554480"/>
            <a:ext cx="3474720" cy="4480560"/>
          </a:xfrm>
          <a:prstGeom prst="rect">
            <a:avLst/>
          </a:prstGeom>
        </p:spPr>
      </p:pic>
      <p:pic>
        <p:nvPicPr>
          <p:cNvPr id="7" name="Image 3" descr="/home/claude/ppt/assets/out2/card-third-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1554480"/>
            <a:ext cx="3474720" cy="4480560"/>
          </a:xfrm>
          <a:prstGeom prst="rect">
            <a:avLst/>
          </a:prstGeom>
        </p:spPr>
      </p:pic>
      <p:pic>
        <p:nvPicPr>
          <p:cNvPr id="8" name="Image 4" descr="/home/claude/ppt/assets/out2/icon-b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1828800"/>
            <a:ext cx="640080" cy="64008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Phishing &amp; Malware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96012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links and messages trick users into revealing credentials.</a:t>
            </a:r>
            <a:endParaRPr lang="en-US" sz="1200" dirty="0"/>
          </a:p>
        </p:txBody>
      </p:sp>
      <p:pic>
        <p:nvPicPr>
          <p:cNvPr id="11" name="Image 5" descr="/home/claude/ppt/assets/out2/icon-usersecr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828800"/>
            <a:ext cx="640080" cy="6400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720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Fake Accounts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466344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and bots spread scams and misinformation.</a:t>
            </a:r>
            <a:endParaRPr lang="en-US" sz="1200" dirty="0"/>
          </a:p>
        </p:txBody>
      </p:sp>
      <p:pic>
        <p:nvPicPr>
          <p:cNvPr id="14" name="Image 6" descr="/home/claude/ppt/assets/out2/icon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0" y="1828800"/>
            <a:ext cx="640080" cy="64008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2753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Account Takeover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8366760" y="315468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&amp; data breaches let attackers hijack accounts.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RISK &amp; RESPONSIBILITY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Ethical Questions Raised by Social Platforms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pic>
        <p:nvPicPr>
          <p:cNvPr id="6" name="Image 2" descr="/home/claude/ppt/assets/out2/icon-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65960"/>
            <a:ext cx="384048" cy="3840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5448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Misinformation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663440" y="1920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content can spread faster than corrections, shaping public opinion</a:t>
            </a:r>
            <a:endParaRPr lang="en-US" sz="1250" dirty="0"/>
          </a:p>
        </p:txBody>
      </p:sp>
      <p:pic>
        <p:nvPicPr>
          <p:cNvPr id="9" name="Image 3" descr="/home/claude/ppt/assets/out2/icon-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926080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5448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Algorithmic Bias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663440" y="2880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can reinforce stereotypes or filter bubbles</a:t>
            </a:r>
            <a:endParaRPr lang="en-US" sz="1250" dirty="0"/>
          </a:p>
        </p:txBody>
      </p:sp>
      <p:pic>
        <p:nvPicPr>
          <p:cNvPr id="12" name="Image 4" descr="/home/claude/ppt/assets/out2/icon-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886200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5448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for Addiction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663440" y="3840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scroll &amp; notifications are engineered to maximize screen time</a:t>
            </a:r>
            <a:endParaRPr lang="en-US" sz="1250" dirty="0"/>
          </a:p>
        </p:txBody>
      </p:sp>
      <p:pic>
        <p:nvPicPr>
          <p:cNvPr id="15" name="Image 5" descr="/home/claude/ppt/assets/out2/icon-user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846320"/>
            <a:ext cx="384048" cy="38404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554480" y="4800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Cyberbullying &amp; Harassment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4663440" y="48006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and reach can enable abuse with real psychological harm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pt/assets/out2/card-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777240"/>
            <a:ext cx="10149840" cy="5303520"/>
          </a:xfrm>
          <a:prstGeom prst="rect">
            <a:avLst/>
          </a:prstGeom>
        </p:spPr>
      </p:pic>
      <p:pic>
        <p:nvPicPr>
          <p:cNvPr id="4" name="Image 2" descr="/home/claude/ppt/assets/out2/deco-book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"/>
            <a:ext cx="822960" cy="822960"/>
          </a:xfrm>
          <a:prstGeom prst="rect">
            <a:avLst/>
          </a:prstGeom>
        </p:spPr>
      </p:pic>
      <p:pic>
        <p:nvPicPr>
          <p:cNvPr id="5" name="Image 3" descr="/home/claude/ppt/assets/out2/deco-inkswir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580644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63040" y="155448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SIX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1463040" y="201168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Examples of Social Networking Platforms</a:t>
            </a:r>
            <a:endParaRPr lang="en-US" sz="3400" dirty="0"/>
          </a:p>
        </p:txBody>
      </p:sp>
      <p:pic>
        <p:nvPicPr>
          <p:cNvPr id="8" name="Image 4" descr="/home/claude/ppt/assets/out2/deco-feath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1556" y="3429000"/>
            <a:ext cx="1005840" cy="1005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2011680" y="4572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major platforms and how businesses use each.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1463040" y="53949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Ankita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 PRACTICE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Major Platforms at a Glance</a:t>
            </a:r>
            <a:endParaRPr lang="en-US" sz="3000" dirty="0"/>
          </a:p>
        </p:txBody>
      </p:sp>
      <p:pic>
        <p:nvPicPr>
          <p:cNvPr id="5" name="Image 1" descr="/home/claude/ppt/assets/out2/card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200"/>
            <a:ext cx="10881360" cy="1417320"/>
          </a:xfrm>
          <a:prstGeom prst="rect">
            <a:avLst/>
          </a:prstGeom>
        </p:spPr>
      </p:pic>
      <p:pic>
        <p:nvPicPr>
          <p:cNvPr id="6" name="Image 2" descr="/home/claude/ppt/assets/out2/card-strip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10881360" cy="1417320"/>
          </a:xfrm>
          <a:prstGeom prst="rect">
            <a:avLst/>
          </a:prstGeom>
        </p:spPr>
      </p:pic>
      <p:pic>
        <p:nvPicPr>
          <p:cNvPr id="7" name="Image 3" descr="/home/claude/ppt/assets/out2/card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09160"/>
            <a:ext cx="10881360" cy="1417320"/>
          </a:xfrm>
          <a:prstGeom prst="rect">
            <a:avLst/>
          </a:prstGeom>
        </p:spPr>
      </p:pic>
      <p:pic>
        <p:nvPicPr>
          <p:cNvPr id="8" name="Image 4" descr="/home/claude/ppt/assets/out2/icon-face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1920240"/>
            <a:ext cx="685800" cy="6858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96596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Facebook</a:t>
            </a:r>
            <a:endParaRPr lang="en-US" sz="1700" dirty="0"/>
          </a:p>
        </p:txBody>
      </p:sp>
      <p:sp>
        <p:nvSpPr>
          <p:cNvPr id="10" name="Text 3"/>
          <p:cNvSpPr/>
          <p:nvPr/>
        </p:nvSpPr>
        <p:spPr>
          <a:xfrm>
            <a:off x="4251960" y="17830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groups, marketplace &amp; business pages</a:t>
            </a:r>
            <a:endParaRPr lang="en-US" sz="1350" dirty="0"/>
          </a:p>
        </p:txBody>
      </p:sp>
      <p:pic>
        <p:nvPicPr>
          <p:cNvPr id="11" name="Image 5" descr="/home/claude/ppt/assets/out2/icon-inst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474720"/>
            <a:ext cx="685800" cy="68580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965960" y="3337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Instagram</a:t>
            </a:r>
            <a:endParaRPr lang="en-US" sz="1700" dirty="0"/>
          </a:p>
        </p:txBody>
      </p:sp>
      <p:sp>
        <p:nvSpPr>
          <p:cNvPr id="13" name="Text 5"/>
          <p:cNvSpPr/>
          <p:nvPr/>
        </p:nvSpPr>
        <p:spPr>
          <a:xfrm>
            <a:off x="4251960" y="33375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storytelling, Reels &amp; influencer marketing</a:t>
            </a:r>
            <a:endParaRPr lang="en-US" sz="1350" dirty="0"/>
          </a:p>
        </p:txBody>
      </p:sp>
      <p:pic>
        <p:nvPicPr>
          <p:cNvPr id="14" name="Image 6" descr="/home/claude/ppt/assets/out2/icon-linked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029200"/>
            <a:ext cx="685800" cy="6858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965960" y="4892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LinkedIn</a:t>
            </a:r>
            <a:endParaRPr lang="en-US" sz="1700" dirty="0"/>
          </a:p>
        </p:txBody>
      </p:sp>
      <p:sp>
        <p:nvSpPr>
          <p:cNvPr id="16" name="Text 7"/>
          <p:cNvSpPr/>
          <p:nvPr/>
        </p:nvSpPr>
        <p:spPr>
          <a:xfrm>
            <a:off x="4251960" y="48920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networking, hiring &amp; B2B marketing</a:t>
            </a:r>
            <a:endParaRPr lang="en-US" sz="1350" dirty="0"/>
          </a:p>
        </p:txBody>
      </p:sp>
      <p:sp>
        <p:nvSpPr>
          <p:cNvPr id="17" name="Text 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 PRACTICE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More Platforms &amp; Their Business Use</a:t>
            </a:r>
            <a:endParaRPr lang="en-US" sz="3000" dirty="0"/>
          </a:p>
        </p:txBody>
      </p:sp>
      <p:pic>
        <p:nvPicPr>
          <p:cNvPr id="5" name="Image 1" descr="/home/claude/ppt/assets/out2/card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200"/>
            <a:ext cx="10881360" cy="1417320"/>
          </a:xfrm>
          <a:prstGeom prst="rect">
            <a:avLst/>
          </a:prstGeom>
        </p:spPr>
      </p:pic>
      <p:pic>
        <p:nvPicPr>
          <p:cNvPr id="6" name="Image 2" descr="/home/claude/ppt/assets/out2/card-strip-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10881360" cy="1417320"/>
          </a:xfrm>
          <a:prstGeom prst="rect">
            <a:avLst/>
          </a:prstGeom>
        </p:spPr>
      </p:pic>
      <p:pic>
        <p:nvPicPr>
          <p:cNvPr id="7" name="Image 3" descr="/home/claude/ppt/assets/out2/card-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09160"/>
            <a:ext cx="10881360" cy="1417320"/>
          </a:xfrm>
          <a:prstGeom prst="rect">
            <a:avLst/>
          </a:prstGeom>
        </p:spPr>
      </p:pic>
      <p:pic>
        <p:nvPicPr>
          <p:cNvPr id="8" name="Image 4" descr="/home/claude/ppt/assets/out2/icon-twit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1920240"/>
            <a:ext cx="685800" cy="6858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96596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 (Twitter)</a:t>
            </a:r>
            <a:endParaRPr lang="en-US" sz="1700" dirty="0"/>
          </a:p>
        </p:txBody>
      </p:sp>
      <p:sp>
        <p:nvSpPr>
          <p:cNvPr id="10" name="Text 3"/>
          <p:cNvSpPr/>
          <p:nvPr/>
        </p:nvSpPr>
        <p:spPr>
          <a:xfrm>
            <a:off x="4251960" y="17830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updates, customer service &amp; PR conversations</a:t>
            </a:r>
            <a:endParaRPr lang="en-US" sz="1350" dirty="0"/>
          </a:p>
        </p:txBody>
      </p:sp>
      <p:pic>
        <p:nvPicPr>
          <p:cNvPr id="11" name="Image 5" descr="/home/claude/ppt/assets/out2/icon-yout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474720"/>
            <a:ext cx="685800" cy="68580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965960" y="3337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YouTube</a:t>
            </a:r>
            <a:endParaRPr lang="en-US" sz="1700" dirty="0"/>
          </a:p>
        </p:txBody>
      </p:sp>
      <p:sp>
        <p:nvSpPr>
          <p:cNvPr id="13" name="Text 5"/>
          <p:cNvSpPr/>
          <p:nvPr/>
        </p:nvSpPr>
        <p:spPr>
          <a:xfrm>
            <a:off x="4251960" y="33375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Tutorials, product demos &amp; long-form video content</a:t>
            </a:r>
            <a:endParaRPr lang="en-US" sz="1350" dirty="0"/>
          </a:p>
        </p:txBody>
      </p:sp>
      <p:pic>
        <p:nvPicPr>
          <p:cNvPr id="14" name="Image 6" descr="/home/claude/ppt/assets/out2/icon-tikt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029200"/>
            <a:ext cx="685800" cy="6858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965960" y="4892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TikTok</a:t>
            </a:r>
            <a:endParaRPr lang="en-US" sz="1700" dirty="0"/>
          </a:p>
        </p:txBody>
      </p:sp>
      <p:sp>
        <p:nvSpPr>
          <p:cNvPr id="16" name="Text 7"/>
          <p:cNvSpPr/>
          <p:nvPr/>
        </p:nvSpPr>
        <p:spPr>
          <a:xfrm>
            <a:off x="4251960" y="48920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video, trends &amp; Gen-Z audience engagement</a:t>
            </a:r>
            <a:endParaRPr lang="en-US" sz="1350" dirty="0"/>
          </a:p>
        </p:txBody>
      </p:sp>
      <p:sp>
        <p:nvSpPr>
          <p:cNvPr id="17" name="Text 8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8580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000" dirty="0"/>
          </a:p>
        </p:txBody>
      </p:sp>
      <p:pic>
        <p:nvPicPr>
          <p:cNvPr id="5" name="Image 1" descr="/home/claude/ppt/assets/out2/card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10881360" cy="4892040"/>
          </a:xfrm>
          <a:prstGeom prst="rect">
            <a:avLst/>
          </a:prstGeom>
        </p:spPr>
      </p:pic>
      <p:pic>
        <p:nvPicPr>
          <p:cNvPr id="6" name="Image 2" descr="/home/claude/ppt/assets/out2/icon-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75104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54480" y="1920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 have become core infrastructure for how people and organizations connect.</a:t>
            </a:r>
            <a:endParaRPr lang="en-US" sz="1400" dirty="0"/>
          </a:p>
        </p:txBody>
      </p:sp>
      <p:pic>
        <p:nvPicPr>
          <p:cNvPr id="8" name="Image 3" descr="/home/claude/ppt/assets/out2/icon-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980944"/>
            <a:ext cx="365760" cy="3657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554480" y="29260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CRM turns everyday engagement into measurable, lasting customer relationships.</a:t>
            </a:r>
            <a:endParaRPr lang="en-US" sz="1400" dirty="0"/>
          </a:p>
        </p:txBody>
      </p:sp>
      <p:pic>
        <p:nvPicPr>
          <p:cNvPr id="10" name="Image 4" descr="/home/claude/ppt/assets/out2/icon-bui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986784"/>
            <a:ext cx="365760" cy="3657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554480" y="3931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gain reach and speed, but must actively manage reputational risk.</a:t>
            </a:r>
            <a:endParaRPr lang="en-US" sz="1400" dirty="0"/>
          </a:p>
        </p:txBody>
      </p:sp>
      <p:pic>
        <p:nvPicPr>
          <p:cNvPr id="12" name="Image 5" descr="/home/claude/ppt/assets/out2/icon-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992624"/>
            <a:ext cx="365760" cy="3657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54480" y="49377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security and ethics must guide responsible use of every platform.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1136599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out2/bg-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pt/assets/out2/card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005840"/>
            <a:ext cx="10149840" cy="4846320"/>
          </a:xfrm>
          <a:prstGeom prst="rect">
            <a:avLst/>
          </a:prstGeom>
        </p:spPr>
      </p:pic>
      <p:pic>
        <p:nvPicPr>
          <p:cNvPr id="4" name="Image 2" descr="/home/claude/ppt/assets/out2/deco-bookshel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" y="137160"/>
            <a:ext cx="914400" cy="914400"/>
          </a:xfrm>
          <a:prstGeom prst="rect">
            <a:avLst/>
          </a:prstGeom>
        </p:spPr>
      </p:pic>
      <p:pic>
        <p:nvPicPr>
          <p:cNvPr id="5" name="Image 3" descr="/home/claude/ppt/assets/out2/deco-inkswir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137160"/>
            <a:ext cx="914400" cy="914400"/>
          </a:xfrm>
          <a:prstGeom prst="rect">
            <a:avLst/>
          </a:prstGeom>
        </p:spPr>
      </p:pic>
      <p:pic>
        <p:nvPicPr>
          <p:cNvPr id="6" name="Image 4" descr="/home/claude/ppt/assets/out2/deco-feath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5806440"/>
            <a:ext cx="914400" cy="914400"/>
          </a:xfrm>
          <a:prstGeom prst="rect">
            <a:avLst/>
          </a:prstGeom>
        </p:spPr>
      </p:pic>
      <p:pic>
        <p:nvPicPr>
          <p:cNvPr id="7" name="Image 5" descr="/home/claude/ppt/assets/out2/deco-qui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7392" y="5806440"/>
            <a:ext cx="914400" cy="9144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371600" y="24688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4170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9" name="Text 1"/>
          <p:cNvSpPr/>
          <p:nvPr/>
        </p:nvSpPr>
        <p:spPr>
          <a:xfrm>
            <a:off x="1371600" y="3520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10" name="Text 2"/>
          <p:cNvSpPr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·  Rashmi  ·  Sadikshya  ·  Ankita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1364</Words>
  <Application>Microsoft Office PowerPoint</Application>
  <PresentationFormat>Widescreen</PresentationFormat>
  <Paragraphs>295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Networks and Information Systems</dc:title>
  <dc:subject>PptxGenJS Presentation</dc:subject>
  <dc:creator>Group 3</dc:creator>
  <cp:lastModifiedBy>Dell</cp:lastModifiedBy>
  <cp:revision>2</cp:revision>
  <dcterms:created xsi:type="dcterms:W3CDTF">2026-07-06T11:48:48Z</dcterms:created>
  <dcterms:modified xsi:type="dcterms:W3CDTF">2026-07-06T11:59:53Z</dcterms:modified>
</cp:coreProperties>
</file>