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677442135703-1787eea5ce01" ContentType="image/photo-1677442135703-1787eea5ce01"/>
  <Default Extension="photo-1620712943543-bcc4688e7485" ContentType="image/photo-1620712943543-bcc4688e7485"/>
  <Default Extension="photo-1551288049-bebda4e38f71" ContentType="image/photo-1551288049-bebda4e38f71"/>
  <Default Extension="photo-1460925895917-afdab827c52f" ContentType="image/photo-1460925895917-afdab827c52f"/>
  <Default Extension="photo-1485827404703-89b55fcc595e" ContentType="image/photo-1485827404703-89b55fcc595e"/>
  <Default Extension="photo-1518186285589-2f7649de83e0" ContentType="image/photo-1518186285589-2f7649de83e0"/>
  <Default Extension="photo-1639803718654-a2aae9c06c18" ContentType="image/photo-1639803718654-a2aae9c06c18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hoto-1677442135703-1787eea5ce0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hoto-1620712943543-bcc4688e7485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hoto-1551288049-bebda4e38f71"/><Relationship Id="rId2" Type="http://schemas.openxmlformats.org/officeDocument/2006/relationships/image" Target="../media/image-3-2.photo-1460925895917-afdab827c52f"/><Relationship Id="rId3" Type="http://schemas.openxmlformats.org/officeDocument/2006/relationships/image" Target="../media/image-3-3.photo-1485827404703-89b55fcc595e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18186285589-2f7649de83e0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hoto-1485827404703-89b55fcc595e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hoto-1639803718654-a2aae9c06c18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77442135703-1787eea5ce01?w=1200&amp;q=80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A1628">
              <a:alpha val="9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365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PRESENTATION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Machine Learning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2651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Information Systems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  ·  Shishir  ·  Shuprabha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in IS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AI &amp; Machine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28600" cy="1051560"/>
          </a:xfrm>
          <a:prstGeom prst="roundRect">
            <a:avLst>
              <a:gd name="adj" fmla="val 32000"/>
            </a:avLst>
          </a:prstGeom>
          <a:solidFill>
            <a:srgbClr val="0D948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of human intelligence in machines that are programmed to think, reason, learn, and problem-solve autonomously.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6888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68880"/>
            <a:ext cx="228600" cy="1051560"/>
          </a:xfrm>
          <a:prstGeom prst="roundRect">
            <a:avLst>
              <a:gd name="adj" fmla="val 32000"/>
            </a:avLst>
          </a:prstGeom>
          <a:solidFill>
            <a:srgbClr val="6366F1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60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AI that enables systems to automatically learn and improve from experience without being explicitly programmed.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5029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57600"/>
            <a:ext cx="228600" cy="1051560"/>
          </a:xfrm>
          <a:prstGeom prst="roundRect">
            <a:avLst>
              <a:gd name="adj" fmla="val 32000"/>
            </a:avLst>
          </a:prstGeom>
          <a:solidFill>
            <a:srgbClr val="F59E0B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069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subset using multi-layered neural networks to model complex patterns in data, inspired by the human brain.</a:t>
            </a:r>
            <a:endParaRPr lang="en-US" sz="1050" dirty="0"/>
          </a:p>
        </p:txBody>
      </p:sp>
      <p:pic>
        <p:nvPicPr>
          <p:cNvPr id="18" name="Image 0" descr="https://images.unsplash.com/photo-1620712943543-bcc4688e7485?w=8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0" y="1188720"/>
            <a:ext cx="3200400" cy="36576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669280" y="4297680"/>
            <a:ext cx="3200400" cy="54864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4343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visualization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Machine Learning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pic>
        <p:nvPicPr>
          <p:cNvPr id="7" name="Image 0" descr="https://images.unsplash.com/photo-1551288049-bebda4e38f71?w=5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371600"/>
            <a:ext cx="2468880" cy="12344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234440"/>
            <a:ext cx="2743200" cy="137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0906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labeled data. The model learns input-output mappings to make predictions on new, unseen data.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4005072"/>
            <a:ext cx="256032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069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Email spam detection, image recognition, house price prediction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0" y="123444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https://images.unsplash.com/photo-1460925895917-afdab827c52f?w=500&amp;q=80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37560" y="1371600"/>
            <a:ext cx="2468880" cy="12344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200400" y="1234440"/>
            <a:ext cx="2743200" cy="137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29184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291840" y="30906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hidden patterns in unlabeled data. Discovers structure without predefined correct answers.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291840" y="4005072"/>
            <a:ext cx="2560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91840" y="4069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Customer segmentation, anomaly detection, topic modeling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126480" y="1234440"/>
            <a:ext cx="2743200" cy="3703320"/>
          </a:xfrm>
          <a:prstGeom prst="roundRect">
            <a:avLst>
              <a:gd name="adj" fmla="val 4000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pic>
        <p:nvPicPr>
          <p:cNvPr id="21" name="Image 2" descr="https://images.unsplash.com/photo-1485827404703-89b55fcc595e?w=500&amp;q=80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63640" y="1371600"/>
            <a:ext cx="2468880" cy="123444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26480" y="1234440"/>
            <a:ext cx="274320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17920" y="2651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17920" y="309067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through trial and error. An agent receives rewards or penalties based on actions in an environment.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217920" y="4005072"/>
            <a:ext cx="256032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17920" y="4069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Game AI (AlphaGo), robotics, self-driving cars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in Information Systems</a:t>
            </a:r>
            <a:endParaRPr lang="en-US" sz="2400" dirty="0"/>
          </a:p>
        </p:txBody>
      </p:sp>
      <p:pic>
        <p:nvPicPr>
          <p:cNvPr id="6" name="Image 0" descr="https://images.unsplash.com/photo-1518186285589-2f7649de83e0?w=8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1143000"/>
            <a:ext cx="3657600" cy="3794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4389120"/>
            <a:ext cx="3657600" cy="548640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960" y="44348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powering business intelligence &amp; data systems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74320" y="1188720"/>
            <a:ext cx="475488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" y="138988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1371600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12435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Systems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15179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large datasets to help managers make data-driven decisions in real time.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1956816"/>
            <a:ext cx="475488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2157984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2139696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2960" y="22860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IS to understand and generate human language — chatbots, search, translation.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2724912"/>
            <a:ext cx="475488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11480" y="2926080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2907792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22960" y="27797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22960" y="3054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trends, customer behavior, and system failures before they occur.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74320" y="3493008"/>
            <a:ext cx="475488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11480" y="3694176"/>
            <a:ext cx="292608" cy="29260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1480" y="3675888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3547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Automation (RPA)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382219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IS tasks like data entry, report generation, and workflow routing.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4261104"/>
            <a:ext cx="4754880" cy="694944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11480" y="4462272"/>
            <a:ext cx="292608" cy="29260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4443984"/>
            <a:ext cx="292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22960" y="4315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Fraud Detection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22960" y="459028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detect anomalies, intrusions, and fraudulent transactions in real time.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&amp; Limitations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0F7057"/>
          </a:solidFill>
          <a:ln w="12700">
            <a:solidFill>
              <a:srgbClr val="0F7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BENEFITS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37360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0D2B22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Automates repetitive &amp; time-consuming tasks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0D2B22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Processes vast amounts of data at high speed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779776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0D2B22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25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Improves decision-making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300984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0D2B22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346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Personalized user experiences at scale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22192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0D2B22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867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Reduces human error in critical systems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343400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0D2B22"/>
          </a:solidFill>
          <a:ln w="12700">
            <a:solidFill>
              <a:srgbClr val="1A5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89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Enables 24/7 intelligent service delivery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188720"/>
            <a:ext cx="4023360" cy="457200"/>
          </a:xfrm>
          <a:prstGeom prst="roundRect">
            <a:avLst>
              <a:gd name="adj" fmla="val 16000"/>
            </a:avLst>
          </a:prstGeom>
          <a:solidFill>
            <a:srgbClr val="7C2020"/>
          </a:solidFill>
          <a:ln w="12700">
            <a:solidFill>
              <a:srgbClr val="7C2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46320" y="1737360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2B1010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7830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High cost of data collection and training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58568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2B1010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3042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Requires large, high-quality datasets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779776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2B1010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8254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Black-box models lack explainability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300984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2B1010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3467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Prone to bias if training data is biased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822192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2B1010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867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Vulnerable to adversarial attacks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343400"/>
            <a:ext cx="4023360" cy="438912"/>
          </a:xfrm>
          <a:prstGeom prst="roundRect">
            <a:avLst>
              <a:gd name="adj" fmla="val 14583"/>
            </a:avLst>
          </a:prstGeom>
          <a:solidFill>
            <a:srgbClr val="2B1010"/>
          </a:solidFill>
          <a:ln w="12700">
            <a:solidFill>
              <a:srgbClr val="5A1F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4389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of job displacement &amp; over-reliance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Concerns in AI &amp; ML</a:t>
            </a:r>
            <a:endParaRPr lang="en-US" sz="2400" dirty="0"/>
          </a:p>
        </p:txBody>
      </p:sp>
      <p:pic>
        <p:nvPicPr>
          <p:cNvPr id="6" name="Image 0" descr="https://images.unsplash.com/photo-1485827404703-89b55fcc595e?w=800&amp;q=8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188720"/>
            <a:ext cx="34747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291840"/>
            <a:ext cx="3474720" cy="457200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3375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at the frontier of technology &amp; society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977640" y="118872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77640" y="1188720"/>
            <a:ext cx="2331720" cy="1097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9080" y="1325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69080" y="15910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trained on biased data can perpetuate discrimination in hiring, lending, and law enforcement.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510528" y="118872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10528" y="1188720"/>
            <a:ext cx="23317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01968" y="13258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Surveillance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01968" y="15910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data collection and facial recognition pose serious threats to individual privacy rights.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977640" y="214884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77640" y="2148840"/>
            <a:ext cx="2331720" cy="1097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69080" y="2286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 Explainability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69080" y="25511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 models are 'black boxes' — decisions cannot be easily audited or explained.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510528" y="214884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510528" y="2148840"/>
            <a:ext cx="233172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01968" y="22860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Displacement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601968" y="255117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risks displacing workers, especially in routine, repetitive roles.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977640" y="310896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77640" y="3108960"/>
            <a:ext cx="2331720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069080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069080" y="3511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responsible when an AI system causes harm? Legal frameworks are still evolving.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510528" y="3108960"/>
            <a:ext cx="23317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510528" y="3108960"/>
            <a:ext cx="2331720" cy="10972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01968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&amp; Deepfakes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601968" y="3511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enables the creation of convincing fake content at unprecedented scale.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274320" y="388620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question is not whether AI will have ethical implications — it's whether we will be proactive in addressing them."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965960" cy="379476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1965960" cy="16459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3716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Image 0" descr="https://upload.wikimedia.org/wikipedia/commons/thumb/c/c1/Google_%22G%22_logo.svg/120px-Google_%22G%22_logo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2688" y="1399032"/>
            <a:ext cx="649224" cy="6492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130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496312"/>
            <a:ext cx="1417320" cy="2743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" y="257860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ranking (RankBrain AI)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4048" y="312724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Translate NLP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4048" y="36758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DeepMind for healthcare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84048" y="422452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Gmail Smart Reply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441448" y="1188720"/>
            <a:ext cx="1965960" cy="379476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441448" y="1188720"/>
            <a:ext cx="1965960" cy="164592"/>
          </a:xfrm>
          <a:prstGeom prst="rect">
            <a:avLst/>
          </a:prstGeom>
          <a:solidFill>
            <a:srgbClr val="E31937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81528" y="13716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1" descr="https://upload.wikimedia.org/wikipedia/commons/thumb/b/bd/Tesla_Motors.svg/120px-Tesla_Motors.sv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99816" y="1399032"/>
            <a:ext cx="649224" cy="64922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32888" y="2130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Tesla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2715768" y="2496312"/>
            <a:ext cx="1417320" cy="27432"/>
          </a:xfrm>
          <a:prstGeom prst="rect">
            <a:avLst/>
          </a:prstGeom>
          <a:solidFill>
            <a:srgbClr val="E31937"/>
          </a:solidFill>
          <a:ln w="12700">
            <a:solidFill>
              <a:srgbClr val="E3193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551176" y="257860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Autopilot computer vision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2551176" y="312724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Neural network driver assist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551176" y="36758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Fleet-wide OTA ML updates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551176" y="422452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 grid optimization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08576" y="1188720"/>
            <a:ext cx="1965960" cy="379476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08576" y="1188720"/>
            <a:ext cx="1965960" cy="16459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248656" y="13716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2" descr="https://upload.wikimedia.org/wikipedia/commons/thumb/4/44/Microsoft_logo.svg/120px-Microsoft_logo.svg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266944" y="1399032"/>
            <a:ext cx="649224" cy="64922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00016" y="2130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4882896" y="2496312"/>
            <a:ext cx="1417320" cy="27432"/>
          </a:xfrm>
          <a:prstGeom prst="rect">
            <a:avLst/>
          </a:prstGeom>
          <a:solidFill>
            <a:srgbClr val="00A4EF"/>
          </a:solidFill>
          <a:ln w="12700">
            <a:solidFill>
              <a:srgbClr val="00A4E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18304" y="257860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AI &amp; Cognitive Services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4718304" y="312724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across Office 365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718304" y="36758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recommendation AI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718304" y="422452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Bing AI search integration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6775704" y="1188720"/>
            <a:ext cx="1965960" cy="3794760"/>
          </a:xfrm>
          <a:prstGeom prst="roundRect">
            <a:avLst>
              <a:gd name="adj" fmla="val 4651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5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6775704" y="1188720"/>
            <a:ext cx="1965960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415784" y="13716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3" descr="https://upload.wikimedia.org/wikipedia/commons/thumb/a/a9/Amazon_logo.svg/200px-Amazon_logo.svg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34072" y="1399032"/>
            <a:ext cx="649224" cy="649224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67144" y="2130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7050024" y="2496312"/>
            <a:ext cx="1417320" cy="274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885432" y="257860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Alexa voice AI assistant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6885432" y="312724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engine (35% revenue)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6885432" y="367588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SageMaker ML platform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6885432" y="4224528"/>
            <a:ext cx="1755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Warehouse robotics &amp; logistics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639803718654-a2aae9c06c18?w=1200&amp;q=80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8046720" cy="521208"/>
          </a:xfrm>
          <a:prstGeom prst="roundRect">
            <a:avLst>
              <a:gd name="adj" fmla="val 10526"/>
            </a:avLst>
          </a:prstGeom>
          <a:solidFill>
            <a:srgbClr val="1122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143000"/>
            <a:ext cx="18288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18872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 are transforming how Information Systems are designed, deployed, and managed.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1755648"/>
            <a:ext cx="8046720" cy="521208"/>
          </a:xfrm>
          <a:prstGeom prst="roundRect">
            <a:avLst>
              <a:gd name="adj" fmla="val 10526"/>
            </a:avLst>
          </a:prstGeom>
          <a:solidFill>
            <a:srgbClr val="1122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1755648"/>
            <a:ext cx="18288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801368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ML paradigms — supervised, unsupervised, and reinforcement learning — power different IS applications.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2368296"/>
            <a:ext cx="8046720" cy="521208"/>
          </a:xfrm>
          <a:prstGeom prst="roundRect">
            <a:avLst>
              <a:gd name="adj" fmla="val 10526"/>
            </a:avLst>
          </a:prstGeom>
          <a:solidFill>
            <a:srgbClr val="1122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368296"/>
            <a:ext cx="18288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0120" y="2414016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 applications span decision support, NLP, predictive analytics, automation, and cybersecurity.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2980944"/>
            <a:ext cx="8046720" cy="521208"/>
          </a:xfrm>
          <a:prstGeom prst="roundRect">
            <a:avLst>
              <a:gd name="adj" fmla="val 10526"/>
            </a:avLst>
          </a:prstGeom>
          <a:solidFill>
            <a:srgbClr val="1122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980944"/>
            <a:ext cx="18288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3026664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are substantial, but limitations around data quality, bias, and transparency must be managed.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3593592"/>
            <a:ext cx="8046720" cy="521208"/>
          </a:xfrm>
          <a:prstGeom prst="roundRect">
            <a:avLst>
              <a:gd name="adj" fmla="val 10526"/>
            </a:avLst>
          </a:prstGeom>
          <a:solidFill>
            <a:srgbClr val="1122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3593592"/>
            <a:ext cx="18288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0120" y="3639312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frameworks are essential to ensure AI is deployed responsibly and equitably.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206240"/>
            <a:ext cx="8046720" cy="521208"/>
          </a:xfrm>
          <a:prstGeom prst="roundRect">
            <a:avLst>
              <a:gd name="adj" fmla="val 10526"/>
            </a:avLst>
          </a:prstGeom>
          <a:solidFill>
            <a:srgbClr val="112240">
              <a:alpha val="80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206240"/>
            <a:ext cx="182880" cy="521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0120" y="4251960"/>
            <a:ext cx="7589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leaders like Google, Tesla, Microsoft, and Amazon demonstrate AI's real-world IS impact.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Raghav · Shishir · Shuprabha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Machine Learning in IS</dc:title>
  <dc:subject>PptxGenJS Presentation</dc:subject>
  <dc:creator>Raghav, Shishir, Shuprabha</dc:creator>
  <cp:lastModifiedBy>Raghav, Shishir, Shuprabha</cp:lastModifiedBy>
  <cp:revision>1</cp:revision>
  <dcterms:created xsi:type="dcterms:W3CDTF">2026-06-28T14:02:28Z</dcterms:created>
  <dcterms:modified xsi:type="dcterms:W3CDTF">2026-06-28T14:02:28Z</dcterms:modified>
</cp:coreProperties>
</file>