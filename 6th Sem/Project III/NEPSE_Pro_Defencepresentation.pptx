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4E07E8-35BB-46AB-AF68-E841BD71D860}">
  <a:tblStyle styleId="{1E4E07E8-35BB-46AB-AF68-E841BD71D86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82936ca5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82936ca5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f82936ca5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820a0412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f820a0412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f820a0412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7" name="Google Shape;4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7" name="Google Shape;5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0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23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0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Relationship Id="rId4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48.png"/><Relationship Id="rId5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3.png"/><Relationship Id="rId5" Type="http://schemas.openxmlformats.org/officeDocument/2006/relationships/image" Target="../media/image9.png"/><Relationship Id="rId6" Type="http://schemas.openxmlformats.org/officeDocument/2006/relationships/image" Target="../media/image23.png"/><Relationship Id="rId7" Type="http://schemas.openxmlformats.org/officeDocument/2006/relationships/image" Target="../media/image17.png"/><Relationship Id="rId8" Type="http://schemas.openxmlformats.org/officeDocument/2006/relationships/image" Target="../media/image5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56.png"/><Relationship Id="rId5" Type="http://schemas.openxmlformats.org/officeDocument/2006/relationships/image" Target="../media/image36.png"/><Relationship Id="rId6" Type="http://schemas.openxmlformats.org/officeDocument/2006/relationships/image" Target="../media/image59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8.png"/><Relationship Id="rId4" Type="http://schemas.openxmlformats.org/officeDocument/2006/relationships/image" Target="../media/image40.png"/><Relationship Id="rId11" Type="http://schemas.openxmlformats.org/officeDocument/2006/relationships/image" Target="../media/image21.png"/><Relationship Id="rId10" Type="http://schemas.openxmlformats.org/officeDocument/2006/relationships/image" Target="../media/image6.png"/><Relationship Id="rId9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14.png"/><Relationship Id="rId7" Type="http://schemas.openxmlformats.org/officeDocument/2006/relationships/image" Target="../media/image52.png"/><Relationship Id="rId8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4.png"/><Relationship Id="rId4" Type="http://schemas.openxmlformats.org/officeDocument/2006/relationships/image" Target="../media/image60.png"/><Relationship Id="rId5" Type="http://schemas.openxmlformats.org/officeDocument/2006/relationships/image" Target="../media/image55.png"/><Relationship Id="rId6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5394960" y="5394960"/>
            <a:ext cx="201168" cy="91440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" name="Google Shape;17;p3"/>
          <p:cNvCxnSpPr/>
          <p:nvPr/>
        </p:nvCxnSpPr>
        <p:spPr>
          <a:xfrm>
            <a:off x="5495544" y="5230368"/>
            <a:ext cx="0" cy="124358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/>
          <p:nvPr/>
        </p:nvSpPr>
        <p:spPr>
          <a:xfrm>
            <a:off x="5760720" y="4846320"/>
            <a:ext cx="201168" cy="146304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861304" y="4681728"/>
            <a:ext cx="0" cy="179222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126480" y="5669280"/>
            <a:ext cx="201168" cy="64008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6227064" y="5504688"/>
            <a:ext cx="0" cy="96926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6492240" y="4572000"/>
            <a:ext cx="201168" cy="173736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3"/>
          <p:cNvCxnSpPr/>
          <p:nvPr/>
        </p:nvCxnSpPr>
        <p:spPr>
          <a:xfrm>
            <a:off x="6592824" y="4407408"/>
            <a:ext cx="0" cy="206654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858000" y="5303520"/>
            <a:ext cx="201168" cy="100584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6958584" y="5138928"/>
            <a:ext cx="0" cy="133502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" name="Google Shape;26;p3"/>
          <p:cNvSpPr/>
          <p:nvPr/>
        </p:nvSpPr>
        <p:spPr>
          <a:xfrm>
            <a:off x="7223760" y="4206240"/>
            <a:ext cx="201168" cy="21031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7324344" y="4041648"/>
            <a:ext cx="0" cy="24323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" name="Google Shape;28;p3"/>
          <p:cNvSpPr/>
          <p:nvPr/>
        </p:nvSpPr>
        <p:spPr>
          <a:xfrm>
            <a:off x="7589520" y="5029200"/>
            <a:ext cx="201168" cy="128016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" name="Google Shape;29;p3"/>
          <p:cNvCxnSpPr/>
          <p:nvPr/>
        </p:nvCxnSpPr>
        <p:spPr>
          <a:xfrm>
            <a:off x="7690104" y="4864608"/>
            <a:ext cx="0" cy="160934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7955280" y="5486400"/>
            <a:ext cx="201168" cy="82296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" name="Google Shape;31;p3"/>
          <p:cNvCxnSpPr/>
          <p:nvPr/>
        </p:nvCxnSpPr>
        <p:spPr>
          <a:xfrm>
            <a:off x="8055864" y="5321808"/>
            <a:ext cx="0" cy="115214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3"/>
          <p:cNvSpPr/>
          <p:nvPr/>
        </p:nvSpPr>
        <p:spPr>
          <a:xfrm>
            <a:off x="8321040" y="4480560"/>
            <a:ext cx="201168" cy="182880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3"/>
          <p:cNvCxnSpPr/>
          <p:nvPr/>
        </p:nvCxnSpPr>
        <p:spPr>
          <a:xfrm>
            <a:off x="8421624" y="4315968"/>
            <a:ext cx="0" cy="215798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3"/>
          <p:cNvSpPr/>
          <p:nvPr/>
        </p:nvSpPr>
        <p:spPr>
          <a:xfrm>
            <a:off x="8686800" y="5120640"/>
            <a:ext cx="201168" cy="11887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" name="Google Shape;35;p3"/>
          <p:cNvCxnSpPr/>
          <p:nvPr/>
        </p:nvCxnSpPr>
        <p:spPr>
          <a:xfrm>
            <a:off x="8787384" y="4956048"/>
            <a:ext cx="0" cy="15179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3"/>
          <p:cNvSpPr/>
          <p:nvPr/>
        </p:nvSpPr>
        <p:spPr>
          <a:xfrm>
            <a:off x="9052560" y="4754880"/>
            <a:ext cx="201168" cy="155448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3"/>
          <p:cNvCxnSpPr/>
          <p:nvPr/>
        </p:nvCxnSpPr>
        <p:spPr>
          <a:xfrm>
            <a:off x="9153144" y="4590288"/>
            <a:ext cx="0" cy="188366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3"/>
          <p:cNvSpPr/>
          <p:nvPr/>
        </p:nvSpPr>
        <p:spPr>
          <a:xfrm>
            <a:off x="9418320" y="4114800"/>
            <a:ext cx="201168" cy="219456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3"/>
          <p:cNvCxnSpPr/>
          <p:nvPr/>
        </p:nvCxnSpPr>
        <p:spPr>
          <a:xfrm>
            <a:off x="9518904" y="3950208"/>
            <a:ext cx="0" cy="252374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3"/>
          <p:cNvSpPr/>
          <p:nvPr/>
        </p:nvSpPr>
        <p:spPr>
          <a:xfrm>
            <a:off x="9784080" y="4937760"/>
            <a:ext cx="201168" cy="137160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3"/>
          <p:cNvCxnSpPr/>
          <p:nvPr/>
        </p:nvCxnSpPr>
        <p:spPr>
          <a:xfrm>
            <a:off x="9884664" y="4773168"/>
            <a:ext cx="0" cy="170078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3"/>
          <p:cNvSpPr/>
          <p:nvPr/>
        </p:nvSpPr>
        <p:spPr>
          <a:xfrm>
            <a:off x="10149840" y="5394960"/>
            <a:ext cx="201168" cy="91440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3"/>
          <p:cNvCxnSpPr/>
          <p:nvPr/>
        </p:nvCxnSpPr>
        <p:spPr>
          <a:xfrm>
            <a:off x="10250424" y="5230368"/>
            <a:ext cx="0" cy="124358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3"/>
          <p:cNvSpPr/>
          <p:nvPr/>
        </p:nvSpPr>
        <p:spPr>
          <a:xfrm>
            <a:off x="10515600" y="4663440"/>
            <a:ext cx="201168" cy="16459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" name="Google Shape;45;p3"/>
          <p:cNvCxnSpPr/>
          <p:nvPr/>
        </p:nvCxnSpPr>
        <p:spPr>
          <a:xfrm>
            <a:off x="10616184" y="4498848"/>
            <a:ext cx="0" cy="19751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BACHELOR'S PROJECT — FINAL DEFENCE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Cambria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NEPSE Pro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22960" y="297180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NEPSE Stock Market Analysis &amp; Portfolio Management Tool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822960" y="3639312"/>
            <a:ext cx="4206240" cy="0"/>
          </a:xfrm>
          <a:prstGeom prst="straightConnector1">
            <a:avLst/>
          </a:prstGeom>
          <a:noFill/>
          <a:ln cap="flat" cmpd="sng" w="1905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"/>
          <p:cNvSpPr/>
          <p:nvPr/>
        </p:nvSpPr>
        <p:spPr>
          <a:xfrm>
            <a:off x="822960" y="393192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Raghav Panthi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4114800" y="393192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Reg. 2023-1-53-0370   |   Symbol 23530222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22960" y="4315968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Sishir Devkota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114800" y="4315968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Reg. 2023-1-53-0220   |   Symbol 23530121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822960" y="470001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Shuprabha Mainali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114800" y="4700016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Reg. 2023-1-53-0221   |   Symbol 23530122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960" y="5257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Supervised by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Mr. Sumant Yadav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56235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85B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5B3"/>
                </a:solidFill>
                <a:latin typeface="Calibri"/>
                <a:ea typeface="Calibri"/>
                <a:cs typeface="Calibri"/>
                <a:sym typeface="Calibri"/>
              </a:rPr>
              <a:t>School of Environmental Science and Management  |  Faculty of Science and Technology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85B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E85B3"/>
                </a:solidFill>
                <a:latin typeface="Calibri"/>
                <a:ea typeface="Calibri"/>
                <a:cs typeface="Calibri"/>
                <a:sym typeface="Calibri"/>
              </a:rPr>
              <a:t>Pokhara University, Nepal   —   July 2025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PRESENTATION ROADMAP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What We'll Cover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" y="173736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-FFFFFF.png" id="67" name="Google Shape;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4"/>
          <p:cNvSpPr/>
          <p:nvPr/>
        </p:nvSpPr>
        <p:spPr>
          <a:xfrm>
            <a:off x="5074920" y="184708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1508760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Background &amp; Objectives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1508760" y="230428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The problem NEPSE investors face, and what NEPSE Pro sets out to solve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080760" y="173736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6336792" y="199339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FFFFFF.png" id="73" name="Google Shape;7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3096" y="21396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10607040" y="184708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7040880" y="193852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Requirements &amp; Analysis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7040880" y="230428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Functional scope, prioritization, and system models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48640" y="338328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04672" y="363931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ayers-FFFFFF.png" id="79" name="Google Shape;7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76" y="3785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5074920" y="34930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508760" y="35844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508760" y="395020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Architecture, database, and interface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6080760" y="338328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336792" y="363931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de-FFFFFF.png" id="85" name="Google Shape;8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3096" y="3785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10607040" y="34930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040880" y="358444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Implementation &amp; Testing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040880" y="395020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Build approach, charge engine, and test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502920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04672" y="528523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rid-FFFFFF.png" id="91" name="Google Shape;9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0976" y="54315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5074920" y="51389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508760" y="52303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Live Walkthrough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508760" y="55961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Dashboard, charting, and portfolio screens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6080760" y="5029200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336792" y="5285232"/>
            <a:ext cx="566928" cy="5669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ompass-FFFFFF.png" id="97" name="Google Shape;97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3096" y="54315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10607040" y="51389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3E7EE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E3E7EE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040880" y="523036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Conclusion &amp; Future Scope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7040880" y="5596128"/>
            <a:ext cx="4114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Achievements, limitations, and what's next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1 · BACKGROUND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Investing in NEPSE Is Harder Than It Should Be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148132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generates huge volumes of price, volume, and company data every day — but ordinary investors struggle to turn that data into decisions.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2331720"/>
            <a:ext cx="2542032" cy="3246120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1499616" y="2606040"/>
            <a:ext cx="640080" cy="640080"/>
          </a:xfrm>
          <a:prstGeom prst="ellipse">
            <a:avLst/>
          </a:prstGeom>
          <a:solidFill>
            <a:srgbClr val="D64545">
              <a:alpha val="9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lert-triangle-FFFFFF.png"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5920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5"/>
          <p:cNvSpPr/>
          <p:nvPr/>
        </p:nvSpPr>
        <p:spPr>
          <a:xfrm>
            <a:off x="713232" y="3429000"/>
            <a:ext cx="22128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Fragmented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49808" y="4023360"/>
            <a:ext cx="21396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Investors juggle the official NEPSE site, Merolagani, ShareSansar, and social media just to piece together a picture.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291840" y="2331720"/>
            <a:ext cx="2542032" cy="3246120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4242816" y="2606040"/>
            <a:ext cx="640080" cy="640080"/>
          </a:xfrm>
          <a:prstGeom prst="ellipse">
            <a:avLst/>
          </a:prstGeom>
          <a:solidFill>
            <a:srgbClr val="D64545">
              <a:alpha val="9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ist-FFFFFF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9120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5"/>
          <p:cNvSpPr/>
          <p:nvPr/>
        </p:nvSpPr>
        <p:spPr>
          <a:xfrm>
            <a:off x="3456432" y="3429000"/>
            <a:ext cx="22128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Manual Tracking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493008" y="4023360"/>
            <a:ext cx="21396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Holdings are tracked in notebooks or Excel sheets — messy, error-prone, and blind to real transaction costs.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6035040" y="2331720"/>
            <a:ext cx="2542032" cy="3246120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6986016" y="2606040"/>
            <a:ext cx="640080" cy="640080"/>
          </a:xfrm>
          <a:prstGeom prst="ellipse">
            <a:avLst/>
          </a:prstGeom>
          <a:solidFill>
            <a:srgbClr val="D64545">
              <a:alpha val="9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x-circle-FFFFFF.png" id="123" name="Google Shape;12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32320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5"/>
          <p:cNvSpPr/>
          <p:nvPr/>
        </p:nvSpPr>
        <p:spPr>
          <a:xfrm>
            <a:off x="6199632" y="3429000"/>
            <a:ext cx="22128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No Charge Awareness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36208" y="4023360"/>
            <a:ext cx="21396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free platform calculates the true cost of a trade: broker commission, SEBON fee, DP charge, and CGT.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778240" y="2331720"/>
            <a:ext cx="2542032" cy="3246120"/>
          </a:xfrm>
          <a:prstGeom prst="roundRect">
            <a:avLst>
              <a:gd fmla="val 2878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9729216" y="2606040"/>
            <a:ext cx="640080" cy="640080"/>
          </a:xfrm>
          <a:prstGeom prst="ellipse">
            <a:avLst/>
          </a:prstGeom>
          <a:solidFill>
            <a:srgbClr val="D64545">
              <a:alpha val="9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martphone-FFFFFF.png" id="128" name="Google Shape;12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75520" y="275234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8942832" y="3429000"/>
            <a:ext cx="2212848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Poor Mobile Experience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979408" y="4023360"/>
            <a:ext cx="21396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Most existing tools are desktop-only, while investors want to check the market on the move.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1 · OBJECTIVES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Project Objectives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1691640"/>
            <a:ext cx="106070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777240" y="1810512"/>
            <a:ext cx="493776" cy="49377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-FFFFFF.png" id="142" name="Google Shape;14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5256" y="19385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6"/>
          <p:cNvSpPr/>
          <p:nvPr/>
        </p:nvSpPr>
        <p:spPr>
          <a:xfrm>
            <a:off x="1508760" y="1764792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Real-time &amp; historical NEPSE data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94960" y="1764792"/>
            <a:ext cx="5577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Collect and display live and historical stock market data for every listed security.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2532888"/>
            <a:ext cx="106070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77240" y="2651760"/>
            <a:ext cx="493776" cy="493776"/>
          </a:xfrm>
          <a:prstGeom prst="ellipse">
            <a:avLst/>
          </a:prstGeom>
          <a:solidFill>
            <a:srgbClr val="1542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FFFFFF.png" id="147" name="Google Shape;1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5256" y="27797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/>
          <p:nvPr/>
        </p:nvSpPr>
        <p:spPr>
          <a:xfrm>
            <a:off x="1508760" y="2606040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Interactive charting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394960" y="2606040"/>
            <a:ext cx="5577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Candlestick charts across 8 timeframes with SMA, EMA, RSI, and MACD indicators.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48640" y="3374136"/>
            <a:ext cx="106070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777240" y="3493008"/>
            <a:ext cx="493776" cy="49377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ie-chart-FFFFFF.png" id="152" name="Google Shape;15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5256" y="362102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508760" y="3447288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Virtual portfolio management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394960" y="3447288"/>
            <a:ext cx="5577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A full paper-trading system with profit/loss tracking on every position.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4215384"/>
            <a:ext cx="106070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777240" y="4334256"/>
            <a:ext cx="493776" cy="493776"/>
          </a:xfrm>
          <a:prstGeom prst="ellipse">
            <a:avLst/>
          </a:prstGeom>
          <a:solidFill>
            <a:srgbClr val="1542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ollar-FFFFFF.png" id="157" name="Google Shape;15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5256" y="44622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1508760" y="4288536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Nepal-specific trading charges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394960" y="4288536"/>
            <a:ext cx="5577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Automatically compute broker commission, SEBON fee, DP charge, and Capital Gains Tax.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48640" y="5056632"/>
            <a:ext cx="10607040" cy="731520"/>
          </a:xfrm>
          <a:prstGeom prst="roundRect">
            <a:avLst>
              <a:gd fmla="val 875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777240" y="5175504"/>
            <a:ext cx="493776" cy="49377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tar-FFFFFF.png" id="162" name="Google Shape;162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256" y="5303520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1508760" y="5129784"/>
            <a:ext cx="3749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Personalized watchlist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394960" y="5129784"/>
            <a:ext cx="55778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Let investors save and monitor selected stocks across sessions.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1 · PURPOSE &amp;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What NEPSE Pro Does — and Doesn't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548640" y="1600200"/>
            <a:ext cx="5394960" cy="4709160"/>
          </a:xfrm>
          <a:prstGeom prst="roundRect">
            <a:avLst>
              <a:gd fmla="val 1942" name="adj"/>
            </a:avLst>
          </a:prstGeom>
          <a:solidFill>
            <a:srgbClr val="EAF7EF"/>
          </a:solidFill>
          <a:ln cap="flat" cmpd="sng" w="12700">
            <a:solidFill>
              <a:srgbClr val="CDE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-circle-1FAA59.png" id="175" name="Google Shape;1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18105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7"/>
          <p:cNvSpPr/>
          <p:nvPr/>
        </p:nvSpPr>
        <p:spPr>
          <a:xfrm>
            <a:off x="1234440" y="1810512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6B36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E6B36"/>
                </a:solidFill>
                <a:latin typeface="Calibri"/>
                <a:ea typeface="Calibri"/>
                <a:cs typeface="Calibri"/>
                <a:sym typeface="Calibri"/>
              </a:rPr>
              <a:t>What the system does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868680" y="23317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Live index, market summary, top gainers/losers &amp; full market watch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68680" y="283464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Candlestick charts, 8 timeframes, SMA / EMA / RSI / MACD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868680" y="333756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Search all NEPSE-listed securities by symbol or name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868680" y="384048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Personal watchlist with prices refreshed every 30 seconds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68680" y="434340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Simulated buying/selling from Rs. 1,00,000 virtual cash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68680" y="48463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Holdings, avg. buy price, unrealized P&amp;L, transaction history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868680" y="534924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Email OTP + Google OAuth registration and login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68680" y="585216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Fully responsive on desktop and mobile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217920" y="1600200"/>
            <a:ext cx="5422392" cy="4709160"/>
          </a:xfrm>
          <a:prstGeom prst="roundRect">
            <a:avLst>
              <a:gd fmla="val 1942" name="adj"/>
            </a:avLst>
          </a:prstGeom>
          <a:solidFill>
            <a:srgbClr val="FCEBEB"/>
          </a:solidFill>
          <a:ln cap="flat" cmpd="sng" w="12700">
            <a:solidFill>
              <a:srgbClr val="F3D2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x-circle-D64545.png" id="186" name="Google Shape;1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18105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6903720" y="181051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2A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A2A2A"/>
                </a:solidFill>
                <a:latin typeface="Calibri"/>
                <a:ea typeface="Calibri"/>
                <a:cs typeface="Calibri"/>
                <a:sym typeface="Calibri"/>
              </a:rPr>
              <a:t>What the system doesn't 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537960" y="2331720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This is not a real trading platform — no real orders are placed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537960" y="2953512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Does not connect to bank accounts or payment systems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537960" y="3575304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Does not provide financial advice or recommendations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537960" y="4197096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Does not predict future stock prices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537960" y="4818888"/>
            <a:ext cx="4846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▸  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No native iOS / Android app — browser-based only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2 · SURVEY OF TECHNOLOGIES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Comparison of Existing NEPSE Platforms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2" name="Google Shape;202;p8"/>
          <p:cNvGraphicFramePr/>
          <p:nvPr/>
        </p:nvGraphicFramePr>
        <p:xfrm>
          <a:off x="548640" y="15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{1E4E07E8-35BB-46AB-AF68-E841BD71D860}</a:tableStyleId>
              </a:tblPr>
              <a:tblGrid>
                <a:gridCol w="2651750"/>
                <a:gridCol w="4023350"/>
                <a:gridCol w="4389125"/>
              </a:tblGrid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Platform</a:t>
                      </a:r>
                      <a:endParaRPr sz="12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Strengths</a:t>
                      </a:r>
                      <a:endParaRPr sz="12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sz="12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233"/>
                          </a:solidFill>
                        </a:rPr>
                        <a:t>Official NEPSE Website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3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E6B36"/>
                          </a:solidFill>
                        </a:rPr>
                        <a:t>Trustworthy, official data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2A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9A2A2A"/>
                          </a:solidFill>
                        </a:rPr>
                        <a:t>Complicated UI, no watchlist or portfolio tools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233"/>
                          </a:solidFill>
                        </a:rPr>
                        <a:t>Merolagani.com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3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E6B36"/>
                          </a:solidFill>
                        </a:rPr>
                        <a:t>News, company info, basic charts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2A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9A2A2A"/>
                          </a:solidFill>
                        </a:rPr>
                        <a:t>Basic charts, no portfolio tools, ad-heavy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233"/>
                          </a:solidFill>
                        </a:rPr>
                        <a:t>ShareSansar.com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3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E6B36"/>
                          </a:solidFill>
                        </a:rPr>
                        <a:t>Market news &amp; data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2A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9A2A2A"/>
                          </a:solidFill>
                        </a:rPr>
                        <a:t>Not mobile-friendly, no personalization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A2233"/>
                          </a:solidFill>
                        </a:rPr>
                        <a:t>TradingView (Global)</a:t>
                      </a:r>
                      <a:endParaRPr sz="120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E6B36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E6B36"/>
                          </a:solidFill>
                        </a:rPr>
                        <a:t>Pro charting, 100+ indicators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A2A2A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9A2A2A"/>
                          </a:solidFill>
                        </a:rPr>
                        <a:t>No NEPSE data, no Nepal-specific charges</a:t>
                      </a:r>
                      <a:endParaRPr sz="1150" u="none" cap="none" strike="noStrike"/>
                    </a:p>
                  </a:txBody>
                  <a:tcPr marT="76200" marB="76200" marR="127000" marL="1270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8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fmla="val 8000" name="adj"/>
            </a:avLst>
          </a:prstGeom>
          <a:solidFill>
            <a:srgbClr val="0F1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target-6FE3A6.png" id="204" name="Google Shape;2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56052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/>
          <p:nvPr/>
        </p:nvSpPr>
        <p:spPr>
          <a:xfrm>
            <a:off x="1325880" y="5440680"/>
            <a:ext cx="10058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Research Gap:  </a:t>
            </a:r>
            <a:r>
              <a:rPr b="0" i="0" lang="en-US" sz="1300" u="none" cap="none" strike="noStrike">
                <a:solidFill>
                  <a:srgbClr val="E4EAF5"/>
                </a:solidFill>
                <a:latin typeface="Calibri"/>
                <a:ea typeface="Calibri"/>
                <a:cs typeface="Calibri"/>
                <a:sym typeface="Calibri"/>
              </a:rPr>
              <a:t>No platform combines real-time data, technical analysis, AND personalized portfolio + charge tools in one place.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2 · RESEARCH GAP →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Closing the Gap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77240" y="1728216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modern, user-friendly interface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1762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9"/>
          <p:cNvSpPr/>
          <p:nvPr/>
        </p:nvSpPr>
        <p:spPr>
          <a:xfrm>
            <a:off x="1051560" y="2130552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Clean, dark-themed, responsive UI built with React + Tailwind CSS 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217920" y="1600200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446520" y="1728216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personalized watchlist or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21" name="Google Shape;22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21762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9"/>
          <p:cNvSpPr/>
          <p:nvPr/>
        </p:nvSpPr>
        <p:spPr>
          <a:xfrm>
            <a:off x="6720840" y="2130552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Live dashboard + personal watchlist refreshed every 30 seconds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48640" y="2999232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777240" y="3127248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Limited portfolio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25" name="Google Shape;2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5753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9"/>
          <p:cNvSpPr/>
          <p:nvPr/>
        </p:nvSpPr>
        <p:spPr>
          <a:xfrm>
            <a:off x="1051560" y="3529584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Full paper-trading engine with FIFO/average-cost P&amp;L tracking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217920" y="2999232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6446520" y="3127248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accurate brokerage &amp; tax calculation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3575304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/>
          <p:nvPr/>
        </p:nvSpPr>
        <p:spPr>
          <a:xfrm>
            <a:off x="6720840" y="3529584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Dedicated charge engine: commission tiers, SEBON fee, DP charge, CGT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48640" y="4398264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777240" y="45262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Limited technical analysis on NEPSE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33" name="Google Shape;2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9743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9"/>
          <p:cNvSpPr/>
          <p:nvPr/>
        </p:nvSpPr>
        <p:spPr>
          <a:xfrm>
            <a:off x="1051560" y="4928616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TradingView-inspired charts with SMA, EMA, RSI, MACD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6217920" y="4398264"/>
            <a:ext cx="534924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6446520" y="4526280"/>
            <a:ext cx="4892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64545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D64545"/>
                </a:solidFill>
                <a:latin typeface="Calibri"/>
                <a:ea typeface="Calibri"/>
                <a:cs typeface="Calibri"/>
                <a:sym typeface="Calibri"/>
              </a:rPr>
              <a:t>GAP  </a:t>
            </a:r>
            <a:r>
              <a:rPr b="0" i="1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Users juggle multiple websites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rrow-right-1C7293.png" id="237" name="Google Shape;23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6520" y="497433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9"/>
          <p:cNvSpPr/>
          <p:nvPr/>
        </p:nvSpPr>
        <p:spPr>
          <a:xfrm>
            <a:off x="6720840" y="4928616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NEPSE PRO  </a:t>
            </a:r>
            <a:r>
              <a:rPr b="1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One platform for data, analysis, watchlist &amp; portfolio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4273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548640" y="384048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CHAPTER 4 ·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000" y="279773"/>
            <a:ext cx="8116127" cy="58490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4025"/>
            <a:ext cx="11887202" cy="5647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4 · DATABASE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Entity–Relationship Model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48640" y="1691640"/>
            <a:ext cx="3246120" cy="4160520"/>
          </a:xfrm>
          <a:prstGeom prst="roundRect">
            <a:avLst>
              <a:gd fmla="val 2254" name="adj"/>
            </a:avLst>
          </a:prstGeom>
          <a:solidFill>
            <a:srgbClr val="1542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731520" y="182880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777240" y="2286000"/>
            <a:ext cx="27889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id (PK)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email (UNIQUE)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password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mobile / bio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googleId / provider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isVerified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emailOTP + expiry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cashBalance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  <a:t>createdAt</a:t>
            </a:r>
            <a:br>
              <a:rPr b="0" i="0" lang="en-US" sz="1100" u="none" cap="none" strike="noStrike">
                <a:solidFill>
                  <a:srgbClr val="D7E0F2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12"/>
          <p:cNvCxnSpPr/>
          <p:nvPr/>
        </p:nvCxnSpPr>
        <p:spPr>
          <a:xfrm flipH="1" rot="10800000">
            <a:off x="3794760" y="2276856"/>
            <a:ext cx="2194560" cy="1495044"/>
          </a:xfrm>
          <a:prstGeom prst="straightConnector1">
            <a:avLst/>
          </a:prstGeom>
          <a:noFill/>
          <a:ln cap="flat" cmpd="sng" w="15875">
            <a:solidFill>
              <a:srgbClr val="9AA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2"/>
          <p:cNvSpPr/>
          <p:nvPr/>
        </p:nvSpPr>
        <p:spPr>
          <a:xfrm>
            <a:off x="5989320" y="1691640"/>
            <a:ext cx="32004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6172200" y="178308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WATCHLIST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172200" y="2112264"/>
            <a:ext cx="28346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id (PK)  ·  user_id (FK)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symbol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UNIQUE(user_id, symbol)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9326880" y="213969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12"/>
          <p:cNvCxnSpPr/>
          <p:nvPr/>
        </p:nvCxnSpPr>
        <p:spPr>
          <a:xfrm flipH="1" rot="10800000">
            <a:off x="3794760" y="3666744"/>
            <a:ext cx="2194560" cy="105156"/>
          </a:xfrm>
          <a:prstGeom prst="straightConnector1">
            <a:avLst/>
          </a:prstGeom>
          <a:noFill/>
          <a:ln cap="flat" cmpd="sng" w="15875">
            <a:solidFill>
              <a:srgbClr val="9AA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2"/>
          <p:cNvSpPr/>
          <p:nvPr/>
        </p:nvSpPr>
        <p:spPr>
          <a:xfrm>
            <a:off x="5989320" y="3081528"/>
            <a:ext cx="32004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1FAA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"/>
          <p:cNvSpPr/>
          <p:nvPr/>
        </p:nvSpPr>
        <p:spPr>
          <a:xfrm>
            <a:off x="6172200" y="317296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AA59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172200" y="3502152"/>
            <a:ext cx="28346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id (PK)  ·  user_id (FK)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symbol, quantity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buy_price, buy_date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9326880" y="352958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2"/>
          <p:cNvCxnSpPr/>
          <p:nvPr/>
        </p:nvCxnSpPr>
        <p:spPr>
          <a:xfrm>
            <a:off x="3794760" y="3771900"/>
            <a:ext cx="2194560" cy="1284732"/>
          </a:xfrm>
          <a:prstGeom prst="straightConnector1">
            <a:avLst/>
          </a:prstGeom>
          <a:noFill/>
          <a:ln cap="flat" cmpd="sng" w="15875">
            <a:solidFill>
              <a:srgbClr val="9AA8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2"/>
          <p:cNvSpPr/>
          <p:nvPr/>
        </p:nvSpPr>
        <p:spPr>
          <a:xfrm>
            <a:off x="5989320" y="4471416"/>
            <a:ext cx="3200400" cy="1170432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9050">
            <a:solidFill>
              <a:srgbClr val="8A5F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172200" y="45628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5FB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A5FBF"/>
                </a:solidFill>
                <a:latin typeface="Calibri"/>
                <a:ea typeface="Calibri"/>
                <a:cs typeface="Calibri"/>
                <a:sym typeface="Calibri"/>
              </a:rPr>
              <a:t>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6172200" y="4892040"/>
            <a:ext cx="283464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id (PK)  ·  user_id (FK)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symbol, qty, price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  <a:t>type (BUY | SELL)</a:t>
            </a:r>
            <a:br>
              <a:rPr b="0" i="0" lang="en-US" sz="950" u="none" cap="none" strike="noStrike">
                <a:solidFill>
                  <a:srgbClr val="6B778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9326880" y="4919472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3849624" y="3479292"/>
            <a:ext cx="274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48640" y="6080760"/>
            <a:ext cx="11064240" cy="566928"/>
          </a:xfrm>
          <a:prstGeom prst="roundRect">
            <a:avLst>
              <a:gd fmla="val 9677" name="adj"/>
            </a:avLst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822960" y="60807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ON DELETE CASCADE  —  removing a user automatically clears their watchlist, portfolio, and transaction history.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4–5 · CORE CAPABILITIES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FFFFFF.pn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20939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804672" y="262432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Pro Charting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804672" y="299008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8 timeframes with SMA, EMA, RSI &amp; MACD, updated every 5 seconds intraday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4251960" y="169164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4507992" y="1947672"/>
            <a:ext cx="548640" cy="548640"/>
          </a:xfrm>
          <a:prstGeom prst="ellipse">
            <a:avLst/>
          </a:prstGeom>
          <a:solidFill>
            <a:srgbClr val="1542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ie-chart-FFFFFF.png" id="298" name="Google Shape;29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54296" y="20939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3"/>
          <p:cNvSpPr/>
          <p:nvPr/>
        </p:nvSpPr>
        <p:spPr>
          <a:xfrm>
            <a:off x="4507992" y="262432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Portfolio Simulator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4507992" y="299008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Virtual cash balance with buy/sell, avg. cost, and live P&amp;L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7955280" y="169164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8211312" y="1947672"/>
            <a:ext cx="548640" cy="54864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ollar-FFFFFF.png" id="303" name="Google Shape;30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57616" y="20939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3"/>
          <p:cNvSpPr/>
          <p:nvPr/>
        </p:nvSpPr>
        <p:spPr>
          <a:xfrm>
            <a:off x="8211312" y="262432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Nepal Charge Engine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211312" y="299008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SEBON 5-tier commission, regulatory fee, DP charge &amp; CGT — auto-computed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548640" y="4069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804672" y="4325112"/>
            <a:ext cx="548640" cy="5486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tar-FFFFFF.png" id="308" name="Google Shape;30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976" y="44714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3"/>
          <p:cNvSpPr/>
          <p:nvPr/>
        </p:nvSpPr>
        <p:spPr>
          <a:xfrm>
            <a:off x="804672" y="500176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Watchlist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/>
          <p:nvPr/>
        </p:nvSpPr>
        <p:spPr>
          <a:xfrm>
            <a:off x="804672" y="536752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Personalized tracking with live 30-second price refresh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4251960" y="4069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4507992" y="4325112"/>
            <a:ext cx="548640" cy="548640"/>
          </a:xfrm>
          <a:prstGeom prst="ellipse">
            <a:avLst/>
          </a:prstGeom>
          <a:solidFill>
            <a:srgbClr val="1542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ock-FFFFFF.png" id="313" name="Google Shape;31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4296" y="44714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3"/>
          <p:cNvSpPr/>
          <p:nvPr/>
        </p:nvSpPr>
        <p:spPr>
          <a:xfrm>
            <a:off x="4507992" y="500176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Dual Authentication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4507992" y="536752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Email + OTP verification, and Google OAuth 2.0 with JWT sessions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955280" y="4069080"/>
            <a:ext cx="3520440" cy="2148840"/>
          </a:xfrm>
          <a:prstGeom prst="roundRect">
            <a:avLst>
              <a:gd fmla="val 3830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8211312" y="4325112"/>
            <a:ext cx="548640" cy="54864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martphone-FFFFFF.png" id="318" name="Google Shape;318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7616" y="44714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3"/>
          <p:cNvSpPr/>
          <p:nvPr/>
        </p:nvSpPr>
        <p:spPr>
          <a:xfrm>
            <a:off x="8211312" y="5001768"/>
            <a:ext cx="300837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Responsive Design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8211312" y="5367528"/>
            <a:ext cx="3008376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Fully dark-themed UI that works on desktop, Android &amp; iOS browsers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5 · IMPLEMENTATION DETAIL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Nepal-Compliant Transaction Charges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48640" y="15087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Broker Commission Tier 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1" name="Google Shape;331;p14"/>
          <p:cNvGraphicFramePr/>
          <p:nvPr/>
        </p:nvGraphicFramePr>
        <p:xfrm>
          <a:off x="54864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{1E4E07E8-35BB-46AB-AF68-E841BD71D860}</a:tableStyleId>
              </a:tblPr>
              <a:tblGrid>
                <a:gridCol w="3931925"/>
                <a:gridCol w="1645925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Transaction Amount (Rs.)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Rate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</a:rPr>
                        <a:t>Up to 50,000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</a:rPr>
                        <a:t>0.36%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</a:rPr>
                        <a:t>50,001 – 5,00,000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</a:rPr>
                        <a:t>0.33%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</a:rPr>
                        <a:t>5,00,001 – 20,00,000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</a:rPr>
                        <a:t>0.31%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</a:rPr>
                        <a:t>20,00,001 – 1,00,00,000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</a:rPr>
                        <a:t>0.27%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1A2233"/>
                          </a:solidFill>
                        </a:rPr>
                        <a:t>Above 1,00,00,000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1A2233"/>
                          </a:solidFill>
                        </a:rPr>
                        <a:t>0.24%</a:t>
                      </a:r>
                      <a:endParaRPr sz="1150" u="none" cap="none" strike="noStrike"/>
                    </a:p>
                  </a:txBody>
                  <a:tcPr marT="50800" marB="50800" marR="101600" marL="1016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2" name="Google Shape;332;p14"/>
          <p:cNvSpPr/>
          <p:nvPr/>
        </p:nvSpPr>
        <p:spPr>
          <a:xfrm>
            <a:off x="548640" y="448056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+ 0.015% SEBON regulatory fee   +   Rs. 25 fixed DP charge per sell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6446520" y="1508760"/>
            <a:ext cx="5166360" cy="3337560"/>
          </a:xfrm>
          <a:prstGeom prst="roundRect">
            <a:avLst>
              <a:gd fmla="val 2740" name="adj"/>
            </a:avLst>
          </a:prstGeom>
          <a:solidFill>
            <a:srgbClr val="0F1E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ollar-6FE3A6.png" id="334" name="Google Shape;33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0840" y="17373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14"/>
          <p:cNvSpPr/>
          <p:nvPr/>
        </p:nvSpPr>
        <p:spPr>
          <a:xfrm>
            <a:off x="7223760" y="178308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libri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Capital Gains Tax (CGT)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6720840" y="2331720"/>
            <a:ext cx="2286000" cy="1051560"/>
          </a:xfrm>
          <a:prstGeom prst="roundRect">
            <a:avLst>
              <a:gd fmla="val 6087" name="adj"/>
            </a:avLst>
          </a:prstGeom>
          <a:solidFill>
            <a:srgbClr val="162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6720840" y="24231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FE3A6"/>
                </a:solidFill>
                <a:latin typeface="Cambria"/>
                <a:ea typeface="Cambria"/>
                <a:cs typeface="Cambria"/>
                <a:sym typeface="Cambria"/>
              </a:rPr>
              <a:t>7.5%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6720840" y="29992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6D3EC"/>
                </a:solidFill>
                <a:latin typeface="Calibri"/>
                <a:ea typeface="Calibri"/>
                <a:cs typeface="Calibri"/>
                <a:sym typeface="Calibri"/>
              </a:rPr>
              <a:t>Short-term profit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9144000" y="2331720"/>
            <a:ext cx="2286000" cy="1051560"/>
          </a:xfrm>
          <a:prstGeom prst="roundRect">
            <a:avLst>
              <a:gd fmla="val 6087" name="adj"/>
            </a:avLst>
          </a:prstGeom>
          <a:solidFill>
            <a:srgbClr val="1626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/>
          <p:nvPr/>
        </p:nvSpPr>
        <p:spPr>
          <a:xfrm>
            <a:off x="9144000" y="242316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6FE3A6"/>
                </a:solidFill>
                <a:latin typeface="Cambria"/>
                <a:ea typeface="Cambria"/>
                <a:cs typeface="Cambria"/>
                <a:sym typeface="Cambria"/>
              </a:rPr>
              <a:t>5.0%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9144000" y="2999232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6D3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6D3EC"/>
                </a:solidFill>
                <a:latin typeface="Calibri"/>
                <a:ea typeface="Calibri"/>
                <a:cs typeface="Calibri"/>
                <a:sym typeface="Calibri"/>
              </a:rPr>
              <a:t>Long-term profit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4"/>
          <p:cNvSpPr/>
          <p:nvPr/>
        </p:nvSpPr>
        <p:spPr>
          <a:xfrm>
            <a:off x="6720840" y="3657600"/>
            <a:ext cx="4617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No tax is applied on realized losses — verified in unit test UT-08.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/>
          <p:nvPr/>
        </p:nvSpPr>
        <p:spPr>
          <a:xfrm>
            <a:off x="6446520" y="5029200"/>
            <a:ext cx="5166360" cy="1234440"/>
          </a:xfrm>
          <a:prstGeom prst="roundRect">
            <a:avLst>
              <a:gd fmla="val 7407" name="adj"/>
            </a:avLst>
          </a:prstGeom>
          <a:solidFill>
            <a:srgbClr val="EAF7EF"/>
          </a:solidFill>
          <a:ln cap="flat" cmpd="sng" w="12700">
            <a:solidFill>
              <a:srgbClr val="CDEB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-circle-1FAA59.png" id="344" name="Google Shape;34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523036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4"/>
          <p:cNvSpPr/>
          <p:nvPr/>
        </p:nvSpPr>
        <p:spPr>
          <a:xfrm>
            <a:off x="7086600" y="5074920"/>
            <a:ext cx="434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E6B36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E6B36"/>
                </a:solidFill>
                <a:latin typeface="Calibri"/>
                <a:ea typeface="Calibri"/>
                <a:cs typeface="Calibri"/>
                <a:sym typeface="Calibri"/>
              </a:rPr>
              <a:t>All four charges</a:t>
            </a:r>
            <a:r>
              <a:rPr b="0" i="0" lang="en-US" sz="115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 — commission, SEBON fee, DP charge, CGT — are shown to the user before a trade is confirmed.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CHAPTER 3 · TECHNOLOGY STACK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Built With Modern, Open-Source Tools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48640" y="1737360"/>
            <a:ext cx="2606040" cy="4297680"/>
          </a:xfrm>
          <a:prstGeom prst="roundRect">
            <a:avLst>
              <a:gd fmla="val 3158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1559052" y="201168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-FFFFFF.png" id="357" name="Google Shape;3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5356" y="21579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5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777240" y="32461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React 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777240" y="37307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TypeScript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777240" y="421538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Vite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777240" y="4700016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Tailwind CSS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777240" y="518464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Lightweight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3374136" y="1737360"/>
            <a:ext cx="2606100" cy="4297800"/>
          </a:xfrm>
          <a:prstGeom prst="roundRect">
            <a:avLst>
              <a:gd fmla="val 3158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4384548" y="201168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erver-FFFFFF.png" id="366" name="Google Shape;3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30852" y="21579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/>
          <p:nvPr/>
        </p:nvSpPr>
        <p:spPr>
          <a:xfrm>
            <a:off x="3374136" y="2743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3602736" y="3301002"/>
            <a:ext cx="2148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Express.js v5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6199632" y="1737360"/>
            <a:ext cx="2606040" cy="4297680"/>
          </a:xfrm>
          <a:prstGeom prst="roundRect">
            <a:avLst>
              <a:gd fmla="val 3158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7210044" y="201168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-FFFFFF.png" id="371" name="Google Shape;37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6348" y="21579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/>
          <p:nvPr/>
        </p:nvSpPr>
        <p:spPr>
          <a:xfrm>
            <a:off x="6199632" y="2743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Auth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/>
          <p:nvPr/>
        </p:nvSpPr>
        <p:spPr>
          <a:xfrm>
            <a:off x="6428232" y="32461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SQLite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5"/>
          <p:cNvSpPr/>
          <p:nvPr/>
        </p:nvSpPr>
        <p:spPr>
          <a:xfrm>
            <a:off x="6428232" y="37307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/>
          <p:nvPr/>
        </p:nvSpPr>
        <p:spPr>
          <a:xfrm>
            <a:off x="6428232" y="421538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bcrypt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6428232" y="4700016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Google OAuth 2.0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5"/>
          <p:cNvSpPr/>
          <p:nvPr/>
        </p:nvSpPr>
        <p:spPr>
          <a:xfrm>
            <a:off x="6428232" y="518464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Email OTP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5"/>
          <p:cNvSpPr/>
          <p:nvPr/>
        </p:nvSpPr>
        <p:spPr>
          <a:xfrm>
            <a:off x="9025128" y="1737360"/>
            <a:ext cx="2606040" cy="4297680"/>
          </a:xfrm>
          <a:prstGeom prst="roundRect">
            <a:avLst>
              <a:gd fmla="val 3158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0035540" y="201168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lobe-FFFFFF.png" id="380" name="Google Shape;38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81844" y="215798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5"/>
          <p:cNvSpPr/>
          <p:nvPr/>
        </p:nvSpPr>
        <p:spPr>
          <a:xfrm>
            <a:off x="9025128" y="274320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5"/>
          <p:cNvSpPr/>
          <p:nvPr/>
        </p:nvSpPr>
        <p:spPr>
          <a:xfrm>
            <a:off x="9253728" y="32461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Vercel (Frontend)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5"/>
          <p:cNvSpPr/>
          <p:nvPr/>
        </p:nvSpPr>
        <p:spPr>
          <a:xfrm>
            <a:off x="9253728" y="3730752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Render (Backend API)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5"/>
          <p:cNvSpPr/>
          <p:nvPr/>
        </p:nvSpPr>
        <p:spPr>
          <a:xfrm>
            <a:off x="9253728" y="4215384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@rumess/nepse-api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5"/>
          <p:cNvSpPr/>
          <p:nvPr/>
        </p:nvSpPr>
        <p:spPr>
          <a:xfrm>
            <a:off x="9253728" y="4700016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HTTPS everywhere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5"/>
          <p:cNvSpPr/>
          <p:nvPr/>
        </p:nvSpPr>
        <p:spPr>
          <a:xfrm>
            <a:off x="9253728" y="5184648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0F2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D7E0F2"/>
                </a:solidFill>
                <a:latin typeface="Calibri"/>
                <a:ea typeface="Calibri"/>
                <a:cs typeface="Calibri"/>
                <a:sym typeface="Calibri"/>
              </a:rPr>
              <a:t>•  Git / GitHub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5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Total development cost: Rs. 500  (printing &amp; binding only — everything else is open-source or free-tier)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5–6 · TESTING &amp; RESULTS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Testing Summary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548640" y="1764792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FAA59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6"/>
          <p:cNvSpPr/>
          <p:nvPr/>
        </p:nvSpPr>
        <p:spPr>
          <a:xfrm>
            <a:off x="548640" y="25603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Unit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6"/>
          <p:cNvSpPr/>
          <p:nvPr/>
        </p:nvSpPr>
        <p:spPr>
          <a:xfrm>
            <a:off x="548640" y="2880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100% pass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6"/>
          <p:cNvSpPr/>
          <p:nvPr/>
        </p:nvSpPr>
        <p:spPr>
          <a:xfrm>
            <a:off x="4251960" y="1600200"/>
            <a:ext cx="352044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6"/>
          <p:cNvSpPr/>
          <p:nvPr/>
        </p:nvSpPr>
        <p:spPr>
          <a:xfrm>
            <a:off x="4251960" y="1764792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AA59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FAA59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6"/>
          <p:cNvSpPr/>
          <p:nvPr/>
        </p:nvSpPr>
        <p:spPr>
          <a:xfrm>
            <a:off x="4251960" y="25603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Integration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6"/>
          <p:cNvSpPr/>
          <p:nvPr/>
        </p:nvSpPr>
        <p:spPr>
          <a:xfrm>
            <a:off x="4251960" y="2880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100% pass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6"/>
          <p:cNvSpPr/>
          <p:nvPr/>
        </p:nvSpPr>
        <p:spPr>
          <a:xfrm>
            <a:off x="7955280" y="1600200"/>
            <a:ext cx="3520440" cy="1737360"/>
          </a:xfrm>
          <a:prstGeom prst="roundRect">
            <a:avLst>
              <a:gd fmla="val 4737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A2233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7955280" y="1764792"/>
            <a:ext cx="3520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6"/>
          <p:cNvSpPr/>
          <p:nvPr/>
        </p:nvSpPr>
        <p:spPr>
          <a:xfrm>
            <a:off x="7955280" y="256032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Beta User Tests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6"/>
          <p:cNvSpPr/>
          <p:nvPr/>
        </p:nvSpPr>
        <p:spPr>
          <a:xfrm>
            <a:off x="7955280" y="28803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91.6% pass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6"/>
          <p:cNvSpPr/>
          <p:nvPr/>
        </p:nvSpPr>
        <p:spPr>
          <a:xfrm>
            <a:off x="548640" y="3611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Sample Unit 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0" name="Google Shape;410;p16"/>
          <p:cNvGraphicFramePr/>
          <p:nvPr/>
        </p:nvGraphicFramePr>
        <p:xfrm>
          <a:off x="548640" y="3977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{1E4E07E8-35BB-46AB-AF68-E841BD71D860}</a:tableStyleId>
              </a:tblPr>
              <a:tblGrid>
                <a:gridCol w="822950"/>
                <a:gridCol w="2468875"/>
                <a:gridCol w="22860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ID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Input → Expected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UT-01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calculateBrokerCommission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Rs. 50,000 → Rs. 180.00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UT-06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calculateCapitalGainsTax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profit 10,000, 200 days → Rs. 750.00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UT-11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buildPortfolioState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SELL qty &gt; held → throws error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1" name="Google Shape;411;p16"/>
          <p:cNvSpPr/>
          <p:nvPr/>
        </p:nvSpPr>
        <p:spPr>
          <a:xfrm>
            <a:off x="6355080" y="36118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Sample Integration Test Cases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2" name="Google Shape;412;p16"/>
          <p:cNvGraphicFramePr/>
          <p:nvPr/>
        </p:nvGraphicFramePr>
        <p:xfrm>
          <a:off x="6355080" y="3977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{1E4E07E8-35BB-46AB-AF68-E841BD71D860}</a:tableStyleId>
              </a:tblPr>
              <a:tblGrid>
                <a:gridCol w="822950"/>
                <a:gridCol w="2651750"/>
                <a:gridCol w="18288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ID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Result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5427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IT-06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/api/auth/login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200 {token}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IT-11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/api/user/trade (BUY)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201 {transaction}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IT-15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Protected route, no token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2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233"/>
                          </a:solidFill>
                        </a:rPr>
                        <a:t>401 Unauthorized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7E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3" name="Google Shape;413;p1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LIVE APPLICATION WALKTHROUGH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NEPSE Pro in Action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548640" y="1600200"/>
            <a:ext cx="3611880" cy="2212848"/>
          </a:xfrm>
          <a:prstGeom prst="roundRect">
            <a:avLst>
              <a:gd fmla="val 2479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g-020.png" id="423" name="Google Shape;4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504" y="1655064"/>
            <a:ext cx="3502152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7"/>
          <p:cNvSpPr/>
          <p:nvPr/>
        </p:nvSpPr>
        <p:spPr>
          <a:xfrm>
            <a:off x="548640" y="39227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640080" y="4270248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Index, market summary, top gainers &amp; losers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4306824" y="1600200"/>
            <a:ext cx="3611880" cy="2212848"/>
          </a:xfrm>
          <a:prstGeom prst="roundRect">
            <a:avLst>
              <a:gd fmla="val 2479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g-023.png" id="427" name="Google Shape;42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1688" y="1655064"/>
            <a:ext cx="3502152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17"/>
          <p:cNvSpPr/>
          <p:nvPr/>
        </p:nvSpPr>
        <p:spPr>
          <a:xfrm>
            <a:off x="4306824" y="39227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 Charts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4398264" y="4270248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Candlesticks with SMA, RSI &amp; volume overlay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8065008" y="1600200"/>
            <a:ext cx="3611880" cy="2212848"/>
          </a:xfrm>
          <a:prstGeom prst="roundRect">
            <a:avLst>
              <a:gd fmla="val 2479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mgs/pg-027.png" id="431" name="Google Shape;4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9872" y="1655064"/>
            <a:ext cx="3502152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7"/>
          <p:cNvSpPr/>
          <p:nvPr/>
        </p:nvSpPr>
        <p:spPr>
          <a:xfrm>
            <a:off x="8065008" y="3922776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Portfolio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7"/>
          <p:cNvSpPr/>
          <p:nvPr/>
        </p:nvSpPr>
        <p:spPr>
          <a:xfrm>
            <a:off x="8156448" y="4270248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Holdings, unrealized P&amp;L &amp; transaction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85B3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E85B3"/>
                </a:solidFill>
                <a:latin typeface="Calibri"/>
                <a:ea typeface="Calibri"/>
                <a:cs typeface="Calibri"/>
                <a:sym typeface="Calibri"/>
              </a:rPr>
              <a:t>Also available: Market Watch, Watchlist, Google OAuth sign-in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7"/>
          <p:cNvSpPr txBox="1"/>
          <p:nvPr/>
        </p:nvSpPr>
        <p:spPr>
          <a:xfrm>
            <a:off x="4742850" y="509868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visit : </a:t>
            </a:r>
            <a:r>
              <a:rPr lang="en-US">
                <a:solidFill>
                  <a:srgbClr val="FF0000"/>
                </a:solidFill>
              </a:rPr>
              <a:t>https://nepse-pro.vercel.app/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1 · DELIVERED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Key Achievements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48640" y="1691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/>
          <p:nvPr/>
        </p:nvSpPr>
        <p:spPr>
          <a:xfrm>
            <a:off x="768096" y="1911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globe-FFFFFF.png" id="447" name="Google Shape;4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8"/>
          <p:cNvSpPr/>
          <p:nvPr/>
        </p:nvSpPr>
        <p:spPr>
          <a:xfrm>
            <a:off x="768096" y="2496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Deployed publicly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68096" y="2990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Frontend on Vercel, backend API on Render — accessible 24/7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251960" y="1691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4471416" y="1911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ctivity-FFFFFF.png" id="452" name="Google Shape;4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90288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18"/>
          <p:cNvSpPr/>
          <p:nvPr/>
        </p:nvSpPr>
        <p:spPr>
          <a:xfrm>
            <a:off x="4471416" y="2496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Real-time data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4471416" y="2990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@rumess/nepse-api with in-memory caching for live index &amp; market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7955280" y="1691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8174736" y="1911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FFFFFF.png" id="457" name="Google Shape;4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3608" y="2029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8"/>
          <p:cNvSpPr/>
          <p:nvPr/>
        </p:nvSpPr>
        <p:spPr>
          <a:xfrm>
            <a:off x="8174736" y="2496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Professional charting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8174736" y="2990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TradingView-inspired charts, 8 timeframes, 4 indicators, drawing tools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548640" y="3977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768096" y="4197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ollar-FFFFFF.png" id="462" name="Google Shape;46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968" y="4315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18"/>
          <p:cNvSpPr/>
          <p:nvPr/>
        </p:nvSpPr>
        <p:spPr>
          <a:xfrm>
            <a:off x="768096" y="4782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Nepal-compliant charge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768096" y="5276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5-tier commission, SEBON fee, DP charge, and CGT calculated correctly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4251960" y="3977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4471416" y="4197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lock-FFFFFF.png" id="467" name="Google Shape;46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90288" y="4315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8"/>
          <p:cNvSpPr/>
          <p:nvPr/>
        </p:nvSpPr>
        <p:spPr>
          <a:xfrm>
            <a:off x="4471416" y="4782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Dual authentication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4471416" y="5276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Email OTP (Nodemailer) + Google OAuth 2.0, JWT session management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7955280" y="3977640"/>
            <a:ext cx="3520440" cy="2103120"/>
          </a:xfrm>
          <a:prstGeom prst="roundRect">
            <a:avLst>
              <a:gd fmla="val 3913" name="adj"/>
            </a:avLst>
          </a:prstGeom>
          <a:solidFill>
            <a:srgbClr val="FFFFFF"/>
          </a:solidFill>
          <a:ln cap="flat" cmpd="sng" w="12700">
            <a:solidFill>
              <a:srgbClr val="E3E7E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A2233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8174736" y="4197096"/>
            <a:ext cx="457200" cy="457200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efresh-cw-FFFFFF.png" id="472" name="Google Shape;47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93608" y="4315968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8"/>
          <p:cNvSpPr/>
          <p:nvPr/>
        </p:nvSpPr>
        <p:spPr>
          <a:xfrm>
            <a:off x="8174736" y="4782312"/>
            <a:ext cx="30815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FIFO portfolio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8174736" y="5276088"/>
            <a:ext cx="30815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Reconstructs holdings &amp; realized P&amp;L from ordered transaction history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9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CHAPTER 7 · HONEST ASSESSMENT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A2233"/>
                </a:solidFill>
                <a:latin typeface="Cambria"/>
                <a:ea typeface="Cambria"/>
                <a:cs typeface="Cambria"/>
                <a:sym typeface="Cambria"/>
              </a:rPr>
              <a:t>Current Limitations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548640" y="1691640"/>
            <a:ext cx="11064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x-circle-D64545.png" id="485" name="Google Shape;48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92481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19"/>
          <p:cNvSpPr/>
          <p:nvPr/>
        </p:nvSpPr>
        <p:spPr>
          <a:xfrm>
            <a:off x="1234440" y="1691640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Virtual trading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9"/>
          <p:cNvSpPr/>
          <p:nvPr/>
        </p:nvSpPr>
        <p:spPr>
          <a:xfrm>
            <a:off x="4937760" y="1691640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real orders through licensed NEPSE brokers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548640" y="2450592"/>
            <a:ext cx="11064240" cy="758952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lert-triangle-D64545.png" id="489" name="Google Shape;4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68376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9"/>
          <p:cNvSpPr/>
          <p:nvPr/>
        </p:nvSpPr>
        <p:spPr>
          <a:xfrm>
            <a:off x="1234440" y="2450592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Dependent on unofficial API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9"/>
          <p:cNvSpPr/>
          <p:nvPr/>
        </p:nvSpPr>
        <p:spPr>
          <a:xfrm>
            <a:off x="4937760" y="2450592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Downtime or changes upstream can affect functionality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548640" y="3209544"/>
            <a:ext cx="11064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-D64545.png" id="493" name="Google Shape;4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" y="344271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19"/>
          <p:cNvSpPr/>
          <p:nvPr/>
        </p:nvSpPr>
        <p:spPr>
          <a:xfrm>
            <a:off x="1234440" y="3209544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SQLite at small scale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4937760" y="3209544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Suitable for academic use, not high-concurrency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548640" y="3968496"/>
            <a:ext cx="11064240" cy="758952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lock-D64545.png" id="497" name="Google Shape;49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" y="42016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9"/>
          <p:cNvSpPr/>
          <p:nvPr/>
        </p:nvSpPr>
        <p:spPr>
          <a:xfrm>
            <a:off x="1234440" y="3968496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Polling, not WebSockets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9"/>
          <p:cNvSpPr/>
          <p:nvPr/>
        </p:nvSpPr>
        <p:spPr>
          <a:xfrm>
            <a:off x="4937760" y="3968496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Fixed-interval refresh can introduce slight delay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548640" y="4727448"/>
            <a:ext cx="11064240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D64545.png" id="501" name="Google Shape;50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7240" y="49606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9"/>
          <p:cNvSpPr/>
          <p:nvPr/>
        </p:nvSpPr>
        <p:spPr>
          <a:xfrm>
            <a:off x="1234440" y="4727448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Limited fundamental analysis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9"/>
          <p:cNvSpPr/>
          <p:nvPr/>
        </p:nvSpPr>
        <p:spPr>
          <a:xfrm>
            <a:off x="4937760" y="4727448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No EPS, P/E ratio, book value, or dividend history yet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548640" y="5486400"/>
            <a:ext cx="11064240" cy="758952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ell-D64545.png" id="505" name="Google Shape;505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" y="571957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9"/>
          <p:cNvSpPr/>
          <p:nvPr/>
        </p:nvSpPr>
        <p:spPr>
          <a:xfrm>
            <a:off x="1234440" y="5486400"/>
            <a:ext cx="356616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233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2233"/>
                </a:solidFill>
                <a:latin typeface="Calibri"/>
                <a:ea typeface="Calibri"/>
                <a:cs typeface="Calibri"/>
                <a:sym typeface="Calibri"/>
              </a:rPr>
              <a:t>No price alerts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9"/>
          <p:cNvSpPr/>
          <p:nvPr/>
        </p:nvSpPr>
        <p:spPr>
          <a:xfrm>
            <a:off x="4937760" y="5486400"/>
            <a:ext cx="649224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Users cannot yet set target-price 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78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789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CHAPTER 7 · WHAT'S NEXT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0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0"/>
          <p:cNvSpPr/>
          <p:nvPr/>
        </p:nvSpPr>
        <p:spPr>
          <a:xfrm>
            <a:off x="749808" y="21899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zap-FFFFFF.png" id="519" name="Google Shape;5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824" y="23180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20"/>
          <p:cNvSpPr/>
          <p:nvPr/>
        </p:nvSpPr>
        <p:spPr>
          <a:xfrm>
            <a:off x="1417320" y="17373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streaming via WebSockets.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0"/>
          <p:cNvSpPr/>
          <p:nvPr/>
        </p:nvSpPr>
        <p:spPr>
          <a:xfrm>
            <a:off x="4251960" y="17373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0"/>
          <p:cNvSpPr/>
          <p:nvPr/>
        </p:nvSpPr>
        <p:spPr>
          <a:xfrm>
            <a:off x="4453128" y="21899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ell-FFFFFF.png" id="523" name="Google Shape;5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144" y="23180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0"/>
          <p:cNvSpPr/>
          <p:nvPr/>
        </p:nvSpPr>
        <p:spPr>
          <a:xfrm>
            <a:off x="5120640" y="17373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Price alert notifications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7955280" y="17373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0"/>
          <p:cNvSpPr/>
          <p:nvPr/>
        </p:nvSpPr>
        <p:spPr>
          <a:xfrm>
            <a:off x="8156448" y="21899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ar-chart-FFFFFF.png" id="527" name="Google Shape;52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84464" y="23180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0"/>
          <p:cNvSpPr/>
          <p:nvPr/>
        </p:nvSpPr>
        <p:spPr>
          <a:xfrm>
            <a:off x="8823960" y="17373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Fundamental analysis (EPS, P/E, dividends)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0"/>
          <p:cNvSpPr/>
          <p:nvPr/>
        </p:nvSpPr>
        <p:spPr>
          <a:xfrm>
            <a:off x="548640" y="33375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749808" y="37901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pie-chart-FFFFFF.png" id="531" name="Google Shape;5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824" y="39182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20"/>
          <p:cNvSpPr/>
          <p:nvPr/>
        </p:nvSpPr>
        <p:spPr>
          <a:xfrm>
            <a:off x="1417320" y="33375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portfolio analytics &amp; risk metrics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4251960" y="33375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4453128" y="37901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refresh-cw-FFFFFF.png" id="535" name="Google Shape;53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81144" y="39182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20"/>
          <p:cNvSpPr/>
          <p:nvPr/>
        </p:nvSpPr>
        <p:spPr>
          <a:xfrm>
            <a:off x="5120640" y="33375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portfolio import from brokers / 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7955280" y="33375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8156448" y="37901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ok-open-FFFFFF.png" id="539" name="Google Shape;539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84464" y="39182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20"/>
          <p:cNvSpPr/>
          <p:nvPr/>
        </p:nvSpPr>
        <p:spPr>
          <a:xfrm>
            <a:off x="8823960" y="33375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NEPSE news &amp; SEBON announcements feed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548640" y="49377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749808" y="53903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database-FFFFFF.png" id="543" name="Google Shape;543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7824" y="55184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20"/>
          <p:cNvSpPr/>
          <p:nvPr/>
        </p:nvSpPr>
        <p:spPr>
          <a:xfrm>
            <a:off x="1417320" y="49377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upgrade to PostgreSQL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4251960" y="49377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4453128" y="53903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martphone-FFFFFF.png" id="547" name="Google Shape;547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81144" y="55184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20"/>
          <p:cNvSpPr/>
          <p:nvPr/>
        </p:nvSpPr>
        <p:spPr>
          <a:xfrm>
            <a:off x="5120640" y="49377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Native mobile app (React Native)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7955280" y="4937760"/>
            <a:ext cx="3520440" cy="1417320"/>
          </a:xfrm>
          <a:prstGeom prst="roundRect">
            <a:avLst>
              <a:gd fmla="val 5161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8156448" y="5390388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pu-FFFFFF.png" id="551" name="Google Shape;55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284464" y="551840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0"/>
          <p:cNvSpPr/>
          <p:nvPr/>
        </p:nvSpPr>
        <p:spPr>
          <a:xfrm>
            <a:off x="8823960" y="49377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AI-based market insights &amp; summaries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CHAPTER 7 · 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NEPSE Pro Delivers on Its Objectives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1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single, cost-effective platform that brings real-time NEPSE data, technical analysis, and Nepal-specific charge-aware portfolio simulation together — something no existing platform offers.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548640" y="2606040"/>
            <a:ext cx="5394960" cy="1737360"/>
          </a:xfrm>
          <a:prstGeom prst="roundRect">
            <a:avLst>
              <a:gd fmla="val 4737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804672" y="2862072"/>
            <a:ext cx="530352" cy="530352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award-FFFFFF.png" id="565" name="Google Shape;56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0976" y="3008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21"/>
          <p:cNvSpPr/>
          <p:nvPr/>
        </p:nvSpPr>
        <p:spPr>
          <a:xfrm>
            <a:off x="1508760" y="28346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Cost-effective &amp; scalable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1508760" y="32278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E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EDD"/>
                </a:solidFill>
                <a:latin typeface="Calibri"/>
                <a:ea typeface="Calibri"/>
                <a:cs typeface="Calibri"/>
                <a:sym typeface="Calibri"/>
              </a:rPr>
              <a:t>Built entirely on open-source technology for approx. Rs. 500 total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6217920" y="2606040"/>
            <a:ext cx="5394960" cy="1737360"/>
          </a:xfrm>
          <a:prstGeom prst="roundRect">
            <a:avLst>
              <a:gd fmla="val 4737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21"/>
          <p:cNvSpPr/>
          <p:nvPr/>
        </p:nvSpPr>
        <p:spPr>
          <a:xfrm>
            <a:off x="6473952" y="2862072"/>
            <a:ext cx="530352" cy="530352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shield-FFFFFF.png" id="570" name="Google Shape;57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0256" y="30083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1"/>
          <p:cNvSpPr/>
          <p:nvPr/>
        </p:nvSpPr>
        <p:spPr>
          <a:xfrm>
            <a:off x="7178040" y="28346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Secure by design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7178040" y="322783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E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EDD"/>
                </a:solidFill>
                <a:latin typeface="Calibri"/>
                <a:ea typeface="Calibri"/>
                <a:cs typeface="Calibri"/>
                <a:sym typeface="Calibri"/>
              </a:rPr>
              <a:t>JWT, bcrypt hashing, OTP verification &amp; Google OAuth 2.0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548640" y="4526280"/>
            <a:ext cx="5394960" cy="1737360"/>
          </a:xfrm>
          <a:prstGeom prst="roundRect">
            <a:avLst>
              <a:gd fmla="val 4737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1"/>
          <p:cNvSpPr/>
          <p:nvPr/>
        </p:nvSpPr>
        <p:spPr>
          <a:xfrm>
            <a:off x="804672" y="4782312"/>
            <a:ext cx="530352" cy="530352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check-circle-FFFFFF.png" id="575" name="Google Shape;57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0976" y="4928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21"/>
          <p:cNvSpPr/>
          <p:nvPr/>
        </p:nvSpPr>
        <p:spPr>
          <a:xfrm>
            <a:off x="1508760" y="47548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lang="en-US" sz="14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well</a:t>
            </a: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tested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1508760" y="514807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E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EDD"/>
                </a:solidFill>
                <a:latin typeface="Calibri"/>
                <a:ea typeface="Calibri"/>
                <a:cs typeface="Calibri"/>
                <a:sym typeface="Calibri"/>
              </a:rPr>
              <a:t>100% unit &amp; integration pass rate across 27 test cases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1"/>
          <p:cNvSpPr/>
          <p:nvPr/>
        </p:nvSpPr>
        <p:spPr>
          <a:xfrm>
            <a:off x="6217920" y="4526280"/>
            <a:ext cx="5394960" cy="1737360"/>
          </a:xfrm>
          <a:prstGeom prst="roundRect">
            <a:avLst>
              <a:gd fmla="val 4737" name="adj"/>
            </a:avLst>
          </a:prstGeom>
          <a:solidFill>
            <a:srgbClr val="16264A"/>
          </a:solidFill>
          <a:ln cap="flat" cmpd="sng" w="1270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21"/>
          <p:cNvSpPr/>
          <p:nvPr/>
        </p:nvSpPr>
        <p:spPr>
          <a:xfrm>
            <a:off x="6473952" y="4782312"/>
            <a:ext cx="530352" cy="530352"/>
          </a:xfrm>
          <a:prstGeom prst="ellipse">
            <a:avLst/>
          </a:prstGeom>
          <a:solidFill>
            <a:srgbClr val="1FAA5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icons/book-open-FFFFFF.png" id="580" name="Google Shape;58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0256" y="49286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1"/>
          <p:cNvSpPr/>
          <p:nvPr/>
        </p:nvSpPr>
        <p:spPr>
          <a:xfrm>
            <a:off x="7178040" y="47548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learning platform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7178040" y="5148072"/>
            <a:ext cx="4206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EBEDD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EBEDD"/>
                </a:solidFill>
                <a:latin typeface="Calibri"/>
                <a:ea typeface="Calibri"/>
                <a:cs typeface="Calibri"/>
                <a:sym typeface="Calibri"/>
              </a:rPr>
              <a:t>Practical value for students, beginners &amp; retail investors alike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NEPSE PRO — PROJECT DEFENCE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E3C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2"/>
          <p:cNvSpPr/>
          <p:nvPr/>
        </p:nvSpPr>
        <p:spPr>
          <a:xfrm>
            <a:off x="914400" y="5303520"/>
            <a:ext cx="201168" cy="100584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1" name="Google Shape;591;p22"/>
          <p:cNvCxnSpPr/>
          <p:nvPr/>
        </p:nvCxnSpPr>
        <p:spPr>
          <a:xfrm>
            <a:off x="1014984" y="5138928"/>
            <a:ext cx="0" cy="133502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2" name="Google Shape;592;p22"/>
          <p:cNvSpPr/>
          <p:nvPr/>
        </p:nvSpPr>
        <p:spPr>
          <a:xfrm>
            <a:off x="1280160" y="4754880"/>
            <a:ext cx="201168" cy="155448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3" name="Google Shape;593;p22"/>
          <p:cNvCxnSpPr/>
          <p:nvPr/>
        </p:nvCxnSpPr>
        <p:spPr>
          <a:xfrm>
            <a:off x="1380744" y="4590288"/>
            <a:ext cx="0" cy="188366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4" name="Google Shape;594;p22"/>
          <p:cNvSpPr/>
          <p:nvPr/>
        </p:nvSpPr>
        <p:spPr>
          <a:xfrm>
            <a:off x="1645920" y="5577840"/>
            <a:ext cx="201168" cy="7315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5" name="Google Shape;595;p22"/>
          <p:cNvCxnSpPr/>
          <p:nvPr/>
        </p:nvCxnSpPr>
        <p:spPr>
          <a:xfrm>
            <a:off x="1746504" y="5413248"/>
            <a:ext cx="0" cy="10607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22"/>
          <p:cNvSpPr/>
          <p:nvPr/>
        </p:nvSpPr>
        <p:spPr>
          <a:xfrm>
            <a:off x="2011680" y="4480560"/>
            <a:ext cx="201168" cy="182880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7" name="Google Shape;597;p22"/>
          <p:cNvCxnSpPr/>
          <p:nvPr/>
        </p:nvCxnSpPr>
        <p:spPr>
          <a:xfrm>
            <a:off x="2112264" y="4315968"/>
            <a:ext cx="0" cy="215798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8" name="Google Shape;598;p22"/>
          <p:cNvSpPr/>
          <p:nvPr/>
        </p:nvSpPr>
        <p:spPr>
          <a:xfrm>
            <a:off x="2377440" y="5212080"/>
            <a:ext cx="201168" cy="109728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99" name="Google Shape;599;p22"/>
          <p:cNvCxnSpPr/>
          <p:nvPr/>
        </p:nvCxnSpPr>
        <p:spPr>
          <a:xfrm>
            <a:off x="2478024" y="5047488"/>
            <a:ext cx="0" cy="142646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0" name="Google Shape;600;p22"/>
          <p:cNvSpPr/>
          <p:nvPr/>
        </p:nvSpPr>
        <p:spPr>
          <a:xfrm>
            <a:off x="2743200" y="4114800"/>
            <a:ext cx="201168" cy="219456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1" name="Google Shape;601;p22"/>
          <p:cNvCxnSpPr/>
          <p:nvPr/>
        </p:nvCxnSpPr>
        <p:spPr>
          <a:xfrm>
            <a:off x="2843784" y="3950208"/>
            <a:ext cx="0" cy="252374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22"/>
          <p:cNvSpPr/>
          <p:nvPr/>
        </p:nvSpPr>
        <p:spPr>
          <a:xfrm>
            <a:off x="3108960" y="4937760"/>
            <a:ext cx="201168" cy="137160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3" name="Google Shape;603;p22"/>
          <p:cNvCxnSpPr/>
          <p:nvPr/>
        </p:nvCxnSpPr>
        <p:spPr>
          <a:xfrm>
            <a:off x="3209544" y="4773168"/>
            <a:ext cx="0" cy="170078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22"/>
          <p:cNvSpPr/>
          <p:nvPr/>
        </p:nvSpPr>
        <p:spPr>
          <a:xfrm>
            <a:off x="9052560" y="4846320"/>
            <a:ext cx="201168" cy="146304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5" name="Google Shape;605;p22"/>
          <p:cNvCxnSpPr/>
          <p:nvPr/>
        </p:nvCxnSpPr>
        <p:spPr>
          <a:xfrm>
            <a:off x="9153144" y="4681728"/>
            <a:ext cx="0" cy="179222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6" name="Google Shape;606;p22"/>
          <p:cNvSpPr/>
          <p:nvPr/>
        </p:nvSpPr>
        <p:spPr>
          <a:xfrm>
            <a:off x="9418320" y="5394960"/>
            <a:ext cx="201168" cy="91440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7" name="Google Shape;607;p22"/>
          <p:cNvCxnSpPr/>
          <p:nvPr/>
        </p:nvCxnSpPr>
        <p:spPr>
          <a:xfrm>
            <a:off x="9518904" y="5230368"/>
            <a:ext cx="0" cy="124358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8" name="Google Shape;608;p22"/>
          <p:cNvSpPr/>
          <p:nvPr/>
        </p:nvSpPr>
        <p:spPr>
          <a:xfrm>
            <a:off x="9784080" y="4389120"/>
            <a:ext cx="201168" cy="192024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09" name="Google Shape;609;p22"/>
          <p:cNvCxnSpPr/>
          <p:nvPr/>
        </p:nvCxnSpPr>
        <p:spPr>
          <a:xfrm>
            <a:off x="9884664" y="4224528"/>
            <a:ext cx="0" cy="224942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22"/>
          <p:cNvSpPr/>
          <p:nvPr/>
        </p:nvSpPr>
        <p:spPr>
          <a:xfrm>
            <a:off x="10149840" y="5120640"/>
            <a:ext cx="201168" cy="11887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1" name="Google Shape;611;p22"/>
          <p:cNvCxnSpPr/>
          <p:nvPr/>
        </p:nvCxnSpPr>
        <p:spPr>
          <a:xfrm>
            <a:off x="10250424" y="4956048"/>
            <a:ext cx="0" cy="15179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2" name="Google Shape;612;p22"/>
          <p:cNvSpPr/>
          <p:nvPr/>
        </p:nvSpPr>
        <p:spPr>
          <a:xfrm>
            <a:off x="10515600" y="4572000"/>
            <a:ext cx="201168" cy="1737360"/>
          </a:xfrm>
          <a:prstGeom prst="rect">
            <a:avLst/>
          </a:prstGeom>
          <a:solidFill>
            <a:srgbClr val="D64545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3" name="Google Shape;613;p22"/>
          <p:cNvCxnSpPr/>
          <p:nvPr/>
        </p:nvCxnSpPr>
        <p:spPr>
          <a:xfrm>
            <a:off x="10616184" y="4407408"/>
            <a:ext cx="0" cy="2066544"/>
          </a:xfrm>
          <a:prstGeom prst="straightConnector1">
            <a:avLst/>
          </a:prstGeom>
          <a:noFill/>
          <a:ln cap="flat" cmpd="sng" w="12700">
            <a:solidFill>
              <a:srgbClr val="D6454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4" name="Google Shape;614;p22"/>
          <p:cNvSpPr/>
          <p:nvPr/>
        </p:nvSpPr>
        <p:spPr>
          <a:xfrm>
            <a:off x="10881360" y="5303520"/>
            <a:ext cx="201168" cy="100584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5" name="Google Shape;615;p22"/>
          <p:cNvCxnSpPr/>
          <p:nvPr/>
        </p:nvCxnSpPr>
        <p:spPr>
          <a:xfrm>
            <a:off x="10981944" y="5138928"/>
            <a:ext cx="0" cy="133502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6" name="Google Shape;616;p22"/>
          <p:cNvSpPr/>
          <p:nvPr/>
        </p:nvSpPr>
        <p:spPr>
          <a:xfrm>
            <a:off x="11247120" y="4206240"/>
            <a:ext cx="201168" cy="2103120"/>
          </a:xfrm>
          <a:prstGeom prst="rect">
            <a:avLst/>
          </a:prstGeom>
          <a:solidFill>
            <a:srgbClr val="1FAA59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7" name="Google Shape;617;p22"/>
          <p:cNvCxnSpPr/>
          <p:nvPr/>
        </p:nvCxnSpPr>
        <p:spPr>
          <a:xfrm>
            <a:off x="11347704" y="4041648"/>
            <a:ext cx="0" cy="2432304"/>
          </a:xfrm>
          <a:prstGeom prst="straightConnector1">
            <a:avLst/>
          </a:prstGeom>
          <a:noFill/>
          <a:ln cap="flat" cmpd="sng" w="12700">
            <a:solidFill>
              <a:srgbClr val="1FAA59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8" name="Google Shape;618;p22"/>
          <p:cNvSpPr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mbr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0" y="3337560"/>
            <a:ext cx="1218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E3A6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6FE3A6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0" name="Google Shape;620;p22"/>
          <p:cNvCxnSpPr/>
          <p:nvPr/>
        </p:nvCxnSpPr>
        <p:spPr>
          <a:xfrm>
            <a:off x="4265676" y="4160520"/>
            <a:ext cx="3657600" cy="0"/>
          </a:xfrm>
          <a:prstGeom prst="straightConnector1">
            <a:avLst/>
          </a:prstGeom>
          <a:noFill/>
          <a:ln cap="flat" cmpd="sng" w="19050">
            <a:solidFill>
              <a:srgbClr val="2B3E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1" name="Google Shape;621;p22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Raghav Panthi   ·   Sishir Devkota   ·   Shuprabha Mainali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2"/>
          <p:cNvSpPr/>
          <p:nvPr/>
        </p:nvSpPr>
        <p:spPr>
          <a:xfrm>
            <a:off x="0" y="480060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FA3C7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8FA3C7"/>
                </a:solidFill>
                <a:latin typeface="Calibri"/>
                <a:ea typeface="Calibri"/>
                <a:cs typeface="Calibri"/>
                <a:sym typeface="Calibri"/>
              </a:rPr>
              <a:t>Supervised by Mr. Sumant Yadav  —  School of Environmental Science and Management, Pokhara University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