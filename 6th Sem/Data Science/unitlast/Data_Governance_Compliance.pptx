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27317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27317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8686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Governance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Compliance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data the right way — and following the rules that govern it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937760"/>
            <a:ext cx="640080" cy="640080"/>
          </a:xfrm>
          <a:prstGeom prst="ellipse">
            <a:avLst/>
          </a:prstGeom>
          <a:solidFill>
            <a:srgbClr val="27317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978" y="5081778"/>
            <a:ext cx="352044" cy="3520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4983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concepts, real-world examples, Nepal &amp; global perspectives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Data Governance?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of policies, processes, roles, and standards that keeps data trustworthy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ensures data is: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4663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 authorized users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responsibly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4526280"/>
            <a:ext cx="4480560" cy="0"/>
          </a:xfrm>
          <a:prstGeom prst="line">
            <a:avLst/>
          </a:prstGeom>
          <a:noFill/>
          <a:ln w="12700">
            <a:solidFill>
              <a:srgbClr val="D6E0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49834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college keeps student records. Governance makes sure names, marks, and attendance are entered correctly, kept updated, and seen only by authorized staff.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12648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26480" y="22402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2210" y="2366010"/>
            <a:ext cx="251460" cy="2514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812280" y="22402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data quality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126480" y="29260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210" y="3051810"/>
            <a:ext cx="251460" cy="2514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812280" y="29260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sensitive information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6126480" y="36118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210" y="3737610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12280" y="36118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who can access data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6126480" y="42976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2210" y="442341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12280" y="42976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errors and duplication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6126480" y="49834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2210" y="5109210"/>
            <a:ext cx="251460" cy="2514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812280" y="49834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better decisions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 Data Governance and Compliance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Compliance?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legal, regulatory, and organizational requirements for handling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9431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7830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must comply with government laws, industry regulations, privacy policies, and internal company rules.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788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of Compliance Requirements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10149840" cy="2651760"/>
        </p:xfrm>
        <a:graphic>
          <a:graphicData uri="http://schemas.openxmlformats.org/drawingml/2006/table">
            <a:tbl>
              <a:tblPr/>
              <a:tblGrid>
                <a:gridCol w="3200400"/>
                <a:gridCol w="694944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Area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</a:rPr>
                        <a:t>Privacy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</a:rPr>
                        <a:t>Protect personal information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</a:rPr>
                        <a:t>Financial data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</a:rPr>
                        <a:t>Maintain audit records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</a:rPr>
                        <a:t>Health data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</a:rPr>
                        <a:t>Keep patient information confidential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</a:rPr>
                        <a:t>Digital transactions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</a:rPr>
                        <a:t>Follow electronic transaction laws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 Data Governance and Compliance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&amp; Compliance — How They Connect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2011680"/>
            <a:ext cx="4023360" cy="2560320"/>
          </a:xfrm>
          <a:prstGeom prst="roundRect">
            <a:avLst>
              <a:gd name="adj" fmla="val 3571"/>
            </a:avLst>
          </a:prstGeom>
          <a:solidFill>
            <a:srgbClr val="27317A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0" y="2331720"/>
            <a:ext cx="731520" cy="731520"/>
          </a:xfrm>
          <a:prstGeom prst="ellipse">
            <a:avLst/>
          </a:prstGeom>
          <a:solidFill>
            <a:srgbClr val="3B478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4912" y="249631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2461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97280" y="37033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manage data 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policies, roles, and controls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971800"/>
            <a:ext cx="640080" cy="6400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223760" y="2011680"/>
            <a:ext cx="4023360" cy="2560320"/>
          </a:xfrm>
          <a:prstGeom prst="roundRect">
            <a:avLst>
              <a:gd name="adj" fmla="val 3571"/>
            </a:avLst>
          </a:prstGeom>
          <a:solidFill>
            <a:srgbClr val="27317A"/>
          </a:solidFill>
          <a:ln/>
        </p:spPr>
      </p:sp>
      <p:sp>
        <p:nvSpPr>
          <p:cNvPr id="10" name="Shape 6"/>
          <p:cNvSpPr/>
          <p:nvPr/>
        </p:nvSpPr>
        <p:spPr>
          <a:xfrm>
            <a:off x="8869680" y="2331720"/>
            <a:ext cx="731520" cy="731520"/>
          </a:xfrm>
          <a:prstGeom prst="ellipse">
            <a:avLst/>
          </a:prstGeom>
          <a:solidFill>
            <a:srgbClr val="3B478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4272" y="2496312"/>
            <a:ext cx="402336" cy="40233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23760" y="32461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7406640" y="37033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we follow the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laws and rules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097280" y="493776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provides the structure and controls — Compliance makes sure those controls satisfy laws and regulations.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 Data Governance and Compliance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Components of Data Governance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3F6FD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85900" y="160020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7602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3317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Policies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5800" y="27889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for collecting and using data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0" y="137160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3F6FD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137660" y="160020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7602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37560" y="23317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Ownership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337560" y="27889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who is responsible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852160" y="137160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3F6FD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789420" y="160020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7602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989320" y="23317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Management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5989320" y="27889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correctness of data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503920" y="137160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3F6FD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441180" y="160020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176022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641080" y="23317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8641080" y="27889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who can view data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48640" y="379476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3F6FD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1485900" y="402336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920" y="418338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85800" y="4754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685800" y="52120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against unauthorized access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3200400" y="379476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3F6FD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137660" y="402336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4183380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337560" y="4754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Management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3337560" y="52120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storage and deletion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5852160" y="379476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3F6FD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6789420" y="402336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0" y="4183380"/>
            <a:ext cx="320040" cy="32004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5989320" y="4754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</a:t>
            </a:r>
            <a:endParaRPr lang="en-US" sz="1350" dirty="0"/>
          </a:p>
        </p:txBody>
      </p:sp>
      <p:sp>
        <p:nvSpPr>
          <p:cNvPr id="37" name="Text 28"/>
          <p:cNvSpPr/>
          <p:nvPr/>
        </p:nvSpPr>
        <p:spPr>
          <a:xfrm>
            <a:off x="5989320" y="52120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data activities over time</a:t>
            </a:r>
            <a:endParaRPr lang="en-US" sz="1100" dirty="0"/>
          </a:p>
        </p:txBody>
      </p:sp>
      <p:sp>
        <p:nvSpPr>
          <p:cNvPr id="38" name="Text 2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 Data Governance and Compliance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Compliance Matters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helps organizations stay safe, legal, and trusted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3F6FD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3774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5374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28800"/>
            <a:ext cx="2103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legal penalties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114800" y="182880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3F6FD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43400" y="23774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420" y="253746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20640" y="1828800"/>
            <a:ext cx="2103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customer privacy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7680960" y="182880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3F6FD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909560" y="23774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80" y="253746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86800" y="1828800"/>
            <a:ext cx="2103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trust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548640" y="388620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3F6FD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77240" y="44348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59486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3886200"/>
            <a:ext cx="2103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security risks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4114800" y="388620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3F6FD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343400" y="44348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3420" y="459486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120640" y="3886200"/>
            <a:ext cx="2103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business reputation</a:t>
            </a:r>
            <a:endParaRPr lang="en-US" sz="1450" dirty="0"/>
          </a:p>
        </p:txBody>
      </p:sp>
      <p:sp>
        <p:nvSpPr>
          <p:cNvPr id="24" name="Shape 17"/>
          <p:cNvSpPr/>
          <p:nvPr/>
        </p:nvSpPr>
        <p:spPr>
          <a:xfrm>
            <a:off x="7680960" y="388620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3F6FD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7909560" y="44348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9580" y="4594860"/>
            <a:ext cx="320040" cy="32004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686800" y="3886200"/>
            <a:ext cx="2103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audits</a:t>
            </a:r>
            <a:endParaRPr lang="en-US" sz="1450" dirty="0"/>
          </a:p>
        </p:txBody>
      </p:sp>
      <p:sp>
        <p:nvSpPr>
          <p:cNvPr id="28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 Data Governance and Compliance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Data Compliance Areas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0149840" cy="4023360"/>
        </p:xfrm>
        <a:graphic>
          <a:graphicData uri="http://schemas.openxmlformats.org/drawingml/2006/table">
            <a:tbl>
              <a:tblPr/>
              <a:tblGrid>
                <a:gridCol w="3474720"/>
                <a:gridCol w="6675120"/>
              </a:tblGrid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Area</a:t>
                      </a:r>
                      <a:endParaRPr lang="en-US" sz="140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40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</a:rPr>
                        <a:t>Personal Data</a:t>
                      </a:r>
                      <a:endParaRPr lang="en-US" sz="135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</a:rPr>
                        <a:t>Collect only necessary information</a:t>
                      </a:r>
                      <a:endParaRPr lang="en-US" sz="135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</a:rPr>
                        <a:t>Consent</a:t>
                      </a:r>
                      <a:endParaRPr lang="en-US" sz="135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</a:rPr>
                        <a:t>Obtain user permission</a:t>
                      </a:r>
                      <a:endParaRPr lang="en-US" sz="135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</a:rPr>
                        <a:t>Data Retention</a:t>
                      </a:r>
                      <a:endParaRPr lang="en-US" sz="135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</a:rPr>
                        <a:t>Keep data for the required period</a:t>
                      </a:r>
                      <a:endParaRPr lang="en-US" sz="135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</a:rPr>
                        <a:t>Data Sharing</a:t>
                      </a:r>
                      <a:endParaRPr lang="en-US" sz="135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</a:rPr>
                        <a:t>Share only with authorization</a:t>
                      </a:r>
                      <a:endParaRPr lang="en-US" sz="135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</a:rPr>
                        <a:t>Breach Reporting</a:t>
                      </a:r>
                      <a:endParaRPr lang="en-US" sz="135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761"/>
                          </a:solidFill>
                        </a:rPr>
                        <a:t>Report data leaks when required</a:t>
                      </a:r>
                      <a:endParaRPr lang="en-US" sz="135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 Data Governance and Compliance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Governance &amp; Compliance in Nepal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611630"/>
            <a:ext cx="388620" cy="3886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41732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Transactions Act, 2063 (ETA)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legal basis for electronic records, digital signatures, and cyber-related offenses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251460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➤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is still developing in Nepal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➤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Banks, telecoms, and government agencies are leading adoption of security policies and access controls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➤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practices are improving as digital banking, e-commerce, and online government services expand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➤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focus on privacy under the Constitution of Nepal (Right to Privacy)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 Data Governance and Compliance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Nepal vs. Foreign Perspective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64240" cy="5212080"/>
        </p:xfrm>
        <a:graphic>
          <a:graphicData uri="http://schemas.openxmlformats.org/drawingml/2006/table">
            <a:tbl>
              <a:tblPr/>
              <a:tblGrid>
                <a:gridCol w="2651760"/>
                <a:gridCol w="4023360"/>
                <a:gridCol w="4389120"/>
              </a:tblGrid>
              <a:tr h="7445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12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Nepal</a:t>
                      </a:r>
                      <a:endParaRPr lang="en-US" sz="12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Foreign Countries</a:t>
                      </a:r>
                      <a:endParaRPr lang="en-US" sz="12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445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</a:rPr>
                        <a:t>Main Laws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</a:rPr>
                        <a:t>ETA 2063, Constitution (Right to Privacy)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</a:rPr>
                        <a:t>GDPR, CCPA, HIPAA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45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</a:rPr>
                        <a:t>Governance Maturity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</a:rPr>
                        <a:t>Developing; banks &amp; telecoms lead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</a:rPr>
                        <a:t>Highly mature, widely implemented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</a:tr>
              <a:tr h="7445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</a:rPr>
                        <a:t>Privacy Protection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</a:rPr>
                        <a:t>Basic, growing focus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</a:rPr>
                        <a:t>Strong rights, strict enforcement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45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</a:rPr>
                        <a:t>User Rights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</a:rPr>
                        <a:t>Limited explicit rights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</a:rPr>
                        <a:t>Access, correct, delete, transfer data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</a:tr>
              <a:tr h="7445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</a:rPr>
                        <a:t>Penalties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</a:rPr>
                        <a:t>Generally lower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</a:rPr>
                        <a:t>Very high fines (e.g. GDPR)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45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</a:rPr>
                        <a:t>Public Awareness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</a:rPr>
                        <a:t>Increasing but limited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</a:rPr>
                        <a:t>Generally higher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 Data Governance and Compliance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Example: Banking System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120640" cy="4389120"/>
          </a:xfrm>
          <a:prstGeom prst="roundRect">
            <a:avLst>
              <a:gd name="adj" fmla="val 1667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737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514600"/>
            <a:ext cx="4480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is entered in a standard format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authorized employees can view account details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backups are taken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035040" y="1463040"/>
            <a:ext cx="5120640" cy="4389120"/>
          </a:xfrm>
          <a:prstGeom prst="roundRect">
            <a:avLst>
              <a:gd name="adj" fmla="val 1667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309360" y="173736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745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95160" y="1737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355080" y="2514600"/>
            <a:ext cx="4480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privacy is protected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records are preserved for auditing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transaction laws are followed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 Data Governance and Compliance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3657600" cy="3657600"/>
          </a:xfrm>
          <a:prstGeom prst="ellipse">
            <a:avLst/>
          </a:prstGeom>
          <a:solidFill>
            <a:srgbClr val="27317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Exam-Oriented 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and Compliance means managing data through policies, standards, and controls so it stays accurate, secure, and properly used — while also meeting legal and regulatory requirements.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27317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971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should be managed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274320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27317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2971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3429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laws and regulations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937760"/>
            <a:ext cx="10607040" cy="1188720"/>
          </a:xfrm>
          <a:prstGeom prst="roundRect">
            <a:avLst>
              <a:gd name="adj" fmla="val 7692"/>
            </a:avLst>
          </a:prstGeom>
          <a:solidFill>
            <a:srgbClr val="3D5AFE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93776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Safe, accurate, legal, and trustworthy use of data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 Data Governance and Compliance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Governance and Compliance</dc:title>
  <dc:subject>PptxGenJS Presentation</dc:subject>
  <dc:creator>Data Governance</dc:creator>
  <cp:lastModifiedBy>Data Governance</cp:lastModifiedBy>
  <cp:revision>1</cp:revision>
  <dcterms:created xsi:type="dcterms:W3CDTF">2026-07-07T06:26:25Z</dcterms:created>
  <dcterms:modified xsi:type="dcterms:W3CDTF">2026-07-07T06:26:25Z</dcterms:modified>
</cp:coreProperties>
</file>