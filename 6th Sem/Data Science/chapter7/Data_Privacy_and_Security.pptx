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sp>
      <p:sp>
        <p:nvSpPr>
          <p:cNvPr id="3" name="Shape 1"/>
          <p:cNvSpPr/>
          <p:nvPr/>
        </p:nvSpPr>
        <p:spPr>
          <a:xfrm>
            <a:off x="5623560" y="1188720"/>
            <a:ext cx="914400" cy="914400"/>
          </a:xfrm>
          <a:prstGeom prst="ellipse">
            <a:avLst/>
          </a:prstGeom>
          <a:solidFill>
            <a:srgbClr val="ECECEC"/>
          </a:solidFill>
          <a:ln w="12700">
            <a:solidFill>
              <a:srgbClr val="CFCFCF"/>
            </a:solidFill>
            <a:prstDash val="solid"/>
          </a:ln>
        </p:spPr>
      </p:sp>
      <p:pic>
        <p:nvPicPr>
          <p:cNvPr id="4" name="Image 0" descr="preencoded.png">    </p:cNvPr>
          <p:cNvPicPr>
            <a:picLocks noChangeAspect="1"/>
          </p:cNvPicPr>
          <p:nvPr/>
        </p:nvPicPr>
        <p:blipFill>
          <a:blip r:embed="rId1"/>
          <a:stretch>
            <a:fillRect/>
          </a:stretch>
        </p:blipFill>
        <p:spPr>
          <a:xfrm>
            <a:off x="5843016" y="1408176"/>
            <a:ext cx="475488" cy="475488"/>
          </a:xfrm>
          <a:prstGeom prst="rect">
            <a:avLst/>
          </a:prstGeom>
        </p:spPr>
      </p:pic>
      <p:sp>
        <p:nvSpPr>
          <p:cNvPr id="5" name="Text 2"/>
          <p:cNvSpPr/>
          <p:nvPr/>
        </p:nvSpPr>
        <p:spPr>
          <a:xfrm>
            <a:off x="731520" y="2468880"/>
            <a:ext cx="10698480" cy="1005840"/>
          </a:xfrm>
          <a:prstGeom prst="rect">
            <a:avLst/>
          </a:prstGeom>
          <a:noFill/>
          <a:ln/>
        </p:spPr>
        <p:txBody>
          <a:bodyPr wrap="square" rtlCol="0" anchor="ctr"/>
          <a:lstStyle/>
          <a:p>
            <a:pPr algn="ctr" indent="0" marL="0">
              <a:buNone/>
            </a:pPr>
            <a:r>
              <a:rPr lang="en-US" sz="4000" b="1" dirty="0">
                <a:solidFill>
                  <a:srgbClr val="000000"/>
                </a:solidFill>
                <a:latin typeface="Cambria" pitchFamily="34" charset="0"/>
                <a:ea typeface="Cambria" pitchFamily="34" charset="-122"/>
                <a:cs typeface="Cambria" pitchFamily="34" charset="-120"/>
              </a:rPr>
              <a:t>Data Privacy and Security</a:t>
            </a:r>
            <a:endParaRPr lang="en-US" sz="4000" dirty="0"/>
          </a:p>
        </p:txBody>
      </p:sp>
      <p:sp>
        <p:nvSpPr>
          <p:cNvPr id="6" name="Text 3"/>
          <p:cNvSpPr/>
          <p:nvPr/>
        </p:nvSpPr>
        <p:spPr>
          <a:xfrm>
            <a:off x="731520" y="3520440"/>
            <a:ext cx="10698480" cy="457200"/>
          </a:xfrm>
          <a:prstGeom prst="rect">
            <a:avLst/>
          </a:prstGeom>
          <a:noFill/>
          <a:ln/>
        </p:spPr>
        <p:txBody>
          <a:bodyPr wrap="square" rtlCol="0" anchor="ctr"/>
          <a:lstStyle/>
          <a:p>
            <a:pPr algn="ctr" indent="0" marL="0">
              <a:buNone/>
            </a:pPr>
            <a:r>
              <a:rPr lang="en-US" sz="1800" dirty="0">
                <a:solidFill>
                  <a:srgbClr val="3A3A3A"/>
                </a:solidFill>
                <a:latin typeface="Calibri" pitchFamily="34" charset="0"/>
                <a:ea typeface="Calibri" pitchFamily="34" charset="-122"/>
                <a:cs typeface="Calibri" pitchFamily="34" charset="-120"/>
              </a:rPr>
              <a:t>Unit VII: Data Ethics and Governance  —  Topic 7.2</a:t>
            </a:r>
            <a:endParaRPr lang="en-US" sz="1800" dirty="0"/>
          </a:p>
        </p:txBody>
      </p:sp>
      <p:sp>
        <p:nvSpPr>
          <p:cNvPr id="7" name="Shape 4"/>
          <p:cNvSpPr/>
          <p:nvPr/>
        </p:nvSpPr>
        <p:spPr>
          <a:xfrm>
            <a:off x="4983480" y="4160520"/>
            <a:ext cx="2194560" cy="0"/>
          </a:xfrm>
          <a:prstGeom prst="line">
            <a:avLst/>
          </a:prstGeom>
          <a:noFill/>
          <a:ln w="12700">
            <a:solidFill>
              <a:srgbClr val="CFCFCF"/>
            </a:solidFill>
            <a:prstDash val="solid"/>
          </a:ln>
        </p:spPr>
      </p:sp>
      <p:sp>
        <p:nvSpPr>
          <p:cNvPr id="8" name="Text 5"/>
          <p:cNvSpPr/>
          <p:nvPr/>
        </p:nvSpPr>
        <p:spPr>
          <a:xfrm>
            <a:off x="731520" y="4343400"/>
            <a:ext cx="10698480" cy="365760"/>
          </a:xfrm>
          <a:prstGeom prst="rect">
            <a:avLst/>
          </a:prstGeom>
          <a:noFill/>
          <a:ln/>
        </p:spPr>
        <p:txBody>
          <a:bodyPr wrap="square" rtlCol="0" anchor="ctr"/>
          <a:lstStyle/>
          <a:p>
            <a:pPr algn="ctr" indent="0" marL="0">
              <a:buNone/>
            </a:pPr>
            <a:r>
              <a:rPr lang="en-US" sz="1500" dirty="0">
                <a:solidFill>
                  <a:srgbClr val="6E6E6E"/>
                </a:solidFill>
                <a:latin typeface="Calibri" pitchFamily="34" charset="0"/>
                <a:ea typeface="Calibri" pitchFamily="34" charset="-122"/>
                <a:cs typeface="Calibri" pitchFamily="34" charset="-120"/>
              </a:rPr>
              <a:t>Subject: Data Science and Analytics</a:t>
            </a:r>
            <a:endParaRPr lang="en-US" sz="1500" dirty="0"/>
          </a:p>
        </p:txBody>
      </p:sp>
      <p:sp>
        <p:nvSpPr>
          <p:cNvPr id="9" name="Text 6"/>
          <p:cNvSpPr/>
          <p:nvPr/>
        </p:nvSpPr>
        <p:spPr>
          <a:xfrm>
            <a:off x="731520" y="4709160"/>
            <a:ext cx="10698480" cy="365760"/>
          </a:xfrm>
          <a:prstGeom prst="rect">
            <a:avLst/>
          </a:prstGeom>
          <a:noFill/>
          <a:ln/>
        </p:spPr>
        <p:txBody>
          <a:bodyPr wrap="square" rtlCol="0" anchor="ctr"/>
          <a:lstStyle/>
          <a:p>
            <a:pPr algn="ctr" indent="0" marL="0">
              <a:buNone/>
            </a:pPr>
            <a:r>
              <a:rPr lang="en-US" sz="1500" dirty="0">
                <a:solidFill>
                  <a:srgbClr val="6E6E6E"/>
                </a:solidFill>
                <a:latin typeface="Calibri" pitchFamily="34" charset="0"/>
                <a:ea typeface="Calibri" pitchFamily="34" charset="-122"/>
                <a:cs typeface="Calibri" pitchFamily="34" charset="-120"/>
              </a:rPr>
              <a:t>Level: BCA 6th Semester</a:t>
            </a:r>
            <a:endParaRPr lang="en-US" sz="1500" dirty="0"/>
          </a:p>
        </p:txBody>
      </p:sp>
      <p:sp>
        <p:nvSpPr>
          <p:cNvPr id="10" name="Text 7"/>
          <p:cNvSpPr/>
          <p:nvPr/>
        </p:nvSpPr>
        <p:spPr>
          <a:xfrm>
            <a:off x="731520" y="5074920"/>
            <a:ext cx="10698480" cy="365760"/>
          </a:xfrm>
          <a:prstGeom prst="rect">
            <a:avLst/>
          </a:prstGeom>
          <a:noFill/>
          <a:ln/>
        </p:spPr>
        <p:txBody>
          <a:bodyPr wrap="square" rtlCol="0" anchor="ctr"/>
          <a:lstStyle/>
          <a:p>
            <a:pPr algn="ctr" indent="0" marL="0">
              <a:buNone/>
            </a:pPr>
            <a:r>
              <a:rPr lang="en-US" sz="1500" dirty="0">
                <a:solidFill>
                  <a:srgbClr val="6E6E6E"/>
                </a:solidFill>
                <a:latin typeface="Calibri" pitchFamily="34" charset="0"/>
                <a:ea typeface="Calibri" pitchFamily="34" charset="-122"/>
                <a:cs typeface="Calibri" pitchFamily="34" charset="-120"/>
              </a:rPr>
              <a:t>Credit Hours: 5 Hours (Detailed Notes)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548640" y="1737360"/>
            <a:ext cx="6675120" cy="4206240"/>
          </a:xfrm>
          <a:prstGeom prst="rect">
            <a:avLst/>
          </a:prstGeom>
          <a:noFill/>
          <a:ln/>
        </p:spPr>
        <p:txBody>
          <a:bodyPr wrap="square" rtlCol="0" anchor="t"/>
          <a:lstStyle/>
          <a:p>
            <a:pPr marL="342900" indent="-3429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Data is one of the most valuable assets in today's digital world.</a:t>
            </a:r>
            <a:endParaRPr lang="en-US" sz="1400" dirty="0"/>
          </a:p>
          <a:p>
            <a:pPr marL="342900" indent="-3429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Organizations collect huge amounts of personal, financial, medical, educational, and business information every day.</a:t>
            </a:r>
            <a:endParaRPr lang="en-US" sz="1400" dirty="0"/>
          </a:p>
          <a:p>
            <a:pPr marL="342900" indent="-3429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Data helps organizations make better decisions, but it also creates serious concerns about privacy and security.</a:t>
            </a:r>
            <a:endParaRPr lang="en-US" sz="1400" dirty="0"/>
          </a:p>
          <a:p>
            <a:pPr marL="342900" indent="-342900">
              <a:spcAft>
                <a:spcPts val="800"/>
              </a:spcAft>
              <a:buSzPct val="100000"/>
              <a:buChar char="•"/>
            </a:pPr>
            <a:r>
              <a:rPr lang="en-US" sz="1400" dirty="0">
                <a:solidFill>
                  <a:srgbClr val="000000"/>
                </a:solidFill>
                <a:latin typeface="Calibri" pitchFamily="34" charset="0"/>
                <a:ea typeface="Calibri" pitchFamily="34" charset="-122"/>
                <a:cs typeface="Calibri" pitchFamily="34" charset="-120"/>
              </a:rPr>
              <a:t>Without proper privacy and security, organizations may lose customer trust, face legal penalties, and suffer financial losses.</a:t>
            </a:r>
            <a:endParaRPr lang="en-US" sz="1400" dirty="0"/>
          </a:p>
        </p:txBody>
      </p:sp>
      <p:sp>
        <p:nvSpPr>
          <p:cNvPr id="4" name="Shape 2"/>
          <p:cNvSpPr/>
          <p:nvPr/>
        </p:nvSpPr>
        <p:spPr>
          <a:xfrm>
            <a:off x="7406640" y="1737360"/>
            <a:ext cx="4206240" cy="1920240"/>
          </a:xfrm>
          <a:prstGeom prst="rect">
            <a:avLst/>
          </a:prstGeom>
          <a:solidFill>
            <a:srgbClr val="F2F2F2"/>
          </a:solidFill>
          <a:ln w="12700">
            <a:solidFill>
              <a:srgbClr val="CFCFCF"/>
            </a:solidFill>
            <a:prstDash val="solid"/>
          </a:ln>
        </p:spPr>
      </p:sp>
      <p:sp>
        <p:nvSpPr>
          <p:cNvPr id="5" name="Shape 3"/>
          <p:cNvSpPr/>
          <p:nvPr/>
        </p:nvSpPr>
        <p:spPr>
          <a:xfrm>
            <a:off x="7680960" y="2011680"/>
            <a:ext cx="502920" cy="502920"/>
          </a:xfrm>
          <a:prstGeom prst="ellipse">
            <a:avLst/>
          </a:prstGeom>
          <a:solidFill>
            <a:srgbClr val="ECECEC"/>
          </a:solidFill>
          <a:ln w="12700">
            <a:solidFill>
              <a:srgbClr val="CFCFCF"/>
            </a:solidFill>
            <a:prstDash val="solid"/>
          </a:ln>
        </p:spPr>
      </p:sp>
      <p:pic>
        <p:nvPicPr>
          <p:cNvPr id="6" name="Image 0" descr="preencoded.png">    </p:cNvPr>
          <p:cNvPicPr>
            <a:picLocks noChangeAspect="1"/>
          </p:cNvPicPr>
          <p:nvPr/>
        </p:nvPicPr>
        <p:blipFill>
          <a:blip r:embed="rId1"/>
          <a:stretch>
            <a:fillRect/>
          </a:stretch>
        </p:blipFill>
        <p:spPr>
          <a:xfrm>
            <a:off x="7801661" y="2132381"/>
            <a:ext cx="261518" cy="261518"/>
          </a:xfrm>
          <a:prstGeom prst="rect">
            <a:avLst/>
          </a:prstGeom>
        </p:spPr>
      </p:pic>
      <p:sp>
        <p:nvSpPr>
          <p:cNvPr id="7" name="Text 4"/>
          <p:cNvSpPr/>
          <p:nvPr/>
        </p:nvSpPr>
        <p:spPr>
          <a:xfrm>
            <a:off x="8366760" y="1993392"/>
            <a:ext cx="3017520" cy="457200"/>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Data Privacy</a:t>
            </a:r>
            <a:endParaRPr lang="en-US" sz="1700" dirty="0"/>
          </a:p>
        </p:txBody>
      </p:sp>
      <p:sp>
        <p:nvSpPr>
          <p:cNvPr id="8" name="Text 5"/>
          <p:cNvSpPr/>
          <p:nvPr/>
        </p:nvSpPr>
        <p:spPr>
          <a:xfrm>
            <a:off x="7680960" y="2606040"/>
            <a:ext cx="3657600" cy="914400"/>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Focuses on how personal information is collected, used, stored, and shared.</a:t>
            </a:r>
            <a:endParaRPr lang="en-US" sz="1300" dirty="0"/>
          </a:p>
        </p:txBody>
      </p:sp>
      <p:sp>
        <p:nvSpPr>
          <p:cNvPr id="9" name="Shape 6"/>
          <p:cNvSpPr/>
          <p:nvPr/>
        </p:nvSpPr>
        <p:spPr>
          <a:xfrm>
            <a:off x="7406640" y="3977640"/>
            <a:ext cx="4206240" cy="1920240"/>
          </a:xfrm>
          <a:prstGeom prst="rect">
            <a:avLst/>
          </a:prstGeom>
          <a:solidFill>
            <a:srgbClr val="F2F2F2"/>
          </a:solidFill>
          <a:ln w="12700">
            <a:solidFill>
              <a:srgbClr val="CFCFCF"/>
            </a:solidFill>
            <a:prstDash val="solid"/>
          </a:ln>
        </p:spPr>
      </p:sp>
      <p:sp>
        <p:nvSpPr>
          <p:cNvPr id="10" name="Shape 7"/>
          <p:cNvSpPr/>
          <p:nvPr/>
        </p:nvSpPr>
        <p:spPr>
          <a:xfrm>
            <a:off x="7680960" y="4251960"/>
            <a:ext cx="502920" cy="502920"/>
          </a:xfrm>
          <a:prstGeom prst="ellipse">
            <a:avLst/>
          </a:prstGeom>
          <a:solidFill>
            <a:srgbClr val="ECECEC"/>
          </a:solidFill>
          <a:ln w="12700">
            <a:solidFill>
              <a:srgbClr val="CFCFCF"/>
            </a:solidFill>
            <a:prstDash val="solid"/>
          </a:ln>
        </p:spPr>
      </p:sp>
      <p:pic>
        <p:nvPicPr>
          <p:cNvPr id="11" name="Image 1" descr="preencoded.png">    </p:cNvPr>
          <p:cNvPicPr>
            <a:picLocks noChangeAspect="1"/>
          </p:cNvPicPr>
          <p:nvPr/>
        </p:nvPicPr>
        <p:blipFill>
          <a:blip r:embed="rId2"/>
          <a:stretch>
            <a:fillRect/>
          </a:stretch>
        </p:blipFill>
        <p:spPr>
          <a:xfrm>
            <a:off x="7801661" y="4372661"/>
            <a:ext cx="261518" cy="261518"/>
          </a:xfrm>
          <a:prstGeom prst="rect">
            <a:avLst/>
          </a:prstGeom>
        </p:spPr>
      </p:pic>
      <p:sp>
        <p:nvSpPr>
          <p:cNvPr id="12" name="Text 8"/>
          <p:cNvSpPr/>
          <p:nvPr/>
        </p:nvSpPr>
        <p:spPr>
          <a:xfrm>
            <a:off x="8366760" y="4233672"/>
            <a:ext cx="3017520" cy="457200"/>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Data Security</a:t>
            </a:r>
            <a:endParaRPr lang="en-US" sz="1700" dirty="0"/>
          </a:p>
        </p:txBody>
      </p:sp>
      <p:sp>
        <p:nvSpPr>
          <p:cNvPr id="13" name="Text 9"/>
          <p:cNvSpPr/>
          <p:nvPr/>
        </p:nvSpPr>
        <p:spPr>
          <a:xfrm>
            <a:off x="7680960" y="4846320"/>
            <a:ext cx="3657600" cy="914400"/>
          </a:xfrm>
          <a:prstGeom prst="rect">
            <a:avLst/>
          </a:prstGeom>
          <a:noFill/>
          <a:ln/>
        </p:spPr>
        <p:txBody>
          <a:bodyPr wrap="square" lIns="0" tIns="0" rIns="0" bIns="0" rtlCol="0" anchor="ctr"/>
          <a:lstStyle/>
          <a:p>
            <a:pPr indent="0" marL="0">
              <a:buNone/>
            </a:pPr>
            <a:r>
              <a:rPr lang="en-US" sz="1300" dirty="0">
                <a:solidFill>
                  <a:srgbClr val="3A3A3A"/>
                </a:solidFill>
                <a:latin typeface="Calibri" pitchFamily="34" charset="0"/>
                <a:ea typeface="Calibri" pitchFamily="34" charset="-122"/>
                <a:cs typeface="Calibri" pitchFamily="34" charset="-120"/>
              </a:rPr>
              <a:t>Focuses on protecting data from unauthorized access, theft, corruption, or destruction.</a:t>
            </a:r>
            <a:endParaRPr lang="en-US" sz="1300" dirty="0"/>
          </a:p>
        </p:txBody>
      </p:sp>
      <p:sp>
        <p:nvSpPr>
          <p:cNvPr id="14" name="Text 1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15" name="Text 11"/>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What is Data Privacy?</a:t>
            </a:r>
            <a:endParaRPr lang="en-US" sz="3200" dirty="0"/>
          </a:p>
        </p:txBody>
      </p:sp>
      <p:sp>
        <p:nvSpPr>
          <p:cNvPr id="3" name="Shape 1"/>
          <p:cNvSpPr/>
          <p:nvPr/>
        </p:nvSpPr>
        <p:spPr>
          <a:xfrm>
            <a:off x="548640" y="1600200"/>
            <a:ext cx="6309360" cy="1417320"/>
          </a:xfrm>
          <a:prstGeom prst="rect">
            <a:avLst/>
          </a:prstGeom>
          <a:solidFill>
            <a:srgbClr val="F2F2F2"/>
          </a:solidFill>
          <a:ln w="12700">
            <a:solidFill>
              <a:srgbClr val="CFCFCF"/>
            </a:solidFill>
            <a:prstDash val="solid"/>
          </a:ln>
        </p:spPr>
      </p:sp>
      <p:sp>
        <p:nvSpPr>
          <p:cNvPr id="4" name="Text 2"/>
          <p:cNvSpPr/>
          <p:nvPr/>
        </p:nvSpPr>
        <p:spPr>
          <a:xfrm>
            <a:off x="822960" y="1737360"/>
            <a:ext cx="5760720" cy="1188720"/>
          </a:xfrm>
          <a:prstGeom prst="rect">
            <a:avLst/>
          </a:prstGeom>
          <a:noFill/>
          <a:ln/>
        </p:spPr>
        <p:txBody>
          <a:bodyPr wrap="square" lIns="0" tIns="0" rIns="0" bIns="0" rtlCol="0" anchor="ctr"/>
          <a:lstStyle/>
          <a:p>
            <a:pPr indent="0" marL="0">
              <a:buNone/>
            </a:pPr>
            <a:r>
              <a:rPr lang="en-US" sz="1350" dirty="0">
                <a:solidFill>
                  <a:srgbClr val="000000"/>
                </a:solidFill>
                <a:latin typeface="Calibri" pitchFamily="34" charset="0"/>
                <a:ea typeface="Calibri" pitchFamily="34" charset="-122"/>
                <a:cs typeface="Calibri" pitchFamily="34" charset="-120"/>
              </a:rPr>
              <a:t>Data Privacy refers to the protection of an individual's personal information, ensuring it is collected, processed, stored, and shared according to legal and ethical standards. It gives individuals control over how their personal information is used.</a:t>
            </a:r>
            <a:endParaRPr lang="en-US" sz="1350" dirty="0"/>
          </a:p>
        </p:txBody>
      </p:sp>
      <p:sp>
        <p:nvSpPr>
          <p:cNvPr id="5" name="Text 3"/>
          <p:cNvSpPr/>
          <p:nvPr/>
        </p:nvSpPr>
        <p:spPr>
          <a:xfrm>
            <a:off x="548640" y="3246120"/>
            <a:ext cx="6309360" cy="365760"/>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Objectives of Data Privacy</a:t>
            </a:r>
            <a:endParaRPr lang="en-US" sz="1700" dirty="0"/>
          </a:p>
        </p:txBody>
      </p:sp>
      <p:sp>
        <p:nvSpPr>
          <p:cNvPr id="6" name="Text 4"/>
          <p:cNvSpPr/>
          <p:nvPr/>
        </p:nvSpPr>
        <p:spPr>
          <a:xfrm>
            <a:off x="548640" y="3657600"/>
            <a:ext cx="6309360" cy="2651760"/>
          </a:xfrm>
          <a:prstGeom prst="rect">
            <a:avLst/>
          </a:prstGeom>
          <a:noFill/>
          <a:ln/>
        </p:spPr>
        <p:txBody>
          <a:bodyPr wrap="square" rtlCol="0" anchor="t"/>
          <a:lstStyle/>
          <a:p>
            <a:pPr marL="342900" indent="-342900">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Protect personal information</a:t>
            </a:r>
            <a:endParaRPr lang="en-US" sz="1350" dirty="0"/>
          </a:p>
          <a:p>
            <a:pPr marL="342900" indent="-342900">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Maintain user confidentiality</a:t>
            </a:r>
            <a:endParaRPr lang="en-US" sz="1350" dirty="0"/>
          </a:p>
          <a:p>
            <a:pPr marL="342900" indent="-342900">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Ensure informed consent</a:t>
            </a:r>
            <a:endParaRPr lang="en-US" sz="1350" dirty="0"/>
          </a:p>
          <a:p>
            <a:pPr marL="342900" indent="-342900">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Prevent misuse of personal data</a:t>
            </a:r>
            <a:endParaRPr lang="en-US" sz="1350" dirty="0"/>
          </a:p>
          <a:p>
            <a:pPr marL="342900" indent="-342900">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Build customer trust</a:t>
            </a:r>
            <a:endParaRPr lang="en-US" sz="1350" dirty="0"/>
          </a:p>
          <a:p>
            <a:pPr marL="342900" indent="-342900">
              <a:spcAft>
                <a:spcPts val="600"/>
              </a:spcAft>
              <a:buSzPct val="100000"/>
              <a:buChar char="•"/>
            </a:pPr>
            <a:r>
              <a:rPr lang="en-US" sz="1350" dirty="0">
                <a:solidFill>
                  <a:srgbClr val="000000"/>
                </a:solidFill>
                <a:latin typeface="Calibri" pitchFamily="34" charset="0"/>
                <a:ea typeface="Calibri" pitchFamily="34" charset="-122"/>
                <a:cs typeface="Calibri" pitchFamily="34" charset="-120"/>
              </a:rPr>
              <a:t>Comply with legal regulations</a:t>
            </a:r>
            <a:endParaRPr lang="en-US" sz="1350" dirty="0"/>
          </a:p>
        </p:txBody>
      </p:sp>
      <p:sp>
        <p:nvSpPr>
          <p:cNvPr id="7" name="Text 5"/>
          <p:cNvSpPr/>
          <p:nvPr/>
        </p:nvSpPr>
        <p:spPr>
          <a:xfrm>
            <a:off x="7223760" y="1600200"/>
            <a:ext cx="4389120" cy="365760"/>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Personal Data Includes</a:t>
            </a:r>
            <a:endParaRPr lang="en-US" sz="1700" dirty="0"/>
          </a:p>
        </p:txBody>
      </p:sp>
      <p:sp>
        <p:nvSpPr>
          <p:cNvPr id="8" name="Shape 6"/>
          <p:cNvSpPr/>
          <p:nvPr/>
        </p:nvSpPr>
        <p:spPr>
          <a:xfrm>
            <a:off x="7223760" y="2103120"/>
            <a:ext cx="457200" cy="457200"/>
          </a:xfrm>
          <a:prstGeom prst="ellipse">
            <a:avLst/>
          </a:prstGeom>
          <a:solidFill>
            <a:srgbClr val="ECECEC"/>
          </a:solidFill>
          <a:ln w="12700">
            <a:solidFill>
              <a:srgbClr val="CFCFCF"/>
            </a:solidFill>
            <a:prstDash val="solid"/>
          </a:ln>
        </p:spPr>
      </p:sp>
      <p:pic>
        <p:nvPicPr>
          <p:cNvPr id="9" name="Image 0" descr="preencoded.png">    </p:cNvPr>
          <p:cNvPicPr>
            <a:picLocks noChangeAspect="1"/>
          </p:cNvPicPr>
          <p:nvPr/>
        </p:nvPicPr>
        <p:blipFill>
          <a:blip r:embed="rId1"/>
          <a:stretch>
            <a:fillRect/>
          </a:stretch>
        </p:blipFill>
        <p:spPr>
          <a:xfrm>
            <a:off x="7333488" y="2212848"/>
            <a:ext cx="237744" cy="237744"/>
          </a:xfrm>
          <a:prstGeom prst="rect">
            <a:avLst/>
          </a:prstGeom>
        </p:spPr>
      </p:pic>
      <p:sp>
        <p:nvSpPr>
          <p:cNvPr id="10" name="Text 7"/>
          <p:cNvSpPr/>
          <p:nvPr/>
        </p:nvSpPr>
        <p:spPr>
          <a:xfrm>
            <a:off x="7818120" y="2103120"/>
            <a:ext cx="379476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Name, Address, Citizenship No.</a:t>
            </a:r>
            <a:endParaRPr lang="en-US" sz="1250" dirty="0"/>
          </a:p>
        </p:txBody>
      </p:sp>
      <p:sp>
        <p:nvSpPr>
          <p:cNvPr id="11" name="Shape 8"/>
          <p:cNvSpPr/>
          <p:nvPr/>
        </p:nvSpPr>
        <p:spPr>
          <a:xfrm>
            <a:off x="7223760" y="2706624"/>
            <a:ext cx="457200" cy="457200"/>
          </a:xfrm>
          <a:prstGeom prst="ellipse">
            <a:avLst/>
          </a:prstGeom>
          <a:solidFill>
            <a:srgbClr val="ECECEC"/>
          </a:solidFill>
          <a:ln w="12700">
            <a:solidFill>
              <a:srgbClr val="CFCFCF"/>
            </a:solidFill>
            <a:prstDash val="solid"/>
          </a:ln>
        </p:spPr>
      </p:sp>
      <p:pic>
        <p:nvPicPr>
          <p:cNvPr id="12" name="Image 1" descr="preencoded.png">    </p:cNvPr>
          <p:cNvPicPr>
            <a:picLocks noChangeAspect="1"/>
          </p:cNvPicPr>
          <p:nvPr/>
        </p:nvPicPr>
        <p:blipFill>
          <a:blip r:embed="rId2"/>
          <a:stretch>
            <a:fillRect/>
          </a:stretch>
        </p:blipFill>
        <p:spPr>
          <a:xfrm>
            <a:off x="7333488" y="2816352"/>
            <a:ext cx="237744" cy="237744"/>
          </a:xfrm>
          <a:prstGeom prst="rect">
            <a:avLst/>
          </a:prstGeom>
        </p:spPr>
      </p:pic>
      <p:sp>
        <p:nvSpPr>
          <p:cNvPr id="13" name="Text 9"/>
          <p:cNvSpPr/>
          <p:nvPr/>
        </p:nvSpPr>
        <p:spPr>
          <a:xfrm>
            <a:off x="7818120" y="2706624"/>
            <a:ext cx="379476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Email, Phone Number</a:t>
            </a:r>
            <a:endParaRPr lang="en-US" sz="1250" dirty="0"/>
          </a:p>
        </p:txBody>
      </p:sp>
      <p:sp>
        <p:nvSpPr>
          <p:cNvPr id="14" name="Shape 10"/>
          <p:cNvSpPr/>
          <p:nvPr/>
        </p:nvSpPr>
        <p:spPr>
          <a:xfrm>
            <a:off x="7223760" y="3310128"/>
            <a:ext cx="457200" cy="457200"/>
          </a:xfrm>
          <a:prstGeom prst="ellipse">
            <a:avLst/>
          </a:prstGeom>
          <a:solidFill>
            <a:srgbClr val="ECECEC"/>
          </a:solidFill>
          <a:ln w="12700">
            <a:solidFill>
              <a:srgbClr val="CFCFCF"/>
            </a:solidFill>
            <a:prstDash val="solid"/>
          </a:ln>
        </p:spPr>
      </p:sp>
      <p:pic>
        <p:nvPicPr>
          <p:cNvPr id="15" name="Image 2" descr="preencoded.png">    </p:cNvPr>
          <p:cNvPicPr>
            <a:picLocks noChangeAspect="1"/>
          </p:cNvPicPr>
          <p:nvPr/>
        </p:nvPicPr>
        <p:blipFill>
          <a:blip r:embed="rId3"/>
          <a:stretch>
            <a:fillRect/>
          </a:stretch>
        </p:blipFill>
        <p:spPr>
          <a:xfrm>
            <a:off x="7333488" y="3419856"/>
            <a:ext cx="237744" cy="237744"/>
          </a:xfrm>
          <a:prstGeom prst="rect">
            <a:avLst/>
          </a:prstGeom>
        </p:spPr>
      </p:pic>
      <p:sp>
        <p:nvSpPr>
          <p:cNvPr id="16" name="Text 11"/>
          <p:cNvSpPr/>
          <p:nvPr/>
        </p:nvSpPr>
        <p:spPr>
          <a:xfrm>
            <a:off x="7818120" y="3310128"/>
            <a:ext cx="379476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Bank &amp; Credit Card Details</a:t>
            </a:r>
            <a:endParaRPr lang="en-US" sz="1250" dirty="0"/>
          </a:p>
        </p:txBody>
      </p:sp>
      <p:sp>
        <p:nvSpPr>
          <p:cNvPr id="17" name="Shape 12"/>
          <p:cNvSpPr/>
          <p:nvPr/>
        </p:nvSpPr>
        <p:spPr>
          <a:xfrm>
            <a:off x="7223760" y="3913632"/>
            <a:ext cx="457200" cy="457200"/>
          </a:xfrm>
          <a:prstGeom prst="ellipse">
            <a:avLst/>
          </a:prstGeom>
          <a:solidFill>
            <a:srgbClr val="ECECEC"/>
          </a:solidFill>
          <a:ln w="12700">
            <a:solidFill>
              <a:srgbClr val="CFCFCF"/>
            </a:solidFill>
            <a:prstDash val="solid"/>
          </a:ln>
        </p:spPr>
      </p:sp>
      <p:pic>
        <p:nvPicPr>
          <p:cNvPr id="18" name="Image 3" descr="preencoded.png">    </p:cNvPr>
          <p:cNvPicPr>
            <a:picLocks noChangeAspect="1"/>
          </p:cNvPicPr>
          <p:nvPr/>
        </p:nvPicPr>
        <p:blipFill>
          <a:blip r:embed="rId4"/>
          <a:stretch>
            <a:fillRect/>
          </a:stretch>
        </p:blipFill>
        <p:spPr>
          <a:xfrm>
            <a:off x="7333488" y="4023360"/>
            <a:ext cx="237744" cy="237744"/>
          </a:xfrm>
          <a:prstGeom prst="rect">
            <a:avLst/>
          </a:prstGeom>
        </p:spPr>
      </p:pic>
      <p:sp>
        <p:nvSpPr>
          <p:cNvPr id="19" name="Text 13"/>
          <p:cNvSpPr/>
          <p:nvPr/>
        </p:nvSpPr>
        <p:spPr>
          <a:xfrm>
            <a:off x="7818120" y="3913632"/>
            <a:ext cx="379476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Medical &amp; Academic Records</a:t>
            </a:r>
            <a:endParaRPr lang="en-US" sz="1250" dirty="0"/>
          </a:p>
        </p:txBody>
      </p:sp>
      <p:sp>
        <p:nvSpPr>
          <p:cNvPr id="20" name="Shape 14"/>
          <p:cNvSpPr/>
          <p:nvPr/>
        </p:nvSpPr>
        <p:spPr>
          <a:xfrm>
            <a:off x="7223760" y="4517136"/>
            <a:ext cx="457200" cy="457200"/>
          </a:xfrm>
          <a:prstGeom prst="ellipse">
            <a:avLst/>
          </a:prstGeom>
          <a:solidFill>
            <a:srgbClr val="ECECEC"/>
          </a:solidFill>
          <a:ln w="12700">
            <a:solidFill>
              <a:srgbClr val="CFCFCF"/>
            </a:solidFill>
            <a:prstDash val="solid"/>
          </a:ln>
        </p:spPr>
      </p:sp>
      <p:pic>
        <p:nvPicPr>
          <p:cNvPr id="21" name="Image 4" descr="preencoded.png">    </p:cNvPr>
          <p:cNvPicPr>
            <a:picLocks noChangeAspect="1"/>
          </p:cNvPicPr>
          <p:nvPr/>
        </p:nvPicPr>
        <p:blipFill>
          <a:blip r:embed="rId5"/>
          <a:stretch>
            <a:fillRect/>
          </a:stretch>
        </p:blipFill>
        <p:spPr>
          <a:xfrm>
            <a:off x="7333488" y="4626864"/>
            <a:ext cx="237744" cy="237744"/>
          </a:xfrm>
          <a:prstGeom prst="rect">
            <a:avLst/>
          </a:prstGeom>
        </p:spPr>
      </p:pic>
      <p:sp>
        <p:nvSpPr>
          <p:cNvPr id="22" name="Text 15"/>
          <p:cNvSpPr/>
          <p:nvPr/>
        </p:nvSpPr>
        <p:spPr>
          <a:xfrm>
            <a:off x="7818120" y="4517136"/>
            <a:ext cx="379476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Biometric Data (Fingerprint, Face ID)</a:t>
            </a:r>
            <a:endParaRPr lang="en-US" sz="1250" dirty="0"/>
          </a:p>
        </p:txBody>
      </p:sp>
      <p:sp>
        <p:nvSpPr>
          <p:cNvPr id="23" name="Shape 16"/>
          <p:cNvSpPr/>
          <p:nvPr/>
        </p:nvSpPr>
        <p:spPr>
          <a:xfrm>
            <a:off x="7223760" y="5120640"/>
            <a:ext cx="457200" cy="457200"/>
          </a:xfrm>
          <a:prstGeom prst="ellipse">
            <a:avLst/>
          </a:prstGeom>
          <a:solidFill>
            <a:srgbClr val="ECECEC"/>
          </a:solidFill>
          <a:ln w="12700">
            <a:solidFill>
              <a:srgbClr val="CFCFCF"/>
            </a:solidFill>
            <a:prstDash val="solid"/>
          </a:ln>
        </p:spPr>
      </p:sp>
      <p:pic>
        <p:nvPicPr>
          <p:cNvPr id="24" name="Image 5" descr="preencoded.png">    </p:cNvPr>
          <p:cNvPicPr>
            <a:picLocks noChangeAspect="1"/>
          </p:cNvPicPr>
          <p:nvPr/>
        </p:nvPicPr>
        <p:blipFill>
          <a:blip r:embed="rId6"/>
          <a:stretch>
            <a:fillRect/>
          </a:stretch>
        </p:blipFill>
        <p:spPr>
          <a:xfrm>
            <a:off x="7333488" y="5230368"/>
            <a:ext cx="237744" cy="237744"/>
          </a:xfrm>
          <a:prstGeom prst="rect">
            <a:avLst/>
          </a:prstGeom>
        </p:spPr>
      </p:pic>
      <p:sp>
        <p:nvSpPr>
          <p:cNvPr id="25" name="Text 17"/>
          <p:cNvSpPr/>
          <p:nvPr/>
        </p:nvSpPr>
        <p:spPr>
          <a:xfrm>
            <a:off x="7818120" y="5120640"/>
            <a:ext cx="379476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Location Data &amp; IP Address</a:t>
            </a:r>
            <a:endParaRPr lang="en-US" sz="1250" dirty="0"/>
          </a:p>
        </p:txBody>
      </p:sp>
      <p:sp>
        <p:nvSpPr>
          <p:cNvPr id="26" name="Text 1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7" name="Text 19"/>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Principles of Data Privacy (1 of 2)</a:t>
            </a:r>
            <a:endParaRPr lang="en-US" sz="3200" dirty="0"/>
          </a:p>
        </p:txBody>
      </p:sp>
      <p:sp>
        <p:nvSpPr>
          <p:cNvPr id="3" name="Shape 1"/>
          <p:cNvSpPr/>
          <p:nvPr/>
        </p:nvSpPr>
        <p:spPr>
          <a:xfrm>
            <a:off x="548640" y="1691640"/>
            <a:ext cx="5394960" cy="2148840"/>
          </a:xfrm>
          <a:prstGeom prst="rect">
            <a:avLst/>
          </a:prstGeom>
          <a:solidFill>
            <a:srgbClr val="F2F2F2"/>
          </a:solidFill>
          <a:ln w="12700">
            <a:solidFill>
              <a:srgbClr val="CFCFCF"/>
            </a:solidFill>
            <a:prstDash val="solid"/>
          </a:ln>
        </p:spPr>
      </p:sp>
      <p:sp>
        <p:nvSpPr>
          <p:cNvPr id="4" name="Shape 2"/>
          <p:cNvSpPr/>
          <p:nvPr/>
        </p:nvSpPr>
        <p:spPr>
          <a:xfrm>
            <a:off x="777240" y="1920240"/>
            <a:ext cx="502920" cy="50292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6" name="Text 3"/>
          <p:cNvSpPr/>
          <p:nvPr/>
        </p:nvSpPr>
        <p:spPr>
          <a:xfrm>
            <a:off x="1417320" y="189280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Lawfulness</a:t>
            </a:r>
            <a:endParaRPr lang="en-US" sz="1550" dirty="0"/>
          </a:p>
        </p:txBody>
      </p:sp>
      <p:sp>
        <p:nvSpPr>
          <p:cNvPr id="7" name="Text 4"/>
          <p:cNvSpPr/>
          <p:nvPr/>
        </p:nvSpPr>
        <p:spPr>
          <a:xfrm>
            <a:off x="822960" y="2468880"/>
            <a:ext cx="4846320" cy="7772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Organizations should collect data legally.</a:t>
            </a:r>
            <a:endParaRPr lang="en-US" sz="1200" dirty="0"/>
          </a:p>
        </p:txBody>
      </p:sp>
      <p:sp>
        <p:nvSpPr>
          <p:cNvPr id="8" name="Text 5"/>
          <p:cNvSpPr/>
          <p:nvPr/>
        </p:nvSpPr>
        <p:spPr>
          <a:xfrm>
            <a:off x="822960" y="3291840"/>
            <a:ext cx="4846320" cy="45720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A company must not secretly collect users' phone contacts.</a:t>
            </a:r>
            <a:endParaRPr lang="en-US" sz="1100" dirty="0"/>
          </a:p>
        </p:txBody>
      </p:sp>
      <p:sp>
        <p:nvSpPr>
          <p:cNvPr id="9" name="Shape 6"/>
          <p:cNvSpPr/>
          <p:nvPr/>
        </p:nvSpPr>
        <p:spPr>
          <a:xfrm>
            <a:off x="6400800" y="1691640"/>
            <a:ext cx="5394960" cy="2148840"/>
          </a:xfrm>
          <a:prstGeom prst="rect">
            <a:avLst/>
          </a:prstGeom>
          <a:solidFill>
            <a:srgbClr val="F2F2F2"/>
          </a:solidFill>
          <a:ln w="12700">
            <a:solidFill>
              <a:srgbClr val="CFCFCF"/>
            </a:solidFill>
            <a:prstDash val="solid"/>
          </a:ln>
        </p:spPr>
      </p:sp>
      <p:sp>
        <p:nvSpPr>
          <p:cNvPr id="10" name="Shape 7"/>
          <p:cNvSpPr/>
          <p:nvPr/>
        </p:nvSpPr>
        <p:spPr>
          <a:xfrm>
            <a:off x="6629400" y="1920240"/>
            <a:ext cx="502920" cy="502920"/>
          </a:xfrm>
          <a:prstGeom prst="ellipse">
            <a:avLst/>
          </a:prstGeom>
          <a:solidFill>
            <a:srgbClr val="ECECEC"/>
          </a:solidFill>
          <a:ln w="12700">
            <a:solidFill>
              <a:srgbClr val="CFCFCF"/>
            </a:solidFill>
            <a:prstDash val="solid"/>
          </a:ln>
        </p:spPr>
      </p:sp>
      <p:pic>
        <p:nvPicPr>
          <p:cNvPr id="11" name="Image 1" descr="preencoded.png">    </p:cNvPr>
          <p:cNvPicPr>
            <a:picLocks noChangeAspect="1"/>
          </p:cNvPicPr>
          <p:nvPr/>
        </p:nvPicPr>
        <p:blipFill>
          <a:blip r:embed="rId2"/>
          <a:stretch>
            <a:fillRect/>
          </a:stretch>
        </p:blipFill>
        <p:spPr>
          <a:xfrm>
            <a:off x="6750101" y="2040941"/>
            <a:ext cx="261518" cy="261518"/>
          </a:xfrm>
          <a:prstGeom prst="rect">
            <a:avLst/>
          </a:prstGeom>
        </p:spPr>
      </p:pic>
      <p:sp>
        <p:nvSpPr>
          <p:cNvPr id="12" name="Text 8"/>
          <p:cNvSpPr/>
          <p:nvPr/>
        </p:nvSpPr>
        <p:spPr>
          <a:xfrm>
            <a:off x="7269480" y="189280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Transparency</a:t>
            </a:r>
            <a:endParaRPr lang="en-US" sz="1550" dirty="0"/>
          </a:p>
        </p:txBody>
      </p:sp>
      <p:sp>
        <p:nvSpPr>
          <p:cNvPr id="13" name="Text 9"/>
          <p:cNvSpPr/>
          <p:nvPr/>
        </p:nvSpPr>
        <p:spPr>
          <a:xfrm>
            <a:off x="6675120" y="2468880"/>
            <a:ext cx="4846320" cy="7772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Users should know why data is collected, how it is used, who accesses it, and how long it is stored.</a:t>
            </a:r>
            <a:endParaRPr lang="en-US" sz="1200" dirty="0"/>
          </a:p>
        </p:txBody>
      </p:sp>
      <p:sp>
        <p:nvSpPr>
          <p:cNvPr id="14" name="Text 10"/>
          <p:cNvSpPr/>
          <p:nvPr/>
        </p:nvSpPr>
        <p:spPr>
          <a:xfrm>
            <a:off x="6675120" y="3291840"/>
            <a:ext cx="4846320" cy="45720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Facebook explains data use in its Privacy Policy.</a:t>
            </a:r>
            <a:endParaRPr lang="en-US" sz="1100" dirty="0"/>
          </a:p>
        </p:txBody>
      </p:sp>
      <p:sp>
        <p:nvSpPr>
          <p:cNvPr id="15" name="Shape 11"/>
          <p:cNvSpPr/>
          <p:nvPr/>
        </p:nvSpPr>
        <p:spPr>
          <a:xfrm>
            <a:off x="548640" y="4160520"/>
            <a:ext cx="5394960" cy="2148840"/>
          </a:xfrm>
          <a:prstGeom prst="rect">
            <a:avLst/>
          </a:prstGeom>
          <a:solidFill>
            <a:srgbClr val="F2F2F2"/>
          </a:solidFill>
          <a:ln w="12700">
            <a:solidFill>
              <a:srgbClr val="CFCFCF"/>
            </a:solidFill>
            <a:prstDash val="solid"/>
          </a:ln>
        </p:spPr>
      </p:sp>
      <p:sp>
        <p:nvSpPr>
          <p:cNvPr id="16" name="Shape 12"/>
          <p:cNvSpPr/>
          <p:nvPr/>
        </p:nvSpPr>
        <p:spPr>
          <a:xfrm>
            <a:off x="777240" y="4389120"/>
            <a:ext cx="502920" cy="502920"/>
          </a:xfrm>
          <a:prstGeom prst="ellipse">
            <a:avLst/>
          </a:prstGeom>
          <a:solidFill>
            <a:srgbClr val="ECECEC"/>
          </a:solidFill>
          <a:ln w="12700">
            <a:solidFill>
              <a:srgbClr val="CFCFCF"/>
            </a:solidFill>
            <a:prstDash val="solid"/>
          </a:ln>
        </p:spPr>
      </p:sp>
      <p:pic>
        <p:nvPicPr>
          <p:cNvPr id="17" name="Image 2" descr="preencoded.png">    </p:cNvPr>
          <p:cNvPicPr>
            <a:picLocks noChangeAspect="1"/>
          </p:cNvPicPr>
          <p:nvPr/>
        </p:nvPicPr>
        <p:blipFill>
          <a:blip r:embed="rId3"/>
          <a:stretch>
            <a:fillRect/>
          </a:stretch>
        </p:blipFill>
        <p:spPr>
          <a:xfrm>
            <a:off x="897941" y="4509821"/>
            <a:ext cx="261518" cy="261518"/>
          </a:xfrm>
          <a:prstGeom prst="rect">
            <a:avLst/>
          </a:prstGeom>
        </p:spPr>
      </p:pic>
      <p:sp>
        <p:nvSpPr>
          <p:cNvPr id="18" name="Text 13"/>
          <p:cNvSpPr/>
          <p:nvPr/>
        </p:nvSpPr>
        <p:spPr>
          <a:xfrm>
            <a:off x="1417320" y="436168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Consent</a:t>
            </a:r>
            <a:endParaRPr lang="en-US" sz="1550" dirty="0"/>
          </a:p>
        </p:txBody>
      </p:sp>
      <p:sp>
        <p:nvSpPr>
          <p:cNvPr id="19" name="Text 14"/>
          <p:cNvSpPr/>
          <p:nvPr/>
        </p:nvSpPr>
        <p:spPr>
          <a:xfrm>
            <a:off x="822960" y="4937760"/>
            <a:ext cx="4846320" cy="7772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Users should voluntarily agree before their data is collected.</a:t>
            </a:r>
            <a:endParaRPr lang="en-US" sz="1200" dirty="0"/>
          </a:p>
        </p:txBody>
      </p:sp>
      <p:sp>
        <p:nvSpPr>
          <p:cNvPr id="20" name="Text 15"/>
          <p:cNvSpPr/>
          <p:nvPr/>
        </p:nvSpPr>
        <p:spPr>
          <a:xfrm>
            <a:off x="822960" y="5760720"/>
            <a:ext cx="4846320" cy="45720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A website asking permission before using cookies.</a:t>
            </a:r>
            <a:endParaRPr lang="en-US" sz="1100" dirty="0"/>
          </a:p>
        </p:txBody>
      </p:sp>
      <p:sp>
        <p:nvSpPr>
          <p:cNvPr id="21" name="Shape 16"/>
          <p:cNvSpPr/>
          <p:nvPr/>
        </p:nvSpPr>
        <p:spPr>
          <a:xfrm>
            <a:off x="6400800" y="4160520"/>
            <a:ext cx="5394960" cy="2148840"/>
          </a:xfrm>
          <a:prstGeom prst="rect">
            <a:avLst/>
          </a:prstGeom>
          <a:solidFill>
            <a:srgbClr val="F2F2F2"/>
          </a:solidFill>
          <a:ln w="12700">
            <a:solidFill>
              <a:srgbClr val="CFCFCF"/>
            </a:solidFill>
            <a:prstDash val="solid"/>
          </a:ln>
        </p:spPr>
      </p:sp>
      <p:sp>
        <p:nvSpPr>
          <p:cNvPr id="22" name="Shape 17"/>
          <p:cNvSpPr/>
          <p:nvPr/>
        </p:nvSpPr>
        <p:spPr>
          <a:xfrm>
            <a:off x="6629400" y="4389120"/>
            <a:ext cx="502920" cy="502920"/>
          </a:xfrm>
          <a:prstGeom prst="ellipse">
            <a:avLst/>
          </a:prstGeom>
          <a:solidFill>
            <a:srgbClr val="ECECEC"/>
          </a:solidFill>
          <a:ln w="12700">
            <a:solidFill>
              <a:srgbClr val="CFCFCF"/>
            </a:solidFill>
            <a:prstDash val="solid"/>
          </a:ln>
        </p:spPr>
      </p:sp>
      <p:pic>
        <p:nvPicPr>
          <p:cNvPr id="23" name="Image 3" descr="preencoded.png">    </p:cNvPr>
          <p:cNvPicPr>
            <a:picLocks noChangeAspect="1"/>
          </p:cNvPicPr>
          <p:nvPr/>
        </p:nvPicPr>
        <p:blipFill>
          <a:blip r:embed="rId4"/>
          <a:stretch>
            <a:fillRect/>
          </a:stretch>
        </p:blipFill>
        <p:spPr>
          <a:xfrm>
            <a:off x="6750101" y="4509821"/>
            <a:ext cx="261518" cy="261518"/>
          </a:xfrm>
          <a:prstGeom prst="rect">
            <a:avLst/>
          </a:prstGeom>
        </p:spPr>
      </p:pic>
      <p:sp>
        <p:nvSpPr>
          <p:cNvPr id="24" name="Text 18"/>
          <p:cNvSpPr/>
          <p:nvPr/>
        </p:nvSpPr>
        <p:spPr>
          <a:xfrm>
            <a:off x="7269480" y="436168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Purpose Limitation</a:t>
            </a:r>
            <a:endParaRPr lang="en-US" sz="1550" dirty="0"/>
          </a:p>
        </p:txBody>
      </p:sp>
      <p:sp>
        <p:nvSpPr>
          <p:cNvPr id="25" name="Text 19"/>
          <p:cNvSpPr/>
          <p:nvPr/>
        </p:nvSpPr>
        <p:spPr>
          <a:xfrm>
            <a:off x="6675120" y="4937760"/>
            <a:ext cx="4846320" cy="7772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Data should only be used for the purpose it was collected for.</a:t>
            </a:r>
            <a:endParaRPr lang="en-US" sz="1200" dirty="0"/>
          </a:p>
        </p:txBody>
      </p:sp>
      <p:sp>
        <p:nvSpPr>
          <p:cNvPr id="26" name="Text 20"/>
          <p:cNvSpPr/>
          <p:nvPr/>
        </p:nvSpPr>
        <p:spPr>
          <a:xfrm>
            <a:off x="6675120" y="5760720"/>
            <a:ext cx="4846320" cy="45720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Student email used for notices, not advertising.</a:t>
            </a:r>
            <a:endParaRPr lang="en-US" sz="1100" dirty="0"/>
          </a:p>
        </p:txBody>
      </p:sp>
      <p:sp>
        <p:nvSpPr>
          <p:cNvPr id="27" name="Text 2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8" name="Text 22"/>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Principles of Data Privacy (2 of 2)</a:t>
            </a:r>
            <a:endParaRPr lang="en-US" sz="3200" dirty="0"/>
          </a:p>
        </p:txBody>
      </p:sp>
      <p:sp>
        <p:nvSpPr>
          <p:cNvPr id="3" name="Shape 1"/>
          <p:cNvSpPr/>
          <p:nvPr/>
        </p:nvSpPr>
        <p:spPr>
          <a:xfrm>
            <a:off x="548640" y="1691640"/>
            <a:ext cx="5394960" cy="2148840"/>
          </a:xfrm>
          <a:prstGeom prst="rect">
            <a:avLst/>
          </a:prstGeom>
          <a:solidFill>
            <a:srgbClr val="F2F2F2"/>
          </a:solidFill>
          <a:ln w="12700">
            <a:solidFill>
              <a:srgbClr val="CFCFCF"/>
            </a:solidFill>
            <a:prstDash val="solid"/>
          </a:ln>
        </p:spPr>
      </p:sp>
      <p:sp>
        <p:nvSpPr>
          <p:cNvPr id="4" name="Shape 2"/>
          <p:cNvSpPr/>
          <p:nvPr/>
        </p:nvSpPr>
        <p:spPr>
          <a:xfrm>
            <a:off x="777240" y="1920240"/>
            <a:ext cx="502920" cy="50292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6" name="Text 3"/>
          <p:cNvSpPr/>
          <p:nvPr/>
        </p:nvSpPr>
        <p:spPr>
          <a:xfrm>
            <a:off x="1417320" y="189280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Data Minimization</a:t>
            </a:r>
            <a:endParaRPr lang="en-US" sz="1550" dirty="0"/>
          </a:p>
        </p:txBody>
      </p:sp>
      <p:sp>
        <p:nvSpPr>
          <p:cNvPr id="7" name="Text 4"/>
          <p:cNvSpPr/>
          <p:nvPr/>
        </p:nvSpPr>
        <p:spPr>
          <a:xfrm>
            <a:off x="822960" y="2468880"/>
            <a:ext cx="4846320" cy="7772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Collect only necessary information.</a:t>
            </a:r>
            <a:endParaRPr lang="en-US" sz="1200" dirty="0"/>
          </a:p>
        </p:txBody>
      </p:sp>
      <p:sp>
        <p:nvSpPr>
          <p:cNvPr id="8" name="Text 5"/>
          <p:cNvSpPr/>
          <p:nvPr/>
        </p:nvSpPr>
        <p:spPr>
          <a:xfrm>
            <a:off x="822960" y="3291840"/>
            <a:ext cx="4846320" cy="45720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Good: Name, Address, Phone. Bad: Asking religion or blood group unnecessarily.</a:t>
            </a:r>
            <a:endParaRPr lang="en-US" sz="1100" dirty="0"/>
          </a:p>
        </p:txBody>
      </p:sp>
      <p:sp>
        <p:nvSpPr>
          <p:cNvPr id="9" name="Shape 6"/>
          <p:cNvSpPr/>
          <p:nvPr/>
        </p:nvSpPr>
        <p:spPr>
          <a:xfrm>
            <a:off x="6400800" y="1691640"/>
            <a:ext cx="5394960" cy="2148840"/>
          </a:xfrm>
          <a:prstGeom prst="rect">
            <a:avLst/>
          </a:prstGeom>
          <a:solidFill>
            <a:srgbClr val="F2F2F2"/>
          </a:solidFill>
          <a:ln w="12700">
            <a:solidFill>
              <a:srgbClr val="CFCFCF"/>
            </a:solidFill>
            <a:prstDash val="solid"/>
          </a:ln>
        </p:spPr>
      </p:sp>
      <p:sp>
        <p:nvSpPr>
          <p:cNvPr id="10" name="Shape 7"/>
          <p:cNvSpPr/>
          <p:nvPr/>
        </p:nvSpPr>
        <p:spPr>
          <a:xfrm>
            <a:off x="6629400" y="1920240"/>
            <a:ext cx="502920" cy="502920"/>
          </a:xfrm>
          <a:prstGeom prst="ellipse">
            <a:avLst/>
          </a:prstGeom>
          <a:solidFill>
            <a:srgbClr val="ECECEC"/>
          </a:solidFill>
          <a:ln w="12700">
            <a:solidFill>
              <a:srgbClr val="CFCFCF"/>
            </a:solidFill>
            <a:prstDash val="solid"/>
          </a:ln>
        </p:spPr>
      </p:sp>
      <p:pic>
        <p:nvPicPr>
          <p:cNvPr id="11" name="Image 1" descr="preencoded.png">    </p:cNvPr>
          <p:cNvPicPr>
            <a:picLocks noChangeAspect="1"/>
          </p:cNvPicPr>
          <p:nvPr/>
        </p:nvPicPr>
        <p:blipFill>
          <a:blip r:embed="rId2"/>
          <a:stretch>
            <a:fillRect/>
          </a:stretch>
        </p:blipFill>
        <p:spPr>
          <a:xfrm>
            <a:off x="6750101" y="2040941"/>
            <a:ext cx="261518" cy="261518"/>
          </a:xfrm>
          <a:prstGeom prst="rect">
            <a:avLst/>
          </a:prstGeom>
        </p:spPr>
      </p:pic>
      <p:sp>
        <p:nvSpPr>
          <p:cNvPr id="12" name="Text 8"/>
          <p:cNvSpPr/>
          <p:nvPr/>
        </p:nvSpPr>
        <p:spPr>
          <a:xfrm>
            <a:off x="7269480" y="189280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Accuracy</a:t>
            </a:r>
            <a:endParaRPr lang="en-US" sz="1550" dirty="0"/>
          </a:p>
        </p:txBody>
      </p:sp>
      <p:sp>
        <p:nvSpPr>
          <p:cNvPr id="13" name="Text 9"/>
          <p:cNvSpPr/>
          <p:nvPr/>
        </p:nvSpPr>
        <p:spPr>
          <a:xfrm>
            <a:off x="6675120" y="2468880"/>
            <a:ext cx="4846320" cy="7772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Personal information should remain correct and updated.</a:t>
            </a:r>
            <a:endParaRPr lang="en-US" sz="1200" dirty="0"/>
          </a:p>
        </p:txBody>
      </p:sp>
      <p:sp>
        <p:nvSpPr>
          <p:cNvPr id="14" name="Text 10"/>
          <p:cNvSpPr/>
          <p:nvPr/>
        </p:nvSpPr>
        <p:spPr>
          <a:xfrm>
            <a:off x="6675120" y="3291840"/>
            <a:ext cx="4846320" cy="45720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Users should be able to update their phone number.</a:t>
            </a:r>
            <a:endParaRPr lang="en-US" sz="1100" dirty="0"/>
          </a:p>
        </p:txBody>
      </p:sp>
      <p:sp>
        <p:nvSpPr>
          <p:cNvPr id="15" name="Shape 11"/>
          <p:cNvSpPr/>
          <p:nvPr/>
        </p:nvSpPr>
        <p:spPr>
          <a:xfrm>
            <a:off x="548640" y="4160520"/>
            <a:ext cx="5394960" cy="2148840"/>
          </a:xfrm>
          <a:prstGeom prst="rect">
            <a:avLst/>
          </a:prstGeom>
          <a:solidFill>
            <a:srgbClr val="F2F2F2"/>
          </a:solidFill>
          <a:ln w="12700">
            <a:solidFill>
              <a:srgbClr val="CFCFCF"/>
            </a:solidFill>
            <a:prstDash val="solid"/>
          </a:ln>
        </p:spPr>
      </p:sp>
      <p:sp>
        <p:nvSpPr>
          <p:cNvPr id="16" name="Shape 12"/>
          <p:cNvSpPr/>
          <p:nvPr/>
        </p:nvSpPr>
        <p:spPr>
          <a:xfrm>
            <a:off x="777240" y="4389120"/>
            <a:ext cx="502920" cy="502920"/>
          </a:xfrm>
          <a:prstGeom prst="ellipse">
            <a:avLst/>
          </a:prstGeom>
          <a:solidFill>
            <a:srgbClr val="ECECEC"/>
          </a:solidFill>
          <a:ln w="12700">
            <a:solidFill>
              <a:srgbClr val="CFCFCF"/>
            </a:solidFill>
            <a:prstDash val="solid"/>
          </a:ln>
        </p:spPr>
      </p:sp>
      <p:pic>
        <p:nvPicPr>
          <p:cNvPr id="17" name="Image 2" descr="preencoded.png">    </p:cNvPr>
          <p:cNvPicPr>
            <a:picLocks noChangeAspect="1"/>
          </p:cNvPicPr>
          <p:nvPr/>
        </p:nvPicPr>
        <p:blipFill>
          <a:blip r:embed="rId3"/>
          <a:stretch>
            <a:fillRect/>
          </a:stretch>
        </p:blipFill>
        <p:spPr>
          <a:xfrm>
            <a:off x="897941" y="4509821"/>
            <a:ext cx="261518" cy="261518"/>
          </a:xfrm>
          <a:prstGeom prst="rect">
            <a:avLst/>
          </a:prstGeom>
        </p:spPr>
      </p:pic>
      <p:sp>
        <p:nvSpPr>
          <p:cNvPr id="18" name="Text 13"/>
          <p:cNvSpPr/>
          <p:nvPr/>
        </p:nvSpPr>
        <p:spPr>
          <a:xfrm>
            <a:off x="1417320" y="436168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Storage Limitation</a:t>
            </a:r>
            <a:endParaRPr lang="en-US" sz="1550" dirty="0"/>
          </a:p>
        </p:txBody>
      </p:sp>
      <p:sp>
        <p:nvSpPr>
          <p:cNvPr id="19" name="Text 14"/>
          <p:cNvSpPr/>
          <p:nvPr/>
        </p:nvSpPr>
        <p:spPr>
          <a:xfrm>
            <a:off x="822960" y="4937760"/>
            <a:ext cx="4846320" cy="7772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Organizations should not keep data forever.</a:t>
            </a:r>
            <a:endParaRPr lang="en-US" sz="1200" dirty="0"/>
          </a:p>
        </p:txBody>
      </p:sp>
      <p:sp>
        <p:nvSpPr>
          <p:cNvPr id="20" name="Text 15"/>
          <p:cNvSpPr/>
          <p:nvPr/>
        </p:nvSpPr>
        <p:spPr>
          <a:xfrm>
            <a:off x="822960" y="5760720"/>
            <a:ext cx="4846320" cy="45720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Delete inactive customer records after several years.</a:t>
            </a:r>
            <a:endParaRPr lang="en-US" sz="1100" dirty="0"/>
          </a:p>
        </p:txBody>
      </p:sp>
      <p:sp>
        <p:nvSpPr>
          <p:cNvPr id="21" name="Shape 16"/>
          <p:cNvSpPr/>
          <p:nvPr/>
        </p:nvSpPr>
        <p:spPr>
          <a:xfrm>
            <a:off x="6400800" y="4160520"/>
            <a:ext cx="5394960" cy="2148840"/>
          </a:xfrm>
          <a:prstGeom prst="rect">
            <a:avLst/>
          </a:prstGeom>
          <a:solidFill>
            <a:srgbClr val="F2F2F2"/>
          </a:solidFill>
          <a:ln w="12700">
            <a:solidFill>
              <a:srgbClr val="CFCFCF"/>
            </a:solidFill>
            <a:prstDash val="solid"/>
          </a:ln>
        </p:spPr>
      </p:sp>
      <p:sp>
        <p:nvSpPr>
          <p:cNvPr id="22" name="Shape 17"/>
          <p:cNvSpPr/>
          <p:nvPr/>
        </p:nvSpPr>
        <p:spPr>
          <a:xfrm>
            <a:off x="6629400" y="4389120"/>
            <a:ext cx="502920" cy="502920"/>
          </a:xfrm>
          <a:prstGeom prst="ellipse">
            <a:avLst/>
          </a:prstGeom>
          <a:solidFill>
            <a:srgbClr val="ECECEC"/>
          </a:solidFill>
          <a:ln w="12700">
            <a:solidFill>
              <a:srgbClr val="CFCFCF"/>
            </a:solidFill>
            <a:prstDash val="solid"/>
          </a:ln>
        </p:spPr>
      </p:sp>
      <p:pic>
        <p:nvPicPr>
          <p:cNvPr id="23" name="Image 3" descr="preencoded.png">    </p:cNvPr>
          <p:cNvPicPr>
            <a:picLocks noChangeAspect="1"/>
          </p:cNvPicPr>
          <p:nvPr/>
        </p:nvPicPr>
        <p:blipFill>
          <a:blip r:embed="rId4"/>
          <a:stretch>
            <a:fillRect/>
          </a:stretch>
        </p:blipFill>
        <p:spPr>
          <a:xfrm>
            <a:off x="6750101" y="4509821"/>
            <a:ext cx="261518" cy="261518"/>
          </a:xfrm>
          <a:prstGeom prst="rect">
            <a:avLst/>
          </a:prstGeom>
        </p:spPr>
      </p:pic>
      <p:sp>
        <p:nvSpPr>
          <p:cNvPr id="24" name="Text 18"/>
          <p:cNvSpPr/>
          <p:nvPr/>
        </p:nvSpPr>
        <p:spPr>
          <a:xfrm>
            <a:off x="7269480" y="436168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Accountability</a:t>
            </a:r>
            <a:endParaRPr lang="en-US" sz="1550" dirty="0"/>
          </a:p>
        </p:txBody>
      </p:sp>
      <p:sp>
        <p:nvSpPr>
          <p:cNvPr id="25" name="Text 19"/>
          <p:cNvSpPr/>
          <p:nvPr/>
        </p:nvSpPr>
        <p:spPr>
          <a:xfrm>
            <a:off x="6675120" y="4937760"/>
            <a:ext cx="4846320" cy="7772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Organizations are responsible for protecting the data they collect.</a:t>
            </a:r>
            <a:endParaRPr lang="en-US" sz="1200" dirty="0"/>
          </a:p>
        </p:txBody>
      </p:sp>
      <p:sp>
        <p:nvSpPr>
          <p:cNvPr id="26" name="Text 2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7" name="Text 21"/>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What is Data Security?</a:t>
            </a:r>
            <a:endParaRPr lang="en-US" sz="3200" dirty="0"/>
          </a:p>
        </p:txBody>
      </p:sp>
      <p:sp>
        <p:nvSpPr>
          <p:cNvPr id="3" name="Shape 1"/>
          <p:cNvSpPr/>
          <p:nvPr/>
        </p:nvSpPr>
        <p:spPr>
          <a:xfrm>
            <a:off x="548640" y="1600200"/>
            <a:ext cx="11064240" cy="1188720"/>
          </a:xfrm>
          <a:prstGeom prst="rect">
            <a:avLst/>
          </a:prstGeom>
          <a:solidFill>
            <a:srgbClr val="F2F2F2"/>
          </a:solidFill>
          <a:ln w="12700">
            <a:solidFill>
              <a:srgbClr val="CFCFCF"/>
            </a:solidFill>
            <a:prstDash val="solid"/>
          </a:ln>
        </p:spPr>
      </p:sp>
      <p:sp>
        <p:nvSpPr>
          <p:cNvPr id="4" name="Text 2"/>
          <p:cNvSpPr/>
          <p:nvPr/>
        </p:nvSpPr>
        <p:spPr>
          <a:xfrm>
            <a:off x="822960" y="1737360"/>
            <a:ext cx="10515600" cy="914400"/>
          </a:xfrm>
          <a:prstGeom prst="rect">
            <a:avLst/>
          </a:prstGeom>
          <a:noFill/>
          <a:ln/>
        </p:spPr>
        <p:txBody>
          <a:bodyPr wrap="square" lIns="0" tIns="0" rIns="0" bIns="0" rtlCol="0" anchor="ctr"/>
          <a:lstStyle/>
          <a:p>
            <a:pPr indent="0" marL="0">
              <a:buNone/>
            </a:pPr>
            <a:r>
              <a:rPr lang="en-US" sz="1450" dirty="0">
                <a:solidFill>
                  <a:srgbClr val="000000"/>
                </a:solidFill>
                <a:latin typeface="Calibri" pitchFamily="34" charset="0"/>
                <a:ea typeface="Calibri" pitchFamily="34" charset="-122"/>
                <a:cs typeface="Calibri" pitchFamily="34" charset="-120"/>
              </a:rPr>
              <a:t>Data Security is the process of protecting data from unauthorized access, modification, theft, leakage, destruction, and cyber attacks. It uses technical, physical, and administrative controls.</a:t>
            </a:r>
            <a:endParaRPr lang="en-US" sz="1450" dirty="0"/>
          </a:p>
        </p:txBody>
      </p:sp>
      <p:sp>
        <p:nvSpPr>
          <p:cNvPr id="5" name="Text 3"/>
          <p:cNvSpPr/>
          <p:nvPr/>
        </p:nvSpPr>
        <p:spPr>
          <a:xfrm>
            <a:off x="548640" y="3063240"/>
            <a:ext cx="11064240" cy="365760"/>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Objectives of Data Security</a:t>
            </a:r>
            <a:endParaRPr lang="en-US" sz="1800" dirty="0"/>
          </a:p>
        </p:txBody>
      </p:sp>
      <p:sp>
        <p:nvSpPr>
          <p:cNvPr id="6" name="Shape 4"/>
          <p:cNvSpPr/>
          <p:nvPr/>
        </p:nvSpPr>
        <p:spPr>
          <a:xfrm>
            <a:off x="548640" y="3611880"/>
            <a:ext cx="2103120" cy="2194560"/>
          </a:xfrm>
          <a:prstGeom prst="rect">
            <a:avLst/>
          </a:prstGeom>
          <a:solidFill>
            <a:srgbClr val="F2F2F2"/>
          </a:solidFill>
          <a:ln w="12700">
            <a:solidFill>
              <a:srgbClr val="CFCFCF"/>
            </a:solidFill>
            <a:prstDash val="solid"/>
          </a:ln>
        </p:spPr>
      </p:sp>
      <p:sp>
        <p:nvSpPr>
          <p:cNvPr id="7" name="Shape 5"/>
          <p:cNvSpPr/>
          <p:nvPr/>
        </p:nvSpPr>
        <p:spPr>
          <a:xfrm>
            <a:off x="1325880" y="3886200"/>
            <a:ext cx="548640" cy="548640"/>
          </a:xfrm>
          <a:prstGeom prst="ellipse">
            <a:avLst/>
          </a:prstGeom>
          <a:solidFill>
            <a:srgbClr val="ECECEC"/>
          </a:solidFill>
          <a:ln w="12700">
            <a:solidFill>
              <a:srgbClr val="CFCFCF"/>
            </a:solidFill>
            <a:prstDash val="solid"/>
          </a:ln>
        </p:spPr>
      </p:sp>
      <p:pic>
        <p:nvPicPr>
          <p:cNvPr id="8" name="Image 0" descr="preencoded.png">    </p:cNvPr>
          <p:cNvPicPr>
            <a:picLocks noChangeAspect="1"/>
          </p:cNvPicPr>
          <p:nvPr/>
        </p:nvPicPr>
        <p:blipFill>
          <a:blip r:embed="rId1"/>
          <a:stretch>
            <a:fillRect/>
          </a:stretch>
        </p:blipFill>
        <p:spPr>
          <a:xfrm>
            <a:off x="1457554" y="4017874"/>
            <a:ext cx="285293" cy="285293"/>
          </a:xfrm>
          <a:prstGeom prst="rect">
            <a:avLst/>
          </a:prstGeom>
        </p:spPr>
      </p:pic>
      <p:sp>
        <p:nvSpPr>
          <p:cNvPr id="9" name="Text 6"/>
          <p:cNvSpPr/>
          <p:nvPr/>
        </p:nvSpPr>
        <p:spPr>
          <a:xfrm>
            <a:off x="685800" y="4663440"/>
            <a:ext cx="1828800" cy="1005840"/>
          </a:xfrm>
          <a:prstGeom prst="rect">
            <a:avLst/>
          </a:prstGeom>
          <a:noFill/>
          <a:ln/>
        </p:spPr>
        <p:txBody>
          <a:bodyPr wrap="square" lIns="0" tIns="0" rIns="0" bIns="0" rtlCol="0" anchor="t"/>
          <a:lstStyle/>
          <a:p>
            <a:pPr algn="ctr" indent="0" marL="0">
              <a:buNone/>
            </a:pPr>
            <a:r>
              <a:rPr lang="en-US" sz="1250" dirty="0">
                <a:solidFill>
                  <a:srgbClr val="000000"/>
                </a:solidFill>
                <a:latin typeface="Calibri" pitchFamily="34" charset="0"/>
                <a:ea typeface="Calibri" pitchFamily="34" charset="-122"/>
                <a:cs typeface="Calibri" pitchFamily="34" charset="-120"/>
              </a:rPr>
              <a:t>Protect confidentiality</a:t>
            </a:r>
            <a:endParaRPr lang="en-US" sz="1250" dirty="0"/>
          </a:p>
        </p:txBody>
      </p:sp>
      <p:sp>
        <p:nvSpPr>
          <p:cNvPr id="10" name="Shape 7"/>
          <p:cNvSpPr/>
          <p:nvPr/>
        </p:nvSpPr>
        <p:spPr>
          <a:xfrm>
            <a:off x="2871216" y="3611880"/>
            <a:ext cx="2103120" cy="2194560"/>
          </a:xfrm>
          <a:prstGeom prst="rect">
            <a:avLst/>
          </a:prstGeom>
          <a:solidFill>
            <a:srgbClr val="F2F2F2"/>
          </a:solidFill>
          <a:ln w="12700">
            <a:solidFill>
              <a:srgbClr val="CFCFCF"/>
            </a:solidFill>
            <a:prstDash val="solid"/>
          </a:ln>
        </p:spPr>
      </p:sp>
      <p:sp>
        <p:nvSpPr>
          <p:cNvPr id="11" name="Shape 8"/>
          <p:cNvSpPr/>
          <p:nvPr/>
        </p:nvSpPr>
        <p:spPr>
          <a:xfrm>
            <a:off x="3648456" y="3886200"/>
            <a:ext cx="548640" cy="548640"/>
          </a:xfrm>
          <a:prstGeom prst="ellipse">
            <a:avLst/>
          </a:prstGeom>
          <a:solidFill>
            <a:srgbClr val="ECECEC"/>
          </a:solidFill>
          <a:ln w="12700">
            <a:solidFill>
              <a:srgbClr val="CFCFCF"/>
            </a:solidFill>
            <a:prstDash val="solid"/>
          </a:ln>
        </p:spPr>
      </p:sp>
      <p:pic>
        <p:nvPicPr>
          <p:cNvPr id="12" name="Image 1" descr="preencoded.png">    </p:cNvPr>
          <p:cNvPicPr>
            <a:picLocks noChangeAspect="1"/>
          </p:cNvPicPr>
          <p:nvPr/>
        </p:nvPicPr>
        <p:blipFill>
          <a:blip r:embed="rId2"/>
          <a:stretch>
            <a:fillRect/>
          </a:stretch>
        </p:blipFill>
        <p:spPr>
          <a:xfrm>
            <a:off x="3780130" y="4017874"/>
            <a:ext cx="285293" cy="285293"/>
          </a:xfrm>
          <a:prstGeom prst="rect">
            <a:avLst/>
          </a:prstGeom>
        </p:spPr>
      </p:pic>
      <p:sp>
        <p:nvSpPr>
          <p:cNvPr id="13" name="Text 9"/>
          <p:cNvSpPr/>
          <p:nvPr/>
        </p:nvSpPr>
        <p:spPr>
          <a:xfrm>
            <a:off x="3008376" y="4663440"/>
            <a:ext cx="1828800" cy="1005840"/>
          </a:xfrm>
          <a:prstGeom prst="rect">
            <a:avLst/>
          </a:prstGeom>
          <a:noFill/>
          <a:ln/>
        </p:spPr>
        <p:txBody>
          <a:bodyPr wrap="square" lIns="0" tIns="0" rIns="0" bIns="0" rtlCol="0" anchor="t"/>
          <a:lstStyle/>
          <a:p>
            <a:pPr algn="ctr" indent="0" marL="0">
              <a:buNone/>
            </a:pPr>
            <a:r>
              <a:rPr lang="en-US" sz="1250" dirty="0">
                <a:solidFill>
                  <a:srgbClr val="000000"/>
                </a:solidFill>
                <a:latin typeface="Calibri" pitchFamily="34" charset="0"/>
                <a:ea typeface="Calibri" pitchFamily="34" charset="-122"/>
                <a:cs typeface="Calibri" pitchFamily="34" charset="-120"/>
              </a:rPr>
              <a:t>Maintain data integrity</a:t>
            </a:r>
            <a:endParaRPr lang="en-US" sz="1250" dirty="0"/>
          </a:p>
        </p:txBody>
      </p:sp>
      <p:sp>
        <p:nvSpPr>
          <p:cNvPr id="14" name="Shape 10"/>
          <p:cNvSpPr/>
          <p:nvPr/>
        </p:nvSpPr>
        <p:spPr>
          <a:xfrm>
            <a:off x="5193792" y="3611880"/>
            <a:ext cx="2103120" cy="2194560"/>
          </a:xfrm>
          <a:prstGeom prst="rect">
            <a:avLst/>
          </a:prstGeom>
          <a:solidFill>
            <a:srgbClr val="F2F2F2"/>
          </a:solidFill>
          <a:ln w="12700">
            <a:solidFill>
              <a:srgbClr val="CFCFCF"/>
            </a:solidFill>
            <a:prstDash val="solid"/>
          </a:ln>
        </p:spPr>
      </p:sp>
      <p:sp>
        <p:nvSpPr>
          <p:cNvPr id="15" name="Shape 11"/>
          <p:cNvSpPr/>
          <p:nvPr/>
        </p:nvSpPr>
        <p:spPr>
          <a:xfrm>
            <a:off x="5971032" y="3886200"/>
            <a:ext cx="548640" cy="548640"/>
          </a:xfrm>
          <a:prstGeom prst="ellipse">
            <a:avLst/>
          </a:prstGeom>
          <a:solidFill>
            <a:srgbClr val="ECECEC"/>
          </a:solidFill>
          <a:ln w="12700">
            <a:solidFill>
              <a:srgbClr val="CFCFCF"/>
            </a:solidFill>
            <a:prstDash val="solid"/>
          </a:ln>
        </p:spPr>
      </p:sp>
      <p:pic>
        <p:nvPicPr>
          <p:cNvPr id="16" name="Image 2" descr="preencoded.png">    </p:cNvPr>
          <p:cNvPicPr>
            <a:picLocks noChangeAspect="1"/>
          </p:cNvPicPr>
          <p:nvPr/>
        </p:nvPicPr>
        <p:blipFill>
          <a:blip r:embed="rId3"/>
          <a:stretch>
            <a:fillRect/>
          </a:stretch>
        </p:blipFill>
        <p:spPr>
          <a:xfrm>
            <a:off x="6102706" y="4017874"/>
            <a:ext cx="285293" cy="285293"/>
          </a:xfrm>
          <a:prstGeom prst="rect">
            <a:avLst/>
          </a:prstGeom>
        </p:spPr>
      </p:pic>
      <p:sp>
        <p:nvSpPr>
          <p:cNvPr id="17" name="Text 12"/>
          <p:cNvSpPr/>
          <p:nvPr/>
        </p:nvSpPr>
        <p:spPr>
          <a:xfrm>
            <a:off x="5330952" y="4663440"/>
            <a:ext cx="1828800" cy="1005840"/>
          </a:xfrm>
          <a:prstGeom prst="rect">
            <a:avLst/>
          </a:prstGeom>
          <a:noFill/>
          <a:ln/>
        </p:spPr>
        <p:txBody>
          <a:bodyPr wrap="square" lIns="0" tIns="0" rIns="0" bIns="0" rtlCol="0" anchor="t"/>
          <a:lstStyle/>
          <a:p>
            <a:pPr algn="ctr" indent="0" marL="0">
              <a:buNone/>
            </a:pPr>
            <a:r>
              <a:rPr lang="en-US" sz="1250" dirty="0">
                <a:solidFill>
                  <a:srgbClr val="000000"/>
                </a:solidFill>
                <a:latin typeface="Calibri" pitchFamily="34" charset="0"/>
                <a:ea typeface="Calibri" pitchFamily="34" charset="-122"/>
                <a:cs typeface="Calibri" pitchFamily="34" charset="-120"/>
              </a:rPr>
              <a:t>Ensure data availability</a:t>
            </a:r>
            <a:endParaRPr lang="en-US" sz="1250" dirty="0"/>
          </a:p>
        </p:txBody>
      </p:sp>
      <p:sp>
        <p:nvSpPr>
          <p:cNvPr id="18" name="Shape 13"/>
          <p:cNvSpPr/>
          <p:nvPr/>
        </p:nvSpPr>
        <p:spPr>
          <a:xfrm>
            <a:off x="7516368" y="3611880"/>
            <a:ext cx="2103120" cy="2194560"/>
          </a:xfrm>
          <a:prstGeom prst="rect">
            <a:avLst/>
          </a:prstGeom>
          <a:solidFill>
            <a:srgbClr val="F2F2F2"/>
          </a:solidFill>
          <a:ln w="12700">
            <a:solidFill>
              <a:srgbClr val="CFCFCF"/>
            </a:solidFill>
            <a:prstDash val="solid"/>
          </a:ln>
        </p:spPr>
      </p:sp>
      <p:sp>
        <p:nvSpPr>
          <p:cNvPr id="19" name="Shape 14"/>
          <p:cNvSpPr/>
          <p:nvPr/>
        </p:nvSpPr>
        <p:spPr>
          <a:xfrm>
            <a:off x="8293608" y="3886200"/>
            <a:ext cx="548640" cy="548640"/>
          </a:xfrm>
          <a:prstGeom prst="ellipse">
            <a:avLst/>
          </a:prstGeom>
          <a:solidFill>
            <a:srgbClr val="ECECEC"/>
          </a:solidFill>
          <a:ln w="12700">
            <a:solidFill>
              <a:srgbClr val="CFCFCF"/>
            </a:solidFill>
            <a:prstDash val="solid"/>
          </a:ln>
        </p:spPr>
      </p:sp>
      <p:pic>
        <p:nvPicPr>
          <p:cNvPr id="20" name="Image 3" descr="preencoded.png">    </p:cNvPr>
          <p:cNvPicPr>
            <a:picLocks noChangeAspect="1"/>
          </p:cNvPicPr>
          <p:nvPr/>
        </p:nvPicPr>
        <p:blipFill>
          <a:blip r:embed="rId4"/>
          <a:stretch>
            <a:fillRect/>
          </a:stretch>
        </p:blipFill>
        <p:spPr>
          <a:xfrm>
            <a:off x="8425282" y="4017874"/>
            <a:ext cx="285293" cy="285293"/>
          </a:xfrm>
          <a:prstGeom prst="rect">
            <a:avLst/>
          </a:prstGeom>
        </p:spPr>
      </p:pic>
      <p:sp>
        <p:nvSpPr>
          <p:cNvPr id="21" name="Text 15"/>
          <p:cNvSpPr/>
          <p:nvPr/>
        </p:nvSpPr>
        <p:spPr>
          <a:xfrm>
            <a:off x="7653528" y="4663440"/>
            <a:ext cx="1828800" cy="1005840"/>
          </a:xfrm>
          <a:prstGeom prst="rect">
            <a:avLst/>
          </a:prstGeom>
          <a:noFill/>
          <a:ln/>
        </p:spPr>
        <p:txBody>
          <a:bodyPr wrap="square" lIns="0" tIns="0" rIns="0" bIns="0" rtlCol="0" anchor="t"/>
          <a:lstStyle/>
          <a:p>
            <a:pPr algn="ctr" indent="0" marL="0">
              <a:buNone/>
            </a:pPr>
            <a:r>
              <a:rPr lang="en-US" sz="1250" dirty="0">
                <a:solidFill>
                  <a:srgbClr val="000000"/>
                </a:solidFill>
                <a:latin typeface="Calibri" pitchFamily="34" charset="0"/>
                <a:ea typeface="Calibri" pitchFamily="34" charset="-122"/>
                <a:cs typeface="Calibri" pitchFamily="34" charset="-120"/>
              </a:rPr>
              <a:t>Prevent cybercrime</a:t>
            </a:r>
            <a:endParaRPr lang="en-US" sz="1250" dirty="0"/>
          </a:p>
        </p:txBody>
      </p:sp>
      <p:sp>
        <p:nvSpPr>
          <p:cNvPr id="22" name="Shape 16"/>
          <p:cNvSpPr/>
          <p:nvPr/>
        </p:nvSpPr>
        <p:spPr>
          <a:xfrm>
            <a:off x="9838944" y="3611880"/>
            <a:ext cx="2103120" cy="2194560"/>
          </a:xfrm>
          <a:prstGeom prst="rect">
            <a:avLst/>
          </a:prstGeom>
          <a:solidFill>
            <a:srgbClr val="F2F2F2"/>
          </a:solidFill>
          <a:ln w="12700">
            <a:solidFill>
              <a:srgbClr val="CFCFCF"/>
            </a:solidFill>
            <a:prstDash val="solid"/>
          </a:ln>
        </p:spPr>
      </p:sp>
      <p:sp>
        <p:nvSpPr>
          <p:cNvPr id="23" name="Shape 17"/>
          <p:cNvSpPr/>
          <p:nvPr/>
        </p:nvSpPr>
        <p:spPr>
          <a:xfrm>
            <a:off x="10616184" y="3886200"/>
            <a:ext cx="548640" cy="548640"/>
          </a:xfrm>
          <a:prstGeom prst="ellipse">
            <a:avLst/>
          </a:prstGeom>
          <a:solidFill>
            <a:srgbClr val="ECECEC"/>
          </a:solidFill>
          <a:ln w="12700">
            <a:solidFill>
              <a:srgbClr val="CFCFCF"/>
            </a:solidFill>
            <a:prstDash val="solid"/>
          </a:ln>
        </p:spPr>
      </p:sp>
      <p:pic>
        <p:nvPicPr>
          <p:cNvPr id="24" name="Image 4" descr="preencoded.png">    </p:cNvPr>
          <p:cNvPicPr>
            <a:picLocks noChangeAspect="1"/>
          </p:cNvPicPr>
          <p:nvPr/>
        </p:nvPicPr>
        <p:blipFill>
          <a:blip r:embed="rId5"/>
          <a:stretch>
            <a:fillRect/>
          </a:stretch>
        </p:blipFill>
        <p:spPr>
          <a:xfrm>
            <a:off x="10747858" y="4017874"/>
            <a:ext cx="285293" cy="285293"/>
          </a:xfrm>
          <a:prstGeom prst="rect">
            <a:avLst/>
          </a:prstGeom>
        </p:spPr>
      </p:pic>
      <p:sp>
        <p:nvSpPr>
          <p:cNvPr id="25" name="Text 18"/>
          <p:cNvSpPr/>
          <p:nvPr/>
        </p:nvSpPr>
        <p:spPr>
          <a:xfrm>
            <a:off x="9976104" y="4663440"/>
            <a:ext cx="1828800" cy="1005840"/>
          </a:xfrm>
          <a:prstGeom prst="rect">
            <a:avLst/>
          </a:prstGeom>
          <a:noFill/>
          <a:ln/>
        </p:spPr>
        <p:txBody>
          <a:bodyPr wrap="square" lIns="0" tIns="0" rIns="0" bIns="0" rtlCol="0" anchor="t"/>
          <a:lstStyle/>
          <a:p>
            <a:pPr algn="ctr" indent="0" marL="0">
              <a:buNone/>
            </a:pPr>
            <a:r>
              <a:rPr lang="en-US" sz="1250" dirty="0">
                <a:solidFill>
                  <a:srgbClr val="000000"/>
                </a:solidFill>
                <a:latin typeface="Calibri" pitchFamily="34" charset="0"/>
                <a:ea typeface="Calibri" pitchFamily="34" charset="-122"/>
                <a:cs typeface="Calibri" pitchFamily="34" charset="-120"/>
              </a:rPr>
              <a:t>Protect organizational reputation</a:t>
            </a:r>
            <a:endParaRPr lang="en-US" sz="1250" dirty="0"/>
          </a:p>
        </p:txBody>
      </p:sp>
      <p:sp>
        <p:nvSpPr>
          <p:cNvPr id="26" name="Text 19"/>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7" name="Text 20"/>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CIA Triad</a:t>
            </a:r>
            <a:endParaRPr lang="en-US" sz="32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E6E6E"/>
                </a:solidFill>
                <a:latin typeface="Calibri" pitchFamily="34" charset="0"/>
                <a:ea typeface="Calibri" pitchFamily="34" charset="-122"/>
                <a:cs typeface="Calibri" pitchFamily="34" charset="-120"/>
              </a:rPr>
              <a:t>The fundamental principles of information security</a:t>
            </a:r>
            <a:endParaRPr lang="en-US" sz="1500" dirty="0"/>
          </a:p>
        </p:txBody>
      </p:sp>
      <p:sp>
        <p:nvSpPr>
          <p:cNvPr id="4" name="Shape 2"/>
          <p:cNvSpPr/>
          <p:nvPr/>
        </p:nvSpPr>
        <p:spPr>
          <a:xfrm>
            <a:off x="3383280" y="2194560"/>
            <a:ext cx="-1867662" cy="3243834"/>
          </a:xfrm>
          <a:prstGeom prst="line">
            <a:avLst/>
          </a:prstGeom>
          <a:noFill/>
          <a:ln w="25400">
            <a:solidFill>
              <a:srgbClr val="CFCFCF"/>
            </a:solidFill>
            <a:prstDash val="solid"/>
          </a:ln>
        </p:spPr>
      </p:sp>
      <p:sp>
        <p:nvSpPr>
          <p:cNvPr id="5" name="Shape 3"/>
          <p:cNvSpPr/>
          <p:nvPr/>
        </p:nvSpPr>
        <p:spPr>
          <a:xfrm>
            <a:off x="3383280" y="2194560"/>
            <a:ext cx="1867662" cy="3243834"/>
          </a:xfrm>
          <a:prstGeom prst="line">
            <a:avLst/>
          </a:prstGeom>
          <a:noFill/>
          <a:ln w="25400">
            <a:solidFill>
              <a:srgbClr val="CFCFCF"/>
            </a:solidFill>
            <a:prstDash val="solid"/>
          </a:ln>
        </p:spPr>
      </p:sp>
      <p:sp>
        <p:nvSpPr>
          <p:cNvPr id="6" name="Shape 4"/>
          <p:cNvSpPr/>
          <p:nvPr/>
        </p:nvSpPr>
        <p:spPr>
          <a:xfrm>
            <a:off x="1515618" y="5438394"/>
            <a:ext cx="3735324" cy="0"/>
          </a:xfrm>
          <a:prstGeom prst="line">
            <a:avLst/>
          </a:prstGeom>
          <a:noFill/>
          <a:ln w="25400">
            <a:solidFill>
              <a:srgbClr val="CFCFCF"/>
            </a:solidFill>
            <a:prstDash val="solid"/>
          </a:ln>
        </p:spPr>
      </p:sp>
      <p:sp>
        <p:nvSpPr>
          <p:cNvPr id="7" name="Shape 5"/>
          <p:cNvSpPr/>
          <p:nvPr/>
        </p:nvSpPr>
        <p:spPr>
          <a:xfrm>
            <a:off x="2971800" y="1783080"/>
            <a:ext cx="822960" cy="822960"/>
          </a:xfrm>
          <a:prstGeom prst="ellipse">
            <a:avLst/>
          </a:prstGeom>
          <a:solidFill>
            <a:srgbClr val="000000"/>
          </a:solidFill>
          <a:ln/>
        </p:spPr>
      </p:sp>
      <p:pic>
        <p:nvPicPr>
          <p:cNvPr id="8" name="Image 0" descr="preencoded.png">    </p:cNvPr>
          <p:cNvPicPr>
            <a:picLocks noChangeAspect="1"/>
          </p:cNvPicPr>
          <p:nvPr/>
        </p:nvPicPr>
        <p:blipFill>
          <a:blip r:embed="rId1"/>
          <a:stretch>
            <a:fillRect/>
          </a:stretch>
        </p:blipFill>
        <p:spPr>
          <a:xfrm>
            <a:off x="3169310" y="1980590"/>
            <a:ext cx="427939" cy="427939"/>
          </a:xfrm>
          <a:prstGeom prst="rect">
            <a:avLst/>
          </a:prstGeom>
        </p:spPr>
      </p:pic>
      <p:sp>
        <p:nvSpPr>
          <p:cNvPr id="9" name="Text 6"/>
          <p:cNvSpPr/>
          <p:nvPr/>
        </p:nvSpPr>
        <p:spPr>
          <a:xfrm>
            <a:off x="2377440" y="2679192"/>
            <a:ext cx="2011680" cy="320040"/>
          </a:xfrm>
          <a:prstGeom prst="rect">
            <a:avLst/>
          </a:prstGeom>
          <a:noFill/>
          <a:ln/>
        </p:spPr>
        <p:txBody>
          <a:bodyPr wrap="square" lIns="0" tIns="0" rIns="0" bIns="0" rtlCol="0" anchor="ctr"/>
          <a:lstStyle/>
          <a:p>
            <a:pPr algn="ctr" indent="0" marL="0">
              <a:buNone/>
            </a:pPr>
            <a:r>
              <a:rPr lang="en-US" sz="1300" b="1" dirty="0">
                <a:solidFill>
                  <a:srgbClr val="000000"/>
                </a:solidFill>
                <a:latin typeface="Cambria" pitchFamily="34" charset="0"/>
                <a:ea typeface="Cambria" pitchFamily="34" charset="-122"/>
                <a:cs typeface="Cambria" pitchFamily="34" charset="-120"/>
              </a:rPr>
              <a:t>Confidentiality</a:t>
            </a:r>
            <a:endParaRPr lang="en-US" sz="1300" dirty="0"/>
          </a:p>
        </p:txBody>
      </p:sp>
      <p:sp>
        <p:nvSpPr>
          <p:cNvPr id="10" name="Shape 7"/>
          <p:cNvSpPr/>
          <p:nvPr/>
        </p:nvSpPr>
        <p:spPr>
          <a:xfrm>
            <a:off x="1104138" y="5026914"/>
            <a:ext cx="822960" cy="822960"/>
          </a:xfrm>
          <a:prstGeom prst="ellipse">
            <a:avLst/>
          </a:prstGeom>
          <a:solidFill>
            <a:srgbClr val="000000"/>
          </a:solidFill>
          <a:ln/>
        </p:spPr>
      </p:sp>
      <p:pic>
        <p:nvPicPr>
          <p:cNvPr id="11" name="Image 1" descr="preencoded.png">    </p:cNvPr>
          <p:cNvPicPr>
            <a:picLocks noChangeAspect="1"/>
          </p:cNvPicPr>
          <p:nvPr/>
        </p:nvPicPr>
        <p:blipFill>
          <a:blip r:embed="rId2"/>
          <a:stretch>
            <a:fillRect/>
          </a:stretch>
        </p:blipFill>
        <p:spPr>
          <a:xfrm>
            <a:off x="1301648" y="5224424"/>
            <a:ext cx="427939" cy="427939"/>
          </a:xfrm>
          <a:prstGeom prst="rect">
            <a:avLst/>
          </a:prstGeom>
        </p:spPr>
      </p:pic>
      <p:sp>
        <p:nvSpPr>
          <p:cNvPr id="12" name="Text 8"/>
          <p:cNvSpPr/>
          <p:nvPr/>
        </p:nvSpPr>
        <p:spPr>
          <a:xfrm>
            <a:off x="509778" y="5923026"/>
            <a:ext cx="2011680" cy="320040"/>
          </a:xfrm>
          <a:prstGeom prst="rect">
            <a:avLst/>
          </a:prstGeom>
          <a:noFill/>
          <a:ln/>
        </p:spPr>
        <p:txBody>
          <a:bodyPr wrap="square" lIns="0" tIns="0" rIns="0" bIns="0" rtlCol="0" anchor="ctr"/>
          <a:lstStyle/>
          <a:p>
            <a:pPr algn="ctr" indent="0" marL="0">
              <a:buNone/>
            </a:pPr>
            <a:r>
              <a:rPr lang="en-US" sz="1300" b="1" dirty="0">
                <a:solidFill>
                  <a:srgbClr val="000000"/>
                </a:solidFill>
                <a:latin typeface="Cambria" pitchFamily="34" charset="0"/>
                <a:ea typeface="Cambria" pitchFamily="34" charset="-122"/>
                <a:cs typeface="Cambria" pitchFamily="34" charset="-120"/>
              </a:rPr>
              <a:t>Integrity</a:t>
            </a:r>
            <a:endParaRPr lang="en-US" sz="1300" dirty="0"/>
          </a:p>
        </p:txBody>
      </p:sp>
      <p:sp>
        <p:nvSpPr>
          <p:cNvPr id="13" name="Shape 9"/>
          <p:cNvSpPr/>
          <p:nvPr/>
        </p:nvSpPr>
        <p:spPr>
          <a:xfrm>
            <a:off x="4839462" y="5026914"/>
            <a:ext cx="822960" cy="822960"/>
          </a:xfrm>
          <a:prstGeom prst="ellipse">
            <a:avLst/>
          </a:prstGeom>
          <a:solidFill>
            <a:srgbClr val="000000"/>
          </a:solidFill>
          <a:ln/>
        </p:spPr>
      </p:sp>
      <p:pic>
        <p:nvPicPr>
          <p:cNvPr id="14" name="Image 2" descr="preencoded.png">    </p:cNvPr>
          <p:cNvPicPr>
            <a:picLocks noChangeAspect="1"/>
          </p:cNvPicPr>
          <p:nvPr/>
        </p:nvPicPr>
        <p:blipFill>
          <a:blip r:embed="rId3"/>
          <a:stretch>
            <a:fillRect/>
          </a:stretch>
        </p:blipFill>
        <p:spPr>
          <a:xfrm>
            <a:off x="5036972" y="5224424"/>
            <a:ext cx="427939" cy="427939"/>
          </a:xfrm>
          <a:prstGeom prst="rect">
            <a:avLst/>
          </a:prstGeom>
        </p:spPr>
      </p:pic>
      <p:sp>
        <p:nvSpPr>
          <p:cNvPr id="15" name="Text 10"/>
          <p:cNvSpPr/>
          <p:nvPr/>
        </p:nvSpPr>
        <p:spPr>
          <a:xfrm>
            <a:off x="4245102" y="5923026"/>
            <a:ext cx="2011680" cy="320040"/>
          </a:xfrm>
          <a:prstGeom prst="rect">
            <a:avLst/>
          </a:prstGeom>
          <a:noFill/>
          <a:ln/>
        </p:spPr>
        <p:txBody>
          <a:bodyPr wrap="square" lIns="0" tIns="0" rIns="0" bIns="0" rtlCol="0" anchor="ctr"/>
          <a:lstStyle/>
          <a:p>
            <a:pPr algn="ctr" indent="0" marL="0">
              <a:buNone/>
            </a:pPr>
            <a:r>
              <a:rPr lang="en-US" sz="1300" b="1" dirty="0">
                <a:solidFill>
                  <a:srgbClr val="000000"/>
                </a:solidFill>
                <a:latin typeface="Cambria" pitchFamily="34" charset="0"/>
                <a:ea typeface="Cambria" pitchFamily="34" charset="-122"/>
                <a:cs typeface="Cambria" pitchFamily="34" charset="-120"/>
              </a:rPr>
              <a:t>Availability</a:t>
            </a:r>
            <a:endParaRPr lang="en-US" sz="1300" dirty="0"/>
          </a:p>
        </p:txBody>
      </p:sp>
      <p:sp>
        <p:nvSpPr>
          <p:cNvPr id="16" name="Text 11"/>
          <p:cNvSpPr/>
          <p:nvPr/>
        </p:nvSpPr>
        <p:spPr>
          <a:xfrm>
            <a:off x="6675120" y="1691640"/>
            <a:ext cx="4937760" cy="292608"/>
          </a:xfrm>
          <a:prstGeom prst="rect">
            <a:avLst/>
          </a:prstGeom>
          <a:noFill/>
          <a:ln/>
        </p:spPr>
        <p:txBody>
          <a:bodyPr wrap="square" lIns="0" tIns="0" rIns="0" bIns="0" rtlCol="0" anchor="ctr"/>
          <a:lstStyle/>
          <a:p>
            <a:pPr indent="0" marL="0">
              <a:buNone/>
            </a:pPr>
            <a:r>
              <a:rPr lang="en-US" sz="1450" b="1" dirty="0">
                <a:solidFill>
                  <a:srgbClr val="000000"/>
                </a:solidFill>
                <a:latin typeface="Cambria" pitchFamily="34" charset="0"/>
                <a:ea typeface="Cambria" pitchFamily="34" charset="-122"/>
                <a:cs typeface="Cambria" pitchFamily="34" charset="-120"/>
              </a:rPr>
              <a:t>Confidentiality</a:t>
            </a:r>
            <a:endParaRPr lang="en-US" sz="1450" dirty="0"/>
          </a:p>
        </p:txBody>
      </p:sp>
      <p:sp>
        <p:nvSpPr>
          <p:cNvPr id="17" name="Text 12"/>
          <p:cNvSpPr/>
          <p:nvPr/>
        </p:nvSpPr>
        <p:spPr>
          <a:xfrm>
            <a:off x="6675120" y="2002536"/>
            <a:ext cx="4937760" cy="3200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Only authorized users can access information.</a:t>
            </a:r>
            <a:endParaRPr lang="en-US" sz="1200" dirty="0"/>
          </a:p>
        </p:txBody>
      </p:sp>
      <p:sp>
        <p:nvSpPr>
          <p:cNvPr id="18" name="Text 13"/>
          <p:cNvSpPr/>
          <p:nvPr/>
        </p:nvSpPr>
        <p:spPr>
          <a:xfrm>
            <a:off x="6675120" y="2313432"/>
            <a:ext cx="4937760" cy="292608"/>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Methods: Passwords, Encryption, Access Control</a:t>
            </a:r>
            <a:endParaRPr lang="en-US" sz="1100" dirty="0"/>
          </a:p>
        </p:txBody>
      </p:sp>
      <p:sp>
        <p:nvSpPr>
          <p:cNvPr id="19" name="Text 14"/>
          <p:cNvSpPr/>
          <p:nvPr/>
        </p:nvSpPr>
        <p:spPr>
          <a:xfrm>
            <a:off x="6675120" y="2606040"/>
            <a:ext cx="4937760" cy="50292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Only doctors can access patient medical records.</a:t>
            </a:r>
            <a:endParaRPr lang="en-US" sz="1100" dirty="0"/>
          </a:p>
        </p:txBody>
      </p:sp>
      <p:sp>
        <p:nvSpPr>
          <p:cNvPr id="20" name="Text 15"/>
          <p:cNvSpPr/>
          <p:nvPr/>
        </p:nvSpPr>
        <p:spPr>
          <a:xfrm>
            <a:off x="6675120" y="3264408"/>
            <a:ext cx="4937760" cy="292608"/>
          </a:xfrm>
          <a:prstGeom prst="rect">
            <a:avLst/>
          </a:prstGeom>
          <a:noFill/>
          <a:ln/>
        </p:spPr>
        <p:txBody>
          <a:bodyPr wrap="square" lIns="0" tIns="0" rIns="0" bIns="0" rtlCol="0" anchor="ctr"/>
          <a:lstStyle/>
          <a:p>
            <a:pPr indent="0" marL="0">
              <a:buNone/>
            </a:pPr>
            <a:r>
              <a:rPr lang="en-US" sz="1450" b="1" dirty="0">
                <a:solidFill>
                  <a:srgbClr val="000000"/>
                </a:solidFill>
                <a:latin typeface="Cambria" pitchFamily="34" charset="0"/>
                <a:ea typeface="Cambria" pitchFamily="34" charset="-122"/>
                <a:cs typeface="Cambria" pitchFamily="34" charset="-120"/>
              </a:rPr>
              <a:t>Integrity</a:t>
            </a:r>
            <a:endParaRPr lang="en-US" sz="1450" dirty="0"/>
          </a:p>
        </p:txBody>
      </p:sp>
      <p:sp>
        <p:nvSpPr>
          <p:cNvPr id="21" name="Text 16"/>
          <p:cNvSpPr/>
          <p:nvPr/>
        </p:nvSpPr>
        <p:spPr>
          <a:xfrm>
            <a:off x="6675120" y="3575304"/>
            <a:ext cx="4937760" cy="3200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Data should remain accurate and unchanged.</a:t>
            </a:r>
            <a:endParaRPr lang="en-US" sz="1200" dirty="0"/>
          </a:p>
        </p:txBody>
      </p:sp>
      <p:sp>
        <p:nvSpPr>
          <p:cNvPr id="22" name="Text 17"/>
          <p:cNvSpPr/>
          <p:nvPr/>
        </p:nvSpPr>
        <p:spPr>
          <a:xfrm>
            <a:off x="6675120" y="3886200"/>
            <a:ext cx="4937760" cy="292608"/>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Methods: Hashing, Checksums, Digital Signatures</a:t>
            </a:r>
            <a:endParaRPr lang="en-US" sz="1100" dirty="0"/>
          </a:p>
        </p:txBody>
      </p:sp>
      <p:sp>
        <p:nvSpPr>
          <p:cNvPr id="23" name="Text 18"/>
          <p:cNvSpPr/>
          <p:nvPr/>
        </p:nvSpPr>
        <p:spPr>
          <a:xfrm>
            <a:off x="6675120" y="4178808"/>
            <a:ext cx="4937760" cy="50292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Bank balances should not change without authorized transactions.</a:t>
            </a:r>
            <a:endParaRPr lang="en-US" sz="1100" dirty="0"/>
          </a:p>
        </p:txBody>
      </p:sp>
      <p:sp>
        <p:nvSpPr>
          <p:cNvPr id="24" name="Text 19"/>
          <p:cNvSpPr/>
          <p:nvPr/>
        </p:nvSpPr>
        <p:spPr>
          <a:xfrm>
            <a:off x="6675120" y="4837176"/>
            <a:ext cx="4937760" cy="292608"/>
          </a:xfrm>
          <a:prstGeom prst="rect">
            <a:avLst/>
          </a:prstGeom>
          <a:noFill/>
          <a:ln/>
        </p:spPr>
        <p:txBody>
          <a:bodyPr wrap="square" lIns="0" tIns="0" rIns="0" bIns="0" rtlCol="0" anchor="ctr"/>
          <a:lstStyle/>
          <a:p>
            <a:pPr indent="0" marL="0">
              <a:buNone/>
            </a:pPr>
            <a:r>
              <a:rPr lang="en-US" sz="1450" b="1" dirty="0">
                <a:solidFill>
                  <a:srgbClr val="000000"/>
                </a:solidFill>
                <a:latin typeface="Cambria" pitchFamily="34" charset="0"/>
                <a:ea typeface="Cambria" pitchFamily="34" charset="-122"/>
                <a:cs typeface="Cambria" pitchFamily="34" charset="-120"/>
              </a:rPr>
              <a:t>Availability</a:t>
            </a:r>
            <a:endParaRPr lang="en-US" sz="1450" dirty="0"/>
          </a:p>
        </p:txBody>
      </p:sp>
      <p:sp>
        <p:nvSpPr>
          <p:cNvPr id="25" name="Text 20"/>
          <p:cNvSpPr/>
          <p:nvPr/>
        </p:nvSpPr>
        <p:spPr>
          <a:xfrm>
            <a:off x="6675120" y="5148072"/>
            <a:ext cx="4937760" cy="32004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Authorized users can access data whenever needed.</a:t>
            </a:r>
            <a:endParaRPr lang="en-US" sz="1200" dirty="0"/>
          </a:p>
        </p:txBody>
      </p:sp>
      <p:sp>
        <p:nvSpPr>
          <p:cNvPr id="26" name="Text 21"/>
          <p:cNvSpPr/>
          <p:nvPr/>
        </p:nvSpPr>
        <p:spPr>
          <a:xfrm>
            <a:off x="6675120" y="5458968"/>
            <a:ext cx="4937760" cy="292608"/>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Methods: Backup, Cloud Storage, Disaster Recovery</a:t>
            </a:r>
            <a:endParaRPr lang="en-US" sz="1100" dirty="0"/>
          </a:p>
        </p:txBody>
      </p:sp>
      <p:sp>
        <p:nvSpPr>
          <p:cNvPr id="27" name="Text 22"/>
          <p:cNvSpPr/>
          <p:nvPr/>
        </p:nvSpPr>
        <p:spPr>
          <a:xfrm>
            <a:off x="6675120" y="5751576"/>
            <a:ext cx="4937760" cy="50292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e.g. Online banking should remain available 24/7.</a:t>
            </a:r>
            <a:endParaRPr lang="en-US" sz="1100" dirty="0"/>
          </a:p>
        </p:txBody>
      </p:sp>
      <p:sp>
        <p:nvSpPr>
          <p:cNvPr id="28" name="Text 23"/>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9" name="Text 24"/>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Difference Between Privacy and Security</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280160" y="1828800"/>
          <a:ext cx="9601200" cy="3931920"/>
        </p:xfrm>
        <a:graphic>
          <a:graphicData uri="http://schemas.openxmlformats.org/drawingml/2006/table">
            <a:tbl>
              <a:tblPr/>
              <a:tblGrid>
                <a:gridCol w="4800600"/>
                <a:gridCol w="4800600"/>
              </a:tblGrid>
              <a:tr h="655320">
                <a:tc>
                  <a:txBody>
                    <a:bodyPr/>
                    <a:lstStyle/>
                    <a:p>
                      <a:pPr algn="l" indent="0" marL="0">
                        <a:buNone/>
                      </a:pPr>
                      <a:r>
                        <a:rPr lang="en-US" sz="1400" b="1" dirty="0">
                          <a:solidFill>
                            <a:srgbClr val="FFFFFF"/>
                          </a:solidFill>
                          <a:latin typeface="Cambria" pitchFamily="34" charset="0"/>
                          <a:ea typeface="Cambria" pitchFamily="34" charset="-122"/>
                          <a:cs typeface="Cambria" pitchFamily="34" charset="-120"/>
                        </a:rPr>
                        <a:t>Data Privacy</a:t>
                      </a:r>
                      <a:endParaRPr lang="en-US" sz="1400" dirty="0">
                        <a:latin typeface="Cambria" charset="0"/>
                        <a:ea typeface="Cambria" charset="0"/>
                        <a:cs typeface="Cambria"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000000"/>
                    </a:solidFill>
                  </a:tcPr>
                </a:tc>
                <a:tc>
                  <a:txBody>
                    <a:bodyPr/>
                    <a:lstStyle/>
                    <a:p>
                      <a:pPr algn="l" indent="0" marL="0">
                        <a:buNone/>
                      </a:pPr>
                      <a:r>
                        <a:rPr lang="en-US" sz="1400" b="1" dirty="0">
                          <a:solidFill>
                            <a:srgbClr val="FFFFFF"/>
                          </a:solidFill>
                          <a:latin typeface="Cambria" pitchFamily="34" charset="0"/>
                          <a:ea typeface="Cambria" pitchFamily="34" charset="-122"/>
                          <a:cs typeface="Cambria" pitchFamily="34" charset="-120"/>
                        </a:rPr>
                        <a:t>Data Security</a:t>
                      </a:r>
                      <a:endParaRPr lang="en-US" sz="1400" dirty="0">
                        <a:latin typeface="Cambria" charset="0"/>
                        <a:ea typeface="Cambria" charset="0"/>
                        <a:cs typeface="Cambria"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000000"/>
                    </a:solidFill>
                  </a:tcPr>
                </a:tc>
              </a:tr>
              <a:tr h="6553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Protects personal information</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Protects all data</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r>
              <a:tr h="6553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Focuses on legal and ethical use</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Focuses on technical protection</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r>
              <a:tr h="6553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Controls who may use data</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Prevents unauthorized access</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r>
              <a:tr h="6553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Based on consent</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Based on security mechanisms</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r>
              <a:tr h="6553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User-centered</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Technology-centered</a:t>
                      </a:r>
                      <a:endParaRPr lang="en-US" sz="1350" dirty="0">
                        <a:latin typeface="Calibri" charset="0"/>
                        <a:ea typeface="Calibri" charset="0"/>
                        <a:cs typeface="Calibri" charset="0"/>
                      </a:endParaRPr>
                    </a:p>
                  </a:txBody>
                  <a:tcPr marL="127000" marR="127000" marT="76200" marB="76200" anchor="ctr">
                    <a:lnL w="12700" cap="flat" cmpd="sng" algn="ctr">
                      <a:solidFill>
                        <a:srgbClr val="CFCFCF"/>
                      </a:solidFill>
                      <a:prstDash val="solid"/>
                      <a:round/>
                      <a:headEnd type="none" w="med" len="med"/>
                      <a:tailEnd type="none" w="med" len="med"/>
                    </a:lnL>
                    <a:lnR w="12700" cap="flat" cmpd="sng" algn="ctr">
                      <a:solidFill>
                        <a:srgbClr val="CFCFCF"/>
                      </a:solidFill>
                      <a:prstDash val="solid"/>
                      <a:round/>
                      <a:headEnd type="none" w="med" len="med"/>
                      <a:tailEnd type="none" w="med" len="med"/>
                    </a:lnR>
                    <a:lnT w="12700" cap="flat" cmpd="sng" algn="ctr">
                      <a:solidFill>
                        <a:srgbClr val="CFCFCF"/>
                      </a:solidFill>
                      <a:prstDash val="solid"/>
                      <a:round/>
                      <a:headEnd type="none" w="med" len="med"/>
                      <a:tailEnd type="none" w="med" len="med"/>
                    </a:lnT>
                    <a:lnB w="12700" cap="flat" cmpd="sng" algn="ctr">
                      <a:solidFill>
                        <a:srgbClr val="CFCFCF"/>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5" name="Text 2"/>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Types of Data</a:t>
            </a:r>
            <a:endParaRPr lang="en-US" sz="3200" dirty="0"/>
          </a:p>
        </p:txBody>
      </p:sp>
      <p:sp>
        <p:nvSpPr>
          <p:cNvPr id="3" name="Shape 1"/>
          <p:cNvSpPr/>
          <p:nvPr/>
        </p:nvSpPr>
        <p:spPr>
          <a:xfrm>
            <a:off x="548640" y="1691640"/>
            <a:ext cx="5394960" cy="2148840"/>
          </a:xfrm>
          <a:prstGeom prst="rect">
            <a:avLst/>
          </a:prstGeom>
          <a:solidFill>
            <a:srgbClr val="F2F2F2"/>
          </a:solidFill>
          <a:ln w="12700">
            <a:solidFill>
              <a:srgbClr val="CFCFCF"/>
            </a:solidFill>
            <a:prstDash val="solid"/>
          </a:ln>
        </p:spPr>
      </p:sp>
      <p:sp>
        <p:nvSpPr>
          <p:cNvPr id="4" name="Shape 2"/>
          <p:cNvSpPr/>
          <p:nvPr/>
        </p:nvSpPr>
        <p:spPr>
          <a:xfrm>
            <a:off x="777240" y="1920240"/>
            <a:ext cx="502920" cy="50292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6" name="Text 3"/>
          <p:cNvSpPr/>
          <p:nvPr/>
        </p:nvSpPr>
        <p:spPr>
          <a:xfrm>
            <a:off x="1417320" y="189280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Personal Data</a:t>
            </a:r>
            <a:endParaRPr lang="en-US" sz="1550" dirty="0"/>
          </a:p>
        </p:txBody>
      </p:sp>
      <p:sp>
        <p:nvSpPr>
          <p:cNvPr id="7" name="Text 4"/>
          <p:cNvSpPr/>
          <p:nvPr/>
        </p:nvSpPr>
        <p:spPr>
          <a:xfrm>
            <a:off x="822960" y="2514600"/>
            <a:ext cx="4846320" cy="5486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Information identifying an individual.</a:t>
            </a:r>
            <a:endParaRPr lang="en-US" sz="1250" dirty="0"/>
          </a:p>
        </p:txBody>
      </p:sp>
      <p:sp>
        <p:nvSpPr>
          <p:cNvPr id="8" name="Text 5"/>
          <p:cNvSpPr/>
          <p:nvPr/>
        </p:nvSpPr>
        <p:spPr>
          <a:xfrm>
            <a:off x="822960" y="3154680"/>
            <a:ext cx="4846320" cy="548640"/>
          </a:xfrm>
          <a:prstGeom prst="rect">
            <a:avLst/>
          </a:prstGeom>
          <a:noFill/>
          <a:ln/>
        </p:spPr>
        <p:txBody>
          <a:bodyPr wrap="square" lIns="0" tIns="0" rIns="0" bIns="0" rtlCol="0" anchor="ctr"/>
          <a:lstStyle/>
          <a:p>
            <a:pPr indent="0" marL="0">
              <a:buNone/>
            </a:pPr>
            <a:r>
              <a:rPr lang="en-US" sz="1150" i="1" dirty="0">
                <a:solidFill>
                  <a:srgbClr val="6E6E6E"/>
                </a:solidFill>
                <a:latin typeface="Calibri" pitchFamily="34" charset="0"/>
                <a:ea typeface="Calibri" pitchFamily="34" charset="-122"/>
                <a:cs typeface="Calibri" pitchFamily="34" charset="-120"/>
              </a:rPr>
              <a:t>Name, Address, Phone, Email</a:t>
            </a:r>
            <a:endParaRPr lang="en-US" sz="1150" dirty="0"/>
          </a:p>
        </p:txBody>
      </p:sp>
      <p:sp>
        <p:nvSpPr>
          <p:cNvPr id="9" name="Shape 6"/>
          <p:cNvSpPr/>
          <p:nvPr/>
        </p:nvSpPr>
        <p:spPr>
          <a:xfrm>
            <a:off x="6400800" y="1691640"/>
            <a:ext cx="5394960" cy="2148840"/>
          </a:xfrm>
          <a:prstGeom prst="rect">
            <a:avLst/>
          </a:prstGeom>
          <a:solidFill>
            <a:srgbClr val="F2F2F2"/>
          </a:solidFill>
          <a:ln w="12700">
            <a:solidFill>
              <a:srgbClr val="CFCFCF"/>
            </a:solidFill>
            <a:prstDash val="solid"/>
          </a:ln>
        </p:spPr>
      </p:sp>
      <p:sp>
        <p:nvSpPr>
          <p:cNvPr id="10" name="Shape 7"/>
          <p:cNvSpPr/>
          <p:nvPr/>
        </p:nvSpPr>
        <p:spPr>
          <a:xfrm>
            <a:off x="6629400" y="1920240"/>
            <a:ext cx="502920" cy="502920"/>
          </a:xfrm>
          <a:prstGeom prst="ellipse">
            <a:avLst/>
          </a:prstGeom>
          <a:solidFill>
            <a:srgbClr val="ECECEC"/>
          </a:solidFill>
          <a:ln w="12700">
            <a:solidFill>
              <a:srgbClr val="CFCFCF"/>
            </a:solidFill>
            <a:prstDash val="solid"/>
          </a:ln>
        </p:spPr>
      </p:sp>
      <p:pic>
        <p:nvPicPr>
          <p:cNvPr id="11" name="Image 1" descr="preencoded.png">    </p:cNvPr>
          <p:cNvPicPr>
            <a:picLocks noChangeAspect="1"/>
          </p:cNvPicPr>
          <p:nvPr/>
        </p:nvPicPr>
        <p:blipFill>
          <a:blip r:embed="rId2"/>
          <a:stretch>
            <a:fillRect/>
          </a:stretch>
        </p:blipFill>
        <p:spPr>
          <a:xfrm>
            <a:off x="6750101" y="2040941"/>
            <a:ext cx="261518" cy="261518"/>
          </a:xfrm>
          <a:prstGeom prst="rect">
            <a:avLst/>
          </a:prstGeom>
        </p:spPr>
      </p:pic>
      <p:sp>
        <p:nvSpPr>
          <p:cNvPr id="12" name="Text 8"/>
          <p:cNvSpPr/>
          <p:nvPr/>
        </p:nvSpPr>
        <p:spPr>
          <a:xfrm>
            <a:off x="7269480" y="189280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Sensitive Personal Data</a:t>
            </a:r>
            <a:endParaRPr lang="en-US" sz="1550" dirty="0"/>
          </a:p>
        </p:txBody>
      </p:sp>
      <p:sp>
        <p:nvSpPr>
          <p:cNvPr id="13" name="Text 9"/>
          <p:cNvSpPr/>
          <p:nvPr/>
        </p:nvSpPr>
        <p:spPr>
          <a:xfrm>
            <a:off x="6675120" y="2514600"/>
            <a:ext cx="4846320" cy="5486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Requires stronger protection.</a:t>
            </a:r>
            <a:endParaRPr lang="en-US" sz="1250" dirty="0"/>
          </a:p>
        </p:txBody>
      </p:sp>
      <p:sp>
        <p:nvSpPr>
          <p:cNvPr id="14" name="Text 10"/>
          <p:cNvSpPr/>
          <p:nvPr/>
        </p:nvSpPr>
        <p:spPr>
          <a:xfrm>
            <a:off x="6675120" y="3154680"/>
            <a:ext cx="4846320" cy="548640"/>
          </a:xfrm>
          <a:prstGeom prst="rect">
            <a:avLst/>
          </a:prstGeom>
          <a:noFill/>
          <a:ln/>
        </p:spPr>
        <p:txBody>
          <a:bodyPr wrap="square" lIns="0" tIns="0" rIns="0" bIns="0" rtlCol="0" anchor="ctr"/>
          <a:lstStyle/>
          <a:p>
            <a:pPr indent="0" marL="0">
              <a:buNone/>
            </a:pPr>
            <a:r>
              <a:rPr lang="en-US" sz="1150" i="1" dirty="0">
                <a:solidFill>
                  <a:srgbClr val="6E6E6E"/>
                </a:solidFill>
                <a:latin typeface="Calibri" pitchFamily="34" charset="0"/>
                <a:ea typeface="Calibri" pitchFamily="34" charset="-122"/>
                <a:cs typeface="Calibri" pitchFamily="34" charset="-120"/>
              </a:rPr>
              <a:t>Medical Records, Fingerprints, DNA, Passwords</a:t>
            </a:r>
            <a:endParaRPr lang="en-US" sz="1150" dirty="0"/>
          </a:p>
        </p:txBody>
      </p:sp>
      <p:sp>
        <p:nvSpPr>
          <p:cNvPr id="15" name="Shape 11"/>
          <p:cNvSpPr/>
          <p:nvPr/>
        </p:nvSpPr>
        <p:spPr>
          <a:xfrm>
            <a:off x="548640" y="4160520"/>
            <a:ext cx="5394960" cy="2148840"/>
          </a:xfrm>
          <a:prstGeom prst="rect">
            <a:avLst/>
          </a:prstGeom>
          <a:solidFill>
            <a:srgbClr val="F2F2F2"/>
          </a:solidFill>
          <a:ln w="12700">
            <a:solidFill>
              <a:srgbClr val="CFCFCF"/>
            </a:solidFill>
            <a:prstDash val="solid"/>
          </a:ln>
        </p:spPr>
      </p:sp>
      <p:sp>
        <p:nvSpPr>
          <p:cNvPr id="16" name="Shape 12"/>
          <p:cNvSpPr/>
          <p:nvPr/>
        </p:nvSpPr>
        <p:spPr>
          <a:xfrm>
            <a:off x="777240" y="4389120"/>
            <a:ext cx="502920" cy="502920"/>
          </a:xfrm>
          <a:prstGeom prst="ellipse">
            <a:avLst/>
          </a:prstGeom>
          <a:solidFill>
            <a:srgbClr val="ECECEC"/>
          </a:solidFill>
          <a:ln w="12700">
            <a:solidFill>
              <a:srgbClr val="CFCFCF"/>
            </a:solidFill>
            <a:prstDash val="solid"/>
          </a:ln>
        </p:spPr>
      </p:sp>
      <p:pic>
        <p:nvPicPr>
          <p:cNvPr id="17" name="Image 2" descr="preencoded.png">    </p:cNvPr>
          <p:cNvPicPr>
            <a:picLocks noChangeAspect="1"/>
          </p:cNvPicPr>
          <p:nvPr/>
        </p:nvPicPr>
        <p:blipFill>
          <a:blip r:embed="rId3"/>
          <a:stretch>
            <a:fillRect/>
          </a:stretch>
        </p:blipFill>
        <p:spPr>
          <a:xfrm>
            <a:off x="897941" y="4509821"/>
            <a:ext cx="261518" cy="261518"/>
          </a:xfrm>
          <a:prstGeom prst="rect">
            <a:avLst/>
          </a:prstGeom>
        </p:spPr>
      </p:pic>
      <p:sp>
        <p:nvSpPr>
          <p:cNvPr id="18" name="Text 13"/>
          <p:cNvSpPr/>
          <p:nvPr/>
        </p:nvSpPr>
        <p:spPr>
          <a:xfrm>
            <a:off x="1417320" y="436168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Public Data</a:t>
            </a:r>
            <a:endParaRPr lang="en-US" sz="1550" dirty="0"/>
          </a:p>
        </p:txBody>
      </p:sp>
      <p:sp>
        <p:nvSpPr>
          <p:cNvPr id="19" name="Text 14"/>
          <p:cNvSpPr/>
          <p:nvPr/>
        </p:nvSpPr>
        <p:spPr>
          <a:xfrm>
            <a:off x="822960" y="4983480"/>
            <a:ext cx="4846320" cy="5486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Available for everyone.</a:t>
            </a:r>
            <a:endParaRPr lang="en-US" sz="1250" dirty="0"/>
          </a:p>
        </p:txBody>
      </p:sp>
      <p:sp>
        <p:nvSpPr>
          <p:cNvPr id="20" name="Text 15"/>
          <p:cNvSpPr/>
          <p:nvPr/>
        </p:nvSpPr>
        <p:spPr>
          <a:xfrm>
            <a:off x="822960" y="5623560"/>
            <a:ext cx="4846320" cy="548640"/>
          </a:xfrm>
          <a:prstGeom prst="rect">
            <a:avLst/>
          </a:prstGeom>
          <a:noFill/>
          <a:ln/>
        </p:spPr>
        <p:txBody>
          <a:bodyPr wrap="square" lIns="0" tIns="0" rIns="0" bIns="0" rtlCol="0" anchor="ctr"/>
          <a:lstStyle/>
          <a:p>
            <a:pPr indent="0" marL="0">
              <a:buNone/>
            </a:pPr>
            <a:r>
              <a:rPr lang="en-US" sz="1150" i="1" dirty="0">
                <a:solidFill>
                  <a:srgbClr val="6E6E6E"/>
                </a:solidFill>
                <a:latin typeface="Calibri" pitchFamily="34" charset="0"/>
                <a:ea typeface="Calibri" pitchFamily="34" charset="-122"/>
                <a:cs typeface="Calibri" pitchFamily="34" charset="-120"/>
              </a:rPr>
              <a:t>e.g. Government census statistics</a:t>
            </a:r>
            <a:endParaRPr lang="en-US" sz="1150" dirty="0"/>
          </a:p>
        </p:txBody>
      </p:sp>
      <p:sp>
        <p:nvSpPr>
          <p:cNvPr id="21" name="Shape 16"/>
          <p:cNvSpPr/>
          <p:nvPr/>
        </p:nvSpPr>
        <p:spPr>
          <a:xfrm>
            <a:off x="6400800" y="4160520"/>
            <a:ext cx="5394960" cy="2148840"/>
          </a:xfrm>
          <a:prstGeom prst="rect">
            <a:avLst/>
          </a:prstGeom>
          <a:solidFill>
            <a:srgbClr val="F2F2F2"/>
          </a:solidFill>
          <a:ln w="12700">
            <a:solidFill>
              <a:srgbClr val="CFCFCF"/>
            </a:solidFill>
            <a:prstDash val="solid"/>
          </a:ln>
        </p:spPr>
      </p:sp>
      <p:sp>
        <p:nvSpPr>
          <p:cNvPr id="22" name="Shape 17"/>
          <p:cNvSpPr/>
          <p:nvPr/>
        </p:nvSpPr>
        <p:spPr>
          <a:xfrm>
            <a:off x="6629400" y="4389120"/>
            <a:ext cx="502920" cy="502920"/>
          </a:xfrm>
          <a:prstGeom prst="ellipse">
            <a:avLst/>
          </a:prstGeom>
          <a:solidFill>
            <a:srgbClr val="ECECEC"/>
          </a:solidFill>
          <a:ln w="12700">
            <a:solidFill>
              <a:srgbClr val="CFCFCF"/>
            </a:solidFill>
            <a:prstDash val="solid"/>
          </a:ln>
        </p:spPr>
      </p:sp>
      <p:pic>
        <p:nvPicPr>
          <p:cNvPr id="23" name="Image 3" descr="preencoded.png">    </p:cNvPr>
          <p:cNvPicPr>
            <a:picLocks noChangeAspect="1"/>
          </p:cNvPicPr>
          <p:nvPr/>
        </p:nvPicPr>
        <p:blipFill>
          <a:blip r:embed="rId4"/>
          <a:stretch>
            <a:fillRect/>
          </a:stretch>
        </p:blipFill>
        <p:spPr>
          <a:xfrm>
            <a:off x="6750101" y="4509821"/>
            <a:ext cx="261518" cy="261518"/>
          </a:xfrm>
          <a:prstGeom prst="rect">
            <a:avLst/>
          </a:prstGeom>
        </p:spPr>
      </p:pic>
      <p:sp>
        <p:nvSpPr>
          <p:cNvPr id="24" name="Text 18"/>
          <p:cNvSpPr/>
          <p:nvPr/>
        </p:nvSpPr>
        <p:spPr>
          <a:xfrm>
            <a:off x="7269480" y="4361688"/>
            <a:ext cx="4297680" cy="45720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Confidential Data</a:t>
            </a:r>
            <a:endParaRPr lang="en-US" sz="1550" dirty="0"/>
          </a:p>
        </p:txBody>
      </p:sp>
      <p:sp>
        <p:nvSpPr>
          <p:cNvPr id="25" name="Text 19"/>
          <p:cNvSpPr/>
          <p:nvPr/>
        </p:nvSpPr>
        <p:spPr>
          <a:xfrm>
            <a:off x="6675120" y="4983480"/>
            <a:ext cx="4846320" cy="54864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Business information not meant for public release.</a:t>
            </a:r>
            <a:endParaRPr lang="en-US" sz="1250" dirty="0"/>
          </a:p>
        </p:txBody>
      </p:sp>
      <p:sp>
        <p:nvSpPr>
          <p:cNvPr id="26" name="Text 20"/>
          <p:cNvSpPr/>
          <p:nvPr/>
        </p:nvSpPr>
        <p:spPr>
          <a:xfrm>
            <a:off x="6675120" y="5623560"/>
            <a:ext cx="4846320" cy="548640"/>
          </a:xfrm>
          <a:prstGeom prst="rect">
            <a:avLst/>
          </a:prstGeom>
          <a:noFill/>
          <a:ln/>
        </p:spPr>
        <p:txBody>
          <a:bodyPr wrap="square" lIns="0" tIns="0" rIns="0" bIns="0" rtlCol="0" anchor="ctr"/>
          <a:lstStyle/>
          <a:p>
            <a:pPr indent="0" marL="0">
              <a:buNone/>
            </a:pPr>
            <a:r>
              <a:rPr lang="en-US" sz="1150" i="1" dirty="0">
                <a:solidFill>
                  <a:srgbClr val="6E6E6E"/>
                </a:solidFill>
                <a:latin typeface="Calibri" pitchFamily="34" charset="0"/>
                <a:ea typeface="Calibri" pitchFamily="34" charset="-122"/>
                <a:cs typeface="Calibri" pitchFamily="34" charset="-120"/>
              </a:rPr>
              <a:t>e.g. Company financial reports</a:t>
            </a:r>
            <a:endParaRPr lang="en-US" sz="1150" dirty="0"/>
          </a:p>
        </p:txBody>
      </p:sp>
      <p:sp>
        <p:nvSpPr>
          <p:cNvPr id="27" name="Text 2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8" name="Text 22"/>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Common Privacy and Security Threats</a:t>
            </a:r>
            <a:endParaRPr lang="en-US" sz="3200" dirty="0"/>
          </a:p>
        </p:txBody>
      </p:sp>
      <p:sp>
        <p:nvSpPr>
          <p:cNvPr id="3" name="Text 1"/>
          <p:cNvSpPr/>
          <p:nvPr/>
        </p:nvSpPr>
        <p:spPr>
          <a:xfrm>
            <a:off x="548640" y="1600200"/>
            <a:ext cx="5486400" cy="365760"/>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Privacy Threats</a:t>
            </a:r>
            <a:endParaRPr lang="en-US" sz="1700" dirty="0"/>
          </a:p>
        </p:txBody>
      </p:sp>
      <p:sp>
        <p:nvSpPr>
          <p:cNvPr id="4" name="Shape 2"/>
          <p:cNvSpPr/>
          <p:nvPr/>
        </p:nvSpPr>
        <p:spPr>
          <a:xfrm>
            <a:off x="548640" y="2057400"/>
            <a:ext cx="457200" cy="45720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658368" y="2167128"/>
            <a:ext cx="237744" cy="237744"/>
          </a:xfrm>
          <a:prstGeom prst="rect">
            <a:avLst/>
          </a:prstGeom>
        </p:spPr>
      </p:pic>
      <p:sp>
        <p:nvSpPr>
          <p:cNvPr id="6" name="Text 3"/>
          <p:cNvSpPr/>
          <p:nvPr/>
        </p:nvSpPr>
        <p:spPr>
          <a:xfrm>
            <a:off x="1143000" y="2057400"/>
            <a:ext cx="512064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Identity Theft — stolen personal info used illegally</a:t>
            </a:r>
            <a:endParaRPr lang="en-US" sz="1250" dirty="0"/>
          </a:p>
        </p:txBody>
      </p:sp>
      <p:sp>
        <p:nvSpPr>
          <p:cNvPr id="7" name="Shape 4"/>
          <p:cNvSpPr/>
          <p:nvPr/>
        </p:nvSpPr>
        <p:spPr>
          <a:xfrm>
            <a:off x="548640" y="2660904"/>
            <a:ext cx="457200" cy="457200"/>
          </a:xfrm>
          <a:prstGeom prst="ellipse">
            <a:avLst/>
          </a:prstGeom>
          <a:solidFill>
            <a:srgbClr val="ECECEC"/>
          </a:solidFill>
          <a:ln w="12700">
            <a:solidFill>
              <a:srgbClr val="CFCFCF"/>
            </a:solidFill>
            <a:prstDash val="solid"/>
          </a:ln>
        </p:spPr>
      </p:sp>
      <p:pic>
        <p:nvPicPr>
          <p:cNvPr id="8" name="Image 1" descr="preencoded.png">    </p:cNvPr>
          <p:cNvPicPr>
            <a:picLocks noChangeAspect="1"/>
          </p:cNvPicPr>
          <p:nvPr/>
        </p:nvPicPr>
        <p:blipFill>
          <a:blip r:embed="rId2"/>
          <a:stretch>
            <a:fillRect/>
          </a:stretch>
        </p:blipFill>
        <p:spPr>
          <a:xfrm>
            <a:off x="658368" y="2770632"/>
            <a:ext cx="237744" cy="237744"/>
          </a:xfrm>
          <a:prstGeom prst="rect">
            <a:avLst/>
          </a:prstGeom>
        </p:spPr>
      </p:pic>
      <p:sp>
        <p:nvSpPr>
          <p:cNvPr id="9" name="Text 5"/>
          <p:cNvSpPr/>
          <p:nvPr/>
        </p:nvSpPr>
        <p:spPr>
          <a:xfrm>
            <a:off x="1143000" y="2660904"/>
            <a:ext cx="512064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Data Breach — unauthorized exposure of data</a:t>
            </a:r>
            <a:endParaRPr lang="en-US" sz="1250" dirty="0"/>
          </a:p>
        </p:txBody>
      </p:sp>
      <p:sp>
        <p:nvSpPr>
          <p:cNvPr id="10" name="Shape 6"/>
          <p:cNvSpPr/>
          <p:nvPr/>
        </p:nvSpPr>
        <p:spPr>
          <a:xfrm>
            <a:off x="548640" y="3264408"/>
            <a:ext cx="457200" cy="457200"/>
          </a:xfrm>
          <a:prstGeom prst="ellipse">
            <a:avLst/>
          </a:prstGeom>
          <a:solidFill>
            <a:srgbClr val="ECECEC"/>
          </a:solidFill>
          <a:ln w="12700">
            <a:solidFill>
              <a:srgbClr val="CFCFCF"/>
            </a:solidFill>
            <a:prstDash val="solid"/>
          </a:ln>
        </p:spPr>
      </p:sp>
      <p:pic>
        <p:nvPicPr>
          <p:cNvPr id="11" name="Image 2" descr="preencoded.png">    </p:cNvPr>
          <p:cNvPicPr>
            <a:picLocks noChangeAspect="1"/>
          </p:cNvPicPr>
          <p:nvPr/>
        </p:nvPicPr>
        <p:blipFill>
          <a:blip r:embed="rId3"/>
          <a:stretch>
            <a:fillRect/>
          </a:stretch>
        </p:blipFill>
        <p:spPr>
          <a:xfrm>
            <a:off x="658368" y="3374136"/>
            <a:ext cx="237744" cy="237744"/>
          </a:xfrm>
          <a:prstGeom prst="rect">
            <a:avLst/>
          </a:prstGeom>
        </p:spPr>
      </p:pic>
      <p:sp>
        <p:nvSpPr>
          <p:cNvPr id="12" name="Text 7"/>
          <p:cNvSpPr/>
          <p:nvPr/>
        </p:nvSpPr>
        <p:spPr>
          <a:xfrm>
            <a:off x="1143000" y="3264408"/>
            <a:ext cx="512064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Tracking — websites monitor user activity</a:t>
            </a:r>
            <a:endParaRPr lang="en-US" sz="1250" dirty="0"/>
          </a:p>
        </p:txBody>
      </p:sp>
      <p:sp>
        <p:nvSpPr>
          <p:cNvPr id="13" name="Shape 8"/>
          <p:cNvSpPr/>
          <p:nvPr/>
        </p:nvSpPr>
        <p:spPr>
          <a:xfrm>
            <a:off x="548640" y="3867912"/>
            <a:ext cx="457200" cy="457200"/>
          </a:xfrm>
          <a:prstGeom prst="ellipse">
            <a:avLst/>
          </a:prstGeom>
          <a:solidFill>
            <a:srgbClr val="ECECEC"/>
          </a:solidFill>
          <a:ln w="12700">
            <a:solidFill>
              <a:srgbClr val="CFCFCF"/>
            </a:solidFill>
            <a:prstDash val="solid"/>
          </a:ln>
        </p:spPr>
      </p:sp>
      <p:pic>
        <p:nvPicPr>
          <p:cNvPr id="14" name="Image 3" descr="preencoded.png">    </p:cNvPr>
          <p:cNvPicPr>
            <a:picLocks noChangeAspect="1"/>
          </p:cNvPicPr>
          <p:nvPr/>
        </p:nvPicPr>
        <p:blipFill>
          <a:blip r:embed="rId4"/>
          <a:stretch>
            <a:fillRect/>
          </a:stretch>
        </p:blipFill>
        <p:spPr>
          <a:xfrm>
            <a:off x="658368" y="3977640"/>
            <a:ext cx="237744" cy="237744"/>
          </a:xfrm>
          <a:prstGeom prst="rect">
            <a:avLst/>
          </a:prstGeom>
        </p:spPr>
      </p:pic>
      <p:sp>
        <p:nvSpPr>
          <p:cNvPr id="15" name="Text 9"/>
          <p:cNvSpPr/>
          <p:nvPr/>
        </p:nvSpPr>
        <p:spPr>
          <a:xfrm>
            <a:off x="1143000" y="3867912"/>
            <a:ext cx="512064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Unauthorized Data Sharing — data sold without consent</a:t>
            </a:r>
            <a:endParaRPr lang="en-US" sz="1250" dirty="0"/>
          </a:p>
        </p:txBody>
      </p:sp>
      <p:sp>
        <p:nvSpPr>
          <p:cNvPr id="16" name="Shape 10"/>
          <p:cNvSpPr/>
          <p:nvPr/>
        </p:nvSpPr>
        <p:spPr>
          <a:xfrm>
            <a:off x="548640" y="4471416"/>
            <a:ext cx="457200" cy="457200"/>
          </a:xfrm>
          <a:prstGeom prst="ellipse">
            <a:avLst/>
          </a:prstGeom>
          <a:solidFill>
            <a:srgbClr val="ECECEC"/>
          </a:solidFill>
          <a:ln w="12700">
            <a:solidFill>
              <a:srgbClr val="CFCFCF"/>
            </a:solidFill>
            <a:prstDash val="solid"/>
          </a:ln>
        </p:spPr>
      </p:sp>
      <p:pic>
        <p:nvPicPr>
          <p:cNvPr id="17" name="Image 4" descr="preencoded.png">    </p:cNvPr>
          <p:cNvPicPr>
            <a:picLocks noChangeAspect="1"/>
          </p:cNvPicPr>
          <p:nvPr/>
        </p:nvPicPr>
        <p:blipFill>
          <a:blip r:embed="rId5"/>
          <a:stretch>
            <a:fillRect/>
          </a:stretch>
        </p:blipFill>
        <p:spPr>
          <a:xfrm>
            <a:off x="658368" y="4581144"/>
            <a:ext cx="237744" cy="237744"/>
          </a:xfrm>
          <a:prstGeom prst="rect">
            <a:avLst/>
          </a:prstGeom>
        </p:spPr>
      </p:pic>
      <p:sp>
        <p:nvSpPr>
          <p:cNvPr id="18" name="Text 11"/>
          <p:cNvSpPr/>
          <p:nvPr/>
        </p:nvSpPr>
        <p:spPr>
          <a:xfrm>
            <a:off x="1143000" y="4471416"/>
            <a:ext cx="512064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Insider Threat — employees misuse company data</a:t>
            </a:r>
            <a:endParaRPr lang="en-US" sz="1250" dirty="0"/>
          </a:p>
        </p:txBody>
      </p:sp>
      <p:sp>
        <p:nvSpPr>
          <p:cNvPr id="19" name="Shape 12"/>
          <p:cNvSpPr/>
          <p:nvPr/>
        </p:nvSpPr>
        <p:spPr>
          <a:xfrm>
            <a:off x="6263640" y="1645920"/>
            <a:ext cx="0" cy="4572000"/>
          </a:xfrm>
          <a:prstGeom prst="line">
            <a:avLst/>
          </a:prstGeom>
          <a:noFill/>
          <a:ln w="12700">
            <a:solidFill>
              <a:srgbClr val="CFCFCF"/>
            </a:solidFill>
            <a:prstDash val="solid"/>
          </a:ln>
        </p:spPr>
      </p:sp>
      <p:sp>
        <p:nvSpPr>
          <p:cNvPr id="20" name="Text 13"/>
          <p:cNvSpPr/>
          <p:nvPr/>
        </p:nvSpPr>
        <p:spPr>
          <a:xfrm>
            <a:off x="6492240" y="1600200"/>
            <a:ext cx="5486400" cy="365760"/>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Security Threats</a:t>
            </a:r>
            <a:endParaRPr lang="en-US" sz="1700" dirty="0"/>
          </a:p>
        </p:txBody>
      </p:sp>
      <p:sp>
        <p:nvSpPr>
          <p:cNvPr id="21" name="Shape 14"/>
          <p:cNvSpPr/>
          <p:nvPr/>
        </p:nvSpPr>
        <p:spPr>
          <a:xfrm>
            <a:off x="6492240" y="2057400"/>
            <a:ext cx="457200" cy="457200"/>
          </a:xfrm>
          <a:prstGeom prst="ellipse">
            <a:avLst/>
          </a:prstGeom>
          <a:solidFill>
            <a:srgbClr val="ECECEC"/>
          </a:solidFill>
          <a:ln w="12700">
            <a:solidFill>
              <a:srgbClr val="CFCFCF"/>
            </a:solidFill>
            <a:prstDash val="solid"/>
          </a:ln>
        </p:spPr>
      </p:sp>
      <p:pic>
        <p:nvPicPr>
          <p:cNvPr id="22" name="Image 5" descr="preencoded.png">    </p:cNvPr>
          <p:cNvPicPr>
            <a:picLocks noChangeAspect="1"/>
          </p:cNvPicPr>
          <p:nvPr/>
        </p:nvPicPr>
        <p:blipFill>
          <a:blip r:embed="rId6"/>
          <a:stretch>
            <a:fillRect/>
          </a:stretch>
        </p:blipFill>
        <p:spPr>
          <a:xfrm>
            <a:off x="6601968" y="2167128"/>
            <a:ext cx="237744" cy="237744"/>
          </a:xfrm>
          <a:prstGeom prst="rect">
            <a:avLst/>
          </a:prstGeom>
        </p:spPr>
      </p:pic>
      <p:sp>
        <p:nvSpPr>
          <p:cNvPr id="23" name="Text 15"/>
          <p:cNvSpPr/>
          <p:nvPr/>
        </p:nvSpPr>
        <p:spPr>
          <a:xfrm>
            <a:off x="7086600" y="2057400"/>
            <a:ext cx="5029200" cy="45720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Malware — Virus, Worm, Trojan, Spyware, Ransomware</a:t>
            </a:r>
            <a:endParaRPr lang="en-US" sz="1200" dirty="0"/>
          </a:p>
        </p:txBody>
      </p:sp>
      <p:sp>
        <p:nvSpPr>
          <p:cNvPr id="24" name="Shape 16"/>
          <p:cNvSpPr/>
          <p:nvPr/>
        </p:nvSpPr>
        <p:spPr>
          <a:xfrm>
            <a:off x="6492240" y="2660904"/>
            <a:ext cx="457200" cy="457200"/>
          </a:xfrm>
          <a:prstGeom prst="ellipse">
            <a:avLst/>
          </a:prstGeom>
          <a:solidFill>
            <a:srgbClr val="ECECEC"/>
          </a:solidFill>
          <a:ln w="12700">
            <a:solidFill>
              <a:srgbClr val="CFCFCF"/>
            </a:solidFill>
            <a:prstDash val="solid"/>
          </a:ln>
        </p:spPr>
      </p:sp>
      <p:pic>
        <p:nvPicPr>
          <p:cNvPr id="25" name="Image 6" descr="preencoded.png">    </p:cNvPr>
          <p:cNvPicPr>
            <a:picLocks noChangeAspect="1"/>
          </p:cNvPicPr>
          <p:nvPr/>
        </p:nvPicPr>
        <p:blipFill>
          <a:blip r:embed="rId7"/>
          <a:stretch>
            <a:fillRect/>
          </a:stretch>
        </p:blipFill>
        <p:spPr>
          <a:xfrm>
            <a:off x="6601968" y="2770632"/>
            <a:ext cx="237744" cy="237744"/>
          </a:xfrm>
          <a:prstGeom prst="rect">
            <a:avLst/>
          </a:prstGeom>
        </p:spPr>
      </p:pic>
      <p:sp>
        <p:nvSpPr>
          <p:cNvPr id="26" name="Text 17"/>
          <p:cNvSpPr/>
          <p:nvPr/>
        </p:nvSpPr>
        <p:spPr>
          <a:xfrm>
            <a:off x="7086600" y="2660904"/>
            <a:ext cx="5029200" cy="45720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Phishing — fake emails or websites steal credentials</a:t>
            </a:r>
            <a:endParaRPr lang="en-US" sz="1200" dirty="0"/>
          </a:p>
        </p:txBody>
      </p:sp>
      <p:sp>
        <p:nvSpPr>
          <p:cNvPr id="27" name="Shape 18"/>
          <p:cNvSpPr/>
          <p:nvPr/>
        </p:nvSpPr>
        <p:spPr>
          <a:xfrm>
            <a:off x="6492240" y="3264408"/>
            <a:ext cx="457200" cy="457200"/>
          </a:xfrm>
          <a:prstGeom prst="ellipse">
            <a:avLst/>
          </a:prstGeom>
          <a:solidFill>
            <a:srgbClr val="ECECEC"/>
          </a:solidFill>
          <a:ln w="12700">
            <a:solidFill>
              <a:srgbClr val="CFCFCF"/>
            </a:solidFill>
            <a:prstDash val="solid"/>
          </a:ln>
        </p:spPr>
      </p:sp>
      <p:pic>
        <p:nvPicPr>
          <p:cNvPr id="28" name="Image 7" descr="preencoded.png">    </p:cNvPr>
          <p:cNvPicPr>
            <a:picLocks noChangeAspect="1"/>
          </p:cNvPicPr>
          <p:nvPr/>
        </p:nvPicPr>
        <p:blipFill>
          <a:blip r:embed="rId8"/>
          <a:stretch>
            <a:fillRect/>
          </a:stretch>
        </p:blipFill>
        <p:spPr>
          <a:xfrm>
            <a:off x="6601968" y="3374136"/>
            <a:ext cx="237744" cy="237744"/>
          </a:xfrm>
          <a:prstGeom prst="rect">
            <a:avLst/>
          </a:prstGeom>
        </p:spPr>
      </p:pic>
      <p:sp>
        <p:nvSpPr>
          <p:cNvPr id="29" name="Text 19"/>
          <p:cNvSpPr/>
          <p:nvPr/>
        </p:nvSpPr>
        <p:spPr>
          <a:xfrm>
            <a:off x="7086600" y="3264408"/>
            <a:ext cx="5029200" cy="45720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Hacking — unauthorized access to systems</a:t>
            </a:r>
            <a:endParaRPr lang="en-US" sz="1200" dirty="0"/>
          </a:p>
        </p:txBody>
      </p:sp>
      <p:sp>
        <p:nvSpPr>
          <p:cNvPr id="30" name="Shape 20"/>
          <p:cNvSpPr/>
          <p:nvPr/>
        </p:nvSpPr>
        <p:spPr>
          <a:xfrm>
            <a:off x="6492240" y="3867912"/>
            <a:ext cx="457200" cy="457200"/>
          </a:xfrm>
          <a:prstGeom prst="ellipse">
            <a:avLst/>
          </a:prstGeom>
          <a:solidFill>
            <a:srgbClr val="ECECEC"/>
          </a:solidFill>
          <a:ln w="12700">
            <a:solidFill>
              <a:srgbClr val="CFCFCF"/>
            </a:solidFill>
            <a:prstDash val="solid"/>
          </a:ln>
        </p:spPr>
      </p:sp>
      <p:pic>
        <p:nvPicPr>
          <p:cNvPr id="31" name="Image 8" descr="preencoded.png">    </p:cNvPr>
          <p:cNvPicPr>
            <a:picLocks noChangeAspect="1"/>
          </p:cNvPicPr>
          <p:nvPr/>
        </p:nvPicPr>
        <p:blipFill>
          <a:blip r:embed="rId9"/>
          <a:stretch>
            <a:fillRect/>
          </a:stretch>
        </p:blipFill>
        <p:spPr>
          <a:xfrm>
            <a:off x="6601968" y="3977640"/>
            <a:ext cx="237744" cy="237744"/>
          </a:xfrm>
          <a:prstGeom prst="rect">
            <a:avLst/>
          </a:prstGeom>
        </p:spPr>
      </p:pic>
      <p:sp>
        <p:nvSpPr>
          <p:cNvPr id="32" name="Text 21"/>
          <p:cNvSpPr/>
          <p:nvPr/>
        </p:nvSpPr>
        <p:spPr>
          <a:xfrm>
            <a:off x="7086600" y="3867912"/>
            <a:ext cx="5029200" cy="45720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Password Attacks — Brute Force, Dictionary, Credential Stuffing</a:t>
            </a:r>
            <a:endParaRPr lang="en-US" sz="1200" dirty="0"/>
          </a:p>
        </p:txBody>
      </p:sp>
      <p:sp>
        <p:nvSpPr>
          <p:cNvPr id="33" name="Shape 22"/>
          <p:cNvSpPr/>
          <p:nvPr/>
        </p:nvSpPr>
        <p:spPr>
          <a:xfrm>
            <a:off x="6492240" y="4471416"/>
            <a:ext cx="457200" cy="457200"/>
          </a:xfrm>
          <a:prstGeom prst="ellipse">
            <a:avLst/>
          </a:prstGeom>
          <a:solidFill>
            <a:srgbClr val="ECECEC"/>
          </a:solidFill>
          <a:ln w="12700">
            <a:solidFill>
              <a:srgbClr val="CFCFCF"/>
            </a:solidFill>
            <a:prstDash val="solid"/>
          </a:ln>
        </p:spPr>
      </p:sp>
      <p:pic>
        <p:nvPicPr>
          <p:cNvPr id="34" name="Image 9" descr="preencoded.png">    </p:cNvPr>
          <p:cNvPicPr>
            <a:picLocks noChangeAspect="1"/>
          </p:cNvPicPr>
          <p:nvPr/>
        </p:nvPicPr>
        <p:blipFill>
          <a:blip r:embed="rId10"/>
          <a:stretch>
            <a:fillRect/>
          </a:stretch>
        </p:blipFill>
        <p:spPr>
          <a:xfrm>
            <a:off x="6601968" y="4581144"/>
            <a:ext cx="237744" cy="237744"/>
          </a:xfrm>
          <a:prstGeom prst="rect">
            <a:avLst/>
          </a:prstGeom>
        </p:spPr>
      </p:pic>
      <p:sp>
        <p:nvSpPr>
          <p:cNvPr id="35" name="Text 23"/>
          <p:cNvSpPr/>
          <p:nvPr/>
        </p:nvSpPr>
        <p:spPr>
          <a:xfrm>
            <a:off x="7086600" y="4471416"/>
            <a:ext cx="5029200" cy="45720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SQL Injection — malicious SQL queries bypass logins</a:t>
            </a:r>
            <a:endParaRPr lang="en-US" sz="1200" dirty="0"/>
          </a:p>
        </p:txBody>
      </p:sp>
      <p:sp>
        <p:nvSpPr>
          <p:cNvPr id="36" name="Shape 24"/>
          <p:cNvSpPr/>
          <p:nvPr/>
        </p:nvSpPr>
        <p:spPr>
          <a:xfrm>
            <a:off x="6492240" y="5074920"/>
            <a:ext cx="457200" cy="457200"/>
          </a:xfrm>
          <a:prstGeom prst="ellipse">
            <a:avLst/>
          </a:prstGeom>
          <a:solidFill>
            <a:srgbClr val="ECECEC"/>
          </a:solidFill>
          <a:ln w="12700">
            <a:solidFill>
              <a:srgbClr val="CFCFCF"/>
            </a:solidFill>
            <a:prstDash val="solid"/>
          </a:ln>
        </p:spPr>
      </p:sp>
      <p:pic>
        <p:nvPicPr>
          <p:cNvPr id="37" name="Image 10" descr="preencoded.png">    </p:cNvPr>
          <p:cNvPicPr>
            <a:picLocks noChangeAspect="1"/>
          </p:cNvPicPr>
          <p:nvPr/>
        </p:nvPicPr>
        <p:blipFill>
          <a:blip r:embed="rId11"/>
          <a:stretch>
            <a:fillRect/>
          </a:stretch>
        </p:blipFill>
        <p:spPr>
          <a:xfrm>
            <a:off x="6601968" y="5184648"/>
            <a:ext cx="237744" cy="237744"/>
          </a:xfrm>
          <a:prstGeom prst="rect">
            <a:avLst/>
          </a:prstGeom>
        </p:spPr>
      </p:pic>
      <p:sp>
        <p:nvSpPr>
          <p:cNvPr id="38" name="Text 25"/>
          <p:cNvSpPr/>
          <p:nvPr/>
        </p:nvSpPr>
        <p:spPr>
          <a:xfrm>
            <a:off x="7086600" y="5074920"/>
            <a:ext cx="5029200" cy="45720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DoS / DDoS — flooding servers so sites become unavailable</a:t>
            </a:r>
            <a:endParaRPr lang="en-US" sz="1200" dirty="0"/>
          </a:p>
        </p:txBody>
      </p:sp>
      <p:sp>
        <p:nvSpPr>
          <p:cNvPr id="39" name="Text 26"/>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40" name="Text 27"/>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Data Protection Technique: Encryption</a:t>
            </a:r>
            <a:endParaRPr lang="en-US" sz="32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E6E6E"/>
                </a:solidFill>
                <a:latin typeface="Calibri" pitchFamily="34" charset="0"/>
                <a:ea typeface="Calibri" pitchFamily="34" charset="-122"/>
                <a:cs typeface="Calibri" pitchFamily="34" charset="-120"/>
              </a:rPr>
              <a:t>Converts readable information into unreadable format</a:t>
            </a:r>
            <a:endParaRPr lang="en-US" sz="1500" dirty="0"/>
          </a:p>
        </p:txBody>
      </p:sp>
      <p:sp>
        <p:nvSpPr>
          <p:cNvPr id="4" name="Shape 2"/>
          <p:cNvSpPr/>
          <p:nvPr/>
        </p:nvSpPr>
        <p:spPr>
          <a:xfrm>
            <a:off x="548640" y="1783080"/>
            <a:ext cx="1965960" cy="777240"/>
          </a:xfrm>
          <a:prstGeom prst="rect">
            <a:avLst/>
          </a:prstGeom>
          <a:solidFill>
            <a:srgbClr val="F2F2F2"/>
          </a:solidFill>
          <a:ln w="12700">
            <a:solidFill>
              <a:srgbClr val="CFCFCF"/>
            </a:solidFill>
            <a:prstDash val="solid"/>
          </a:ln>
        </p:spPr>
      </p:sp>
      <p:sp>
        <p:nvSpPr>
          <p:cNvPr id="5" name="Text 3"/>
          <p:cNvSpPr/>
          <p:nvPr/>
        </p:nvSpPr>
        <p:spPr>
          <a:xfrm>
            <a:off x="548640" y="1783080"/>
            <a:ext cx="1965960" cy="777240"/>
          </a:xfrm>
          <a:prstGeom prst="rect">
            <a:avLst/>
          </a:prstGeom>
          <a:noFill/>
          <a:ln/>
        </p:spPr>
        <p:txBody>
          <a:bodyPr wrap="square" lIns="0" tIns="0" rIns="0" bIns="0" rtlCol="0" anchor="ctr"/>
          <a:lstStyle/>
          <a:p>
            <a:pPr algn="ctr" indent="0" marL="0">
              <a:buNone/>
            </a:pPr>
            <a:r>
              <a:rPr lang="en-US" sz="1250" dirty="0">
                <a:solidFill>
                  <a:srgbClr val="000000"/>
                </a:solidFill>
                <a:latin typeface="Calibri" pitchFamily="34" charset="0"/>
                <a:ea typeface="Calibri" pitchFamily="34" charset="-122"/>
                <a:cs typeface="Calibri" pitchFamily="34" charset="-120"/>
              </a:rPr>
              <a:t>Plain Text</a:t>
            </a:r>
            <a:endParaRPr lang="en-US" sz="1250" dirty="0"/>
          </a:p>
        </p:txBody>
      </p:sp>
      <p:sp>
        <p:nvSpPr>
          <p:cNvPr id="6" name="Shape 4"/>
          <p:cNvSpPr/>
          <p:nvPr/>
        </p:nvSpPr>
        <p:spPr>
          <a:xfrm>
            <a:off x="2514600" y="2171700"/>
            <a:ext cx="256032" cy="0"/>
          </a:xfrm>
          <a:prstGeom prst="line">
            <a:avLst/>
          </a:prstGeom>
          <a:noFill/>
          <a:ln w="25400">
            <a:solidFill>
              <a:srgbClr val="3A3A3A"/>
            </a:solidFill>
            <a:prstDash val="solid"/>
            <a:tailEnd type="triangle"/>
          </a:ln>
        </p:spPr>
      </p:sp>
      <p:sp>
        <p:nvSpPr>
          <p:cNvPr id="7" name="Shape 5"/>
          <p:cNvSpPr/>
          <p:nvPr/>
        </p:nvSpPr>
        <p:spPr>
          <a:xfrm>
            <a:off x="2770632" y="1783080"/>
            <a:ext cx="1965960" cy="777240"/>
          </a:xfrm>
          <a:prstGeom prst="rect">
            <a:avLst/>
          </a:prstGeom>
          <a:solidFill>
            <a:srgbClr val="000000"/>
          </a:solidFill>
          <a:ln w="12700">
            <a:solidFill>
              <a:srgbClr val="CFCFCF"/>
            </a:solidFill>
            <a:prstDash val="solid"/>
          </a:ln>
        </p:spPr>
      </p:sp>
      <p:sp>
        <p:nvSpPr>
          <p:cNvPr id="8" name="Text 6"/>
          <p:cNvSpPr/>
          <p:nvPr/>
        </p:nvSpPr>
        <p:spPr>
          <a:xfrm>
            <a:off x="2770632" y="1783080"/>
            <a:ext cx="196596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Encryption</a:t>
            </a:r>
            <a:endParaRPr lang="en-US" sz="1250" dirty="0"/>
          </a:p>
        </p:txBody>
      </p:sp>
      <p:sp>
        <p:nvSpPr>
          <p:cNvPr id="9" name="Shape 7"/>
          <p:cNvSpPr/>
          <p:nvPr/>
        </p:nvSpPr>
        <p:spPr>
          <a:xfrm>
            <a:off x="4736592" y="2171700"/>
            <a:ext cx="256032" cy="0"/>
          </a:xfrm>
          <a:prstGeom prst="line">
            <a:avLst/>
          </a:prstGeom>
          <a:noFill/>
          <a:ln w="25400">
            <a:solidFill>
              <a:srgbClr val="3A3A3A"/>
            </a:solidFill>
            <a:prstDash val="solid"/>
            <a:tailEnd type="triangle"/>
          </a:ln>
        </p:spPr>
      </p:sp>
      <p:sp>
        <p:nvSpPr>
          <p:cNvPr id="10" name="Shape 8"/>
          <p:cNvSpPr/>
          <p:nvPr/>
        </p:nvSpPr>
        <p:spPr>
          <a:xfrm>
            <a:off x="4992624" y="1783080"/>
            <a:ext cx="1965960" cy="777240"/>
          </a:xfrm>
          <a:prstGeom prst="rect">
            <a:avLst/>
          </a:prstGeom>
          <a:solidFill>
            <a:srgbClr val="F2F2F2"/>
          </a:solidFill>
          <a:ln w="12700">
            <a:solidFill>
              <a:srgbClr val="CFCFCF"/>
            </a:solidFill>
            <a:prstDash val="solid"/>
          </a:ln>
        </p:spPr>
      </p:sp>
      <p:sp>
        <p:nvSpPr>
          <p:cNvPr id="11" name="Text 9"/>
          <p:cNvSpPr/>
          <p:nvPr/>
        </p:nvSpPr>
        <p:spPr>
          <a:xfrm>
            <a:off x="4992624" y="1783080"/>
            <a:ext cx="1965960" cy="777240"/>
          </a:xfrm>
          <a:prstGeom prst="rect">
            <a:avLst/>
          </a:prstGeom>
          <a:noFill/>
          <a:ln/>
        </p:spPr>
        <p:txBody>
          <a:bodyPr wrap="square" lIns="0" tIns="0" rIns="0" bIns="0" rtlCol="0" anchor="ctr"/>
          <a:lstStyle/>
          <a:p>
            <a:pPr algn="ctr" indent="0" marL="0">
              <a:buNone/>
            </a:pPr>
            <a:r>
              <a:rPr lang="en-US" sz="1250" dirty="0">
                <a:solidFill>
                  <a:srgbClr val="000000"/>
                </a:solidFill>
                <a:latin typeface="Calibri" pitchFamily="34" charset="0"/>
                <a:ea typeface="Calibri" pitchFamily="34" charset="-122"/>
                <a:cs typeface="Calibri" pitchFamily="34" charset="-120"/>
              </a:rPr>
              <a:t>Cipher Text</a:t>
            </a:r>
            <a:endParaRPr lang="en-US" sz="1250" dirty="0"/>
          </a:p>
        </p:txBody>
      </p:sp>
      <p:sp>
        <p:nvSpPr>
          <p:cNvPr id="12" name="Shape 10"/>
          <p:cNvSpPr/>
          <p:nvPr/>
        </p:nvSpPr>
        <p:spPr>
          <a:xfrm>
            <a:off x="6958584" y="2171700"/>
            <a:ext cx="256032" cy="0"/>
          </a:xfrm>
          <a:prstGeom prst="line">
            <a:avLst/>
          </a:prstGeom>
          <a:noFill/>
          <a:ln w="25400">
            <a:solidFill>
              <a:srgbClr val="3A3A3A"/>
            </a:solidFill>
            <a:prstDash val="solid"/>
            <a:tailEnd type="triangle"/>
          </a:ln>
        </p:spPr>
      </p:sp>
      <p:sp>
        <p:nvSpPr>
          <p:cNvPr id="13" name="Shape 11"/>
          <p:cNvSpPr/>
          <p:nvPr/>
        </p:nvSpPr>
        <p:spPr>
          <a:xfrm>
            <a:off x="7214616" y="1783080"/>
            <a:ext cx="1965960" cy="777240"/>
          </a:xfrm>
          <a:prstGeom prst="rect">
            <a:avLst/>
          </a:prstGeom>
          <a:solidFill>
            <a:srgbClr val="000000"/>
          </a:solidFill>
          <a:ln w="12700">
            <a:solidFill>
              <a:srgbClr val="CFCFCF"/>
            </a:solidFill>
            <a:prstDash val="solid"/>
          </a:ln>
        </p:spPr>
      </p:sp>
      <p:sp>
        <p:nvSpPr>
          <p:cNvPr id="14" name="Text 12"/>
          <p:cNvSpPr/>
          <p:nvPr/>
        </p:nvSpPr>
        <p:spPr>
          <a:xfrm>
            <a:off x="7214616" y="1783080"/>
            <a:ext cx="196596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Decryption</a:t>
            </a:r>
            <a:endParaRPr lang="en-US" sz="1250" dirty="0"/>
          </a:p>
        </p:txBody>
      </p:sp>
      <p:sp>
        <p:nvSpPr>
          <p:cNvPr id="15" name="Shape 13"/>
          <p:cNvSpPr/>
          <p:nvPr/>
        </p:nvSpPr>
        <p:spPr>
          <a:xfrm>
            <a:off x="9180576" y="2171700"/>
            <a:ext cx="256032" cy="0"/>
          </a:xfrm>
          <a:prstGeom prst="line">
            <a:avLst/>
          </a:prstGeom>
          <a:noFill/>
          <a:ln w="25400">
            <a:solidFill>
              <a:srgbClr val="3A3A3A"/>
            </a:solidFill>
            <a:prstDash val="solid"/>
            <a:tailEnd type="triangle"/>
          </a:ln>
        </p:spPr>
      </p:sp>
      <p:sp>
        <p:nvSpPr>
          <p:cNvPr id="16" name="Shape 14"/>
          <p:cNvSpPr/>
          <p:nvPr/>
        </p:nvSpPr>
        <p:spPr>
          <a:xfrm>
            <a:off x="9436608" y="1783080"/>
            <a:ext cx="1965960" cy="777240"/>
          </a:xfrm>
          <a:prstGeom prst="rect">
            <a:avLst/>
          </a:prstGeom>
          <a:solidFill>
            <a:srgbClr val="F2F2F2"/>
          </a:solidFill>
          <a:ln w="12700">
            <a:solidFill>
              <a:srgbClr val="CFCFCF"/>
            </a:solidFill>
            <a:prstDash val="solid"/>
          </a:ln>
        </p:spPr>
      </p:sp>
      <p:sp>
        <p:nvSpPr>
          <p:cNvPr id="17" name="Text 15"/>
          <p:cNvSpPr/>
          <p:nvPr/>
        </p:nvSpPr>
        <p:spPr>
          <a:xfrm>
            <a:off x="9436608" y="1783080"/>
            <a:ext cx="1965960" cy="777240"/>
          </a:xfrm>
          <a:prstGeom prst="rect">
            <a:avLst/>
          </a:prstGeom>
          <a:noFill/>
          <a:ln/>
        </p:spPr>
        <p:txBody>
          <a:bodyPr wrap="square" lIns="0" tIns="0" rIns="0" bIns="0" rtlCol="0" anchor="ctr"/>
          <a:lstStyle/>
          <a:p>
            <a:pPr algn="ctr" indent="0" marL="0">
              <a:buNone/>
            </a:pPr>
            <a:r>
              <a:rPr lang="en-US" sz="1250" dirty="0">
                <a:solidFill>
                  <a:srgbClr val="000000"/>
                </a:solidFill>
                <a:latin typeface="Calibri" pitchFamily="34" charset="0"/>
                <a:ea typeface="Calibri" pitchFamily="34" charset="-122"/>
                <a:cs typeface="Calibri" pitchFamily="34" charset="-120"/>
              </a:rPr>
              <a:t>Original Data</a:t>
            </a:r>
            <a:endParaRPr lang="en-US" sz="1250" dirty="0"/>
          </a:p>
        </p:txBody>
      </p:sp>
      <p:sp>
        <p:nvSpPr>
          <p:cNvPr id="18" name="Text 16"/>
          <p:cNvSpPr/>
          <p:nvPr/>
        </p:nvSpPr>
        <p:spPr>
          <a:xfrm>
            <a:off x="548640" y="2834640"/>
            <a:ext cx="10972800" cy="36576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Example: HTTPS encrypts communication between a browser and a website.</a:t>
            </a:r>
            <a:endParaRPr lang="en-US" sz="1250" dirty="0"/>
          </a:p>
        </p:txBody>
      </p:sp>
      <p:sp>
        <p:nvSpPr>
          <p:cNvPr id="19" name="Shape 17"/>
          <p:cNvSpPr/>
          <p:nvPr/>
        </p:nvSpPr>
        <p:spPr>
          <a:xfrm>
            <a:off x="548640" y="3383280"/>
            <a:ext cx="5394960" cy="2651760"/>
          </a:xfrm>
          <a:prstGeom prst="rect">
            <a:avLst/>
          </a:prstGeom>
          <a:solidFill>
            <a:srgbClr val="F2F2F2"/>
          </a:solidFill>
          <a:ln w="12700">
            <a:solidFill>
              <a:srgbClr val="CFCFCF"/>
            </a:solidFill>
            <a:prstDash val="solid"/>
          </a:ln>
        </p:spPr>
      </p:sp>
      <p:sp>
        <p:nvSpPr>
          <p:cNvPr id="20" name="Shape 18"/>
          <p:cNvSpPr/>
          <p:nvPr/>
        </p:nvSpPr>
        <p:spPr>
          <a:xfrm>
            <a:off x="777240" y="3611880"/>
            <a:ext cx="502920" cy="502920"/>
          </a:xfrm>
          <a:prstGeom prst="ellipse">
            <a:avLst/>
          </a:prstGeom>
          <a:solidFill>
            <a:srgbClr val="ECECEC"/>
          </a:solidFill>
          <a:ln w="12700">
            <a:solidFill>
              <a:srgbClr val="CFCFCF"/>
            </a:solidFill>
            <a:prstDash val="solid"/>
          </a:ln>
        </p:spPr>
      </p:sp>
      <p:pic>
        <p:nvPicPr>
          <p:cNvPr id="21" name="Image 0" descr="preencoded.png">    </p:cNvPr>
          <p:cNvPicPr>
            <a:picLocks noChangeAspect="1"/>
          </p:cNvPicPr>
          <p:nvPr/>
        </p:nvPicPr>
        <p:blipFill>
          <a:blip r:embed="rId1"/>
          <a:stretch>
            <a:fillRect/>
          </a:stretch>
        </p:blipFill>
        <p:spPr>
          <a:xfrm>
            <a:off x="897941" y="3732581"/>
            <a:ext cx="261518" cy="261518"/>
          </a:xfrm>
          <a:prstGeom prst="rect">
            <a:avLst/>
          </a:prstGeom>
        </p:spPr>
      </p:pic>
      <p:sp>
        <p:nvSpPr>
          <p:cNvPr id="22" name="Text 19"/>
          <p:cNvSpPr/>
          <p:nvPr/>
        </p:nvSpPr>
        <p:spPr>
          <a:xfrm>
            <a:off x="1417320" y="3611880"/>
            <a:ext cx="4297680"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Symmetric Encryption</a:t>
            </a:r>
            <a:endParaRPr lang="en-US" sz="1500" dirty="0"/>
          </a:p>
        </p:txBody>
      </p:sp>
      <p:sp>
        <p:nvSpPr>
          <p:cNvPr id="23" name="Text 20"/>
          <p:cNvSpPr/>
          <p:nvPr/>
        </p:nvSpPr>
        <p:spPr>
          <a:xfrm>
            <a:off x="822960" y="4206240"/>
            <a:ext cx="4846320" cy="50292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Uses the same key for encryption and decryption.</a:t>
            </a:r>
            <a:endParaRPr lang="en-US" sz="1200" dirty="0"/>
          </a:p>
        </p:txBody>
      </p:sp>
      <p:sp>
        <p:nvSpPr>
          <p:cNvPr id="24" name="Text 21"/>
          <p:cNvSpPr/>
          <p:nvPr/>
        </p:nvSpPr>
        <p:spPr>
          <a:xfrm>
            <a:off x="822960" y="4754880"/>
            <a:ext cx="4846320" cy="1188720"/>
          </a:xfrm>
          <a:prstGeom prst="rect">
            <a:avLst/>
          </a:prstGeom>
          <a:noFill/>
          <a:ln/>
        </p:spPr>
        <p:txBody>
          <a:bodyPr wrap="square" lIns="0" tIns="0" rIns="0" bIns="0" rtlCol="0" anchor="ctr"/>
          <a:lstStyle/>
          <a:p>
            <a:pPr indent="0" marL="0">
              <a:spcAft>
                <a:spcPts val="300"/>
              </a:spcAft>
              <a:buNone/>
            </a:pPr>
            <a:r>
              <a:rPr lang="en-US" sz="1150" dirty="0">
                <a:solidFill>
                  <a:srgbClr val="3A3A3A"/>
                </a:solidFill>
                <a:latin typeface="Calibri" pitchFamily="34" charset="0"/>
                <a:ea typeface="Calibri" pitchFamily="34" charset="-122"/>
                <a:cs typeface="Calibri" pitchFamily="34" charset="-120"/>
              </a:rPr>
              <a:t>Examples: AES, DES</a:t>
            </a:r>
            <a:endParaRPr lang="en-US" sz="1150" dirty="0"/>
          </a:p>
          <a:p>
            <a:pPr indent="0" marL="0">
              <a:spcAft>
                <a:spcPts val="300"/>
              </a:spcAft>
              <a:buNone/>
            </a:pPr>
            <a:r>
              <a:rPr lang="en-US" sz="1150" dirty="0">
                <a:solidFill>
                  <a:srgbClr val="3A3A3A"/>
                </a:solidFill>
                <a:latin typeface="Calibri" pitchFamily="34" charset="0"/>
                <a:ea typeface="Calibri" pitchFamily="34" charset="-122"/>
                <a:cs typeface="Calibri" pitchFamily="34" charset="-120"/>
              </a:rPr>
              <a:t>Advantages: Fast, Efficient</a:t>
            </a:r>
            <a:endParaRPr lang="en-US" sz="1150" dirty="0"/>
          </a:p>
          <a:p>
            <a:pPr indent="0" marL="0">
              <a:spcAft>
                <a:spcPts val="300"/>
              </a:spcAft>
              <a:buNone/>
            </a:pPr>
            <a:r>
              <a:rPr lang="en-US" sz="1150" dirty="0">
                <a:solidFill>
                  <a:srgbClr val="3A3A3A"/>
                </a:solidFill>
                <a:latin typeface="Calibri" pitchFamily="34" charset="0"/>
                <a:ea typeface="Calibri" pitchFamily="34" charset="-122"/>
                <a:cs typeface="Calibri" pitchFamily="34" charset="-120"/>
              </a:rPr>
              <a:t>Disadvantages: Key-sharing problem</a:t>
            </a:r>
            <a:endParaRPr lang="en-US" sz="1150" dirty="0"/>
          </a:p>
        </p:txBody>
      </p:sp>
      <p:sp>
        <p:nvSpPr>
          <p:cNvPr id="25" name="Shape 22"/>
          <p:cNvSpPr/>
          <p:nvPr/>
        </p:nvSpPr>
        <p:spPr>
          <a:xfrm>
            <a:off x="6400800" y="3383280"/>
            <a:ext cx="5394960" cy="2651760"/>
          </a:xfrm>
          <a:prstGeom prst="rect">
            <a:avLst/>
          </a:prstGeom>
          <a:solidFill>
            <a:srgbClr val="F2F2F2"/>
          </a:solidFill>
          <a:ln w="12700">
            <a:solidFill>
              <a:srgbClr val="CFCFCF"/>
            </a:solidFill>
            <a:prstDash val="solid"/>
          </a:ln>
        </p:spPr>
      </p:sp>
      <p:sp>
        <p:nvSpPr>
          <p:cNvPr id="26" name="Shape 23"/>
          <p:cNvSpPr/>
          <p:nvPr/>
        </p:nvSpPr>
        <p:spPr>
          <a:xfrm>
            <a:off x="6629400" y="3611880"/>
            <a:ext cx="502920" cy="502920"/>
          </a:xfrm>
          <a:prstGeom prst="ellipse">
            <a:avLst/>
          </a:prstGeom>
          <a:solidFill>
            <a:srgbClr val="ECECEC"/>
          </a:solidFill>
          <a:ln w="12700">
            <a:solidFill>
              <a:srgbClr val="CFCFCF"/>
            </a:solidFill>
            <a:prstDash val="solid"/>
          </a:ln>
        </p:spPr>
      </p:sp>
      <p:pic>
        <p:nvPicPr>
          <p:cNvPr id="27" name="Image 1" descr="preencoded.png">    </p:cNvPr>
          <p:cNvPicPr>
            <a:picLocks noChangeAspect="1"/>
          </p:cNvPicPr>
          <p:nvPr/>
        </p:nvPicPr>
        <p:blipFill>
          <a:blip r:embed="rId2"/>
          <a:stretch>
            <a:fillRect/>
          </a:stretch>
        </p:blipFill>
        <p:spPr>
          <a:xfrm>
            <a:off x="6750101" y="3732581"/>
            <a:ext cx="261518" cy="261518"/>
          </a:xfrm>
          <a:prstGeom prst="rect">
            <a:avLst/>
          </a:prstGeom>
        </p:spPr>
      </p:pic>
      <p:sp>
        <p:nvSpPr>
          <p:cNvPr id="28" name="Text 24"/>
          <p:cNvSpPr/>
          <p:nvPr/>
        </p:nvSpPr>
        <p:spPr>
          <a:xfrm>
            <a:off x="7269480" y="3611880"/>
            <a:ext cx="4297680"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Asymmetric Encryption</a:t>
            </a:r>
            <a:endParaRPr lang="en-US" sz="1500" dirty="0"/>
          </a:p>
        </p:txBody>
      </p:sp>
      <p:sp>
        <p:nvSpPr>
          <p:cNvPr id="29" name="Text 25"/>
          <p:cNvSpPr/>
          <p:nvPr/>
        </p:nvSpPr>
        <p:spPr>
          <a:xfrm>
            <a:off x="6675120" y="4206240"/>
            <a:ext cx="4846320" cy="50292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Uses two keys — a Public Key and a Private Key.</a:t>
            </a:r>
            <a:endParaRPr lang="en-US" sz="1200" dirty="0"/>
          </a:p>
        </p:txBody>
      </p:sp>
      <p:sp>
        <p:nvSpPr>
          <p:cNvPr id="30" name="Text 26"/>
          <p:cNvSpPr/>
          <p:nvPr/>
        </p:nvSpPr>
        <p:spPr>
          <a:xfrm>
            <a:off x="6675120" y="4754880"/>
            <a:ext cx="4846320" cy="1188720"/>
          </a:xfrm>
          <a:prstGeom prst="rect">
            <a:avLst/>
          </a:prstGeom>
          <a:noFill/>
          <a:ln/>
        </p:spPr>
        <p:txBody>
          <a:bodyPr wrap="square" lIns="0" tIns="0" rIns="0" bIns="0" rtlCol="0" anchor="ctr"/>
          <a:lstStyle/>
          <a:p>
            <a:pPr indent="0" marL="0">
              <a:spcAft>
                <a:spcPts val="300"/>
              </a:spcAft>
              <a:buNone/>
            </a:pPr>
            <a:r>
              <a:rPr lang="en-US" sz="1150" dirty="0">
                <a:solidFill>
                  <a:srgbClr val="3A3A3A"/>
                </a:solidFill>
                <a:latin typeface="Calibri" pitchFamily="34" charset="0"/>
                <a:ea typeface="Calibri" pitchFamily="34" charset="-122"/>
                <a:cs typeface="Calibri" pitchFamily="34" charset="-120"/>
              </a:rPr>
              <a:t>Examples: RSA, ECC</a:t>
            </a:r>
            <a:endParaRPr lang="en-US" sz="1150" dirty="0"/>
          </a:p>
          <a:p>
            <a:pPr indent="0" marL="0">
              <a:spcAft>
                <a:spcPts val="300"/>
              </a:spcAft>
              <a:buNone/>
            </a:pPr>
            <a:r>
              <a:rPr lang="en-US" sz="1150" dirty="0">
                <a:solidFill>
                  <a:srgbClr val="3A3A3A"/>
                </a:solidFill>
                <a:latin typeface="Calibri" pitchFamily="34" charset="0"/>
                <a:ea typeface="Calibri" pitchFamily="34" charset="-122"/>
                <a:cs typeface="Calibri" pitchFamily="34" charset="-120"/>
              </a:rPr>
              <a:t>Advantages: More secure</a:t>
            </a:r>
            <a:endParaRPr lang="en-US" sz="1150" dirty="0"/>
          </a:p>
          <a:p>
            <a:pPr indent="0" marL="0">
              <a:spcAft>
                <a:spcPts val="300"/>
              </a:spcAft>
              <a:buNone/>
            </a:pPr>
            <a:r>
              <a:rPr lang="en-US" sz="1150" dirty="0">
                <a:solidFill>
                  <a:srgbClr val="3A3A3A"/>
                </a:solidFill>
                <a:latin typeface="Calibri" pitchFamily="34" charset="0"/>
                <a:ea typeface="Calibri" pitchFamily="34" charset="-122"/>
                <a:cs typeface="Calibri" pitchFamily="34" charset="-120"/>
              </a:rPr>
              <a:t>Disadvantages: Slower</a:t>
            </a:r>
            <a:endParaRPr lang="en-US" sz="1150" dirty="0"/>
          </a:p>
        </p:txBody>
      </p:sp>
      <p:sp>
        <p:nvSpPr>
          <p:cNvPr id="31"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32" name="Text 28"/>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Authentication and Authorization</a:t>
            </a:r>
            <a:endParaRPr lang="en-US" sz="3200" dirty="0"/>
          </a:p>
        </p:txBody>
      </p:sp>
      <p:sp>
        <p:nvSpPr>
          <p:cNvPr id="3" name="Shape 1"/>
          <p:cNvSpPr/>
          <p:nvPr/>
        </p:nvSpPr>
        <p:spPr>
          <a:xfrm>
            <a:off x="548640" y="1691640"/>
            <a:ext cx="5394960" cy="4251960"/>
          </a:xfrm>
          <a:prstGeom prst="rect">
            <a:avLst/>
          </a:prstGeom>
          <a:solidFill>
            <a:srgbClr val="F2F2F2"/>
          </a:solidFill>
          <a:ln w="12700">
            <a:solidFill>
              <a:srgbClr val="CFCFCF"/>
            </a:solidFill>
            <a:prstDash val="solid"/>
          </a:ln>
        </p:spPr>
      </p:sp>
      <p:sp>
        <p:nvSpPr>
          <p:cNvPr id="4" name="Shape 2"/>
          <p:cNvSpPr/>
          <p:nvPr/>
        </p:nvSpPr>
        <p:spPr>
          <a:xfrm>
            <a:off x="822960" y="1920240"/>
            <a:ext cx="548640" cy="54864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954634" y="2051914"/>
            <a:ext cx="285293" cy="285293"/>
          </a:xfrm>
          <a:prstGeom prst="rect">
            <a:avLst/>
          </a:prstGeom>
        </p:spPr>
      </p:pic>
      <p:sp>
        <p:nvSpPr>
          <p:cNvPr id="6" name="Text 3"/>
          <p:cNvSpPr/>
          <p:nvPr/>
        </p:nvSpPr>
        <p:spPr>
          <a:xfrm>
            <a:off x="1508760" y="1965960"/>
            <a:ext cx="4206240" cy="457200"/>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Authentication</a:t>
            </a:r>
            <a:endParaRPr lang="en-US" sz="1700" dirty="0"/>
          </a:p>
        </p:txBody>
      </p:sp>
      <p:sp>
        <p:nvSpPr>
          <p:cNvPr id="7" name="Text 4"/>
          <p:cNvSpPr/>
          <p:nvPr/>
        </p:nvSpPr>
        <p:spPr>
          <a:xfrm>
            <a:off x="822960" y="2560320"/>
            <a:ext cx="4846320" cy="365760"/>
          </a:xfrm>
          <a:prstGeom prst="rect">
            <a:avLst/>
          </a:prstGeom>
          <a:noFill/>
          <a:ln/>
        </p:spPr>
        <p:txBody>
          <a:bodyPr wrap="square" lIns="0" tIns="0" rIns="0" bIns="0" rtlCol="0" anchor="ctr"/>
          <a:lstStyle/>
          <a:p>
            <a:pPr indent="0" marL="0">
              <a:buNone/>
            </a:pPr>
            <a:r>
              <a:rPr lang="en-US" sz="1300" dirty="0">
                <a:solidFill>
                  <a:srgbClr val="000000"/>
                </a:solidFill>
                <a:latin typeface="Calibri" pitchFamily="34" charset="0"/>
                <a:ea typeface="Calibri" pitchFamily="34" charset="-122"/>
                <a:cs typeface="Calibri" pitchFamily="34" charset="-120"/>
              </a:rPr>
              <a:t>Verifies the identity of a user.</a:t>
            </a:r>
            <a:endParaRPr lang="en-US" sz="1300" dirty="0"/>
          </a:p>
        </p:txBody>
      </p:sp>
      <p:sp>
        <p:nvSpPr>
          <p:cNvPr id="8" name="Text 5"/>
          <p:cNvSpPr/>
          <p:nvPr/>
        </p:nvSpPr>
        <p:spPr>
          <a:xfrm>
            <a:off x="822960" y="2971800"/>
            <a:ext cx="4846320" cy="1645920"/>
          </a:xfrm>
          <a:prstGeom prst="rect">
            <a:avLst/>
          </a:prstGeom>
          <a:noFill/>
          <a:ln/>
        </p:spPr>
        <p:txBody>
          <a:bodyPr wrap="square" rtlCol="0" anchor="t"/>
          <a:lstStyle/>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Username &amp; Password</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OTP (One-Time Password)</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Fingerprint / Face Recognition</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Smart Card</a:t>
            </a:r>
            <a:endParaRPr lang="en-US" sz="1250" dirty="0"/>
          </a:p>
          <a:p>
            <a:pPr marL="342900" indent="-342900">
              <a:spcAft>
                <a:spcPts val="500"/>
              </a:spcAft>
              <a:buSzPct val="100000"/>
              <a:buChar char="•"/>
            </a:pPr>
            <a:r>
              <a:rPr lang="en-US" sz="1250" dirty="0">
                <a:solidFill>
                  <a:srgbClr val="000000"/>
                </a:solidFill>
                <a:latin typeface="Calibri" pitchFamily="34" charset="0"/>
                <a:ea typeface="Calibri" pitchFamily="34" charset="-122"/>
                <a:cs typeface="Calibri" pitchFamily="34" charset="-120"/>
              </a:rPr>
              <a:t>Multi-Factor Authentication (MFA)</a:t>
            </a:r>
            <a:endParaRPr lang="en-US" sz="1250" dirty="0"/>
          </a:p>
        </p:txBody>
      </p:sp>
      <p:sp>
        <p:nvSpPr>
          <p:cNvPr id="9" name="Text 6"/>
          <p:cNvSpPr/>
          <p:nvPr/>
        </p:nvSpPr>
        <p:spPr>
          <a:xfrm>
            <a:off x="822960" y="4709160"/>
            <a:ext cx="4846320" cy="1097280"/>
          </a:xfrm>
          <a:prstGeom prst="rect">
            <a:avLst/>
          </a:prstGeom>
          <a:noFill/>
          <a:ln/>
        </p:spPr>
        <p:txBody>
          <a:bodyPr wrap="square" lIns="0" tIns="0" rIns="0" bIns="0" rtlCol="0" anchor="ctr"/>
          <a:lstStyle/>
          <a:p>
            <a:pPr indent="0" marL="0">
              <a:buNone/>
            </a:pPr>
            <a:r>
              <a:rPr lang="en-US" sz="1150" i="1" dirty="0">
                <a:solidFill>
                  <a:srgbClr val="6E6E6E"/>
                </a:solidFill>
                <a:latin typeface="Calibri" pitchFamily="34" charset="0"/>
                <a:ea typeface="Calibri" pitchFamily="34" charset="-122"/>
                <a:cs typeface="Calibri" pitchFamily="34" charset="-120"/>
              </a:rPr>
              <a:t>MFA combines multiple methods (e.g. Password + OTP + Fingerprint) for better security and reduced hacking risk.</a:t>
            </a:r>
            <a:endParaRPr lang="en-US" sz="1150" dirty="0"/>
          </a:p>
        </p:txBody>
      </p:sp>
      <p:sp>
        <p:nvSpPr>
          <p:cNvPr id="10" name="Shape 7"/>
          <p:cNvSpPr/>
          <p:nvPr/>
        </p:nvSpPr>
        <p:spPr>
          <a:xfrm>
            <a:off x="6217920" y="1691640"/>
            <a:ext cx="5394960" cy="4251960"/>
          </a:xfrm>
          <a:prstGeom prst="rect">
            <a:avLst/>
          </a:prstGeom>
          <a:solidFill>
            <a:srgbClr val="F2F2F2"/>
          </a:solidFill>
          <a:ln w="12700">
            <a:solidFill>
              <a:srgbClr val="CFCFCF"/>
            </a:solidFill>
            <a:prstDash val="solid"/>
          </a:ln>
        </p:spPr>
      </p:sp>
      <p:sp>
        <p:nvSpPr>
          <p:cNvPr id="11" name="Shape 8"/>
          <p:cNvSpPr/>
          <p:nvPr/>
        </p:nvSpPr>
        <p:spPr>
          <a:xfrm>
            <a:off x="6492240" y="1920240"/>
            <a:ext cx="548640" cy="548640"/>
          </a:xfrm>
          <a:prstGeom prst="ellipse">
            <a:avLst/>
          </a:prstGeom>
          <a:solidFill>
            <a:srgbClr val="ECECEC"/>
          </a:solidFill>
          <a:ln w="12700">
            <a:solidFill>
              <a:srgbClr val="CFCFCF"/>
            </a:solidFill>
            <a:prstDash val="solid"/>
          </a:ln>
        </p:spPr>
      </p:sp>
      <p:pic>
        <p:nvPicPr>
          <p:cNvPr id="12" name="Image 1" descr="preencoded.png">    </p:cNvPr>
          <p:cNvPicPr>
            <a:picLocks noChangeAspect="1"/>
          </p:cNvPicPr>
          <p:nvPr/>
        </p:nvPicPr>
        <p:blipFill>
          <a:blip r:embed="rId2"/>
          <a:stretch>
            <a:fillRect/>
          </a:stretch>
        </p:blipFill>
        <p:spPr>
          <a:xfrm>
            <a:off x="6623914" y="2051914"/>
            <a:ext cx="285293" cy="285293"/>
          </a:xfrm>
          <a:prstGeom prst="rect">
            <a:avLst/>
          </a:prstGeom>
        </p:spPr>
      </p:pic>
      <p:sp>
        <p:nvSpPr>
          <p:cNvPr id="13" name="Text 9"/>
          <p:cNvSpPr/>
          <p:nvPr/>
        </p:nvSpPr>
        <p:spPr>
          <a:xfrm>
            <a:off x="7178040" y="1965960"/>
            <a:ext cx="4206240" cy="457200"/>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Authorization</a:t>
            </a:r>
            <a:endParaRPr lang="en-US" sz="1700" dirty="0"/>
          </a:p>
        </p:txBody>
      </p:sp>
      <p:sp>
        <p:nvSpPr>
          <p:cNvPr id="14" name="Text 10"/>
          <p:cNvSpPr/>
          <p:nvPr/>
        </p:nvSpPr>
        <p:spPr>
          <a:xfrm>
            <a:off x="6492240" y="2560320"/>
            <a:ext cx="4846320" cy="365760"/>
          </a:xfrm>
          <a:prstGeom prst="rect">
            <a:avLst/>
          </a:prstGeom>
          <a:noFill/>
          <a:ln/>
        </p:spPr>
        <p:txBody>
          <a:bodyPr wrap="square" lIns="0" tIns="0" rIns="0" bIns="0" rtlCol="0" anchor="ctr"/>
          <a:lstStyle/>
          <a:p>
            <a:pPr indent="0" marL="0">
              <a:buNone/>
            </a:pPr>
            <a:r>
              <a:rPr lang="en-US" sz="1300" dirty="0">
                <a:solidFill>
                  <a:srgbClr val="000000"/>
                </a:solidFill>
                <a:latin typeface="Calibri" pitchFamily="34" charset="0"/>
                <a:ea typeface="Calibri" pitchFamily="34" charset="-122"/>
                <a:cs typeface="Calibri" pitchFamily="34" charset="-120"/>
              </a:rPr>
              <a:t>Determines what an authenticated user can access.</a:t>
            </a:r>
            <a:endParaRPr lang="en-US" sz="1300" dirty="0"/>
          </a:p>
        </p:txBody>
      </p:sp>
      <p:sp>
        <p:nvSpPr>
          <p:cNvPr id="15" name="Shape 11"/>
          <p:cNvSpPr/>
          <p:nvPr/>
        </p:nvSpPr>
        <p:spPr>
          <a:xfrm>
            <a:off x="6492240" y="3108960"/>
            <a:ext cx="1920240" cy="502920"/>
          </a:xfrm>
          <a:prstGeom prst="rect">
            <a:avLst/>
          </a:prstGeom>
          <a:solidFill>
            <a:srgbClr val="000000"/>
          </a:solidFill>
          <a:ln/>
        </p:spPr>
      </p:sp>
      <p:sp>
        <p:nvSpPr>
          <p:cNvPr id="16" name="Text 12"/>
          <p:cNvSpPr/>
          <p:nvPr/>
        </p:nvSpPr>
        <p:spPr>
          <a:xfrm>
            <a:off x="6492240" y="3108960"/>
            <a:ext cx="19202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Student</a:t>
            </a:r>
            <a:endParaRPr lang="en-US" sz="1250" dirty="0"/>
          </a:p>
        </p:txBody>
      </p:sp>
      <p:sp>
        <p:nvSpPr>
          <p:cNvPr id="17" name="Shape 13"/>
          <p:cNvSpPr/>
          <p:nvPr/>
        </p:nvSpPr>
        <p:spPr>
          <a:xfrm>
            <a:off x="8412480" y="3360420"/>
            <a:ext cx="320040" cy="0"/>
          </a:xfrm>
          <a:prstGeom prst="line">
            <a:avLst/>
          </a:prstGeom>
          <a:noFill/>
          <a:ln w="25400">
            <a:solidFill>
              <a:srgbClr val="3A3A3A"/>
            </a:solidFill>
            <a:prstDash val="solid"/>
            <a:tailEnd type="triangle"/>
          </a:ln>
        </p:spPr>
      </p:sp>
      <p:sp>
        <p:nvSpPr>
          <p:cNvPr id="18" name="Text 14"/>
          <p:cNvSpPr/>
          <p:nvPr/>
        </p:nvSpPr>
        <p:spPr>
          <a:xfrm>
            <a:off x="8823960" y="3108960"/>
            <a:ext cx="2606040" cy="50292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Can view marks</a:t>
            </a:r>
            <a:endParaRPr lang="en-US" sz="1200" dirty="0"/>
          </a:p>
        </p:txBody>
      </p:sp>
      <p:sp>
        <p:nvSpPr>
          <p:cNvPr id="19" name="Shape 15"/>
          <p:cNvSpPr/>
          <p:nvPr/>
        </p:nvSpPr>
        <p:spPr>
          <a:xfrm>
            <a:off x="6492240" y="3794760"/>
            <a:ext cx="1920240" cy="502920"/>
          </a:xfrm>
          <a:prstGeom prst="rect">
            <a:avLst/>
          </a:prstGeom>
          <a:solidFill>
            <a:srgbClr val="000000"/>
          </a:solidFill>
          <a:ln/>
        </p:spPr>
      </p:sp>
      <p:sp>
        <p:nvSpPr>
          <p:cNvPr id="20" name="Text 16"/>
          <p:cNvSpPr/>
          <p:nvPr/>
        </p:nvSpPr>
        <p:spPr>
          <a:xfrm>
            <a:off x="6492240" y="3794760"/>
            <a:ext cx="19202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Teacher</a:t>
            </a:r>
            <a:endParaRPr lang="en-US" sz="1250" dirty="0"/>
          </a:p>
        </p:txBody>
      </p:sp>
      <p:sp>
        <p:nvSpPr>
          <p:cNvPr id="21" name="Shape 17"/>
          <p:cNvSpPr/>
          <p:nvPr/>
        </p:nvSpPr>
        <p:spPr>
          <a:xfrm>
            <a:off x="8412480" y="4046220"/>
            <a:ext cx="320040" cy="0"/>
          </a:xfrm>
          <a:prstGeom prst="line">
            <a:avLst/>
          </a:prstGeom>
          <a:noFill/>
          <a:ln w="25400">
            <a:solidFill>
              <a:srgbClr val="3A3A3A"/>
            </a:solidFill>
            <a:prstDash val="solid"/>
            <a:tailEnd type="triangle"/>
          </a:ln>
        </p:spPr>
      </p:sp>
      <p:sp>
        <p:nvSpPr>
          <p:cNvPr id="22" name="Text 18"/>
          <p:cNvSpPr/>
          <p:nvPr/>
        </p:nvSpPr>
        <p:spPr>
          <a:xfrm>
            <a:off x="8823960" y="3794760"/>
            <a:ext cx="2606040" cy="50292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Can edit marks</a:t>
            </a:r>
            <a:endParaRPr lang="en-US" sz="1200" dirty="0"/>
          </a:p>
        </p:txBody>
      </p:sp>
      <p:sp>
        <p:nvSpPr>
          <p:cNvPr id="23" name="Shape 19"/>
          <p:cNvSpPr/>
          <p:nvPr/>
        </p:nvSpPr>
        <p:spPr>
          <a:xfrm>
            <a:off x="6492240" y="4480560"/>
            <a:ext cx="1920240" cy="502920"/>
          </a:xfrm>
          <a:prstGeom prst="rect">
            <a:avLst/>
          </a:prstGeom>
          <a:solidFill>
            <a:srgbClr val="000000"/>
          </a:solidFill>
          <a:ln/>
        </p:spPr>
      </p:sp>
      <p:sp>
        <p:nvSpPr>
          <p:cNvPr id="24" name="Text 20"/>
          <p:cNvSpPr/>
          <p:nvPr/>
        </p:nvSpPr>
        <p:spPr>
          <a:xfrm>
            <a:off x="6492240" y="4480560"/>
            <a:ext cx="19202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Admin</a:t>
            </a:r>
            <a:endParaRPr lang="en-US" sz="1250" dirty="0"/>
          </a:p>
        </p:txBody>
      </p:sp>
      <p:sp>
        <p:nvSpPr>
          <p:cNvPr id="25" name="Shape 21"/>
          <p:cNvSpPr/>
          <p:nvPr/>
        </p:nvSpPr>
        <p:spPr>
          <a:xfrm>
            <a:off x="8412480" y="4732020"/>
            <a:ext cx="320040" cy="0"/>
          </a:xfrm>
          <a:prstGeom prst="line">
            <a:avLst/>
          </a:prstGeom>
          <a:noFill/>
          <a:ln w="25400">
            <a:solidFill>
              <a:srgbClr val="3A3A3A"/>
            </a:solidFill>
            <a:prstDash val="solid"/>
            <a:tailEnd type="triangle"/>
          </a:ln>
        </p:spPr>
      </p:sp>
      <p:sp>
        <p:nvSpPr>
          <p:cNvPr id="26" name="Text 22"/>
          <p:cNvSpPr/>
          <p:nvPr/>
        </p:nvSpPr>
        <p:spPr>
          <a:xfrm>
            <a:off x="8823960" y="4480560"/>
            <a:ext cx="2606040" cy="50292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Can manage the entire database</a:t>
            </a:r>
            <a:endParaRPr lang="en-US" sz="1200" dirty="0"/>
          </a:p>
        </p:txBody>
      </p:sp>
      <p:sp>
        <p:nvSpPr>
          <p:cNvPr id="27" name="Text 23"/>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8" name="Text 24"/>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Access Control Models</a:t>
            </a:r>
            <a:endParaRPr lang="en-US" sz="3200" dirty="0"/>
          </a:p>
        </p:txBody>
      </p:sp>
      <p:sp>
        <p:nvSpPr>
          <p:cNvPr id="3" name="Shape 1"/>
          <p:cNvSpPr/>
          <p:nvPr/>
        </p:nvSpPr>
        <p:spPr>
          <a:xfrm>
            <a:off x="548640" y="1737360"/>
            <a:ext cx="5394960" cy="3291840"/>
          </a:xfrm>
          <a:prstGeom prst="rect">
            <a:avLst/>
          </a:prstGeom>
          <a:solidFill>
            <a:srgbClr val="F2F2F2"/>
          </a:solidFill>
          <a:ln w="12700">
            <a:solidFill>
              <a:srgbClr val="CFCFCF"/>
            </a:solidFill>
            <a:prstDash val="solid"/>
          </a:ln>
        </p:spPr>
      </p:sp>
      <p:sp>
        <p:nvSpPr>
          <p:cNvPr id="4" name="Shape 2"/>
          <p:cNvSpPr/>
          <p:nvPr/>
        </p:nvSpPr>
        <p:spPr>
          <a:xfrm>
            <a:off x="822960" y="2011680"/>
            <a:ext cx="594360" cy="59436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965606" y="2154326"/>
            <a:ext cx="309067" cy="309067"/>
          </a:xfrm>
          <a:prstGeom prst="rect">
            <a:avLst/>
          </a:prstGeom>
        </p:spPr>
      </p:pic>
      <p:sp>
        <p:nvSpPr>
          <p:cNvPr id="6" name="Text 3"/>
          <p:cNvSpPr/>
          <p:nvPr/>
        </p:nvSpPr>
        <p:spPr>
          <a:xfrm>
            <a:off x="1554480" y="2029968"/>
            <a:ext cx="4114800" cy="82296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Role-Based Access Control (RBAC)</a:t>
            </a:r>
            <a:endParaRPr lang="en-US" sz="1500" dirty="0"/>
          </a:p>
        </p:txBody>
      </p:sp>
      <p:sp>
        <p:nvSpPr>
          <p:cNvPr id="7" name="Text 4"/>
          <p:cNvSpPr/>
          <p:nvPr/>
        </p:nvSpPr>
        <p:spPr>
          <a:xfrm>
            <a:off x="822960" y="2971800"/>
            <a:ext cx="484632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Permissions are based on job roles.</a:t>
            </a:r>
            <a:endParaRPr lang="en-US" sz="1250" dirty="0"/>
          </a:p>
        </p:txBody>
      </p:sp>
      <p:sp>
        <p:nvSpPr>
          <p:cNvPr id="8" name="Text 5"/>
          <p:cNvSpPr/>
          <p:nvPr/>
        </p:nvSpPr>
        <p:spPr>
          <a:xfrm>
            <a:off x="822960" y="3429000"/>
            <a:ext cx="4846320" cy="1371600"/>
          </a:xfrm>
          <a:prstGeom prst="rect">
            <a:avLst/>
          </a:prstGeom>
          <a:noFill/>
          <a:ln/>
        </p:spPr>
        <p:txBody>
          <a:bodyPr wrap="square" lIns="0" tIns="0" rIns="0" bIns="0" rtlCol="0" anchor="ctr"/>
          <a:lstStyle/>
          <a:p>
            <a:pPr indent="0" marL="0">
              <a:buNone/>
            </a:pPr>
            <a:r>
              <a:rPr lang="en-US" sz="1200" i="1" dirty="0">
                <a:solidFill>
                  <a:srgbClr val="6E6E6E"/>
                </a:solidFill>
                <a:latin typeface="Calibri" pitchFamily="34" charset="0"/>
                <a:ea typeface="Calibri" pitchFamily="34" charset="-122"/>
                <a:cs typeface="Calibri" pitchFamily="34" charset="-120"/>
              </a:rPr>
              <a:t>e.g. Hospital: Doctor, Nurse, Receptionist, and Administrator each have different access rights.</a:t>
            </a:r>
            <a:endParaRPr lang="en-US" sz="1200" dirty="0"/>
          </a:p>
        </p:txBody>
      </p:sp>
      <p:sp>
        <p:nvSpPr>
          <p:cNvPr id="9" name="Shape 6"/>
          <p:cNvSpPr/>
          <p:nvPr/>
        </p:nvSpPr>
        <p:spPr>
          <a:xfrm>
            <a:off x="6400800" y="1737360"/>
            <a:ext cx="5394960" cy="3291840"/>
          </a:xfrm>
          <a:prstGeom prst="rect">
            <a:avLst/>
          </a:prstGeom>
          <a:solidFill>
            <a:srgbClr val="F2F2F2"/>
          </a:solidFill>
          <a:ln w="12700">
            <a:solidFill>
              <a:srgbClr val="CFCFCF"/>
            </a:solidFill>
            <a:prstDash val="solid"/>
          </a:ln>
        </p:spPr>
      </p:sp>
      <p:sp>
        <p:nvSpPr>
          <p:cNvPr id="10" name="Shape 7"/>
          <p:cNvSpPr/>
          <p:nvPr/>
        </p:nvSpPr>
        <p:spPr>
          <a:xfrm>
            <a:off x="6675120" y="2011680"/>
            <a:ext cx="594360" cy="594360"/>
          </a:xfrm>
          <a:prstGeom prst="ellipse">
            <a:avLst/>
          </a:prstGeom>
          <a:solidFill>
            <a:srgbClr val="ECECEC"/>
          </a:solidFill>
          <a:ln w="12700">
            <a:solidFill>
              <a:srgbClr val="CFCFCF"/>
            </a:solidFill>
            <a:prstDash val="solid"/>
          </a:ln>
        </p:spPr>
      </p:sp>
      <p:pic>
        <p:nvPicPr>
          <p:cNvPr id="11" name="Image 1" descr="preencoded.png">    </p:cNvPr>
          <p:cNvPicPr>
            <a:picLocks noChangeAspect="1"/>
          </p:cNvPicPr>
          <p:nvPr/>
        </p:nvPicPr>
        <p:blipFill>
          <a:blip r:embed="rId2"/>
          <a:stretch>
            <a:fillRect/>
          </a:stretch>
        </p:blipFill>
        <p:spPr>
          <a:xfrm>
            <a:off x="6817766" y="2154326"/>
            <a:ext cx="309067" cy="309067"/>
          </a:xfrm>
          <a:prstGeom prst="rect">
            <a:avLst/>
          </a:prstGeom>
        </p:spPr>
      </p:pic>
      <p:sp>
        <p:nvSpPr>
          <p:cNvPr id="12" name="Text 8"/>
          <p:cNvSpPr/>
          <p:nvPr/>
        </p:nvSpPr>
        <p:spPr>
          <a:xfrm>
            <a:off x="7406640" y="2029968"/>
            <a:ext cx="4114800" cy="82296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Attribute-Based Access Control (ABAC)</a:t>
            </a:r>
            <a:endParaRPr lang="en-US" sz="1500" dirty="0"/>
          </a:p>
        </p:txBody>
      </p:sp>
      <p:sp>
        <p:nvSpPr>
          <p:cNvPr id="13" name="Text 9"/>
          <p:cNvSpPr/>
          <p:nvPr/>
        </p:nvSpPr>
        <p:spPr>
          <a:xfrm>
            <a:off x="6675120" y="2971800"/>
            <a:ext cx="4846320" cy="45720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Access depends on attributes such as:</a:t>
            </a:r>
            <a:endParaRPr lang="en-US" sz="1250" dirty="0"/>
          </a:p>
        </p:txBody>
      </p:sp>
      <p:sp>
        <p:nvSpPr>
          <p:cNvPr id="14" name="Text 10"/>
          <p:cNvSpPr/>
          <p:nvPr/>
        </p:nvSpPr>
        <p:spPr>
          <a:xfrm>
            <a:off x="6675120" y="3429000"/>
            <a:ext cx="4846320" cy="1371600"/>
          </a:xfrm>
          <a:prstGeom prst="rect">
            <a:avLst/>
          </a:prstGeom>
          <a:noFill/>
          <a:ln/>
        </p:spPr>
        <p:txBody>
          <a:bodyPr wrap="square" lIns="0" tIns="0" rIns="0" bIns="0" rtlCol="0" anchor="ctr"/>
          <a:lstStyle/>
          <a:p>
            <a:pPr indent="0" marL="0">
              <a:buNone/>
            </a:pPr>
            <a:r>
              <a:rPr lang="en-US" sz="1200" dirty="0">
                <a:solidFill>
                  <a:srgbClr val="000000"/>
                </a:solidFill>
                <a:latin typeface="Calibri" pitchFamily="34" charset="0"/>
                <a:ea typeface="Calibri" pitchFamily="34" charset="-122"/>
                <a:cs typeface="Calibri" pitchFamily="34" charset="-120"/>
              </a:rPr>
              <a:t>Department, Location, Time, and Device.</a:t>
            </a:r>
            <a:endParaRPr lang="en-US" sz="1200" dirty="0"/>
          </a:p>
        </p:txBody>
      </p:sp>
      <p:sp>
        <p:nvSpPr>
          <p:cNvPr id="15" name="Text 1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16" name="Text 12"/>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Firewalls, Antivirus, Backup, and Disaster Recovery</a:t>
            </a:r>
            <a:endParaRPr lang="en-US" sz="3200" dirty="0"/>
          </a:p>
        </p:txBody>
      </p:sp>
      <p:sp>
        <p:nvSpPr>
          <p:cNvPr id="3" name="Shape 1"/>
          <p:cNvSpPr/>
          <p:nvPr/>
        </p:nvSpPr>
        <p:spPr>
          <a:xfrm>
            <a:off x="548640" y="1691640"/>
            <a:ext cx="5394960" cy="2148840"/>
          </a:xfrm>
          <a:prstGeom prst="rect">
            <a:avLst/>
          </a:prstGeom>
          <a:solidFill>
            <a:srgbClr val="F2F2F2"/>
          </a:solidFill>
          <a:ln w="12700">
            <a:solidFill>
              <a:srgbClr val="CFCFCF"/>
            </a:solidFill>
            <a:prstDash val="solid"/>
          </a:ln>
        </p:spPr>
      </p:sp>
      <p:sp>
        <p:nvSpPr>
          <p:cNvPr id="4" name="Shape 2"/>
          <p:cNvSpPr/>
          <p:nvPr/>
        </p:nvSpPr>
        <p:spPr>
          <a:xfrm>
            <a:off x="777240" y="1920240"/>
            <a:ext cx="502920" cy="50292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6" name="Text 3"/>
          <p:cNvSpPr/>
          <p:nvPr/>
        </p:nvSpPr>
        <p:spPr>
          <a:xfrm>
            <a:off x="1417320" y="1947672"/>
            <a:ext cx="4297680" cy="41148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Firewalls</a:t>
            </a:r>
            <a:endParaRPr lang="en-US" sz="1550" dirty="0"/>
          </a:p>
        </p:txBody>
      </p:sp>
      <p:sp>
        <p:nvSpPr>
          <p:cNvPr id="7" name="Text 4"/>
          <p:cNvSpPr/>
          <p:nvPr/>
        </p:nvSpPr>
        <p:spPr>
          <a:xfrm>
            <a:off x="822960" y="2468880"/>
            <a:ext cx="4846320" cy="1280160"/>
          </a:xfrm>
          <a:prstGeom prst="rect">
            <a:avLst/>
          </a:prstGeom>
          <a:noFill/>
          <a:ln/>
        </p:spPr>
        <p:txBody>
          <a:bodyPr wrap="square" rtlCol="0" anchor="t"/>
          <a:lstStyle/>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Filters network traffic</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Blocks unauthorized connections</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Types: Hardware, Software</a:t>
            </a:r>
            <a:endParaRPr lang="en-US" sz="1150" dirty="0"/>
          </a:p>
        </p:txBody>
      </p:sp>
      <p:sp>
        <p:nvSpPr>
          <p:cNvPr id="8" name="Shape 5"/>
          <p:cNvSpPr/>
          <p:nvPr/>
        </p:nvSpPr>
        <p:spPr>
          <a:xfrm>
            <a:off x="6400800" y="1691640"/>
            <a:ext cx="5394960" cy="2148840"/>
          </a:xfrm>
          <a:prstGeom prst="rect">
            <a:avLst/>
          </a:prstGeom>
          <a:solidFill>
            <a:srgbClr val="F2F2F2"/>
          </a:solidFill>
          <a:ln w="12700">
            <a:solidFill>
              <a:srgbClr val="CFCFCF"/>
            </a:solidFill>
            <a:prstDash val="solid"/>
          </a:ln>
        </p:spPr>
      </p:sp>
      <p:sp>
        <p:nvSpPr>
          <p:cNvPr id="9" name="Shape 6"/>
          <p:cNvSpPr/>
          <p:nvPr/>
        </p:nvSpPr>
        <p:spPr>
          <a:xfrm>
            <a:off x="6629400" y="1920240"/>
            <a:ext cx="502920" cy="502920"/>
          </a:xfrm>
          <a:prstGeom prst="ellipse">
            <a:avLst/>
          </a:prstGeom>
          <a:solidFill>
            <a:srgbClr val="ECECEC"/>
          </a:solidFill>
          <a:ln w="12700">
            <a:solidFill>
              <a:srgbClr val="CFCFCF"/>
            </a:solidFill>
            <a:prstDash val="solid"/>
          </a:ln>
        </p:spPr>
      </p:sp>
      <p:pic>
        <p:nvPicPr>
          <p:cNvPr id="10" name="Image 1" descr="preencoded.png">    </p:cNvPr>
          <p:cNvPicPr>
            <a:picLocks noChangeAspect="1"/>
          </p:cNvPicPr>
          <p:nvPr/>
        </p:nvPicPr>
        <p:blipFill>
          <a:blip r:embed="rId2"/>
          <a:stretch>
            <a:fillRect/>
          </a:stretch>
        </p:blipFill>
        <p:spPr>
          <a:xfrm>
            <a:off x="6750101" y="2040941"/>
            <a:ext cx="261518" cy="261518"/>
          </a:xfrm>
          <a:prstGeom prst="rect">
            <a:avLst/>
          </a:prstGeom>
        </p:spPr>
      </p:pic>
      <p:sp>
        <p:nvSpPr>
          <p:cNvPr id="11" name="Text 7"/>
          <p:cNvSpPr/>
          <p:nvPr/>
        </p:nvSpPr>
        <p:spPr>
          <a:xfrm>
            <a:off x="7269480" y="1947672"/>
            <a:ext cx="4297680" cy="41148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Antivirus Software</a:t>
            </a:r>
            <a:endParaRPr lang="en-US" sz="1550" dirty="0"/>
          </a:p>
        </p:txBody>
      </p:sp>
      <p:sp>
        <p:nvSpPr>
          <p:cNvPr id="12" name="Text 8"/>
          <p:cNvSpPr/>
          <p:nvPr/>
        </p:nvSpPr>
        <p:spPr>
          <a:xfrm>
            <a:off x="6675120" y="2468880"/>
            <a:ext cx="4846320" cy="1280160"/>
          </a:xfrm>
          <a:prstGeom prst="rect">
            <a:avLst/>
          </a:prstGeom>
          <a:noFill/>
          <a:ln/>
        </p:spPr>
        <p:txBody>
          <a:bodyPr wrap="square" rtlCol="0" anchor="t"/>
          <a:lstStyle/>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Detects and removes malware</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Real-time protection</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e.g. Microsoft Defender, Avast, Bitdefender</a:t>
            </a:r>
            <a:endParaRPr lang="en-US" sz="1150" dirty="0"/>
          </a:p>
        </p:txBody>
      </p:sp>
      <p:sp>
        <p:nvSpPr>
          <p:cNvPr id="13" name="Shape 9"/>
          <p:cNvSpPr/>
          <p:nvPr/>
        </p:nvSpPr>
        <p:spPr>
          <a:xfrm>
            <a:off x="548640" y="4160520"/>
            <a:ext cx="5394960" cy="2148840"/>
          </a:xfrm>
          <a:prstGeom prst="rect">
            <a:avLst/>
          </a:prstGeom>
          <a:solidFill>
            <a:srgbClr val="F2F2F2"/>
          </a:solidFill>
          <a:ln w="12700">
            <a:solidFill>
              <a:srgbClr val="CFCFCF"/>
            </a:solidFill>
            <a:prstDash val="solid"/>
          </a:ln>
        </p:spPr>
      </p:sp>
      <p:sp>
        <p:nvSpPr>
          <p:cNvPr id="14" name="Shape 10"/>
          <p:cNvSpPr/>
          <p:nvPr/>
        </p:nvSpPr>
        <p:spPr>
          <a:xfrm>
            <a:off x="777240" y="4389120"/>
            <a:ext cx="502920" cy="502920"/>
          </a:xfrm>
          <a:prstGeom prst="ellipse">
            <a:avLst/>
          </a:prstGeom>
          <a:solidFill>
            <a:srgbClr val="ECECEC"/>
          </a:solidFill>
          <a:ln w="12700">
            <a:solidFill>
              <a:srgbClr val="CFCFCF"/>
            </a:solidFill>
            <a:prstDash val="solid"/>
          </a:ln>
        </p:spPr>
      </p:sp>
      <p:pic>
        <p:nvPicPr>
          <p:cNvPr id="15" name="Image 2" descr="preencoded.png">    </p:cNvPr>
          <p:cNvPicPr>
            <a:picLocks noChangeAspect="1"/>
          </p:cNvPicPr>
          <p:nvPr/>
        </p:nvPicPr>
        <p:blipFill>
          <a:blip r:embed="rId3"/>
          <a:stretch>
            <a:fillRect/>
          </a:stretch>
        </p:blipFill>
        <p:spPr>
          <a:xfrm>
            <a:off x="897941" y="4509821"/>
            <a:ext cx="261518" cy="261518"/>
          </a:xfrm>
          <a:prstGeom prst="rect">
            <a:avLst/>
          </a:prstGeom>
        </p:spPr>
      </p:pic>
      <p:sp>
        <p:nvSpPr>
          <p:cNvPr id="16" name="Text 11"/>
          <p:cNvSpPr/>
          <p:nvPr/>
        </p:nvSpPr>
        <p:spPr>
          <a:xfrm>
            <a:off x="1417320" y="4416552"/>
            <a:ext cx="4297680" cy="41148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Backup</a:t>
            </a:r>
            <a:endParaRPr lang="en-US" sz="1550" dirty="0"/>
          </a:p>
        </p:txBody>
      </p:sp>
      <p:sp>
        <p:nvSpPr>
          <p:cNvPr id="17" name="Text 12"/>
          <p:cNvSpPr/>
          <p:nvPr/>
        </p:nvSpPr>
        <p:spPr>
          <a:xfrm>
            <a:off x="822960" y="4937760"/>
            <a:ext cx="4846320" cy="1280160"/>
          </a:xfrm>
          <a:prstGeom prst="rect">
            <a:avLst/>
          </a:prstGeom>
          <a:noFill/>
          <a:ln/>
        </p:spPr>
        <p:txBody>
          <a:bodyPr wrap="square" rtlCol="0" anchor="t"/>
          <a:lstStyle/>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Creates duplicate copies of data</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Types: Full, Incremental, Differential</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Helps recover after attacks or deletion</a:t>
            </a:r>
            <a:endParaRPr lang="en-US" sz="1150" dirty="0"/>
          </a:p>
        </p:txBody>
      </p:sp>
      <p:sp>
        <p:nvSpPr>
          <p:cNvPr id="18" name="Shape 13"/>
          <p:cNvSpPr/>
          <p:nvPr/>
        </p:nvSpPr>
        <p:spPr>
          <a:xfrm>
            <a:off x="6400800" y="4160520"/>
            <a:ext cx="5394960" cy="2148840"/>
          </a:xfrm>
          <a:prstGeom prst="rect">
            <a:avLst/>
          </a:prstGeom>
          <a:solidFill>
            <a:srgbClr val="F2F2F2"/>
          </a:solidFill>
          <a:ln w="12700">
            <a:solidFill>
              <a:srgbClr val="CFCFCF"/>
            </a:solidFill>
            <a:prstDash val="solid"/>
          </a:ln>
        </p:spPr>
      </p:sp>
      <p:sp>
        <p:nvSpPr>
          <p:cNvPr id="19" name="Shape 14"/>
          <p:cNvSpPr/>
          <p:nvPr/>
        </p:nvSpPr>
        <p:spPr>
          <a:xfrm>
            <a:off x="6629400" y="4389120"/>
            <a:ext cx="502920" cy="502920"/>
          </a:xfrm>
          <a:prstGeom prst="ellipse">
            <a:avLst/>
          </a:prstGeom>
          <a:solidFill>
            <a:srgbClr val="ECECEC"/>
          </a:solidFill>
          <a:ln w="12700">
            <a:solidFill>
              <a:srgbClr val="CFCFCF"/>
            </a:solidFill>
            <a:prstDash val="solid"/>
          </a:ln>
        </p:spPr>
      </p:sp>
      <p:pic>
        <p:nvPicPr>
          <p:cNvPr id="20" name="Image 3" descr="preencoded.png">    </p:cNvPr>
          <p:cNvPicPr>
            <a:picLocks noChangeAspect="1"/>
          </p:cNvPicPr>
          <p:nvPr/>
        </p:nvPicPr>
        <p:blipFill>
          <a:blip r:embed="rId4"/>
          <a:stretch>
            <a:fillRect/>
          </a:stretch>
        </p:blipFill>
        <p:spPr>
          <a:xfrm>
            <a:off x="6750101" y="4509821"/>
            <a:ext cx="261518" cy="261518"/>
          </a:xfrm>
          <a:prstGeom prst="rect">
            <a:avLst/>
          </a:prstGeom>
        </p:spPr>
      </p:pic>
      <p:sp>
        <p:nvSpPr>
          <p:cNvPr id="21" name="Text 15"/>
          <p:cNvSpPr/>
          <p:nvPr/>
        </p:nvSpPr>
        <p:spPr>
          <a:xfrm>
            <a:off x="7269480" y="4416552"/>
            <a:ext cx="4297680" cy="411480"/>
          </a:xfrm>
          <a:prstGeom prst="rect">
            <a:avLst/>
          </a:prstGeom>
          <a:noFill/>
          <a:ln/>
        </p:spPr>
        <p:txBody>
          <a:bodyPr wrap="square" lIns="0" tIns="0" rIns="0" bIns="0" rtlCol="0" anchor="ctr"/>
          <a:lstStyle/>
          <a:p>
            <a:pPr indent="0" marL="0">
              <a:buNone/>
            </a:pPr>
            <a:r>
              <a:rPr lang="en-US" sz="1550" b="1" dirty="0">
                <a:solidFill>
                  <a:srgbClr val="000000"/>
                </a:solidFill>
                <a:latin typeface="Cambria" pitchFamily="34" charset="0"/>
                <a:ea typeface="Cambria" pitchFamily="34" charset="-122"/>
                <a:cs typeface="Cambria" pitchFamily="34" charset="-120"/>
              </a:rPr>
              <a:t>Disaster Recovery</a:t>
            </a:r>
            <a:endParaRPr lang="en-US" sz="1550" dirty="0"/>
          </a:p>
        </p:txBody>
      </p:sp>
      <p:sp>
        <p:nvSpPr>
          <p:cNvPr id="22" name="Text 16"/>
          <p:cNvSpPr/>
          <p:nvPr/>
        </p:nvSpPr>
        <p:spPr>
          <a:xfrm>
            <a:off x="6675120" y="4937760"/>
            <a:ext cx="4846320" cy="1280160"/>
          </a:xfrm>
          <a:prstGeom prst="rect">
            <a:avLst/>
          </a:prstGeom>
          <a:noFill/>
          <a:ln/>
        </p:spPr>
        <p:txBody>
          <a:bodyPr wrap="square" rtlCol="0" anchor="t"/>
          <a:lstStyle/>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Plan for restoring systems after disasters</a:t>
            </a:r>
            <a:endParaRPr lang="en-US" sz="1150" dirty="0"/>
          </a:p>
          <a:p>
            <a:pPr marL="342900" indent="-342900">
              <a:spcAft>
                <a:spcPts val="300"/>
              </a:spcAft>
              <a:buSzPct val="100000"/>
              <a:buChar char="•"/>
            </a:pPr>
            <a:r>
              <a:rPr lang="en-US" sz="1150" dirty="0">
                <a:solidFill>
                  <a:srgbClr val="000000"/>
                </a:solidFill>
                <a:latin typeface="Calibri" pitchFamily="34" charset="0"/>
                <a:ea typeface="Calibri" pitchFamily="34" charset="-122"/>
                <a:cs typeface="Calibri" pitchFamily="34" charset="-120"/>
              </a:rPr>
              <a:t>Disasters: Flood, Fire, Earthquake, Ransomware, Hardware Failure</a:t>
            </a:r>
            <a:endParaRPr lang="en-US" sz="1150" dirty="0"/>
          </a:p>
        </p:txBody>
      </p:sp>
      <p:sp>
        <p:nvSpPr>
          <p:cNvPr id="23" name="Text 1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4" name="Text 18"/>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Data Masking, Anonymization, and Pseudonymization</a:t>
            </a:r>
            <a:endParaRPr lang="en-US" sz="3200" dirty="0"/>
          </a:p>
        </p:txBody>
      </p:sp>
      <p:sp>
        <p:nvSpPr>
          <p:cNvPr id="3" name="Shape 1"/>
          <p:cNvSpPr/>
          <p:nvPr/>
        </p:nvSpPr>
        <p:spPr>
          <a:xfrm>
            <a:off x="548640" y="1737360"/>
            <a:ext cx="3593592" cy="4023360"/>
          </a:xfrm>
          <a:prstGeom prst="rect">
            <a:avLst/>
          </a:prstGeom>
          <a:solidFill>
            <a:srgbClr val="F2F2F2"/>
          </a:solidFill>
          <a:ln w="12700">
            <a:solidFill>
              <a:srgbClr val="CFCFCF"/>
            </a:solidFill>
            <a:prstDash val="solid"/>
          </a:ln>
        </p:spPr>
      </p:sp>
      <p:sp>
        <p:nvSpPr>
          <p:cNvPr id="4" name="Shape 2"/>
          <p:cNvSpPr/>
          <p:nvPr/>
        </p:nvSpPr>
        <p:spPr>
          <a:xfrm>
            <a:off x="2071116" y="1965960"/>
            <a:ext cx="548640" cy="54864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2202790" y="2097634"/>
            <a:ext cx="285293" cy="285293"/>
          </a:xfrm>
          <a:prstGeom prst="rect">
            <a:avLst/>
          </a:prstGeom>
        </p:spPr>
      </p:pic>
      <p:sp>
        <p:nvSpPr>
          <p:cNvPr id="6" name="Text 3"/>
          <p:cNvSpPr/>
          <p:nvPr/>
        </p:nvSpPr>
        <p:spPr>
          <a:xfrm>
            <a:off x="731520" y="2651760"/>
            <a:ext cx="3227832" cy="411480"/>
          </a:xfrm>
          <a:prstGeom prst="rect">
            <a:avLst/>
          </a:prstGeom>
          <a:noFill/>
          <a:ln/>
        </p:spPr>
        <p:txBody>
          <a:bodyPr wrap="square" lIns="0" tIns="0" rIns="0" bIns="0" rtlCol="0" anchor="ctr"/>
          <a:lstStyle/>
          <a:p>
            <a:pPr algn="ctr" indent="0" marL="0">
              <a:buNone/>
            </a:pPr>
            <a:r>
              <a:rPr lang="en-US" sz="1450" b="1" dirty="0">
                <a:solidFill>
                  <a:srgbClr val="000000"/>
                </a:solidFill>
                <a:latin typeface="Cambria" pitchFamily="34" charset="0"/>
                <a:ea typeface="Cambria" pitchFamily="34" charset="-122"/>
                <a:cs typeface="Cambria" pitchFamily="34" charset="-120"/>
              </a:rPr>
              <a:t>Data Masking</a:t>
            </a:r>
            <a:endParaRPr lang="en-US" sz="1450" dirty="0"/>
          </a:p>
        </p:txBody>
      </p:sp>
      <p:sp>
        <p:nvSpPr>
          <p:cNvPr id="7" name="Text 4"/>
          <p:cNvSpPr/>
          <p:nvPr/>
        </p:nvSpPr>
        <p:spPr>
          <a:xfrm>
            <a:off x="777240" y="3108960"/>
            <a:ext cx="3136392" cy="1188720"/>
          </a:xfrm>
          <a:prstGeom prst="rect">
            <a:avLst/>
          </a:prstGeom>
          <a:noFill/>
          <a:ln/>
        </p:spPr>
        <p:txBody>
          <a:bodyPr wrap="square" lIns="0" tIns="0" rIns="0" bIns="0" rtlCol="0" anchor="ctr"/>
          <a:lstStyle/>
          <a:p>
            <a:pPr algn="ctr" indent="0" marL="0">
              <a:buNone/>
            </a:pPr>
            <a:r>
              <a:rPr lang="en-US" sz="1150" dirty="0">
                <a:solidFill>
                  <a:srgbClr val="000000"/>
                </a:solidFill>
                <a:latin typeface="Calibri" pitchFamily="34" charset="0"/>
                <a:ea typeface="Calibri" pitchFamily="34" charset="-122"/>
                <a:cs typeface="Calibri" pitchFamily="34" charset="-120"/>
              </a:rPr>
              <a:t>Sensitive information is hidden.</a:t>
            </a:r>
            <a:endParaRPr lang="en-US" sz="1150" dirty="0"/>
          </a:p>
        </p:txBody>
      </p:sp>
      <p:sp>
        <p:nvSpPr>
          <p:cNvPr id="8" name="Shape 5"/>
          <p:cNvSpPr/>
          <p:nvPr/>
        </p:nvSpPr>
        <p:spPr>
          <a:xfrm>
            <a:off x="777240" y="4434840"/>
            <a:ext cx="3136392" cy="502920"/>
          </a:xfrm>
          <a:prstGeom prst="rect">
            <a:avLst/>
          </a:prstGeom>
          <a:solidFill>
            <a:srgbClr val="FFFFFF"/>
          </a:solidFill>
          <a:ln w="12700">
            <a:solidFill>
              <a:srgbClr val="CFCFCF"/>
            </a:solidFill>
            <a:prstDash val="solid"/>
          </a:ln>
        </p:spPr>
      </p:sp>
      <p:sp>
        <p:nvSpPr>
          <p:cNvPr id="9" name="Text 6"/>
          <p:cNvSpPr/>
          <p:nvPr/>
        </p:nvSpPr>
        <p:spPr>
          <a:xfrm>
            <a:off x="868680" y="4434840"/>
            <a:ext cx="2953512" cy="502920"/>
          </a:xfrm>
          <a:prstGeom prst="rect">
            <a:avLst/>
          </a:prstGeom>
          <a:noFill/>
          <a:ln/>
        </p:spPr>
        <p:txBody>
          <a:bodyPr wrap="square" lIns="0" tIns="0" rIns="0" bIns="0" rtlCol="0" anchor="ctr"/>
          <a:lstStyle/>
          <a:p>
            <a:pPr indent="0" marL="0">
              <a:buNone/>
            </a:pPr>
            <a:r>
              <a:rPr lang="en-US" sz="1050" dirty="0">
                <a:solidFill>
                  <a:srgbClr val="3A3A3A"/>
                </a:solidFill>
                <a:latin typeface="Calibri" pitchFamily="34" charset="0"/>
                <a:ea typeface="Calibri" pitchFamily="34" charset="-122"/>
                <a:cs typeface="Calibri" pitchFamily="34" charset="-120"/>
              </a:rPr>
              <a:t>Original: 9841234567</a:t>
            </a:r>
            <a:endParaRPr lang="en-US" sz="1050" dirty="0"/>
          </a:p>
        </p:txBody>
      </p:sp>
      <p:sp>
        <p:nvSpPr>
          <p:cNvPr id="10" name="Shape 7"/>
          <p:cNvSpPr/>
          <p:nvPr/>
        </p:nvSpPr>
        <p:spPr>
          <a:xfrm>
            <a:off x="2345436" y="4937760"/>
            <a:ext cx="0" cy="201168"/>
          </a:xfrm>
          <a:prstGeom prst="line">
            <a:avLst/>
          </a:prstGeom>
          <a:noFill/>
          <a:ln w="25400">
            <a:solidFill>
              <a:srgbClr val="3A3A3A"/>
            </a:solidFill>
            <a:prstDash val="solid"/>
            <a:tailEnd type="triangle"/>
          </a:ln>
        </p:spPr>
      </p:sp>
      <p:sp>
        <p:nvSpPr>
          <p:cNvPr id="11" name="Shape 8"/>
          <p:cNvSpPr/>
          <p:nvPr/>
        </p:nvSpPr>
        <p:spPr>
          <a:xfrm>
            <a:off x="777240" y="5166360"/>
            <a:ext cx="3136392" cy="502920"/>
          </a:xfrm>
          <a:prstGeom prst="rect">
            <a:avLst/>
          </a:prstGeom>
          <a:solidFill>
            <a:srgbClr val="000000"/>
          </a:solidFill>
          <a:ln/>
        </p:spPr>
      </p:sp>
      <p:sp>
        <p:nvSpPr>
          <p:cNvPr id="12" name="Text 9"/>
          <p:cNvSpPr/>
          <p:nvPr/>
        </p:nvSpPr>
        <p:spPr>
          <a:xfrm>
            <a:off x="868680" y="5166360"/>
            <a:ext cx="2953512"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Result: 984*****67</a:t>
            </a:r>
            <a:endParaRPr lang="en-US" sz="1050" dirty="0"/>
          </a:p>
        </p:txBody>
      </p:sp>
      <p:sp>
        <p:nvSpPr>
          <p:cNvPr id="13" name="Shape 10"/>
          <p:cNvSpPr/>
          <p:nvPr/>
        </p:nvSpPr>
        <p:spPr>
          <a:xfrm>
            <a:off x="4361688" y="1737360"/>
            <a:ext cx="3593592" cy="4023360"/>
          </a:xfrm>
          <a:prstGeom prst="rect">
            <a:avLst/>
          </a:prstGeom>
          <a:solidFill>
            <a:srgbClr val="F2F2F2"/>
          </a:solidFill>
          <a:ln w="12700">
            <a:solidFill>
              <a:srgbClr val="CFCFCF"/>
            </a:solidFill>
            <a:prstDash val="solid"/>
          </a:ln>
        </p:spPr>
      </p:sp>
      <p:sp>
        <p:nvSpPr>
          <p:cNvPr id="14" name="Shape 11"/>
          <p:cNvSpPr/>
          <p:nvPr/>
        </p:nvSpPr>
        <p:spPr>
          <a:xfrm>
            <a:off x="5884164" y="1965960"/>
            <a:ext cx="548640" cy="548640"/>
          </a:xfrm>
          <a:prstGeom prst="ellipse">
            <a:avLst/>
          </a:prstGeom>
          <a:solidFill>
            <a:srgbClr val="ECECEC"/>
          </a:solidFill>
          <a:ln w="12700">
            <a:solidFill>
              <a:srgbClr val="CFCFCF"/>
            </a:solidFill>
            <a:prstDash val="solid"/>
          </a:ln>
        </p:spPr>
      </p:sp>
      <p:pic>
        <p:nvPicPr>
          <p:cNvPr id="15" name="Image 1" descr="preencoded.png">    </p:cNvPr>
          <p:cNvPicPr>
            <a:picLocks noChangeAspect="1"/>
          </p:cNvPicPr>
          <p:nvPr/>
        </p:nvPicPr>
        <p:blipFill>
          <a:blip r:embed="rId2"/>
          <a:stretch>
            <a:fillRect/>
          </a:stretch>
        </p:blipFill>
        <p:spPr>
          <a:xfrm>
            <a:off x="6015838" y="2097634"/>
            <a:ext cx="285293" cy="285293"/>
          </a:xfrm>
          <a:prstGeom prst="rect">
            <a:avLst/>
          </a:prstGeom>
        </p:spPr>
      </p:pic>
      <p:sp>
        <p:nvSpPr>
          <p:cNvPr id="16" name="Text 12"/>
          <p:cNvSpPr/>
          <p:nvPr/>
        </p:nvSpPr>
        <p:spPr>
          <a:xfrm>
            <a:off x="4544568" y="2651760"/>
            <a:ext cx="3227832" cy="411480"/>
          </a:xfrm>
          <a:prstGeom prst="rect">
            <a:avLst/>
          </a:prstGeom>
          <a:noFill/>
          <a:ln/>
        </p:spPr>
        <p:txBody>
          <a:bodyPr wrap="square" lIns="0" tIns="0" rIns="0" bIns="0" rtlCol="0" anchor="ctr"/>
          <a:lstStyle/>
          <a:p>
            <a:pPr algn="ctr" indent="0" marL="0">
              <a:buNone/>
            </a:pPr>
            <a:r>
              <a:rPr lang="en-US" sz="1450" b="1" dirty="0">
                <a:solidFill>
                  <a:srgbClr val="000000"/>
                </a:solidFill>
                <a:latin typeface="Cambria" pitchFamily="34" charset="0"/>
                <a:ea typeface="Cambria" pitchFamily="34" charset="-122"/>
                <a:cs typeface="Cambria" pitchFamily="34" charset="-120"/>
              </a:rPr>
              <a:t>Data Anonymization</a:t>
            </a:r>
            <a:endParaRPr lang="en-US" sz="1450" dirty="0"/>
          </a:p>
        </p:txBody>
      </p:sp>
      <p:sp>
        <p:nvSpPr>
          <p:cNvPr id="17" name="Text 13"/>
          <p:cNvSpPr/>
          <p:nvPr/>
        </p:nvSpPr>
        <p:spPr>
          <a:xfrm>
            <a:off x="4590288" y="3108960"/>
            <a:ext cx="3136392" cy="1188720"/>
          </a:xfrm>
          <a:prstGeom prst="rect">
            <a:avLst/>
          </a:prstGeom>
          <a:noFill/>
          <a:ln/>
        </p:spPr>
        <p:txBody>
          <a:bodyPr wrap="square" lIns="0" tIns="0" rIns="0" bIns="0" rtlCol="0" anchor="ctr"/>
          <a:lstStyle/>
          <a:p>
            <a:pPr algn="ctr" indent="0" marL="0">
              <a:buNone/>
            </a:pPr>
            <a:r>
              <a:rPr lang="en-US" sz="1150" dirty="0">
                <a:solidFill>
                  <a:srgbClr val="000000"/>
                </a:solidFill>
                <a:latin typeface="Calibri" pitchFamily="34" charset="0"/>
                <a:ea typeface="Calibri" pitchFamily="34" charset="-122"/>
                <a:cs typeface="Calibri" pitchFamily="34" charset="-120"/>
              </a:rPr>
              <a:t>Personal identity is permanently removed. Useful in research and analytics.</a:t>
            </a:r>
            <a:endParaRPr lang="en-US" sz="1150" dirty="0"/>
          </a:p>
        </p:txBody>
      </p:sp>
      <p:sp>
        <p:nvSpPr>
          <p:cNvPr id="18" name="Shape 14"/>
          <p:cNvSpPr/>
          <p:nvPr/>
        </p:nvSpPr>
        <p:spPr>
          <a:xfrm>
            <a:off x="4590288" y="4434840"/>
            <a:ext cx="3136392" cy="502920"/>
          </a:xfrm>
          <a:prstGeom prst="rect">
            <a:avLst/>
          </a:prstGeom>
          <a:solidFill>
            <a:srgbClr val="FFFFFF"/>
          </a:solidFill>
          <a:ln w="12700">
            <a:solidFill>
              <a:srgbClr val="CFCFCF"/>
            </a:solidFill>
            <a:prstDash val="solid"/>
          </a:ln>
        </p:spPr>
      </p:sp>
      <p:sp>
        <p:nvSpPr>
          <p:cNvPr id="19" name="Text 15"/>
          <p:cNvSpPr/>
          <p:nvPr/>
        </p:nvSpPr>
        <p:spPr>
          <a:xfrm>
            <a:off x="4681728" y="4434840"/>
            <a:ext cx="2953512" cy="502920"/>
          </a:xfrm>
          <a:prstGeom prst="rect">
            <a:avLst/>
          </a:prstGeom>
          <a:noFill/>
          <a:ln/>
        </p:spPr>
        <p:txBody>
          <a:bodyPr wrap="square" lIns="0" tIns="0" rIns="0" bIns="0" rtlCol="0" anchor="ctr"/>
          <a:lstStyle/>
          <a:p>
            <a:pPr indent="0" marL="0">
              <a:buNone/>
            </a:pPr>
            <a:r>
              <a:rPr lang="en-US" sz="1050" dirty="0">
                <a:solidFill>
                  <a:srgbClr val="3A3A3A"/>
                </a:solidFill>
                <a:latin typeface="Calibri" pitchFamily="34" charset="0"/>
                <a:ea typeface="Calibri" pitchFamily="34" charset="-122"/>
                <a:cs typeface="Calibri" pitchFamily="34" charset="-120"/>
              </a:rPr>
              <a:t>Original: Name: Ram Sharma</a:t>
            </a:r>
            <a:endParaRPr lang="en-US" sz="1050" dirty="0"/>
          </a:p>
        </p:txBody>
      </p:sp>
      <p:sp>
        <p:nvSpPr>
          <p:cNvPr id="20" name="Shape 16"/>
          <p:cNvSpPr/>
          <p:nvPr/>
        </p:nvSpPr>
        <p:spPr>
          <a:xfrm>
            <a:off x="6158484" y="4937760"/>
            <a:ext cx="0" cy="201168"/>
          </a:xfrm>
          <a:prstGeom prst="line">
            <a:avLst/>
          </a:prstGeom>
          <a:noFill/>
          <a:ln w="25400">
            <a:solidFill>
              <a:srgbClr val="3A3A3A"/>
            </a:solidFill>
            <a:prstDash val="solid"/>
            <a:tailEnd type="triangle"/>
          </a:ln>
        </p:spPr>
      </p:sp>
      <p:sp>
        <p:nvSpPr>
          <p:cNvPr id="21" name="Shape 17"/>
          <p:cNvSpPr/>
          <p:nvPr/>
        </p:nvSpPr>
        <p:spPr>
          <a:xfrm>
            <a:off x="4590288" y="5166360"/>
            <a:ext cx="3136392" cy="502920"/>
          </a:xfrm>
          <a:prstGeom prst="rect">
            <a:avLst/>
          </a:prstGeom>
          <a:solidFill>
            <a:srgbClr val="000000"/>
          </a:solidFill>
          <a:ln/>
        </p:spPr>
      </p:sp>
      <p:sp>
        <p:nvSpPr>
          <p:cNvPr id="22" name="Text 18"/>
          <p:cNvSpPr/>
          <p:nvPr/>
        </p:nvSpPr>
        <p:spPr>
          <a:xfrm>
            <a:off x="4681728" y="5166360"/>
            <a:ext cx="2953512"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Result: Customer ID: 20345</a:t>
            </a:r>
            <a:endParaRPr lang="en-US" sz="1050" dirty="0"/>
          </a:p>
        </p:txBody>
      </p:sp>
      <p:sp>
        <p:nvSpPr>
          <p:cNvPr id="23" name="Shape 19"/>
          <p:cNvSpPr/>
          <p:nvPr/>
        </p:nvSpPr>
        <p:spPr>
          <a:xfrm>
            <a:off x="8174736" y="1737360"/>
            <a:ext cx="3593592" cy="4023360"/>
          </a:xfrm>
          <a:prstGeom prst="rect">
            <a:avLst/>
          </a:prstGeom>
          <a:solidFill>
            <a:srgbClr val="F2F2F2"/>
          </a:solidFill>
          <a:ln w="12700">
            <a:solidFill>
              <a:srgbClr val="CFCFCF"/>
            </a:solidFill>
            <a:prstDash val="solid"/>
          </a:ln>
        </p:spPr>
      </p:sp>
      <p:sp>
        <p:nvSpPr>
          <p:cNvPr id="24" name="Shape 20"/>
          <p:cNvSpPr/>
          <p:nvPr/>
        </p:nvSpPr>
        <p:spPr>
          <a:xfrm>
            <a:off x="9697212" y="1965960"/>
            <a:ext cx="548640" cy="548640"/>
          </a:xfrm>
          <a:prstGeom prst="ellipse">
            <a:avLst/>
          </a:prstGeom>
          <a:solidFill>
            <a:srgbClr val="ECECEC"/>
          </a:solidFill>
          <a:ln w="12700">
            <a:solidFill>
              <a:srgbClr val="CFCFCF"/>
            </a:solidFill>
            <a:prstDash val="solid"/>
          </a:ln>
        </p:spPr>
      </p:sp>
      <p:pic>
        <p:nvPicPr>
          <p:cNvPr id="25" name="Image 2" descr="preencoded.png">    </p:cNvPr>
          <p:cNvPicPr>
            <a:picLocks noChangeAspect="1"/>
          </p:cNvPicPr>
          <p:nvPr/>
        </p:nvPicPr>
        <p:blipFill>
          <a:blip r:embed="rId3"/>
          <a:stretch>
            <a:fillRect/>
          </a:stretch>
        </p:blipFill>
        <p:spPr>
          <a:xfrm>
            <a:off x="9828886" y="2097634"/>
            <a:ext cx="285293" cy="285293"/>
          </a:xfrm>
          <a:prstGeom prst="rect">
            <a:avLst/>
          </a:prstGeom>
        </p:spPr>
      </p:pic>
      <p:sp>
        <p:nvSpPr>
          <p:cNvPr id="26" name="Text 21"/>
          <p:cNvSpPr/>
          <p:nvPr/>
        </p:nvSpPr>
        <p:spPr>
          <a:xfrm>
            <a:off x="8357616" y="2651760"/>
            <a:ext cx="3227832" cy="411480"/>
          </a:xfrm>
          <a:prstGeom prst="rect">
            <a:avLst/>
          </a:prstGeom>
          <a:noFill/>
          <a:ln/>
        </p:spPr>
        <p:txBody>
          <a:bodyPr wrap="square" lIns="0" tIns="0" rIns="0" bIns="0" rtlCol="0" anchor="ctr"/>
          <a:lstStyle/>
          <a:p>
            <a:pPr algn="ctr" indent="0" marL="0">
              <a:buNone/>
            </a:pPr>
            <a:r>
              <a:rPr lang="en-US" sz="1450" b="1" dirty="0">
                <a:solidFill>
                  <a:srgbClr val="000000"/>
                </a:solidFill>
                <a:latin typeface="Cambria" pitchFamily="34" charset="0"/>
                <a:ea typeface="Cambria" pitchFamily="34" charset="-122"/>
                <a:cs typeface="Cambria" pitchFamily="34" charset="-120"/>
              </a:rPr>
              <a:t>Data Pseudonymization</a:t>
            </a:r>
            <a:endParaRPr lang="en-US" sz="1450" dirty="0"/>
          </a:p>
        </p:txBody>
      </p:sp>
      <p:sp>
        <p:nvSpPr>
          <p:cNvPr id="27" name="Text 22"/>
          <p:cNvSpPr/>
          <p:nvPr/>
        </p:nvSpPr>
        <p:spPr>
          <a:xfrm>
            <a:off x="8403336" y="3108960"/>
            <a:ext cx="3136392" cy="1188720"/>
          </a:xfrm>
          <a:prstGeom prst="rect">
            <a:avLst/>
          </a:prstGeom>
          <a:noFill/>
          <a:ln/>
        </p:spPr>
        <p:txBody>
          <a:bodyPr wrap="square" lIns="0" tIns="0" rIns="0" bIns="0" rtlCol="0" anchor="ctr"/>
          <a:lstStyle/>
          <a:p>
            <a:pPr algn="ctr" indent="0" marL="0">
              <a:buNone/>
            </a:pPr>
            <a:r>
              <a:rPr lang="en-US" sz="1150" dirty="0">
                <a:solidFill>
                  <a:srgbClr val="000000"/>
                </a:solidFill>
                <a:latin typeface="Calibri" pitchFamily="34" charset="0"/>
                <a:ea typeface="Calibri" pitchFamily="34" charset="-122"/>
                <a:cs typeface="Calibri" pitchFamily="34" charset="-120"/>
              </a:rPr>
              <a:t>Real identity is replaced with another identifier. Identity can still be recovered using a secure mapping table.</a:t>
            </a:r>
            <a:endParaRPr lang="en-US" sz="1150" dirty="0"/>
          </a:p>
        </p:txBody>
      </p:sp>
      <p:sp>
        <p:nvSpPr>
          <p:cNvPr id="28" name="Shape 23"/>
          <p:cNvSpPr/>
          <p:nvPr/>
        </p:nvSpPr>
        <p:spPr>
          <a:xfrm>
            <a:off x="8403336" y="4434840"/>
            <a:ext cx="3136392" cy="502920"/>
          </a:xfrm>
          <a:prstGeom prst="rect">
            <a:avLst/>
          </a:prstGeom>
          <a:solidFill>
            <a:srgbClr val="FFFFFF"/>
          </a:solidFill>
          <a:ln w="12700">
            <a:solidFill>
              <a:srgbClr val="CFCFCF"/>
            </a:solidFill>
            <a:prstDash val="solid"/>
          </a:ln>
        </p:spPr>
      </p:sp>
      <p:sp>
        <p:nvSpPr>
          <p:cNvPr id="29" name="Text 24"/>
          <p:cNvSpPr/>
          <p:nvPr/>
        </p:nvSpPr>
        <p:spPr>
          <a:xfrm>
            <a:off x="8494776" y="4434840"/>
            <a:ext cx="2953512" cy="502920"/>
          </a:xfrm>
          <a:prstGeom prst="rect">
            <a:avLst/>
          </a:prstGeom>
          <a:noFill/>
          <a:ln/>
        </p:spPr>
        <p:txBody>
          <a:bodyPr wrap="square" lIns="0" tIns="0" rIns="0" bIns="0" rtlCol="0" anchor="ctr"/>
          <a:lstStyle/>
          <a:p>
            <a:pPr indent="0" marL="0">
              <a:buNone/>
            </a:pPr>
            <a:r>
              <a:rPr lang="en-US" sz="1050" dirty="0">
                <a:solidFill>
                  <a:srgbClr val="3A3A3A"/>
                </a:solidFill>
                <a:latin typeface="Calibri" pitchFamily="34" charset="0"/>
                <a:ea typeface="Calibri" pitchFamily="34" charset="-122"/>
                <a:cs typeface="Calibri" pitchFamily="34" charset="-120"/>
              </a:rPr>
              <a:t>Original: Hari Prasad</a:t>
            </a:r>
            <a:endParaRPr lang="en-US" sz="1050" dirty="0"/>
          </a:p>
        </p:txBody>
      </p:sp>
      <p:sp>
        <p:nvSpPr>
          <p:cNvPr id="30" name="Shape 25"/>
          <p:cNvSpPr/>
          <p:nvPr/>
        </p:nvSpPr>
        <p:spPr>
          <a:xfrm>
            <a:off x="9971532" y="4937760"/>
            <a:ext cx="0" cy="201168"/>
          </a:xfrm>
          <a:prstGeom prst="line">
            <a:avLst/>
          </a:prstGeom>
          <a:noFill/>
          <a:ln w="25400">
            <a:solidFill>
              <a:srgbClr val="3A3A3A"/>
            </a:solidFill>
            <a:prstDash val="solid"/>
            <a:tailEnd type="triangle"/>
          </a:ln>
        </p:spPr>
      </p:sp>
      <p:sp>
        <p:nvSpPr>
          <p:cNvPr id="31" name="Shape 26"/>
          <p:cNvSpPr/>
          <p:nvPr/>
        </p:nvSpPr>
        <p:spPr>
          <a:xfrm>
            <a:off x="8403336" y="5166360"/>
            <a:ext cx="3136392" cy="502920"/>
          </a:xfrm>
          <a:prstGeom prst="rect">
            <a:avLst/>
          </a:prstGeom>
          <a:solidFill>
            <a:srgbClr val="000000"/>
          </a:solidFill>
          <a:ln/>
        </p:spPr>
      </p:sp>
      <p:sp>
        <p:nvSpPr>
          <p:cNvPr id="32" name="Text 27"/>
          <p:cNvSpPr/>
          <p:nvPr/>
        </p:nvSpPr>
        <p:spPr>
          <a:xfrm>
            <a:off x="8494776" y="5166360"/>
            <a:ext cx="2953512"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Result: Patient A102</a:t>
            </a:r>
            <a:endParaRPr lang="en-US" sz="1050" dirty="0"/>
          </a:p>
        </p:txBody>
      </p:sp>
      <p:sp>
        <p:nvSpPr>
          <p:cNvPr id="33" name="Text 2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34" name="Text 29"/>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Secure Data Lifecycle</a:t>
            </a:r>
            <a:endParaRPr lang="en-US" sz="3200" dirty="0"/>
          </a:p>
        </p:txBody>
      </p:sp>
      <p:sp>
        <p:nvSpPr>
          <p:cNvPr id="3" name="Text 1"/>
          <p:cNvSpPr/>
          <p:nvPr/>
        </p:nvSpPr>
        <p:spPr>
          <a:xfrm>
            <a:off x="548640" y="1024128"/>
            <a:ext cx="11064240" cy="365760"/>
          </a:xfrm>
          <a:prstGeom prst="rect">
            <a:avLst/>
          </a:prstGeom>
          <a:noFill/>
          <a:ln/>
        </p:spPr>
        <p:txBody>
          <a:bodyPr wrap="square" lIns="0" tIns="0" rIns="0" bIns="0" rtlCol="0" anchor="ctr"/>
          <a:lstStyle/>
          <a:p>
            <a:pPr indent="0" marL="0">
              <a:buNone/>
            </a:pPr>
            <a:r>
              <a:rPr lang="en-US" sz="1500" i="1" dirty="0">
                <a:solidFill>
                  <a:srgbClr val="6E6E6E"/>
                </a:solidFill>
                <a:latin typeface="Calibri" pitchFamily="34" charset="0"/>
                <a:ea typeface="Calibri" pitchFamily="34" charset="-122"/>
                <a:cs typeface="Calibri" pitchFamily="34" charset="-120"/>
              </a:rPr>
              <a:t>Security should be maintained at every stage</a:t>
            </a:r>
            <a:endParaRPr lang="en-US" sz="1500" dirty="0"/>
          </a:p>
        </p:txBody>
      </p:sp>
      <p:sp>
        <p:nvSpPr>
          <p:cNvPr id="4" name="Shape 2"/>
          <p:cNvSpPr/>
          <p:nvPr/>
        </p:nvSpPr>
        <p:spPr>
          <a:xfrm>
            <a:off x="548640" y="2926080"/>
            <a:ext cx="1691640" cy="1051560"/>
          </a:xfrm>
          <a:prstGeom prst="ellipse">
            <a:avLst/>
          </a:prstGeom>
          <a:solidFill>
            <a:srgbClr val="000000"/>
          </a:solidFill>
          <a:ln w="12700">
            <a:solidFill>
              <a:srgbClr val="CFCFCF"/>
            </a:solidFill>
            <a:prstDash val="solid"/>
          </a:ln>
        </p:spPr>
      </p:sp>
      <p:sp>
        <p:nvSpPr>
          <p:cNvPr id="5" name="Text 3"/>
          <p:cNvSpPr/>
          <p:nvPr/>
        </p:nvSpPr>
        <p:spPr>
          <a:xfrm>
            <a:off x="548640" y="2926080"/>
            <a:ext cx="169164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Collection</a:t>
            </a:r>
            <a:endParaRPr lang="en-US" sz="1200" dirty="0"/>
          </a:p>
        </p:txBody>
      </p:sp>
      <p:sp>
        <p:nvSpPr>
          <p:cNvPr id="6" name="Shape 4"/>
          <p:cNvSpPr/>
          <p:nvPr/>
        </p:nvSpPr>
        <p:spPr>
          <a:xfrm>
            <a:off x="2240280" y="3451860"/>
            <a:ext cx="182880" cy="0"/>
          </a:xfrm>
          <a:prstGeom prst="line">
            <a:avLst/>
          </a:prstGeom>
          <a:noFill/>
          <a:ln w="25400">
            <a:solidFill>
              <a:srgbClr val="3A3A3A"/>
            </a:solidFill>
            <a:prstDash val="solid"/>
            <a:tailEnd type="triangle"/>
          </a:ln>
        </p:spPr>
      </p:sp>
      <p:sp>
        <p:nvSpPr>
          <p:cNvPr id="7" name="Shape 5"/>
          <p:cNvSpPr/>
          <p:nvPr/>
        </p:nvSpPr>
        <p:spPr>
          <a:xfrm>
            <a:off x="2423160" y="2926080"/>
            <a:ext cx="1691640" cy="1051560"/>
          </a:xfrm>
          <a:prstGeom prst="ellipse">
            <a:avLst/>
          </a:prstGeom>
          <a:solidFill>
            <a:srgbClr val="F2F2F2"/>
          </a:solidFill>
          <a:ln w="12700">
            <a:solidFill>
              <a:srgbClr val="CFCFCF"/>
            </a:solidFill>
            <a:prstDash val="solid"/>
          </a:ln>
        </p:spPr>
      </p:sp>
      <p:sp>
        <p:nvSpPr>
          <p:cNvPr id="8" name="Text 6"/>
          <p:cNvSpPr/>
          <p:nvPr/>
        </p:nvSpPr>
        <p:spPr>
          <a:xfrm>
            <a:off x="2423160" y="2926080"/>
            <a:ext cx="1691640" cy="1051560"/>
          </a:xfrm>
          <a:prstGeom prst="rect">
            <a:avLst/>
          </a:prstGeom>
          <a:noFill/>
          <a:ln/>
        </p:spPr>
        <p:txBody>
          <a:bodyPr wrap="square" lIns="0" tIns="0" rIns="0" bIns="0" rtlCol="0" anchor="ctr"/>
          <a:lstStyle/>
          <a:p>
            <a:pPr algn="ctr" indent="0" marL="0">
              <a:buNone/>
            </a:pPr>
            <a:r>
              <a:rPr lang="en-US" sz="1200" b="1" dirty="0">
                <a:solidFill>
                  <a:srgbClr val="000000"/>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000000"/>
                </a:solidFill>
                <a:latin typeface="Calibri" pitchFamily="34" charset="0"/>
                <a:ea typeface="Calibri" pitchFamily="34" charset="-122"/>
                <a:cs typeface="Calibri" pitchFamily="34" charset="-120"/>
              </a:rPr>
              <a:t>Storage</a:t>
            </a:r>
            <a:endParaRPr lang="en-US" sz="1200" dirty="0"/>
          </a:p>
        </p:txBody>
      </p:sp>
      <p:sp>
        <p:nvSpPr>
          <p:cNvPr id="9" name="Shape 7"/>
          <p:cNvSpPr/>
          <p:nvPr/>
        </p:nvSpPr>
        <p:spPr>
          <a:xfrm>
            <a:off x="4114800" y="3451860"/>
            <a:ext cx="182880" cy="0"/>
          </a:xfrm>
          <a:prstGeom prst="line">
            <a:avLst/>
          </a:prstGeom>
          <a:noFill/>
          <a:ln w="25400">
            <a:solidFill>
              <a:srgbClr val="3A3A3A"/>
            </a:solidFill>
            <a:prstDash val="solid"/>
            <a:tailEnd type="triangle"/>
          </a:ln>
        </p:spPr>
      </p:sp>
      <p:sp>
        <p:nvSpPr>
          <p:cNvPr id="10" name="Shape 8"/>
          <p:cNvSpPr/>
          <p:nvPr/>
        </p:nvSpPr>
        <p:spPr>
          <a:xfrm>
            <a:off x="4297680" y="2926080"/>
            <a:ext cx="1691640" cy="1051560"/>
          </a:xfrm>
          <a:prstGeom prst="ellipse">
            <a:avLst/>
          </a:prstGeom>
          <a:solidFill>
            <a:srgbClr val="000000"/>
          </a:solidFill>
          <a:ln w="12700">
            <a:solidFill>
              <a:srgbClr val="CFCFCF"/>
            </a:solidFill>
            <a:prstDash val="solid"/>
          </a:ln>
        </p:spPr>
      </p:sp>
      <p:sp>
        <p:nvSpPr>
          <p:cNvPr id="11" name="Text 9"/>
          <p:cNvSpPr/>
          <p:nvPr/>
        </p:nvSpPr>
        <p:spPr>
          <a:xfrm>
            <a:off x="4297680" y="2926080"/>
            <a:ext cx="169164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Processing</a:t>
            </a:r>
            <a:endParaRPr lang="en-US" sz="1200" dirty="0"/>
          </a:p>
        </p:txBody>
      </p:sp>
      <p:sp>
        <p:nvSpPr>
          <p:cNvPr id="12" name="Shape 10"/>
          <p:cNvSpPr/>
          <p:nvPr/>
        </p:nvSpPr>
        <p:spPr>
          <a:xfrm>
            <a:off x="5989320" y="3451860"/>
            <a:ext cx="182880" cy="0"/>
          </a:xfrm>
          <a:prstGeom prst="line">
            <a:avLst/>
          </a:prstGeom>
          <a:noFill/>
          <a:ln w="25400">
            <a:solidFill>
              <a:srgbClr val="3A3A3A"/>
            </a:solidFill>
            <a:prstDash val="solid"/>
            <a:tailEnd type="triangle"/>
          </a:ln>
        </p:spPr>
      </p:sp>
      <p:sp>
        <p:nvSpPr>
          <p:cNvPr id="13" name="Shape 11"/>
          <p:cNvSpPr/>
          <p:nvPr/>
        </p:nvSpPr>
        <p:spPr>
          <a:xfrm>
            <a:off x="6172200" y="2926080"/>
            <a:ext cx="1691640" cy="1051560"/>
          </a:xfrm>
          <a:prstGeom prst="ellipse">
            <a:avLst/>
          </a:prstGeom>
          <a:solidFill>
            <a:srgbClr val="F2F2F2"/>
          </a:solidFill>
          <a:ln w="12700">
            <a:solidFill>
              <a:srgbClr val="CFCFCF"/>
            </a:solidFill>
            <a:prstDash val="solid"/>
          </a:ln>
        </p:spPr>
      </p:sp>
      <p:sp>
        <p:nvSpPr>
          <p:cNvPr id="14" name="Text 12"/>
          <p:cNvSpPr/>
          <p:nvPr/>
        </p:nvSpPr>
        <p:spPr>
          <a:xfrm>
            <a:off x="6172200" y="2926080"/>
            <a:ext cx="1691640" cy="1051560"/>
          </a:xfrm>
          <a:prstGeom prst="rect">
            <a:avLst/>
          </a:prstGeom>
          <a:noFill/>
          <a:ln/>
        </p:spPr>
        <p:txBody>
          <a:bodyPr wrap="square" lIns="0" tIns="0" rIns="0" bIns="0" rtlCol="0" anchor="ctr"/>
          <a:lstStyle/>
          <a:p>
            <a:pPr algn="ctr" indent="0" marL="0">
              <a:buNone/>
            </a:pPr>
            <a:r>
              <a:rPr lang="en-US" sz="1200" b="1" dirty="0">
                <a:solidFill>
                  <a:srgbClr val="000000"/>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000000"/>
                </a:solidFill>
                <a:latin typeface="Calibri" pitchFamily="34" charset="0"/>
                <a:ea typeface="Calibri" pitchFamily="34" charset="-122"/>
                <a:cs typeface="Calibri" pitchFamily="34" charset="-120"/>
              </a:rPr>
              <a:t>Sharing</a:t>
            </a:r>
            <a:endParaRPr lang="en-US" sz="1200" dirty="0"/>
          </a:p>
        </p:txBody>
      </p:sp>
      <p:sp>
        <p:nvSpPr>
          <p:cNvPr id="15" name="Shape 13"/>
          <p:cNvSpPr/>
          <p:nvPr/>
        </p:nvSpPr>
        <p:spPr>
          <a:xfrm>
            <a:off x="7863840" y="3451860"/>
            <a:ext cx="182880" cy="0"/>
          </a:xfrm>
          <a:prstGeom prst="line">
            <a:avLst/>
          </a:prstGeom>
          <a:noFill/>
          <a:ln w="25400">
            <a:solidFill>
              <a:srgbClr val="3A3A3A"/>
            </a:solidFill>
            <a:prstDash val="solid"/>
            <a:tailEnd type="triangle"/>
          </a:ln>
        </p:spPr>
      </p:sp>
      <p:sp>
        <p:nvSpPr>
          <p:cNvPr id="16" name="Shape 14"/>
          <p:cNvSpPr/>
          <p:nvPr/>
        </p:nvSpPr>
        <p:spPr>
          <a:xfrm>
            <a:off x="8046720" y="2926080"/>
            <a:ext cx="1691640" cy="1051560"/>
          </a:xfrm>
          <a:prstGeom prst="ellipse">
            <a:avLst/>
          </a:prstGeom>
          <a:solidFill>
            <a:srgbClr val="000000"/>
          </a:solidFill>
          <a:ln w="12700">
            <a:solidFill>
              <a:srgbClr val="CFCFCF"/>
            </a:solidFill>
            <a:prstDash val="solid"/>
          </a:ln>
        </p:spPr>
      </p:sp>
      <p:sp>
        <p:nvSpPr>
          <p:cNvPr id="17" name="Text 15"/>
          <p:cNvSpPr/>
          <p:nvPr/>
        </p:nvSpPr>
        <p:spPr>
          <a:xfrm>
            <a:off x="8046720" y="2926080"/>
            <a:ext cx="169164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Archiving</a:t>
            </a:r>
            <a:endParaRPr lang="en-US" sz="1200" dirty="0"/>
          </a:p>
        </p:txBody>
      </p:sp>
      <p:sp>
        <p:nvSpPr>
          <p:cNvPr id="18" name="Shape 16"/>
          <p:cNvSpPr/>
          <p:nvPr/>
        </p:nvSpPr>
        <p:spPr>
          <a:xfrm>
            <a:off x="9738360" y="3451860"/>
            <a:ext cx="182880" cy="0"/>
          </a:xfrm>
          <a:prstGeom prst="line">
            <a:avLst/>
          </a:prstGeom>
          <a:noFill/>
          <a:ln w="25400">
            <a:solidFill>
              <a:srgbClr val="3A3A3A"/>
            </a:solidFill>
            <a:prstDash val="solid"/>
            <a:tailEnd type="triangle"/>
          </a:ln>
        </p:spPr>
      </p:sp>
      <p:sp>
        <p:nvSpPr>
          <p:cNvPr id="19" name="Shape 17"/>
          <p:cNvSpPr/>
          <p:nvPr/>
        </p:nvSpPr>
        <p:spPr>
          <a:xfrm>
            <a:off x="9921240" y="2926080"/>
            <a:ext cx="1691640" cy="1051560"/>
          </a:xfrm>
          <a:prstGeom prst="ellipse">
            <a:avLst/>
          </a:prstGeom>
          <a:solidFill>
            <a:srgbClr val="F2F2F2"/>
          </a:solidFill>
          <a:ln w="12700">
            <a:solidFill>
              <a:srgbClr val="CFCFCF"/>
            </a:solidFill>
            <a:prstDash val="solid"/>
          </a:ln>
        </p:spPr>
      </p:sp>
      <p:sp>
        <p:nvSpPr>
          <p:cNvPr id="20" name="Text 18"/>
          <p:cNvSpPr/>
          <p:nvPr/>
        </p:nvSpPr>
        <p:spPr>
          <a:xfrm>
            <a:off x="9921240" y="2926080"/>
            <a:ext cx="1691640" cy="1051560"/>
          </a:xfrm>
          <a:prstGeom prst="rect">
            <a:avLst/>
          </a:prstGeom>
          <a:noFill/>
          <a:ln/>
        </p:spPr>
        <p:txBody>
          <a:bodyPr wrap="square" lIns="0" tIns="0" rIns="0" bIns="0" rtlCol="0" anchor="ctr"/>
          <a:lstStyle/>
          <a:p>
            <a:pPr algn="ctr" indent="0" marL="0">
              <a:buNone/>
            </a:pPr>
            <a:r>
              <a:rPr lang="en-US" sz="1200" b="1" dirty="0">
                <a:solidFill>
                  <a:srgbClr val="000000"/>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000000"/>
                </a:solidFill>
                <a:latin typeface="Calibri" pitchFamily="34" charset="0"/>
                <a:ea typeface="Calibri" pitchFamily="34" charset="-122"/>
                <a:cs typeface="Calibri" pitchFamily="34" charset="-120"/>
              </a:rPr>
              <a:t>Deletion</a:t>
            </a:r>
            <a:endParaRPr lang="en-US" sz="1200" dirty="0"/>
          </a:p>
        </p:txBody>
      </p:sp>
      <p:sp>
        <p:nvSpPr>
          <p:cNvPr id="21" name="Text 19"/>
          <p:cNvSpPr/>
          <p:nvPr/>
        </p:nvSpPr>
        <p:spPr>
          <a:xfrm>
            <a:off x="1097280" y="4389120"/>
            <a:ext cx="9966960" cy="640080"/>
          </a:xfrm>
          <a:prstGeom prst="rect">
            <a:avLst/>
          </a:prstGeom>
          <a:noFill/>
          <a:ln/>
        </p:spPr>
        <p:txBody>
          <a:bodyPr wrap="square" lIns="0" tIns="0" rIns="0" bIns="0" rtlCol="0" anchor="ctr"/>
          <a:lstStyle/>
          <a:p>
            <a:pPr algn="ctr" indent="0" marL="0">
              <a:buNone/>
            </a:pPr>
            <a:r>
              <a:rPr lang="en-US" sz="1350" i="1" dirty="0">
                <a:solidFill>
                  <a:srgbClr val="6E6E6E"/>
                </a:solidFill>
                <a:latin typeface="Calibri" pitchFamily="34" charset="0"/>
                <a:ea typeface="Calibri" pitchFamily="34" charset="-122"/>
                <a:cs typeface="Calibri" pitchFamily="34" charset="-120"/>
              </a:rPr>
              <a:t>At every stage — collection, storage, processing, sharing, archiving, and deletion — appropriate privacy and security controls must be applied to protect the data.</a:t>
            </a:r>
            <a:endParaRPr lang="en-US" sz="1350" dirty="0"/>
          </a:p>
        </p:txBody>
      </p:sp>
      <p:sp>
        <p:nvSpPr>
          <p:cNvPr id="22" name="Text 2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3" name="Text 21"/>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Data Privacy Laws</a:t>
            </a:r>
            <a:endParaRPr lang="en-US" sz="3200" dirty="0"/>
          </a:p>
        </p:txBody>
      </p:sp>
      <p:sp>
        <p:nvSpPr>
          <p:cNvPr id="3" name="Text 1"/>
          <p:cNvSpPr/>
          <p:nvPr/>
        </p:nvSpPr>
        <p:spPr>
          <a:xfrm>
            <a:off x="548640" y="1645920"/>
            <a:ext cx="5486400" cy="365760"/>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Nepal</a:t>
            </a:r>
            <a:endParaRPr lang="en-US" sz="1800" dirty="0"/>
          </a:p>
        </p:txBody>
      </p:sp>
      <p:sp>
        <p:nvSpPr>
          <p:cNvPr id="4" name="Text 2"/>
          <p:cNvSpPr/>
          <p:nvPr/>
        </p:nvSpPr>
        <p:spPr>
          <a:xfrm>
            <a:off x="548640" y="2103120"/>
            <a:ext cx="5486400" cy="3749040"/>
          </a:xfrm>
          <a:prstGeom prst="rect">
            <a:avLst/>
          </a:prstGeom>
          <a:noFill/>
          <a:ln/>
        </p:spPr>
        <p:txBody>
          <a:bodyPr wrap="square" rtlCol="0" anchor="t"/>
          <a:lstStyle/>
          <a:p>
            <a:pPr marL="342900" indent="-342900">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Privacy is recognized as a fundamental right by the Constitution of Nepal.</a:t>
            </a:r>
            <a:endParaRPr lang="en-US" sz="1300" dirty="0"/>
          </a:p>
          <a:p>
            <a:pPr marL="342900" indent="-342900">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The National Identity and Civil Registration Department manages national identity information under legal safeguards.</a:t>
            </a:r>
            <a:endParaRPr lang="en-US" sz="1300" dirty="0"/>
          </a:p>
          <a:p>
            <a:pPr marL="342900" indent="-342900">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The Individual Privacy Act, 2018 protects personal privacy and regulates unauthorized collection, disclosure, and misuse of personal information.</a:t>
            </a:r>
            <a:endParaRPr lang="en-US" sz="1300" dirty="0"/>
          </a:p>
        </p:txBody>
      </p:sp>
      <p:sp>
        <p:nvSpPr>
          <p:cNvPr id="5" name="Shape 3"/>
          <p:cNvSpPr/>
          <p:nvPr/>
        </p:nvSpPr>
        <p:spPr>
          <a:xfrm>
            <a:off x="6263640" y="1691640"/>
            <a:ext cx="0" cy="4480560"/>
          </a:xfrm>
          <a:prstGeom prst="line">
            <a:avLst/>
          </a:prstGeom>
          <a:noFill/>
          <a:ln w="12700">
            <a:solidFill>
              <a:srgbClr val="CFCFCF"/>
            </a:solidFill>
            <a:prstDash val="solid"/>
          </a:ln>
        </p:spPr>
      </p:sp>
      <p:sp>
        <p:nvSpPr>
          <p:cNvPr id="6" name="Text 4"/>
          <p:cNvSpPr/>
          <p:nvPr/>
        </p:nvSpPr>
        <p:spPr>
          <a:xfrm>
            <a:off x="6492240" y="1645920"/>
            <a:ext cx="5120640" cy="365760"/>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International Examples</a:t>
            </a:r>
            <a:endParaRPr lang="en-US" sz="1800" dirty="0"/>
          </a:p>
        </p:txBody>
      </p:sp>
      <p:sp>
        <p:nvSpPr>
          <p:cNvPr id="7" name="Shape 5"/>
          <p:cNvSpPr/>
          <p:nvPr/>
        </p:nvSpPr>
        <p:spPr>
          <a:xfrm>
            <a:off x="6492240" y="2148840"/>
            <a:ext cx="502920" cy="502920"/>
          </a:xfrm>
          <a:prstGeom prst="ellipse">
            <a:avLst/>
          </a:prstGeom>
          <a:solidFill>
            <a:srgbClr val="ECECEC"/>
          </a:solidFill>
          <a:ln w="12700">
            <a:solidFill>
              <a:srgbClr val="CFCFCF"/>
            </a:solidFill>
            <a:prstDash val="solid"/>
          </a:ln>
        </p:spPr>
      </p:sp>
      <p:pic>
        <p:nvPicPr>
          <p:cNvPr id="8" name="Image 0" descr="preencoded.png">    </p:cNvPr>
          <p:cNvPicPr>
            <a:picLocks noChangeAspect="1"/>
          </p:cNvPicPr>
          <p:nvPr/>
        </p:nvPicPr>
        <p:blipFill>
          <a:blip r:embed="rId1"/>
          <a:stretch>
            <a:fillRect/>
          </a:stretch>
        </p:blipFill>
        <p:spPr>
          <a:xfrm>
            <a:off x="6612941" y="2269541"/>
            <a:ext cx="261518" cy="261518"/>
          </a:xfrm>
          <a:prstGeom prst="rect">
            <a:avLst/>
          </a:prstGeom>
        </p:spPr>
      </p:pic>
      <p:sp>
        <p:nvSpPr>
          <p:cNvPr id="9" name="Text 6"/>
          <p:cNvSpPr/>
          <p:nvPr/>
        </p:nvSpPr>
        <p:spPr>
          <a:xfrm>
            <a:off x="7132320" y="2148840"/>
            <a:ext cx="4480560" cy="320040"/>
          </a:xfrm>
          <a:prstGeom prst="rect">
            <a:avLst/>
          </a:prstGeom>
          <a:noFill/>
          <a:ln/>
        </p:spPr>
        <p:txBody>
          <a:bodyPr wrap="square" lIns="0" tIns="0" rIns="0" bIns="0" rtlCol="0" anchor="ctr"/>
          <a:lstStyle/>
          <a:p>
            <a:pPr indent="0" marL="0">
              <a:buNone/>
            </a:pPr>
            <a:r>
              <a:rPr lang="en-US" sz="1400" b="1" dirty="0">
                <a:solidFill>
                  <a:srgbClr val="000000"/>
                </a:solidFill>
                <a:latin typeface="Cambria" pitchFamily="34" charset="0"/>
                <a:ea typeface="Cambria" pitchFamily="34" charset="-122"/>
                <a:cs typeface="Cambria" pitchFamily="34" charset="-120"/>
              </a:rPr>
              <a:t>GDPR</a:t>
            </a:r>
            <a:endParaRPr lang="en-US" sz="1400" dirty="0"/>
          </a:p>
        </p:txBody>
      </p:sp>
      <p:sp>
        <p:nvSpPr>
          <p:cNvPr id="10" name="Text 7"/>
          <p:cNvSpPr/>
          <p:nvPr/>
        </p:nvSpPr>
        <p:spPr>
          <a:xfrm>
            <a:off x="7132320" y="2468880"/>
            <a:ext cx="4480560" cy="685800"/>
          </a:xfrm>
          <a:prstGeom prst="rect">
            <a:avLst/>
          </a:prstGeom>
          <a:noFill/>
          <a:ln/>
        </p:spPr>
        <p:txBody>
          <a:bodyPr wrap="square" lIns="0" tIns="0" rIns="0" bIns="0" rtlCol="0" anchor="ctr"/>
          <a:lstStyle/>
          <a:p>
            <a:pPr indent="0" marL="0">
              <a:buNone/>
            </a:pPr>
            <a:r>
              <a:rPr lang="en-US" sz="1150" dirty="0">
                <a:solidFill>
                  <a:srgbClr val="3A3A3A"/>
                </a:solidFill>
                <a:latin typeface="Calibri" pitchFamily="34" charset="0"/>
                <a:ea typeface="Calibri" pitchFamily="34" charset="-122"/>
                <a:cs typeface="Calibri" pitchFamily="34" charset="-120"/>
              </a:rPr>
              <a:t>General Data Protection Regulation — protects personal data and grants strong rights to individuals.</a:t>
            </a:r>
            <a:endParaRPr lang="en-US" sz="1150" dirty="0"/>
          </a:p>
        </p:txBody>
      </p:sp>
      <p:sp>
        <p:nvSpPr>
          <p:cNvPr id="11" name="Shape 8"/>
          <p:cNvSpPr/>
          <p:nvPr/>
        </p:nvSpPr>
        <p:spPr>
          <a:xfrm>
            <a:off x="6492240" y="3337560"/>
            <a:ext cx="502920" cy="502920"/>
          </a:xfrm>
          <a:prstGeom prst="ellipse">
            <a:avLst/>
          </a:prstGeom>
          <a:solidFill>
            <a:srgbClr val="ECECEC"/>
          </a:solidFill>
          <a:ln w="12700">
            <a:solidFill>
              <a:srgbClr val="CFCFCF"/>
            </a:solidFill>
            <a:prstDash val="solid"/>
          </a:ln>
        </p:spPr>
      </p:sp>
      <p:pic>
        <p:nvPicPr>
          <p:cNvPr id="12" name="Image 1" descr="preencoded.png">    </p:cNvPr>
          <p:cNvPicPr>
            <a:picLocks noChangeAspect="1"/>
          </p:cNvPicPr>
          <p:nvPr/>
        </p:nvPicPr>
        <p:blipFill>
          <a:blip r:embed="rId2"/>
          <a:stretch>
            <a:fillRect/>
          </a:stretch>
        </p:blipFill>
        <p:spPr>
          <a:xfrm>
            <a:off x="6612941" y="3458261"/>
            <a:ext cx="261518" cy="261518"/>
          </a:xfrm>
          <a:prstGeom prst="rect">
            <a:avLst/>
          </a:prstGeom>
        </p:spPr>
      </p:pic>
      <p:sp>
        <p:nvSpPr>
          <p:cNvPr id="13" name="Text 9"/>
          <p:cNvSpPr/>
          <p:nvPr/>
        </p:nvSpPr>
        <p:spPr>
          <a:xfrm>
            <a:off x="7132320" y="3337560"/>
            <a:ext cx="4480560" cy="320040"/>
          </a:xfrm>
          <a:prstGeom prst="rect">
            <a:avLst/>
          </a:prstGeom>
          <a:noFill/>
          <a:ln/>
        </p:spPr>
        <p:txBody>
          <a:bodyPr wrap="square" lIns="0" tIns="0" rIns="0" bIns="0" rtlCol="0" anchor="ctr"/>
          <a:lstStyle/>
          <a:p>
            <a:pPr indent="0" marL="0">
              <a:buNone/>
            </a:pPr>
            <a:r>
              <a:rPr lang="en-US" sz="1400" b="1" dirty="0">
                <a:solidFill>
                  <a:srgbClr val="000000"/>
                </a:solidFill>
                <a:latin typeface="Cambria" pitchFamily="34" charset="0"/>
                <a:ea typeface="Cambria" pitchFamily="34" charset="-122"/>
                <a:cs typeface="Cambria" pitchFamily="34" charset="-120"/>
              </a:rPr>
              <a:t>CCPA</a:t>
            </a:r>
            <a:endParaRPr lang="en-US" sz="1400" dirty="0"/>
          </a:p>
        </p:txBody>
      </p:sp>
      <p:sp>
        <p:nvSpPr>
          <p:cNvPr id="14" name="Text 10"/>
          <p:cNvSpPr/>
          <p:nvPr/>
        </p:nvSpPr>
        <p:spPr>
          <a:xfrm>
            <a:off x="7132320" y="3657600"/>
            <a:ext cx="4480560" cy="685800"/>
          </a:xfrm>
          <a:prstGeom prst="rect">
            <a:avLst/>
          </a:prstGeom>
          <a:noFill/>
          <a:ln/>
        </p:spPr>
        <p:txBody>
          <a:bodyPr wrap="square" lIns="0" tIns="0" rIns="0" bIns="0" rtlCol="0" anchor="ctr"/>
          <a:lstStyle/>
          <a:p>
            <a:pPr indent="0" marL="0">
              <a:buNone/>
            </a:pPr>
            <a:r>
              <a:rPr lang="en-US" sz="1150" dirty="0">
                <a:solidFill>
                  <a:srgbClr val="3A3A3A"/>
                </a:solidFill>
                <a:latin typeface="Calibri" pitchFamily="34" charset="0"/>
                <a:ea typeface="Calibri" pitchFamily="34" charset="-122"/>
                <a:cs typeface="Calibri" pitchFamily="34" charset="-120"/>
              </a:rPr>
              <a:t>California Consumer Privacy Act — gives California residents greater control over their personal information.</a:t>
            </a:r>
            <a:endParaRPr lang="en-US" sz="1150" dirty="0"/>
          </a:p>
        </p:txBody>
      </p:sp>
      <p:sp>
        <p:nvSpPr>
          <p:cNvPr id="15" name="Shape 11"/>
          <p:cNvSpPr/>
          <p:nvPr/>
        </p:nvSpPr>
        <p:spPr>
          <a:xfrm>
            <a:off x="6492240" y="4526280"/>
            <a:ext cx="502920" cy="502920"/>
          </a:xfrm>
          <a:prstGeom prst="ellipse">
            <a:avLst/>
          </a:prstGeom>
          <a:solidFill>
            <a:srgbClr val="ECECEC"/>
          </a:solidFill>
          <a:ln w="12700">
            <a:solidFill>
              <a:srgbClr val="CFCFCF"/>
            </a:solidFill>
            <a:prstDash val="solid"/>
          </a:ln>
        </p:spPr>
      </p:sp>
      <p:pic>
        <p:nvPicPr>
          <p:cNvPr id="16" name="Image 2" descr="preencoded.png">    </p:cNvPr>
          <p:cNvPicPr>
            <a:picLocks noChangeAspect="1"/>
          </p:cNvPicPr>
          <p:nvPr/>
        </p:nvPicPr>
        <p:blipFill>
          <a:blip r:embed="rId3"/>
          <a:stretch>
            <a:fillRect/>
          </a:stretch>
        </p:blipFill>
        <p:spPr>
          <a:xfrm>
            <a:off x="6612941" y="4646981"/>
            <a:ext cx="261518" cy="261518"/>
          </a:xfrm>
          <a:prstGeom prst="rect">
            <a:avLst/>
          </a:prstGeom>
        </p:spPr>
      </p:pic>
      <p:sp>
        <p:nvSpPr>
          <p:cNvPr id="17" name="Text 12"/>
          <p:cNvSpPr/>
          <p:nvPr/>
        </p:nvSpPr>
        <p:spPr>
          <a:xfrm>
            <a:off x="7132320" y="4526280"/>
            <a:ext cx="4480560" cy="320040"/>
          </a:xfrm>
          <a:prstGeom prst="rect">
            <a:avLst/>
          </a:prstGeom>
          <a:noFill/>
          <a:ln/>
        </p:spPr>
        <p:txBody>
          <a:bodyPr wrap="square" lIns="0" tIns="0" rIns="0" bIns="0" rtlCol="0" anchor="ctr"/>
          <a:lstStyle/>
          <a:p>
            <a:pPr indent="0" marL="0">
              <a:buNone/>
            </a:pPr>
            <a:r>
              <a:rPr lang="en-US" sz="1400" b="1" dirty="0">
                <a:solidFill>
                  <a:srgbClr val="000000"/>
                </a:solidFill>
                <a:latin typeface="Cambria" pitchFamily="34" charset="0"/>
                <a:ea typeface="Cambria" pitchFamily="34" charset="-122"/>
                <a:cs typeface="Cambria" pitchFamily="34" charset="-120"/>
              </a:rPr>
              <a:t>HIPAA</a:t>
            </a:r>
            <a:endParaRPr lang="en-US" sz="1400" dirty="0"/>
          </a:p>
        </p:txBody>
      </p:sp>
      <p:sp>
        <p:nvSpPr>
          <p:cNvPr id="18" name="Text 13"/>
          <p:cNvSpPr/>
          <p:nvPr/>
        </p:nvSpPr>
        <p:spPr>
          <a:xfrm>
            <a:off x="7132320" y="4846320"/>
            <a:ext cx="4480560" cy="685800"/>
          </a:xfrm>
          <a:prstGeom prst="rect">
            <a:avLst/>
          </a:prstGeom>
          <a:noFill/>
          <a:ln/>
        </p:spPr>
        <p:txBody>
          <a:bodyPr wrap="square" lIns="0" tIns="0" rIns="0" bIns="0" rtlCol="0" anchor="ctr"/>
          <a:lstStyle/>
          <a:p>
            <a:pPr indent="0" marL="0">
              <a:buNone/>
            </a:pPr>
            <a:r>
              <a:rPr lang="en-US" sz="1150" dirty="0">
                <a:solidFill>
                  <a:srgbClr val="3A3A3A"/>
                </a:solidFill>
                <a:latin typeface="Calibri" pitchFamily="34" charset="0"/>
                <a:ea typeface="Calibri" pitchFamily="34" charset="-122"/>
                <a:cs typeface="Calibri" pitchFamily="34" charset="-120"/>
              </a:rPr>
              <a:t>Health Insurance Portability and Accountability Act — protects the privacy and security of health information.</a:t>
            </a:r>
            <a:endParaRPr lang="en-US" sz="1150" dirty="0"/>
          </a:p>
        </p:txBody>
      </p:sp>
      <p:sp>
        <p:nvSpPr>
          <p:cNvPr id="19" name="Text 14"/>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0" name="Text 15"/>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Best Practices</a:t>
            </a:r>
            <a:endParaRPr lang="en-US" sz="3200" dirty="0"/>
          </a:p>
        </p:txBody>
      </p:sp>
      <p:sp>
        <p:nvSpPr>
          <p:cNvPr id="3" name="Shape 1"/>
          <p:cNvSpPr/>
          <p:nvPr/>
        </p:nvSpPr>
        <p:spPr>
          <a:xfrm>
            <a:off x="548640" y="1691640"/>
            <a:ext cx="5394960" cy="4206240"/>
          </a:xfrm>
          <a:prstGeom prst="rect">
            <a:avLst/>
          </a:prstGeom>
          <a:solidFill>
            <a:srgbClr val="F2F2F2"/>
          </a:solidFill>
          <a:ln w="12700">
            <a:solidFill>
              <a:srgbClr val="CFCFCF"/>
            </a:solidFill>
            <a:prstDash val="solid"/>
          </a:ln>
        </p:spPr>
      </p:sp>
      <p:sp>
        <p:nvSpPr>
          <p:cNvPr id="4" name="Shape 2"/>
          <p:cNvSpPr/>
          <p:nvPr/>
        </p:nvSpPr>
        <p:spPr>
          <a:xfrm>
            <a:off x="822960" y="1920240"/>
            <a:ext cx="502920" cy="50292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943661" y="2040941"/>
            <a:ext cx="261518" cy="261518"/>
          </a:xfrm>
          <a:prstGeom prst="rect">
            <a:avLst/>
          </a:prstGeom>
        </p:spPr>
      </p:pic>
      <p:sp>
        <p:nvSpPr>
          <p:cNvPr id="6" name="Text 3"/>
          <p:cNvSpPr/>
          <p:nvPr/>
        </p:nvSpPr>
        <p:spPr>
          <a:xfrm>
            <a:off x="1463040" y="1965960"/>
            <a:ext cx="4206240" cy="457200"/>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For Data Privacy</a:t>
            </a:r>
            <a:endParaRPr lang="en-US" sz="1600" dirty="0"/>
          </a:p>
        </p:txBody>
      </p:sp>
      <p:sp>
        <p:nvSpPr>
          <p:cNvPr id="7" name="Text 4"/>
          <p:cNvSpPr/>
          <p:nvPr/>
        </p:nvSpPr>
        <p:spPr>
          <a:xfrm>
            <a:off x="822960" y="2560320"/>
            <a:ext cx="4846320" cy="3200400"/>
          </a:xfrm>
          <a:prstGeom prst="rect">
            <a:avLst/>
          </a:prstGeom>
          <a:noFill/>
          <a:ln/>
        </p:spPr>
        <p:txBody>
          <a:bodyPr wrap="square" rtlCol="0" anchor="t"/>
          <a:lstStyle/>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Obtain user consent</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Collect minimum necessary data</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Maintain transparency</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Allow users to update their data</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Delete unnecessary records</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Conduct regular privacy audits</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Train employees on privacy policies</a:t>
            </a:r>
            <a:endParaRPr lang="en-US" sz="1250" dirty="0"/>
          </a:p>
        </p:txBody>
      </p:sp>
      <p:sp>
        <p:nvSpPr>
          <p:cNvPr id="8" name="Shape 5"/>
          <p:cNvSpPr/>
          <p:nvPr/>
        </p:nvSpPr>
        <p:spPr>
          <a:xfrm>
            <a:off x="6217920" y="1691640"/>
            <a:ext cx="5394960" cy="4206240"/>
          </a:xfrm>
          <a:prstGeom prst="rect">
            <a:avLst/>
          </a:prstGeom>
          <a:solidFill>
            <a:srgbClr val="F2F2F2"/>
          </a:solidFill>
          <a:ln w="12700">
            <a:solidFill>
              <a:srgbClr val="CFCFCF"/>
            </a:solidFill>
            <a:prstDash val="solid"/>
          </a:ln>
        </p:spPr>
      </p:sp>
      <p:sp>
        <p:nvSpPr>
          <p:cNvPr id="9" name="Shape 6"/>
          <p:cNvSpPr/>
          <p:nvPr/>
        </p:nvSpPr>
        <p:spPr>
          <a:xfrm>
            <a:off x="6492240" y="1920240"/>
            <a:ext cx="502920" cy="502920"/>
          </a:xfrm>
          <a:prstGeom prst="ellipse">
            <a:avLst/>
          </a:prstGeom>
          <a:solidFill>
            <a:srgbClr val="ECECEC"/>
          </a:solidFill>
          <a:ln w="12700">
            <a:solidFill>
              <a:srgbClr val="CFCFCF"/>
            </a:solidFill>
            <a:prstDash val="solid"/>
          </a:ln>
        </p:spPr>
      </p:sp>
      <p:pic>
        <p:nvPicPr>
          <p:cNvPr id="10" name="Image 1" descr="preencoded.png">    </p:cNvPr>
          <p:cNvPicPr>
            <a:picLocks noChangeAspect="1"/>
          </p:cNvPicPr>
          <p:nvPr/>
        </p:nvPicPr>
        <p:blipFill>
          <a:blip r:embed="rId2"/>
          <a:stretch>
            <a:fillRect/>
          </a:stretch>
        </p:blipFill>
        <p:spPr>
          <a:xfrm>
            <a:off x="6612941" y="2040941"/>
            <a:ext cx="261518" cy="261518"/>
          </a:xfrm>
          <a:prstGeom prst="rect">
            <a:avLst/>
          </a:prstGeom>
        </p:spPr>
      </p:pic>
      <p:sp>
        <p:nvSpPr>
          <p:cNvPr id="11" name="Text 7"/>
          <p:cNvSpPr/>
          <p:nvPr/>
        </p:nvSpPr>
        <p:spPr>
          <a:xfrm>
            <a:off x="7132320" y="1965960"/>
            <a:ext cx="4206240" cy="457200"/>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For Data Security</a:t>
            </a:r>
            <a:endParaRPr lang="en-US" sz="1600" dirty="0"/>
          </a:p>
        </p:txBody>
      </p:sp>
      <p:sp>
        <p:nvSpPr>
          <p:cNvPr id="12" name="Text 8"/>
          <p:cNvSpPr/>
          <p:nvPr/>
        </p:nvSpPr>
        <p:spPr>
          <a:xfrm>
            <a:off x="6492240" y="2560320"/>
            <a:ext cx="4846320" cy="3200400"/>
          </a:xfrm>
          <a:prstGeom prst="rect">
            <a:avLst/>
          </a:prstGeom>
          <a:noFill/>
          <a:ln/>
        </p:spPr>
        <p:txBody>
          <a:bodyPr wrap="square" rtlCol="0" anchor="t"/>
          <a:lstStyle/>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Use strong passwords</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Enable Multi-Factor Authentication</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Encrypt sensitive data</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Update software regularly</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Install firewalls &amp; antivirus software</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Perform regular backups</a:t>
            </a:r>
            <a:endParaRPr lang="en-US" sz="1250" dirty="0"/>
          </a:p>
          <a:p>
            <a:pPr marL="342900" indent="-342900">
              <a:spcAft>
                <a:spcPts val="600"/>
              </a:spcAft>
              <a:buSzPct val="100000"/>
              <a:buChar char="•"/>
            </a:pPr>
            <a:r>
              <a:rPr lang="en-US" sz="1250" dirty="0">
                <a:solidFill>
                  <a:srgbClr val="000000"/>
                </a:solidFill>
                <a:latin typeface="Calibri" pitchFamily="34" charset="0"/>
                <a:ea typeface="Calibri" pitchFamily="34" charset="-122"/>
                <a:cs typeface="Calibri" pitchFamily="34" charset="-120"/>
              </a:rPr>
              <a:t>Monitor network activity; restrict permissions</a:t>
            </a:r>
            <a:endParaRPr lang="en-US" sz="1250" dirty="0"/>
          </a:p>
        </p:txBody>
      </p:sp>
      <p:sp>
        <p:nvSpPr>
          <p:cNvPr id="13" name="Text 9"/>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14" name="Text 10"/>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Real-Life Examples</a:t>
            </a:r>
            <a:endParaRPr lang="en-US" sz="3200" dirty="0"/>
          </a:p>
        </p:txBody>
      </p:sp>
      <p:sp>
        <p:nvSpPr>
          <p:cNvPr id="3" name="Shape 1"/>
          <p:cNvSpPr/>
          <p:nvPr/>
        </p:nvSpPr>
        <p:spPr>
          <a:xfrm>
            <a:off x="548640" y="1691640"/>
            <a:ext cx="3593592" cy="4251960"/>
          </a:xfrm>
          <a:prstGeom prst="rect">
            <a:avLst/>
          </a:prstGeom>
          <a:solidFill>
            <a:srgbClr val="F2F2F2"/>
          </a:solidFill>
          <a:ln w="12700">
            <a:solidFill>
              <a:srgbClr val="CFCFCF"/>
            </a:solidFill>
            <a:prstDash val="solid"/>
          </a:ln>
        </p:spPr>
      </p:sp>
      <p:sp>
        <p:nvSpPr>
          <p:cNvPr id="4" name="Shape 2"/>
          <p:cNvSpPr/>
          <p:nvPr/>
        </p:nvSpPr>
        <p:spPr>
          <a:xfrm>
            <a:off x="2071116" y="1920240"/>
            <a:ext cx="548640" cy="548640"/>
          </a:xfrm>
          <a:prstGeom prst="ellipse">
            <a:avLst/>
          </a:prstGeom>
          <a:solidFill>
            <a:srgbClr val="ECECEC"/>
          </a:solidFill>
          <a:ln w="12700">
            <a:solidFill>
              <a:srgbClr val="CFCFCF"/>
            </a:solidFill>
            <a:prstDash val="solid"/>
          </a:ln>
        </p:spPr>
      </p:sp>
      <p:pic>
        <p:nvPicPr>
          <p:cNvPr id="5" name="Image 0" descr="preencoded.png">    </p:cNvPr>
          <p:cNvPicPr>
            <a:picLocks noChangeAspect="1"/>
          </p:cNvPicPr>
          <p:nvPr/>
        </p:nvPicPr>
        <p:blipFill>
          <a:blip r:embed="rId1"/>
          <a:stretch>
            <a:fillRect/>
          </a:stretch>
        </p:blipFill>
        <p:spPr>
          <a:xfrm>
            <a:off x="2202790" y="2051914"/>
            <a:ext cx="285293" cy="285293"/>
          </a:xfrm>
          <a:prstGeom prst="rect">
            <a:avLst/>
          </a:prstGeom>
        </p:spPr>
      </p:pic>
      <p:sp>
        <p:nvSpPr>
          <p:cNvPr id="6" name="Text 3"/>
          <p:cNvSpPr/>
          <p:nvPr/>
        </p:nvSpPr>
        <p:spPr>
          <a:xfrm>
            <a:off x="731520" y="2606040"/>
            <a:ext cx="3227832" cy="365760"/>
          </a:xfrm>
          <a:prstGeom prst="rect">
            <a:avLst/>
          </a:prstGeom>
          <a:noFill/>
          <a:ln/>
        </p:spPr>
        <p:txBody>
          <a:bodyPr wrap="square" lIns="0" tIns="0" rIns="0" bIns="0" rtlCol="0" anchor="ctr"/>
          <a:lstStyle/>
          <a:p>
            <a:pPr algn="ctr" indent="0" marL="0">
              <a:buNone/>
            </a:pPr>
            <a:r>
              <a:rPr lang="en-US" sz="1500" b="1" dirty="0">
                <a:solidFill>
                  <a:srgbClr val="000000"/>
                </a:solidFill>
                <a:latin typeface="Cambria" pitchFamily="34" charset="0"/>
                <a:ea typeface="Cambria" pitchFamily="34" charset="-122"/>
                <a:cs typeface="Cambria" pitchFamily="34" charset="-120"/>
              </a:rPr>
              <a:t>Hospital</a:t>
            </a:r>
            <a:endParaRPr lang="en-US" sz="1500" dirty="0"/>
          </a:p>
        </p:txBody>
      </p:sp>
      <p:sp>
        <p:nvSpPr>
          <p:cNvPr id="7" name="Text 4"/>
          <p:cNvSpPr/>
          <p:nvPr/>
        </p:nvSpPr>
        <p:spPr>
          <a:xfrm>
            <a:off x="777240" y="3017520"/>
            <a:ext cx="3136392" cy="502920"/>
          </a:xfrm>
          <a:prstGeom prst="rect">
            <a:avLst/>
          </a:prstGeom>
          <a:noFill/>
          <a:ln/>
        </p:spPr>
        <p:txBody>
          <a:bodyPr wrap="square" lIns="0" tIns="0" rIns="0" bIns="0" rtlCol="0" anchor="ctr"/>
          <a:lstStyle/>
          <a:p>
            <a:pPr algn="ctr" indent="0" marL="0">
              <a:buNone/>
            </a:pPr>
            <a:r>
              <a:rPr lang="en-US" sz="1100" i="1" dirty="0">
                <a:solidFill>
                  <a:srgbClr val="6E6E6E"/>
                </a:solidFill>
                <a:latin typeface="Calibri" pitchFamily="34" charset="0"/>
                <a:ea typeface="Calibri" pitchFamily="34" charset="-122"/>
                <a:cs typeface="Calibri" pitchFamily="34" charset="-120"/>
              </a:rPr>
              <a:t>Stores patient medical records.</a:t>
            </a:r>
            <a:endParaRPr lang="en-US" sz="1100" dirty="0"/>
          </a:p>
        </p:txBody>
      </p:sp>
      <p:sp>
        <p:nvSpPr>
          <p:cNvPr id="8" name="Text 5"/>
          <p:cNvSpPr/>
          <p:nvPr/>
        </p:nvSpPr>
        <p:spPr>
          <a:xfrm>
            <a:off x="777240" y="3611880"/>
            <a:ext cx="3136392" cy="2194560"/>
          </a:xfrm>
          <a:prstGeom prst="rect">
            <a:avLst/>
          </a:prstGeom>
          <a:noFill/>
          <a:ln/>
        </p:spPr>
        <p:txBody>
          <a:bodyPr wrap="square" lIns="0" tIns="0" rIns="0" bIns="0" rtlCol="0" anchor="ctr"/>
          <a:lstStyle/>
          <a:p>
            <a:pPr indent="0" marL="0">
              <a:spcAft>
                <a:spcPts val="600"/>
              </a:spcAft>
              <a:buNone/>
            </a:pPr>
            <a:r>
              <a:rPr lang="en-US" sz="1150" dirty="0">
                <a:solidFill>
                  <a:srgbClr val="000000"/>
                </a:solidFill>
                <a:latin typeface="Calibri" pitchFamily="34" charset="0"/>
                <a:ea typeface="Calibri" pitchFamily="34" charset="-122"/>
                <a:cs typeface="Calibri" pitchFamily="34" charset="-120"/>
              </a:rPr>
              <a:t>Privacy: Only authorized doctors and nurses may view patient information.</a:t>
            </a:r>
            <a:endParaRPr lang="en-US" sz="1150" dirty="0"/>
          </a:p>
          <a:p>
            <a:pPr indent="0" marL="0">
              <a:spcAft>
                <a:spcPts val="600"/>
              </a:spcAft>
              <a:buNone/>
            </a:pPr>
            <a:endParaRPr lang="en-US" sz="1150" dirty="0"/>
          </a:p>
          <a:p>
            <a:pPr indent="0" marL="0">
              <a:spcAft>
                <a:spcPts val="600"/>
              </a:spcAft>
              <a:buNone/>
            </a:pPr>
            <a:r>
              <a:rPr lang="en-US" sz="1150" dirty="0">
                <a:solidFill>
                  <a:srgbClr val="000000"/>
                </a:solidFill>
                <a:latin typeface="Calibri" pitchFamily="34" charset="0"/>
                <a:ea typeface="Calibri" pitchFamily="34" charset="-122"/>
                <a:cs typeface="Calibri" pitchFamily="34" charset="-120"/>
              </a:rPr>
              <a:t>Security: Data is encrypted, password-protected, and backed up regularly.</a:t>
            </a:r>
            <a:endParaRPr lang="en-US" sz="1150" dirty="0"/>
          </a:p>
        </p:txBody>
      </p:sp>
      <p:sp>
        <p:nvSpPr>
          <p:cNvPr id="9" name="Shape 6"/>
          <p:cNvSpPr/>
          <p:nvPr/>
        </p:nvSpPr>
        <p:spPr>
          <a:xfrm>
            <a:off x="4361688" y="1691640"/>
            <a:ext cx="3593592" cy="4251960"/>
          </a:xfrm>
          <a:prstGeom prst="rect">
            <a:avLst/>
          </a:prstGeom>
          <a:solidFill>
            <a:srgbClr val="F2F2F2"/>
          </a:solidFill>
          <a:ln w="12700">
            <a:solidFill>
              <a:srgbClr val="CFCFCF"/>
            </a:solidFill>
            <a:prstDash val="solid"/>
          </a:ln>
        </p:spPr>
      </p:sp>
      <p:sp>
        <p:nvSpPr>
          <p:cNvPr id="10" name="Shape 7"/>
          <p:cNvSpPr/>
          <p:nvPr/>
        </p:nvSpPr>
        <p:spPr>
          <a:xfrm>
            <a:off x="5884164" y="1920240"/>
            <a:ext cx="548640" cy="548640"/>
          </a:xfrm>
          <a:prstGeom prst="ellipse">
            <a:avLst/>
          </a:prstGeom>
          <a:solidFill>
            <a:srgbClr val="ECECEC"/>
          </a:solidFill>
          <a:ln w="12700">
            <a:solidFill>
              <a:srgbClr val="CFCFCF"/>
            </a:solidFill>
            <a:prstDash val="solid"/>
          </a:ln>
        </p:spPr>
      </p:sp>
      <p:pic>
        <p:nvPicPr>
          <p:cNvPr id="11" name="Image 1" descr="preencoded.png">    </p:cNvPr>
          <p:cNvPicPr>
            <a:picLocks noChangeAspect="1"/>
          </p:cNvPicPr>
          <p:nvPr/>
        </p:nvPicPr>
        <p:blipFill>
          <a:blip r:embed="rId2"/>
          <a:stretch>
            <a:fillRect/>
          </a:stretch>
        </p:blipFill>
        <p:spPr>
          <a:xfrm>
            <a:off x="6015838" y="2051914"/>
            <a:ext cx="285293" cy="285293"/>
          </a:xfrm>
          <a:prstGeom prst="rect">
            <a:avLst/>
          </a:prstGeom>
        </p:spPr>
      </p:pic>
      <p:sp>
        <p:nvSpPr>
          <p:cNvPr id="12" name="Text 8"/>
          <p:cNvSpPr/>
          <p:nvPr/>
        </p:nvSpPr>
        <p:spPr>
          <a:xfrm>
            <a:off x="4544568" y="2606040"/>
            <a:ext cx="3227832" cy="365760"/>
          </a:xfrm>
          <a:prstGeom prst="rect">
            <a:avLst/>
          </a:prstGeom>
          <a:noFill/>
          <a:ln/>
        </p:spPr>
        <p:txBody>
          <a:bodyPr wrap="square" lIns="0" tIns="0" rIns="0" bIns="0" rtlCol="0" anchor="ctr"/>
          <a:lstStyle/>
          <a:p>
            <a:pPr algn="ctr" indent="0" marL="0">
              <a:buNone/>
            </a:pPr>
            <a:r>
              <a:rPr lang="en-US" sz="1500" b="1" dirty="0">
                <a:solidFill>
                  <a:srgbClr val="000000"/>
                </a:solidFill>
                <a:latin typeface="Cambria" pitchFamily="34" charset="0"/>
                <a:ea typeface="Cambria" pitchFamily="34" charset="-122"/>
                <a:cs typeface="Cambria" pitchFamily="34" charset="-120"/>
              </a:rPr>
              <a:t>Online Banking</a:t>
            </a:r>
            <a:endParaRPr lang="en-US" sz="1500" dirty="0"/>
          </a:p>
        </p:txBody>
      </p:sp>
      <p:sp>
        <p:nvSpPr>
          <p:cNvPr id="13" name="Text 9"/>
          <p:cNvSpPr/>
          <p:nvPr/>
        </p:nvSpPr>
        <p:spPr>
          <a:xfrm>
            <a:off x="4590288" y="3017520"/>
            <a:ext cx="3136392" cy="502920"/>
          </a:xfrm>
          <a:prstGeom prst="rect">
            <a:avLst/>
          </a:prstGeom>
          <a:noFill/>
          <a:ln/>
        </p:spPr>
        <p:txBody>
          <a:bodyPr wrap="square" lIns="0" tIns="0" rIns="0" bIns="0" rtlCol="0" anchor="ctr"/>
          <a:lstStyle/>
          <a:p>
            <a:pPr algn="ctr" indent="0" marL="0">
              <a:buNone/>
            </a:pPr>
            <a:r>
              <a:rPr lang="en-US" sz="1100" i="1" dirty="0">
                <a:solidFill>
                  <a:srgbClr val="6E6E6E"/>
                </a:solidFill>
                <a:latin typeface="Calibri" pitchFamily="34" charset="0"/>
                <a:ea typeface="Calibri" pitchFamily="34" charset="-122"/>
                <a:cs typeface="Calibri" pitchFamily="34" charset="-120"/>
              </a:rPr>
              <a:t>Manages customer accounts and transactions.</a:t>
            </a:r>
            <a:endParaRPr lang="en-US" sz="1100" dirty="0"/>
          </a:p>
        </p:txBody>
      </p:sp>
      <p:sp>
        <p:nvSpPr>
          <p:cNvPr id="14" name="Text 10"/>
          <p:cNvSpPr/>
          <p:nvPr/>
        </p:nvSpPr>
        <p:spPr>
          <a:xfrm>
            <a:off x="4590288" y="3611880"/>
            <a:ext cx="3136392" cy="2194560"/>
          </a:xfrm>
          <a:prstGeom prst="rect">
            <a:avLst/>
          </a:prstGeom>
          <a:noFill/>
          <a:ln/>
        </p:spPr>
        <p:txBody>
          <a:bodyPr wrap="square" lIns="0" tIns="0" rIns="0" bIns="0" rtlCol="0" anchor="ctr"/>
          <a:lstStyle/>
          <a:p>
            <a:pPr indent="0" marL="0">
              <a:spcAft>
                <a:spcPts val="600"/>
              </a:spcAft>
              <a:buNone/>
            </a:pPr>
            <a:r>
              <a:rPr lang="en-US" sz="1150" dirty="0">
                <a:solidFill>
                  <a:srgbClr val="000000"/>
                </a:solidFill>
                <a:latin typeface="Calibri" pitchFamily="34" charset="0"/>
                <a:ea typeface="Calibri" pitchFamily="34" charset="-122"/>
                <a:cs typeface="Calibri" pitchFamily="34" charset="-120"/>
              </a:rPr>
              <a:t>Privacy: Financial details are not shared without permission.</a:t>
            </a:r>
            <a:endParaRPr lang="en-US" sz="1150" dirty="0"/>
          </a:p>
          <a:p>
            <a:pPr indent="0" marL="0">
              <a:spcAft>
                <a:spcPts val="600"/>
              </a:spcAft>
              <a:buNone/>
            </a:pPr>
            <a:endParaRPr lang="en-US" sz="1150" dirty="0"/>
          </a:p>
          <a:p>
            <a:pPr indent="0" marL="0">
              <a:spcAft>
                <a:spcPts val="600"/>
              </a:spcAft>
              <a:buNone/>
            </a:pPr>
            <a:r>
              <a:rPr lang="en-US" sz="1150" dirty="0">
                <a:solidFill>
                  <a:srgbClr val="000000"/>
                </a:solidFill>
                <a:latin typeface="Calibri" pitchFamily="34" charset="0"/>
                <a:ea typeface="Calibri" pitchFamily="34" charset="-122"/>
                <a:cs typeface="Calibri" pitchFamily="34" charset="-120"/>
              </a:rPr>
              <a:t>Security: MFA, encryption, fraud detection, and firewalls protect accounts.</a:t>
            </a:r>
            <a:endParaRPr lang="en-US" sz="1150" dirty="0"/>
          </a:p>
        </p:txBody>
      </p:sp>
      <p:sp>
        <p:nvSpPr>
          <p:cNvPr id="15" name="Shape 11"/>
          <p:cNvSpPr/>
          <p:nvPr/>
        </p:nvSpPr>
        <p:spPr>
          <a:xfrm>
            <a:off x="8174736" y="1691640"/>
            <a:ext cx="3593592" cy="4251960"/>
          </a:xfrm>
          <a:prstGeom prst="rect">
            <a:avLst/>
          </a:prstGeom>
          <a:solidFill>
            <a:srgbClr val="F2F2F2"/>
          </a:solidFill>
          <a:ln w="12700">
            <a:solidFill>
              <a:srgbClr val="CFCFCF"/>
            </a:solidFill>
            <a:prstDash val="solid"/>
          </a:ln>
        </p:spPr>
      </p:sp>
      <p:sp>
        <p:nvSpPr>
          <p:cNvPr id="16" name="Shape 12"/>
          <p:cNvSpPr/>
          <p:nvPr/>
        </p:nvSpPr>
        <p:spPr>
          <a:xfrm>
            <a:off x="9697212" y="1920240"/>
            <a:ext cx="548640" cy="548640"/>
          </a:xfrm>
          <a:prstGeom prst="ellipse">
            <a:avLst/>
          </a:prstGeom>
          <a:solidFill>
            <a:srgbClr val="ECECEC"/>
          </a:solidFill>
          <a:ln w="12700">
            <a:solidFill>
              <a:srgbClr val="CFCFCF"/>
            </a:solidFill>
            <a:prstDash val="solid"/>
          </a:ln>
        </p:spPr>
      </p:sp>
      <p:pic>
        <p:nvPicPr>
          <p:cNvPr id="17" name="Image 2" descr="preencoded.png">    </p:cNvPr>
          <p:cNvPicPr>
            <a:picLocks noChangeAspect="1"/>
          </p:cNvPicPr>
          <p:nvPr/>
        </p:nvPicPr>
        <p:blipFill>
          <a:blip r:embed="rId3"/>
          <a:stretch>
            <a:fillRect/>
          </a:stretch>
        </p:blipFill>
        <p:spPr>
          <a:xfrm>
            <a:off x="9828886" y="2051914"/>
            <a:ext cx="285293" cy="285293"/>
          </a:xfrm>
          <a:prstGeom prst="rect">
            <a:avLst/>
          </a:prstGeom>
        </p:spPr>
      </p:pic>
      <p:sp>
        <p:nvSpPr>
          <p:cNvPr id="18" name="Text 13"/>
          <p:cNvSpPr/>
          <p:nvPr/>
        </p:nvSpPr>
        <p:spPr>
          <a:xfrm>
            <a:off x="8357616" y="2606040"/>
            <a:ext cx="3227832" cy="365760"/>
          </a:xfrm>
          <a:prstGeom prst="rect">
            <a:avLst/>
          </a:prstGeom>
          <a:noFill/>
          <a:ln/>
        </p:spPr>
        <p:txBody>
          <a:bodyPr wrap="square" lIns="0" tIns="0" rIns="0" bIns="0" rtlCol="0" anchor="ctr"/>
          <a:lstStyle/>
          <a:p>
            <a:pPr algn="ctr" indent="0" marL="0">
              <a:buNone/>
            </a:pPr>
            <a:r>
              <a:rPr lang="en-US" sz="1500" b="1" dirty="0">
                <a:solidFill>
                  <a:srgbClr val="000000"/>
                </a:solidFill>
                <a:latin typeface="Cambria" pitchFamily="34" charset="0"/>
                <a:ea typeface="Cambria" pitchFamily="34" charset="-122"/>
                <a:cs typeface="Cambria" pitchFamily="34" charset="-120"/>
              </a:rPr>
              <a:t>E-commerce Website</a:t>
            </a:r>
            <a:endParaRPr lang="en-US" sz="1500" dirty="0"/>
          </a:p>
        </p:txBody>
      </p:sp>
      <p:sp>
        <p:nvSpPr>
          <p:cNvPr id="19" name="Text 14"/>
          <p:cNvSpPr/>
          <p:nvPr/>
        </p:nvSpPr>
        <p:spPr>
          <a:xfrm>
            <a:off x="8403336" y="3017520"/>
            <a:ext cx="3136392" cy="502920"/>
          </a:xfrm>
          <a:prstGeom prst="rect">
            <a:avLst/>
          </a:prstGeom>
          <a:noFill/>
          <a:ln/>
        </p:spPr>
        <p:txBody>
          <a:bodyPr wrap="square" lIns="0" tIns="0" rIns="0" bIns="0" rtlCol="0" anchor="ctr"/>
          <a:lstStyle/>
          <a:p>
            <a:pPr algn="ctr" indent="0" marL="0">
              <a:buNone/>
            </a:pPr>
            <a:r>
              <a:rPr lang="en-US" sz="1100" i="1" dirty="0">
                <a:solidFill>
                  <a:srgbClr val="6E6E6E"/>
                </a:solidFill>
                <a:latin typeface="Calibri" pitchFamily="34" charset="0"/>
                <a:ea typeface="Calibri" pitchFamily="34" charset="-122"/>
                <a:cs typeface="Calibri" pitchFamily="34" charset="-120"/>
              </a:rPr>
              <a:t>Stores customer addresses and payment information.</a:t>
            </a:r>
            <a:endParaRPr lang="en-US" sz="1100" dirty="0"/>
          </a:p>
        </p:txBody>
      </p:sp>
      <p:sp>
        <p:nvSpPr>
          <p:cNvPr id="20" name="Text 15"/>
          <p:cNvSpPr/>
          <p:nvPr/>
        </p:nvSpPr>
        <p:spPr>
          <a:xfrm>
            <a:off x="8403336" y="3611880"/>
            <a:ext cx="3136392" cy="2194560"/>
          </a:xfrm>
          <a:prstGeom prst="rect">
            <a:avLst/>
          </a:prstGeom>
          <a:noFill/>
          <a:ln/>
        </p:spPr>
        <p:txBody>
          <a:bodyPr wrap="square" lIns="0" tIns="0" rIns="0" bIns="0" rtlCol="0" anchor="ctr"/>
          <a:lstStyle/>
          <a:p>
            <a:pPr indent="0" marL="0">
              <a:spcAft>
                <a:spcPts val="600"/>
              </a:spcAft>
              <a:buNone/>
            </a:pPr>
            <a:r>
              <a:rPr lang="en-US" sz="1150" dirty="0">
                <a:solidFill>
                  <a:srgbClr val="000000"/>
                </a:solidFill>
                <a:latin typeface="Calibri" pitchFamily="34" charset="0"/>
                <a:ea typeface="Calibri" pitchFamily="34" charset="-122"/>
                <a:cs typeface="Calibri" pitchFamily="34" charset="-120"/>
              </a:rPr>
              <a:t>Privacy: Information used only for orders and service improvement, with consent.</a:t>
            </a:r>
            <a:endParaRPr lang="en-US" sz="1150" dirty="0"/>
          </a:p>
          <a:p>
            <a:pPr indent="0" marL="0">
              <a:spcAft>
                <a:spcPts val="600"/>
              </a:spcAft>
              <a:buNone/>
            </a:pPr>
            <a:endParaRPr lang="en-US" sz="1150" dirty="0"/>
          </a:p>
          <a:p>
            <a:pPr indent="0" marL="0">
              <a:spcAft>
                <a:spcPts val="600"/>
              </a:spcAft>
              <a:buNone/>
            </a:pPr>
            <a:r>
              <a:rPr lang="en-US" sz="1150" dirty="0">
                <a:solidFill>
                  <a:srgbClr val="000000"/>
                </a:solidFill>
                <a:latin typeface="Calibri" pitchFamily="34" charset="0"/>
                <a:ea typeface="Calibri" pitchFamily="34" charset="-122"/>
                <a:cs typeface="Calibri" pitchFamily="34" charset="-120"/>
              </a:rPr>
              <a:t>Security: Secure payment gateways, HTTPS encryption, and regular monitoring.</a:t>
            </a:r>
            <a:endParaRPr lang="en-US" sz="1150" dirty="0"/>
          </a:p>
        </p:txBody>
      </p:sp>
      <p:sp>
        <p:nvSpPr>
          <p:cNvPr id="21" name="Text 16"/>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22" name="Text 17"/>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Advantages, Challenges, and Summary</a:t>
            </a:r>
            <a:endParaRPr lang="en-US" sz="3200" dirty="0"/>
          </a:p>
        </p:txBody>
      </p:sp>
      <p:sp>
        <p:nvSpPr>
          <p:cNvPr id="3" name="Text 1"/>
          <p:cNvSpPr/>
          <p:nvPr/>
        </p:nvSpPr>
        <p:spPr>
          <a:xfrm>
            <a:off x="548640" y="1600200"/>
            <a:ext cx="5394960" cy="365760"/>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Advantages</a:t>
            </a:r>
            <a:endParaRPr lang="en-US" sz="1600" dirty="0"/>
          </a:p>
        </p:txBody>
      </p:sp>
      <p:sp>
        <p:nvSpPr>
          <p:cNvPr id="4" name="Text 2"/>
          <p:cNvSpPr/>
          <p:nvPr/>
        </p:nvSpPr>
        <p:spPr>
          <a:xfrm>
            <a:off x="548640" y="2011680"/>
            <a:ext cx="5394960" cy="2011680"/>
          </a:xfrm>
          <a:prstGeom prst="rect">
            <a:avLst/>
          </a:prstGeom>
          <a:noFill/>
          <a:ln/>
        </p:spPr>
        <p:txBody>
          <a:bodyPr wrap="square" rtlCol="0" anchor="t"/>
          <a:lstStyle/>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Protects confidential information</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Prevents cyber attacks</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Builds customer trust</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Ensures legal compliance</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Improves business reputation and reduces losses</a:t>
            </a:r>
            <a:endParaRPr lang="en-US" sz="1200" dirty="0"/>
          </a:p>
        </p:txBody>
      </p:sp>
      <p:sp>
        <p:nvSpPr>
          <p:cNvPr id="5" name="Text 3"/>
          <p:cNvSpPr/>
          <p:nvPr/>
        </p:nvSpPr>
        <p:spPr>
          <a:xfrm>
            <a:off x="548640" y="4160520"/>
            <a:ext cx="5394960" cy="365760"/>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Challenges</a:t>
            </a:r>
            <a:endParaRPr lang="en-US" sz="1600" dirty="0"/>
          </a:p>
        </p:txBody>
      </p:sp>
      <p:sp>
        <p:nvSpPr>
          <p:cNvPr id="6" name="Text 4"/>
          <p:cNvSpPr/>
          <p:nvPr/>
        </p:nvSpPr>
        <p:spPr>
          <a:xfrm>
            <a:off x="548640" y="4553712"/>
            <a:ext cx="5394960" cy="1828800"/>
          </a:xfrm>
          <a:prstGeom prst="rect">
            <a:avLst/>
          </a:prstGeom>
          <a:noFill/>
          <a:ln/>
        </p:spPr>
        <p:txBody>
          <a:bodyPr wrap="square" rtlCol="0" anchor="t"/>
          <a:lstStyle/>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High implementation cost</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Complex security management</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Continuous monitoring and employee training required</a:t>
            </a:r>
            <a:endParaRPr lang="en-US" sz="1200" dirty="0"/>
          </a:p>
          <a:p>
            <a:pPr marL="342900" indent="-342900">
              <a:spcAft>
                <a:spcPts val="500"/>
              </a:spcAft>
              <a:buSzPct val="100000"/>
              <a:buChar char="•"/>
            </a:pPr>
            <a:r>
              <a:rPr lang="en-US" sz="1200" dirty="0">
                <a:solidFill>
                  <a:srgbClr val="000000"/>
                </a:solidFill>
                <a:latin typeface="Calibri" pitchFamily="34" charset="0"/>
                <a:ea typeface="Calibri" pitchFamily="34" charset="-122"/>
                <a:cs typeface="Calibri" pitchFamily="34" charset="-120"/>
              </a:rPr>
              <a:t>Rapidly evolving cyber threats require frequent updates</a:t>
            </a:r>
            <a:endParaRPr lang="en-US" sz="1200" dirty="0"/>
          </a:p>
        </p:txBody>
      </p:sp>
      <p:sp>
        <p:nvSpPr>
          <p:cNvPr id="7" name="Shape 5"/>
          <p:cNvSpPr/>
          <p:nvPr/>
        </p:nvSpPr>
        <p:spPr>
          <a:xfrm>
            <a:off x="6263640" y="1645920"/>
            <a:ext cx="0" cy="4754880"/>
          </a:xfrm>
          <a:prstGeom prst="line">
            <a:avLst/>
          </a:prstGeom>
          <a:noFill/>
          <a:ln w="12700">
            <a:solidFill>
              <a:srgbClr val="CFCFCF"/>
            </a:solidFill>
            <a:prstDash val="solid"/>
          </a:ln>
        </p:spPr>
      </p:sp>
      <p:sp>
        <p:nvSpPr>
          <p:cNvPr id="8" name="Shape 6"/>
          <p:cNvSpPr/>
          <p:nvPr/>
        </p:nvSpPr>
        <p:spPr>
          <a:xfrm>
            <a:off x="6492240" y="1691640"/>
            <a:ext cx="5120640" cy="4617720"/>
          </a:xfrm>
          <a:prstGeom prst="rect">
            <a:avLst/>
          </a:prstGeom>
          <a:solidFill>
            <a:srgbClr val="000000"/>
          </a:solidFill>
          <a:ln/>
        </p:spPr>
      </p:sp>
      <p:sp>
        <p:nvSpPr>
          <p:cNvPr id="9" name="Shape 7"/>
          <p:cNvSpPr/>
          <p:nvPr/>
        </p:nvSpPr>
        <p:spPr>
          <a:xfrm>
            <a:off x="6766560" y="1920240"/>
            <a:ext cx="502920" cy="502920"/>
          </a:xfrm>
          <a:prstGeom prst="ellipse">
            <a:avLst/>
          </a:prstGeom>
          <a:solidFill>
            <a:srgbClr val="ECECEC"/>
          </a:solidFill>
          <a:ln w="12700">
            <a:solidFill>
              <a:srgbClr val="CFCFCF"/>
            </a:solidFill>
            <a:prstDash val="solid"/>
          </a:ln>
        </p:spPr>
      </p:sp>
      <p:pic>
        <p:nvPicPr>
          <p:cNvPr id="10" name="Image 0" descr="preencoded.png">    </p:cNvPr>
          <p:cNvPicPr>
            <a:picLocks noChangeAspect="1"/>
          </p:cNvPicPr>
          <p:nvPr/>
        </p:nvPicPr>
        <p:blipFill>
          <a:blip r:embed="rId1"/>
          <a:stretch>
            <a:fillRect/>
          </a:stretch>
        </p:blipFill>
        <p:spPr>
          <a:xfrm>
            <a:off x="6887261" y="2040941"/>
            <a:ext cx="261518" cy="261518"/>
          </a:xfrm>
          <a:prstGeom prst="rect">
            <a:avLst/>
          </a:prstGeom>
        </p:spPr>
      </p:pic>
      <p:sp>
        <p:nvSpPr>
          <p:cNvPr id="11" name="Text 8"/>
          <p:cNvSpPr/>
          <p:nvPr/>
        </p:nvSpPr>
        <p:spPr>
          <a:xfrm>
            <a:off x="7406640" y="1965960"/>
            <a:ext cx="39319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Summary</a:t>
            </a:r>
            <a:endParaRPr lang="en-US" sz="1700" dirty="0"/>
          </a:p>
        </p:txBody>
      </p:sp>
      <p:sp>
        <p:nvSpPr>
          <p:cNvPr id="12" name="Text 9"/>
          <p:cNvSpPr/>
          <p:nvPr/>
        </p:nvSpPr>
        <p:spPr>
          <a:xfrm>
            <a:off x="6766560" y="2560320"/>
            <a:ext cx="4572000" cy="35661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Data Privacy ensures personal information is collected, used, and shared responsibly, respecting individuals' rights and legal requirements. Data Security protects information from unauthorized access, theft, alteration, and destruction through encryption, authentication, firewalls, and backups. Together, privacy and security are fundamental to ethical data science, organizational trust, regulatory compliance, and the safe handling of data throughout its lifecycle.</a:t>
            </a:r>
            <a:endParaRPr lang="en-US" sz="1300" dirty="0"/>
          </a:p>
        </p:txBody>
      </p:sp>
      <p:sp>
        <p:nvSpPr>
          <p:cNvPr id="13" name="Text 1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6E6E6E"/>
                </a:solidFill>
                <a:latin typeface="Calibri" pitchFamily="34" charset="0"/>
                <a:ea typeface="Calibri" pitchFamily="34" charset="-122"/>
                <a:cs typeface="Calibri" pitchFamily="34" charset="-120"/>
              </a:rPr>
              <a:t>Data Privacy and Security  |  Unit VII, Topic 7.2</a:t>
            </a:r>
            <a:endParaRPr lang="en-US" sz="1000" dirty="0"/>
          </a:p>
        </p:txBody>
      </p:sp>
      <p:sp>
        <p:nvSpPr>
          <p:cNvPr id="14" name="Text 11"/>
          <p:cNvSpPr/>
          <p:nvPr/>
        </p:nvSpPr>
        <p:spPr>
          <a:xfrm>
            <a:off x="11247120" y="6492240"/>
            <a:ext cx="548640" cy="274320"/>
          </a:xfrm>
          <a:prstGeom prst="rect">
            <a:avLst/>
          </a:prstGeom>
          <a:noFill/>
          <a:ln/>
        </p:spPr>
        <p:txBody>
          <a:bodyPr wrap="square"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Privacy and Security</dc:title>
  <dc:subject>PptxGenJS Presentation</dc:subject>
  <dc:creator>BCA 6th Semester</dc:creator>
  <cp:lastModifiedBy>BCA 6th Semester</cp:lastModifiedBy>
  <cp:revision>1</cp:revision>
  <dcterms:created xsi:type="dcterms:W3CDTF">2026-07-09T02:31:39Z</dcterms:created>
  <dcterms:modified xsi:type="dcterms:W3CDTF">2026-07-09T02:31:39Z</dcterms:modified>
</cp:coreProperties>
</file>