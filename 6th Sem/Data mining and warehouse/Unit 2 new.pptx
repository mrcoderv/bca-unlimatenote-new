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7" r:id="rId4"/>
    <p:sldId id="264" r:id="rId5"/>
    <p:sldId id="269" r:id="rId6"/>
    <p:sldId id="270" r:id="rId7"/>
    <p:sldId id="271" r:id="rId8"/>
    <p:sldId id="272" r:id="rId9"/>
    <p:sldId id="284" r:id="rId10"/>
    <p:sldId id="286" r:id="rId11"/>
    <p:sldId id="274" r:id="rId12"/>
    <p:sldId id="273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B00DF-0981-33C4-1900-8C69D8D7BB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F803CF-DBDF-5D69-263A-D9F1BA338C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F72AE-A0F3-6119-0D3D-14218E923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C7238-4CC1-41D3-88E9-4E3CB606C67A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8070A-3464-BC03-FED1-9499FEE98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527FC-0E05-B6CA-99DE-E6DA2E365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4FE44-E1EC-486D-AA62-EFE968B55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136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C6ABB-FA27-8639-866A-08AAB0960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296B4-E781-86B9-3462-8D913D4C9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81445-EF95-03BD-78FA-7CE512947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C7238-4CC1-41D3-88E9-4E3CB606C67A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9BC49-E8F0-0738-E6E2-00E6CF26B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716EB-561F-A0B1-8665-9179BB6F3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4FE44-E1EC-486D-AA62-EFE968B55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794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B382D-D84B-C70B-A382-9CF50AFB9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552EE-836B-E475-BAD9-161DF1459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80A20-7E45-20C2-B704-C8510E79B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C7238-4CC1-41D3-88E9-4E3CB606C67A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5CB08-4B3F-2698-BB20-46D53D788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673BB-D194-6D72-A508-431E5E3B9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4FE44-E1EC-486D-AA62-EFE968B55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235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31851-3153-4E88-FF65-CD9268A24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E1562-D8B3-ADF1-14B0-9C71A8DA3E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9DD6E0-4CF2-418B-B896-0DC32CCFC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A0E0F7-EDCE-1C43-33CA-9BC290286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C7238-4CC1-41D3-88E9-4E3CB606C67A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D084A-C738-C26F-73D0-ED715F07A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513922-A545-126D-71EE-54B4D1FEF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4FE44-E1EC-486D-AA62-EFE968B55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557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DBD88-D7AF-C406-546F-54B606149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114775-93CD-08E0-F9C6-6F76F9D9F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EF5D5B-B860-90DD-DFCE-CFF7DB2D8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A96FE7-3402-4F51-5849-1D293332DB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AC7D75-8B3A-6614-4970-D9EB29D574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AA9266-11E3-1569-581E-6E2555A96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C7238-4CC1-41D3-88E9-4E3CB606C67A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AB7F6-A748-F48B-3893-E8D7C3D1F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86A4EB-9D90-9E67-35E2-61F652E9F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4FE44-E1EC-486D-AA62-EFE968B55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01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6627C-D15C-8DBF-8DA0-7B3144645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A6840-2B64-3787-2F19-4C7585AE6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C7238-4CC1-41D3-88E9-4E3CB606C67A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F254B6-B8F6-9692-5074-878E68CA2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19FC6-38D7-36A7-5057-8C3015264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4FE44-E1EC-486D-AA62-EFE968B55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388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02EEF6-788E-2DD9-1DB5-D022DB1BD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C7238-4CC1-41D3-88E9-4E3CB606C67A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A8268D-676B-CC25-4962-01F2D3C42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7E3CB-1C6D-3E28-1011-37BF2245D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4FE44-E1EC-486D-AA62-EFE968B55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85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39BF8-7D56-98BE-0E24-9326E9AA7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1A2A7-0D0D-DBCC-2CAA-F39ECEF9E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53138-BF50-52D4-CDB0-918818E2E7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40A1D-47FB-A8D6-E6AB-37521967E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C7238-4CC1-41D3-88E9-4E3CB606C67A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59285-703B-5342-495A-8940555AB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2069F-DF45-B642-1CAC-04B6A07F8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4FE44-E1EC-486D-AA62-EFE968B55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1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ACB7-656A-8831-6413-635966077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0A246F-EDCB-0688-D64A-36F3C140AC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B0ABF7-81BF-BD33-049D-1EE848E4B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C6E6E4-2EB6-0544-3437-6871D000F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C7238-4CC1-41D3-88E9-4E3CB606C67A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4D659A-9937-8E65-4174-35F933C60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28DC17-230A-BE93-07DF-5956DA864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4FE44-E1EC-486D-AA62-EFE968B55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6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CAC7-7F7F-D40C-0EC1-80A7F527D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B50F45-52C9-57A3-9EDB-20C978C074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BCF08-81CA-2308-CBED-BB8C6CA44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C7238-4CC1-41D3-88E9-4E3CB606C67A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B15EE-B0DF-10AF-0B84-40DB90D82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34BE6-14DF-F726-17EA-205FE7BC3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4FE44-E1EC-486D-AA62-EFE968B55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346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5E69E3-9432-C2CF-56AA-E32E562D88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6AFF65-340E-20F2-46D6-53E39F91F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A1872-6AF4-FDBB-D375-B5593172B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C7238-4CC1-41D3-88E9-4E3CB606C67A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7DDD5-F6F6-A48F-C5D6-0C3372FD9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89334-AAF8-A78E-79D8-F97C17E72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4FE44-E1EC-486D-AA62-EFE968B55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864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DD0F15-2A60-9C6B-8730-5AD6258B3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81347F-C5AE-672A-2F96-D6F293FF5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8D208-2BCE-D743-4864-878D5D7DF7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C7238-4CC1-41D3-88E9-4E3CB606C67A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A5E2A-CDBB-0F4E-3222-BE9769D837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ACEEC-D37A-4EF2-518C-FB98A03A1E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4FE44-E1EC-486D-AA62-EFE968B55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2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107BA-ECFB-5B4A-9D12-CE341C10AF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1AE0A9-2BC4-EDCC-0299-540E6C69DF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Introduction to Data Mining </a:t>
            </a:r>
          </a:p>
        </p:txBody>
      </p:sp>
    </p:spTree>
    <p:extLst>
      <p:ext uri="{BB962C8B-B14F-4D97-AF65-F5344CB8AC3E}">
        <p14:creationId xmlns:p14="http://schemas.microsoft.com/office/powerpoint/2010/main" val="1901708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015A0-94D5-374B-3502-1DBF82065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What is Data Mining?</a:t>
            </a:r>
          </a:p>
          <a:p>
            <a:r>
              <a:rPr lang="en-US" b="0" dirty="0">
                <a:effectLst/>
              </a:rPr>
              <a:t>In the process of data mining, data is carefully extracted and analyzed to fetch nothing other than useful information.</a:t>
            </a:r>
          </a:p>
          <a:p>
            <a:endParaRPr lang="en-US" b="0" dirty="0">
              <a:effectLst/>
            </a:endParaRPr>
          </a:p>
          <a:p>
            <a:r>
              <a:rPr lang="en-US" b="0" dirty="0">
                <a:effectLst/>
              </a:rPr>
              <a:t> Here, all the hidden patterns are researched from the dataset, thereby predicting future behavior.</a:t>
            </a:r>
          </a:p>
          <a:p>
            <a:endParaRPr lang="en-US" b="0" dirty="0">
              <a:effectLst/>
            </a:endParaRPr>
          </a:p>
          <a:p>
            <a:r>
              <a:rPr lang="en-US" b="0" dirty="0">
                <a:effectLst/>
              </a:rPr>
              <a:t> Besides, it can seamlessly indicate and discover unique relationships through the data.</a:t>
            </a:r>
          </a:p>
          <a:p>
            <a:endParaRPr lang="en-US" dirty="0"/>
          </a:p>
          <a:p>
            <a:r>
              <a:rPr lang="en-US" b="0" dirty="0">
                <a:effectLst/>
              </a:rPr>
              <a:t>On the other hand, data mining makes the best use of artificial intelligence, statistics, machine learning systems, databases, etc.</a:t>
            </a:r>
          </a:p>
          <a:p>
            <a:endParaRPr lang="en-US" b="0" dirty="0">
              <a:effectLst/>
            </a:endParaRPr>
          </a:p>
          <a:p>
            <a:r>
              <a:rPr lang="en-US" b="0" dirty="0">
                <a:effectLst/>
              </a:rPr>
              <a:t> It is used for figuring out the hidden patterns within the data. Additionally, it also supports all business-related queries that take loads of time to resolve.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926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51BFA-1154-DAF8-BF51-1B4094C11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b="1" dirty="0"/>
              <a:t>Features of Data Mining</a:t>
            </a:r>
          </a:p>
          <a:p>
            <a:endParaRPr lang="en-US" b="1" dirty="0"/>
          </a:p>
          <a:p>
            <a:r>
              <a:rPr lang="en-US" b="0" dirty="0">
                <a:effectLst/>
              </a:rPr>
              <a:t>Some of the unique features of data mining are: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It is capable of predicting future results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It can efficiently handle large datasets and databases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It can seamlessly utilize the automated discovery of patterns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It has the potential to create actionable insights,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198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98D62-B336-60F6-D66B-D95779AD5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r>
              <a:rPr lang="en-US" b="1" dirty="0"/>
              <a:t>Applications of Data Mining</a:t>
            </a:r>
          </a:p>
          <a:p>
            <a:r>
              <a:rPr lang="en-US" b="0" dirty="0">
                <a:effectLst/>
              </a:rPr>
              <a:t>The applications of data mining include: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Research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Education Sector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Transportation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Market Basket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Business Transactions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Intrusion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Scientific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Finance and Banking Sector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Insurance and Healthcare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220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894DC-4E5D-A637-C83F-760974003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b="1" dirty="0"/>
              <a:t>Benefits of Data Mining</a:t>
            </a:r>
          </a:p>
          <a:p>
            <a:r>
              <a:rPr lang="en-US" b="0" dirty="0">
                <a:effectLst/>
              </a:rPr>
              <a:t>Here, we have listed a few potential benefits of data mining: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Analyzing trends within the existing marketplace.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Detecting typical frauds in phone calls, insurance claims, debit or credit purchases, etc.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It can make easy predictions within the market before making business decisions.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506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F3342-8F76-BF21-62C4-F7130065B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485899"/>
          </a:xfrm>
        </p:spPr>
        <p:txBody>
          <a:bodyPr>
            <a:normAutofit fontScale="90000"/>
          </a:bodyPr>
          <a:lstStyle/>
          <a:p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Difference Between Data Mining and Data Warehousing</a:t>
            </a:r>
            <a:b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DF51EE-F01B-77A9-0755-4F62C31AB7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-1" y="1295399"/>
          <a:ext cx="12192000" cy="5562600"/>
        </p:xfrm>
        <a:graphic>
          <a:graphicData uri="http://schemas.openxmlformats.org/drawingml/2006/table">
            <a:tbl>
              <a:tblPr/>
              <a:tblGrid>
                <a:gridCol w="6096000">
                  <a:extLst>
                    <a:ext uri="{9D8B030D-6E8A-4147-A177-3AD203B41FA5}">
                      <a16:colId xmlns:a16="http://schemas.microsoft.com/office/drawing/2014/main" val="33953202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128035456"/>
                    </a:ext>
                  </a:extLst>
                </a:gridCol>
              </a:tblGrid>
              <a:tr h="403815">
                <a:tc>
                  <a:txBody>
                    <a:bodyPr/>
                    <a:lstStyle/>
                    <a:p>
                      <a:r>
                        <a:rPr lang="en-US" sz="1600" b="1" dirty="0"/>
                        <a:t>Data Mining</a:t>
                      </a:r>
                      <a:endParaRPr lang="en-US" sz="1600" dirty="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Data Warehousing</a:t>
                      </a:r>
                      <a:endParaRPr lang="en-US" sz="160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5956493"/>
                  </a:ext>
                </a:extLst>
              </a:tr>
              <a:tr h="403815"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</a:rPr>
                        <a:t>This procedure involves analysing data patterns</a:t>
                      </a:r>
                      <a:endParaRPr lang="en-US" sz="160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</a:rPr>
                        <a:t>It is exquisitely designed for analytical analysis</a:t>
                      </a:r>
                      <a:endParaRPr lang="en-US" sz="160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7367437"/>
                  </a:ext>
                </a:extLst>
              </a:tr>
              <a:tr h="403815"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</a:rPr>
                        <a:t>Regular data analysis</a:t>
                      </a:r>
                      <a:endParaRPr lang="en-US" sz="160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</a:rPr>
                        <a:t>Periodical data storage</a:t>
                      </a:r>
                      <a:endParaRPr lang="en-US" sz="160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3343406"/>
                  </a:ext>
                </a:extLst>
              </a:tr>
              <a:tr h="403815"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</a:rPr>
                        <a:t>Uses pattern recognition logic to identify patterns</a:t>
                      </a:r>
                      <a:endParaRPr lang="en-US" sz="160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</a:rPr>
                        <a:t>Extracts and stores data to enable easy reporting</a:t>
                      </a:r>
                      <a:endParaRPr lang="en-US" sz="160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5219268"/>
                  </a:ext>
                </a:extLst>
              </a:tr>
              <a:tr h="708705"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</a:rPr>
                        <a:t>It is carried out by business users with the help of engineers</a:t>
                      </a:r>
                      <a:endParaRPr lang="en-US" sz="160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</a:rPr>
                        <a:t>It is carried out by engineers</a:t>
                      </a:r>
                      <a:endParaRPr lang="en-US" sz="160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3771616"/>
                  </a:ext>
                </a:extLst>
              </a:tr>
              <a:tr h="403815"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</a:rPr>
                        <a:t>It helps in extracting data from large data sets</a:t>
                      </a:r>
                      <a:endParaRPr lang="en-US" sz="160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</a:rPr>
                        <a:t>It pools all the relevant data together</a:t>
                      </a:r>
                      <a:endParaRPr lang="en-US" sz="160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3947538"/>
                  </a:ext>
                </a:extLst>
              </a:tr>
              <a:tr h="708705"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</a:rPr>
                        <a:t>Statistics, AI, Machine Learning, and Databases are used in data mining technologies</a:t>
                      </a:r>
                      <a:endParaRPr lang="en-US" sz="160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</a:rPr>
                        <a:t>Integrated, subject-oriented, non-volatile, and time-varying constitute data warehouses</a:t>
                      </a:r>
                      <a:endParaRPr lang="en-US" sz="160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053925"/>
                  </a:ext>
                </a:extLst>
              </a:tr>
              <a:tr h="708705"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</a:rPr>
                        <a:t>Pattern recognition logic is used for determining patterns</a:t>
                      </a:r>
                      <a:endParaRPr lang="en-US" sz="160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</a:rPr>
                        <a:t>It involves extracting and storing data in perfect order to make efficient reporting</a:t>
                      </a:r>
                      <a:endParaRPr lang="en-US" sz="160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9452040"/>
                  </a:ext>
                </a:extLst>
              </a:tr>
              <a:tr h="708705"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</a:rPr>
                        <a:t>Employs pattern recognition tools to help identify the access patterns</a:t>
                      </a:r>
                      <a:endParaRPr lang="en-US" sz="160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</a:rPr>
                        <a:t>Extracts are stores data in an orderly format, thereby making reporting faster and easier</a:t>
                      </a:r>
                      <a:endParaRPr lang="en-US" sz="160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064190"/>
                  </a:ext>
                </a:extLst>
              </a:tr>
              <a:tr h="708705"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</a:rPr>
                        <a:t>It helps in creating suggestive patterns of key parameters</a:t>
                      </a:r>
                      <a:endParaRPr lang="en-US" sz="160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</a:rPr>
                        <a:t>When connected with operational business systems like CRM, it deliberately adds value to it</a:t>
                      </a:r>
                      <a:endParaRPr lang="en-US" sz="1600" dirty="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776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8730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47D7B-58E8-FD52-3921-9550A5201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Common Tools and Software Used in Data Warehousing and Data Mining</a:t>
            </a:r>
          </a:p>
          <a:p>
            <a:r>
              <a:rPr lang="en-US" b="0" dirty="0">
                <a:effectLst/>
              </a:rPr>
              <a:t>Let’s look at the common tools and software used in data warehousing and data mining: Some of the popular data warehouse tools are: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Amazon Redshift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Microsoft Azure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Google </a:t>
            </a:r>
            <a:r>
              <a:rPr lang="en-US" b="0" dirty="0" err="1">
                <a:effectLst/>
              </a:rPr>
              <a:t>BigQuery</a:t>
            </a:r>
            <a:endParaRPr lang="en-US" b="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Snowflake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Micro Focus Vertica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Amazon DynamoDB</a:t>
            </a:r>
          </a:p>
          <a:p>
            <a:r>
              <a:rPr lang="en-US" b="1" dirty="0">
                <a:effectLst/>
              </a:rPr>
              <a:t>Some of the popular data mining tools are: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RapidMiner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 err="1">
                <a:effectLst/>
              </a:rPr>
              <a:t>MonkeyLearn</a:t>
            </a:r>
            <a:endParaRPr lang="en-US" b="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IBM SPSS Modeler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Oracle Data Mining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 err="1">
                <a:effectLst/>
              </a:rPr>
              <a:t>Knime</a:t>
            </a:r>
            <a:endParaRPr lang="en-US" b="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Weka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Orange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H2O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Apache Mahout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SAS Enterprise Miner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84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D8B01-C202-12B6-C86D-90269B0C4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3024"/>
            <a:ext cx="12192000" cy="6784975"/>
          </a:xfrm>
        </p:spPr>
        <p:txBody>
          <a:bodyPr>
            <a:normAutofit/>
          </a:bodyPr>
          <a:lstStyle/>
          <a:p>
            <a:r>
              <a:rPr lang="en-US" b="1" dirty="0"/>
              <a:t>Common Data Mining and Data Warehousing Techniques</a:t>
            </a:r>
          </a:p>
          <a:p>
            <a:r>
              <a:rPr lang="en-US" b="0" dirty="0">
                <a:effectLst/>
              </a:rPr>
              <a:t>Let’s look at the common techniques used in data warehousing vs data mining:</a:t>
            </a:r>
            <a:endParaRPr lang="en-US" dirty="0"/>
          </a:p>
          <a:p>
            <a:r>
              <a:rPr lang="en-US" b="1" dirty="0"/>
              <a:t>The most common techniques of data mining are: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Association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Clustering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Data Visualization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Data Cleaning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Machine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Classification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Neural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Prediction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Data Warehousing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Outlier Detection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713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C70C6-5635-641C-3D09-F0955370E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 challenges data mining are: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Incomplete and noisy data.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Social and security challenges.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Complex data.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Distributed data.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Efficiency and scalability of algorithms.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Performance.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Improving mining algorithms,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35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1DF02-FBFA-8E97-1251-B1B7B111D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>
                <a:latin typeface="Arial" panose="020B0604020202020204" pitchFamily="34" charset="0"/>
              </a:rPr>
              <a:t>C</a:t>
            </a:r>
            <a:r>
              <a:rPr lang="en-US" b="1" dirty="0"/>
              <a:t>hallenges of data warehousing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anaging the data structure and optimization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Managing user expectations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costs of data warehousing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quality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Adjusting to non-technical users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086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D2975-7090-5CDD-0428-5E68F6004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algn="just"/>
            <a:r>
              <a:rPr lang="en-US" b="1" dirty="0">
                <a:effectLst/>
              </a:rPr>
              <a:t>KDD Process</a:t>
            </a:r>
          </a:p>
          <a:p>
            <a:pPr algn="just"/>
            <a:r>
              <a:rPr lang="en-US" dirty="0">
                <a:effectLst/>
              </a:rPr>
              <a:t>KDD (Knowledge Discovery in Databases) is a process that involves the extraction of useful, previously unknown, and potentially valuable information from large datasets.</a:t>
            </a:r>
          </a:p>
          <a:p>
            <a:pPr algn="just"/>
            <a:endParaRPr lang="en-US" dirty="0"/>
          </a:p>
          <a:p>
            <a:pPr algn="just"/>
            <a:r>
              <a:rPr lang="en-US" dirty="0">
                <a:effectLst/>
              </a:rPr>
              <a:t> The KDD process is an iterative process and it requires multiple iterations of the above steps to extract accurate knowledge from the data.</a:t>
            </a:r>
          </a:p>
          <a:p>
            <a:pPr algn="just"/>
            <a:endParaRPr lang="en-US" dirty="0"/>
          </a:p>
          <a:p>
            <a:pPr algn="just"/>
            <a:r>
              <a:rPr lang="en-US" dirty="0">
                <a:effectLst/>
              </a:rPr>
              <a:t>The following steps are included in KDD process: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44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40D19E-1BB2-7522-CCC6-570E744E99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95300"/>
            <a:ext cx="10115550" cy="5786438"/>
          </a:xfrm>
        </p:spPr>
      </p:pic>
    </p:spTree>
    <p:extLst>
      <p:ext uri="{BB962C8B-B14F-4D97-AF65-F5344CB8AC3E}">
        <p14:creationId xmlns:p14="http://schemas.microsoft.com/office/powerpoint/2010/main" val="1336849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FDD0C-0439-C190-4005-53D6C514E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algn="just"/>
            <a:r>
              <a:rPr lang="en-US" b="1" dirty="0">
                <a:effectLst/>
              </a:rPr>
              <a:t>Data Cleaning</a:t>
            </a:r>
          </a:p>
          <a:p>
            <a:pPr algn="just"/>
            <a:endParaRPr lang="en-US" b="1" dirty="0">
              <a:effectLst/>
            </a:endParaRPr>
          </a:p>
          <a:p>
            <a:pPr algn="just"/>
            <a:r>
              <a:rPr lang="en-US" dirty="0">
                <a:effectLst/>
              </a:rPr>
              <a:t>Data cleaning is defined as removal of noisy and irrelevant data from collection.</a:t>
            </a:r>
          </a:p>
          <a:p>
            <a:pPr algn="just"/>
            <a:r>
              <a:rPr lang="en-US" dirty="0">
                <a:effectLst/>
              </a:rPr>
              <a:t> </a:t>
            </a:r>
          </a:p>
          <a:p>
            <a:pPr algn="just">
              <a:buFont typeface="+mj-lt"/>
              <a:buAutoNum type="arabicPeriod"/>
            </a:pPr>
            <a:r>
              <a:rPr lang="en-US" dirty="0">
                <a:effectLst/>
              </a:rPr>
              <a:t>Cleaning in case of </a:t>
            </a:r>
            <a:r>
              <a:rPr lang="en-US" b="1" dirty="0">
                <a:effectLst/>
              </a:rPr>
              <a:t>Missing values</a:t>
            </a:r>
            <a:r>
              <a:rPr lang="en-US" dirty="0">
                <a:effectLst/>
              </a:rPr>
              <a:t>.</a:t>
            </a:r>
          </a:p>
          <a:p>
            <a:pPr algn="just">
              <a:buFont typeface="+mj-lt"/>
              <a:buAutoNum type="arabicPeriod"/>
            </a:pPr>
            <a:endParaRPr lang="en-US" dirty="0">
              <a:effectLst/>
            </a:endParaRPr>
          </a:p>
          <a:p>
            <a:pPr algn="just">
              <a:buFont typeface="+mj-lt"/>
              <a:buAutoNum type="arabicPeriod"/>
            </a:pPr>
            <a:r>
              <a:rPr lang="en-US" dirty="0">
                <a:effectLst/>
              </a:rPr>
              <a:t>Cleaning </a:t>
            </a:r>
            <a:r>
              <a:rPr lang="en-US" b="1" dirty="0">
                <a:effectLst/>
              </a:rPr>
              <a:t>noisy</a:t>
            </a:r>
            <a:r>
              <a:rPr lang="en-US" dirty="0">
                <a:effectLst/>
              </a:rPr>
              <a:t> data, where noise is a random or variance error.</a:t>
            </a:r>
          </a:p>
          <a:p>
            <a:pPr algn="just">
              <a:buFont typeface="+mj-lt"/>
              <a:buAutoNum type="arabicPeriod"/>
            </a:pPr>
            <a:endParaRPr lang="en-US" dirty="0">
              <a:effectLst/>
            </a:endParaRPr>
          </a:p>
          <a:p>
            <a:pPr algn="just">
              <a:buFont typeface="+mj-lt"/>
              <a:buAutoNum type="arabicPeriod"/>
            </a:pPr>
            <a:r>
              <a:rPr lang="en-US" dirty="0">
                <a:effectLst/>
              </a:rPr>
              <a:t>Cleaning with </a:t>
            </a:r>
            <a:r>
              <a:rPr lang="en-US" b="1" dirty="0">
                <a:effectLst/>
              </a:rPr>
              <a:t>Data discrepancy detection</a:t>
            </a:r>
            <a:r>
              <a:rPr lang="en-US" dirty="0">
                <a:effectLst/>
              </a:rPr>
              <a:t> and </a:t>
            </a:r>
            <a:r>
              <a:rPr lang="en-US" b="1" dirty="0">
                <a:effectLst/>
              </a:rPr>
              <a:t>Data transformation tools</a:t>
            </a:r>
            <a:endParaRPr lang="en-US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429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6383D-63A7-FD5B-ACEC-95172E1D2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algn="just"/>
            <a:r>
              <a:rPr lang="en-US" b="1" dirty="0">
                <a:effectLst/>
              </a:rPr>
              <a:t>Data Integration</a:t>
            </a:r>
          </a:p>
          <a:p>
            <a:pPr algn="just"/>
            <a:endParaRPr lang="en-US" b="1" dirty="0">
              <a:effectLst/>
            </a:endParaRPr>
          </a:p>
          <a:p>
            <a:pPr algn="just"/>
            <a:r>
              <a:rPr lang="en-US" dirty="0">
                <a:effectLst/>
              </a:rPr>
              <a:t>Data integration is defined as heterogeneous data from multiple sources combined in a common source(Data Warehouse).</a:t>
            </a:r>
          </a:p>
          <a:p>
            <a:pPr marL="0" indent="0" algn="just">
              <a:buNone/>
            </a:pPr>
            <a:endParaRPr lang="en-US" dirty="0">
              <a:effectLst/>
            </a:endParaRPr>
          </a:p>
          <a:p>
            <a:pPr algn="just"/>
            <a:r>
              <a:rPr lang="en-US" dirty="0">
                <a:effectLst/>
              </a:rPr>
              <a:t> Data integration using </a:t>
            </a:r>
            <a:r>
              <a:rPr lang="en-US" b="1" dirty="0">
                <a:effectLst/>
              </a:rPr>
              <a:t>Data Migration tools, Data Synchronization tools and ETL</a:t>
            </a:r>
            <a:r>
              <a:rPr lang="en-US" dirty="0">
                <a:effectLst/>
              </a:rPr>
              <a:t>(Extract-Load-Transformation) process.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950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5BCB5-98CA-AC9B-93BD-4FDD550D4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algn="just"/>
            <a:r>
              <a:rPr lang="en-US" b="1" dirty="0">
                <a:effectLst/>
              </a:rPr>
              <a:t>Data Selection</a:t>
            </a:r>
          </a:p>
          <a:p>
            <a:pPr algn="just"/>
            <a:endParaRPr lang="en-US" b="1" dirty="0">
              <a:effectLst/>
            </a:endParaRPr>
          </a:p>
          <a:p>
            <a:pPr algn="just"/>
            <a:r>
              <a:rPr lang="en-US" dirty="0">
                <a:effectLst/>
              </a:rPr>
              <a:t>Data selection is defined as the process where data relevant to the analysis is decided and retrieved from the data collection.</a:t>
            </a:r>
          </a:p>
          <a:p>
            <a:pPr algn="just"/>
            <a:endParaRPr lang="en-US" dirty="0">
              <a:effectLst/>
            </a:endParaRPr>
          </a:p>
          <a:p>
            <a:pPr algn="just"/>
            <a:r>
              <a:rPr lang="en-US" dirty="0">
                <a:effectLst/>
              </a:rPr>
              <a:t> For this we can use  </a:t>
            </a:r>
            <a:r>
              <a:rPr lang="en-US" b="1" dirty="0">
                <a:effectLst/>
              </a:rPr>
              <a:t>Neural network, Decision Trees, Naive bayes, Clustering</a:t>
            </a:r>
            <a:r>
              <a:rPr lang="en-US" dirty="0">
                <a:effectLst/>
              </a:rPr>
              <a:t>, and </a:t>
            </a:r>
            <a:r>
              <a:rPr lang="en-US" b="1" dirty="0">
                <a:effectLst/>
              </a:rPr>
              <a:t>Regression </a:t>
            </a:r>
            <a:r>
              <a:rPr lang="en-US" dirty="0">
                <a:effectLst/>
              </a:rPr>
              <a:t>methods.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472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B5EE0-CB94-9E64-D253-272E0DDC6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0"/>
            <a:ext cx="12192000" cy="6858000"/>
          </a:xfrm>
        </p:spPr>
        <p:txBody>
          <a:bodyPr/>
          <a:lstStyle/>
          <a:p>
            <a:pPr algn="just"/>
            <a:r>
              <a:rPr lang="en-US" b="1" dirty="0">
                <a:effectLst/>
              </a:rPr>
              <a:t>Data Transformation</a:t>
            </a:r>
          </a:p>
          <a:p>
            <a:pPr algn="just"/>
            <a:endParaRPr lang="en-US" b="1" dirty="0">
              <a:effectLst/>
            </a:endParaRPr>
          </a:p>
          <a:p>
            <a:pPr algn="just"/>
            <a:r>
              <a:rPr lang="en-US" dirty="0">
                <a:effectLst/>
              </a:rPr>
              <a:t>Data Transformation is defined as the process of transforming data into appropriate form required by mining procedure. </a:t>
            </a:r>
          </a:p>
          <a:p>
            <a:pPr algn="just"/>
            <a:r>
              <a:rPr lang="en-US" dirty="0">
                <a:effectLst/>
              </a:rPr>
              <a:t>Data Transformation is a two step process: </a:t>
            </a:r>
          </a:p>
          <a:p>
            <a:pPr algn="just"/>
            <a:endParaRPr lang="en-US" dirty="0">
              <a:effectLst/>
            </a:endParaRPr>
          </a:p>
          <a:p>
            <a:pPr algn="just">
              <a:buFont typeface="+mj-lt"/>
              <a:buAutoNum type="arabicPeriod"/>
            </a:pPr>
            <a:r>
              <a:rPr lang="en-US" b="1" dirty="0">
                <a:effectLst/>
              </a:rPr>
              <a:t>Data Mapping</a:t>
            </a:r>
            <a:r>
              <a:rPr lang="en-US" dirty="0">
                <a:effectLst/>
              </a:rPr>
              <a:t>: Assigning elements from source base to destination to capture transformations.</a:t>
            </a:r>
          </a:p>
          <a:p>
            <a:pPr algn="just">
              <a:buFont typeface="+mj-lt"/>
              <a:buAutoNum type="arabicPeriod"/>
            </a:pPr>
            <a:endParaRPr lang="en-US" dirty="0">
              <a:effectLst/>
            </a:endParaRPr>
          </a:p>
          <a:p>
            <a:pPr algn="just">
              <a:buFont typeface="+mj-lt"/>
              <a:buAutoNum type="arabicPeriod"/>
            </a:pPr>
            <a:r>
              <a:rPr lang="en-US" b="1" dirty="0">
                <a:effectLst/>
              </a:rPr>
              <a:t>Code generation</a:t>
            </a:r>
            <a:r>
              <a:rPr lang="en-US" dirty="0">
                <a:effectLst/>
              </a:rPr>
              <a:t>: Creation of the actual transformation program.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197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41284-B040-75C0-C555-500A35C93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algn="just"/>
            <a:r>
              <a:rPr lang="en-US" b="1" dirty="0">
                <a:effectLst/>
              </a:rPr>
              <a:t>Data Mining</a:t>
            </a:r>
          </a:p>
          <a:p>
            <a:pPr algn="just"/>
            <a:endParaRPr lang="en-US" b="1" dirty="0">
              <a:effectLst/>
            </a:endParaRPr>
          </a:p>
          <a:p>
            <a:pPr algn="just"/>
            <a:r>
              <a:rPr lang="en-US" dirty="0">
                <a:effectLst/>
              </a:rPr>
              <a:t>Data mining is defined as techniques that are applied to extract patterns potentially useful. </a:t>
            </a:r>
          </a:p>
          <a:p>
            <a:pPr algn="just"/>
            <a:endParaRPr lang="en-US" dirty="0"/>
          </a:p>
          <a:p>
            <a:pPr algn="just"/>
            <a:r>
              <a:rPr lang="en-US" dirty="0">
                <a:effectLst/>
              </a:rPr>
              <a:t>It transforms task relevant data into </a:t>
            </a:r>
            <a:r>
              <a:rPr lang="en-US" b="1" dirty="0">
                <a:effectLst/>
              </a:rPr>
              <a:t>patterns, and d</a:t>
            </a:r>
            <a:r>
              <a:rPr lang="en-US" dirty="0">
                <a:effectLst/>
              </a:rPr>
              <a:t>ecides purpose of model using </a:t>
            </a:r>
            <a:r>
              <a:rPr lang="en-US" b="1" dirty="0">
                <a:effectLst/>
              </a:rPr>
              <a:t>classification</a:t>
            </a:r>
            <a:r>
              <a:rPr lang="en-US" dirty="0">
                <a:effectLst/>
              </a:rPr>
              <a:t> or </a:t>
            </a:r>
            <a:r>
              <a:rPr lang="en-US" b="1" dirty="0">
                <a:effectLst/>
              </a:rPr>
              <a:t>characterization</a:t>
            </a:r>
            <a:r>
              <a:rPr lang="en-US" dirty="0">
                <a:effectLst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7011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9027A-62E9-E069-22BA-B8A53AD9E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algn="just"/>
            <a:r>
              <a:rPr lang="en-US" b="1" dirty="0">
                <a:effectLst/>
              </a:rPr>
              <a:t>Pattern Evaluation</a:t>
            </a:r>
          </a:p>
          <a:p>
            <a:pPr algn="just"/>
            <a:endParaRPr lang="en-US" b="1" dirty="0">
              <a:effectLst/>
            </a:endParaRPr>
          </a:p>
          <a:p>
            <a:pPr algn="just"/>
            <a:r>
              <a:rPr lang="en-US" dirty="0">
                <a:effectLst/>
              </a:rPr>
              <a:t>Pattern Evaluation is defined as identifying strictly increasing patterns representing knowledge based on given measures. </a:t>
            </a:r>
          </a:p>
          <a:p>
            <a:pPr algn="just"/>
            <a:endParaRPr lang="en-US" dirty="0"/>
          </a:p>
          <a:p>
            <a:pPr algn="just"/>
            <a:r>
              <a:rPr lang="en-US" dirty="0">
                <a:effectLst/>
              </a:rPr>
              <a:t>It find </a:t>
            </a:r>
            <a:r>
              <a:rPr lang="en-US" b="1" dirty="0">
                <a:effectLst/>
              </a:rPr>
              <a:t>interestingness score</a:t>
            </a:r>
            <a:r>
              <a:rPr lang="en-US" dirty="0">
                <a:effectLst/>
              </a:rPr>
              <a:t> of each pattern, and uses </a:t>
            </a:r>
            <a:r>
              <a:rPr lang="en-US" b="1" dirty="0">
                <a:effectLst/>
              </a:rPr>
              <a:t>summarization</a:t>
            </a:r>
            <a:r>
              <a:rPr lang="en-US" dirty="0">
                <a:effectLst/>
              </a:rPr>
              <a:t> and </a:t>
            </a:r>
            <a:r>
              <a:rPr lang="en-US" b="1" dirty="0">
                <a:effectLst/>
              </a:rPr>
              <a:t>Visualization</a:t>
            </a:r>
            <a:r>
              <a:rPr lang="en-US" dirty="0">
                <a:effectLst/>
              </a:rPr>
              <a:t> to make data understandable by user.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091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D2D8B-B80A-87C8-5741-AC2938077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algn="just"/>
            <a:r>
              <a:rPr lang="en-US" b="1" dirty="0">
                <a:effectLst/>
              </a:rPr>
              <a:t>Knowledge Representation</a:t>
            </a:r>
          </a:p>
          <a:p>
            <a:pPr algn="just"/>
            <a:r>
              <a:rPr lang="en-US" dirty="0">
                <a:effectLst/>
              </a:rPr>
              <a:t>This involves presenting the results in a way that is meaningful and can be used to make decisions.</a:t>
            </a:r>
          </a:p>
          <a:p>
            <a:pPr algn="just"/>
            <a:endParaRPr lang="en-US" dirty="0"/>
          </a:p>
          <a:p>
            <a:pPr algn="just"/>
            <a:endParaRPr lang="en-US" dirty="0">
              <a:effectLst/>
            </a:endParaRPr>
          </a:p>
          <a:p>
            <a:pPr algn="just"/>
            <a:r>
              <a:rPr lang="en-US" dirty="0"/>
              <a:t>KDD is an </a:t>
            </a:r>
            <a:r>
              <a:rPr lang="en-US" b="1" dirty="0"/>
              <a:t>iterative process</a:t>
            </a:r>
            <a:r>
              <a:rPr lang="en-US" dirty="0"/>
              <a:t> where evaluation measures can be enhanced, mining can be refined, new data can be integrated and transformed in order to get different and more appropriate results.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Preprocessing of databases</a:t>
            </a:r>
            <a:r>
              <a:rPr lang="en-US" dirty="0"/>
              <a:t> consists of </a:t>
            </a:r>
            <a:r>
              <a:rPr lang="en-US" b="1" dirty="0"/>
              <a:t>Data cleaning</a:t>
            </a:r>
            <a:r>
              <a:rPr lang="en-US" dirty="0"/>
              <a:t> and </a:t>
            </a:r>
            <a:r>
              <a:rPr lang="en-US" b="1" dirty="0"/>
              <a:t>Data Integration</a:t>
            </a:r>
            <a:r>
              <a:rPr lang="en-US" dirty="0"/>
              <a:t>.</a:t>
            </a:r>
            <a:endParaRPr lang="en-US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621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883DD-43E1-D44A-F2D1-35511CE8D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>
                <a:effectLst/>
              </a:rPr>
              <a:t>Advantages of KDD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effectLst/>
              </a:rPr>
              <a:t>Improves decision-making:</a:t>
            </a:r>
            <a:r>
              <a:rPr lang="en-US" dirty="0">
                <a:effectLst/>
              </a:rPr>
              <a:t> KDD provides valuable insights and knowledge that can help organizations make better decisions.</a:t>
            </a:r>
          </a:p>
          <a:p>
            <a:pPr algn="just">
              <a:buFont typeface="+mj-lt"/>
              <a:buAutoNum type="arabicPeriod"/>
            </a:pPr>
            <a:endParaRPr lang="en-US" dirty="0">
              <a:effectLst/>
            </a:endParaRPr>
          </a:p>
          <a:p>
            <a:pPr algn="just">
              <a:buFont typeface="+mj-lt"/>
              <a:buAutoNum type="arabicPeriod"/>
            </a:pPr>
            <a:r>
              <a:rPr lang="en-US" b="1" dirty="0">
                <a:effectLst/>
              </a:rPr>
              <a:t>Increased efficiency:</a:t>
            </a:r>
            <a:r>
              <a:rPr lang="en-US" dirty="0">
                <a:effectLst/>
              </a:rPr>
              <a:t> KDD automates repetitive and time-consuming tasks and makes the data ready for analysis, which saves time and money.</a:t>
            </a:r>
          </a:p>
          <a:p>
            <a:pPr algn="just">
              <a:buFont typeface="+mj-lt"/>
              <a:buAutoNum type="arabicPeriod"/>
            </a:pPr>
            <a:endParaRPr lang="en-US" dirty="0">
              <a:effectLst/>
            </a:endParaRPr>
          </a:p>
          <a:p>
            <a:pPr algn="just">
              <a:buFont typeface="+mj-lt"/>
              <a:buAutoNum type="arabicPeriod"/>
            </a:pPr>
            <a:r>
              <a:rPr lang="en-US" b="1" dirty="0">
                <a:effectLst/>
              </a:rPr>
              <a:t>Better customer service:</a:t>
            </a:r>
            <a:r>
              <a:rPr lang="en-US" dirty="0">
                <a:effectLst/>
              </a:rPr>
              <a:t> KDD helps organizations gain a better understanding of their customers’ needs and preferences, which can help them provide better customer service.</a:t>
            </a:r>
          </a:p>
          <a:p>
            <a:pPr algn="just">
              <a:buFont typeface="+mj-lt"/>
              <a:buAutoNum type="arabicPeriod"/>
            </a:pPr>
            <a:endParaRPr lang="en-US" dirty="0">
              <a:effectLst/>
            </a:endParaRPr>
          </a:p>
          <a:p>
            <a:pPr algn="just">
              <a:buFont typeface="+mj-lt"/>
              <a:buAutoNum type="arabicPeriod"/>
            </a:pPr>
            <a:r>
              <a:rPr lang="en-US" b="1" dirty="0">
                <a:effectLst/>
              </a:rPr>
              <a:t>Fraud detection: </a:t>
            </a:r>
            <a:r>
              <a:rPr lang="en-US" dirty="0">
                <a:effectLst/>
              </a:rPr>
              <a:t>KDD can be used to detect fraudulent activities by identifying patterns and anomalies in the data that may indicate fraud.</a:t>
            </a:r>
          </a:p>
          <a:p>
            <a:pPr algn="just">
              <a:buFont typeface="+mj-lt"/>
              <a:buAutoNum type="arabicPeriod"/>
            </a:pPr>
            <a:endParaRPr lang="en-US" dirty="0">
              <a:effectLst/>
            </a:endParaRPr>
          </a:p>
          <a:p>
            <a:pPr algn="just">
              <a:buFont typeface="+mj-lt"/>
              <a:buAutoNum type="arabicPeriod"/>
            </a:pPr>
            <a:r>
              <a:rPr lang="en-US" b="1" dirty="0">
                <a:effectLst/>
              </a:rPr>
              <a:t>Predictive modeling: </a:t>
            </a:r>
            <a:r>
              <a:rPr lang="en-US" dirty="0">
                <a:effectLst/>
              </a:rPr>
              <a:t>KDD can be used to build predictive models that can forecast future trends and patterns.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163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32E42-696C-FBFD-3000-DC327B19D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algn="just"/>
            <a:r>
              <a:rPr lang="en-US" b="1" dirty="0">
                <a:effectLst/>
              </a:rPr>
              <a:t>Disadvantages of KDD</a:t>
            </a:r>
          </a:p>
          <a:p>
            <a:pPr algn="just"/>
            <a:endParaRPr lang="en-US" b="1" dirty="0">
              <a:effectLst/>
            </a:endParaRPr>
          </a:p>
          <a:p>
            <a:pPr algn="just">
              <a:buFont typeface="+mj-lt"/>
              <a:buAutoNum type="arabicPeriod"/>
            </a:pPr>
            <a:r>
              <a:rPr lang="en-US" b="1" dirty="0">
                <a:effectLst/>
              </a:rPr>
              <a:t>Privacy concerns: </a:t>
            </a:r>
            <a:r>
              <a:rPr lang="en-US" dirty="0">
                <a:effectLst/>
              </a:rPr>
              <a:t>KDD can raise privacy concerns as it involves collecting and analyzing large amounts of data, which can include sensitive information about individuals.</a:t>
            </a:r>
          </a:p>
          <a:p>
            <a:pPr algn="just">
              <a:buFont typeface="+mj-lt"/>
              <a:buAutoNum type="arabicPeriod"/>
            </a:pPr>
            <a:endParaRPr lang="en-US" dirty="0">
              <a:effectLst/>
            </a:endParaRPr>
          </a:p>
          <a:p>
            <a:pPr algn="just">
              <a:buFont typeface="+mj-lt"/>
              <a:buAutoNum type="arabicPeriod"/>
            </a:pPr>
            <a:r>
              <a:rPr lang="en-US" b="1" dirty="0">
                <a:effectLst/>
              </a:rPr>
              <a:t>Complexity: </a:t>
            </a:r>
            <a:r>
              <a:rPr lang="en-US" dirty="0">
                <a:effectLst/>
              </a:rPr>
              <a:t>KDD can be a complex process that requires specialized skills and knowledge to implement and interpret the results.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380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1162</Words>
  <Application>Microsoft Office PowerPoint</Application>
  <PresentationFormat>Widescreen</PresentationFormat>
  <Paragraphs>189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Unit 2</vt:lpstr>
      <vt:lpstr>PowerPoint Presentation</vt:lpstr>
      <vt:lpstr>PowerPoint Presentation</vt:lpstr>
      <vt:lpstr>PowerPoint Presentation</vt:lpstr>
      <vt:lpstr>PowerPoint Presentation</vt:lpstr>
      <vt:lpstr>Difference Between Data Mining and Data Warehousing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2 new </dc:title>
  <dc:creator>Dell</dc:creator>
  <cp:lastModifiedBy>Dell</cp:lastModifiedBy>
  <cp:revision>4</cp:revision>
  <dcterms:created xsi:type="dcterms:W3CDTF">2026-04-21T06:09:03Z</dcterms:created>
  <dcterms:modified xsi:type="dcterms:W3CDTF">2026-04-21T06:10:36Z</dcterms:modified>
</cp:coreProperties>
</file>