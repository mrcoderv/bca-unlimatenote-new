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85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4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9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8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5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7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87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66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0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0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65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84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B1873-6363-43C2-8527-B570AF057E1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82CCA-0DAF-42E3-AFD7-21292A084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3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geeksforgeeks.org/physics/accuracy-and-precision/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geeksforgeeks.org/physics/accuracy-and-precision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geeksforgeeks.org/machine-learning/precision-recall-curve-ml/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geeksforgeeks.org/machine-learning/f1-score-in-machine-learning/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Classification </a:t>
            </a:r>
            <a:r>
              <a:rPr lang="en-IN" b="1" dirty="0"/>
              <a:t>and Prediction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Unit </a:t>
            </a:r>
            <a:r>
              <a:rPr lang="en-IN" sz="4400" b="1" dirty="0" smtClean="0"/>
              <a:t>6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12832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3123"/>
            <a:ext cx="11353800" cy="876691"/>
          </a:xfrm>
        </p:spPr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4000" dirty="0" smtClean="0">
                <a:solidFill>
                  <a:srgbClr val="FF0000"/>
                </a:solidFill>
              </a:rPr>
              <a:t>Classification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0" y="1461156"/>
            <a:ext cx="6019800" cy="539684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Classification</a:t>
            </a:r>
          </a:p>
          <a:p>
            <a:r>
              <a:rPr lang="en-US" dirty="0" smtClean="0"/>
              <a:t>Classification is a </a:t>
            </a:r>
            <a:r>
              <a:rPr lang="en-US" b="1" dirty="0" smtClean="0"/>
              <a:t>data mining and machine learning technique</a:t>
            </a:r>
            <a:r>
              <a:rPr lang="en-US" dirty="0" smtClean="0"/>
              <a:t> used to assign data items into predefined categories or classes based on their attributes.</a:t>
            </a:r>
          </a:p>
          <a:p>
            <a:r>
              <a:rPr lang="en-US" dirty="0" smtClean="0"/>
              <a:t>It predicts </a:t>
            </a:r>
            <a:r>
              <a:rPr lang="en-US" b="1" dirty="0" smtClean="0"/>
              <a:t>categorical values</a:t>
            </a:r>
            <a:r>
              <a:rPr lang="en-US" dirty="0" smtClean="0"/>
              <a:t> (labels). </a:t>
            </a:r>
          </a:p>
          <a:p>
            <a:r>
              <a:rPr lang="en-US" dirty="0" smtClean="0"/>
              <a:t>A model is trained using labeled data and then used to classify new data. </a:t>
            </a:r>
          </a:p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Email → Spam or Not Spam </a:t>
            </a:r>
          </a:p>
          <a:p>
            <a:r>
              <a:rPr lang="en-US" dirty="0" smtClean="0"/>
              <a:t>Student → Pass or Fail </a:t>
            </a:r>
          </a:p>
          <a:p>
            <a:r>
              <a:rPr lang="en-US" dirty="0" smtClean="0"/>
              <a:t>Customer → Buy Product or Not Buy Product</a:t>
            </a:r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77591"/>
            <a:ext cx="6019800" cy="301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13123"/>
            <a:ext cx="11972041" cy="51847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</a:rPr>
              <a:t>Prediction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1102936"/>
            <a:ext cx="6019801" cy="5646656"/>
          </a:xfrm>
        </p:spPr>
        <p:txBody>
          <a:bodyPr>
            <a:normAutofit/>
          </a:bodyPr>
          <a:lstStyle/>
          <a:p>
            <a:r>
              <a:rPr lang="en-US" dirty="0" smtClean="0"/>
              <a:t>Prediction is the process of estimating </a:t>
            </a:r>
            <a:r>
              <a:rPr lang="en-US" b="1" dirty="0" smtClean="0"/>
              <a:t>future or unknown values</a:t>
            </a:r>
            <a:r>
              <a:rPr lang="en-US" dirty="0" smtClean="0"/>
              <a:t> based on historical data.</a:t>
            </a:r>
          </a:p>
          <a:p>
            <a:r>
              <a:rPr lang="en-US" dirty="0" smtClean="0"/>
              <a:t>It predicts </a:t>
            </a:r>
            <a:r>
              <a:rPr lang="en-US" b="1" dirty="0" smtClean="0"/>
              <a:t>continuous or numeric values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Uses patterns found in existing data to forecast outcomes. </a:t>
            </a:r>
          </a:p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Predicting house prices </a:t>
            </a:r>
          </a:p>
          <a:p>
            <a:r>
              <a:rPr lang="en-US" dirty="0" smtClean="0"/>
              <a:t>Predicting next month's sales </a:t>
            </a:r>
          </a:p>
          <a:p>
            <a:r>
              <a:rPr lang="en-US" dirty="0" smtClean="0"/>
              <a:t>Predicting student marks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7104" y="1998482"/>
            <a:ext cx="5797485" cy="337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30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2805" y="527901"/>
            <a:ext cx="11594968" cy="561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48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3123"/>
            <a:ext cx="11915480" cy="584461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Learning (Training) Phase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838986"/>
            <a:ext cx="6019800" cy="601901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learning phase is the process of building a classification model using a set of </a:t>
            </a:r>
            <a:r>
              <a:rPr lang="en-US" b="1" dirty="0" smtClean="0"/>
              <a:t>training data</a:t>
            </a:r>
            <a:r>
              <a:rPr lang="en-US" dirty="0" smtClean="0"/>
              <a:t> whose class labels are already known.</a:t>
            </a:r>
          </a:p>
          <a:p>
            <a:r>
              <a:rPr lang="en-US" b="1" dirty="0" smtClean="0"/>
              <a:t>Steps in Learning</a:t>
            </a:r>
          </a:p>
          <a:p>
            <a:r>
              <a:rPr lang="en-US" dirty="0" smtClean="0"/>
              <a:t>Collect training data. </a:t>
            </a:r>
          </a:p>
          <a:p>
            <a:r>
              <a:rPr lang="en-US" dirty="0" smtClean="0"/>
              <a:t>Select relevant features (attributes). </a:t>
            </a:r>
          </a:p>
          <a:p>
            <a:r>
              <a:rPr lang="en-US" dirty="0" smtClean="0"/>
              <a:t>Apply a classification algorithm. </a:t>
            </a:r>
          </a:p>
          <a:p>
            <a:r>
              <a:rPr lang="en-US" dirty="0" smtClean="0"/>
              <a:t>Generate a classification model (classifier). </a:t>
            </a:r>
          </a:p>
          <a:p>
            <a:r>
              <a:rPr lang="en-US" dirty="0" smtClean="0"/>
              <a:t>Store the model for future use.</a:t>
            </a:r>
          </a:p>
          <a:p>
            <a:r>
              <a:rPr lang="en-US" b="1" dirty="0" smtClean="0"/>
              <a:t>Output</a:t>
            </a:r>
          </a:p>
          <a:p>
            <a:r>
              <a:rPr lang="en-US" dirty="0" smtClean="0"/>
              <a:t>A trained classification model that can classify new, unseen data.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007909"/>
            <a:ext cx="6019800" cy="405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2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 smtClean="0"/>
              <a:t>Testing Phase</a:t>
            </a:r>
          </a:p>
          <a:p>
            <a:r>
              <a:rPr lang="en-US" dirty="0" smtClean="0"/>
              <a:t>The testing phase evaluates how accurately the trained classifier predicts the class labels of new data.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Steps in Testing</a:t>
            </a:r>
          </a:p>
          <a:p>
            <a:r>
              <a:rPr lang="en-US" dirty="0" smtClean="0"/>
              <a:t>Use a separate </a:t>
            </a:r>
            <a:r>
              <a:rPr lang="en-US" b="1" dirty="0" smtClean="0"/>
              <a:t>test dataset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Apply the trained classifier to the test data. </a:t>
            </a:r>
          </a:p>
          <a:p>
            <a:r>
              <a:rPr lang="en-US" dirty="0" smtClean="0"/>
              <a:t>Compare predicted class labels with actual class labels. </a:t>
            </a:r>
          </a:p>
          <a:p>
            <a:r>
              <a:rPr lang="en-US" dirty="0" smtClean="0"/>
              <a:t>Measure performance using accuracy and other metrics.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913641"/>
            <a:ext cx="6019800" cy="329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5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7258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Real-Life Example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074656"/>
            <a:ext cx="12122870" cy="5693789"/>
          </a:xfrm>
        </p:spPr>
        <p:txBody>
          <a:bodyPr/>
          <a:lstStyle/>
          <a:p>
            <a:r>
              <a:rPr lang="en-US" b="1" dirty="0" smtClean="0"/>
              <a:t>Email Spam Detection</a:t>
            </a:r>
          </a:p>
          <a:p>
            <a:r>
              <a:rPr lang="en-US" b="1" dirty="0" smtClean="0"/>
              <a:t>Learning Phase:</a:t>
            </a:r>
            <a:r>
              <a:rPr lang="en-US" dirty="0" smtClean="0"/>
              <a:t> The system learns from thousands of emails labeled as spam or not spam. </a:t>
            </a:r>
          </a:p>
          <a:p>
            <a:r>
              <a:rPr lang="en-US" b="1" dirty="0" smtClean="0"/>
              <a:t>Testing Phase:</a:t>
            </a:r>
            <a:r>
              <a:rPr lang="en-US" dirty="0" smtClean="0"/>
              <a:t> New emails are checked by the model to determine whether they are spam or not. </a:t>
            </a:r>
          </a:p>
          <a:p>
            <a:r>
              <a:rPr lang="en-US" b="1" dirty="0" smtClean="0"/>
              <a:t>Result:</a:t>
            </a:r>
            <a:r>
              <a:rPr lang="en-US" dirty="0" smtClean="0"/>
              <a:t> Accuracy is measured to evaluate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4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Classification by Decision Tree Induction, ID3 Algorithm, and Rule-Based Classifier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825624"/>
            <a:ext cx="12085163" cy="485797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1. Classification by Decision Tree Induction</a:t>
            </a:r>
          </a:p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b="1" dirty="0" smtClean="0"/>
              <a:t>Decision Tree</a:t>
            </a:r>
            <a:r>
              <a:rPr lang="en-US" dirty="0" smtClean="0"/>
              <a:t> is a tree-like structure used for classification and prediction. It recursively divides the dataset into smaller subsets based on attribute values until a decision can be made.</a:t>
            </a:r>
          </a:p>
          <a:p>
            <a:pPr marL="0" indent="0">
              <a:buNone/>
            </a:pPr>
            <a:r>
              <a:rPr lang="en-US" b="1" dirty="0" smtClean="0"/>
              <a:t>Components of a Decision Tree</a:t>
            </a:r>
          </a:p>
          <a:p>
            <a:r>
              <a:rPr lang="en-US" b="1" dirty="0" smtClean="0"/>
              <a:t>Root Node:</a:t>
            </a:r>
            <a:r>
              <a:rPr lang="en-US" dirty="0" smtClean="0"/>
              <a:t> Represents the best attribute for splitting the data. </a:t>
            </a:r>
          </a:p>
          <a:p>
            <a:r>
              <a:rPr lang="en-US" b="1" dirty="0" smtClean="0"/>
              <a:t>Internal Nodes:</a:t>
            </a:r>
            <a:r>
              <a:rPr lang="en-US" dirty="0" smtClean="0"/>
              <a:t> Represent tests on attributes. </a:t>
            </a:r>
          </a:p>
          <a:p>
            <a:r>
              <a:rPr lang="en-US" b="1" dirty="0" smtClean="0"/>
              <a:t>Branches:</a:t>
            </a:r>
            <a:r>
              <a:rPr lang="en-US" dirty="0" smtClean="0"/>
              <a:t> Outcomes of the tests. </a:t>
            </a:r>
          </a:p>
          <a:p>
            <a:r>
              <a:rPr lang="en-US" b="1" dirty="0" smtClean="0"/>
              <a:t>Leaf Nodes:</a:t>
            </a:r>
            <a:r>
              <a:rPr lang="en-US" dirty="0" smtClean="0"/>
              <a:t> Final class labels or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65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6930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Steps in Decision Tree Induction</a:t>
            </a:r>
          </a:p>
          <a:p>
            <a:r>
              <a:rPr lang="en-US" dirty="0" smtClean="0"/>
              <a:t>Select the best attribute. </a:t>
            </a:r>
          </a:p>
          <a:p>
            <a:r>
              <a:rPr lang="en-US" dirty="0" smtClean="0"/>
              <a:t>Create a root node. </a:t>
            </a:r>
          </a:p>
          <a:p>
            <a:r>
              <a:rPr lang="en-US" dirty="0" smtClean="0"/>
              <a:t>Split the dataset based on attribute values. </a:t>
            </a:r>
          </a:p>
          <a:p>
            <a:r>
              <a:rPr lang="en-US" dirty="0" smtClean="0"/>
              <a:t>Repeat the process for each subset. </a:t>
            </a:r>
          </a:p>
          <a:p>
            <a:r>
              <a:rPr lang="en-US" dirty="0" smtClean="0"/>
              <a:t>Stop when all records belong to the same class or no attributes remain.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75414"/>
            <a:ext cx="6019800" cy="66836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Advantages</a:t>
            </a:r>
          </a:p>
          <a:p>
            <a:r>
              <a:rPr lang="en-US" dirty="0" smtClean="0"/>
              <a:t>Easy to understand and interpret. </a:t>
            </a:r>
          </a:p>
          <a:p>
            <a:r>
              <a:rPr lang="en-US" dirty="0" smtClean="0"/>
              <a:t>Handles large datasets. </a:t>
            </a:r>
          </a:p>
          <a:p>
            <a:r>
              <a:rPr lang="en-US" dirty="0" smtClean="0"/>
              <a:t>Requires little data preparation.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776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14" y="0"/>
            <a:ext cx="5944386" cy="66270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2. ID3 (Iterative </a:t>
            </a:r>
            <a:r>
              <a:rPr lang="en-US" b="1" dirty="0" err="1" smtClean="0"/>
              <a:t>Dichotomiser</a:t>
            </a:r>
            <a:r>
              <a:rPr lang="en-US" b="1" dirty="0" smtClean="0"/>
              <a:t> 3) as an Attribute Selection Algorithm</a:t>
            </a:r>
          </a:p>
          <a:p>
            <a:r>
              <a:rPr lang="en-US" b="1" dirty="0" smtClean="0"/>
              <a:t>ID3</a:t>
            </a:r>
            <a:r>
              <a:rPr lang="en-US" dirty="0" smtClean="0"/>
              <a:t> is a popular algorithm developed by Ross Quinlan for constructing decision trees.</a:t>
            </a:r>
          </a:p>
          <a:p>
            <a:r>
              <a:rPr lang="en-US" b="1" dirty="0" smtClean="0"/>
              <a:t>Main Idea</a:t>
            </a:r>
          </a:p>
          <a:p>
            <a:r>
              <a:rPr lang="en-US" dirty="0" smtClean="0"/>
              <a:t>ID3 selects the attribute with the </a:t>
            </a:r>
            <a:r>
              <a:rPr lang="en-US" b="1" dirty="0" smtClean="0"/>
              <a:t>highest Information Gain</a:t>
            </a:r>
            <a:r>
              <a:rPr lang="en-US" dirty="0" smtClean="0"/>
              <a:t> as the splitting attribute.</a:t>
            </a:r>
          </a:p>
          <a:p>
            <a:r>
              <a:rPr lang="en-US" b="1" dirty="0" smtClean="0"/>
              <a:t>Entropy</a:t>
            </a:r>
          </a:p>
          <a:p>
            <a:r>
              <a:rPr lang="en-US" dirty="0" smtClean="0"/>
              <a:t>Entropy measures the impurity or uncertainty of data.</a:t>
            </a:r>
          </a:p>
          <a:p>
            <a:endParaRPr lang="en-US" dirty="0" smtClean="0"/>
          </a:p>
          <a:p>
            <a:r>
              <a:rPr lang="en-US" dirty="0" smtClean="0"/>
              <a:t>Where:</a:t>
            </a:r>
          </a:p>
          <a:p>
            <a:r>
              <a:rPr lang="en-US" dirty="0" smtClean="0"/>
              <a:t>pi​ = probability of class </a:t>
            </a:r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Information Gain</a:t>
            </a:r>
          </a:p>
          <a:p>
            <a:r>
              <a:rPr lang="en-US" dirty="0" smtClean="0"/>
              <a:t>Information Gain measures the reduction in entropy after splitting the data.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925" y="3620274"/>
            <a:ext cx="4692891" cy="5463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84" y="4903859"/>
            <a:ext cx="2578233" cy="3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49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ID3 Algorithm Steps</a:t>
            </a:r>
          </a:p>
          <a:p>
            <a:r>
              <a:rPr lang="en-US" dirty="0" smtClean="0"/>
              <a:t>Calculate entropy of the dataset. </a:t>
            </a:r>
          </a:p>
          <a:p>
            <a:r>
              <a:rPr lang="en-US" dirty="0" smtClean="0"/>
              <a:t>Compute information gain for each attribute. </a:t>
            </a:r>
          </a:p>
          <a:p>
            <a:r>
              <a:rPr lang="en-US" dirty="0" smtClean="0"/>
              <a:t>Choose the attribute with the highest information gain. </a:t>
            </a:r>
          </a:p>
          <a:p>
            <a:r>
              <a:rPr lang="en-US" dirty="0" smtClean="0"/>
              <a:t>Create a decision node. </a:t>
            </a:r>
          </a:p>
          <a:p>
            <a:r>
              <a:rPr lang="en-US" dirty="0" smtClean="0"/>
              <a:t>Repeat until all records are classified.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92231"/>
            <a:ext cx="5931816" cy="6447934"/>
          </a:xfrm>
        </p:spPr>
        <p:txBody>
          <a:bodyPr>
            <a:normAutofit/>
          </a:bodyPr>
          <a:lstStyle/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Attributes:</a:t>
            </a:r>
          </a:p>
          <a:p>
            <a:r>
              <a:rPr lang="en-US" dirty="0" smtClean="0"/>
              <a:t>Attendance </a:t>
            </a:r>
          </a:p>
          <a:p>
            <a:r>
              <a:rPr lang="en-US" dirty="0" smtClean="0"/>
              <a:t>Assignment </a:t>
            </a:r>
          </a:p>
          <a:p>
            <a:r>
              <a:rPr lang="en-US" dirty="0" smtClean="0"/>
              <a:t>Result (Pass/Fail) </a:t>
            </a:r>
          </a:p>
          <a:p>
            <a:r>
              <a:rPr lang="en-US" dirty="0" smtClean="0"/>
              <a:t>If Attendance has the highest information gain, it becomes the root node.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53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Rule-Based Classifier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Rule-Based Classifier</a:t>
            </a:r>
            <a:r>
              <a:rPr lang="en-US" dirty="0" smtClean="0"/>
              <a:t> uses a set of IF–THEN rules to classify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Form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 Unicode MS" panose="020B0604020202020204" pitchFamily="34" charset="-128"/>
              </a:rPr>
              <a:t>IF condition THEN class</a:t>
            </a: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0" y="2002800"/>
            <a:ext cx="6019800" cy="3996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 Attendance = High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THEN Result = Pass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/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IF Attendance = Low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</a:b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THEN Result = Fail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 Unicode MS" panose="020B0604020202020204" pitchFamily="34" charset="-128"/>
            </a:endParaRPr>
          </a:p>
          <a:p>
            <a:r>
              <a:rPr lang="en-US" sz="2400" b="1" dirty="0" smtClean="0"/>
              <a:t>Advantages</a:t>
            </a:r>
          </a:p>
          <a:p>
            <a:r>
              <a:rPr lang="en-US" sz="2400" dirty="0" smtClean="0"/>
              <a:t>Easy to understand. </a:t>
            </a:r>
          </a:p>
          <a:p>
            <a:r>
              <a:rPr lang="en-US" sz="2400" dirty="0" smtClean="0"/>
              <a:t>Human-readable decision-making. </a:t>
            </a:r>
          </a:p>
          <a:p>
            <a:r>
              <a:rPr lang="en-US" sz="2400" dirty="0" smtClean="0"/>
              <a:t>Useful for expert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45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SVM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68924"/>
            <a:ext cx="6019800" cy="5533534"/>
          </a:xfrm>
        </p:spPr>
        <p:txBody>
          <a:bodyPr>
            <a:normAutofit/>
          </a:bodyPr>
          <a:lstStyle/>
          <a:p>
            <a:r>
              <a:rPr lang="en-US" dirty="0" smtClean="0"/>
              <a:t>Support </a:t>
            </a:r>
            <a:r>
              <a:rPr lang="en-US" dirty="0"/>
              <a:t>Vector Machine (SVM) is a supervised machine learning algorithm used for:</a:t>
            </a:r>
          </a:p>
          <a:p>
            <a:r>
              <a:rPr lang="en-US" dirty="0"/>
              <a:t>Classification </a:t>
            </a:r>
          </a:p>
          <a:p>
            <a:r>
              <a:rPr lang="en-US" dirty="0"/>
              <a:t>Regression </a:t>
            </a:r>
          </a:p>
          <a:p>
            <a:r>
              <a:rPr lang="en-US" dirty="0"/>
              <a:t>Outlier detection </a:t>
            </a:r>
          </a:p>
          <a:p>
            <a:r>
              <a:rPr lang="en-US" b="1" dirty="0"/>
              <a:t>Main Goal:</a:t>
            </a:r>
            <a:endParaRPr lang="en-US" dirty="0"/>
          </a:p>
          <a:p>
            <a:r>
              <a:rPr lang="en-US" dirty="0"/>
              <a:t>Find the optimal boundary (hyperplane) that separates classes with maximum margin.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168924"/>
            <a:ext cx="5799841" cy="5373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SVM?</a:t>
            </a:r>
          </a:p>
          <a:p>
            <a:r>
              <a:rPr lang="en-US" dirty="0"/>
              <a:t>Advantages of SVM:</a:t>
            </a:r>
          </a:p>
          <a:p>
            <a:r>
              <a:rPr lang="en-US" dirty="0"/>
              <a:t>Effective for high-dimensional data </a:t>
            </a:r>
          </a:p>
          <a:p>
            <a:r>
              <a:rPr lang="en-US" dirty="0"/>
              <a:t>Works well with small datasets </a:t>
            </a:r>
          </a:p>
          <a:p>
            <a:r>
              <a:rPr lang="en-US" dirty="0"/>
              <a:t>Prevents overfitting </a:t>
            </a:r>
          </a:p>
          <a:p>
            <a:r>
              <a:rPr lang="en-US" dirty="0"/>
              <a:t>Can solve linear and nonlinear problems </a:t>
            </a:r>
          </a:p>
          <a:p>
            <a:r>
              <a:rPr lang="en-US" dirty="0"/>
              <a:t>Good generalization capability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225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49592"/>
          </a:xfrm>
        </p:spPr>
        <p:txBody>
          <a:bodyPr>
            <a:normAutofit/>
          </a:bodyPr>
          <a:lstStyle/>
          <a:p>
            <a:r>
              <a:rPr lang="en-US" b="1" dirty="0"/>
              <a:t>Basic Terminology</a:t>
            </a:r>
          </a:p>
          <a:p>
            <a:r>
              <a:rPr lang="en-US" b="1" dirty="0"/>
              <a:t>Hyperplane</a:t>
            </a:r>
            <a:endParaRPr lang="en-US" dirty="0"/>
          </a:p>
          <a:p>
            <a:r>
              <a:rPr lang="en-US" dirty="0"/>
              <a:t>Decision boundary separating classes </a:t>
            </a:r>
          </a:p>
          <a:p>
            <a:r>
              <a:rPr lang="en-US" b="1" dirty="0"/>
              <a:t>Support Vectors</a:t>
            </a:r>
            <a:endParaRPr lang="en-US" dirty="0"/>
          </a:p>
          <a:p>
            <a:r>
              <a:rPr lang="en-US" dirty="0"/>
              <a:t>Data points closest to hyperplane </a:t>
            </a:r>
          </a:p>
          <a:p>
            <a:r>
              <a:rPr lang="en-US" b="1" dirty="0"/>
              <a:t>Margin</a:t>
            </a:r>
            <a:endParaRPr lang="en-US" dirty="0"/>
          </a:p>
          <a:p>
            <a:r>
              <a:rPr lang="en-US" dirty="0"/>
              <a:t>Distance between support vectors and hyperplane</a:t>
            </a:r>
          </a:p>
          <a:p>
            <a:endParaRPr lang="en-US" dirty="0"/>
          </a:p>
        </p:txBody>
      </p:sp>
      <p:pic>
        <p:nvPicPr>
          <p:cNvPr id="1026" name="Picture 2" descr="What Is a Support Vector Machine? - MATLAB &amp; Simulink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079" y="989814"/>
            <a:ext cx="5762921" cy="499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742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Working Principle of SVM</a:t>
            </a:r>
          </a:p>
          <a:p>
            <a:r>
              <a:rPr lang="en-US" dirty="0"/>
              <a:t>Steps:</a:t>
            </a:r>
          </a:p>
          <a:p>
            <a:r>
              <a:rPr lang="en-US" dirty="0"/>
              <a:t>Input training data </a:t>
            </a:r>
          </a:p>
          <a:p>
            <a:r>
              <a:rPr lang="en-US" dirty="0"/>
              <a:t>Find possible separating lines </a:t>
            </a:r>
          </a:p>
          <a:p>
            <a:r>
              <a:rPr lang="en-US" dirty="0"/>
              <a:t>Calculate margin </a:t>
            </a:r>
          </a:p>
          <a:p>
            <a:r>
              <a:rPr lang="en-US" dirty="0"/>
              <a:t>Select maximum-margin hyperplane </a:t>
            </a:r>
          </a:p>
          <a:p>
            <a:r>
              <a:rPr lang="en-US" dirty="0"/>
              <a:t>Classify new data points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76360" y="0"/>
            <a:ext cx="5970310" cy="6740165"/>
          </a:xfrm>
        </p:spPr>
        <p:txBody>
          <a:bodyPr/>
          <a:lstStyle/>
          <a:p>
            <a:r>
              <a:rPr lang="en-US" b="1" dirty="0"/>
              <a:t>Mathematical Representation</a:t>
            </a:r>
          </a:p>
          <a:p>
            <a:r>
              <a:rPr lang="en-US" dirty="0"/>
              <a:t>Hyperplane </a:t>
            </a:r>
            <a:r>
              <a:rPr lang="en-US" dirty="0" smtClean="0"/>
              <a:t>equation: </a:t>
            </a:r>
            <a:r>
              <a:rPr lang="en-US" dirty="0" err="1" smtClean="0"/>
              <a:t>w.x+b</a:t>
            </a:r>
            <a:r>
              <a:rPr lang="en-US" dirty="0" smtClean="0"/>
              <a:t>=0</a:t>
            </a:r>
          </a:p>
          <a:p>
            <a:r>
              <a:rPr lang="en-US" dirty="0"/>
              <a:t>Where:</a:t>
            </a:r>
          </a:p>
          <a:p>
            <a:r>
              <a:rPr lang="en-US" b="1" dirty="0"/>
              <a:t>w</a:t>
            </a:r>
            <a:r>
              <a:rPr lang="en-US" dirty="0"/>
              <a:t> = weight vector </a:t>
            </a:r>
          </a:p>
          <a:p>
            <a:r>
              <a:rPr lang="en-US" b="1" dirty="0"/>
              <a:t>x</a:t>
            </a:r>
            <a:r>
              <a:rPr lang="en-US" dirty="0"/>
              <a:t> = input feature vector </a:t>
            </a:r>
          </a:p>
          <a:p>
            <a:r>
              <a:rPr lang="en-US" b="1" dirty="0"/>
              <a:t>b</a:t>
            </a:r>
            <a:r>
              <a:rPr lang="en-US" dirty="0"/>
              <a:t> = bias </a:t>
            </a:r>
          </a:p>
          <a:p>
            <a:r>
              <a:rPr lang="en-US" dirty="0"/>
              <a:t>Decision function</a:t>
            </a:r>
            <a:r>
              <a:rPr lang="en-US" dirty="0" smtClean="0"/>
              <a:t>:</a:t>
            </a:r>
          </a:p>
          <a:p>
            <a:r>
              <a:rPr lang="en-US" dirty="0"/>
              <a:t>f(x)=sign(</a:t>
            </a:r>
            <a:r>
              <a:rPr lang="en-US" dirty="0" err="1"/>
              <a:t>w.x+b</a:t>
            </a:r>
            <a:r>
              <a:rPr lang="en-US" dirty="0" smtClean="0"/>
              <a:t>) 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846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/>
              <a:t>Linear SVM</a:t>
            </a:r>
          </a:p>
          <a:p>
            <a:r>
              <a:rPr lang="en-US" dirty="0" smtClean="0"/>
              <a:t>Used </a:t>
            </a:r>
            <a:r>
              <a:rPr lang="en-US" dirty="0"/>
              <a:t>when data is linearly separable.</a:t>
            </a:r>
          </a:p>
          <a:p>
            <a:r>
              <a:rPr lang="en-US" dirty="0"/>
              <a:t>Characteristics:</a:t>
            </a:r>
          </a:p>
          <a:p>
            <a:r>
              <a:rPr lang="en-US" dirty="0"/>
              <a:t>Straight decision boundary </a:t>
            </a:r>
          </a:p>
          <a:p>
            <a:r>
              <a:rPr lang="en-US" dirty="0"/>
              <a:t>Faster training </a:t>
            </a:r>
          </a:p>
          <a:p>
            <a:r>
              <a:rPr lang="en-US" dirty="0"/>
              <a:t>Simple implementation 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Email Spam Classification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5988"/>
            <a:ext cx="5884682" cy="6532775"/>
          </a:xfrm>
        </p:spPr>
        <p:txBody>
          <a:bodyPr>
            <a:normAutofit/>
          </a:bodyPr>
          <a:lstStyle/>
          <a:p>
            <a:r>
              <a:rPr lang="en-US" b="1" dirty="0"/>
              <a:t>Nonlinear SVM</a:t>
            </a:r>
          </a:p>
          <a:p>
            <a:r>
              <a:rPr lang="en-US" dirty="0"/>
              <a:t>Used when data cannot be separated by a straight line.</a:t>
            </a:r>
          </a:p>
          <a:p>
            <a:r>
              <a:rPr lang="en-US" dirty="0"/>
              <a:t>Solution:</a:t>
            </a:r>
            <a:br>
              <a:rPr lang="en-US" dirty="0"/>
            </a:br>
            <a:r>
              <a:rPr lang="en-US" b="1" dirty="0"/>
              <a:t>Kernel Trick</a:t>
            </a:r>
            <a:endParaRPr lang="en-US" dirty="0"/>
          </a:p>
          <a:p>
            <a:r>
              <a:rPr lang="en-US" dirty="0"/>
              <a:t>Types of kernels:</a:t>
            </a:r>
          </a:p>
          <a:p>
            <a:r>
              <a:rPr lang="en-US" dirty="0"/>
              <a:t>Linear Kernel </a:t>
            </a:r>
          </a:p>
          <a:p>
            <a:r>
              <a:rPr lang="en-US" dirty="0"/>
              <a:t>Polynomial Kernel </a:t>
            </a:r>
          </a:p>
          <a:p>
            <a:r>
              <a:rPr lang="en-US" dirty="0"/>
              <a:t>Radial Basis Function (RBF) </a:t>
            </a:r>
          </a:p>
          <a:p>
            <a:r>
              <a:rPr lang="en-US" dirty="0"/>
              <a:t>Sigmoid Kernel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47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49592"/>
          </a:xfrm>
        </p:spPr>
        <p:txBody>
          <a:bodyPr>
            <a:normAutofit/>
          </a:bodyPr>
          <a:lstStyle/>
          <a:p>
            <a:r>
              <a:rPr lang="en-US" b="1" dirty="0"/>
              <a:t>Applications of SVM</a:t>
            </a:r>
          </a:p>
          <a:p>
            <a:r>
              <a:rPr lang="en-US" dirty="0"/>
              <a:t>Applications:</a:t>
            </a:r>
          </a:p>
          <a:p>
            <a:r>
              <a:rPr lang="en-US" dirty="0"/>
              <a:t>Image recognition </a:t>
            </a:r>
          </a:p>
          <a:p>
            <a:r>
              <a:rPr lang="en-US" dirty="0"/>
              <a:t>Face detection </a:t>
            </a:r>
          </a:p>
          <a:p>
            <a:r>
              <a:rPr lang="en-US" dirty="0"/>
              <a:t>Handwriting recognition </a:t>
            </a:r>
          </a:p>
          <a:p>
            <a:r>
              <a:rPr lang="en-US" dirty="0"/>
              <a:t>Medical diagnosis </a:t>
            </a:r>
          </a:p>
          <a:p>
            <a:r>
              <a:rPr lang="en-US" dirty="0"/>
              <a:t>Spam filtering </a:t>
            </a:r>
          </a:p>
          <a:p>
            <a:r>
              <a:rPr lang="en-US" dirty="0"/>
              <a:t>Text classification </a:t>
            </a:r>
          </a:p>
          <a:p>
            <a:r>
              <a:rPr lang="en-US" dirty="0"/>
              <a:t>Bioinformatics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1974"/>
            <a:ext cx="5837548" cy="6726025"/>
          </a:xfrm>
        </p:spPr>
        <p:txBody>
          <a:bodyPr>
            <a:normAutofit/>
          </a:bodyPr>
          <a:lstStyle/>
          <a:p>
            <a:r>
              <a:rPr lang="en-US" b="1" dirty="0" smtClean="0"/>
              <a:t>Advantages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✓ High accuracy</a:t>
            </a:r>
            <a:br>
              <a:rPr lang="en-US" dirty="0"/>
            </a:br>
            <a:r>
              <a:rPr lang="en-US" dirty="0"/>
              <a:t>✓ Works with high-dimensional data</a:t>
            </a:r>
            <a:br>
              <a:rPr lang="en-US" dirty="0"/>
            </a:br>
            <a:r>
              <a:rPr lang="en-US" dirty="0"/>
              <a:t>✓ Memory efficient</a:t>
            </a:r>
            <a:br>
              <a:rPr lang="en-US" dirty="0"/>
            </a:br>
            <a:r>
              <a:rPr lang="en-US" dirty="0"/>
              <a:t>✓ Effective for complex </a:t>
            </a:r>
            <a:r>
              <a:rPr lang="en-US" dirty="0" smtClean="0"/>
              <a:t>datasets</a:t>
            </a:r>
          </a:p>
          <a:p>
            <a:endParaRPr lang="en-US" dirty="0"/>
          </a:p>
          <a:p>
            <a:r>
              <a:rPr lang="en-US" b="1" dirty="0"/>
              <a:t>Disadvantages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✗ Slow on large datasets</a:t>
            </a:r>
            <a:br>
              <a:rPr lang="en-US" dirty="0"/>
            </a:br>
            <a:r>
              <a:rPr lang="en-US" dirty="0"/>
              <a:t>✗ Difficult parameter tuning</a:t>
            </a:r>
            <a:br>
              <a:rPr lang="en-US" dirty="0"/>
            </a:br>
            <a:r>
              <a:rPr lang="en-US" dirty="0"/>
              <a:t>✗ Less effective with noisy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334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97963"/>
            <a:ext cx="12066309" cy="810705"/>
          </a:xfrm>
        </p:spPr>
        <p:txBody>
          <a:bodyPr/>
          <a:lstStyle/>
          <a:p>
            <a:r>
              <a:rPr lang="en-US" dirty="0"/>
              <a:t>Evaluation Metrics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87776"/>
            <a:ext cx="6019800" cy="5670223"/>
          </a:xfrm>
        </p:spPr>
        <p:txBody>
          <a:bodyPr>
            <a:normAutofit/>
          </a:bodyPr>
          <a:lstStyle/>
          <a:p>
            <a:r>
              <a:rPr lang="en-US" dirty="0"/>
              <a:t>Evaluation metrics are used to measure how well a machine learning model performs.</a:t>
            </a:r>
          </a:p>
          <a:p>
            <a:endParaRPr lang="en-US" dirty="0"/>
          </a:p>
          <a:p>
            <a:r>
              <a:rPr lang="en-US" dirty="0"/>
              <a:t> They help assess whether the model is making accurate predictions and meeting the desired goals.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87776"/>
            <a:ext cx="5894108" cy="547697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Model Performance </a:t>
            </a:r>
            <a:r>
              <a:rPr lang="en-US" altLang="en-US" dirty="0">
                <a:latin typeface="Arial" panose="020B0604020202020204" pitchFamily="34" charset="0"/>
              </a:rPr>
              <a:t>: Measures how well the model works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Different Tasks </a:t>
            </a:r>
            <a:r>
              <a:rPr lang="en-US" altLang="en-US" dirty="0">
                <a:latin typeface="Arial" panose="020B0604020202020204" pitchFamily="34" charset="0"/>
              </a:rPr>
              <a:t>: Used for classification, regression and clustering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Right Metric Choice </a:t>
            </a:r>
            <a:r>
              <a:rPr lang="en-US" altLang="en-US" dirty="0">
                <a:latin typeface="Arial" panose="020B0604020202020204" pitchFamily="34" charset="0"/>
              </a:rPr>
              <a:t>: Helps select the best way to evaluate a model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Better Decisions </a:t>
            </a:r>
            <a:r>
              <a:rPr lang="en-US" altLang="en-US" dirty="0">
                <a:latin typeface="Arial" panose="020B0604020202020204" pitchFamily="34" charset="0"/>
              </a:rPr>
              <a:t>: Ensures the model meets its objectives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0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04015" cy="64102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Classification </a:t>
            </a:r>
            <a:r>
              <a:rPr lang="en-US" b="1" dirty="0"/>
              <a:t>Metrics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" y="1291472"/>
            <a:ext cx="6202836" cy="526958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Accuracy</a:t>
            </a:r>
          </a:p>
          <a:p>
            <a:r>
              <a:rPr lang="en-US" dirty="0">
                <a:hlinkClick r:id="rId2"/>
              </a:rPr>
              <a:t>Accuracy</a:t>
            </a:r>
            <a:r>
              <a:rPr lang="en-US" dirty="0"/>
              <a:t> is a fundamental metric used for evaluating the performance of a classification model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It tells us the proportion of correct predictions made by the model out of all predictions.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3268" y="3110845"/>
            <a:ext cx="4159464" cy="175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3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627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smtClean="0"/>
              <a:t>Precision</a:t>
            </a:r>
          </a:p>
          <a:p>
            <a:pPr marL="0" indent="0">
              <a:buNone/>
            </a:pPr>
            <a:r>
              <a:rPr lang="en-US" dirty="0"/>
              <a:t>It measures how many of the positive predictions made by the model are actually correct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It's useful when the cost of false positives is high such as in medical diagnoses where predicting a disease when it’s not present can have serious consequences</a:t>
            </a:r>
            <a:r>
              <a:rPr lang="en-US" dirty="0" smtClean="0"/>
              <a:t>.</a:t>
            </a:r>
          </a:p>
          <a:p>
            <a:r>
              <a:rPr lang="en-US" dirty="0"/>
              <a:t>Where:</a:t>
            </a:r>
          </a:p>
          <a:p>
            <a:r>
              <a:rPr lang="en-US" dirty="0"/>
              <a:t>TP = True Positives</a:t>
            </a:r>
          </a:p>
          <a:p>
            <a:r>
              <a:rPr lang="en-US" dirty="0"/>
              <a:t>FP = False Positives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Precision</a:t>
            </a:r>
            <a:r>
              <a:rPr lang="en-US" dirty="0"/>
              <a:t> helps ensure that when the model predicts a positive outcome, it’s likely to be correct.</a:t>
            </a:r>
            <a:endParaRPr lang="en-US" b="1" dirty="0"/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07134" y="3195687"/>
            <a:ext cx="4578407" cy="15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61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59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Recall</a:t>
            </a:r>
          </a:p>
          <a:p>
            <a:r>
              <a:rPr lang="en-US" dirty="0">
                <a:hlinkClick r:id="rId2"/>
              </a:rPr>
              <a:t>Recall </a:t>
            </a:r>
            <a:r>
              <a:rPr lang="en-US" dirty="0"/>
              <a:t>or Sensitivity measures how many of the actual positive cases were correctly identified by the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is important when missing a positive case (false negative) is more costly than false positives</a:t>
            </a:r>
            <a:r>
              <a:rPr lang="en-US" dirty="0" smtClean="0"/>
              <a:t>.</a:t>
            </a:r>
          </a:p>
          <a:p>
            <a:r>
              <a:rPr lang="en-US" dirty="0"/>
              <a:t>Where:</a:t>
            </a:r>
          </a:p>
          <a:p>
            <a:r>
              <a:rPr lang="en-US" dirty="0"/>
              <a:t>FN = False Negatives</a:t>
            </a:r>
          </a:p>
          <a:p>
            <a:r>
              <a:rPr lang="en-US" dirty="0"/>
              <a:t>In scenarios where catching all positive cases is important (like disease detection), recall is a key metric.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21440" y="2752627"/>
            <a:ext cx="4680919" cy="185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3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59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4. F1 Score</a:t>
            </a:r>
          </a:p>
          <a:p>
            <a:r>
              <a:rPr lang="en-US" dirty="0"/>
              <a:t>The</a:t>
            </a:r>
            <a:r>
              <a:rPr lang="en-US" dirty="0">
                <a:hlinkClick r:id="rId2"/>
              </a:rPr>
              <a:t> F1 Score</a:t>
            </a:r>
            <a:r>
              <a:rPr lang="en-US" dirty="0"/>
              <a:t> is the harmonic mean of precision and recall.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useful when we need a balance between precision and recall as it combines both into a single number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 high F1 score means the model performs well on both metrics. Its range is [0,1]. </a:t>
            </a:r>
          </a:p>
          <a:p>
            <a:r>
              <a:rPr lang="en-US" dirty="0"/>
              <a:t>Lower recall and higher precision gives us great accuracy but then it misses a large number of instances. </a:t>
            </a:r>
            <a:endParaRPr lang="en-US" dirty="0" smtClean="0"/>
          </a:p>
          <a:p>
            <a:r>
              <a:rPr lang="en-US" dirty="0" smtClean="0"/>
              <a:t>More </a:t>
            </a:r>
            <a:r>
              <a:rPr lang="en-US" dirty="0"/>
              <a:t>the F1 score better will be performance.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can be expressed mathematically in this way: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02389" y="3063711"/>
            <a:ext cx="3955252" cy="148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39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etrics for Classification Model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06" y="546755"/>
            <a:ext cx="11227324" cy="559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684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38985"/>
          </a:xfrm>
        </p:spPr>
        <p:txBody>
          <a:bodyPr>
            <a:normAutofit/>
          </a:bodyPr>
          <a:lstStyle/>
          <a:p>
            <a:r>
              <a:rPr lang="en-US" dirty="0"/>
              <a:t>Classification Issues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027522"/>
            <a:ext cx="6019800" cy="5830478"/>
          </a:xfrm>
        </p:spPr>
        <p:txBody>
          <a:bodyPr>
            <a:normAutofit/>
          </a:bodyPr>
          <a:lstStyle/>
          <a:p>
            <a:r>
              <a:rPr lang="en-US" dirty="0"/>
              <a:t>Classification models may not always perform well due to learning problems such as:</a:t>
            </a:r>
          </a:p>
          <a:p>
            <a:r>
              <a:rPr lang="en-US" dirty="0"/>
              <a:t>Overfitting </a:t>
            </a:r>
          </a:p>
          <a:p>
            <a:r>
              <a:rPr lang="en-US" dirty="0" err="1"/>
              <a:t>Underfitting</a:t>
            </a:r>
            <a:r>
              <a:rPr lang="en-US" dirty="0"/>
              <a:t> </a:t>
            </a:r>
          </a:p>
          <a:p>
            <a:r>
              <a:rPr lang="en-US" dirty="0"/>
              <a:t>Data imbalance </a:t>
            </a:r>
          </a:p>
          <a:p>
            <a:r>
              <a:rPr lang="en-US" dirty="0"/>
              <a:t>Noise in data </a:t>
            </a:r>
          </a:p>
          <a:p>
            <a:r>
              <a:rPr lang="en-US" dirty="0"/>
              <a:t>Insufficient training data </a:t>
            </a:r>
          </a:p>
          <a:p>
            <a:r>
              <a:rPr lang="en-US" dirty="0"/>
              <a:t>These issues reduce prediction accuracy and model performance.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5957" y="1027522"/>
            <a:ext cx="5722071" cy="5830478"/>
          </a:xfrm>
        </p:spPr>
        <p:txBody>
          <a:bodyPr>
            <a:normAutofit/>
          </a:bodyPr>
          <a:lstStyle/>
          <a:p>
            <a:r>
              <a:rPr lang="en-US" b="1" dirty="0"/>
              <a:t>What is Overfitting?</a:t>
            </a:r>
          </a:p>
          <a:p>
            <a:r>
              <a:rPr lang="en-US" dirty="0" smtClean="0"/>
              <a:t>Overfitting </a:t>
            </a:r>
            <a:r>
              <a:rPr lang="en-US" dirty="0"/>
              <a:t>occurs when a model learns the training data too well, including noise and unnecessary details.</a:t>
            </a:r>
          </a:p>
          <a:p>
            <a:r>
              <a:rPr lang="en-US" dirty="0"/>
              <a:t>Characteristics:</a:t>
            </a:r>
          </a:p>
          <a:p>
            <a:r>
              <a:rPr lang="en-US" dirty="0"/>
              <a:t>Very high training accuracy </a:t>
            </a:r>
          </a:p>
          <a:p>
            <a:r>
              <a:rPr lang="en-US" dirty="0"/>
              <a:t>Low testing accuracy </a:t>
            </a:r>
          </a:p>
          <a:p>
            <a:r>
              <a:rPr lang="en-US" dirty="0"/>
              <a:t>Poor generalization on new data 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 student memorizes answers instead of understanding concepts.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420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94755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Causes of Overfitting</a:t>
            </a:r>
          </a:p>
          <a:p>
            <a:r>
              <a:rPr lang="en-US" dirty="0"/>
              <a:t>Main causes:</a:t>
            </a:r>
          </a:p>
          <a:p>
            <a:r>
              <a:rPr lang="en-US" dirty="0"/>
              <a:t>Small training dataset </a:t>
            </a:r>
          </a:p>
          <a:p>
            <a:r>
              <a:rPr lang="en-US" dirty="0"/>
              <a:t>Excessive model complexity </a:t>
            </a:r>
          </a:p>
          <a:p>
            <a:r>
              <a:rPr lang="en-US" dirty="0"/>
              <a:t>Too many features </a:t>
            </a:r>
          </a:p>
          <a:p>
            <a:r>
              <a:rPr lang="en-US" dirty="0"/>
              <a:t>Training for too many iterations </a:t>
            </a:r>
          </a:p>
          <a:p>
            <a:r>
              <a:rPr lang="en-US" dirty="0"/>
              <a:t>Presence of noise in data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0"/>
            <a:ext cx="5809268" cy="6777872"/>
          </a:xfrm>
        </p:spPr>
        <p:txBody>
          <a:bodyPr/>
          <a:lstStyle/>
          <a:p>
            <a:r>
              <a:rPr lang="en-US" b="1" dirty="0"/>
              <a:t>Problems Caused by Overfitting</a:t>
            </a:r>
          </a:p>
          <a:p>
            <a:r>
              <a:rPr lang="en-US" dirty="0"/>
              <a:t>Effects:</a:t>
            </a:r>
          </a:p>
          <a:p>
            <a:r>
              <a:rPr lang="en-US" dirty="0"/>
              <a:t>Poor prediction on unseen data </a:t>
            </a:r>
          </a:p>
          <a:p>
            <a:r>
              <a:rPr lang="en-US" dirty="0"/>
              <a:t>Increased variance </a:t>
            </a:r>
          </a:p>
          <a:p>
            <a:r>
              <a:rPr lang="en-US" dirty="0"/>
              <a:t>Reduced model reliability </a:t>
            </a:r>
          </a:p>
          <a:p>
            <a:r>
              <a:rPr lang="en-US" dirty="0"/>
              <a:t>High computational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593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</a:t>
            </a:r>
            <a:r>
              <a:rPr lang="en-US" b="1" dirty="0" err="1"/>
              <a:t>Underfitting</a:t>
            </a:r>
            <a:r>
              <a:rPr lang="en-US" b="1" dirty="0"/>
              <a:t>?</a:t>
            </a:r>
          </a:p>
          <a:p>
            <a:r>
              <a:rPr lang="en-US" dirty="0" err="1" smtClean="0"/>
              <a:t>Underfitting</a:t>
            </a:r>
            <a:r>
              <a:rPr lang="en-US" dirty="0" smtClean="0"/>
              <a:t> </a:t>
            </a:r>
            <a:r>
              <a:rPr lang="en-US" dirty="0"/>
              <a:t>occurs when a model cannot capture patterns from training data.</a:t>
            </a:r>
          </a:p>
          <a:p>
            <a:r>
              <a:rPr lang="en-US" dirty="0"/>
              <a:t>Characteristics:</a:t>
            </a:r>
          </a:p>
          <a:p>
            <a:r>
              <a:rPr lang="en-US" dirty="0"/>
              <a:t>Low training accuracy </a:t>
            </a:r>
          </a:p>
          <a:p>
            <a:r>
              <a:rPr lang="en-US" dirty="0"/>
              <a:t>Low testing accuracy </a:t>
            </a:r>
          </a:p>
          <a:p>
            <a:r>
              <a:rPr lang="en-US" dirty="0"/>
              <a:t>Poor learning capability 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 student studies too little and cannot understand concepts.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45097"/>
            <a:ext cx="5865829" cy="6513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Causes of </a:t>
            </a:r>
            <a:r>
              <a:rPr lang="en-US" b="1" dirty="0" err="1"/>
              <a:t>Underfitting</a:t>
            </a:r>
            <a:endParaRPr lang="en-US" b="1" dirty="0"/>
          </a:p>
          <a:p>
            <a:r>
              <a:rPr lang="en-US" dirty="0"/>
              <a:t>Main causes:</a:t>
            </a:r>
          </a:p>
          <a:p>
            <a:r>
              <a:rPr lang="en-US" dirty="0"/>
              <a:t>Very simple model </a:t>
            </a:r>
          </a:p>
          <a:p>
            <a:r>
              <a:rPr lang="en-US" dirty="0"/>
              <a:t>Insufficient training time </a:t>
            </a:r>
          </a:p>
          <a:p>
            <a:r>
              <a:rPr lang="en-US" dirty="0"/>
              <a:t>Too few features </a:t>
            </a:r>
          </a:p>
          <a:p>
            <a:r>
              <a:rPr lang="en-US" dirty="0"/>
              <a:t>Excessive regularization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759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K-fold cross validation,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423446"/>
            <a:ext cx="6019800" cy="5434553"/>
          </a:xfrm>
        </p:spPr>
        <p:txBody>
          <a:bodyPr>
            <a:normAutofit/>
          </a:bodyPr>
          <a:lstStyle/>
          <a:p>
            <a:r>
              <a:rPr lang="en-US" dirty="0" smtClean="0"/>
              <a:t>K-Fold </a:t>
            </a:r>
            <a:r>
              <a:rPr lang="en-US" dirty="0"/>
              <a:t>Cross Validation is a model evaluation technique used in machine learning to assess the performance of a model.</a:t>
            </a:r>
          </a:p>
          <a:p>
            <a:pPr marL="0" indent="0">
              <a:buNone/>
            </a:pPr>
            <a:r>
              <a:rPr lang="en-US" dirty="0"/>
              <a:t>Purpose:</a:t>
            </a:r>
          </a:p>
          <a:p>
            <a:r>
              <a:rPr lang="en-US" dirty="0"/>
              <a:t>Evaluate model reliability </a:t>
            </a:r>
          </a:p>
          <a:p>
            <a:r>
              <a:rPr lang="en-US" dirty="0"/>
              <a:t>Reduce overfitting </a:t>
            </a:r>
          </a:p>
          <a:p>
            <a:r>
              <a:rPr lang="en-US" dirty="0"/>
              <a:t>Improve prediction accuracy </a:t>
            </a:r>
          </a:p>
          <a:p>
            <a:r>
              <a:rPr lang="en-US" dirty="0"/>
              <a:t>Use data efficiently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690688"/>
            <a:ext cx="5894109" cy="4926928"/>
          </a:xfrm>
        </p:spPr>
        <p:txBody>
          <a:bodyPr>
            <a:normAutofit/>
          </a:bodyPr>
          <a:lstStyle/>
          <a:p>
            <a:r>
              <a:rPr lang="en-US" b="1" dirty="0"/>
              <a:t>Why Use K-Fold Cross Validation?</a:t>
            </a:r>
          </a:p>
          <a:p>
            <a:r>
              <a:rPr lang="en-US" dirty="0"/>
              <a:t>Problems with simple train-test split:</a:t>
            </a:r>
          </a:p>
          <a:p>
            <a:r>
              <a:rPr lang="en-US" dirty="0"/>
              <a:t>Results may depend on random data selection </a:t>
            </a:r>
          </a:p>
          <a:p>
            <a:r>
              <a:rPr lang="en-US" dirty="0"/>
              <a:t>Some data may not be used effectively </a:t>
            </a:r>
          </a:p>
          <a:p>
            <a:r>
              <a:rPr lang="en-US" dirty="0"/>
              <a:t>Performance estimation may be inaccurate </a:t>
            </a:r>
          </a:p>
          <a:p>
            <a:r>
              <a:rPr lang="en-US" dirty="0"/>
              <a:t>K-Fold solves these problems by using all data for training and testing.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474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r>
              <a:rPr lang="en-US" b="1" dirty="0"/>
              <a:t>Basic Working Principle</a:t>
            </a:r>
          </a:p>
          <a:p>
            <a:r>
              <a:rPr lang="en-US" dirty="0"/>
              <a:t>Steps:</a:t>
            </a:r>
          </a:p>
          <a:p>
            <a:r>
              <a:rPr lang="en-US" dirty="0"/>
              <a:t>Divide dataset into </a:t>
            </a:r>
            <a:r>
              <a:rPr lang="en-US" b="1" dirty="0"/>
              <a:t>K equal subsets (folds)</a:t>
            </a:r>
            <a:r>
              <a:rPr lang="en-US" dirty="0"/>
              <a:t> </a:t>
            </a:r>
          </a:p>
          <a:p>
            <a:r>
              <a:rPr lang="en-US" dirty="0"/>
              <a:t>Select one fold as testing data </a:t>
            </a:r>
          </a:p>
          <a:p>
            <a:r>
              <a:rPr lang="en-US" dirty="0"/>
              <a:t>Use remaining folds for training </a:t>
            </a:r>
          </a:p>
          <a:p>
            <a:r>
              <a:rPr lang="en-US" dirty="0"/>
              <a:t>Train and evaluate the model </a:t>
            </a:r>
          </a:p>
          <a:p>
            <a:r>
              <a:rPr lang="en-US" dirty="0"/>
              <a:t>Repeat until all folds are used once as testing data </a:t>
            </a:r>
          </a:p>
          <a:p>
            <a:r>
              <a:rPr lang="en-US" dirty="0"/>
              <a:t>Calculate average performance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7963"/>
            <a:ext cx="5181600" cy="597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</a:t>
            </a:r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Better use of data</a:t>
            </a:r>
            <a:br>
              <a:rPr lang="en-US" dirty="0"/>
            </a:br>
            <a:r>
              <a:rPr lang="en-US" dirty="0"/>
              <a:t>✓ Reduces overfitting</a:t>
            </a:r>
            <a:br>
              <a:rPr lang="en-US" dirty="0"/>
            </a:br>
            <a:r>
              <a:rPr lang="en-US" dirty="0"/>
              <a:t>✓ More reliable evaluation</a:t>
            </a:r>
            <a:br>
              <a:rPr lang="en-US" dirty="0"/>
            </a:br>
            <a:r>
              <a:rPr lang="en-US" dirty="0"/>
              <a:t>✓ Lower bias</a:t>
            </a:r>
            <a:br>
              <a:rPr lang="en-US" dirty="0"/>
            </a:br>
            <a:r>
              <a:rPr lang="en-US" dirty="0"/>
              <a:t>✓ Suitable for small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276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Disadvantages</a:t>
            </a:r>
          </a:p>
          <a:p>
            <a:r>
              <a:rPr lang="en-US" dirty="0" smtClean="0"/>
              <a:t>Computationally expensive</a:t>
            </a:r>
          </a:p>
          <a:p>
            <a:r>
              <a:rPr lang="en-US" dirty="0" smtClean="0"/>
              <a:t>Requires </a:t>
            </a:r>
            <a:r>
              <a:rPr lang="en-US" dirty="0"/>
              <a:t>repeated model </a:t>
            </a:r>
            <a:r>
              <a:rPr lang="en-US" dirty="0" smtClean="0"/>
              <a:t>training</a:t>
            </a:r>
          </a:p>
          <a:p>
            <a:r>
              <a:rPr lang="en-US" dirty="0" smtClean="0"/>
              <a:t> </a:t>
            </a:r>
            <a:r>
              <a:rPr lang="en-US" dirty="0"/>
              <a:t>Slow for large datasets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69682"/>
            <a:ext cx="5865829" cy="6579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Applications</a:t>
            </a:r>
          </a:p>
          <a:p>
            <a:r>
              <a:rPr lang="en-US" dirty="0"/>
              <a:t>Applications of K-Fold Cross Validation:</a:t>
            </a:r>
          </a:p>
          <a:p>
            <a:r>
              <a:rPr lang="en-US" dirty="0"/>
              <a:t>Classification problems </a:t>
            </a:r>
          </a:p>
          <a:p>
            <a:r>
              <a:rPr lang="en-US" dirty="0"/>
              <a:t>Regression models </a:t>
            </a:r>
          </a:p>
          <a:p>
            <a:r>
              <a:rPr lang="en-US" dirty="0"/>
              <a:t>Medical prediction systems </a:t>
            </a:r>
          </a:p>
          <a:p>
            <a:r>
              <a:rPr lang="en-US" dirty="0"/>
              <a:t>Image recognition </a:t>
            </a:r>
          </a:p>
          <a:p>
            <a:r>
              <a:rPr lang="en-US" dirty="0"/>
              <a:t>Fraud detection </a:t>
            </a:r>
          </a:p>
          <a:p>
            <a:r>
              <a:rPr lang="en-US" dirty="0"/>
              <a:t>Machine learning model selection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42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1498</Words>
  <Application>Microsoft Office PowerPoint</Application>
  <PresentationFormat>Widescreen</PresentationFormat>
  <Paragraphs>273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 Unicode MS</vt:lpstr>
      <vt:lpstr>Arial</vt:lpstr>
      <vt:lpstr>Calibri</vt:lpstr>
      <vt:lpstr>Calibri Light</vt:lpstr>
      <vt:lpstr>Office Theme</vt:lpstr>
      <vt:lpstr>Classification and Prediction </vt:lpstr>
      <vt:lpstr>Classification</vt:lpstr>
      <vt:lpstr> Prediction </vt:lpstr>
      <vt:lpstr>PowerPoint Presentation</vt:lpstr>
      <vt:lpstr> Learning (Training) Phase </vt:lpstr>
      <vt:lpstr>PowerPoint Presentation</vt:lpstr>
      <vt:lpstr> Real-Life Example </vt:lpstr>
      <vt:lpstr>Classification by Decision Tree Induction, ID3 Algorithm, and Rule-Based Classifier</vt:lpstr>
      <vt:lpstr>PowerPoint Presentation</vt:lpstr>
      <vt:lpstr>PowerPoint Presentation</vt:lpstr>
      <vt:lpstr>PowerPoint Presentation</vt:lpstr>
      <vt:lpstr>PowerPoint Presentation</vt:lpstr>
      <vt:lpstr>Introduction to SVM </vt:lpstr>
      <vt:lpstr>PowerPoint Presentation</vt:lpstr>
      <vt:lpstr>PowerPoint Presentation</vt:lpstr>
      <vt:lpstr>PowerPoint Presentation</vt:lpstr>
      <vt:lpstr>PowerPoint Presentation</vt:lpstr>
      <vt:lpstr>Evaluation Metrics in Machine Learning</vt:lpstr>
      <vt:lpstr> Classification Metrics </vt:lpstr>
      <vt:lpstr>PowerPoint Presentation</vt:lpstr>
      <vt:lpstr>PowerPoint Presentation</vt:lpstr>
      <vt:lpstr>PowerPoint Presentation</vt:lpstr>
      <vt:lpstr>PowerPoint Presentation</vt:lpstr>
      <vt:lpstr>Classification Issues in Machine Learning</vt:lpstr>
      <vt:lpstr>PowerPoint Presentation</vt:lpstr>
      <vt:lpstr>PowerPoint Presentation</vt:lpstr>
      <vt:lpstr>K-fold cross validation,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13</cp:revision>
  <dcterms:created xsi:type="dcterms:W3CDTF">2026-06-10T18:54:00Z</dcterms:created>
  <dcterms:modified xsi:type="dcterms:W3CDTF">2026-07-06T02:55:58Z</dcterms:modified>
</cp:coreProperties>
</file>