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6" r:id="rId5"/>
    <p:sldId id="258" r:id="rId6"/>
    <p:sldId id="259" r:id="rId7"/>
    <p:sldId id="263" r:id="rId8"/>
    <p:sldId id="260" r:id="rId9"/>
    <p:sldId id="261" r:id="rId10"/>
    <p:sldId id="262" r:id="rId11"/>
    <p:sldId id="268" r:id="rId12"/>
    <p:sldId id="271" r:id="rId13"/>
    <p:sldId id="272" r:id="rId14"/>
    <p:sldId id="273" r:id="rId15"/>
    <p:sldId id="274" r:id="rId16"/>
    <p:sldId id="270" r:id="rId17"/>
    <p:sldId id="275" r:id="rId18"/>
    <p:sldId id="267" r:id="rId19"/>
    <p:sldId id="276" r:id="rId20"/>
    <p:sldId id="277" r:id="rId21"/>
    <p:sldId id="264" r:id="rId22"/>
    <p:sldId id="265" r:id="rId23"/>
    <p:sldId id="278" r:id="rId24"/>
    <p:sldId id="279" r:id="rId25"/>
    <p:sldId id="280" r:id="rId26"/>
    <p:sldId id="281" r:id="rId27"/>
    <p:sldId id="282" r:id="rId28"/>
    <p:sldId id="269" r:id="rId29"/>
    <p:sldId id="284" r:id="rId30"/>
    <p:sldId id="283" r:id="rId31"/>
    <p:sldId id="28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varScale="1">
        <p:scale>
          <a:sx n="68" d="100"/>
          <a:sy n="68" d="100"/>
        </p:scale>
        <p:origin x="6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2C9AEDA-B755-42D9-8D91-EBE7CFA598A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2C9AEDA-B755-42D9-8D91-EBE7CFA598A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2C9AEDA-B755-42D9-8D91-EBE7CFA598A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C9AEDA-B755-42D9-8D91-EBE7CFA598A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2C9AEDA-B755-42D9-8D91-EBE7CFA598A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2C9AEDA-B755-42D9-8D91-EBE7CFA598A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C9AEDA-B755-42D9-8D91-EBE7CFA598A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F0A20-E04B-4440-939C-1F22DAC67337}"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data-warehousing/"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data-warehousing/"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oogle.com/search?client=firefox-b-d&amp;q=Google+BigQuery&amp;mstk=AUtExfAVBKBLb1uM5whJDXMXJ8Swp5icCnSRxjS4uy9pHYmcW0TzWn7KZdtYqEUt4FVBD6lm1a6oMnVgXppTOHuHZ0WfUKgPo_eboqqjc_AtHYxioL96glpmHCPiQ-My9uApGkmiqjvzF_mdaLkjhEn7IYGyleBe6YGVUpCSgxsOKoC49NQ&amp;csui=3&amp;ved=2ahUKEwjpz4H2pf6TAxWzyDgGHcqACjgQgK4QegQIAxAH"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oogle.com/search?q=Data+Lakehouse&amp;client=firefox-b-d&amp;hs=GPkp&amp;sca_esv=30b933525b8ea3e1&amp;sxsrf=ANbL-n7vwtVQt1qLvL7TusB4yOZ82_WcBQ:1776752250407&amp;ei=ehbnaceqGMuYjuMPit-QGQ&amp;biw=1280&amp;bih=595&amp;ved=2ahUKEwiz0KGgpv6TAxWsSGcHHWgXB9gQgK4QegQIAxAC&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www.google.com/search?q=Data+Mesh+%26+Data+Fabric&amp;client=firefox-b-d&amp;hs=GPkp&amp;sca_esv=30b933525b8ea3e1&amp;sxsrf=ANbL-n7vwtVQt1qLvL7TusB4yOZ82_WcBQ:1776752250407&amp;ei=ehbnaceqGMuYjuMPit-QGQ&amp;biw=1280&amp;bih=595&amp;ved=2ahUKEwiz0KGgpv6TAxWsSGcHHWgXB9gQgK4QegQIAxAM&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 Id="rId4" Type="http://schemas.openxmlformats.org/officeDocument/2006/relationships/hyperlink" Target="https://www.google.com/search?q=Serverless+Data+Warehousing&amp;client=firefox-b-d&amp;hs=GPkp&amp;sca_esv=30b933525b8ea3e1&amp;sxsrf=ANbL-n7vwtVQt1qLvL7TusB4yOZ82_WcBQ:1776752250407&amp;ei=ehbnaceqGMuYjuMPit-QGQ&amp;biw=1280&amp;bih=595&amp;ved=2ahUKEwiz0KGgpv6TAxWsSGcHHWgXB9gQgK4QegQIAxAK&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 Id="rId3" Type="http://schemas.openxmlformats.org/officeDocument/2006/relationships/hyperlink" Target="https://www.google.com/search?q=Zero-Copy+Data+Sharing&amp;client=firefox-b-d&amp;hs=GPkp&amp;sca_esv=30b933525b8ea3e1&amp;sxsrf=ANbL-n7vwtVQt1qLvL7TusB4yOZ82_WcBQ:1776752250407&amp;ei=ehbnaceqGMuYjuMPit-QGQ&amp;biw=1280&amp;bih=595&amp;ved=2ahUKEwiz0KGgpv6TAxWsSGcHHWgXB9gQgK4QegQIAxAI&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 Id="rId2" Type="http://schemas.openxmlformats.org/officeDocument/2006/relationships/hyperlink" Target="https://www.google.com/search?q=AI+%26+Automation&amp;client=firefox-b-d&amp;hs=GPkp&amp;sca_esv=30b933525b8ea3e1&amp;sxsrf=ANbL-n7vwtVQt1qLvL7TusB4yOZ82_WcBQ:1776752250407&amp;ei=ehbnaceqGMuYjuMPit-QGQ&amp;biw=1280&amp;bih=595&amp;ved=2ahUKEwiz0KGgpv6TAxWsSGcHHWgXB9gQgK4QegQIAxAG&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 Id="rId1" Type="http://schemas.openxmlformats.org/officeDocument/2006/relationships/hyperlink" Target="https://www.google.com/search?q=Real-Time+Data+Processing&amp;client=firefox-b-d&amp;hs=GPkp&amp;sca_esv=30b933525b8ea3e1&amp;sxsrf=ANbL-n7vwtVQt1qLvL7TusB4yOZ82_WcBQ:1776752250407&amp;ei=ehbnaceqGMuYjuMPit-QGQ&amp;biw=1280&amp;bih=595&amp;ved=2ahUKEwiz0KGgpv6TAxWsSGcHHWgXB9gQgK4QegQIAxAE&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Introduction to  Data Warehouse </a:t>
            </a:r>
            <a:endParaRPr lang="en-US" b="1" dirty="0"/>
          </a:p>
        </p:txBody>
      </p:sp>
      <p:sp>
        <p:nvSpPr>
          <p:cNvPr id="3" name="Subtitle 2"/>
          <p:cNvSpPr>
            <a:spLocks noGrp="1"/>
          </p:cNvSpPr>
          <p:nvPr>
            <p:ph type="subTitle" idx="1"/>
          </p:nvPr>
        </p:nvSpPr>
        <p:spPr/>
        <p:txBody>
          <a:bodyPr>
            <a:normAutofit/>
          </a:bodyPr>
          <a:lstStyle/>
          <a:p>
            <a:r>
              <a:rPr lang="en-US" sz="4400" dirty="0"/>
              <a:t>Unit 1 </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b="1" dirty="0"/>
              <a:t>Introduction :</a:t>
            </a:r>
            <a:endParaRPr lang="en-US" dirty="0"/>
          </a:p>
          <a:p>
            <a:r>
              <a:rPr lang="en-US" dirty="0"/>
              <a:t>A data warehouse is a centralized repository for storing and managing large amounts of data from various sources for analysis and reporting.</a:t>
            </a:r>
            <a:endParaRPr lang="en-US" dirty="0"/>
          </a:p>
          <a:p>
            <a:endParaRPr lang="en-US" dirty="0"/>
          </a:p>
          <a:p>
            <a:r>
              <a:rPr lang="en-US" dirty="0"/>
              <a:t> It is optimized for fast querying and analysis, enabling organizations to make informed decisions by providing a single source of truth for data. </a:t>
            </a:r>
            <a:endParaRPr lang="en-US" dirty="0"/>
          </a:p>
          <a:p>
            <a:endParaRPr lang="en-US" dirty="0"/>
          </a:p>
          <a:p>
            <a:r>
              <a:rPr lang="en-US" dirty="0"/>
              <a:t>Data warehousing typically involves transforming and integrating data from multiple sources into a unified, organized, and consistent format.</a:t>
            </a:r>
            <a:endParaRPr lang="en-US" dirty="0"/>
          </a:p>
          <a:p>
            <a:endParaRPr lang="en-US" dirty="0"/>
          </a:p>
          <a:p>
            <a:r>
              <a:rPr lang="en-US" dirty="0">
                <a:hlinkClick r:id="rId1"/>
              </a:rPr>
              <a:t>Data Warehousing</a:t>
            </a:r>
            <a:r>
              <a:rPr lang="en-US" dirty="0"/>
              <a:t> Data warehouse can be controlled when the user has a shared way of explaining the trends that are introduced as specific subject.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0"/>
            <a:ext cx="6019800" cy="6858000"/>
          </a:xfrm>
        </p:spPr>
        <p:txBody>
          <a:bodyPr>
            <a:normAutofit/>
          </a:bodyPr>
          <a:lstStyle/>
          <a:p>
            <a:pPr algn="just"/>
            <a:r>
              <a:rPr lang="en-US" b="0" dirty="0">
                <a:effectLst/>
              </a:rPr>
              <a:t>A data warehouse is nothing but an electronic storage that stores </a:t>
            </a:r>
            <a:r>
              <a:rPr lang="en-US" dirty="0"/>
              <a:t>large </a:t>
            </a:r>
            <a:r>
              <a:rPr lang="en-US" b="0" dirty="0">
                <a:effectLst/>
              </a:rPr>
              <a:t> amounts of business information. </a:t>
            </a:r>
            <a:endParaRPr lang="en-US" b="0" dirty="0">
              <a:effectLst/>
            </a:endParaRPr>
          </a:p>
          <a:p>
            <a:pPr algn="just"/>
            <a:endParaRPr lang="en-US" b="0" dirty="0">
              <a:effectLst/>
            </a:endParaRPr>
          </a:p>
          <a:p>
            <a:pPr algn="just"/>
            <a:r>
              <a:rPr lang="en-US" b="0" dirty="0">
                <a:effectLst/>
              </a:rPr>
              <a:t>It is  designed for both query and analysis rather than processing transactions.</a:t>
            </a:r>
            <a:endParaRPr lang="en-US" b="0" dirty="0">
              <a:effectLst/>
            </a:endParaRPr>
          </a:p>
          <a:p>
            <a:pPr algn="just"/>
            <a:endParaRPr lang="en-US" dirty="0"/>
          </a:p>
          <a:p>
            <a:pPr algn="just"/>
            <a:r>
              <a:rPr lang="en-US" b="0" dirty="0">
                <a:effectLst/>
              </a:rPr>
              <a:t>Data warehousing is a unique technique that helps collect and manage data from various sources. </a:t>
            </a:r>
            <a:endParaRPr lang="en-US" b="0" dirty="0">
              <a:effectLst/>
            </a:endParaRPr>
          </a:p>
          <a:p>
            <a:pPr algn="just"/>
            <a:endParaRPr lang="en-US" b="0" dirty="0">
              <a:effectLst/>
            </a:endParaRPr>
          </a:p>
          <a:p>
            <a:pPr algn="just"/>
            <a:r>
              <a:rPr lang="en-US" b="0" dirty="0">
                <a:effectLst/>
              </a:rPr>
              <a:t>Furthermore, these data provide meaningful and valuable business insights. </a:t>
            </a:r>
            <a:endParaRPr lang="en-US" b="0" dirty="0">
              <a:effectLst/>
            </a:endParaRPr>
          </a:p>
          <a:p>
            <a:endParaRPr lang="en-US" dirty="0"/>
          </a:p>
        </p:txBody>
      </p:sp>
      <p:pic>
        <p:nvPicPr>
          <p:cNvPr id="12" name="Content Placeholder 11"/>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2" y="552450"/>
            <a:ext cx="5934075" cy="5143499"/>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0" y="0"/>
            <a:ext cx="7848600" cy="6858000"/>
          </a:xfrm>
        </p:spPr>
        <p:txBody>
          <a:bodyPr>
            <a:normAutofit fontScale="92500" lnSpcReduction="10000"/>
          </a:bodyPr>
          <a:lstStyle/>
          <a:p>
            <a:r>
              <a:rPr lang="en-US" dirty="0"/>
              <a:t>Below are major </a:t>
            </a:r>
            <a:r>
              <a:rPr lang="en-US" b="1" dirty="0"/>
              <a:t>characteristics</a:t>
            </a:r>
            <a:r>
              <a:rPr lang="en-US" dirty="0"/>
              <a:t> of data warehouse : </a:t>
            </a:r>
            <a:endParaRPr lang="en-US" dirty="0"/>
          </a:p>
          <a:p>
            <a:r>
              <a:rPr lang="en-US" b="1" dirty="0"/>
              <a:t>Subject-oriented –</a:t>
            </a:r>
            <a:r>
              <a:rPr lang="en-US" dirty="0"/>
              <a:t> A data warehouse is always a subject oriented as it delivers information about a theme instead of organization’s current operations. </a:t>
            </a:r>
            <a:endParaRPr lang="en-US" dirty="0"/>
          </a:p>
          <a:p>
            <a:r>
              <a:rPr lang="en-US" dirty="0"/>
              <a:t>It can be achieved on specific theme.</a:t>
            </a:r>
            <a:endParaRPr lang="en-US" dirty="0"/>
          </a:p>
          <a:p>
            <a:r>
              <a:rPr lang="en-US" dirty="0"/>
              <a:t> That means the data warehousing process is proposed to handle with a specific theme which is more defined. These themes can be sales, distributions, marketing etc. </a:t>
            </a:r>
            <a:endParaRPr lang="en-US" dirty="0"/>
          </a:p>
          <a:p>
            <a:br>
              <a:rPr lang="en-US" dirty="0"/>
            </a:br>
            <a:r>
              <a:rPr lang="en-US" dirty="0"/>
              <a:t>A data warehouse never put emphasis only current operations.</a:t>
            </a:r>
            <a:endParaRPr lang="en-US" dirty="0"/>
          </a:p>
          <a:p>
            <a:r>
              <a:rPr lang="en-US" dirty="0"/>
              <a:t> Instead, it focuses on demonstrating and analysis of data to make various decision.</a:t>
            </a:r>
            <a:endParaRPr lang="en-US" dirty="0"/>
          </a:p>
          <a:p>
            <a:r>
              <a:rPr lang="en-US" dirty="0"/>
              <a:t> It also delivers an easy and precise demonstration around particular theme by eliminating data which is not required to make the decisions.</a:t>
            </a:r>
            <a:endParaRPr lang="en-US"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48600" y="123825"/>
            <a:ext cx="4343400" cy="65722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r>
              <a:rPr lang="en-US" b="1" dirty="0"/>
              <a:t>Integrated –</a:t>
            </a:r>
            <a:r>
              <a:rPr lang="en-US" dirty="0"/>
              <a:t> It is somewhere same as subject orientation which is made in a reliable format.</a:t>
            </a:r>
            <a:endParaRPr lang="en-US" dirty="0"/>
          </a:p>
          <a:p>
            <a:r>
              <a:rPr lang="en-US" dirty="0"/>
              <a:t> Integration means founding a shared entity to scale the all-similar data from the different databases.</a:t>
            </a:r>
            <a:endParaRPr lang="en-US" dirty="0"/>
          </a:p>
          <a:p>
            <a:r>
              <a:rPr lang="en-US" dirty="0"/>
              <a:t> The data also required to be resided into various data warehouse in shared and generally granted manner. </a:t>
            </a:r>
            <a:endParaRPr lang="en-US" dirty="0"/>
          </a:p>
          <a:p>
            <a:br>
              <a:rPr lang="en-US" dirty="0"/>
            </a:br>
            <a:r>
              <a:rPr lang="en-US" dirty="0"/>
              <a:t>A data warehouse is built by integrating data from various sources of data such that a mainframe and a relational database.</a:t>
            </a:r>
            <a:endParaRPr lang="en-US" dirty="0"/>
          </a:p>
          <a:p>
            <a:r>
              <a:rPr lang="en-US" dirty="0"/>
              <a:t> In addition, it must have reliable naming conventions, format and codes.</a:t>
            </a:r>
            <a:endParaRPr lang="en-US" dirty="0"/>
          </a:p>
          <a:p>
            <a:endParaRPr lang="en-US" dirty="0"/>
          </a:p>
          <a:p>
            <a:r>
              <a:rPr lang="en-US" dirty="0"/>
              <a:t> Integration of data warehouse benefits in effective analysis of data. Reliability in naming conventions, column scaling, encoding structure etc. should be confirmed. </a:t>
            </a:r>
            <a:endParaRPr lang="en-US" dirty="0"/>
          </a:p>
          <a:p>
            <a:endParaRPr lang="en-US" dirty="0"/>
          </a:p>
          <a:p>
            <a:r>
              <a:rPr lang="en-US" dirty="0"/>
              <a:t>Integration of data warehouse handles various subject related warehouse.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Time-Variant –</a:t>
            </a:r>
            <a:r>
              <a:rPr lang="en-US" dirty="0"/>
              <a:t> In this data is maintained via different intervals of time such as weekly, monthly, or annually etc. </a:t>
            </a:r>
            <a:endParaRPr lang="en-US" dirty="0"/>
          </a:p>
          <a:p>
            <a:endParaRPr lang="en-US" dirty="0"/>
          </a:p>
          <a:p>
            <a:r>
              <a:rPr lang="en-US" dirty="0"/>
              <a:t>It founds various time limit which are structured between the large datasets and are held in online transaction process (OLTP). </a:t>
            </a:r>
            <a:endParaRPr lang="en-US" dirty="0"/>
          </a:p>
          <a:p>
            <a:endParaRPr lang="en-US" dirty="0"/>
          </a:p>
          <a:p>
            <a:r>
              <a:rPr lang="en-US" dirty="0"/>
              <a:t>The time limits for data warehouse is wide-ranged than that of operational systems. </a:t>
            </a:r>
            <a:endParaRPr lang="en-US" dirty="0"/>
          </a:p>
          <a:p>
            <a:endParaRPr lang="en-US" dirty="0"/>
          </a:p>
          <a:p>
            <a:r>
              <a:rPr lang="en-US" dirty="0"/>
              <a:t>The data resided in data warehouse is predictable with a specific interval of time and delivers information from the historical perspective.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5" y="76200"/>
            <a:ext cx="12277725" cy="6781800"/>
          </a:xfrm>
        </p:spPr>
        <p:txBody>
          <a:bodyPr/>
          <a:lstStyle/>
          <a:p>
            <a:r>
              <a:rPr lang="en-US" b="1" dirty="0"/>
              <a:t>Non-Volatile –</a:t>
            </a:r>
            <a:r>
              <a:rPr lang="en-US" dirty="0"/>
              <a:t> As the name defines the data resided in data warehouse is permanent.</a:t>
            </a:r>
            <a:endParaRPr lang="en-US" dirty="0"/>
          </a:p>
          <a:p>
            <a:r>
              <a:rPr lang="en-US" dirty="0"/>
              <a:t> It also means that data is not erased or deleted when new data is inserted.</a:t>
            </a:r>
            <a:endParaRPr lang="en-US" dirty="0"/>
          </a:p>
          <a:p>
            <a:endParaRPr lang="en-US" dirty="0"/>
          </a:p>
          <a:p>
            <a:r>
              <a:rPr lang="en-US" dirty="0"/>
              <a:t> It includes the mammoth quantity of data that is inserted into modification between the selected quantity on logical business.</a:t>
            </a:r>
            <a:endParaRPr lang="en-US" dirty="0"/>
          </a:p>
          <a:p>
            <a:endParaRPr lang="en-US" dirty="0"/>
          </a:p>
          <a:p>
            <a:r>
              <a:rPr lang="en-US" dirty="0"/>
              <a:t> It evaluates the analysis within the technologies of warehouse. </a:t>
            </a:r>
            <a:endParaRPr lang="en-US" dirty="0"/>
          </a:p>
          <a:p>
            <a:endParaRPr lang="en-US" dirty="0"/>
          </a:p>
          <a:p>
            <a:r>
              <a:rPr lang="en-US" dirty="0"/>
              <a:t>Data is not updated, once it is stored in the data warehouse, to maintain the historical data.</a:t>
            </a:r>
            <a:endParaRPr lang="en-US" dirty="0"/>
          </a:p>
          <a:p>
            <a:br>
              <a:rPr lang="en-US" dirty="0"/>
            </a:br>
            <a:r>
              <a:rPr lang="en-US" dirty="0"/>
              <a:t>In this, data is read-only and refreshed at particular intervals.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b="1" dirty="0"/>
              <a:t>Functions of Data warehouse:</a:t>
            </a:r>
            <a:r>
              <a:rPr lang="en-US" dirty="0"/>
              <a:t> </a:t>
            </a:r>
            <a:endParaRPr lang="en-US" dirty="0"/>
          </a:p>
          <a:p>
            <a:r>
              <a:rPr lang="en-US" dirty="0"/>
              <a:t>It has stocked facts about the tables which have high transaction levels which are observed so as to define the data warehousing techniques and major functions which are involved in this are mentioned below:</a:t>
            </a:r>
            <a:endParaRPr lang="en-US" dirty="0"/>
          </a:p>
          <a:p>
            <a:r>
              <a:rPr lang="en-US" u="sng" dirty="0"/>
              <a:t>Data Consolidation: </a:t>
            </a:r>
            <a:r>
              <a:rPr lang="en-US" dirty="0"/>
              <a:t>The process of combining multiple data sources into a single data repository in a data warehouse. This ensures a consistent and accurate view of the data.</a:t>
            </a:r>
            <a:endParaRPr lang="en-US" dirty="0"/>
          </a:p>
          <a:p>
            <a:r>
              <a:rPr lang="en-US" u="sng" dirty="0"/>
              <a:t>Data Cleaning: </a:t>
            </a:r>
            <a:r>
              <a:rPr lang="en-US" dirty="0"/>
              <a:t>The process of identifying and removing errors, inconsistencies, and irrelevant data from the data sources before they are integrated into the data warehouse. This helps ensure the data is accurate and trustworthy.</a:t>
            </a:r>
            <a:endParaRPr lang="en-US" dirty="0"/>
          </a:p>
          <a:p>
            <a:endParaRPr lang="en-US" dirty="0"/>
          </a:p>
          <a:p>
            <a:r>
              <a:rPr lang="en-US" u="sng" dirty="0"/>
              <a:t>Data Integration: </a:t>
            </a:r>
            <a:r>
              <a:rPr lang="en-US" dirty="0"/>
              <a:t>The process of combining data from multiple sources into a single, unified data repository in a data warehouse. This involves transforming the data into a consistent format and resolving any conflicts or discrepancies between the data sources.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77700" cy="6791325"/>
          </a:xfrm>
        </p:spPr>
        <p:txBody>
          <a:bodyPr>
            <a:normAutofit fontScale="92500" lnSpcReduction="10000"/>
          </a:bodyPr>
          <a:lstStyle/>
          <a:p>
            <a:r>
              <a:rPr lang="en-US" u="sng" dirty="0"/>
              <a:t>Data Storage:</a:t>
            </a:r>
            <a:r>
              <a:rPr lang="en-US" dirty="0"/>
              <a:t> A data warehouse can store large amounts of historical data and make it easily accessible for analysis.</a:t>
            </a:r>
            <a:endParaRPr lang="en-US" dirty="0"/>
          </a:p>
          <a:p>
            <a:endParaRPr lang="en-US" dirty="0"/>
          </a:p>
          <a:p>
            <a:r>
              <a:rPr lang="en-US" u="sng" dirty="0"/>
              <a:t>Data Transformation: </a:t>
            </a:r>
            <a:r>
              <a:rPr lang="en-US" dirty="0"/>
              <a:t>Data can be transformed and cleaned to remove inconsistencies, duplicate data, or irrelevant information.</a:t>
            </a:r>
            <a:endParaRPr lang="en-US" dirty="0"/>
          </a:p>
          <a:p>
            <a:endParaRPr lang="en-US" dirty="0"/>
          </a:p>
          <a:p>
            <a:r>
              <a:rPr lang="en-US" u="sng" dirty="0"/>
              <a:t>Data Analysis: </a:t>
            </a:r>
            <a:r>
              <a:rPr lang="en-US" dirty="0"/>
              <a:t>Data can be analyzed and visualized in various ways to gain insights and make informed decisions.</a:t>
            </a:r>
            <a:endParaRPr lang="en-US" dirty="0"/>
          </a:p>
          <a:p>
            <a:endParaRPr lang="en-US" dirty="0"/>
          </a:p>
          <a:p>
            <a:r>
              <a:rPr lang="en-US" u="sng" dirty="0"/>
              <a:t>Data Reporting: </a:t>
            </a:r>
            <a:r>
              <a:rPr lang="en-US" dirty="0"/>
              <a:t>A data warehouse can provide various reports and dashboards for different departments and stakeholders.</a:t>
            </a:r>
            <a:endParaRPr lang="en-US" dirty="0"/>
          </a:p>
          <a:p>
            <a:endParaRPr lang="en-US" dirty="0"/>
          </a:p>
          <a:p>
            <a:r>
              <a:rPr lang="en-US" u="sng" dirty="0"/>
              <a:t>Data Mining:</a:t>
            </a:r>
            <a:r>
              <a:rPr lang="en-US" dirty="0"/>
              <a:t> Data can be mined for patterns and trends to support decision-making and strategic planning.</a:t>
            </a:r>
            <a:endParaRPr lang="en-US" dirty="0"/>
          </a:p>
          <a:p>
            <a:endParaRPr lang="en-US" dirty="0"/>
          </a:p>
          <a:p>
            <a:r>
              <a:rPr lang="en-US" u="sng" dirty="0"/>
              <a:t>Performance Optimization: </a:t>
            </a:r>
            <a:r>
              <a:rPr lang="en-US" dirty="0"/>
              <a:t>Data warehouse systems are optimized for fast querying and analysis, providing quick access to data.</a:t>
            </a:r>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Applications of Data Warehouses:</a:t>
            </a:r>
            <a:endParaRPr lang="en-US" b="1" dirty="0"/>
          </a:p>
          <a:p>
            <a:r>
              <a:rPr lang="en-US" b="0" dirty="0">
                <a:effectLst/>
              </a:rPr>
              <a:t>The applications of data warehouses include:</a:t>
            </a:r>
            <a:endParaRPr lang="en-US" dirty="0"/>
          </a:p>
          <a:p>
            <a:pPr>
              <a:buFont typeface="Arial" panose="02080604020202020204" pitchFamily="34" charset="0"/>
              <a:buChar char="•"/>
            </a:pPr>
            <a:r>
              <a:rPr lang="en-US" b="0" dirty="0">
                <a:effectLst/>
              </a:rPr>
              <a:t>Banking Services</a:t>
            </a:r>
            <a:endParaRPr lang="en-US" b="0" dirty="0">
              <a:effectLst/>
            </a:endParaRPr>
          </a:p>
          <a:p>
            <a:pPr>
              <a:buFont typeface="Arial" panose="02080604020202020204" pitchFamily="34" charset="0"/>
              <a:buChar char="•"/>
            </a:pPr>
            <a:r>
              <a:rPr lang="en-US" b="0" dirty="0">
                <a:effectLst/>
              </a:rPr>
              <a:t>Consumer Goods</a:t>
            </a:r>
            <a:endParaRPr lang="en-US" b="0" dirty="0">
              <a:effectLst/>
            </a:endParaRPr>
          </a:p>
          <a:p>
            <a:pPr>
              <a:buFont typeface="Arial" panose="02080604020202020204" pitchFamily="34" charset="0"/>
              <a:buChar char="•"/>
            </a:pPr>
            <a:r>
              <a:rPr lang="en-US" b="0" dirty="0">
                <a:effectLst/>
              </a:rPr>
              <a:t>Manufacturing</a:t>
            </a:r>
            <a:endParaRPr lang="en-US" b="0" dirty="0">
              <a:effectLst/>
            </a:endParaRPr>
          </a:p>
          <a:p>
            <a:pPr>
              <a:buFont typeface="Arial" panose="02080604020202020204" pitchFamily="34" charset="0"/>
              <a:buChar char="•"/>
            </a:pPr>
            <a:r>
              <a:rPr lang="en-US" b="0" dirty="0">
                <a:effectLst/>
              </a:rPr>
              <a:t>Financial Services</a:t>
            </a:r>
            <a:endParaRPr lang="en-US" b="0" dirty="0">
              <a:effectLst/>
            </a:endParaRPr>
          </a:p>
          <a:p>
            <a:pPr>
              <a:buFont typeface="Arial" panose="02080604020202020204" pitchFamily="34" charset="0"/>
              <a:buChar char="•"/>
            </a:pPr>
            <a:r>
              <a:rPr lang="en-US" b="0" dirty="0">
                <a:effectLst/>
              </a:rPr>
              <a:t>Retail Sectors</a:t>
            </a:r>
            <a:endParaRPr lang="en-US" b="0" dirty="0">
              <a:effectLst/>
            </a:endParaRP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dirty="0"/>
              <a:t>The essential components are discussed below: </a:t>
            </a:r>
            <a:endParaRPr lang="en-US" dirty="0">
              <a:effectLst/>
            </a:endParaRPr>
          </a:p>
          <a:p>
            <a:r>
              <a:rPr lang="en-US" b="1" dirty="0"/>
              <a:t>External Sources –</a:t>
            </a:r>
            <a:r>
              <a:rPr lang="en-US" dirty="0"/>
              <a:t> </a:t>
            </a:r>
            <a:br>
              <a:rPr lang="en-US" dirty="0"/>
            </a:br>
            <a:r>
              <a:rPr lang="en-US" dirty="0"/>
              <a:t>External source is a source from where data is collected irrespective of the type of data. </a:t>
            </a:r>
            <a:endParaRPr lang="en-US" dirty="0"/>
          </a:p>
          <a:p>
            <a:r>
              <a:rPr lang="en-US" dirty="0"/>
              <a:t>  Data can be structured, semi structured and unstructured as well. </a:t>
            </a:r>
            <a:br>
              <a:rPr lang="en-US" dirty="0"/>
            </a:br>
            <a:r>
              <a:rPr lang="en-US" dirty="0"/>
              <a:t> </a:t>
            </a:r>
            <a:endParaRPr lang="en-US" dirty="0"/>
          </a:p>
          <a:p>
            <a:pPr>
              <a:buFont typeface="+mj-lt"/>
              <a:buAutoNum type="arabicPeriod"/>
            </a:pPr>
            <a:r>
              <a:rPr lang="en-US" b="1" dirty="0"/>
              <a:t>Stage Area –</a:t>
            </a:r>
            <a:r>
              <a:rPr lang="en-US" dirty="0"/>
              <a:t> </a:t>
            </a:r>
            <a:br>
              <a:rPr lang="en-US" dirty="0"/>
            </a:br>
            <a:r>
              <a:rPr lang="en-US" dirty="0"/>
              <a:t>Since the data, extracted from the external sources does not follow a particular format, so there is a need to validate this data to load into data warehouse. </a:t>
            </a:r>
            <a:endParaRPr lang="en-US" dirty="0"/>
          </a:p>
          <a:p>
            <a:pPr marL="0" indent="0">
              <a:buNone/>
            </a:pPr>
            <a:r>
              <a:rPr lang="en-US" dirty="0"/>
              <a:t>   For this purpose, it is recommended to use </a:t>
            </a:r>
            <a:r>
              <a:rPr lang="en-US" b="1" dirty="0"/>
              <a:t>ETL</a:t>
            </a:r>
            <a:r>
              <a:rPr lang="en-US" dirty="0"/>
              <a:t> tool.  </a:t>
            </a:r>
            <a:endParaRPr lang="en-US" dirty="0"/>
          </a:p>
          <a:p>
            <a:pPr marL="742950" lvl="1" indent="-285750">
              <a:buFont typeface="+mj-lt"/>
              <a:buAutoNum type="arabicPeriod"/>
            </a:pPr>
            <a:r>
              <a:rPr lang="en-US" b="1" dirty="0"/>
              <a:t>E(Extracted):</a:t>
            </a:r>
            <a:r>
              <a:rPr lang="en-US" dirty="0"/>
              <a:t> Data is extracted from External data source. </a:t>
            </a:r>
            <a:br>
              <a:rPr lang="en-US" dirty="0"/>
            </a:br>
            <a:r>
              <a:rPr lang="en-US" dirty="0"/>
              <a:t> </a:t>
            </a:r>
            <a:endParaRPr lang="en-US" dirty="0"/>
          </a:p>
          <a:p>
            <a:pPr marL="742950" lvl="1" indent="-285750">
              <a:buFont typeface="+mj-lt"/>
              <a:buAutoNum type="arabicPeriod"/>
            </a:pPr>
            <a:r>
              <a:rPr lang="en-US" b="1" dirty="0"/>
              <a:t>T(Transform):</a:t>
            </a:r>
            <a:r>
              <a:rPr lang="en-US" dirty="0"/>
              <a:t> Data is transformed into the standard format. </a:t>
            </a:r>
            <a:br>
              <a:rPr lang="en-US" dirty="0"/>
            </a:br>
            <a:r>
              <a:rPr lang="en-US" dirty="0"/>
              <a:t> </a:t>
            </a:r>
            <a:endParaRPr lang="en-US" dirty="0"/>
          </a:p>
          <a:p>
            <a:pPr marL="742950" lvl="1" indent="-285750">
              <a:buFont typeface="+mj-lt"/>
              <a:buAutoNum type="arabicPeriod"/>
            </a:pPr>
            <a:r>
              <a:rPr lang="en-US" b="1" dirty="0"/>
              <a:t>L(Load):</a:t>
            </a:r>
            <a:r>
              <a:rPr lang="en-US" dirty="0"/>
              <a:t> Data is loaded into data warehouse after transforming it into the standard format. </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Data-warehouse –</a:t>
            </a:r>
            <a:r>
              <a:rPr lang="en-US" dirty="0"/>
              <a:t> </a:t>
            </a:r>
            <a:endParaRPr lang="en-US" dirty="0"/>
          </a:p>
          <a:p>
            <a:endParaRPr lang="en-US" dirty="0"/>
          </a:p>
          <a:p>
            <a:r>
              <a:rPr lang="en-US" dirty="0"/>
              <a:t>After cleansing of data, it is stored in the data warehouse as central repository. </a:t>
            </a:r>
            <a:endParaRPr lang="en-US" dirty="0"/>
          </a:p>
          <a:p>
            <a:endParaRPr lang="en-US" dirty="0"/>
          </a:p>
          <a:p>
            <a:r>
              <a:rPr lang="en-US" dirty="0"/>
              <a:t>It actually stores the meta data and the actual data gets stored in the data marts.</a:t>
            </a:r>
            <a:endParaRPr lang="en-US" dirty="0"/>
          </a:p>
          <a:p>
            <a:endParaRPr lang="en-US" dirty="0"/>
          </a:p>
          <a:p>
            <a:r>
              <a:rPr lang="en-US" dirty="0"/>
              <a:t> </a:t>
            </a:r>
            <a:r>
              <a:rPr lang="en-US" b="1" dirty="0"/>
              <a:t>Note</a:t>
            </a:r>
            <a:r>
              <a:rPr lang="en-US" dirty="0"/>
              <a:t> that data warehouse stores the data in its purest form in this top-down approach.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Data Marts –</a:t>
            </a:r>
            <a:r>
              <a:rPr lang="en-US" dirty="0"/>
              <a:t> </a:t>
            </a:r>
            <a:endParaRPr lang="en-US" dirty="0"/>
          </a:p>
          <a:p>
            <a:endParaRPr lang="en-US" dirty="0"/>
          </a:p>
          <a:p>
            <a:r>
              <a:rPr lang="en-US" dirty="0"/>
              <a:t>Data mart is also a part of storage component. </a:t>
            </a:r>
            <a:endParaRPr lang="en-US" dirty="0"/>
          </a:p>
          <a:p>
            <a:endParaRPr lang="en-US" dirty="0"/>
          </a:p>
          <a:p>
            <a:r>
              <a:rPr lang="en-US" dirty="0"/>
              <a:t>It stores the information of a particular function of an organization which is handled by single authority.</a:t>
            </a:r>
            <a:endParaRPr lang="en-US" dirty="0"/>
          </a:p>
          <a:p>
            <a:endParaRPr lang="en-US" dirty="0"/>
          </a:p>
          <a:p>
            <a:r>
              <a:rPr lang="en-US" dirty="0"/>
              <a:t> There can be as many number of data marts in an organization depending upon the functions. </a:t>
            </a:r>
            <a:endParaRPr lang="en-US" dirty="0"/>
          </a:p>
          <a:p>
            <a:endParaRPr lang="en-US" dirty="0"/>
          </a:p>
          <a:p>
            <a:r>
              <a:rPr lang="en-US" dirty="0"/>
              <a:t>We can also say that data mart contains subset of the data stored in Datawarehouse.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Data Mining –</a:t>
            </a:r>
            <a:r>
              <a:rPr lang="en-US" dirty="0"/>
              <a:t> </a:t>
            </a:r>
            <a:endParaRPr lang="en-US" dirty="0"/>
          </a:p>
          <a:p>
            <a:endParaRPr lang="en-US" dirty="0"/>
          </a:p>
          <a:p>
            <a:r>
              <a:rPr lang="en-US" dirty="0"/>
              <a:t>The practice of analyzing the big data present in Datawarehouse is data mining.</a:t>
            </a:r>
            <a:endParaRPr lang="en-US" dirty="0"/>
          </a:p>
          <a:p>
            <a:endParaRPr lang="en-US" dirty="0"/>
          </a:p>
          <a:p>
            <a:r>
              <a:rPr lang="en-US" dirty="0"/>
              <a:t> It is used to find the hidden patterns that are present in the database or in Datawarehouse with the help of algorithm of data mining.</a:t>
            </a:r>
            <a:endParaRPr lang="en-US" dirty="0"/>
          </a:p>
          <a:p>
            <a:pPr marL="0" indent="0">
              <a:buNone/>
            </a:pPr>
            <a:r>
              <a:rPr lang="en-US" dirty="0"/>
              <a:t>  </a:t>
            </a:r>
            <a:endParaRPr lang="en-US" dirty="0"/>
          </a:p>
          <a:p>
            <a:r>
              <a:rPr lang="en-US" dirty="0"/>
              <a:t>This approach is defined by </a:t>
            </a:r>
            <a:r>
              <a:rPr lang="en-US" b="1" dirty="0" err="1"/>
              <a:t>Inmon</a:t>
            </a:r>
            <a:r>
              <a:rPr lang="en-US" dirty="0"/>
              <a:t> as – Datawarehouse as a central repository for the complete organization and data marts are created from it after the complete Datawarehouse has been created. </a:t>
            </a:r>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0"/>
            <a:ext cx="6096000" cy="6858000"/>
          </a:xfrm>
        </p:spPr>
        <p:txBody>
          <a:bodyPr/>
          <a:lstStyle/>
          <a:p>
            <a:r>
              <a:rPr lang="en-US" b="1" dirty="0"/>
              <a:t>Data Warehouse Architecture</a:t>
            </a:r>
            <a:endParaRPr lang="en-US" b="1" dirty="0"/>
          </a:p>
          <a:p>
            <a:endParaRPr lang="en-US" b="1" dirty="0"/>
          </a:p>
          <a:p>
            <a:r>
              <a:rPr lang="en-US" dirty="0"/>
              <a:t>A </a:t>
            </a:r>
            <a:r>
              <a:rPr lang="en-US" b="1" dirty="0"/>
              <a:t>data-warehouse</a:t>
            </a:r>
            <a:r>
              <a:rPr lang="en-US" dirty="0"/>
              <a:t> is a heterogeneous collection of different data sources organized under a unified schema.</a:t>
            </a:r>
            <a:endParaRPr lang="en-US" dirty="0"/>
          </a:p>
          <a:p>
            <a:r>
              <a:rPr lang="en-US" dirty="0"/>
              <a:t>There are 2 approaches for constructing data-warehouse:</a:t>
            </a:r>
            <a:endParaRPr lang="en-US" dirty="0"/>
          </a:p>
          <a:p>
            <a:endParaRPr lang="en-US" dirty="0"/>
          </a:p>
          <a:p>
            <a:r>
              <a:rPr lang="en-US" dirty="0"/>
              <a:t> Top-down approach and </a:t>
            </a:r>
            <a:endParaRPr lang="en-US" dirty="0"/>
          </a:p>
          <a:p>
            <a:endParaRPr lang="en-US" dirty="0"/>
          </a:p>
          <a:p>
            <a:r>
              <a:rPr lang="en-US" dirty="0"/>
              <a:t>Bottom-up approach.</a:t>
            </a:r>
            <a:endParaRPr lang="en-US" dirty="0"/>
          </a:p>
        </p:txBody>
      </p:sp>
      <p:sp>
        <p:nvSpPr>
          <p:cNvPr id="9" name="Content Placeholder 8"/>
          <p:cNvSpPr>
            <a:spLocks noGrp="1"/>
          </p:cNvSpPr>
          <p:nvPr>
            <p:ph sz="half" idx="2"/>
          </p:nvPr>
        </p:nvSpPr>
        <p:spPr>
          <a:xfrm>
            <a:off x="6324600" y="476250"/>
            <a:ext cx="5867400" cy="6276975"/>
          </a:xfrm>
        </p:spPr>
        <p:txBody>
          <a:bodyPr/>
          <a:lstStyle/>
          <a:p>
            <a:r>
              <a:rPr lang="en-US" b="1" dirty="0"/>
              <a:t>1. Top-down approach:</a:t>
            </a:r>
            <a:r>
              <a:rPr lang="en-US" dirty="0"/>
              <a:t> </a:t>
            </a:r>
            <a:endParaRPr lang="en-US" dirty="0"/>
          </a:p>
          <a:p>
            <a:endParaRPr lang="en-US" dirty="0"/>
          </a:p>
        </p:txBody>
      </p:sp>
      <p:pic>
        <p:nvPicPr>
          <p:cNvPr id="13" name="Picture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25235" y="921385"/>
            <a:ext cx="5761990" cy="52558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Advantages of Top-Down Approach –</a:t>
            </a:r>
            <a:r>
              <a:rPr lang="en-US" dirty="0"/>
              <a:t>  </a:t>
            </a:r>
            <a:endParaRPr lang="en-US" dirty="0"/>
          </a:p>
          <a:p>
            <a:pPr>
              <a:buFont typeface="+mj-lt"/>
              <a:buAutoNum type="arabicPeriod"/>
            </a:pPr>
            <a:r>
              <a:rPr lang="en-US" dirty="0"/>
              <a:t>Since the data marts are created from the Datawarehouse, provides consistent dimensional view of data marts. </a:t>
            </a:r>
            <a:br>
              <a:rPr lang="en-US" dirty="0"/>
            </a:br>
            <a:r>
              <a:rPr lang="en-US" dirty="0"/>
              <a:t> </a:t>
            </a:r>
            <a:endParaRPr lang="en-US" dirty="0"/>
          </a:p>
          <a:p>
            <a:pPr>
              <a:buFont typeface="+mj-lt"/>
              <a:buAutoNum type="arabicPeriod"/>
            </a:pPr>
            <a:r>
              <a:rPr lang="en-US" dirty="0"/>
              <a:t>Also, this model is considered as the strongest model for business changes. That’s why, big organizations prefer to follow this approach. </a:t>
            </a:r>
            <a:br>
              <a:rPr lang="en-US" dirty="0"/>
            </a:br>
            <a:r>
              <a:rPr lang="en-US" dirty="0"/>
              <a:t> </a:t>
            </a:r>
            <a:endParaRPr lang="en-US" dirty="0"/>
          </a:p>
          <a:p>
            <a:pPr>
              <a:buFont typeface="+mj-lt"/>
              <a:buAutoNum type="arabicPeriod"/>
            </a:pPr>
            <a:r>
              <a:rPr lang="en-US" dirty="0"/>
              <a:t>Creating data mart from Datawarehouse is easy. </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b="1" dirty="0"/>
              <a:t>Disadvantages of Top-Down Approach –</a:t>
            </a:r>
            <a:r>
              <a:rPr lang="en-US" dirty="0"/>
              <a:t>  </a:t>
            </a:r>
            <a:endParaRPr lang="en-US" dirty="0"/>
          </a:p>
          <a:p>
            <a:pPr>
              <a:buFont typeface="+mj-lt"/>
              <a:buAutoNum type="arabicPeriod"/>
            </a:pPr>
            <a:r>
              <a:rPr lang="en-US" dirty="0"/>
              <a:t>The cost, time taken in designing and its maintenance is very high. </a:t>
            </a:r>
            <a:endParaRPr lang="en-US" dirty="0"/>
          </a:p>
          <a:p>
            <a:pPr>
              <a:buFont typeface="+mj-lt"/>
              <a:buAutoNum type="arabicPeriod"/>
            </a:pPr>
            <a:endParaRPr lang="en-US" dirty="0"/>
          </a:p>
          <a:p>
            <a:pPr>
              <a:buFont typeface="+mj-lt"/>
              <a:buAutoNum type="arabicPeriod"/>
            </a:pPr>
            <a:r>
              <a:rPr lang="en-US" dirty="0"/>
              <a:t>Complexity: The top-down approach can be complex to implement and maintain, particularly for large organizations with complex data needs. The design and implementation of the data warehouse and data marts can be time-consuming and costly.</a:t>
            </a:r>
            <a:endParaRPr lang="en-US" dirty="0"/>
          </a:p>
          <a:p>
            <a:pPr>
              <a:buFont typeface="+mj-lt"/>
              <a:buAutoNum type="arabicPeriod"/>
            </a:pPr>
            <a:endParaRPr lang="en-US" dirty="0"/>
          </a:p>
          <a:p>
            <a:pPr>
              <a:buFont typeface="+mj-lt"/>
              <a:buAutoNum type="arabicPeriod"/>
            </a:pPr>
            <a:r>
              <a:rPr lang="en-US" dirty="0"/>
              <a:t>Lack of flexibility: The top-down approach may not be suitable for organizations that require a high degree of flexibility in their data reporting and analysis. Since the design of the data warehouse and data marts is pre-determined, it may not be possible to adapt to new or changing business requirements.</a:t>
            </a:r>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sz="half" idx="1"/>
          </p:nvPr>
        </p:nvSpPr>
        <p:spPr>
          <a:xfrm>
            <a:off x="0" y="0"/>
            <a:ext cx="6743700" cy="6858000"/>
          </a:xfrm>
        </p:spPr>
        <p:txBody>
          <a:bodyPr>
            <a:normAutofit lnSpcReduction="10000"/>
          </a:bodyPr>
          <a:lstStyle/>
          <a:p>
            <a:pPr>
              <a:buFont typeface="+mj-lt"/>
              <a:buAutoNum type="arabicPeriod"/>
            </a:pPr>
            <a:r>
              <a:rPr lang="en-US" dirty="0"/>
              <a:t>First, the data is extracted from external sources (same as happens in top-down approach). </a:t>
            </a:r>
            <a:br>
              <a:rPr lang="en-US" dirty="0"/>
            </a:br>
            <a:r>
              <a:rPr lang="en-US" dirty="0"/>
              <a:t> </a:t>
            </a:r>
            <a:endParaRPr lang="en-US" dirty="0"/>
          </a:p>
          <a:p>
            <a:pPr>
              <a:buFont typeface="+mj-lt"/>
              <a:buAutoNum type="arabicPeriod"/>
            </a:pPr>
            <a:r>
              <a:rPr lang="en-US" dirty="0"/>
              <a:t>Then, the data go through the staging area (as explained above) and loaded into data marts instead of Datawarehouse. </a:t>
            </a:r>
            <a:endParaRPr lang="en-US" dirty="0"/>
          </a:p>
          <a:p>
            <a:pPr>
              <a:buFont typeface="+mj-lt"/>
              <a:buAutoNum type="arabicPeriod"/>
            </a:pPr>
            <a:endParaRPr lang="en-US" dirty="0"/>
          </a:p>
          <a:p>
            <a:pPr>
              <a:buFont typeface="+mj-lt"/>
              <a:buAutoNum type="arabicPeriod"/>
            </a:pPr>
            <a:r>
              <a:rPr lang="en-US" dirty="0"/>
              <a:t>The data marts are created first and provide reporting capability.</a:t>
            </a:r>
            <a:endParaRPr lang="en-US" dirty="0"/>
          </a:p>
          <a:p>
            <a:pPr>
              <a:buFont typeface="+mj-lt"/>
              <a:buAutoNum type="arabicPeriod"/>
            </a:pPr>
            <a:endParaRPr lang="en-US" dirty="0"/>
          </a:p>
          <a:p>
            <a:pPr>
              <a:buFont typeface="+mj-lt"/>
              <a:buAutoNum type="arabicPeriod"/>
            </a:pPr>
            <a:r>
              <a:rPr lang="en-US" dirty="0"/>
              <a:t> It addresses a single business area. </a:t>
            </a:r>
            <a:br>
              <a:rPr lang="en-US" dirty="0"/>
            </a:br>
            <a:r>
              <a:rPr lang="en-US" dirty="0"/>
              <a:t> </a:t>
            </a:r>
            <a:endParaRPr lang="en-US" dirty="0"/>
          </a:p>
          <a:p>
            <a:pPr>
              <a:buFont typeface="+mj-lt"/>
              <a:buAutoNum type="arabicPeriod"/>
            </a:pPr>
            <a:r>
              <a:rPr lang="en-US" dirty="0"/>
              <a:t>These data marts are then integrated into Datawarehouse. </a:t>
            </a:r>
            <a:br>
              <a:rPr lang="en-US" dirty="0"/>
            </a:br>
            <a:r>
              <a:rPr lang="en-US" dirty="0"/>
              <a:t> </a:t>
            </a:r>
            <a:endParaRPr lang="en-US" dirty="0"/>
          </a:p>
          <a:p>
            <a:endParaRPr lang="en-US" dirty="0"/>
          </a:p>
        </p:txBody>
      </p:sp>
      <p:sp>
        <p:nvSpPr>
          <p:cNvPr id="10" name="Content Placeholder 9"/>
          <p:cNvSpPr>
            <a:spLocks noGrp="1"/>
          </p:cNvSpPr>
          <p:nvPr>
            <p:ph sz="half" idx="2"/>
          </p:nvPr>
        </p:nvSpPr>
        <p:spPr>
          <a:xfrm>
            <a:off x="6629400" y="0"/>
            <a:ext cx="5562598" cy="6858000"/>
          </a:xfrm>
        </p:spPr>
        <p:txBody>
          <a:bodyPr>
            <a:normAutofit lnSpcReduction="10000"/>
          </a:bodyPr>
          <a:lstStyle/>
          <a:p>
            <a:r>
              <a:rPr lang="en-US" b="1" dirty="0"/>
              <a:t>2. Bottom-up approach:</a:t>
            </a:r>
            <a:endParaRPr lang="en-US" b="1" dirty="0"/>
          </a:p>
          <a:p>
            <a:endParaRPr lang="en-US" dirty="0"/>
          </a:p>
        </p:txBody>
      </p:sp>
      <p:pic>
        <p:nvPicPr>
          <p:cNvPr id="18" name="Picture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2930" y="990600"/>
            <a:ext cx="4935220" cy="55022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0"/>
            <a:ext cx="12192000" cy="6858000"/>
          </a:xfrm>
        </p:spPr>
        <p:txBody>
          <a:bodyPr/>
          <a:lstStyle/>
          <a:p>
            <a:r>
              <a:rPr lang="en-US" dirty="0"/>
              <a:t>This approach is given by </a:t>
            </a:r>
            <a:r>
              <a:rPr lang="en-US" b="1" dirty="0" err="1"/>
              <a:t>Kinball</a:t>
            </a:r>
            <a:r>
              <a:rPr lang="en-US" dirty="0"/>
              <a:t> as – data marts are created first and provides a thin view for analyses and Datawarehouse is created after complete data marts have been created. </a:t>
            </a:r>
            <a:endParaRPr lang="en-US" dirty="0"/>
          </a:p>
          <a:p>
            <a:r>
              <a:rPr lang="en-US" b="1" dirty="0"/>
              <a:t>Advantages of Bottom-Up Approach –</a:t>
            </a:r>
            <a:r>
              <a:rPr lang="en-US" dirty="0"/>
              <a:t>  </a:t>
            </a:r>
            <a:endParaRPr lang="en-US" dirty="0"/>
          </a:p>
          <a:p>
            <a:pPr>
              <a:buFont typeface="+mj-lt"/>
              <a:buAutoNum type="arabicPeriod"/>
            </a:pPr>
            <a:r>
              <a:rPr lang="en-US" dirty="0"/>
              <a:t>As the data marts are created first, so the reports are quickly generated. </a:t>
            </a:r>
            <a:br>
              <a:rPr lang="en-US" dirty="0"/>
            </a:br>
            <a:r>
              <a:rPr lang="en-US" dirty="0"/>
              <a:t> </a:t>
            </a:r>
            <a:endParaRPr lang="en-US" dirty="0"/>
          </a:p>
          <a:p>
            <a:pPr>
              <a:buFont typeface="+mj-lt"/>
              <a:buAutoNum type="arabicPeriod"/>
            </a:pPr>
            <a:r>
              <a:rPr lang="en-US" dirty="0"/>
              <a:t>We can accommodate more number of data marts here and in this way </a:t>
            </a:r>
            <a:r>
              <a:rPr lang="en-US" dirty="0" err="1"/>
              <a:t>datawarehouse</a:t>
            </a:r>
            <a:r>
              <a:rPr lang="en-US" dirty="0"/>
              <a:t> can be extended. </a:t>
            </a:r>
            <a:br>
              <a:rPr lang="en-US" dirty="0"/>
            </a:br>
            <a:r>
              <a:rPr lang="en-US" dirty="0"/>
              <a:t> </a:t>
            </a:r>
            <a:endParaRPr lang="en-US" dirty="0"/>
          </a:p>
          <a:p>
            <a:pPr>
              <a:buFont typeface="+mj-lt"/>
              <a:buAutoNum type="arabicPeriod"/>
            </a:pPr>
            <a:r>
              <a:rPr lang="en-US" dirty="0"/>
              <a:t>Also, the cost and time taken in designing this model is low comparatively. </a:t>
            </a: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0" y="0"/>
            <a:ext cx="12192000" cy="6858000"/>
          </a:xfrm>
        </p:spPr>
        <p:txBody>
          <a:bodyPr>
            <a:normAutofit/>
          </a:bodyPr>
          <a:lstStyle/>
          <a:p>
            <a:r>
              <a:rPr lang="en-US" b="1" dirty="0"/>
              <a:t>Disadvantage of Bottom-Up Approach –</a:t>
            </a:r>
            <a:r>
              <a:rPr lang="en-US" dirty="0"/>
              <a:t> </a:t>
            </a:r>
            <a:endParaRPr lang="en-US" dirty="0"/>
          </a:p>
          <a:p>
            <a:pPr>
              <a:buFont typeface="+mj-lt"/>
              <a:buAutoNum type="arabicPeriod"/>
            </a:pPr>
            <a:r>
              <a:rPr lang="en-US" dirty="0"/>
              <a:t>This model is not strong as top-down approach as dimensional view of data marts is not consistent as it is in above approach. </a:t>
            </a:r>
            <a:endParaRPr lang="en-US" dirty="0"/>
          </a:p>
          <a:p>
            <a:pPr>
              <a:buFont typeface="+mj-lt"/>
              <a:buAutoNum type="arabicPeriod"/>
            </a:pPr>
            <a:r>
              <a:rPr lang="en-US" dirty="0"/>
              <a:t>Integration challenges: Because the bottom-up approach relies on the integration of multiple data marts, it can be more difficult to integrate data from different sources and ensure consistency across the organization. </a:t>
            </a:r>
            <a:endParaRPr lang="en-US" dirty="0"/>
          </a:p>
          <a:p>
            <a:r>
              <a:rPr lang="en-US" dirty="0"/>
              <a:t>This can lead to issues with data quality and accuracy.</a:t>
            </a:r>
            <a:endParaRPr lang="en-US"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0" y="0"/>
            <a:ext cx="12125325" cy="6858000"/>
          </a:xfrm>
        </p:spPr>
        <p:txBody>
          <a:bodyPr>
            <a:normAutofit/>
          </a:bodyPr>
          <a:lstStyle/>
          <a:p>
            <a:r>
              <a:rPr lang="en-US" b="1" dirty="0"/>
              <a:t>Multi-tier architecture of Data Warehouse</a:t>
            </a:r>
            <a:endParaRPr lang="en-US" b="1" dirty="0"/>
          </a:p>
          <a:p>
            <a:r>
              <a:rPr lang="en-US" dirty="0"/>
              <a:t>A </a:t>
            </a:r>
            <a:r>
              <a:rPr lang="en-US" dirty="0">
                <a:hlinkClick r:id="rId1"/>
              </a:rPr>
              <a:t>data warehouse</a:t>
            </a:r>
            <a:r>
              <a:rPr lang="en-US" dirty="0"/>
              <a:t> is Representable by data integration from multiple heterogeneous sources.</a:t>
            </a:r>
            <a:endParaRPr lang="en-US" dirty="0"/>
          </a:p>
          <a:p>
            <a:endParaRPr lang="en-US" dirty="0"/>
          </a:p>
          <a:p>
            <a:r>
              <a:rPr lang="en-US" dirty="0"/>
              <a:t>It is a system used for data analysis and reporting. </a:t>
            </a:r>
            <a:endParaRPr lang="en-US" dirty="0"/>
          </a:p>
          <a:p>
            <a:endParaRPr lang="en-US" dirty="0"/>
          </a:p>
          <a:p>
            <a:r>
              <a:rPr lang="en-US" dirty="0"/>
              <a:t>Data Warehouse is referred to the data repository that is maintained separately from the organization’s operational data. </a:t>
            </a:r>
            <a:endParaRPr lang="en-US" dirty="0"/>
          </a:p>
          <a:p>
            <a:endParaRPr lang="en-US" dirty="0"/>
          </a:p>
          <a:p>
            <a:r>
              <a:rPr lang="en-US" b="1" dirty="0"/>
              <a:t>Multi-Tier Data Warehouse Architecture consists of the following components: </a:t>
            </a:r>
            <a:endParaRPr lang="en-US" dirty="0"/>
          </a:p>
          <a:p>
            <a:pPr>
              <a:buFont typeface="+mj-lt"/>
              <a:buAutoNum type="arabicPeriod"/>
            </a:pPr>
            <a:r>
              <a:rPr lang="en-US" dirty="0"/>
              <a:t>Bottom Tier</a:t>
            </a:r>
            <a:endParaRPr lang="en-US" dirty="0"/>
          </a:p>
          <a:p>
            <a:pPr>
              <a:buFont typeface="+mj-lt"/>
              <a:buAutoNum type="arabicPeriod"/>
            </a:pPr>
            <a:r>
              <a:rPr lang="en-US" dirty="0"/>
              <a:t>Middle Tier</a:t>
            </a:r>
            <a:endParaRPr lang="en-US" dirty="0"/>
          </a:p>
          <a:p>
            <a:pPr>
              <a:buFont typeface="+mj-lt"/>
              <a:buAutoNum type="arabicPeriod"/>
            </a:pPr>
            <a:r>
              <a:rPr lang="en-US" dirty="0"/>
              <a:t>Top Tier</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47701" y="412961"/>
            <a:ext cx="10810874" cy="6264064"/>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20000"/>
          </a:bodyPr>
          <a:lstStyle/>
          <a:p>
            <a:r>
              <a:rPr lang="en-US" b="1" dirty="0"/>
              <a:t>Bottom Tier(Data sources and data storage) :</a:t>
            </a:r>
            <a:endParaRPr lang="en-US" b="1" dirty="0"/>
          </a:p>
          <a:p>
            <a:pPr>
              <a:buFont typeface="+mj-lt"/>
              <a:buAutoNum type="arabicPeriod"/>
            </a:pPr>
            <a:r>
              <a:rPr lang="en-US" dirty="0"/>
              <a:t>The bottom Tier usually consists of Data Sources and Data Storage. </a:t>
            </a:r>
            <a:endParaRPr lang="en-US" dirty="0"/>
          </a:p>
          <a:p>
            <a:pPr>
              <a:buFont typeface="+mj-lt"/>
              <a:buAutoNum type="arabicPeriod"/>
            </a:pPr>
            <a:endParaRPr lang="en-US" dirty="0"/>
          </a:p>
          <a:p>
            <a:pPr>
              <a:buFont typeface="+mj-lt"/>
              <a:buAutoNum type="arabicPeriod"/>
            </a:pPr>
            <a:r>
              <a:rPr lang="en-US" dirty="0"/>
              <a:t>It is a warehouse database server. For Example RDBMS.</a:t>
            </a:r>
            <a:endParaRPr lang="en-US" dirty="0"/>
          </a:p>
          <a:p>
            <a:pPr>
              <a:buFont typeface="+mj-lt"/>
              <a:buAutoNum type="arabicPeriod"/>
            </a:pPr>
            <a:endParaRPr lang="en-US" dirty="0"/>
          </a:p>
          <a:p>
            <a:pPr>
              <a:buFont typeface="+mj-lt"/>
              <a:buAutoNum type="arabicPeriod"/>
            </a:pPr>
            <a:r>
              <a:rPr lang="en-US" dirty="0"/>
              <a:t> In Bottom Tier, using the application program interface(called gateways), data is extracted from operational and external sources. </a:t>
            </a:r>
            <a:endParaRPr lang="en-US" dirty="0"/>
          </a:p>
          <a:p>
            <a:pPr>
              <a:buFont typeface="+mj-lt"/>
              <a:buAutoNum type="arabicPeriod"/>
            </a:pPr>
            <a:endParaRPr lang="en-US" dirty="0"/>
          </a:p>
          <a:p>
            <a:pPr>
              <a:buFont typeface="+mj-lt"/>
              <a:buAutoNum type="arabicPeriod"/>
            </a:pPr>
            <a:r>
              <a:rPr lang="en-US" dirty="0"/>
              <a:t>Application Program Interface likes ODBC(Open Database Connection), OLE-DB(Open-Linking and Embedding for Database), JDBC(Java Database Connection) is supported.</a:t>
            </a:r>
            <a:endParaRPr lang="en-US" dirty="0"/>
          </a:p>
          <a:p>
            <a:pPr>
              <a:buFont typeface="+mj-lt"/>
              <a:buAutoNum type="arabicPeriod"/>
            </a:pPr>
            <a:endParaRPr lang="en-US" dirty="0"/>
          </a:p>
          <a:p>
            <a:pPr>
              <a:buFont typeface="+mj-lt"/>
              <a:buAutoNum type="arabicPeriod"/>
            </a:pPr>
            <a:r>
              <a:rPr lang="en-US" dirty="0"/>
              <a:t>ETL stands for Extract, Transform, and Load.</a:t>
            </a:r>
            <a:br>
              <a:rPr lang="en-US" dirty="0"/>
            </a:br>
            <a:r>
              <a:rPr lang="en-US" dirty="0"/>
              <a:t>Several popular ETL tools include:</a:t>
            </a:r>
            <a:br>
              <a:rPr lang="en-US" dirty="0"/>
            </a:br>
            <a:r>
              <a:rPr lang="en-US" dirty="0"/>
              <a:t>    </a:t>
            </a:r>
            <a:r>
              <a:rPr lang="en-US" b="1" dirty="0"/>
              <a:t>I.</a:t>
            </a:r>
            <a:r>
              <a:rPr lang="en-US" dirty="0"/>
              <a:t> IBM Infosphere</a:t>
            </a:r>
            <a:br>
              <a:rPr lang="en-US" dirty="0"/>
            </a:br>
            <a:r>
              <a:rPr lang="en-US" dirty="0"/>
              <a:t>    </a:t>
            </a:r>
            <a:r>
              <a:rPr lang="en-US" b="1" dirty="0"/>
              <a:t>II.</a:t>
            </a:r>
            <a:r>
              <a:rPr lang="en-US" dirty="0"/>
              <a:t> Informatica</a:t>
            </a:r>
            <a:br>
              <a:rPr lang="en-US" dirty="0"/>
            </a:br>
            <a:r>
              <a:rPr lang="en-US" dirty="0"/>
              <a:t>    </a:t>
            </a:r>
            <a:r>
              <a:rPr lang="en-US" b="1" dirty="0"/>
              <a:t>III. </a:t>
            </a:r>
            <a:r>
              <a:rPr lang="en-US" dirty="0"/>
              <a:t>Confluent</a:t>
            </a:r>
            <a:br>
              <a:rPr lang="en-US" dirty="0"/>
            </a:br>
            <a:r>
              <a:rPr lang="en-US" dirty="0"/>
              <a:t>    </a:t>
            </a:r>
            <a:r>
              <a:rPr lang="en-US" b="1" dirty="0"/>
              <a:t>IV.</a:t>
            </a:r>
            <a:r>
              <a:rPr lang="en-US" dirty="0"/>
              <a:t> Microsoft SSIS</a:t>
            </a:r>
            <a:br>
              <a:rPr lang="en-US" dirty="0"/>
            </a:br>
            <a:r>
              <a:rPr lang="en-US" dirty="0"/>
              <a:t>    </a:t>
            </a:r>
            <a:r>
              <a:rPr lang="en-US" b="1" dirty="0"/>
              <a:t>V.</a:t>
            </a:r>
            <a:r>
              <a:rPr lang="en-US" dirty="0"/>
              <a:t> </a:t>
            </a:r>
            <a:r>
              <a:rPr lang="en-US" dirty="0" err="1"/>
              <a:t>Snaplogic</a:t>
            </a:r>
            <a:br>
              <a:rPr lang="en-US" dirty="0"/>
            </a:br>
            <a:r>
              <a:rPr lang="en-US" dirty="0"/>
              <a:t>    </a:t>
            </a:r>
            <a:r>
              <a:rPr lang="en-US" b="1" dirty="0"/>
              <a:t>VI.</a:t>
            </a:r>
            <a:r>
              <a:rPr lang="en-US" dirty="0"/>
              <a:t> </a:t>
            </a:r>
            <a:r>
              <a:rPr lang="en-US" dirty="0" err="1"/>
              <a:t>Alooma</a:t>
            </a:r>
            <a:endParaRPr lang="en-US" dirty="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858001"/>
          </a:xfrm>
        </p:spPr>
        <p:txBody>
          <a:bodyPr/>
          <a:lstStyle/>
          <a:p>
            <a:r>
              <a:rPr lang="en-US" b="1" dirty="0"/>
              <a:t>Middle Tier :</a:t>
            </a:r>
            <a:endParaRPr lang="en-US" b="1" dirty="0"/>
          </a:p>
          <a:p>
            <a:endParaRPr lang="en-US" b="1" dirty="0"/>
          </a:p>
          <a:p>
            <a:r>
              <a:rPr lang="en-US" dirty="0"/>
              <a:t>The middle tier is an OLAP server that is typically implemented using either : </a:t>
            </a:r>
            <a:endParaRPr lang="en-US" dirty="0"/>
          </a:p>
          <a:p>
            <a:pPr marL="0" indent="0">
              <a:buNone/>
            </a:pPr>
            <a:br>
              <a:rPr lang="en-US" dirty="0"/>
            </a:br>
            <a:r>
              <a:rPr lang="en-US" dirty="0"/>
              <a:t>A relational OLAP (ROLAP) model (i.e., an extended relational DBMS that maps operations from standard data to standard data);</a:t>
            </a:r>
            <a:endParaRPr lang="en-US" dirty="0"/>
          </a:p>
          <a:p>
            <a:endParaRPr lang="en-US" dirty="0"/>
          </a:p>
          <a:p>
            <a:r>
              <a:rPr lang="en-US" dirty="0"/>
              <a:t> </a:t>
            </a:r>
            <a:r>
              <a:rPr lang="en-US" b="1" dirty="0"/>
              <a:t>or </a:t>
            </a:r>
            <a:r>
              <a:rPr lang="en-US" dirty="0"/>
              <a:t>A multidimensional OLAP (MOLAP) model (</a:t>
            </a:r>
            <a:r>
              <a:rPr lang="en-US" dirty="0" err="1"/>
              <a:t>ie</a:t>
            </a:r>
            <a:r>
              <a:rPr lang="en-US" dirty="0"/>
              <a:t>, a special purpose server that directly implements multidimensional data and operations).</a:t>
            </a:r>
            <a:endParaRPr lang="en-US" dirty="0"/>
          </a:p>
          <a:p>
            <a:endParaRPr lang="en-US" dirty="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15800" cy="6858000"/>
          </a:xfrm>
        </p:spPr>
        <p:txBody>
          <a:bodyPr/>
          <a:lstStyle/>
          <a:p>
            <a:r>
              <a:rPr lang="en-US" b="1" dirty="0"/>
              <a:t>Top Tier :</a:t>
            </a:r>
            <a:endParaRPr lang="en-US" b="1" dirty="0"/>
          </a:p>
          <a:p>
            <a:r>
              <a:rPr lang="en-US" dirty="0"/>
              <a:t>The top tier is a front-end client layer, which includes query and reporting tools, analysis tools, and/or data mining tools (e g, trend analysis, prediction, etc.).</a:t>
            </a:r>
            <a:endParaRPr lang="en-US" dirty="0"/>
          </a:p>
          <a:p>
            <a:endParaRPr lang="en-US" dirty="0"/>
          </a:p>
          <a:p>
            <a:r>
              <a:rPr lang="en-US" dirty="0"/>
              <a:t>Here are a few Top Tier tools that are often used:</a:t>
            </a:r>
            <a:br>
              <a:rPr lang="en-US" dirty="0"/>
            </a:br>
            <a:r>
              <a:rPr lang="en-US" dirty="0"/>
              <a:t>   </a:t>
            </a:r>
            <a:r>
              <a:rPr lang="en-US" b="1" dirty="0"/>
              <a:t> I.</a:t>
            </a:r>
            <a:r>
              <a:rPr lang="en-US" dirty="0"/>
              <a:t> SAP BW</a:t>
            </a:r>
            <a:br>
              <a:rPr lang="en-US" dirty="0"/>
            </a:br>
            <a:r>
              <a:rPr lang="en-US" dirty="0"/>
              <a:t>    </a:t>
            </a:r>
            <a:r>
              <a:rPr lang="en-US" b="1" dirty="0"/>
              <a:t>II. </a:t>
            </a:r>
            <a:r>
              <a:rPr lang="en-US" dirty="0"/>
              <a:t>SAS Business Intelligence</a:t>
            </a:r>
            <a:br>
              <a:rPr lang="en-US" dirty="0"/>
            </a:br>
            <a:r>
              <a:rPr lang="en-US" dirty="0"/>
              <a:t>  </a:t>
            </a:r>
            <a:r>
              <a:rPr lang="en-US" b="1" dirty="0"/>
              <a:t>  III.</a:t>
            </a:r>
            <a:r>
              <a:rPr lang="en-US" dirty="0"/>
              <a:t> IBM Cognos</a:t>
            </a:r>
            <a:br>
              <a:rPr lang="en-US" dirty="0"/>
            </a:br>
            <a:r>
              <a:rPr lang="en-US" dirty="0"/>
              <a:t>   </a:t>
            </a:r>
            <a:r>
              <a:rPr lang="en-US" b="1" dirty="0"/>
              <a:t> IV. </a:t>
            </a:r>
            <a:r>
              <a:rPr lang="en-US" dirty="0"/>
              <a:t>Crystal Reports</a:t>
            </a:r>
            <a:br>
              <a:rPr lang="en-US" dirty="0"/>
            </a:br>
            <a:r>
              <a:rPr lang="en-US" dirty="0"/>
              <a:t>    </a:t>
            </a:r>
            <a:r>
              <a:rPr lang="en-US" b="1" dirty="0"/>
              <a:t>V. </a:t>
            </a:r>
            <a:r>
              <a:rPr lang="en-US" dirty="0"/>
              <a:t>Microsoft BI Platform</a:t>
            </a:r>
            <a:endParaRPr lang="en-US"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b="1" dirty="0"/>
              <a:t>Advantages of Multi-Tier Architecture of Data warehouse </a:t>
            </a:r>
            <a:endParaRPr lang="en-US" b="1" dirty="0"/>
          </a:p>
          <a:p>
            <a:endParaRPr lang="en-US" b="1" dirty="0"/>
          </a:p>
          <a:p>
            <a:pPr>
              <a:buFont typeface="+mj-lt"/>
              <a:buAutoNum type="arabicPeriod"/>
            </a:pPr>
            <a:r>
              <a:rPr lang="en-US" b="1" dirty="0"/>
              <a:t>Scalability</a:t>
            </a:r>
            <a:r>
              <a:rPr lang="en-US" dirty="0"/>
              <a:t>: Various components can be added, deleted, or updated in accordance with the data warehouse’s shifting needs and specifications.</a:t>
            </a:r>
            <a:endParaRPr lang="en-US" dirty="0"/>
          </a:p>
          <a:p>
            <a:pPr>
              <a:buFont typeface="+mj-lt"/>
              <a:buAutoNum type="arabicPeriod"/>
            </a:pPr>
            <a:endParaRPr lang="en-US" dirty="0"/>
          </a:p>
          <a:p>
            <a:pPr>
              <a:buFont typeface="+mj-lt"/>
              <a:buAutoNum type="arabicPeriod"/>
            </a:pPr>
            <a:r>
              <a:rPr lang="en-US" b="1" dirty="0"/>
              <a:t>Better Performance</a:t>
            </a:r>
            <a:r>
              <a:rPr lang="en-US" dirty="0"/>
              <a:t>: The several layers enable parallel and efficient processing, which enhances performance and reaction times.</a:t>
            </a:r>
            <a:endParaRPr lang="en-US" dirty="0"/>
          </a:p>
          <a:p>
            <a:pPr>
              <a:buFont typeface="+mj-lt"/>
              <a:buAutoNum type="arabicPeriod"/>
            </a:pPr>
            <a:endParaRPr lang="en-US" dirty="0"/>
          </a:p>
          <a:p>
            <a:pPr>
              <a:buFont typeface="+mj-lt"/>
              <a:buAutoNum type="arabicPeriod"/>
            </a:pPr>
            <a:r>
              <a:rPr lang="en-US" b="1" dirty="0"/>
              <a:t>Security</a:t>
            </a:r>
            <a:r>
              <a:rPr lang="en-US" dirty="0"/>
              <a:t>: The data warehouse’s overall security can be improved by applying various security measures to various layers. </a:t>
            </a:r>
            <a:endParaRPr lang="en-US" dirty="0"/>
          </a:p>
          <a:p>
            <a:r>
              <a:rPr lang="en-US" b="1" dirty="0"/>
              <a:t>Disadvantages </a:t>
            </a:r>
            <a:endParaRPr lang="en-US" b="1" dirty="0"/>
          </a:p>
          <a:p>
            <a:pPr marL="0" indent="0">
              <a:buNone/>
            </a:pPr>
            <a:r>
              <a:rPr lang="en-US" dirty="0"/>
              <a:t>1.Cost: Can be expensive to implement and maintain, particularly for smaller organizations that may not have the resources to invest in a large-scale data warehouse and associated data marts</a:t>
            </a:r>
            <a:endParaRPr lang="en-US" dirty="0"/>
          </a:p>
          <a:p>
            <a:pPr>
              <a:buFont typeface="+mj-lt"/>
              <a:buAutoNum type="arabicPeriod"/>
            </a:pPr>
            <a:endParaRPr lang="en-US" dirty="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r>
              <a:rPr lang="en-US" b="1" dirty="0"/>
              <a:t>Data warehousing </a:t>
            </a:r>
            <a:r>
              <a:rPr lang="en-US" dirty="0"/>
              <a:t>is essential for centralizing massive volumes of data from disparate sources into a single, structured repository for enhanced analysis and reporting.</a:t>
            </a:r>
            <a:endParaRPr lang="en-US" dirty="0"/>
          </a:p>
          <a:p>
            <a:r>
              <a:rPr lang="en-US" dirty="0"/>
              <a:t> It supports business intelligence (BI) by providing a consistent, "single source of truth" for historical analysis, trend forecasting, and data-driven decision-making, which traditional operational databases cannot handle efficiently. </a:t>
            </a:r>
            <a:endParaRPr lang="en-US" dirty="0"/>
          </a:p>
          <a:p>
            <a:pPr marL="0" indent="0">
              <a:buNone/>
            </a:pPr>
            <a:r>
              <a:rPr lang="en-US" b="1" dirty="0"/>
              <a:t>Needs for Data Warehousing:</a:t>
            </a:r>
            <a:endParaRPr lang="en-US" dirty="0"/>
          </a:p>
          <a:p>
            <a:pPr>
              <a:buFont typeface="Arial" panose="02080604020202020204" pitchFamily="34" charset="0"/>
              <a:buChar char="•"/>
            </a:pPr>
            <a:r>
              <a:rPr lang="en-US" b="1" dirty="0"/>
              <a:t>Centralized Data Repository:</a:t>
            </a:r>
            <a:endParaRPr lang="en-US" b="1" dirty="0"/>
          </a:p>
          <a:p>
            <a:pPr>
              <a:buFont typeface="Arial" panose="02080604020202020204" pitchFamily="34" charset="0"/>
              <a:buChar char="•"/>
            </a:pPr>
            <a:r>
              <a:rPr lang="en-US" dirty="0"/>
              <a:t> Combines disparate data from multiple sources (e.g., CRMs, ERPs, flat files) into a unified view.</a:t>
            </a:r>
            <a:endParaRPr lang="en-US" dirty="0"/>
          </a:p>
          <a:p>
            <a:pPr>
              <a:buFont typeface="Arial" panose="02080604020202020204" pitchFamily="34" charset="0"/>
              <a:buChar char="•"/>
            </a:pPr>
            <a:r>
              <a:rPr lang="en-US" b="1" dirty="0"/>
              <a:t>Historical Data Analysis:</a:t>
            </a:r>
            <a:endParaRPr lang="en-US" b="1" dirty="0"/>
          </a:p>
          <a:p>
            <a:pPr>
              <a:buFont typeface="Arial" panose="02080604020202020204" pitchFamily="34" charset="0"/>
              <a:buChar char="•"/>
            </a:pPr>
            <a:r>
              <a:rPr lang="en-US" dirty="0"/>
              <a:t> Stores long-term data, enabling companies to analyze trends over time and predict future performance.</a:t>
            </a:r>
            <a:endParaRPr lang="en-US" dirty="0"/>
          </a:p>
          <a:p>
            <a:pPr>
              <a:buFont typeface="Arial" panose="02080604020202020204" pitchFamily="34" charset="0"/>
              <a:buChar char="•"/>
            </a:pPr>
            <a:r>
              <a:rPr lang="en-US" b="1" dirty="0"/>
              <a:t>Enhanced Decision Making:</a:t>
            </a:r>
            <a:r>
              <a:rPr lang="en-US" dirty="0"/>
              <a:t> </a:t>
            </a:r>
            <a:endParaRPr lang="en-US" dirty="0"/>
          </a:p>
          <a:p>
            <a:pPr>
              <a:buFont typeface="Arial" panose="02080604020202020204" pitchFamily="34" charset="0"/>
              <a:buChar char="•"/>
            </a:pPr>
            <a:r>
              <a:rPr lang="en-US" dirty="0"/>
              <a:t>Provides high-quality, cleansed, and consistent data for improved BI reporting and strategic decisions.</a:t>
            </a:r>
            <a:endParaRPr lang="en-US"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buFont typeface="Arial" panose="02080604020202020204" pitchFamily="34" charset="0"/>
              <a:buChar char="•"/>
            </a:pPr>
            <a:r>
              <a:rPr lang="en-US" b="1" dirty="0"/>
              <a:t>Improved Query Performance:</a:t>
            </a:r>
            <a:endParaRPr lang="en-US" b="1" dirty="0"/>
          </a:p>
          <a:p>
            <a:pPr>
              <a:buFont typeface="Arial" panose="02080604020202020204" pitchFamily="34" charset="0"/>
              <a:buChar char="•"/>
            </a:pPr>
            <a:r>
              <a:rPr lang="en-US" dirty="0"/>
              <a:t> Optimized for fast, complex analytical queries without slowing down day-to-day operational databases.</a:t>
            </a:r>
            <a:endParaRPr lang="en-US" dirty="0"/>
          </a:p>
          <a:p>
            <a:pPr>
              <a:buFont typeface="Arial" panose="02080604020202020204" pitchFamily="34" charset="0"/>
              <a:buChar char="•"/>
            </a:pPr>
            <a:endParaRPr lang="en-US" dirty="0"/>
          </a:p>
          <a:p>
            <a:pPr>
              <a:buFont typeface="Arial" panose="02080604020202020204" pitchFamily="34" charset="0"/>
              <a:buChar char="•"/>
            </a:pPr>
            <a:r>
              <a:rPr lang="en-US" b="1" dirty="0"/>
              <a:t>Scalability &amp; Cost Efficiency:</a:t>
            </a:r>
            <a:r>
              <a:rPr lang="en-US" dirty="0"/>
              <a:t> </a:t>
            </a:r>
            <a:endParaRPr lang="en-US" dirty="0"/>
          </a:p>
          <a:p>
            <a:pPr>
              <a:buFont typeface="Arial" panose="02080604020202020204" pitchFamily="34" charset="0"/>
              <a:buChar char="•"/>
            </a:pPr>
            <a:r>
              <a:rPr lang="en-US" dirty="0"/>
              <a:t>Modern cloud data warehouses offer on-demand scaling (e.g., Snowflake, </a:t>
            </a:r>
            <a:r>
              <a:rPr lang="en-US" dirty="0">
                <a:hlinkClick r:id="rId1"/>
              </a:rPr>
              <a:t>Google </a:t>
            </a:r>
            <a:r>
              <a:rPr lang="en-US" dirty="0" err="1">
                <a:hlinkClick r:id="rId1"/>
              </a:rPr>
              <a:t>BigQuery</a:t>
            </a:r>
            <a:r>
              <a:rPr lang="en-US" dirty="0"/>
              <a:t>) and pay-as-you-go pricing to manage large datasets economically.</a:t>
            </a:r>
            <a:endParaRPr lang="en-US" dirty="0"/>
          </a:p>
          <a:p>
            <a:pPr>
              <a:buFont typeface="Arial" panose="02080604020202020204" pitchFamily="34" charset="0"/>
              <a:buChar char="•"/>
            </a:pPr>
            <a:endParaRPr lang="en-US" dirty="0"/>
          </a:p>
          <a:p>
            <a:pPr>
              <a:buFont typeface="Arial" panose="02080604020202020204" pitchFamily="34" charset="0"/>
              <a:buChar char="•"/>
            </a:pPr>
            <a:r>
              <a:rPr lang="en-US" b="1" dirty="0"/>
              <a:t>Data Security &amp; Compliance:</a:t>
            </a:r>
            <a:r>
              <a:rPr lang="en-US" dirty="0"/>
              <a:t> </a:t>
            </a:r>
            <a:endParaRPr lang="en-US" dirty="0"/>
          </a:p>
          <a:p>
            <a:pPr>
              <a:buFont typeface="Arial" panose="02080604020202020204" pitchFamily="34" charset="0"/>
              <a:buChar char="•"/>
            </a:pPr>
            <a:r>
              <a:rPr lang="en-US" dirty="0"/>
              <a:t>Enables role-based access control (RBAC) and simplifies regulatory compliance (like GDPR or HIPAA) by consolidating data in a secure environment.</a:t>
            </a:r>
            <a:endParaRPr lang="en-US" dirty="0"/>
          </a:p>
          <a:p>
            <a:pPr>
              <a:buFont typeface="Arial" panose="02080604020202020204" pitchFamily="34" charset="0"/>
              <a:buChar char="•"/>
            </a:pPr>
            <a:endParaRPr lang="en-US" dirty="0"/>
          </a:p>
          <a:p>
            <a:pPr>
              <a:buFont typeface="Arial" panose="02080604020202020204" pitchFamily="34" charset="0"/>
              <a:buChar char="•"/>
            </a:pPr>
            <a:r>
              <a:rPr lang="en-US" b="1" dirty="0"/>
              <a:t>Business Intelligence Support:</a:t>
            </a:r>
            <a:endParaRPr lang="en-US" b="1" dirty="0"/>
          </a:p>
          <a:p>
            <a:pPr>
              <a:buFont typeface="Arial" panose="02080604020202020204" pitchFamily="34" charset="0"/>
              <a:buChar char="•"/>
            </a:pPr>
            <a:r>
              <a:rPr lang="en-US" dirty="0"/>
              <a:t> Feeds data directly into AI, machine learning, and visualization tools (like Tableau or Power BI) for advanced insights. </a:t>
            </a:r>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dirty="0"/>
              <a:t>Data warehousing trends in 2026 are heavily focused on cloud-native scalability, real-time analytics, and AI-driven automation. </a:t>
            </a:r>
            <a:endParaRPr lang="en-US" dirty="0"/>
          </a:p>
          <a:p>
            <a:r>
              <a:rPr lang="en-US" dirty="0"/>
              <a:t>Key shifts include the rise of data lake houses, which merge structured and unstructured data, and the adoption of zero-copy data sharing for secure, instant access without duplication. </a:t>
            </a:r>
            <a:endParaRPr lang="en-US" dirty="0"/>
          </a:p>
          <a:p>
            <a:pPr marL="0" indent="0">
              <a:buNone/>
            </a:pPr>
            <a:r>
              <a:rPr lang="en-US" b="1" dirty="0"/>
              <a:t>Trends in Data Warehousing</a:t>
            </a:r>
            <a:endParaRPr lang="en-US" dirty="0"/>
          </a:p>
          <a:p>
            <a:pPr>
              <a:buFont typeface="Arial" panose="02080604020202020204" pitchFamily="34" charset="0"/>
              <a:buChar char="•"/>
            </a:pPr>
            <a:r>
              <a:rPr lang="en-US" b="1" dirty="0"/>
              <a:t>Cloud-Native &amp; Hybrid Architectures:</a:t>
            </a:r>
            <a:r>
              <a:rPr lang="en-US" dirty="0"/>
              <a:t> </a:t>
            </a:r>
            <a:endParaRPr lang="en-US" dirty="0"/>
          </a:p>
          <a:p>
            <a:pPr>
              <a:buFont typeface="Arial" panose="02080604020202020204" pitchFamily="34" charset="0"/>
              <a:buChar char="•"/>
            </a:pPr>
            <a:r>
              <a:rPr lang="en-US" dirty="0"/>
              <a:t>Migration to cloud platforms like Snowflake, Google </a:t>
            </a:r>
            <a:r>
              <a:rPr lang="en-US" dirty="0" err="1"/>
              <a:t>BigQuery</a:t>
            </a:r>
            <a:r>
              <a:rPr lang="en-US" dirty="0"/>
              <a:t>, and Amazon Redshift is accelerating, driven by demand for elastic scalability and cost-efficiency.</a:t>
            </a:r>
            <a:endParaRPr lang="en-US" dirty="0"/>
          </a:p>
          <a:p>
            <a:pPr>
              <a:buFont typeface="Arial" panose="02080604020202020204" pitchFamily="34" charset="0"/>
              <a:buChar char="•"/>
            </a:pPr>
            <a:r>
              <a:rPr lang="en-US" b="1" dirty="0">
                <a:hlinkClick r:id="rId1"/>
              </a:rPr>
              <a:t>Data Lakehouse</a:t>
            </a:r>
            <a:r>
              <a:rPr lang="en-US" b="1" dirty="0"/>
              <a:t> Adoption:</a:t>
            </a:r>
            <a:r>
              <a:rPr lang="en-US" dirty="0"/>
              <a:t> </a:t>
            </a:r>
            <a:endParaRPr lang="en-US" dirty="0"/>
          </a:p>
          <a:p>
            <a:pPr>
              <a:buFont typeface="Arial" panose="02080604020202020204" pitchFamily="34" charset="0"/>
              <a:buChar char="•"/>
            </a:pPr>
            <a:r>
              <a:rPr lang="en-US" dirty="0"/>
              <a:t>Converging data warehouses and data lakes, allowing organizations to manage both structured and unstructured data in one place, reducing data silo issues.</a:t>
            </a:r>
            <a:endParaRPr lang="en-US" dirty="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buFont typeface="Arial" panose="02080604020202020204" pitchFamily="34" charset="0"/>
              <a:buChar char="•"/>
            </a:pPr>
            <a:r>
              <a:rPr lang="en-US" b="1" dirty="0">
                <a:hlinkClick r:id="rId1"/>
              </a:rPr>
              <a:t>Real-Time Data Processing</a:t>
            </a:r>
            <a:r>
              <a:rPr lang="en-US" b="1" dirty="0"/>
              <a:t>:</a:t>
            </a:r>
            <a:r>
              <a:rPr lang="en-US" dirty="0"/>
              <a:t> </a:t>
            </a:r>
            <a:endParaRPr lang="en-US" dirty="0"/>
          </a:p>
          <a:p>
            <a:pPr>
              <a:buFont typeface="Arial" panose="02080604020202020204" pitchFamily="34" charset="0"/>
              <a:buChar char="•"/>
            </a:pPr>
            <a:r>
              <a:rPr lang="en-US" dirty="0"/>
              <a:t>Integration with streaming technologies (e.g., Apache Kafka) now allows near-instant ingestion and analysis, moving away from nightly batch processing.</a:t>
            </a:r>
            <a:endParaRPr lang="en-US" dirty="0"/>
          </a:p>
          <a:p>
            <a:pPr>
              <a:buFont typeface="Arial" panose="02080604020202020204" pitchFamily="34" charset="0"/>
              <a:buChar char="•"/>
            </a:pPr>
            <a:r>
              <a:rPr lang="en-US" b="1" dirty="0">
                <a:hlinkClick r:id="rId2"/>
              </a:rPr>
              <a:t>AI &amp; Automation</a:t>
            </a:r>
            <a:r>
              <a:rPr lang="en-US" b="1" dirty="0"/>
              <a:t> Integration:</a:t>
            </a:r>
            <a:endParaRPr lang="en-US" b="1" dirty="0"/>
          </a:p>
          <a:p>
            <a:pPr>
              <a:buFont typeface="Arial" panose="02080604020202020204" pitchFamily="34" charset="0"/>
              <a:buChar char="•"/>
            </a:pPr>
            <a:r>
              <a:rPr lang="en-US" dirty="0"/>
              <a:t> AI and Machine Learning (ML) are being used for automated data management, including data cleansing, query optimization, and anomaly detection.</a:t>
            </a:r>
            <a:endParaRPr lang="en-US" dirty="0"/>
          </a:p>
          <a:p>
            <a:pPr>
              <a:buFont typeface="Arial" panose="02080604020202020204" pitchFamily="34" charset="0"/>
              <a:buChar char="•"/>
            </a:pPr>
            <a:r>
              <a:rPr lang="en-US" b="1" dirty="0">
                <a:hlinkClick r:id="rId3"/>
              </a:rPr>
              <a:t>Zero-Copy Data Sharing</a:t>
            </a:r>
            <a:r>
              <a:rPr lang="en-US" b="1" dirty="0"/>
              <a:t>:</a:t>
            </a:r>
            <a:r>
              <a:rPr lang="en-US" dirty="0"/>
              <a:t> </a:t>
            </a:r>
            <a:endParaRPr lang="en-US" dirty="0"/>
          </a:p>
          <a:p>
            <a:pPr>
              <a:buFont typeface="Arial" panose="02080604020202020204" pitchFamily="34" charset="0"/>
              <a:buChar char="•"/>
            </a:pPr>
            <a:r>
              <a:rPr lang="en-US" dirty="0"/>
              <a:t>Technologies such as Snowflake's zero-copy cloning or Databricks' Delta Sharing allow sharing data between organizations without moving or copying the data, enhancing security and reducing storage costs.</a:t>
            </a:r>
            <a:endParaRPr lang="en-US" dirty="0"/>
          </a:p>
          <a:p>
            <a:pPr>
              <a:buFont typeface="Arial" panose="02080604020202020204" pitchFamily="34" charset="0"/>
              <a:buChar char="•"/>
            </a:pPr>
            <a:r>
              <a:rPr lang="en-US" b="1" dirty="0">
                <a:hlinkClick r:id="rId4"/>
              </a:rPr>
              <a:t>Serverless Data Warehousing</a:t>
            </a:r>
            <a:r>
              <a:rPr lang="en-US" b="1" dirty="0"/>
              <a:t>:</a:t>
            </a:r>
            <a:r>
              <a:rPr lang="en-US" dirty="0"/>
              <a:t> </a:t>
            </a:r>
            <a:endParaRPr lang="en-US" dirty="0"/>
          </a:p>
          <a:p>
            <a:pPr>
              <a:buFont typeface="Arial" panose="02080604020202020204" pitchFamily="34" charset="0"/>
              <a:buChar char="•"/>
            </a:pPr>
            <a:r>
              <a:rPr lang="en-US" dirty="0"/>
              <a:t>Companies are moving toward serverless models that eliminate infrastructure management, allowing teams to focus on data utilization.</a:t>
            </a:r>
            <a:endParaRPr lang="en-US" dirty="0"/>
          </a:p>
          <a:p>
            <a:pPr>
              <a:buFont typeface="Arial" panose="02080604020202020204" pitchFamily="34" charset="0"/>
              <a:buChar char="•"/>
            </a:pPr>
            <a:r>
              <a:rPr lang="en-US" b="1" dirty="0">
                <a:hlinkClick r:id="rId5"/>
              </a:rPr>
              <a:t>Data Mesh &amp; Data Fabric</a:t>
            </a:r>
            <a:r>
              <a:rPr lang="en-US" b="1" dirty="0"/>
              <a:t> Concepts:</a:t>
            </a:r>
            <a:r>
              <a:rPr lang="en-US" dirty="0"/>
              <a:t> </a:t>
            </a:r>
            <a:endParaRPr lang="en-US" dirty="0"/>
          </a:p>
          <a:p>
            <a:pPr>
              <a:buFont typeface="Arial" panose="02080604020202020204" pitchFamily="34" charset="0"/>
              <a:buChar char="•"/>
            </a:pPr>
            <a:r>
              <a:rPr lang="en-US" dirty="0"/>
              <a:t>Shifting from a single centralized warehouse to decentralized architectures where data is treated as a product and managed by specific business domains.</a:t>
            </a:r>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14897</Words>
  <Application>WPS Presentation</Application>
  <PresentationFormat>Widescreen</PresentationFormat>
  <Paragraphs>272</Paragraphs>
  <Slides>30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Arial</vt:lpstr>
      <vt:lpstr>SimSun</vt:lpstr>
      <vt:lpstr>Wingdings</vt:lpstr>
      <vt:lpstr>DejaVu Sans</vt:lpstr>
      <vt:lpstr>Calibri Light</vt:lpstr>
      <vt:lpstr>Calibri</vt:lpstr>
      <vt:lpstr>Microsoft YaHei</vt:lpstr>
      <vt:lpstr>Droid Sans Fallback</vt:lpstr>
      <vt:lpstr>Arial Unicode MS</vt:lpstr>
      <vt:lpstr>Office Theme</vt:lpstr>
      <vt:lpstr>Introduction to  Data Warehouse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mrrv</cp:lastModifiedBy>
  <cp:revision>22</cp:revision>
  <dcterms:created xsi:type="dcterms:W3CDTF">2026-05-11T11:31:25Z</dcterms:created>
  <dcterms:modified xsi:type="dcterms:W3CDTF">2026-05-11T11:31:25Z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