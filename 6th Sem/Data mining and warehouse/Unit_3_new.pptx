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2" r:id="rId24"/>
    <p:sldId id="283" r:id="rId25"/>
    <p:sldId id="284" r:id="rId26"/>
    <p:sldId id="285" r:id="rId27"/>
    <p:sldId id="286" r:id="rId28"/>
    <p:sldId id="295" r:id="rId29"/>
    <p:sldId id="296" r:id="rId30"/>
    <p:sldId id="297" r:id="rId31"/>
    <p:sldId id="298" r:id="rId32"/>
    <p:sldId id="287" r:id="rId33"/>
    <p:sldId id="288" r:id="rId34"/>
    <p:sldId id="289" r:id="rId35"/>
    <p:sldId id="294" r:id="rId36"/>
    <p:sldId id="291" r:id="rId37"/>
    <p:sldId id="292" r:id="rId38"/>
    <p:sldId id="293" r:id="rId39"/>
    <p:sldId id="299" r:id="rId40"/>
    <p:sldId id="28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0A6F-60E3-B2C5-08AB-B4829CFF82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9B0326-29E5-8CAB-ED4B-D5B6974E41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2926C9-116A-83FB-62FF-3667BCACBF50}"/>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7CC88C69-C330-A2DD-9F07-0CA6847B03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FAB17-EB17-88A9-A2B7-63504AAAED60}"/>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2160715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E685A-DE36-5CEC-F623-B838EE4CB9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DDDAB4-E778-E0A5-435C-A57896EB26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440E9-9408-ED4B-C63F-7EE97BF57164}"/>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674569A4-60E1-825B-72B4-CF5E55BD2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D7124A-9609-D3A6-50FA-F8060587BBD4}"/>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1319237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070C-C642-4BEC-62F0-1BB897B6B1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9F4CA3-4ECD-6997-D829-46068F1749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6B1D06-D54E-52F8-EC71-07BE6D9A3344}"/>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015CE411-ADC3-F19A-8FFA-6B579CFB2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E045B-7BA8-2F76-9D0B-A4F2546F24FD}"/>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461748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EB94-697A-6D16-742B-D072D78A5F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2402BE-A28A-D871-6F27-8233CE0D80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CE5110-1A7D-8D4A-B066-ED96C3FA7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D1278A-886C-42AF-A7B9-8871050C0727}"/>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6" name="Footer Placeholder 5">
            <a:extLst>
              <a:ext uri="{FF2B5EF4-FFF2-40B4-BE49-F238E27FC236}">
                <a16:creationId xmlns:a16="http://schemas.microsoft.com/office/drawing/2014/main" id="{8B4E322B-A1C8-580B-26EF-399E49F547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A9692-A383-EA29-E725-E4122D4181A9}"/>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1933691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EE82B-49F2-31B6-46B9-93E5F75B80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8288DF-3F97-ED36-3695-BF60CA4319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515DB9-01A7-32E0-B7C5-642F324006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47B37A-4724-C28A-0BB6-6F087CAB5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F4A4AA-4B3A-7C28-05ED-E1711C8511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718C46-4D47-44E4-BD74-243A421FE241}"/>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8" name="Footer Placeholder 7">
            <a:extLst>
              <a:ext uri="{FF2B5EF4-FFF2-40B4-BE49-F238E27FC236}">
                <a16:creationId xmlns:a16="http://schemas.microsoft.com/office/drawing/2014/main" id="{901B34D3-8ABE-3381-0041-533395BC69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35E30-4CB3-15EE-2F2E-28CD49AE0F46}"/>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2901826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35906-CC3A-18E9-FFC7-3CC0E6F829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8BE4E7-0534-1A59-9D88-54D6E0C304BD}"/>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4" name="Footer Placeholder 3">
            <a:extLst>
              <a:ext uri="{FF2B5EF4-FFF2-40B4-BE49-F238E27FC236}">
                <a16:creationId xmlns:a16="http://schemas.microsoft.com/office/drawing/2014/main" id="{5CCD19F7-4EAF-FB1C-4380-2351C14FC1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EF93B5-54CE-54BF-6272-D377E0517DCA}"/>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442310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A687F6-F33B-9736-650D-0898726B6518}"/>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3" name="Footer Placeholder 2">
            <a:extLst>
              <a:ext uri="{FF2B5EF4-FFF2-40B4-BE49-F238E27FC236}">
                <a16:creationId xmlns:a16="http://schemas.microsoft.com/office/drawing/2014/main" id="{01B70634-50E2-0B1B-F551-F05BD1159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8B73FB-50FB-CCEB-1F51-C2ADA41CA1C0}"/>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232892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A65E-7094-D2BA-B46D-3A062CA1A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C64074-391F-080F-3C5C-D63BFBF1F3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B854FE-E084-B143-80B7-6AEAA64E9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12E9C3-C9C7-0DF5-C731-6326FEDDD38E}"/>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6" name="Footer Placeholder 5">
            <a:extLst>
              <a:ext uri="{FF2B5EF4-FFF2-40B4-BE49-F238E27FC236}">
                <a16:creationId xmlns:a16="http://schemas.microsoft.com/office/drawing/2014/main" id="{751E64A8-CD16-1A35-DA2F-9F0BE9FA97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1C157-5A54-B15E-4793-A18BED68FA99}"/>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197987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0E6D-1E17-891D-67C5-2118F13409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DA65E0-B7A1-58D5-5429-68B0BE51B3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66FD95-8F7A-C18A-4515-1D2568D6D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3115A-7240-8D6F-737D-758B8A5BA29C}"/>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6" name="Footer Placeholder 5">
            <a:extLst>
              <a:ext uri="{FF2B5EF4-FFF2-40B4-BE49-F238E27FC236}">
                <a16:creationId xmlns:a16="http://schemas.microsoft.com/office/drawing/2014/main" id="{83DD8E61-4535-15F4-DBD0-0B3B0B1BAE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5C521A-DED3-0D8D-0E42-46EB0910F837}"/>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2164694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D26CF-9FD8-0198-C162-9E149D10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EFC5A1-BB67-C88D-E8B8-F3DD78AC14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C3D7F-7014-BD4F-0EB9-C31B9FC077B7}"/>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8A5DD6D0-8293-AACB-1C83-773A64E8DF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78C58-7E90-CDEB-2B73-0AB57D9D72B9}"/>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822318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11A4B1-9200-576C-A318-68C0AF3F8A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B624FF-283F-54D1-2793-5DE2243D3C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A7E4A-8C7F-61E8-B85A-64EEAC0DC462}"/>
              </a:ext>
            </a:extLst>
          </p:cNvPr>
          <p:cNvSpPr>
            <a:spLocks noGrp="1"/>
          </p:cNvSpPr>
          <p:nvPr>
            <p:ph type="dt" sz="half" idx="10"/>
          </p:nvPr>
        </p:nvSpPr>
        <p:spPr/>
        <p:txBody>
          <a:body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6DF33644-F300-83B1-AEFC-F2AAC18B4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86CE7-FBB7-E4D5-C16F-8C07391C15C0}"/>
              </a:ext>
            </a:extLst>
          </p:cNvPr>
          <p:cNvSpPr>
            <a:spLocks noGrp="1"/>
          </p:cNvSpPr>
          <p:nvPr>
            <p:ph type="sldNum" sz="quarter" idx="12"/>
          </p:nvPr>
        </p:nvSpPr>
        <p:spPr/>
        <p:txBody>
          <a:bodyPr/>
          <a:lstStyle/>
          <a:p>
            <a:fld id="{7C1E35B6-5494-48BA-BCAA-8C49D4DC5465}" type="slidenum">
              <a:rPr lang="en-US" smtClean="0"/>
              <a:t>‹#›</a:t>
            </a:fld>
            <a:endParaRPr lang="en-US"/>
          </a:p>
        </p:txBody>
      </p:sp>
    </p:spTree>
    <p:extLst>
      <p:ext uri="{BB962C8B-B14F-4D97-AF65-F5344CB8AC3E}">
        <p14:creationId xmlns:p14="http://schemas.microsoft.com/office/powerpoint/2010/main" val="386923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F53DA6-F1FC-776B-85EE-C990DDF813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62207C-823C-8B4F-7608-C35B9715F8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36BDBA-7278-7191-F695-553DCD9AB6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F4D43A-CA54-4223-BC20-661FD2291EC5}" type="datetimeFigureOut">
              <a:rPr lang="en-US" smtClean="0"/>
              <a:t>4/21/2026</a:t>
            </a:fld>
            <a:endParaRPr lang="en-US"/>
          </a:p>
        </p:txBody>
      </p:sp>
      <p:sp>
        <p:nvSpPr>
          <p:cNvPr id="5" name="Footer Placeholder 4">
            <a:extLst>
              <a:ext uri="{FF2B5EF4-FFF2-40B4-BE49-F238E27FC236}">
                <a16:creationId xmlns:a16="http://schemas.microsoft.com/office/drawing/2014/main" id="{6EE344D7-060F-829C-E152-8AA59C62C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1DC0B6-7C5B-D942-76F8-50DFF0C5FC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E35B6-5494-48BA-BCAA-8C49D4DC5465}" type="slidenum">
              <a:rPr lang="en-US" smtClean="0"/>
              <a:t>‹#›</a:t>
            </a:fld>
            <a:endParaRPr lang="en-US"/>
          </a:p>
        </p:txBody>
      </p:sp>
    </p:spTree>
    <p:extLst>
      <p:ext uri="{BB962C8B-B14F-4D97-AF65-F5344CB8AC3E}">
        <p14:creationId xmlns:p14="http://schemas.microsoft.com/office/powerpoint/2010/main" val="2273656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blog.bismart.com/en/do-i-need-a-data-warehouse-for-business-intelligence" TargetMode="External"/><Relationship Id="rId2" Type="http://schemas.openxmlformats.org/officeDocument/2006/relationships/hyperlink" Target="https://blog.bismart.com/en/what-is-advanced-analytic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0DBF2-D222-B529-F035-891399485D50}"/>
              </a:ext>
            </a:extLst>
          </p:cNvPr>
          <p:cNvSpPr>
            <a:spLocks noGrp="1"/>
          </p:cNvSpPr>
          <p:nvPr>
            <p:ph type="ctrTitle"/>
          </p:nvPr>
        </p:nvSpPr>
        <p:spPr/>
        <p:txBody>
          <a:bodyPr/>
          <a:lstStyle/>
          <a:p>
            <a:r>
              <a:rPr lang="en-US" dirty="0"/>
              <a:t>UNIT 3 </a:t>
            </a:r>
          </a:p>
        </p:txBody>
      </p:sp>
    </p:spTree>
    <p:extLst>
      <p:ext uri="{BB962C8B-B14F-4D97-AF65-F5344CB8AC3E}">
        <p14:creationId xmlns:p14="http://schemas.microsoft.com/office/powerpoint/2010/main" val="3867489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0D7A9-753A-9BCD-2EC7-54CA3ABC4281}"/>
              </a:ext>
            </a:extLst>
          </p:cNvPr>
          <p:cNvSpPr>
            <a:spLocks noGrp="1"/>
          </p:cNvSpPr>
          <p:nvPr>
            <p:ph idx="1"/>
          </p:nvPr>
        </p:nvSpPr>
        <p:spPr>
          <a:xfrm>
            <a:off x="0" y="0"/>
            <a:ext cx="12192000" cy="6858000"/>
          </a:xfrm>
        </p:spPr>
        <p:txBody>
          <a:bodyPr/>
          <a:lstStyle/>
          <a:p>
            <a:r>
              <a:rPr lang="en-US" b="1" dirty="0"/>
              <a:t>Data mart</a:t>
            </a:r>
          </a:p>
          <a:p>
            <a:endParaRPr lang="en-US" b="1" dirty="0"/>
          </a:p>
          <a:p>
            <a:r>
              <a:rPr lang="en-US" b="1" dirty="0"/>
              <a:t>Data mart</a:t>
            </a:r>
            <a:r>
              <a:rPr lang="en-US" dirty="0"/>
              <a:t> is such a storage component which is concerned on a specific department of an organization. </a:t>
            </a:r>
          </a:p>
          <a:p>
            <a:endParaRPr lang="en-US" dirty="0"/>
          </a:p>
          <a:p>
            <a:r>
              <a:rPr lang="en-US" dirty="0"/>
              <a:t>It is a subset of the data stored in the data warehouse.</a:t>
            </a:r>
          </a:p>
          <a:p>
            <a:endParaRPr lang="en-US" dirty="0"/>
          </a:p>
          <a:p>
            <a:r>
              <a:rPr lang="en-US" dirty="0"/>
              <a:t> Data mart is focused only on particular function of an organization and it is maintained by single authority only, </a:t>
            </a:r>
            <a:r>
              <a:rPr lang="en-US" dirty="0" err="1"/>
              <a:t>e.g.m</a:t>
            </a:r>
            <a:r>
              <a:rPr lang="en-US" dirty="0"/>
              <a:t> finance, Marketing. </a:t>
            </a:r>
          </a:p>
          <a:p>
            <a:endParaRPr lang="en-US" dirty="0"/>
          </a:p>
          <a:p>
            <a:r>
              <a:rPr lang="en-US" dirty="0"/>
              <a:t>Data Marts are small in size and are flexible. </a:t>
            </a:r>
          </a:p>
        </p:txBody>
      </p:sp>
    </p:spTree>
    <p:extLst>
      <p:ext uri="{BB962C8B-B14F-4D97-AF65-F5344CB8AC3E}">
        <p14:creationId xmlns:p14="http://schemas.microsoft.com/office/powerpoint/2010/main" val="1855595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D20C40D-C8B9-1531-0D6B-F7A2241E7AA1}"/>
              </a:ext>
            </a:extLst>
          </p:cNvPr>
          <p:cNvSpPr>
            <a:spLocks noGrp="1"/>
          </p:cNvSpPr>
          <p:nvPr>
            <p:ph type="title"/>
          </p:nvPr>
        </p:nvSpPr>
        <p:spPr>
          <a:xfrm>
            <a:off x="-1" y="1"/>
            <a:ext cx="11353801" cy="1076324"/>
          </a:xfrm>
        </p:spPr>
        <p:txBody>
          <a:bodyPr>
            <a:normAutofit fontScale="90000"/>
          </a:bodyPr>
          <a:lstStyle/>
          <a:p>
            <a:r>
              <a:rPr lang="en-US" b="1" dirty="0"/>
              <a:t>Types of Data Mart:</a:t>
            </a:r>
            <a:r>
              <a:rPr lang="en-US" dirty="0"/>
              <a:t> </a:t>
            </a:r>
            <a:br>
              <a:rPr lang="en-US" dirty="0"/>
            </a:br>
            <a:r>
              <a:rPr lang="en-US" dirty="0"/>
              <a:t>There are three types of data marts: </a:t>
            </a:r>
          </a:p>
        </p:txBody>
      </p:sp>
      <p:sp>
        <p:nvSpPr>
          <p:cNvPr id="10" name="Content Placeholder 9">
            <a:extLst>
              <a:ext uri="{FF2B5EF4-FFF2-40B4-BE49-F238E27FC236}">
                <a16:creationId xmlns:a16="http://schemas.microsoft.com/office/drawing/2014/main" id="{F2403DFD-AEE8-954E-2A0B-59AB4061A2FF}"/>
              </a:ext>
            </a:extLst>
          </p:cNvPr>
          <p:cNvSpPr>
            <a:spLocks noGrp="1"/>
          </p:cNvSpPr>
          <p:nvPr>
            <p:ph sz="half" idx="1"/>
          </p:nvPr>
        </p:nvSpPr>
        <p:spPr>
          <a:xfrm>
            <a:off x="-1" y="1333500"/>
            <a:ext cx="6724651" cy="5524500"/>
          </a:xfrm>
        </p:spPr>
        <p:txBody>
          <a:bodyPr>
            <a:normAutofit/>
          </a:bodyPr>
          <a:lstStyle/>
          <a:p>
            <a:pPr algn="just"/>
            <a:r>
              <a:rPr lang="en-US" dirty="0"/>
              <a:t>Dependent Data Mart is created by extracting the data from central repository, Datawarehouse.</a:t>
            </a:r>
          </a:p>
          <a:p>
            <a:pPr algn="just"/>
            <a:r>
              <a:rPr lang="en-US" dirty="0"/>
              <a:t> First data warehouse is created by extracting data (through ETL tool) from external sources and then data mart is created from data warehouse. </a:t>
            </a:r>
          </a:p>
          <a:p>
            <a:pPr algn="just"/>
            <a:r>
              <a:rPr lang="en-US" dirty="0"/>
              <a:t>Dependent data mart is created in top-down approach of data warehouse architecture.</a:t>
            </a:r>
          </a:p>
          <a:p>
            <a:pPr algn="just"/>
            <a:r>
              <a:rPr lang="en-US" dirty="0"/>
              <a:t> This model of data mart is used by big organizations. </a:t>
            </a:r>
          </a:p>
        </p:txBody>
      </p:sp>
      <p:sp>
        <p:nvSpPr>
          <p:cNvPr id="11" name="Content Placeholder 10">
            <a:extLst>
              <a:ext uri="{FF2B5EF4-FFF2-40B4-BE49-F238E27FC236}">
                <a16:creationId xmlns:a16="http://schemas.microsoft.com/office/drawing/2014/main" id="{52257041-3B28-20FE-9513-459E702F2D73}"/>
              </a:ext>
            </a:extLst>
          </p:cNvPr>
          <p:cNvSpPr>
            <a:spLocks noGrp="1"/>
          </p:cNvSpPr>
          <p:nvPr>
            <p:ph sz="half" idx="2"/>
          </p:nvPr>
        </p:nvSpPr>
        <p:spPr>
          <a:xfrm>
            <a:off x="6905622" y="1209675"/>
            <a:ext cx="4981578" cy="5273675"/>
          </a:xfrm>
        </p:spPr>
        <p:txBody>
          <a:bodyPr>
            <a:normAutofit/>
          </a:bodyPr>
          <a:lstStyle/>
          <a:p>
            <a:r>
              <a:rPr lang="en-US" b="1" dirty="0"/>
              <a:t>1. Dependent Data Mart –</a:t>
            </a:r>
          </a:p>
          <a:p>
            <a:r>
              <a:rPr lang="en-US" dirty="0"/>
              <a:t> </a:t>
            </a:r>
          </a:p>
        </p:txBody>
      </p:sp>
      <p:pic>
        <p:nvPicPr>
          <p:cNvPr id="15" name="Picture 14">
            <a:extLst>
              <a:ext uri="{FF2B5EF4-FFF2-40B4-BE49-F238E27FC236}">
                <a16:creationId xmlns:a16="http://schemas.microsoft.com/office/drawing/2014/main" id="{8611A0ED-E50A-39AA-C4B7-9B0736854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9950" y="2291987"/>
            <a:ext cx="4448176" cy="4191363"/>
          </a:xfrm>
          <a:prstGeom prst="rect">
            <a:avLst/>
          </a:prstGeom>
        </p:spPr>
      </p:pic>
    </p:spTree>
    <p:extLst>
      <p:ext uri="{BB962C8B-B14F-4D97-AF65-F5344CB8AC3E}">
        <p14:creationId xmlns:p14="http://schemas.microsoft.com/office/powerpoint/2010/main" val="119924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2594-60DF-2CCC-BC19-DD0BAE604B66}"/>
              </a:ext>
            </a:extLst>
          </p:cNvPr>
          <p:cNvSpPr>
            <a:spLocks noGrp="1"/>
          </p:cNvSpPr>
          <p:nvPr>
            <p:ph type="title"/>
          </p:nvPr>
        </p:nvSpPr>
        <p:spPr>
          <a:xfrm>
            <a:off x="0" y="1"/>
            <a:ext cx="12192000" cy="971549"/>
          </a:xfrm>
        </p:spPr>
        <p:txBody>
          <a:bodyPr/>
          <a:lstStyle/>
          <a:p>
            <a:r>
              <a:rPr lang="en-US" b="1" dirty="0"/>
              <a:t>2. Independent Data Mart –</a:t>
            </a:r>
            <a:endParaRPr lang="en-US" dirty="0"/>
          </a:p>
        </p:txBody>
      </p:sp>
      <p:sp>
        <p:nvSpPr>
          <p:cNvPr id="3" name="Content Placeholder 2">
            <a:extLst>
              <a:ext uri="{FF2B5EF4-FFF2-40B4-BE49-F238E27FC236}">
                <a16:creationId xmlns:a16="http://schemas.microsoft.com/office/drawing/2014/main" id="{B77C20C7-EF01-6C81-2166-F9982D0E2FF4}"/>
              </a:ext>
            </a:extLst>
          </p:cNvPr>
          <p:cNvSpPr>
            <a:spLocks noGrp="1"/>
          </p:cNvSpPr>
          <p:nvPr>
            <p:ph sz="half" idx="1"/>
          </p:nvPr>
        </p:nvSpPr>
        <p:spPr>
          <a:xfrm>
            <a:off x="0" y="847726"/>
            <a:ext cx="7362824" cy="6010274"/>
          </a:xfrm>
        </p:spPr>
        <p:txBody>
          <a:bodyPr>
            <a:normAutofit/>
          </a:bodyPr>
          <a:lstStyle/>
          <a:p>
            <a:pPr algn="just"/>
            <a:r>
              <a:rPr lang="en-US" dirty="0"/>
              <a:t>Independent Data Mart is created directly from external sources instead of data warehouse.</a:t>
            </a:r>
          </a:p>
          <a:p>
            <a:pPr algn="just"/>
            <a:endParaRPr lang="en-US" dirty="0"/>
          </a:p>
          <a:p>
            <a:pPr algn="just"/>
            <a:r>
              <a:rPr lang="en-US" dirty="0"/>
              <a:t>First data mart is created by extracting data from external sources and then data warehouse is created from the data present in data mart.</a:t>
            </a:r>
          </a:p>
          <a:p>
            <a:pPr algn="just"/>
            <a:endParaRPr lang="en-US" dirty="0"/>
          </a:p>
          <a:p>
            <a:pPr algn="just"/>
            <a:r>
              <a:rPr lang="en-US" dirty="0"/>
              <a:t> Independent data mart is designed in bottom-up approach of data warehouse architecture.</a:t>
            </a:r>
          </a:p>
          <a:p>
            <a:pPr algn="just"/>
            <a:endParaRPr lang="en-US" dirty="0"/>
          </a:p>
          <a:p>
            <a:pPr algn="just"/>
            <a:r>
              <a:rPr lang="en-US" dirty="0"/>
              <a:t>This model of data mart is used by small organizations and is cost effective comparatively. </a:t>
            </a:r>
          </a:p>
        </p:txBody>
      </p:sp>
      <p:pic>
        <p:nvPicPr>
          <p:cNvPr id="6" name="Content Placeholder 5">
            <a:extLst>
              <a:ext uri="{FF2B5EF4-FFF2-40B4-BE49-F238E27FC236}">
                <a16:creationId xmlns:a16="http://schemas.microsoft.com/office/drawing/2014/main" id="{6FC39C0C-D01D-442F-DD79-00331F7FF28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62824" y="733425"/>
            <a:ext cx="4829175" cy="5848349"/>
          </a:xfrm>
        </p:spPr>
      </p:pic>
    </p:spTree>
    <p:extLst>
      <p:ext uri="{BB962C8B-B14F-4D97-AF65-F5344CB8AC3E}">
        <p14:creationId xmlns:p14="http://schemas.microsoft.com/office/powerpoint/2010/main" val="124843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3F91-A758-C527-4318-465FD4B5FC66}"/>
              </a:ext>
            </a:extLst>
          </p:cNvPr>
          <p:cNvSpPr>
            <a:spLocks noGrp="1"/>
          </p:cNvSpPr>
          <p:nvPr>
            <p:ph type="title"/>
          </p:nvPr>
        </p:nvSpPr>
        <p:spPr/>
        <p:txBody>
          <a:bodyPr/>
          <a:lstStyle/>
          <a:p>
            <a:r>
              <a:rPr lang="en-US" b="1" dirty="0"/>
              <a:t>3. Hybrid Data Mart –</a:t>
            </a:r>
            <a:endParaRPr lang="en-US" dirty="0"/>
          </a:p>
        </p:txBody>
      </p:sp>
      <p:pic>
        <p:nvPicPr>
          <p:cNvPr id="7" name="Content Placeholder 6">
            <a:extLst>
              <a:ext uri="{FF2B5EF4-FFF2-40B4-BE49-F238E27FC236}">
                <a16:creationId xmlns:a16="http://schemas.microsoft.com/office/drawing/2014/main" id="{B42AC841-D4D8-0180-FADB-4820ECE0D65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1924" y="1885950"/>
            <a:ext cx="5857875" cy="4429125"/>
          </a:xfrm>
        </p:spPr>
      </p:pic>
      <p:sp>
        <p:nvSpPr>
          <p:cNvPr id="4" name="Content Placeholder 3">
            <a:extLst>
              <a:ext uri="{FF2B5EF4-FFF2-40B4-BE49-F238E27FC236}">
                <a16:creationId xmlns:a16="http://schemas.microsoft.com/office/drawing/2014/main" id="{CEBE4DDA-FA7D-777E-38D0-E7056DCC4BEC}"/>
              </a:ext>
            </a:extLst>
          </p:cNvPr>
          <p:cNvSpPr>
            <a:spLocks noGrp="1"/>
          </p:cNvSpPr>
          <p:nvPr>
            <p:ph sz="half" idx="2"/>
          </p:nvPr>
        </p:nvSpPr>
        <p:spPr>
          <a:xfrm>
            <a:off x="6096000" y="66674"/>
            <a:ext cx="6096000" cy="6791325"/>
          </a:xfrm>
        </p:spPr>
        <p:txBody>
          <a:bodyPr/>
          <a:lstStyle/>
          <a:p>
            <a:pPr marL="0" indent="0">
              <a:buNone/>
            </a:pPr>
            <a:endParaRPr lang="en-US" dirty="0"/>
          </a:p>
          <a:p>
            <a:r>
              <a:rPr lang="en-US" dirty="0"/>
              <a:t>This type of Data Mart is created by extracting data from operational source or from data warehouse.</a:t>
            </a:r>
          </a:p>
          <a:p>
            <a:endParaRPr lang="en-US" dirty="0"/>
          </a:p>
          <a:p>
            <a:r>
              <a:rPr lang="en-US" dirty="0"/>
              <a:t> 1Path reflects accessing data directly from external sources and 2Path reflects dependent data model of data mart. </a:t>
            </a:r>
          </a:p>
        </p:txBody>
      </p:sp>
    </p:spTree>
    <p:extLst>
      <p:ext uri="{BB962C8B-B14F-4D97-AF65-F5344CB8AC3E}">
        <p14:creationId xmlns:p14="http://schemas.microsoft.com/office/powerpoint/2010/main" val="199946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C2A85-5BC3-B1ED-B07C-057E965A93FC}"/>
              </a:ext>
            </a:extLst>
          </p:cNvPr>
          <p:cNvSpPr>
            <a:spLocks noGrp="1"/>
          </p:cNvSpPr>
          <p:nvPr>
            <p:ph sz="half" idx="1"/>
          </p:nvPr>
        </p:nvSpPr>
        <p:spPr>
          <a:xfrm>
            <a:off x="0" y="0"/>
            <a:ext cx="12192000" cy="6858000"/>
          </a:xfrm>
        </p:spPr>
        <p:txBody>
          <a:bodyPr/>
          <a:lstStyle/>
          <a:p>
            <a:r>
              <a:rPr lang="en-US" b="1" dirty="0"/>
              <a:t>Need Of Data Mart:</a:t>
            </a:r>
            <a:r>
              <a:rPr lang="en-US" dirty="0"/>
              <a:t> </a:t>
            </a:r>
          </a:p>
          <a:p>
            <a:endParaRPr lang="en-US" dirty="0"/>
          </a:p>
          <a:p>
            <a:pPr>
              <a:buFont typeface="+mj-lt"/>
              <a:buAutoNum type="arabicPeriod"/>
            </a:pPr>
            <a:r>
              <a:rPr lang="en-US" dirty="0"/>
              <a:t>Data Mart focuses only on functioning of particular department of an organization. </a:t>
            </a:r>
          </a:p>
          <a:p>
            <a:pPr>
              <a:buFont typeface="+mj-lt"/>
              <a:buAutoNum type="arabicPeriod"/>
            </a:pPr>
            <a:endParaRPr lang="en-US" dirty="0"/>
          </a:p>
          <a:p>
            <a:pPr>
              <a:buFont typeface="+mj-lt"/>
              <a:buAutoNum type="arabicPeriod"/>
            </a:pPr>
            <a:r>
              <a:rPr lang="en-US" dirty="0"/>
              <a:t>It is maintained by single authority of an organization. </a:t>
            </a:r>
          </a:p>
          <a:p>
            <a:pPr>
              <a:buFont typeface="+mj-lt"/>
              <a:buAutoNum type="arabicPeriod"/>
            </a:pPr>
            <a:endParaRPr lang="en-US" dirty="0"/>
          </a:p>
          <a:p>
            <a:pPr>
              <a:buFont typeface="+mj-lt"/>
              <a:buAutoNum type="arabicPeriod"/>
            </a:pPr>
            <a:r>
              <a:rPr lang="en-US" dirty="0"/>
              <a:t>Since, it stores the data related to specific part of an organization, data retrieval from it is very quick. </a:t>
            </a:r>
          </a:p>
          <a:p>
            <a:endParaRPr lang="en-US" dirty="0"/>
          </a:p>
        </p:txBody>
      </p:sp>
    </p:spTree>
    <p:extLst>
      <p:ext uri="{BB962C8B-B14F-4D97-AF65-F5344CB8AC3E}">
        <p14:creationId xmlns:p14="http://schemas.microsoft.com/office/powerpoint/2010/main" val="102365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8D1804-7E8B-36AF-D85D-7A17905733FF}"/>
              </a:ext>
            </a:extLst>
          </p:cNvPr>
          <p:cNvSpPr>
            <a:spLocks noGrp="1"/>
          </p:cNvSpPr>
          <p:nvPr>
            <p:ph sz="half" idx="1"/>
          </p:nvPr>
        </p:nvSpPr>
        <p:spPr>
          <a:xfrm>
            <a:off x="0" y="0"/>
            <a:ext cx="6019800" cy="6858000"/>
          </a:xfrm>
        </p:spPr>
        <p:txBody>
          <a:bodyPr>
            <a:normAutofit/>
          </a:bodyPr>
          <a:lstStyle/>
          <a:p>
            <a:r>
              <a:rPr lang="en-US" b="1" dirty="0"/>
              <a:t>Advantages of Data Mart:</a:t>
            </a:r>
            <a:r>
              <a:rPr lang="en-US" dirty="0"/>
              <a:t> </a:t>
            </a:r>
          </a:p>
          <a:p>
            <a:pPr>
              <a:buFont typeface="+mj-lt"/>
              <a:buAutoNum type="arabicPeriod"/>
            </a:pPr>
            <a:r>
              <a:rPr lang="en-US" dirty="0"/>
              <a:t>Implementation of data mart needs less time as compared to implementation of data ware house as data mart is designed for a particular department of an organization. </a:t>
            </a:r>
          </a:p>
          <a:p>
            <a:pPr>
              <a:buFont typeface="+mj-lt"/>
              <a:buAutoNum type="arabicPeriod"/>
            </a:pPr>
            <a:endParaRPr lang="en-US" dirty="0"/>
          </a:p>
          <a:p>
            <a:pPr>
              <a:buFont typeface="+mj-lt"/>
              <a:buAutoNum type="arabicPeriod"/>
            </a:pPr>
            <a:r>
              <a:rPr lang="en-US" dirty="0"/>
              <a:t>Data can be easily accessed from data mart. </a:t>
            </a:r>
          </a:p>
          <a:p>
            <a:pPr>
              <a:buFont typeface="+mj-lt"/>
              <a:buAutoNum type="arabicPeriod"/>
            </a:pPr>
            <a:endParaRPr lang="en-US" dirty="0"/>
          </a:p>
          <a:p>
            <a:pPr>
              <a:buFont typeface="+mj-lt"/>
              <a:buAutoNum type="arabicPeriod"/>
            </a:pPr>
            <a:r>
              <a:rPr lang="en-US" dirty="0"/>
              <a:t>It contains frequently accessed queries, so enable to analyze business trend. </a:t>
            </a:r>
          </a:p>
          <a:p>
            <a:endParaRPr lang="en-US" dirty="0"/>
          </a:p>
        </p:txBody>
      </p:sp>
      <p:sp>
        <p:nvSpPr>
          <p:cNvPr id="4" name="Content Placeholder 3">
            <a:extLst>
              <a:ext uri="{FF2B5EF4-FFF2-40B4-BE49-F238E27FC236}">
                <a16:creationId xmlns:a16="http://schemas.microsoft.com/office/drawing/2014/main" id="{2709D894-094F-0B6A-21B7-9B1C72ADFF34}"/>
              </a:ext>
            </a:extLst>
          </p:cNvPr>
          <p:cNvSpPr>
            <a:spLocks noGrp="1"/>
          </p:cNvSpPr>
          <p:nvPr>
            <p:ph sz="half" idx="2"/>
          </p:nvPr>
        </p:nvSpPr>
        <p:spPr>
          <a:xfrm>
            <a:off x="5905500" y="76200"/>
            <a:ext cx="6286500" cy="6100763"/>
          </a:xfrm>
        </p:spPr>
        <p:txBody>
          <a:bodyPr>
            <a:normAutofit/>
          </a:bodyPr>
          <a:lstStyle/>
          <a:p>
            <a:r>
              <a:rPr lang="en-US" b="1" dirty="0"/>
              <a:t>Disadvantages of Data Mart:</a:t>
            </a:r>
            <a:r>
              <a:rPr lang="en-US" dirty="0"/>
              <a:t>  </a:t>
            </a:r>
          </a:p>
          <a:p>
            <a:pPr>
              <a:buFont typeface="+mj-lt"/>
              <a:buAutoNum type="arabicPeriod"/>
            </a:pPr>
            <a:r>
              <a:rPr lang="en-US" dirty="0"/>
              <a:t>Since it stores the data related only to specific function, so does not store huge volume of data related to each and every department of an organization like </a:t>
            </a:r>
            <a:r>
              <a:rPr lang="en-US" dirty="0" err="1"/>
              <a:t>dataware</a:t>
            </a:r>
            <a:r>
              <a:rPr lang="en-US" dirty="0"/>
              <a:t> house. </a:t>
            </a:r>
          </a:p>
          <a:p>
            <a:pPr>
              <a:buFont typeface="+mj-lt"/>
              <a:buAutoNum type="arabicPeriod"/>
            </a:pPr>
            <a:endParaRPr lang="en-US" dirty="0"/>
          </a:p>
          <a:p>
            <a:pPr>
              <a:buFont typeface="+mj-lt"/>
              <a:buAutoNum type="arabicPeriod"/>
            </a:pPr>
            <a:r>
              <a:rPr lang="en-US" dirty="0"/>
              <a:t>Creating too many data marts becomes cumbersome sometimes. </a:t>
            </a:r>
            <a:br>
              <a:rPr lang="en-US" dirty="0"/>
            </a:br>
            <a:r>
              <a:rPr lang="en-US" dirty="0"/>
              <a:t> </a:t>
            </a:r>
          </a:p>
          <a:p>
            <a:endParaRPr lang="en-US" dirty="0"/>
          </a:p>
        </p:txBody>
      </p:sp>
    </p:spTree>
    <p:extLst>
      <p:ext uri="{BB962C8B-B14F-4D97-AF65-F5344CB8AC3E}">
        <p14:creationId xmlns:p14="http://schemas.microsoft.com/office/powerpoint/2010/main" val="14152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88857-791B-E36B-E696-04BE57009C66}"/>
              </a:ext>
            </a:extLst>
          </p:cNvPr>
          <p:cNvSpPr>
            <a:spLocks noGrp="1"/>
          </p:cNvSpPr>
          <p:nvPr>
            <p:ph idx="1"/>
          </p:nvPr>
        </p:nvSpPr>
        <p:spPr>
          <a:xfrm>
            <a:off x="0" y="0"/>
            <a:ext cx="12192000" cy="6858000"/>
          </a:xfrm>
        </p:spPr>
        <p:txBody>
          <a:bodyPr>
            <a:normAutofit fontScale="92500" lnSpcReduction="10000"/>
          </a:bodyPr>
          <a:lstStyle/>
          <a:p>
            <a:r>
              <a:rPr lang="en-US" dirty="0"/>
              <a:t>Metadata</a:t>
            </a:r>
          </a:p>
          <a:p>
            <a:endParaRPr lang="en-US" dirty="0"/>
          </a:p>
          <a:p>
            <a:r>
              <a:rPr lang="en-US" dirty="0"/>
              <a:t>Often referred to as data that describes other data, metadata is structured reference data that helps to sort and identify attributes of the information it describes.</a:t>
            </a:r>
          </a:p>
          <a:p>
            <a:endParaRPr lang="en-US" dirty="0"/>
          </a:p>
          <a:p>
            <a:r>
              <a:rPr lang="en-US" dirty="0"/>
              <a:t>Meta is a prefix that -- in most information technology usages -- means "an underlying definition or description.</a:t>
            </a:r>
          </a:p>
          <a:p>
            <a:endParaRPr lang="en-US" dirty="0"/>
          </a:p>
          <a:p>
            <a:r>
              <a:rPr lang="en-US" dirty="0"/>
              <a:t>" Metadata summarizes basic information about data, which can make it easier to find, use and reuse particular instances of data.</a:t>
            </a:r>
          </a:p>
          <a:p>
            <a:endParaRPr lang="en-US" dirty="0"/>
          </a:p>
          <a:p>
            <a:r>
              <a:rPr lang="en-US" dirty="0"/>
              <a:t>For example, author, date created, date modified and file size are examples of very basic document file metadata. </a:t>
            </a:r>
          </a:p>
          <a:p>
            <a:endParaRPr lang="en-US" dirty="0"/>
          </a:p>
          <a:p>
            <a:r>
              <a:rPr lang="en-US" dirty="0"/>
              <a:t>Having the ability to search for a particular element (or elements) of that metadata makes it much easier for someone to locate a specific document. </a:t>
            </a:r>
          </a:p>
          <a:p>
            <a:endParaRPr lang="en-US" dirty="0"/>
          </a:p>
        </p:txBody>
      </p:sp>
    </p:spTree>
    <p:extLst>
      <p:ext uri="{BB962C8B-B14F-4D97-AF65-F5344CB8AC3E}">
        <p14:creationId xmlns:p14="http://schemas.microsoft.com/office/powerpoint/2010/main" val="2501172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25BD25-FC0C-805C-6197-3318806E8319}"/>
              </a:ext>
            </a:extLst>
          </p:cNvPr>
          <p:cNvSpPr>
            <a:spLocks noGrp="1"/>
          </p:cNvSpPr>
          <p:nvPr>
            <p:ph idx="1"/>
          </p:nvPr>
        </p:nvSpPr>
        <p:spPr>
          <a:xfrm>
            <a:off x="0" y="0"/>
            <a:ext cx="12192000" cy="6858000"/>
          </a:xfrm>
        </p:spPr>
        <p:txBody>
          <a:bodyPr/>
          <a:lstStyle/>
          <a:p>
            <a:r>
              <a:rPr lang="en-US" dirty="0"/>
              <a:t>In addition to document files, metadata is used for:</a:t>
            </a:r>
          </a:p>
          <a:p>
            <a:endParaRPr lang="en-US" dirty="0"/>
          </a:p>
          <a:p>
            <a:pPr>
              <a:buFont typeface="Arial" panose="020B0604020202020204" pitchFamily="34" charset="0"/>
              <a:buChar char="•"/>
            </a:pPr>
            <a:r>
              <a:rPr lang="en-US" dirty="0"/>
              <a:t>computer files</a:t>
            </a:r>
          </a:p>
          <a:p>
            <a:pPr>
              <a:buFont typeface="Arial" panose="020B0604020202020204" pitchFamily="34" charset="0"/>
              <a:buChar char="•"/>
            </a:pPr>
            <a:r>
              <a:rPr lang="en-US" dirty="0"/>
              <a:t>images</a:t>
            </a:r>
          </a:p>
          <a:p>
            <a:pPr>
              <a:buFont typeface="Arial" panose="020B0604020202020204" pitchFamily="34" charset="0"/>
              <a:buChar char="•"/>
            </a:pPr>
            <a:r>
              <a:rPr lang="en-US" dirty="0"/>
              <a:t>relational databases</a:t>
            </a:r>
          </a:p>
          <a:p>
            <a:pPr>
              <a:buFont typeface="Arial" panose="020B0604020202020204" pitchFamily="34" charset="0"/>
              <a:buChar char="•"/>
            </a:pPr>
            <a:r>
              <a:rPr lang="en-US" dirty="0"/>
              <a:t>spreadsheets</a:t>
            </a:r>
          </a:p>
          <a:p>
            <a:pPr>
              <a:buFont typeface="Arial" panose="020B0604020202020204" pitchFamily="34" charset="0"/>
              <a:buChar char="•"/>
            </a:pPr>
            <a:r>
              <a:rPr lang="en-US" dirty="0"/>
              <a:t>videos</a:t>
            </a:r>
          </a:p>
          <a:p>
            <a:pPr>
              <a:buFont typeface="Arial" panose="020B0604020202020204" pitchFamily="34" charset="0"/>
              <a:buChar char="•"/>
            </a:pPr>
            <a:r>
              <a:rPr lang="en-US" dirty="0"/>
              <a:t>audio files</a:t>
            </a:r>
          </a:p>
          <a:p>
            <a:pPr>
              <a:buFont typeface="Arial" panose="020B0604020202020204" pitchFamily="34" charset="0"/>
              <a:buChar char="•"/>
            </a:pPr>
            <a:r>
              <a:rPr lang="en-US" dirty="0"/>
              <a:t>web pages</a:t>
            </a:r>
          </a:p>
          <a:p>
            <a:endParaRPr lang="en-US" dirty="0"/>
          </a:p>
        </p:txBody>
      </p:sp>
    </p:spTree>
    <p:extLst>
      <p:ext uri="{BB962C8B-B14F-4D97-AF65-F5344CB8AC3E}">
        <p14:creationId xmlns:p14="http://schemas.microsoft.com/office/powerpoint/2010/main" val="1112744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B4CF5-24A5-0921-7DA3-48EA456123D9}"/>
              </a:ext>
            </a:extLst>
          </p:cNvPr>
          <p:cNvSpPr>
            <a:spLocks noGrp="1"/>
          </p:cNvSpPr>
          <p:nvPr>
            <p:ph idx="1"/>
          </p:nvPr>
        </p:nvSpPr>
        <p:spPr>
          <a:xfrm>
            <a:off x="0" y="0"/>
            <a:ext cx="12192000" cy="6858000"/>
          </a:xfrm>
        </p:spPr>
        <p:txBody>
          <a:bodyPr>
            <a:normAutofit lnSpcReduction="10000"/>
          </a:bodyPr>
          <a:lstStyle/>
          <a:p>
            <a:r>
              <a:rPr lang="en-US" b="1" dirty="0"/>
              <a:t>What is Multi-Dimensional Data Model?</a:t>
            </a:r>
          </a:p>
          <a:p>
            <a:r>
              <a:rPr lang="en-US" dirty="0"/>
              <a:t>A multidimensional model views data in the form of a data-cube. </a:t>
            </a:r>
          </a:p>
          <a:p>
            <a:endParaRPr lang="en-US" dirty="0"/>
          </a:p>
          <a:p>
            <a:r>
              <a:rPr lang="en-US" dirty="0"/>
              <a:t>A data cube enables data to be modeled and viewed in multiple dimensions. </a:t>
            </a:r>
          </a:p>
          <a:p>
            <a:endParaRPr lang="en-US" dirty="0"/>
          </a:p>
          <a:p>
            <a:r>
              <a:rPr lang="en-US" dirty="0"/>
              <a:t>It is defined by dimensions and facts.</a:t>
            </a:r>
          </a:p>
          <a:p>
            <a:endParaRPr lang="en-US" dirty="0"/>
          </a:p>
          <a:p>
            <a:r>
              <a:rPr lang="en-US" dirty="0"/>
              <a:t>The dimensions are the perspectives or entities concerning which an organization keeps records. </a:t>
            </a:r>
          </a:p>
          <a:p>
            <a:endParaRPr lang="en-US" dirty="0"/>
          </a:p>
          <a:p>
            <a:r>
              <a:rPr lang="en-US" dirty="0"/>
              <a:t>For example, a shop may create a sales data warehouse to keep records of the store's sales for </a:t>
            </a:r>
          </a:p>
          <a:p>
            <a:r>
              <a:rPr lang="en-US" dirty="0"/>
              <a:t>the dimension time, </a:t>
            </a:r>
          </a:p>
          <a:p>
            <a:r>
              <a:rPr lang="en-US" dirty="0"/>
              <a:t>item, and </a:t>
            </a:r>
          </a:p>
          <a:p>
            <a:r>
              <a:rPr lang="en-US" dirty="0"/>
              <a:t>location. </a:t>
            </a:r>
          </a:p>
          <a:p>
            <a:endParaRPr lang="en-US" dirty="0"/>
          </a:p>
        </p:txBody>
      </p:sp>
    </p:spTree>
    <p:extLst>
      <p:ext uri="{BB962C8B-B14F-4D97-AF65-F5344CB8AC3E}">
        <p14:creationId xmlns:p14="http://schemas.microsoft.com/office/powerpoint/2010/main" val="1260787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40CE6-ADD6-11CC-599D-DA30DD51EE3A}"/>
              </a:ext>
            </a:extLst>
          </p:cNvPr>
          <p:cNvSpPr>
            <a:spLocks noGrp="1"/>
          </p:cNvSpPr>
          <p:nvPr>
            <p:ph sz="half" idx="1"/>
          </p:nvPr>
        </p:nvSpPr>
        <p:spPr>
          <a:xfrm>
            <a:off x="-1" y="0"/>
            <a:ext cx="7334249" cy="6858000"/>
          </a:xfrm>
        </p:spPr>
        <p:txBody>
          <a:bodyPr>
            <a:normAutofit/>
          </a:bodyPr>
          <a:lstStyle/>
          <a:p>
            <a:r>
              <a:rPr lang="en-US" dirty="0"/>
              <a:t>These dimensions allow the save to keep track of things, for example, monthly sales of items and the locations at which the items were sold. </a:t>
            </a:r>
          </a:p>
          <a:p>
            <a:r>
              <a:rPr lang="en-US" dirty="0"/>
              <a:t>Each dimension has a table related to it, called a dimensional table, which describes the dimension further.</a:t>
            </a:r>
          </a:p>
          <a:p>
            <a:r>
              <a:rPr lang="en-US" dirty="0"/>
              <a:t> For example, a dimensional table for an item may contain the attributes </a:t>
            </a:r>
            <a:r>
              <a:rPr lang="en-US" dirty="0" err="1"/>
              <a:t>item_name</a:t>
            </a:r>
            <a:r>
              <a:rPr lang="en-US" dirty="0"/>
              <a:t>, brand, and type.</a:t>
            </a:r>
          </a:p>
          <a:p>
            <a:r>
              <a:rPr lang="en-US" dirty="0"/>
              <a:t>A multidimensional data model is organized around a central theme, for example, sales. This theme is represented by a fact table.</a:t>
            </a:r>
          </a:p>
          <a:p>
            <a:r>
              <a:rPr lang="en-US" dirty="0"/>
              <a:t> Facts are numerical measures. The fact table contains the names of the facts or measures of the related dimensional tables.</a:t>
            </a:r>
          </a:p>
          <a:p>
            <a:endParaRPr lang="en-US" dirty="0"/>
          </a:p>
        </p:txBody>
      </p:sp>
      <p:sp>
        <p:nvSpPr>
          <p:cNvPr id="5" name="Content Placeholder 4">
            <a:extLst>
              <a:ext uri="{FF2B5EF4-FFF2-40B4-BE49-F238E27FC236}">
                <a16:creationId xmlns:a16="http://schemas.microsoft.com/office/drawing/2014/main" id="{A5161728-F2E5-A119-CF5D-97764FECA6C5}"/>
              </a:ext>
            </a:extLst>
          </p:cNvPr>
          <p:cNvSpPr>
            <a:spLocks noGrp="1"/>
          </p:cNvSpPr>
          <p:nvPr>
            <p:ph sz="half" idx="2"/>
          </p:nvPr>
        </p:nvSpPr>
        <p:spPr>
          <a:xfrm>
            <a:off x="7334250" y="552450"/>
            <a:ext cx="4857750" cy="6305550"/>
          </a:xfrm>
        </p:spPr>
        <p:txBody>
          <a:bodyPr>
            <a:normAutofit/>
          </a:bodyPr>
          <a:lstStyle/>
          <a:p>
            <a:r>
              <a:rPr lang="en-US" dirty="0"/>
              <a:t> </a:t>
            </a:r>
          </a:p>
        </p:txBody>
      </p:sp>
      <p:pic>
        <p:nvPicPr>
          <p:cNvPr id="7" name="Picture 6">
            <a:extLst>
              <a:ext uri="{FF2B5EF4-FFF2-40B4-BE49-F238E27FC236}">
                <a16:creationId xmlns:a16="http://schemas.microsoft.com/office/drawing/2014/main" id="{462CF925-CDF9-F12A-A78F-CC6E6427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2851" y="285750"/>
            <a:ext cx="4629150" cy="5934075"/>
          </a:xfrm>
          <a:prstGeom prst="rect">
            <a:avLst/>
          </a:prstGeom>
        </p:spPr>
      </p:pic>
    </p:spTree>
    <p:extLst>
      <p:ext uri="{BB962C8B-B14F-4D97-AF65-F5344CB8AC3E}">
        <p14:creationId xmlns:p14="http://schemas.microsoft.com/office/powerpoint/2010/main" val="2207313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0F5D7C-7241-A865-4AED-B4CF9E577FCB}"/>
              </a:ext>
            </a:extLst>
          </p:cNvPr>
          <p:cNvSpPr>
            <a:spLocks noGrp="1"/>
          </p:cNvSpPr>
          <p:nvPr>
            <p:ph sz="half" idx="1"/>
          </p:nvPr>
        </p:nvSpPr>
        <p:spPr>
          <a:xfrm>
            <a:off x="0" y="0"/>
            <a:ext cx="6019800" cy="6858000"/>
          </a:xfrm>
        </p:spPr>
        <p:txBody>
          <a:bodyPr>
            <a:normAutofit/>
          </a:bodyPr>
          <a:lstStyle/>
          <a:p>
            <a:r>
              <a:rPr lang="en-US" dirty="0"/>
              <a:t>Consider the data of a shop for items sold per quarter in the city of Delhi. </a:t>
            </a:r>
          </a:p>
          <a:p>
            <a:endParaRPr lang="en-US" dirty="0"/>
          </a:p>
          <a:p>
            <a:r>
              <a:rPr lang="en-US" dirty="0"/>
              <a:t>The data is shown in the table.</a:t>
            </a:r>
          </a:p>
          <a:p>
            <a:endParaRPr lang="en-US" dirty="0"/>
          </a:p>
          <a:p>
            <a:r>
              <a:rPr lang="en-US" dirty="0"/>
              <a:t> In this 2D representation, the sales for Delhi are shown for the time dimension (organized in quarters) and the item dimension (classified according to the types of an item sold). </a:t>
            </a:r>
          </a:p>
          <a:p>
            <a:endParaRPr lang="en-US" dirty="0"/>
          </a:p>
          <a:p>
            <a:r>
              <a:rPr lang="en-US" dirty="0"/>
              <a:t>The fact or measure displayed in </a:t>
            </a:r>
            <a:r>
              <a:rPr lang="en-US" dirty="0" err="1"/>
              <a:t>rupee_sold</a:t>
            </a:r>
            <a:r>
              <a:rPr lang="en-US" dirty="0"/>
              <a:t> (in thousands).</a:t>
            </a:r>
            <a:endParaRPr lang="en-US" dirty="0">
              <a:effectLst/>
            </a:endParaRPr>
          </a:p>
          <a:p>
            <a:endParaRPr lang="en-US" dirty="0"/>
          </a:p>
        </p:txBody>
      </p:sp>
      <p:pic>
        <p:nvPicPr>
          <p:cNvPr id="8" name="Content Placeholder 7">
            <a:extLst>
              <a:ext uri="{FF2B5EF4-FFF2-40B4-BE49-F238E27FC236}">
                <a16:creationId xmlns:a16="http://schemas.microsoft.com/office/drawing/2014/main" id="{BCAC599A-CA16-8915-2678-4984945D862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43650" y="1047750"/>
            <a:ext cx="5638800" cy="5334000"/>
          </a:xfrm>
        </p:spPr>
      </p:pic>
    </p:spTree>
    <p:extLst>
      <p:ext uri="{BB962C8B-B14F-4D97-AF65-F5344CB8AC3E}">
        <p14:creationId xmlns:p14="http://schemas.microsoft.com/office/powerpoint/2010/main" val="2028276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19D64C-322C-2B7F-B82A-66CADE3BA14E}"/>
              </a:ext>
            </a:extLst>
          </p:cNvPr>
          <p:cNvSpPr>
            <a:spLocks noGrp="1"/>
          </p:cNvSpPr>
          <p:nvPr>
            <p:ph sz="half" idx="1"/>
          </p:nvPr>
        </p:nvSpPr>
        <p:spPr>
          <a:xfrm>
            <a:off x="0" y="0"/>
            <a:ext cx="6903720" cy="6858000"/>
          </a:xfrm>
        </p:spPr>
        <p:txBody>
          <a:bodyPr>
            <a:normAutofit fontScale="77500" lnSpcReduction="20000"/>
          </a:bodyPr>
          <a:lstStyle/>
          <a:p>
            <a:pPr algn="just"/>
            <a:r>
              <a:rPr lang="en-US" b="1" dirty="0">
                <a:effectLst/>
              </a:rPr>
              <a:t>What is OLAP?</a:t>
            </a:r>
          </a:p>
          <a:p>
            <a:pPr algn="just"/>
            <a:r>
              <a:rPr lang="en-US" dirty="0">
                <a:effectLst/>
              </a:rPr>
              <a:t>OLAP stands for Online Analytical Processing, which is a technology that enables multi-dimensional analysis of business data.</a:t>
            </a:r>
          </a:p>
          <a:p>
            <a:pPr algn="just"/>
            <a:r>
              <a:rPr lang="en-US" dirty="0">
                <a:effectLst/>
              </a:rPr>
              <a:t> It provides interactive access to large amounts of data and supports complex calculations and data aggregation.</a:t>
            </a:r>
          </a:p>
          <a:p>
            <a:pPr algn="just"/>
            <a:r>
              <a:rPr lang="en-US" dirty="0">
                <a:effectLst/>
              </a:rPr>
              <a:t> OLAP is used to support business intelligence and decision-making processes. </a:t>
            </a:r>
          </a:p>
          <a:p>
            <a:pPr algn="just"/>
            <a:r>
              <a:rPr lang="en-US" dirty="0">
                <a:effectLst/>
              </a:rPr>
              <a:t>Grouping of data in a multidimensional matrix is called data cubes.</a:t>
            </a:r>
          </a:p>
          <a:p>
            <a:pPr algn="just"/>
            <a:r>
              <a:rPr lang="en-US" dirty="0">
                <a:effectLst/>
              </a:rPr>
              <a:t> In Data warehousing, we generally deal with various multidimensional data models as the data will be represented by multiple dimensions and multiple attributes.</a:t>
            </a:r>
          </a:p>
          <a:p>
            <a:pPr algn="just"/>
            <a:r>
              <a:rPr lang="en-US" dirty="0">
                <a:effectLst/>
              </a:rPr>
              <a:t> This multidimensional data is represented in the data cube as the cube represents a high-dimensional space. </a:t>
            </a:r>
          </a:p>
          <a:p>
            <a:pPr algn="just"/>
            <a:r>
              <a:rPr lang="en-US" dirty="0">
                <a:effectLst/>
              </a:rPr>
              <a:t>The Data cube pictorially shows how different attributes of data are arranged in the data model. Below is the diagram of a general data cube.  </a:t>
            </a:r>
          </a:p>
          <a:p>
            <a:pPr algn="just"/>
            <a:r>
              <a:rPr lang="en-US" dirty="0">
                <a:effectLst/>
              </a:rPr>
              <a:t>The example above is a 3D cube having attributes like branch(A,B,C,D),item type(</a:t>
            </a:r>
            <a:r>
              <a:rPr lang="en-US" dirty="0" err="1">
                <a:effectLst/>
              </a:rPr>
              <a:t>home,entertainment,computer,phone,security</a:t>
            </a:r>
            <a:r>
              <a:rPr lang="en-US" dirty="0">
                <a:effectLst/>
              </a:rPr>
              <a:t>), year(1997,1998,1999) .</a:t>
            </a:r>
            <a:br>
              <a:rPr lang="en-US" dirty="0">
                <a:effectLst/>
              </a:rPr>
            </a:br>
            <a:r>
              <a:rPr lang="en-US" dirty="0">
                <a:effectLst/>
              </a:rPr>
              <a:t> </a:t>
            </a:r>
          </a:p>
          <a:p>
            <a:pPr algn="just"/>
            <a:endParaRPr lang="en-US" dirty="0">
              <a:effectLst/>
            </a:endParaRPr>
          </a:p>
          <a:p>
            <a:endParaRPr lang="en-US" dirty="0"/>
          </a:p>
        </p:txBody>
      </p:sp>
      <p:pic>
        <p:nvPicPr>
          <p:cNvPr id="6" name="Content Placeholder 5">
            <a:extLst>
              <a:ext uri="{FF2B5EF4-FFF2-40B4-BE49-F238E27FC236}">
                <a16:creationId xmlns:a16="http://schemas.microsoft.com/office/drawing/2014/main" id="{2F2479DC-5602-F92F-5140-F1808670BB2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55840" y="934720"/>
            <a:ext cx="4754880" cy="4927599"/>
          </a:xfrm>
        </p:spPr>
      </p:pic>
    </p:spTree>
    <p:extLst>
      <p:ext uri="{BB962C8B-B14F-4D97-AF65-F5344CB8AC3E}">
        <p14:creationId xmlns:p14="http://schemas.microsoft.com/office/powerpoint/2010/main" val="912514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35492F5-146F-FC8E-1A7A-799172656A47}"/>
              </a:ext>
            </a:extLst>
          </p:cNvPr>
          <p:cNvSpPr>
            <a:spLocks noGrp="1"/>
          </p:cNvSpPr>
          <p:nvPr>
            <p:ph idx="1"/>
          </p:nvPr>
        </p:nvSpPr>
        <p:spPr>
          <a:xfrm>
            <a:off x="0" y="0"/>
            <a:ext cx="12120880" cy="6858000"/>
          </a:xfrm>
        </p:spPr>
        <p:txBody>
          <a:bodyPr/>
          <a:lstStyle/>
          <a:p>
            <a:pPr algn="just"/>
            <a:r>
              <a:rPr lang="en-US" b="1" dirty="0">
                <a:effectLst/>
              </a:rPr>
              <a:t>Data cube classification:</a:t>
            </a:r>
          </a:p>
          <a:p>
            <a:pPr algn="just"/>
            <a:r>
              <a:rPr lang="en-US" dirty="0">
                <a:effectLst/>
              </a:rPr>
              <a:t>The data cube can be classified into two categories:</a:t>
            </a:r>
          </a:p>
          <a:p>
            <a:pPr algn="just"/>
            <a:endParaRPr lang="en-US" dirty="0">
              <a:effectLst/>
            </a:endParaRPr>
          </a:p>
          <a:p>
            <a:pPr algn="just">
              <a:buFont typeface="Arial" panose="020B0604020202020204" pitchFamily="34" charset="0"/>
              <a:buChar char="•"/>
            </a:pPr>
            <a:r>
              <a:rPr lang="en-US" b="1" dirty="0">
                <a:effectLst/>
              </a:rPr>
              <a:t>Multidimensional data cube: </a:t>
            </a:r>
            <a:r>
              <a:rPr lang="en-US" dirty="0">
                <a:effectLst/>
              </a:rPr>
              <a:t>It basically helps in storing large amounts of data by making use of a multi-dimensional array. </a:t>
            </a:r>
          </a:p>
          <a:p>
            <a:pPr algn="just">
              <a:buFont typeface="Arial" panose="020B0604020202020204" pitchFamily="34" charset="0"/>
              <a:buChar char="•"/>
            </a:pPr>
            <a:r>
              <a:rPr lang="en-US" dirty="0">
                <a:effectLst/>
              </a:rPr>
              <a:t>It increases its efficiency by keeping an index of each dimension. Thus, dimensional is able to retrieve data fast.</a:t>
            </a:r>
          </a:p>
          <a:p>
            <a:pPr algn="just">
              <a:buFont typeface="Arial" panose="020B0604020202020204" pitchFamily="34" charset="0"/>
              <a:buChar char="•"/>
            </a:pPr>
            <a:endParaRPr lang="en-US" dirty="0">
              <a:effectLst/>
            </a:endParaRPr>
          </a:p>
          <a:p>
            <a:pPr algn="just">
              <a:buFont typeface="Arial" panose="020B0604020202020204" pitchFamily="34" charset="0"/>
              <a:buChar char="•"/>
            </a:pPr>
            <a:r>
              <a:rPr lang="en-US" b="1" dirty="0">
                <a:effectLst/>
              </a:rPr>
              <a:t>Relational data cube: </a:t>
            </a:r>
            <a:r>
              <a:rPr lang="en-US" dirty="0">
                <a:effectLst/>
              </a:rPr>
              <a:t>It basically helps in storing large amounts of data by making use of relational </a:t>
            </a:r>
            <a:r>
              <a:rPr lang="en-US">
                <a:effectLst/>
              </a:rPr>
              <a:t>tables.</a:t>
            </a:r>
          </a:p>
          <a:p>
            <a:pPr algn="just">
              <a:buFont typeface="Arial" panose="020B0604020202020204" pitchFamily="34" charset="0"/>
              <a:buChar char="•"/>
            </a:pPr>
            <a:r>
              <a:rPr lang="en-US">
                <a:effectLst/>
              </a:rPr>
              <a:t> </a:t>
            </a:r>
            <a:endParaRPr lang="en-US" dirty="0">
              <a:effectLst/>
            </a:endParaRPr>
          </a:p>
          <a:p>
            <a:pPr algn="just">
              <a:buFont typeface="Arial" panose="020B0604020202020204" pitchFamily="34" charset="0"/>
              <a:buChar char="•"/>
            </a:pPr>
            <a:r>
              <a:rPr lang="en-US" dirty="0">
                <a:effectLst/>
              </a:rPr>
              <a:t>Each relational table displays the dimensions of the data cube.</a:t>
            </a:r>
          </a:p>
          <a:p>
            <a:pPr algn="just">
              <a:buFont typeface="Arial" panose="020B0604020202020204" pitchFamily="34" charset="0"/>
              <a:buChar char="•"/>
            </a:pPr>
            <a:endParaRPr lang="en-US" dirty="0">
              <a:effectLst/>
            </a:endParaRPr>
          </a:p>
          <a:p>
            <a:pPr algn="just">
              <a:buFont typeface="Arial" panose="020B0604020202020204" pitchFamily="34" charset="0"/>
              <a:buChar char="•"/>
            </a:pPr>
            <a:r>
              <a:rPr lang="en-US" dirty="0">
                <a:effectLst/>
              </a:rPr>
              <a:t> It is slower compared to a Multidimensional Data Cube.</a:t>
            </a:r>
          </a:p>
          <a:p>
            <a:endParaRPr lang="en-US" dirty="0"/>
          </a:p>
        </p:txBody>
      </p:sp>
    </p:spTree>
    <p:extLst>
      <p:ext uri="{BB962C8B-B14F-4D97-AF65-F5344CB8AC3E}">
        <p14:creationId xmlns:p14="http://schemas.microsoft.com/office/powerpoint/2010/main" val="2716854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8675-55A3-F526-9C36-923599E5E26A}"/>
              </a:ext>
            </a:extLst>
          </p:cNvPr>
          <p:cNvSpPr>
            <a:spLocks noGrp="1"/>
          </p:cNvSpPr>
          <p:nvPr>
            <p:ph type="title"/>
          </p:nvPr>
        </p:nvSpPr>
        <p:spPr>
          <a:xfrm>
            <a:off x="0" y="1"/>
            <a:ext cx="11353800" cy="975359"/>
          </a:xfrm>
        </p:spPr>
        <p:txBody>
          <a:bodyPr>
            <a:normAutofit fontScale="90000"/>
          </a:bodyPr>
          <a:lstStyle/>
          <a:p>
            <a:r>
              <a:rPr lang="en-US" b="1" dirty="0"/>
              <a:t>Data cube operations/ OLAP Operation </a:t>
            </a:r>
            <a:br>
              <a:rPr lang="en-US" b="1" dirty="0"/>
            </a:br>
            <a:endParaRPr lang="en-US" dirty="0"/>
          </a:p>
        </p:txBody>
      </p:sp>
      <p:pic>
        <p:nvPicPr>
          <p:cNvPr id="5" name="Content Placeholder 4">
            <a:extLst>
              <a:ext uri="{FF2B5EF4-FFF2-40B4-BE49-F238E27FC236}">
                <a16:creationId xmlns:a16="http://schemas.microsoft.com/office/drawing/2014/main" id="{4BA513EE-104E-FA00-E968-9422078402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400" y="975360"/>
            <a:ext cx="11226800" cy="5080000"/>
          </a:xfrm>
        </p:spPr>
      </p:pic>
    </p:spTree>
    <p:extLst>
      <p:ext uri="{BB962C8B-B14F-4D97-AF65-F5344CB8AC3E}">
        <p14:creationId xmlns:p14="http://schemas.microsoft.com/office/powerpoint/2010/main" val="11762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ABD728-A9D4-FA9C-6A10-50BBF7ACFBE9}"/>
              </a:ext>
            </a:extLst>
          </p:cNvPr>
          <p:cNvSpPr>
            <a:spLocks noGrp="1"/>
          </p:cNvSpPr>
          <p:nvPr>
            <p:ph idx="1"/>
          </p:nvPr>
        </p:nvSpPr>
        <p:spPr>
          <a:xfrm>
            <a:off x="0" y="0"/>
            <a:ext cx="12192000" cy="6857999"/>
          </a:xfrm>
        </p:spPr>
        <p:txBody>
          <a:bodyPr/>
          <a:lstStyle/>
          <a:p>
            <a:r>
              <a:rPr lang="en-US" dirty="0"/>
              <a:t>Data cube operations are used to manipulate data to meet the needs of users. These operations help to select particular data for the analysis purpose. </a:t>
            </a:r>
          </a:p>
          <a:p>
            <a:endParaRPr lang="en-US" dirty="0"/>
          </a:p>
          <a:p>
            <a:r>
              <a:rPr lang="en-US" dirty="0"/>
              <a:t>There are mainly 5 operations listed below-</a:t>
            </a:r>
          </a:p>
          <a:p>
            <a:endParaRPr lang="en-US" dirty="0"/>
          </a:p>
          <a:p>
            <a:r>
              <a:rPr lang="en-US" b="1" dirty="0"/>
              <a:t>Roll-up</a:t>
            </a:r>
            <a:r>
              <a:rPr lang="en-US" dirty="0"/>
              <a:t>:</a:t>
            </a:r>
          </a:p>
          <a:p>
            <a:endParaRPr lang="en-US" dirty="0"/>
          </a:p>
          <a:p>
            <a:r>
              <a:rPr lang="en-US" dirty="0"/>
              <a:t> operation and aggregate certain similar data attributes having the same dimension together. </a:t>
            </a:r>
          </a:p>
          <a:p>
            <a:endParaRPr lang="en-US" dirty="0"/>
          </a:p>
          <a:p>
            <a:r>
              <a:rPr lang="en-US" dirty="0"/>
              <a:t>For example, if the data cube displays the daily income of a customer, we can use a roll-up operation to find the monthly income of his salary.</a:t>
            </a:r>
          </a:p>
        </p:txBody>
      </p:sp>
    </p:spTree>
    <p:extLst>
      <p:ext uri="{BB962C8B-B14F-4D97-AF65-F5344CB8AC3E}">
        <p14:creationId xmlns:p14="http://schemas.microsoft.com/office/powerpoint/2010/main" val="2089744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6704F-8740-30EE-52E5-8F703FE9C78F}"/>
              </a:ext>
            </a:extLst>
          </p:cNvPr>
          <p:cNvSpPr>
            <a:spLocks noGrp="1"/>
          </p:cNvSpPr>
          <p:nvPr>
            <p:ph idx="1"/>
          </p:nvPr>
        </p:nvSpPr>
        <p:spPr>
          <a:xfrm>
            <a:off x="0" y="0"/>
            <a:ext cx="12192000" cy="6858000"/>
          </a:xfrm>
        </p:spPr>
        <p:txBody>
          <a:bodyPr/>
          <a:lstStyle/>
          <a:p>
            <a:r>
              <a:rPr lang="en-US" b="1" dirty="0"/>
              <a:t>Drill-down</a:t>
            </a:r>
            <a:r>
              <a:rPr lang="en-US" dirty="0"/>
              <a:t>:</a:t>
            </a:r>
          </a:p>
          <a:p>
            <a:endParaRPr lang="en-US" dirty="0"/>
          </a:p>
          <a:p>
            <a:r>
              <a:rPr lang="en-US" dirty="0"/>
              <a:t> this operation is the reverse of the roll-up operation. </a:t>
            </a:r>
          </a:p>
          <a:p>
            <a:endParaRPr lang="en-US" dirty="0"/>
          </a:p>
          <a:p>
            <a:r>
              <a:rPr lang="en-US" dirty="0"/>
              <a:t>It allows us to take particular information and then subdivide it further for coarser granularity analysis. </a:t>
            </a:r>
          </a:p>
          <a:p>
            <a:pPr marL="0" indent="0">
              <a:buNone/>
            </a:pPr>
            <a:endParaRPr lang="en-US" dirty="0"/>
          </a:p>
          <a:p>
            <a:r>
              <a:rPr lang="en-US" dirty="0"/>
              <a:t>It zooms into more detail.</a:t>
            </a:r>
          </a:p>
          <a:p>
            <a:endParaRPr lang="en-US" dirty="0"/>
          </a:p>
          <a:p>
            <a:r>
              <a:rPr lang="en-US" dirty="0"/>
              <a:t> For example- if Nepal  is an attribute of a country column and we wish to see villages in Nepal , then the drill-down operation splits Nepal into states, districts, towns, cities, villages and then displays the required information.</a:t>
            </a:r>
          </a:p>
        </p:txBody>
      </p:sp>
    </p:spTree>
    <p:extLst>
      <p:ext uri="{BB962C8B-B14F-4D97-AF65-F5344CB8AC3E}">
        <p14:creationId xmlns:p14="http://schemas.microsoft.com/office/powerpoint/2010/main" val="2758006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B4B16-29D3-8261-5EB5-3C96BA2B56D1}"/>
              </a:ext>
            </a:extLst>
          </p:cNvPr>
          <p:cNvSpPr>
            <a:spLocks noGrp="1"/>
          </p:cNvSpPr>
          <p:nvPr>
            <p:ph idx="1"/>
          </p:nvPr>
        </p:nvSpPr>
        <p:spPr>
          <a:xfrm>
            <a:off x="0" y="0"/>
            <a:ext cx="12192000" cy="6858000"/>
          </a:xfrm>
        </p:spPr>
        <p:txBody>
          <a:bodyPr/>
          <a:lstStyle/>
          <a:p>
            <a:r>
              <a:rPr lang="en-US" b="1" dirty="0"/>
              <a:t>Slicing</a:t>
            </a:r>
            <a:r>
              <a:rPr lang="en-US" dirty="0"/>
              <a:t>:</a:t>
            </a:r>
          </a:p>
          <a:p>
            <a:pPr marL="0" indent="0">
              <a:buNone/>
            </a:pPr>
            <a:r>
              <a:rPr lang="en-US" dirty="0"/>
              <a:t> </a:t>
            </a:r>
          </a:p>
          <a:p>
            <a:r>
              <a:rPr lang="en-US" dirty="0"/>
              <a:t>this operation filters the unnecessary portions.</a:t>
            </a:r>
          </a:p>
          <a:p>
            <a:endParaRPr lang="en-US" dirty="0"/>
          </a:p>
          <a:p>
            <a:r>
              <a:rPr lang="en-US" dirty="0"/>
              <a:t> Suppose in a particular dimension, the user doesn’t need everything for analysis, rather a particular attribute. </a:t>
            </a:r>
          </a:p>
          <a:p>
            <a:endParaRPr lang="en-US" dirty="0"/>
          </a:p>
          <a:p>
            <a:r>
              <a:rPr lang="en-US" dirty="0"/>
              <a:t>For example, country=”</a:t>
            </a:r>
            <a:r>
              <a:rPr lang="en-US" dirty="0" err="1"/>
              <a:t>jamaica</a:t>
            </a:r>
            <a:r>
              <a:rPr lang="en-US" dirty="0"/>
              <a:t>”, this will display only about </a:t>
            </a:r>
            <a:r>
              <a:rPr lang="en-US" dirty="0" err="1"/>
              <a:t>jamaica</a:t>
            </a:r>
            <a:r>
              <a:rPr lang="en-US" dirty="0"/>
              <a:t> and only display other countries present on the country list.</a:t>
            </a:r>
          </a:p>
        </p:txBody>
      </p:sp>
    </p:spTree>
    <p:extLst>
      <p:ext uri="{BB962C8B-B14F-4D97-AF65-F5344CB8AC3E}">
        <p14:creationId xmlns:p14="http://schemas.microsoft.com/office/powerpoint/2010/main" val="3311516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2725F1-A5FE-3377-F90F-606359089375}"/>
              </a:ext>
            </a:extLst>
          </p:cNvPr>
          <p:cNvSpPr>
            <a:spLocks noGrp="1"/>
          </p:cNvSpPr>
          <p:nvPr>
            <p:ph idx="1"/>
          </p:nvPr>
        </p:nvSpPr>
        <p:spPr>
          <a:xfrm>
            <a:off x="0" y="0"/>
            <a:ext cx="12192000" cy="6858000"/>
          </a:xfrm>
        </p:spPr>
        <p:txBody>
          <a:bodyPr/>
          <a:lstStyle/>
          <a:p>
            <a:r>
              <a:rPr lang="en-US" b="1" dirty="0"/>
              <a:t>Dicing</a:t>
            </a:r>
            <a:r>
              <a:rPr lang="en-US" dirty="0"/>
              <a:t>:</a:t>
            </a:r>
          </a:p>
          <a:p>
            <a:endParaRPr lang="en-US" dirty="0"/>
          </a:p>
          <a:p>
            <a:r>
              <a:rPr lang="en-US" dirty="0"/>
              <a:t> This operation does a multidimensional cutting, that not only cuts only one dimension but also can go to another dimension and cut a certain range of it. </a:t>
            </a:r>
          </a:p>
          <a:p>
            <a:endParaRPr lang="en-US" dirty="0"/>
          </a:p>
          <a:p>
            <a:r>
              <a:rPr lang="en-US" dirty="0"/>
              <a:t>As a result, it looks more like a sub cube out of the whole cube(as depicted in the figure). </a:t>
            </a:r>
          </a:p>
          <a:p>
            <a:endParaRPr lang="en-US" dirty="0"/>
          </a:p>
          <a:p>
            <a:r>
              <a:rPr lang="en-US" dirty="0"/>
              <a:t>For example- the user wants to see the annual salary of Bagmati  state employees.</a:t>
            </a:r>
          </a:p>
        </p:txBody>
      </p:sp>
    </p:spTree>
    <p:extLst>
      <p:ext uri="{BB962C8B-B14F-4D97-AF65-F5344CB8AC3E}">
        <p14:creationId xmlns:p14="http://schemas.microsoft.com/office/powerpoint/2010/main" val="797646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DCCB8-CC10-4140-9BE4-2D3E57584D9E}"/>
              </a:ext>
            </a:extLst>
          </p:cNvPr>
          <p:cNvSpPr>
            <a:spLocks noGrp="1"/>
          </p:cNvSpPr>
          <p:nvPr>
            <p:ph idx="1"/>
          </p:nvPr>
        </p:nvSpPr>
        <p:spPr>
          <a:xfrm>
            <a:off x="0" y="0"/>
            <a:ext cx="12192000" cy="6858000"/>
          </a:xfrm>
        </p:spPr>
        <p:txBody>
          <a:bodyPr/>
          <a:lstStyle/>
          <a:p>
            <a:pPr marL="0" indent="0">
              <a:buNone/>
            </a:pPr>
            <a:r>
              <a:rPr lang="en-US" b="1" dirty="0"/>
              <a:t>Pivot</a:t>
            </a:r>
            <a:r>
              <a:rPr lang="en-US" dirty="0"/>
              <a:t>: </a:t>
            </a:r>
          </a:p>
          <a:p>
            <a:endParaRPr lang="en-US" dirty="0"/>
          </a:p>
          <a:p>
            <a:r>
              <a:rPr lang="en-US" dirty="0"/>
              <a:t>This operation is very important from a viewing point of view.</a:t>
            </a:r>
          </a:p>
          <a:p>
            <a:endParaRPr lang="en-US" dirty="0"/>
          </a:p>
          <a:p>
            <a:r>
              <a:rPr lang="en-US" dirty="0"/>
              <a:t> It basically transforms the data cube in terms of view.</a:t>
            </a:r>
          </a:p>
          <a:p>
            <a:endParaRPr lang="en-US" dirty="0"/>
          </a:p>
          <a:p>
            <a:r>
              <a:rPr lang="en-US" dirty="0"/>
              <a:t> It doesn’t change the data present in the data cube.</a:t>
            </a:r>
          </a:p>
          <a:p>
            <a:endParaRPr lang="en-US" dirty="0"/>
          </a:p>
          <a:p>
            <a:r>
              <a:rPr lang="en-US" dirty="0"/>
              <a:t> For example, if the user is comparing year versus branch, using the pivot operation, the user can change the viewpoint and now compare branch versus item type.</a:t>
            </a:r>
          </a:p>
        </p:txBody>
      </p:sp>
    </p:spTree>
    <p:extLst>
      <p:ext uri="{BB962C8B-B14F-4D97-AF65-F5344CB8AC3E}">
        <p14:creationId xmlns:p14="http://schemas.microsoft.com/office/powerpoint/2010/main" val="390064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62423-8170-25BB-C684-81538DE0D3FE}"/>
              </a:ext>
            </a:extLst>
          </p:cNvPr>
          <p:cNvSpPr>
            <a:spLocks noGrp="1"/>
          </p:cNvSpPr>
          <p:nvPr>
            <p:ph idx="1"/>
          </p:nvPr>
        </p:nvSpPr>
        <p:spPr>
          <a:xfrm>
            <a:off x="0" y="0"/>
            <a:ext cx="12192000" cy="6858000"/>
          </a:xfrm>
        </p:spPr>
        <p:txBody>
          <a:bodyPr/>
          <a:lstStyle/>
          <a:p>
            <a:r>
              <a:rPr lang="en-US" b="1" dirty="0"/>
              <a:t>Advantages of data cubes:</a:t>
            </a:r>
          </a:p>
          <a:p>
            <a:endParaRPr lang="en-US" b="1" dirty="0"/>
          </a:p>
          <a:p>
            <a:pPr>
              <a:buFont typeface="Arial" panose="020B0604020202020204" pitchFamily="34" charset="0"/>
              <a:buChar char="•"/>
            </a:pPr>
            <a:r>
              <a:rPr lang="en-US" b="1" dirty="0"/>
              <a:t>Multi-dimensional analysis</a:t>
            </a:r>
            <a:r>
              <a:rPr lang="en-US" dirty="0"/>
              <a:t>: Data cubes enable multi-dimensional analysis of business data, allowing users to view data from different perspectives and levels of detail.</a:t>
            </a:r>
          </a:p>
          <a:p>
            <a:pPr>
              <a:buFont typeface="Arial" panose="020B0604020202020204" pitchFamily="34" charset="0"/>
              <a:buChar char="•"/>
            </a:pPr>
            <a:endParaRPr lang="en-US" dirty="0"/>
          </a:p>
          <a:p>
            <a:pPr>
              <a:buFont typeface="Arial" panose="020B0604020202020204" pitchFamily="34" charset="0"/>
              <a:buChar char="•"/>
            </a:pPr>
            <a:r>
              <a:rPr lang="en-US" b="1" dirty="0"/>
              <a:t>Interactivity: </a:t>
            </a:r>
            <a:r>
              <a:rPr lang="en-US" dirty="0"/>
              <a:t>Data cubes provide interactive access to large amounts of data, allowing users to easily navigate and manipulate the data to support their analysis.</a:t>
            </a:r>
          </a:p>
          <a:p>
            <a:pPr>
              <a:buFont typeface="Arial" panose="020B0604020202020204" pitchFamily="34" charset="0"/>
              <a:buChar char="•"/>
            </a:pPr>
            <a:endParaRPr lang="en-US" dirty="0"/>
          </a:p>
          <a:p>
            <a:pPr>
              <a:buFont typeface="Arial" panose="020B0604020202020204" pitchFamily="34" charset="0"/>
              <a:buChar char="•"/>
            </a:pPr>
            <a:r>
              <a:rPr lang="en-US" b="1" dirty="0"/>
              <a:t>Speed and efficiency</a:t>
            </a:r>
            <a:r>
              <a:rPr lang="en-US" dirty="0"/>
              <a:t>: Data cubes are optimized for OLAP analysis, enabling fast and efficient querying and aggregation of data.</a:t>
            </a:r>
          </a:p>
          <a:p>
            <a:endParaRPr lang="en-US" dirty="0"/>
          </a:p>
        </p:txBody>
      </p:sp>
    </p:spTree>
    <p:extLst>
      <p:ext uri="{BB962C8B-B14F-4D97-AF65-F5344CB8AC3E}">
        <p14:creationId xmlns:p14="http://schemas.microsoft.com/office/powerpoint/2010/main" val="1793850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D9BE8B-8C78-0D21-3269-1484328A4559}"/>
              </a:ext>
            </a:extLst>
          </p:cNvPr>
          <p:cNvSpPr>
            <a:spLocks noGrp="1"/>
          </p:cNvSpPr>
          <p:nvPr>
            <p:ph idx="1"/>
          </p:nvPr>
        </p:nvSpPr>
        <p:spPr>
          <a:xfrm>
            <a:off x="0" y="0"/>
            <a:ext cx="12192000" cy="6858000"/>
          </a:xfrm>
        </p:spPr>
        <p:txBody>
          <a:bodyPr/>
          <a:lstStyle/>
          <a:p>
            <a:pPr marL="0" indent="0">
              <a:buNone/>
            </a:pPr>
            <a:r>
              <a:rPr lang="en-US" b="1" dirty="0"/>
              <a:t>Disadvantages of data cube:</a:t>
            </a:r>
          </a:p>
          <a:p>
            <a:pPr marL="0" indent="0">
              <a:buNone/>
            </a:pPr>
            <a:endParaRPr lang="en-US" b="1" dirty="0"/>
          </a:p>
          <a:p>
            <a:pPr>
              <a:buFont typeface="Arial" panose="020B0604020202020204" pitchFamily="34" charset="0"/>
              <a:buChar char="•"/>
            </a:pPr>
            <a:r>
              <a:rPr lang="en-US" dirty="0"/>
              <a:t> </a:t>
            </a:r>
            <a:r>
              <a:rPr lang="en-US" b="1" dirty="0"/>
              <a:t>Complexity</a:t>
            </a:r>
            <a:r>
              <a:rPr lang="en-US" dirty="0"/>
              <a:t>: OLAP systems can be complex to set up and maintain, requiring specialized technical expertise.</a:t>
            </a:r>
          </a:p>
          <a:p>
            <a:pPr>
              <a:buFont typeface="Arial" panose="020B0604020202020204" pitchFamily="34" charset="0"/>
              <a:buChar char="•"/>
            </a:pPr>
            <a:endParaRPr lang="en-US" dirty="0"/>
          </a:p>
          <a:p>
            <a:pPr>
              <a:buFont typeface="Arial" panose="020B0604020202020204" pitchFamily="34" charset="0"/>
              <a:buChar char="•"/>
            </a:pPr>
            <a:r>
              <a:rPr lang="en-US" b="1" dirty="0"/>
              <a:t>Data size limitations</a:t>
            </a:r>
            <a:r>
              <a:rPr lang="en-US" dirty="0"/>
              <a:t>: OLAP systems can struggle with very large data sets and may require extensive data aggregation or summarization.</a:t>
            </a:r>
          </a:p>
          <a:p>
            <a:pPr>
              <a:buFont typeface="Arial" panose="020B0604020202020204" pitchFamily="34" charset="0"/>
              <a:buChar char="•"/>
            </a:pPr>
            <a:endParaRPr lang="en-US" dirty="0"/>
          </a:p>
          <a:p>
            <a:pPr>
              <a:buFont typeface="Arial" panose="020B0604020202020204" pitchFamily="34" charset="0"/>
              <a:buChar char="•"/>
            </a:pPr>
            <a:r>
              <a:rPr lang="en-US" b="1" dirty="0"/>
              <a:t>Performance issues</a:t>
            </a:r>
            <a:r>
              <a:rPr lang="en-US" dirty="0"/>
              <a:t>: OLAP systems can be slow when dealing with large amounts of data, especially when running complex queries or calculations.</a:t>
            </a:r>
          </a:p>
          <a:p>
            <a:endParaRPr lang="en-US" dirty="0"/>
          </a:p>
        </p:txBody>
      </p:sp>
    </p:spTree>
    <p:extLst>
      <p:ext uri="{BB962C8B-B14F-4D97-AF65-F5344CB8AC3E}">
        <p14:creationId xmlns:p14="http://schemas.microsoft.com/office/powerpoint/2010/main" val="1816926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E9F90-5637-5441-95EA-399169D0F711}"/>
              </a:ext>
            </a:extLst>
          </p:cNvPr>
          <p:cNvSpPr>
            <a:spLocks noGrp="1"/>
          </p:cNvSpPr>
          <p:nvPr>
            <p:ph idx="1"/>
          </p:nvPr>
        </p:nvSpPr>
        <p:spPr>
          <a:xfrm>
            <a:off x="0" y="0"/>
            <a:ext cx="12192000" cy="6791325"/>
          </a:xfrm>
        </p:spPr>
        <p:txBody>
          <a:bodyPr>
            <a:normAutofit lnSpcReduction="10000"/>
          </a:bodyPr>
          <a:lstStyle/>
          <a:p>
            <a:pPr marL="0" indent="0">
              <a:buNone/>
            </a:pPr>
            <a:r>
              <a:rPr lang="en-US" b="1" dirty="0">
                <a:effectLst/>
              </a:rPr>
              <a:t>What is OLTP?</a:t>
            </a:r>
          </a:p>
          <a:p>
            <a:r>
              <a:rPr lang="en-US" b="1" dirty="0">
                <a:effectLst/>
              </a:rPr>
              <a:t>OLTP (Online Transaction Processing) is an approach to database management that focuses on the management and processing of real-time transactions</a:t>
            </a:r>
            <a:r>
              <a:rPr lang="en-US" dirty="0"/>
              <a:t>. </a:t>
            </a:r>
          </a:p>
          <a:p>
            <a:r>
              <a:rPr lang="en-US" dirty="0"/>
              <a:t>Unlike OLAP (Online Analytical Processing), which focuses on the analysis and exploration of large data sets, OLTP is used to manage and control day-to-day business operations involving individual transactions.</a:t>
            </a:r>
          </a:p>
          <a:p>
            <a:endParaRPr lang="en-US" dirty="0"/>
          </a:p>
          <a:p>
            <a:r>
              <a:rPr lang="en-US" b="1" dirty="0">
                <a:effectLst/>
              </a:rPr>
              <a:t>OLTP main features:</a:t>
            </a:r>
          </a:p>
          <a:p>
            <a:pPr>
              <a:buFont typeface="+mj-lt"/>
              <a:buAutoNum type="arabicPeriod"/>
            </a:pPr>
            <a:r>
              <a:rPr lang="en-US" b="1" dirty="0">
                <a:effectLst/>
              </a:rPr>
              <a:t>Real-time transactions</a:t>
            </a:r>
            <a:r>
              <a:rPr lang="en-US" dirty="0"/>
              <a:t>:</a:t>
            </a:r>
          </a:p>
          <a:p>
            <a:pPr marL="0" indent="0">
              <a:buNone/>
            </a:pPr>
            <a:r>
              <a:rPr lang="en-US" dirty="0"/>
              <a:t> OLTP is designed to handle individual transactions in real time, which means that data is updated and processed immediately as transactions occur.</a:t>
            </a:r>
          </a:p>
          <a:p>
            <a:pPr>
              <a:buFont typeface="+mj-lt"/>
              <a:buAutoNum type="arabicPeriod"/>
            </a:pPr>
            <a:r>
              <a:rPr lang="en-US" b="1" dirty="0">
                <a:effectLst/>
              </a:rPr>
              <a:t>Frequent queries and updates</a:t>
            </a:r>
            <a:r>
              <a:rPr lang="en-US" dirty="0"/>
              <a:t>: OLTP systems are optimized to perform read and write operations with high frequency and efficiency. </a:t>
            </a:r>
          </a:p>
          <a:p>
            <a:pPr marL="0" indent="0">
              <a:buNone/>
            </a:pPr>
            <a:r>
              <a:rPr lang="en-US" dirty="0"/>
              <a:t>    They are designed to allow multiple users to simultaneously access and make c Changes to data concurrently.</a:t>
            </a:r>
          </a:p>
          <a:p>
            <a:endParaRPr lang="en-US" dirty="0"/>
          </a:p>
        </p:txBody>
      </p:sp>
    </p:spTree>
    <p:extLst>
      <p:ext uri="{BB962C8B-B14F-4D97-AF65-F5344CB8AC3E}">
        <p14:creationId xmlns:p14="http://schemas.microsoft.com/office/powerpoint/2010/main" val="3732201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0587A-CA40-1382-E2A2-47C6A82CB63F}"/>
              </a:ext>
            </a:extLst>
          </p:cNvPr>
          <p:cNvSpPr>
            <a:spLocks noGrp="1"/>
          </p:cNvSpPr>
          <p:nvPr>
            <p:ph idx="1"/>
          </p:nvPr>
        </p:nvSpPr>
        <p:spPr>
          <a:xfrm>
            <a:off x="0" y="0"/>
            <a:ext cx="12192000" cy="6858000"/>
          </a:xfrm>
        </p:spPr>
        <p:txBody>
          <a:bodyPr>
            <a:normAutofit lnSpcReduction="10000"/>
          </a:bodyPr>
          <a:lstStyle/>
          <a:p>
            <a:pPr marL="0" indent="0">
              <a:buNone/>
            </a:pPr>
            <a:r>
              <a:rPr lang="en-US" b="1" dirty="0">
                <a:effectLst/>
              </a:rPr>
              <a:t>3.Database structure</a:t>
            </a:r>
            <a:r>
              <a:rPr lang="en-US" dirty="0"/>
              <a:t>: OLTP databases generally have a highly normalized design to minimize redundancy and ensure data integrity.</a:t>
            </a:r>
          </a:p>
          <a:p>
            <a:pPr marL="0" indent="0">
              <a:buNone/>
            </a:pPr>
            <a:r>
              <a:rPr lang="en-US" dirty="0"/>
              <a:t> This helps to maintain consistency of information in environments where there are many transactions affecting the same data.</a:t>
            </a:r>
          </a:p>
          <a:p>
            <a:pPr marL="0" indent="0">
              <a:buNone/>
            </a:pPr>
            <a:endParaRPr lang="en-US" dirty="0"/>
          </a:p>
          <a:p>
            <a:pPr marL="0" indent="0">
              <a:buNone/>
            </a:pPr>
            <a:r>
              <a:rPr lang="en-US" b="1" dirty="0">
                <a:effectLst/>
              </a:rPr>
              <a:t>4.Size of the database</a:t>
            </a:r>
            <a:r>
              <a:rPr lang="en-US" dirty="0"/>
              <a:t>: Although OLTP databases can contain large amounts of data, their size is generally smaller compared to Data Warehouses used in OLAP.</a:t>
            </a:r>
          </a:p>
          <a:p>
            <a:pPr marL="0" indent="0">
              <a:buNone/>
            </a:pPr>
            <a:endParaRPr lang="en-US" dirty="0"/>
          </a:p>
          <a:p>
            <a:pPr marL="0" indent="0">
              <a:buNone/>
            </a:pPr>
            <a:r>
              <a:rPr lang="en-US" b="1" dirty="0">
                <a:effectLst/>
              </a:rPr>
              <a:t>5.Focus on availability and integrity</a:t>
            </a:r>
            <a:r>
              <a:rPr lang="en-US" dirty="0"/>
              <a:t>: OLTP systems place significant emphasis on ensuring the availability and integrity of data at all times.</a:t>
            </a:r>
          </a:p>
          <a:p>
            <a:pPr marL="0" indent="0">
              <a:buNone/>
            </a:pPr>
            <a:r>
              <a:rPr lang="en-US" dirty="0"/>
              <a:t> This involves maintaining high system availability and ensuring that transactions are error-free and maintain data consistency.</a:t>
            </a:r>
          </a:p>
          <a:p>
            <a:r>
              <a:rPr lang="en-US" dirty="0">
                <a:solidFill>
                  <a:srgbClr val="FF0000"/>
                </a:solidFill>
              </a:rPr>
              <a:t>Examples of OLTP applications include online database management systems for financial transactions, online reservation and sales systems, inventory control systems, patient registration systems in hospitals and any other application requiring immediate and efficient processing of individual transactions.</a:t>
            </a:r>
          </a:p>
          <a:p>
            <a:endParaRPr lang="en-US" dirty="0"/>
          </a:p>
        </p:txBody>
      </p:sp>
    </p:spTree>
    <p:extLst>
      <p:ext uri="{BB962C8B-B14F-4D97-AF65-F5344CB8AC3E}">
        <p14:creationId xmlns:p14="http://schemas.microsoft.com/office/powerpoint/2010/main" val="2632528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365262-9808-541E-A98E-5233D7F7F23B}"/>
              </a:ext>
            </a:extLst>
          </p:cNvPr>
          <p:cNvSpPr>
            <a:spLocks noGrp="1"/>
          </p:cNvSpPr>
          <p:nvPr>
            <p:ph idx="1"/>
          </p:nvPr>
        </p:nvSpPr>
        <p:spPr>
          <a:xfrm>
            <a:off x="0" y="0"/>
            <a:ext cx="12192000" cy="6858000"/>
          </a:xfrm>
        </p:spPr>
        <p:txBody>
          <a:bodyPr/>
          <a:lstStyle/>
          <a:p>
            <a:pPr marL="0" indent="0">
              <a:buNone/>
            </a:pPr>
            <a:r>
              <a:rPr lang="en-US" b="1" dirty="0">
                <a:effectLst/>
              </a:rPr>
              <a:t>What is OLAP?</a:t>
            </a:r>
          </a:p>
          <a:p>
            <a:r>
              <a:rPr lang="en-US" b="1" dirty="0">
                <a:effectLst/>
              </a:rPr>
              <a:t>OLAP (Online Analytical Processing) is a technology and approach to </a:t>
            </a:r>
            <a:r>
              <a:rPr lang="en-US" b="1" dirty="0">
                <a:effectLst/>
                <a:hlinkClick r:id="rId2"/>
              </a:rPr>
              <a:t>advanced data analysis</a:t>
            </a:r>
            <a:r>
              <a:rPr lang="en-US" dirty="0"/>
              <a:t> that allows users to </a:t>
            </a:r>
            <a:r>
              <a:rPr lang="en-US" b="1" dirty="0">
                <a:effectLst/>
              </a:rPr>
              <a:t>explore and derive meaningful information from large data</a:t>
            </a:r>
            <a:r>
              <a:rPr lang="en-US" dirty="0"/>
              <a:t> sets from multiple perspectives.</a:t>
            </a:r>
          </a:p>
          <a:p>
            <a:endParaRPr lang="en-US" dirty="0"/>
          </a:p>
          <a:p>
            <a:r>
              <a:rPr lang="en-US" dirty="0"/>
              <a:t> Unlike OLTP (Online Transaction Processing), which focuses on real-time transaction management, </a:t>
            </a:r>
            <a:r>
              <a:rPr lang="en-US" b="1" dirty="0">
                <a:effectLst/>
              </a:rPr>
              <a:t>OLAP focuses on the analysis and discovery of patterns, trends and relationships in data stored in a </a:t>
            </a:r>
            <a:r>
              <a:rPr lang="en-US" b="1" dirty="0">
                <a:effectLst/>
                <a:hlinkClick r:id="rId3"/>
              </a:rPr>
              <a:t>data warehouse</a:t>
            </a:r>
            <a:r>
              <a:rPr lang="en-US" dirty="0"/>
              <a:t> or other multidimensional databases.</a:t>
            </a:r>
          </a:p>
          <a:p>
            <a:endParaRPr lang="en-US" dirty="0"/>
          </a:p>
        </p:txBody>
      </p:sp>
    </p:spTree>
    <p:extLst>
      <p:ext uri="{BB962C8B-B14F-4D97-AF65-F5344CB8AC3E}">
        <p14:creationId xmlns:p14="http://schemas.microsoft.com/office/powerpoint/2010/main" val="1791248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7E2F2-5100-5223-E7AB-26023F559AAB}"/>
              </a:ext>
            </a:extLst>
          </p:cNvPr>
          <p:cNvSpPr>
            <a:spLocks noGrp="1"/>
          </p:cNvSpPr>
          <p:nvPr>
            <p:ph idx="1"/>
          </p:nvPr>
        </p:nvSpPr>
        <p:spPr>
          <a:xfrm>
            <a:off x="0" y="0"/>
            <a:ext cx="12192000" cy="6858000"/>
          </a:xfrm>
        </p:spPr>
        <p:txBody>
          <a:bodyPr/>
          <a:lstStyle/>
          <a:p>
            <a:pPr marL="0" indent="0">
              <a:buNone/>
            </a:pPr>
            <a:r>
              <a:rPr lang="en-US" b="1" dirty="0">
                <a:effectLst/>
              </a:rPr>
              <a:t>OLAP main features:</a:t>
            </a:r>
          </a:p>
          <a:p>
            <a:pPr>
              <a:buFont typeface="+mj-lt"/>
              <a:buAutoNum type="arabicPeriod"/>
            </a:pPr>
            <a:r>
              <a:rPr lang="en-US" b="1" dirty="0">
                <a:effectLst/>
              </a:rPr>
              <a:t>Multidimensional data</a:t>
            </a:r>
            <a:r>
              <a:rPr lang="en-US" dirty="0"/>
              <a:t>: OLAP organizes data into multidimensional structures known as 'OLAP cubes’. </a:t>
            </a:r>
          </a:p>
          <a:p>
            <a:r>
              <a:rPr lang="en-US" dirty="0"/>
              <a:t>  These cubes contain data in different dimensions, such as time, product, location   and category, allowing users to analyze data from different perspectives.</a:t>
            </a:r>
          </a:p>
          <a:p>
            <a:endParaRPr lang="en-US" dirty="0"/>
          </a:p>
          <a:p>
            <a:pPr marL="0" indent="0">
              <a:buNone/>
            </a:pPr>
            <a:r>
              <a:rPr lang="en-US" b="1" dirty="0">
                <a:effectLst/>
              </a:rPr>
              <a:t>2 Complex analytical operations</a:t>
            </a:r>
            <a:r>
              <a:rPr lang="en-US" dirty="0"/>
              <a:t>: OLAP systems support complex analytical operations such as drill-down/drill-up, filtering, rotation, segmentation and roll-up.</a:t>
            </a:r>
          </a:p>
          <a:p>
            <a:r>
              <a:rPr lang="en-US" dirty="0"/>
              <a:t>   These operations allow users to explore data at different levels of detail and gain deeper insights.</a:t>
            </a:r>
          </a:p>
          <a:p>
            <a:endParaRPr lang="en-US" dirty="0"/>
          </a:p>
        </p:txBody>
      </p:sp>
    </p:spTree>
    <p:extLst>
      <p:ext uri="{BB962C8B-B14F-4D97-AF65-F5344CB8AC3E}">
        <p14:creationId xmlns:p14="http://schemas.microsoft.com/office/powerpoint/2010/main" val="2289302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76176E-FA31-B354-7E50-9654526E15B3}"/>
              </a:ext>
            </a:extLst>
          </p:cNvPr>
          <p:cNvSpPr>
            <a:spLocks noGrp="1"/>
          </p:cNvSpPr>
          <p:nvPr>
            <p:ph idx="1"/>
          </p:nvPr>
        </p:nvSpPr>
        <p:spPr>
          <a:xfrm>
            <a:off x="0" y="1"/>
            <a:ext cx="12192000" cy="68580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Data aggregation</a:t>
            </a:r>
            <a:r>
              <a:rPr kumimoji="0" lang="en-US" altLang="en-US" sz="2800" b="0" i="0" u="none" strike="noStrike" cap="none" normalizeH="0" baseline="0" dirty="0">
                <a:ln>
                  <a:noFill/>
                </a:ln>
                <a:solidFill>
                  <a:schemeClr val="tx1"/>
                </a:solidFill>
                <a:effectLst/>
                <a:latin typeface="Arial" panose="020B0604020202020204" pitchFamily="34" charset="0"/>
              </a:rPr>
              <a:t>: OLAP allows summarizing and aggregating data to obtain a more general and comprehensive view of the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This is useful for aggregate analysis such as totals, averages, peaks and throughs.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Fast response</a:t>
            </a:r>
            <a:r>
              <a:rPr kumimoji="0" lang="en-US" altLang="en-US" sz="2800" b="0" i="0" u="none" strike="noStrike" cap="none" normalizeH="0" baseline="0" dirty="0">
                <a:ln>
                  <a:noFill/>
                </a:ln>
                <a:solidFill>
                  <a:schemeClr val="tx1"/>
                </a:solidFill>
                <a:effectLst/>
                <a:latin typeface="Arial" panose="020B0604020202020204" pitchFamily="34" charset="0"/>
              </a:rPr>
              <a:t>: OLAP systems are optimized to provide fast responses to complex queries.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They use efficient processing and pre-calculation techniques to speed up data analysis and retrieval.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Decision support</a:t>
            </a:r>
            <a:r>
              <a:rPr kumimoji="0" lang="en-US" altLang="en-US" sz="2800" b="0" i="0" u="none" strike="noStrike" cap="none" normalizeH="0" baseline="0" dirty="0">
                <a:ln>
                  <a:noFill/>
                </a:ln>
                <a:solidFill>
                  <a:schemeClr val="tx1"/>
                </a:solidFill>
                <a:effectLst/>
                <a:latin typeface="Arial" panose="020B0604020202020204" pitchFamily="34" charset="0"/>
              </a:rPr>
              <a:t>: OLAP is used to analyze large volumes of business data and provide valuable information for informed decision-making.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Users can gain a deeper understanding of trends and patterns, enabling them to make better strategic and tactical decisions.</a:t>
            </a:r>
          </a:p>
          <a:p>
            <a:endParaRPr lang="en-US" dirty="0"/>
          </a:p>
        </p:txBody>
      </p:sp>
    </p:spTree>
    <p:extLst>
      <p:ext uri="{BB962C8B-B14F-4D97-AF65-F5344CB8AC3E}">
        <p14:creationId xmlns:p14="http://schemas.microsoft.com/office/powerpoint/2010/main" val="788898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5D66C9-F984-0128-9B64-D92702B4C715}"/>
              </a:ext>
            </a:extLst>
          </p:cNvPr>
          <p:cNvSpPr>
            <a:spLocks noGrp="1"/>
          </p:cNvSpPr>
          <p:nvPr>
            <p:ph sz="half" idx="1"/>
          </p:nvPr>
        </p:nvSpPr>
        <p:spPr>
          <a:xfrm>
            <a:off x="0" y="0"/>
            <a:ext cx="7124700" cy="6858000"/>
          </a:xfrm>
        </p:spPr>
        <p:txBody>
          <a:bodyPr>
            <a:normAutofit/>
          </a:bodyPr>
          <a:lstStyle/>
          <a:p>
            <a:pPr marL="0" indent="0">
              <a:buNone/>
            </a:pPr>
            <a:r>
              <a:rPr lang="en-US" sz="3600" b="1" dirty="0"/>
              <a:t>Types of OLAP</a:t>
            </a:r>
          </a:p>
          <a:p>
            <a:r>
              <a:rPr lang="en-US" dirty="0"/>
              <a:t>There are three main types of OLAP servers are as following:</a:t>
            </a:r>
          </a:p>
          <a:p>
            <a:r>
              <a:rPr lang="en-US" b="1" dirty="0"/>
              <a:t>ROLAP</a:t>
            </a:r>
            <a:r>
              <a:rPr lang="en-US" dirty="0"/>
              <a:t> stands for Relational OLAP, an application based on relational DBMSs.</a:t>
            </a:r>
          </a:p>
          <a:p>
            <a:endParaRPr lang="en-US" dirty="0"/>
          </a:p>
          <a:p>
            <a:r>
              <a:rPr lang="en-US" b="1" dirty="0"/>
              <a:t>MOLAP</a:t>
            </a:r>
            <a:r>
              <a:rPr lang="en-US" dirty="0"/>
              <a:t> stands for Multidimensional OLAP, an application based on multidimensional DBMSs.</a:t>
            </a:r>
          </a:p>
          <a:p>
            <a:endParaRPr lang="en-US" dirty="0"/>
          </a:p>
          <a:p>
            <a:r>
              <a:rPr lang="en-US" b="1" dirty="0"/>
              <a:t>HOLAP</a:t>
            </a:r>
            <a:r>
              <a:rPr lang="en-US" dirty="0"/>
              <a:t> stands for Hybrid OLAP, an application using both relational and multidimensional techniques.</a:t>
            </a:r>
          </a:p>
          <a:p>
            <a:endParaRPr lang="en-US" dirty="0"/>
          </a:p>
        </p:txBody>
      </p:sp>
      <p:pic>
        <p:nvPicPr>
          <p:cNvPr id="7" name="Content Placeholder 6">
            <a:extLst>
              <a:ext uri="{FF2B5EF4-FFF2-40B4-BE49-F238E27FC236}">
                <a16:creationId xmlns:a16="http://schemas.microsoft.com/office/drawing/2014/main" id="{73E71D9D-2E9A-6798-19E1-D602FD05B68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48550" y="523876"/>
            <a:ext cx="4486274" cy="4862362"/>
          </a:xfrm>
        </p:spPr>
      </p:pic>
    </p:spTree>
    <p:extLst>
      <p:ext uri="{BB962C8B-B14F-4D97-AF65-F5344CB8AC3E}">
        <p14:creationId xmlns:p14="http://schemas.microsoft.com/office/powerpoint/2010/main" val="611052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DE0870F-E26D-1E09-E64B-D3082820EBD6}"/>
              </a:ext>
            </a:extLst>
          </p:cNvPr>
          <p:cNvSpPr>
            <a:spLocks noGrp="1"/>
          </p:cNvSpPr>
          <p:nvPr>
            <p:ph idx="1"/>
          </p:nvPr>
        </p:nvSpPr>
        <p:spPr>
          <a:xfrm>
            <a:off x="0" y="0"/>
            <a:ext cx="12192000" cy="6858000"/>
          </a:xfrm>
        </p:spPr>
        <p:txBody>
          <a:bodyPr>
            <a:normAutofit/>
          </a:bodyPr>
          <a:lstStyle/>
          <a:p>
            <a:pPr marL="0" indent="0">
              <a:buNone/>
            </a:pPr>
            <a:r>
              <a:rPr lang="en-US" b="1" dirty="0"/>
              <a:t>Relational OLAP (ROLAP) Server</a:t>
            </a:r>
          </a:p>
          <a:p>
            <a:r>
              <a:rPr lang="en-US" dirty="0"/>
              <a:t>These are intermediate servers which stand in between a relational back-end server and user frontend tools.</a:t>
            </a:r>
          </a:p>
          <a:p>
            <a:r>
              <a:rPr lang="en-US" dirty="0"/>
              <a:t>They use a relational or extended-relational DBMS to save and handle warehouse data, and OLAP middleware to provide missing pieces. </a:t>
            </a:r>
          </a:p>
          <a:p>
            <a:r>
              <a:rPr lang="en-US" dirty="0"/>
              <a:t>ROLAP servers contain optimization for each DBMS back end, implementation of aggregation navigation logic, and additional tools and services. </a:t>
            </a:r>
          </a:p>
          <a:p>
            <a:r>
              <a:rPr lang="en-US" dirty="0"/>
              <a:t>ROLAP technology tends to have higher scalability than MOLAP technology. </a:t>
            </a:r>
          </a:p>
          <a:p>
            <a:r>
              <a:rPr lang="en-US" dirty="0"/>
              <a:t>ROLAP systems work primarily from the data that resides in a relational database, where the base data and dimension tables are stored as relational tables. This model permits the multidimensional analysis of data.</a:t>
            </a:r>
          </a:p>
          <a:p>
            <a:r>
              <a:rPr lang="en-US" dirty="0"/>
              <a:t>This technique relies on manipulating the data stored in the relational database to give the presence of traditional OLAP's slicing and dicing functionality. In essence, each method of slicing and dicing is equivalent to adding a "WHERE" clause in the SQL statement.</a:t>
            </a:r>
          </a:p>
          <a:p>
            <a:endParaRPr lang="en-US" dirty="0"/>
          </a:p>
        </p:txBody>
      </p:sp>
    </p:spTree>
    <p:extLst>
      <p:ext uri="{BB962C8B-B14F-4D97-AF65-F5344CB8AC3E}">
        <p14:creationId xmlns:p14="http://schemas.microsoft.com/office/powerpoint/2010/main" val="1607862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4B6B71-6696-CEBE-DB78-59993AD6086D}"/>
              </a:ext>
            </a:extLst>
          </p:cNvPr>
          <p:cNvSpPr>
            <a:spLocks noGrp="1"/>
          </p:cNvSpPr>
          <p:nvPr>
            <p:ph sz="half" idx="1"/>
          </p:nvPr>
        </p:nvSpPr>
        <p:spPr>
          <a:xfrm>
            <a:off x="0" y="0"/>
            <a:ext cx="6019800" cy="6176963"/>
          </a:xfrm>
        </p:spPr>
        <p:txBody>
          <a:bodyPr/>
          <a:lstStyle/>
          <a:p>
            <a:r>
              <a:rPr lang="en-US" b="1" dirty="0"/>
              <a:t>Relational OLAP Architecture</a:t>
            </a:r>
          </a:p>
          <a:p>
            <a:r>
              <a:rPr lang="en-US" dirty="0"/>
              <a:t>ROLAP Architecture includes the following components </a:t>
            </a:r>
          </a:p>
          <a:p>
            <a:pPr>
              <a:buFont typeface="Arial" panose="020B0604020202020204" pitchFamily="34" charset="0"/>
              <a:buChar char="•"/>
            </a:pPr>
            <a:r>
              <a:rPr lang="en-US" dirty="0"/>
              <a:t>Database server.</a:t>
            </a:r>
          </a:p>
          <a:p>
            <a:pPr>
              <a:buFont typeface="Arial" panose="020B0604020202020204" pitchFamily="34" charset="0"/>
              <a:buChar char="•"/>
            </a:pPr>
            <a:r>
              <a:rPr lang="en-US" dirty="0"/>
              <a:t>ROLAP server.</a:t>
            </a:r>
          </a:p>
          <a:p>
            <a:pPr>
              <a:buFont typeface="Arial" panose="020B0604020202020204" pitchFamily="34" charset="0"/>
              <a:buChar char="•"/>
            </a:pPr>
            <a:r>
              <a:rPr lang="en-US" dirty="0"/>
              <a:t>Front-end tool.</a:t>
            </a:r>
          </a:p>
          <a:p>
            <a:endParaRPr lang="en-US" dirty="0"/>
          </a:p>
        </p:txBody>
      </p:sp>
      <p:pic>
        <p:nvPicPr>
          <p:cNvPr id="6" name="Content Placeholder 5">
            <a:extLst>
              <a:ext uri="{FF2B5EF4-FFF2-40B4-BE49-F238E27FC236}">
                <a16:creationId xmlns:a16="http://schemas.microsoft.com/office/drawing/2014/main" id="{D1784856-7A72-3F0F-7A2D-F73BC1B9F90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199" y="1038225"/>
            <a:ext cx="5857875" cy="5138738"/>
          </a:xfrm>
        </p:spPr>
      </p:pic>
    </p:spTree>
    <p:extLst>
      <p:ext uri="{BB962C8B-B14F-4D97-AF65-F5344CB8AC3E}">
        <p14:creationId xmlns:p14="http://schemas.microsoft.com/office/powerpoint/2010/main" val="444590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E08A0C-142A-7D52-5A0A-0D892A5BE164}"/>
              </a:ext>
            </a:extLst>
          </p:cNvPr>
          <p:cNvSpPr>
            <a:spLocks noGrp="1"/>
          </p:cNvSpPr>
          <p:nvPr>
            <p:ph idx="1"/>
          </p:nvPr>
        </p:nvSpPr>
        <p:spPr>
          <a:xfrm>
            <a:off x="0" y="0"/>
            <a:ext cx="12192000" cy="6858000"/>
          </a:xfrm>
        </p:spPr>
        <p:txBody>
          <a:bodyPr/>
          <a:lstStyle/>
          <a:p>
            <a:r>
              <a:rPr lang="en-US" b="1" dirty="0"/>
              <a:t>Relational OLAP (ROLAP)</a:t>
            </a:r>
            <a:r>
              <a:rPr lang="en-US" dirty="0"/>
              <a:t> is the latest and fastest-growing OLAP technology segment in the market. </a:t>
            </a:r>
          </a:p>
          <a:p>
            <a:endParaRPr lang="en-US" dirty="0"/>
          </a:p>
          <a:p>
            <a:r>
              <a:rPr lang="en-US" dirty="0"/>
              <a:t>This method allows multiple multidimensional views of two-dimensional relational tables to be created, avoiding structuring record around the desired view.</a:t>
            </a:r>
          </a:p>
          <a:p>
            <a:endParaRPr lang="en-US" dirty="0"/>
          </a:p>
          <a:p>
            <a:r>
              <a:rPr lang="en-US" dirty="0"/>
              <a:t>Some products in this segment have supported reliable SQL engines to help the complexity of multidimensional analysis.</a:t>
            </a:r>
          </a:p>
          <a:p>
            <a:endParaRPr lang="en-US" dirty="0"/>
          </a:p>
          <a:p>
            <a:r>
              <a:rPr lang="en-US" dirty="0"/>
              <a:t> This includes creating multiple SQL statements to handle user requests, being 'RDBMS' aware and also being capable of generating the SQL statements based on the optimizer of the DBMS engine.</a:t>
            </a:r>
          </a:p>
          <a:p>
            <a:endParaRPr lang="en-US" dirty="0"/>
          </a:p>
        </p:txBody>
      </p:sp>
    </p:spTree>
    <p:extLst>
      <p:ext uri="{BB962C8B-B14F-4D97-AF65-F5344CB8AC3E}">
        <p14:creationId xmlns:p14="http://schemas.microsoft.com/office/powerpoint/2010/main" val="2486699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F9641-E1E5-5613-5269-8F7454B7D612}"/>
              </a:ext>
            </a:extLst>
          </p:cNvPr>
          <p:cNvSpPr>
            <a:spLocks noGrp="1"/>
          </p:cNvSpPr>
          <p:nvPr>
            <p:ph idx="1"/>
          </p:nvPr>
        </p:nvSpPr>
        <p:spPr>
          <a:xfrm>
            <a:off x="0" y="0"/>
            <a:ext cx="12192000" cy="6858000"/>
          </a:xfrm>
        </p:spPr>
        <p:txBody>
          <a:bodyPr>
            <a:normAutofit/>
          </a:bodyPr>
          <a:lstStyle/>
          <a:p>
            <a:r>
              <a:rPr lang="en-US" dirty="0"/>
              <a:t> MOLAP </a:t>
            </a:r>
          </a:p>
          <a:p>
            <a:r>
              <a:rPr lang="en-US" b="1" dirty="0"/>
              <a:t>Multidimensional OLAP (MOLAP) Server</a:t>
            </a:r>
          </a:p>
          <a:p>
            <a:r>
              <a:rPr lang="en-US" dirty="0"/>
              <a:t>A MOLAP system is based on a native logical model that directly supports multidimensional data and operations.</a:t>
            </a:r>
          </a:p>
          <a:p>
            <a:r>
              <a:rPr lang="en-US" dirty="0"/>
              <a:t> </a:t>
            </a:r>
          </a:p>
          <a:p>
            <a:r>
              <a:rPr lang="en-US" dirty="0"/>
              <a:t>Data are stored physically into multidimensional arrays, and positional techniques are used to access them.</a:t>
            </a:r>
          </a:p>
          <a:p>
            <a:endParaRPr lang="en-US" dirty="0"/>
          </a:p>
          <a:p>
            <a:r>
              <a:rPr lang="en-US" dirty="0"/>
              <a:t>One of the significant distinctions of </a:t>
            </a:r>
            <a:r>
              <a:rPr lang="en-US" b="1" dirty="0"/>
              <a:t>MOLAP</a:t>
            </a:r>
            <a:r>
              <a:rPr lang="en-US" dirty="0"/>
              <a:t> against a </a:t>
            </a:r>
            <a:r>
              <a:rPr lang="en-US" b="1" dirty="0"/>
              <a:t>ROLAP</a:t>
            </a:r>
            <a:r>
              <a:rPr lang="en-US" dirty="0"/>
              <a:t> is that data are summarized and are stored in an optimized format in a multidimensional cube, instead of in a relational database. </a:t>
            </a:r>
          </a:p>
          <a:p>
            <a:pPr marL="0" indent="0">
              <a:buNone/>
            </a:pPr>
            <a:endParaRPr lang="en-US" dirty="0"/>
          </a:p>
          <a:p>
            <a:r>
              <a:rPr lang="en-US" dirty="0"/>
              <a:t>In MOLAP model, data are structured into proprietary formats by client's reporting requirements with the calculations pre-generated on the cubes.</a:t>
            </a:r>
          </a:p>
        </p:txBody>
      </p:sp>
    </p:spTree>
    <p:extLst>
      <p:ext uri="{BB962C8B-B14F-4D97-AF65-F5344CB8AC3E}">
        <p14:creationId xmlns:p14="http://schemas.microsoft.com/office/powerpoint/2010/main" val="236121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A2279-045D-8AC8-0137-BDD74A27FF5E}"/>
              </a:ext>
            </a:extLst>
          </p:cNvPr>
          <p:cNvSpPr>
            <a:spLocks noGrp="1"/>
          </p:cNvSpPr>
          <p:nvPr>
            <p:ph idx="1"/>
          </p:nvPr>
        </p:nvSpPr>
        <p:spPr>
          <a:xfrm>
            <a:off x="0" y="1"/>
            <a:ext cx="12192000" cy="6858000"/>
          </a:xfrm>
        </p:spPr>
        <p:txBody>
          <a:bodyPr/>
          <a:lstStyle/>
          <a:p>
            <a:r>
              <a:rPr lang="en-US" b="1" dirty="0"/>
              <a:t>Key Takeaways</a:t>
            </a:r>
          </a:p>
          <a:p>
            <a:pPr>
              <a:buFont typeface="Arial" panose="020B0604020202020204" pitchFamily="34" charset="0"/>
              <a:buChar char="•"/>
            </a:pPr>
            <a:r>
              <a:rPr lang="en-US" dirty="0"/>
              <a:t>MOLAP promotes better-informed business decisions through analysis of data an organization already has generated.</a:t>
            </a:r>
          </a:p>
          <a:p>
            <a:pPr>
              <a:buFont typeface="Arial" panose="020B0604020202020204" pitchFamily="34" charset="0"/>
              <a:buChar char="•"/>
            </a:pPr>
            <a:endParaRPr lang="en-US" dirty="0"/>
          </a:p>
          <a:p>
            <a:pPr>
              <a:buFont typeface="Arial" panose="020B0604020202020204" pitchFamily="34" charset="0"/>
              <a:buChar char="•"/>
            </a:pPr>
            <a:r>
              <a:rPr lang="en-US" dirty="0"/>
              <a:t>MOLAP has applications throughout the organization — in sales, marketing, finance, merchandising, manufacturing.</a:t>
            </a:r>
          </a:p>
          <a:p>
            <a:pPr>
              <a:buFont typeface="Arial" panose="020B0604020202020204" pitchFamily="34" charset="0"/>
              <a:buChar char="•"/>
            </a:pPr>
            <a:endParaRPr lang="en-US" dirty="0"/>
          </a:p>
          <a:p>
            <a:pPr>
              <a:buFont typeface="Arial" panose="020B0604020202020204" pitchFamily="34" charset="0"/>
              <a:buChar char="•"/>
            </a:pPr>
            <a:r>
              <a:rPr lang="en-US" dirty="0"/>
              <a:t>In MOLAP systems, data stored in data warehouses is copied into multidimensional data cubes optimized for fast querying based on the types of questions an organization's analysts ask most often.</a:t>
            </a:r>
          </a:p>
          <a:p>
            <a:endParaRPr lang="en-US" dirty="0"/>
          </a:p>
        </p:txBody>
      </p:sp>
    </p:spTree>
    <p:extLst>
      <p:ext uri="{BB962C8B-B14F-4D97-AF65-F5344CB8AC3E}">
        <p14:creationId xmlns:p14="http://schemas.microsoft.com/office/powerpoint/2010/main" val="3638801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DC103D-DD46-F49E-DFF6-52551E8E9EBB}"/>
              </a:ext>
            </a:extLst>
          </p:cNvPr>
          <p:cNvSpPr>
            <a:spLocks noGrp="1"/>
          </p:cNvSpPr>
          <p:nvPr>
            <p:ph idx="1"/>
          </p:nvPr>
        </p:nvSpPr>
        <p:spPr>
          <a:xfrm>
            <a:off x="0" y="0"/>
            <a:ext cx="12192000" cy="6858000"/>
          </a:xfrm>
        </p:spPr>
        <p:txBody>
          <a:bodyPr>
            <a:normAutofit/>
          </a:bodyPr>
          <a:lstStyle/>
          <a:p>
            <a:r>
              <a:rPr lang="en-US" dirty="0"/>
              <a:t>All this is accomplished through four primary MOLAP data analysis functions:</a:t>
            </a:r>
          </a:p>
          <a:p>
            <a:pPr>
              <a:buFont typeface="Arial" panose="020B0604020202020204" pitchFamily="34" charset="0"/>
              <a:buChar char="•"/>
            </a:pPr>
            <a:r>
              <a:rPr lang="en-US" i="1" dirty="0"/>
              <a:t>Drilling down</a:t>
            </a:r>
            <a:r>
              <a:rPr lang="en-US" dirty="0"/>
              <a:t> into more detailed data. For example, seeing which SKU delivered the highest growth in a product family, or going even more deeply to see how that growth differed by region or even individual stores within a region.</a:t>
            </a:r>
          </a:p>
          <a:p>
            <a:pPr>
              <a:buFont typeface="Arial" panose="020B0604020202020204" pitchFamily="34" charset="0"/>
              <a:buChar char="•"/>
            </a:pPr>
            <a:endParaRPr lang="en-US" dirty="0"/>
          </a:p>
          <a:p>
            <a:pPr>
              <a:buFont typeface="Arial" panose="020B0604020202020204" pitchFamily="34" charset="0"/>
              <a:buChar char="•"/>
            </a:pPr>
            <a:r>
              <a:rPr lang="en-US" i="1" dirty="0"/>
              <a:t>Rolling up</a:t>
            </a:r>
            <a:r>
              <a:rPr lang="en-US" dirty="0"/>
              <a:t> into higher-level summary data — the opposite of the drill-down example, e.g., understanding performance by region instead of by state or county.</a:t>
            </a:r>
          </a:p>
          <a:p>
            <a:pPr>
              <a:buFont typeface="Arial" panose="020B0604020202020204" pitchFamily="34" charset="0"/>
              <a:buChar char="•"/>
            </a:pPr>
            <a:endParaRPr lang="en-US" dirty="0"/>
          </a:p>
          <a:p>
            <a:pPr>
              <a:buFont typeface="Arial" panose="020B0604020202020204" pitchFamily="34" charset="0"/>
              <a:buChar char="•"/>
            </a:pPr>
            <a:r>
              <a:rPr lang="en-US" i="1" dirty="0"/>
              <a:t>Slice-and-dice</a:t>
            </a:r>
            <a:r>
              <a:rPr lang="en-US" dirty="0"/>
              <a:t> to segment data. For example, exploring sales by product, month and store at the same time.</a:t>
            </a:r>
          </a:p>
          <a:p>
            <a:pPr>
              <a:buFont typeface="Arial" panose="020B0604020202020204" pitchFamily="34" charset="0"/>
              <a:buChar char="•"/>
            </a:pPr>
            <a:endParaRPr lang="en-US" dirty="0"/>
          </a:p>
          <a:p>
            <a:pPr>
              <a:buFont typeface="Arial" panose="020B0604020202020204" pitchFamily="34" charset="0"/>
              <a:buChar char="•"/>
            </a:pPr>
            <a:r>
              <a:rPr lang="en-US" i="1" dirty="0"/>
              <a:t>Pivot</a:t>
            </a:r>
            <a:r>
              <a:rPr lang="en-US" dirty="0"/>
              <a:t> to rotate the view of a selected data set so a business leader can view it from a different perspective. An example: viewing a product's sales during a given year by location, and then pivoting to view its overall sales over several years.</a:t>
            </a:r>
          </a:p>
          <a:p>
            <a:endParaRPr lang="en-US" dirty="0"/>
          </a:p>
        </p:txBody>
      </p:sp>
    </p:spTree>
    <p:extLst>
      <p:ext uri="{BB962C8B-B14F-4D97-AF65-F5344CB8AC3E}">
        <p14:creationId xmlns:p14="http://schemas.microsoft.com/office/powerpoint/2010/main" val="1882470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F3DB05-2DA4-92A7-96DD-794ED4C53A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6999" y="809626"/>
            <a:ext cx="11438275" cy="5367338"/>
          </a:xfrm>
        </p:spPr>
      </p:pic>
    </p:spTree>
    <p:extLst>
      <p:ext uri="{BB962C8B-B14F-4D97-AF65-F5344CB8AC3E}">
        <p14:creationId xmlns:p14="http://schemas.microsoft.com/office/powerpoint/2010/main" val="495109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41CD8-976F-6446-FCD6-83AAAB977395}"/>
              </a:ext>
            </a:extLst>
          </p:cNvPr>
          <p:cNvSpPr>
            <a:spLocks noGrp="1"/>
          </p:cNvSpPr>
          <p:nvPr>
            <p:ph idx="1"/>
          </p:nvPr>
        </p:nvSpPr>
        <p:spPr>
          <a:xfrm>
            <a:off x="0" y="0"/>
            <a:ext cx="12192000" cy="6858000"/>
          </a:xfrm>
        </p:spPr>
        <p:txBody>
          <a:bodyPr>
            <a:normAutofit/>
          </a:bodyPr>
          <a:lstStyle/>
          <a:p>
            <a:pPr marL="0" indent="0">
              <a:buNone/>
            </a:pPr>
            <a:r>
              <a:rPr lang="en-US" b="1" dirty="0"/>
              <a:t>MOLAP Architecture</a:t>
            </a:r>
          </a:p>
          <a:p>
            <a:r>
              <a:rPr lang="en-US" dirty="0"/>
              <a:t>A typical MOLAP system contains three conceptual components: </a:t>
            </a:r>
          </a:p>
          <a:p>
            <a:r>
              <a:rPr lang="en-US" dirty="0"/>
              <a:t>Database server, </a:t>
            </a:r>
          </a:p>
          <a:p>
            <a:r>
              <a:rPr lang="en-US" dirty="0"/>
              <a:t>MOLAP server </a:t>
            </a:r>
          </a:p>
          <a:p>
            <a:r>
              <a:rPr lang="en-US" dirty="0"/>
              <a:t>Presentation tool</a:t>
            </a:r>
          </a:p>
          <a:p>
            <a:r>
              <a:rPr lang="en-US" dirty="0"/>
              <a:t>That accepts analysts' queries and delivers the results. </a:t>
            </a:r>
          </a:p>
          <a:p>
            <a:r>
              <a:rPr lang="en-US" dirty="0"/>
              <a:t>These work together in the following way:</a:t>
            </a:r>
          </a:p>
          <a:p>
            <a:endParaRPr lang="en-US" dirty="0"/>
          </a:p>
          <a:p>
            <a:r>
              <a:rPr lang="en-US" b="1" dirty="0"/>
              <a:t>Database server.</a:t>
            </a:r>
          </a:p>
          <a:p>
            <a:r>
              <a:rPr lang="en-US" dirty="0"/>
              <a:t>In a traditional three-tier MOLAP architecture, the database server is the first tier.</a:t>
            </a:r>
          </a:p>
          <a:p>
            <a:r>
              <a:rPr lang="en-US" dirty="0"/>
              <a:t>It serves as the repository for data that is extracted from multiple sources and then cleaned and integrated.</a:t>
            </a:r>
          </a:p>
          <a:p>
            <a:endParaRPr lang="en-US" dirty="0"/>
          </a:p>
          <a:p>
            <a:endParaRPr lang="en-US" dirty="0"/>
          </a:p>
        </p:txBody>
      </p:sp>
    </p:spTree>
    <p:extLst>
      <p:ext uri="{BB962C8B-B14F-4D97-AF65-F5344CB8AC3E}">
        <p14:creationId xmlns:p14="http://schemas.microsoft.com/office/powerpoint/2010/main" val="164848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7C278-48C4-00A6-9795-E8A5141946CE}"/>
              </a:ext>
            </a:extLst>
          </p:cNvPr>
          <p:cNvSpPr>
            <a:spLocks noGrp="1"/>
          </p:cNvSpPr>
          <p:nvPr>
            <p:ph sz="half" idx="1"/>
          </p:nvPr>
        </p:nvSpPr>
        <p:spPr>
          <a:xfrm>
            <a:off x="0" y="0"/>
            <a:ext cx="12192000" cy="6858000"/>
          </a:xfrm>
        </p:spPr>
        <p:txBody>
          <a:bodyPr>
            <a:normAutofit fontScale="92500" lnSpcReduction="10000"/>
          </a:bodyPr>
          <a:lstStyle/>
          <a:p>
            <a:pPr marL="0" indent="0">
              <a:buNone/>
            </a:pPr>
            <a:r>
              <a:rPr lang="en-US" b="1" dirty="0"/>
              <a:t>MOLAP server.</a:t>
            </a:r>
          </a:p>
          <a:p>
            <a:pPr algn="just"/>
            <a:r>
              <a:rPr lang="en-US" dirty="0"/>
              <a:t>The middle tier of a MOLAP system is the MOLAP server, which retrieves data from the data warehouse (typically via SQL) and loads it into multidimensional data cubes optimized for the data requests business managers and analysts are expected to make.</a:t>
            </a:r>
          </a:p>
          <a:p>
            <a:pPr marL="0" indent="0" algn="just">
              <a:buNone/>
            </a:pPr>
            <a:r>
              <a:rPr lang="en-US" dirty="0"/>
              <a:t> </a:t>
            </a:r>
          </a:p>
          <a:p>
            <a:pPr algn="just"/>
            <a:r>
              <a:rPr lang="en-US" dirty="0"/>
              <a:t>The MOLAP server also responds to those user queries, sending results to the presentation layer/user interface. </a:t>
            </a:r>
          </a:p>
          <a:p>
            <a:endParaRPr lang="en-US" dirty="0"/>
          </a:p>
          <a:p>
            <a:r>
              <a:rPr lang="en-US" b="1" dirty="0"/>
              <a:t>Presentation, or front-end, tool.</a:t>
            </a:r>
          </a:p>
          <a:p>
            <a:r>
              <a:rPr lang="en-US" dirty="0"/>
              <a:t>Working through this tool, managers, analysts and other business professionals explore the information stored in data cubes in the MOLAP server. </a:t>
            </a:r>
          </a:p>
          <a:p>
            <a:endParaRPr lang="en-US" dirty="0"/>
          </a:p>
          <a:p>
            <a:r>
              <a:rPr lang="en-US" dirty="0"/>
              <a:t>They create requests, typically by using point-and-click tools. </a:t>
            </a:r>
          </a:p>
          <a:p>
            <a:endParaRPr lang="en-US" dirty="0"/>
          </a:p>
          <a:p>
            <a:r>
              <a:rPr lang="en-US" dirty="0"/>
              <a:t>Their requests are sent to the MOLAP server for processing, often using a data manipulation language created specifically to work with multidimensional data cubes and servers, such as MDX.</a:t>
            </a:r>
          </a:p>
          <a:p>
            <a:endParaRPr lang="en-US" dirty="0"/>
          </a:p>
          <a:p>
            <a:endParaRPr lang="en-US" dirty="0"/>
          </a:p>
        </p:txBody>
      </p:sp>
    </p:spTree>
    <p:extLst>
      <p:ext uri="{BB962C8B-B14F-4D97-AF65-F5344CB8AC3E}">
        <p14:creationId xmlns:p14="http://schemas.microsoft.com/office/powerpoint/2010/main" val="2576330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32A54A4-CB36-261E-7E98-973095EBF769}"/>
              </a:ext>
            </a:extLst>
          </p:cNvPr>
          <p:cNvSpPr>
            <a:spLocks noGrp="1"/>
          </p:cNvSpPr>
          <p:nvPr>
            <p:ph idx="1"/>
          </p:nvPr>
        </p:nvSpPr>
        <p:spPr>
          <a:xfrm>
            <a:off x="0" y="0"/>
            <a:ext cx="12192000" cy="6858000"/>
          </a:xfrm>
        </p:spPr>
        <p:txBody>
          <a:bodyPr/>
          <a:lstStyle/>
          <a:p>
            <a:r>
              <a:rPr lang="en-US" b="1" dirty="0"/>
              <a:t>Hybrid OLAP (HOLAP) Server</a:t>
            </a:r>
          </a:p>
          <a:p>
            <a:endParaRPr lang="en-US" b="1" dirty="0"/>
          </a:p>
          <a:p>
            <a:r>
              <a:rPr lang="en-US" dirty="0"/>
              <a:t>HOLAP incorporates the best features of </a:t>
            </a:r>
            <a:r>
              <a:rPr lang="en-US" b="1" dirty="0"/>
              <a:t>MOLAP</a:t>
            </a:r>
            <a:r>
              <a:rPr lang="en-US" dirty="0"/>
              <a:t> and </a:t>
            </a:r>
            <a:r>
              <a:rPr lang="en-US" b="1" dirty="0"/>
              <a:t>ROLAP</a:t>
            </a:r>
            <a:r>
              <a:rPr lang="en-US" dirty="0"/>
              <a:t> into a single architecture.</a:t>
            </a:r>
          </a:p>
          <a:p>
            <a:endParaRPr lang="en-US" dirty="0"/>
          </a:p>
          <a:p>
            <a:r>
              <a:rPr lang="en-US" dirty="0"/>
              <a:t> HOLAP systems save more substantial quantities of detailed data in the relational tables while the aggregations are stored in the pre-calculated cubes.</a:t>
            </a:r>
          </a:p>
          <a:p>
            <a:endParaRPr lang="en-US" dirty="0"/>
          </a:p>
          <a:p>
            <a:r>
              <a:rPr lang="en-US" dirty="0"/>
              <a:t> HOLAP also can drill through from the cube down to the relational tables for delineated data. </a:t>
            </a:r>
          </a:p>
          <a:p>
            <a:endParaRPr lang="en-US" dirty="0"/>
          </a:p>
          <a:p>
            <a:r>
              <a:rPr lang="en-US" dirty="0"/>
              <a:t>The </a:t>
            </a:r>
            <a:r>
              <a:rPr lang="en-US" b="1" dirty="0"/>
              <a:t>Microsoft SQL Server 2000</a:t>
            </a:r>
            <a:r>
              <a:rPr lang="en-US" dirty="0"/>
              <a:t> provides a hybrid OLAP server.</a:t>
            </a:r>
          </a:p>
          <a:p>
            <a:endParaRPr lang="en-US" dirty="0"/>
          </a:p>
        </p:txBody>
      </p:sp>
    </p:spTree>
    <p:extLst>
      <p:ext uri="{BB962C8B-B14F-4D97-AF65-F5344CB8AC3E}">
        <p14:creationId xmlns:p14="http://schemas.microsoft.com/office/powerpoint/2010/main" val="88225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58BA26-DDC5-4D22-89DD-A921D242C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5375" y="657225"/>
            <a:ext cx="10887075" cy="5314949"/>
          </a:xfrm>
        </p:spPr>
      </p:pic>
    </p:spTree>
    <p:extLst>
      <p:ext uri="{BB962C8B-B14F-4D97-AF65-F5344CB8AC3E}">
        <p14:creationId xmlns:p14="http://schemas.microsoft.com/office/powerpoint/2010/main" val="3625782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E6088-1DE8-51A8-37E6-E7FDA70E4F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6BDC7D-C92F-2379-FB37-11177309459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95813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3136</Words>
  <Application>Microsoft Office PowerPoint</Application>
  <PresentationFormat>Widescreen</PresentationFormat>
  <Paragraphs>285</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Calibri Light</vt:lpstr>
      <vt:lpstr>Office Theme</vt:lpstr>
      <vt:lpstr>UNIT 3 </vt:lpstr>
      <vt:lpstr>PowerPoint Presentation</vt:lpstr>
      <vt:lpstr>Types of Data Mart:  There are three types of data marts: </vt:lpstr>
      <vt:lpstr>2. Independent Data Mart –</vt:lpstr>
      <vt:lpstr>3. Hybrid Data Mart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cube operations/ OLAP Operation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34</cp:revision>
  <dcterms:created xsi:type="dcterms:W3CDTF">2024-05-04T13:54:32Z</dcterms:created>
  <dcterms:modified xsi:type="dcterms:W3CDTF">2026-04-21T06:06:35Z</dcterms:modified>
</cp:coreProperties>
</file>