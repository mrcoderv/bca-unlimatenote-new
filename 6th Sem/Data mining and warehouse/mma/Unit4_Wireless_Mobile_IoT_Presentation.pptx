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Wireless, Mobile Computing,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Commerce &amp; the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of Things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visual guide to how devices connect, compute, transact, and sense the world without wires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591" y="531943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779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48840" y="5166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11" y="531943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5779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66160" y="5166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icons/commer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31" y="531943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7560" y="5779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M-Commerce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83480" y="5166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icons/sens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551" y="5319431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5779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computers needed cables. Today, Wi-Fi, Bluetooth, and mobile networks let us connect from almost anywhere. This unit explains how wireless and mobile technology power everyday life — from streaming and shopping to smart homes.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69610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wireless communication technologies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33172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88" y="269610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wireless computer networks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233172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548" y="269610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mobile computing and its parts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icons/commer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4570628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mobile commerce (M-Commerce)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43400" y="42062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icons/sens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788" y="457062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0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Internet of Things (IoT)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38160" y="42062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6676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5" descr="icons/lis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548" y="457062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66760" y="5029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wireless technologies &amp; discuss uses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WIRELESS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Wireless?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technology sends data using radio waves, microwaves, or infrared — no cables needed. It solves the everyday problems of wired connections.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F1F2F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91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WIRED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cable installation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maintenance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mobility — stay tied to one spot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flexibility to expand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3591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WAY: WIRELESS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anywhere in the coverage area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phones, laptops, and IoT devices instantly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install and scale up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Wi-Fi, Bluetooth, 4G/5G mobile Internet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TECHNOLOGY 1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(Wireless Fidelity)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5531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devices to the Internet through a wireless router using radio waves. Follows the IEEE 802.11 standard.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423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468880" y="2706624"/>
            <a:ext cx="41148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80360" y="2423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2423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Modem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2706624"/>
            <a:ext cx="41148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212080" y="2423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0" y="2423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Router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30998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((( radio waves )))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49300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3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063240" y="349300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3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6324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349300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3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41788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How Wi-Fi delivers Internet to nearby devices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52360" y="1417320"/>
            <a:ext cx="4160520" cy="2148840"/>
          </a:xfrm>
          <a:prstGeom prst="roundRect">
            <a:avLst>
              <a:gd name="adj" fmla="val 3830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26680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26680" y="18745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range (~100 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Internet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at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2.4 GHz &amp; 5 GHz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452360" y="3749040"/>
            <a:ext cx="1988820" cy="1920240"/>
          </a:xfrm>
          <a:prstGeom prst="roundRect">
            <a:avLst>
              <a:gd name="adj" fmla="val 4286"/>
            </a:avLst>
          </a:prstGeom>
          <a:solidFill>
            <a:srgbClr val="EAFAF3"/>
          </a:solidFill>
          <a:ln/>
        </p:spPr>
      </p:sp>
      <p:sp>
        <p:nvSpPr>
          <p:cNvPr id="27" name="Text 24"/>
          <p:cNvSpPr/>
          <p:nvPr/>
        </p:nvSpPr>
        <p:spPr>
          <a:xfrm>
            <a:off x="7635240" y="3886200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35240" y="4160520"/>
            <a:ext cx="1623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Internet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624060" y="3749040"/>
            <a:ext cx="1988820" cy="1920240"/>
          </a:xfrm>
          <a:prstGeom prst="roundRect">
            <a:avLst>
              <a:gd name="adj" fmla="val 4286"/>
            </a:avLst>
          </a:prstGeom>
          <a:solidFill>
            <a:srgbClr val="FBEEEE"/>
          </a:solidFill>
          <a:ln/>
        </p:spPr>
      </p:sp>
      <p:sp>
        <p:nvSpPr>
          <p:cNvPr id="30" name="Text 27"/>
          <p:cNvSpPr/>
          <p:nvPr/>
        </p:nvSpPr>
        <p:spPr>
          <a:xfrm>
            <a:off x="9806940" y="3886200"/>
            <a:ext cx="162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06940" y="4160520"/>
            <a:ext cx="1623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range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5989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Homes · Schools · Offices · Airports · Hotels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TECHNOLOGY 2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luetoo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5531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short-range wireless technology (IEEE 802.15.1) for exchanging data between nearby devices. Devices first pair, then share encrypted data.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14400" y="260604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606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8036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↻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743200" y="3172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&amp; exchange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260604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2606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Bluetooth pairing between two nearby devices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42062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10–100 meters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Wireless speakers · Smartwatches · Mouse &amp; Keyboard · Car audio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49440" y="1417320"/>
            <a:ext cx="4663440" cy="2011680"/>
          </a:xfrm>
          <a:prstGeom prst="roundRect">
            <a:avLst>
              <a:gd name="adj" fmla="val 4091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2376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Advantages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223760" y="19202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include in devices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easy pairing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949440" y="3657600"/>
            <a:ext cx="4663440" cy="2011680"/>
          </a:xfrm>
          <a:prstGeom prst="roundRect">
            <a:avLst>
              <a:gd name="adj" fmla="val 4091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223760" y="3813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Disadvantages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23760" y="4160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Wi-Fi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support many users at once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TECHNOLOGY 3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ellu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5531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wireless Internet and voice calls using a network of mobile towers — the technology behind 2G, 3G, 4G, and 5G.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463040" cy="777240"/>
          </a:xfrm>
          <a:prstGeom prst="roundRect">
            <a:avLst>
              <a:gd name="adj" fmla="val 10588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011680" y="2720340"/>
            <a:ext cx="27432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286000" y="2331720"/>
            <a:ext cx="1463040" cy="777240"/>
          </a:xfrm>
          <a:prstGeom prst="roundRect">
            <a:avLst>
              <a:gd name="adj" fmla="val 10588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Tower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49040" y="2720340"/>
            <a:ext cx="27432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023360" y="2331720"/>
            <a:ext cx="1463040" cy="777240"/>
          </a:xfrm>
          <a:prstGeom prst="roundRect">
            <a:avLst>
              <a:gd name="adj" fmla="val 10588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2720340"/>
            <a:ext cx="27432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60720" y="2331720"/>
            <a:ext cx="14630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291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A mobile call/data path from phone to the Internet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14984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1014984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voice, SMS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655064" y="4297680"/>
            <a:ext cx="128016" cy="0"/>
          </a:xfrm>
          <a:prstGeom prst="line">
            <a:avLst/>
          </a:prstGeom>
          <a:noFill/>
          <a:ln w="19050">
            <a:solidFill>
              <a:srgbClr val="C9D6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15768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2715768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249424" y="4709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video calls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55848" y="4297680"/>
            <a:ext cx="128016" cy="0"/>
          </a:xfrm>
          <a:prstGeom prst="line">
            <a:avLst/>
          </a:prstGeom>
          <a:noFill/>
          <a:ln w="19050">
            <a:solidFill>
              <a:srgbClr val="C9D6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16552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5"/>
          <p:cNvSpPr/>
          <p:nvPr/>
        </p:nvSpPr>
        <p:spPr>
          <a:xfrm>
            <a:off x="4416552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950208" y="4709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streaming, gaming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56632" y="4297680"/>
            <a:ext cx="128016" cy="0"/>
          </a:xfrm>
          <a:prstGeom prst="line">
            <a:avLst/>
          </a:prstGeom>
          <a:noFill/>
          <a:ln w="19050">
            <a:solidFill>
              <a:srgbClr val="C9D6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17336" y="3977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29"/>
          <p:cNvSpPr/>
          <p:nvPr/>
        </p:nvSpPr>
        <p:spPr>
          <a:xfrm>
            <a:off x="6117336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650992" y="47091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Ultra-fast, low latency, IoT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589520" y="1417320"/>
            <a:ext cx="4023360" cy="2331720"/>
          </a:xfrm>
          <a:prstGeom prst="roundRect">
            <a:avLst>
              <a:gd name="adj" fmla="val 3529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86384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Advantages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863840" y="1920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coverage area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almost everywhere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589520" y="393192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863840" y="4087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Disadvantages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863840" y="4434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infrastructure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congestion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towers everywhere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TECHNOLOGY 4 &amp; 5 OF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and Infrared (IR)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nf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8854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087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Field Communication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short-range wireless technology — range of about 4 cm. Used for quick, secure taps between devices or cards.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payment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cards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ID cards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key cards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secure, easy, fast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range, small data transfer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s/infrar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093" y="188549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Infrared (IR)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2376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infrared light instead of radio waves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537960" y="2514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low-cost signal that needs a clear, direct line of sight between sender and receiver — like pointing a remote at a TV.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33832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37033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remote control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conditioner remote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37960" y="45720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no radio interference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line of sight, can't pass through walls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Technologies at a Glance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/>
              <a:tblGrid>
                <a:gridCol w="2286000"/>
                <a:gridCol w="1755648"/>
                <a:gridCol w="1755648"/>
                <a:gridCol w="1755648"/>
                <a:gridCol w="1755648"/>
                <a:gridCol w="1755648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km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cm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meters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wisely: use Wi-Fi at home, Bluetooth for accessories, cellular on the move, and NFC for a quick, secure tap-to-pay.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WIRELESS COMPUTER NETWORKS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Sizes of Wireless Networks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networks connect devices using radio waves, microwaves, or infrared — and they range from a single desk to an entire country.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915150" cy="658368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WPAN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Area Network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2386584"/>
            <a:ext cx="5269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Bluetooth, smartwatch, wireless keyboard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46670" y="2057400"/>
            <a:ext cx="39662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8298180" cy="658368"/>
          </a:xfrm>
          <a:prstGeom prst="roundRect">
            <a:avLst>
              <a:gd name="adj" fmla="val 12500"/>
            </a:avLst>
          </a:prstGeom>
          <a:solidFill>
            <a:srgbClr val="D8EC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3209544"/>
            <a:ext cx="6652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Wi-Fi, office network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29700" y="2880360"/>
            <a:ext cx="2583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100–300 meters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9681210" cy="658368"/>
          </a:xfrm>
          <a:prstGeom prst="roundRect">
            <a:avLst>
              <a:gd name="adj" fmla="val 12500"/>
            </a:avLst>
          </a:prstGeom>
          <a:solidFill>
            <a:srgbClr val="C3E0E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WMAN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Metropolitan Area Network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11680" y="4032504"/>
            <a:ext cx="8035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Internet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12730" y="3703320"/>
            <a:ext cx="1200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city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AEC9D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262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4599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11680" y="485546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Internet, cellular networks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95760" y="4526280"/>
            <a:ext cx="-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country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Coverage grows from WPAN (a device on your wrist) to WWAN (a nationwide mobile network)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WIRELESS COMPUTER NETWORKS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Wireless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29968" cy="1965960"/>
          </a:xfrm>
          <a:prstGeom prst="roundRect">
            <a:avLst>
              <a:gd name="adj" fmla="val 418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437" y="19312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(AP)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wireless devices to the network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7208" y="1554480"/>
            <a:ext cx="2029968" cy="1965960"/>
          </a:xfrm>
          <a:prstGeom prst="roundRect">
            <a:avLst>
              <a:gd name="adj" fmla="val 418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193121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16936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local network to the Internet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554480"/>
            <a:ext cx="2029968" cy="1965960"/>
          </a:xfrm>
          <a:prstGeom prst="roundRect">
            <a:avLst>
              <a:gd name="adj" fmla="val 418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064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73" y="19312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Adapter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75504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wireless signals on a device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4344" y="1554480"/>
            <a:ext cx="2029968" cy="1965960"/>
          </a:xfrm>
          <a:prstGeom prst="roundRect">
            <a:avLst>
              <a:gd name="adj" fmla="val 418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65008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cellu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41" y="193121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34072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and receives radio waves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82912" y="1554480"/>
            <a:ext cx="2029968" cy="1965960"/>
          </a:xfrm>
          <a:prstGeom prst="roundRect">
            <a:avLst>
              <a:gd name="adj" fmla="val 418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23576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709" y="193121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0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92640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Provider — supplies connectivity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22960" y="4023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Advantages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22960" y="43891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installation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for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easy to grow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cabling costs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6537960" y="40233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Disadvantages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537960" y="43891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interference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bandwidth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55391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Computing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82880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information and services on portable devices, over wireless networks, while on the move.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MOBILE COMPUTING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Building Blocks +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Hardware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2402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Smartphone, tablet, laptop, smartwatch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664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Software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2402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iOS, and mobile apps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664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7876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Communication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224028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Bluetooth, 5G, satellite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Architecture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61188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806440" y="406908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42519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D8ECEF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806440" y="470916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8920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806440" y="534924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D8ECEF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806440" y="5989320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548640" y="61722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48640" y="6830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Data flows from the mobile user through the network into the cloud, and back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MOBILE COMPUTING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Applications, Pros, Cons &amp;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education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conferencing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73736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Advantages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productivity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talk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37033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Disadvantages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416052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theft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reliance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748" y="1827428"/>
            <a:ext cx="231343" cy="23134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23774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bandwidth on the move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disconnections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attacks on open networks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compatibility issues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battery management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icons/commer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55391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Commerce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82880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Buying, selling, and banking — all done through mobile devices over wireless networks.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MOBILE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M-Commerce &amp; 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M-Commerce means commercial transactions carried out through mobile devices using wireless networks. It is a subset of E-Commerce.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2720340"/>
            <a:ext cx="29260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41448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41648" y="2720340"/>
            <a:ext cx="29260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4256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34456" y="2720340"/>
            <a:ext cx="29260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27064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27264" y="2720340"/>
            <a:ext cx="29260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19872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20072" y="2720340"/>
            <a:ext cx="292608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22860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The path of a mobile purchase, from tap to bank confirmation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M-Commerce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07208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98648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65776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57216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24344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15784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2912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74352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Awareness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MOBILE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Types of M-Commerce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29968" cy="3383280"/>
          </a:xfrm>
          <a:prstGeom prst="roundRect">
            <a:avLst>
              <a:gd name="adj" fmla="val 4505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ba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024" y="1941088"/>
            <a:ext cx="269199" cy="269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060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inquiry, money transfer, bill payment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07208" y="1508760"/>
            <a:ext cx="2029968" cy="3383280"/>
          </a:xfrm>
          <a:prstGeom prst="roundRect">
            <a:avLst>
              <a:gd name="adj" fmla="val 4505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9584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ommer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592" y="1941088"/>
            <a:ext cx="269199" cy="2691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6060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Shopping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44368" y="32918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products using mobile apps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65776" y="1508760"/>
            <a:ext cx="2029968" cy="3383280"/>
          </a:xfrm>
          <a:prstGeom prst="roundRect">
            <a:avLst>
              <a:gd name="adj" fmla="val 4505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8152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160" y="1941088"/>
            <a:ext cx="269199" cy="2691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26060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Payment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02936" y="32918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payment, mobile wallets, contactless payment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24344" y="1508760"/>
            <a:ext cx="2029968" cy="3383280"/>
          </a:xfrm>
          <a:prstGeom prst="roundRect">
            <a:avLst>
              <a:gd name="adj" fmla="val 4505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0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ti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728" y="1941088"/>
            <a:ext cx="269199" cy="2691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1504" y="26060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Ticketing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61504" y="32918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movie, and bus tickets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82912" y="1508760"/>
            <a:ext cx="2029968" cy="3383280"/>
          </a:xfrm>
          <a:prstGeom prst="roundRect">
            <a:avLst>
              <a:gd name="adj" fmla="val 4505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05288" y="17830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market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3296" y="1941088"/>
            <a:ext cx="269199" cy="26919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26060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Marketing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20072" y="32918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email, apps, push notifications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MOBILE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Drawbacks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9A6C"/>
          </a:solidFill>
          <a:ln/>
        </p:spPr>
      </p:sp>
      <p:pic>
        <p:nvPicPr>
          <p:cNvPr id="6" name="Image 0" descr="icons/pr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anytime, anywhere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transactions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paperwork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service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banking on the go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11" name="Image 1" descr="icons/c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196458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display size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Internet connection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MOBILE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Security Issues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5" name="Image 0" descr="icons/secur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61117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M-Commerce involves money and personal data, it is a target for online attacks. Being aware of these risks is the first step to staying safe.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029968" cy="2651760"/>
          </a:xfrm>
          <a:prstGeom prst="roundRect">
            <a:avLst>
              <a:gd name="adj" fmla="val 4505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07592" y="2651760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9" name="Text 6"/>
          <p:cNvSpPr/>
          <p:nvPr/>
        </p:nvSpPr>
        <p:spPr>
          <a:xfrm>
            <a:off x="1307592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3337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384048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messages tricking users into giving personal details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07208" y="2423160"/>
            <a:ext cx="2029968" cy="2651760"/>
          </a:xfrm>
          <a:prstGeom prst="roundRect">
            <a:avLst>
              <a:gd name="adj" fmla="val 4505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2651760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16936" y="3337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Mobile Apps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16936" y="384048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apps built to steal information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65776" y="2423160"/>
            <a:ext cx="2029968" cy="2651760"/>
          </a:xfrm>
          <a:prstGeom prst="roundRect">
            <a:avLst>
              <a:gd name="adj" fmla="val 4505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24728" y="2651760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9" name="Text 16"/>
          <p:cNvSpPr/>
          <p:nvPr/>
        </p:nvSpPr>
        <p:spPr>
          <a:xfrm>
            <a:off x="5824728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75504" y="3337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175504" y="384048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software that harms or spies on a device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24344" y="2423160"/>
            <a:ext cx="2029968" cy="2651760"/>
          </a:xfrm>
          <a:prstGeom prst="roundRect">
            <a:avLst>
              <a:gd name="adj" fmla="val 4505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83296" y="2651760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4" name="Text 21"/>
          <p:cNvSpPr/>
          <p:nvPr/>
        </p:nvSpPr>
        <p:spPr>
          <a:xfrm>
            <a:off x="8083296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34072" y="3337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434072" y="384048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to personal or payment data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582912" y="2423160"/>
            <a:ext cx="2029968" cy="2651760"/>
          </a:xfrm>
          <a:prstGeom prst="roundRect">
            <a:avLst>
              <a:gd name="adj" fmla="val 4505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341864" y="2651760"/>
            <a:ext cx="512064" cy="512064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9" name="Text 26"/>
          <p:cNvSpPr/>
          <p:nvPr/>
        </p:nvSpPr>
        <p:spPr>
          <a:xfrm>
            <a:off x="10341864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692640" y="333756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692640" y="384048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guess or steal login credentials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icons/sens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55391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2697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of Things (IoT)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82880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objects, fitted with sensors, that collect and share data over the Internet.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INTERNET OF THINGS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IoT &amp; 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connects physical objects — embedded with sensors and software — so they can collect, exchange, and process data over the Internet with little human help.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646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646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7378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6428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428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8160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7210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210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942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7992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992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9724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8774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774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05060" y="2720340"/>
            <a:ext cx="190500" cy="0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95560" y="2286000"/>
            <a:ext cx="141732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22860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337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Basic IoT architecture — from a sensor's reading to a decision the user sees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IoT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07208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98648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65776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57216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24344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15784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582912" y="4343400"/>
            <a:ext cx="2029968" cy="1005840"/>
          </a:xfrm>
          <a:prstGeom prst="roundRect">
            <a:avLst>
              <a:gd name="adj" fmla="val 8182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74352" y="434340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INTERNET OF THINGS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18288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ens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788" y="199668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environmental data — e.g. temperature, motion, or pressure sensors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52544" y="18288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28" y="1996684"/>
            <a:ext cx="286024" cy="286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devices using Wi-Fi, Bluetooth, ZigBee, or 5G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7184" y="18288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068" y="1996684"/>
            <a:ext cx="286024" cy="2860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550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 analyze the collected data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21824" y="182880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mob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708" y="1996684"/>
            <a:ext cx="286024" cy="286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099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1897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3544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and web dashboards let users monitor &amp; control devices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INTERNET OF THINGS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in Everyday 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1292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lights, smart locks, smart cameras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647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191292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764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control, waste management, parking systems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6479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healt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191292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764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patient monitoring, smart medical devices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05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agr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15320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monitoring, automatic irrigation, livestock tracking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05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indust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415320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(IIoT)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monitoring, predictive maintenance, automation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05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s/vehi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15320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vehicles, fleet management, GPS tracking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INTERNET OF THINGS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Drawbacks of IoT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AF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E9A6C"/>
          </a:solidFill>
          <a:ln/>
        </p:spPr>
      </p:sp>
      <p:pic>
        <p:nvPicPr>
          <p:cNvPr id="6" name="Image 0" descr="icons/pr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routine tasks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data-driven decisions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over time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efficiency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of assets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BEE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11" name="Image 1" descr="icons/c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196458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issues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implementation cost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maintenance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4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the Internet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Important Comparisons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 vs.  Wireless Computing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Computing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Computing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using portable devices while moving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communication without cables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mobility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is not mandatory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Smartphone using 5G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Office Wi-Fi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 vs.  M-Commerce</a:t>
            </a:r>
            <a:endParaRPr lang="en-US" sz="14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M-Commerce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Conducted using desktops, laptops, or mobile devices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Conducted mainly through smartphones and tablets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use wired or wireless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wireless Internet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Shopping via a desktop browser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Shopping through a mobile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9188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2-Mark Questions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wireless technology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Wi-Fi? Give two advantages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mobile computing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mobile commerce?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IoT?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Wi-Fi and Bluetooth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four applications of IoT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3F8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748" y="19188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8-Mark Questions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Wi-Fi, Bluetooth, Cellular, NFC, and Infrared with examples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wireless networks: types, components, pros &amp; cons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mobile computing: architecture, components, applications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M-Commerce: types, features, advantages, security issues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IoT: architecture, components, applications, challenges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Wireless &amp; Mobile Computing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connects our devices. Mobile computing lets us work anywhere. M-Commerce moves money in a tap. IoT lets everyday things sense and think.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wif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8" y="466206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074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1168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68" y="466206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5074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9184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s/commer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466206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5074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M-Commerce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0" y="4526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icons/sens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788" y="4662068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97680" y="5074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Wireless, Mobile Computing, M-Commerce and IoT</dc:title>
  <dc:subject>PptxGenJS Presentation</dc:subject>
  <dc:creator>Unit 4</dc:creator>
  <cp:lastModifiedBy>Unit 4</cp:lastModifiedBy>
  <cp:revision>1</cp:revision>
  <dcterms:created xsi:type="dcterms:W3CDTF">2026-07-07T06:16:00Z</dcterms:created>
  <dcterms:modified xsi:type="dcterms:W3CDTF">2026-07-07T06:16:00Z</dcterms:modified>
</cp:coreProperties>
</file>