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67743-95B3-4C68-AD86-AECB4790081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33FBF5-F569-4CE1-9AFD-EF5EEDD8FE3A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677545" y="198818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Market Basket Analysis in Data Mining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Market Basket Analysis is the process of discovering associations or patterns among items bought together by customers. It is mainly based on </a:t>
            </a:r>
            <a:r>
              <a:rPr lang="en-US" b="1" dirty="0" smtClean="0"/>
              <a:t>Association Rule Mining</a:t>
            </a:r>
            <a:r>
              <a:rPr lang="en-US" dirty="0" smtClean="0"/>
              <a:t> techniques in data mining.</a:t>
            </a:r>
            <a:endParaRPr lang="en-US" dirty="0" smtClean="0"/>
          </a:p>
          <a:p>
            <a:r>
              <a:rPr lang="en-US" b="1" dirty="0" smtClean="0"/>
              <a:t>Example</a:t>
            </a:r>
            <a:endParaRPr lang="en-US" b="1" dirty="0" smtClean="0"/>
          </a:p>
          <a:p>
            <a:r>
              <a:rPr lang="en-US" dirty="0" smtClean="0"/>
              <a:t>If customers frequently buy:</a:t>
            </a:r>
            <a:endParaRPr lang="en-US" dirty="0" smtClean="0"/>
          </a:p>
          <a:p>
            <a:r>
              <a:rPr lang="en-US" dirty="0" smtClean="0"/>
              <a:t>Bread + Butter </a:t>
            </a:r>
            <a:endParaRPr lang="en-US" dirty="0" smtClean="0"/>
          </a:p>
          <a:p>
            <a:r>
              <a:rPr lang="en-US" dirty="0" smtClean="0"/>
              <a:t>Milk + Bread </a:t>
            </a:r>
            <a:endParaRPr lang="en-US" dirty="0" smtClean="0"/>
          </a:p>
          <a:p>
            <a:r>
              <a:rPr lang="en-US" dirty="0" smtClean="0"/>
              <a:t>then the store may place these products nearby or provide combo offers.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8536" y="452486"/>
            <a:ext cx="11764652" cy="6231117"/>
          </a:xfrm>
        </p:spPr>
        <p:txBody>
          <a:bodyPr/>
          <a:lstStyle/>
          <a:p>
            <a:r>
              <a:rPr lang="en-US" b="1" dirty="0" smtClean="0"/>
              <a:t>Objectives of Market Basket Analysis</a:t>
            </a:r>
            <a:endParaRPr lang="en-US" b="1" dirty="0" smtClean="0"/>
          </a:p>
          <a:p>
            <a:r>
              <a:rPr lang="en-US" dirty="0" smtClean="0"/>
              <a:t>Identify customer purchasing patterns </a:t>
            </a:r>
            <a:endParaRPr lang="en-US" dirty="0" smtClean="0"/>
          </a:p>
          <a:p>
            <a:r>
              <a:rPr lang="en-US" dirty="0" smtClean="0"/>
              <a:t>Improve product placement </a:t>
            </a:r>
            <a:endParaRPr lang="en-US" dirty="0" smtClean="0"/>
          </a:p>
          <a:p>
            <a:r>
              <a:rPr lang="en-US" dirty="0" smtClean="0"/>
              <a:t>Increase cross-selling opportunities </a:t>
            </a:r>
            <a:endParaRPr lang="en-US" dirty="0" smtClean="0"/>
          </a:p>
          <a:p>
            <a:r>
              <a:rPr lang="en-US" dirty="0" smtClean="0"/>
              <a:t>Enhance customer satisfaction </a:t>
            </a:r>
            <a:endParaRPr lang="en-US" dirty="0" smtClean="0"/>
          </a:p>
          <a:p>
            <a:r>
              <a:rPr lang="en-US" dirty="0" smtClean="0"/>
              <a:t>Boost sales and profit </a:t>
            </a:r>
            <a:endParaRPr lang="en-US" dirty="0" smtClean="0"/>
          </a:p>
          <a:p>
            <a:r>
              <a:rPr lang="en-US" dirty="0" smtClean="0"/>
              <a:t>Design promotional offers and discounts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5097" y="527901"/>
            <a:ext cx="11811785" cy="6004874"/>
          </a:xfrm>
        </p:spPr>
        <p:txBody>
          <a:bodyPr/>
          <a:lstStyle/>
          <a:p>
            <a:r>
              <a:rPr lang="en-US" b="1" dirty="0" smtClean="0"/>
              <a:t>Working Principle</a:t>
            </a:r>
            <a:endParaRPr lang="en-US" b="1" dirty="0" smtClean="0"/>
          </a:p>
          <a:p>
            <a:r>
              <a:rPr lang="en-US" dirty="0" smtClean="0"/>
              <a:t>The analysis studies transaction data collected from customer purchases. It identifies:</a:t>
            </a:r>
            <a:endParaRPr lang="en-US" dirty="0" smtClean="0"/>
          </a:p>
          <a:p>
            <a:r>
              <a:rPr lang="en-US" b="1" dirty="0" smtClean="0"/>
              <a:t>Frequent </a:t>
            </a:r>
            <a:r>
              <a:rPr lang="en-US" b="1" dirty="0" err="1" smtClean="0"/>
              <a:t>itemsets</a:t>
            </a:r>
            <a:r>
              <a:rPr lang="en-US" dirty="0" smtClean="0"/>
              <a:t> → items often purchased together </a:t>
            </a:r>
            <a:endParaRPr lang="en-US" dirty="0" smtClean="0"/>
          </a:p>
          <a:p>
            <a:r>
              <a:rPr lang="en-US" b="1" dirty="0" smtClean="0"/>
              <a:t>Association rules</a:t>
            </a:r>
            <a:r>
              <a:rPr lang="en-US" dirty="0" smtClean="0"/>
              <a:t> → relationships among products 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4717" y="471340"/>
            <a:ext cx="10727703" cy="58823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768445"/>
          </a:xfrm>
        </p:spPr>
        <p:txBody>
          <a:bodyPr>
            <a:normAutofit lnSpcReduction="10000"/>
          </a:bodyPr>
          <a:lstStyle/>
          <a:p>
            <a:r>
              <a:rPr lang="en-US" b="1" dirty="0" smtClean="0"/>
              <a:t>Applications of Market Basket Analysis</a:t>
            </a:r>
            <a:endParaRPr lang="en-US" b="1" dirty="0" smtClean="0"/>
          </a:p>
          <a:p>
            <a:pPr marL="0" indent="0">
              <a:buNone/>
            </a:pPr>
            <a:r>
              <a:rPr lang="en-US" b="1" dirty="0" smtClean="0"/>
              <a:t>1. Sales and Marketing</a:t>
            </a:r>
            <a:endParaRPr lang="en-US" b="1" dirty="0" smtClean="0"/>
          </a:p>
          <a:p>
            <a:r>
              <a:rPr lang="en-US" dirty="0" smtClean="0"/>
              <a:t>Improves customer service </a:t>
            </a:r>
            <a:endParaRPr lang="en-US" dirty="0" smtClean="0"/>
          </a:p>
          <a:p>
            <a:r>
              <a:rPr lang="en-US" dirty="0" smtClean="0"/>
              <a:t>Helps in cross-selling products </a:t>
            </a:r>
            <a:endParaRPr lang="en-US" dirty="0" smtClean="0"/>
          </a:p>
          <a:p>
            <a:r>
              <a:rPr lang="en-US" dirty="0" smtClean="0"/>
              <a:t>Increases response rates in promotions and direct marketing </a:t>
            </a:r>
            <a:endParaRPr lang="en-US" dirty="0" smtClean="0"/>
          </a:p>
          <a:p>
            <a:pPr marL="0" indent="0">
              <a:buNone/>
            </a:pPr>
            <a:r>
              <a:rPr lang="en-US" b="1" dirty="0" smtClean="0"/>
              <a:t>2. Customer Retention</a:t>
            </a:r>
            <a:endParaRPr lang="en-US" b="1" dirty="0" smtClean="0"/>
          </a:p>
          <a:p>
            <a:r>
              <a:rPr lang="en-US" dirty="0" smtClean="0"/>
              <a:t>Identifies customer behavior patterns </a:t>
            </a:r>
            <a:endParaRPr lang="en-US" dirty="0" smtClean="0"/>
          </a:p>
          <a:p>
            <a:r>
              <a:rPr lang="en-US" dirty="0" smtClean="0"/>
              <a:t>Predicts possible customer defections </a:t>
            </a:r>
            <a:endParaRPr lang="en-US" dirty="0" smtClean="0"/>
          </a:p>
          <a:p>
            <a:r>
              <a:rPr lang="en-US" dirty="0" smtClean="0"/>
              <a:t>Helps companies maintain loyal customers </a:t>
            </a:r>
            <a:endParaRPr lang="en-US" dirty="0" smtClean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68824" y="0"/>
            <a:ext cx="5923176" cy="68580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 smtClean="0"/>
              <a:t>3. Risk Assessment and Fraud Detection</a:t>
            </a:r>
            <a:endParaRPr lang="en-US" b="1" dirty="0" smtClean="0"/>
          </a:p>
          <a:p>
            <a:r>
              <a:rPr lang="en-US" dirty="0" smtClean="0"/>
              <a:t>Detects unusual purchasing behavior </a:t>
            </a:r>
            <a:endParaRPr lang="en-US" dirty="0" smtClean="0"/>
          </a:p>
          <a:p>
            <a:r>
              <a:rPr lang="en-US" dirty="0" smtClean="0"/>
              <a:t>Identifies fraudulent activities </a:t>
            </a:r>
            <a:endParaRPr lang="en-US" dirty="0" smtClean="0"/>
          </a:p>
          <a:p>
            <a:r>
              <a:rPr lang="en-US" dirty="0" smtClean="0"/>
              <a:t>Helps in security and monitoring systems </a:t>
            </a:r>
            <a:endParaRPr lang="en-US" dirty="0" smtClean="0"/>
          </a:p>
          <a:p>
            <a:pPr marL="0" indent="0">
              <a:buNone/>
            </a:pPr>
            <a:r>
              <a:rPr lang="en-US" b="1" dirty="0" smtClean="0"/>
              <a:t>4. Store Layout Design</a:t>
            </a:r>
            <a:endParaRPr lang="en-US" b="1" dirty="0" smtClean="0"/>
          </a:p>
          <a:p>
            <a:r>
              <a:rPr lang="en-US" dirty="0" smtClean="0"/>
              <a:t>Products frequently bought together are placed nearby </a:t>
            </a:r>
            <a:endParaRPr lang="en-US" dirty="0" smtClean="0"/>
          </a:p>
          <a:p>
            <a:r>
              <a:rPr lang="en-US" dirty="0" smtClean="0"/>
              <a:t>Improves shopping convenience </a:t>
            </a:r>
            <a:endParaRPr lang="en-US" dirty="0" smtClean="0"/>
          </a:p>
          <a:p>
            <a:pPr marL="0" indent="0">
              <a:buNone/>
            </a:pPr>
            <a:r>
              <a:rPr lang="en-US" b="1" dirty="0" smtClean="0"/>
              <a:t>5. Recommendation Systems</a:t>
            </a:r>
            <a:endParaRPr lang="en-US" b="1" dirty="0" smtClean="0"/>
          </a:p>
          <a:p>
            <a:r>
              <a:rPr lang="en-US" dirty="0" smtClean="0"/>
              <a:t>Used in online shopping platforms such as:</a:t>
            </a:r>
            <a:endParaRPr lang="en-US" dirty="0" smtClean="0"/>
          </a:p>
          <a:p>
            <a:r>
              <a:rPr lang="en-US" dirty="0" smtClean="0"/>
              <a:t>“Customers who bought this also bought…”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702458"/>
          </a:xfrm>
        </p:spPr>
        <p:txBody>
          <a:bodyPr/>
          <a:lstStyle/>
          <a:p>
            <a:r>
              <a:rPr lang="en-US" b="1" dirty="0" smtClean="0"/>
              <a:t>Advantages</a:t>
            </a:r>
            <a:endParaRPr lang="en-US" b="1" dirty="0" smtClean="0"/>
          </a:p>
          <a:p>
            <a:r>
              <a:rPr lang="en-US" dirty="0" smtClean="0"/>
              <a:t>Increases sales and revenue </a:t>
            </a:r>
            <a:endParaRPr lang="en-US" dirty="0" smtClean="0"/>
          </a:p>
          <a:p>
            <a:r>
              <a:rPr lang="en-US" dirty="0" smtClean="0"/>
              <a:t>Improves customer satisfaction </a:t>
            </a:r>
            <a:endParaRPr lang="en-US" dirty="0" smtClean="0"/>
          </a:p>
          <a:p>
            <a:r>
              <a:rPr lang="en-US" dirty="0" smtClean="0"/>
              <a:t>Supports better decision-making </a:t>
            </a:r>
            <a:endParaRPr lang="en-US" dirty="0" smtClean="0"/>
          </a:p>
          <a:p>
            <a:r>
              <a:rPr lang="en-US" dirty="0" smtClean="0"/>
              <a:t>Helps in targeted marketing </a:t>
            </a:r>
            <a:endParaRPr lang="en-US" dirty="0" smtClean="0"/>
          </a:p>
          <a:p>
            <a:r>
              <a:rPr lang="en-US" dirty="0" smtClean="0"/>
              <a:t>Easy to implement with transaction data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87678" y="0"/>
            <a:ext cx="5806912" cy="6702458"/>
          </a:xfrm>
        </p:spPr>
        <p:txBody>
          <a:bodyPr/>
          <a:lstStyle/>
          <a:p>
            <a:r>
              <a:rPr lang="en-US" b="1" dirty="0" smtClean="0"/>
              <a:t>Limitations</a:t>
            </a:r>
            <a:endParaRPr lang="en-US" b="1" dirty="0" smtClean="0"/>
          </a:p>
          <a:p>
            <a:r>
              <a:rPr lang="en-US" dirty="0" smtClean="0"/>
              <a:t>Requires large amounts of data </a:t>
            </a:r>
            <a:endParaRPr lang="en-US" dirty="0" smtClean="0"/>
          </a:p>
          <a:p>
            <a:r>
              <a:rPr lang="en-US" dirty="0" smtClean="0"/>
              <a:t>Patterns may change over time </a:t>
            </a:r>
            <a:endParaRPr lang="en-US" dirty="0" smtClean="0"/>
          </a:p>
          <a:p>
            <a:r>
              <a:rPr lang="en-US" dirty="0" smtClean="0"/>
              <a:t>Rare item combinations may be ignored </a:t>
            </a:r>
            <a:endParaRPr lang="en-US" dirty="0" smtClean="0"/>
          </a:p>
          <a:p>
            <a:r>
              <a:rPr lang="en-US" dirty="0" smtClean="0"/>
              <a:t>Incorrect analysis may lead to poor business decisions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-1"/>
            <a:ext cx="12191999" cy="68580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smtClean="0"/>
              <a:t>Step 1: Identify Frequent </a:t>
            </a:r>
            <a:r>
              <a:rPr lang="en-US" b="1" dirty="0" err="1" smtClean="0"/>
              <a:t>Itemsets</a:t>
            </a:r>
            <a:endParaRPr lang="en-US" b="1" dirty="0" smtClean="0"/>
          </a:p>
          <a:p>
            <a:r>
              <a:rPr lang="en-US" dirty="0" smtClean="0"/>
              <a:t>From the transactions, we observe:</a:t>
            </a:r>
            <a:endParaRPr lang="en-US" dirty="0" smtClean="0"/>
          </a:p>
          <a:p>
            <a:r>
              <a:rPr lang="en-US" dirty="0" smtClean="0"/>
              <a:t>Bread and Butter appear together in: </a:t>
            </a:r>
            <a:endParaRPr lang="en-US" dirty="0" smtClean="0"/>
          </a:p>
          <a:p>
            <a:pPr lvl="1"/>
            <a:r>
              <a:rPr lang="en-US" dirty="0" smtClean="0"/>
              <a:t>T1 </a:t>
            </a:r>
            <a:endParaRPr lang="en-US" dirty="0" smtClean="0"/>
          </a:p>
          <a:p>
            <a:pPr lvl="1"/>
            <a:r>
              <a:rPr lang="en-US" dirty="0" smtClean="0"/>
              <a:t>T4 </a:t>
            </a:r>
            <a:endParaRPr lang="en-US" dirty="0" smtClean="0"/>
          </a:p>
          <a:p>
            <a:pPr lvl="1"/>
            <a:r>
              <a:rPr lang="en-US" dirty="0" smtClean="0"/>
              <a:t>T5 </a:t>
            </a:r>
            <a:endParaRPr lang="en-US" dirty="0" smtClean="0"/>
          </a:p>
          <a:p>
            <a:r>
              <a:rPr lang="en-US" dirty="0" smtClean="0"/>
              <a:t>So, </a:t>
            </a:r>
            <a:r>
              <a:rPr lang="en-US" b="1" dirty="0" smtClean="0"/>
              <a:t>Bread + Butter</a:t>
            </a:r>
            <a:r>
              <a:rPr lang="en-US" dirty="0" smtClean="0"/>
              <a:t> is a frequent </a:t>
            </a:r>
            <a:r>
              <a:rPr lang="en-US" dirty="0" err="1" smtClean="0"/>
              <a:t>itemset</a:t>
            </a:r>
            <a:r>
              <a:rPr lang="en-US" dirty="0" smtClean="0"/>
              <a:t>.</a:t>
            </a:r>
            <a:endParaRPr lang="en-US" dirty="0" smtClean="0"/>
          </a:p>
          <a:p>
            <a:r>
              <a:rPr lang="en-US" dirty="0" smtClean="0"/>
              <a:t>Diaper and Beer appear together in: </a:t>
            </a:r>
            <a:endParaRPr lang="en-US" dirty="0" smtClean="0"/>
          </a:p>
          <a:p>
            <a:pPr lvl="1"/>
            <a:r>
              <a:rPr lang="en-US" dirty="0" smtClean="0"/>
              <a:t>T2 </a:t>
            </a:r>
            <a:endParaRPr lang="en-US" dirty="0" smtClean="0"/>
          </a:p>
          <a:p>
            <a:pPr lvl="1"/>
            <a:r>
              <a:rPr lang="en-US" dirty="0" smtClean="0"/>
              <a:t>T3 </a:t>
            </a:r>
            <a:endParaRPr lang="en-US" dirty="0" smtClean="0"/>
          </a:p>
          <a:p>
            <a:pPr lvl="1"/>
            <a:r>
              <a:rPr lang="en-US" dirty="0" smtClean="0"/>
              <a:t>T4 </a:t>
            </a:r>
            <a:endParaRPr lang="en-US" dirty="0" smtClean="0"/>
          </a:p>
          <a:p>
            <a:r>
              <a:rPr lang="en-US" dirty="0" smtClean="0"/>
              <a:t>So, </a:t>
            </a:r>
            <a:r>
              <a:rPr lang="en-US" b="1" dirty="0" smtClean="0"/>
              <a:t>Diaper + Beer</a:t>
            </a:r>
            <a:r>
              <a:rPr lang="en-US" dirty="0" smtClean="0"/>
              <a:t> is another frequent </a:t>
            </a:r>
            <a:r>
              <a:rPr lang="en-US" dirty="0" err="1" smtClean="0"/>
              <a:t>itemset</a:t>
            </a:r>
            <a:r>
              <a:rPr lang="en-US" dirty="0" smtClean="0"/>
              <a:t>.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48270" y="603315"/>
            <a:ext cx="5572941" cy="54675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0" y="1282045"/>
            <a:ext cx="5769204" cy="4430598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61435" y="1800519"/>
            <a:ext cx="5976593" cy="39781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858000"/>
          </a:xfrm>
        </p:spPr>
        <p:txBody>
          <a:bodyPr>
            <a:normAutofit/>
          </a:bodyPr>
          <a:lstStyle/>
          <a:p>
            <a:r>
              <a:rPr lang="en-US" b="1" dirty="0" smtClean="0"/>
              <a:t>Business Interpretation</a:t>
            </a:r>
            <a:endParaRPr lang="en-US" b="1" dirty="0" smtClean="0"/>
          </a:p>
          <a:p>
            <a:r>
              <a:rPr lang="en-US" dirty="0" smtClean="0"/>
              <a:t>The supermarket can use this information to:</a:t>
            </a:r>
            <a:endParaRPr lang="en-US" dirty="0" smtClean="0"/>
          </a:p>
          <a:p>
            <a:r>
              <a:rPr lang="en-US" dirty="0" smtClean="0"/>
              <a:t>Place bread and butter near each other Offer combo discounts </a:t>
            </a:r>
            <a:endParaRPr lang="en-US" dirty="0" smtClean="0"/>
          </a:p>
          <a:p>
            <a:r>
              <a:rPr lang="en-US" dirty="0" smtClean="0"/>
              <a:t>Recommend butter when customers buy bread </a:t>
            </a:r>
            <a:endParaRPr lang="en-US" dirty="0" smtClean="0"/>
          </a:p>
          <a:p>
            <a:r>
              <a:rPr lang="en-US" dirty="0" smtClean="0"/>
              <a:t>Increase sales through cross-selling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6155703" y="0"/>
            <a:ext cx="5882326" cy="66930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80604020202020204" pitchFamily="34" charset="0"/>
              </a:rPr>
              <a:t>Real-Life Example</a:t>
            </a:r>
            <a:endParaRPr kumimoji="0" lang="en-US" altLang="en-US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80604020202020204" pitchFamily="34" charset="0"/>
              </a:rPr>
              <a:t>Online shopping websites such as </a:t>
            </a:r>
            <a:r>
              <a:rPr lang="en-US" altLang="en-US" dirty="0">
                <a:latin typeface="Arial" panose="02080604020202020204" pitchFamily="34" charset="0"/>
              </a:rPr>
              <a:t>Amazon use Market Basket Analysis for recommendations like:</a:t>
            </a:r>
            <a:endParaRPr lang="en-US" altLang="en-US" dirty="0">
              <a:latin typeface="Arial" panose="0208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80604020202020204" pitchFamily="34" charset="0"/>
              </a:rPr>
              <a:t>“Customers who bought this product also bought...”</a:t>
            </a:r>
            <a:endParaRPr lang="en-US" altLang="en-US" dirty="0">
              <a:latin typeface="Arial" panose="0208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Frequent </a:t>
            </a:r>
            <a:r>
              <a:rPr lang="en-US" dirty="0" err="1" smtClean="0"/>
              <a:t>Itemsets</a:t>
            </a:r>
            <a:r>
              <a:rPr lang="en-US" dirty="0" smtClean="0"/>
              <a:t> and Closed </a:t>
            </a:r>
            <a:r>
              <a:rPr lang="en-US" dirty="0" err="1" smtClean="0"/>
              <a:t>Itemsets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707150"/>
          </a:xfrm>
        </p:spPr>
        <p:txBody>
          <a:bodyPr>
            <a:normAutofit/>
          </a:bodyPr>
          <a:lstStyle/>
          <a:p>
            <a:r>
              <a:rPr lang="en-US" b="1" dirty="0" smtClean="0"/>
              <a:t>1. Frequent </a:t>
            </a:r>
            <a:r>
              <a:rPr lang="en-US" b="1" dirty="0" err="1" smtClean="0"/>
              <a:t>Itemsets</a:t>
            </a:r>
            <a:endParaRPr lang="en-US" b="1" dirty="0" smtClean="0"/>
          </a:p>
          <a:p>
            <a:r>
              <a:rPr lang="en-US" dirty="0" smtClean="0"/>
              <a:t>A </a:t>
            </a:r>
            <a:r>
              <a:rPr lang="en-US" b="1" dirty="0" smtClean="0"/>
              <a:t>Frequent </a:t>
            </a:r>
            <a:r>
              <a:rPr lang="en-US" b="1" dirty="0" err="1" smtClean="0"/>
              <a:t>Itemset</a:t>
            </a:r>
            <a:r>
              <a:rPr lang="en-US" dirty="0" smtClean="0"/>
              <a:t> is a group of items that appear together in transactions more frequently than a minimum threshold called </a:t>
            </a:r>
            <a:r>
              <a:rPr lang="en-US" b="1" dirty="0" smtClean="0"/>
              <a:t>minimum support</a:t>
            </a:r>
            <a:r>
              <a:rPr lang="en-US" dirty="0" smtClean="0"/>
              <a:t>.</a:t>
            </a:r>
            <a:endParaRPr lang="en-US" dirty="0" smtClean="0"/>
          </a:p>
          <a:p>
            <a:r>
              <a:rPr lang="en-US" dirty="0" smtClean="0"/>
              <a:t>If the occurrence frequency of an </a:t>
            </a:r>
            <a:r>
              <a:rPr lang="en-US" dirty="0" err="1" smtClean="0"/>
              <a:t>itemset</a:t>
            </a:r>
            <a:r>
              <a:rPr lang="en-US" dirty="0" smtClean="0"/>
              <a:t> is greater than or equal to the minimum support value, it is called a </a:t>
            </a:r>
            <a:r>
              <a:rPr lang="en-US" b="1" dirty="0" smtClean="0"/>
              <a:t>frequent </a:t>
            </a:r>
            <a:r>
              <a:rPr lang="en-US" b="1" dirty="0" err="1" smtClean="0"/>
              <a:t>itemset</a:t>
            </a:r>
            <a:r>
              <a:rPr lang="en-US" dirty="0" smtClean="0"/>
              <a:t>.</a:t>
            </a:r>
            <a:endParaRPr lang="en-US" dirty="0" smtClean="0"/>
          </a:p>
          <a:p>
            <a:r>
              <a:rPr lang="en-US" dirty="0" smtClean="0"/>
              <a:t>Suppose minimum support = </a:t>
            </a:r>
            <a:r>
              <a:rPr lang="en-US" b="1" dirty="0" smtClean="0"/>
              <a:t>2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172199" y="1825625"/>
            <a:ext cx="5799841" cy="470714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263951" y="1234911"/>
            <a:ext cx="11928049" cy="4942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548" y="0"/>
            <a:ext cx="5897252" cy="674959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Closed </a:t>
            </a:r>
            <a:r>
              <a:rPr kumimoji="0" lang="en-US" altLang="en-US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Itemsets</a:t>
            </a: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</a:t>
            </a:r>
            <a:r>
              <a:rPr lang="en-US" alt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frequent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which no superset has the same support count</a:t>
            </a: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kumimoji="0" lang="en-US" altLang="en-US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called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 there is no larger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containing it with the same support.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137113" y="424206"/>
            <a:ext cx="6035087" cy="6155703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smtClean="0"/>
              <a:t>Therefore:</a:t>
            </a:r>
            <a:endParaRPr lang="en-US" dirty="0" smtClean="0"/>
          </a:p>
          <a:p>
            <a:r>
              <a:rPr lang="en-US" dirty="0" smtClean="0"/>
              <a:t>Bread is a </a:t>
            </a:r>
            <a:r>
              <a:rPr lang="en-US" b="1" dirty="0" smtClean="0"/>
              <a:t>Closed </a:t>
            </a:r>
            <a:r>
              <a:rPr lang="en-US" b="1" dirty="0" err="1" smtClean="0"/>
              <a:t>Itemset</a:t>
            </a:r>
            <a:r>
              <a:rPr lang="en-US" dirty="0" smtClean="0"/>
              <a:t>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149196" y="895546"/>
            <a:ext cx="11888833" cy="52814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683604"/>
          </a:xfrm>
        </p:spPr>
        <p:txBody>
          <a:bodyPr>
            <a:normAutofit/>
          </a:bodyPr>
          <a:lstStyle/>
          <a:p>
            <a:r>
              <a:rPr lang="en-US" b="1" dirty="0"/>
              <a:t>Association Rules</a:t>
            </a:r>
            <a:endParaRPr lang="en-US" b="1" dirty="0"/>
          </a:p>
          <a:p>
            <a:r>
              <a:rPr lang="en-US" dirty="0"/>
              <a:t>Association rule mining is a data mining technique used to discover interesting relationships, patterns, or associations among items in large databases. 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It </a:t>
            </a:r>
            <a:r>
              <a:rPr lang="en-US" dirty="0"/>
              <a:t>is widely used in market basket analysis, recommendation systems, web usage mining, and business analytics</a:t>
            </a:r>
            <a:r>
              <a:rPr lang="en-US" dirty="0" smtClean="0"/>
              <a:t>.</a:t>
            </a:r>
            <a:endParaRPr lang="en-US" dirty="0" smtClean="0"/>
          </a:p>
          <a:p>
            <a:endParaRPr lang="en-US" dirty="0"/>
          </a:p>
          <a:p>
            <a:r>
              <a:rPr lang="en-US" dirty="0"/>
              <a:t>An association rule is generally written in the form:</a:t>
            </a:r>
            <a:endParaRPr lang="en-US" dirty="0"/>
          </a:p>
          <a:p>
            <a:r>
              <a:rPr lang="en-US" dirty="0"/>
              <a:t>X→</a:t>
            </a:r>
            <a:r>
              <a:rPr lang="en-US" dirty="0" smtClean="0"/>
              <a:t>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199" y="75414"/>
            <a:ext cx="5818695" cy="6693031"/>
          </a:xfrm>
        </p:spPr>
        <p:txBody>
          <a:bodyPr>
            <a:normAutofit/>
          </a:bodyPr>
          <a:lstStyle/>
          <a:p>
            <a:r>
              <a:rPr lang="en-US" dirty="0"/>
              <a:t>where:</a:t>
            </a:r>
            <a:endParaRPr lang="en-US" dirty="0"/>
          </a:p>
          <a:p>
            <a:r>
              <a:rPr lang="en-US" b="1" dirty="0"/>
              <a:t>X</a:t>
            </a:r>
            <a:r>
              <a:rPr lang="en-US" dirty="0"/>
              <a:t> = antecedent (if part) </a:t>
            </a:r>
            <a:endParaRPr lang="en-US" dirty="0"/>
          </a:p>
          <a:p>
            <a:r>
              <a:rPr lang="en-US" b="1" dirty="0"/>
              <a:t>Y</a:t>
            </a:r>
            <a:r>
              <a:rPr lang="en-US" dirty="0"/>
              <a:t> = consequent (then part) </a:t>
            </a:r>
            <a:endParaRPr lang="en-US" dirty="0"/>
          </a:p>
          <a:p>
            <a:r>
              <a:rPr lang="en-US" dirty="0"/>
              <a:t>This means that if item </a:t>
            </a:r>
            <a:r>
              <a:rPr lang="en-US" b="1" dirty="0"/>
              <a:t>X</a:t>
            </a:r>
            <a:r>
              <a:rPr lang="en-US" dirty="0"/>
              <a:t> occurs, item </a:t>
            </a:r>
            <a:r>
              <a:rPr lang="en-US" b="1" dirty="0"/>
              <a:t>Y</a:t>
            </a:r>
            <a:r>
              <a:rPr lang="en-US" dirty="0"/>
              <a:t> is likely to occur as well.</a:t>
            </a:r>
            <a:endParaRPr lang="en-US" dirty="0"/>
          </a:p>
          <a:p>
            <a:r>
              <a:rPr lang="en-US" dirty="0"/>
              <a:t>Example</a:t>
            </a:r>
            <a:r>
              <a:rPr lang="en-US" dirty="0" smtClean="0"/>
              <a:t>:</a:t>
            </a:r>
            <a:endParaRPr lang="en-US" dirty="0" smtClean="0"/>
          </a:p>
          <a:p>
            <a:r>
              <a:rPr lang="en-US" dirty="0" smtClean="0"/>
              <a:t>Bread → Butter</a:t>
            </a:r>
            <a:endParaRPr lang="en-US" dirty="0"/>
          </a:p>
          <a:p>
            <a:r>
              <a:rPr lang="en-US" dirty="0" smtClean="0"/>
              <a:t>It </a:t>
            </a:r>
            <a:r>
              <a:rPr lang="en-US" dirty="0"/>
              <a:t>means customers who buy bread also tend to buy butter</a:t>
            </a:r>
            <a:r>
              <a:rPr lang="en-US" dirty="0" smtClean="0"/>
              <a:t>.</a:t>
            </a:r>
            <a:endParaRPr lang="en-US" dirty="0" smtClean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179109" y="358218"/>
            <a:ext cx="11840066" cy="583519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5414"/>
            <a:ext cx="12192000" cy="848414"/>
          </a:xfrm>
        </p:spPr>
        <p:txBody>
          <a:bodyPr>
            <a:normAutofit/>
          </a:bodyPr>
          <a:lstStyle/>
          <a:p>
            <a:r>
              <a:rPr lang="en-US" dirty="0"/>
              <a:t>Types of Association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548" y="1027522"/>
            <a:ext cx="5897252" cy="5722070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1. Single Dimensional Association Rule</a:t>
            </a:r>
            <a:endParaRPr lang="en-US" b="1" dirty="0"/>
          </a:p>
          <a:p>
            <a:r>
              <a:rPr lang="en-US" dirty="0"/>
              <a:t>A single-dimensional association rule contains only one predicate or dimension.</a:t>
            </a:r>
            <a:endParaRPr lang="en-US" dirty="0"/>
          </a:p>
          <a:p>
            <a:r>
              <a:rPr lang="en-US" b="1" dirty="0" smtClean="0"/>
              <a:t>Example</a:t>
            </a:r>
            <a:endParaRPr lang="en-US" b="1" dirty="0" smtClean="0"/>
          </a:p>
          <a:p>
            <a:r>
              <a:rPr lang="en-US" dirty="0" smtClean="0"/>
              <a:t>buys(</a:t>
            </a:r>
            <a:r>
              <a:rPr lang="en-US" dirty="0" err="1" smtClean="0"/>
              <a:t>X</a:t>
            </a:r>
            <a:r>
              <a:rPr lang="en-US" dirty="0" err="1"/>
              <a:t>,"Laptop</a:t>
            </a:r>
            <a:r>
              <a:rPr lang="en-US" dirty="0"/>
              <a:t>")→buys(</a:t>
            </a:r>
            <a:r>
              <a:rPr lang="en-US" dirty="0" err="1"/>
              <a:t>X,"Mouse</a:t>
            </a:r>
            <a:r>
              <a:rPr lang="en-US" dirty="0"/>
              <a:t>")</a:t>
            </a:r>
            <a:endParaRPr lang="en-US" b="1" dirty="0"/>
          </a:p>
          <a:p>
            <a:r>
              <a:rPr lang="en-US" dirty="0" smtClean="0"/>
              <a:t>This </a:t>
            </a:r>
            <a:r>
              <a:rPr lang="en-US" dirty="0"/>
              <a:t>rule only considers the </a:t>
            </a:r>
            <a:r>
              <a:rPr lang="en-US" b="1" dirty="0"/>
              <a:t>buying dimension</a:t>
            </a:r>
            <a:r>
              <a:rPr lang="en-US" dirty="0"/>
              <a:t>.</a:t>
            </a:r>
            <a:endParaRPr lang="en-US" dirty="0"/>
          </a:p>
          <a:p>
            <a:r>
              <a:rPr lang="en-US" b="1" dirty="0"/>
              <a:t>Characteristics</a:t>
            </a:r>
            <a:endParaRPr lang="en-US" b="1" dirty="0"/>
          </a:p>
          <a:p>
            <a:r>
              <a:rPr lang="en-US" dirty="0"/>
              <a:t>Uses one type of relationship </a:t>
            </a:r>
            <a:endParaRPr lang="en-US" dirty="0"/>
          </a:p>
          <a:p>
            <a:r>
              <a:rPr lang="en-US" dirty="0"/>
              <a:t>Simple and easy to analyze </a:t>
            </a:r>
            <a:endParaRPr lang="en-US" dirty="0"/>
          </a:p>
          <a:p>
            <a:r>
              <a:rPr lang="en-US" dirty="0"/>
              <a:t>Mostly used in market basket analysis </a:t>
            </a:r>
            <a:endParaRPr lang="en-US" dirty="0"/>
          </a:p>
          <a:p>
            <a:r>
              <a:rPr lang="en-US" b="1" dirty="0"/>
              <a:t>Applications</a:t>
            </a:r>
            <a:endParaRPr lang="en-US" b="1" dirty="0"/>
          </a:p>
          <a:p>
            <a:r>
              <a:rPr lang="en-US" dirty="0"/>
              <a:t>Supermarket sales analysis </a:t>
            </a:r>
            <a:endParaRPr lang="en-US" dirty="0"/>
          </a:p>
          <a:p>
            <a:r>
              <a:rPr lang="en-US" dirty="0"/>
              <a:t>Product recommendation systems</a:t>
            </a:r>
            <a:endParaRPr lang="en-US" dirty="0"/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5130" y="923828"/>
            <a:ext cx="5957740" cy="5731496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2. Multidimensional Association Rule</a:t>
            </a:r>
            <a:endParaRPr lang="en-US" b="1" dirty="0"/>
          </a:p>
          <a:p>
            <a:r>
              <a:rPr lang="en-US" dirty="0"/>
              <a:t>A multidimensional association rule involves two or more dimensions or predicates.</a:t>
            </a:r>
            <a:endParaRPr lang="en-US" dirty="0"/>
          </a:p>
          <a:p>
            <a:r>
              <a:rPr lang="en-US" b="1" dirty="0" smtClean="0"/>
              <a:t>Example</a:t>
            </a:r>
            <a:endParaRPr lang="en-US" b="1" dirty="0" smtClean="0"/>
          </a:p>
          <a:p>
            <a:r>
              <a:rPr lang="en-US" dirty="0"/>
              <a:t>Age(20−30)∧Occupation(Student)→buys(Laptop)</a:t>
            </a:r>
            <a:endParaRPr lang="en-US" b="1" dirty="0"/>
          </a:p>
          <a:p>
            <a:r>
              <a:rPr lang="en-US" dirty="0"/>
              <a:t>This rule includes:</a:t>
            </a:r>
            <a:endParaRPr lang="en-US" dirty="0"/>
          </a:p>
          <a:p>
            <a:r>
              <a:rPr lang="en-US" dirty="0"/>
              <a:t>Age dimension </a:t>
            </a:r>
            <a:endParaRPr lang="en-US" dirty="0"/>
          </a:p>
          <a:p>
            <a:r>
              <a:rPr lang="en-US" dirty="0"/>
              <a:t>Occupation dimension </a:t>
            </a:r>
            <a:endParaRPr lang="en-US" dirty="0"/>
          </a:p>
          <a:p>
            <a:r>
              <a:rPr lang="en-US" dirty="0"/>
              <a:t>Buying behavior</a:t>
            </a:r>
            <a:endParaRPr lang="en-US" dirty="0"/>
          </a:p>
          <a:p>
            <a:r>
              <a:rPr lang="en-US" b="1" dirty="0" smtClean="0"/>
              <a:t>Characteristics</a:t>
            </a:r>
            <a:endParaRPr lang="en-US" b="1" dirty="0"/>
          </a:p>
          <a:p>
            <a:r>
              <a:rPr lang="en-US" dirty="0"/>
              <a:t>Uses multiple attributes </a:t>
            </a:r>
            <a:endParaRPr lang="en-US" dirty="0"/>
          </a:p>
          <a:p>
            <a:r>
              <a:rPr lang="en-US" dirty="0"/>
              <a:t>More informative than single-dimensional rules </a:t>
            </a:r>
            <a:endParaRPr lang="en-US" dirty="0"/>
          </a:p>
          <a:p>
            <a:r>
              <a:rPr lang="en-US" dirty="0"/>
              <a:t>Helps in customer segmentation </a:t>
            </a:r>
            <a:endParaRPr lang="en-US" dirty="0"/>
          </a:p>
          <a:p>
            <a:r>
              <a:rPr lang="en-US" b="1" dirty="0"/>
              <a:t>Applications</a:t>
            </a:r>
            <a:endParaRPr lang="en-US" b="1" dirty="0"/>
          </a:p>
          <a:p>
            <a:r>
              <a:rPr lang="en-US" dirty="0"/>
              <a:t>Customer profiling </a:t>
            </a:r>
            <a:endParaRPr lang="en-US" dirty="0"/>
          </a:p>
          <a:p>
            <a:r>
              <a:rPr lang="en-US" dirty="0"/>
              <a:t>Business intelligence </a:t>
            </a:r>
            <a:endParaRPr lang="en-US" dirty="0"/>
          </a:p>
          <a:p>
            <a:r>
              <a:rPr lang="en-US" dirty="0"/>
              <a:t>Decision support systems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4386</Words>
  <Application>WPS Presentation</Application>
  <PresentationFormat>Widescreen</PresentationFormat>
  <Paragraphs>161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Arial</vt:lpstr>
      <vt:lpstr>SimSun</vt:lpstr>
      <vt:lpstr>Wingdings</vt:lpstr>
      <vt:lpstr>DejaVu Sans</vt:lpstr>
      <vt:lpstr>Calibri Light</vt:lpstr>
      <vt:lpstr>Calibri</vt:lpstr>
      <vt:lpstr>Microsoft YaHei</vt:lpstr>
      <vt:lpstr>Droid Sans Fallback</vt:lpstr>
      <vt:lpstr>Arial Unicode MS</vt:lpstr>
      <vt:lpstr>Times New Roman</vt:lpstr>
      <vt:lpstr>Office Theme</vt:lpstr>
      <vt:lpstr>PowerPoint 演示文稿</vt:lpstr>
      <vt:lpstr>Market Basket Analysis in Data Mining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Frequent Itemsets and Closed Itemsets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Types of Association Rules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mrrv</cp:lastModifiedBy>
  <cp:revision>12</cp:revision>
  <dcterms:created xsi:type="dcterms:W3CDTF">2026-06-12T01:16:47Z</dcterms:created>
  <dcterms:modified xsi:type="dcterms:W3CDTF">2026-06-12T01:16:47Z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