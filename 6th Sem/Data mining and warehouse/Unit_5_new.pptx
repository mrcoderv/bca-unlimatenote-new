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8" d="100"/>
          <a:sy n="68" d="100"/>
        </p:scale>
        <p:origin x="616" y="4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581525-7308-09B0-9B77-DE7E5392F1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8B09AF-77FF-DA71-AA1D-6CD6785B97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4F1BD3-D0C0-9220-53DC-C0F50349AD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52231-AD66-8E90-0ECD-598922D9BF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B952C0-B358-298E-C2E7-4E2C311293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64AE77-EFB9-1E0F-6F2C-3E61614AB5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546AA2-7FB8-FDF6-011A-02B963C3C0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23DFD7-4C6C-CB63-6F00-C3E24565AB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DFE228-72D3-B333-809F-107261DD0B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361FD8-095C-5761-DE95-F8D9FD72E8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E02C74-010E-9D75-17F9-82D8D17752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603B2-B94A-7EF8-F8C4-2CC4090425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C3EEA8-ABCF-44B7-3129-72A51D7DA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A7D806-4E2C-2AC6-5FD0-136C758F8B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E4B45C-F437-CADB-1D57-10F3DE5DF6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C2907D-6266-F417-F2B5-1331020EAA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20AF8A-751A-62C6-BF38-1869990829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4AE7D-E281-2AB6-6FA2-F1A7F250B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585A92-2135-4C04-694D-8895D6B338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42078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18769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026927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14074811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03561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8497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87269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1479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15852635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8091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3454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41285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1318876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19173938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41392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295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36915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80597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26248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3281683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41617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85142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07067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6004462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26529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3440027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71872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15542716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77141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0317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358907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10562563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87461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1560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96030677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154050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438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694678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43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8315495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1754374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08369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0872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940202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818060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5806555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8187605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47987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6534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336988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45595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3813848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66913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36495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45524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78505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19684876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939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57303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38903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755225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867743-95B3-4C68-AD86-AECB47900815}" type="datetimeFigureOut">
              <a:rPr lang="en-US"/>
              <a:t/>
            </a:fld>
            <a:endParaRPr lang="en-US"/>
          </a:p>
        </p:txBody>
      </p:sp>
      <p:sp>
        <p:nvSpPr>
          <p:cNvPr id="209855026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027200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233FBF5-F569-4CE1-9AFD-EF5EEDD8FE3A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74276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Unit 5</a:t>
            </a:r>
            <a:endParaRPr lang="en-US"/>
          </a:p>
        </p:txBody>
      </p:sp>
      <p:sp>
        <p:nvSpPr>
          <p:cNvPr id="80943892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8705863" name="Text Box 3"/>
          <p:cNvSpPr txBox="1"/>
          <p:nvPr/>
        </p:nvSpPr>
        <p:spPr bwMode="auto">
          <a:xfrm>
            <a:off x="677545" y="19881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8836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Market Basket Analysis in Data Mining</a:t>
            </a:r>
            <a:br>
              <a:rPr lang="en-US" b="1"/>
            </a:br>
            <a:endParaRPr lang="en-US"/>
          </a:p>
        </p:txBody>
      </p:sp>
      <p:sp>
        <p:nvSpPr>
          <p:cNvPr id="1068340667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Market Basket Analysis is the process of discovering associations or patterns among items bought together by customers. It is mainly based on </a:t>
            </a:r>
            <a:r>
              <a:rPr lang="en-US" b="1"/>
              <a:t>Association Rule Mining</a:t>
            </a:r>
            <a:r>
              <a:rPr lang="en-US"/>
              <a:t> techniques in data mining.</a:t>
            </a:r>
            <a:endParaRPr lang="en-US"/>
          </a:p>
          <a:p>
            <a:pPr>
              <a:defRPr/>
            </a:pPr>
            <a:r>
              <a:rPr lang="en-US" b="1"/>
              <a:t>Example</a:t>
            </a:r>
            <a:endParaRPr lang="en-US" b="1"/>
          </a:p>
          <a:p>
            <a:pPr>
              <a:defRPr/>
            </a:pPr>
            <a:r>
              <a:rPr lang="en-US"/>
              <a:t>If customers frequently buy:</a:t>
            </a:r>
            <a:endParaRPr lang="en-US"/>
          </a:p>
          <a:p>
            <a:pPr>
              <a:defRPr/>
            </a:pPr>
            <a:r>
              <a:rPr lang="en-US"/>
              <a:t>Bread + Butter </a:t>
            </a:r>
            <a:endParaRPr lang="en-US"/>
          </a:p>
          <a:p>
            <a:pPr>
              <a:defRPr/>
            </a:pPr>
            <a:r>
              <a:rPr lang="en-US"/>
              <a:t>Milk + Bread </a:t>
            </a:r>
            <a:endParaRPr lang="en-US"/>
          </a:p>
          <a:p>
            <a:pPr>
              <a:defRPr/>
            </a:pPr>
            <a:r>
              <a:rPr lang="en-US"/>
              <a:t>then the store may place these products nearby or provide combo offers.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643814" name="Content Placeholder 2"/>
          <p:cNvSpPr>
            <a:spLocks noGrp="1"/>
          </p:cNvSpPr>
          <p:nvPr>
            <p:ph idx="1"/>
          </p:nvPr>
        </p:nvSpPr>
        <p:spPr bwMode="auto">
          <a:xfrm>
            <a:off x="188536" y="452486"/>
            <a:ext cx="11764652" cy="6231117"/>
          </a:xfrm>
        </p:spPr>
        <p:txBody>
          <a:bodyPr/>
          <a:lstStyle/>
          <a:p>
            <a:pPr>
              <a:defRPr/>
            </a:pPr>
            <a:r>
              <a:rPr lang="en-US" b="1"/>
              <a:t>Objectives of Market Basket Analysis</a:t>
            </a:r>
            <a:endParaRPr lang="en-US" b="1"/>
          </a:p>
          <a:p>
            <a:pPr>
              <a:defRPr/>
            </a:pPr>
            <a:r>
              <a:rPr lang="en-US"/>
              <a:t>Identify customer purchasing patterns </a:t>
            </a:r>
            <a:endParaRPr lang="en-US"/>
          </a:p>
          <a:p>
            <a:pPr>
              <a:defRPr/>
            </a:pPr>
            <a:r>
              <a:rPr lang="en-US"/>
              <a:t>Improve product placement </a:t>
            </a:r>
            <a:endParaRPr lang="en-US"/>
          </a:p>
          <a:p>
            <a:pPr>
              <a:defRPr/>
            </a:pPr>
            <a:r>
              <a:rPr lang="en-US"/>
              <a:t>Increase cross-selling opportunities </a:t>
            </a:r>
            <a:endParaRPr lang="en-US"/>
          </a:p>
          <a:p>
            <a:pPr>
              <a:defRPr/>
            </a:pPr>
            <a:r>
              <a:rPr lang="en-US"/>
              <a:t>Enhance customer satisfaction </a:t>
            </a:r>
            <a:endParaRPr lang="en-US"/>
          </a:p>
          <a:p>
            <a:pPr>
              <a:defRPr/>
            </a:pPr>
            <a:r>
              <a:rPr lang="en-US"/>
              <a:t>Boost sales and profit </a:t>
            </a:r>
            <a:endParaRPr lang="en-US"/>
          </a:p>
          <a:p>
            <a:pPr>
              <a:defRPr/>
            </a:pPr>
            <a:r>
              <a:rPr lang="en-US"/>
              <a:t>Design promotional offers and discounts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384390" name="Content Placeholder 2"/>
          <p:cNvSpPr>
            <a:spLocks noGrp="1"/>
          </p:cNvSpPr>
          <p:nvPr>
            <p:ph idx="1"/>
          </p:nvPr>
        </p:nvSpPr>
        <p:spPr bwMode="auto">
          <a:xfrm>
            <a:off x="245097" y="527901"/>
            <a:ext cx="11811785" cy="6004874"/>
          </a:xfrm>
        </p:spPr>
        <p:txBody>
          <a:bodyPr/>
          <a:lstStyle/>
          <a:p>
            <a:pPr>
              <a:defRPr/>
            </a:pPr>
            <a:r>
              <a:rPr lang="en-US" b="1"/>
              <a:t>Working Principle</a:t>
            </a:r>
            <a:endParaRPr lang="en-US" b="1"/>
          </a:p>
          <a:p>
            <a:pPr>
              <a:defRPr/>
            </a:pPr>
            <a:r>
              <a:rPr lang="en-US"/>
              <a:t>The analysis studies transaction data collected from customer purchases. It identifies:</a:t>
            </a:r>
            <a:endParaRPr lang="en-US"/>
          </a:p>
          <a:p>
            <a:pPr>
              <a:defRPr/>
            </a:pPr>
            <a:r>
              <a:rPr lang="en-US" b="1"/>
              <a:t>Frequent </a:t>
            </a:r>
            <a:r>
              <a:rPr lang="en-US" b="1"/>
              <a:t>itemsets</a:t>
            </a:r>
            <a:r>
              <a:rPr lang="en-US"/>
              <a:t> → items often purchased together </a:t>
            </a:r>
            <a:endParaRPr lang="en-US"/>
          </a:p>
          <a:p>
            <a:pPr>
              <a:defRPr/>
            </a:pPr>
            <a:r>
              <a:rPr lang="en-US" b="1"/>
              <a:t>Association rules</a:t>
            </a:r>
            <a:r>
              <a:rPr lang="en-US"/>
              <a:t> → relationships among products 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391793" name="Content Placeholder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744717" y="471340"/>
            <a:ext cx="10727703" cy="5882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154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0" y="0"/>
            <a:ext cx="6019800" cy="676844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/>
              <a:t>Applications of Market Basket Analysis</a:t>
            </a:r>
            <a:endParaRPr lang="en-US" b="1"/>
          </a:p>
          <a:p>
            <a:pPr marL="0" indent="0">
              <a:buNone/>
              <a:defRPr/>
            </a:pPr>
            <a:r>
              <a:rPr lang="en-US" b="1"/>
              <a:t>1. Sales and Marketing</a:t>
            </a:r>
            <a:endParaRPr lang="en-US" b="1"/>
          </a:p>
          <a:p>
            <a:pPr>
              <a:defRPr/>
            </a:pPr>
            <a:r>
              <a:rPr lang="en-US"/>
              <a:t>Improves customer service </a:t>
            </a:r>
            <a:endParaRPr lang="en-US"/>
          </a:p>
          <a:p>
            <a:pPr>
              <a:defRPr/>
            </a:pPr>
            <a:r>
              <a:rPr lang="en-US"/>
              <a:t>Helps in cross-selling products </a:t>
            </a:r>
            <a:endParaRPr lang="en-US"/>
          </a:p>
          <a:p>
            <a:pPr>
              <a:defRPr/>
            </a:pPr>
            <a:r>
              <a:rPr lang="en-US"/>
              <a:t>Increases response rates in promotions and direct marketing </a:t>
            </a:r>
            <a:endParaRPr lang="en-US"/>
          </a:p>
          <a:p>
            <a:pPr marL="0" indent="0">
              <a:buNone/>
              <a:defRPr/>
            </a:pPr>
            <a:r>
              <a:rPr lang="en-US" b="1"/>
              <a:t>2. Customer Retention</a:t>
            </a:r>
            <a:endParaRPr lang="en-US" b="1"/>
          </a:p>
          <a:p>
            <a:pPr>
              <a:defRPr/>
            </a:pPr>
            <a:r>
              <a:rPr lang="en-US"/>
              <a:t>Identifies customer behavior patterns </a:t>
            </a:r>
            <a:endParaRPr lang="en-US"/>
          </a:p>
          <a:p>
            <a:pPr>
              <a:defRPr/>
            </a:pPr>
            <a:r>
              <a:rPr lang="en-US"/>
              <a:t>Predicts possible customer defections </a:t>
            </a:r>
            <a:endParaRPr lang="en-US"/>
          </a:p>
          <a:p>
            <a:pPr>
              <a:defRPr/>
            </a:pPr>
            <a:r>
              <a:rPr lang="en-US"/>
              <a:t>Helps companies maintain loyal customers </a:t>
            </a:r>
            <a:endParaRPr lang="en-US"/>
          </a:p>
        </p:txBody>
      </p:sp>
      <p:sp>
        <p:nvSpPr>
          <p:cNvPr id="544404908" name="Content Placeholder 4"/>
          <p:cNvSpPr>
            <a:spLocks noGrp="1"/>
          </p:cNvSpPr>
          <p:nvPr>
            <p:ph sz="half" idx="2"/>
          </p:nvPr>
        </p:nvSpPr>
        <p:spPr bwMode="auto">
          <a:xfrm>
            <a:off x="6268823" y="0"/>
            <a:ext cx="5923176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b="1"/>
              <a:t>3. Risk Assessment and Fraud Detection</a:t>
            </a:r>
            <a:endParaRPr lang="en-US" b="1"/>
          </a:p>
          <a:p>
            <a:pPr>
              <a:defRPr/>
            </a:pPr>
            <a:r>
              <a:rPr lang="en-US"/>
              <a:t>Detects unusual purchasing behavior </a:t>
            </a:r>
            <a:endParaRPr lang="en-US"/>
          </a:p>
          <a:p>
            <a:pPr>
              <a:defRPr/>
            </a:pPr>
            <a:r>
              <a:rPr lang="en-US"/>
              <a:t>Identifies fraudulent activities </a:t>
            </a:r>
            <a:endParaRPr lang="en-US"/>
          </a:p>
          <a:p>
            <a:pPr>
              <a:defRPr/>
            </a:pPr>
            <a:r>
              <a:rPr lang="en-US"/>
              <a:t>Helps in security and monitoring systems </a:t>
            </a:r>
            <a:endParaRPr lang="en-US"/>
          </a:p>
          <a:p>
            <a:pPr marL="0" indent="0">
              <a:buNone/>
              <a:defRPr/>
            </a:pPr>
            <a:r>
              <a:rPr lang="en-US" b="1"/>
              <a:t>4. Store Layout Design</a:t>
            </a:r>
            <a:endParaRPr lang="en-US" b="1"/>
          </a:p>
          <a:p>
            <a:pPr>
              <a:defRPr/>
            </a:pPr>
            <a:r>
              <a:rPr lang="en-US"/>
              <a:t>Products frequently bought together are placed nearby </a:t>
            </a:r>
            <a:endParaRPr lang="en-US"/>
          </a:p>
          <a:p>
            <a:pPr>
              <a:defRPr/>
            </a:pPr>
            <a:r>
              <a:rPr lang="en-US"/>
              <a:t>Improves shopping convenience </a:t>
            </a:r>
            <a:endParaRPr lang="en-US"/>
          </a:p>
          <a:p>
            <a:pPr marL="0" indent="0">
              <a:buNone/>
              <a:defRPr/>
            </a:pPr>
            <a:r>
              <a:rPr lang="en-US" b="1"/>
              <a:t>5. Recommendation Systems</a:t>
            </a:r>
            <a:endParaRPr lang="en-US" b="1"/>
          </a:p>
          <a:p>
            <a:pPr>
              <a:defRPr/>
            </a:pPr>
            <a:r>
              <a:rPr lang="en-US"/>
              <a:t>Used in online shopping platforms such as:</a:t>
            </a:r>
            <a:endParaRPr lang="en-US"/>
          </a:p>
          <a:p>
            <a:pPr>
              <a:defRPr/>
            </a:pPr>
            <a:r>
              <a:rPr lang="en-US"/>
              <a:t>“Customers who bought this also bought…”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28428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0" y="0"/>
            <a:ext cx="6019800" cy="6702458"/>
          </a:xfrm>
        </p:spPr>
        <p:txBody>
          <a:bodyPr/>
          <a:lstStyle/>
          <a:p>
            <a:pPr>
              <a:defRPr/>
            </a:pPr>
            <a:r>
              <a:rPr lang="en-US" b="1"/>
              <a:t>Advantages</a:t>
            </a:r>
            <a:endParaRPr lang="en-US" b="1"/>
          </a:p>
          <a:p>
            <a:pPr>
              <a:defRPr/>
            </a:pPr>
            <a:r>
              <a:rPr lang="en-US"/>
              <a:t>Increases sales and revenue </a:t>
            </a:r>
            <a:endParaRPr lang="en-US"/>
          </a:p>
          <a:p>
            <a:pPr>
              <a:defRPr/>
            </a:pPr>
            <a:r>
              <a:rPr lang="en-US"/>
              <a:t>Improves customer satisfaction </a:t>
            </a:r>
            <a:endParaRPr lang="en-US"/>
          </a:p>
          <a:p>
            <a:pPr>
              <a:defRPr/>
            </a:pPr>
            <a:r>
              <a:rPr lang="en-US"/>
              <a:t>Supports better decision-making </a:t>
            </a:r>
            <a:endParaRPr lang="en-US"/>
          </a:p>
          <a:p>
            <a:pPr>
              <a:defRPr/>
            </a:pPr>
            <a:r>
              <a:rPr lang="en-US"/>
              <a:t>Helps in targeted marketing </a:t>
            </a:r>
            <a:endParaRPr lang="en-US"/>
          </a:p>
          <a:p>
            <a:pPr>
              <a:defRPr/>
            </a:pPr>
            <a:r>
              <a:rPr lang="en-US"/>
              <a:t>Easy to implement with transaction data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5642701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87678" y="0"/>
            <a:ext cx="5806912" cy="6702458"/>
          </a:xfrm>
        </p:spPr>
        <p:txBody>
          <a:bodyPr/>
          <a:lstStyle/>
          <a:p>
            <a:pPr>
              <a:defRPr/>
            </a:pPr>
            <a:r>
              <a:rPr lang="en-US" b="1"/>
              <a:t>Limitations</a:t>
            </a:r>
            <a:endParaRPr lang="en-US" b="1"/>
          </a:p>
          <a:p>
            <a:pPr>
              <a:defRPr/>
            </a:pPr>
            <a:r>
              <a:rPr lang="en-US"/>
              <a:t>Requires large amounts of data </a:t>
            </a:r>
            <a:endParaRPr lang="en-US"/>
          </a:p>
          <a:p>
            <a:pPr>
              <a:defRPr/>
            </a:pPr>
            <a:r>
              <a:rPr lang="en-US"/>
              <a:t>Patterns may change over time </a:t>
            </a:r>
            <a:endParaRPr lang="en-US"/>
          </a:p>
          <a:p>
            <a:pPr>
              <a:defRPr/>
            </a:pPr>
            <a:r>
              <a:rPr lang="en-US"/>
              <a:t>Rare item combinations may be ignored </a:t>
            </a:r>
            <a:endParaRPr lang="en-US"/>
          </a:p>
          <a:p>
            <a:pPr>
              <a:defRPr/>
            </a:pPr>
            <a:r>
              <a:rPr lang="en-US"/>
              <a:t>Incorrect analysis may lead to poor business decisions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4074116" name="Content Placeholder 8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-1"/>
            <a:ext cx="12191999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5488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b="1"/>
              <a:t>Step 1: Identify Frequent </a:t>
            </a:r>
            <a:r>
              <a:rPr lang="en-US" b="1"/>
              <a:t>Itemsets</a:t>
            </a:r>
            <a:endParaRPr lang="en-US" b="1"/>
          </a:p>
          <a:p>
            <a:pPr>
              <a:defRPr/>
            </a:pPr>
            <a:r>
              <a:rPr lang="en-US"/>
              <a:t>From the transactions, we observe:</a:t>
            </a:r>
            <a:endParaRPr lang="en-US"/>
          </a:p>
          <a:p>
            <a:pPr>
              <a:defRPr/>
            </a:pPr>
            <a:r>
              <a:rPr lang="en-US"/>
              <a:t>Bread and Butter appear together in: </a:t>
            </a:r>
            <a:endParaRPr lang="en-US"/>
          </a:p>
          <a:p>
            <a:pPr lvl="1">
              <a:defRPr/>
            </a:pPr>
            <a:r>
              <a:rPr lang="en-US"/>
              <a:t>T1 </a:t>
            </a:r>
            <a:endParaRPr lang="en-US"/>
          </a:p>
          <a:p>
            <a:pPr lvl="1">
              <a:defRPr/>
            </a:pPr>
            <a:r>
              <a:rPr lang="en-US"/>
              <a:t>T4 </a:t>
            </a:r>
            <a:endParaRPr lang="en-US"/>
          </a:p>
          <a:p>
            <a:pPr lvl="1">
              <a:defRPr/>
            </a:pPr>
            <a:r>
              <a:rPr lang="en-US"/>
              <a:t>T5 </a:t>
            </a:r>
            <a:endParaRPr lang="en-US"/>
          </a:p>
          <a:p>
            <a:pPr>
              <a:defRPr/>
            </a:pPr>
            <a:r>
              <a:rPr lang="en-US"/>
              <a:t>So, </a:t>
            </a:r>
            <a:r>
              <a:rPr lang="en-US" b="1"/>
              <a:t>Bread + Butter</a:t>
            </a:r>
            <a:r>
              <a:rPr lang="en-US"/>
              <a:t> is a frequent </a:t>
            </a:r>
            <a:r>
              <a:rPr lang="en-US"/>
              <a:t>itemset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r>
              <a:rPr lang="en-US"/>
              <a:t>Diaper and Beer appear together in: </a:t>
            </a:r>
            <a:endParaRPr lang="en-US"/>
          </a:p>
          <a:p>
            <a:pPr lvl="1">
              <a:defRPr/>
            </a:pPr>
            <a:r>
              <a:rPr lang="en-US"/>
              <a:t>T2 </a:t>
            </a:r>
            <a:endParaRPr lang="en-US"/>
          </a:p>
          <a:p>
            <a:pPr lvl="1">
              <a:defRPr/>
            </a:pPr>
            <a:r>
              <a:rPr lang="en-US"/>
              <a:t>T3 </a:t>
            </a:r>
            <a:endParaRPr lang="en-US"/>
          </a:p>
          <a:p>
            <a:pPr lvl="1">
              <a:defRPr/>
            </a:pPr>
            <a:r>
              <a:rPr lang="en-US"/>
              <a:t>T4 </a:t>
            </a:r>
            <a:endParaRPr lang="en-US"/>
          </a:p>
          <a:p>
            <a:pPr>
              <a:defRPr/>
            </a:pPr>
            <a:r>
              <a:rPr lang="en-US"/>
              <a:t>So, </a:t>
            </a:r>
            <a:r>
              <a:rPr lang="en-US" b="1"/>
              <a:t>Diaper + Beer</a:t>
            </a:r>
            <a:r>
              <a:rPr lang="en-US"/>
              <a:t> is another frequent </a:t>
            </a:r>
            <a:r>
              <a:rPr lang="en-US"/>
              <a:t>itemset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409772651" name="Content Placeholder 4"/>
          <p:cNvPicPr>
            <a:picLocks noChangeAspect="1" noGrp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>
            <a:off x="6248270" y="603315"/>
            <a:ext cx="5572941" cy="5467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0274221" name="Content Placeholder 4"/>
          <p:cNvPicPr>
            <a:picLocks noChangeAspect="1" noGrp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>
            <a:off x="0" y="1282045"/>
            <a:ext cx="5769204" cy="4430598"/>
          </a:xfrm>
          <a:prstGeom prst="rect">
            <a:avLst/>
          </a:prstGeom>
        </p:spPr>
      </p:pic>
      <p:pic>
        <p:nvPicPr>
          <p:cNvPr id="1687290916" name="Content Placeholder 5"/>
          <p:cNvPicPr>
            <a:picLocks noChangeAspect="1" noGrp="1"/>
          </p:cNvPicPr>
          <p:nvPr>
            <p:ph sz="half" idx="2"/>
          </p:nvPr>
        </p:nvPicPr>
        <p:blipFill rotWithShape="1">
          <a:blip r:embed="rId4"/>
          <a:stretch/>
        </p:blipFill>
        <p:spPr bwMode="auto">
          <a:xfrm>
            <a:off x="6061435" y="1800519"/>
            <a:ext cx="5976593" cy="39781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417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Business Interpretation</a:t>
            </a:r>
            <a:endParaRPr lang="en-US" b="1"/>
          </a:p>
          <a:p>
            <a:pPr>
              <a:defRPr/>
            </a:pPr>
            <a:r>
              <a:rPr lang="en-US"/>
              <a:t>The supermarket can use this information to:</a:t>
            </a:r>
            <a:endParaRPr lang="en-US"/>
          </a:p>
          <a:p>
            <a:pPr>
              <a:defRPr/>
            </a:pPr>
            <a:r>
              <a:rPr lang="en-US"/>
              <a:t>Place bread and butter near each other Offer combo discounts </a:t>
            </a:r>
            <a:endParaRPr lang="en-US"/>
          </a:p>
          <a:p>
            <a:pPr>
              <a:defRPr/>
            </a:pPr>
            <a:r>
              <a:rPr lang="en-US"/>
              <a:t>Recommend butter when customers buy bread </a:t>
            </a:r>
            <a:endParaRPr lang="en-US"/>
          </a:p>
          <a:p>
            <a:pPr>
              <a:defRPr/>
            </a:pPr>
            <a:r>
              <a:rPr lang="en-US"/>
              <a:t>Increase sales through cross-selling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56493218" name="Content Placeholder 6"/>
          <p:cNvSpPr>
            <a:spLocks noGrp="1"/>
          </p:cNvSpPr>
          <p:nvPr>
            <p:ph sz="half" idx="2"/>
          </p:nvPr>
        </p:nvSpPr>
        <p:spPr bwMode="auto">
          <a:xfrm>
            <a:off x="6155703" y="0"/>
            <a:ext cx="5882326" cy="6693030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Real-Life Example</a:t>
            </a:r>
            <a:endParaRPr lang="en-US" sz="2400" b="1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Online shopping websites such as </a:t>
            </a:r>
            <a:r>
              <a:rPr lang="en-US">
                <a:latin typeface="Arial"/>
              </a:rPr>
              <a:t>Amazon use Market Basket Analysis for recommendations like:</a:t>
            </a:r>
            <a:endParaRPr lang="en-US">
              <a:latin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Arial"/>
              </a:rPr>
              <a:t>“Customers who bought this product also bought...”</a:t>
            </a:r>
            <a:endParaRPr lang="en-US">
              <a:latin typeface="Arial"/>
            </a:endParaRP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5110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Frequent </a:t>
            </a:r>
            <a:r>
              <a:rPr lang="en-US"/>
              <a:t>Itemsets</a:t>
            </a:r>
            <a:r>
              <a:rPr lang="en-US"/>
              <a:t> and Closed </a:t>
            </a:r>
            <a:r>
              <a:rPr lang="en-US"/>
              <a:t>Itemsets</a:t>
            </a:r>
            <a:endParaRPr lang="en-US"/>
          </a:p>
        </p:txBody>
      </p:sp>
      <p:sp>
        <p:nvSpPr>
          <p:cNvPr id="6194912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0" y="1825625"/>
            <a:ext cx="6019800" cy="47071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1. Frequent </a:t>
            </a:r>
            <a:r>
              <a:rPr lang="en-US" b="1"/>
              <a:t>Itemsets</a:t>
            </a:r>
            <a:endParaRPr lang="en-US" b="1"/>
          </a:p>
          <a:p>
            <a:pPr>
              <a:defRPr/>
            </a:pPr>
            <a:r>
              <a:rPr lang="en-US"/>
              <a:t>A </a:t>
            </a:r>
            <a:r>
              <a:rPr lang="en-US" b="1"/>
              <a:t>Frequent </a:t>
            </a:r>
            <a:r>
              <a:rPr lang="en-US" b="1"/>
              <a:t>Itemset</a:t>
            </a:r>
            <a:r>
              <a:rPr lang="en-US"/>
              <a:t> is a group of items that appear together in transactions more frequently than a minimum threshold called </a:t>
            </a:r>
            <a:r>
              <a:rPr lang="en-US" b="1"/>
              <a:t>minimum support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r>
              <a:rPr lang="en-US"/>
              <a:t>If the occurrence frequency of an </a:t>
            </a:r>
            <a:r>
              <a:rPr lang="en-US"/>
              <a:t>itemset</a:t>
            </a:r>
            <a:r>
              <a:rPr lang="en-US"/>
              <a:t> is greater than or equal to the minimum support value, it is called a </a:t>
            </a:r>
            <a:r>
              <a:rPr lang="en-US" b="1"/>
              <a:t>frequent </a:t>
            </a:r>
            <a:r>
              <a:rPr lang="en-US" b="1"/>
              <a:t>itemset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r>
              <a:rPr lang="en-US"/>
              <a:t>Suppose minimum support = </a:t>
            </a:r>
            <a:r>
              <a:rPr lang="en-US" b="1"/>
              <a:t>2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724530482" name="Content Placeholder 4"/>
          <p:cNvPicPr>
            <a:picLocks noChangeAspect="1" noGrp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>
            <a:off x="6172199" y="1825625"/>
            <a:ext cx="5799841" cy="4707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5452407" name="Content Placeholder 4"/>
          <p:cNvPicPr>
            <a:picLocks noChangeAspect="1" noGrp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>
            <a:off x="263951" y="1234911"/>
            <a:ext cx="11928049" cy="4942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4218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22548" y="0"/>
            <a:ext cx="5897252" cy="6749592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2. Closed </a:t>
            </a:r>
            <a:r>
              <a:rPr lang="en-US" b="1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Itemsets</a:t>
            </a:r>
            <a:endParaRPr lang="en-US" b="1" i="0" u="none" strike="noStrike" cap="none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b="1" i="0" u="none" strike="noStrike" cap="none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0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A </a:t>
            </a:r>
            <a:r>
              <a:rPr lang="en-US" b="1">
                <a:latin typeface="Times New Roman"/>
                <a:cs typeface="Times New Roman"/>
              </a:rPr>
              <a:t>Closed </a:t>
            </a:r>
            <a:r>
              <a:rPr lang="en-US" b="1">
                <a:latin typeface="Times New Roman"/>
                <a:cs typeface="Times New Roman"/>
              </a:rPr>
              <a:t>Itemset</a:t>
            </a:r>
            <a:r>
              <a:rPr lang="en-US">
                <a:latin typeface="Times New Roman"/>
                <a:cs typeface="Times New Roman"/>
              </a:rPr>
              <a:t> is a frequent </a:t>
            </a:r>
            <a:r>
              <a:rPr lang="en-US">
                <a:latin typeface="Times New Roman"/>
                <a:cs typeface="Times New Roman"/>
              </a:rPr>
              <a:t>itemset</a:t>
            </a:r>
            <a:r>
              <a:rPr lang="en-US">
                <a:latin typeface="Times New Roman"/>
                <a:cs typeface="Times New Roman"/>
              </a:rPr>
              <a:t> for which no superset has the same support count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b="1" i="0" u="none" strike="noStrike" cap="none">
              <a:ln>
                <a:noFill/>
              </a:ln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0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An </a:t>
            </a:r>
            <a:r>
              <a:rPr lang="en-US" b="0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itemset</a:t>
            </a:r>
            <a:r>
              <a:rPr lang="en-US" b="0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cs typeface="Times New Roman"/>
              </a:rPr>
              <a:t> is called </a:t>
            </a:r>
            <a:r>
              <a:rPr lang="en-US" b="1">
                <a:latin typeface="Times New Roman"/>
                <a:cs typeface="Times New Roman"/>
              </a:rPr>
              <a:t>closed</a:t>
            </a:r>
            <a:r>
              <a:rPr lang="en-US">
                <a:latin typeface="Times New Roman"/>
                <a:cs typeface="Times New Roman"/>
              </a:rPr>
              <a:t> if there is no larger </a:t>
            </a:r>
            <a:r>
              <a:rPr lang="en-US">
                <a:latin typeface="Times New Roman"/>
                <a:cs typeface="Times New Roman"/>
              </a:rPr>
              <a:t>itemset</a:t>
            </a:r>
            <a:r>
              <a:rPr lang="en-US">
                <a:latin typeface="Times New Roman"/>
                <a:cs typeface="Times New Roman"/>
              </a:rPr>
              <a:t> containing it with the same support.</a:t>
            </a:r>
            <a:endParaRPr lang="en-US">
              <a:latin typeface="Times New Roman"/>
              <a:cs typeface="Times New Roman"/>
            </a:endParaRPr>
          </a:p>
          <a:p>
            <a:pPr>
              <a:defRPr/>
            </a:pP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953635" name="Content Placeholder 4"/>
          <p:cNvPicPr>
            <a:picLocks noChangeAspect="1" noGrp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>
            <a:off x="137113" y="424206"/>
            <a:ext cx="6035087" cy="6155703"/>
          </a:xfrm>
          <a:prstGeom prst="rect">
            <a:avLst/>
          </a:prstGeom>
        </p:spPr>
      </p:pic>
      <p:sp>
        <p:nvSpPr>
          <p:cNvPr id="1120373349" name="Content Placeholder 3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Therefore:</a:t>
            </a:r>
            <a:endParaRPr lang="en-US"/>
          </a:p>
          <a:p>
            <a:pPr>
              <a:defRPr/>
            </a:pPr>
            <a:r>
              <a:rPr lang="en-US"/>
              <a:t>Bread is a </a:t>
            </a:r>
            <a:r>
              <a:rPr lang="en-US" b="1"/>
              <a:t>Closed </a:t>
            </a:r>
            <a:r>
              <a:rPr lang="en-US" b="1"/>
              <a:t>Itemset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41172" name="Content Placeholder 4"/>
          <p:cNvPicPr>
            <a:picLocks noChangeAspect="1" noGrp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>
            <a:off x="149196" y="895546"/>
            <a:ext cx="11888833" cy="5281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0936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0" y="0"/>
            <a:ext cx="6019800" cy="66836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Association Rules</a:t>
            </a:r>
            <a:endParaRPr lang="en-US" b="1"/>
          </a:p>
          <a:p>
            <a:pPr>
              <a:defRPr/>
            </a:pPr>
            <a:r>
              <a:rPr lang="en-US"/>
              <a:t>Association rule mining is a data mining technique used to discover interesting relationships, patterns, or associations among items in large databases. 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It </a:t>
            </a:r>
            <a:r>
              <a:rPr lang="en-US"/>
              <a:t>is widely used in market basket analysis, recommendation systems, web usage mining, and business analytics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An association rule is generally written in the form:</a:t>
            </a:r>
            <a:endParaRPr lang="en-US"/>
          </a:p>
          <a:p>
            <a:pPr>
              <a:defRPr/>
            </a:pPr>
            <a:r>
              <a:rPr lang="en-US"/>
              <a:t>X→</a:t>
            </a:r>
            <a:r>
              <a:rPr lang="en-US"/>
              <a:t>Y</a:t>
            </a:r>
            <a:endParaRPr lang="en-US"/>
          </a:p>
        </p:txBody>
      </p:sp>
      <p:sp>
        <p:nvSpPr>
          <p:cNvPr id="1498663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199" y="75414"/>
            <a:ext cx="5818695" cy="669303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where:</a:t>
            </a:r>
            <a:endParaRPr lang="en-US"/>
          </a:p>
          <a:p>
            <a:pPr>
              <a:defRPr/>
            </a:pPr>
            <a:r>
              <a:rPr lang="en-US" b="1"/>
              <a:t>X</a:t>
            </a:r>
            <a:r>
              <a:rPr lang="en-US"/>
              <a:t> = antecedent (if part) </a:t>
            </a:r>
            <a:endParaRPr lang="en-US"/>
          </a:p>
          <a:p>
            <a:pPr>
              <a:defRPr/>
            </a:pPr>
            <a:r>
              <a:rPr lang="en-US" b="1"/>
              <a:t>Y</a:t>
            </a:r>
            <a:r>
              <a:rPr lang="en-US"/>
              <a:t> = consequent (then part) </a:t>
            </a:r>
            <a:endParaRPr lang="en-US"/>
          </a:p>
          <a:p>
            <a:pPr>
              <a:defRPr/>
            </a:pPr>
            <a:r>
              <a:rPr lang="en-US"/>
              <a:t>This means that if item </a:t>
            </a:r>
            <a:r>
              <a:rPr lang="en-US" b="1"/>
              <a:t>X</a:t>
            </a:r>
            <a:r>
              <a:rPr lang="en-US"/>
              <a:t> occurs, item </a:t>
            </a:r>
            <a:r>
              <a:rPr lang="en-US" b="1"/>
              <a:t>Y</a:t>
            </a:r>
            <a:r>
              <a:rPr lang="en-US"/>
              <a:t> is likely to occur as well.</a:t>
            </a:r>
            <a:endParaRPr lang="en-US"/>
          </a:p>
          <a:p>
            <a:pPr>
              <a:defRPr/>
            </a:pPr>
            <a:r>
              <a:rPr lang="en-US"/>
              <a:t>Example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a:r>
              <a:rPr lang="en-US"/>
              <a:t>Bread → Butter</a:t>
            </a:r>
            <a:endParaRPr lang="en-US"/>
          </a:p>
          <a:p>
            <a:pPr>
              <a:defRPr/>
            </a:pPr>
            <a:r>
              <a:rPr lang="en-US"/>
              <a:t>It </a:t>
            </a:r>
            <a:r>
              <a:rPr lang="en-US"/>
              <a:t>means customers who buy bread also tend to buy butter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252220" name="Content Placeholder 4"/>
          <p:cNvPicPr>
            <a:picLocks noChangeAspect="1" noGrp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>
            <a:off x="179109" y="358218"/>
            <a:ext cx="11840066" cy="5835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88559" name="Title 1"/>
          <p:cNvSpPr>
            <a:spLocks noGrp="1"/>
          </p:cNvSpPr>
          <p:nvPr>
            <p:ph type="title"/>
          </p:nvPr>
        </p:nvSpPr>
        <p:spPr bwMode="auto">
          <a:xfrm>
            <a:off x="0" y="75414"/>
            <a:ext cx="12192000" cy="84841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Types of Association Rules</a:t>
            </a:r>
            <a:endParaRPr lang="en-US"/>
          </a:p>
        </p:txBody>
      </p:sp>
      <p:sp>
        <p:nvSpPr>
          <p:cNvPr id="14789401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22548" y="1027522"/>
            <a:ext cx="5897252" cy="572207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b="1"/>
              <a:t>1. Single Dimensional Association Rule</a:t>
            </a:r>
            <a:endParaRPr lang="en-US" b="1"/>
          </a:p>
          <a:p>
            <a:pPr>
              <a:defRPr/>
            </a:pPr>
            <a:r>
              <a:rPr lang="en-US"/>
              <a:t>A single-dimensional association rule contains only one predicate or dimension.</a:t>
            </a:r>
            <a:endParaRPr lang="en-US"/>
          </a:p>
          <a:p>
            <a:pPr>
              <a:defRPr/>
            </a:pPr>
            <a:r>
              <a:rPr lang="en-US" b="1"/>
              <a:t>Example</a:t>
            </a:r>
            <a:endParaRPr lang="en-US" b="1"/>
          </a:p>
          <a:p>
            <a:pPr>
              <a:defRPr/>
            </a:pPr>
            <a:r>
              <a:rPr lang="en-US"/>
              <a:t>buys(</a:t>
            </a:r>
            <a:r>
              <a:rPr lang="en-US"/>
              <a:t>X</a:t>
            </a:r>
            <a:r>
              <a:rPr lang="en-US"/>
              <a:t>,"Laptop</a:t>
            </a:r>
            <a:r>
              <a:rPr lang="en-US"/>
              <a:t>")→buys(</a:t>
            </a:r>
            <a:r>
              <a:rPr lang="en-US"/>
              <a:t>X,"Mouse</a:t>
            </a:r>
            <a:r>
              <a:rPr lang="en-US"/>
              <a:t>")</a:t>
            </a:r>
            <a:endParaRPr lang="en-US" b="1"/>
          </a:p>
          <a:p>
            <a:pPr>
              <a:defRPr/>
            </a:pPr>
            <a:r>
              <a:rPr lang="en-US"/>
              <a:t>This </a:t>
            </a:r>
            <a:r>
              <a:rPr lang="en-US"/>
              <a:t>rule only considers the </a:t>
            </a:r>
            <a:r>
              <a:rPr lang="en-US" b="1"/>
              <a:t>buying dimension</a:t>
            </a:r>
            <a:r>
              <a:rPr lang="en-US"/>
              <a:t>.</a:t>
            </a:r>
            <a:endParaRPr lang="en-US"/>
          </a:p>
          <a:p>
            <a:pPr>
              <a:defRPr/>
            </a:pPr>
            <a:r>
              <a:rPr lang="en-US" b="1"/>
              <a:t>Characteristics</a:t>
            </a:r>
            <a:endParaRPr lang="en-US" b="1"/>
          </a:p>
          <a:p>
            <a:pPr>
              <a:defRPr/>
            </a:pPr>
            <a:r>
              <a:rPr lang="en-US"/>
              <a:t>Uses one type of relationship </a:t>
            </a:r>
            <a:endParaRPr lang="en-US"/>
          </a:p>
          <a:p>
            <a:pPr>
              <a:defRPr/>
            </a:pPr>
            <a:r>
              <a:rPr lang="en-US"/>
              <a:t>Simple and easy to analyze </a:t>
            </a:r>
            <a:endParaRPr lang="en-US"/>
          </a:p>
          <a:p>
            <a:pPr>
              <a:defRPr/>
            </a:pPr>
            <a:r>
              <a:rPr lang="en-US"/>
              <a:t>Mostly used in market basket analysis </a:t>
            </a:r>
            <a:endParaRPr lang="en-US"/>
          </a:p>
          <a:p>
            <a:pPr>
              <a:defRPr/>
            </a:pPr>
            <a:r>
              <a:rPr lang="en-US" b="1"/>
              <a:t>Applications</a:t>
            </a:r>
            <a:endParaRPr lang="en-US" b="1"/>
          </a:p>
          <a:p>
            <a:pPr>
              <a:defRPr/>
            </a:pPr>
            <a:r>
              <a:rPr lang="en-US"/>
              <a:t>Supermarket sales analysis </a:t>
            </a:r>
            <a:endParaRPr lang="en-US"/>
          </a:p>
          <a:p>
            <a:pPr>
              <a:defRPr/>
            </a:pPr>
            <a:r>
              <a:rPr lang="en-US"/>
              <a:t>Product recommendation systems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2397354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65130" y="923828"/>
            <a:ext cx="5957740" cy="5731496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b="1"/>
              <a:t>2. Multidimensional Association Rule</a:t>
            </a:r>
            <a:endParaRPr lang="en-US" b="1"/>
          </a:p>
          <a:p>
            <a:pPr>
              <a:defRPr/>
            </a:pPr>
            <a:r>
              <a:rPr lang="en-US"/>
              <a:t>A multidimensional association rule involves two or more dimensions or predicates.</a:t>
            </a:r>
            <a:endParaRPr lang="en-US"/>
          </a:p>
          <a:p>
            <a:pPr>
              <a:defRPr/>
            </a:pPr>
            <a:r>
              <a:rPr lang="en-US" b="1"/>
              <a:t>Example</a:t>
            </a:r>
            <a:endParaRPr lang="en-US" b="1"/>
          </a:p>
          <a:p>
            <a:pPr>
              <a:defRPr/>
            </a:pPr>
            <a:r>
              <a:rPr lang="en-US"/>
              <a:t>Age(20−30)∧Occupation(Student)→buys(Laptop)</a:t>
            </a:r>
            <a:endParaRPr lang="en-US" b="1"/>
          </a:p>
          <a:p>
            <a:pPr>
              <a:defRPr/>
            </a:pPr>
            <a:r>
              <a:rPr lang="en-US"/>
              <a:t>This rule includes:</a:t>
            </a:r>
            <a:endParaRPr lang="en-US"/>
          </a:p>
          <a:p>
            <a:pPr>
              <a:defRPr/>
            </a:pPr>
            <a:r>
              <a:rPr lang="en-US"/>
              <a:t>Age dimension </a:t>
            </a:r>
            <a:endParaRPr lang="en-US"/>
          </a:p>
          <a:p>
            <a:pPr>
              <a:defRPr/>
            </a:pPr>
            <a:r>
              <a:rPr lang="en-US"/>
              <a:t>Occupation dimension </a:t>
            </a:r>
            <a:endParaRPr lang="en-US"/>
          </a:p>
          <a:p>
            <a:pPr>
              <a:defRPr/>
            </a:pPr>
            <a:r>
              <a:rPr lang="en-US"/>
              <a:t>Buying behavior</a:t>
            </a:r>
            <a:endParaRPr lang="en-US"/>
          </a:p>
          <a:p>
            <a:pPr>
              <a:defRPr/>
            </a:pPr>
            <a:r>
              <a:rPr lang="en-US" b="1"/>
              <a:t>Characteristics</a:t>
            </a:r>
            <a:endParaRPr lang="en-US" b="1"/>
          </a:p>
          <a:p>
            <a:pPr>
              <a:defRPr/>
            </a:pPr>
            <a:r>
              <a:rPr lang="en-US"/>
              <a:t>Uses multiple attributes </a:t>
            </a:r>
            <a:endParaRPr lang="en-US"/>
          </a:p>
          <a:p>
            <a:pPr>
              <a:defRPr/>
            </a:pPr>
            <a:r>
              <a:rPr lang="en-US"/>
              <a:t>More informative than single-dimensional rules </a:t>
            </a:r>
            <a:endParaRPr lang="en-US"/>
          </a:p>
          <a:p>
            <a:pPr>
              <a:defRPr/>
            </a:pPr>
            <a:r>
              <a:rPr lang="en-US"/>
              <a:t>Helps in customer segmentation </a:t>
            </a:r>
            <a:endParaRPr lang="en-US"/>
          </a:p>
          <a:p>
            <a:pPr>
              <a:defRPr/>
            </a:pPr>
            <a:r>
              <a:rPr lang="en-US" b="1"/>
              <a:t>Applications</a:t>
            </a:r>
            <a:endParaRPr lang="en-US" b="1"/>
          </a:p>
          <a:p>
            <a:pPr>
              <a:defRPr/>
            </a:pPr>
            <a:r>
              <a:rPr lang="en-US"/>
              <a:t>Customer profiling </a:t>
            </a:r>
            <a:endParaRPr lang="en-US"/>
          </a:p>
          <a:p>
            <a:pPr>
              <a:defRPr/>
            </a:pPr>
            <a:r>
              <a:rPr lang="en-US"/>
              <a:t>Business intelligence </a:t>
            </a:r>
            <a:endParaRPr lang="en-US"/>
          </a:p>
          <a:p>
            <a:pPr>
              <a:defRPr/>
            </a:pPr>
            <a:r>
              <a:rPr lang="en-US"/>
              <a:t>Decision support systems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/>
  <cp:revision>13</cp:revision>
  <dcterms:created xsi:type="dcterms:W3CDTF">2026-06-12T01:16:47Z</dcterms:created>
  <dcterms:modified xsi:type="dcterms:W3CDTF">2026-07-16T02:20:23Z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