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2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54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4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66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04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2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45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01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0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87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8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0B69A-D265-4A9F-94F7-FB5B1B6977E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6A7DA-FE25-4958-8A02-3A5D15B9E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Processing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07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476214" cy="68580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Data Preprocessing in Data Mining</a:t>
            </a:r>
          </a:p>
          <a:p>
            <a:r>
              <a:rPr lang="en-US" dirty="0" smtClean="0"/>
              <a:t>Real-world data is often incomplete, noisy, and inconsistent, which can lead to incorrect results if used directly. </a:t>
            </a:r>
          </a:p>
          <a:p>
            <a:endParaRPr lang="en-US" dirty="0"/>
          </a:p>
          <a:p>
            <a:r>
              <a:rPr lang="en-US" dirty="0" smtClean="0"/>
              <a:t>Data preprocessing in data mining is the process of cleaning and preparing raw data so it can be used effectively for analysis and model building.</a:t>
            </a:r>
          </a:p>
          <a:p>
            <a:endParaRPr lang="en-US" dirty="0" smtClean="0"/>
          </a:p>
          <a:p>
            <a:r>
              <a:rPr lang="en-US" dirty="0" smtClean="0"/>
              <a:t>Real data contains missing and incorrect values</a:t>
            </a:r>
          </a:p>
          <a:p>
            <a:endParaRPr lang="en-US" dirty="0" smtClean="0"/>
          </a:p>
          <a:p>
            <a:r>
              <a:rPr lang="en-US" dirty="0" smtClean="0"/>
              <a:t>Data may come from multiple sources</a:t>
            </a:r>
          </a:p>
          <a:p>
            <a:endParaRPr lang="en-US" dirty="0" smtClean="0"/>
          </a:p>
          <a:p>
            <a:r>
              <a:rPr lang="en-US" dirty="0" smtClean="0"/>
              <a:t>Large datasets often have irrelevant information</a:t>
            </a:r>
          </a:p>
          <a:p>
            <a:endParaRPr lang="en-US" dirty="0" smtClean="0"/>
          </a:p>
          <a:p>
            <a:r>
              <a:rPr lang="en-US" dirty="0" smtClean="0"/>
              <a:t>Clean data gives better mining results</a:t>
            </a:r>
          </a:p>
          <a:p>
            <a:endParaRPr lang="en-US" b="1" dirty="0"/>
          </a:p>
        </p:txBody>
      </p:sp>
      <p:pic>
        <p:nvPicPr>
          <p:cNvPr id="6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6213" y="1329179"/>
            <a:ext cx="5590095" cy="400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83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401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>
                <a:effectLst/>
              </a:rPr>
              <a:t>1. Data Cleaning </a:t>
            </a:r>
          </a:p>
          <a:p>
            <a:r>
              <a:rPr lang="en-US" dirty="0" smtClean="0"/>
              <a:t>It is the process of identifying and correcting errors or inconsistencies in the dataset. Its common tasks include:</a:t>
            </a:r>
          </a:p>
          <a:p>
            <a:r>
              <a:rPr lang="en-US" dirty="0" smtClean="0"/>
              <a:t>Handling missing values</a:t>
            </a:r>
          </a:p>
          <a:p>
            <a:r>
              <a:rPr lang="en-US" dirty="0" smtClean="0"/>
              <a:t>Removing duplicate records</a:t>
            </a:r>
          </a:p>
          <a:p>
            <a:r>
              <a:rPr lang="en-US" dirty="0" smtClean="0"/>
              <a:t>Correcting wrong or inconsistent data</a:t>
            </a:r>
          </a:p>
          <a:p>
            <a:r>
              <a:rPr lang="en-US" dirty="0" smtClean="0"/>
              <a:t>Handling Outliers</a:t>
            </a:r>
          </a:p>
          <a:p>
            <a:endParaRPr lang="en-US" dirty="0"/>
          </a:p>
          <a:p>
            <a:r>
              <a:rPr lang="en-US" b="1" dirty="0" smtClean="0"/>
              <a:t>Example:</a:t>
            </a:r>
            <a:endParaRPr lang="en-US" dirty="0" smtClean="0"/>
          </a:p>
          <a:p>
            <a:r>
              <a:rPr lang="en-US" dirty="0" smtClean="0"/>
              <a:t>Replacing missing age values with the average age</a:t>
            </a:r>
          </a:p>
          <a:p>
            <a:r>
              <a:rPr lang="en-US" dirty="0" smtClean="0"/>
              <a:t>Removing repeated rows in a dataset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363092" y="0"/>
            <a:ext cx="5828908" cy="6858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Techniques used:</a:t>
            </a:r>
            <a:endParaRPr lang="en-US" dirty="0" smtClean="0"/>
          </a:p>
          <a:p>
            <a:r>
              <a:rPr lang="en-US" b="1" dirty="0" smtClean="0"/>
              <a:t>Mean Imputation:</a:t>
            </a:r>
            <a:r>
              <a:rPr lang="en-US" dirty="0" smtClean="0"/>
              <a:t> Replaces missing values with the average of the attribute.</a:t>
            </a:r>
          </a:p>
          <a:p>
            <a:r>
              <a:rPr lang="en-US" b="1" dirty="0" smtClean="0"/>
              <a:t>Median Imputation:</a:t>
            </a:r>
            <a:r>
              <a:rPr lang="en-US" dirty="0" smtClean="0"/>
              <a:t> Replaces missing values with the middle value, useful when outliers exist.</a:t>
            </a:r>
          </a:p>
          <a:p>
            <a:r>
              <a:rPr lang="en-US" b="1" dirty="0" smtClean="0"/>
              <a:t>Mode Imputation:</a:t>
            </a:r>
            <a:r>
              <a:rPr lang="en-US" dirty="0" smtClean="0"/>
              <a:t> Replaces missing values with the most frequent value.</a:t>
            </a:r>
          </a:p>
          <a:p>
            <a:r>
              <a:rPr lang="en-US" b="1" dirty="0" smtClean="0"/>
              <a:t>Deletion Method:</a:t>
            </a:r>
            <a:r>
              <a:rPr lang="en-US" dirty="0" smtClean="0"/>
              <a:t> Removes records that contain missing values.</a:t>
            </a:r>
          </a:p>
          <a:p>
            <a:r>
              <a:rPr lang="en-US" b="1" dirty="0" smtClean="0"/>
              <a:t>Interquartile Range (IQR):</a:t>
            </a:r>
            <a:r>
              <a:rPr lang="en-US" dirty="0" smtClean="0"/>
              <a:t> Detects outliers using the range between Q1 and Q3.</a:t>
            </a:r>
          </a:p>
          <a:p>
            <a:r>
              <a:rPr lang="en-US" b="1" dirty="0" smtClean="0"/>
              <a:t>Z-Score Method:</a:t>
            </a:r>
            <a:r>
              <a:rPr lang="en-US" dirty="0" smtClean="0"/>
              <a:t> Identifies outliers based on standard deviation from the mean.</a:t>
            </a:r>
          </a:p>
          <a:p>
            <a:r>
              <a:rPr lang="en-US" b="1" dirty="0" smtClean="0"/>
              <a:t>Binning:</a:t>
            </a:r>
            <a:r>
              <a:rPr lang="en-US" dirty="0" smtClean="0"/>
              <a:t> Smooths noisy data by grouping values into bins.</a:t>
            </a:r>
          </a:p>
          <a:p>
            <a:r>
              <a:rPr lang="en-US" b="1" dirty="0" smtClean="0"/>
              <a:t>Regression Smoothing:</a:t>
            </a:r>
            <a:r>
              <a:rPr lang="en-US" dirty="0" smtClean="0"/>
              <a:t> Uses regression to predict and smooth noisy values.</a:t>
            </a:r>
          </a:p>
          <a:p>
            <a:r>
              <a:rPr lang="en-US" b="1" dirty="0" smtClean="0"/>
              <a:t>Duplicate Detection:</a:t>
            </a:r>
            <a:r>
              <a:rPr lang="en-US" dirty="0" smtClean="0"/>
              <a:t> Identifies and removes repeated records.</a:t>
            </a:r>
          </a:p>
        </p:txBody>
      </p:sp>
    </p:spTree>
    <p:extLst>
      <p:ext uri="{BB962C8B-B14F-4D97-AF65-F5344CB8AC3E}">
        <p14:creationId xmlns:p14="http://schemas.microsoft.com/office/powerpoint/2010/main" val="220460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effectLst/>
              </a:rPr>
              <a:t>2. Data Integration</a:t>
            </a:r>
          </a:p>
          <a:p>
            <a:r>
              <a:rPr lang="en-US" dirty="0" smtClean="0"/>
              <a:t>It involves merging data from various sources into a single, unified dataset. It can be challenging due to differences in data formats, structures, and meanings. </a:t>
            </a:r>
          </a:p>
          <a:p>
            <a:r>
              <a:rPr lang="en-US" dirty="0" smtClean="0"/>
              <a:t>Used when data comes from databases, files, or APIs</a:t>
            </a:r>
          </a:p>
          <a:p>
            <a:r>
              <a:rPr lang="en-US" dirty="0" smtClean="0"/>
              <a:t>Removes redundancy between datasets</a:t>
            </a:r>
          </a:p>
          <a:p>
            <a:r>
              <a:rPr lang="en-US" dirty="0" smtClean="0"/>
              <a:t>Resolves conflicts in data values</a:t>
            </a:r>
          </a:p>
          <a:p>
            <a:endParaRPr lang="en-US" dirty="0" smtClean="0"/>
          </a:p>
          <a:p>
            <a:r>
              <a:rPr lang="en-US" b="1" dirty="0" smtClean="0"/>
              <a:t>Example: </a:t>
            </a:r>
            <a:r>
              <a:rPr lang="en-US" dirty="0" smtClean="0"/>
              <a:t>Merging customer data from sales and marketing databases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495068" y="0"/>
            <a:ext cx="5696932" cy="6787299"/>
          </a:xfrm>
        </p:spPr>
        <p:txBody>
          <a:bodyPr>
            <a:normAutofit/>
          </a:bodyPr>
          <a:lstStyle/>
          <a:p>
            <a:r>
              <a:rPr lang="en-US" b="1" dirty="0" smtClean="0"/>
              <a:t>Techniques used:</a:t>
            </a:r>
            <a:endParaRPr lang="en-US" dirty="0" smtClean="0"/>
          </a:p>
          <a:p>
            <a:r>
              <a:rPr lang="en-US" b="1" dirty="0" smtClean="0"/>
              <a:t>Schema Matching:</a:t>
            </a:r>
            <a:r>
              <a:rPr lang="en-US" dirty="0" smtClean="0"/>
              <a:t> Aligns attributes from different data sources.</a:t>
            </a:r>
          </a:p>
          <a:p>
            <a:r>
              <a:rPr lang="en-US" b="1" dirty="0" smtClean="0"/>
              <a:t>Entity Resolution:</a:t>
            </a:r>
            <a:r>
              <a:rPr lang="en-US" dirty="0" smtClean="0"/>
              <a:t> Identifies records that refer to the same real-world entity.</a:t>
            </a:r>
          </a:p>
          <a:p>
            <a:r>
              <a:rPr lang="en-US" b="1" dirty="0" smtClean="0"/>
              <a:t>Correlation Analysis:</a:t>
            </a:r>
            <a:r>
              <a:rPr lang="en-US" dirty="0" smtClean="0"/>
              <a:t> Finds and removes redundant attributes.</a:t>
            </a:r>
          </a:p>
          <a:p>
            <a:r>
              <a:rPr lang="en-US" b="1" dirty="0" smtClean="0"/>
              <a:t>Data Conflict Resolution:</a:t>
            </a:r>
            <a:r>
              <a:rPr lang="en-US" dirty="0" smtClean="0"/>
              <a:t> Resolves inconsistencies in units or data values.</a:t>
            </a:r>
          </a:p>
          <a:p>
            <a:r>
              <a:rPr lang="en-US" b="1" dirty="0" smtClean="0"/>
              <a:t>Duplicate Elimination:</a:t>
            </a:r>
            <a:r>
              <a:rPr lang="en-US" dirty="0" smtClean="0"/>
              <a:t> Removes overlapping records after integration.</a:t>
            </a:r>
          </a:p>
        </p:txBody>
      </p:sp>
    </p:spTree>
    <p:extLst>
      <p:ext uri="{BB962C8B-B14F-4D97-AF65-F5344CB8AC3E}">
        <p14:creationId xmlns:p14="http://schemas.microsoft.com/office/powerpoint/2010/main" val="542881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effectLst/>
              </a:rPr>
              <a:t>3. Data Transformation</a:t>
            </a:r>
          </a:p>
          <a:p>
            <a:r>
              <a:rPr lang="en-US" dirty="0" smtClean="0"/>
              <a:t>Data transformation converts data into a suitable form so that data mining algorithms can work effectively.</a:t>
            </a:r>
          </a:p>
          <a:p>
            <a:r>
              <a:rPr lang="en-US" dirty="0" smtClean="0"/>
              <a:t>Bring data into a common format</a:t>
            </a:r>
          </a:p>
          <a:p>
            <a:r>
              <a:rPr lang="en-US" dirty="0" smtClean="0"/>
              <a:t>Improve mining efficiency</a:t>
            </a:r>
          </a:p>
          <a:p>
            <a:r>
              <a:rPr lang="en-US" dirty="0" smtClean="0"/>
              <a:t>Make data suitable for modeling</a:t>
            </a:r>
          </a:p>
          <a:p>
            <a:r>
              <a:rPr lang="en-US" b="1" dirty="0" smtClean="0"/>
              <a:t>Example:</a:t>
            </a:r>
            <a:endParaRPr lang="en-US" dirty="0" smtClean="0"/>
          </a:p>
          <a:p>
            <a:r>
              <a:rPr lang="en-US" dirty="0" smtClean="0"/>
              <a:t>Converting salary values into a fixed range (0–1)</a:t>
            </a:r>
          </a:p>
          <a:p>
            <a:r>
              <a:rPr lang="en-US" dirty="0" smtClean="0"/>
              <a:t>Changing text labels like </a:t>
            </a:r>
            <a:r>
              <a:rPr lang="en-US" i="1" dirty="0" smtClean="0"/>
              <a:t>Male/Female</a:t>
            </a:r>
            <a:r>
              <a:rPr lang="en-US" dirty="0" smtClean="0"/>
              <a:t> into numeric values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306531" y="0"/>
            <a:ext cx="5759777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Techniques used:</a:t>
            </a:r>
            <a:endParaRPr lang="en-US" dirty="0" smtClean="0"/>
          </a:p>
          <a:p>
            <a:r>
              <a:rPr lang="en-US" b="1" dirty="0" smtClean="0"/>
              <a:t>Min-Max Normalization:</a:t>
            </a:r>
            <a:r>
              <a:rPr lang="en-US" dirty="0" smtClean="0"/>
              <a:t> Scales data into a fixed range, usually 0 to 1.</a:t>
            </a:r>
          </a:p>
          <a:p>
            <a:r>
              <a:rPr lang="en-US" b="1" dirty="0" smtClean="0"/>
              <a:t>Z-Score Normalization:</a:t>
            </a:r>
            <a:r>
              <a:rPr lang="en-US" dirty="0" smtClean="0"/>
              <a:t> Transforms data using mean and standard deviation.</a:t>
            </a:r>
          </a:p>
          <a:p>
            <a:r>
              <a:rPr lang="en-US" b="1" dirty="0" smtClean="0"/>
              <a:t>Decimal Scaling:</a:t>
            </a:r>
            <a:r>
              <a:rPr lang="en-US" dirty="0" smtClean="0"/>
              <a:t> Normalizes data by moving the decimal point.</a:t>
            </a:r>
          </a:p>
          <a:p>
            <a:r>
              <a:rPr lang="en-US" b="1" dirty="0" smtClean="0"/>
              <a:t>Log Transformation:</a:t>
            </a:r>
            <a:r>
              <a:rPr lang="en-US" dirty="0" smtClean="0"/>
              <a:t> Reduces data skewness using logarithmic scaling.</a:t>
            </a:r>
          </a:p>
          <a:p>
            <a:r>
              <a:rPr lang="en-US" b="1" dirty="0" smtClean="0"/>
              <a:t>One-Hot Encoding:</a:t>
            </a:r>
            <a:r>
              <a:rPr lang="en-US" dirty="0" smtClean="0"/>
              <a:t> Converts categories into binary columns.</a:t>
            </a:r>
          </a:p>
          <a:p>
            <a:r>
              <a:rPr lang="en-US" b="1" dirty="0" smtClean="0"/>
              <a:t>Label Encoding:</a:t>
            </a:r>
            <a:r>
              <a:rPr lang="en-US" dirty="0" smtClean="0"/>
              <a:t> Assigns numeric labels to categorical values.</a:t>
            </a:r>
          </a:p>
          <a:p>
            <a:r>
              <a:rPr lang="en-US" b="1" dirty="0" smtClean="0"/>
              <a:t>Aggregation:</a:t>
            </a:r>
            <a:r>
              <a:rPr lang="en-US" dirty="0" smtClean="0"/>
              <a:t> Combines detailed data into summarized 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280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6019800" cy="676844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>
                <a:effectLst/>
              </a:rPr>
              <a:t>4. Data Reduction</a:t>
            </a:r>
          </a:p>
          <a:p>
            <a:r>
              <a:rPr lang="en-US" dirty="0" smtClean="0"/>
              <a:t>It reduces the dataset's size while maintaining key information. </a:t>
            </a:r>
          </a:p>
          <a:p>
            <a:endParaRPr lang="en-US" dirty="0"/>
          </a:p>
          <a:p>
            <a:r>
              <a:rPr lang="en-US" dirty="0" smtClean="0"/>
              <a:t>This can be done through feature selection which chooses the most relevant features and feature extraction which transforms the data into a lower-dimensional space while preserving important details.</a:t>
            </a:r>
          </a:p>
          <a:p>
            <a:r>
              <a:rPr lang="en-US" dirty="0" smtClean="0"/>
              <a:t>Improves processing speed</a:t>
            </a:r>
          </a:p>
          <a:p>
            <a:r>
              <a:rPr lang="en-US" dirty="0" smtClean="0"/>
              <a:t>Saves storage space</a:t>
            </a:r>
          </a:p>
          <a:p>
            <a:r>
              <a:rPr lang="en-US" dirty="0" smtClean="0"/>
              <a:t>Makes analysis easier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3348" y="179109"/>
            <a:ext cx="5486401" cy="658933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Techniques used:</a:t>
            </a:r>
            <a:endParaRPr lang="en-US" dirty="0" smtClean="0"/>
          </a:p>
          <a:p>
            <a:r>
              <a:rPr lang="en-US" b="1" dirty="0" smtClean="0"/>
              <a:t>Principal Component Analysis (PCA):</a:t>
            </a:r>
            <a:r>
              <a:rPr lang="en-US" dirty="0" smtClean="0"/>
              <a:t> Reduces dimensions by projecting data onto principal components.</a:t>
            </a:r>
          </a:p>
          <a:p>
            <a:r>
              <a:rPr lang="en-US" b="1" dirty="0" smtClean="0"/>
              <a:t>Linear Discriminant Analysis (LDA):</a:t>
            </a:r>
            <a:r>
              <a:rPr lang="en-US" dirty="0" smtClean="0"/>
              <a:t> Reduces dimensions while maximizing class separation.</a:t>
            </a:r>
          </a:p>
          <a:p>
            <a:r>
              <a:rPr lang="en-US" b="1" dirty="0" smtClean="0"/>
              <a:t>Filter Methods:</a:t>
            </a:r>
            <a:r>
              <a:rPr lang="en-US" dirty="0" smtClean="0"/>
              <a:t> Select features based on statistical measures.</a:t>
            </a:r>
          </a:p>
          <a:p>
            <a:r>
              <a:rPr lang="en-US" b="1" dirty="0" smtClean="0"/>
              <a:t>Wrapper Methods:</a:t>
            </a:r>
            <a:r>
              <a:rPr lang="en-US" dirty="0" smtClean="0"/>
              <a:t> Select features using model performance.</a:t>
            </a:r>
          </a:p>
          <a:p>
            <a:r>
              <a:rPr lang="en-US" b="1" dirty="0" smtClean="0"/>
              <a:t>Embedded Methods:</a:t>
            </a:r>
            <a:r>
              <a:rPr lang="en-US" dirty="0" smtClean="0"/>
              <a:t> Perform feature selection during model training.</a:t>
            </a:r>
          </a:p>
          <a:p>
            <a:r>
              <a:rPr lang="en-US" b="1" dirty="0" smtClean="0"/>
              <a:t>Simple Random Sampling:</a:t>
            </a:r>
            <a:r>
              <a:rPr lang="en-US" dirty="0" smtClean="0"/>
              <a:t> Selects data points randomly from the dataset.</a:t>
            </a:r>
          </a:p>
          <a:p>
            <a:r>
              <a:rPr lang="en-US" b="1" dirty="0" smtClean="0"/>
              <a:t>Stratified Sampling:</a:t>
            </a:r>
            <a:r>
              <a:rPr lang="en-US" dirty="0" smtClean="0"/>
              <a:t> Samples data proportionally from each class.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58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effectLst/>
              </a:rPr>
              <a:t>Benefits of Data Preprocessing</a:t>
            </a:r>
          </a:p>
          <a:p>
            <a:r>
              <a:rPr lang="en-US" dirty="0" smtClean="0"/>
              <a:t>Improves data quality</a:t>
            </a:r>
          </a:p>
          <a:p>
            <a:r>
              <a:rPr lang="en-US" dirty="0" smtClean="0"/>
              <a:t>Increases accuracy of mining results</a:t>
            </a:r>
          </a:p>
          <a:p>
            <a:r>
              <a:rPr lang="en-US" dirty="0" smtClean="0"/>
              <a:t>Reduces errors in models</a:t>
            </a:r>
          </a:p>
          <a:p>
            <a:r>
              <a:rPr lang="en-US" dirty="0" smtClean="0"/>
              <a:t>Makes data easier to understand</a:t>
            </a:r>
          </a:p>
          <a:p>
            <a:pPr marL="0" indent="0">
              <a:buNone/>
            </a:pPr>
            <a:r>
              <a:rPr lang="en-US" b="1" dirty="0" smtClean="0">
                <a:effectLst/>
              </a:rPr>
              <a:t>Advantages</a:t>
            </a:r>
          </a:p>
          <a:p>
            <a:r>
              <a:rPr lang="en-US" b="1" dirty="0" smtClean="0"/>
              <a:t>Improved Data Quality</a:t>
            </a:r>
            <a:r>
              <a:rPr lang="en-US" dirty="0" smtClean="0"/>
              <a:t>: Ensures data is clean, consistent, and reliable for analysis.</a:t>
            </a:r>
          </a:p>
          <a:p>
            <a:r>
              <a:rPr lang="en-US" b="1" dirty="0" smtClean="0"/>
              <a:t>Better Model Performance</a:t>
            </a:r>
            <a:r>
              <a:rPr lang="en-US" dirty="0" smtClean="0"/>
              <a:t>: Reduces noise and irrelevant data, leading to more accurate predictions and insights.</a:t>
            </a:r>
          </a:p>
          <a:p>
            <a:r>
              <a:rPr lang="en-US" b="1" dirty="0" smtClean="0"/>
              <a:t>Efficient Data Analysis</a:t>
            </a:r>
            <a:r>
              <a:rPr lang="en-US" dirty="0" smtClean="0"/>
              <a:t>: Streamlines data for faster and easier processing.</a:t>
            </a:r>
          </a:p>
          <a:p>
            <a:r>
              <a:rPr lang="en-US" b="1" dirty="0" smtClean="0"/>
              <a:t>Enhanced Decision-Making</a:t>
            </a:r>
            <a:r>
              <a:rPr lang="en-US" dirty="0" smtClean="0"/>
              <a:t>: Provides clear and well-organized data for better business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07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18" y="0"/>
            <a:ext cx="1213718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58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716</Words>
  <Application>Microsoft Office PowerPoint</Application>
  <PresentationFormat>Widescreen</PresentationFormat>
  <Paragraphs>89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Data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Processing </dc:title>
  <dc:creator>dell</dc:creator>
  <cp:lastModifiedBy>dell</cp:lastModifiedBy>
  <cp:revision>2</cp:revision>
  <dcterms:created xsi:type="dcterms:W3CDTF">2026-05-16T19:52:42Z</dcterms:created>
  <dcterms:modified xsi:type="dcterms:W3CDTF">2026-05-16T19:56:20Z</dcterms:modified>
</cp:coreProperties>
</file>