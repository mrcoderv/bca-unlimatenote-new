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4" r:id="rId7"/>
    <p:sldId id="259" r:id="rId8"/>
    <p:sldId id="265" r:id="rId9"/>
    <p:sldId id="260" r:id="rId10"/>
    <p:sldId id="261" r:id="rId11"/>
    <p:sldId id="262" r:id="rId12"/>
    <p:sldId id="263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1692275" y="3308747"/>
            <a:ext cx="1866900" cy="1747838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2282825" y="1720454"/>
            <a:ext cx="6897688" cy="3443288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 sz="1350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396875" y="1600200"/>
            <a:ext cx="8423275" cy="1102519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2914650"/>
            <a:ext cx="6400800" cy="898922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3919"/>
            <a:ext cx="2895600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EB2F9E-C9E0-4EA3-A9E2-0DF5F691060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260872"/>
            <a:ext cx="3868737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1878806"/>
            <a:ext cx="3868737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788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788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0569"/>
            <a:ext cx="4629150" cy="3655219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5262563" y="3057525"/>
            <a:ext cx="1397000" cy="1312069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130425" y="3562350"/>
            <a:ext cx="7013575" cy="1601391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 sz="1350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05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05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05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9pPr>
    </p:titleStyle>
    <p:bodyStyle>
      <a:lvl1pPr marL="257175" indent="-257175" algn="l" rtl="0" fontAlgn="base">
        <a:spcBef>
          <a:spcPct val="15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3995" algn="l" rtl="0" fontAlgn="base">
        <a:spcBef>
          <a:spcPct val="15000"/>
        </a:spcBef>
        <a:spcAft>
          <a:spcPct val="0"/>
        </a:spcAft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fontAlgn="base">
        <a:spcBef>
          <a:spcPct val="15000"/>
        </a:spcBef>
        <a:spcAft>
          <a:spcPct val="0"/>
        </a:spcAft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fontAlgn="base">
        <a:spcBef>
          <a:spcPct val="15000"/>
        </a:spcBef>
        <a:spcAft>
          <a:spcPct val="0"/>
        </a:spcAft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fontAlgn="base">
        <a:spcBef>
          <a:spcPct val="15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PRESENTATION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Multimedia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Mining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Knowledge from Images, Audio, Video &amp; Text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|  Data Mining &amp; Knowledge Discovery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82880" y="1005840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828800" cy="182880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457200"/>
            <a:ext cx="56692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54680" y="530352"/>
            <a:ext cx="457200" cy="566928"/>
          </a:xfrm>
          <a:prstGeom prst="roundRect">
            <a:avLst>
              <a:gd name="adj" fmla="val 8000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530352"/>
            <a:ext cx="457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03320" y="457200"/>
            <a:ext cx="4937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Multimedia Data Mining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08960" y="1325880"/>
            <a:ext cx="56692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399032"/>
            <a:ext cx="457200" cy="566928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399032"/>
            <a:ext cx="457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03320" y="1325880"/>
            <a:ext cx="4937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Multimedia Data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08960" y="2194560"/>
            <a:ext cx="56692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2267712"/>
            <a:ext cx="457200" cy="566928"/>
          </a:xfrm>
          <a:prstGeom prst="roundRect">
            <a:avLst>
              <a:gd name="adj" fmla="val 8000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2267712"/>
            <a:ext cx="457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03320" y="2194560"/>
            <a:ext cx="4937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Techniques &amp; Algorithms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108960" y="3063240"/>
            <a:ext cx="56692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54680" y="3136392"/>
            <a:ext cx="457200" cy="566928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3136392"/>
            <a:ext cx="457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03320" y="3063240"/>
            <a:ext cx="4937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Use Cases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108960" y="3931920"/>
            <a:ext cx="56692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4005072"/>
            <a:ext cx="457200" cy="566928"/>
          </a:xfrm>
          <a:prstGeom prst="roundRect">
            <a:avLst>
              <a:gd name="adj" fmla="val 8000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4005072"/>
            <a:ext cx="457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03320" y="3931920"/>
            <a:ext cx="4937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Trends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Multimedia Data Mining?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112240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 Data Mining is the process of discovering interesting patterns and knowledge from large collections of multimedia data — including text, images, audio, and video — using computational techniques from data mining, machine learning, and pattern recognition.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2487168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578608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3182112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data generated globally is multimedia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2487168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2578608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5×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00400" y="3182112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insights vs. manual analysis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2487168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2578608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2.5EB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035040" y="3182112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created every single day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between raw media and actionable knowledge — powering modern AI, search, healthcare, and security.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-46355"/>
            <a:ext cx="9143365" cy="51904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Multimedia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4572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08760"/>
            <a:ext cx="4114800" cy="1828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🖼  Image 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764792"/>
            <a:ext cx="384048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JPEG, PNG, BMP formats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Spatial pixel features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Object &amp; scene recognition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Medical imaging (MRI, X-ray)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34440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508760"/>
            <a:ext cx="411480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23444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🎵  Audio Data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764792"/>
            <a:ext cx="384048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Speech &amp; music streams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Temporal waveforms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Spectrogram analysis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Emotion &amp; speaker detection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08960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383280"/>
            <a:ext cx="411480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0896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🎬  Video Data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639312"/>
            <a:ext cx="384048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Sequence of image frames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Motion detection features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Scene segmentation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Surveillance &amp; analytics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108960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383280"/>
            <a:ext cx="411480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10896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📝  Text Data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040" y="3639312"/>
            <a:ext cx="384048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Documents, captions, OCR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feature vectors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Sentiment analysis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Captions in media files</a:t>
            </a:r>
            <a:endParaRPr lang="en-US" sz="115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335" y="1691640"/>
            <a:ext cx="1490345" cy="92900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825" y="3620135"/>
            <a:ext cx="1435735" cy="113474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840" y="3559810"/>
            <a:ext cx="1767840" cy="1132205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4035" y="1686560"/>
            <a:ext cx="1406525" cy="9391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14038" t="1523" r="-12277" b="1523"/>
          <a:stretch>
            <a:fillRect/>
          </a:stretch>
        </p:blipFill>
        <p:spPr>
          <a:xfrm>
            <a:off x="-274955" y="0"/>
            <a:ext cx="6827052" cy="51419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Techniques &amp; Algorithms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12240"/>
          </a:solidFill>
          <a:ln w="19050">
            <a:solidFill>
              <a:srgbClr val="00D4FF"/>
            </a:solidFill>
            <a:prstDash val="solid"/>
          </a:ln>
          <a:effectLst>
            <a:outerShdw blurRad="1524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651760" y="1261872"/>
            <a:ext cx="320040" cy="320040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Extraction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1810512"/>
            <a:ext cx="2514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SIFT, MFCC, CNN embeddings to capture essential data characteristics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12240"/>
          </a:solidFill>
          <a:ln w="19050">
            <a:solidFill>
              <a:srgbClr val="7C3AED"/>
            </a:solidFill>
            <a:prstDash val="solid"/>
          </a:ln>
          <a:effectLst>
            <a:outerShdw blurRad="1524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77840" y="1261872"/>
            <a:ext cx="320040" cy="320040"/>
          </a:xfrm>
          <a:prstGeom prst="ellipse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29844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83280" y="1810512"/>
            <a:ext cx="2514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DBSCAN, hierarchical methods to group similar multimedia items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1887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12240"/>
          </a:solidFill>
          <a:ln w="19050">
            <a:solidFill>
              <a:srgbClr val="10B981"/>
            </a:solidFill>
            <a:prstDash val="solid"/>
          </a:ln>
          <a:effectLst>
            <a:outerShdw blurRad="1524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03920" y="1261872"/>
            <a:ext cx="320040" cy="320040"/>
          </a:xfrm>
          <a:prstGeom prst="ellipse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29844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09360" y="1810512"/>
            <a:ext cx="2514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SVM, Random Forest, Deep Neural Networks for labeling media objects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12240"/>
          </a:solidFill>
          <a:ln w="19050">
            <a:solidFill>
              <a:srgbClr val="F59E0B"/>
            </a:solidFill>
            <a:prstDash val="solid"/>
          </a:ln>
          <a:effectLst>
            <a:outerShdw blurRad="1524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51760" y="3136392"/>
            <a:ext cx="320040" cy="320040"/>
          </a:xfrm>
          <a:prstGeom prst="ellipse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7296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Search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3685032"/>
            <a:ext cx="2514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Image Retrieval (CBIR), cosine similarity, LSH indexing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306324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12240"/>
          </a:solidFill>
          <a:ln w="19050">
            <a:solidFill>
              <a:srgbClr val="EC4899"/>
            </a:solidFill>
            <a:prstDash val="solid"/>
          </a:ln>
          <a:effectLst>
            <a:outerShdw blurRad="1524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77840" y="3136392"/>
            <a:ext cx="320040" cy="320040"/>
          </a:xfrm>
          <a:prstGeom prst="ellipse">
            <a:avLst/>
          </a:prstGeom>
          <a:solidFill>
            <a:srgbClr val="EC4899">
              <a:alpha val="7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317296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383280" y="3685032"/>
            <a:ext cx="2514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for images, RNNs/Transformers for sequences, GANs for synthesis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306324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12240"/>
          </a:solidFill>
          <a:ln w="19050">
            <a:solidFill>
              <a:srgbClr val="F97316"/>
            </a:solidFill>
            <a:prstDash val="solid"/>
          </a:ln>
          <a:effectLst>
            <a:outerShdw blurRad="1524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03920" y="3136392"/>
            <a:ext cx="320040" cy="320040"/>
          </a:xfrm>
          <a:prstGeom prst="ellipse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17296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Association Mining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309360" y="3685032"/>
            <a:ext cx="2514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co-occurrence patterns across modalities (text+image+audio)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&amp; Use Cases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252728"/>
            <a:ext cx="502920" cy="502920"/>
          </a:xfrm>
          <a:prstGeom prst="ellipse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25272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33272" y="132588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" y="1856232"/>
            <a:ext cx="254203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 analysis (MRI/CT/X-ray), disease detection, pathology slide classification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5848" y="1252728"/>
            <a:ext cx="502920" cy="502920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25272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59352" y="132588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55848" y="1856232"/>
            <a:ext cx="254203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recognition, fingerprint matching, video surveillance, anomaly detection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14300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81928" y="1252728"/>
            <a:ext cx="502920" cy="502920"/>
          </a:xfrm>
          <a:prstGeom prst="ellipse">
            <a:avLst/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125272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85432" y="132588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Engines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81928" y="1856232"/>
            <a:ext cx="254203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image search, video content indexing, audio fingerprinting (Shazam)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06324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" y="3172968"/>
            <a:ext cx="502920" cy="50292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17296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33272" y="32461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9768" y="3776472"/>
            <a:ext cx="254203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product search, recommendation systems, counterfeit image detection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306324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55848" y="3172968"/>
            <a:ext cx="502920" cy="502920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317296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🎬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959352" y="32461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Entertainment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55848" y="3776472"/>
            <a:ext cx="254203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recommendation, automatic tagging, highlight reel generation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306324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81928" y="3172968"/>
            <a:ext cx="502920" cy="502920"/>
          </a:xfrm>
          <a:prstGeom prst="ellipse">
            <a:avLst/>
          </a:prstGeom>
          <a:solidFill>
            <a:srgbClr val="EC4899">
              <a:alpha val="8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81928" y="317296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85432" y="32461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Geospatial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81928" y="3776472"/>
            <a:ext cx="254203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 classification, disaster mapping, urban change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3657600" cy="36576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Future Trends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A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Current Challenges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749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High dimensionality of multimedia features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258568"/>
            <a:ext cx="3749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Semantic gap between low-level features &amp; high-level meaning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734056"/>
            <a:ext cx="3749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Massive storage and computational costs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209544"/>
            <a:ext cx="3749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Privacy concerns in facial &amp; biometric data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685032"/>
            <a:ext cx="3749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Lack of labeled training datasets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3749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Cross-modal fusion complexity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114300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261872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E7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🚀  Future Trends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783080"/>
            <a:ext cx="3840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Multimodal Large Language Models (GPT-4V, Gemini)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46320" y="2258568"/>
            <a:ext cx="3840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Self-supervised &amp; zero-shot learning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2734056"/>
            <a:ext cx="3840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Real-time video understanding at scale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0" y="3209544"/>
            <a:ext cx="3840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Explainable AI for multimedia mining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3685032"/>
            <a:ext cx="3840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Federated learning for privacy-preserving mining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4160520"/>
            <a:ext cx="3840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3D &amp; AR/VR data mining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743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685800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594360"/>
          </a:xfrm>
          <a:prstGeom prst="roundRect">
            <a:avLst>
              <a:gd name="adj" fmla="val 10769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17320"/>
            <a:ext cx="502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 data mining unlocks insights hidden in images, audio, video, and text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8229600" cy="594360"/>
          </a:xfrm>
          <a:prstGeom prst="roundRect">
            <a:avLst>
              <a:gd name="adj" fmla="val 10769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121408"/>
            <a:ext cx="502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2121408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multimodal AI are revolutionizing the field rapidly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825496"/>
            <a:ext cx="8229600" cy="594360"/>
          </a:xfrm>
          <a:prstGeom prst="roundRect">
            <a:avLst>
              <a:gd name="adj" fmla="val 10769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825496"/>
            <a:ext cx="502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2825496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span healthcare, security, search, retail, and beyond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529584"/>
            <a:ext cx="8229600" cy="594360"/>
          </a:xfrm>
          <a:prstGeom prst="roundRect">
            <a:avLst>
              <a:gd name="adj" fmla="val 10769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529584"/>
            <a:ext cx="502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3529584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include the semantic gap, computational cost, and privacy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233672"/>
            <a:ext cx="8229600" cy="594360"/>
          </a:xfrm>
          <a:prstGeom prst="roundRect">
            <a:avLst>
              <a:gd name="adj" fmla="val 10769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233672"/>
            <a:ext cx="502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🔮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4233672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is multimodal — fusing all data types for richer intelligence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Art_mountaineering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SimSun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3395</Words>
  <Application>WPS Presentation</Application>
  <PresentationFormat>On-screen Show (16:9)</PresentationFormat>
  <Paragraphs>211</Paragraphs>
  <Slides>10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SimSun</vt:lpstr>
      <vt:lpstr>Wingdings</vt:lpstr>
      <vt:lpstr>DejaVu Sans</vt:lpstr>
      <vt:lpstr>Calibri</vt:lpstr>
      <vt:lpstr>Calibri</vt:lpstr>
      <vt:lpstr>Calibri</vt:lpstr>
      <vt:lpstr>Cambria</vt:lpstr>
      <vt:lpstr>Cambria</vt:lpstr>
      <vt:lpstr>Cambria</vt:lpstr>
      <vt:lpstr>C059</vt:lpstr>
      <vt:lpstr>Microsoft YaHei</vt:lpstr>
      <vt:lpstr>Droid Sans Fallback</vt:lpstr>
      <vt:lpstr>Arial Unicode MS</vt:lpstr>
      <vt:lpstr>Noto Sans Symbols2</vt:lpstr>
      <vt:lpstr>MathJax_Vector</vt:lpstr>
      <vt:lpstr>1_Art_mountaineering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Multimedia Data Mining</dc:title>
  <dc:creator>PptxGenJS</dc:creator>
  <dc:subject>PptxGenJS Presentation</dc:subject>
  <cp:lastModifiedBy>mrrv</cp:lastModifiedBy>
  <cp:revision>2</cp:revision>
  <dcterms:created xsi:type="dcterms:W3CDTF">2026-06-16T00:08:35Z</dcterms:created>
  <dcterms:modified xsi:type="dcterms:W3CDTF">2026-06-16T00:08:35Z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