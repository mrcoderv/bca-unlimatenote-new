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4" r:id="rId9"/>
    <p:sldId id="266" r:id="rId10"/>
    <p:sldId id="267" r:id="rId11"/>
    <p:sldId id="268" r:id="rId12"/>
    <p:sldId id="270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814"/>
              </a:gs>
              <a:gs pos="100000">
                <a:srgbClr val="1015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914400"/>
            <a:ext cx="2743200" cy="2743200"/>
          </a:xfrm>
          <a:prstGeom prst="ellipse">
            <a:avLst/>
          </a:prstGeom>
          <a:solidFill>
            <a:srgbClr val="00D2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457200" y="4572000"/>
            <a:ext cx="2286000" cy="2286000"/>
          </a:xfrm>
          <a:prstGeom prst="ellipse">
            <a:avLst/>
          </a:prstGeom>
          <a:solidFill>
            <a:srgbClr val="A878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5029200"/>
            <a:ext cx="1371600" cy="1371600"/>
          </a:xfrm>
          <a:prstGeom prst="ellipse">
            <a:avLst/>
          </a:prstGeom>
          <a:solidFill>
            <a:srgbClr val="FFB8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Calibri" panose="020F0502020204030204"/>
              </a:defRPr>
            </a:pPr>
            <a:r>
              <a:t>POKHARA UNIVERSITY  •  DATA MINING &amp; DATA WAREHOUSING  •  UNIT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 panose="020F0502020204030204"/>
              </a:defRPr>
            </a:pPr>
            <a:r>
              <a:t>Similarity Search in</a:t>
            </a:r>
            <a:br/>
            <a:r>
              <a:t>Multimedia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94A6"/>
                </a:solidFill>
                <a:latin typeface="Calibri" panose="020F0502020204030204"/>
              </a:defRPr>
            </a:pPr>
            <a:r>
              <a:t>Mining Complex Types of Data — Section 8.3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5D6"/>
                </a:solidFill>
                <a:latin typeface="Calibri" panose="020F0502020204030204"/>
              </a:defRPr>
            </a:pPr>
            <a:r>
              <a:rPr lang="en-US"/>
              <a:t>Presented By : Shishir Devkota</a:t>
            </a:r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14400" y="5120640"/>
            <a:ext cx="36576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E1A"/>
              </a:gs>
              <a:gs pos="100000">
                <a:srgbClr val="1217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Why Do We Need Similarity Search?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724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881360" cy="1097280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5D6"/>
                </a:solidFill>
                <a:latin typeface="Calibri" panose="020F0502020204030204"/>
              </a:defRPr>
            </a:pPr>
            <a:r>
              <a:t>Multimedia objects (images, audio, video) are almost never bit-for-bit identical — even when they show the same thing. Two photos of the same building from slightly different angles will have completely different raw pixels, yet a human calls them "very similar."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9250"/>
            <a:ext cx="237744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 panose="020F0502020204030204"/>
              </a:defRPr>
            </a:pPr>
            <a:r>
              <a:t>High-Dimensional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66160"/>
            <a:ext cx="2148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An image is a grid of millions of pixel values; a tiny change makes files byte-different but perceptually identical.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260604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6015" y="2889250"/>
            <a:ext cx="23876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 panose="020F0502020204030204"/>
              </a:defRPr>
            </a:pPr>
            <a:r>
              <a:t>Multiple Representations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3566160"/>
            <a:ext cx="2148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Compression, resolution, cropping, rotation, colour correction — all change raw data while meaning stays the same.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54496" y="260604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290703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 panose="020F0502020204030204"/>
              </a:defRPr>
            </a:pPr>
            <a:r>
              <a:t>No Natural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566160"/>
            <a:ext cx="2148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Unlike employee IDs or product codes, there is no unique textual identifier naturally attached to multimedia content.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260604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89814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 panose="020F0502020204030204"/>
              </a:defRPr>
            </a:pPr>
            <a:r>
              <a:t>Approximate Perception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566160"/>
            <a:ext cx="21488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Humans search for things that "look like" or "sound like" a query — not things that are byte-identical.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E1A"/>
              </a:gs>
              <a:gs pos="100000">
                <a:srgbClr val="1217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How Similarity Search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724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 panose="020F0502020204030204"/>
              </a:defRPr>
            </a:pPr>
            <a:r>
              <a:t>Three fundamental steps to find similar multimedia objects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E1A"/>
                </a:solidFill>
                <a:latin typeface="Calibri" panose="020F0502020204030204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Feature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74520"/>
            <a:ext cx="521525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Convert every multimedia object into a compact numeric summary called a</a:t>
            </a:r>
            <a:r>
              <a:rPr lang="en-US"/>
              <a:t> </a:t>
            </a:r>
            <a:r>
              <a:t>feature vector — capturing properties like colour, texture, shape, tempo, or pitch.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788920"/>
            <a:ext cx="502920" cy="50292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E1A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Distance / Similarity Computation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50996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Measure how "close" two feature vectors are using a mathematical distance</a:t>
            </a:r>
            <a:r>
              <a:rPr lang="en-US"/>
              <a:t> </a:t>
            </a:r>
            <a:r>
              <a:t>function (e.g., Euclidean distance). Smaller distance = higher similarity.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023360"/>
            <a:ext cx="502920" cy="50292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E1A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Ranking &amp;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43400"/>
            <a:ext cx="509905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Return the k closest objects (k-NN query) or all objects within a given distance</a:t>
            </a:r>
            <a:r>
              <a:rPr lang="en-US"/>
              <a:t> </a:t>
            </a:r>
            <a:r>
              <a:t>threshold (range query), ranked by similarity.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80835" y="1554480"/>
            <a:ext cx="4850130" cy="3825875"/>
          </a:xfrm>
          <a:prstGeom prst="roundRect">
            <a:avLst>
              <a:gd name="adj" fmla="val 8000"/>
            </a:avLst>
          </a:prstGeom>
          <a:solidFill>
            <a:srgbClr val="141C30"/>
          </a:solidFill>
          <a:ln w="19050">
            <a:solidFill>
              <a:srgbClr val="A8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78FF"/>
                </a:solidFill>
                <a:latin typeface="Calibri" panose="020F0502020204030204"/>
              </a:defRPr>
            </a:pPr>
            <a:r>
              <a:t>⚡  Core Assumption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835" y="2148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6"/>
                </a:solidFill>
                <a:latin typeface="Calibri" panose="020F0502020204030204"/>
              </a:defRPr>
            </a:pPr>
            <a:r>
              <a:t>"Objects that are close in feature space are perceptually and semantically similar."</a:t>
            </a:r>
            <a:br/>
            <a:br/>
            <a:r>
              <a:t>The quality of any similarity search system depends on how well chosen features capture true perceptual similarity.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9900" y="3816985"/>
            <a:ext cx="4572000" cy="1280160"/>
          </a:xfrm>
          <a:prstGeom prst="roundRect">
            <a:avLst>
              <a:gd name="adj" fmla="val 8000"/>
            </a:avLst>
          </a:prstGeom>
          <a:solidFill>
            <a:srgbClr val="1E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0715" y="3908425"/>
            <a:ext cx="420624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Raw Media</a:t>
            </a:r>
            <a:r>
              <a:rPr lang="en-US"/>
              <a:t> </a:t>
            </a:r>
            <a:r>
              <a:t>→ Feature Vector → Distance → Ranked Results</a:t>
            </a:r>
            <a:br/>
            <a:br/>
            <a:r>
              <a:t>Example: Query photo of sunset → extract colour histogram → compute Euclidean distance to all DB images → return top-10 closest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E1A"/>
              </a:gs>
              <a:gs pos="100000">
                <a:srgbClr val="1217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Feature Extraction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724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4A6"/>
                </a:solidFill>
                <a:latin typeface="Calibri" panose="020F0502020204030204"/>
              </a:defRPr>
            </a:pPr>
            <a:r>
              <a:t>Converting raw multimedia into numeric feature vectors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6"/>
                </a:solidFill>
                <a:latin typeface="Calibri" panose="020F0502020204030204"/>
              </a:defRPr>
            </a:pPr>
            <a:r>
              <a:t>Before any comparison can happen, raw multimedia content must be converted into feature vectors. Each object becomes a point in a multi-dimensional feature space.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28800"/>
          <a:ext cx="108813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B0E1A"/>
                          </a:solidFill>
                          <a:latin typeface="Calibri" panose="020F0502020204030204"/>
                        </a:defRPr>
                      </a:pPr>
                      <a:r>
                        <a:t>Media Type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B0E1A"/>
                          </a:solidFill>
                          <a:latin typeface="Calibri" panose="020F0502020204030204"/>
                        </a:defRPr>
                      </a:pPr>
                      <a:r>
                        <a:t>Typical Low-Level Features Extracted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00D2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Image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Colour histogram, texture (wavelets, Gabor filters), shape descriptors (edges, contours), local features (SIFT, SURF)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 Audio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E25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Pitch, tempo, frequency spectrum, Mel-Frequency Cepstral Coefficients (MFCC), zero-crossing rate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E25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Video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Frame-level image features sampled over time, motion vectors, scene-change points, combined audio features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Text / Captions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E25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Standard text-mining features such as TF-IDF vectors (used when metadata or captions accompany the media)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E25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E1A"/>
              </a:gs>
              <a:gs pos="100000">
                <a:srgbClr val="1217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Two Categories of Similarity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724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212080" cy="475488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572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Calibri" panose="020F0502020204030204"/>
              </a:defRPr>
            </a:pPr>
            <a:r>
              <a:rPr lang="en-US"/>
              <a:t>	</a:t>
            </a:r>
            <a:r>
              <a:t>Whole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6"/>
                </a:solidFill>
                <a:latin typeface="Calibri" panose="020F0502020204030204"/>
              </a:defRPr>
            </a:pPr>
            <a:r>
              <a:t>Compare the entire feature vector of the query against the entire feature vector of every candidate.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572000" cy="2258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✦  Finds objects that resemble the query as a complete unit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✦  Both objects must be represented at the same granularity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✦  Lower computational cost — one comparison per object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✦  Example: "Find images similar to this whole landscape photo"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FFB800"/>
                </a:solidFill>
                <a:latin typeface="Calibri" panose="020F0502020204030204"/>
              </a:defRPr>
            </a:pPr>
            <a:r>
              <a:t>Use case: Reverse image search of an entire photo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212080" cy="475488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572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800"/>
                </a:solidFill>
                <a:latin typeface="Calibri" panose="020F0502020204030204"/>
              </a:defRPr>
            </a:pPr>
            <a:r>
              <a:rPr lang="en-US"/>
              <a:t>	</a:t>
            </a:r>
            <a:r>
              <a:t>Sub-pattern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6"/>
                </a:solidFill>
                <a:latin typeface="Calibri" panose="020F0502020204030204"/>
              </a:defRPr>
            </a:pPr>
            <a:r>
              <a:t>Break objects into smaller sub-parts and search for objects containing a similar fragment.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4572000" cy="2258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✦  Finds objects with at least one sub-part similar to the query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✦  Requires segmentation into sub-regions or sub-clips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✦  Higher computational cost — many sub-part comparisons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  <a:r>
              <a:t>✦  Example: "Find songs containing this 3-second chorus clip"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BBC5D6"/>
                </a:solidFill>
                <a:latin typeface="Calibri" panose="020F0502020204030204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FFB800"/>
                </a:solidFill>
                <a:latin typeface="Calibri" panose="020F0502020204030204"/>
              </a:defRPr>
            </a:pPr>
            <a:r>
              <a:t>Use case: Audio fingerprinting (Shazam), partial image detection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E1A"/>
              </a:gs>
              <a:gs pos="100000">
                <a:srgbClr val="1217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Whole Matching vs. Sub-pattern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724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8813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B0E1A"/>
                          </a:solidFill>
                          <a:latin typeface="Calibri" panose="020F0502020204030204"/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B0E1A"/>
                          </a:solidFill>
                          <a:latin typeface="Calibri" panose="020F0502020204030204"/>
                        </a:defRPr>
                      </a:pPr>
                      <a:r>
                        <a:t>Whole Matching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B0E1A"/>
                          </a:solidFill>
                          <a:latin typeface="Calibri" panose="020F0502020204030204"/>
                        </a:defRPr>
                      </a:pPr>
                      <a:r>
                        <a:t>Sub-pattern Matching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00D2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Unit of comparison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Entire object's feature vector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Feature vectors of smaller sub-parts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Typical use case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E25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"Find images similar to this whole image"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E25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"Find objects containing a similar fragment"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E253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Pre-processing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Single feature vector per object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Segmentation into sub-parts, each vectorised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Computational cost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E25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Lower (one comparison per object)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E25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Higher (many sub-part comparisons)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E253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Example application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Reverse image search of entire photo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BC5D6"/>
                          </a:solidFill>
                          <a:latin typeface="Calibri" panose="020F0502020204030204"/>
                        </a:defRPr>
                      </a:pPr>
                      <a:r>
                        <a:t>Audio fingerprinting, partial image detection</a:t>
                      </a:r>
                    </a:p>
                  </a:txBody>
                  <a:tcPr anchor="ctr">
                    <a:lnL w="6350">
                      <a:solidFill>
                        <a:srgbClr val="2A3050"/>
                      </a:solidFill>
                    </a:lnL>
                    <a:lnR w="6350">
                      <a:solidFill>
                        <a:srgbClr val="2A3050"/>
                      </a:solidFill>
                    </a:lnR>
                    <a:lnT w="6350">
                      <a:solidFill>
                        <a:srgbClr val="2A3050"/>
                      </a:solidFill>
                    </a:lnT>
                    <a:lnB w="6350">
                      <a:solidFill>
                        <a:srgbClr val="2A3050"/>
                      </a:solidFill>
                    </a:lnB>
                    <a:solidFill>
                      <a:srgbClr val="1A1F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E1A"/>
              </a:gs>
              <a:gs pos="100000">
                <a:srgbClr val="1217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Curse of Dimensionality &amp; Reduction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724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2A151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  <a:latin typeface="Calibri" panose="020F0502020204030204"/>
              </a:defRPr>
            </a:pPr>
            <a:r>
              <a:t>⚠️  The Problem: Curse of Dimensionality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6"/>
                </a:solidFill>
                <a:latin typeface="Calibri" panose="020F0502020204030204"/>
              </a:defRPr>
            </a:pPr>
            <a:r>
              <a:t>Tree-based indexes (R-trees, k-d trees) work well only up to ~10-20 dimensions. Beyond that, their performance degrades to no better than a linear scan. Since multimedia feature vectors are often hundreds or thousands of dimensions long, dimensionality reduction is essential.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701103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alibri" panose="020F0502020204030204"/>
              </a:defRPr>
            </a:pPr>
            <a:r>
              <a:t>Dimensionality Reduction Techniques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8328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860" y="3429000"/>
            <a:ext cx="101523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 panose="020F0502020204030204"/>
              </a:defRPr>
            </a:pPr>
            <a:r>
              <a:t>PCA — Principal Component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385" y="3749040"/>
            <a:ext cx="1014285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Transforms correlated features into a smaller set of uncorrelated principal components that retain most of the variance.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055" y="4389120"/>
            <a:ext cx="1011618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Calibri" panose="020F0502020204030204"/>
              </a:defRPr>
            </a:pPr>
            <a:r>
              <a:t>DFT / DWT — Fourier &amp; Wavelet Transforms</a:t>
            </a:r>
            <a:r>
              <a:rPr lang="en-US"/>
              <a:t> -- ‘’important frequency component rakhxa’’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48055" y="4709160"/>
            <a:ext cx="10116185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Convert signals into a small number of dominant frequency coefficients that summarize the whole signal.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03520"/>
            <a:ext cx="10881360" cy="82296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" y="5358130"/>
            <a:ext cx="100812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78FF"/>
                </a:solidFill>
                <a:latin typeface="Calibri" panose="020F0502020204030204"/>
              </a:defRPr>
            </a:pPr>
            <a:r>
              <a:t>SVD — Singular Value Decomposi</a:t>
            </a:r>
            <a:r>
              <a:rPr lang="en-US"/>
              <a:t>s</a:t>
            </a:r>
            <a:r>
              <a:t>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" y="5669280"/>
            <a:ext cx="1008126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Reduces large feature matrices to a lower-rank approximation while preserving essential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E1A"/>
              </a:gs>
              <a:gs pos="100000">
                <a:srgbClr val="1217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Types of Similarity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724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146304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Calibri" panose="020F0502020204030204"/>
              </a:defRPr>
            </a:pPr>
            <a:r>
              <a:t>Range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74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6"/>
                </a:solidFill>
                <a:latin typeface="Calibri" panose="020F0502020204030204"/>
              </a:defRPr>
            </a:pPr>
            <a:r>
              <a:t>Retrieve all objects within a specified distance threshold of the query object.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alibri" panose="020F0502020204030204"/>
              </a:defRPr>
            </a:pPr>
            <a:r>
              <a:t>Example: "Find all images whose colour histogram distance from the query is less than 0.2"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63240"/>
            <a:ext cx="10881360" cy="146304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3154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B800"/>
                </a:solidFill>
                <a:latin typeface="Calibri" panose="020F0502020204030204"/>
              </a:defRPr>
            </a:pPr>
            <a:r>
              <a:t>k-Nearest Neighbour (k-NN)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661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6"/>
                </a:solidFill>
                <a:latin typeface="Calibri" panose="020F0502020204030204"/>
              </a:defRPr>
            </a:pPr>
            <a:r>
              <a:t>Retrieve the k objects that are closest to the query object.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977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alibri" panose="020F0502020204030204"/>
              </a:defRPr>
            </a:pPr>
            <a:r>
              <a:t>Example: "Find the 10 most similar songs to this one"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54880"/>
            <a:ext cx="10881360" cy="146304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4846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alibri" panose="020F0502020204030204"/>
              </a:defRPr>
            </a:pPr>
            <a:r>
              <a:t>Reverse k-NN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257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C5D6"/>
                </a:solidFill>
                <a:latin typeface="Calibri" panose="020F0502020204030204"/>
              </a:defRPr>
            </a:pPr>
            <a:r>
              <a:t>Find all objects for which the query object is among their k nearest neighbours.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669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4A6"/>
                </a:solidFill>
                <a:latin typeface="Calibri" panose="020F0502020204030204"/>
              </a:defRPr>
            </a:pPr>
            <a:r>
              <a:t>Example: "Which users would consider this new image among their top 5 matches?"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E1A"/>
              </a:gs>
              <a:gs pos="100000">
                <a:srgbClr val="1217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Real-World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724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447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 panose="020F0502020204030204"/>
              </a:defRPr>
            </a:pPr>
            <a:r>
              <a:t>Content-Based Image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Google Images / reverse image search — find visually similar pictures without text tags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44475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Calibri" panose="020F0502020204030204"/>
              </a:defRPr>
            </a:pPr>
            <a:r>
              <a:t>Audio Fingerprinting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7830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Shazam identifies songs from a short clip by matching pre-computed audio fingerprints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060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6791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Calibri" panose="020F0502020204030204"/>
              </a:defRPr>
            </a:pPr>
            <a:r>
              <a:t>Video Copy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17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Identifying pirated or duplicate video content on platforms like YouTube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6060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6791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Calibri" panose="020F0502020204030204"/>
              </a:defRPr>
            </a:pPr>
            <a:r>
              <a:t>Biometric Identification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017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Fingerprint, iris, and face recognition — match scanned samples against stored database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9136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78FF"/>
                </a:solidFill>
                <a:latin typeface="Calibri" panose="020F0502020204030204"/>
              </a:defRPr>
            </a:pPr>
            <a:r>
              <a:t>Medical Image 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2519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Finding past X-ray / MRI / CT scans with similar patterns to assist diagnosis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84048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39136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alibri" panose="020F0502020204030204"/>
              </a:defRPr>
            </a:pPr>
            <a:r>
              <a:t>E-commerce Visual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2519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"Search by image" or "shop similar look" features on shopping platforms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7492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1480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800"/>
                </a:solidFill>
                <a:latin typeface="Calibri" panose="020F0502020204030204"/>
              </a:defRPr>
            </a:pPr>
            <a:r>
              <a:t>Recommendation Systems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4864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Recommending visually or acoustically similar movies, albums, or products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0E1A"/>
              </a:gs>
              <a:gs pos="100000">
                <a:srgbClr val="12172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 panose="020F0502020204030204"/>
              </a:defRPr>
            </a:pPr>
            <a:r>
              <a:t>Key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777240"/>
            <a:ext cx="18288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5855" y="1325880"/>
            <a:ext cx="541337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6B"/>
                </a:solidFill>
                <a:latin typeface="Calibri" panose="020F0502020204030204"/>
              </a:defRPr>
            </a:pPr>
            <a:r>
              <a:t>Semantic Gap</a:t>
            </a:r>
            <a:r>
              <a:rPr lang="en-US"/>
              <a:t>  ’’eg blue ocean and blue car’’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25855" y="1664335"/>
            <a:ext cx="1027557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Low-level features (colour, texture) often fail to capture the true high-level meaning — two images can have similar histograms yet completely different meaning.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3317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5855" y="2377440"/>
            <a:ext cx="342519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800"/>
                </a:solidFill>
                <a:latin typeface="Calibri" panose="020F0502020204030204"/>
              </a:defRPr>
            </a:pPr>
            <a:r>
              <a:t>Curse of Dimensionality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5855" y="2715895"/>
            <a:ext cx="1027557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High-dimensional feature vectors make indexing and comparison computationally expensive; tree-based indexes degrade beyond ~10-20 dimensions.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832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5855" y="3429000"/>
            <a:ext cx="342519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 panose="020F0502020204030204"/>
              </a:defRPr>
            </a:pPr>
            <a:r>
              <a:t>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5855" y="3767455"/>
            <a:ext cx="1027557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Multimedia collections can contain billions of objects (e.g., YouTube, Instagram), requiring highly efficient approximate search methods.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348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5855" y="4480560"/>
            <a:ext cx="342519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Calibri" panose="020F0502020204030204"/>
              </a:defRPr>
            </a:pPr>
            <a:r>
              <a:t>Feature &amp; Distance Choice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5855" y="4819015"/>
            <a:ext cx="1027557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No single feature set or distance function works equally well for every domain; the design must be tuned to the content type and application.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864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1A1F36"/>
          </a:solidFill>
          <a:ln w="19050">
            <a:solidFill>
              <a:srgbClr val="2A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5855" y="5532120"/>
            <a:ext cx="490982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878FF"/>
                </a:solidFill>
                <a:latin typeface="Calibri" panose="020F0502020204030204"/>
              </a:defRPr>
            </a:pPr>
            <a:r>
              <a:t>Robustness to Transformations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5855" y="5870575"/>
            <a:ext cx="1027557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5D6"/>
                </a:solidFill>
                <a:latin typeface="Calibri" panose="020F0502020204030204"/>
              </a:defRPr>
            </a:pPr>
            <a:r>
              <a:t>An effective system must still recognize similarity despite rotation, scaling, cropping, compression, or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814"/>
              </a:gs>
              <a:gs pos="100000">
                <a:srgbClr val="10152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57200"/>
            <a:ext cx="3657600" cy="3657600"/>
          </a:xfrm>
          <a:prstGeom prst="ellipse">
            <a:avLst/>
          </a:prstGeom>
          <a:solidFill>
            <a:srgbClr val="00D2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4114800"/>
            <a:ext cx="2743200" cy="2743200"/>
          </a:xfrm>
          <a:prstGeom prst="ellipse">
            <a:avLst/>
          </a:prstGeom>
          <a:solidFill>
            <a:srgbClr val="A878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5029200"/>
            <a:ext cx="1828800" cy="1828800"/>
          </a:xfrm>
          <a:prstGeom prst="ellipse">
            <a:avLst/>
          </a:prstGeom>
          <a:solidFill>
            <a:srgbClr val="FFB8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 panose="020F0502020204030204"/>
              </a:defRPr>
            </a:pPr>
            <a:r>
              <a:t>Thank You!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91840"/>
            <a:ext cx="21031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Calibri" panose="020F0502020204030204"/>
              </a:defRPr>
            </a:pPr>
            <a:r>
              <a:t>Similarity Search in Multimedia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4A6"/>
                </a:solidFill>
                <a:latin typeface="Calibri" panose="020F0502020204030204"/>
              </a:defRPr>
            </a:pPr>
            <a:r>
              <a:t>Pokhara University  •  Data Mining &amp; Data Warehousing  •  Unit 8.3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C5D6"/>
                </a:solidFill>
                <a:latin typeface="Calibri" panose="020F0502020204030204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7208</Words>
  <Application>WPS Presentation</Application>
  <PresentationFormat>On-screen Show (4:3)</PresentationFormat>
  <Paragraphs>244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Arial</vt:lpstr>
      <vt:lpstr>DejaVu Sans</vt:lpstr>
      <vt:lpstr>Calibri</vt:lpstr>
      <vt:lpstr>Microsoft YaHei</vt:lpstr>
      <vt:lpstr>Droid Sans Fallback</vt:lpstr>
      <vt:lpstr>Arial Unicode MS</vt:lpstr>
      <vt:lpstr>Noto Sans Symbols2</vt:lpstr>
      <vt:lpstr>Calibri</vt:lpstr>
      <vt:lpstr>Noto Sans CJK HK</vt:lpstr>
      <vt:lpstr>SimSun</vt:lpstr>
      <vt:lpstr>MathJax_Vector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mrrv</cp:lastModifiedBy>
  <cp:revision>8</cp:revision>
  <dcterms:created xsi:type="dcterms:W3CDTF">2026-07-07T04:11:49Z</dcterms:created>
  <dcterms:modified xsi:type="dcterms:W3CDTF">2026-07-07T04:11:49Z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