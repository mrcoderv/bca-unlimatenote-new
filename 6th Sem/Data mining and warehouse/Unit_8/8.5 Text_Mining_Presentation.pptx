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D33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2D33"/>
                </a:solidFill>
                <a:latin typeface="Arial"/>
              </a:rPr>
              <a:t>Estimated Global Data Growth (illustrative)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Data Volume (Zettabytes)</c:v>
                </c:pt>
              </c:strCache>
            </c:strRef>
          </c:tx>
          <c:spPr>
            <a:solidFill>
              <a:srgbClr val="1270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D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  <c:pt idx="4">
                  <c:v>2028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97</c:v>
                </c:pt>
                <c:pt idx="2">
                  <c:v>149</c:v>
                </c:pt>
                <c:pt idx="3">
                  <c:v>213</c:v>
                </c:pt>
                <c:pt idx="4">
                  <c:v>291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D4-4DAF-BBAA-F18CBD9033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E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E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D33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F2D33"/>
                </a:solidFill>
                <a:latin typeface="Arial"/>
              </a:rPr>
              <a:t>Review Sentiment Breakdown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7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2B-4432-A016-993FA79D1CD2}"/>
              </c:ext>
            </c:extLst>
          </c:dPt>
          <c:dPt>
            <c:idx val="1"/>
            <c:bubble3D val="0"/>
            <c:spPr>
              <a:solidFill>
                <a:srgbClr val="9FC9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2B-4432-A016-993FA79D1CD2}"/>
              </c:ext>
            </c:extLst>
          </c:dPt>
          <c:dPt>
            <c:idx val="2"/>
            <c:bubble3D val="0"/>
            <c:spPr>
              <a:solidFill>
                <a:srgbClr val="F2A3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2B-4432-A016-993FA79D1C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22B-4432-A016-993FA79D1C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22B-4432-A016-993FA79D1CD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22B-4432-A016-993FA79D1C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23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2B-4432-A016-993FA79D1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D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58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12707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65760"/>
            <a:ext cx="2377440" cy="2377440"/>
          </a:xfrm>
          <a:prstGeom prst="ellipse">
            <a:avLst/>
          </a:prstGeom>
          <a:solidFill>
            <a:srgbClr val="F2A36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MINING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Unstructured Text into Actionable Knowledge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1005840"/>
            <a:ext cx="822960" cy="82296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2198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Srishti Sharma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Text Mining?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(also called text analytics) is the process of deriving high-quality information from unstructured text by identifying patterns, trends, and relationships using statistics, machine learning, and natural language processing.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raw, unstructured text </a:t>
            </a:r>
            <a:r>
              <a:rPr lang="en-US" sz="1400" b="1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structured data </a:t>
            </a:r>
            <a:r>
              <a:rPr lang="en-US" sz="14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can be analyzed, visualized, and acted upon.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0" y="128016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F2F7F7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508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2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406640" y="2514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enterprise data is unstructured text — emails, reports, reviews, social posts.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3520440"/>
            <a:ext cx="3931920" cy="0"/>
          </a:xfrm>
          <a:prstGeom prst="line">
            <a:avLst/>
          </a:prstGeom>
          <a:noFill/>
          <a:ln w="12700">
            <a:solidFill>
              <a:srgbClr val="D8E4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3703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is how organizations unlock the value hidden inside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400446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" y="5897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154680" y="5257800"/>
            <a:ext cx="548640" cy="54864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326" y="54004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34640" y="5897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760720" y="5257800"/>
            <a:ext cx="548640" cy="54864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366" y="540044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5897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Reports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366760" y="5257800"/>
            <a:ext cx="548640" cy="54864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406" y="540044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0" y="5897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Surveys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Text Mining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generate more text than they can ever read manually — text mining scales human understanding.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828800"/>
            <a:ext cx="566928" cy="566928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841" y="197620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80960" y="18013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Insight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680960" y="212140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trends across thousands of documents in minutes.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949440" y="2999232"/>
            <a:ext cx="566928" cy="566928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841" y="3146633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8096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680960" y="32918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strategy in evidence, not anecdotes.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949440" y="4169664"/>
            <a:ext cx="566928" cy="566928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841" y="4317065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80960" y="4142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680960" y="446227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fraud, complaints, or policy violations early.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Text Mining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moves through five stages before it becomes usable insight.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26275" cy="3291840"/>
          </a:xfrm>
          <a:prstGeom prst="roundRect">
            <a:avLst>
              <a:gd name="adj" fmla="val 4747"/>
            </a:avLst>
          </a:prstGeom>
          <a:solidFill>
            <a:srgbClr val="1342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957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19170" y="2788920"/>
            <a:ext cx="768096" cy="768096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874" y="2988625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49040"/>
            <a:ext cx="16519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15605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text from documents, web, or databases.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584643" y="36576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86395" y="2286000"/>
            <a:ext cx="1926275" cy="3291840"/>
          </a:xfrm>
          <a:prstGeom prst="roundRect">
            <a:avLst>
              <a:gd name="adj" fmla="val 4747"/>
            </a:avLst>
          </a:prstGeom>
          <a:solidFill>
            <a:srgbClr val="13424C"/>
          </a:solidFill>
          <a:ln/>
        </p:spPr>
      </p:sp>
      <p:sp>
        <p:nvSpPr>
          <p:cNvPr id="12" name="Text 9"/>
          <p:cNvSpPr/>
          <p:nvPr/>
        </p:nvSpPr>
        <p:spPr>
          <a:xfrm>
            <a:off x="3023555" y="23957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65485" y="2788920"/>
            <a:ext cx="768096" cy="768096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190" y="2988625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23555" y="3749040"/>
            <a:ext cx="16519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069275" y="4251960"/>
            <a:ext cx="15605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tokenize, remove noise &amp; stop words.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4830958" y="36576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132710" y="2286000"/>
            <a:ext cx="1926275" cy="3291840"/>
          </a:xfrm>
          <a:prstGeom prst="roundRect">
            <a:avLst>
              <a:gd name="adj" fmla="val 4747"/>
            </a:avLst>
          </a:prstGeom>
          <a:solidFill>
            <a:srgbClr val="13424C"/>
          </a:solidFill>
          <a:ln/>
        </p:spPr>
      </p:sp>
      <p:sp>
        <p:nvSpPr>
          <p:cNvPr id="19" name="Text 15"/>
          <p:cNvSpPr/>
          <p:nvPr/>
        </p:nvSpPr>
        <p:spPr>
          <a:xfrm>
            <a:off x="5269870" y="23957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711800" y="2788920"/>
            <a:ext cx="768096" cy="768096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05" y="2988625"/>
            <a:ext cx="368686" cy="36868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69870" y="3749040"/>
            <a:ext cx="16519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315590" y="4251960"/>
            <a:ext cx="15605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numeric features (TF-IDF, embeddings).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7077273" y="36576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7379025" y="2286000"/>
            <a:ext cx="1926275" cy="3291840"/>
          </a:xfrm>
          <a:prstGeom prst="roundRect">
            <a:avLst>
              <a:gd name="adj" fmla="val 4747"/>
            </a:avLst>
          </a:prstGeom>
          <a:solidFill>
            <a:srgbClr val="13424C"/>
          </a:solidFill>
          <a:ln/>
        </p:spPr>
      </p:sp>
      <p:sp>
        <p:nvSpPr>
          <p:cNvPr id="26" name="Text 21"/>
          <p:cNvSpPr/>
          <p:nvPr/>
        </p:nvSpPr>
        <p:spPr>
          <a:xfrm>
            <a:off x="7516185" y="23957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958115" y="2788920"/>
            <a:ext cx="768096" cy="768096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7820" y="2988625"/>
            <a:ext cx="368686" cy="36868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16185" y="3749040"/>
            <a:ext cx="16519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/ Modeling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561905" y="4251960"/>
            <a:ext cx="15605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ML/NLP to classify, cluster, or extract.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9323588" y="36576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9625340" y="2286000"/>
            <a:ext cx="1926275" cy="3291840"/>
          </a:xfrm>
          <a:prstGeom prst="roundRect">
            <a:avLst>
              <a:gd name="adj" fmla="val 4747"/>
            </a:avLst>
          </a:prstGeom>
          <a:solidFill>
            <a:srgbClr val="13424C"/>
          </a:solidFill>
          <a:ln/>
        </p:spPr>
      </p:sp>
      <p:sp>
        <p:nvSpPr>
          <p:cNvPr id="33" name="Text 27"/>
          <p:cNvSpPr/>
          <p:nvPr/>
        </p:nvSpPr>
        <p:spPr>
          <a:xfrm>
            <a:off x="9762500" y="23957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10204430" y="2788920"/>
            <a:ext cx="768096" cy="768096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4135" y="2988625"/>
            <a:ext cx="368686" cy="36868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62500" y="3749040"/>
            <a:ext cx="16519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37" name="Text 30"/>
          <p:cNvSpPr/>
          <p:nvPr/>
        </p:nvSpPr>
        <p:spPr>
          <a:xfrm>
            <a:off x="9808220" y="4251960"/>
            <a:ext cx="15605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and act on the resulting patterns.</a:t>
            </a:r>
            <a:endParaRPr lang="en-US" sz="1080" dirty="0"/>
          </a:p>
        </p:txBody>
      </p:sp>
      <p:sp>
        <p:nvSpPr>
          <p:cNvPr id="38" name="Text 3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NLP and machine-learning methods that power text mining.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4328" cy="1920240"/>
          </a:xfrm>
          <a:prstGeom prst="roundRect">
            <a:avLst>
              <a:gd name="adj" fmla="val 4762"/>
            </a:avLst>
          </a:prstGeom>
          <a:solidFill>
            <a:srgbClr val="F2F7F7"/>
          </a:solidFill>
          <a:ln/>
          <a:effectLst>
            <a:outerShdw blurRad="889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3271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21408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578608"/>
            <a:ext cx="39927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people, organizations, locations, and dates within text.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1828800"/>
            <a:ext cx="5364328" cy="1920240"/>
          </a:xfrm>
          <a:prstGeom prst="roundRect">
            <a:avLst>
              <a:gd name="adj" fmla="val 4762"/>
            </a:avLst>
          </a:prstGeom>
          <a:solidFill>
            <a:srgbClr val="F2F7F7"/>
          </a:solidFill>
          <a:ln/>
          <a:effectLst>
            <a:outerShdw blurRad="889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2148840"/>
            <a:ext cx="685800" cy="68580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356" y="23271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1728" y="2121408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21728" y="2578608"/>
            <a:ext cx="39927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emotional tone — positive, negative, or neutral.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64328" cy="1920240"/>
          </a:xfrm>
          <a:prstGeom prst="roundRect">
            <a:avLst>
              <a:gd name="adj" fmla="val 4762"/>
            </a:avLst>
          </a:prstGeom>
          <a:solidFill>
            <a:srgbClr val="F2F7F7"/>
          </a:solidFill>
          <a:ln/>
          <a:effectLst>
            <a:outerShdw blurRad="889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46131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07408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864608"/>
            <a:ext cx="39927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hidden themes across large document collections (e.g., LDA).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78728" y="4114800"/>
            <a:ext cx="5364328" cy="1920240"/>
          </a:xfrm>
          <a:prstGeom prst="roundRect">
            <a:avLst>
              <a:gd name="adj" fmla="val 4762"/>
            </a:avLst>
          </a:prstGeom>
          <a:solidFill>
            <a:srgbClr val="F2F7F7"/>
          </a:solidFill>
          <a:ln/>
          <a:effectLst>
            <a:outerShdw blurRad="889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3048" y="4434840"/>
            <a:ext cx="685800" cy="68580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356" y="46131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1728" y="4407408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21728" y="4864608"/>
            <a:ext cx="39927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predefined categories or labels to documents automatically.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Across Industries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5380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4884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clinical notes to support diagnosis and research.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53458" y="1371600"/>
            <a:ext cx="640080" cy="64008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879" y="153802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3458" y="214884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E-commerce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353458" y="2514600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product reviews to guide merchandising decisions.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58277" y="1371600"/>
            <a:ext cx="640080" cy="64008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698" y="153802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8277" y="214884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158277" y="2514600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filings and news for risk signals and fraud detection.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1" y="396118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457200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8640" y="4937760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contracts and case law for relevant precedent.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353458" y="3794760"/>
            <a:ext cx="640080" cy="64008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9879" y="3961181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53458" y="457200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4353458" y="4937760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public sentiment and emerging conversation trends.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8158277" y="3794760"/>
            <a:ext cx="640080" cy="640080"/>
          </a:xfrm>
          <a:prstGeom prst="ellipse">
            <a:avLst/>
          </a:prstGeom>
          <a:solidFill>
            <a:srgbClr val="E7F1F0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698" y="3961181"/>
            <a:ext cx="307238" cy="30723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58277" y="457200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8158277" y="4937760"/>
            <a:ext cx="34847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prioritizing tickets by topic and urgency.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Tools &amp; Libraries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widely used open-source and commercial platforms.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968496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NLP 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production-grade NLP pipelines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NLTK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NLP toolkit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Teaching, research &amp; prototyping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Transformers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State-of-the-art deep learning NLP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modeling &amp; document similarity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RapidMiner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analytics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No-code text mining workflows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Watson NLU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sentiment &amp; entity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27168" cy="1874520"/>
          </a:xfrm>
          <a:prstGeom prst="roundRect">
            <a:avLst>
              <a:gd name="adj" fmla="val 4878"/>
            </a:avLst>
          </a:prstGeom>
          <a:solidFill>
            <a:srgbClr val="13424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19952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10512"/>
            <a:ext cx="385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Ambiguity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737360" y="2240280"/>
            <a:ext cx="38555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Sarcasm, slang, and context-dependent meaning are hard to model.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24448" y="1554480"/>
            <a:ext cx="5227168" cy="1874520"/>
          </a:xfrm>
          <a:prstGeom prst="roundRect">
            <a:avLst>
              <a:gd name="adj" fmla="val 4878"/>
            </a:avLst>
          </a:prstGeom>
          <a:solidFill>
            <a:srgbClr val="13424C"/>
          </a:solidFill>
          <a:ln/>
        </p:spPr>
      </p:sp>
      <p:sp>
        <p:nvSpPr>
          <p:cNvPr id="9" name="Shape 6"/>
          <p:cNvSpPr/>
          <p:nvPr/>
        </p:nvSpPr>
        <p:spPr>
          <a:xfrm>
            <a:off x="6598768" y="1828800"/>
            <a:ext cx="640080" cy="64008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188" y="19952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21728" y="1810512"/>
            <a:ext cx="385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Text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421728" y="2240280"/>
            <a:ext cx="38555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must adapt across languages, dialects, and scripts.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886200"/>
            <a:ext cx="5227168" cy="1874520"/>
          </a:xfrm>
          <a:prstGeom prst="roundRect">
            <a:avLst>
              <a:gd name="adj" fmla="val 4878"/>
            </a:avLst>
          </a:prstGeom>
          <a:solidFill>
            <a:srgbClr val="13424C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142232"/>
            <a:ext cx="385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Bias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737360" y="4572000"/>
            <a:ext cx="38555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or unrepresentative text skews downstream results.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324448" y="3886200"/>
            <a:ext cx="5227168" cy="1874520"/>
          </a:xfrm>
          <a:prstGeom prst="roundRect">
            <a:avLst>
              <a:gd name="adj" fmla="val 4878"/>
            </a:avLst>
          </a:prstGeom>
          <a:solidFill>
            <a:srgbClr val="13424C"/>
          </a:solidFill>
          <a:ln/>
        </p:spPr>
      </p:sp>
      <p:sp>
        <p:nvSpPr>
          <p:cNvPr id="19" name="Shape 14"/>
          <p:cNvSpPr/>
          <p:nvPr/>
        </p:nvSpPr>
        <p:spPr>
          <a:xfrm>
            <a:off x="6598768" y="4160520"/>
            <a:ext cx="640080" cy="64008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188" y="43269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21728" y="4142232"/>
            <a:ext cx="385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421728" y="4572000"/>
            <a:ext cx="38555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massive corpora demands significant compute resources.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Mining Customer Reviews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applies sentiment analysis to 50,000 product reviews to prioritize fixes.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49377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783080"/>
            <a:ext cx="5760720" cy="3840480"/>
          </a:xfrm>
          <a:prstGeom prst="roundRect">
            <a:avLst>
              <a:gd name="adj" fmla="val 2381"/>
            </a:avLst>
          </a:prstGeom>
          <a:solidFill>
            <a:srgbClr val="F2F7F7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2011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found: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72200" y="251460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 cluster around “shipping delay” and “packaging damage.”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frequently mention “easy setup” and “great value.”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linked complaints to two specific SKUs.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 surfaced a rising theme: mobile app usability.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Text Mining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F2F7F7"/>
          </a:solidFill>
          <a:ln/>
          <a:effectLst>
            <a:outerShdw blurRad="889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2011680"/>
            <a:ext cx="822960" cy="82296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930" y="22256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657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bring deeper contextual understanding and few-shot extraction.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44568" y="173736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F2F7F7"/>
          </a:solidFill>
          <a:ln/>
          <a:effectLst>
            <a:outerShdw blurRad="889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61888" y="2011680"/>
            <a:ext cx="822960" cy="82296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858" y="22256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73168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64608" y="3657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pipelines mine text as it's created, not after the fact.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540496" y="173736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F2F7F7"/>
          </a:solidFill>
          <a:ln/>
          <a:effectLst>
            <a:outerShdw blurRad="889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957816" y="2011680"/>
            <a:ext cx="822960" cy="82296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1786" y="22256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69096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860536" y="3657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focus on fairness, transparency, and bias mitigation.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12707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1371600"/>
            <a:ext cx="914400" cy="914400"/>
          </a:xfrm>
          <a:prstGeom prst="ellipse">
            <a:avLst/>
          </a:prstGeom>
          <a:solidFill>
            <a:srgbClr val="12707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6093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664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Mining</dc:title>
  <dc:subject>PptxGenJS Presentation</dc:subject>
  <dc:creator>Claude</dc:creator>
  <cp:lastModifiedBy>sharmasrishti487@gmail.com</cp:lastModifiedBy>
  <cp:revision>2</cp:revision>
  <dcterms:created xsi:type="dcterms:W3CDTF">2026-07-04T08:42:40Z</dcterms:created>
  <dcterms:modified xsi:type="dcterms:W3CDTF">2026-07-06T16:36:12Z</dcterms:modified>
</cp:coreProperties>
</file>