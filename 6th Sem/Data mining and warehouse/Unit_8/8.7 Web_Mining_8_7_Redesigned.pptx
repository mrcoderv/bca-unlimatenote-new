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98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hero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8   ·   MINING COMPLEX TYPES OF DATA   ·   TOPIC 8.7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Mining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knowledge from the Web — content, structure, and usage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31520" y="4434840"/>
            <a:ext cx="2724912" cy="457200"/>
          </a:xfrm>
          <a:prstGeom prst="roundRect">
            <a:avLst>
              <a:gd name="adj" fmla="val 50000"/>
            </a:avLst>
          </a:prstGeom>
          <a:ln w="15875">
            <a:solidFill>
              <a:srgbClr val="BFE7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43484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Mining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85032" y="4434840"/>
            <a:ext cx="2971800" cy="457200"/>
          </a:xfrm>
          <a:prstGeom prst="roundRect">
            <a:avLst>
              <a:gd name="adj" fmla="val 50000"/>
            </a:avLst>
          </a:prstGeom>
          <a:ln w="15875">
            <a:solidFill>
              <a:srgbClr val="BFE7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85032" y="4434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Structure Mining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85432" y="4434840"/>
            <a:ext cx="2478024" cy="457200"/>
          </a:xfrm>
          <a:prstGeom prst="roundRect">
            <a:avLst>
              <a:gd name="adj" fmla="val 50000"/>
            </a:avLst>
          </a:prstGeom>
          <a:ln w="15875">
            <a:solidFill>
              <a:srgbClr val="BFE7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5432" y="443484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Usage Mining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Sadikshya Chhetri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61996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Warehousing   |   Pokhara University   |   BCA 6th Semester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  WEB MINING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Web Mining?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5074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Mining is the application of data mining techniques to discover patterns, structures, and knowledge from Web data. It treats the World Wide Web — pages, hyperlinks, and user interactions — as a massive, semi-structured data source.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3657600"/>
            <a:ext cx="5074920" cy="2606040"/>
          </a:xfrm>
          <a:prstGeom prst="roundRect">
            <a:avLst>
              <a:gd name="adj" fmla="val 4211"/>
            </a:avLst>
          </a:prstGeom>
          <a:solidFill>
            <a:srgbClr val="EFEEF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4526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Web data into actionable knowledge for search, personalization, and business intelligence — by combining ideas from data mining, information retrieval, natural language processing, and databases.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0" y="1417320"/>
            <a:ext cx="5806440" cy="4846320"/>
          </a:xfrm>
          <a:prstGeom prst="roundRect">
            <a:avLst>
              <a:gd name="adj" fmla="val 2642"/>
            </a:avLst>
          </a:prstGeom>
          <a:solidFill>
            <a:srgbClr val="2E2E52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WEB IS DIFFERENT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2194560"/>
            <a:ext cx="502920" cy="50292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30" dirty="0"/>
          </a:p>
        </p:txBody>
      </p:sp>
      <p:sp>
        <p:nvSpPr>
          <p:cNvPr id="13" name="Text 10"/>
          <p:cNvSpPr/>
          <p:nvPr/>
        </p:nvSpPr>
        <p:spPr>
          <a:xfrm>
            <a:off x="6858000" y="21396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&amp; growing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858000" y="24871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pages added and updated continuously.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3182112"/>
            <a:ext cx="502920" cy="50292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430" dirty="0"/>
          </a:p>
        </p:txBody>
      </p:sp>
      <p:sp>
        <p:nvSpPr>
          <p:cNvPr id="17" name="Text 14"/>
          <p:cNvSpPr/>
          <p:nvPr/>
        </p:nvSpPr>
        <p:spPr>
          <a:xfrm>
            <a:off x="6858000" y="3127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858000" y="34747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video, scripts, and semi-structured HTML.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4169664"/>
            <a:ext cx="502920" cy="50292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430" dirty="0"/>
          </a:p>
        </p:txBody>
      </p:sp>
      <p:sp>
        <p:nvSpPr>
          <p:cNvPr id="21" name="Text 18"/>
          <p:cNvSpPr/>
          <p:nvPr/>
        </p:nvSpPr>
        <p:spPr>
          <a:xfrm>
            <a:off x="685800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858000" y="446227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connect pages into a giant, navigable graph.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72200" y="5157216"/>
            <a:ext cx="502920" cy="50292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24" name="Text 21"/>
          <p:cNvSpPr/>
          <p:nvPr/>
        </p:nvSpPr>
        <p:spPr>
          <a:xfrm>
            <a:off x="6172200" y="5157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30" dirty="0"/>
          </a:p>
        </p:txBody>
      </p:sp>
      <p:sp>
        <p:nvSpPr>
          <p:cNvPr id="25" name="Text 22"/>
          <p:cNvSpPr/>
          <p:nvPr/>
        </p:nvSpPr>
        <p:spPr>
          <a:xfrm>
            <a:off x="6858000" y="51023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858000" y="54498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user behavior change in real 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Mining in Unit 8: Mining Complex Types of Data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8 moves beyond structured tables into complex data types. Web Mining (8.7) is the final and broadest topic — it builds directly on text mining and NLP, then adds the Web's unique structure of hyperlinks and user activity.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984248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12264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11" name="Text 8"/>
          <p:cNvSpPr/>
          <p:nvPr/>
        </p:nvSpPr>
        <p:spPr>
          <a:xfrm>
            <a:off x="2112264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185416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Data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593592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721608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15" name="Text 12"/>
          <p:cNvSpPr/>
          <p:nvPr/>
        </p:nvSpPr>
        <p:spPr>
          <a:xfrm>
            <a:off x="3721608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94760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202936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30952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19" name="Text 16"/>
          <p:cNvSpPr/>
          <p:nvPr/>
        </p:nvSpPr>
        <p:spPr>
          <a:xfrm>
            <a:off x="5330952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04104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12280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40296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23" name="Text 20"/>
          <p:cNvSpPr/>
          <p:nvPr/>
        </p:nvSpPr>
        <p:spPr>
          <a:xfrm>
            <a:off x="6940296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13448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421624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549640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FEEF8"/>
          </a:solidFill>
          <a:ln/>
        </p:spPr>
      </p:sp>
      <p:sp>
        <p:nvSpPr>
          <p:cNvPr id="27" name="Text 24"/>
          <p:cNvSpPr/>
          <p:nvPr/>
        </p:nvSpPr>
        <p:spPr>
          <a:xfrm>
            <a:off x="8549640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622792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Info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030968" y="251460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58984" y="2514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4FBDB4"/>
          </a:solidFill>
          <a:ln/>
        </p:spPr>
      </p:sp>
      <p:sp>
        <p:nvSpPr>
          <p:cNvPr id="31" name="Text 28"/>
          <p:cNvSpPr/>
          <p:nvPr/>
        </p:nvSpPr>
        <p:spPr>
          <a:xfrm>
            <a:off x="10158984" y="267919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232136" y="3108960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6486"/>
            </a:avLst>
          </a:prstGeom>
          <a:solidFill>
            <a:srgbClr val="2E2E52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645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LINK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Mining reuses Text Mining (8.5) and NLP (8.6) techniques on page text — Web Mining is best understood as applying everything learned earlier in Unit 8 to a single, richly linked data source: the Web.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PILLARS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Categories of Web Mining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Mining technique falls into one of three categories, based on what part of the Web it mines.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AF7F5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23160"/>
            <a:ext cx="685800" cy="68580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Content Mining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within pages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3891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knowledge from the text, images, and other content on Web pages — what the page says.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0574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F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2423160"/>
            <a:ext cx="685800" cy="6858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572000" y="3291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Structure Mining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57200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hyperlink graph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0" y="43891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link structure connecting pages — who links to whom, and how the Web is organized.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92440" y="20574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AF7F5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0" y="2423160"/>
            <a:ext cx="685800" cy="685800"/>
          </a:xfrm>
          <a:prstGeom prst="ellipse">
            <a:avLst/>
          </a:prstGeom>
          <a:solidFill>
            <a:srgbClr val="2E8C86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8366760" y="3291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Usage Mining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36676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behavior logs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43891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patterns from server logs and clickstreams — what users do once they arrive.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8.7.1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Content Mining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extracting useful information and knowledge from the content of Web pages — text, images, audio, video, and structured data such as tables and product listings.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EAF7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4688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Approach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software agents search and filter Web information automatically on the user's behalf.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agents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filtering / categorization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Web agents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24028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EFEEF8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4688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Approach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9260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the Web as a database — modeling semi-structured page data so it can be queried like structured records.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37960" y="37947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OEM (Object Exchange Model)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databases from raw HTML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languages for Web data (e.g. WebSQL)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2E2E52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engine scanning a product page to identify its title, price, and category — even though no formal database schema exists.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8.7.2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Structure Mining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knowledge from the topology of hyperlinks — treating the Web as a directed graph where pages are nodes and hyperlinks are edges — to reveal authority, structure, and community.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658368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6791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09067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 page by the quantity and quality of pages linking to it. Google's foundational ranking algorithm.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4114800"/>
            <a:ext cx="658368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793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Algorithm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77240" y="469087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two roles: Hubs (link to many good pages) and Authorities (linked to by many good hubs).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1371600"/>
            <a:ext cx="4297680" cy="4389120"/>
          </a:xfrm>
          <a:prstGeom prst="roundRect">
            <a:avLst>
              <a:gd name="adj" fmla="val 2553"/>
            </a:avLst>
          </a:prstGeom>
          <a:solidFill>
            <a:srgbClr val="2E2E52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LINK GRAPH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 flipV="1">
            <a:off x="8229600" y="2468880"/>
            <a:ext cx="1280160" cy="91440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 flipV="1">
            <a:off x="9509760" y="2468880"/>
            <a:ext cx="1280160" cy="91440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8686800" y="2468880"/>
            <a:ext cx="822960" cy="219456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 flipV="1">
            <a:off x="9509760" y="2468880"/>
            <a:ext cx="822960" cy="219456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 flipV="1">
            <a:off x="8229600" y="3383280"/>
            <a:ext cx="457200" cy="128016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0332720" y="3383280"/>
            <a:ext cx="457200" cy="1280160"/>
          </a:xfrm>
          <a:prstGeom prst="line">
            <a:avLst/>
          </a:prstGeom>
          <a:noFill/>
          <a:ln w="19050">
            <a:solidFill>
              <a:srgbClr val="6C6C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58300" y="2217420"/>
            <a:ext cx="502920" cy="502920"/>
          </a:xfrm>
          <a:prstGeom prst="ellipse">
            <a:avLst/>
          </a:prstGeom>
          <a:solidFill>
            <a:srgbClr val="4FB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8300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37576" y="3191256"/>
            <a:ext cx="384048" cy="384048"/>
          </a:xfrm>
          <a:prstGeom prst="ellipse">
            <a:avLst/>
          </a:prstGeom>
          <a:solidFill>
            <a:srgbClr val="8686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37576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597896" y="3191256"/>
            <a:ext cx="384048" cy="384048"/>
          </a:xfrm>
          <a:prstGeom prst="ellipse">
            <a:avLst/>
          </a:prstGeom>
          <a:solidFill>
            <a:srgbClr val="8686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97896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494776" y="4471416"/>
            <a:ext cx="384048" cy="384048"/>
          </a:xfrm>
          <a:prstGeom prst="ellipse">
            <a:avLst/>
          </a:prstGeom>
          <a:solidFill>
            <a:srgbClr val="8686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94776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140696" y="4471416"/>
            <a:ext cx="384048" cy="384048"/>
          </a:xfrm>
          <a:prstGeom prst="ellipse">
            <a:avLst/>
          </a:prstGeom>
          <a:solidFill>
            <a:srgbClr val="8686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40696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680960" y="5257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 receives the most inbound links → highest authority score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8.7.3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Usage Mining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data mining to Web server logs, clickstreams, and session data to understand how visitors actually navigate and interact with a site.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219456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EFEEF8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1463040" y="24688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2953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server logs; identify users, sessions, and page views from timestamps and IPs.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05072" y="21945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61104" y="219456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EF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35424" y="2468880"/>
            <a:ext cx="548640" cy="54864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14" name="Text 11"/>
          <p:cNvSpPr/>
          <p:nvPr/>
        </p:nvSpPr>
        <p:spPr>
          <a:xfrm>
            <a:off x="453542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5221224" y="24688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Discovery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35424" y="3200400"/>
            <a:ext cx="2953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association rules, sequential patterns, clustering, and classification to session data.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63256" y="219456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19288" y="219456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EFEE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93608" y="2468880"/>
            <a:ext cx="548640" cy="54864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0" name="Text 17"/>
          <p:cNvSpPr/>
          <p:nvPr/>
        </p:nvSpPr>
        <p:spPr>
          <a:xfrm>
            <a:off x="829360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0" dirty="0"/>
          </a:p>
        </p:txBody>
      </p:sp>
      <p:sp>
        <p:nvSpPr>
          <p:cNvPr id="21" name="Text 18"/>
          <p:cNvSpPr/>
          <p:nvPr/>
        </p:nvSpPr>
        <p:spPr>
          <a:xfrm>
            <a:off x="8979408" y="24688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Analysis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93608" y="3200400"/>
            <a:ext cx="2953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interpret discovered patterns to produce usable, actionable insight.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APPLICATIONS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5166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217920" y="5166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 &amp; ad placement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02920" y="5669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 &amp; navigation improvement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217920" y="566928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434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anomaly detection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Three Types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4882896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Mining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Mining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Mining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E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text, images, media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Hyperlink topology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logs, clickstreams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E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the Web as a...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collection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graph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user sessions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E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Techniques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NLP, text mining, IR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PageRank, HITS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 rules, clustering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E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Output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Topics, summaries, entities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 pages, communities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patterns, user profiles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E2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result relevance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Google's page ranking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34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Amazon's “customers also viewed”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Techniques &amp; Algorithms Used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508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&amp; Clustering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99008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pages or users by similarity; classifies content into topics or categories.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508" dirty="0"/>
          </a:p>
        </p:txBody>
      </p:sp>
      <p:sp>
        <p:nvSpPr>
          <p:cNvPr id="13" name="Text 10"/>
          <p:cNvSpPr/>
          <p:nvPr/>
        </p:nvSpPr>
        <p:spPr>
          <a:xfrm>
            <a:off x="457200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Analysis (PageRank / HITS)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0" y="299008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pages by inbound/outbound link patterns to estimate importance.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9244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36676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508" dirty="0"/>
          </a:p>
        </p:txBody>
      </p:sp>
      <p:sp>
        <p:nvSpPr>
          <p:cNvPr id="18" name="Text 15"/>
          <p:cNvSpPr/>
          <p:nvPr/>
        </p:nvSpPr>
        <p:spPr>
          <a:xfrm>
            <a:off x="836676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Rule Mining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66760" y="299008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items or pages frequently accessed together (market-basket style rules).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08" dirty="0"/>
          </a:p>
        </p:txBody>
      </p:sp>
      <p:sp>
        <p:nvSpPr>
          <p:cNvPr id="23" name="Text 20"/>
          <p:cNvSpPr/>
          <p:nvPr/>
        </p:nvSpPr>
        <p:spPr>
          <a:xfrm>
            <a:off x="77724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Pattern Mining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77240" y="545896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ordered browsing paths — what pages tend to be visited in sequence.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9768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508" dirty="0"/>
          </a:p>
        </p:txBody>
      </p:sp>
      <p:sp>
        <p:nvSpPr>
          <p:cNvPr id="28" name="Text 25"/>
          <p:cNvSpPr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Text Mining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4572000" y="545896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entities, topics, and sentiment from unstructured page content.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9244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31" name="Shape 28"/>
          <p:cNvSpPr/>
          <p:nvPr/>
        </p:nvSpPr>
        <p:spPr>
          <a:xfrm>
            <a:off x="836676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508" dirty="0"/>
          </a:p>
        </p:txBody>
      </p:sp>
      <p:sp>
        <p:nvSpPr>
          <p:cNvPr id="33" name="Text 30"/>
          <p:cNvSpPr/>
          <p:nvPr/>
        </p:nvSpPr>
        <p:spPr>
          <a:xfrm>
            <a:off x="836676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Induction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8366760" y="5458968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extraction rules to pull structured data from semi-structured HTML.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Web Mining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⚶</a:t>
            </a:r>
            <a:endParaRPr lang="en-US" sz="1508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 rank billions of pages using structure + content mining.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508" dirty="0"/>
          </a:p>
        </p:txBody>
      </p:sp>
      <p:sp>
        <p:nvSpPr>
          <p:cNvPr id="13" name="Text 10"/>
          <p:cNvSpPr/>
          <p:nvPr/>
        </p:nvSpPr>
        <p:spPr>
          <a:xfrm>
            <a:off x="457200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7200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recommendations rely on usage-mined behavior patterns.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92440" y="150876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366760" y="1764792"/>
            <a:ext cx="530352" cy="530352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1764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08" dirty="0"/>
          </a:p>
        </p:txBody>
      </p:sp>
      <p:sp>
        <p:nvSpPr>
          <p:cNvPr id="18" name="Text 15"/>
          <p:cNvSpPr/>
          <p:nvPr/>
        </p:nvSpPr>
        <p:spPr>
          <a:xfrm>
            <a:off x="836676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6676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feeds and streaming services tailor content to user history.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8" dirty="0"/>
          </a:p>
        </p:txBody>
      </p:sp>
      <p:sp>
        <p:nvSpPr>
          <p:cNvPr id="23" name="Text 20"/>
          <p:cNvSpPr/>
          <p:nvPr/>
        </p:nvSpPr>
        <p:spPr>
          <a:xfrm>
            <a:off x="77724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77240" y="527608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click/session patterns flag bots and fraudulent activity.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9768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508" dirty="0"/>
          </a:p>
        </p:txBody>
      </p:sp>
      <p:sp>
        <p:nvSpPr>
          <p:cNvPr id="28" name="Text 25"/>
          <p:cNvSpPr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4572000" y="527608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analyze site traffic to improve UX and conversion.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92440" y="3977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EFEEF8"/>
          </a:solidFill>
          <a:ln/>
        </p:spPr>
      </p:sp>
      <p:sp>
        <p:nvSpPr>
          <p:cNvPr id="31" name="Shape 28"/>
          <p:cNvSpPr/>
          <p:nvPr/>
        </p:nvSpPr>
        <p:spPr>
          <a:xfrm>
            <a:off x="8366760" y="4233672"/>
            <a:ext cx="530352" cy="530352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233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508" dirty="0"/>
          </a:p>
        </p:txBody>
      </p:sp>
      <p:sp>
        <p:nvSpPr>
          <p:cNvPr id="33" name="Text 30"/>
          <p:cNvSpPr/>
          <p:nvPr/>
        </p:nvSpPr>
        <p:spPr>
          <a:xfrm>
            <a:off x="836676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8366760" y="527608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competitor content and link strategies (SEO).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Issues in Web Mining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1828800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6550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 is huge &amp; dynamic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0574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links change continuously — mined patterns can go stale fast.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1828800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12" name="Text 9"/>
          <p:cNvSpPr/>
          <p:nvPr/>
        </p:nvSpPr>
        <p:spPr>
          <a:xfrm>
            <a:off x="647395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0" y="16550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noisy &amp; unstructured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86600" y="20574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navigation menus, and boilerplate dilute meaningful content.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12724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952" y="3447288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71600" y="32735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67588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mining involves personal browsing data, raising ethical and legal questions.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17920" y="312724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21" name="Shape 18"/>
          <p:cNvSpPr/>
          <p:nvPr/>
        </p:nvSpPr>
        <p:spPr>
          <a:xfrm>
            <a:off x="6473952" y="3447288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2" name="Text 19"/>
          <p:cNvSpPr/>
          <p:nvPr/>
        </p:nvSpPr>
        <p:spPr>
          <a:xfrm>
            <a:off x="6473952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86600" y="32735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&amp; manipulation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86600" y="367588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farms and keyword stuffing try to game structure/content mining results.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2920" y="474573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758952" y="5065776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371600" y="4892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29437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must operate over billions of pages and log entries efficiently.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474573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FEEF8"/>
          </a:solidFill>
          <a:ln/>
        </p:spPr>
      </p:sp>
      <p:sp>
        <p:nvSpPr>
          <p:cNvPr id="31" name="Shape 28"/>
          <p:cNvSpPr/>
          <p:nvPr/>
        </p:nvSpPr>
        <p:spPr>
          <a:xfrm>
            <a:off x="6473952" y="5065776"/>
            <a:ext cx="457200" cy="45720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32" name="Text 29"/>
          <p:cNvSpPr/>
          <p:nvPr/>
        </p:nvSpPr>
        <p:spPr>
          <a:xfrm>
            <a:off x="6473952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086600" y="4892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of language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086600" y="529437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 mean different things across contexts — hard for content mining.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How Google Uses All Three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AF7F5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1764792"/>
            <a:ext cx="548640" cy="54864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758952" y="246888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Mining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8952" y="2852928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and indexes the text and media of every page to understand what it's about.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794760" y="1508760"/>
            <a:ext cx="320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114800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AF7F5"/>
          </a:solidFill>
          <a:ln/>
        </p:spPr>
      </p:sp>
      <p:sp>
        <p:nvSpPr>
          <p:cNvPr id="12" name="Shape 9"/>
          <p:cNvSpPr/>
          <p:nvPr/>
        </p:nvSpPr>
        <p:spPr>
          <a:xfrm>
            <a:off x="4370832" y="1764792"/>
            <a:ext cx="548640" cy="548640"/>
          </a:xfrm>
          <a:prstGeom prst="ellipse">
            <a:avLst/>
          </a:prstGeom>
          <a:solidFill>
            <a:srgbClr val="3B3B63"/>
          </a:solidFill>
          <a:ln/>
        </p:spPr>
      </p:sp>
      <p:sp>
        <p:nvSpPr>
          <p:cNvPr id="13" name="Text 10"/>
          <p:cNvSpPr/>
          <p:nvPr/>
        </p:nvSpPr>
        <p:spPr>
          <a:xfrm>
            <a:off x="4370832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560" dirty="0"/>
          </a:p>
        </p:txBody>
      </p:sp>
      <p:sp>
        <p:nvSpPr>
          <p:cNvPr id="14" name="Text 11"/>
          <p:cNvSpPr/>
          <p:nvPr/>
        </p:nvSpPr>
        <p:spPr>
          <a:xfrm>
            <a:off x="4370832" y="246888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Mining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370832" y="2852928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PageRank across the hyperlink graph to estimate each page's authority.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06640" y="1508760"/>
            <a:ext cx="320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726680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AF7F5"/>
          </a:solidFill>
          <a:ln/>
        </p:spPr>
      </p:sp>
      <p:sp>
        <p:nvSpPr>
          <p:cNvPr id="18" name="Shape 15"/>
          <p:cNvSpPr/>
          <p:nvPr/>
        </p:nvSpPr>
        <p:spPr>
          <a:xfrm>
            <a:off x="7982712" y="1764792"/>
            <a:ext cx="548640" cy="548640"/>
          </a:xfrm>
          <a:prstGeom prst="ellipse">
            <a:avLst/>
          </a:prstGeom>
          <a:solidFill>
            <a:srgbClr val="2E8C86"/>
          </a:solidFill>
          <a:ln/>
        </p:spPr>
      </p:sp>
      <p:sp>
        <p:nvSpPr>
          <p:cNvPr id="19" name="Text 16"/>
          <p:cNvSpPr/>
          <p:nvPr/>
        </p:nvSpPr>
        <p:spPr>
          <a:xfrm>
            <a:off x="7982712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560" dirty="0"/>
          </a:p>
        </p:txBody>
      </p:sp>
      <p:sp>
        <p:nvSpPr>
          <p:cNvPr id="20" name="Text 17"/>
          <p:cNvSpPr/>
          <p:nvPr/>
        </p:nvSpPr>
        <p:spPr>
          <a:xfrm>
            <a:off x="7982712" y="246888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Mining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982712" y="2852928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click-through and dwell-time signals to refine ranking over time.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16052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2E2E52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370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search query is answered by combining what a page says, how authoritative it is within the link graph, and how real users have responded to it — three independent Web Mining processes working as one system.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rner_hex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966960" y="-82296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EAF7F5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14500"/>
            <a:ext cx="457200" cy="45720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6002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Mining applies data mining to the Web's content, link structure, and usage data.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02920" y="2487168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A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63040" y="248716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Mining extracts meaning from pages; Structure Mining ranks pages via links (PageRank, HITS); Usage Mining studies visitor behavior from logs.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02920" y="3602736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AF7F5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63040" y="3602736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— search engines, recommenders, fraud detectors — combine all three types together.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4718304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EAF7F5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4832604"/>
            <a:ext cx="457200" cy="457200"/>
          </a:xfrm>
          <a:prstGeom prst="ellipse">
            <a:avLst/>
          </a:prstGeom>
          <a:solidFill>
            <a:srgbClr val="4FBDB4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8326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63040" y="4718304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remain: scale, noise, privacy, and spam/manipulation of results.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02920" y="6080760"/>
            <a:ext cx="11155680" cy="457200"/>
          </a:xfrm>
          <a:prstGeom prst="roundRect">
            <a:avLst>
              <a:gd name="adj" fmla="val 16000"/>
            </a:avLst>
          </a:prstGeom>
          <a:solidFill>
            <a:srgbClr val="EFEEF8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reference: 8.7 Web mining — Web content mining, Web structure mining, Web usage mining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 Chhetri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hero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7724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 Topic 8.7: Web Mining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77240" y="4343400"/>
            <a:ext cx="2011680" cy="9144"/>
          </a:xfrm>
          <a:prstGeom prst="line">
            <a:avLst/>
          </a:prstGeom>
          <a:noFill/>
          <a:ln w="19050">
            <a:solidFill>
              <a:srgbClr val="BFE7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Sadikshya Chhetri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Warehousing   |   Pokhara University   |   BCA 6th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Microsoft Office PowerPoint</Application>
  <PresentationFormat>Widescreen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2026-07-11T12:24:41Z</dcterms:created>
  <dcterms:modified xsi:type="dcterms:W3CDTF">2026-07-12T01:53:55Z</dcterms:modified>
</cp:coreProperties>
</file>