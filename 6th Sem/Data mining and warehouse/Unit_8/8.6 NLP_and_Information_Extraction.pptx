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3" d="100"/>
          <a:sy n="73" d="100"/>
        </p:scale>
        <p:origin x="678" y="3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8681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exploring two connected ideas: Natural Language Processing, and Information Extraction.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NLP simply, then use the forest-listening analogy to make the idea stick.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big-picture goals of NLP before we look at how it actually works.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two stages of NLP — lexical analysis (tokens) and syntactic analysis (grammar).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two stages — semantic analysis (meaning) and discourse integration (linking sentences).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topic in familiar, everyday examples so the audience feels NLP is already part of their life.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well-known tools are all powered by NLP under the hood.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of NLP — keep it upbeat, these are the reasons it's worth learning.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open research problems, not solved ones — good moment to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transformation directly: a messy sentence becomes a clean table of facts.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clear goals — automatic extraction, less manual work, structured data, analysis, and discovery.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three components — NER, entity classification, and relationship extraction.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two components — event extraction and template filling.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is one of the clearest, most relatable places Information Extraction shows up.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is the second major field where Information Extraction shows up every day.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practical, everyday payoffs of Information Extraction.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the advantages slide with an honest look at where IE still falls short.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key points simply, then thank the audience and invite final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01A"/>
        </a:solidFill>
        <a:effectLst/>
      </p:bgPr>
    </p:bg>
    <p:spTree>
      <p:nvGrpSpPr>
        <p:cNvPr id="1" name=""/>
        <p:cNvGrpSpPr/>
        <p:nvPr/>
      </p:nvGrpSpPr>
      <p:grpSpPr>
        <a:xfrm>
          <a:off x="0" y="0"/>
          <a:ext cx="0" cy="0"/>
          <a:chOff x="0" y="0"/>
          <a:chExt cx="0" cy="0"/>
        </a:xfrm>
      </p:grpSpPr>
      <p:sp>
        <p:nvSpPr>
          <p:cNvPr id="2" name="Shape 0"/>
          <p:cNvSpPr/>
          <p:nvPr/>
        </p:nvSpPr>
        <p:spPr>
          <a:xfrm>
            <a:off x="9052560" y="-1463040"/>
            <a:ext cx="5029200" cy="5029200"/>
          </a:xfrm>
          <a:prstGeom prst="ellipse">
            <a:avLst/>
          </a:prstGeom>
          <a:solidFill>
            <a:srgbClr val="2C5F2D">
              <a:alpha val="60000"/>
            </a:srgbClr>
          </a:solidFill>
          <a:ln/>
        </p:spPr>
        <p:txBody>
          <a:bodyPr/>
          <a:lstStyle/>
          <a:p>
            <a:endParaRPr lang="en-US"/>
          </a:p>
        </p:txBody>
      </p:sp>
      <p:sp>
        <p:nvSpPr>
          <p:cNvPr id="3" name="Shape 1"/>
          <p:cNvSpPr/>
          <p:nvPr/>
        </p:nvSpPr>
        <p:spPr>
          <a:xfrm>
            <a:off x="10607040" y="4206240"/>
            <a:ext cx="3108960" cy="3108960"/>
          </a:xfrm>
          <a:prstGeom prst="ellipse">
            <a:avLst/>
          </a:prstGeom>
          <a:solidFill>
            <a:srgbClr val="97BC62">
              <a:alpha val="30000"/>
            </a:srgbClr>
          </a:solidFill>
          <a:ln/>
        </p:spPr>
        <p:txBody>
          <a:bodyPr/>
          <a:lstStyle/>
          <a:p>
            <a:endParaRPr lang="en-US"/>
          </a:p>
        </p:txBody>
      </p:sp>
      <p:sp>
        <p:nvSpPr>
          <p:cNvPr id="4" name="Shape 2"/>
          <p:cNvSpPr/>
          <p:nvPr/>
        </p:nvSpPr>
        <p:spPr>
          <a:xfrm>
            <a:off x="9646920" y="1554480"/>
            <a:ext cx="1554480" cy="1554480"/>
          </a:xfrm>
          <a:prstGeom prst="ellipse">
            <a:avLst/>
          </a:prstGeom>
          <a:solidFill>
            <a:srgbClr val="2C5F2D"/>
          </a:solidFill>
          <a:ln/>
        </p:spPr>
        <p:txBody>
          <a:bodyPr/>
          <a:lstStyle/>
          <a:p>
            <a:endParaRPr lang="en-US"/>
          </a:p>
        </p:txBody>
      </p:sp>
      <p:sp>
        <p:nvSpPr>
          <p:cNvPr id="6" name="Shape 3"/>
          <p:cNvSpPr/>
          <p:nvPr/>
        </p:nvSpPr>
        <p:spPr>
          <a:xfrm>
            <a:off x="9509760" y="1417320"/>
            <a:ext cx="1828800" cy="1828800"/>
          </a:xfrm>
          <a:prstGeom prst="ellipse">
            <a:avLst/>
          </a:prstGeom>
          <a:ln w="25400">
            <a:solidFill>
              <a:srgbClr val="97BC62"/>
            </a:solidFill>
            <a:prstDash val="solid"/>
          </a:ln>
        </p:spPr>
        <p:txBody>
          <a:bodyPr/>
          <a:lstStyle/>
          <a:p>
            <a:endParaRPr lang="en-US"/>
          </a:p>
        </p:txBody>
      </p:sp>
      <p:sp>
        <p:nvSpPr>
          <p:cNvPr id="7" name="Text 4"/>
          <p:cNvSpPr/>
          <p:nvPr/>
        </p:nvSpPr>
        <p:spPr>
          <a:xfrm>
            <a:off x="822960" y="1965960"/>
            <a:ext cx="8778240" cy="457200"/>
          </a:xfrm>
          <a:prstGeom prst="rect">
            <a:avLst/>
          </a:prstGeom>
          <a:noFill/>
          <a:ln/>
        </p:spPr>
        <p:txBody>
          <a:bodyPr wrap="square" lIns="0" tIns="0" rIns="0" bIns="0" rtlCol="0" anchor="ctr"/>
          <a:lstStyle/>
          <a:p>
            <a:pPr marL="0" indent="0">
              <a:buNone/>
            </a:pPr>
            <a:r>
              <a:rPr lang="en-US" sz="1400" b="1" kern="0" spc="300" dirty="0">
                <a:solidFill>
                  <a:srgbClr val="97BC62"/>
                </a:solidFill>
                <a:latin typeface="Calibri" pitchFamily="34" charset="0"/>
                <a:ea typeface="Calibri" pitchFamily="34" charset="-122"/>
                <a:cs typeface="Calibri" pitchFamily="34" charset="-120"/>
              </a:rPr>
              <a:t>NATURAL LANGUAGE PROCESSING</a:t>
            </a:r>
            <a:endParaRPr lang="en-US" sz="1400" dirty="0"/>
          </a:p>
        </p:txBody>
      </p:sp>
      <p:sp>
        <p:nvSpPr>
          <p:cNvPr id="8" name="Text 5"/>
          <p:cNvSpPr/>
          <p:nvPr/>
        </p:nvSpPr>
        <p:spPr>
          <a:xfrm>
            <a:off x="822960" y="2377440"/>
            <a:ext cx="8869680" cy="1645920"/>
          </a:xfrm>
          <a:prstGeom prst="rect">
            <a:avLst/>
          </a:prstGeom>
          <a:noFill/>
          <a:ln/>
        </p:spPr>
        <p:txBody>
          <a:bodyPr wrap="square" lIns="0" tIns="0" rIns="0" bIns="0" rtlCol="0" anchor="ctr"/>
          <a:lstStyle/>
          <a:p>
            <a:pPr marL="0" indent="0" algn="l">
              <a:lnSpc>
                <a:spcPct val="105000"/>
              </a:lnSpc>
              <a:buNone/>
            </a:pPr>
            <a:r>
              <a:rPr lang="en-US" sz="4200" b="1" dirty="0">
                <a:solidFill>
                  <a:srgbClr val="FFFFFF"/>
                </a:solidFill>
                <a:latin typeface="Cambria" pitchFamily="34" charset="0"/>
                <a:ea typeface="Cambria" pitchFamily="34" charset="-122"/>
                <a:cs typeface="Cambria" pitchFamily="34" charset="-120"/>
              </a:rPr>
              <a:t>Natural Language Processing </a:t>
            </a:r>
            <a:r>
              <a:rPr lang="en-US" sz="4200" b="1" dirty="0">
                <a:solidFill>
                  <a:srgbClr val="97BC62"/>
                </a:solidFill>
                <a:latin typeface="Cambria" pitchFamily="34" charset="0"/>
                <a:ea typeface="Cambria" pitchFamily="34" charset="-122"/>
                <a:cs typeface="Cambria" pitchFamily="34" charset="-120"/>
              </a:rPr>
              <a:t>&amp; Information Extraction</a:t>
            </a:r>
            <a:endParaRPr lang="en-US" sz="4200" dirty="0"/>
          </a:p>
        </p:txBody>
      </p:sp>
      <p:sp>
        <p:nvSpPr>
          <p:cNvPr id="9" name="Text 6"/>
          <p:cNvSpPr/>
          <p:nvPr/>
        </p:nvSpPr>
        <p:spPr>
          <a:xfrm>
            <a:off x="822960" y="4160520"/>
            <a:ext cx="8046720" cy="822960"/>
          </a:xfrm>
          <a:prstGeom prst="rect">
            <a:avLst/>
          </a:prstGeom>
          <a:noFill/>
          <a:ln/>
        </p:spPr>
        <p:txBody>
          <a:bodyPr wrap="square" lIns="0" tIns="0" rIns="0" bIns="0" rtlCol="0" anchor="ctr"/>
          <a:lstStyle/>
          <a:p>
            <a:pPr marL="0" indent="0">
              <a:buNone/>
            </a:pPr>
            <a:r>
              <a:rPr lang="en-US" sz="1700" i="1" dirty="0">
                <a:solidFill>
                  <a:srgbClr val="D9E8CE"/>
                </a:solidFill>
                <a:latin typeface="Calibri" pitchFamily="34" charset="0"/>
                <a:ea typeface="Calibri" pitchFamily="34" charset="-122"/>
                <a:cs typeface="Calibri" pitchFamily="34" charset="-120"/>
              </a:rPr>
              <a:t>How computers are learning to understand human language one small step at a time, like a forest growing season by season.</a:t>
            </a:r>
            <a:endParaRPr lang="en-US" sz="1700" dirty="0"/>
          </a:p>
        </p:txBody>
      </p:sp>
      <p:sp>
        <p:nvSpPr>
          <p:cNvPr id="10" name="Text 7"/>
          <p:cNvSpPr/>
          <p:nvPr/>
        </p:nvSpPr>
        <p:spPr>
          <a:xfrm>
            <a:off x="9509760" y="6126480"/>
            <a:ext cx="2743200" cy="365760"/>
          </a:xfrm>
          <a:prstGeom prst="rect">
            <a:avLst/>
          </a:prstGeom>
          <a:noFill/>
          <a:ln/>
        </p:spPr>
        <p:txBody>
          <a:bodyPr wrap="square" lIns="0" tIns="0" rIns="0" bIns="0" rtlCol="0" anchor="ctr"/>
          <a:lstStyle/>
          <a:p>
            <a:pPr marL="0" indent="0">
              <a:buNone/>
            </a:pPr>
            <a:r>
              <a:rPr lang="en-US" sz="2400" dirty="0">
                <a:solidFill>
                  <a:srgbClr val="9FB98F"/>
                </a:solidFill>
                <a:latin typeface="Calibri" pitchFamily="34" charset="0"/>
                <a:ea typeface="Calibri" pitchFamily="34" charset="-122"/>
                <a:cs typeface="Calibri" pitchFamily="34" charset="-120"/>
              </a:rPr>
              <a:t>Ankita Baral</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What Is Natural Language Processing?</a:t>
            </a:r>
            <a:endParaRPr lang="en-US" sz="3000" dirty="0"/>
          </a:p>
        </p:txBody>
      </p:sp>
      <p:sp>
        <p:nvSpPr>
          <p:cNvPr id="3" name="Text 1"/>
          <p:cNvSpPr/>
          <p:nvPr/>
        </p:nvSpPr>
        <p:spPr>
          <a:xfrm>
            <a:off x="640080" y="1600200"/>
            <a:ext cx="6492240" cy="1371600"/>
          </a:xfrm>
          <a:prstGeom prst="rect">
            <a:avLst/>
          </a:prstGeom>
          <a:noFill/>
          <a:ln/>
        </p:spPr>
        <p:txBody>
          <a:bodyPr wrap="square" lIns="0" tIns="0" rIns="0" bIns="0" rtlCol="0" anchor="ctr"/>
          <a:lstStyle/>
          <a:p>
            <a:pPr marL="0" indent="0">
              <a:lnSpc>
                <a:spcPct val="120000"/>
              </a:lnSpc>
              <a:buNone/>
            </a:pPr>
            <a:r>
              <a:rPr lang="en-US" sz="1600" dirty="0">
                <a:solidFill>
                  <a:srgbClr val="24331F"/>
                </a:solidFill>
                <a:latin typeface="Calibri" pitchFamily="34" charset="0"/>
                <a:ea typeface="Calibri" pitchFamily="34" charset="-122"/>
                <a:cs typeface="Calibri" pitchFamily="34" charset="-120"/>
              </a:rPr>
              <a:t>Natural Language Processing, or NLP, is a part of Artificial Intelligence (AI). It helps computers understand human language the words we speak, type, and write every day.</a:t>
            </a:r>
            <a:endParaRPr lang="en-US" sz="1600" dirty="0"/>
          </a:p>
        </p:txBody>
      </p:sp>
      <p:sp>
        <p:nvSpPr>
          <p:cNvPr id="4" name="Shape 2"/>
          <p:cNvSpPr/>
          <p:nvPr/>
        </p:nvSpPr>
        <p:spPr>
          <a:xfrm>
            <a:off x="640080" y="3069771"/>
            <a:ext cx="6492240" cy="2468880"/>
          </a:xfrm>
          <a:prstGeom prst="roundRect">
            <a:avLst>
              <a:gd name="adj" fmla="val 2963"/>
            </a:avLst>
          </a:prstGeom>
          <a:solidFill>
            <a:srgbClr val="F4F8F0"/>
          </a:solidFill>
          <a:ln/>
          <a:effectLst>
            <a:outerShdw blurRad="101600" dist="38100" dir="5400000" algn="bl" rotWithShape="0">
              <a:srgbClr val="1B3A1E">
                <a:alpha val="10000"/>
              </a:srgbClr>
            </a:outerShdw>
          </a:effectLst>
        </p:spPr>
        <p:txBody>
          <a:bodyPr/>
          <a:lstStyle/>
          <a:p>
            <a:endParaRPr lang="en-US"/>
          </a:p>
        </p:txBody>
      </p:sp>
      <p:sp>
        <p:nvSpPr>
          <p:cNvPr id="5" name="Text 3"/>
          <p:cNvSpPr/>
          <p:nvPr/>
        </p:nvSpPr>
        <p:spPr>
          <a:xfrm>
            <a:off x="914400" y="3291840"/>
            <a:ext cx="5943600" cy="2011680"/>
          </a:xfrm>
          <a:prstGeom prst="rect">
            <a:avLst/>
          </a:prstGeom>
          <a:noFill/>
          <a:ln/>
        </p:spPr>
        <p:txBody>
          <a:bodyPr wrap="square" lIns="0" tIns="0" rIns="0" bIns="0" rtlCol="0" anchor="ctr"/>
          <a:lstStyle/>
          <a:p>
            <a:pPr marL="0" indent="0">
              <a:lnSpc>
                <a:spcPct val="125000"/>
              </a:lnSpc>
              <a:buNone/>
            </a:pPr>
            <a:r>
              <a:rPr lang="en-US" sz="1500" i="1" dirty="0">
                <a:solidFill>
                  <a:srgbClr val="2C5F2D"/>
                </a:solidFill>
                <a:latin typeface="Calibri" pitchFamily="34" charset="0"/>
                <a:ea typeface="Calibri" pitchFamily="34" charset="-122"/>
                <a:cs typeface="Calibri" pitchFamily="34" charset="-120"/>
              </a:rPr>
              <a:t>Think of it like listening in a forest. At first, all you hear is noise. Slowly, you learn to tell a bird call from a rustling leaf and finally, a whole story in the wind. NLP works the same way: it helps a computer turn messy text and speech into something it can truly understand.</a:t>
            </a:r>
            <a:endParaRPr lang="en-US" sz="1500" dirty="0"/>
          </a:p>
        </p:txBody>
      </p:sp>
      <p:sp>
        <p:nvSpPr>
          <p:cNvPr id="6" name="Shape 4"/>
          <p:cNvSpPr/>
          <p:nvPr/>
        </p:nvSpPr>
        <p:spPr>
          <a:xfrm>
            <a:off x="8138160" y="1828800"/>
            <a:ext cx="1371600" cy="1371600"/>
          </a:xfrm>
          <a:prstGeom prst="ellipse">
            <a:avLst/>
          </a:prstGeom>
          <a:solidFill>
            <a:srgbClr val="E7F0DC"/>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316468" y="2007108"/>
            <a:ext cx="1014984" cy="1014984"/>
          </a:xfrm>
          <a:prstGeom prst="rect">
            <a:avLst/>
          </a:prstGeom>
        </p:spPr>
      </p:pic>
      <p:sp>
        <p:nvSpPr>
          <p:cNvPr id="8" name="Text 5"/>
          <p:cNvSpPr/>
          <p:nvPr/>
        </p:nvSpPr>
        <p:spPr>
          <a:xfrm>
            <a:off x="7589520" y="3429000"/>
            <a:ext cx="2468880" cy="822960"/>
          </a:xfrm>
          <a:prstGeom prst="rect">
            <a:avLst/>
          </a:prstGeom>
          <a:noFill/>
          <a:ln/>
        </p:spPr>
        <p:txBody>
          <a:bodyPr wrap="square" lIns="0" tIns="0" rIns="0" bIns="0" rtlCol="0" anchor="ctr"/>
          <a:lstStyle/>
          <a:p>
            <a:pPr marL="0" indent="0" algn="ctr">
              <a:buNone/>
            </a:pPr>
            <a:r>
              <a:rPr lang="en-US" sz="1300" dirty="0">
                <a:solidFill>
                  <a:srgbClr val="5E6E58"/>
                </a:solidFill>
                <a:latin typeface="Calibri" pitchFamily="34" charset="0"/>
                <a:ea typeface="Calibri" pitchFamily="34" charset="-122"/>
                <a:cs typeface="Calibri" pitchFamily="34" charset="-120"/>
              </a:rPr>
              <a:t>From messy text</a:t>
            </a:r>
            <a:endParaRPr lang="en-US" sz="1300" dirty="0"/>
          </a:p>
          <a:p>
            <a:pPr marL="0" indent="0" algn="ctr">
              <a:buNone/>
            </a:pPr>
            <a:r>
              <a:rPr lang="en-US" sz="1300" dirty="0">
                <a:solidFill>
                  <a:srgbClr val="5E6E58"/>
                </a:solidFill>
                <a:latin typeface="Calibri" pitchFamily="34" charset="0"/>
                <a:ea typeface="Calibri" pitchFamily="34" charset="-122"/>
                <a:cs typeface="Calibri" pitchFamily="34" charset="-120"/>
              </a:rPr>
              <a:t>to real understanding</a:t>
            </a:r>
            <a:endParaRPr lang="en-US" sz="1300" dirty="0"/>
          </a:p>
        </p:txBody>
      </p:sp>
      <p:sp>
        <p:nvSpPr>
          <p:cNvPr id="9" name="Text 6"/>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Objectives of NLP</a:t>
            </a:r>
            <a:endParaRPr lang="en-US" sz="30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In simple words what NLP is trying to achieve.</a:t>
            </a:r>
            <a:endParaRPr lang="en-US" sz="1400" dirty="0"/>
          </a:p>
        </p:txBody>
      </p:sp>
      <p:sp>
        <p:nvSpPr>
          <p:cNvPr id="4" name="Shape 2"/>
          <p:cNvSpPr/>
          <p:nvPr/>
        </p:nvSpPr>
        <p:spPr>
          <a:xfrm>
            <a:off x="640080" y="1874520"/>
            <a:ext cx="5166360" cy="2057400"/>
          </a:xfrm>
          <a:prstGeom prst="roundRect">
            <a:avLst>
              <a:gd name="adj" fmla="val 3556"/>
            </a:avLst>
          </a:prstGeom>
          <a:solidFill>
            <a:srgbClr val="F4F8F0"/>
          </a:solidFill>
          <a:ln/>
          <a:effectLst>
            <a:outerShdw blurRad="88900" dist="38100" dir="5400000" algn="bl" rotWithShape="0">
              <a:srgbClr val="1B3A1E">
                <a:alpha val="9000"/>
              </a:srgbClr>
            </a:outerShdw>
          </a:effectLst>
        </p:spPr>
        <p:txBody>
          <a:bodyPr/>
          <a:lstStyle/>
          <a:p>
            <a:endParaRPr lang="en-US"/>
          </a:p>
        </p:txBody>
      </p:sp>
      <p:sp>
        <p:nvSpPr>
          <p:cNvPr id="5" name="Shape 3"/>
          <p:cNvSpPr/>
          <p:nvPr/>
        </p:nvSpPr>
        <p:spPr>
          <a:xfrm>
            <a:off x="914400" y="2148840"/>
            <a:ext cx="822960" cy="822960"/>
          </a:xfrm>
          <a:prstGeom prst="ellipse">
            <a:avLst/>
          </a:prstGeom>
          <a:solidFill>
            <a:srgbClr val="FFFFF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21385" y="2255825"/>
            <a:ext cx="608990" cy="608990"/>
          </a:xfrm>
          <a:prstGeom prst="rect">
            <a:avLst/>
          </a:prstGeom>
        </p:spPr>
      </p:pic>
      <p:sp>
        <p:nvSpPr>
          <p:cNvPr id="7" name="Text 4"/>
          <p:cNvSpPr/>
          <p:nvPr/>
        </p:nvSpPr>
        <p:spPr>
          <a:xfrm>
            <a:off x="1920240" y="2103120"/>
            <a:ext cx="3611880" cy="640080"/>
          </a:xfrm>
          <a:prstGeom prst="rect">
            <a:avLst/>
          </a:prstGeom>
          <a:noFill/>
          <a:ln/>
        </p:spPr>
        <p:txBody>
          <a:bodyPr wrap="square" lIns="0" tIns="0" rIns="0" bIns="0" rtlCol="0" anchor="ctr"/>
          <a:lstStyle/>
          <a:p>
            <a:pPr marL="0" indent="0">
              <a:buNone/>
            </a:pPr>
            <a:r>
              <a:rPr lang="en-US" b="1" dirty="0">
                <a:solidFill>
                  <a:srgbClr val="2C5F2D"/>
                </a:solidFill>
                <a:latin typeface="Cambria" pitchFamily="34" charset="0"/>
                <a:ea typeface="Cambria" pitchFamily="34" charset="-122"/>
                <a:cs typeface="Cambria" pitchFamily="34" charset="-120"/>
              </a:rPr>
              <a:t>Understand Human Language</a:t>
            </a:r>
            <a:endParaRPr lang="en-US" dirty="0"/>
          </a:p>
        </p:txBody>
      </p:sp>
      <p:sp>
        <p:nvSpPr>
          <p:cNvPr id="8" name="Text 5"/>
          <p:cNvSpPr/>
          <p:nvPr/>
        </p:nvSpPr>
        <p:spPr>
          <a:xfrm>
            <a:off x="1920240" y="2743200"/>
            <a:ext cx="3611880" cy="1051560"/>
          </a:xfrm>
          <a:prstGeom prst="rect">
            <a:avLst/>
          </a:prstGeom>
          <a:noFill/>
          <a:ln/>
        </p:spPr>
        <p:txBody>
          <a:bodyPr wrap="square" lIns="0" tIns="0" rIns="0" bIns="0" rtlCol="0" anchor="ctr"/>
          <a:lstStyle/>
          <a:p>
            <a:pPr marL="0" indent="0">
              <a:lnSpc>
                <a:spcPct val="120000"/>
              </a:lnSpc>
              <a:buNone/>
            </a:pPr>
            <a:r>
              <a:rPr lang="en-US" sz="1400" dirty="0">
                <a:solidFill>
                  <a:srgbClr val="24331F"/>
                </a:solidFill>
                <a:latin typeface="Calibri" pitchFamily="34" charset="0"/>
                <a:ea typeface="Calibri" pitchFamily="34" charset="-122"/>
                <a:cs typeface="Calibri" pitchFamily="34" charset="-120"/>
              </a:rPr>
              <a:t>Help computers read and understand the words people speak, type, and write.</a:t>
            </a:r>
            <a:endParaRPr lang="en-US" sz="1400" dirty="0"/>
          </a:p>
        </p:txBody>
      </p:sp>
      <p:sp>
        <p:nvSpPr>
          <p:cNvPr id="9" name="Shape 6"/>
          <p:cNvSpPr/>
          <p:nvPr/>
        </p:nvSpPr>
        <p:spPr>
          <a:xfrm>
            <a:off x="6355080" y="1874520"/>
            <a:ext cx="5166360" cy="2057400"/>
          </a:xfrm>
          <a:prstGeom prst="roundRect">
            <a:avLst>
              <a:gd name="adj" fmla="val 3556"/>
            </a:avLst>
          </a:prstGeom>
          <a:solidFill>
            <a:srgbClr val="F4F8F0"/>
          </a:solidFill>
          <a:ln/>
          <a:effectLst>
            <a:outerShdw blurRad="88900" dist="38100" dir="5400000" algn="bl" rotWithShape="0">
              <a:srgbClr val="1B3A1E">
                <a:alpha val="9000"/>
              </a:srgbClr>
            </a:outerShdw>
          </a:effectLst>
        </p:spPr>
        <p:txBody>
          <a:bodyPr/>
          <a:lstStyle/>
          <a:p>
            <a:endParaRPr lang="en-US"/>
          </a:p>
        </p:txBody>
      </p:sp>
      <p:sp>
        <p:nvSpPr>
          <p:cNvPr id="10" name="Shape 7"/>
          <p:cNvSpPr/>
          <p:nvPr/>
        </p:nvSpPr>
        <p:spPr>
          <a:xfrm>
            <a:off x="6629400" y="2148840"/>
            <a:ext cx="822960" cy="822960"/>
          </a:xfrm>
          <a:prstGeom prst="ellipse">
            <a:avLst/>
          </a:prstGeom>
          <a:solidFill>
            <a:srgbClr val="FFFFFF"/>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6736385" y="2255825"/>
            <a:ext cx="608990" cy="608990"/>
          </a:xfrm>
          <a:prstGeom prst="rect">
            <a:avLst/>
          </a:prstGeom>
        </p:spPr>
      </p:pic>
      <p:sp>
        <p:nvSpPr>
          <p:cNvPr id="12" name="Text 8"/>
          <p:cNvSpPr/>
          <p:nvPr/>
        </p:nvSpPr>
        <p:spPr>
          <a:xfrm>
            <a:off x="7635240" y="2103120"/>
            <a:ext cx="3611880" cy="640080"/>
          </a:xfrm>
          <a:prstGeom prst="rect">
            <a:avLst/>
          </a:prstGeom>
          <a:noFill/>
          <a:ln/>
        </p:spPr>
        <p:txBody>
          <a:bodyPr wrap="square" lIns="0" tIns="0" rIns="0" bIns="0" rtlCol="0" anchor="ctr"/>
          <a:lstStyle/>
          <a:p>
            <a:pPr marL="0" indent="0">
              <a:buNone/>
            </a:pPr>
            <a:r>
              <a:rPr lang="en-US" b="1" dirty="0">
                <a:solidFill>
                  <a:srgbClr val="2C5F2D"/>
                </a:solidFill>
                <a:latin typeface="Cambria" pitchFamily="34" charset="0"/>
                <a:ea typeface="Cambria" pitchFamily="34" charset="-122"/>
                <a:cs typeface="Cambria" pitchFamily="34" charset="-120"/>
              </a:rPr>
              <a:t>Generate Natural Responses</a:t>
            </a:r>
            <a:endParaRPr lang="en-US" dirty="0"/>
          </a:p>
        </p:txBody>
      </p:sp>
      <p:sp>
        <p:nvSpPr>
          <p:cNvPr id="13" name="Text 9"/>
          <p:cNvSpPr/>
          <p:nvPr/>
        </p:nvSpPr>
        <p:spPr>
          <a:xfrm>
            <a:off x="7635240" y="2743200"/>
            <a:ext cx="3611880" cy="1051560"/>
          </a:xfrm>
          <a:prstGeom prst="rect">
            <a:avLst/>
          </a:prstGeom>
          <a:noFill/>
          <a:ln/>
        </p:spPr>
        <p:txBody>
          <a:bodyPr wrap="square" lIns="0" tIns="0" rIns="0" bIns="0" rtlCol="0" anchor="ctr"/>
          <a:lstStyle/>
          <a:p>
            <a:pPr marL="0" indent="0">
              <a:lnSpc>
                <a:spcPct val="120000"/>
              </a:lnSpc>
              <a:buNone/>
            </a:pPr>
            <a:r>
              <a:rPr lang="en-US" sz="1400" dirty="0">
                <a:solidFill>
                  <a:srgbClr val="24331F"/>
                </a:solidFill>
                <a:latin typeface="Calibri" pitchFamily="34" charset="0"/>
                <a:ea typeface="Calibri" pitchFamily="34" charset="-122"/>
                <a:cs typeface="Calibri" pitchFamily="34" charset="-120"/>
              </a:rPr>
              <a:t>Let computers reply in a way that sounds natural, not robotic.</a:t>
            </a:r>
            <a:endParaRPr lang="en-US" sz="1400" dirty="0"/>
          </a:p>
        </p:txBody>
      </p:sp>
      <p:sp>
        <p:nvSpPr>
          <p:cNvPr id="14" name="Shape 10"/>
          <p:cNvSpPr/>
          <p:nvPr/>
        </p:nvSpPr>
        <p:spPr>
          <a:xfrm>
            <a:off x="640080" y="4160520"/>
            <a:ext cx="5166360" cy="2057400"/>
          </a:xfrm>
          <a:prstGeom prst="roundRect">
            <a:avLst>
              <a:gd name="adj" fmla="val 3556"/>
            </a:avLst>
          </a:prstGeom>
          <a:solidFill>
            <a:srgbClr val="F4F8F0"/>
          </a:solidFill>
          <a:ln/>
          <a:effectLst>
            <a:outerShdw blurRad="88900" dist="38100" dir="5400000" algn="bl" rotWithShape="0">
              <a:srgbClr val="1B3A1E">
                <a:alpha val="9000"/>
              </a:srgbClr>
            </a:outerShdw>
          </a:effectLst>
        </p:spPr>
        <p:txBody>
          <a:bodyPr/>
          <a:lstStyle/>
          <a:p>
            <a:endParaRPr lang="en-US"/>
          </a:p>
        </p:txBody>
      </p:sp>
      <p:sp>
        <p:nvSpPr>
          <p:cNvPr id="15" name="Shape 11"/>
          <p:cNvSpPr/>
          <p:nvPr/>
        </p:nvSpPr>
        <p:spPr>
          <a:xfrm>
            <a:off x="914400" y="4434840"/>
            <a:ext cx="822960" cy="822960"/>
          </a:xfrm>
          <a:prstGeom prst="ellipse">
            <a:avLst/>
          </a:prstGeom>
          <a:solidFill>
            <a:srgbClr val="FFFFFF"/>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1021385" y="4541825"/>
            <a:ext cx="608990" cy="608990"/>
          </a:xfrm>
          <a:prstGeom prst="rect">
            <a:avLst/>
          </a:prstGeom>
        </p:spPr>
      </p:pic>
      <p:sp>
        <p:nvSpPr>
          <p:cNvPr id="17" name="Text 12"/>
          <p:cNvSpPr/>
          <p:nvPr/>
        </p:nvSpPr>
        <p:spPr>
          <a:xfrm>
            <a:off x="1920240" y="4389120"/>
            <a:ext cx="3611880" cy="640080"/>
          </a:xfrm>
          <a:prstGeom prst="rect">
            <a:avLst/>
          </a:prstGeom>
          <a:noFill/>
          <a:ln/>
        </p:spPr>
        <p:txBody>
          <a:bodyPr wrap="square" lIns="0" tIns="0" rIns="0" bIns="0" rtlCol="0" anchor="ctr"/>
          <a:lstStyle/>
          <a:p>
            <a:pPr marL="0" indent="0">
              <a:buNone/>
            </a:pPr>
            <a:r>
              <a:rPr lang="en-US" b="1" dirty="0">
                <a:solidFill>
                  <a:srgbClr val="2C5F2D"/>
                </a:solidFill>
                <a:latin typeface="Cambria" pitchFamily="34" charset="0"/>
                <a:ea typeface="Cambria" pitchFamily="34" charset="-122"/>
                <a:cs typeface="Cambria" pitchFamily="34" charset="-120"/>
              </a:rPr>
              <a:t>Bridge the Communication Gap</a:t>
            </a:r>
            <a:endParaRPr lang="en-US" dirty="0"/>
          </a:p>
        </p:txBody>
      </p:sp>
      <p:sp>
        <p:nvSpPr>
          <p:cNvPr id="18" name="Text 13"/>
          <p:cNvSpPr/>
          <p:nvPr/>
        </p:nvSpPr>
        <p:spPr>
          <a:xfrm>
            <a:off x="1920240" y="5029200"/>
            <a:ext cx="3611880" cy="1051560"/>
          </a:xfrm>
          <a:prstGeom prst="rect">
            <a:avLst/>
          </a:prstGeom>
          <a:noFill/>
          <a:ln/>
        </p:spPr>
        <p:txBody>
          <a:bodyPr wrap="square" lIns="0" tIns="0" rIns="0" bIns="0" rtlCol="0" anchor="ctr"/>
          <a:lstStyle/>
          <a:p>
            <a:pPr marL="0" indent="0">
              <a:lnSpc>
                <a:spcPct val="120000"/>
              </a:lnSpc>
              <a:buNone/>
            </a:pPr>
            <a:r>
              <a:rPr lang="en-US" sz="1400" dirty="0">
                <a:solidFill>
                  <a:srgbClr val="24331F"/>
                </a:solidFill>
                <a:latin typeface="Calibri" pitchFamily="34" charset="0"/>
                <a:ea typeface="Calibri" pitchFamily="34" charset="-122"/>
                <a:cs typeface="Calibri" pitchFamily="34" charset="-120"/>
              </a:rPr>
              <a:t>Make it easier for humans and computers to talk to each other.</a:t>
            </a:r>
            <a:endParaRPr lang="en-US" sz="1400" dirty="0"/>
          </a:p>
        </p:txBody>
      </p:sp>
      <p:sp>
        <p:nvSpPr>
          <p:cNvPr id="19" name="Shape 14"/>
          <p:cNvSpPr/>
          <p:nvPr/>
        </p:nvSpPr>
        <p:spPr>
          <a:xfrm>
            <a:off x="6355080" y="4160520"/>
            <a:ext cx="5166360" cy="2057400"/>
          </a:xfrm>
          <a:prstGeom prst="roundRect">
            <a:avLst>
              <a:gd name="adj" fmla="val 3556"/>
            </a:avLst>
          </a:prstGeom>
          <a:solidFill>
            <a:srgbClr val="F4F8F0"/>
          </a:solidFill>
          <a:ln/>
          <a:effectLst>
            <a:outerShdw blurRad="88900" dist="38100" dir="5400000" algn="bl" rotWithShape="0">
              <a:srgbClr val="1B3A1E">
                <a:alpha val="9000"/>
              </a:srgbClr>
            </a:outerShdw>
          </a:effectLst>
        </p:spPr>
        <p:txBody>
          <a:bodyPr/>
          <a:lstStyle/>
          <a:p>
            <a:endParaRPr lang="en-US"/>
          </a:p>
        </p:txBody>
      </p:sp>
      <p:sp>
        <p:nvSpPr>
          <p:cNvPr id="20" name="Shape 15"/>
          <p:cNvSpPr/>
          <p:nvPr/>
        </p:nvSpPr>
        <p:spPr>
          <a:xfrm>
            <a:off x="6629400" y="4434840"/>
            <a:ext cx="822960" cy="822960"/>
          </a:xfrm>
          <a:prstGeom prst="ellipse">
            <a:avLst/>
          </a:prstGeom>
          <a:solidFill>
            <a:srgbClr val="FFFFFF"/>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6736385" y="4541825"/>
            <a:ext cx="608990" cy="608990"/>
          </a:xfrm>
          <a:prstGeom prst="rect">
            <a:avLst/>
          </a:prstGeom>
        </p:spPr>
      </p:pic>
      <p:sp>
        <p:nvSpPr>
          <p:cNvPr id="22" name="Text 16"/>
          <p:cNvSpPr/>
          <p:nvPr/>
        </p:nvSpPr>
        <p:spPr>
          <a:xfrm>
            <a:off x="7635240" y="4389120"/>
            <a:ext cx="3611880" cy="640080"/>
          </a:xfrm>
          <a:prstGeom prst="rect">
            <a:avLst/>
          </a:prstGeom>
          <a:noFill/>
          <a:ln/>
        </p:spPr>
        <p:txBody>
          <a:bodyPr wrap="square" lIns="0" tIns="0" rIns="0" bIns="0" rtlCol="0" anchor="ctr"/>
          <a:lstStyle/>
          <a:p>
            <a:pPr marL="0" indent="0">
              <a:buNone/>
            </a:pPr>
            <a:r>
              <a:rPr lang="en-US" b="1" dirty="0">
                <a:solidFill>
                  <a:srgbClr val="2C5F2D"/>
                </a:solidFill>
                <a:latin typeface="Cambria" pitchFamily="34" charset="0"/>
                <a:ea typeface="Cambria" pitchFamily="34" charset="-122"/>
                <a:cs typeface="Cambria" pitchFamily="34" charset="-120"/>
              </a:rPr>
              <a:t>Automate Language Tasks</a:t>
            </a:r>
            <a:endParaRPr lang="en-US" dirty="0"/>
          </a:p>
        </p:txBody>
      </p:sp>
      <p:sp>
        <p:nvSpPr>
          <p:cNvPr id="23" name="Text 17"/>
          <p:cNvSpPr/>
          <p:nvPr/>
        </p:nvSpPr>
        <p:spPr>
          <a:xfrm>
            <a:off x="7635240" y="5029200"/>
            <a:ext cx="3611880" cy="1051560"/>
          </a:xfrm>
          <a:prstGeom prst="rect">
            <a:avLst/>
          </a:prstGeom>
          <a:noFill/>
          <a:ln/>
        </p:spPr>
        <p:txBody>
          <a:bodyPr wrap="square" lIns="0" tIns="0" rIns="0" bIns="0" rtlCol="0" anchor="ctr"/>
          <a:lstStyle/>
          <a:p>
            <a:pPr marL="0" indent="0">
              <a:lnSpc>
                <a:spcPct val="120000"/>
              </a:lnSpc>
              <a:buNone/>
            </a:pPr>
            <a:r>
              <a:rPr lang="en-US" sz="1400" dirty="0">
                <a:solidFill>
                  <a:srgbClr val="24331F"/>
                </a:solidFill>
                <a:latin typeface="Calibri" pitchFamily="34" charset="0"/>
                <a:ea typeface="Calibri" pitchFamily="34" charset="-122"/>
                <a:cs typeface="Calibri" pitchFamily="34" charset="-120"/>
              </a:rPr>
              <a:t>Handle jobs like translation, summarizing, and checking tone automatically.</a:t>
            </a:r>
            <a:endParaRPr lang="en-US" sz="1400" dirty="0"/>
          </a:p>
        </p:txBody>
      </p:sp>
      <p:sp>
        <p:nvSpPr>
          <p:cNvPr id="24" name="Text 18"/>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200" b="1" dirty="0">
                <a:solidFill>
                  <a:srgbClr val="2C5F2D"/>
                </a:solidFill>
                <a:latin typeface="Cambria" pitchFamily="34" charset="0"/>
                <a:ea typeface="Cambria" pitchFamily="34" charset="-122"/>
                <a:cs typeface="Cambria" pitchFamily="34" charset="-120"/>
              </a:rPr>
              <a:t>Components of NLP — Part 1</a:t>
            </a:r>
            <a:endParaRPr lang="en-US" sz="32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NLP breaks a sentence down in four stages, like a tree growing from roots to leaves.</a:t>
            </a:r>
            <a:endParaRPr lang="en-US" sz="1400" dirty="0"/>
          </a:p>
        </p:txBody>
      </p:sp>
      <p:sp>
        <p:nvSpPr>
          <p:cNvPr id="4" name="Shape 2"/>
          <p:cNvSpPr/>
          <p:nvPr/>
        </p:nvSpPr>
        <p:spPr>
          <a:xfrm>
            <a:off x="690154" y="1965960"/>
            <a:ext cx="5166360" cy="4160520"/>
          </a:xfrm>
          <a:prstGeom prst="roundRect">
            <a:avLst>
              <a:gd name="adj" fmla="val 1758"/>
            </a:avLst>
          </a:prstGeom>
          <a:solidFill>
            <a:srgbClr val="F4F8F0"/>
          </a:solidFill>
          <a:ln/>
          <a:effectLst>
            <a:outerShdw blurRad="88900" dist="38100" dir="5400000" algn="bl" rotWithShape="0">
              <a:srgbClr val="1B3A1E">
                <a:alpha val="9000"/>
              </a:srgbClr>
            </a:outerShdw>
          </a:effectLst>
        </p:spPr>
        <p:txBody>
          <a:bodyPr/>
          <a:lstStyle/>
          <a:p>
            <a:endParaRPr lang="en-US"/>
          </a:p>
        </p:txBody>
      </p:sp>
      <p:sp>
        <p:nvSpPr>
          <p:cNvPr id="5" name="Shape 3"/>
          <p:cNvSpPr/>
          <p:nvPr/>
        </p:nvSpPr>
        <p:spPr>
          <a:xfrm>
            <a:off x="1005840" y="2331720"/>
            <a:ext cx="914400" cy="914400"/>
          </a:xfrm>
          <a:prstGeom prst="ellipse">
            <a:avLst/>
          </a:prstGeom>
          <a:solidFill>
            <a:srgbClr val="FFFFF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24712" y="2450592"/>
            <a:ext cx="676656" cy="676656"/>
          </a:xfrm>
          <a:prstGeom prst="rect">
            <a:avLst/>
          </a:prstGeom>
        </p:spPr>
      </p:pic>
      <p:sp>
        <p:nvSpPr>
          <p:cNvPr id="7" name="Text 4"/>
          <p:cNvSpPr/>
          <p:nvPr/>
        </p:nvSpPr>
        <p:spPr>
          <a:xfrm>
            <a:off x="1005840" y="3474720"/>
            <a:ext cx="4434840" cy="548640"/>
          </a:xfrm>
          <a:prstGeom prst="rect">
            <a:avLst/>
          </a:prstGeom>
          <a:noFill/>
          <a:ln/>
        </p:spPr>
        <p:txBody>
          <a:bodyPr wrap="square" lIns="0" tIns="0" rIns="0" bIns="0" rtlCol="0" anchor="ctr"/>
          <a:lstStyle/>
          <a:p>
            <a:pPr marL="0" indent="0">
              <a:buNone/>
            </a:pPr>
            <a:r>
              <a:rPr lang="en-US" sz="2000" b="1" dirty="0">
                <a:solidFill>
                  <a:srgbClr val="2C5F2D"/>
                </a:solidFill>
                <a:latin typeface="Cambria" pitchFamily="34" charset="0"/>
                <a:ea typeface="Cambria" pitchFamily="34" charset="-122"/>
                <a:cs typeface="Cambria" pitchFamily="34" charset="-120"/>
              </a:rPr>
              <a:t>1. Lexical Analysis</a:t>
            </a:r>
            <a:endParaRPr lang="en-US" sz="2000" dirty="0"/>
          </a:p>
        </p:txBody>
      </p:sp>
      <p:sp>
        <p:nvSpPr>
          <p:cNvPr id="8" name="Text 5"/>
          <p:cNvSpPr/>
          <p:nvPr/>
        </p:nvSpPr>
        <p:spPr>
          <a:xfrm>
            <a:off x="1005840" y="4069080"/>
            <a:ext cx="4434840" cy="1005840"/>
          </a:xfrm>
          <a:prstGeom prst="rect">
            <a:avLst/>
          </a:prstGeom>
          <a:noFill/>
          <a:ln/>
        </p:spPr>
        <p:txBody>
          <a:bodyPr wrap="square" lIns="0" tIns="0" rIns="0" bIns="0" rtlCol="0" anchor="ctr"/>
          <a:lstStyle/>
          <a:p>
            <a:pPr marL="0" indent="0">
              <a:lnSpc>
                <a:spcPct val="125000"/>
              </a:lnSpc>
              <a:buNone/>
            </a:pPr>
            <a:r>
              <a:rPr lang="en-US" sz="1600" dirty="0">
                <a:solidFill>
                  <a:srgbClr val="24331F"/>
                </a:solidFill>
                <a:latin typeface="Calibri" pitchFamily="34" charset="0"/>
                <a:ea typeface="Calibri" pitchFamily="34" charset="-122"/>
                <a:cs typeface="Calibri" pitchFamily="34" charset="-120"/>
              </a:rPr>
              <a:t>Splits a sentence into separate words, called tokens  the very first step in understanding text.</a:t>
            </a:r>
            <a:endParaRPr lang="en-US" sz="1600" dirty="0"/>
          </a:p>
        </p:txBody>
      </p:sp>
      <p:sp>
        <p:nvSpPr>
          <p:cNvPr id="9" name="Shape 6"/>
          <p:cNvSpPr/>
          <p:nvPr/>
        </p:nvSpPr>
        <p:spPr>
          <a:xfrm>
            <a:off x="1005840" y="5074920"/>
            <a:ext cx="4434840" cy="914400"/>
          </a:xfrm>
          <a:prstGeom prst="roundRect">
            <a:avLst>
              <a:gd name="adj" fmla="val 6000"/>
            </a:avLst>
          </a:prstGeom>
          <a:solidFill>
            <a:srgbClr val="FFFFFF"/>
          </a:solidFill>
          <a:ln w="12700">
            <a:solidFill>
              <a:srgbClr val="DCE8CE"/>
            </a:solidFill>
            <a:prstDash val="solid"/>
          </a:ln>
        </p:spPr>
        <p:txBody>
          <a:bodyPr/>
          <a:lstStyle/>
          <a:p>
            <a:endParaRPr lang="en-US"/>
          </a:p>
        </p:txBody>
      </p:sp>
      <p:sp>
        <p:nvSpPr>
          <p:cNvPr id="10" name="Text 7"/>
          <p:cNvSpPr/>
          <p:nvPr/>
        </p:nvSpPr>
        <p:spPr>
          <a:xfrm>
            <a:off x="1188720" y="5074920"/>
            <a:ext cx="4069080" cy="914400"/>
          </a:xfrm>
          <a:prstGeom prst="rect">
            <a:avLst/>
          </a:prstGeom>
          <a:noFill/>
          <a:ln/>
        </p:spPr>
        <p:txBody>
          <a:bodyPr wrap="square" lIns="0" tIns="0" rIns="0" bIns="0" rtlCol="0" anchor="ctr"/>
          <a:lstStyle/>
          <a:p>
            <a:pPr marL="0" indent="0">
              <a:lnSpc>
                <a:spcPct val="120000"/>
              </a:lnSpc>
              <a:buNone/>
            </a:pPr>
            <a:r>
              <a:rPr lang="en-US" sz="1600" i="1" dirty="0">
                <a:solidFill>
                  <a:srgbClr val="2C5F2D"/>
                </a:solidFill>
                <a:latin typeface="Calibri" pitchFamily="34" charset="0"/>
                <a:ea typeface="Calibri" pitchFamily="34" charset="-122"/>
                <a:cs typeface="Calibri" pitchFamily="34" charset="-120"/>
              </a:rPr>
              <a:t>Example: "Data Mining is useful."</a:t>
            </a:r>
            <a:endParaRPr lang="en-US" sz="1600" dirty="0"/>
          </a:p>
          <a:p>
            <a:pPr marL="0" indent="0">
              <a:lnSpc>
                <a:spcPct val="120000"/>
              </a:lnSpc>
              <a:buNone/>
            </a:pPr>
            <a:r>
              <a:rPr lang="en-US" sz="1600" i="1" dirty="0">
                <a:solidFill>
                  <a:srgbClr val="2C5F2D"/>
                </a:solidFill>
                <a:latin typeface="Calibri" pitchFamily="34" charset="0"/>
                <a:ea typeface="Calibri" pitchFamily="34" charset="-122"/>
                <a:cs typeface="Calibri" pitchFamily="34" charset="-120"/>
              </a:rPr>
              <a:t>→ Data, Mining, is, useful</a:t>
            </a:r>
            <a:endParaRPr lang="en-US" sz="1600" dirty="0"/>
          </a:p>
        </p:txBody>
      </p:sp>
      <p:sp>
        <p:nvSpPr>
          <p:cNvPr id="11" name="Shape 8"/>
          <p:cNvSpPr/>
          <p:nvPr/>
        </p:nvSpPr>
        <p:spPr>
          <a:xfrm>
            <a:off x="6355080" y="1965960"/>
            <a:ext cx="5166360" cy="4160520"/>
          </a:xfrm>
          <a:prstGeom prst="roundRect">
            <a:avLst>
              <a:gd name="adj" fmla="val 1758"/>
            </a:avLst>
          </a:prstGeom>
          <a:solidFill>
            <a:srgbClr val="EFF6E7"/>
          </a:solidFill>
          <a:ln/>
          <a:effectLst>
            <a:outerShdw blurRad="88900" dist="38100" dir="5400000" algn="bl" rotWithShape="0">
              <a:srgbClr val="1B3A1E">
                <a:alpha val="9000"/>
              </a:srgbClr>
            </a:outerShdw>
          </a:effectLst>
        </p:spPr>
        <p:txBody>
          <a:bodyPr/>
          <a:lstStyle/>
          <a:p>
            <a:endParaRPr lang="en-US"/>
          </a:p>
        </p:txBody>
      </p:sp>
      <p:sp>
        <p:nvSpPr>
          <p:cNvPr id="12" name="Shape 9"/>
          <p:cNvSpPr/>
          <p:nvPr/>
        </p:nvSpPr>
        <p:spPr>
          <a:xfrm>
            <a:off x="6720840" y="2331720"/>
            <a:ext cx="914400" cy="914400"/>
          </a:xfrm>
          <a:prstGeom prst="ellipse">
            <a:avLst/>
          </a:prstGeom>
          <a:solidFill>
            <a:srgbClr val="FFFFFF"/>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6839712" y="2450592"/>
            <a:ext cx="676656" cy="676656"/>
          </a:xfrm>
          <a:prstGeom prst="rect">
            <a:avLst/>
          </a:prstGeom>
        </p:spPr>
      </p:pic>
      <p:sp>
        <p:nvSpPr>
          <p:cNvPr id="14" name="Text 10"/>
          <p:cNvSpPr/>
          <p:nvPr/>
        </p:nvSpPr>
        <p:spPr>
          <a:xfrm>
            <a:off x="6720840" y="3474720"/>
            <a:ext cx="4434840" cy="548640"/>
          </a:xfrm>
          <a:prstGeom prst="rect">
            <a:avLst/>
          </a:prstGeom>
          <a:noFill/>
          <a:ln/>
        </p:spPr>
        <p:txBody>
          <a:bodyPr wrap="square" lIns="0" tIns="0" rIns="0" bIns="0" rtlCol="0" anchor="ctr"/>
          <a:lstStyle/>
          <a:p>
            <a:pPr marL="0" indent="0">
              <a:buNone/>
            </a:pPr>
            <a:r>
              <a:rPr lang="en-US" sz="2000" b="1" dirty="0">
                <a:solidFill>
                  <a:srgbClr val="2C5F2D"/>
                </a:solidFill>
                <a:latin typeface="Cambria" pitchFamily="34" charset="0"/>
                <a:ea typeface="Cambria" pitchFamily="34" charset="-122"/>
                <a:cs typeface="Cambria" pitchFamily="34" charset="-120"/>
              </a:rPr>
              <a:t>2. Parsing Analysis </a:t>
            </a:r>
            <a:endParaRPr lang="en-US" sz="2000" dirty="0"/>
          </a:p>
        </p:txBody>
      </p:sp>
      <p:sp>
        <p:nvSpPr>
          <p:cNvPr id="15" name="Text 11"/>
          <p:cNvSpPr/>
          <p:nvPr/>
        </p:nvSpPr>
        <p:spPr>
          <a:xfrm>
            <a:off x="6720840" y="4069080"/>
            <a:ext cx="4434840" cy="1005840"/>
          </a:xfrm>
          <a:prstGeom prst="rect">
            <a:avLst/>
          </a:prstGeom>
          <a:noFill/>
          <a:ln/>
        </p:spPr>
        <p:txBody>
          <a:bodyPr wrap="square" lIns="0" tIns="0" rIns="0" bIns="0" rtlCol="0" anchor="ctr"/>
          <a:lstStyle/>
          <a:p>
            <a:pPr marL="0" indent="0">
              <a:lnSpc>
                <a:spcPct val="125000"/>
              </a:lnSpc>
              <a:buNone/>
            </a:pPr>
            <a:r>
              <a:rPr lang="en-US" sz="1600" dirty="0">
                <a:solidFill>
                  <a:srgbClr val="24331F"/>
                </a:solidFill>
                <a:latin typeface="Calibri" pitchFamily="34" charset="0"/>
                <a:ea typeface="Calibri" pitchFamily="34" charset="-122"/>
                <a:cs typeface="Calibri" pitchFamily="34" charset="-120"/>
              </a:rPr>
              <a:t>Checks the sentence's grammar and structure, to see how the words fit together.</a:t>
            </a:r>
            <a:endParaRPr lang="en-US" sz="1600" dirty="0"/>
          </a:p>
        </p:txBody>
      </p:sp>
      <p:sp>
        <p:nvSpPr>
          <p:cNvPr id="16" name="Shape 12"/>
          <p:cNvSpPr/>
          <p:nvPr/>
        </p:nvSpPr>
        <p:spPr>
          <a:xfrm>
            <a:off x="6720840" y="5074920"/>
            <a:ext cx="4434840" cy="914400"/>
          </a:xfrm>
          <a:prstGeom prst="roundRect">
            <a:avLst>
              <a:gd name="adj" fmla="val 6000"/>
            </a:avLst>
          </a:prstGeom>
          <a:solidFill>
            <a:srgbClr val="FFFFFF"/>
          </a:solidFill>
          <a:ln w="12700">
            <a:solidFill>
              <a:srgbClr val="DCE8CE"/>
            </a:solidFill>
            <a:prstDash val="solid"/>
          </a:ln>
        </p:spPr>
        <p:txBody>
          <a:bodyPr/>
          <a:lstStyle/>
          <a:p>
            <a:endParaRPr lang="en-US"/>
          </a:p>
        </p:txBody>
      </p:sp>
      <p:sp>
        <p:nvSpPr>
          <p:cNvPr id="17" name="Text 13"/>
          <p:cNvSpPr/>
          <p:nvPr/>
        </p:nvSpPr>
        <p:spPr>
          <a:xfrm>
            <a:off x="6903720" y="5074920"/>
            <a:ext cx="4069080" cy="914400"/>
          </a:xfrm>
          <a:prstGeom prst="rect">
            <a:avLst/>
          </a:prstGeom>
          <a:noFill/>
          <a:ln/>
        </p:spPr>
        <p:txBody>
          <a:bodyPr wrap="square" lIns="0" tIns="0" rIns="0" bIns="0" rtlCol="0" anchor="ctr"/>
          <a:lstStyle/>
          <a:p>
            <a:pPr marL="0" indent="0">
              <a:lnSpc>
                <a:spcPct val="120000"/>
              </a:lnSpc>
              <a:buNone/>
            </a:pPr>
            <a:r>
              <a:rPr lang="en-US" sz="1600" i="1" dirty="0">
                <a:solidFill>
                  <a:srgbClr val="2C5F2D"/>
                </a:solidFill>
                <a:latin typeface="Calibri" pitchFamily="34" charset="0"/>
                <a:ea typeface="Calibri" pitchFamily="34" charset="-122"/>
                <a:cs typeface="Calibri" pitchFamily="34" charset="-120"/>
              </a:rPr>
              <a:t>Example: "The student reads a book."</a:t>
            </a:r>
            <a:endParaRPr lang="en-US" sz="1600" dirty="0"/>
          </a:p>
          <a:p>
            <a:pPr marL="0" indent="0">
              <a:lnSpc>
                <a:spcPct val="120000"/>
              </a:lnSpc>
              <a:buNone/>
            </a:pPr>
            <a:r>
              <a:rPr lang="en-US" sz="1600" i="1" dirty="0">
                <a:solidFill>
                  <a:srgbClr val="2C5F2D"/>
                </a:solidFill>
                <a:latin typeface="Calibri" pitchFamily="34" charset="0"/>
                <a:ea typeface="Calibri" pitchFamily="34" charset="-122"/>
                <a:cs typeface="Calibri" pitchFamily="34" charset="-120"/>
              </a:rPr>
              <a:t>→ Subject: student, Verb: reads, Object: book</a:t>
            </a:r>
            <a:endParaRPr lang="en-US" sz="1600" dirty="0"/>
          </a:p>
        </p:txBody>
      </p:sp>
      <p:sp>
        <p:nvSpPr>
          <p:cNvPr id="18" name="Text 14"/>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Components of NLP — Part 2</a:t>
            </a:r>
            <a:endParaRPr lang="en-US" sz="30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The last two stages move from grammar into real meaning.</a:t>
            </a:r>
            <a:endParaRPr lang="en-US" sz="1400" dirty="0"/>
          </a:p>
        </p:txBody>
      </p:sp>
      <p:sp>
        <p:nvSpPr>
          <p:cNvPr id="4" name="Shape 2"/>
          <p:cNvSpPr/>
          <p:nvPr/>
        </p:nvSpPr>
        <p:spPr>
          <a:xfrm>
            <a:off x="640080" y="1965960"/>
            <a:ext cx="5166360" cy="4160520"/>
          </a:xfrm>
          <a:prstGeom prst="roundRect">
            <a:avLst>
              <a:gd name="adj" fmla="val 1758"/>
            </a:avLst>
          </a:prstGeom>
          <a:solidFill>
            <a:srgbClr val="F4F8F0"/>
          </a:solidFill>
          <a:ln/>
          <a:effectLst>
            <a:outerShdw blurRad="88900" dist="38100" dir="5400000" algn="bl" rotWithShape="0">
              <a:srgbClr val="1B3A1E">
                <a:alpha val="9000"/>
              </a:srgbClr>
            </a:outerShdw>
          </a:effectLst>
        </p:spPr>
        <p:txBody>
          <a:bodyPr/>
          <a:lstStyle/>
          <a:p>
            <a:endParaRPr lang="en-US"/>
          </a:p>
        </p:txBody>
      </p:sp>
      <p:sp>
        <p:nvSpPr>
          <p:cNvPr id="5" name="Shape 3"/>
          <p:cNvSpPr/>
          <p:nvPr/>
        </p:nvSpPr>
        <p:spPr>
          <a:xfrm>
            <a:off x="1005840" y="2331720"/>
            <a:ext cx="914400" cy="914400"/>
          </a:xfrm>
          <a:prstGeom prst="ellipse">
            <a:avLst/>
          </a:prstGeom>
          <a:solidFill>
            <a:srgbClr val="FFFFF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24712" y="2450592"/>
            <a:ext cx="676656" cy="676656"/>
          </a:xfrm>
          <a:prstGeom prst="rect">
            <a:avLst/>
          </a:prstGeom>
        </p:spPr>
      </p:pic>
      <p:sp>
        <p:nvSpPr>
          <p:cNvPr id="7" name="Text 4"/>
          <p:cNvSpPr/>
          <p:nvPr/>
        </p:nvSpPr>
        <p:spPr>
          <a:xfrm>
            <a:off x="1005840" y="3474720"/>
            <a:ext cx="4434840" cy="548640"/>
          </a:xfrm>
          <a:prstGeom prst="rect">
            <a:avLst/>
          </a:prstGeom>
          <a:noFill/>
          <a:ln/>
        </p:spPr>
        <p:txBody>
          <a:bodyPr wrap="square" lIns="0" tIns="0" rIns="0" bIns="0" rtlCol="0" anchor="ctr"/>
          <a:lstStyle/>
          <a:p>
            <a:pPr marL="0" indent="0">
              <a:buNone/>
            </a:pPr>
            <a:r>
              <a:rPr lang="en-US" sz="2000" b="1" dirty="0">
                <a:solidFill>
                  <a:srgbClr val="2C5F2D"/>
                </a:solidFill>
                <a:latin typeface="Cambria" pitchFamily="34" charset="0"/>
                <a:ea typeface="Cambria" pitchFamily="34" charset="-122"/>
                <a:cs typeface="Cambria" pitchFamily="34" charset="-120"/>
              </a:rPr>
              <a:t>3. Semantic Analysis</a:t>
            </a:r>
            <a:endParaRPr lang="en-US" sz="2000" dirty="0"/>
          </a:p>
        </p:txBody>
      </p:sp>
      <p:sp>
        <p:nvSpPr>
          <p:cNvPr id="8" name="Text 5"/>
          <p:cNvSpPr/>
          <p:nvPr/>
        </p:nvSpPr>
        <p:spPr>
          <a:xfrm>
            <a:off x="1005840" y="4069080"/>
            <a:ext cx="4434840" cy="1005840"/>
          </a:xfrm>
          <a:prstGeom prst="rect">
            <a:avLst/>
          </a:prstGeom>
          <a:noFill/>
          <a:ln/>
        </p:spPr>
        <p:txBody>
          <a:bodyPr wrap="square" lIns="0" tIns="0" rIns="0" bIns="0" rtlCol="0" anchor="ctr"/>
          <a:lstStyle/>
          <a:p>
            <a:pPr marL="0" indent="0">
              <a:lnSpc>
                <a:spcPct val="125000"/>
              </a:lnSpc>
              <a:buNone/>
            </a:pPr>
            <a:r>
              <a:rPr lang="en-US" sz="1600" dirty="0">
                <a:solidFill>
                  <a:srgbClr val="24331F"/>
                </a:solidFill>
                <a:latin typeface="Calibri" pitchFamily="34" charset="0"/>
                <a:ea typeface="Calibri" pitchFamily="34" charset="-122"/>
                <a:cs typeface="Calibri" pitchFamily="34" charset="-120"/>
              </a:rPr>
              <a:t>Finds the real meaning of words based on the context they're used in.</a:t>
            </a:r>
            <a:endParaRPr lang="en-US" sz="1600" dirty="0"/>
          </a:p>
        </p:txBody>
      </p:sp>
      <p:sp>
        <p:nvSpPr>
          <p:cNvPr id="9" name="Shape 6"/>
          <p:cNvSpPr/>
          <p:nvPr/>
        </p:nvSpPr>
        <p:spPr>
          <a:xfrm>
            <a:off x="1005840" y="5074920"/>
            <a:ext cx="4434840" cy="914400"/>
          </a:xfrm>
          <a:prstGeom prst="roundRect">
            <a:avLst>
              <a:gd name="adj" fmla="val 6000"/>
            </a:avLst>
          </a:prstGeom>
          <a:solidFill>
            <a:srgbClr val="FFFFFF"/>
          </a:solidFill>
          <a:ln w="12700">
            <a:solidFill>
              <a:srgbClr val="DCE8CE"/>
            </a:solidFill>
            <a:prstDash val="solid"/>
          </a:ln>
        </p:spPr>
        <p:txBody>
          <a:bodyPr/>
          <a:lstStyle/>
          <a:p>
            <a:endParaRPr lang="en-US"/>
          </a:p>
        </p:txBody>
      </p:sp>
      <p:sp>
        <p:nvSpPr>
          <p:cNvPr id="10" name="Text 7"/>
          <p:cNvSpPr/>
          <p:nvPr/>
        </p:nvSpPr>
        <p:spPr>
          <a:xfrm>
            <a:off x="1188720" y="5074920"/>
            <a:ext cx="4069080" cy="914400"/>
          </a:xfrm>
          <a:prstGeom prst="rect">
            <a:avLst/>
          </a:prstGeom>
          <a:noFill/>
          <a:ln/>
        </p:spPr>
        <p:txBody>
          <a:bodyPr wrap="square" lIns="0" tIns="0" rIns="0" bIns="0" rtlCol="0" anchor="ctr"/>
          <a:lstStyle/>
          <a:p>
            <a:pPr marL="0" indent="0">
              <a:lnSpc>
                <a:spcPct val="120000"/>
              </a:lnSpc>
              <a:buNone/>
            </a:pPr>
            <a:r>
              <a:rPr lang="en-US" sz="1400" i="1" dirty="0">
                <a:solidFill>
                  <a:srgbClr val="2C5F2D"/>
                </a:solidFill>
                <a:latin typeface="Calibri" pitchFamily="34" charset="0"/>
                <a:ea typeface="Calibri" pitchFamily="34" charset="-122"/>
                <a:cs typeface="Calibri" pitchFamily="34" charset="-120"/>
              </a:rPr>
              <a:t>Example: "The bank is near the river."</a:t>
            </a:r>
            <a:endParaRPr lang="en-US" sz="1400" dirty="0"/>
          </a:p>
          <a:p>
            <a:pPr marL="0" indent="0">
              <a:lnSpc>
                <a:spcPct val="120000"/>
              </a:lnSpc>
              <a:buNone/>
            </a:pPr>
            <a:r>
              <a:rPr lang="en-US" sz="1400" i="1" dirty="0">
                <a:solidFill>
                  <a:srgbClr val="2C5F2D"/>
                </a:solidFill>
                <a:latin typeface="Calibri" pitchFamily="34" charset="0"/>
                <a:ea typeface="Calibri" pitchFamily="34" charset="-122"/>
                <a:cs typeface="Calibri" pitchFamily="34" charset="-120"/>
              </a:rPr>
              <a:t>→ here, “bank” means riverbank, not money</a:t>
            </a:r>
            <a:endParaRPr lang="en-US" sz="1400" dirty="0"/>
          </a:p>
        </p:txBody>
      </p:sp>
      <p:sp>
        <p:nvSpPr>
          <p:cNvPr id="11" name="Shape 8"/>
          <p:cNvSpPr/>
          <p:nvPr/>
        </p:nvSpPr>
        <p:spPr>
          <a:xfrm>
            <a:off x="6355080" y="1965960"/>
            <a:ext cx="5166360" cy="4160520"/>
          </a:xfrm>
          <a:prstGeom prst="roundRect">
            <a:avLst>
              <a:gd name="adj" fmla="val 1758"/>
            </a:avLst>
          </a:prstGeom>
          <a:solidFill>
            <a:srgbClr val="EFF6E7"/>
          </a:solidFill>
          <a:ln/>
          <a:effectLst>
            <a:outerShdw blurRad="88900" dist="38100" dir="5400000" algn="bl" rotWithShape="0">
              <a:srgbClr val="1B3A1E">
                <a:alpha val="9000"/>
              </a:srgbClr>
            </a:outerShdw>
          </a:effectLst>
        </p:spPr>
        <p:txBody>
          <a:bodyPr/>
          <a:lstStyle/>
          <a:p>
            <a:endParaRPr lang="en-US"/>
          </a:p>
        </p:txBody>
      </p:sp>
      <p:sp>
        <p:nvSpPr>
          <p:cNvPr id="12" name="Shape 9"/>
          <p:cNvSpPr/>
          <p:nvPr/>
        </p:nvSpPr>
        <p:spPr>
          <a:xfrm>
            <a:off x="6720840" y="2331720"/>
            <a:ext cx="914400" cy="914400"/>
          </a:xfrm>
          <a:prstGeom prst="ellipse">
            <a:avLst/>
          </a:prstGeom>
          <a:solidFill>
            <a:srgbClr val="FFFFFF"/>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6839712" y="2450592"/>
            <a:ext cx="676656" cy="676656"/>
          </a:xfrm>
          <a:prstGeom prst="rect">
            <a:avLst/>
          </a:prstGeom>
        </p:spPr>
      </p:pic>
      <p:sp>
        <p:nvSpPr>
          <p:cNvPr id="14" name="Text 10"/>
          <p:cNvSpPr/>
          <p:nvPr/>
        </p:nvSpPr>
        <p:spPr>
          <a:xfrm>
            <a:off x="6720840" y="3474720"/>
            <a:ext cx="4434840" cy="548640"/>
          </a:xfrm>
          <a:prstGeom prst="rect">
            <a:avLst/>
          </a:prstGeom>
          <a:noFill/>
          <a:ln/>
        </p:spPr>
        <p:txBody>
          <a:bodyPr wrap="square" lIns="0" tIns="0" rIns="0" bIns="0" rtlCol="0" anchor="ctr"/>
          <a:lstStyle/>
          <a:p>
            <a:pPr marL="0" indent="0">
              <a:buNone/>
            </a:pPr>
            <a:r>
              <a:rPr lang="en-US" sz="2000" b="1" dirty="0">
                <a:solidFill>
                  <a:srgbClr val="2C5F2D"/>
                </a:solidFill>
                <a:latin typeface="Cambria" pitchFamily="34" charset="0"/>
                <a:ea typeface="Cambria" pitchFamily="34" charset="-122"/>
                <a:cs typeface="Cambria" pitchFamily="34" charset="-120"/>
              </a:rPr>
              <a:t>4. Discourse Integration</a:t>
            </a:r>
            <a:endParaRPr lang="en-US" sz="2000" dirty="0"/>
          </a:p>
        </p:txBody>
      </p:sp>
      <p:sp>
        <p:nvSpPr>
          <p:cNvPr id="15" name="Text 11"/>
          <p:cNvSpPr/>
          <p:nvPr/>
        </p:nvSpPr>
        <p:spPr>
          <a:xfrm>
            <a:off x="6720840" y="4069080"/>
            <a:ext cx="4434840" cy="1005840"/>
          </a:xfrm>
          <a:prstGeom prst="rect">
            <a:avLst/>
          </a:prstGeom>
          <a:noFill/>
          <a:ln/>
        </p:spPr>
        <p:txBody>
          <a:bodyPr wrap="square" lIns="0" tIns="0" rIns="0" bIns="0" rtlCol="0" anchor="ctr"/>
          <a:lstStyle/>
          <a:p>
            <a:pPr marL="0" indent="0">
              <a:lnSpc>
                <a:spcPct val="125000"/>
              </a:lnSpc>
              <a:buNone/>
            </a:pPr>
            <a:r>
              <a:rPr lang="en-US" sz="1600" dirty="0">
                <a:solidFill>
                  <a:srgbClr val="24331F"/>
                </a:solidFill>
                <a:latin typeface="Calibri" pitchFamily="34" charset="0"/>
                <a:ea typeface="Calibri" pitchFamily="34" charset="-122"/>
                <a:cs typeface="Calibri" pitchFamily="34" charset="-120"/>
              </a:rPr>
              <a:t>Connects meaning across more than one sentence, not just within a single one.</a:t>
            </a:r>
            <a:endParaRPr lang="en-US" sz="1600" dirty="0"/>
          </a:p>
        </p:txBody>
      </p:sp>
      <p:sp>
        <p:nvSpPr>
          <p:cNvPr id="16" name="Shape 12"/>
          <p:cNvSpPr/>
          <p:nvPr/>
        </p:nvSpPr>
        <p:spPr>
          <a:xfrm>
            <a:off x="6720840" y="5074920"/>
            <a:ext cx="4434840" cy="914400"/>
          </a:xfrm>
          <a:prstGeom prst="roundRect">
            <a:avLst>
              <a:gd name="adj" fmla="val 6000"/>
            </a:avLst>
          </a:prstGeom>
          <a:solidFill>
            <a:srgbClr val="FFFFFF"/>
          </a:solidFill>
          <a:ln w="12700">
            <a:solidFill>
              <a:srgbClr val="DCE8CE"/>
            </a:solidFill>
            <a:prstDash val="solid"/>
          </a:ln>
        </p:spPr>
        <p:txBody>
          <a:bodyPr/>
          <a:lstStyle/>
          <a:p>
            <a:endParaRPr lang="en-US"/>
          </a:p>
        </p:txBody>
      </p:sp>
      <p:sp>
        <p:nvSpPr>
          <p:cNvPr id="17" name="Text 13"/>
          <p:cNvSpPr/>
          <p:nvPr/>
        </p:nvSpPr>
        <p:spPr>
          <a:xfrm>
            <a:off x="6903720" y="5074920"/>
            <a:ext cx="4069080" cy="914400"/>
          </a:xfrm>
          <a:prstGeom prst="rect">
            <a:avLst/>
          </a:prstGeom>
          <a:noFill/>
          <a:ln/>
        </p:spPr>
        <p:txBody>
          <a:bodyPr wrap="square" lIns="0" tIns="0" rIns="0" bIns="0" rtlCol="0" anchor="ctr"/>
          <a:lstStyle/>
          <a:p>
            <a:pPr marL="0" indent="0">
              <a:lnSpc>
                <a:spcPct val="120000"/>
              </a:lnSpc>
              <a:buNone/>
            </a:pPr>
            <a:r>
              <a:rPr lang="en-US" sz="1400" i="1" dirty="0">
                <a:solidFill>
                  <a:srgbClr val="2C5F2D"/>
                </a:solidFill>
                <a:latin typeface="Calibri" pitchFamily="34" charset="0"/>
                <a:ea typeface="Calibri" pitchFamily="34" charset="-122"/>
                <a:cs typeface="Calibri" pitchFamily="34" charset="-120"/>
              </a:rPr>
              <a:t>Example: "Ram bought a laptop. He uses it daily."</a:t>
            </a:r>
            <a:endParaRPr lang="en-US" sz="1400" dirty="0"/>
          </a:p>
          <a:p>
            <a:pPr marL="0" indent="0">
              <a:lnSpc>
                <a:spcPct val="120000"/>
              </a:lnSpc>
              <a:buNone/>
            </a:pPr>
            <a:r>
              <a:rPr lang="en-US" sz="1400" i="1" dirty="0">
                <a:solidFill>
                  <a:srgbClr val="2C5F2D"/>
                </a:solidFill>
                <a:latin typeface="Calibri" pitchFamily="34" charset="0"/>
                <a:ea typeface="Calibri" pitchFamily="34" charset="-122"/>
                <a:cs typeface="Calibri" pitchFamily="34" charset="-120"/>
              </a:rPr>
              <a:t>→ he = Ram, it = laptop</a:t>
            </a:r>
            <a:endParaRPr lang="en-US" sz="1400" dirty="0"/>
          </a:p>
        </p:txBody>
      </p:sp>
      <p:sp>
        <p:nvSpPr>
          <p:cNvPr id="18" name="Text 14"/>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Why NLP Matters</a:t>
            </a:r>
            <a:endParaRPr lang="en-US" sz="30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You've used NLP today already  probably several times without noticing.</a:t>
            </a:r>
            <a:endParaRPr lang="en-US" sz="1400" dirty="0"/>
          </a:p>
        </p:txBody>
      </p:sp>
      <p:sp>
        <p:nvSpPr>
          <p:cNvPr id="4" name="Shape 2"/>
          <p:cNvSpPr/>
          <p:nvPr/>
        </p:nvSpPr>
        <p:spPr>
          <a:xfrm>
            <a:off x="640080" y="2286000"/>
            <a:ext cx="502920" cy="502920"/>
          </a:xfrm>
          <a:prstGeom prst="ellipse">
            <a:avLst/>
          </a:prstGeom>
          <a:solidFill>
            <a:srgbClr val="E7F0DC"/>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705460" y="2351380"/>
            <a:ext cx="372161" cy="372161"/>
          </a:xfrm>
          <a:prstGeom prst="rect">
            <a:avLst/>
          </a:prstGeom>
        </p:spPr>
      </p:pic>
      <p:sp>
        <p:nvSpPr>
          <p:cNvPr id="6" name="Text 3"/>
          <p:cNvSpPr/>
          <p:nvPr/>
        </p:nvSpPr>
        <p:spPr>
          <a:xfrm>
            <a:off x="1371600" y="2212848"/>
            <a:ext cx="4572000" cy="640080"/>
          </a:xfrm>
          <a:prstGeom prst="rect">
            <a:avLst/>
          </a:prstGeom>
          <a:noFill/>
          <a:ln/>
        </p:spPr>
        <p:txBody>
          <a:bodyPr wrap="square" lIns="0" tIns="0" rIns="0" bIns="0" rtlCol="0" anchor="ctr"/>
          <a:lstStyle/>
          <a:p>
            <a:pPr marL="0" indent="0">
              <a:buNone/>
            </a:pPr>
            <a:r>
              <a:rPr lang="en-US" sz="1750" dirty="0">
                <a:solidFill>
                  <a:srgbClr val="24331F"/>
                </a:solidFill>
                <a:latin typeface="Calibri" pitchFamily="34" charset="0"/>
                <a:ea typeface="Calibri" pitchFamily="34" charset="-122"/>
                <a:cs typeface="Calibri" pitchFamily="34" charset="-120"/>
              </a:rPr>
              <a:t>Automates text processing</a:t>
            </a:r>
            <a:endParaRPr lang="en-US" sz="1750" dirty="0"/>
          </a:p>
        </p:txBody>
      </p:sp>
      <p:sp>
        <p:nvSpPr>
          <p:cNvPr id="7" name="Shape 4"/>
          <p:cNvSpPr/>
          <p:nvPr/>
        </p:nvSpPr>
        <p:spPr>
          <a:xfrm>
            <a:off x="640080" y="3063240"/>
            <a:ext cx="502920" cy="502920"/>
          </a:xfrm>
          <a:prstGeom prst="ellipse">
            <a:avLst/>
          </a:prstGeom>
          <a:solidFill>
            <a:srgbClr val="E7F0DC"/>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705460" y="3128620"/>
            <a:ext cx="372161" cy="372161"/>
          </a:xfrm>
          <a:prstGeom prst="rect">
            <a:avLst/>
          </a:prstGeom>
        </p:spPr>
      </p:pic>
      <p:sp>
        <p:nvSpPr>
          <p:cNvPr id="9" name="Text 5"/>
          <p:cNvSpPr/>
          <p:nvPr/>
        </p:nvSpPr>
        <p:spPr>
          <a:xfrm>
            <a:off x="1371600" y="2990088"/>
            <a:ext cx="4572000" cy="640080"/>
          </a:xfrm>
          <a:prstGeom prst="rect">
            <a:avLst/>
          </a:prstGeom>
          <a:noFill/>
          <a:ln/>
        </p:spPr>
        <p:txBody>
          <a:bodyPr wrap="square" lIns="0" tIns="0" rIns="0" bIns="0" rtlCol="0" anchor="ctr"/>
          <a:lstStyle/>
          <a:p>
            <a:pPr marL="0" indent="0">
              <a:buNone/>
            </a:pPr>
            <a:r>
              <a:rPr lang="en-US" sz="1750" dirty="0">
                <a:solidFill>
                  <a:srgbClr val="24331F"/>
                </a:solidFill>
                <a:latin typeface="Calibri" pitchFamily="34" charset="0"/>
                <a:ea typeface="Calibri" pitchFamily="34" charset="-122"/>
                <a:cs typeface="Calibri" pitchFamily="34" charset="-120"/>
              </a:rPr>
              <a:t>Improves customer support</a:t>
            </a:r>
            <a:endParaRPr lang="en-US" sz="1750" dirty="0"/>
          </a:p>
        </p:txBody>
      </p:sp>
      <p:sp>
        <p:nvSpPr>
          <p:cNvPr id="10" name="Shape 6"/>
          <p:cNvSpPr/>
          <p:nvPr/>
        </p:nvSpPr>
        <p:spPr>
          <a:xfrm>
            <a:off x="640080" y="3840480"/>
            <a:ext cx="502920" cy="502920"/>
          </a:xfrm>
          <a:prstGeom prst="ellipse">
            <a:avLst/>
          </a:prstGeom>
          <a:solidFill>
            <a:srgbClr val="E7F0DC"/>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705460" y="3905860"/>
            <a:ext cx="372161" cy="372161"/>
          </a:xfrm>
          <a:prstGeom prst="rect">
            <a:avLst/>
          </a:prstGeom>
        </p:spPr>
      </p:pic>
      <p:sp>
        <p:nvSpPr>
          <p:cNvPr id="12" name="Text 7"/>
          <p:cNvSpPr/>
          <p:nvPr/>
        </p:nvSpPr>
        <p:spPr>
          <a:xfrm>
            <a:off x="1371600" y="3767328"/>
            <a:ext cx="4572000" cy="640080"/>
          </a:xfrm>
          <a:prstGeom prst="rect">
            <a:avLst/>
          </a:prstGeom>
          <a:noFill/>
          <a:ln/>
        </p:spPr>
        <p:txBody>
          <a:bodyPr wrap="square" lIns="0" tIns="0" rIns="0" bIns="0" rtlCol="0" anchor="ctr"/>
          <a:lstStyle/>
          <a:p>
            <a:pPr marL="0" indent="0">
              <a:buNone/>
            </a:pPr>
            <a:r>
              <a:rPr lang="en-US" sz="1750" dirty="0">
                <a:solidFill>
                  <a:srgbClr val="24331F"/>
                </a:solidFill>
                <a:latin typeface="Calibri" pitchFamily="34" charset="0"/>
                <a:ea typeface="Calibri" pitchFamily="34" charset="-122"/>
                <a:cs typeface="Calibri" pitchFamily="34" charset="-120"/>
              </a:rPr>
              <a:t>Enables voice assistants</a:t>
            </a:r>
            <a:endParaRPr lang="en-US" sz="1750" dirty="0"/>
          </a:p>
        </p:txBody>
      </p:sp>
      <p:sp>
        <p:nvSpPr>
          <p:cNvPr id="13" name="Shape 8"/>
          <p:cNvSpPr/>
          <p:nvPr/>
        </p:nvSpPr>
        <p:spPr>
          <a:xfrm>
            <a:off x="640080" y="4617720"/>
            <a:ext cx="502920" cy="502920"/>
          </a:xfrm>
          <a:prstGeom prst="ellipse">
            <a:avLst/>
          </a:prstGeom>
          <a:solidFill>
            <a:srgbClr val="E7F0DC"/>
          </a:solidFill>
          <a:ln/>
        </p:spPr>
        <p:txBody>
          <a:bodyPr/>
          <a:lstStyle/>
          <a:p>
            <a:endParaRPr lang="en-US"/>
          </a:p>
        </p:txBody>
      </p:sp>
      <p:pic>
        <p:nvPicPr>
          <p:cNvPr id="14" name="Image 3" descr="preencoded.png"/>
          <p:cNvPicPr>
            <a:picLocks noChangeAspect="1"/>
          </p:cNvPicPr>
          <p:nvPr/>
        </p:nvPicPr>
        <p:blipFill>
          <a:blip r:embed="rId6"/>
          <a:stretch>
            <a:fillRect/>
          </a:stretch>
        </p:blipFill>
        <p:spPr>
          <a:xfrm>
            <a:off x="705460" y="4683100"/>
            <a:ext cx="372161" cy="372161"/>
          </a:xfrm>
          <a:prstGeom prst="rect">
            <a:avLst/>
          </a:prstGeom>
        </p:spPr>
      </p:pic>
      <p:sp>
        <p:nvSpPr>
          <p:cNvPr id="15" name="Text 9"/>
          <p:cNvSpPr/>
          <p:nvPr/>
        </p:nvSpPr>
        <p:spPr>
          <a:xfrm>
            <a:off x="1371600" y="4544568"/>
            <a:ext cx="4572000" cy="640080"/>
          </a:xfrm>
          <a:prstGeom prst="rect">
            <a:avLst/>
          </a:prstGeom>
          <a:noFill/>
          <a:ln/>
        </p:spPr>
        <p:txBody>
          <a:bodyPr wrap="square" lIns="0" tIns="0" rIns="0" bIns="0" rtlCol="0" anchor="ctr"/>
          <a:lstStyle/>
          <a:p>
            <a:pPr marL="0" indent="0">
              <a:buNone/>
            </a:pPr>
            <a:r>
              <a:rPr lang="en-US" sz="1750" dirty="0">
                <a:solidFill>
                  <a:srgbClr val="24331F"/>
                </a:solidFill>
                <a:latin typeface="Calibri" pitchFamily="34" charset="0"/>
                <a:ea typeface="Calibri" pitchFamily="34" charset="-122"/>
                <a:cs typeface="Calibri" pitchFamily="34" charset="-120"/>
              </a:rPr>
              <a:t>Translates languages</a:t>
            </a:r>
            <a:endParaRPr lang="en-US" sz="1750" dirty="0"/>
          </a:p>
        </p:txBody>
      </p:sp>
      <p:sp>
        <p:nvSpPr>
          <p:cNvPr id="16" name="Shape 10"/>
          <p:cNvSpPr/>
          <p:nvPr/>
        </p:nvSpPr>
        <p:spPr>
          <a:xfrm>
            <a:off x="6355080" y="2286000"/>
            <a:ext cx="502920" cy="502920"/>
          </a:xfrm>
          <a:prstGeom prst="ellipse">
            <a:avLst/>
          </a:prstGeom>
          <a:solidFill>
            <a:srgbClr val="E7F0DC"/>
          </a:solidFill>
          <a:ln/>
        </p:spPr>
        <p:txBody>
          <a:bodyPr/>
          <a:lstStyle/>
          <a:p>
            <a:endParaRPr lang="en-US"/>
          </a:p>
        </p:txBody>
      </p:sp>
      <p:pic>
        <p:nvPicPr>
          <p:cNvPr id="17" name="Image 4" descr="preencoded.png"/>
          <p:cNvPicPr>
            <a:picLocks noChangeAspect="1"/>
          </p:cNvPicPr>
          <p:nvPr/>
        </p:nvPicPr>
        <p:blipFill>
          <a:blip r:embed="rId7"/>
          <a:stretch>
            <a:fillRect/>
          </a:stretch>
        </p:blipFill>
        <p:spPr>
          <a:xfrm>
            <a:off x="6420460" y="2351380"/>
            <a:ext cx="372161" cy="372161"/>
          </a:xfrm>
          <a:prstGeom prst="rect">
            <a:avLst/>
          </a:prstGeom>
        </p:spPr>
      </p:pic>
      <p:sp>
        <p:nvSpPr>
          <p:cNvPr id="18" name="Text 11"/>
          <p:cNvSpPr/>
          <p:nvPr/>
        </p:nvSpPr>
        <p:spPr>
          <a:xfrm>
            <a:off x="7086600" y="2212848"/>
            <a:ext cx="4572000" cy="640080"/>
          </a:xfrm>
          <a:prstGeom prst="rect">
            <a:avLst/>
          </a:prstGeom>
          <a:noFill/>
          <a:ln/>
        </p:spPr>
        <p:txBody>
          <a:bodyPr wrap="square" lIns="0" tIns="0" rIns="0" bIns="0" rtlCol="0" anchor="ctr"/>
          <a:lstStyle/>
          <a:p>
            <a:pPr marL="0" indent="0">
              <a:buNone/>
            </a:pPr>
            <a:r>
              <a:rPr lang="en-US" sz="1750" dirty="0">
                <a:solidFill>
                  <a:srgbClr val="24331F"/>
                </a:solidFill>
                <a:latin typeface="Calibri" pitchFamily="34" charset="0"/>
                <a:ea typeface="Calibri" pitchFamily="34" charset="-122"/>
                <a:cs typeface="Calibri" pitchFamily="34" charset="-120"/>
              </a:rPr>
              <a:t>Detects emotions in text</a:t>
            </a:r>
            <a:endParaRPr lang="en-US" sz="1750" dirty="0"/>
          </a:p>
        </p:txBody>
      </p:sp>
      <p:sp>
        <p:nvSpPr>
          <p:cNvPr id="19" name="Shape 12"/>
          <p:cNvSpPr/>
          <p:nvPr/>
        </p:nvSpPr>
        <p:spPr>
          <a:xfrm>
            <a:off x="6355080" y="3063240"/>
            <a:ext cx="502920" cy="502920"/>
          </a:xfrm>
          <a:prstGeom prst="ellipse">
            <a:avLst/>
          </a:prstGeom>
          <a:solidFill>
            <a:srgbClr val="E7F0DC"/>
          </a:solidFill>
          <a:ln/>
        </p:spPr>
        <p:txBody>
          <a:bodyPr/>
          <a:lstStyle/>
          <a:p>
            <a:endParaRPr lang="en-US"/>
          </a:p>
        </p:txBody>
      </p:sp>
      <p:pic>
        <p:nvPicPr>
          <p:cNvPr id="20" name="Image 5" descr="preencoded.png"/>
          <p:cNvPicPr>
            <a:picLocks noChangeAspect="1"/>
          </p:cNvPicPr>
          <p:nvPr/>
        </p:nvPicPr>
        <p:blipFill>
          <a:blip r:embed="rId8"/>
          <a:stretch>
            <a:fillRect/>
          </a:stretch>
        </p:blipFill>
        <p:spPr>
          <a:xfrm>
            <a:off x="6420460" y="3128620"/>
            <a:ext cx="372161" cy="372161"/>
          </a:xfrm>
          <a:prstGeom prst="rect">
            <a:avLst/>
          </a:prstGeom>
        </p:spPr>
      </p:pic>
      <p:sp>
        <p:nvSpPr>
          <p:cNvPr id="21" name="Text 13"/>
          <p:cNvSpPr/>
          <p:nvPr/>
        </p:nvSpPr>
        <p:spPr>
          <a:xfrm>
            <a:off x="7086600" y="2990088"/>
            <a:ext cx="4572000" cy="640080"/>
          </a:xfrm>
          <a:prstGeom prst="rect">
            <a:avLst/>
          </a:prstGeom>
          <a:noFill/>
          <a:ln/>
        </p:spPr>
        <p:txBody>
          <a:bodyPr wrap="square" lIns="0" tIns="0" rIns="0" bIns="0" rtlCol="0" anchor="ctr"/>
          <a:lstStyle/>
          <a:p>
            <a:pPr marL="0" indent="0">
              <a:buNone/>
            </a:pPr>
            <a:r>
              <a:rPr lang="en-US" sz="1750" dirty="0">
                <a:solidFill>
                  <a:srgbClr val="24331F"/>
                </a:solidFill>
                <a:latin typeface="Calibri" pitchFamily="34" charset="0"/>
                <a:ea typeface="Calibri" pitchFamily="34" charset="-122"/>
                <a:cs typeface="Calibri" pitchFamily="34" charset="-120"/>
              </a:rPr>
              <a:t>Summarizes long documents</a:t>
            </a:r>
            <a:endParaRPr lang="en-US" sz="1750" dirty="0"/>
          </a:p>
        </p:txBody>
      </p:sp>
      <p:sp>
        <p:nvSpPr>
          <p:cNvPr id="22" name="Shape 14"/>
          <p:cNvSpPr/>
          <p:nvPr/>
        </p:nvSpPr>
        <p:spPr>
          <a:xfrm>
            <a:off x="6355080" y="3840480"/>
            <a:ext cx="502920" cy="502920"/>
          </a:xfrm>
          <a:prstGeom prst="ellipse">
            <a:avLst/>
          </a:prstGeom>
          <a:solidFill>
            <a:srgbClr val="E7F0DC"/>
          </a:solidFill>
          <a:ln/>
        </p:spPr>
        <p:txBody>
          <a:bodyPr/>
          <a:lstStyle/>
          <a:p>
            <a:endParaRPr lang="en-US"/>
          </a:p>
        </p:txBody>
      </p:sp>
      <p:pic>
        <p:nvPicPr>
          <p:cNvPr id="23" name="Image 6" descr="preencoded.png"/>
          <p:cNvPicPr>
            <a:picLocks noChangeAspect="1"/>
          </p:cNvPicPr>
          <p:nvPr/>
        </p:nvPicPr>
        <p:blipFill>
          <a:blip r:embed="rId9"/>
          <a:stretch>
            <a:fillRect/>
          </a:stretch>
        </p:blipFill>
        <p:spPr>
          <a:xfrm>
            <a:off x="6420460" y="3905860"/>
            <a:ext cx="372161" cy="372161"/>
          </a:xfrm>
          <a:prstGeom prst="rect">
            <a:avLst/>
          </a:prstGeom>
        </p:spPr>
      </p:pic>
      <p:sp>
        <p:nvSpPr>
          <p:cNvPr id="24" name="Text 15"/>
          <p:cNvSpPr/>
          <p:nvPr/>
        </p:nvSpPr>
        <p:spPr>
          <a:xfrm>
            <a:off x="7086600" y="3767328"/>
            <a:ext cx="4572000" cy="640080"/>
          </a:xfrm>
          <a:prstGeom prst="rect">
            <a:avLst/>
          </a:prstGeom>
          <a:noFill/>
          <a:ln/>
        </p:spPr>
        <p:txBody>
          <a:bodyPr wrap="square" lIns="0" tIns="0" rIns="0" bIns="0" rtlCol="0" anchor="ctr"/>
          <a:lstStyle/>
          <a:p>
            <a:pPr marL="0" indent="0">
              <a:buNone/>
            </a:pPr>
            <a:r>
              <a:rPr lang="en-US" sz="1750" dirty="0">
                <a:solidFill>
                  <a:srgbClr val="24331F"/>
                </a:solidFill>
                <a:latin typeface="Calibri" pitchFamily="34" charset="0"/>
                <a:ea typeface="Calibri" pitchFamily="34" charset="-122"/>
                <a:cs typeface="Calibri" pitchFamily="34" charset="-120"/>
              </a:rPr>
              <a:t>Powers search engines</a:t>
            </a:r>
            <a:endParaRPr lang="en-US" sz="1750" dirty="0"/>
          </a:p>
        </p:txBody>
      </p:sp>
      <p:sp>
        <p:nvSpPr>
          <p:cNvPr id="25" name="Text 16"/>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Tools You Already Use</a:t>
            </a:r>
            <a:endParaRPr lang="en-US" sz="30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Six popular apps that run on NLP, every single day.</a:t>
            </a:r>
            <a:endParaRPr lang="en-US" sz="1400" dirty="0"/>
          </a:p>
        </p:txBody>
      </p:sp>
      <p:sp>
        <p:nvSpPr>
          <p:cNvPr id="4" name="Shape 2"/>
          <p:cNvSpPr/>
          <p:nvPr/>
        </p:nvSpPr>
        <p:spPr>
          <a:xfrm>
            <a:off x="640080" y="2103120"/>
            <a:ext cx="3444270" cy="2011680"/>
          </a:xfrm>
          <a:prstGeom prst="roundRect">
            <a:avLst>
              <a:gd name="adj" fmla="val 3636"/>
            </a:avLst>
          </a:prstGeom>
          <a:solidFill>
            <a:srgbClr val="F4F8F0"/>
          </a:solidFill>
          <a:ln/>
          <a:effectLst>
            <a:outerShdw blurRad="76200" dist="38100" dir="5400000" algn="bl" rotWithShape="0">
              <a:srgbClr val="1B3A1E">
                <a:alpha val="8000"/>
              </a:srgbClr>
            </a:outerShdw>
          </a:effectLst>
        </p:spPr>
        <p:txBody>
          <a:bodyPr/>
          <a:lstStyle/>
          <a:p>
            <a:endParaRPr lang="en-US"/>
          </a:p>
        </p:txBody>
      </p:sp>
      <p:sp>
        <p:nvSpPr>
          <p:cNvPr id="5" name="Shape 3"/>
          <p:cNvSpPr/>
          <p:nvPr/>
        </p:nvSpPr>
        <p:spPr>
          <a:xfrm>
            <a:off x="1905015" y="2377440"/>
            <a:ext cx="914400" cy="914400"/>
          </a:xfrm>
          <a:prstGeom prst="ellipse">
            <a:avLst/>
          </a:prstGeom>
          <a:solidFill>
            <a:srgbClr val="FFFFF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2023887" y="2496312"/>
            <a:ext cx="676656" cy="676656"/>
          </a:xfrm>
          <a:prstGeom prst="rect">
            <a:avLst/>
          </a:prstGeom>
        </p:spPr>
      </p:pic>
      <p:sp>
        <p:nvSpPr>
          <p:cNvPr id="7" name="Text 4"/>
          <p:cNvSpPr/>
          <p:nvPr/>
        </p:nvSpPr>
        <p:spPr>
          <a:xfrm>
            <a:off x="777240" y="3383280"/>
            <a:ext cx="3169950" cy="411480"/>
          </a:xfrm>
          <a:prstGeom prst="rect">
            <a:avLst/>
          </a:prstGeom>
          <a:noFill/>
          <a:ln/>
        </p:spPr>
        <p:txBody>
          <a:bodyPr wrap="square" lIns="0" tIns="0" rIns="0" bIns="0" rtlCol="0" anchor="ctr"/>
          <a:lstStyle/>
          <a:p>
            <a:pPr marL="0" indent="0" algn="ctr">
              <a:buNone/>
            </a:pPr>
            <a:r>
              <a:rPr lang="en-US" sz="1550" b="1" dirty="0">
                <a:solidFill>
                  <a:srgbClr val="2C5F2D"/>
                </a:solidFill>
                <a:latin typeface="Cambria" pitchFamily="34" charset="0"/>
                <a:ea typeface="Cambria" pitchFamily="34" charset="-122"/>
                <a:cs typeface="Cambria" pitchFamily="34" charset="-120"/>
              </a:rPr>
              <a:t>Siri</a:t>
            </a:r>
            <a:endParaRPr lang="en-US" sz="1550" dirty="0"/>
          </a:p>
        </p:txBody>
      </p:sp>
      <p:sp>
        <p:nvSpPr>
          <p:cNvPr id="8" name="Text 5"/>
          <p:cNvSpPr/>
          <p:nvPr/>
        </p:nvSpPr>
        <p:spPr>
          <a:xfrm>
            <a:off x="777240" y="3767328"/>
            <a:ext cx="3169950" cy="320040"/>
          </a:xfrm>
          <a:prstGeom prst="rect">
            <a:avLst/>
          </a:prstGeom>
          <a:noFill/>
          <a:ln/>
        </p:spPr>
        <p:txBody>
          <a:bodyPr wrap="square" lIns="0" tIns="0" rIns="0" bIns="0" rtlCol="0" anchor="ctr"/>
          <a:lstStyle/>
          <a:p>
            <a:pPr marL="0" indent="0" algn="ctr">
              <a:buNone/>
            </a:pPr>
            <a:r>
              <a:rPr lang="en-US" sz="1150" dirty="0">
                <a:solidFill>
                  <a:srgbClr val="5E6E58"/>
                </a:solidFill>
                <a:latin typeface="Calibri" pitchFamily="34" charset="0"/>
                <a:ea typeface="Calibri" pitchFamily="34" charset="-122"/>
                <a:cs typeface="Calibri" pitchFamily="34" charset="-120"/>
              </a:rPr>
              <a:t>Voice Assistant</a:t>
            </a:r>
            <a:endParaRPr lang="en-US" sz="1150" dirty="0"/>
          </a:p>
        </p:txBody>
      </p:sp>
      <p:sp>
        <p:nvSpPr>
          <p:cNvPr id="9" name="Shape 6"/>
          <p:cNvSpPr/>
          <p:nvPr/>
        </p:nvSpPr>
        <p:spPr>
          <a:xfrm>
            <a:off x="4358670" y="2103120"/>
            <a:ext cx="3444270" cy="2011680"/>
          </a:xfrm>
          <a:prstGeom prst="roundRect">
            <a:avLst>
              <a:gd name="adj" fmla="val 3636"/>
            </a:avLst>
          </a:prstGeom>
          <a:solidFill>
            <a:srgbClr val="EFF6E7"/>
          </a:solidFill>
          <a:ln/>
          <a:effectLst>
            <a:outerShdw blurRad="76200" dist="38100" dir="5400000" algn="bl" rotWithShape="0">
              <a:srgbClr val="1B3A1E">
                <a:alpha val="8000"/>
              </a:srgbClr>
            </a:outerShdw>
          </a:effectLst>
        </p:spPr>
        <p:txBody>
          <a:bodyPr/>
          <a:lstStyle/>
          <a:p>
            <a:endParaRPr lang="en-US"/>
          </a:p>
        </p:txBody>
      </p:sp>
      <p:sp>
        <p:nvSpPr>
          <p:cNvPr id="10" name="Shape 7"/>
          <p:cNvSpPr/>
          <p:nvPr/>
        </p:nvSpPr>
        <p:spPr>
          <a:xfrm>
            <a:off x="5623606" y="2377440"/>
            <a:ext cx="914400" cy="914400"/>
          </a:xfrm>
          <a:prstGeom prst="ellipse">
            <a:avLst/>
          </a:prstGeom>
          <a:solidFill>
            <a:srgbClr val="FFFFFF"/>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742478" y="2496312"/>
            <a:ext cx="676656" cy="676656"/>
          </a:xfrm>
          <a:prstGeom prst="rect">
            <a:avLst/>
          </a:prstGeom>
        </p:spPr>
      </p:pic>
      <p:sp>
        <p:nvSpPr>
          <p:cNvPr id="12" name="Text 8"/>
          <p:cNvSpPr/>
          <p:nvPr/>
        </p:nvSpPr>
        <p:spPr>
          <a:xfrm>
            <a:off x="4495830" y="3383280"/>
            <a:ext cx="3169950" cy="411480"/>
          </a:xfrm>
          <a:prstGeom prst="rect">
            <a:avLst/>
          </a:prstGeom>
          <a:noFill/>
          <a:ln/>
        </p:spPr>
        <p:txBody>
          <a:bodyPr wrap="square" lIns="0" tIns="0" rIns="0" bIns="0" rtlCol="0" anchor="ctr"/>
          <a:lstStyle/>
          <a:p>
            <a:pPr marL="0" indent="0" algn="ctr">
              <a:buNone/>
            </a:pPr>
            <a:r>
              <a:rPr lang="en-US" sz="1550" b="1" dirty="0">
                <a:solidFill>
                  <a:srgbClr val="2C5F2D"/>
                </a:solidFill>
                <a:latin typeface="Cambria" pitchFamily="34" charset="0"/>
                <a:ea typeface="Cambria" pitchFamily="34" charset="-122"/>
                <a:cs typeface="Cambria" pitchFamily="34" charset="-120"/>
              </a:rPr>
              <a:t>Alexa</a:t>
            </a:r>
            <a:endParaRPr lang="en-US" sz="1550" dirty="0"/>
          </a:p>
        </p:txBody>
      </p:sp>
      <p:sp>
        <p:nvSpPr>
          <p:cNvPr id="13" name="Text 9"/>
          <p:cNvSpPr/>
          <p:nvPr/>
        </p:nvSpPr>
        <p:spPr>
          <a:xfrm>
            <a:off x="4495830" y="3767328"/>
            <a:ext cx="3169950" cy="320040"/>
          </a:xfrm>
          <a:prstGeom prst="rect">
            <a:avLst/>
          </a:prstGeom>
          <a:noFill/>
          <a:ln/>
        </p:spPr>
        <p:txBody>
          <a:bodyPr wrap="square" lIns="0" tIns="0" rIns="0" bIns="0" rtlCol="0" anchor="ctr"/>
          <a:lstStyle/>
          <a:p>
            <a:pPr marL="0" indent="0" algn="ctr">
              <a:buNone/>
            </a:pPr>
            <a:r>
              <a:rPr lang="en-US" sz="1150" dirty="0">
                <a:solidFill>
                  <a:srgbClr val="5E6E58"/>
                </a:solidFill>
                <a:latin typeface="Calibri" pitchFamily="34" charset="0"/>
                <a:ea typeface="Calibri" pitchFamily="34" charset="-122"/>
                <a:cs typeface="Calibri" pitchFamily="34" charset="-120"/>
              </a:rPr>
              <a:t>Smart Speaker</a:t>
            </a:r>
            <a:endParaRPr lang="en-US" sz="1150" dirty="0"/>
          </a:p>
        </p:txBody>
      </p:sp>
      <p:sp>
        <p:nvSpPr>
          <p:cNvPr id="14" name="Shape 10"/>
          <p:cNvSpPr/>
          <p:nvPr/>
        </p:nvSpPr>
        <p:spPr>
          <a:xfrm>
            <a:off x="8077170" y="2103120"/>
            <a:ext cx="3444270" cy="2011680"/>
          </a:xfrm>
          <a:prstGeom prst="roundRect">
            <a:avLst>
              <a:gd name="adj" fmla="val 3636"/>
            </a:avLst>
          </a:prstGeom>
          <a:solidFill>
            <a:srgbClr val="F4F8F0"/>
          </a:solidFill>
          <a:ln/>
          <a:effectLst>
            <a:outerShdw blurRad="76200" dist="38100" dir="5400000" algn="bl" rotWithShape="0">
              <a:srgbClr val="1B3A1E">
                <a:alpha val="8000"/>
              </a:srgbClr>
            </a:outerShdw>
          </a:effectLst>
        </p:spPr>
        <p:txBody>
          <a:bodyPr/>
          <a:lstStyle/>
          <a:p>
            <a:endParaRPr lang="en-US"/>
          </a:p>
        </p:txBody>
      </p:sp>
      <p:sp>
        <p:nvSpPr>
          <p:cNvPr id="15" name="Shape 11"/>
          <p:cNvSpPr/>
          <p:nvPr/>
        </p:nvSpPr>
        <p:spPr>
          <a:xfrm>
            <a:off x="9342105" y="2377440"/>
            <a:ext cx="914400" cy="914400"/>
          </a:xfrm>
          <a:prstGeom prst="ellipse">
            <a:avLst/>
          </a:prstGeom>
          <a:solidFill>
            <a:srgbClr val="FFFFFF"/>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460977" y="2496312"/>
            <a:ext cx="676656" cy="676656"/>
          </a:xfrm>
          <a:prstGeom prst="rect">
            <a:avLst/>
          </a:prstGeom>
        </p:spPr>
      </p:pic>
      <p:sp>
        <p:nvSpPr>
          <p:cNvPr id="17" name="Text 12"/>
          <p:cNvSpPr/>
          <p:nvPr/>
        </p:nvSpPr>
        <p:spPr>
          <a:xfrm>
            <a:off x="8214330" y="3383280"/>
            <a:ext cx="3169950" cy="411480"/>
          </a:xfrm>
          <a:prstGeom prst="rect">
            <a:avLst/>
          </a:prstGeom>
          <a:noFill/>
          <a:ln/>
        </p:spPr>
        <p:txBody>
          <a:bodyPr wrap="square" lIns="0" tIns="0" rIns="0" bIns="0" rtlCol="0" anchor="ctr"/>
          <a:lstStyle/>
          <a:p>
            <a:pPr marL="0" indent="0" algn="ctr">
              <a:buNone/>
            </a:pPr>
            <a:r>
              <a:rPr lang="en-US" sz="1550" b="1" dirty="0">
                <a:solidFill>
                  <a:srgbClr val="2C5F2D"/>
                </a:solidFill>
                <a:latin typeface="Cambria" pitchFamily="34" charset="0"/>
                <a:ea typeface="Cambria" pitchFamily="34" charset="-122"/>
                <a:cs typeface="Cambria" pitchFamily="34" charset="-120"/>
              </a:rPr>
              <a:t>Google Assistant</a:t>
            </a:r>
            <a:endParaRPr lang="en-US" sz="1550" dirty="0"/>
          </a:p>
        </p:txBody>
      </p:sp>
      <p:sp>
        <p:nvSpPr>
          <p:cNvPr id="18" name="Text 13"/>
          <p:cNvSpPr/>
          <p:nvPr/>
        </p:nvSpPr>
        <p:spPr>
          <a:xfrm>
            <a:off x="8214330" y="3767328"/>
            <a:ext cx="3169950" cy="320040"/>
          </a:xfrm>
          <a:prstGeom prst="rect">
            <a:avLst/>
          </a:prstGeom>
          <a:noFill/>
          <a:ln/>
        </p:spPr>
        <p:txBody>
          <a:bodyPr wrap="square" lIns="0" tIns="0" rIns="0" bIns="0" rtlCol="0" anchor="ctr"/>
          <a:lstStyle/>
          <a:p>
            <a:pPr marL="0" indent="0" algn="ctr">
              <a:buNone/>
            </a:pPr>
            <a:r>
              <a:rPr lang="en-US" sz="1150" dirty="0">
                <a:solidFill>
                  <a:srgbClr val="5E6E58"/>
                </a:solidFill>
                <a:latin typeface="Calibri" pitchFamily="34" charset="0"/>
                <a:ea typeface="Calibri" pitchFamily="34" charset="-122"/>
                <a:cs typeface="Calibri" pitchFamily="34" charset="-120"/>
              </a:rPr>
              <a:t>AI Assistant</a:t>
            </a:r>
            <a:endParaRPr lang="en-US" sz="1150" dirty="0"/>
          </a:p>
        </p:txBody>
      </p:sp>
      <p:sp>
        <p:nvSpPr>
          <p:cNvPr id="19" name="Shape 14"/>
          <p:cNvSpPr/>
          <p:nvPr/>
        </p:nvSpPr>
        <p:spPr>
          <a:xfrm>
            <a:off x="640080" y="4343400"/>
            <a:ext cx="3444270" cy="2011680"/>
          </a:xfrm>
          <a:prstGeom prst="roundRect">
            <a:avLst>
              <a:gd name="adj" fmla="val 3636"/>
            </a:avLst>
          </a:prstGeom>
          <a:solidFill>
            <a:srgbClr val="F4F8F0"/>
          </a:solidFill>
          <a:ln/>
          <a:effectLst>
            <a:outerShdw blurRad="76200" dist="38100" dir="5400000" algn="bl" rotWithShape="0">
              <a:srgbClr val="1B3A1E">
                <a:alpha val="8000"/>
              </a:srgbClr>
            </a:outerShdw>
          </a:effectLst>
        </p:spPr>
        <p:txBody>
          <a:bodyPr/>
          <a:lstStyle/>
          <a:p>
            <a:endParaRPr lang="en-US"/>
          </a:p>
        </p:txBody>
      </p:sp>
      <p:sp>
        <p:nvSpPr>
          <p:cNvPr id="20" name="Shape 15"/>
          <p:cNvSpPr/>
          <p:nvPr/>
        </p:nvSpPr>
        <p:spPr>
          <a:xfrm>
            <a:off x="1905015" y="4617720"/>
            <a:ext cx="914400" cy="914400"/>
          </a:xfrm>
          <a:prstGeom prst="ellipse">
            <a:avLst/>
          </a:prstGeom>
          <a:solidFill>
            <a:srgbClr val="FFFFFF"/>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2023887" y="4736592"/>
            <a:ext cx="676656" cy="676656"/>
          </a:xfrm>
          <a:prstGeom prst="rect">
            <a:avLst/>
          </a:prstGeom>
        </p:spPr>
      </p:pic>
      <p:sp>
        <p:nvSpPr>
          <p:cNvPr id="22" name="Text 16"/>
          <p:cNvSpPr/>
          <p:nvPr/>
        </p:nvSpPr>
        <p:spPr>
          <a:xfrm>
            <a:off x="777240" y="5623560"/>
            <a:ext cx="3169950" cy="411480"/>
          </a:xfrm>
          <a:prstGeom prst="rect">
            <a:avLst/>
          </a:prstGeom>
          <a:noFill/>
          <a:ln/>
        </p:spPr>
        <p:txBody>
          <a:bodyPr wrap="square" lIns="0" tIns="0" rIns="0" bIns="0" rtlCol="0" anchor="ctr"/>
          <a:lstStyle/>
          <a:p>
            <a:pPr marL="0" indent="0" algn="ctr">
              <a:buNone/>
            </a:pPr>
            <a:r>
              <a:rPr lang="en-US" sz="1550" b="1" dirty="0">
                <a:solidFill>
                  <a:srgbClr val="2C5F2D"/>
                </a:solidFill>
                <a:latin typeface="Cambria" pitchFamily="34" charset="0"/>
                <a:ea typeface="Cambria" pitchFamily="34" charset="-122"/>
                <a:cs typeface="Cambria" pitchFamily="34" charset="-120"/>
              </a:rPr>
              <a:t>ChatGPT</a:t>
            </a:r>
            <a:endParaRPr lang="en-US" sz="1550" dirty="0"/>
          </a:p>
        </p:txBody>
      </p:sp>
      <p:sp>
        <p:nvSpPr>
          <p:cNvPr id="23" name="Text 17"/>
          <p:cNvSpPr/>
          <p:nvPr/>
        </p:nvSpPr>
        <p:spPr>
          <a:xfrm>
            <a:off x="777240" y="6007608"/>
            <a:ext cx="3169950" cy="320040"/>
          </a:xfrm>
          <a:prstGeom prst="rect">
            <a:avLst/>
          </a:prstGeom>
          <a:noFill/>
          <a:ln/>
        </p:spPr>
        <p:txBody>
          <a:bodyPr wrap="square" lIns="0" tIns="0" rIns="0" bIns="0" rtlCol="0" anchor="ctr"/>
          <a:lstStyle/>
          <a:p>
            <a:pPr marL="0" indent="0" algn="ctr">
              <a:buNone/>
            </a:pPr>
            <a:r>
              <a:rPr lang="en-US" sz="1150" dirty="0">
                <a:solidFill>
                  <a:srgbClr val="5E6E58"/>
                </a:solidFill>
                <a:latin typeface="Calibri" pitchFamily="34" charset="0"/>
                <a:ea typeface="Calibri" pitchFamily="34" charset="-122"/>
                <a:cs typeface="Calibri" pitchFamily="34" charset="-120"/>
              </a:rPr>
              <a:t>AI Chatbot</a:t>
            </a:r>
            <a:endParaRPr lang="en-US" sz="1150" dirty="0"/>
          </a:p>
        </p:txBody>
      </p:sp>
      <p:sp>
        <p:nvSpPr>
          <p:cNvPr id="24" name="Shape 18"/>
          <p:cNvSpPr/>
          <p:nvPr/>
        </p:nvSpPr>
        <p:spPr>
          <a:xfrm>
            <a:off x="4358670" y="4343400"/>
            <a:ext cx="3444270" cy="2011680"/>
          </a:xfrm>
          <a:prstGeom prst="roundRect">
            <a:avLst>
              <a:gd name="adj" fmla="val 3636"/>
            </a:avLst>
          </a:prstGeom>
          <a:solidFill>
            <a:srgbClr val="EFF6E7"/>
          </a:solidFill>
          <a:ln/>
          <a:effectLst>
            <a:outerShdw blurRad="76200" dist="38100" dir="5400000" algn="bl" rotWithShape="0">
              <a:srgbClr val="1B3A1E">
                <a:alpha val="8000"/>
              </a:srgbClr>
            </a:outerShdw>
          </a:effectLst>
        </p:spPr>
        <p:txBody>
          <a:bodyPr/>
          <a:lstStyle/>
          <a:p>
            <a:endParaRPr lang="en-US"/>
          </a:p>
        </p:txBody>
      </p:sp>
      <p:sp>
        <p:nvSpPr>
          <p:cNvPr id="25" name="Shape 19"/>
          <p:cNvSpPr/>
          <p:nvPr/>
        </p:nvSpPr>
        <p:spPr>
          <a:xfrm>
            <a:off x="5623606" y="4617720"/>
            <a:ext cx="914400" cy="914400"/>
          </a:xfrm>
          <a:prstGeom prst="ellipse">
            <a:avLst/>
          </a:prstGeom>
          <a:solidFill>
            <a:srgbClr val="FFFFFF"/>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5742478" y="4736592"/>
            <a:ext cx="676656" cy="676656"/>
          </a:xfrm>
          <a:prstGeom prst="rect">
            <a:avLst/>
          </a:prstGeom>
        </p:spPr>
      </p:pic>
      <p:sp>
        <p:nvSpPr>
          <p:cNvPr id="27" name="Text 20"/>
          <p:cNvSpPr/>
          <p:nvPr/>
        </p:nvSpPr>
        <p:spPr>
          <a:xfrm>
            <a:off x="4495830" y="5623560"/>
            <a:ext cx="3169950" cy="411480"/>
          </a:xfrm>
          <a:prstGeom prst="rect">
            <a:avLst/>
          </a:prstGeom>
          <a:noFill/>
          <a:ln/>
        </p:spPr>
        <p:txBody>
          <a:bodyPr wrap="square" lIns="0" tIns="0" rIns="0" bIns="0" rtlCol="0" anchor="ctr"/>
          <a:lstStyle/>
          <a:p>
            <a:pPr marL="0" indent="0" algn="ctr">
              <a:buNone/>
            </a:pPr>
            <a:r>
              <a:rPr lang="en-US" sz="1550" b="1" dirty="0">
                <a:solidFill>
                  <a:srgbClr val="2C5F2D"/>
                </a:solidFill>
                <a:latin typeface="Cambria" pitchFamily="34" charset="0"/>
                <a:ea typeface="Cambria" pitchFamily="34" charset="-122"/>
                <a:cs typeface="Cambria" pitchFamily="34" charset="-120"/>
              </a:rPr>
              <a:t>Grammarly</a:t>
            </a:r>
            <a:endParaRPr lang="en-US" sz="1550" dirty="0"/>
          </a:p>
        </p:txBody>
      </p:sp>
      <p:sp>
        <p:nvSpPr>
          <p:cNvPr id="28" name="Text 21"/>
          <p:cNvSpPr/>
          <p:nvPr/>
        </p:nvSpPr>
        <p:spPr>
          <a:xfrm>
            <a:off x="4495830" y="6007608"/>
            <a:ext cx="3169950" cy="320040"/>
          </a:xfrm>
          <a:prstGeom prst="rect">
            <a:avLst/>
          </a:prstGeom>
          <a:noFill/>
          <a:ln/>
        </p:spPr>
        <p:txBody>
          <a:bodyPr wrap="square" lIns="0" tIns="0" rIns="0" bIns="0" rtlCol="0" anchor="ctr"/>
          <a:lstStyle/>
          <a:p>
            <a:pPr marL="0" indent="0" algn="ctr">
              <a:buNone/>
            </a:pPr>
            <a:r>
              <a:rPr lang="en-US" sz="1150" dirty="0">
                <a:solidFill>
                  <a:srgbClr val="5E6E58"/>
                </a:solidFill>
                <a:latin typeface="Calibri" pitchFamily="34" charset="0"/>
                <a:ea typeface="Calibri" pitchFamily="34" charset="-122"/>
                <a:cs typeface="Calibri" pitchFamily="34" charset="-120"/>
              </a:rPr>
              <a:t>Writing Helper</a:t>
            </a:r>
            <a:endParaRPr lang="en-US" sz="1150" dirty="0"/>
          </a:p>
        </p:txBody>
      </p:sp>
      <p:sp>
        <p:nvSpPr>
          <p:cNvPr id="29" name="Shape 22"/>
          <p:cNvSpPr/>
          <p:nvPr/>
        </p:nvSpPr>
        <p:spPr>
          <a:xfrm>
            <a:off x="8077170" y="4343400"/>
            <a:ext cx="3444270" cy="2011680"/>
          </a:xfrm>
          <a:prstGeom prst="roundRect">
            <a:avLst>
              <a:gd name="adj" fmla="val 3636"/>
            </a:avLst>
          </a:prstGeom>
          <a:solidFill>
            <a:srgbClr val="F4F8F0"/>
          </a:solidFill>
          <a:ln/>
          <a:effectLst>
            <a:outerShdw blurRad="76200" dist="38100" dir="5400000" algn="bl" rotWithShape="0">
              <a:srgbClr val="1B3A1E">
                <a:alpha val="8000"/>
              </a:srgbClr>
            </a:outerShdw>
          </a:effectLst>
        </p:spPr>
        <p:txBody>
          <a:bodyPr/>
          <a:lstStyle/>
          <a:p>
            <a:endParaRPr lang="en-US"/>
          </a:p>
        </p:txBody>
      </p:sp>
      <p:sp>
        <p:nvSpPr>
          <p:cNvPr id="30" name="Shape 23"/>
          <p:cNvSpPr/>
          <p:nvPr/>
        </p:nvSpPr>
        <p:spPr>
          <a:xfrm>
            <a:off x="9342105" y="4617720"/>
            <a:ext cx="914400" cy="914400"/>
          </a:xfrm>
          <a:prstGeom prst="ellipse">
            <a:avLst/>
          </a:prstGeom>
          <a:solidFill>
            <a:srgbClr val="FFFFFF"/>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9460977" y="4736592"/>
            <a:ext cx="676656" cy="676656"/>
          </a:xfrm>
          <a:prstGeom prst="rect">
            <a:avLst/>
          </a:prstGeom>
        </p:spPr>
      </p:pic>
      <p:sp>
        <p:nvSpPr>
          <p:cNvPr id="32" name="Text 24"/>
          <p:cNvSpPr/>
          <p:nvPr/>
        </p:nvSpPr>
        <p:spPr>
          <a:xfrm>
            <a:off x="8214330" y="5623560"/>
            <a:ext cx="3169950" cy="411480"/>
          </a:xfrm>
          <a:prstGeom prst="rect">
            <a:avLst/>
          </a:prstGeom>
          <a:noFill/>
          <a:ln/>
        </p:spPr>
        <p:txBody>
          <a:bodyPr wrap="square" lIns="0" tIns="0" rIns="0" bIns="0" rtlCol="0" anchor="ctr"/>
          <a:lstStyle/>
          <a:p>
            <a:pPr marL="0" indent="0" algn="ctr">
              <a:buNone/>
            </a:pPr>
            <a:r>
              <a:rPr lang="en-US" sz="1550" b="1" dirty="0">
                <a:solidFill>
                  <a:srgbClr val="2C5F2D"/>
                </a:solidFill>
                <a:latin typeface="Cambria" pitchFamily="34" charset="0"/>
                <a:ea typeface="Cambria" pitchFamily="34" charset="-122"/>
                <a:cs typeface="Cambria" pitchFamily="34" charset="-120"/>
              </a:rPr>
              <a:t>Google Translate</a:t>
            </a:r>
            <a:endParaRPr lang="en-US" sz="1550" dirty="0"/>
          </a:p>
        </p:txBody>
      </p:sp>
      <p:sp>
        <p:nvSpPr>
          <p:cNvPr id="33" name="Text 25"/>
          <p:cNvSpPr/>
          <p:nvPr/>
        </p:nvSpPr>
        <p:spPr>
          <a:xfrm>
            <a:off x="8214330" y="6007608"/>
            <a:ext cx="3169950" cy="320040"/>
          </a:xfrm>
          <a:prstGeom prst="rect">
            <a:avLst/>
          </a:prstGeom>
          <a:noFill/>
          <a:ln/>
        </p:spPr>
        <p:txBody>
          <a:bodyPr wrap="square" lIns="0" tIns="0" rIns="0" bIns="0" rtlCol="0" anchor="ctr"/>
          <a:lstStyle/>
          <a:p>
            <a:pPr marL="0" indent="0" algn="ctr">
              <a:buNone/>
            </a:pPr>
            <a:r>
              <a:rPr lang="en-US" sz="1150" dirty="0">
                <a:solidFill>
                  <a:srgbClr val="5E6E58"/>
                </a:solidFill>
                <a:latin typeface="Calibri" pitchFamily="34" charset="0"/>
                <a:ea typeface="Calibri" pitchFamily="34" charset="-122"/>
                <a:cs typeface="Calibri" pitchFamily="34" charset="-120"/>
              </a:rPr>
              <a:t>Translator</a:t>
            </a:r>
            <a:endParaRPr lang="en-US" sz="1150" dirty="0"/>
          </a:p>
        </p:txBody>
      </p:sp>
      <p:sp>
        <p:nvSpPr>
          <p:cNvPr id="34" name="Text 26"/>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Advantages of NLP</a:t>
            </a:r>
            <a:endParaRPr lang="en-US" sz="30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Why NLP is worth using  the upside.</a:t>
            </a:r>
            <a:endParaRPr lang="en-US" sz="1400" dirty="0"/>
          </a:p>
        </p:txBody>
      </p:sp>
      <p:sp>
        <p:nvSpPr>
          <p:cNvPr id="4" name="Shape 2"/>
          <p:cNvSpPr/>
          <p:nvPr/>
        </p:nvSpPr>
        <p:spPr>
          <a:xfrm>
            <a:off x="640080" y="2148840"/>
            <a:ext cx="10881360" cy="822960"/>
          </a:xfrm>
          <a:prstGeom prst="roundRect">
            <a:avLst>
              <a:gd name="adj" fmla="val 8889"/>
            </a:avLst>
          </a:prstGeom>
          <a:solidFill>
            <a:srgbClr val="F4F8F0"/>
          </a:solidFill>
          <a:ln w="12700">
            <a:solidFill>
              <a:srgbClr val="DCE8CE"/>
            </a:solidFill>
            <a:prstDash val="solid"/>
          </a:ln>
        </p:spPr>
        <p:txBody>
          <a:bodyPr/>
          <a:lstStyle/>
          <a:p>
            <a:endParaRPr lang="en-US"/>
          </a:p>
        </p:txBody>
      </p:sp>
      <p:sp>
        <p:nvSpPr>
          <p:cNvPr id="5" name="Shape 3"/>
          <p:cNvSpPr/>
          <p:nvPr/>
        </p:nvSpPr>
        <p:spPr>
          <a:xfrm>
            <a:off x="868680" y="2263140"/>
            <a:ext cx="594360" cy="594360"/>
          </a:xfrm>
          <a:prstGeom prst="ellipse">
            <a:avLst/>
          </a:prstGeom>
          <a:solidFill>
            <a:srgbClr val="E7F0DC"/>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45947" y="2340407"/>
            <a:ext cx="439826" cy="439826"/>
          </a:xfrm>
          <a:prstGeom prst="rect">
            <a:avLst/>
          </a:prstGeom>
        </p:spPr>
      </p:pic>
      <p:sp>
        <p:nvSpPr>
          <p:cNvPr id="7" name="Text 4"/>
          <p:cNvSpPr/>
          <p:nvPr/>
        </p:nvSpPr>
        <p:spPr>
          <a:xfrm>
            <a:off x="1691640" y="214884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Saves Time</a:t>
            </a:r>
            <a:endParaRPr lang="en-US" sz="1450" dirty="0"/>
          </a:p>
        </p:txBody>
      </p:sp>
      <p:sp>
        <p:nvSpPr>
          <p:cNvPr id="8" name="Text 5"/>
          <p:cNvSpPr/>
          <p:nvPr/>
        </p:nvSpPr>
        <p:spPr>
          <a:xfrm>
            <a:off x="4434840" y="2148840"/>
            <a:ext cx="6903720" cy="822960"/>
          </a:xfrm>
          <a:prstGeom prst="rect">
            <a:avLst/>
          </a:prstGeom>
          <a:noFill/>
          <a:ln/>
        </p:spPr>
        <p:txBody>
          <a:bodyPr wrap="square" lIns="0" tIns="0" rIns="0" bIns="0" rtlCol="0" anchor="ctr"/>
          <a:lstStyle/>
          <a:p>
            <a:pPr marL="0" indent="0">
              <a:lnSpc>
                <a:spcPct val="115000"/>
              </a:lnSpc>
              <a:buNone/>
            </a:pPr>
            <a:r>
              <a:rPr lang="en-US" sz="1400" dirty="0">
                <a:solidFill>
                  <a:srgbClr val="24331F"/>
                </a:solidFill>
                <a:latin typeface="Calibri" pitchFamily="34" charset="0"/>
                <a:ea typeface="Calibri" pitchFamily="34" charset="-122"/>
                <a:cs typeface="Calibri" pitchFamily="34" charset="-120"/>
              </a:rPr>
              <a:t>Automates text-based tasks that would otherwise take people hours to do by hand.</a:t>
            </a:r>
            <a:endParaRPr lang="en-US" sz="1400" dirty="0"/>
          </a:p>
        </p:txBody>
      </p:sp>
      <p:sp>
        <p:nvSpPr>
          <p:cNvPr id="9" name="Shape 6"/>
          <p:cNvSpPr/>
          <p:nvPr/>
        </p:nvSpPr>
        <p:spPr>
          <a:xfrm>
            <a:off x="640080" y="3108960"/>
            <a:ext cx="10881360" cy="822960"/>
          </a:xfrm>
          <a:prstGeom prst="roundRect">
            <a:avLst>
              <a:gd name="adj" fmla="val 8889"/>
            </a:avLst>
          </a:prstGeom>
          <a:solidFill>
            <a:srgbClr val="FFFFFF"/>
          </a:solidFill>
          <a:ln w="12700">
            <a:solidFill>
              <a:srgbClr val="DCE8CE"/>
            </a:solidFill>
            <a:prstDash val="solid"/>
          </a:ln>
        </p:spPr>
        <p:txBody>
          <a:bodyPr/>
          <a:lstStyle/>
          <a:p>
            <a:endParaRPr lang="en-US"/>
          </a:p>
        </p:txBody>
      </p:sp>
      <p:sp>
        <p:nvSpPr>
          <p:cNvPr id="10" name="Shape 7"/>
          <p:cNvSpPr/>
          <p:nvPr/>
        </p:nvSpPr>
        <p:spPr>
          <a:xfrm>
            <a:off x="868680" y="3223260"/>
            <a:ext cx="594360" cy="594360"/>
          </a:xfrm>
          <a:prstGeom prst="ellipse">
            <a:avLst/>
          </a:prstGeom>
          <a:solidFill>
            <a:srgbClr val="E7F0DC"/>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45947" y="3300527"/>
            <a:ext cx="439826" cy="439826"/>
          </a:xfrm>
          <a:prstGeom prst="rect">
            <a:avLst/>
          </a:prstGeom>
        </p:spPr>
      </p:pic>
      <p:sp>
        <p:nvSpPr>
          <p:cNvPr id="12" name="Text 8"/>
          <p:cNvSpPr/>
          <p:nvPr/>
        </p:nvSpPr>
        <p:spPr>
          <a:xfrm>
            <a:off x="1691640" y="310896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Available Anytime</a:t>
            </a:r>
            <a:endParaRPr lang="en-US" sz="1450" dirty="0"/>
          </a:p>
        </p:txBody>
      </p:sp>
      <p:sp>
        <p:nvSpPr>
          <p:cNvPr id="13" name="Text 9"/>
          <p:cNvSpPr/>
          <p:nvPr/>
        </p:nvSpPr>
        <p:spPr>
          <a:xfrm>
            <a:off x="4434840" y="3108960"/>
            <a:ext cx="6903720" cy="822960"/>
          </a:xfrm>
          <a:prstGeom prst="rect">
            <a:avLst/>
          </a:prstGeom>
          <a:noFill/>
          <a:ln/>
        </p:spPr>
        <p:txBody>
          <a:bodyPr wrap="square" lIns="0" tIns="0" rIns="0" bIns="0" rtlCol="0" anchor="ctr"/>
          <a:lstStyle/>
          <a:p>
            <a:pPr marL="0" indent="0">
              <a:lnSpc>
                <a:spcPct val="115000"/>
              </a:lnSpc>
              <a:buNone/>
            </a:pPr>
            <a:r>
              <a:rPr lang="en-US" sz="1400" dirty="0">
                <a:solidFill>
                  <a:srgbClr val="24331F"/>
                </a:solidFill>
                <a:latin typeface="Calibri" pitchFamily="34" charset="0"/>
                <a:ea typeface="Calibri" pitchFamily="34" charset="-122"/>
                <a:cs typeface="Calibri" pitchFamily="34" charset="-120"/>
              </a:rPr>
              <a:t>Chatbots and voice assistants can help people any time of day, without a break.</a:t>
            </a:r>
            <a:endParaRPr lang="en-US" sz="1400" dirty="0"/>
          </a:p>
        </p:txBody>
      </p:sp>
      <p:sp>
        <p:nvSpPr>
          <p:cNvPr id="14" name="Shape 10"/>
          <p:cNvSpPr/>
          <p:nvPr/>
        </p:nvSpPr>
        <p:spPr>
          <a:xfrm>
            <a:off x="640080" y="4069080"/>
            <a:ext cx="10881360" cy="822960"/>
          </a:xfrm>
          <a:prstGeom prst="roundRect">
            <a:avLst>
              <a:gd name="adj" fmla="val 8889"/>
            </a:avLst>
          </a:prstGeom>
          <a:solidFill>
            <a:srgbClr val="F4F8F0"/>
          </a:solidFill>
          <a:ln w="12700">
            <a:solidFill>
              <a:srgbClr val="DCE8CE"/>
            </a:solidFill>
            <a:prstDash val="solid"/>
          </a:ln>
        </p:spPr>
        <p:txBody>
          <a:bodyPr/>
          <a:lstStyle/>
          <a:p>
            <a:endParaRPr lang="en-US"/>
          </a:p>
        </p:txBody>
      </p:sp>
      <p:sp>
        <p:nvSpPr>
          <p:cNvPr id="15" name="Shape 11"/>
          <p:cNvSpPr/>
          <p:nvPr/>
        </p:nvSpPr>
        <p:spPr>
          <a:xfrm>
            <a:off x="868680" y="4183380"/>
            <a:ext cx="594360" cy="594360"/>
          </a:xfrm>
          <a:prstGeom prst="ellipse">
            <a:avLst/>
          </a:prstGeom>
          <a:solidFill>
            <a:srgbClr val="E7F0DC"/>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45947" y="4260647"/>
            <a:ext cx="439826" cy="439826"/>
          </a:xfrm>
          <a:prstGeom prst="rect">
            <a:avLst/>
          </a:prstGeom>
        </p:spPr>
      </p:pic>
      <p:sp>
        <p:nvSpPr>
          <p:cNvPr id="17" name="Text 12"/>
          <p:cNvSpPr/>
          <p:nvPr/>
        </p:nvSpPr>
        <p:spPr>
          <a:xfrm>
            <a:off x="1691640" y="406908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Handles Text Fast</a:t>
            </a:r>
            <a:endParaRPr lang="en-US" sz="1450" dirty="0"/>
          </a:p>
        </p:txBody>
      </p:sp>
      <p:sp>
        <p:nvSpPr>
          <p:cNvPr id="18" name="Text 13"/>
          <p:cNvSpPr/>
          <p:nvPr/>
        </p:nvSpPr>
        <p:spPr>
          <a:xfrm>
            <a:off x="4434840" y="4069080"/>
            <a:ext cx="6903720" cy="822960"/>
          </a:xfrm>
          <a:prstGeom prst="rect">
            <a:avLst/>
          </a:prstGeom>
          <a:noFill/>
          <a:ln/>
        </p:spPr>
        <p:txBody>
          <a:bodyPr wrap="square" lIns="0" tIns="0" rIns="0" bIns="0" rtlCol="0" anchor="ctr"/>
          <a:lstStyle/>
          <a:p>
            <a:pPr marL="0" indent="0">
              <a:lnSpc>
                <a:spcPct val="115000"/>
              </a:lnSpc>
              <a:buNone/>
            </a:pPr>
            <a:r>
              <a:rPr lang="en-US" sz="1400" dirty="0">
                <a:solidFill>
                  <a:srgbClr val="24331F"/>
                </a:solidFill>
                <a:latin typeface="Calibri" pitchFamily="34" charset="0"/>
                <a:ea typeface="Calibri" pitchFamily="34" charset="-122"/>
                <a:cs typeface="Calibri" pitchFamily="34" charset="-120"/>
              </a:rPr>
              <a:t>Reads and processes huge amounts of text far faster than any person could.</a:t>
            </a:r>
            <a:endParaRPr lang="en-US" sz="1400" dirty="0"/>
          </a:p>
        </p:txBody>
      </p:sp>
      <p:sp>
        <p:nvSpPr>
          <p:cNvPr id="19" name="Shape 14"/>
          <p:cNvSpPr/>
          <p:nvPr/>
        </p:nvSpPr>
        <p:spPr>
          <a:xfrm>
            <a:off x="640080" y="5029200"/>
            <a:ext cx="10881360" cy="822960"/>
          </a:xfrm>
          <a:prstGeom prst="roundRect">
            <a:avLst>
              <a:gd name="adj" fmla="val 8889"/>
            </a:avLst>
          </a:prstGeom>
          <a:solidFill>
            <a:srgbClr val="FFFFFF"/>
          </a:solidFill>
          <a:ln w="12700">
            <a:solidFill>
              <a:srgbClr val="DCE8CE"/>
            </a:solidFill>
            <a:prstDash val="solid"/>
          </a:ln>
        </p:spPr>
        <p:txBody>
          <a:bodyPr/>
          <a:lstStyle/>
          <a:p>
            <a:endParaRPr lang="en-US"/>
          </a:p>
        </p:txBody>
      </p:sp>
      <p:sp>
        <p:nvSpPr>
          <p:cNvPr id="20" name="Shape 15"/>
          <p:cNvSpPr/>
          <p:nvPr/>
        </p:nvSpPr>
        <p:spPr>
          <a:xfrm>
            <a:off x="868680" y="5143500"/>
            <a:ext cx="594360" cy="594360"/>
          </a:xfrm>
          <a:prstGeom prst="ellipse">
            <a:avLst/>
          </a:prstGeom>
          <a:solidFill>
            <a:srgbClr val="E7F0DC"/>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45947" y="5220767"/>
            <a:ext cx="439826" cy="439826"/>
          </a:xfrm>
          <a:prstGeom prst="rect">
            <a:avLst/>
          </a:prstGeom>
        </p:spPr>
      </p:pic>
      <p:sp>
        <p:nvSpPr>
          <p:cNvPr id="22" name="Text 16"/>
          <p:cNvSpPr/>
          <p:nvPr/>
        </p:nvSpPr>
        <p:spPr>
          <a:xfrm>
            <a:off x="1691640" y="502920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Improves Accessibility</a:t>
            </a:r>
            <a:endParaRPr lang="en-US" sz="1450" dirty="0"/>
          </a:p>
        </p:txBody>
      </p:sp>
      <p:sp>
        <p:nvSpPr>
          <p:cNvPr id="23" name="Text 17"/>
          <p:cNvSpPr/>
          <p:nvPr/>
        </p:nvSpPr>
        <p:spPr>
          <a:xfrm>
            <a:off x="4434840" y="5029200"/>
            <a:ext cx="6903720" cy="822960"/>
          </a:xfrm>
          <a:prstGeom prst="rect">
            <a:avLst/>
          </a:prstGeom>
          <a:noFill/>
          <a:ln/>
        </p:spPr>
        <p:txBody>
          <a:bodyPr wrap="square" lIns="0" tIns="0" rIns="0" bIns="0" rtlCol="0" anchor="ctr"/>
          <a:lstStyle/>
          <a:p>
            <a:pPr marL="0" indent="0">
              <a:lnSpc>
                <a:spcPct val="115000"/>
              </a:lnSpc>
              <a:buNone/>
            </a:pPr>
            <a:r>
              <a:rPr lang="en-US" sz="1400" dirty="0">
                <a:solidFill>
                  <a:srgbClr val="24331F"/>
                </a:solidFill>
                <a:latin typeface="Calibri" pitchFamily="34" charset="0"/>
                <a:ea typeface="Calibri" pitchFamily="34" charset="-122"/>
                <a:cs typeface="Calibri" pitchFamily="34" charset="-120"/>
              </a:rPr>
              <a:t>Makes technology easier to use through translation, voice, and simple language.</a:t>
            </a:r>
            <a:endParaRPr lang="en-US" sz="1400" dirty="0"/>
          </a:p>
        </p:txBody>
      </p:sp>
      <p:sp>
        <p:nvSpPr>
          <p:cNvPr id="24" name="Text 18"/>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Limitations of NLP</a:t>
            </a:r>
            <a:endParaRPr lang="en-US" sz="30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Human language doesn't always follow clear rules  it can be tricky, even for computers.</a:t>
            </a:r>
            <a:endParaRPr lang="en-US" sz="1400" dirty="0"/>
          </a:p>
        </p:txBody>
      </p:sp>
      <p:sp>
        <p:nvSpPr>
          <p:cNvPr id="4" name="Shape 2"/>
          <p:cNvSpPr/>
          <p:nvPr/>
        </p:nvSpPr>
        <p:spPr>
          <a:xfrm>
            <a:off x="640080" y="2148840"/>
            <a:ext cx="10881360" cy="822960"/>
          </a:xfrm>
          <a:prstGeom prst="roundRect">
            <a:avLst>
              <a:gd name="adj" fmla="val 8889"/>
            </a:avLst>
          </a:prstGeom>
          <a:solidFill>
            <a:srgbClr val="F4F8F0"/>
          </a:solidFill>
          <a:ln w="12700">
            <a:solidFill>
              <a:srgbClr val="DCE8CE"/>
            </a:solidFill>
            <a:prstDash val="solid"/>
          </a:ln>
        </p:spPr>
        <p:txBody>
          <a:bodyPr/>
          <a:lstStyle/>
          <a:p>
            <a:endParaRPr lang="en-US"/>
          </a:p>
        </p:txBody>
      </p:sp>
      <p:sp>
        <p:nvSpPr>
          <p:cNvPr id="5" name="Shape 3"/>
          <p:cNvSpPr/>
          <p:nvPr/>
        </p:nvSpPr>
        <p:spPr>
          <a:xfrm>
            <a:off x="868680" y="2263140"/>
            <a:ext cx="594360" cy="594360"/>
          </a:xfrm>
          <a:prstGeom prst="ellipse">
            <a:avLst/>
          </a:prstGeom>
          <a:solidFill>
            <a:srgbClr val="E7F0DC"/>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45947" y="2340407"/>
            <a:ext cx="439826" cy="439826"/>
          </a:xfrm>
          <a:prstGeom prst="rect">
            <a:avLst/>
          </a:prstGeom>
        </p:spPr>
      </p:pic>
      <p:sp>
        <p:nvSpPr>
          <p:cNvPr id="7" name="Text 4"/>
          <p:cNvSpPr/>
          <p:nvPr/>
        </p:nvSpPr>
        <p:spPr>
          <a:xfrm>
            <a:off x="1691640" y="214884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Ambiguity</a:t>
            </a:r>
            <a:endParaRPr lang="en-US" sz="1450" dirty="0"/>
          </a:p>
        </p:txBody>
      </p:sp>
      <p:sp>
        <p:nvSpPr>
          <p:cNvPr id="8" name="Text 5"/>
          <p:cNvSpPr/>
          <p:nvPr/>
        </p:nvSpPr>
        <p:spPr>
          <a:xfrm>
            <a:off x="4434840" y="2148840"/>
            <a:ext cx="6903720" cy="822960"/>
          </a:xfrm>
          <a:prstGeom prst="rect">
            <a:avLst/>
          </a:prstGeom>
          <a:noFill/>
          <a:ln/>
        </p:spPr>
        <p:txBody>
          <a:bodyPr wrap="square" lIns="0" tIns="0" rIns="0" bIns="0" rtlCol="0" anchor="ctr"/>
          <a:lstStyle/>
          <a:p>
            <a:pPr marL="0" indent="0">
              <a:lnSpc>
                <a:spcPct val="115000"/>
              </a:lnSpc>
              <a:buNone/>
            </a:pPr>
            <a:r>
              <a:rPr lang="en-US" sz="1400" dirty="0">
                <a:solidFill>
                  <a:srgbClr val="24331F"/>
                </a:solidFill>
                <a:latin typeface="Calibri" pitchFamily="34" charset="0"/>
                <a:ea typeface="Calibri" pitchFamily="34" charset="-122"/>
                <a:cs typeface="Calibri" pitchFamily="34" charset="-120"/>
              </a:rPr>
              <a:t>One word can have many meanings “bank” could mean a river's edge or a place that holds money.</a:t>
            </a:r>
            <a:endParaRPr lang="en-US" sz="1400" dirty="0"/>
          </a:p>
        </p:txBody>
      </p:sp>
      <p:sp>
        <p:nvSpPr>
          <p:cNvPr id="9" name="Shape 6"/>
          <p:cNvSpPr/>
          <p:nvPr/>
        </p:nvSpPr>
        <p:spPr>
          <a:xfrm>
            <a:off x="640080" y="3108960"/>
            <a:ext cx="10881360" cy="822960"/>
          </a:xfrm>
          <a:prstGeom prst="roundRect">
            <a:avLst>
              <a:gd name="adj" fmla="val 8889"/>
            </a:avLst>
          </a:prstGeom>
          <a:solidFill>
            <a:srgbClr val="FFFFFF"/>
          </a:solidFill>
          <a:ln w="12700">
            <a:solidFill>
              <a:srgbClr val="DCE8CE"/>
            </a:solidFill>
            <a:prstDash val="solid"/>
          </a:ln>
        </p:spPr>
        <p:txBody>
          <a:bodyPr/>
          <a:lstStyle/>
          <a:p>
            <a:endParaRPr lang="en-US"/>
          </a:p>
        </p:txBody>
      </p:sp>
      <p:sp>
        <p:nvSpPr>
          <p:cNvPr id="10" name="Shape 7"/>
          <p:cNvSpPr/>
          <p:nvPr/>
        </p:nvSpPr>
        <p:spPr>
          <a:xfrm>
            <a:off x="868680" y="3223260"/>
            <a:ext cx="594360" cy="594360"/>
          </a:xfrm>
          <a:prstGeom prst="ellipse">
            <a:avLst/>
          </a:prstGeom>
          <a:solidFill>
            <a:srgbClr val="E7F0DC"/>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45947" y="3300527"/>
            <a:ext cx="439826" cy="439826"/>
          </a:xfrm>
          <a:prstGeom prst="rect">
            <a:avLst/>
          </a:prstGeom>
        </p:spPr>
      </p:pic>
      <p:sp>
        <p:nvSpPr>
          <p:cNvPr id="12" name="Text 8"/>
          <p:cNvSpPr/>
          <p:nvPr/>
        </p:nvSpPr>
        <p:spPr>
          <a:xfrm>
            <a:off x="1691640" y="310896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Sarcasm &amp; Tone</a:t>
            </a:r>
            <a:endParaRPr lang="en-US" sz="1450" dirty="0"/>
          </a:p>
        </p:txBody>
      </p:sp>
      <p:sp>
        <p:nvSpPr>
          <p:cNvPr id="13" name="Text 9"/>
          <p:cNvSpPr/>
          <p:nvPr/>
        </p:nvSpPr>
        <p:spPr>
          <a:xfrm>
            <a:off x="4434840" y="3108960"/>
            <a:ext cx="6903720" cy="822960"/>
          </a:xfrm>
          <a:prstGeom prst="rect">
            <a:avLst/>
          </a:prstGeom>
          <a:noFill/>
          <a:ln/>
        </p:spPr>
        <p:txBody>
          <a:bodyPr wrap="square" lIns="0" tIns="0" rIns="0" bIns="0" rtlCol="0" anchor="ctr"/>
          <a:lstStyle/>
          <a:p>
            <a:pPr marL="0" indent="0">
              <a:lnSpc>
                <a:spcPct val="115000"/>
              </a:lnSpc>
              <a:buNone/>
            </a:pPr>
            <a:r>
              <a:rPr lang="en-US" sz="1400" dirty="0">
                <a:solidFill>
                  <a:srgbClr val="24331F"/>
                </a:solidFill>
                <a:latin typeface="Calibri" pitchFamily="34" charset="0"/>
                <a:ea typeface="Calibri" pitchFamily="34" charset="-122"/>
                <a:cs typeface="Calibri" pitchFamily="34" charset="-120"/>
              </a:rPr>
              <a:t>“Great, another Monday” people understand the joke, but computers often take it literally.</a:t>
            </a:r>
            <a:endParaRPr lang="en-US" sz="1400" dirty="0"/>
          </a:p>
        </p:txBody>
      </p:sp>
      <p:sp>
        <p:nvSpPr>
          <p:cNvPr id="14" name="Shape 10"/>
          <p:cNvSpPr/>
          <p:nvPr/>
        </p:nvSpPr>
        <p:spPr>
          <a:xfrm>
            <a:off x="640080" y="4069080"/>
            <a:ext cx="10881360" cy="822960"/>
          </a:xfrm>
          <a:prstGeom prst="roundRect">
            <a:avLst>
              <a:gd name="adj" fmla="val 8889"/>
            </a:avLst>
          </a:prstGeom>
          <a:solidFill>
            <a:srgbClr val="F4F8F0"/>
          </a:solidFill>
          <a:ln w="12700">
            <a:solidFill>
              <a:srgbClr val="DCE8CE"/>
            </a:solidFill>
            <a:prstDash val="solid"/>
          </a:ln>
        </p:spPr>
        <p:txBody>
          <a:bodyPr/>
          <a:lstStyle/>
          <a:p>
            <a:pPr>
              <a:lnSpc>
                <a:spcPct val="115000"/>
              </a:lnSpc>
            </a:pPr>
            <a:r>
              <a:rPr lang="en-US" sz="1600" dirty="0">
                <a:solidFill>
                  <a:srgbClr val="24331F"/>
                </a:solidFill>
                <a:latin typeface="Calibri" pitchFamily="34" charset="0"/>
                <a:ea typeface="Calibri" pitchFamily="34" charset="-122"/>
                <a:cs typeface="Calibri" pitchFamily="34" charset="-120"/>
              </a:rPr>
              <a:t>                                                                                     There are thousands of languages, and each one has its own rules and style.</a:t>
            </a:r>
            <a:endParaRPr lang="en-US" sz="1600" dirty="0"/>
          </a:p>
        </p:txBody>
      </p:sp>
      <p:sp>
        <p:nvSpPr>
          <p:cNvPr id="15" name="Shape 11"/>
          <p:cNvSpPr/>
          <p:nvPr/>
        </p:nvSpPr>
        <p:spPr>
          <a:xfrm>
            <a:off x="868680" y="4183380"/>
            <a:ext cx="594360" cy="594360"/>
          </a:xfrm>
          <a:prstGeom prst="ellipse">
            <a:avLst/>
          </a:prstGeom>
          <a:solidFill>
            <a:srgbClr val="E7F0DC"/>
          </a:solidFill>
          <a:ln/>
        </p:spPr>
        <p:txBody>
          <a:bodyPr/>
          <a:lstStyle/>
          <a:p>
            <a:endParaRPr lang="en-US"/>
          </a:p>
        </p:txBody>
      </p:sp>
      <p:sp>
        <p:nvSpPr>
          <p:cNvPr id="17" name="Text 12"/>
          <p:cNvSpPr/>
          <p:nvPr/>
        </p:nvSpPr>
        <p:spPr>
          <a:xfrm>
            <a:off x="1691640" y="4069080"/>
            <a:ext cx="2651760" cy="822960"/>
          </a:xfrm>
          <a:prstGeom prst="rect">
            <a:avLst/>
          </a:prstGeom>
          <a:noFill/>
          <a:ln/>
        </p:spPr>
        <p:txBody>
          <a:bodyPr wrap="square" lIns="0" tIns="0" rIns="0" bIns="0" rtlCol="0" anchor="ctr"/>
          <a:lstStyle/>
          <a:p>
            <a:pPr>
              <a:lnSpc>
                <a:spcPct val="105000"/>
              </a:lnSpc>
            </a:pPr>
            <a:r>
              <a:rPr lang="en-US" sz="1450" b="1" dirty="0">
                <a:solidFill>
                  <a:srgbClr val="2C5F2D"/>
                </a:solidFill>
                <a:latin typeface="Cambria" pitchFamily="34" charset="0"/>
                <a:ea typeface="Cambria" pitchFamily="34" charset="-122"/>
                <a:cs typeface="Cambria" pitchFamily="34" charset="-120"/>
              </a:rPr>
              <a:t>Many Languages</a:t>
            </a:r>
            <a:endParaRPr lang="en-US" sz="1450" dirty="0"/>
          </a:p>
        </p:txBody>
      </p:sp>
      <p:sp>
        <p:nvSpPr>
          <p:cNvPr id="18" name="Text 13"/>
          <p:cNvSpPr/>
          <p:nvPr/>
        </p:nvSpPr>
        <p:spPr>
          <a:xfrm>
            <a:off x="4434840" y="4069080"/>
            <a:ext cx="6903720" cy="822960"/>
          </a:xfrm>
          <a:prstGeom prst="rect">
            <a:avLst/>
          </a:prstGeom>
          <a:noFill/>
          <a:ln/>
        </p:spPr>
        <p:txBody>
          <a:bodyPr wrap="square" lIns="0" tIns="0" rIns="0" bIns="0" rtlCol="0" anchor="ctr"/>
          <a:lstStyle/>
          <a:p>
            <a:pPr marL="0" indent="0">
              <a:lnSpc>
                <a:spcPct val="115000"/>
              </a:lnSpc>
              <a:buNone/>
            </a:pPr>
            <a:endParaRPr lang="en-US" sz="1400" dirty="0"/>
          </a:p>
        </p:txBody>
      </p:sp>
      <p:pic>
        <p:nvPicPr>
          <p:cNvPr id="21" name="Image 3" descr="preencoded.png"/>
          <p:cNvPicPr>
            <a:picLocks noChangeAspect="1"/>
          </p:cNvPicPr>
          <p:nvPr/>
        </p:nvPicPr>
        <p:blipFill>
          <a:blip r:embed="rId5"/>
          <a:stretch>
            <a:fillRect/>
          </a:stretch>
        </p:blipFill>
        <p:spPr>
          <a:xfrm>
            <a:off x="962276" y="4337914"/>
            <a:ext cx="439826" cy="439826"/>
          </a:xfrm>
          <a:prstGeom prst="rect">
            <a:avLst/>
          </a:prstGeom>
        </p:spPr>
      </p:pic>
      <p:sp>
        <p:nvSpPr>
          <p:cNvPr id="22" name="Text 16"/>
          <p:cNvSpPr/>
          <p:nvPr/>
        </p:nvSpPr>
        <p:spPr>
          <a:xfrm>
            <a:off x="1691640" y="5029200"/>
            <a:ext cx="2651760" cy="822960"/>
          </a:xfrm>
          <a:prstGeom prst="rect">
            <a:avLst/>
          </a:prstGeom>
          <a:noFill/>
          <a:ln/>
        </p:spPr>
        <p:txBody>
          <a:bodyPr wrap="square" lIns="0" tIns="0" rIns="0" bIns="0" rtlCol="0" anchor="ctr"/>
          <a:lstStyle/>
          <a:p>
            <a:pPr marL="0" indent="0">
              <a:lnSpc>
                <a:spcPct val="105000"/>
              </a:lnSpc>
              <a:buNone/>
            </a:pPr>
            <a:endParaRPr lang="en-US" sz="1450" dirty="0"/>
          </a:p>
        </p:txBody>
      </p:sp>
      <p:sp>
        <p:nvSpPr>
          <p:cNvPr id="23" name="Text 17"/>
          <p:cNvSpPr/>
          <p:nvPr/>
        </p:nvSpPr>
        <p:spPr>
          <a:xfrm>
            <a:off x="4434840" y="5029200"/>
            <a:ext cx="6903720" cy="822960"/>
          </a:xfrm>
          <a:prstGeom prst="rect">
            <a:avLst/>
          </a:prstGeom>
          <a:noFill/>
          <a:ln/>
        </p:spPr>
        <p:txBody>
          <a:bodyPr wrap="square" lIns="0" tIns="0" rIns="0" bIns="0" rtlCol="0" anchor="ctr"/>
          <a:lstStyle/>
          <a:p>
            <a:pPr marL="0" indent="0">
              <a:lnSpc>
                <a:spcPct val="115000"/>
              </a:lnSpc>
              <a:buNone/>
            </a:pPr>
            <a:endParaRPr lang="en-US" sz="1400" dirty="0"/>
          </a:p>
        </p:txBody>
      </p:sp>
      <p:sp>
        <p:nvSpPr>
          <p:cNvPr id="24" name="Text 18"/>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What Is Information Extraction?</a:t>
            </a:r>
            <a:endParaRPr lang="en-US" sz="3000" dirty="0"/>
          </a:p>
        </p:txBody>
      </p:sp>
      <p:sp>
        <p:nvSpPr>
          <p:cNvPr id="3" name="Text 1"/>
          <p:cNvSpPr/>
          <p:nvPr/>
        </p:nvSpPr>
        <p:spPr>
          <a:xfrm>
            <a:off x="640080" y="1600200"/>
            <a:ext cx="10515600" cy="822960"/>
          </a:xfrm>
          <a:prstGeom prst="rect">
            <a:avLst/>
          </a:prstGeom>
          <a:noFill/>
          <a:ln/>
        </p:spPr>
        <p:txBody>
          <a:bodyPr wrap="square" lIns="0" tIns="0" rIns="0" bIns="0" rtlCol="0" anchor="ctr"/>
          <a:lstStyle/>
          <a:p>
            <a:pPr>
              <a:lnSpc>
                <a:spcPct val="120000"/>
              </a:lnSpc>
            </a:pPr>
            <a:r>
              <a:rPr lang="en-US" sz="1600" dirty="0">
                <a:solidFill>
                  <a:srgbClr val="24331F"/>
                </a:solidFill>
                <a:latin typeface="Calibri" pitchFamily="34" charset="0"/>
                <a:ea typeface="Calibri" pitchFamily="34" charset="-122"/>
                <a:cs typeface="Calibri" pitchFamily="34" charset="-120"/>
              </a:rPr>
              <a:t>I Information Extraction (IE)</a:t>
            </a:r>
            <a:r>
              <a:rPr lang="en-US" sz="1600" dirty="0"/>
              <a:t> is the process of automatically finding and extracting important information from unstructured text and converting it into a structured format that is easy for computers to understand and use.</a:t>
            </a:r>
          </a:p>
        </p:txBody>
      </p:sp>
      <p:sp>
        <p:nvSpPr>
          <p:cNvPr id="4" name="Shape 2"/>
          <p:cNvSpPr/>
          <p:nvPr/>
        </p:nvSpPr>
        <p:spPr>
          <a:xfrm>
            <a:off x="640080" y="2651760"/>
            <a:ext cx="5212080" cy="3200400"/>
          </a:xfrm>
          <a:prstGeom prst="roundRect">
            <a:avLst>
              <a:gd name="adj" fmla="val 2286"/>
            </a:avLst>
          </a:prstGeom>
          <a:solidFill>
            <a:srgbClr val="17301A"/>
          </a:solidFill>
          <a:ln/>
        </p:spPr>
        <p:txBody>
          <a:bodyPr/>
          <a:lstStyle/>
          <a:p>
            <a:endParaRPr lang="en-US"/>
          </a:p>
        </p:txBody>
      </p:sp>
      <p:sp>
        <p:nvSpPr>
          <p:cNvPr id="5" name="Text 3"/>
          <p:cNvSpPr/>
          <p:nvPr/>
        </p:nvSpPr>
        <p:spPr>
          <a:xfrm>
            <a:off x="914400" y="2834640"/>
            <a:ext cx="4572000" cy="365760"/>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RAW TEXT</a:t>
            </a:r>
            <a:endParaRPr lang="en-US" sz="1200" dirty="0"/>
          </a:p>
        </p:txBody>
      </p:sp>
      <p:sp>
        <p:nvSpPr>
          <p:cNvPr id="6" name="Text 4"/>
          <p:cNvSpPr/>
          <p:nvPr/>
        </p:nvSpPr>
        <p:spPr>
          <a:xfrm>
            <a:off x="914400" y="3291840"/>
            <a:ext cx="4663440" cy="2286000"/>
          </a:xfrm>
          <a:prstGeom prst="rect">
            <a:avLst/>
          </a:prstGeom>
          <a:noFill/>
          <a:ln/>
        </p:spPr>
        <p:txBody>
          <a:bodyPr wrap="square" lIns="0" tIns="0" rIns="0" bIns="0" rtlCol="0" anchor="ctr"/>
          <a:lstStyle/>
          <a:p>
            <a:pPr marL="0" indent="0">
              <a:lnSpc>
                <a:spcPct val="130000"/>
              </a:lnSpc>
              <a:buNone/>
            </a:pPr>
            <a:r>
              <a:rPr lang="en-US" sz="1900" i="1" dirty="0">
                <a:solidFill>
                  <a:srgbClr val="FFFFFF"/>
                </a:solidFill>
                <a:latin typeface="Calibri" pitchFamily="34" charset="0"/>
                <a:ea typeface="Calibri" pitchFamily="34" charset="-122"/>
                <a:cs typeface="Calibri" pitchFamily="34" charset="-120"/>
              </a:rPr>
              <a:t>“Ram studies BCA at Pokhara University.”</a:t>
            </a:r>
            <a:endParaRPr lang="en-US" sz="1900" dirty="0"/>
          </a:p>
        </p:txBody>
      </p:sp>
      <p:sp>
        <p:nvSpPr>
          <p:cNvPr id="7" name="Shape 5"/>
          <p:cNvSpPr/>
          <p:nvPr/>
        </p:nvSpPr>
        <p:spPr>
          <a:xfrm>
            <a:off x="5989320" y="3977640"/>
            <a:ext cx="822960" cy="822960"/>
          </a:xfrm>
          <a:prstGeom prst="ellipse">
            <a:avLst/>
          </a:prstGeom>
          <a:solidFill>
            <a:srgbClr val="97BC62"/>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6096305" y="4084625"/>
            <a:ext cx="608990" cy="608990"/>
          </a:xfrm>
          <a:prstGeom prst="rect">
            <a:avLst/>
          </a:prstGeom>
        </p:spPr>
      </p:pic>
      <p:sp>
        <p:nvSpPr>
          <p:cNvPr id="9" name="Text 6"/>
          <p:cNvSpPr/>
          <p:nvPr/>
        </p:nvSpPr>
        <p:spPr>
          <a:xfrm>
            <a:off x="7223760" y="2651760"/>
            <a:ext cx="4114800" cy="365760"/>
          </a:xfrm>
          <a:prstGeom prst="rect">
            <a:avLst/>
          </a:prstGeom>
          <a:noFill/>
          <a:ln/>
        </p:spPr>
        <p:txBody>
          <a:bodyPr wrap="square" lIns="0" tIns="0" rIns="0" bIns="0" rtlCol="0" anchor="ctr"/>
          <a:lstStyle/>
          <a:p>
            <a:pPr marL="0" indent="0">
              <a:buNone/>
            </a:pPr>
            <a:r>
              <a:rPr lang="en-US" sz="1200" b="1" kern="0" spc="200" dirty="0">
                <a:solidFill>
                  <a:srgbClr val="2C5F2D"/>
                </a:solidFill>
                <a:latin typeface="Calibri" pitchFamily="34" charset="0"/>
                <a:ea typeface="Calibri" pitchFamily="34" charset="-122"/>
                <a:cs typeface="Calibri" pitchFamily="34" charset="-120"/>
              </a:rPr>
              <a:t>EXTRACTED INFORMATION</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223760" y="3063240"/>
          <a:ext cx="4206240" cy="2194560"/>
        </p:xfrm>
        <a:graphic>
          <a:graphicData uri="http://schemas.openxmlformats.org/drawingml/2006/table">
            <a:tbl>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54864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Entity Type</a:t>
                      </a:r>
                      <a:endParaRPr lang="en-US" sz="1300" dirty="0">
                        <a:latin typeface="Calibri" charset="0"/>
                        <a:ea typeface="Calibri" charset="0"/>
                        <a:cs typeface="Calibri" charset="0"/>
                      </a:endParaRPr>
                    </a:p>
                  </a:txBody>
                  <a:tcPr anchor="ctr">
                    <a:lnL w="12700" cap="flat" cmpd="sng" algn="ctr">
                      <a:solidFill>
                        <a:srgbClr val="DCE8CE"/>
                      </a:solidFill>
                      <a:prstDash val="solid"/>
                      <a:round/>
                      <a:headEnd type="none" w="med" len="med"/>
                      <a:tailEnd type="none" w="med" len="med"/>
                    </a:lnL>
                    <a:lnR w="12700" cap="flat" cmpd="sng" algn="ctr">
                      <a:solidFill>
                        <a:srgbClr val="DCE8CE"/>
                      </a:solidFill>
                      <a:prstDash val="solid"/>
                      <a:round/>
                      <a:headEnd type="none" w="med" len="med"/>
                      <a:tailEnd type="none" w="med" len="med"/>
                    </a:lnR>
                    <a:lnT w="12700" cap="flat" cmpd="sng" algn="ctr">
                      <a:solidFill>
                        <a:srgbClr val="DCE8CE"/>
                      </a:solidFill>
                      <a:prstDash val="solid"/>
                      <a:round/>
                      <a:headEnd type="none" w="med" len="med"/>
                      <a:tailEnd type="none" w="med" len="med"/>
                    </a:lnT>
                    <a:lnB w="12700" cap="flat" cmpd="sng" algn="ctr">
                      <a:solidFill>
                        <a:srgbClr val="DCE8CE"/>
                      </a:solidFill>
                      <a:prstDash val="solid"/>
                      <a:round/>
                      <a:headEnd type="none" w="med" len="med"/>
                      <a:tailEnd type="none" w="med" len="med"/>
                    </a:lnB>
                    <a:solidFill>
                      <a:srgbClr val="2C5F2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anchor="ctr">
                    <a:lnL w="12700" cap="flat" cmpd="sng" algn="ctr">
                      <a:solidFill>
                        <a:srgbClr val="DCE8CE"/>
                      </a:solidFill>
                      <a:prstDash val="solid"/>
                      <a:round/>
                      <a:headEnd type="none" w="med" len="med"/>
                      <a:tailEnd type="none" w="med" len="med"/>
                    </a:lnL>
                    <a:lnR w="12700" cap="flat" cmpd="sng" algn="ctr">
                      <a:solidFill>
                        <a:srgbClr val="DCE8CE"/>
                      </a:solidFill>
                      <a:prstDash val="solid"/>
                      <a:round/>
                      <a:headEnd type="none" w="med" len="med"/>
                      <a:tailEnd type="none" w="med" len="med"/>
                    </a:lnR>
                    <a:lnT w="12700" cap="flat" cmpd="sng" algn="ctr">
                      <a:solidFill>
                        <a:srgbClr val="DCE8CE"/>
                      </a:solidFill>
                      <a:prstDash val="solid"/>
                      <a:round/>
                      <a:headEnd type="none" w="med" len="med"/>
                      <a:tailEnd type="none" w="med" len="med"/>
                    </a:lnT>
                    <a:lnB w="12700" cap="flat" cmpd="sng" algn="ctr">
                      <a:solidFill>
                        <a:srgbClr val="DCE8CE"/>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548640">
                <a:tc>
                  <a:txBody>
                    <a:bodyPr/>
                    <a:lstStyle/>
                    <a:p>
                      <a:pPr marL="0" indent="0">
                        <a:buNone/>
                      </a:pPr>
                      <a:r>
                        <a:rPr lang="en-US" sz="1300" dirty="0">
                          <a:solidFill>
                            <a:srgbClr val="24331F"/>
                          </a:solidFill>
                          <a:latin typeface="Calibri" pitchFamily="34" charset="0"/>
                          <a:ea typeface="Calibri" pitchFamily="34" charset="-122"/>
                          <a:cs typeface="Calibri" pitchFamily="34" charset="-120"/>
                        </a:rPr>
                        <a:t>Person</a:t>
                      </a:r>
                      <a:endParaRPr lang="en-US" sz="1300" dirty="0">
                        <a:latin typeface="Calibri" charset="0"/>
                        <a:ea typeface="Calibri" charset="0"/>
                        <a:cs typeface="Calibri" charset="0"/>
                      </a:endParaRPr>
                    </a:p>
                  </a:txBody>
                  <a:tcPr anchor="ctr">
                    <a:lnL w="12700" cap="flat" cmpd="sng" algn="ctr">
                      <a:solidFill>
                        <a:srgbClr val="DCE8CE"/>
                      </a:solidFill>
                      <a:prstDash val="solid"/>
                      <a:round/>
                      <a:headEnd type="none" w="med" len="med"/>
                      <a:tailEnd type="none" w="med" len="med"/>
                    </a:lnL>
                    <a:lnR w="12700" cap="flat" cmpd="sng" algn="ctr">
                      <a:solidFill>
                        <a:srgbClr val="DCE8CE"/>
                      </a:solidFill>
                      <a:prstDash val="solid"/>
                      <a:round/>
                      <a:headEnd type="none" w="med" len="med"/>
                      <a:tailEnd type="none" w="med" len="med"/>
                    </a:lnR>
                    <a:lnT w="12700" cap="flat" cmpd="sng" algn="ctr">
                      <a:solidFill>
                        <a:srgbClr val="DCE8CE"/>
                      </a:solidFill>
                      <a:prstDash val="solid"/>
                      <a:round/>
                      <a:headEnd type="none" w="med" len="med"/>
                      <a:tailEnd type="none" w="med" len="med"/>
                    </a:lnT>
                    <a:lnB w="12700" cap="flat" cmpd="sng" algn="ctr">
                      <a:solidFill>
                        <a:srgbClr val="DCE8CE"/>
                      </a:solidFill>
                      <a:prstDash val="solid"/>
                      <a:round/>
                      <a:headEnd type="none" w="med" len="med"/>
                      <a:tailEnd type="none" w="med" len="med"/>
                    </a:lnB>
                    <a:solidFill>
                      <a:srgbClr val="F4F8F0"/>
                    </a:solidFill>
                  </a:tcPr>
                </a:tc>
                <a:tc>
                  <a:txBody>
                    <a:bodyPr/>
                    <a:lstStyle/>
                    <a:p>
                      <a:pPr marL="0" indent="0">
                        <a:buNone/>
                      </a:pPr>
                      <a:r>
                        <a:rPr lang="en-US" sz="1300" dirty="0">
                          <a:solidFill>
                            <a:srgbClr val="24331F"/>
                          </a:solidFill>
                          <a:latin typeface="Calibri" pitchFamily="34" charset="0"/>
                          <a:ea typeface="Calibri" pitchFamily="34" charset="-122"/>
                          <a:cs typeface="Calibri" pitchFamily="34" charset="-120"/>
                        </a:rPr>
                        <a:t>Ram</a:t>
                      </a:r>
                      <a:endParaRPr lang="en-US" sz="1300" dirty="0">
                        <a:latin typeface="Calibri" charset="0"/>
                        <a:ea typeface="Calibri" charset="0"/>
                        <a:cs typeface="Calibri" charset="0"/>
                      </a:endParaRPr>
                    </a:p>
                  </a:txBody>
                  <a:tcPr anchor="ctr">
                    <a:lnL w="12700" cap="flat" cmpd="sng" algn="ctr">
                      <a:solidFill>
                        <a:srgbClr val="DCE8CE"/>
                      </a:solidFill>
                      <a:prstDash val="solid"/>
                      <a:round/>
                      <a:headEnd type="none" w="med" len="med"/>
                      <a:tailEnd type="none" w="med" len="med"/>
                    </a:lnL>
                    <a:lnR w="12700" cap="flat" cmpd="sng" algn="ctr">
                      <a:solidFill>
                        <a:srgbClr val="DCE8CE"/>
                      </a:solidFill>
                      <a:prstDash val="solid"/>
                      <a:round/>
                      <a:headEnd type="none" w="med" len="med"/>
                      <a:tailEnd type="none" w="med" len="med"/>
                    </a:lnR>
                    <a:lnT w="12700" cap="flat" cmpd="sng" algn="ctr">
                      <a:solidFill>
                        <a:srgbClr val="DCE8CE"/>
                      </a:solidFill>
                      <a:prstDash val="solid"/>
                      <a:round/>
                      <a:headEnd type="none" w="med" len="med"/>
                      <a:tailEnd type="none" w="med" len="med"/>
                    </a:lnT>
                    <a:lnB w="12700" cap="flat" cmpd="sng" algn="ctr">
                      <a:solidFill>
                        <a:srgbClr val="DCE8CE"/>
                      </a:solidFill>
                      <a:prstDash val="solid"/>
                      <a:round/>
                      <a:headEnd type="none" w="med" len="med"/>
                      <a:tailEnd type="none" w="med" len="med"/>
                    </a:lnB>
                    <a:solidFill>
                      <a:srgbClr val="F4F8F0"/>
                    </a:solidFill>
                  </a:tcPr>
                </a:tc>
                <a:extLst>
                  <a:ext uri="{0D108BD9-81ED-4DB2-BD59-A6C34878D82A}">
                    <a16:rowId xmlns:a16="http://schemas.microsoft.com/office/drawing/2014/main" val="10001"/>
                  </a:ext>
                </a:extLst>
              </a:tr>
              <a:tr h="548640">
                <a:tc>
                  <a:txBody>
                    <a:bodyPr/>
                    <a:lstStyle/>
                    <a:p>
                      <a:pPr marL="0" indent="0">
                        <a:buNone/>
                      </a:pPr>
                      <a:r>
                        <a:rPr lang="en-US" sz="1300" dirty="0">
                          <a:solidFill>
                            <a:srgbClr val="24331F"/>
                          </a:solidFill>
                          <a:latin typeface="Calibri" pitchFamily="34" charset="0"/>
                          <a:ea typeface="Calibri" pitchFamily="34" charset="-122"/>
                          <a:cs typeface="Calibri" pitchFamily="34" charset="-120"/>
                        </a:rPr>
                        <a:t>Course</a:t>
                      </a:r>
                      <a:endParaRPr lang="en-US" sz="1300" dirty="0">
                        <a:latin typeface="Calibri" charset="0"/>
                        <a:ea typeface="Calibri" charset="0"/>
                        <a:cs typeface="Calibri" charset="0"/>
                      </a:endParaRPr>
                    </a:p>
                  </a:txBody>
                  <a:tcPr anchor="ctr">
                    <a:lnL w="12700" cap="flat" cmpd="sng" algn="ctr">
                      <a:solidFill>
                        <a:srgbClr val="DCE8CE"/>
                      </a:solidFill>
                      <a:prstDash val="solid"/>
                      <a:round/>
                      <a:headEnd type="none" w="med" len="med"/>
                      <a:tailEnd type="none" w="med" len="med"/>
                    </a:lnL>
                    <a:lnR w="12700" cap="flat" cmpd="sng" algn="ctr">
                      <a:solidFill>
                        <a:srgbClr val="DCE8CE"/>
                      </a:solidFill>
                      <a:prstDash val="solid"/>
                      <a:round/>
                      <a:headEnd type="none" w="med" len="med"/>
                      <a:tailEnd type="none" w="med" len="med"/>
                    </a:lnR>
                    <a:lnT w="12700" cap="flat" cmpd="sng" algn="ctr">
                      <a:solidFill>
                        <a:srgbClr val="DCE8CE"/>
                      </a:solidFill>
                      <a:prstDash val="solid"/>
                      <a:round/>
                      <a:headEnd type="none" w="med" len="med"/>
                      <a:tailEnd type="none" w="med" len="med"/>
                    </a:lnT>
                    <a:lnB w="12700" cap="flat" cmpd="sng" algn="ctr">
                      <a:solidFill>
                        <a:srgbClr val="DCE8CE"/>
                      </a:solidFill>
                      <a:prstDash val="solid"/>
                      <a:round/>
                      <a:headEnd type="none" w="med" len="med"/>
                      <a:tailEnd type="none" w="med" len="med"/>
                    </a:lnB>
                    <a:solidFill>
                      <a:srgbClr val="F4F8F0"/>
                    </a:solidFill>
                  </a:tcPr>
                </a:tc>
                <a:tc>
                  <a:txBody>
                    <a:bodyPr/>
                    <a:lstStyle/>
                    <a:p>
                      <a:pPr marL="0" indent="0">
                        <a:buNone/>
                      </a:pPr>
                      <a:r>
                        <a:rPr lang="en-US" sz="1300" dirty="0">
                          <a:solidFill>
                            <a:srgbClr val="24331F"/>
                          </a:solidFill>
                          <a:latin typeface="Calibri" pitchFamily="34" charset="0"/>
                          <a:ea typeface="Calibri" pitchFamily="34" charset="-122"/>
                          <a:cs typeface="Calibri" pitchFamily="34" charset="-120"/>
                        </a:rPr>
                        <a:t>BCA</a:t>
                      </a:r>
                      <a:endParaRPr lang="en-US" sz="1300" dirty="0">
                        <a:latin typeface="Calibri" charset="0"/>
                        <a:ea typeface="Calibri" charset="0"/>
                        <a:cs typeface="Calibri" charset="0"/>
                      </a:endParaRPr>
                    </a:p>
                  </a:txBody>
                  <a:tcPr anchor="ctr">
                    <a:lnL w="12700" cap="flat" cmpd="sng" algn="ctr">
                      <a:solidFill>
                        <a:srgbClr val="DCE8CE"/>
                      </a:solidFill>
                      <a:prstDash val="solid"/>
                      <a:round/>
                      <a:headEnd type="none" w="med" len="med"/>
                      <a:tailEnd type="none" w="med" len="med"/>
                    </a:lnL>
                    <a:lnR w="12700" cap="flat" cmpd="sng" algn="ctr">
                      <a:solidFill>
                        <a:srgbClr val="DCE8CE"/>
                      </a:solidFill>
                      <a:prstDash val="solid"/>
                      <a:round/>
                      <a:headEnd type="none" w="med" len="med"/>
                      <a:tailEnd type="none" w="med" len="med"/>
                    </a:lnR>
                    <a:lnT w="12700" cap="flat" cmpd="sng" algn="ctr">
                      <a:solidFill>
                        <a:srgbClr val="DCE8CE"/>
                      </a:solidFill>
                      <a:prstDash val="solid"/>
                      <a:round/>
                      <a:headEnd type="none" w="med" len="med"/>
                      <a:tailEnd type="none" w="med" len="med"/>
                    </a:lnT>
                    <a:lnB w="12700" cap="flat" cmpd="sng" algn="ctr">
                      <a:solidFill>
                        <a:srgbClr val="DCE8CE"/>
                      </a:solidFill>
                      <a:prstDash val="solid"/>
                      <a:round/>
                      <a:headEnd type="none" w="med" len="med"/>
                      <a:tailEnd type="none" w="med" len="med"/>
                    </a:lnB>
                    <a:solidFill>
                      <a:srgbClr val="F4F8F0"/>
                    </a:solidFill>
                  </a:tcPr>
                </a:tc>
                <a:extLst>
                  <a:ext uri="{0D108BD9-81ED-4DB2-BD59-A6C34878D82A}">
                    <a16:rowId xmlns:a16="http://schemas.microsoft.com/office/drawing/2014/main" val="10002"/>
                  </a:ext>
                </a:extLst>
              </a:tr>
              <a:tr h="548640">
                <a:tc>
                  <a:txBody>
                    <a:bodyPr/>
                    <a:lstStyle/>
                    <a:p>
                      <a:pPr marL="0" indent="0">
                        <a:buNone/>
                      </a:pPr>
                      <a:r>
                        <a:rPr lang="en-US" sz="1300" dirty="0">
                          <a:solidFill>
                            <a:srgbClr val="24331F"/>
                          </a:solidFill>
                          <a:latin typeface="Calibri" pitchFamily="34" charset="0"/>
                          <a:ea typeface="Calibri" pitchFamily="34" charset="-122"/>
                          <a:cs typeface="Calibri" pitchFamily="34" charset="-120"/>
                        </a:rPr>
                        <a:t>Organization</a:t>
                      </a:r>
                      <a:endParaRPr lang="en-US" sz="1300" dirty="0">
                        <a:latin typeface="Calibri" charset="0"/>
                        <a:ea typeface="Calibri" charset="0"/>
                        <a:cs typeface="Calibri" charset="0"/>
                      </a:endParaRPr>
                    </a:p>
                  </a:txBody>
                  <a:tcPr anchor="ctr">
                    <a:lnL w="12700" cap="flat" cmpd="sng" algn="ctr">
                      <a:solidFill>
                        <a:srgbClr val="DCE8CE"/>
                      </a:solidFill>
                      <a:prstDash val="solid"/>
                      <a:round/>
                      <a:headEnd type="none" w="med" len="med"/>
                      <a:tailEnd type="none" w="med" len="med"/>
                    </a:lnL>
                    <a:lnR w="12700" cap="flat" cmpd="sng" algn="ctr">
                      <a:solidFill>
                        <a:srgbClr val="DCE8CE"/>
                      </a:solidFill>
                      <a:prstDash val="solid"/>
                      <a:round/>
                      <a:headEnd type="none" w="med" len="med"/>
                      <a:tailEnd type="none" w="med" len="med"/>
                    </a:lnR>
                    <a:lnT w="12700" cap="flat" cmpd="sng" algn="ctr">
                      <a:solidFill>
                        <a:srgbClr val="DCE8CE"/>
                      </a:solidFill>
                      <a:prstDash val="solid"/>
                      <a:round/>
                      <a:headEnd type="none" w="med" len="med"/>
                      <a:tailEnd type="none" w="med" len="med"/>
                    </a:lnT>
                    <a:lnB w="12700" cap="flat" cmpd="sng" algn="ctr">
                      <a:solidFill>
                        <a:srgbClr val="DCE8CE"/>
                      </a:solidFill>
                      <a:prstDash val="solid"/>
                      <a:round/>
                      <a:headEnd type="none" w="med" len="med"/>
                      <a:tailEnd type="none" w="med" len="med"/>
                    </a:lnB>
                    <a:solidFill>
                      <a:srgbClr val="F4F8F0"/>
                    </a:solidFill>
                  </a:tcPr>
                </a:tc>
                <a:tc>
                  <a:txBody>
                    <a:bodyPr/>
                    <a:lstStyle/>
                    <a:p>
                      <a:pPr marL="0" indent="0">
                        <a:buNone/>
                      </a:pPr>
                      <a:r>
                        <a:rPr lang="en-US" sz="1300" dirty="0">
                          <a:solidFill>
                            <a:srgbClr val="24331F"/>
                          </a:solidFill>
                          <a:latin typeface="Calibri" pitchFamily="34" charset="0"/>
                          <a:ea typeface="Calibri" pitchFamily="34" charset="-122"/>
                          <a:cs typeface="Calibri" pitchFamily="34" charset="-120"/>
                        </a:rPr>
                        <a:t>Pokhara University</a:t>
                      </a:r>
                      <a:endParaRPr lang="en-US" sz="1300" dirty="0">
                        <a:latin typeface="Calibri" charset="0"/>
                        <a:ea typeface="Calibri" charset="0"/>
                        <a:cs typeface="Calibri" charset="0"/>
                      </a:endParaRPr>
                    </a:p>
                  </a:txBody>
                  <a:tcPr anchor="ctr">
                    <a:lnL w="12700" cap="flat" cmpd="sng" algn="ctr">
                      <a:solidFill>
                        <a:srgbClr val="DCE8CE"/>
                      </a:solidFill>
                      <a:prstDash val="solid"/>
                      <a:round/>
                      <a:headEnd type="none" w="med" len="med"/>
                      <a:tailEnd type="none" w="med" len="med"/>
                    </a:lnL>
                    <a:lnR w="12700" cap="flat" cmpd="sng" algn="ctr">
                      <a:solidFill>
                        <a:srgbClr val="DCE8CE"/>
                      </a:solidFill>
                      <a:prstDash val="solid"/>
                      <a:round/>
                      <a:headEnd type="none" w="med" len="med"/>
                      <a:tailEnd type="none" w="med" len="med"/>
                    </a:lnR>
                    <a:lnT w="12700" cap="flat" cmpd="sng" algn="ctr">
                      <a:solidFill>
                        <a:srgbClr val="DCE8CE"/>
                      </a:solidFill>
                      <a:prstDash val="solid"/>
                      <a:round/>
                      <a:headEnd type="none" w="med" len="med"/>
                      <a:tailEnd type="none" w="med" len="med"/>
                    </a:lnT>
                    <a:lnB w="12700" cap="flat" cmpd="sng" algn="ctr">
                      <a:solidFill>
                        <a:srgbClr val="DCE8CE"/>
                      </a:solidFill>
                      <a:prstDash val="solid"/>
                      <a:round/>
                      <a:headEnd type="none" w="med" len="med"/>
                      <a:tailEnd type="none" w="med" len="med"/>
                    </a:lnB>
                    <a:solidFill>
                      <a:srgbClr val="F4F8F0"/>
                    </a:solidFill>
                  </a:tcPr>
                </a:tc>
                <a:extLst>
                  <a:ext uri="{0D108BD9-81ED-4DB2-BD59-A6C34878D82A}">
                    <a16:rowId xmlns:a16="http://schemas.microsoft.com/office/drawing/2014/main" val="10003"/>
                  </a:ext>
                </a:extLst>
              </a:tr>
            </a:tbl>
          </a:graphicData>
        </a:graphic>
      </p:graphicFrame>
      <p:sp>
        <p:nvSpPr>
          <p:cNvPr id="10" name="Text 7"/>
          <p:cNvSpPr/>
          <p:nvPr/>
        </p:nvSpPr>
        <p:spPr>
          <a:xfrm>
            <a:off x="7223760" y="5349240"/>
            <a:ext cx="4206240" cy="45720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This structured information can then be stored in a database.</a:t>
            </a:r>
            <a:endParaRPr lang="en-US" sz="1400" dirty="0"/>
          </a:p>
        </p:txBody>
      </p:sp>
      <p:sp>
        <p:nvSpPr>
          <p:cNvPr id="12" name="Text 8"/>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Objectives of Information Extraction</a:t>
            </a:r>
            <a:endParaRPr lang="en-US" sz="30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What Information Extraction is trying to achieve.</a:t>
            </a:r>
            <a:endParaRPr lang="en-US" sz="1400" dirty="0"/>
          </a:p>
        </p:txBody>
      </p:sp>
      <p:sp>
        <p:nvSpPr>
          <p:cNvPr id="4" name="Shape 2"/>
          <p:cNvSpPr/>
          <p:nvPr/>
        </p:nvSpPr>
        <p:spPr>
          <a:xfrm>
            <a:off x="640080" y="2194560"/>
            <a:ext cx="640080" cy="640080"/>
          </a:xfrm>
          <a:prstGeom prst="ellipse">
            <a:avLst/>
          </a:prstGeom>
          <a:solidFill>
            <a:srgbClr val="E7F0DC"/>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723290" y="2277770"/>
            <a:ext cx="473659" cy="473659"/>
          </a:xfrm>
          <a:prstGeom prst="rect">
            <a:avLst/>
          </a:prstGeom>
        </p:spPr>
      </p:pic>
      <p:sp>
        <p:nvSpPr>
          <p:cNvPr id="6" name="Text 3"/>
          <p:cNvSpPr/>
          <p:nvPr/>
        </p:nvSpPr>
        <p:spPr>
          <a:xfrm>
            <a:off x="1463040" y="2194560"/>
            <a:ext cx="4572000" cy="640080"/>
          </a:xfrm>
          <a:prstGeom prst="rect">
            <a:avLst/>
          </a:prstGeom>
          <a:noFill/>
          <a:ln/>
        </p:spPr>
        <p:txBody>
          <a:bodyPr wrap="square" lIns="0" tIns="0" rIns="0" bIns="0" rtlCol="0" anchor="ctr"/>
          <a:lstStyle/>
          <a:p>
            <a:pPr marL="0" indent="0">
              <a:buNone/>
            </a:pPr>
            <a:r>
              <a:rPr lang="en-US" sz="1550" dirty="0">
                <a:solidFill>
                  <a:srgbClr val="24331F"/>
                </a:solidFill>
                <a:latin typeface="Calibri" pitchFamily="34" charset="0"/>
                <a:ea typeface="Calibri" pitchFamily="34" charset="-122"/>
                <a:cs typeface="Calibri" pitchFamily="34" charset="-120"/>
              </a:rPr>
              <a:t>Extract useful information automatically.</a:t>
            </a:r>
            <a:endParaRPr lang="en-US" sz="1550" dirty="0"/>
          </a:p>
        </p:txBody>
      </p:sp>
      <p:sp>
        <p:nvSpPr>
          <p:cNvPr id="7" name="Shape 4"/>
          <p:cNvSpPr/>
          <p:nvPr/>
        </p:nvSpPr>
        <p:spPr>
          <a:xfrm>
            <a:off x="640080" y="3200400"/>
            <a:ext cx="640080" cy="640080"/>
          </a:xfrm>
          <a:prstGeom prst="ellipse">
            <a:avLst/>
          </a:prstGeom>
          <a:solidFill>
            <a:srgbClr val="E7F0DC"/>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723290" y="3283610"/>
            <a:ext cx="473659" cy="473659"/>
          </a:xfrm>
          <a:prstGeom prst="rect">
            <a:avLst/>
          </a:prstGeom>
        </p:spPr>
      </p:pic>
      <p:sp>
        <p:nvSpPr>
          <p:cNvPr id="9" name="Text 5"/>
          <p:cNvSpPr/>
          <p:nvPr/>
        </p:nvSpPr>
        <p:spPr>
          <a:xfrm>
            <a:off x="1463040" y="3200400"/>
            <a:ext cx="4572000" cy="640080"/>
          </a:xfrm>
          <a:prstGeom prst="rect">
            <a:avLst/>
          </a:prstGeom>
          <a:noFill/>
          <a:ln/>
        </p:spPr>
        <p:txBody>
          <a:bodyPr wrap="square" lIns="0" tIns="0" rIns="0" bIns="0" rtlCol="0" anchor="ctr"/>
          <a:lstStyle/>
          <a:p>
            <a:pPr marL="0" indent="0">
              <a:buNone/>
            </a:pPr>
            <a:r>
              <a:rPr lang="en-US" sz="1550" dirty="0">
                <a:solidFill>
                  <a:srgbClr val="24331F"/>
                </a:solidFill>
                <a:latin typeface="Calibri" pitchFamily="34" charset="0"/>
                <a:ea typeface="Calibri" pitchFamily="34" charset="-122"/>
                <a:cs typeface="Calibri" pitchFamily="34" charset="-120"/>
              </a:rPr>
              <a:t>Reduce manual data entry.</a:t>
            </a:r>
            <a:endParaRPr lang="en-US" sz="1550" dirty="0"/>
          </a:p>
        </p:txBody>
      </p:sp>
      <p:sp>
        <p:nvSpPr>
          <p:cNvPr id="10" name="Shape 6"/>
          <p:cNvSpPr/>
          <p:nvPr/>
        </p:nvSpPr>
        <p:spPr>
          <a:xfrm>
            <a:off x="640080" y="4206240"/>
            <a:ext cx="640080" cy="640080"/>
          </a:xfrm>
          <a:prstGeom prst="ellipse">
            <a:avLst/>
          </a:prstGeom>
          <a:solidFill>
            <a:srgbClr val="E7F0DC"/>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723290" y="4289450"/>
            <a:ext cx="473659" cy="473659"/>
          </a:xfrm>
          <a:prstGeom prst="rect">
            <a:avLst/>
          </a:prstGeom>
        </p:spPr>
      </p:pic>
      <p:sp>
        <p:nvSpPr>
          <p:cNvPr id="12" name="Text 7"/>
          <p:cNvSpPr/>
          <p:nvPr/>
        </p:nvSpPr>
        <p:spPr>
          <a:xfrm>
            <a:off x="1463040" y="4206240"/>
            <a:ext cx="4572000" cy="640080"/>
          </a:xfrm>
          <a:prstGeom prst="rect">
            <a:avLst/>
          </a:prstGeom>
          <a:noFill/>
          <a:ln/>
        </p:spPr>
        <p:txBody>
          <a:bodyPr wrap="square" lIns="0" tIns="0" rIns="0" bIns="0" rtlCol="0" anchor="ctr"/>
          <a:lstStyle/>
          <a:p>
            <a:pPr marL="0" indent="0">
              <a:buNone/>
            </a:pPr>
            <a:r>
              <a:rPr lang="en-US" sz="1550" dirty="0">
                <a:solidFill>
                  <a:srgbClr val="24331F"/>
                </a:solidFill>
                <a:latin typeface="Calibri" pitchFamily="34" charset="0"/>
                <a:ea typeface="Calibri" pitchFamily="34" charset="-122"/>
                <a:cs typeface="Calibri" pitchFamily="34" charset="-120"/>
              </a:rPr>
              <a:t>Convert text into structured form.</a:t>
            </a:r>
            <a:endParaRPr lang="en-US" sz="1550" dirty="0"/>
          </a:p>
        </p:txBody>
      </p:sp>
      <p:sp>
        <p:nvSpPr>
          <p:cNvPr id="13" name="Shape 8"/>
          <p:cNvSpPr/>
          <p:nvPr/>
        </p:nvSpPr>
        <p:spPr>
          <a:xfrm>
            <a:off x="6355080" y="2194560"/>
            <a:ext cx="640080" cy="640080"/>
          </a:xfrm>
          <a:prstGeom prst="ellipse">
            <a:avLst/>
          </a:prstGeom>
          <a:solidFill>
            <a:srgbClr val="E7F0DC"/>
          </a:solidFill>
          <a:ln/>
        </p:spPr>
        <p:txBody>
          <a:bodyPr/>
          <a:lstStyle/>
          <a:p>
            <a:endParaRPr lang="en-US"/>
          </a:p>
        </p:txBody>
      </p:sp>
      <p:pic>
        <p:nvPicPr>
          <p:cNvPr id="14" name="Image 3" descr="preencoded.png"/>
          <p:cNvPicPr>
            <a:picLocks noChangeAspect="1"/>
          </p:cNvPicPr>
          <p:nvPr/>
        </p:nvPicPr>
        <p:blipFill>
          <a:blip r:embed="rId6"/>
          <a:stretch>
            <a:fillRect/>
          </a:stretch>
        </p:blipFill>
        <p:spPr>
          <a:xfrm>
            <a:off x="6438290" y="2277770"/>
            <a:ext cx="473659" cy="473659"/>
          </a:xfrm>
          <a:prstGeom prst="rect">
            <a:avLst/>
          </a:prstGeom>
        </p:spPr>
      </p:pic>
      <p:sp>
        <p:nvSpPr>
          <p:cNvPr id="15" name="Text 9"/>
          <p:cNvSpPr/>
          <p:nvPr/>
        </p:nvSpPr>
        <p:spPr>
          <a:xfrm>
            <a:off x="7178040" y="2194560"/>
            <a:ext cx="4572000" cy="640080"/>
          </a:xfrm>
          <a:prstGeom prst="rect">
            <a:avLst/>
          </a:prstGeom>
          <a:noFill/>
          <a:ln/>
        </p:spPr>
        <p:txBody>
          <a:bodyPr wrap="square" lIns="0" tIns="0" rIns="0" bIns="0" rtlCol="0" anchor="ctr"/>
          <a:lstStyle/>
          <a:p>
            <a:pPr marL="0" indent="0">
              <a:buNone/>
            </a:pPr>
            <a:r>
              <a:rPr lang="en-US" sz="1550" dirty="0">
                <a:solidFill>
                  <a:srgbClr val="24331F"/>
                </a:solidFill>
                <a:latin typeface="Calibri" pitchFamily="34" charset="0"/>
                <a:ea typeface="Calibri" pitchFamily="34" charset="-122"/>
                <a:cs typeface="Calibri" pitchFamily="34" charset="-120"/>
              </a:rPr>
              <a:t>Support data analysis.</a:t>
            </a:r>
            <a:endParaRPr lang="en-US" sz="1550" dirty="0"/>
          </a:p>
        </p:txBody>
      </p:sp>
      <p:sp>
        <p:nvSpPr>
          <p:cNvPr id="16" name="Shape 10"/>
          <p:cNvSpPr/>
          <p:nvPr/>
        </p:nvSpPr>
        <p:spPr>
          <a:xfrm>
            <a:off x="6355080" y="3200400"/>
            <a:ext cx="640080" cy="640080"/>
          </a:xfrm>
          <a:prstGeom prst="ellipse">
            <a:avLst/>
          </a:prstGeom>
          <a:solidFill>
            <a:srgbClr val="E7F0DC"/>
          </a:solidFill>
          <a:ln/>
        </p:spPr>
        <p:txBody>
          <a:bodyPr/>
          <a:lstStyle/>
          <a:p>
            <a:endParaRPr lang="en-US"/>
          </a:p>
        </p:txBody>
      </p:sp>
      <p:pic>
        <p:nvPicPr>
          <p:cNvPr id="17" name="Image 4" descr="preencoded.png"/>
          <p:cNvPicPr>
            <a:picLocks noChangeAspect="1"/>
          </p:cNvPicPr>
          <p:nvPr/>
        </p:nvPicPr>
        <p:blipFill>
          <a:blip r:embed="rId7"/>
          <a:stretch>
            <a:fillRect/>
          </a:stretch>
        </p:blipFill>
        <p:spPr>
          <a:xfrm>
            <a:off x="6438290" y="3283610"/>
            <a:ext cx="473659" cy="473659"/>
          </a:xfrm>
          <a:prstGeom prst="rect">
            <a:avLst/>
          </a:prstGeom>
        </p:spPr>
      </p:pic>
      <p:sp>
        <p:nvSpPr>
          <p:cNvPr id="18" name="Text 11"/>
          <p:cNvSpPr/>
          <p:nvPr/>
        </p:nvSpPr>
        <p:spPr>
          <a:xfrm>
            <a:off x="7178040" y="3200400"/>
            <a:ext cx="4572000" cy="640080"/>
          </a:xfrm>
          <a:prstGeom prst="rect">
            <a:avLst/>
          </a:prstGeom>
          <a:noFill/>
          <a:ln/>
        </p:spPr>
        <p:txBody>
          <a:bodyPr wrap="square" lIns="0" tIns="0" rIns="0" bIns="0" rtlCol="0" anchor="ctr"/>
          <a:lstStyle/>
          <a:p>
            <a:pPr marL="0" indent="0">
              <a:buNone/>
            </a:pPr>
            <a:r>
              <a:rPr lang="en-US" sz="1550" dirty="0">
                <a:solidFill>
                  <a:srgbClr val="24331F"/>
                </a:solidFill>
                <a:latin typeface="Calibri" pitchFamily="34" charset="0"/>
                <a:ea typeface="Calibri" pitchFamily="34" charset="-122"/>
                <a:cs typeface="Calibri" pitchFamily="34" charset="-120"/>
              </a:rPr>
              <a:t>Improve knowledge discovery.</a:t>
            </a:r>
            <a:endParaRPr lang="en-US" sz="1550" dirty="0"/>
          </a:p>
        </p:txBody>
      </p:sp>
      <p:sp>
        <p:nvSpPr>
          <p:cNvPr id="19" name="Text 12"/>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endParaRPr lang="en-US" sz="3200" b="1" dirty="0">
              <a:solidFill>
                <a:srgbClr val="2C5F2D"/>
              </a:solidFill>
              <a:latin typeface="Cambria" pitchFamily="34" charset="0"/>
              <a:ea typeface="Cambria" pitchFamily="34" charset="-122"/>
              <a:cs typeface="Cambria" pitchFamily="34" charset="-120"/>
            </a:endParaRPr>
          </a:p>
          <a:p>
            <a:pPr marL="0" indent="0" algn="l">
              <a:buNone/>
            </a:pPr>
            <a:r>
              <a:rPr lang="en-US" sz="3200" b="1" dirty="0">
                <a:solidFill>
                  <a:srgbClr val="2C5F2D"/>
                </a:solidFill>
                <a:latin typeface="Cambria" pitchFamily="34" charset="0"/>
                <a:ea typeface="Cambria" pitchFamily="34" charset="-122"/>
                <a:cs typeface="Cambria" pitchFamily="34" charset="-120"/>
              </a:rPr>
              <a:t>Components of Information Extraction — Part 1</a:t>
            </a:r>
            <a:endParaRPr lang="en-US" sz="3200" dirty="0"/>
          </a:p>
        </p:txBody>
      </p:sp>
      <p:sp>
        <p:nvSpPr>
          <p:cNvPr id="3" name="Text 1"/>
          <p:cNvSpPr/>
          <p:nvPr/>
        </p:nvSpPr>
        <p:spPr>
          <a:xfrm>
            <a:off x="5440680" y="1298448"/>
            <a:ext cx="61109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a:t>
            </a:r>
            <a:endParaRPr lang="en-US" sz="1400" dirty="0"/>
          </a:p>
        </p:txBody>
      </p:sp>
      <p:sp>
        <p:nvSpPr>
          <p:cNvPr id="4" name="Shape 2"/>
          <p:cNvSpPr/>
          <p:nvPr/>
        </p:nvSpPr>
        <p:spPr>
          <a:xfrm>
            <a:off x="768227" y="2143811"/>
            <a:ext cx="10881360" cy="1051560"/>
          </a:xfrm>
          <a:prstGeom prst="roundRect">
            <a:avLst>
              <a:gd name="adj" fmla="val 6957"/>
            </a:avLst>
          </a:prstGeom>
          <a:solidFill>
            <a:srgbClr val="F4F8F0"/>
          </a:solidFill>
          <a:ln w="12700">
            <a:solidFill>
              <a:srgbClr val="DCE8CE"/>
            </a:solidFill>
            <a:prstDash val="solid"/>
          </a:ln>
        </p:spPr>
        <p:txBody>
          <a:bodyPr/>
          <a:lstStyle/>
          <a:p>
            <a:endParaRPr lang="en-US" dirty="0"/>
          </a:p>
        </p:txBody>
      </p:sp>
      <p:sp>
        <p:nvSpPr>
          <p:cNvPr id="5" name="Shape 3"/>
          <p:cNvSpPr/>
          <p:nvPr/>
        </p:nvSpPr>
        <p:spPr>
          <a:xfrm>
            <a:off x="868680" y="2514600"/>
            <a:ext cx="594360" cy="594360"/>
          </a:xfrm>
          <a:prstGeom prst="ellipse">
            <a:avLst/>
          </a:prstGeom>
          <a:solidFill>
            <a:srgbClr val="E7F0DC"/>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45947" y="2591867"/>
            <a:ext cx="439826" cy="439826"/>
          </a:xfrm>
          <a:prstGeom prst="rect">
            <a:avLst/>
          </a:prstGeom>
        </p:spPr>
      </p:pic>
      <p:sp>
        <p:nvSpPr>
          <p:cNvPr id="7" name="Text 4"/>
          <p:cNvSpPr/>
          <p:nvPr/>
        </p:nvSpPr>
        <p:spPr>
          <a:xfrm>
            <a:off x="1691640" y="2286000"/>
            <a:ext cx="2651760" cy="1051560"/>
          </a:xfrm>
          <a:prstGeom prst="rect">
            <a:avLst/>
          </a:prstGeom>
          <a:noFill/>
          <a:ln/>
        </p:spPr>
        <p:txBody>
          <a:bodyPr wrap="square" lIns="0" tIns="0" rIns="0" bIns="0" rtlCol="0" anchor="ctr"/>
          <a:lstStyle/>
          <a:p>
            <a:pPr marL="0" indent="0">
              <a:lnSpc>
                <a:spcPct val="105000"/>
              </a:lnSpc>
              <a:buNone/>
            </a:pPr>
            <a:r>
              <a:rPr lang="en-US" sz="1600" b="1" dirty="0">
                <a:solidFill>
                  <a:srgbClr val="2C5F2D"/>
                </a:solidFill>
                <a:latin typeface="Cambria" pitchFamily="34" charset="0"/>
                <a:ea typeface="Cambria" pitchFamily="34" charset="-122"/>
                <a:cs typeface="Cambria" pitchFamily="34" charset="-120"/>
              </a:rPr>
              <a:t>1. Named Entity Recognition</a:t>
            </a:r>
            <a:endParaRPr lang="en-US" sz="1600" dirty="0"/>
          </a:p>
        </p:txBody>
      </p:sp>
      <p:sp>
        <p:nvSpPr>
          <p:cNvPr id="8" name="Text 5"/>
          <p:cNvSpPr/>
          <p:nvPr/>
        </p:nvSpPr>
        <p:spPr>
          <a:xfrm>
            <a:off x="4434840" y="2286000"/>
            <a:ext cx="6903720" cy="1051560"/>
          </a:xfrm>
          <a:prstGeom prst="rect">
            <a:avLst/>
          </a:prstGeom>
          <a:noFill/>
          <a:ln/>
        </p:spPr>
        <p:txBody>
          <a:bodyPr wrap="square" lIns="0" tIns="0" rIns="0" bIns="0" rtlCol="0" anchor="ctr"/>
          <a:lstStyle/>
          <a:p>
            <a:pPr marL="0" indent="0">
              <a:lnSpc>
                <a:spcPct val="115000"/>
              </a:lnSpc>
              <a:buNone/>
            </a:pPr>
            <a:r>
              <a:rPr lang="en-US" sz="1600" dirty="0">
                <a:solidFill>
                  <a:srgbClr val="24331F"/>
                </a:solidFill>
                <a:latin typeface="Calibri" pitchFamily="34" charset="0"/>
                <a:ea typeface="Calibri" pitchFamily="34" charset="-122"/>
                <a:cs typeface="Calibri" pitchFamily="34" charset="-120"/>
              </a:rPr>
              <a:t>Finds people, organizations, locations, and dates.</a:t>
            </a:r>
            <a:endParaRPr lang="en-US" sz="1600" dirty="0"/>
          </a:p>
          <a:p>
            <a:pPr marL="0" indent="0">
              <a:lnSpc>
                <a:spcPct val="115000"/>
              </a:lnSpc>
              <a:buNone/>
            </a:pPr>
            <a:r>
              <a:rPr lang="en-US" sz="1600" dirty="0">
                <a:solidFill>
                  <a:srgbClr val="24331F"/>
                </a:solidFill>
                <a:latin typeface="Calibri" pitchFamily="34" charset="0"/>
                <a:ea typeface="Calibri" pitchFamily="34" charset="-122"/>
                <a:cs typeface="Calibri" pitchFamily="34" charset="-120"/>
              </a:rPr>
              <a:t>E.g., “Ram visited Kathmandu on Monday” → Person: Ram, Location: Kathmandu, Date: Monday.</a:t>
            </a:r>
            <a:endParaRPr lang="en-US" sz="1600" dirty="0"/>
          </a:p>
        </p:txBody>
      </p:sp>
      <p:sp>
        <p:nvSpPr>
          <p:cNvPr id="9" name="Shape 6"/>
          <p:cNvSpPr/>
          <p:nvPr/>
        </p:nvSpPr>
        <p:spPr>
          <a:xfrm>
            <a:off x="729038" y="3475276"/>
            <a:ext cx="10881360" cy="1051560"/>
          </a:xfrm>
          <a:prstGeom prst="roundRect">
            <a:avLst>
              <a:gd name="adj" fmla="val 6957"/>
            </a:avLst>
          </a:prstGeom>
          <a:solidFill>
            <a:srgbClr val="FFFFFF"/>
          </a:solidFill>
          <a:ln w="12700">
            <a:solidFill>
              <a:srgbClr val="DCE8CE"/>
            </a:solidFill>
            <a:prstDash val="solid"/>
          </a:ln>
        </p:spPr>
        <p:txBody>
          <a:bodyPr/>
          <a:lstStyle/>
          <a:p>
            <a:endParaRPr lang="en-US"/>
          </a:p>
        </p:txBody>
      </p:sp>
      <p:sp>
        <p:nvSpPr>
          <p:cNvPr id="10" name="Shape 7"/>
          <p:cNvSpPr/>
          <p:nvPr/>
        </p:nvSpPr>
        <p:spPr>
          <a:xfrm>
            <a:off x="868680" y="3794760"/>
            <a:ext cx="594360" cy="594360"/>
          </a:xfrm>
          <a:prstGeom prst="ellipse">
            <a:avLst/>
          </a:prstGeom>
          <a:solidFill>
            <a:srgbClr val="E7F0DC"/>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45947" y="3872027"/>
            <a:ext cx="439826" cy="439826"/>
          </a:xfrm>
          <a:prstGeom prst="rect">
            <a:avLst/>
          </a:prstGeom>
        </p:spPr>
      </p:pic>
      <p:sp>
        <p:nvSpPr>
          <p:cNvPr id="12" name="Text 8"/>
          <p:cNvSpPr/>
          <p:nvPr/>
        </p:nvSpPr>
        <p:spPr>
          <a:xfrm>
            <a:off x="1691640" y="3566160"/>
            <a:ext cx="2651760" cy="1051560"/>
          </a:xfrm>
          <a:prstGeom prst="rect">
            <a:avLst/>
          </a:prstGeom>
          <a:noFill/>
          <a:ln/>
        </p:spPr>
        <p:txBody>
          <a:bodyPr wrap="square" lIns="0" tIns="0" rIns="0" bIns="0" rtlCol="0" anchor="ctr"/>
          <a:lstStyle/>
          <a:p>
            <a:pPr marL="0" indent="0">
              <a:lnSpc>
                <a:spcPct val="105000"/>
              </a:lnSpc>
              <a:buNone/>
            </a:pPr>
            <a:r>
              <a:rPr lang="en-US" sz="1600" b="1" dirty="0">
                <a:solidFill>
                  <a:srgbClr val="2C5F2D"/>
                </a:solidFill>
                <a:latin typeface="Cambria" pitchFamily="34" charset="0"/>
                <a:ea typeface="Cambria" pitchFamily="34" charset="-122"/>
                <a:cs typeface="Cambria" pitchFamily="34" charset="-120"/>
              </a:rPr>
              <a:t>2. Entity Classification</a:t>
            </a:r>
            <a:endParaRPr lang="en-US" sz="1600" dirty="0"/>
          </a:p>
        </p:txBody>
      </p:sp>
      <p:sp>
        <p:nvSpPr>
          <p:cNvPr id="13" name="Text 9"/>
          <p:cNvSpPr/>
          <p:nvPr/>
        </p:nvSpPr>
        <p:spPr>
          <a:xfrm>
            <a:off x="4434840" y="3566160"/>
            <a:ext cx="6903720" cy="1051560"/>
          </a:xfrm>
          <a:prstGeom prst="rect">
            <a:avLst/>
          </a:prstGeom>
          <a:noFill/>
          <a:ln/>
        </p:spPr>
        <p:txBody>
          <a:bodyPr wrap="square" lIns="0" tIns="0" rIns="0" bIns="0" rtlCol="0" anchor="ctr"/>
          <a:lstStyle/>
          <a:p>
            <a:pPr marL="0" indent="0">
              <a:lnSpc>
                <a:spcPct val="115000"/>
              </a:lnSpc>
              <a:buNone/>
            </a:pPr>
            <a:r>
              <a:rPr lang="en-US" sz="1600" dirty="0">
                <a:solidFill>
                  <a:srgbClr val="24331F"/>
                </a:solidFill>
                <a:latin typeface="Calibri" pitchFamily="34" charset="0"/>
                <a:ea typeface="Calibri" pitchFamily="34" charset="-122"/>
                <a:cs typeface="Calibri" pitchFamily="34" charset="-120"/>
              </a:rPr>
              <a:t>Sorts each extracted entity into a category.</a:t>
            </a:r>
            <a:endParaRPr lang="en-US" sz="1600" dirty="0"/>
          </a:p>
          <a:p>
            <a:pPr marL="0" indent="0">
              <a:lnSpc>
                <a:spcPct val="115000"/>
              </a:lnSpc>
              <a:buNone/>
            </a:pPr>
            <a:r>
              <a:rPr lang="en-US" sz="1600" dirty="0">
                <a:solidFill>
                  <a:srgbClr val="24331F"/>
                </a:solidFill>
                <a:latin typeface="Calibri" pitchFamily="34" charset="0"/>
                <a:ea typeface="Calibri" pitchFamily="34" charset="-122"/>
                <a:cs typeface="Calibri" pitchFamily="34" charset="-120"/>
              </a:rPr>
              <a:t>E.g., “Pokhara University” → Category: Organization.</a:t>
            </a:r>
            <a:endParaRPr lang="en-US" sz="1600" dirty="0"/>
          </a:p>
        </p:txBody>
      </p:sp>
      <p:sp>
        <p:nvSpPr>
          <p:cNvPr id="14" name="Shape 10"/>
          <p:cNvSpPr/>
          <p:nvPr/>
        </p:nvSpPr>
        <p:spPr>
          <a:xfrm>
            <a:off x="729038" y="4864707"/>
            <a:ext cx="10881360" cy="1051560"/>
          </a:xfrm>
          <a:prstGeom prst="roundRect">
            <a:avLst>
              <a:gd name="adj" fmla="val 6957"/>
            </a:avLst>
          </a:prstGeom>
          <a:solidFill>
            <a:srgbClr val="F4F8F0"/>
          </a:solidFill>
          <a:ln w="12700">
            <a:solidFill>
              <a:srgbClr val="DCE8CE"/>
            </a:solidFill>
            <a:prstDash val="solid"/>
          </a:ln>
        </p:spPr>
        <p:txBody>
          <a:bodyPr/>
          <a:lstStyle/>
          <a:p>
            <a:endParaRPr lang="en-US"/>
          </a:p>
        </p:txBody>
      </p:sp>
      <p:sp>
        <p:nvSpPr>
          <p:cNvPr id="15" name="Shape 11"/>
          <p:cNvSpPr/>
          <p:nvPr/>
        </p:nvSpPr>
        <p:spPr>
          <a:xfrm>
            <a:off x="868680" y="5074920"/>
            <a:ext cx="594360" cy="594360"/>
          </a:xfrm>
          <a:prstGeom prst="ellipse">
            <a:avLst/>
          </a:prstGeom>
          <a:solidFill>
            <a:srgbClr val="E7F0DC"/>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45947" y="5152187"/>
            <a:ext cx="439826" cy="439826"/>
          </a:xfrm>
          <a:prstGeom prst="rect">
            <a:avLst/>
          </a:prstGeom>
        </p:spPr>
      </p:pic>
      <p:sp>
        <p:nvSpPr>
          <p:cNvPr id="17" name="Text 12"/>
          <p:cNvSpPr/>
          <p:nvPr/>
        </p:nvSpPr>
        <p:spPr>
          <a:xfrm>
            <a:off x="1691640" y="4846320"/>
            <a:ext cx="2651760" cy="1051560"/>
          </a:xfrm>
          <a:prstGeom prst="rect">
            <a:avLst/>
          </a:prstGeom>
          <a:noFill/>
          <a:ln/>
        </p:spPr>
        <p:txBody>
          <a:bodyPr wrap="square" lIns="0" tIns="0" rIns="0" bIns="0" rtlCol="0" anchor="ctr"/>
          <a:lstStyle/>
          <a:p>
            <a:pPr marL="0" indent="0">
              <a:lnSpc>
                <a:spcPct val="105000"/>
              </a:lnSpc>
              <a:buNone/>
            </a:pPr>
            <a:r>
              <a:rPr lang="en-US" sz="1600" b="1" dirty="0">
                <a:solidFill>
                  <a:srgbClr val="2C5F2D"/>
                </a:solidFill>
                <a:latin typeface="Cambria" pitchFamily="34" charset="0"/>
                <a:ea typeface="Cambria" pitchFamily="34" charset="-122"/>
                <a:cs typeface="Cambria" pitchFamily="34" charset="-120"/>
              </a:rPr>
              <a:t>3. Relationship Extraction</a:t>
            </a:r>
            <a:endParaRPr lang="en-US" sz="1600" dirty="0"/>
          </a:p>
        </p:txBody>
      </p:sp>
      <p:sp>
        <p:nvSpPr>
          <p:cNvPr id="18" name="Text 13"/>
          <p:cNvSpPr/>
          <p:nvPr/>
        </p:nvSpPr>
        <p:spPr>
          <a:xfrm>
            <a:off x="4434840" y="4846320"/>
            <a:ext cx="6903720" cy="1051560"/>
          </a:xfrm>
          <a:prstGeom prst="rect">
            <a:avLst/>
          </a:prstGeom>
          <a:noFill/>
          <a:ln/>
        </p:spPr>
        <p:txBody>
          <a:bodyPr wrap="square" lIns="0" tIns="0" rIns="0" bIns="0" rtlCol="0" anchor="ctr"/>
          <a:lstStyle/>
          <a:p>
            <a:pPr marL="0" indent="0">
              <a:lnSpc>
                <a:spcPct val="115000"/>
              </a:lnSpc>
              <a:buNone/>
            </a:pPr>
            <a:r>
              <a:rPr lang="en-US" sz="1600" dirty="0">
                <a:solidFill>
                  <a:srgbClr val="24331F"/>
                </a:solidFill>
                <a:latin typeface="Calibri" pitchFamily="34" charset="0"/>
                <a:ea typeface="Calibri" pitchFamily="34" charset="-122"/>
                <a:cs typeface="Calibri" pitchFamily="34" charset="-120"/>
              </a:rPr>
              <a:t>Finds how entities are connected.</a:t>
            </a:r>
            <a:endParaRPr lang="en-US" sz="1600" dirty="0"/>
          </a:p>
          <a:p>
            <a:pPr marL="0" indent="0">
              <a:lnSpc>
                <a:spcPct val="115000"/>
              </a:lnSpc>
              <a:buNone/>
            </a:pPr>
            <a:r>
              <a:rPr lang="en-US" sz="1600" dirty="0">
                <a:solidFill>
                  <a:srgbClr val="24331F"/>
                </a:solidFill>
                <a:latin typeface="Calibri" pitchFamily="34" charset="0"/>
                <a:ea typeface="Calibri" pitchFamily="34" charset="-122"/>
                <a:cs typeface="Calibri" pitchFamily="34" charset="-120"/>
              </a:rPr>
              <a:t>E.g., “Ram works at ABC Company” → Ram → Works At → ABC Company.</a:t>
            </a:r>
            <a:endParaRPr lang="en-US" sz="1600" dirty="0"/>
          </a:p>
        </p:txBody>
      </p:sp>
      <p:sp>
        <p:nvSpPr>
          <p:cNvPr id="19" name="Text 14"/>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Components of Information Extraction — Part 2</a:t>
            </a:r>
            <a:endParaRPr lang="en-US" sz="30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endParaRPr lang="en-US" sz="1400" dirty="0"/>
          </a:p>
        </p:txBody>
      </p:sp>
      <p:sp>
        <p:nvSpPr>
          <p:cNvPr id="4" name="Shape 2"/>
          <p:cNvSpPr/>
          <p:nvPr/>
        </p:nvSpPr>
        <p:spPr>
          <a:xfrm>
            <a:off x="640080" y="1965960"/>
            <a:ext cx="5166360" cy="4160520"/>
          </a:xfrm>
          <a:prstGeom prst="roundRect">
            <a:avLst>
              <a:gd name="adj" fmla="val 1758"/>
            </a:avLst>
          </a:prstGeom>
          <a:solidFill>
            <a:srgbClr val="F4F8F0"/>
          </a:solidFill>
          <a:ln/>
          <a:effectLst>
            <a:outerShdw blurRad="88900" dist="38100" dir="5400000" algn="bl" rotWithShape="0">
              <a:srgbClr val="1B3A1E">
                <a:alpha val="9000"/>
              </a:srgbClr>
            </a:outerShdw>
          </a:effectLst>
        </p:spPr>
        <p:txBody>
          <a:bodyPr/>
          <a:lstStyle/>
          <a:p>
            <a:endParaRPr lang="en-US"/>
          </a:p>
        </p:txBody>
      </p:sp>
      <p:sp>
        <p:nvSpPr>
          <p:cNvPr id="5" name="Shape 3"/>
          <p:cNvSpPr/>
          <p:nvPr/>
        </p:nvSpPr>
        <p:spPr>
          <a:xfrm>
            <a:off x="1005840" y="2331720"/>
            <a:ext cx="914400" cy="914400"/>
          </a:xfrm>
          <a:prstGeom prst="ellipse">
            <a:avLst/>
          </a:prstGeom>
          <a:solidFill>
            <a:srgbClr val="FFFFF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124712" y="2286000"/>
            <a:ext cx="676656" cy="676656"/>
          </a:xfrm>
          <a:prstGeom prst="rect">
            <a:avLst/>
          </a:prstGeom>
        </p:spPr>
      </p:pic>
      <p:sp>
        <p:nvSpPr>
          <p:cNvPr id="7" name="Text 4"/>
          <p:cNvSpPr/>
          <p:nvPr/>
        </p:nvSpPr>
        <p:spPr>
          <a:xfrm>
            <a:off x="1005840" y="3474720"/>
            <a:ext cx="4434840" cy="548640"/>
          </a:xfrm>
          <a:prstGeom prst="rect">
            <a:avLst/>
          </a:prstGeom>
          <a:noFill/>
          <a:ln/>
        </p:spPr>
        <p:txBody>
          <a:bodyPr wrap="square" lIns="0" tIns="0" rIns="0" bIns="0" rtlCol="0" anchor="ctr"/>
          <a:lstStyle/>
          <a:p>
            <a:pPr marL="0" indent="0">
              <a:buNone/>
            </a:pPr>
            <a:r>
              <a:rPr lang="en-US" sz="2000" b="1" dirty="0">
                <a:solidFill>
                  <a:srgbClr val="2C5F2D"/>
                </a:solidFill>
                <a:latin typeface="Cambria" pitchFamily="34" charset="0"/>
                <a:ea typeface="Cambria" pitchFamily="34" charset="-122"/>
                <a:cs typeface="Cambria" pitchFamily="34" charset="-120"/>
              </a:rPr>
              <a:t>4. Event Extraction</a:t>
            </a:r>
            <a:endParaRPr lang="en-US" sz="2000" dirty="0"/>
          </a:p>
        </p:txBody>
      </p:sp>
      <p:sp>
        <p:nvSpPr>
          <p:cNvPr id="8" name="Text 5"/>
          <p:cNvSpPr/>
          <p:nvPr/>
        </p:nvSpPr>
        <p:spPr>
          <a:xfrm>
            <a:off x="1005840" y="4069080"/>
            <a:ext cx="4434840" cy="1005840"/>
          </a:xfrm>
          <a:prstGeom prst="rect">
            <a:avLst/>
          </a:prstGeom>
          <a:noFill/>
          <a:ln/>
        </p:spPr>
        <p:txBody>
          <a:bodyPr wrap="square" lIns="0" tIns="0" rIns="0" bIns="0" rtlCol="0" anchor="ctr"/>
          <a:lstStyle/>
          <a:p>
            <a:pPr marL="0" indent="0">
              <a:lnSpc>
                <a:spcPct val="125000"/>
              </a:lnSpc>
              <a:buNone/>
            </a:pPr>
            <a:r>
              <a:rPr lang="en-US" sz="1400" dirty="0">
                <a:solidFill>
                  <a:srgbClr val="24331F"/>
                </a:solidFill>
                <a:latin typeface="Calibri" pitchFamily="34" charset="0"/>
                <a:ea typeface="Calibri" pitchFamily="34" charset="-122"/>
                <a:cs typeface="Calibri" pitchFamily="34" charset="-120"/>
              </a:rPr>
              <a:t>Identifies important events mentioned in the text, along with when they happened.</a:t>
            </a:r>
            <a:endParaRPr lang="en-US" sz="1400" dirty="0"/>
          </a:p>
        </p:txBody>
      </p:sp>
      <p:sp>
        <p:nvSpPr>
          <p:cNvPr id="9" name="Shape 6"/>
          <p:cNvSpPr/>
          <p:nvPr/>
        </p:nvSpPr>
        <p:spPr>
          <a:xfrm>
            <a:off x="1005840" y="5074920"/>
            <a:ext cx="4434840" cy="914400"/>
          </a:xfrm>
          <a:prstGeom prst="roundRect">
            <a:avLst>
              <a:gd name="adj" fmla="val 6000"/>
            </a:avLst>
          </a:prstGeom>
          <a:solidFill>
            <a:srgbClr val="FFFFFF"/>
          </a:solidFill>
          <a:ln w="12700">
            <a:solidFill>
              <a:srgbClr val="DCE8CE"/>
            </a:solidFill>
            <a:prstDash val="solid"/>
          </a:ln>
        </p:spPr>
        <p:txBody>
          <a:bodyPr/>
          <a:lstStyle/>
          <a:p>
            <a:endParaRPr lang="en-US"/>
          </a:p>
        </p:txBody>
      </p:sp>
      <p:sp>
        <p:nvSpPr>
          <p:cNvPr id="10" name="Text 7"/>
          <p:cNvSpPr/>
          <p:nvPr/>
        </p:nvSpPr>
        <p:spPr>
          <a:xfrm>
            <a:off x="1188720" y="5074920"/>
            <a:ext cx="4069080" cy="914400"/>
          </a:xfrm>
          <a:prstGeom prst="rect">
            <a:avLst/>
          </a:prstGeom>
          <a:noFill/>
          <a:ln/>
        </p:spPr>
        <p:txBody>
          <a:bodyPr wrap="square" lIns="0" tIns="0" rIns="0" bIns="0" rtlCol="0" anchor="ctr"/>
          <a:lstStyle/>
          <a:p>
            <a:pPr marL="0" indent="0">
              <a:lnSpc>
                <a:spcPct val="120000"/>
              </a:lnSpc>
              <a:buNone/>
            </a:pPr>
            <a:r>
              <a:rPr lang="en-US" sz="1400" i="1" dirty="0">
                <a:solidFill>
                  <a:srgbClr val="2C5F2D"/>
                </a:solidFill>
                <a:latin typeface="Calibri" pitchFamily="34" charset="0"/>
                <a:ea typeface="Calibri" pitchFamily="34" charset="-122"/>
                <a:cs typeface="Calibri" pitchFamily="34" charset="-120"/>
              </a:rPr>
              <a:t>Example: "The conference was held on June 15."</a:t>
            </a:r>
            <a:endParaRPr lang="en-US" sz="1400" dirty="0"/>
          </a:p>
          <a:p>
            <a:pPr marL="0" indent="0">
              <a:lnSpc>
                <a:spcPct val="120000"/>
              </a:lnSpc>
              <a:buNone/>
            </a:pPr>
            <a:r>
              <a:rPr lang="en-US" sz="1400" i="1" dirty="0">
                <a:solidFill>
                  <a:srgbClr val="2C5F2D"/>
                </a:solidFill>
                <a:latin typeface="Calibri" pitchFamily="34" charset="0"/>
                <a:ea typeface="Calibri" pitchFamily="34" charset="-122"/>
                <a:cs typeface="Calibri" pitchFamily="34" charset="-120"/>
              </a:rPr>
              <a:t>→ Event: Conference, Date: June 15</a:t>
            </a:r>
            <a:endParaRPr lang="en-US" sz="1400" dirty="0"/>
          </a:p>
        </p:txBody>
      </p:sp>
      <p:sp>
        <p:nvSpPr>
          <p:cNvPr id="11" name="Shape 8"/>
          <p:cNvSpPr/>
          <p:nvPr/>
        </p:nvSpPr>
        <p:spPr>
          <a:xfrm>
            <a:off x="6355080" y="1965960"/>
            <a:ext cx="5166360" cy="4160520"/>
          </a:xfrm>
          <a:prstGeom prst="roundRect">
            <a:avLst>
              <a:gd name="adj" fmla="val 1758"/>
            </a:avLst>
          </a:prstGeom>
          <a:solidFill>
            <a:srgbClr val="EFF6E7"/>
          </a:solidFill>
          <a:ln/>
          <a:effectLst>
            <a:outerShdw blurRad="88900" dist="38100" dir="5400000" algn="bl" rotWithShape="0">
              <a:srgbClr val="1B3A1E">
                <a:alpha val="9000"/>
              </a:srgbClr>
            </a:outerShdw>
          </a:effectLst>
        </p:spPr>
        <p:txBody>
          <a:bodyPr/>
          <a:lstStyle/>
          <a:p>
            <a:endParaRPr lang="en-US"/>
          </a:p>
        </p:txBody>
      </p:sp>
      <p:sp>
        <p:nvSpPr>
          <p:cNvPr id="12" name="Shape 9"/>
          <p:cNvSpPr/>
          <p:nvPr/>
        </p:nvSpPr>
        <p:spPr>
          <a:xfrm>
            <a:off x="6720840" y="2331720"/>
            <a:ext cx="914400" cy="914400"/>
          </a:xfrm>
          <a:prstGeom prst="ellipse">
            <a:avLst/>
          </a:prstGeom>
          <a:solidFill>
            <a:srgbClr val="FFFFFF"/>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6839712" y="2299716"/>
            <a:ext cx="676656" cy="676656"/>
          </a:xfrm>
          <a:prstGeom prst="rect">
            <a:avLst/>
          </a:prstGeom>
        </p:spPr>
      </p:pic>
      <p:sp>
        <p:nvSpPr>
          <p:cNvPr id="14" name="Text 10"/>
          <p:cNvSpPr/>
          <p:nvPr/>
        </p:nvSpPr>
        <p:spPr>
          <a:xfrm>
            <a:off x="6720840" y="3474720"/>
            <a:ext cx="4434840" cy="548640"/>
          </a:xfrm>
          <a:prstGeom prst="rect">
            <a:avLst/>
          </a:prstGeom>
          <a:noFill/>
          <a:ln/>
        </p:spPr>
        <p:txBody>
          <a:bodyPr wrap="square" lIns="0" tIns="0" rIns="0" bIns="0" rtlCol="0" anchor="ctr"/>
          <a:lstStyle/>
          <a:p>
            <a:pPr marL="0" indent="0">
              <a:buNone/>
            </a:pPr>
            <a:r>
              <a:rPr lang="en-US" sz="2000" b="1" dirty="0">
                <a:solidFill>
                  <a:srgbClr val="2C5F2D"/>
                </a:solidFill>
                <a:latin typeface="Cambria" pitchFamily="34" charset="0"/>
                <a:ea typeface="Cambria" pitchFamily="34" charset="-122"/>
                <a:cs typeface="Cambria" pitchFamily="34" charset="-120"/>
              </a:rPr>
              <a:t>5. Template Filling</a:t>
            </a:r>
            <a:endParaRPr lang="en-US" sz="2000" dirty="0"/>
          </a:p>
        </p:txBody>
      </p:sp>
      <p:sp>
        <p:nvSpPr>
          <p:cNvPr id="15" name="Text 11"/>
          <p:cNvSpPr/>
          <p:nvPr/>
        </p:nvSpPr>
        <p:spPr>
          <a:xfrm>
            <a:off x="6720840" y="4069080"/>
            <a:ext cx="4434840" cy="1005840"/>
          </a:xfrm>
          <a:prstGeom prst="rect">
            <a:avLst/>
          </a:prstGeom>
          <a:noFill/>
          <a:ln/>
        </p:spPr>
        <p:txBody>
          <a:bodyPr wrap="square" lIns="0" tIns="0" rIns="0" bIns="0" rtlCol="0" anchor="ctr"/>
          <a:lstStyle/>
          <a:p>
            <a:pPr marL="0" indent="0">
              <a:lnSpc>
                <a:spcPct val="125000"/>
              </a:lnSpc>
              <a:buNone/>
            </a:pPr>
            <a:r>
              <a:rPr lang="en-US" sz="1400" dirty="0">
                <a:solidFill>
                  <a:srgbClr val="24331F"/>
                </a:solidFill>
                <a:latin typeface="Calibri" pitchFamily="34" charset="0"/>
                <a:ea typeface="Calibri" pitchFamily="34" charset="-122"/>
                <a:cs typeface="Calibri" pitchFamily="34" charset="-120"/>
              </a:rPr>
              <a:t>Stores the extracted facts in a ready-made format, like a table, so they're easy to use.</a:t>
            </a:r>
            <a:endParaRPr lang="en-US" sz="1400" dirty="0"/>
          </a:p>
        </p:txBody>
      </p:sp>
      <p:sp>
        <p:nvSpPr>
          <p:cNvPr id="16" name="Shape 12"/>
          <p:cNvSpPr/>
          <p:nvPr/>
        </p:nvSpPr>
        <p:spPr>
          <a:xfrm>
            <a:off x="6720840" y="5074920"/>
            <a:ext cx="4434840" cy="914400"/>
          </a:xfrm>
          <a:prstGeom prst="roundRect">
            <a:avLst>
              <a:gd name="adj" fmla="val 6000"/>
            </a:avLst>
          </a:prstGeom>
          <a:solidFill>
            <a:srgbClr val="FFFFFF"/>
          </a:solidFill>
          <a:ln w="12700">
            <a:solidFill>
              <a:srgbClr val="DCE8CE"/>
            </a:solidFill>
            <a:prstDash val="solid"/>
          </a:ln>
        </p:spPr>
        <p:txBody>
          <a:bodyPr/>
          <a:lstStyle/>
          <a:p>
            <a:endParaRPr lang="en-US"/>
          </a:p>
        </p:txBody>
      </p:sp>
      <p:sp>
        <p:nvSpPr>
          <p:cNvPr id="17" name="Text 13"/>
          <p:cNvSpPr/>
          <p:nvPr/>
        </p:nvSpPr>
        <p:spPr>
          <a:xfrm>
            <a:off x="6903720" y="5074920"/>
            <a:ext cx="4069080" cy="914400"/>
          </a:xfrm>
          <a:prstGeom prst="rect">
            <a:avLst/>
          </a:prstGeom>
          <a:noFill/>
          <a:ln/>
        </p:spPr>
        <p:txBody>
          <a:bodyPr wrap="square" lIns="0" tIns="0" rIns="0" bIns="0" rtlCol="0" anchor="ctr"/>
          <a:lstStyle/>
          <a:p>
            <a:pPr marL="0" indent="0">
              <a:lnSpc>
                <a:spcPct val="120000"/>
              </a:lnSpc>
              <a:buNone/>
            </a:pPr>
            <a:r>
              <a:rPr lang="en-US" sz="1400" i="1" dirty="0">
                <a:solidFill>
                  <a:srgbClr val="2C5F2D"/>
                </a:solidFill>
                <a:latin typeface="Calibri" pitchFamily="34" charset="0"/>
                <a:ea typeface="Calibri" pitchFamily="34" charset="-122"/>
                <a:cs typeface="Calibri" pitchFamily="34" charset="-120"/>
              </a:rPr>
              <a:t>Example table:</a:t>
            </a:r>
            <a:endParaRPr lang="en-US" sz="1400" dirty="0"/>
          </a:p>
          <a:p>
            <a:pPr marL="0" indent="0">
              <a:lnSpc>
                <a:spcPct val="120000"/>
              </a:lnSpc>
              <a:buNone/>
            </a:pPr>
            <a:r>
              <a:rPr lang="en-US" sz="1400" i="1" dirty="0">
                <a:solidFill>
                  <a:srgbClr val="2C5F2D"/>
                </a:solidFill>
                <a:latin typeface="Calibri" pitchFamily="34" charset="0"/>
                <a:ea typeface="Calibri" pitchFamily="34" charset="-122"/>
                <a:cs typeface="Calibri" pitchFamily="34" charset="-120"/>
              </a:rPr>
              <a:t>Name: Ram → Organization: ABC Company</a:t>
            </a:r>
            <a:endParaRPr lang="en-US" sz="1400" dirty="0"/>
          </a:p>
        </p:txBody>
      </p:sp>
      <p:sp>
        <p:nvSpPr>
          <p:cNvPr id="18" name="Text 14"/>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Real-World Applications — Healthcare</a:t>
            </a:r>
            <a:endParaRPr lang="en-US" sz="30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One of two fields where Information Extraction makes a big difference.</a:t>
            </a:r>
            <a:endParaRPr lang="en-US" sz="1400" dirty="0"/>
          </a:p>
        </p:txBody>
      </p:sp>
      <p:sp>
        <p:nvSpPr>
          <p:cNvPr id="4" name="Shape 2"/>
          <p:cNvSpPr/>
          <p:nvPr/>
        </p:nvSpPr>
        <p:spPr>
          <a:xfrm>
            <a:off x="640080" y="2286000"/>
            <a:ext cx="10881360" cy="1051560"/>
          </a:xfrm>
          <a:prstGeom prst="roundRect">
            <a:avLst>
              <a:gd name="adj" fmla="val 6957"/>
            </a:avLst>
          </a:prstGeom>
          <a:solidFill>
            <a:srgbClr val="F4F8F0"/>
          </a:solidFill>
          <a:ln w="12700">
            <a:solidFill>
              <a:srgbClr val="DCE8CE"/>
            </a:solidFill>
            <a:prstDash val="solid"/>
          </a:ln>
        </p:spPr>
        <p:txBody>
          <a:bodyPr/>
          <a:lstStyle/>
          <a:p>
            <a:endParaRPr lang="en-US"/>
          </a:p>
        </p:txBody>
      </p:sp>
      <p:sp>
        <p:nvSpPr>
          <p:cNvPr id="5" name="Shape 3"/>
          <p:cNvSpPr/>
          <p:nvPr/>
        </p:nvSpPr>
        <p:spPr>
          <a:xfrm>
            <a:off x="868680" y="2514600"/>
            <a:ext cx="594360" cy="594360"/>
          </a:xfrm>
          <a:prstGeom prst="ellipse">
            <a:avLst/>
          </a:prstGeom>
          <a:solidFill>
            <a:srgbClr val="E7F0DC"/>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45947" y="2591867"/>
            <a:ext cx="439826" cy="439826"/>
          </a:xfrm>
          <a:prstGeom prst="rect">
            <a:avLst/>
          </a:prstGeom>
        </p:spPr>
      </p:pic>
      <p:sp>
        <p:nvSpPr>
          <p:cNvPr id="7" name="Text 4"/>
          <p:cNvSpPr/>
          <p:nvPr/>
        </p:nvSpPr>
        <p:spPr>
          <a:xfrm>
            <a:off x="1691640" y="2286000"/>
            <a:ext cx="2651760" cy="1051560"/>
          </a:xfrm>
          <a:prstGeom prst="rect">
            <a:avLst/>
          </a:prstGeom>
          <a:noFill/>
          <a:ln/>
        </p:spPr>
        <p:txBody>
          <a:bodyPr wrap="square" lIns="0" tIns="0" rIns="0" bIns="0" rtlCol="0" anchor="ctr"/>
          <a:lstStyle/>
          <a:p>
            <a:pPr marL="0" indent="0">
              <a:lnSpc>
                <a:spcPct val="105000"/>
              </a:lnSpc>
              <a:buNone/>
            </a:pPr>
            <a:r>
              <a:rPr lang="en-US" sz="1600" b="1" dirty="0">
                <a:solidFill>
                  <a:srgbClr val="2C5F2D"/>
                </a:solidFill>
                <a:latin typeface="Cambria" pitchFamily="34" charset="0"/>
                <a:ea typeface="Cambria" pitchFamily="34" charset="-122"/>
                <a:cs typeface="Cambria" pitchFamily="34" charset="-120"/>
              </a:rPr>
              <a:t>Organizing Patient Records</a:t>
            </a:r>
            <a:endParaRPr lang="en-US" sz="1600" dirty="0"/>
          </a:p>
        </p:txBody>
      </p:sp>
      <p:sp>
        <p:nvSpPr>
          <p:cNvPr id="8" name="Text 5"/>
          <p:cNvSpPr/>
          <p:nvPr/>
        </p:nvSpPr>
        <p:spPr>
          <a:xfrm>
            <a:off x="4434840" y="2286000"/>
            <a:ext cx="6903720" cy="1051560"/>
          </a:xfrm>
          <a:prstGeom prst="rect">
            <a:avLst/>
          </a:prstGeom>
          <a:noFill/>
          <a:ln/>
        </p:spPr>
        <p:txBody>
          <a:bodyPr wrap="square" lIns="0" tIns="0" rIns="0" bIns="0" rtlCol="0" anchor="ctr"/>
          <a:lstStyle/>
          <a:p>
            <a:pPr marL="0" indent="0">
              <a:lnSpc>
                <a:spcPct val="115000"/>
              </a:lnSpc>
              <a:buNone/>
            </a:pPr>
            <a:r>
              <a:rPr lang="en-US" sz="1400" dirty="0">
                <a:solidFill>
                  <a:srgbClr val="24331F"/>
                </a:solidFill>
                <a:latin typeface="Calibri" pitchFamily="34" charset="0"/>
                <a:ea typeface="Calibri" pitchFamily="34" charset="-122"/>
                <a:cs typeface="Calibri" pitchFamily="34" charset="-120"/>
              </a:rPr>
              <a:t>Turns scattered notes into clean, searchable patient histories.</a:t>
            </a:r>
            <a:endParaRPr lang="en-US" sz="1400" dirty="0"/>
          </a:p>
        </p:txBody>
      </p:sp>
      <p:sp>
        <p:nvSpPr>
          <p:cNvPr id="9" name="Shape 6"/>
          <p:cNvSpPr/>
          <p:nvPr/>
        </p:nvSpPr>
        <p:spPr>
          <a:xfrm>
            <a:off x="640080" y="3488893"/>
            <a:ext cx="10881360" cy="1051560"/>
          </a:xfrm>
          <a:prstGeom prst="roundRect">
            <a:avLst>
              <a:gd name="adj" fmla="val 6957"/>
            </a:avLst>
          </a:prstGeom>
          <a:solidFill>
            <a:srgbClr val="FFFFFF"/>
          </a:solidFill>
          <a:ln w="12700">
            <a:solidFill>
              <a:srgbClr val="DCE8CE"/>
            </a:solidFill>
            <a:prstDash val="solid"/>
          </a:ln>
        </p:spPr>
        <p:txBody>
          <a:bodyPr/>
          <a:lstStyle/>
          <a:p>
            <a:endParaRPr lang="en-US"/>
          </a:p>
        </p:txBody>
      </p:sp>
      <p:sp>
        <p:nvSpPr>
          <p:cNvPr id="10" name="Shape 7"/>
          <p:cNvSpPr/>
          <p:nvPr/>
        </p:nvSpPr>
        <p:spPr>
          <a:xfrm>
            <a:off x="868680" y="3794760"/>
            <a:ext cx="594360" cy="594360"/>
          </a:xfrm>
          <a:prstGeom prst="ellipse">
            <a:avLst/>
          </a:prstGeom>
          <a:solidFill>
            <a:srgbClr val="E7F0DC"/>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45947" y="3872027"/>
            <a:ext cx="439826" cy="439826"/>
          </a:xfrm>
          <a:prstGeom prst="rect">
            <a:avLst/>
          </a:prstGeom>
        </p:spPr>
      </p:pic>
      <p:sp>
        <p:nvSpPr>
          <p:cNvPr id="12" name="Text 8"/>
          <p:cNvSpPr/>
          <p:nvPr/>
        </p:nvSpPr>
        <p:spPr>
          <a:xfrm>
            <a:off x="1691640" y="3566160"/>
            <a:ext cx="2651760" cy="1051560"/>
          </a:xfrm>
          <a:prstGeom prst="rect">
            <a:avLst/>
          </a:prstGeom>
          <a:noFill/>
          <a:ln/>
        </p:spPr>
        <p:txBody>
          <a:bodyPr wrap="square" lIns="0" tIns="0" rIns="0" bIns="0" rtlCol="0" anchor="ctr"/>
          <a:lstStyle/>
          <a:p>
            <a:pPr marL="0" indent="0">
              <a:lnSpc>
                <a:spcPct val="105000"/>
              </a:lnSpc>
              <a:buNone/>
            </a:pPr>
            <a:r>
              <a:rPr lang="en-US" sz="1600" b="1" dirty="0">
                <a:solidFill>
                  <a:srgbClr val="2C5F2D"/>
                </a:solidFill>
                <a:latin typeface="Cambria" pitchFamily="34" charset="0"/>
                <a:ea typeface="Cambria" pitchFamily="34" charset="-122"/>
                <a:cs typeface="Cambria" pitchFamily="34" charset="-120"/>
              </a:rPr>
              <a:t>Detecting Diseases Early</a:t>
            </a:r>
            <a:endParaRPr lang="en-US" sz="1600" dirty="0"/>
          </a:p>
        </p:txBody>
      </p:sp>
      <p:sp>
        <p:nvSpPr>
          <p:cNvPr id="13" name="Text 9"/>
          <p:cNvSpPr/>
          <p:nvPr/>
        </p:nvSpPr>
        <p:spPr>
          <a:xfrm>
            <a:off x="4434840" y="3566160"/>
            <a:ext cx="6903720" cy="1051560"/>
          </a:xfrm>
          <a:prstGeom prst="rect">
            <a:avLst/>
          </a:prstGeom>
          <a:noFill/>
          <a:ln/>
        </p:spPr>
        <p:txBody>
          <a:bodyPr wrap="square" lIns="0" tIns="0" rIns="0" bIns="0" rtlCol="0" anchor="ctr"/>
          <a:lstStyle/>
          <a:p>
            <a:pPr marL="0" indent="0">
              <a:lnSpc>
                <a:spcPct val="115000"/>
              </a:lnSpc>
              <a:buNone/>
            </a:pPr>
            <a:r>
              <a:rPr lang="en-US" sz="1400" dirty="0">
                <a:solidFill>
                  <a:srgbClr val="24331F"/>
                </a:solidFill>
                <a:latin typeface="Calibri" pitchFamily="34" charset="0"/>
                <a:ea typeface="Calibri" pitchFamily="34" charset="-122"/>
                <a:cs typeface="Calibri" pitchFamily="34" charset="-120"/>
              </a:rPr>
              <a:t>Spots warning signs in medical text before problems get worse.</a:t>
            </a:r>
            <a:endParaRPr lang="en-US" sz="1400" dirty="0"/>
          </a:p>
        </p:txBody>
      </p:sp>
      <p:sp>
        <p:nvSpPr>
          <p:cNvPr id="14" name="Shape 10"/>
          <p:cNvSpPr/>
          <p:nvPr/>
        </p:nvSpPr>
        <p:spPr>
          <a:xfrm>
            <a:off x="640080" y="4846320"/>
            <a:ext cx="10881360" cy="1051560"/>
          </a:xfrm>
          <a:prstGeom prst="roundRect">
            <a:avLst>
              <a:gd name="adj" fmla="val 6957"/>
            </a:avLst>
          </a:prstGeom>
          <a:solidFill>
            <a:srgbClr val="F4F8F0"/>
          </a:solidFill>
          <a:ln w="12700">
            <a:solidFill>
              <a:srgbClr val="DCE8CE"/>
            </a:solidFill>
            <a:prstDash val="solid"/>
          </a:ln>
        </p:spPr>
        <p:txBody>
          <a:bodyPr/>
          <a:lstStyle/>
          <a:p>
            <a:endParaRPr lang="en-US"/>
          </a:p>
        </p:txBody>
      </p:sp>
      <p:sp>
        <p:nvSpPr>
          <p:cNvPr id="15" name="Shape 11"/>
          <p:cNvSpPr/>
          <p:nvPr/>
        </p:nvSpPr>
        <p:spPr>
          <a:xfrm>
            <a:off x="868680" y="5074920"/>
            <a:ext cx="594360" cy="594360"/>
          </a:xfrm>
          <a:prstGeom prst="ellipse">
            <a:avLst/>
          </a:prstGeom>
          <a:solidFill>
            <a:srgbClr val="E7F0DC"/>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45947" y="5152187"/>
            <a:ext cx="439826" cy="439826"/>
          </a:xfrm>
          <a:prstGeom prst="rect">
            <a:avLst/>
          </a:prstGeom>
        </p:spPr>
      </p:pic>
      <p:sp>
        <p:nvSpPr>
          <p:cNvPr id="17" name="Text 12"/>
          <p:cNvSpPr/>
          <p:nvPr/>
        </p:nvSpPr>
        <p:spPr>
          <a:xfrm>
            <a:off x="1691640" y="4846320"/>
            <a:ext cx="2651760" cy="1051560"/>
          </a:xfrm>
          <a:prstGeom prst="rect">
            <a:avLst/>
          </a:prstGeom>
          <a:noFill/>
          <a:ln/>
        </p:spPr>
        <p:txBody>
          <a:bodyPr wrap="square" lIns="0" tIns="0" rIns="0" bIns="0" rtlCol="0" anchor="ctr"/>
          <a:lstStyle/>
          <a:p>
            <a:pPr marL="0" indent="0">
              <a:lnSpc>
                <a:spcPct val="105000"/>
              </a:lnSpc>
              <a:buNone/>
            </a:pPr>
            <a:r>
              <a:rPr lang="en-US" sz="1600" b="1" dirty="0">
                <a:solidFill>
                  <a:srgbClr val="2C5F2D"/>
                </a:solidFill>
                <a:latin typeface="Cambria" pitchFamily="34" charset="0"/>
                <a:ea typeface="Cambria" pitchFamily="34" charset="-122"/>
                <a:cs typeface="Cambria" pitchFamily="34" charset="-120"/>
              </a:rPr>
              <a:t>Supporting Drug Discovery</a:t>
            </a:r>
            <a:endParaRPr lang="en-US" sz="1600" dirty="0"/>
          </a:p>
        </p:txBody>
      </p:sp>
      <p:sp>
        <p:nvSpPr>
          <p:cNvPr id="18" name="Text 13"/>
          <p:cNvSpPr/>
          <p:nvPr/>
        </p:nvSpPr>
        <p:spPr>
          <a:xfrm>
            <a:off x="4434840" y="4846320"/>
            <a:ext cx="6903720" cy="1051560"/>
          </a:xfrm>
          <a:prstGeom prst="rect">
            <a:avLst/>
          </a:prstGeom>
          <a:noFill/>
          <a:ln/>
        </p:spPr>
        <p:txBody>
          <a:bodyPr wrap="square" lIns="0" tIns="0" rIns="0" bIns="0" rtlCol="0" anchor="ctr"/>
          <a:lstStyle/>
          <a:p>
            <a:pPr marL="0" indent="0">
              <a:lnSpc>
                <a:spcPct val="115000"/>
              </a:lnSpc>
              <a:buNone/>
            </a:pPr>
            <a:r>
              <a:rPr lang="en-US" sz="1400" dirty="0">
                <a:solidFill>
                  <a:srgbClr val="24331F"/>
                </a:solidFill>
                <a:latin typeface="Calibri" pitchFamily="34" charset="0"/>
                <a:ea typeface="Calibri" pitchFamily="34" charset="-122"/>
                <a:cs typeface="Calibri" pitchFamily="34" charset="-120"/>
              </a:rPr>
              <a:t>Helps researchers pull useful facts out of huge volumes of medical literature</a:t>
            </a:r>
            <a:r>
              <a:rPr lang="en-US" sz="1600" dirty="0">
                <a:solidFill>
                  <a:srgbClr val="24331F"/>
                </a:solidFill>
                <a:latin typeface="Calibri" pitchFamily="34" charset="0"/>
                <a:ea typeface="Calibri" pitchFamily="34" charset="-122"/>
                <a:cs typeface="Calibri" pitchFamily="34" charset="-120"/>
              </a:rPr>
              <a:t>.</a:t>
            </a:r>
            <a:endParaRPr lang="en-US" sz="1600" dirty="0"/>
          </a:p>
        </p:txBody>
      </p:sp>
      <p:sp>
        <p:nvSpPr>
          <p:cNvPr id="19" name="Text 14"/>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Real-World Applications — Finance</a:t>
            </a:r>
            <a:endParaRPr lang="en-US" sz="30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The second field where Information Extraction makes a big difference.</a:t>
            </a:r>
            <a:endParaRPr lang="en-US" sz="1400" dirty="0"/>
          </a:p>
        </p:txBody>
      </p:sp>
      <p:sp>
        <p:nvSpPr>
          <p:cNvPr id="4" name="Shape 2"/>
          <p:cNvSpPr/>
          <p:nvPr/>
        </p:nvSpPr>
        <p:spPr>
          <a:xfrm>
            <a:off x="715975" y="2286000"/>
            <a:ext cx="10881360" cy="1051560"/>
          </a:xfrm>
          <a:prstGeom prst="roundRect">
            <a:avLst>
              <a:gd name="adj" fmla="val 6957"/>
            </a:avLst>
          </a:prstGeom>
          <a:solidFill>
            <a:srgbClr val="F4F8F0"/>
          </a:solidFill>
          <a:ln w="12700">
            <a:solidFill>
              <a:srgbClr val="DCE8CE"/>
            </a:solidFill>
            <a:prstDash val="solid"/>
          </a:ln>
        </p:spPr>
        <p:txBody>
          <a:bodyPr/>
          <a:lstStyle/>
          <a:p>
            <a:endParaRPr lang="en-US"/>
          </a:p>
        </p:txBody>
      </p:sp>
      <p:sp>
        <p:nvSpPr>
          <p:cNvPr id="5" name="Shape 3"/>
          <p:cNvSpPr/>
          <p:nvPr/>
        </p:nvSpPr>
        <p:spPr>
          <a:xfrm>
            <a:off x="868680" y="2514600"/>
            <a:ext cx="594360" cy="594360"/>
          </a:xfrm>
          <a:prstGeom prst="ellipse">
            <a:avLst/>
          </a:prstGeom>
          <a:solidFill>
            <a:srgbClr val="E7F0DC"/>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45947" y="2591867"/>
            <a:ext cx="439826" cy="439826"/>
          </a:xfrm>
          <a:prstGeom prst="rect">
            <a:avLst/>
          </a:prstGeom>
        </p:spPr>
      </p:pic>
      <p:sp>
        <p:nvSpPr>
          <p:cNvPr id="7" name="Text 4"/>
          <p:cNvSpPr/>
          <p:nvPr/>
        </p:nvSpPr>
        <p:spPr>
          <a:xfrm>
            <a:off x="1691640" y="2286000"/>
            <a:ext cx="2651760" cy="1051560"/>
          </a:xfrm>
          <a:prstGeom prst="rect">
            <a:avLst/>
          </a:prstGeom>
          <a:noFill/>
          <a:ln/>
        </p:spPr>
        <p:txBody>
          <a:bodyPr wrap="square" lIns="0" tIns="0" rIns="0" bIns="0" rtlCol="0" anchor="ctr"/>
          <a:lstStyle/>
          <a:p>
            <a:pPr marL="0" indent="0">
              <a:lnSpc>
                <a:spcPct val="105000"/>
              </a:lnSpc>
              <a:buNone/>
            </a:pPr>
            <a:r>
              <a:rPr lang="en-US" sz="1600" b="1" dirty="0">
                <a:solidFill>
                  <a:srgbClr val="2C5F2D"/>
                </a:solidFill>
                <a:latin typeface="Cambria" pitchFamily="34" charset="0"/>
                <a:ea typeface="Cambria" pitchFamily="34" charset="-122"/>
                <a:cs typeface="Cambria" pitchFamily="34" charset="-120"/>
              </a:rPr>
              <a:t>Detecting Fraud</a:t>
            </a:r>
            <a:endParaRPr lang="en-US" sz="1600" dirty="0"/>
          </a:p>
        </p:txBody>
      </p:sp>
      <p:sp>
        <p:nvSpPr>
          <p:cNvPr id="8" name="Text 5"/>
          <p:cNvSpPr/>
          <p:nvPr/>
        </p:nvSpPr>
        <p:spPr>
          <a:xfrm>
            <a:off x="4434840" y="2286000"/>
            <a:ext cx="6903720" cy="1051560"/>
          </a:xfrm>
          <a:prstGeom prst="rect">
            <a:avLst/>
          </a:prstGeom>
          <a:noFill/>
          <a:ln/>
        </p:spPr>
        <p:txBody>
          <a:bodyPr wrap="square" lIns="0" tIns="0" rIns="0" bIns="0" rtlCol="0" anchor="ctr"/>
          <a:lstStyle/>
          <a:p>
            <a:pPr marL="0" indent="0">
              <a:lnSpc>
                <a:spcPct val="115000"/>
              </a:lnSpc>
              <a:buNone/>
            </a:pPr>
            <a:r>
              <a:rPr lang="en-US" sz="1400" dirty="0">
                <a:solidFill>
                  <a:srgbClr val="24331F"/>
                </a:solidFill>
                <a:latin typeface="Calibri" pitchFamily="34" charset="0"/>
                <a:ea typeface="Calibri" pitchFamily="34" charset="-122"/>
                <a:cs typeface="Calibri" pitchFamily="34" charset="-120"/>
              </a:rPr>
              <a:t>Flags suspicious wording and patterns hidden inside financial documents.</a:t>
            </a:r>
            <a:endParaRPr lang="en-US" sz="1400" dirty="0"/>
          </a:p>
        </p:txBody>
      </p:sp>
      <p:sp>
        <p:nvSpPr>
          <p:cNvPr id="9" name="Shape 6"/>
          <p:cNvSpPr/>
          <p:nvPr/>
        </p:nvSpPr>
        <p:spPr>
          <a:xfrm>
            <a:off x="640080" y="3566160"/>
            <a:ext cx="10881360" cy="1051560"/>
          </a:xfrm>
          <a:prstGeom prst="roundRect">
            <a:avLst>
              <a:gd name="adj" fmla="val 6957"/>
            </a:avLst>
          </a:prstGeom>
          <a:solidFill>
            <a:srgbClr val="FFFFFF"/>
          </a:solidFill>
          <a:ln w="12700">
            <a:solidFill>
              <a:srgbClr val="DCE8CE"/>
            </a:solidFill>
            <a:prstDash val="solid"/>
          </a:ln>
        </p:spPr>
        <p:txBody>
          <a:bodyPr/>
          <a:lstStyle/>
          <a:p>
            <a:endParaRPr lang="en-US"/>
          </a:p>
        </p:txBody>
      </p:sp>
      <p:sp>
        <p:nvSpPr>
          <p:cNvPr id="10" name="Shape 7"/>
          <p:cNvSpPr/>
          <p:nvPr/>
        </p:nvSpPr>
        <p:spPr>
          <a:xfrm>
            <a:off x="868680" y="3794760"/>
            <a:ext cx="594360" cy="594360"/>
          </a:xfrm>
          <a:prstGeom prst="ellipse">
            <a:avLst/>
          </a:prstGeom>
          <a:solidFill>
            <a:srgbClr val="E7F0DC"/>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45947" y="3872027"/>
            <a:ext cx="439826" cy="439826"/>
          </a:xfrm>
          <a:prstGeom prst="rect">
            <a:avLst/>
          </a:prstGeom>
        </p:spPr>
      </p:pic>
      <p:sp>
        <p:nvSpPr>
          <p:cNvPr id="12" name="Text 8"/>
          <p:cNvSpPr/>
          <p:nvPr/>
        </p:nvSpPr>
        <p:spPr>
          <a:xfrm>
            <a:off x="1691640" y="3566160"/>
            <a:ext cx="2651760" cy="1051560"/>
          </a:xfrm>
          <a:prstGeom prst="rect">
            <a:avLst/>
          </a:prstGeom>
          <a:noFill/>
          <a:ln/>
        </p:spPr>
        <p:txBody>
          <a:bodyPr wrap="square" lIns="0" tIns="0" rIns="0" bIns="0" rtlCol="0" anchor="ctr"/>
          <a:lstStyle/>
          <a:p>
            <a:pPr marL="0" indent="0">
              <a:lnSpc>
                <a:spcPct val="105000"/>
              </a:lnSpc>
              <a:buNone/>
            </a:pPr>
            <a:r>
              <a:rPr lang="en-US" sz="1600" b="1" dirty="0">
                <a:solidFill>
                  <a:srgbClr val="2C5F2D"/>
                </a:solidFill>
                <a:latin typeface="Cambria" pitchFamily="34" charset="0"/>
                <a:ea typeface="Cambria" pitchFamily="34" charset="-122"/>
                <a:cs typeface="Cambria" pitchFamily="34" charset="-120"/>
              </a:rPr>
              <a:t>Analyzing News for Market Signals</a:t>
            </a:r>
            <a:endParaRPr lang="en-US" sz="1600" dirty="0"/>
          </a:p>
        </p:txBody>
      </p:sp>
      <p:sp>
        <p:nvSpPr>
          <p:cNvPr id="13" name="Text 9"/>
          <p:cNvSpPr/>
          <p:nvPr/>
        </p:nvSpPr>
        <p:spPr>
          <a:xfrm>
            <a:off x="4434840" y="3566160"/>
            <a:ext cx="6903720" cy="1051560"/>
          </a:xfrm>
          <a:prstGeom prst="rect">
            <a:avLst/>
          </a:prstGeom>
          <a:noFill/>
          <a:ln/>
        </p:spPr>
        <p:txBody>
          <a:bodyPr wrap="square" lIns="0" tIns="0" rIns="0" bIns="0" rtlCol="0" anchor="ctr"/>
          <a:lstStyle/>
          <a:p>
            <a:pPr marL="0" indent="0">
              <a:lnSpc>
                <a:spcPct val="115000"/>
              </a:lnSpc>
              <a:buNone/>
            </a:pPr>
            <a:r>
              <a:rPr lang="en-US" sz="1400" dirty="0">
                <a:solidFill>
                  <a:srgbClr val="24331F"/>
                </a:solidFill>
                <a:latin typeface="Calibri" pitchFamily="34" charset="0"/>
                <a:ea typeface="Calibri" pitchFamily="34" charset="-122"/>
                <a:cs typeface="Calibri" pitchFamily="34" charset="-120"/>
              </a:rPr>
              <a:t>Reads headlines and reports to catch facts that could move the market.</a:t>
            </a:r>
            <a:endParaRPr lang="en-US" sz="1400" dirty="0"/>
          </a:p>
        </p:txBody>
      </p:sp>
      <p:sp>
        <p:nvSpPr>
          <p:cNvPr id="14" name="Shape 10"/>
          <p:cNvSpPr/>
          <p:nvPr/>
        </p:nvSpPr>
        <p:spPr>
          <a:xfrm>
            <a:off x="640080" y="4778850"/>
            <a:ext cx="10881360" cy="1051560"/>
          </a:xfrm>
          <a:prstGeom prst="roundRect">
            <a:avLst>
              <a:gd name="adj" fmla="val 6957"/>
            </a:avLst>
          </a:prstGeom>
          <a:solidFill>
            <a:srgbClr val="F4F8F0"/>
          </a:solidFill>
          <a:ln w="12700">
            <a:solidFill>
              <a:srgbClr val="DCE8CE"/>
            </a:solidFill>
            <a:prstDash val="solid"/>
          </a:ln>
        </p:spPr>
        <p:txBody>
          <a:bodyPr/>
          <a:lstStyle/>
          <a:p>
            <a:endParaRPr lang="en-US"/>
          </a:p>
        </p:txBody>
      </p:sp>
      <p:sp>
        <p:nvSpPr>
          <p:cNvPr id="15" name="Shape 11"/>
          <p:cNvSpPr/>
          <p:nvPr/>
        </p:nvSpPr>
        <p:spPr>
          <a:xfrm>
            <a:off x="868680" y="5074920"/>
            <a:ext cx="594360" cy="594360"/>
          </a:xfrm>
          <a:prstGeom prst="ellipse">
            <a:avLst/>
          </a:prstGeom>
          <a:solidFill>
            <a:srgbClr val="E7F0DC"/>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45947" y="5152187"/>
            <a:ext cx="439826" cy="439826"/>
          </a:xfrm>
          <a:prstGeom prst="rect">
            <a:avLst/>
          </a:prstGeom>
        </p:spPr>
      </p:pic>
      <p:sp>
        <p:nvSpPr>
          <p:cNvPr id="17" name="Text 12"/>
          <p:cNvSpPr/>
          <p:nvPr/>
        </p:nvSpPr>
        <p:spPr>
          <a:xfrm>
            <a:off x="1691640" y="4846320"/>
            <a:ext cx="2651760" cy="1051560"/>
          </a:xfrm>
          <a:prstGeom prst="rect">
            <a:avLst/>
          </a:prstGeom>
          <a:noFill/>
          <a:ln/>
        </p:spPr>
        <p:txBody>
          <a:bodyPr wrap="square" lIns="0" tIns="0" rIns="0" bIns="0" rtlCol="0" anchor="ctr"/>
          <a:lstStyle/>
          <a:p>
            <a:pPr marL="0" indent="0">
              <a:lnSpc>
                <a:spcPct val="105000"/>
              </a:lnSpc>
              <a:buNone/>
            </a:pPr>
            <a:r>
              <a:rPr lang="en-US" sz="1600" b="1" dirty="0">
                <a:solidFill>
                  <a:srgbClr val="2C5F2D"/>
                </a:solidFill>
                <a:latin typeface="Cambria" pitchFamily="34" charset="0"/>
                <a:ea typeface="Cambria" pitchFamily="34" charset="-122"/>
                <a:cs typeface="Cambria" pitchFamily="34" charset="-120"/>
              </a:rPr>
              <a:t>Supporting Stock Prediction</a:t>
            </a:r>
            <a:endParaRPr lang="en-US" sz="1600" dirty="0"/>
          </a:p>
        </p:txBody>
      </p:sp>
      <p:sp>
        <p:nvSpPr>
          <p:cNvPr id="18" name="Text 13"/>
          <p:cNvSpPr/>
          <p:nvPr/>
        </p:nvSpPr>
        <p:spPr>
          <a:xfrm>
            <a:off x="4434840" y="4846320"/>
            <a:ext cx="6903720" cy="1051560"/>
          </a:xfrm>
          <a:prstGeom prst="rect">
            <a:avLst/>
          </a:prstGeom>
          <a:noFill/>
          <a:ln/>
        </p:spPr>
        <p:txBody>
          <a:bodyPr wrap="square" lIns="0" tIns="0" rIns="0" bIns="0" rtlCol="0" anchor="ctr"/>
          <a:lstStyle/>
          <a:p>
            <a:pPr marL="0" indent="0">
              <a:lnSpc>
                <a:spcPct val="115000"/>
              </a:lnSpc>
              <a:buNone/>
            </a:pPr>
            <a:r>
              <a:rPr lang="en-US" sz="1400" dirty="0">
                <a:solidFill>
                  <a:srgbClr val="24331F"/>
                </a:solidFill>
                <a:latin typeface="Calibri" pitchFamily="34" charset="0"/>
                <a:ea typeface="Calibri" pitchFamily="34" charset="-122"/>
                <a:cs typeface="Calibri" pitchFamily="34" charset="-120"/>
              </a:rPr>
              <a:t>Feeds extracted facts into models that help forecast market trends.</a:t>
            </a:r>
            <a:endParaRPr lang="en-US" sz="1400" dirty="0"/>
          </a:p>
        </p:txBody>
      </p:sp>
      <p:sp>
        <p:nvSpPr>
          <p:cNvPr id="19" name="Text 14"/>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Advantages of Information Extraction</a:t>
            </a:r>
            <a:endParaRPr lang="en-US" sz="30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Why pulling out facts automatically is so useful.</a:t>
            </a:r>
            <a:endParaRPr lang="en-US" sz="1400" dirty="0"/>
          </a:p>
        </p:txBody>
      </p:sp>
      <p:sp>
        <p:nvSpPr>
          <p:cNvPr id="4" name="Shape 2"/>
          <p:cNvSpPr/>
          <p:nvPr/>
        </p:nvSpPr>
        <p:spPr>
          <a:xfrm>
            <a:off x="640080" y="2148840"/>
            <a:ext cx="10881360" cy="822960"/>
          </a:xfrm>
          <a:prstGeom prst="roundRect">
            <a:avLst>
              <a:gd name="adj" fmla="val 8889"/>
            </a:avLst>
          </a:prstGeom>
          <a:solidFill>
            <a:srgbClr val="F4F8F0"/>
          </a:solidFill>
          <a:ln w="12700">
            <a:solidFill>
              <a:srgbClr val="DCE8CE"/>
            </a:solidFill>
            <a:prstDash val="solid"/>
          </a:ln>
        </p:spPr>
        <p:txBody>
          <a:bodyPr/>
          <a:lstStyle/>
          <a:p>
            <a:endParaRPr lang="en-US"/>
          </a:p>
        </p:txBody>
      </p:sp>
      <p:sp>
        <p:nvSpPr>
          <p:cNvPr id="5" name="Shape 3"/>
          <p:cNvSpPr/>
          <p:nvPr/>
        </p:nvSpPr>
        <p:spPr>
          <a:xfrm>
            <a:off x="868680" y="2263140"/>
            <a:ext cx="594360" cy="594360"/>
          </a:xfrm>
          <a:prstGeom prst="ellipse">
            <a:avLst/>
          </a:prstGeom>
          <a:solidFill>
            <a:srgbClr val="E7F0DC"/>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45947" y="2340407"/>
            <a:ext cx="439826" cy="439826"/>
          </a:xfrm>
          <a:prstGeom prst="rect">
            <a:avLst/>
          </a:prstGeom>
        </p:spPr>
      </p:pic>
      <p:sp>
        <p:nvSpPr>
          <p:cNvPr id="7" name="Text 4"/>
          <p:cNvSpPr/>
          <p:nvPr/>
        </p:nvSpPr>
        <p:spPr>
          <a:xfrm>
            <a:off x="1691640" y="214884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Saves Time</a:t>
            </a:r>
            <a:endParaRPr lang="en-US" sz="1450" dirty="0"/>
          </a:p>
        </p:txBody>
      </p:sp>
      <p:sp>
        <p:nvSpPr>
          <p:cNvPr id="8" name="Text 5"/>
          <p:cNvSpPr/>
          <p:nvPr/>
        </p:nvSpPr>
        <p:spPr>
          <a:xfrm>
            <a:off x="4434840" y="2148840"/>
            <a:ext cx="6903720" cy="822960"/>
          </a:xfrm>
          <a:prstGeom prst="rect">
            <a:avLst/>
          </a:prstGeom>
          <a:noFill/>
          <a:ln/>
        </p:spPr>
        <p:txBody>
          <a:bodyPr wrap="square" lIns="0" tIns="0" rIns="0" bIns="0" rtlCol="0" anchor="ctr"/>
          <a:lstStyle/>
          <a:p>
            <a:pPr marL="0" indent="0">
              <a:lnSpc>
                <a:spcPct val="115000"/>
              </a:lnSpc>
              <a:buNone/>
            </a:pPr>
            <a:r>
              <a:rPr lang="en-US" sz="1250" dirty="0">
                <a:solidFill>
                  <a:srgbClr val="24331F"/>
                </a:solidFill>
                <a:latin typeface="Calibri" pitchFamily="34" charset="0"/>
                <a:ea typeface="Calibri" pitchFamily="34" charset="-122"/>
                <a:cs typeface="Calibri" pitchFamily="34" charset="-120"/>
              </a:rPr>
              <a:t>Pulls out facts automatically instead of someone reading every document by hand.</a:t>
            </a:r>
            <a:endParaRPr lang="en-US" sz="1250" dirty="0"/>
          </a:p>
        </p:txBody>
      </p:sp>
      <p:sp>
        <p:nvSpPr>
          <p:cNvPr id="9" name="Shape 6"/>
          <p:cNvSpPr/>
          <p:nvPr/>
        </p:nvSpPr>
        <p:spPr>
          <a:xfrm>
            <a:off x="640080" y="3108960"/>
            <a:ext cx="10881360" cy="822960"/>
          </a:xfrm>
          <a:prstGeom prst="roundRect">
            <a:avLst>
              <a:gd name="adj" fmla="val 8889"/>
            </a:avLst>
          </a:prstGeom>
          <a:solidFill>
            <a:srgbClr val="FFFFFF"/>
          </a:solidFill>
          <a:ln w="12700">
            <a:solidFill>
              <a:srgbClr val="DCE8CE"/>
            </a:solidFill>
            <a:prstDash val="solid"/>
          </a:ln>
        </p:spPr>
        <p:txBody>
          <a:bodyPr/>
          <a:lstStyle/>
          <a:p>
            <a:endParaRPr lang="en-US"/>
          </a:p>
        </p:txBody>
      </p:sp>
      <p:sp>
        <p:nvSpPr>
          <p:cNvPr id="10" name="Shape 7"/>
          <p:cNvSpPr/>
          <p:nvPr/>
        </p:nvSpPr>
        <p:spPr>
          <a:xfrm>
            <a:off x="868680" y="3223260"/>
            <a:ext cx="594360" cy="594360"/>
          </a:xfrm>
          <a:prstGeom prst="ellipse">
            <a:avLst/>
          </a:prstGeom>
          <a:solidFill>
            <a:srgbClr val="E7F0DC"/>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45947" y="3300527"/>
            <a:ext cx="439826" cy="439826"/>
          </a:xfrm>
          <a:prstGeom prst="rect">
            <a:avLst/>
          </a:prstGeom>
        </p:spPr>
      </p:pic>
      <p:sp>
        <p:nvSpPr>
          <p:cNvPr id="12" name="Text 8"/>
          <p:cNvSpPr/>
          <p:nvPr/>
        </p:nvSpPr>
        <p:spPr>
          <a:xfrm>
            <a:off x="1691640" y="310896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Organizes Messy Text</a:t>
            </a:r>
            <a:endParaRPr lang="en-US" sz="1450" dirty="0"/>
          </a:p>
        </p:txBody>
      </p:sp>
      <p:sp>
        <p:nvSpPr>
          <p:cNvPr id="13" name="Text 9"/>
          <p:cNvSpPr/>
          <p:nvPr/>
        </p:nvSpPr>
        <p:spPr>
          <a:xfrm>
            <a:off x="4434840" y="3108960"/>
            <a:ext cx="6903720" cy="822960"/>
          </a:xfrm>
          <a:prstGeom prst="rect">
            <a:avLst/>
          </a:prstGeom>
          <a:noFill/>
          <a:ln/>
        </p:spPr>
        <p:txBody>
          <a:bodyPr wrap="square" lIns="0" tIns="0" rIns="0" bIns="0" rtlCol="0" anchor="ctr"/>
          <a:lstStyle/>
          <a:p>
            <a:pPr marL="0" indent="0">
              <a:lnSpc>
                <a:spcPct val="115000"/>
              </a:lnSpc>
              <a:buNone/>
            </a:pPr>
            <a:r>
              <a:rPr lang="en-US" sz="1250" dirty="0">
                <a:solidFill>
                  <a:srgbClr val="24331F"/>
                </a:solidFill>
                <a:latin typeface="Calibri" pitchFamily="34" charset="0"/>
                <a:ea typeface="Calibri" pitchFamily="34" charset="-122"/>
                <a:cs typeface="Calibri" pitchFamily="34" charset="-120"/>
              </a:rPr>
              <a:t>Turns long, unstructured documents into clean, structured data anyone can use.</a:t>
            </a:r>
            <a:endParaRPr lang="en-US" sz="1250" dirty="0"/>
          </a:p>
        </p:txBody>
      </p:sp>
      <p:sp>
        <p:nvSpPr>
          <p:cNvPr id="14" name="Shape 10"/>
          <p:cNvSpPr/>
          <p:nvPr/>
        </p:nvSpPr>
        <p:spPr>
          <a:xfrm>
            <a:off x="640080" y="4069080"/>
            <a:ext cx="10881360" cy="822960"/>
          </a:xfrm>
          <a:prstGeom prst="roundRect">
            <a:avLst>
              <a:gd name="adj" fmla="val 8889"/>
            </a:avLst>
          </a:prstGeom>
          <a:solidFill>
            <a:srgbClr val="F4F8F0"/>
          </a:solidFill>
          <a:ln w="12700">
            <a:solidFill>
              <a:srgbClr val="DCE8CE"/>
            </a:solidFill>
            <a:prstDash val="solid"/>
          </a:ln>
        </p:spPr>
        <p:txBody>
          <a:bodyPr/>
          <a:lstStyle/>
          <a:p>
            <a:endParaRPr lang="en-US"/>
          </a:p>
        </p:txBody>
      </p:sp>
      <p:sp>
        <p:nvSpPr>
          <p:cNvPr id="15" name="Shape 11"/>
          <p:cNvSpPr/>
          <p:nvPr/>
        </p:nvSpPr>
        <p:spPr>
          <a:xfrm>
            <a:off x="868680" y="4183380"/>
            <a:ext cx="594360" cy="594360"/>
          </a:xfrm>
          <a:prstGeom prst="ellipse">
            <a:avLst/>
          </a:prstGeom>
          <a:solidFill>
            <a:srgbClr val="E7F0DC"/>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45947" y="4260647"/>
            <a:ext cx="439826" cy="439826"/>
          </a:xfrm>
          <a:prstGeom prst="rect">
            <a:avLst/>
          </a:prstGeom>
        </p:spPr>
      </p:pic>
      <p:sp>
        <p:nvSpPr>
          <p:cNvPr id="17" name="Text 12"/>
          <p:cNvSpPr/>
          <p:nvPr/>
        </p:nvSpPr>
        <p:spPr>
          <a:xfrm>
            <a:off x="1691640" y="406908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Faster Decisions</a:t>
            </a:r>
            <a:endParaRPr lang="en-US" sz="1450" dirty="0"/>
          </a:p>
        </p:txBody>
      </p:sp>
      <p:sp>
        <p:nvSpPr>
          <p:cNvPr id="18" name="Text 13"/>
          <p:cNvSpPr/>
          <p:nvPr/>
        </p:nvSpPr>
        <p:spPr>
          <a:xfrm>
            <a:off x="4434840" y="4069080"/>
            <a:ext cx="6903720" cy="822960"/>
          </a:xfrm>
          <a:prstGeom prst="rect">
            <a:avLst/>
          </a:prstGeom>
          <a:noFill/>
          <a:ln/>
        </p:spPr>
        <p:txBody>
          <a:bodyPr wrap="square" lIns="0" tIns="0" rIns="0" bIns="0" rtlCol="0" anchor="ctr"/>
          <a:lstStyle/>
          <a:p>
            <a:pPr marL="0" indent="0">
              <a:lnSpc>
                <a:spcPct val="115000"/>
              </a:lnSpc>
              <a:buNone/>
            </a:pPr>
            <a:r>
              <a:rPr lang="en-US" sz="1250" dirty="0">
                <a:solidFill>
                  <a:srgbClr val="24331F"/>
                </a:solidFill>
                <a:latin typeface="Calibri" pitchFamily="34" charset="0"/>
                <a:ea typeface="Calibri" pitchFamily="34" charset="-122"/>
                <a:cs typeface="Calibri" pitchFamily="34" charset="-120"/>
              </a:rPr>
              <a:t>Helps people and businesses act quickly using facts pulled straight from text.</a:t>
            </a:r>
            <a:endParaRPr lang="en-US" sz="1250" dirty="0"/>
          </a:p>
        </p:txBody>
      </p:sp>
      <p:sp>
        <p:nvSpPr>
          <p:cNvPr id="19" name="Shape 14"/>
          <p:cNvSpPr/>
          <p:nvPr/>
        </p:nvSpPr>
        <p:spPr>
          <a:xfrm>
            <a:off x="640080" y="5029200"/>
            <a:ext cx="10881360" cy="822960"/>
          </a:xfrm>
          <a:prstGeom prst="roundRect">
            <a:avLst>
              <a:gd name="adj" fmla="val 8889"/>
            </a:avLst>
          </a:prstGeom>
          <a:solidFill>
            <a:srgbClr val="FFFFFF"/>
          </a:solidFill>
          <a:ln w="12700">
            <a:solidFill>
              <a:srgbClr val="DCE8CE"/>
            </a:solidFill>
            <a:prstDash val="solid"/>
          </a:ln>
        </p:spPr>
        <p:txBody>
          <a:bodyPr/>
          <a:lstStyle/>
          <a:p>
            <a:endParaRPr lang="en-US"/>
          </a:p>
        </p:txBody>
      </p:sp>
      <p:sp>
        <p:nvSpPr>
          <p:cNvPr id="20" name="Shape 15"/>
          <p:cNvSpPr/>
          <p:nvPr/>
        </p:nvSpPr>
        <p:spPr>
          <a:xfrm>
            <a:off x="868680" y="5143500"/>
            <a:ext cx="594360" cy="594360"/>
          </a:xfrm>
          <a:prstGeom prst="ellipse">
            <a:avLst/>
          </a:prstGeom>
          <a:solidFill>
            <a:srgbClr val="E7F0DC"/>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45947" y="5220767"/>
            <a:ext cx="439826" cy="439826"/>
          </a:xfrm>
          <a:prstGeom prst="rect">
            <a:avLst/>
          </a:prstGeom>
        </p:spPr>
      </p:pic>
      <p:sp>
        <p:nvSpPr>
          <p:cNvPr id="22" name="Text 16"/>
          <p:cNvSpPr/>
          <p:nvPr/>
        </p:nvSpPr>
        <p:spPr>
          <a:xfrm>
            <a:off x="1691640" y="502920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Reduces Errors</a:t>
            </a:r>
            <a:endParaRPr lang="en-US" sz="1450" dirty="0"/>
          </a:p>
        </p:txBody>
      </p:sp>
      <p:sp>
        <p:nvSpPr>
          <p:cNvPr id="23" name="Text 17"/>
          <p:cNvSpPr/>
          <p:nvPr/>
        </p:nvSpPr>
        <p:spPr>
          <a:xfrm>
            <a:off x="4434840" y="5029200"/>
            <a:ext cx="6903720" cy="822960"/>
          </a:xfrm>
          <a:prstGeom prst="rect">
            <a:avLst/>
          </a:prstGeom>
          <a:noFill/>
          <a:ln/>
        </p:spPr>
        <p:txBody>
          <a:bodyPr wrap="square" lIns="0" tIns="0" rIns="0" bIns="0" rtlCol="0" anchor="ctr"/>
          <a:lstStyle/>
          <a:p>
            <a:pPr marL="0" indent="0">
              <a:lnSpc>
                <a:spcPct val="115000"/>
              </a:lnSpc>
              <a:buNone/>
            </a:pPr>
            <a:r>
              <a:rPr lang="en-US" sz="1250" dirty="0">
                <a:solidFill>
                  <a:srgbClr val="24331F"/>
                </a:solidFill>
                <a:latin typeface="Calibri" pitchFamily="34" charset="0"/>
                <a:ea typeface="Calibri" pitchFamily="34" charset="-122"/>
                <a:cs typeface="Calibri" pitchFamily="34" charset="-120"/>
              </a:rPr>
              <a:t>Cuts down on the mistakes that happen with manual data entry.</a:t>
            </a:r>
            <a:endParaRPr lang="en-US" sz="1250" dirty="0"/>
          </a:p>
        </p:txBody>
      </p:sp>
      <p:sp>
        <p:nvSpPr>
          <p:cNvPr id="24" name="Text 18"/>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777240"/>
          </a:xfrm>
          <a:prstGeom prst="rect">
            <a:avLst/>
          </a:prstGeom>
          <a:noFill/>
          <a:ln/>
        </p:spPr>
        <p:txBody>
          <a:bodyPr wrap="square" lIns="0" tIns="0" rIns="0" bIns="0" rtlCol="0" anchor="ctr"/>
          <a:lstStyle/>
          <a:p>
            <a:pPr marL="0" indent="0" algn="l">
              <a:buNone/>
            </a:pPr>
            <a:r>
              <a:rPr lang="en-US" sz="3000" b="1" dirty="0">
                <a:solidFill>
                  <a:srgbClr val="2C5F2D"/>
                </a:solidFill>
                <a:latin typeface="Cambria" pitchFamily="34" charset="0"/>
                <a:ea typeface="Cambria" pitchFamily="34" charset="-122"/>
                <a:cs typeface="Cambria" pitchFamily="34" charset="-120"/>
              </a:rPr>
              <a:t>Limitations of Information Extraction</a:t>
            </a:r>
            <a:endParaRPr lang="en-US" sz="3000" dirty="0"/>
          </a:p>
        </p:txBody>
      </p:sp>
      <p:sp>
        <p:nvSpPr>
          <p:cNvPr id="3" name="Text 1"/>
          <p:cNvSpPr/>
          <p:nvPr/>
        </p:nvSpPr>
        <p:spPr>
          <a:xfrm>
            <a:off x="640080" y="1298448"/>
            <a:ext cx="10911535" cy="411480"/>
          </a:xfrm>
          <a:prstGeom prst="rect">
            <a:avLst/>
          </a:prstGeom>
          <a:noFill/>
          <a:ln/>
        </p:spPr>
        <p:txBody>
          <a:bodyPr wrap="square" lIns="0" tIns="0" rIns="0" bIns="0" rtlCol="0" anchor="ctr"/>
          <a:lstStyle/>
          <a:p>
            <a:pPr marL="0" indent="0">
              <a:buNone/>
            </a:pPr>
            <a:r>
              <a:rPr lang="en-US" sz="1400" i="1" dirty="0">
                <a:solidFill>
                  <a:srgbClr val="5E6E58"/>
                </a:solidFill>
                <a:latin typeface="Calibri" pitchFamily="34" charset="0"/>
                <a:ea typeface="Calibri" pitchFamily="34" charset="-122"/>
                <a:cs typeface="Calibri" pitchFamily="34" charset="-120"/>
              </a:rPr>
              <a:t>IE is powerful, but it isn't perfect.</a:t>
            </a:r>
            <a:endParaRPr lang="en-US" sz="1400" dirty="0"/>
          </a:p>
        </p:txBody>
      </p:sp>
      <p:sp>
        <p:nvSpPr>
          <p:cNvPr id="4" name="Shape 2"/>
          <p:cNvSpPr/>
          <p:nvPr/>
        </p:nvSpPr>
        <p:spPr>
          <a:xfrm>
            <a:off x="640080" y="2148840"/>
            <a:ext cx="10881360" cy="822960"/>
          </a:xfrm>
          <a:prstGeom prst="roundRect">
            <a:avLst>
              <a:gd name="adj" fmla="val 8889"/>
            </a:avLst>
          </a:prstGeom>
          <a:solidFill>
            <a:srgbClr val="F4F8F0"/>
          </a:solidFill>
          <a:ln w="12700">
            <a:solidFill>
              <a:srgbClr val="DCE8CE"/>
            </a:solidFill>
            <a:prstDash val="solid"/>
          </a:ln>
        </p:spPr>
        <p:txBody>
          <a:bodyPr/>
          <a:lstStyle/>
          <a:p>
            <a:endParaRPr lang="en-US"/>
          </a:p>
        </p:txBody>
      </p:sp>
      <p:sp>
        <p:nvSpPr>
          <p:cNvPr id="5" name="Shape 3"/>
          <p:cNvSpPr/>
          <p:nvPr/>
        </p:nvSpPr>
        <p:spPr>
          <a:xfrm>
            <a:off x="868680" y="2263140"/>
            <a:ext cx="594360" cy="594360"/>
          </a:xfrm>
          <a:prstGeom prst="ellipse">
            <a:avLst/>
          </a:prstGeom>
          <a:solidFill>
            <a:srgbClr val="E7F0DC"/>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45947" y="2340407"/>
            <a:ext cx="439826" cy="439826"/>
          </a:xfrm>
          <a:prstGeom prst="rect">
            <a:avLst/>
          </a:prstGeom>
        </p:spPr>
      </p:pic>
      <p:sp>
        <p:nvSpPr>
          <p:cNvPr id="7" name="Text 4"/>
          <p:cNvSpPr/>
          <p:nvPr/>
        </p:nvSpPr>
        <p:spPr>
          <a:xfrm>
            <a:off x="1691640" y="214884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Struggles With Unclear Text</a:t>
            </a:r>
            <a:endParaRPr lang="en-US" sz="1450" dirty="0"/>
          </a:p>
        </p:txBody>
      </p:sp>
      <p:sp>
        <p:nvSpPr>
          <p:cNvPr id="8" name="Text 5"/>
          <p:cNvSpPr/>
          <p:nvPr/>
        </p:nvSpPr>
        <p:spPr>
          <a:xfrm>
            <a:off x="4434840" y="2148840"/>
            <a:ext cx="6903720" cy="822960"/>
          </a:xfrm>
          <a:prstGeom prst="rect">
            <a:avLst/>
          </a:prstGeom>
          <a:noFill/>
          <a:ln/>
        </p:spPr>
        <p:txBody>
          <a:bodyPr wrap="square" lIns="0" tIns="0" rIns="0" bIns="0" rtlCol="0" anchor="ctr"/>
          <a:lstStyle/>
          <a:p>
            <a:pPr marL="0" indent="0">
              <a:lnSpc>
                <a:spcPct val="115000"/>
              </a:lnSpc>
              <a:buNone/>
            </a:pPr>
            <a:r>
              <a:rPr lang="en-US" sz="1250" dirty="0">
                <a:solidFill>
                  <a:srgbClr val="24331F"/>
                </a:solidFill>
                <a:latin typeface="Calibri" pitchFamily="34" charset="0"/>
                <a:ea typeface="Calibri" pitchFamily="34" charset="-122"/>
                <a:cs typeface="Calibri" pitchFamily="34" charset="-120"/>
              </a:rPr>
              <a:t>Poorly written or messy text makes it harder to pull out correct facts.</a:t>
            </a:r>
            <a:endParaRPr lang="en-US" sz="1250" dirty="0"/>
          </a:p>
        </p:txBody>
      </p:sp>
      <p:sp>
        <p:nvSpPr>
          <p:cNvPr id="9" name="Shape 6"/>
          <p:cNvSpPr/>
          <p:nvPr/>
        </p:nvSpPr>
        <p:spPr>
          <a:xfrm>
            <a:off x="640080" y="3108960"/>
            <a:ext cx="10881360" cy="822960"/>
          </a:xfrm>
          <a:prstGeom prst="roundRect">
            <a:avLst>
              <a:gd name="adj" fmla="val 8889"/>
            </a:avLst>
          </a:prstGeom>
          <a:solidFill>
            <a:srgbClr val="FFFFFF"/>
          </a:solidFill>
          <a:ln w="12700">
            <a:solidFill>
              <a:srgbClr val="DCE8CE"/>
            </a:solidFill>
            <a:prstDash val="solid"/>
          </a:ln>
        </p:spPr>
        <p:txBody>
          <a:bodyPr/>
          <a:lstStyle/>
          <a:p>
            <a:endParaRPr lang="en-US"/>
          </a:p>
        </p:txBody>
      </p:sp>
      <p:sp>
        <p:nvSpPr>
          <p:cNvPr id="10" name="Shape 7"/>
          <p:cNvSpPr/>
          <p:nvPr/>
        </p:nvSpPr>
        <p:spPr>
          <a:xfrm>
            <a:off x="868680" y="3223260"/>
            <a:ext cx="594360" cy="594360"/>
          </a:xfrm>
          <a:prstGeom prst="ellipse">
            <a:avLst/>
          </a:prstGeom>
          <a:solidFill>
            <a:srgbClr val="E7F0DC"/>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45947" y="3300527"/>
            <a:ext cx="439826" cy="439826"/>
          </a:xfrm>
          <a:prstGeom prst="rect">
            <a:avLst/>
          </a:prstGeom>
        </p:spPr>
      </p:pic>
      <p:sp>
        <p:nvSpPr>
          <p:cNvPr id="12" name="Text 8"/>
          <p:cNvSpPr/>
          <p:nvPr/>
        </p:nvSpPr>
        <p:spPr>
          <a:xfrm>
            <a:off x="1691640" y="310896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Can Misidentify Facts</a:t>
            </a:r>
            <a:endParaRPr lang="en-US" sz="1450" dirty="0"/>
          </a:p>
        </p:txBody>
      </p:sp>
      <p:sp>
        <p:nvSpPr>
          <p:cNvPr id="13" name="Text 9"/>
          <p:cNvSpPr/>
          <p:nvPr/>
        </p:nvSpPr>
        <p:spPr>
          <a:xfrm>
            <a:off x="4434840" y="3108960"/>
            <a:ext cx="6903720" cy="822960"/>
          </a:xfrm>
          <a:prstGeom prst="rect">
            <a:avLst/>
          </a:prstGeom>
          <a:noFill/>
          <a:ln/>
        </p:spPr>
        <p:txBody>
          <a:bodyPr wrap="square" lIns="0" tIns="0" rIns="0" bIns="0" rtlCol="0" anchor="ctr"/>
          <a:lstStyle/>
          <a:p>
            <a:pPr marL="0" indent="0">
              <a:lnSpc>
                <a:spcPct val="115000"/>
              </a:lnSpc>
              <a:buNone/>
            </a:pPr>
            <a:r>
              <a:rPr lang="en-US" sz="1250" dirty="0">
                <a:solidFill>
                  <a:srgbClr val="24331F"/>
                </a:solidFill>
                <a:latin typeface="Calibri" pitchFamily="34" charset="0"/>
                <a:ea typeface="Calibri" pitchFamily="34" charset="-122"/>
                <a:cs typeface="Calibri" pitchFamily="34" charset="-120"/>
              </a:rPr>
              <a:t>May get names, dates, or relationships wrong, especially in tricky sentences.</a:t>
            </a:r>
            <a:endParaRPr lang="en-US" sz="1250" dirty="0"/>
          </a:p>
        </p:txBody>
      </p:sp>
      <p:sp>
        <p:nvSpPr>
          <p:cNvPr id="14" name="Shape 10"/>
          <p:cNvSpPr/>
          <p:nvPr/>
        </p:nvSpPr>
        <p:spPr>
          <a:xfrm>
            <a:off x="640080" y="4069080"/>
            <a:ext cx="10881360" cy="822960"/>
          </a:xfrm>
          <a:prstGeom prst="roundRect">
            <a:avLst>
              <a:gd name="adj" fmla="val 8889"/>
            </a:avLst>
          </a:prstGeom>
          <a:solidFill>
            <a:srgbClr val="F4F8F0"/>
          </a:solidFill>
          <a:ln w="12700">
            <a:solidFill>
              <a:srgbClr val="DCE8CE"/>
            </a:solidFill>
            <a:prstDash val="solid"/>
          </a:ln>
        </p:spPr>
        <p:txBody>
          <a:bodyPr/>
          <a:lstStyle/>
          <a:p>
            <a:endParaRPr lang="en-US"/>
          </a:p>
        </p:txBody>
      </p:sp>
      <p:sp>
        <p:nvSpPr>
          <p:cNvPr id="15" name="Shape 11"/>
          <p:cNvSpPr/>
          <p:nvPr/>
        </p:nvSpPr>
        <p:spPr>
          <a:xfrm>
            <a:off x="868680" y="4183380"/>
            <a:ext cx="594360" cy="594360"/>
          </a:xfrm>
          <a:prstGeom prst="ellipse">
            <a:avLst/>
          </a:prstGeom>
          <a:solidFill>
            <a:srgbClr val="E7F0DC"/>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45947" y="4260647"/>
            <a:ext cx="439826" cy="439826"/>
          </a:xfrm>
          <a:prstGeom prst="rect">
            <a:avLst/>
          </a:prstGeom>
        </p:spPr>
      </p:pic>
      <p:sp>
        <p:nvSpPr>
          <p:cNvPr id="17" name="Text 12"/>
          <p:cNvSpPr/>
          <p:nvPr/>
        </p:nvSpPr>
        <p:spPr>
          <a:xfrm>
            <a:off x="1691640" y="406908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Needs a Lot of Training Data</a:t>
            </a:r>
            <a:endParaRPr lang="en-US" sz="1450" dirty="0"/>
          </a:p>
        </p:txBody>
      </p:sp>
      <p:sp>
        <p:nvSpPr>
          <p:cNvPr id="18" name="Text 13"/>
          <p:cNvSpPr/>
          <p:nvPr/>
        </p:nvSpPr>
        <p:spPr>
          <a:xfrm>
            <a:off x="4434840" y="4069080"/>
            <a:ext cx="6903720" cy="822960"/>
          </a:xfrm>
          <a:prstGeom prst="rect">
            <a:avLst/>
          </a:prstGeom>
          <a:noFill/>
          <a:ln/>
        </p:spPr>
        <p:txBody>
          <a:bodyPr wrap="square" lIns="0" tIns="0" rIns="0" bIns="0" rtlCol="0" anchor="ctr"/>
          <a:lstStyle/>
          <a:p>
            <a:pPr marL="0" indent="0">
              <a:lnSpc>
                <a:spcPct val="115000"/>
              </a:lnSpc>
              <a:buNone/>
            </a:pPr>
            <a:r>
              <a:rPr lang="en-US" sz="1250" dirty="0">
                <a:solidFill>
                  <a:srgbClr val="24331F"/>
                </a:solidFill>
                <a:latin typeface="Calibri" pitchFamily="34" charset="0"/>
                <a:ea typeface="Calibri" pitchFamily="34" charset="-122"/>
                <a:cs typeface="Calibri" pitchFamily="34" charset="-120"/>
              </a:rPr>
              <a:t>Works best after learning from large amounts of example text.</a:t>
            </a:r>
            <a:endParaRPr lang="en-US" sz="1250" dirty="0"/>
          </a:p>
        </p:txBody>
      </p:sp>
      <p:sp>
        <p:nvSpPr>
          <p:cNvPr id="19" name="Shape 14"/>
          <p:cNvSpPr/>
          <p:nvPr/>
        </p:nvSpPr>
        <p:spPr>
          <a:xfrm>
            <a:off x="640080" y="5029200"/>
            <a:ext cx="10881360" cy="822960"/>
          </a:xfrm>
          <a:prstGeom prst="roundRect">
            <a:avLst>
              <a:gd name="adj" fmla="val 8889"/>
            </a:avLst>
          </a:prstGeom>
          <a:solidFill>
            <a:srgbClr val="FFFFFF"/>
          </a:solidFill>
          <a:ln w="12700">
            <a:solidFill>
              <a:srgbClr val="DCE8CE"/>
            </a:solidFill>
            <a:prstDash val="solid"/>
          </a:ln>
        </p:spPr>
        <p:txBody>
          <a:bodyPr/>
          <a:lstStyle/>
          <a:p>
            <a:endParaRPr lang="en-US"/>
          </a:p>
        </p:txBody>
      </p:sp>
      <p:sp>
        <p:nvSpPr>
          <p:cNvPr id="20" name="Shape 15"/>
          <p:cNvSpPr/>
          <p:nvPr/>
        </p:nvSpPr>
        <p:spPr>
          <a:xfrm>
            <a:off x="868680" y="5143500"/>
            <a:ext cx="594360" cy="594360"/>
          </a:xfrm>
          <a:prstGeom prst="ellipse">
            <a:avLst/>
          </a:prstGeom>
          <a:solidFill>
            <a:srgbClr val="E7F0DC"/>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45947" y="5220767"/>
            <a:ext cx="439826" cy="439826"/>
          </a:xfrm>
          <a:prstGeom prst="rect">
            <a:avLst/>
          </a:prstGeom>
        </p:spPr>
      </p:pic>
      <p:sp>
        <p:nvSpPr>
          <p:cNvPr id="22" name="Text 16"/>
          <p:cNvSpPr/>
          <p:nvPr/>
        </p:nvSpPr>
        <p:spPr>
          <a:xfrm>
            <a:off x="1691640" y="5029200"/>
            <a:ext cx="2651760" cy="822960"/>
          </a:xfrm>
          <a:prstGeom prst="rect">
            <a:avLst/>
          </a:prstGeom>
          <a:noFill/>
          <a:ln/>
        </p:spPr>
        <p:txBody>
          <a:bodyPr wrap="square" lIns="0" tIns="0" rIns="0" bIns="0" rtlCol="0" anchor="ctr"/>
          <a:lstStyle/>
          <a:p>
            <a:pPr marL="0" indent="0">
              <a:lnSpc>
                <a:spcPct val="105000"/>
              </a:lnSpc>
              <a:buNone/>
            </a:pPr>
            <a:r>
              <a:rPr lang="en-US" sz="1450" b="1" dirty="0">
                <a:solidFill>
                  <a:srgbClr val="2C5F2D"/>
                </a:solidFill>
                <a:latin typeface="Cambria" pitchFamily="34" charset="0"/>
                <a:ea typeface="Cambria" pitchFamily="34" charset="-122"/>
                <a:cs typeface="Cambria" pitchFamily="34" charset="-120"/>
              </a:rPr>
              <a:t>Struggles With New Topics</a:t>
            </a:r>
            <a:endParaRPr lang="en-US" sz="1450" dirty="0"/>
          </a:p>
        </p:txBody>
      </p:sp>
      <p:sp>
        <p:nvSpPr>
          <p:cNvPr id="23" name="Text 17"/>
          <p:cNvSpPr/>
          <p:nvPr/>
        </p:nvSpPr>
        <p:spPr>
          <a:xfrm>
            <a:off x="4434840" y="5029200"/>
            <a:ext cx="6903720" cy="822960"/>
          </a:xfrm>
          <a:prstGeom prst="rect">
            <a:avLst/>
          </a:prstGeom>
          <a:noFill/>
          <a:ln/>
        </p:spPr>
        <p:txBody>
          <a:bodyPr wrap="square" lIns="0" tIns="0" rIns="0" bIns="0" rtlCol="0" anchor="ctr"/>
          <a:lstStyle/>
          <a:p>
            <a:pPr marL="0" indent="0">
              <a:lnSpc>
                <a:spcPct val="115000"/>
              </a:lnSpc>
              <a:buNone/>
            </a:pPr>
            <a:r>
              <a:rPr lang="en-US" sz="1250" dirty="0">
                <a:solidFill>
                  <a:srgbClr val="24331F"/>
                </a:solidFill>
                <a:latin typeface="Calibri" pitchFamily="34" charset="0"/>
                <a:ea typeface="Calibri" pitchFamily="34" charset="-122"/>
                <a:cs typeface="Calibri" pitchFamily="34" charset="-120"/>
              </a:rPr>
              <a:t>Can have trouble with subjects or wording it hasn't seen before.</a:t>
            </a:r>
            <a:endParaRPr lang="en-US" sz="1250" dirty="0"/>
          </a:p>
        </p:txBody>
      </p:sp>
      <p:sp>
        <p:nvSpPr>
          <p:cNvPr id="24" name="Text 18"/>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301A"/>
        </a:solidFill>
        <a:effectLst/>
      </p:bgPr>
    </p:bg>
    <p:spTree>
      <p:nvGrpSpPr>
        <p:cNvPr id="1" name=""/>
        <p:cNvGrpSpPr/>
        <p:nvPr/>
      </p:nvGrpSpPr>
      <p:grpSpPr>
        <a:xfrm>
          <a:off x="0" y="0"/>
          <a:ext cx="0" cy="0"/>
          <a:chOff x="0" y="0"/>
          <a:chExt cx="0" cy="0"/>
        </a:xfrm>
      </p:grpSpPr>
      <p:sp>
        <p:nvSpPr>
          <p:cNvPr id="2" name="Shape 0"/>
          <p:cNvSpPr/>
          <p:nvPr/>
        </p:nvSpPr>
        <p:spPr>
          <a:xfrm>
            <a:off x="-2011680" y="4023360"/>
            <a:ext cx="5486400" cy="5486400"/>
          </a:xfrm>
          <a:prstGeom prst="ellipse">
            <a:avLst/>
          </a:prstGeom>
          <a:solidFill>
            <a:srgbClr val="2C5F2D">
              <a:alpha val="55000"/>
            </a:srgbClr>
          </a:solidFill>
          <a:ln/>
        </p:spPr>
        <p:txBody>
          <a:bodyPr/>
          <a:lstStyle/>
          <a:p>
            <a:endParaRPr lang="en-US"/>
          </a:p>
        </p:txBody>
      </p:sp>
      <p:sp>
        <p:nvSpPr>
          <p:cNvPr id="3" name="Shape 1"/>
          <p:cNvSpPr/>
          <p:nvPr/>
        </p:nvSpPr>
        <p:spPr>
          <a:xfrm>
            <a:off x="822960" y="548640"/>
            <a:ext cx="1051560" cy="1051560"/>
          </a:xfrm>
          <a:prstGeom prst="ellipse">
            <a:avLst/>
          </a:prstGeom>
          <a:solidFill>
            <a:srgbClr val="2C5F2D"/>
          </a:solidFill>
          <a:ln/>
        </p:spPr>
        <p:txBody>
          <a:bodyPr/>
          <a:lstStyle/>
          <a:p>
            <a:endParaRPr lang="en-US"/>
          </a:p>
        </p:txBody>
      </p:sp>
      <p:sp>
        <p:nvSpPr>
          <p:cNvPr id="5" name="Text 2"/>
          <p:cNvSpPr/>
          <p:nvPr/>
        </p:nvSpPr>
        <p:spPr>
          <a:xfrm>
            <a:off x="640080" y="1737360"/>
            <a:ext cx="7315200" cy="457200"/>
          </a:xfrm>
          <a:prstGeom prst="rect">
            <a:avLst/>
          </a:prstGeom>
          <a:noFill/>
          <a:ln/>
        </p:spPr>
        <p:txBody>
          <a:bodyPr wrap="square" lIns="0" tIns="0" rIns="0" bIns="0" rtlCol="0" anchor="ctr"/>
          <a:lstStyle/>
          <a:p>
            <a:pPr marL="0" indent="0">
              <a:buNone/>
            </a:pPr>
            <a:r>
              <a:rPr lang="en-US" sz="2800" b="1" kern="0" spc="300" dirty="0">
                <a:solidFill>
                  <a:schemeClr val="bg1">
                    <a:lumMod val="95000"/>
                  </a:schemeClr>
                </a:solidFill>
                <a:latin typeface="Calibri" pitchFamily="34" charset="0"/>
                <a:ea typeface="Calibri" pitchFamily="34" charset="-122"/>
                <a:cs typeface="Calibri" pitchFamily="34" charset="-120"/>
              </a:rPr>
              <a:t>CONCLUSION</a:t>
            </a:r>
            <a:endParaRPr lang="en-US" sz="2800" dirty="0">
              <a:solidFill>
                <a:schemeClr val="bg1">
                  <a:lumMod val="95000"/>
                </a:schemeClr>
              </a:solidFill>
            </a:endParaRPr>
          </a:p>
        </p:txBody>
      </p:sp>
      <p:sp>
        <p:nvSpPr>
          <p:cNvPr id="6" name="Text 3"/>
          <p:cNvSpPr/>
          <p:nvPr/>
        </p:nvSpPr>
        <p:spPr>
          <a:xfrm>
            <a:off x="640080" y="2148840"/>
            <a:ext cx="9601200"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Bringing It All Together</a:t>
            </a:r>
            <a:endParaRPr lang="en-US" sz="3200" dirty="0"/>
          </a:p>
        </p:txBody>
      </p:sp>
      <p:sp>
        <p:nvSpPr>
          <p:cNvPr id="7" name="Shape 4"/>
          <p:cNvSpPr/>
          <p:nvPr/>
        </p:nvSpPr>
        <p:spPr>
          <a:xfrm>
            <a:off x="640080" y="3154680"/>
            <a:ext cx="365760" cy="365760"/>
          </a:xfrm>
          <a:prstGeom prst="ellipse">
            <a:avLst/>
          </a:prstGeom>
          <a:solidFill>
            <a:srgbClr val="2A4D2C"/>
          </a:solidFill>
          <a:ln/>
        </p:spPr>
        <p:txBody>
          <a:bodyPr/>
          <a:lstStyle/>
          <a:p>
            <a:endParaRPr lang="en-US"/>
          </a:p>
        </p:txBody>
      </p:sp>
      <p:pic>
        <p:nvPicPr>
          <p:cNvPr id="8" name="Image 1" descr="preencoded.png"/>
          <p:cNvPicPr>
            <a:picLocks noChangeAspect="1"/>
          </p:cNvPicPr>
          <p:nvPr/>
        </p:nvPicPr>
        <p:blipFill>
          <a:blip r:embed="rId3"/>
          <a:stretch>
            <a:fillRect/>
          </a:stretch>
        </p:blipFill>
        <p:spPr>
          <a:xfrm>
            <a:off x="687629" y="3202229"/>
            <a:ext cx="270662" cy="270662"/>
          </a:xfrm>
          <a:prstGeom prst="rect">
            <a:avLst/>
          </a:prstGeom>
        </p:spPr>
      </p:pic>
      <p:sp>
        <p:nvSpPr>
          <p:cNvPr id="9" name="Text 5"/>
          <p:cNvSpPr/>
          <p:nvPr/>
        </p:nvSpPr>
        <p:spPr>
          <a:xfrm>
            <a:off x="1188720" y="3063240"/>
            <a:ext cx="9966960" cy="594360"/>
          </a:xfrm>
          <a:prstGeom prst="rect">
            <a:avLst/>
          </a:prstGeom>
          <a:noFill/>
          <a:ln/>
        </p:spPr>
        <p:txBody>
          <a:bodyPr wrap="square" lIns="0" tIns="0" rIns="0" bIns="0" rtlCol="0" anchor="ctr"/>
          <a:lstStyle/>
          <a:p>
            <a:endParaRPr lang="en-US" sz="1600" b="1" dirty="0">
              <a:solidFill>
                <a:schemeClr val="bg1"/>
              </a:solidFill>
            </a:endParaRPr>
          </a:p>
          <a:p>
            <a:endParaRPr lang="en-US" sz="1600" b="1" dirty="0">
              <a:solidFill>
                <a:schemeClr val="bg1"/>
              </a:solidFill>
            </a:endParaRPr>
          </a:p>
          <a:p>
            <a:endParaRPr lang="en-US" sz="1600" b="1" dirty="0">
              <a:solidFill>
                <a:schemeClr val="bg1"/>
              </a:solidFill>
            </a:endParaRPr>
          </a:p>
          <a:p>
            <a:endParaRPr lang="en-US" sz="1600" b="1" dirty="0">
              <a:solidFill>
                <a:schemeClr val="bg1"/>
              </a:solidFill>
            </a:endParaRPr>
          </a:p>
          <a:p>
            <a:endParaRPr lang="en-US" sz="1600" b="1" dirty="0">
              <a:solidFill>
                <a:schemeClr val="bg1"/>
              </a:solidFill>
            </a:endParaRPr>
          </a:p>
          <a:p>
            <a:endParaRPr lang="en-US" sz="2000" b="1" dirty="0">
              <a:solidFill>
                <a:schemeClr val="bg1"/>
              </a:solidFill>
            </a:endParaRPr>
          </a:p>
          <a:p>
            <a:endParaRPr lang="en-US" sz="2000" b="1" dirty="0">
              <a:solidFill>
                <a:schemeClr val="bg1"/>
              </a:solidFill>
            </a:endParaRPr>
          </a:p>
          <a:p>
            <a:r>
              <a:rPr lang="en-US" sz="2000" b="1" dirty="0">
                <a:solidFill>
                  <a:schemeClr val="bg1"/>
                </a:solidFill>
              </a:rPr>
              <a:t>Conclusion</a:t>
            </a:r>
            <a:endParaRPr lang="en-US" sz="2000" dirty="0">
              <a:solidFill>
                <a:schemeClr val="bg1"/>
              </a:solidFill>
            </a:endParaRPr>
          </a:p>
          <a:p>
            <a:r>
              <a:rPr lang="en-US" sz="2000" dirty="0">
                <a:solidFill>
                  <a:schemeClr val="bg1"/>
                </a:solidFill>
              </a:rPr>
              <a:t>Natural Language Processing (NLP) and Information Extraction (IE) enable computers to understand human language and convert unstructured text into meaningful information. Together, they improve communication, automate data analysis, and power intelligent applications across healthcare, finance, education, and many other industries, making them essential technologies in the future of Artificial Intelligence.</a:t>
            </a:r>
          </a:p>
          <a:p>
            <a:pPr marL="0" indent="0">
              <a:lnSpc>
                <a:spcPct val="115000"/>
              </a:lnSpc>
              <a:buNone/>
            </a:pPr>
            <a:endParaRPr lang="en-US" sz="1450" dirty="0"/>
          </a:p>
        </p:txBody>
      </p:sp>
      <p:sp>
        <p:nvSpPr>
          <p:cNvPr id="10" name="Shape 6"/>
          <p:cNvSpPr/>
          <p:nvPr/>
        </p:nvSpPr>
        <p:spPr>
          <a:xfrm>
            <a:off x="640080" y="3813048"/>
            <a:ext cx="365760" cy="365760"/>
          </a:xfrm>
          <a:prstGeom prst="ellipse">
            <a:avLst/>
          </a:prstGeom>
          <a:solidFill>
            <a:srgbClr val="2A4D2C"/>
          </a:solidFill>
          <a:ln/>
        </p:spPr>
        <p:txBody>
          <a:bodyPr/>
          <a:lstStyle/>
          <a:p>
            <a:endParaRPr lang="en-US"/>
          </a:p>
        </p:txBody>
      </p:sp>
      <p:sp>
        <p:nvSpPr>
          <p:cNvPr id="12" name="Text 7"/>
          <p:cNvSpPr/>
          <p:nvPr/>
        </p:nvSpPr>
        <p:spPr>
          <a:xfrm>
            <a:off x="1188720" y="3721608"/>
            <a:ext cx="9966960" cy="594360"/>
          </a:xfrm>
          <a:prstGeom prst="rect">
            <a:avLst/>
          </a:prstGeom>
          <a:noFill/>
          <a:ln/>
        </p:spPr>
        <p:txBody>
          <a:bodyPr wrap="square" lIns="0" tIns="0" rIns="0" bIns="0" rtlCol="0" anchor="ctr"/>
          <a:lstStyle/>
          <a:p>
            <a:pPr marL="0" indent="0">
              <a:lnSpc>
                <a:spcPct val="115000"/>
              </a:lnSpc>
              <a:buNone/>
            </a:pPr>
            <a:endParaRPr lang="en-US" sz="1450" dirty="0"/>
          </a:p>
        </p:txBody>
      </p:sp>
      <p:sp>
        <p:nvSpPr>
          <p:cNvPr id="13" name="Shape 8"/>
          <p:cNvSpPr/>
          <p:nvPr/>
        </p:nvSpPr>
        <p:spPr>
          <a:xfrm>
            <a:off x="640080" y="4471416"/>
            <a:ext cx="365760" cy="365760"/>
          </a:xfrm>
          <a:prstGeom prst="ellipse">
            <a:avLst/>
          </a:prstGeom>
          <a:solidFill>
            <a:srgbClr val="2A4D2C"/>
          </a:solidFill>
          <a:ln/>
        </p:spPr>
        <p:txBody>
          <a:bodyPr/>
          <a:lstStyle/>
          <a:p>
            <a:endParaRPr lang="en-US"/>
          </a:p>
        </p:txBody>
      </p:sp>
      <p:sp>
        <p:nvSpPr>
          <p:cNvPr id="15" name="Text 9"/>
          <p:cNvSpPr/>
          <p:nvPr/>
        </p:nvSpPr>
        <p:spPr>
          <a:xfrm>
            <a:off x="1188720" y="4379976"/>
            <a:ext cx="9966960" cy="594360"/>
          </a:xfrm>
          <a:prstGeom prst="rect">
            <a:avLst/>
          </a:prstGeom>
          <a:noFill/>
          <a:ln/>
        </p:spPr>
        <p:txBody>
          <a:bodyPr wrap="square" lIns="0" tIns="0" rIns="0" bIns="0" rtlCol="0" anchor="ctr"/>
          <a:lstStyle/>
          <a:p>
            <a:pPr marL="0" indent="0">
              <a:lnSpc>
                <a:spcPct val="115000"/>
              </a:lnSpc>
              <a:buNone/>
            </a:pPr>
            <a:endParaRPr lang="en-US" sz="1450" dirty="0"/>
          </a:p>
        </p:txBody>
      </p:sp>
      <p:sp>
        <p:nvSpPr>
          <p:cNvPr id="16" name="Shape 10"/>
          <p:cNvSpPr/>
          <p:nvPr/>
        </p:nvSpPr>
        <p:spPr>
          <a:xfrm>
            <a:off x="640080" y="5129784"/>
            <a:ext cx="365760" cy="365760"/>
          </a:xfrm>
          <a:prstGeom prst="ellipse">
            <a:avLst/>
          </a:prstGeom>
          <a:solidFill>
            <a:srgbClr val="2A4D2C"/>
          </a:solidFill>
          <a:ln/>
        </p:spPr>
        <p:txBody>
          <a:bodyPr/>
          <a:lstStyle/>
          <a:p>
            <a:endParaRPr lang="en-US"/>
          </a:p>
        </p:txBody>
      </p:sp>
      <p:sp>
        <p:nvSpPr>
          <p:cNvPr id="18" name="Text 11"/>
          <p:cNvSpPr/>
          <p:nvPr/>
        </p:nvSpPr>
        <p:spPr>
          <a:xfrm>
            <a:off x="8520810" y="5038344"/>
            <a:ext cx="2634870" cy="594360"/>
          </a:xfrm>
          <a:prstGeom prst="rect">
            <a:avLst/>
          </a:prstGeom>
          <a:noFill/>
          <a:ln/>
        </p:spPr>
        <p:txBody>
          <a:bodyPr wrap="square" lIns="0" tIns="0" rIns="0" bIns="0" rtlCol="0" anchor="ctr"/>
          <a:lstStyle/>
          <a:p>
            <a:pPr marL="0" indent="0">
              <a:lnSpc>
                <a:spcPct val="115000"/>
              </a:lnSpc>
              <a:buNone/>
            </a:pPr>
            <a:endParaRPr lang="en-US" sz="1450" dirty="0"/>
          </a:p>
        </p:txBody>
      </p:sp>
      <p:sp>
        <p:nvSpPr>
          <p:cNvPr id="19" name="Text 12"/>
          <p:cNvSpPr/>
          <p:nvPr/>
        </p:nvSpPr>
        <p:spPr>
          <a:xfrm>
            <a:off x="640080" y="6126480"/>
            <a:ext cx="5486400" cy="457200"/>
          </a:xfrm>
          <a:prstGeom prst="rect">
            <a:avLst/>
          </a:prstGeom>
          <a:noFill/>
          <a:ln/>
        </p:spPr>
        <p:txBody>
          <a:bodyPr wrap="square" lIns="0" tIns="0" rIns="0" bIns="0" rtlCol="0" anchor="ctr"/>
          <a:lstStyle/>
          <a:p>
            <a:pPr marL="0" indent="0">
              <a:buNone/>
            </a:pPr>
            <a:endParaRPr lang="en-US" sz="1800" dirty="0"/>
          </a:p>
        </p:txBody>
      </p:sp>
      <p:sp>
        <p:nvSpPr>
          <p:cNvPr id="20" name="Text 13"/>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E6E58"/>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97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E8C765-4280-121C-F42B-D958D0CFB0DC}"/>
              </a:ext>
            </a:extLst>
          </p:cNvPr>
          <p:cNvSpPr txBox="1"/>
          <p:nvPr/>
        </p:nvSpPr>
        <p:spPr>
          <a:xfrm>
            <a:off x="4150297" y="2784089"/>
            <a:ext cx="4278086" cy="923330"/>
          </a:xfrm>
          <a:prstGeom prst="rect">
            <a:avLst/>
          </a:prstGeom>
          <a:noFill/>
        </p:spPr>
        <p:txBody>
          <a:bodyPr wrap="square">
            <a:spAutoFit/>
          </a:bodyPr>
          <a:lstStyle/>
          <a:p>
            <a:pPr marL="0" indent="0">
              <a:buNone/>
            </a:pPr>
            <a:r>
              <a:rPr lang="en-US" sz="5400" b="1" dirty="0">
                <a:solidFill>
                  <a:schemeClr val="accent6">
                    <a:lumMod val="50000"/>
                  </a:schemeClr>
                </a:solidFill>
                <a:latin typeface="Cambria" pitchFamily="34" charset="0"/>
                <a:ea typeface="Cambria" pitchFamily="34" charset="-122"/>
                <a:cs typeface="Cambria" pitchFamily="34" charset="-120"/>
              </a:rPr>
              <a:t>Thank</a:t>
            </a:r>
            <a:r>
              <a:rPr lang="en-US" sz="5400" b="1" dirty="0">
                <a:solidFill>
                  <a:srgbClr val="97BC62"/>
                </a:solidFill>
                <a:latin typeface="Cambria" pitchFamily="34" charset="0"/>
                <a:ea typeface="Cambria" pitchFamily="34" charset="-122"/>
                <a:cs typeface="Cambria" pitchFamily="34" charset="-120"/>
              </a:rPr>
              <a:t> </a:t>
            </a:r>
            <a:r>
              <a:rPr lang="en-US" sz="5400" b="1" dirty="0">
                <a:solidFill>
                  <a:schemeClr val="accent6">
                    <a:lumMod val="50000"/>
                  </a:schemeClr>
                </a:solidFill>
                <a:latin typeface="Cambria" pitchFamily="34" charset="0"/>
                <a:ea typeface="Cambria" pitchFamily="34" charset="-122"/>
                <a:cs typeface="Cambria" pitchFamily="34" charset="-120"/>
              </a:rPr>
              <a:t>you</a:t>
            </a:r>
            <a:endParaRPr lang="en-US" sz="5400" dirty="0">
              <a:solidFill>
                <a:schemeClr val="accent6">
                  <a:lumMod val="50000"/>
                </a:schemeClr>
              </a:solidFill>
            </a:endParaRPr>
          </a:p>
        </p:txBody>
      </p:sp>
    </p:spTree>
    <p:extLst>
      <p:ext uri="{BB962C8B-B14F-4D97-AF65-F5344CB8AC3E}">
        <p14:creationId xmlns:p14="http://schemas.microsoft.com/office/powerpoint/2010/main" val="311711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752</TotalTime>
  <Words>1593</Words>
  <Application>Microsoft Office PowerPoint</Application>
  <PresentationFormat>Widescreen</PresentationFormat>
  <Paragraphs>223</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Processing &amp; Information Extraction</dc:title>
  <dc:subject>PptxGenJS Presentation</dc:subject>
  <dc:creator>Ankita And Ak</dc:creator>
  <cp:lastModifiedBy>ankita baral</cp:lastModifiedBy>
  <cp:revision>3</cp:revision>
  <dcterms:created xsi:type="dcterms:W3CDTF">2026-07-11T15:41:12Z</dcterms:created>
  <dcterms:modified xsi:type="dcterms:W3CDTF">2026-07-12T05:15:14Z</dcterms:modified>
</cp:coreProperties>
</file>