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bookmarkIdSeed="2">
  <p:sldMasterIdLst>
    <p:sldMasterId id="2147483648" r:id="rId4"/>
  </p:sldMasterIdLst>
  <p:notesMasterIdLst>
    <p:notesMasterId r:id="rId60"/>
  </p:notesMasterIdLst>
  <p:sldIdLst>
    <p:sldId id="266" r:id="rId5"/>
    <p:sldId id="267" r:id="rId6"/>
    <p:sldId id="268" r:id="rId7"/>
    <p:sldId id="272" r:id="rId8"/>
    <p:sldId id="273" r:id="rId9"/>
    <p:sldId id="275" r:id="rId10"/>
    <p:sldId id="274" r:id="rId11"/>
    <p:sldId id="276" r:id="rId12"/>
    <p:sldId id="277" r:id="rId13"/>
    <p:sldId id="278" r:id="rId14"/>
    <p:sldId id="279" r:id="rId15"/>
    <p:sldId id="281" r:id="rId16"/>
    <p:sldId id="280" r:id="rId17"/>
    <p:sldId id="282" r:id="rId18"/>
    <p:sldId id="283" r:id="rId19"/>
    <p:sldId id="284" r:id="rId20"/>
    <p:sldId id="285" r:id="rId21"/>
    <p:sldId id="286" r:id="rId22"/>
    <p:sldId id="287" r:id="rId23"/>
    <p:sldId id="288" r:id="rId24"/>
    <p:sldId id="289" r:id="rId25"/>
    <p:sldId id="290" r:id="rId26"/>
    <p:sldId id="291" r:id="rId27"/>
    <p:sldId id="296" r:id="rId28"/>
    <p:sldId id="292" r:id="rId29"/>
    <p:sldId id="319" r:id="rId30"/>
    <p:sldId id="271" r:id="rId31"/>
    <p:sldId id="269" r:id="rId32"/>
    <p:sldId id="270" r:id="rId33"/>
    <p:sldId id="293" r:id="rId34"/>
    <p:sldId id="294" r:id="rId35"/>
    <p:sldId id="295" r:id="rId36"/>
    <p:sldId id="318" r:id="rId37"/>
    <p:sldId id="301" r:id="rId38"/>
    <p:sldId id="297" r:id="rId39"/>
    <p:sldId id="298" r:id="rId40"/>
    <p:sldId id="299" r:id="rId41"/>
    <p:sldId id="300" r:id="rId42"/>
    <p:sldId id="302" r:id="rId43"/>
    <p:sldId id="304" r:id="rId44"/>
    <p:sldId id="305" r:id="rId45"/>
    <p:sldId id="306" r:id="rId46"/>
    <p:sldId id="307" r:id="rId47"/>
    <p:sldId id="311" r:id="rId48"/>
    <p:sldId id="309" r:id="rId49"/>
    <p:sldId id="310" r:id="rId50"/>
    <p:sldId id="312" r:id="rId51"/>
    <p:sldId id="313" r:id="rId52"/>
    <p:sldId id="314" r:id="rId53"/>
    <p:sldId id="315" r:id="rId54"/>
    <p:sldId id="316" r:id="rId55"/>
    <p:sldId id="323" r:id="rId56"/>
    <p:sldId id="320" r:id="rId57"/>
    <p:sldId id="321" r:id="rId58"/>
    <p:sldId id="322"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59" autoAdjust="0"/>
    <p:restoredTop sz="94660"/>
  </p:normalViewPr>
  <p:slideViewPr>
    <p:cSldViewPr snapToGrid="0">
      <p:cViewPr varScale="1">
        <p:scale>
          <a:sx n="73" d="100"/>
          <a:sy n="73" d="100"/>
        </p:scale>
        <p:origin x="636"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6/2/2026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6/2/2026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6/2/2026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6/2/2026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6/2/2026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6/2/2026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0"/>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09"/>
            <a:ext cx="5268177" cy="1086237"/>
          </a:xfrm>
        </p:spPr>
        <p:txBody>
          <a:bodyPr>
            <a:normAutofit/>
          </a:bodyPr>
          <a:lstStyle/>
          <a:p>
            <a:pPr algn="l"/>
            <a:r>
              <a:rPr lang="en-US" sz="3600" dirty="0" smtClean="0">
                <a:solidFill>
                  <a:srgbClr val="FFFFFF"/>
                </a:solidFill>
              </a:rPr>
              <a:t>random numbers concept</a:t>
            </a:r>
            <a:endParaRPr lang="en-US" sz="3600" dirty="0">
              <a:solidFill>
                <a:srgbClr val="FFFFFF"/>
              </a:solidFill>
            </a:endParaRP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298010" y="5419246"/>
            <a:ext cx="5268177" cy="531866"/>
          </a:xfrm>
        </p:spPr>
        <p:txBody>
          <a:bodyPr>
            <a:normAutofit/>
          </a:bodyPr>
          <a:lstStyle/>
          <a:p>
            <a:pPr algn="l">
              <a:spcAft>
                <a:spcPts val="600"/>
              </a:spcAft>
            </a:pPr>
            <a:r>
              <a:rPr lang="en-US" sz="1800" dirty="0" smtClean="0">
                <a:solidFill>
                  <a:srgbClr val="FFFFFF"/>
                </a:solidFill>
              </a:rPr>
              <a:t>DURGARAJ KATWAL </a:t>
            </a:r>
            <a:endParaRPr lang="en-US" sz="1800" dirty="0">
              <a:solidFill>
                <a:srgbClr val="FFFFFF"/>
              </a:solidFill>
            </a:endParaRPr>
          </a:p>
        </p:txBody>
      </p:sp>
    </p:spTree>
    <p:extLst>
      <p:ext uri="{BB962C8B-B14F-4D97-AF65-F5344CB8AC3E}">
        <p14:creationId xmlns:p14="http://schemas.microsoft.com/office/powerpoint/2010/main" val="745576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Probability concept in simulation –stochastic variables :</a:t>
            </a:r>
            <a:endParaRPr lang="en-US" b="1" dirty="0">
              <a:solidFill>
                <a:srgbClr val="FF0000"/>
              </a:solidFill>
            </a:endParaRPr>
          </a:p>
        </p:txBody>
      </p:sp>
      <p:sp>
        <p:nvSpPr>
          <p:cNvPr id="3" name="Content Placeholder 2"/>
          <p:cNvSpPr>
            <a:spLocks noGrp="1"/>
          </p:cNvSpPr>
          <p:nvPr>
            <p:ph idx="1"/>
          </p:nvPr>
        </p:nvSpPr>
        <p:spPr/>
        <p:txBody>
          <a:bodyPr/>
          <a:lstStyle/>
          <a:p>
            <a:r>
              <a:rPr lang="en-US" b="1" dirty="0">
                <a:solidFill>
                  <a:srgbClr val="002060"/>
                </a:solidFill>
              </a:rPr>
              <a:t>stochastic variables</a:t>
            </a:r>
            <a:endParaRPr lang="en-US" dirty="0" smtClean="0">
              <a:solidFill>
                <a:srgbClr val="002060"/>
              </a:solidFill>
            </a:endParaRPr>
          </a:p>
          <a:p>
            <a:r>
              <a:rPr lang="en-US" dirty="0" smtClean="0"/>
              <a:t>Ordered </a:t>
            </a:r>
            <a:r>
              <a:rPr lang="en-US" dirty="0"/>
              <a:t>set of random values </a:t>
            </a:r>
            <a:endParaRPr lang="en-US" dirty="0" smtClean="0"/>
          </a:p>
          <a:p>
            <a:r>
              <a:rPr lang="en-US" dirty="0" smtClean="0"/>
              <a:t>Stochastic </a:t>
            </a:r>
            <a:r>
              <a:rPr lang="en-US" dirty="0"/>
              <a:t>process give rise to stochastic variable </a:t>
            </a:r>
            <a:endParaRPr lang="en-US" dirty="0" smtClean="0"/>
          </a:p>
          <a:p>
            <a:r>
              <a:rPr lang="en-US" dirty="0" smtClean="0"/>
              <a:t>Stochastic </a:t>
            </a:r>
            <a:r>
              <a:rPr lang="en-US" dirty="0"/>
              <a:t>process can be discrete or continuous</a:t>
            </a:r>
          </a:p>
        </p:txBody>
      </p:sp>
    </p:spTree>
    <p:extLst>
      <p:ext uri="{BB962C8B-B14F-4D97-AF65-F5344CB8AC3E}">
        <p14:creationId xmlns:p14="http://schemas.microsoft.com/office/powerpoint/2010/main" val="64446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Probability Functions</a:t>
            </a:r>
          </a:p>
        </p:txBody>
      </p:sp>
      <p:sp>
        <p:nvSpPr>
          <p:cNvPr id="3" name="Content Placeholder 2"/>
          <p:cNvSpPr>
            <a:spLocks noGrp="1"/>
          </p:cNvSpPr>
          <p:nvPr>
            <p:ph idx="1"/>
          </p:nvPr>
        </p:nvSpPr>
        <p:spPr>
          <a:xfrm>
            <a:off x="1371600" y="1619794"/>
            <a:ext cx="9601200" cy="4247606"/>
          </a:xfrm>
        </p:spPr>
        <p:txBody>
          <a:bodyPr/>
          <a:lstStyle/>
          <a:p>
            <a:r>
              <a:rPr lang="en-US" dirty="0" smtClean="0">
                <a:solidFill>
                  <a:srgbClr val="002060"/>
                </a:solidFill>
              </a:rPr>
              <a:t>Or Probability </a:t>
            </a:r>
            <a:r>
              <a:rPr lang="en-US" dirty="0">
                <a:solidFill>
                  <a:srgbClr val="002060"/>
                </a:solidFill>
              </a:rPr>
              <a:t>Mass Function (PMF) </a:t>
            </a:r>
            <a:endParaRPr lang="en-US" dirty="0" smtClean="0"/>
          </a:p>
          <a:p>
            <a:r>
              <a:rPr lang="en-US" dirty="0" smtClean="0"/>
              <a:t>Distribution </a:t>
            </a:r>
            <a:r>
              <a:rPr lang="en-US" dirty="0"/>
              <a:t>of probabilities -If a variable can take n different values </a:t>
            </a:r>
            <a:r>
              <a:rPr lang="en-US" dirty="0" err="1"/>
              <a:t>xn</a:t>
            </a:r>
            <a:r>
              <a:rPr lang="en-US" dirty="0"/>
              <a:t> (n = 1, 2, 3, … N), and probability of </a:t>
            </a:r>
            <a:r>
              <a:rPr lang="en-US" dirty="0" err="1"/>
              <a:t>xn</a:t>
            </a:r>
            <a:r>
              <a:rPr lang="en-US" dirty="0"/>
              <a:t> being take is p(</a:t>
            </a:r>
            <a:r>
              <a:rPr lang="en-US" dirty="0" err="1"/>
              <a:t>xn</a:t>
            </a:r>
            <a:r>
              <a:rPr lang="en-US" dirty="0"/>
              <a:t>), then the set of numbers comprise of p(</a:t>
            </a:r>
            <a:r>
              <a:rPr lang="en-US" dirty="0" err="1"/>
              <a:t>xn</a:t>
            </a:r>
            <a:r>
              <a:rPr lang="en-US" dirty="0"/>
              <a:t>) is probability mass </a:t>
            </a:r>
            <a:r>
              <a:rPr lang="en-US" dirty="0" smtClean="0"/>
              <a:t>function</a:t>
            </a:r>
          </a:p>
          <a:p>
            <a:endParaRPr lang="en-US" dirty="0" smtClean="0"/>
          </a:p>
          <a:p>
            <a:endParaRPr lang="en-US" dirty="0"/>
          </a:p>
          <a:p>
            <a:r>
              <a:rPr lang="en-US" dirty="0" smtClean="0"/>
              <a:t>In </a:t>
            </a:r>
            <a:r>
              <a:rPr lang="en-US" dirty="0"/>
              <a:t>certain cases like dice roll, the PMF values may be known (e.g. 1/6). But most of the time, PMF is counted from input sample</a:t>
            </a:r>
          </a:p>
        </p:txBody>
      </p:sp>
      <p:pic>
        <p:nvPicPr>
          <p:cNvPr id="4" name="Picture 3"/>
          <p:cNvPicPr>
            <a:picLocks noChangeAspect="1"/>
          </p:cNvPicPr>
          <p:nvPr/>
        </p:nvPicPr>
        <p:blipFill>
          <a:blip r:embed="rId2"/>
          <a:stretch>
            <a:fillRect/>
          </a:stretch>
        </p:blipFill>
        <p:spPr>
          <a:xfrm>
            <a:off x="5479459" y="2751908"/>
            <a:ext cx="1990725" cy="1066800"/>
          </a:xfrm>
          <a:prstGeom prst="rect">
            <a:avLst/>
          </a:prstGeom>
        </p:spPr>
      </p:pic>
    </p:spTree>
    <p:extLst>
      <p:ext uri="{BB962C8B-B14F-4D97-AF65-F5344CB8AC3E}">
        <p14:creationId xmlns:p14="http://schemas.microsoft.com/office/powerpoint/2010/main" val="1939595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Random variables </a:t>
            </a:r>
            <a:endParaRPr lang="en-US" dirty="0">
              <a:solidFill>
                <a:srgbClr val="FF0000"/>
              </a:solidFill>
            </a:endParaRPr>
          </a:p>
        </p:txBody>
      </p:sp>
      <p:sp>
        <p:nvSpPr>
          <p:cNvPr id="3" name="Content Placeholder 2"/>
          <p:cNvSpPr>
            <a:spLocks noGrp="1"/>
          </p:cNvSpPr>
          <p:nvPr>
            <p:ph idx="1"/>
          </p:nvPr>
        </p:nvSpPr>
        <p:spPr/>
        <p:txBody>
          <a:bodyPr/>
          <a:lstStyle/>
          <a:p>
            <a:r>
              <a:rPr lang="en-US" dirty="0"/>
              <a:t>The result from the experiment becomes a variable; that is, a quantity taking different values on different occasions. Because the experiment involves selection at random, we call it a random variable</a:t>
            </a:r>
            <a:r>
              <a:rPr lang="en-US" dirty="0" smtClean="0"/>
              <a:t>.</a:t>
            </a:r>
          </a:p>
          <a:p>
            <a:r>
              <a:rPr lang="en-US" dirty="0" smtClean="0"/>
              <a:t>Example : Select </a:t>
            </a:r>
            <a:r>
              <a:rPr lang="en-US" dirty="0"/>
              <a:t>items at random from a batch of size N until the first defective item is found. Record the number of non-defective items. Sample Space: S = {0, 1, 2, . . . , N} </a:t>
            </a:r>
          </a:p>
        </p:txBody>
      </p:sp>
    </p:spTree>
    <p:extLst>
      <p:ext uri="{BB962C8B-B14F-4D97-AF65-F5344CB8AC3E}">
        <p14:creationId xmlns:p14="http://schemas.microsoft.com/office/powerpoint/2010/main" val="1727471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Types of random variables </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US" b="1" dirty="0" smtClean="0">
                <a:solidFill>
                  <a:srgbClr val="002060"/>
                </a:solidFill>
              </a:rPr>
              <a:t>1. Discrete random variables :</a:t>
            </a:r>
          </a:p>
          <a:p>
            <a:pPr marL="0" indent="0">
              <a:buNone/>
            </a:pPr>
            <a:r>
              <a:rPr lang="en-US" dirty="0">
                <a:solidFill>
                  <a:srgbClr val="111111"/>
                </a:solidFill>
                <a:latin typeface="SourceSansPro"/>
              </a:rPr>
              <a:t>Discrete random variables take on a countable number of distinct values. Consider an experiment where a coin is tossed three times. If X represents the number of times that the coin comes up heads, then X is a discrete random variable that can only have the values 0, 1, 2, or 3 (from no heads in three successive coin tosses to all heads). No other value is possible for </a:t>
            </a:r>
            <a:r>
              <a:rPr lang="en-US" dirty="0" smtClean="0">
                <a:solidFill>
                  <a:srgbClr val="111111"/>
                </a:solidFill>
                <a:latin typeface="SourceSansPro"/>
              </a:rPr>
              <a:t>X</a:t>
            </a:r>
          </a:p>
          <a:p>
            <a:pPr marL="0" indent="0">
              <a:buNone/>
            </a:pPr>
            <a:r>
              <a:rPr lang="en-US" dirty="0"/>
              <a:t> For example, discrete random variables include the </a:t>
            </a:r>
            <a:r>
              <a:rPr lang="en-US" dirty="0" smtClean="0"/>
              <a:t>following</a:t>
            </a:r>
          </a:p>
          <a:p>
            <a:r>
              <a:rPr lang="en-US" dirty="0"/>
              <a:t>The number of heads that come up during a series of coin tosses.</a:t>
            </a:r>
          </a:p>
          <a:p>
            <a:r>
              <a:rPr lang="en-US" dirty="0"/>
              <a:t>The number of library books checked out per hour.</a:t>
            </a:r>
          </a:p>
          <a:p>
            <a:pPr marL="0" indent="0">
              <a:buNone/>
            </a:pPr>
            <a:endParaRPr lang="en-US" b="1" dirty="0">
              <a:solidFill>
                <a:srgbClr val="002060"/>
              </a:solidFill>
            </a:endParaRPr>
          </a:p>
        </p:txBody>
      </p:sp>
    </p:spTree>
    <p:extLst>
      <p:ext uri="{BB962C8B-B14F-4D97-AF65-F5344CB8AC3E}">
        <p14:creationId xmlns:p14="http://schemas.microsoft.com/office/powerpoint/2010/main" val="17630966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45475" y="365759"/>
            <a:ext cx="6466114" cy="4506277"/>
          </a:xfrm>
          <a:prstGeom prst="rect">
            <a:avLst/>
          </a:prstGeom>
        </p:spPr>
      </p:pic>
      <p:pic>
        <p:nvPicPr>
          <p:cNvPr id="5" name="Picture 4"/>
          <p:cNvPicPr>
            <a:picLocks noChangeAspect="1"/>
          </p:cNvPicPr>
          <p:nvPr/>
        </p:nvPicPr>
        <p:blipFill>
          <a:blip r:embed="rId3"/>
          <a:stretch>
            <a:fillRect/>
          </a:stretch>
        </p:blipFill>
        <p:spPr>
          <a:xfrm>
            <a:off x="7811589" y="600891"/>
            <a:ext cx="4279856" cy="3801292"/>
          </a:xfrm>
          <a:prstGeom prst="rect">
            <a:avLst/>
          </a:prstGeom>
        </p:spPr>
      </p:pic>
    </p:spTree>
    <p:extLst>
      <p:ext uri="{BB962C8B-B14F-4D97-AF65-F5344CB8AC3E}">
        <p14:creationId xmlns:p14="http://schemas.microsoft.com/office/powerpoint/2010/main" val="38554034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C00000"/>
                </a:solidFill>
              </a:rPr>
              <a:t> 2. Continuous </a:t>
            </a:r>
            <a:r>
              <a:rPr lang="en-US" b="1" dirty="0">
                <a:solidFill>
                  <a:srgbClr val="C00000"/>
                </a:solidFill>
              </a:rPr>
              <a:t>Random Variables</a:t>
            </a:r>
            <a:br>
              <a:rPr lang="en-US" b="1" dirty="0">
                <a:solidFill>
                  <a:srgbClr val="C00000"/>
                </a:solidFill>
              </a:rPr>
            </a:br>
            <a:r>
              <a:rPr lang="en-US" b="1" dirty="0">
                <a:solidFill>
                  <a:srgbClr val="C00000"/>
                </a:solidFill>
              </a:rPr>
              <a:t/>
            </a:r>
            <a:br>
              <a:rPr lang="en-US" b="1" dirty="0">
                <a:solidFill>
                  <a:srgbClr val="C00000"/>
                </a:solidFill>
              </a:rPr>
            </a:br>
            <a:endParaRPr lang="en-US" b="1" dirty="0">
              <a:solidFill>
                <a:srgbClr val="C00000"/>
              </a:solidFill>
            </a:endParaRPr>
          </a:p>
        </p:txBody>
      </p:sp>
      <p:sp>
        <p:nvSpPr>
          <p:cNvPr id="3" name="Content Placeholder 2"/>
          <p:cNvSpPr>
            <a:spLocks noGrp="1"/>
          </p:cNvSpPr>
          <p:nvPr>
            <p:ph idx="1"/>
          </p:nvPr>
        </p:nvSpPr>
        <p:spPr/>
        <p:txBody>
          <a:bodyPr/>
          <a:lstStyle/>
          <a:p>
            <a:r>
              <a:rPr lang="en-US" dirty="0"/>
              <a:t>Continuous random variables can represent any value within a specified range or interval and can take on an infinite number of possible values. An example of a continuous random variable would be an experiment that involves measuring the amount of rainfall in a city over a year or the average height of a random group of 25 people.</a:t>
            </a:r>
          </a:p>
        </p:txBody>
      </p:sp>
    </p:spTree>
    <p:extLst>
      <p:ext uri="{BB962C8B-B14F-4D97-AF65-F5344CB8AC3E}">
        <p14:creationId xmlns:p14="http://schemas.microsoft.com/office/powerpoint/2010/main" val="39833533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130630"/>
            <a:ext cx="10058400" cy="6635930"/>
          </a:xfrm>
        </p:spPr>
        <p:txBody>
          <a:bodyPr>
            <a:normAutofit/>
          </a:bodyPr>
          <a:lstStyle/>
          <a:p>
            <a:r>
              <a:rPr lang="en-US" dirty="0"/>
              <a:t>This data type often occurs when you measure a quantity on a scale. For example, continuous random variables include the following:</a:t>
            </a:r>
          </a:p>
          <a:p>
            <a:pPr>
              <a:buFont typeface="Arial" panose="020B0604020202020204" pitchFamily="34" charset="0"/>
              <a:buChar char="•"/>
            </a:pPr>
            <a:r>
              <a:rPr lang="en-US" dirty="0"/>
              <a:t>Height and weight.</a:t>
            </a:r>
          </a:p>
          <a:p>
            <a:pPr>
              <a:buFont typeface="Arial" panose="020B0604020202020204" pitchFamily="34" charset="0"/>
              <a:buChar char="•"/>
            </a:pPr>
            <a:r>
              <a:rPr lang="en-US" dirty="0"/>
              <a:t>Time and duration.</a:t>
            </a:r>
          </a:p>
          <a:p>
            <a:pPr>
              <a:buFont typeface="Arial" panose="020B0604020202020204" pitchFamily="34" charset="0"/>
              <a:buChar char="•"/>
            </a:pPr>
            <a:r>
              <a:rPr lang="en-US" dirty="0"/>
              <a:t>Temperatures.</a:t>
            </a:r>
          </a:p>
          <a:p>
            <a:pPr>
              <a:buFont typeface="Arial" panose="020B0604020202020204" pitchFamily="34" charset="0"/>
              <a:buChar char="•"/>
            </a:pPr>
            <a:endParaRPr lang="en-US" dirty="0"/>
          </a:p>
          <a:p>
            <a:r>
              <a:rPr lang="en-US" dirty="0"/>
              <a:t>Analysts denote a continuous random variable as X and its possible values as x, just like the discrete version. However, unlike discrete random variables, the chances of X taking on a specific value for continuous data is zero. In other words: P (X = x) = 0, where x is any specific value.</a:t>
            </a:r>
          </a:p>
          <a:p>
            <a:r>
              <a:rPr lang="en-US" dirty="0"/>
              <a:t>Instead, probabilities greater than zero only exist for ranges of values, such as P(a ≤ X ≤ b), where a and b are the lower and upper bounds of the range</a:t>
            </a:r>
          </a:p>
          <a:p>
            <a:r>
              <a:rPr lang="en-US" sz="1600" dirty="0"/>
              <a:t>A probability density function (PDF) describes the probability distribution of a continuous random variable. These functions use a curve displaying probability densities, which are ranges of one unit.</a:t>
            </a:r>
          </a:p>
          <a:p>
            <a:r>
              <a:rPr lang="en-US" sz="1600" dirty="0"/>
              <a:t>Continuous random variables must satisfy the following:</a:t>
            </a:r>
          </a:p>
          <a:p>
            <a:pPr marL="0" indent="0">
              <a:buNone/>
            </a:pPr>
            <a:r>
              <a:rPr lang="en-US" sz="1600" dirty="0"/>
              <a:t>Probabilities for all ranges of X are greater than or equal to zero: P(a ≤ X ≤ b) ≥ 0.</a:t>
            </a:r>
          </a:p>
          <a:p>
            <a:pPr marL="0" indent="0">
              <a:buNone/>
            </a:pPr>
            <a:r>
              <a:rPr lang="en-US" sz="1600" dirty="0"/>
              <a:t>The total area under the curve equals one: P(-∞ ≤ X ≤ + ∞) = 1</a:t>
            </a:r>
          </a:p>
          <a:p>
            <a:endParaRPr lang="en-US" sz="1600" b="1" dirty="0"/>
          </a:p>
        </p:txBody>
      </p:sp>
    </p:spTree>
    <p:extLst>
      <p:ext uri="{BB962C8B-B14F-4D97-AF65-F5344CB8AC3E}">
        <p14:creationId xmlns:p14="http://schemas.microsoft.com/office/powerpoint/2010/main" val="38925368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Properties of Random Numbers</a:t>
            </a:r>
            <a:r>
              <a:rPr lang="en-US" b="1" dirty="0"/>
              <a:t/>
            </a:r>
            <a:br>
              <a:rPr lang="en-US" b="1" dirty="0"/>
            </a:br>
            <a:endParaRPr lang="en-US" dirty="0"/>
          </a:p>
        </p:txBody>
      </p:sp>
      <p:sp>
        <p:nvSpPr>
          <p:cNvPr id="3" name="Content Placeholder 2"/>
          <p:cNvSpPr>
            <a:spLocks noGrp="1"/>
          </p:cNvSpPr>
          <p:nvPr>
            <p:ph idx="1"/>
          </p:nvPr>
        </p:nvSpPr>
        <p:spPr>
          <a:xfrm>
            <a:off x="1371600" y="2286000"/>
            <a:ext cx="10358846" cy="4781006"/>
          </a:xfrm>
        </p:spPr>
        <p:txBody>
          <a:bodyPr>
            <a:normAutofit/>
          </a:bodyPr>
          <a:lstStyle/>
          <a:p>
            <a:pPr marL="0" marR="0">
              <a:lnSpc>
                <a:spcPct val="107000"/>
              </a:lnSpc>
              <a:spcBef>
                <a:spcPts val="0"/>
              </a:spcBef>
              <a:spcAft>
                <a:spcPts val="800"/>
              </a:spcAft>
            </a:pPr>
            <a:r>
              <a:rPr lang="en-US" dirty="0"/>
              <a:t>A sequence of random numbers</a:t>
            </a:r>
            <a:r>
              <a:rPr lang="en-US" dirty="0" smtClean="0"/>
              <a:t>,</a:t>
            </a:r>
            <a:r>
              <a:rPr lang="en-US" dirty="0">
                <a:latin typeface="Calibri" panose="020F0502020204030204" pitchFamily="34" charset="0"/>
                <a:ea typeface="Calibri" panose="020F0502020204030204" pitchFamily="34" charset="0"/>
                <a:cs typeface="Times New Roman" panose="02020603050405020304" pitchFamily="18" charset="0"/>
              </a:rPr>
              <a:t> R</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,R</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t>
            </a:r>
            <a:r>
              <a:rPr lang="en-US" dirty="0" smtClean="0">
                <a:latin typeface="Calibri" panose="020F0502020204030204" pitchFamily="34" charset="0"/>
                <a:ea typeface="Calibri" panose="020F0502020204030204" pitchFamily="34" charset="0"/>
                <a:cs typeface="Times New Roman" panose="02020603050405020304" pitchFamily="18" charset="0"/>
              </a:rPr>
              <a:t>R</a:t>
            </a:r>
            <a:r>
              <a:rPr lang="en-US" baseline="-25000" dirty="0" smtClean="0">
                <a:latin typeface="Calibri" panose="020F0502020204030204" pitchFamily="34" charset="0"/>
                <a:ea typeface="Calibri" panose="020F0502020204030204" pitchFamily="34" charset="0"/>
                <a:cs typeface="Times New Roman" panose="02020603050405020304" pitchFamily="18" charset="0"/>
              </a:rPr>
              <a:t>n</a:t>
            </a:r>
            <a:r>
              <a:rPr lang="en-US" dirty="0" smtClean="0"/>
              <a:t> must </a:t>
            </a:r>
            <a:r>
              <a:rPr lang="en-US" dirty="0"/>
              <a:t>have two important properties:</a:t>
            </a:r>
          </a:p>
          <a:p>
            <a:pPr marL="0" indent="0">
              <a:buNone/>
            </a:pPr>
            <a:r>
              <a:rPr lang="en-US" dirty="0" smtClean="0"/>
              <a:t>1.uniformity</a:t>
            </a:r>
            <a:r>
              <a:rPr lang="en-US" dirty="0"/>
              <a:t>, i.e. they are equally probable every where</a:t>
            </a:r>
          </a:p>
          <a:p>
            <a:pPr marL="0" indent="0">
              <a:buNone/>
            </a:pPr>
            <a:r>
              <a:rPr lang="en-US" dirty="0" smtClean="0"/>
              <a:t>2. independence</a:t>
            </a:r>
            <a:r>
              <a:rPr lang="en-US" dirty="0"/>
              <a:t>, i.e. the current value of a random variable has no relation with the previous values</a:t>
            </a:r>
          </a:p>
          <a:p>
            <a:r>
              <a:rPr lang="en-US" dirty="0"/>
              <a:t>Each random </a:t>
            </a:r>
            <a:r>
              <a:rPr lang="en-US" dirty="0" smtClean="0"/>
              <a:t>number  </a:t>
            </a:r>
            <a:r>
              <a:rPr lang="en-US" dirty="0" err="1" smtClean="0"/>
              <a:t>R</a:t>
            </a:r>
            <a:r>
              <a:rPr lang="en-US" baseline="-25000" dirty="0" err="1" smtClean="0"/>
              <a:t>i</a:t>
            </a:r>
            <a:r>
              <a:rPr lang="en-US" dirty="0" smtClean="0"/>
              <a:t> is </a:t>
            </a:r>
            <a:r>
              <a:rPr lang="en-US" dirty="0"/>
              <a:t>an independent sample drawn from a </a:t>
            </a:r>
            <a:r>
              <a:rPr lang="en-US" dirty="0" smtClean="0"/>
              <a:t>continuous </a:t>
            </a:r>
            <a:r>
              <a:rPr lang="en-US" dirty="0"/>
              <a:t>uniform distribution between zero and one</a:t>
            </a:r>
            <a:r>
              <a:rPr lang="en-US" dirty="0" smtClean="0"/>
              <a:t>.</a:t>
            </a:r>
          </a:p>
          <a:p>
            <a:r>
              <a:rPr lang="en-US" dirty="0" smtClean="0"/>
              <a:t>Pdf </a:t>
            </a:r>
          </a:p>
          <a:p>
            <a:endParaRPr lang="en-US" dirty="0"/>
          </a:p>
          <a:p>
            <a:r>
              <a:rPr lang="en-US" dirty="0" smtClean="0"/>
              <a:t>Expectation </a:t>
            </a:r>
            <a:endParaRPr lang="en-US" dirty="0"/>
          </a:p>
          <a:p>
            <a:endParaRPr lang="en-US" dirty="0" smtClean="0"/>
          </a:p>
          <a:p>
            <a:pPr marL="0" indent="0">
              <a:buNone/>
            </a:pPr>
            <a:r>
              <a:rPr lang="en-US" dirty="0" smtClean="0"/>
              <a:t>  </a:t>
            </a:r>
            <a:endParaRPr lang="en-US" dirty="0"/>
          </a:p>
        </p:txBody>
      </p:sp>
      <p:pic>
        <p:nvPicPr>
          <p:cNvPr id="5" name="Picture 4"/>
          <p:cNvPicPr>
            <a:picLocks noChangeAspect="1"/>
          </p:cNvPicPr>
          <p:nvPr/>
        </p:nvPicPr>
        <p:blipFill>
          <a:blip r:embed="rId2"/>
          <a:stretch>
            <a:fillRect/>
          </a:stretch>
        </p:blipFill>
        <p:spPr>
          <a:xfrm>
            <a:off x="2567603" y="4712017"/>
            <a:ext cx="2566100" cy="717233"/>
          </a:xfrm>
          <a:prstGeom prst="rect">
            <a:avLst/>
          </a:prstGeom>
        </p:spPr>
      </p:pic>
      <p:pic>
        <p:nvPicPr>
          <p:cNvPr id="6" name="Picture 5"/>
          <p:cNvPicPr>
            <a:picLocks noChangeAspect="1"/>
          </p:cNvPicPr>
          <p:nvPr/>
        </p:nvPicPr>
        <p:blipFill>
          <a:blip r:embed="rId3"/>
          <a:stretch>
            <a:fillRect/>
          </a:stretch>
        </p:blipFill>
        <p:spPr>
          <a:xfrm>
            <a:off x="2916418" y="5990952"/>
            <a:ext cx="2308725" cy="867048"/>
          </a:xfrm>
          <a:prstGeom prst="rect">
            <a:avLst/>
          </a:prstGeom>
        </p:spPr>
      </p:pic>
      <p:pic>
        <p:nvPicPr>
          <p:cNvPr id="7" name="Picture 6"/>
          <p:cNvPicPr>
            <a:picLocks noChangeAspect="1"/>
          </p:cNvPicPr>
          <p:nvPr/>
        </p:nvPicPr>
        <p:blipFill>
          <a:blip r:embed="rId4"/>
          <a:stretch>
            <a:fillRect/>
          </a:stretch>
        </p:blipFill>
        <p:spPr>
          <a:xfrm>
            <a:off x="6329706" y="4729162"/>
            <a:ext cx="3310683" cy="2011272"/>
          </a:xfrm>
          <a:prstGeom prst="rect">
            <a:avLst/>
          </a:prstGeom>
        </p:spPr>
      </p:pic>
    </p:spTree>
    <p:extLst>
      <p:ext uri="{BB962C8B-B14F-4D97-AF65-F5344CB8AC3E}">
        <p14:creationId xmlns:p14="http://schemas.microsoft.com/office/powerpoint/2010/main" val="17744068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Properties of Random Numbers</a:t>
            </a:r>
            <a:endParaRPr lang="en-US" dirty="0"/>
          </a:p>
        </p:txBody>
      </p:sp>
      <p:sp>
        <p:nvSpPr>
          <p:cNvPr id="4" name="Content Placeholder 3"/>
          <p:cNvSpPr>
            <a:spLocks noGrp="1"/>
          </p:cNvSpPr>
          <p:nvPr>
            <p:ph idx="1"/>
          </p:nvPr>
        </p:nvSpPr>
        <p:spPr>
          <a:xfrm>
            <a:off x="1371599" y="2285999"/>
            <a:ext cx="9731829" cy="4062549"/>
          </a:xfrm>
        </p:spPr>
        <p:txBody>
          <a:bodyPr/>
          <a:lstStyle/>
          <a:p>
            <a:r>
              <a:rPr lang="en-US" dirty="0" smtClean="0"/>
              <a:t>Variance</a:t>
            </a:r>
          </a:p>
          <a:p>
            <a:endParaRPr lang="en-US" dirty="0" smtClean="0"/>
          </a:p>
          <a:p>
            <a:endParaRPr lang="en-US" dirty="0"/>
          </a:p>
          <a:p>
            <a:pPr>
              <a:buFont typeface="Arial" panose="020B0604020202020204" pitchFamily="34" charset="0"/>
              <a:buChar char="•"/>
            </a:pPr>
            <a:r>
              <a:rPr lang="en-US" dirty="0">
                <a:solidFill>
                  <a:srgbClr val="000000"/>
                </a:solidFill>
                <a:latin typeface="Times New Roman" panose="02020603050405020304" pitchFamily="18" charset="0"/>
              </a:rPr>
              <a:t>Some consequences of the uniformity and independence properties</a:t>
            </a:r>
          </a:p>
          <a:p>
            <a:pPr marL="742950" lvl="1" indent="-285750">
              <a:buFont typeface="Arial" panose="020B0604020202020204" pitchFamily="34" charset="0"/>
              <a:buChar char="•"/>
            </a:pPr>
            <a:r>
              <a:rPr lang="en-US" i="0" dirty="0">
                <a:solidFill>
                  <a:srgbClr val="000000"/>
                </a:solidFill>
                <a:latin typeface="Times New Roman" panose="02020603050405020304" pitchFamily="18" charset="0"/>
              </a:rPr>
              <a:t>If the interval (0,1) is divided into </a:t>
            </a:r>
            <a:r>
              <a:rPr lang="en-US" dirty="0">
                <a:solidFill>
                  <a:srgbClr val="000000"/>
                </a:solidFill>
                <a:latin typeface="Times New Roman" panose="02020603050405020304" pitchFamily="18" charset="0"/>
              </a:rPr>
              <a:t>n</a:t>
            </a:r>
            <a:r>
              <a:rPr lang="en-US" i="0" dirty="0">
                <a:solidFill>
                  <a:srgbClr val="000000"/>
                </a:solidFill>
                <a:latin typeface="Times New Roman" panose="02020603050405020304" pitchFamily="18" charset="0"/>
              </a:rPr>
              <a:t> sub-intervals of equal length, the expected number of observations in each interval is </a:t>
            </a:r>
            <a:r>
              <a:rPr lang="en-US" dirty="0">
                <a:solidFill>
                  <a:srgbClr val="000000"/>
                </a:solidFill>
                <a:latin typeface="Times New Roman" panose="02020603050405020304" pitchFamily="18" charset="0"/>
              </a:rPr>
              <a:t>N/n</a:t>
            </a:r>
            <a:r>
              <a:rPr lang="en-US" i="0" dirty="0">
                <a:solidFill>
                  <a:srgbClr val="000000"/>
                </a:solidFill>
                <a:latin typeface="Times New Roman" panose="02020603050405020304" pitchFamily="18" charset="0"/>
              </a:rPr>
              <a:t> where </a:t>
            </a:r>
            <a:r>
              <a:rPr lang="en-US" dirty="0">
                <a:solidFill>
                  <a:srgbClr val="000000"/>
                </a:solidFill>
                <a:latin typeface="Times New Roman" panose="02020603050405020304" pitchFamily="18" charset="0"/>
              </a:rPr>
              <a:t>N</a:t>
            </a:r>
            <a:r>
              <a:rPr lang="en-US" i="0" dirty="0">
                <a:solidFill>
                  <a:srgbClr val="000000"/>
                </a:solidFill>
                <a:latin typeface="Times New Roman" panose="02020603050405020304" pitchFamily="18" charset="0"/>
              </a:rPr>
              <a:t> is the total number of observations. Note that </a:t>
            </a:r>
            <a:r>
              <a:rPr lang="en-US" dirty="0">
                <a:solidFill>
                  <a:srgbClr val="000000"/>
                </a:solidFill>
                <a:latin typeface="Times New Roman" panose="02020603050405020304" pitchFamily="18" charset="0"/>
              </a:rPr>
              <a:t>N</a:t>
            </a:r>
            <a:r>
              <a:rPr lang="en-US" i="0" dirty="0">
                <a:solidFill>
                  <a:srgbClr val="000000"/>
                </a:solidFill>
                <a:latin typeface="Times New Roman" panose="02020603050405020304" pitchFamily="18" charset="0"/>
              </a:rPr>
              <a:t> has to be sufficiently large to show this trend.</a:t>
            </a:r>
          </a:p>
          <a:p>
            <a:pPr marL="742950" lvl="1" indent="-285750">
              <a:buFont typeface="Arial" panose="020B0604020202020204" pitchFamily="34" charset="0"/>
              <a:buChar char="•"/>
            </a:pPr>
            <a:r>
              <a:rPr lang="en-US" i="0" dirty="0">
                <a:solidFill>
                  <a:srgbClr val="000000"/>
                </a:solidFill>
                <a:latin typeface="Times New Roman" panose="02020603050405020304" pitchFamily="18" charset="0"/>
              </a:rPr>
              <a:t>The probability of observing a value in a particular interval is independent of the previous values drawn.</a:t>
            </a:r>
          </a:p>
          <a:p>
            <a:endParaRPr lang="en-US" dirty="0" smtClean="0"/>
          </a:p>
          <a:p>
            <a:endParaRPr lang="en-US" dirty="0"/>
          </a:p>
          <a:p>
            <a:endParaRPr lang="en-US" dirty="0" smtClean="0"/>
          </a:p>
          <a:p>
            <a:endParaRPr lang="en-US" dirty="0"/>
          </a:p>
        </p:txBody>
      </p:sp>
      <p:pic>
        <p:nvPicPr>
          <p:cNvPr id="5" name="Picture 4"/>
          <p:cNvPicPr>
            <a:picLocks noChangeAspect="1"/>
          </p:cNvPicPr>
          <p:nvPr/>
        </p:nvPicPr>
        <p:blipFill>
          <a:blip r:embed="rId2"/>
          <a:stretch>
            <a:fillRect/>
          </a:stretch>
        </p:blipFill>
        <p:spPr>
          <a:xfrm>
            <a:off x="2972343" y="2609034"/>
            <a:ext cx="3837567" cy="774246"/>
          </a:xfrm>
          <a:prstGeom prst="rect">
            <a:avLst/>
          </a:prstGeom>
        </p:spPr>
      </p:pic>
    </p:spTree>
    <p:extLst>
      <p:ext uri="{BB962C8B-B14F-4D97-AF65-F5344CB8AC3E}">
        <p14:creationId xmlns:p14="http://schemas.microsoft.com/office/powerpoint/2010/main" val="20422366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Pseudo random numbers </a:t>
            </a:r>
            <a:endParaRPr lang="en-US" dirty="0"/>
          </a:p>
        </p:txBody>
      </p:sp>
      <p:sp>
        <p:nvSpPr>
          <p:cNvPr id="3" name="Content Placeholder 2"/>
          <p:cNvSpPr>
            <a:spLocks noGrp="1"/>
          </p:cNvSpPr>
          <p:nvPr>
            <p:ph idx="1"/>
          </p:nvPr>
        </p:nvSpPr>
        <p:spPr>
          <a:xfrm>
            <a:off x="1371600" y="1658983"/>
            <a:ext cx="10254342" cy="5199017"/>
          </a:xfrm>
        </p:spPr>
        <p:txBody>
          <a:bodyPr>
            <a:normAutofit lnSpcReduction="10000"/>
          </a:bodyPr>
          <a:lstStyle/>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"Pseudo" means </a:t>
            </a:r>
            <a:r>
              <a:rPr lang="en-US" dirty="0" smtClean="0">
                <a:latin typeface="Calibri" panose="020F0502020204030204" pitchFamily="34" charset="0"/>
                <a:ea typeface="Calibri" panose="020F0502020204030204" pitchFamily="34" charset="0"/>
                <a:cs typeface="Times New Roman" panose="02020603050405020304" pitchFamily="18" charset="0"/>
              </a:rPr>
              <a:t>false, so </a:t>
            </a:r>
            <a:r>
              <a:rPr lang="en-US" dirty="0">
                <a:latin typeface="Calibri" panose="020F0502020204030204" pitchFamily="34" charset="0"/>
                <a:ea typeface="Calibri" panose="020F0502020204030204" pitchFamily="34" charset="0"/>
                <a:cs typeface="Times New Roman" panose="02020603050405020304" pitchFamily="18" charset="0"/>
              </a:rPr>
              <a:t>false random numbers are being </a:t>
            </a:r>
            <a:r>
              <a:rPr lang="en-US" dirty="0" smtClean="0">
                <a:latin typeface="Calibri" panose="020F0502020204030204" pitchFamily="34" charset="0"/>
                <a:ea typeface="Calibri" panose="020F0502020204030204" pitchFamily="34" charset="0"/>
                <a:cs typeface="Times New Roman" panose="02020603050405020304" pitchFamily="18" charset="0"/>
              </a:rPr>
              <a:t>generated. In </a:t>
            </a:r>
            <a:r>
              <a:rPr lang="en-US" dirty="0">
                <a:latin typeface="Calibri" panose="020F0502020204030204" pitchFamily="34" charset="0"/>
                <a:ea typeface="Calibri" panose="020F0502020204030204" pitchFamily="34" charset="0"/>
                <a:cs typeface="Times New Roman" panose="02020603050405020304" pitchFamily="18" charset="0"/>
              </a:rPr>
              <a:t>this </a:t>
            </a:r>
            <a:r>
              <a:rPr lang="en-US" dirty="0" err="1">
                <a:latin typeface="Calibri" panose="020F0502020204030204" pitchFamily="34" charset="0"/>
                <a:ea typeface="Calibri" panose="020F0502020204030204" pitchFamily="34" charset="0"/>
                <a:cs typeface="Times New Roman" panose="02020603050405020304" pitchFamily="18" charset="0"/>
              </a:rPr>
              <a:t>instance,"pseudo</a:t>
            </a:r>
            <a:r>
              <a:rPr lang="en-US" dirty="0">
                <a:latin typeface="Calibri" panose="020F0502020204030204" pitchFamily="34" charset="0"/>
                <a:ea typeface="Calibri" panose="020F0502020204030204" pitchFamily="34" charset="0"/>
                <a:cs typeface="Times New Roman" panose="02020603050405020304" pitchFamily="18" charset="0"/>
              </a:rPr>
              <a:t>' is used to imply that the very act of generating random numbers by a known method removes the potential for true </a:t>
            </a:r>
            <a:r>
              <a:rPr lang="en-US" dirty="0" err="1">
                <a:latin typeface="Calibri" panose="020F0502020204030204" pitchFamily="34" charset="0"/>
                <a:ea typeface="Calibri" panose="020F0502020204030204" pitchFamily="34" charset="0"/>
                <a:cs typeface="Times New Roman" panose="02020603050405020304" pitchFamily="18" charset="0"/>
              </a:rPr>
              <a:t>randomness.If</a:t>
            </a:r>
            <a:r>
              <a:rPr lang="en-US" dirty="0">
                <a:latin typeface="Calibri" panose="020F0502020204030204" pitchFamily="34" charset="0"/>
                <a:ea typeface="Calibri" panose="020F0502020204030204" pitchFamily="34" charset="0"/>
                <a:cs typeface="Times New Roman" panose="02020603050405020304" pitchFamily="18" charset="0"/>
              </a:rPr>
              <a:t> the method is </a:t>
            </a:r>
            <a:r>
              <a:rPr lang="en-US" dirty="0" err="1">
                <a:latin typeface="Calibri" panose="020F0502020204030204" pitchFamily="34" charset="0"/>
                <a:ea typeface="Calibri" panose="020F0502020204030204" pitchFamily="34" charset="0"/>
                <a:cs typeface="Times New Roman" panose="02020603050405020304" pitchFamily="18" charset="0"/>
              </a:rPr>
              <a:t>known,the</a:t>
            </a:r>
            <a:r>
              <a:rPr lang="en-US" dirty="0">
                <a:latin typeface="Calibri" panose="020F0502020204030204" pitchFamily="34" charset="0"/>
                <a:ea typeface="Calibri" panose="020F0502020204030204" pitchFamily="34" charset="0"/>
                <a:cs typeface="Times New Roman" panose="02020603050405020304" pitchFamily="18" charset="0"/>
              </a:rPr>
              <a:t> set of random numbers can be replicated. Then an argument can be made that the numbers are not truly random. The goal of any generation </a:t>
            </a:r>
            <a:r>
              <a:rPr lang="en-US" dirty="0" err="1">
                <a:latin typeface="Calibri" panose="020F0502020204030204" pitchFamily="34" charset="0"/>
                <a:ea typeface="Calibri" panose="020F0502020204030204" pitchFamily="34" charset="0"/>
                <a:cs typeface="Times New Roman" panose="02020603050405020304" pitchFamily="18" charset="0"/>
              </a:rPr>
              <a:t>scheme,however,is</a:t>
            </a:r>
            <a:r>
              <a:rPr lang="en-US" dirty="0">
                <a:latin typeface="Calibri" panose="020F0502020204030204" pitchFamily="34" charset="0"/>
                <a:ea typeface="Calibri" panose="020F0502020204030204" pitchFamily="34" charset="0"/>
                <a:cs typeface="Times New Roman" panose="02020603050405020304" pitchFamily="18" charset="0"/>
              </a:rPr>
              <a:t> to produce a sequence of numbers between 0 and 1 that </a:t>
            </a:r>
            <a:r>
              <a:rPr lang="en-US" dirty="0" smtClean="0">
                <a:latin typeface="Calibri" panose="020F0502020204030204" pitchFamily="34" charset="0"/>
                <a:ea typeface="Calibri" panose="020F0502020204030204" pitchFamily="34" charset="0"/>
                <a:cs typeface="Times New Roman" panose="02020603050405020304" pitchFamily="18" charset="0"/>
              </a:rPr>
              <a:t>simulates, </a:t>
            </a:r>
            <a:r>
              <a:rPr lang="en-US" dirty="0" err="1" smtClean="0">
                <a:latin typeface="Calibri" panose="020F0502020204030204" pitchFamily="34" charset="0"/>
                <a:ea typeface="Calibri" panose="020F0502020204030204" pitchFamily="34" charset="0"/>
                <a:cs typeface="Times New Roman" panose="02020603050405020304" pitchFamily="18" charset="0"/>
              </a:rPr>
              <a:t>orimitates,the</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ideal properties of uniform distribution and independence as closely as possible.</a:t>
            </a:r>
          </a:p>
          <a:p>
            <a:pPr marL="0" marR="0">
              <a:lnSpc>
                <a:spcPct val="107000"/>
              </a:lnSpc>
              <a:spcBef>
                <a:spcPts val="0"/>
              </a:spcBef>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To be sure, in the generation of pseudo-random numbers, certain problems or errors can </a:t>
            </a:r>
            <a:r>
              <a:rPr lang="en-US" dirty="0" err="1">
                <a:latin typeface="Calibri" panose="020F0502020204030204" pitchFamily="34" charset="0"/>
                <a:ea typeface="Calibri" panose="020F0502020204030204" pitchFamily="34" charset="0"/>
                <a:cs typeface="Times New Roman" panose="02020603050405020304" pitchFamily="18" charset="0"/>
              </a:rPr>
              <a:t>occur.These</a:t>
            </a:r>
            <a:r>
              <a:rPr lang="en-US" dirty="0">
                <a:latin typeface="Calibri" panose="020F0502020204030204" pitchFamily="34" charset="0"/>
                <a:ea typeface="Calibri" panose="020F0502020204030204" pitchFamily="34" charset="0"/>
                <a:cs typeface="Times New Roman" panose="02020603050405020304" pitchFamily="18" charset="0"/>
              </a:rPr>
              <a:t> errors, or </a:t>
            </a:r>
            <a:r>
              <a:rPr lang="en-US" dirty="0" smtClean="0">
                <a:latin typeface="Calibri" panose="020F0502020204030204" pitchFamily="34" charset="0"/>
                <a:ea typeface="Calibri" panose="020F0502020204030204" pitchFamily="34" charset="0"/>
                <a:cs typeface="Times New Roman" panose="02020603050405020304" pitchFamily="18" charset="0"/>
              </a:rPr>
              <a:t>departures </a:t>
            </a:r>
            <a:r>
              <a:rPr lang="en-US" dirty="0">
                <a:latin typeface="Calibri" panose="020F0502020204030204" pitchFamily="34" charset="0"/>
                <a:ea typeface="Calibri" panose="020F0502020204030204" pitchFamily="34" charset="0"/>
                <a:cs typeface="Times New Roman" panose="02020603050405020304" pitchFamily="18" charset="0"/>
              </a:rPr>
              <a:t>from ideal randomness, are all related to the properties </a:t>
            </a:r>
            <a:r>
              <a:rPr lang="en-US" dirty="0" smtClean="0">
                <a:latin typeface="Calibri" panose="020F0502020204030204" pitchFamily="34" charset="0"/>
                <a:ea typeface="Calibri" panose="020F0502020204030204" pitchFamily="34" charset="0"/>
                <a:cs typeface="Times New Roman" panose="02020603050405020304" pitchFamily="18" charset="0"/>
              </a:rPr>
              <a:t>stated: previously. </a:t>
            </a:r>
            <a:r>
              <a:rPr lang="en-US" dirty="0">
                <a:latin typeface="Calibri" panose="020F0502020204030204" pitchFamily="34" charset="0"/>
                <a:ea typeface="Calibri" panose="020F0502020204030204" pitchFamily="34" charset="0"/>
                <a:cs typeface="Times New Roman" panose="02020603050405020304" pitchFamily="18" charset="0"/>
              </a:rPr>
              <a:t>Some. examples of </a:t>
            </a:r>
            <a:r>
              <a:rPr lang="en-US" dirty="0" smtClean="0">
                <a:latin typeface="Calibri" panose="020F0502020204030204" pitchFamily="34" charset="0"/>
                <a:ea typeface="Calibri" panose="020F0502020204030204" pitchFamily="34" charset="0"/>
                <a:cs typeface="Times New Roman" panose="02020603050405020304" pitchFamily="18" charset="0"/>
              </a:rPr>
              <a:t>such departures </a:t>
            </a:r>
            <a:r>
              <a:rPr lang="en-US" dirty="0">
                <a:latin typeface="Calibri" panose="020F0502020204030204" pitchFamily="34" charset="0"/>
                <a:ea typeface="Calibri" panose="020F0502020204030204" pitchFamily="34" charset="0"/>
                <a:cs typeface="Times New Roman" panose="02020603050405020304" pitchFamily="18" charset="0"/>
              </a:rPr>
              <a:t>include the following:</a:t>
            </a: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1. The generated numbers might not be </a:t>
            </a:r>
            <a:r>
              <a:rPr lang="en-US" dirty="0" smtClean="0">
                <a:latin typeface="Calibri" panose="020F0502020204030204" pitchFamily="34" charset="0"/>
                <a:ea typeface="Calibri" panose="020F0502020204030204" pitchFamily="34" charset="0"/>
                <a:cs typeface="Times New Roman" panose="02020603050405020304" pitchFamily="18" charset="0"/>
              </a:rPr>
              <a:t>uniformly distributed</a:t>
            </a:r>
            <a:r>
              <a:rPr lang="en-US" dirty="0">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2.The generated numbers might be discrete-valued </a:t>
            </a:r>
            <a:r>
              <a:rPr lang="en-US" dirty="0" smtClean="0">
                <a:latin typeface="Calibri" panose="020F0502020204030204" pitchFamily="34" charset="0"/>
                <a:ea typeface="Calibri" panose="020F0502020204030204" pitchFamily="34" charset="0"/>
                <a:cs typeface="Times New Roman" panose="02020603050405020304" pitchFamily="18" charset="0"/>
              </a:rPr>
              <a:t>instead of </a:t>
            </a:r>
            <a:r>
              <a:rPr lang="en-US" dirty="0">
                <a:latin typeface="Calibri" panose="020F0502020204030204" pitchFamily="34" charset="0"/>
                <a:ea typeface="Calibri" panose="020F0502020204030204" pitchFamily="34" charset="0"/>
                <a:cs typeface="Times New Roman" panose="02020603050405020304" pitchFamily="18" charset="0"/>
              </a:rPr>
              <a:t>continuous-valued,</a:t>
            </a: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3.The mean of </a:t>
            </a:r>
            <a:r>
              <a:rPr lang="en-US" dirty="0" err="1">
                <a:latin typeface="Calibri" panose="020F0502020204030204" pitchFamily="34" charset="0"/>
                <a:ea typeface="Calibri" panose="020F0502020204030204" pitchFamily="34" charset="0"/>
                <a:cs typeface="Times New Roman" panose="02020603050405020304" pitchFamily="18" charset="0"/>
              </a:rPr>
              <a:t>tne</a:t>
            </a:r>
            <a:r>
              <a:rPr lang="en-US" dirty="0">
                <a:latin typeface="Calibri" panose="020F0502020204030204" pitchFamily="34" charset="0"/>
                <a:ea typeface="Calibri" panose="020F0502020204030204" pitchFamily="34" charset="0"/>
                <a:cs typeface="Times New Roman" panose="02020603050405020304" pitchFamily="18" charset="0"/>
              </a:rPr>
              <a:t> generated numbers might be too high </a:t>
            </a:r>
            <a:r>
              <a:rPr lang="en-US" dirty="0" smtClean="0">
                <a:latin typeface="Calibri" panose="020F0502020204030204" pitchFamily="34" charset="0"/>
                <a:ea typeface="Calibri" panose="020F0502020204030204" pitchFamily="34" charset="0"/>
                <a:cs typeface="Times New Roman" panose="02020603050405020304" pitchFamily="18" charset="0"/>
              </a:rPr>
              <a:t>or too </a:t>
            </a:r>
            <a:r>
              <a:rPr lang="en-US" dirty="0">
                <a:latin typeface="Calibri" panose="020F0502020204030204" pitchFamily="34" charset="0"/>
                <a:ea typeface="Calibri" panose="020F0502020204030204" pitchFamily="34" charset="0"/>
                <a:cs typeface="Times New Roman" panose="02020603050405020304" pitchFamily="18" charset="0"/>
              </a:rPr>
              <a:t>low.</a:t>
            </a:r>
          </a:p>
          <a:p>
            <a:pPr marL="0" marR="0" indent="0">
              <a:lnSpc>
                <a:spcPct val="107000"/>
              </a:lnSpc>
              <a:spcBef>
                <a:spcPts val="0"/>
              </a:spcBef>
              <a:spcAft>
                <a:spcPts val="800"/>
              </a:spcAft>
              <a:buNone/>
            </a:pPr>
            <a:r>
              <a:rPr lang="en-US" dirty="0">
                <a:latin typeface="Calibri" panose="020F0502020204030204" pitchFamily="34" charset="0"/>
                <a:ea typeface="Calibri" panose="020F0502020204030204" pitchFamily="34" charset="0"/>
                <a:cs typeface="Times New Roman" panose="02020603050405020304" pitchFamily="18" charset="0"/>
              </a:rPr>
              <a:t>4.The variance of the generated numbers might be too </a:t>
            </a:r>
            <a:r>
              <a:rPr lang="en-US" dirty="0" smtClean="0">
                <a:latin typeface="Calibri" panose="020F0502020204030204" pitchFamily="34" charset="0"/>
                <a:ea typeface="Calibri" panose="020F0502020204030204" pitchFamily="34" charset="0"/>
                <a:cs typeface="Times New Roman" panose="02020603050405020304" pitchFamily="18" charset="0"/>
              </a:rPr>
              <a:t>high or </a:t>
            </a:r>
            <a:r>
              <a:rPr lang="en-US" dirty="0">
                <a:latin typeface="Calibri" panose="020F0502020204030204" pitchFamily="34" charset="0"/>
                <a:ea typeface="Calibri" panose="020F0502020204030204" pitchFamily="34" charset="0"/>
                <a:cs typeface="Times New Roman" panose="02020603050405020304" pitchFamily="18" charset="0"/>
              </a:rPr>
              <a:t>too low.</a:t>
            </a:r>
          </a:p>
          <a:p>
            <a:endParaRPr lang="en-US" dirty="0"/>
          </a:p>
        </p:txBody>
      </p:sp>
    </p:spTree>
    <p:extLst>
      <p:ext uri="{BB962C8B-B14F-4D97-AF65-F5344CB8AC3E}">
        <p14:creationId xmlns:p14="http://schemas.microsoft.com/office/powerpoint/2010/main" val="16089864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Random Numbers</a:t>
            </a:r>
          </a:p>
        </p:txBody>
      </p:sp>
      <p:sp>
        <p:nvSpPr>
          <p:cNvPr id="3" name="Content Placeholder 2"/>
          <p:cNvSpPr>
            <a:spLocks noGrp="1"/>
          </p:cNvSpPr>
          <p:nvPr>
            <p:ph idx="1"/>
          </p:nvPr>
        </p:nvSpPr>
        <p:spPr/>
        <p:txBody>
          <a:bodyPr/>
          <a:lstStyle/>
          <a:p>
            <a:r>
              <a:rPr lang="en-US" dirty="0" err="1"/>
              <a:t>Midsquare</a:t>
            </a:r>
            <a:r>
              <a:rPr lang="en-US" dirty="0"/>
              <a:t> method </a:t>
            </a:r>
            <a:endParaRPr lang="en-US" dirty="0" smtClean="0"/>
          </a:p>
          <a:p>
            <a:r>
              <a:rPr lang="en-US" dirty="0" smtClean="0"/>
              <a:t> </a:t>
            </a:r>
            <a:r>
              <a:rPr lang="en-US" dirty="0"/>
              <a:t>Linear </a:t>
            </a:r>
            <a:r>
              <a:rPr lang="en-US" dirty="0" smtClean="0"/>
              <a:t>Congruential </a:t>
            </a:r>
            <a:r>
              <a:rPr lang="en-US" dirty="0"/>
              <a:t>Method (LCM ) </a:t>
            </a:r>
            <a:endParaRPr lang="en-US" dirty="0" smtClean="0"/>
          </a:p>
          <a:p>
            <a:r>
              <a:rPr lang="en-US" dirty="0" smtClean="0"/>
              <a:t>Combined </a:t>
            </a:r>
            <a:r>
              <a:rPr lang="en-US" dirty="0"/>
              <a:t>Linear Congruential Generators (CLCG) </a:t>
            </a:r>
            <a:endParaRPr lang="en-US" dirty="0" smtClean="0"/>
          </a:p>
          <a:p>
            <a:r>
              <a:rPr lang="en-US" dirty="0" smtClean="0"/>
              <a:t> </a:t>
            </a:r>
            <a:r>
              <a:rPr lang="en-US" dirty="0"/>
              <a:t>Random-Number Streams</a:t>
            </a:r>
          </a:p>
        </p:txBody>
      </p:sp>
    </p:spTree>
    <p:extLst>
      <p:ext uri="{BB962C8B-B14F-4D97-AF65-F5344CB8AC3E}">
        <p14:creationId xmlns:p14="http://schemas.microsoft.com/office/powerpoint/2010/main" val="241865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60735" y="0"/>
            <a:ext cx="10307347" cy="6727371"/>
          </a:xfrm>
          <a:prstGeom prst="rect">
            <a:avLst/>
          </a:prstGeom>
        </p:spPr>
      </p:pic>
    </p:spTree>
    <p:extLst>
      <p:ext uri="{BB962C8B-B14F-4D97-AF65-F5344CB8AC3E}">
        <p14:creationId xmlns:p14="http://schemas.microsoft.com/office/powerpoint/2010/main" val="3590729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9590" y="274320"/>
            <a:ext cx="10273027" cy="6191794"/>
          </a:xfrm>
          <a:prstGeom prst="rect">
            <a:avLst/>
          </a:prstGeom>
        </p:spPr>
      </p:pic>
    </p:spTree>
    <p:extLst>
      <p:ext uri="{BB962C8B-B14F-4D97-AF65-F5344CB8AC3E}">
        <p14:creationId xmlns:p14="http://schemas.microsoft.com/office/powerpoint/2010/main" val="3510036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0858" y="133529"/>
            <a:ext cx="10469141" cy="6724471"/>
          </a:xfrm>
          <a:prstGeom prst="rect">
            <a:avLst/>
          </a:prstGeom>
        </p:spPr>
      </p:pic>
    </p:spTree>
    <p:extLst>
      <p:ext uri="{BB962C8B-B14F-4D97-AF65-F5344CB8AC3E}">
        <p14:creationId xmlns:p14="http://schemas.microsoft.com/office/powerpoint/2010/main" val="32335062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4881" y="522514"/>
            <a:ext cx="9362238" cy="5812972"/>
          </a:xfrm>
          <a:prstGeom prst="rect">
            <a:avLst/>
          </a:prstGeom>
        </p:spPr>
      </p:pic>
    </p:spTree>
    <p:extLst>
      <p:ext uri="{BB962C8B-B14F-4D97-AF65-F5344CB8AC3E}">
        <p14:creationId xmlns:p14="http://schemas.microsoft.com/office/powerpoint/2010/main" val="1020028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7646" y="142626"/>
            <a:ext cx="10441566" cy="6597808"/>
          </a:xfrm>
          <a:prstGeom prst="rect">
            <a:avLst/>
          </a:prstGeom>
        </p:spPr>
      </p:pic>
    </p:spTree>
    <p:extLst>
      <p:ext uri="{BB962C8B-B14F-4D97-AF65-F5344CB8AC3E}">
        <p14:creationId xmlns:p14="http://schemas.microsoft.com/office/powerpoint/2010/main" val="42647168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4625" y="274320"/>
            <a:ext cx="10467364" cy="6348549"/>
          </a:xfrm>
          <a:prstGeom prst="rect">
            <a:avLst/>
          </a:prstGeom>
        </p:spPr>
      </p:pic>
    </p:spTree>
    <p:extLst>
      <p:ext uri="{BB962C8B-B14F-4D97-AF65-F5344CB8AC3E}">
        <p14:creationId xmlns:p14="http://schemas.microsoft.com/office/powerpoint/2010/main" val="30423004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84217" y="0"/>
            <a:ext cx="10489474" cy="7238742"/>
          </a:xfrm>
          <a:prstGeom prst="rect">
            <a:avLst/>
          </a:prstGeom>
        </p:spPr>
      </p:pic>
    </p:spTree>
    <p:extLst>
      <p:ext uri="{BB962C8B-B14F-4D97-AF65-F5344CB8AC3E}">
        <p14:creationId xmlns:p14="http://schemas.microsoft.com/office/powerpoint/2010/main" val="8606384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4005" y="222069"/>
            <a:ext cx="9625103" cy="6244045"/>
          </a:xfrm>
          <a:prstGeom prst="rect">
            <a:avLst/>
          </a:prstGeom>
        </p:spPr>
      </p:pic>
    </p:spTree>
    <p:extLst>
      <p:ext uri="{BB962C8B-B14F-4D97-AF65-F5344CB8AC3E}">
        <p14:creationId xmlns:p14="http://schemas.microsoft.com/office/powerpoint/2010/main" val="3966533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7028" y="222069"/>
            <a:ext cx="10278651" cy="6315981"/>
          </a:xfrm>
          <a:prstGeom prst="rect">
            <a:avLst/>
          </a:prstGeom>
        </p:spPr>
      </p:pic>
    </p:spTree>
    <p:extLst>
      <p:ext uri="{BB962C8B-B14F-4D97-AF65-F5344CB8AC3E}">
        <p14:creationId xmlns:p14="http://schemas.microsoft.com/office/powerpoint/2010/main" val="39660148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8091" y="148844"/>
            <a:ext cx="9782787" cy="6369522"/>
          </a:xfrm>
          <a:prstGeom prst="rect">
            <a:avLst/>
          </a:prstGeom>
        </p:spPr>
      </p:pic>
    </p:spTree>
    <p:extLst>
      <p:ext uri="{BB962C8B-B14F-4D97-AF65-F5344CB8AC3E}">
        <p14:creationId xmlns:p14="http://schemas.microsoft.com/office/powerpoint/2010/main" val="15234087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1966" y="180817"/>
            <a:ext cx="10063754" cy="6455113"/>
          </a:xfrm>
          <a:prstGeom prst="rect">
            <a:avLst/>
          </a:prstGeom>
        </p:spPr>
      </p:pic>
    </p:spTree>
    <p:extLst>
      <p:ext uri="{BB962C8B-B14F-4D97-AF65-F5344CB8AC3E}">
        <p14:creationId xmlns:p14="http://schemas.microsoft.com/office/powerpoint/2010/main" val="18700742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9714" y="32991"/>
            <a:ext cx="11225349" cy="6576815"/>
          </a:xfrm>
          <a:prstGeom prst="rect">
            <a:avLst/>
          </a:prstGeom>
        </p:spPr>
      </p:pic>
    </p:spTree>
    <p:extLst>
      <p:ext uri="{BB962C8B-B14F-4D97-AF65-F5344CB8AC3E}">
        <p14:creationId xmlns:p14="http://schemas.microsoft.com/office/powerpoint/2010/main" val="31257265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Test for </a:t>
            </a:r>
            <a:r>
              <a:rPr lang="en-US" dirty="0" smtClean="0">
                <a:solidFill>
                  <a:srgbClr val="C00000"/>
                </a:solidFill>
              </a:rPr>
              <a:t>Random numbers </a:t>
            </a:r>
            <a:endParaRPr lang="en-US" dirty="0">
              <a:solidFill>
                <a:srgbClr val="C00000"/>
              </a:solidFill>
            </a:endParaRPr>
          </a:p>
        </p:txBody>
      </p:sp>
      <p:sp>
        <p:nvSpPr>
          <p:cNvPr id="3" name="Content Placeholder 2"/>
          <p:cNvSpPr>
            <a:spLocks noGrp="1"/>
          </p:cNvSpPr>
          <p:nvPr>
            <p:ph idx="1"/>
          </p:nvPr>
        </p:nvSpPr>
        <p:spPr>
          <a:xfrm>
            <a:off x="1371599" y="1489166"/>
            <a:ext cx="9823269" cy="4976948"/>
          </a:xfrm>
        </p:spPr>
        <p:txBody>
          <a:bodyPr>
            <a:normAutofit/>
          </a:bodyPr>
          <a:lstStyle/>
          <a:p>
            <a:pPr marL="0" indent="0">
              <a:buNone/>
            </a:pPr>
            <a:r>
              <a:rPr lang="en-US" dirty="0"/>
              <a:t>1. </a:t>
            </a:r>
            <a:r>
              <a:rPr lang="en-US" b="1" dirty="0">
                <a:solidFill>
                  <a:srgbClr val="C00000"/>
                </a:solidFill>
              </a:rPr>
              <a:t>Frequency test </a:t>
            </a:r>
            <a:r>
              <a:rPr lang="en-US" dirty="0"/>
              <a:t>Frequency test. Uses the Kolmogorov Uses the Kolmogorov-Smirnov Smirnov or the chi-square test to compare the distribution of the set of numbers generated to a uniform di t </a:t>
            </a:r>
            <a:r>
              <a:rPr lang="en-US" dirty="0" err="1"/>
              <a:t>ib</a:t>
            </a:r>
            <a:r>
              <a:rPr lang="en-US" dirty="0"/>
              <a:t> </a:t>
            </a:r>
            <a:r>
              <a:rPr lang="en-US" dirty="0" err="1"/>
              <a:t>ti</a:t>
            </a:r>
            <a:r>
              <a:rPr lang="en-US" dirty="0"/>
              <a:t> distribution. </a:t>
            </a:r>
            <a:endParaRPr lang="en-US" dirty="0" smtClean="0"/>
          </a:p>
          <a:p>
            <a:pPr marL="0" indent="0">
              <a:buNone/>
            </a:pPr>
            <a:r>
              <a:rPr lang="en-US" dirty="0" smtClean="0"/>
              <a:t>2</a:t>
            </a:r>
            <a:r>
              <a:rPr lang="en-US" dirty="0"/>
              <a:t>. </a:t>
            </a:r>
            <a:r>
              <a:rPr lang="en-US" b="1" dirty="0">
                <a:solidFill>
                  <a:srgbClr val="C00000"/>
                </a:solidFill>
              </a:rPr>
              <a:t>Runs test</a:t>
            </a:r>
            <a:r>
              <a:rPr lang="en-US" dirty="0"/>
              <a:t>. Tests the runs up and down or the runs above and below the mean by comparing runs above and below the mean by comparing the actual values to expected values. The statistic for comparison is the chi-square. </a:t>
            </a:r>
            <a:endParaRPr lang="en-US" dirty="0" smtClean="0"/>
          </a:p>
          <a:p>
            <a:pPr marL="0" indent="0">
              <a:buNone/>
            </a:pPr>
            <a:r>
              <a:rPr lang="en-US" dirty="0" smtClean="0"/>
              <a:t>3</a:t>
            </a:r>
            <a:r>
              <a:rPr lang="en-US" dirty="0"/>
              <a:t>. </a:t>
            </a:r>
            <a:r>
              <a:rPr lang="en-US" b="1" dirty="0" smtClean="0">
                <a:solidFill>
                  <a:srgbClr val="C00000"/>
                </a:solidFill>
              </a:rPr>
              <a:t>Autocorrelation </a:t>
            </a:r>
            <a:r>
              <a:rPr lang="en-US" b="1" dirty="0">
                <a:solidFill>
                  <a:srgbClr val="C00000"/>
                </a:solidFill>
              </a:rPr>
              <a:t>test</a:t>
            </a:r>
            <a:r>
              <a:rPr lang="en-US" dirty="0"/>
              <a:t>. </a:t>
            </a:r>
            <a:r>
              <a:rPr lang="en-US" dirty="0" smtClean="0"/>
              <a:t> Tests are  </a:t>
            </a:r>
            <a:r>
              <a:rPr lang="en-US" dirty="0"/>
              <a:t>the correlation between numbers and compares the sample </a:t>
            </a:r>
            <a:r>
              <a:rPr lang="en-US" dirty="0" smtClean="0"/>
              <a:t>correlation to the exportation correlation zero.</a:t>
            </a:r>
          </a:p>
          <a:p>
            <a:pPr marL="0" indent="0">
              <a:buNone/>
            </a:pPr>
            <a:r>
              <a:rPr lang="en-US" b="1" dirty="0" smtClean="0">
                <a:solidFill>
                  <a:srgbClr val="C00000"/>
                </a:solidFill>
              </a:rPr>
              <a:t>4.Gap </a:t>
            </a:r>
            <a:r>
              <a:rPr lang="en-US" b="1" dirty="0">
                <a:solidFill>
                  <a:srgbClr val="C00000"/>
                </a:solidFill>
              </a:rPr>
              <a:t>test </a:t>
            </a:r>
            <a:r>
              <a:rPr lang="en-US" b="1" dirty="0" smtClean="0">
                <a:solidFill>
                  <a:srgbClr val="C00000"/>
                </a:solidFill>
              </a:rPr>
              <a:t> </a:t>
            </a:r>
            <a:r>
              <a:rPr lang="en-US" dirty="0"/>
              <a:t>Counts the number of digits that Counts the number of digits that appear between repetitions of a particular digit and then uses the Kolmogorov-Smirnov test to compare with </a:t>
            </a:r>
            <a:r>
              <a:rPr lang="en-US" dirty="0" smtClean="0"/>
              <a:t> </a:t>
            </a:r>
            <a:r>
              <a:rPr lang="en-US" dirty="0"/>
              <a:t>the expected number of gaps. </a:t>
            </a:r>
            <a:endParaRPr lang="en-US" dirty="0" smtClean="0"/>
          </a:p>
          <a:p>
            <a:pPr marL="0" indent="0">
              <a:buNone/>
            </a:pPr>
            <a:r>
              <a:rPr lang="en-US" dirty="0" smtClean="0"/>
              <a:t>5</a:t>
            </a:r>
            <a:r>
              <a:rPr lang="en-US" dirty="0"/>
              <a:t>. </a:t>
            </a:r>
            <a:r>
              <a:rPr lang="en-US" b="1" dirty="0">
                <a:solidFill>
                  <a:srgbClr val="C00000"/>
                </a:solidFill>
              </a:rPr>
              <a:t>Poker test. </a:t>
            </a:r>
            <a:r>
              <a:rPr lang="en-US" dirty="0"/>
              <a:t>Treats numbers grouped together as a poker hand. Then the hands </a:t>
            </a:r>
            <a:r>
              <a:rPr lang="en-US"/>
              <a:t>obtained </a:t>
            </a:r>
            <a:r>
              <a:rPr lang="en-US" smtClean="0"/>
              <a:t> </a:t>
            </a:r>
            <a:r>
              <a:rPr lang="en-US" dirty="0"/>
              <a:t>are compared to what is expected using the </a:t>
            </a:r>
            <a:r>
              <a:rPr lang="en-US" dirty="0" err="1"/>
              <a:t>chisquare</a:t>
            </a:r>
            <a:r>
              <a:rPr lang="en-US" dirty="0"/>
              <a:t> </a:t>
            </a:r>
            <a:r>
              <a:rPr lang="en-US" dirty="0" smtClean="0"/>
              <a:t>test. .</a:t>
            </a:r>
            <a:endParaRPr lang="en-US" dirty="0"/>
          </a:p>
        </p:txBody>
      </p:sp>
    </p:spTree>
    <p:extLst>
      <p:ext uri="{BB962C8B-B14F-4D97-AF65-F5344CB8AC3E}">
        <p14:creationId xmlns:p14="http://schemas.microsoft.com/office/powerpoint/2010/main" val="523154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Uniformity </a:t>
            </a:r>
            <a:r>
              <a:rPr lang="en-US" dirty="0" smtClean="0"/>
              <a:t>Test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71600" y="1776549"/>
                <a:ext cx="9601200" cy="4090851"/>
              </a:xfrm>
            </p:spPr>
            <p:txBody>
              <a:bodyPr/>
              <a:lstStyle/>
              <a:p>
                <a:r>
                  <a:rPr lang="en-US" dirty="0" smtClean="0"/>
                  <a:t>In simulation modeling and data science, a sequence of continuous random numbers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𝑛</m:t>
                        </m:r>
                      </m:sub>
                    </m:sSub>
                  </m:oMath>
                </a14:m>
                <a:r>
                  <a:rPr lang="en-US" dirty="0" smtClean="0"/>
                  <a:t> </a:t>
                </a:r>
                <a:r>
                  <a:rPr lang="en-US" dirty="0"/>
                  <a:t>is considered strictly uniform if they are evenly distributed over </a:t>
                </a:r>
                <a:r>
                  <a:rPr lang="en-US" dirty="0" smtClean="0"/>
                  <a:t>the </a:t>
                </a:r>
                <a:r>
                  <a:rPr lang="en-US" dirty="0"/>
                  <a:t>continuous sample space </a:t>
                </a:r>
                <a:r>
                  <a:rPr lang="en-US" dirty="0" smtClean="0"/>
                  <a:t>[</a:t>
                </a:r>
                <a:r>
                  <a:rPr lang="en-US" dirty="0"/>
                  <a:t>0, 1</a:t>
                </a:r>
                <a:r>
                  <a:rPr lang="en-US" dirty="0" smtClean="0"/>
                  <a:t>)</a:t>
                </a:r>
              </a:p>
              <a:p>
                <a:r>
                  <a:rPr lang="en-US" b="1" dirty="0"/>
                  <a:t>Probability Specifications</a:t>
                </a:r>
              </a:p>
              <a:p>
                <a:pPr marL="0" indent="0">
                  <a:buNone/>
                </a:pPr>
                <a:r>
                  <a:rPr lang="en-US" b="1" dirty="0"/>
                  <a:t>Probability Density Function (</a:t>
                </a:r>
                <a:r>
                  <a:rPr lang="en-US" b="1" dirty="0" smtClean="0"/>
                  <a:t>PDF)</a:t>
                </a:r>
              </a:p>
              <a:p>
                <a:pPr marL="0" indent="0">
                  <a:buNone/>
                </a:pPr>
                <a:r>
                  <a:rPr lang="en-US" b="1" dirty="0" smtClean="0"/>
                  <a:t>Cumulative </a:t>
                </a:r>
                <a:r>
                  <a:rPr lang="en-US" b="1" dirty="0"/>
                  <a:t>Distribution Function (CDF)</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71600" y="1776549"/>
                <a:ext cx="9601200" cy="4090851"/>
              </a:xfrm>
              <a:blipFill>
                <a:blip r:embed="rId2"/>
                <a:stretch>
                  <a:fillRect l="-635" t="-1190"/>
                </a:stretch>
              </a:blipFill>
            </p:spPr>
            <p:txBody>
              <a:bodyPr/>
              <a:lstStyle/>
              <a:p>
                <a:r>
                  <a:rPr lang="en-US">
                    <a:noFill/>
                  </a:rPr>
                  <a:t> </a:t>
                </a:r>
              </a:p>
            </p:txBody>
          </p:sp>
        </mc:Fallback>
      </mc:AlternateContent>
    </p:spTree>
    <p:extLst>
      <p:ext uri="{BB962C8B-B14F-4D97-AF65-F5344CB8AC3E}">
        <p14:creationId xmlns:p14="http://schemas.microsoft.com/office/powerpoint/2010/main" val="1717672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875611" y="300445"/>
            <a:ext cx="10974016" cy="6204857"/>
          </a:xfrm>
          <a:prstGeom prst="rect">
            <a:avLst/>
          </a:prstGeom>
        </p:spPr>
      </p:pic>
    </p:spTree>
    <p:extLst>
      <p:ext uri="{BB962C8B-B14F-4D97-AF65-F5344CB8AC3E}">
        <p14:creationId xmlns:p14="http://schemas.microsoft.com/office/powerpoint/2010/main" val="37787561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Cumulative Distribution Function (CDF)</a:t>
            </a:r>
          </a:p>
        </p:txBody>
      </p:sp>
      <p:pic>
        <p:nvPicPr>
          <p:cNvPr id="4" name="Content Placeholder 3"/>
          <p:cNvPicPr>
            <a:picLocks noGrp="1" noChangeAspect="1"/>
          </p:cNvPicPr>
          <p:nvPr>
            <p:ph idx="1"/>
          </p:nvPr>
        </p:nvPicPr>
        <p:blipFill>
          <a:blip r:embed="rId2"/>
          <a:stretch>
            <a:fillRect/>
          </a:stretch>
        </p:blipFill>
        <p:spPr>
          <a:xfrm>
            <a:off x="1515291" y="1428750"/>
            <a:ext cx="9797143" cy="4878174"/>
          </a:xfrm>
          <a:prstGeom prst="rect">
            <a:avLst/>
          </a:prstGeom>
        </p:spPr>
      </p:pic>
    </p:spTree>
    <p:extLst>
      <p:ext uri="{BB962C8B-B14F-4D97-AF65-F5344CB8AC3E}">
        <p14:creationId xmlns:p14="http://schemas.microsoft.com/office/powerpoint/2010/main" val="7944885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193073"/>
          </a:xfrm>
        </p:spPr>
        <p:txBody>
          <a:bodyPr/>
          <a:lstStyle/>
          <a:p>
            <a:r>
              <a:rPr lang="en-US" b="1" dirty="0">
                <a:solidFill>
                  <a:srgbClr val="FF0000"/>
                </a:solidFill>
              </a:rPr>
              <a:t>Cumulative Distribution Function (CDF)</a:t>
            </a:r>
            <a:endParaRPr lang="en-US" dirty="0"/>
          </a:p>
        </p:txBody>
      </p:sp>
      <p:sp>
        <p:nvSpPr>
          <p:cNvPr id="3" name="Content Placeholder 2"/>
          <p:cNvSpPr>
            <a:spLocks noGrp="1"/>
          </p:cNvSpPr>
          <p:nvPr>
            <p:ph idx="1"/>
          </p:nvPr>
        </p:nvSpPr>
        <p:spPr/>
        <p:txBody>
          <a:bodyPr/>
          <a:lstStyle/>
          <a:p>
            <a:r>
              <a:rPr lang="en-US" b="1" dirty="0"/>
              <a:t>-As we have seen already, value of ‘infinity’ is implementation dependent </a:t>
            </a:r>
            <a:r>
              <a:rPr lang="en-US" b="1" dirty="0" smtClean="0"/>
              <a:t>,But</a:t>
            </a:r>
            <a:r>
              <a:rPr lang="en-US" b="1" dirty="0"/>
              <a:t>, the cumulative distribution function (CDF) will </a:t>
            </a:r>
            <a:r>
              <a:rPr lang="en-US" b="1" dirty="0" smtClean="0"/>
              <a:t>be</a:t>
            </a:r>
          </a:p>
          <a:p>
            <a:endParaRPr lang="en-US" b="1" dirty="0"/>
          </a:p>
          <a:p>
            <a:endParaRPr lang="en-US" b="1" dirty="0" smtClean="0"/>
          </a:p>
          <a:p>
            <a:endParaRPr lang="en-US" b="1" dirty="0"/>
          </a:p>
          <a:p>
            <a:endParaRPr lang="en-US" b="1" dirty="0" smtClean="0"/>
          </a:p>
          <a:p>
            <a:endParaRPr lang="en-US" b="1" dirty="0"/>
          </a:p>
          <a:p>
            <a:pPr marL="0" indent="0">
              <a:buNone/>
            </a:pPr>
            <a:r>
              <a:rPr lang="en-US" b="1" dirty="0" smtClean="0"/>
              <a:t> </a:t>
            </a:r>
            <a:r>
              <a:rPr lang="en-US" b="1" dirty="0"/>
              <a:t>Therefore, probability of x falling in the range x1 to x2 is, F(x2) – F(x1)</a:t>
            </a:r>
          </a:p>
        </p:txBody>
      </p:sp>
      <p:pic>
        <p:nvPicPr>
          <p:cNvPr id="4" name="Picture 3"/>
          <p:cNvPicPr>
            <a:picLocks noChangeAspect="1"/>
          </p:cNvPicPr>
          <p:nvPr/>
        </p:nvPicPr>
        <p:blipFill>
          <a:blip r:embed="rId2"/>
          <a:stretch>
            <a:fillRect/>
          </a:stretch>
        </p:blipFill>
        <p:spPr>
          <a:xfrm>
            <a:off x="4691062" y="3144474"/>
            <a:ext cx="2962275" cy="1457325"/>
          </a:xfrm>
          <a:prstGeom prst="rect">
            <a:avLst/>
          </a:prstGeom>
        </p:spPr>
      </p:pic>
    </p:spTree>
    <p:extLst>
      <p:ext uri="{BB962C8B-B14F-4D97-AF65-F5344CB8AC3E}">
        <p14:creationId xmlns:p14="http://schemas.microsoft.com/office/powerpoint/2010/main" val="41538311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Frequency test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dirty="0" smtClean="0">
                    <a:solidFill>
                      <a:srgbClr val="002060"/>
                    </a:solidFill>
                  </a:rPr>
                  <a:t>Chi-square </a:t>
                </a:r>
                <a14:m>
                  <m:oMath xmlns:m="http://schemas.openxmlformats.org/officeDocument/2006/math">
                    <m:sSup>
                      <m:sSupPr>
                        <m:ctrlPr>
                          <a:rPr lang="en-US" i="1">
                            <a:solidFill>
                              <a:srgbClr val="002060"/>
                            </a:solidFill>
                            <a:latin typeface="Cambria Math" panose="02040503050406030204" pitchFamily="18" charset="0"/>
                          </a:rPr>
                        </m:ctrlPr>
                      </m:sSupPr>
                      <m:e>
                        <m:r>
                          <a:rPr lang="en-US" i="1">
                            <a:solidFill>
                              <a:srgbClr val="002060"/>
                            </a:solidFill>
                            <a:latin typeface="Cambria Math" panose="02040503050406030204" pitchFamily="18" charset="0"/>
                          </a:rPr>
                          <m:t>𝑥</m:t>
                        </m:r>
                      </m:e>
                      <m:sup>
                        <m:r>
                          <a:rPr lang="en-US" i="1">
                            <a:solidFill>
                              <a:srgbClr val="002060"/>
                            </a:solidFill>
                            <a:latin typeface="Cambria Math" panose="02040503050406030204" pitchFamily="18" charset="0"/>
                          </a:rPr>
                          <m:t>2</m:t>
                        </m:r>
                      </m:sup>
                    </m:sSup>
                  </m:oMath>
                </a14:m>
                <a:r>
                  <a:rPr lang="el-GR" b="1" dirty="0" smtClean="0">
                    <a:solidFill>
                      <a:srgbClr val="002060"/>
                    </a:solidFill>
                  </a:rPr>
                  <a:t> </a:t>
                </a:r>
                <a:r>
                  <a:rPr lang="en-US" b="1" dirty="0" smtClean="0">
                    <a:solidFill>
                      <a:srgbClr val="002060"/>
                    </a:solidFill>
                  </a:rPr>
                  <a:t>test</a:t>
                </a:r>
              </a:p>
              <a:p>
                <a:r>
                  <a:rPr lang="en-US" dirty="0">
                    <a:solidFill>
                      <a:srgbClr val="7030A0"/>
                    </a:solidFill>
                  </a:rPr>
                  <a:t>Steps in </a:t>
                </a:r>
                <a:r>
                  <a:rPr lang="en-US" dirty="0" smtClean="0">
                    <a:solidFill>
                      <a:srgbClr val="7030A0"/>
                    </a:solidFill>
                  </a:rPr>
                  <a:t>Chi-Square</a:t>
                </a:r>
              </a:p>
              <a:p>
                <a:pPr marL="0" indent="0">
                  <a:buNone/>
                </a:pPr>
                <a:r>
                  <a:rPr lang="en-US" dirty="0" smtClean="0"/>
                  <a:t> </a:t>
                </a:r>
                <a:r>
                  <a:rPr lang="en-US" dirty="0"/>
                  <a:t>1. Determine the </a:t>
                </a:r>
                <a:r>
                  <a:rPr lang="en-US" dirty="0" smtClean="0"/>
                  <a:t>appropriate test</a:t>
                </a:r>
              </a:p>
              <a:p>
                <a:pPr marL="0" indent="0">
                  <a:buNone/>
                </a:pPr>
                <a:r>
                  <a:rPr lang="en-US" dirty="0" smtClean="0"/>
                  <a:t> </a:t>
                </a:r>
                <a:r>
                  <a:rPr lang="en-US" dirty="0"/>
                  <a:t>2. Establish the level of significance: α </a:t>
                </a:r>
                <a:endParaRPr lang="en-US" dirty="0" smtClean="0"/>
              </a:p>
              <a:p>
                <a:pPr marL="0" indent="0">
                  <a:buNone/>
                </a:pPr>
                <a:r>
                  <a:rPr lang="en-US" dirty="0" smtClean="0"/>
                  <a:t>3</a:t>
                </a:r>
                <a:r>
                  <a:rPr lang="en-US" dirty="0"/>
                  <a:t>. Formulate the statistical hypothesis </a:t>
                </a:r>
                <a:endParaRPr lang="en-US" dirty="0" smtClean="0"/>
              </a:p>
              <a:p>
                <a:pPr marL="0" indent="0">
                  <a:buNone/>
                </a:pPr>
                <a:r>
                  <a:rPr lang="en-US" dirty="0" smtClean="0"/>
                  <a:t>4</a:t>
                </a:r>
                <a:r>
                  <a:rPr lang="en-US" dirty="0"/>
                  <a:t>. </a:t>
                </a:r>
                <a:r>
                  <a:rPr lang="en-US" dirty="0" smtClean="0"/>
                  <a:t>Calculate the </a:t>
                </a:r>
                <a:r>
                  <a:rPr lang="en-US" dirty="0"/>
                  <a:t>test statistic </a:t>
                </a:r>
                <a:endParaRPr lang="en-US" dirty="0" smtClean="0"/>
              </a:p>
              <a:p>
                <a:pPr marL="0" indent="0">
                  <a:buNone/>
                </a:pPr>
                <a:r>
                  <a:rPr lang="en-US" dirty="0" smtClean="0"/>
                  <a:t>5</a:t>
                </a:r>
                <a:r>
                  <a:rPr lang="en-US" dirty="0"/>
                  <a:t>. Determine the degree of freedom </a:t>
                </a:r>
                <a:endParaRPr lang="en-US" dirty="0" smtClean="0"/>
              </a:p>
              <a:p>
                <a:pPr marL="0" indent="0">
                  <a:buNone/>
                </a:pPr>
                <a:r>
                  <a:rPr lang="en-US" dirty="0" smtClean="0"/>
                  <a:t>6</a:t>
                </a:r>
                <a:r>
                  <a:rPr lang="en-US" dirty="0"/>
                  <a:t>. Compare computed test statistic against a Compare computed test statistic against a tabled/critical value</a:t>
                </a: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35" t="-2041" r="-889"/>
                </a:stretch>
              </a:blipFill>
            </p:spPr>
            <p:txBody>
              <a:bodyPr/>
              <a:lstStyle/>
              <a:p>
                <a:r>
                  <a:rPr lang="en-US">
                    <a:noFill/>
                  </a:rPr>
                  <a:t> </a:t>
                </a:r>
              </a:p>
            </p:txBody>
          </p:sp>
        </mc:Fallback>
      </mc:AlternateContent>
    </p:spTree>
    <p:extLst>
      <p:ext uri="{BB962C8B-B14F-4D97-AF65-F5344CB8AC3E}">
        <p14:creationId xmlns:p14="http://schemas.microsoft.com/office/powerpoint/2010/main" val="27723204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6651" y="82748"/>
            <a:ext cx="9824878" cy="6409492"/>
          </a:xfrm>
          <a:prstGeom prst="rect">
            <a:avLst/>
          </a:prstGeom>
        </p:spPr>
      </p:pic>
    </p:spTree>
    <p:extLst>
      <p:ext uri="{BB962C8B-B14F-4D97-AF65-F5344CB8AC3E}">
        <p14:creationId xmlns:p14="http://schemas.microsoft.com/office/powerpoint/2010/main" val="36790708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5029" y="78154"/>
            <a:ext cx="9862456" cy="6499914"/>
          </a:xfrm>
          <a:prstGeom prst="rect">
            <a:avLst/>
          </a:prstGeom>
        </p:spPr>
      </p:pic>
    </p:spTree>
    <p:extLst>
      <p:ext uri="{BB962C8B-B14F-4D97-AF65-F5344CB8AC3E}">
        <p14:creationId xmlns:p14="http://schemas.microsoft.com/office/powerpoint/2010/main" val="20196874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47999" y="313509"/>
            <a:ext cx="6997337" cy="6669893"/>
          </a:xfrm>
          <a:prstGeom prst="rect">
            <a:avLst/>
          </a:prstGeom>
        </p:spPr>
      </p:pic>
    </p:spTree>
    <p:extLst>
      <p:ext uri="{BB962C8B-B14F-4D97-AF65-F5344CB8AC3E}">
        <p14:creationId xmlns:p14="http://schemas.microsoft.com/office/powerpoint/2010/main" val="31899438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4129" y="365761"/>
            <a:ext cx="8032306" cy="2808514"/>
          </a:xfrm>
          <a:prstGeom prst="rect">
            <a:avLst/>
          </a:prstGeom>
        </p:spPr>
      </p:pic>
      <p:pic>
        <p:nvPicPr>
          <p:cNvPr id="3" name="Picture 2"/>
          <p:cNvPicPr>
            <a:picLocks noChangeAspect="1"/>
          </p:cNvPicPr>
          <p:nvPr/>
        </p:nvPicPr>
        <p:blipFill>
          <a:blip r:embed="rId3"/>
          <a:stretch>
            <a:fillRect/>
          </a:stretch>
        </p:blipFill>
        <p:spPr>
          <a:xfrm>
            <a:off x="994129" y="3174275"/>
            <a:ext cx="8032306" cy="3135085"/>
          </a:xfrm>
          <a:prstGeom prst="rect">
            <a:avLst/>
          </a:prstGeom>
        </p:spPr>
      </p:pic>
    </p:spTree>
    <p:extLst>
      <p:ext uri="{BB962C8B-B14F-4D97-AF65-F5344CB8AC3E}">
        <p14:creationId xmlns:p14="http://schemas.microsoft.com/office/powerpoint/2010/main" val="20836111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8243" y="182881"/>
            <a:ext cx="10238065" cy="6583912"/>
          </a:xfrm>
          <a:prstGeom prst="rect">
            <a:avLst/>
          </a:prstGeom>
        </p:spPr>
      </p:pic>
    </p:spTree>
    <p:extLst>
      <p:ext uri="{BB962C8B-B14F-4D97-AF65-F5344CB8AC3E}">
        <p14:creationId xmlns:p14="http://schemas.microsoft.com/office/powerpoint/2010/main" val="23080821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1153" y="89505"/>
            <a:ext cx="10554790" cy="6637865"/>
          </a:xfrm>
          <a:prstGeom prst="rect">
            <a:avLst/>
          </a:prstGeom>
        </p:spPr>
      </p:pic>
    </p:spTree>
    <p:extLst>
      <p:ext uri="{BB962C8B-B14F-4D97-AF65-F5344CB8AC3E}">
        <p14:creationId xmlns:p14="http://schemas.microsoft.com/office/powerpoint/2010/main" val="16993738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1520" y="85591"/>
            <a:ext cx="10816046" cy="6741093"/>
          </a:xfrm>
          <a:prstGeom prst="rect">
            <a:avLst/>
          </a:prstGeom>
        </p:spPr>
      </p:pic>
    </p:spTree>
    <p:extLst>
      <p:ext uri="{BB962C8B-B14F-4D97-AF65-F5344CB8AC3E}">
        <p14:creationId xmlns:p14="http://schemas.microsoft.com/office/powerpoint/2010/main" val="291520092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71600" y="685800"/>
            <a:ext cx="9601200" cy="646611"/>
          </a:xfrm>
        </p:spPr>
        <p:txBody>
          <a:bodyPr>
            <a:normAutofit fontScale="90000"/>
          </a:bodyPr>
          <a:lstStyle/>
          <a:p>
            <a:r>
              <a:rPr lang="en-US" b="1" dirty="0" smtClean="0">
                <a:solidFill>
                  <a:srgbClr val="FF0000"/>
                </a:solidFill>
              </a:rPr>
              <a:t>RUN TESTS </a:t>
            </a:r>
            <a:endParaRPr lang="en-US" b="1"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371600" y="1332412"/>
            <a:ext cx="9601200" cy="5054368"/>
          </a:xfrm>
          <a:prstGeom prst="rect">
            <a:avLst/>
          </a:prstGeom>
        </p:spPr>
      </p:pic>
    </p:spTree>
    <p:extLst>
      <p:ext uri="{BB962C8B-B14F-4D97-AF65-F5344CB8AC3E}">
        <p14:creationId xmlns:p14="http://schemas.microsoft.com/office/powerpoint/2010/main" val="11454746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37260"/>
          </a:xfrm>
        </p:spPr>
        <p:txBody>
          <a:bodyPr/>
          <a:lstStyle/>
          <a:p>
            <a:r>
              <a:rPr lang="en-US" b="1" dirty="0" smtClean="0">
                <a:solidFill>
                  <a:srgbClr val="FF0000"/>
                </a:solidFill>
              </a:rPr>
              <a:t>Run up and run down </a:t>
            </a:r>
            <a:endParaRPr lang="en-US" b="1" dirty="0">
              <a:solidFill>
                <a:srgbClr val="FF0000"/>
              </a:solidFill>
            </a:endParaRPr>
          </a:p>
        </p:txBody>
      </p:sp>
      <p:sp>
        <p:nvSpPr>
          <p:cNvPr id="4" name="Content Placeholder 3"/>
          <p:cNvSpPr>
            <a:spLocks noGrp="1"/>
          </p:cNvSpPr>
          <p:nvPr>
            <p:ph idx="1"/>
          </p:nvPr>
        </p:nvSpPr>
        <p:spPr>
          <a:xfrm>
            <a:off x="1371600" y="1623060"/>
            <a:ext cx="9862457" cy="5234940"/>
          </a:xfrm>
        </p:spPr>
        <p:txBody>
          <a:bodyPr>
            <a:normAutofit/>
          </a:bodyPr>
          <a:lstStyle/>
          <a:p>
            <a:endParaRPr lang="en-US" dirty="0"/>
          </a:p>
          <a:p>
            <a:pPr lvl="1"/>
            <a:r>
              <a:rPr lang="en-US" dirty="0"/>
              <a:t>an up run is a sequence of numbers each of which is succeeded by a larger number; a down run is a </a:t>
            </a:r>
            <a:r>
              <a:rPr lang="en-US" dirty="0" err="1"/>
              <a:t>squence</a:t>
            </a:r>
            <a:r>
              <a:rPr lang="en-US" dirty="0"/>
              <a:t> of numbers each of which is succeeded by a smaller number</a:t>
            </a:r>
            <a:endParaRPr lang="en-US" sz="1600" dirty="0"/>
          </a:p>
          <a:p>
            <a:pPr lvl="0"/>
            <a:r>
              <a:rPr lang="en-US" dirty="0"/>
              <a:t>If a sequence of numbers have too few runs, it is unlikely a real random sequence. E.g. 0.08, 0.18, 0.23, 0.36, 0.42, 0.55, 0.63, 0.72, 0.89, 0.91, the sequence has one run, an up run. It is not likely a random sequence.</a:t>
            </a:r>
            <a:endParaRPr lang="en-US" sz="1600" dirty="0"/>
          </a:p>
          <a:p>
            <a:pPr lvl="0"/>
            <a:r>
              <a:rPr lang="en-US" dirty="0"/>
              <a:t>If a sequence of numbers have too many runs, it is unlikely a real random sequence. E.g. 0.08, 0.93, 0.15, 0.96, 0.26, 0.84, 0.28, 0.79, 0.36, 0.57. It has nine runs, five up and four down. It is not likely a random sequence.</a:t>
            </a:r>
            <a:endParaRPr lang="en-US" sz="1600" dirty="0"/>
          </a:p>
          <a:p>
            <a:pPr lvl="0"/>
            <a:r>
              <a:rPr lang="en-US" dirty="0"/>
              <a:t>If </a:t>
            </a:r>
            <a:r>
              <a:rPr lang="en-US" i="1" dirty="0"/>
              <a:t>a</a:t>
            </a:r>
            <a:r>
              <a:rPr lang="en-US" dirty="0"/>
              <a:t> is the total number of runs in a truly random sequence, the mean and variance of </a:t>
            </a:r>
            <a:r>
              <a:rPr lang="en-US" i="1" dirty="0"/>
              <a:t>a</a:t>
            </a:r>
            <a:r>
              <a:rPr lang="en-US" dirty="0"/>
              <a:t> is given </a:t>
            </a:r>
            <a:r>
              <a:rPr lang="en-US" dirty="0" smtClean="0"/>
              <a:t>by</a:t>
            </a:r>
          </a:p>
          <a:p>
            <a:pPr lvl="0"/>
            <a:r>
              <a:rPr lang="en-US" sz="1600" dirty="0"/>
              <a:t> </a:t>
            </a:r>
            <a:r>
              <a:rPr lang="en-US" sz="1600" dirty="0" smtClean="0"/>
              <a:t>                                       and</a:t>
            </a:r>
            <a:endParaRPr lang="en-US" sz="1600" dirty="0"/>
          </a:p>
          <a:p>
            <a:pPr marL="0" indent="0">
              <a:buNone/>
            </a:pPr>
            <a:endParaRPr lang="en-US" dirty="0"/>
          </a:p>
        </p:txBody>
      </p:sp>
      <p:pic>
        <p:nvPicPr>
          <p:cNvPr id="5" name="Picture 4"/>
          <p:cNvPicPr>
            <a:picLocks noChangeAspect="1"/>
          </p:cNvPicPr>
          <p:nvPr/>
        </p:nvPicPr>
        <p:blipFill>
          <a:blip r:embed="rId2"/>
          <a:stretch>
            <a:fillRect/>
          </a:stretch>
        </p:blipFill>
        <p:spPr>
          <a:xfrm>
            <a:off x="1941463" y="5908084"/>
            <a:ext cx="1385890" cy="593953"/>
          </a:xfrm>
          <a:prstGeom prst="rect">
            <a:avLst/>
          </a:prstGeom>
        </p:spPr>
      </p:pic>
      <p:pic>
        <p:nvPicPr>
          <p:cNvPr id="8" name="Picture 7"/>
          <p:cNvPicPr>
            <a:picLocks noChangeAspect="1"/>
          </p:cNvPicPr>
          <p:nvPr/>
        </p:nvPicPr>
        <p:blipFill>
          <a:blip r:embed="rId3"/>
          <a:stretch>
            <a:fillRect/>
          </a:stretch>
        </p:blipFill>
        <p:spPr>
          <a:xfrm>
            <a:off x="4703722" y="5908083"/>
            <a:ext cx="1723203" cy="640047"/>
          </a:xfrm>
          <a:prstGeom prst="rect">
            <a:avLst/>
          </a:prstGeom>
        </p:spPr>
      </p:pic>
    </p:spTree>
    <p:extLst>
      <p:ext uri="{BB962C8B-B14F-4D97-AF65-F5344CB8AC3E}">
        <p14:creationId xmlns:p14="http://schemas.microsoft.com/office/powerpoint/2010/main" val="40676991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Runs up and runs down </a:t>
            </a:r>
            <a:endParaRPr lang="en-US" dirty="0"/>
          </a:p>
        </p:txBody>
      </p:sp>
      <p:pic>
        <p:nvPicPr>
          <p:cNvPr id="4" name="Content Placeholder 3"/>
          <p:cNvPicPr>
            <a:picLocks noGrp="1" noChangeAspect="1"/>
          </p:cNvPicPr>
          <p:nvPr>
            <p:ph idx="1"/>
          </p:nvPr>
        </p:nvPicPr>
        <p:blipFill>
          <a:blip r:embed="rId2"/>
          <a:stretch>
            <a:fillRect/>
          </a:stretch>
        </p:blipFill>
        <p:spPr>
          <a:xfrm>
            <a:off x="1371600" y="1319349"/>
            <a:ext cx="8961120" cy="5329645"/>
          </a:xfrm>
          <a:prstGeom prst="rect">
            <a:avLst/>
          </a:prstGeom>
        </p:spPr>
      </p:pic>
    </p:spTree>
    <p:extLst>
      <p:ext uri="{BB962C8B-B14F-4D97-AF65-F5344CB8AC3E}">
        <p14:creationId xmlns:p14="http://schemas.microsoft.com/office/powerpoint/2010/main" val="37404137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1332411" y="470263"/>
            <a:ext cx="8329613" cy="4585244"/>
          </a:xfrm>
          <a:prstGeom prst="rect">
            <a:avLst/>
          </a:prstGeom>
        </p:spPr>
      </p:pic>
    </p:spTree>
    <p:extLst>
      <p:ext uri="{BB962C8B-B14F-4D97-AF65-F5344CB8AC3E}">
        <p14:creationId xmlns:p14="http://schemas.microsoft.com/office/powerpoint/2010/main" val="42824661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589" y="0"/>
            <a:ext cx="9431381" cy="6858000"/>
          </a:xfrm>
          <a:prstGeom prst="rect">
            <a:avLst/>
          </a:prstGeom>
        </p:spPr>
      </p:pic>
      <p:pic>
        <p:nvPicPr>
          <p:cNvPr id="2" name="Picture 1"/>
          <p:cNvPicPr>
            <a:picLocks noChangeAspect="1"/>
          </p:cNvPicPr>
          <p:nvPr/>
        </p:nvPicPr>
        <p:blipFill>
          <a:blip r:embed="rId3"/>
          <a:stretch>
            <a:fillRect/>
          </a:stretch>
        </p:blipFill>
        <p:spPr>
          <a:xfrm>
            <a:off x="9723258" y="0"/>
            <a:ext cx="2468742" cy="4918710"/>
          </a:xfrm>
          <a:prstGeom prst="rect">
            <a:avLst/>
          </a:prstGeom>
        </p:spPr>
      </p:pic>
    </p:spTree>
    <p:extLst>
      <p:ext uri="{BB962C8B-B14F-4D97-AF65-F5344CB8AC3E}">
        <p14:creationId xmlns:p14="http://schemas.microsoft.com/office/powerpoint/2010/main" val="18376773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Runs above and below the mean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4663" y="1698172"/>
            <a:ext cx="7654834" cy="5199017"/>
          </a:xfrm>
        </p:spPr>
      </p:pic>
    </p:spTree>
    <p:extLst>
      <p:ext uri="{BB962C8B-B14F-4D97-AF65-F5344CB8AC3E}">
        <p14:creationId xmlns:p14="http://schemas.microsoft.com/office/powerpoint/2010/main" val="16244384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36469" y="403661"/>
            <a:ext cx="8464731" cy="6454339"/>
          </a:xfrm>
          <a:prstGeom prst="rect">
            <a:avLst/>
          </a:prstGeom>
        </p:spPr>
      </p:pic>
    </p:spTree>
    <p:extLst>
      <p:ext uri="{BB962C8B-B14F-4D97-AF65-F5344CB8AC3E}">
        <p14:creationId xmlns:p14="http://schemas.microsoft.com/office/powerpoint/2010/main" val="20348000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217" y="117566"/>
            <a:ext cx="9575074" cy="6583680"/>
          </a:xfrm>
          <a:prstGeom prst="rect">
            <a:avLst/>
          </a:prstGeom>
        </p:spPr>
      </p:pic>
    </p:spTree>
    <p:extLst>
      <p:ext uri="{BB962C8B-B14F-4D97-AF65-F5344CB8AC3E}">
        <p14:creationId xmlns:p14="http://schemas.microsoft.com/office/powerpoint/2010/main" val="2949305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753" y="404950"/>
            <a:ext cx="10471436" cy="5726566"/>
          </a:xfrm>
          <a:prstGeom prst="rect">
            <a:avLst/>
          </a:prstGeom>
        </p:spPr>
      </p:pic>
    </p:spTree>
    <p:extLst>
      <p:ext uri="{BB962C8B-B14F-4D97-AF65-F5344CB8AC3E}">
        <p14:creationId xmlns:p14="http://schemas.microsoft.com/office/powerpoint/2010/main" val="1435759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71600" y="685800"/>
            <a:ext cx="9601200" cy="1090749"/>
          </a:xfrm>
        </p:spPr>
        <p:txBody>
          <a:bodyPr/>
          <a:lstStyle/>
          <a:p>
            <a:r>
              <a:rPr lang="en-US" b="1" dirty="0">
                <a:solidFill>
                  <a:srgbClr val="FF0000"/>
                </a:solidFill>
                <a:latin typeface="Times New Roman" panose="02020603050405020304" pitchFamily="18" charset="0"/>
              </a:rPr>
              <a:t>Runs test: length of runs.</a:t>
            </a:r>
            <a:endParaRPr lang="en-US" b="1" dirty="0">
              <a:solidFill>
                <a:srgbClr val="FF0000"/>
              </a:solidFill>
            </a:endParaRPr>
          </a:p>
        </p:txBody>
      </p:sp>
      <p:pic>
        <p:nvPicPr>
          <p:cNvPr id="6" name="Content Placeholder 5"/>
          <p:cNvPicPr>
            <a:picLocks noGrp="1" noChangeAspect="1"/>
          </p:cNvPicPr>
          <p:nvPr>
            <p:ph idx="1"/>
          </p:nvPr>
        </p:nvPicPr>
        <p:blipFill>
          <a:blip r:embed="rId2"/>
          <a:stretch>
            <a:fillRect/>
          </a:stretch>
        </p:blipFill>
        <p:spPr>
          <a:xfrm>
            <a:off x="1371600" y="1358538"/>
            <a:ext cx="7746274" cy="5381896"/>
          </a:xfrm>
          <a:prstGeom prst="rect">
            <a:avLst/>
          </a:prstGeom>
        </p:spPr>
      </p:pic>
    </p:spTree>
    <p:extLst>
      <p:ext uri="{BB962C8B-B14F-4D97-AF65-F5344CB8AC3E}">
        <p14:creationId xmlns:p14="http://schemas.microsoft.com/office/powerpoint/2010/main" val="40627173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062388" y="156754"/>
            <a:ext cx="11033252" cy="6191795"/>
          </a:xfrm>
        </p:spPr>
      </p:pic>
    </p:spTree>
    <p:extLst>
      <p:ext uri="{BB962C8B-B14F-4D97-AF65-F5344CB8AC3E}">
        <p14:creationId xmlns:p14="http://schemas.microsoft.com/office/powerpoint/2010/main" val="209209905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710" y="0"/>
            <a:ext cx="8820579" cy="6858000"/>
          </a:xfrm>
          <a:prstGeom prst="rect">
            <a:avLst/>
          </a:prstGeom>
        </p:spPr>
      </p:pic>
    </p:spTree>
    <p:extLst>
      <p:ext uri="{BB962C8B-B14F-4D97-AF65-F5344CB8AC3E}">
        <p14:creationId xmlns:p14="http://schemas.microsoft.com/office/powerpoint/2010/main" val="1925844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406" y="0"/>
            <a:ext cx="8961120" cy="6858000"/>
          </a:xfrm>
          <a:prstGeom prst="rect">
            <a:avLst/>
          </a:prstGeom>
        </p:spPr>
      </p:pic>
    </p:spTree>
    <p:extLst>
      <p:ext uri="{BB962C8B-B14F-4D97-AF65-F5344CB8AC3E}">
        <p14:creationId xmlns:p14="http://schemas.microsoft.com/office/powerpoint/2010/main" val="91636459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009" y="444138"/>
            <a:ext cx="8197430" cy="6000070"/>
          </a:xfrm>
          <a:prstGeom prst="rect">
            <a:avLst/>
          </a:prstGeom>
        </p:spPr>
      </p:pic>
    </p:spTree>
    <p:extLst>
      <p:ext uri="{BB962C8B-B14F-4D97-AF65-F5344CB8AC3E}">
        <p14:creationId xmlns:p14="http://schemas.microsoft.com/office/powerpoint/2010/main" val="179613271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02474"/>
            <a:ext cx="9601200" cy="1012371"/>
          </a:xfrm>
        </p:spPr>
        <p:txBody>
          <a:bodyPr/>
          <a:lstStyle/>
          <a:p>
            <a:r>
              <a:rPr lang="en-US" dirty="0" smtClean="0"/>
              <a:t>Testing </a:t>
            </a:r>
            <a:r>
              <a:rPr lang="en-US" dirty="0"/>
              <a:t>for Auto-correlation</a:t>
            </a:r>
          </a:p>
        </p:txBody>
      </p:sp>
      <p:sp>
        <p:nvSpPr>
          <p:cNvPr id="3" name="Content Placeholder 2"/>
          <p:cNvSpPr>
            <a:spLocks noGrp="1"/>
          </p:cNvSpPr>
          <p:nvPr>
            <p:ph idx="1"/>
          </p:nvPr>
        </p:nvSpPr>
        <p:spPr>
          <a:xfrm>
            <a:off x="1371599" y="979714"/>
            <a:ext cx="10097589" cy="5664927"/>
          </a:xfrm>
        </p:spPr>
        <p:txBody>
          <a:bodyPr>
            <a:normAutofit fontScale="92500" lnSpcReduction="20000"/>
          </a:bodyPr>
          <a:lstStyle/>
          <a:p>
            <a:r>
              <a:rPr lang="en-US" dirty="0" smtClean="0"/>
              <a:t> </a:t>
            </a:r>
            <a:r>
              <a:rPr lang="en-US" dirty="0"/>
              <a:t>we tested the uniformity of random numbers using chi-square test. But uniformity is essential condition of random numbers, not the sufficient condition. For example if numbers .1, .2, .3, .4, … are tested by chi-square test, they will be hundred percent uniform with chi-square value equal to zero, but numbers have correlation. This means they are not random. This means we need another test for testing the correlation of the random numbers. We device another test so that correlation between two adjoining random numbers is tested i.e., pair of random numbers are to be taken. We check the random numbers in two dimensions. We construct a square matrix say of </a:t>
            </a:r>
            <a:r>
              <a:rPr lang="en-US" dirty="0" err="1"/>
              <a:t>n×n</a:t>
            </a:r>
            <a:r>
              <a:rPr lang="en-US" dirty="0"/>
              <a:t> cells. For simplicity we take n = 3. In this way rows and columns of matrix have size 0.33. Cell(</a:t>
            </a:r>
            <a:r>
              <a:rPr lang="en-US" dirty="0" err="1"/>
              <a:t>i</a:t>
            </a:r>
            <a:r>
              <a:rPr lang="en-US" dirty="0"/>
              <a:t>, j) of the matrix are shown in Fig. 4.5. We chose first two numbers, say R1 and R2. If R1 ≤ 0.33 and R2≤ 0.33, then both numbers lie in cell (1,1) of the matrix. Next we chose second and third number. Same way we test that in which cell both numbers fall. This process is continued till all the succeeding pairs are over. Then we count random pairs in each cell. Expected numbers of pairs in each cell are: </a:t>
            </a:r>
            <a:endParaRPr lang="en-US" dirty="0" smtClean="0"/>
          </a:p>
          <a:p>
            <a:r>
              <a:rPr lang="en-US" dirty="0" err="1" smtClean="0"/>
              <a:t>E</a:t>
            </a:r>
            <a:r>
              <a:rPr lang="en-US" sz="1900" baseline="-25000" dirty="0" err="1" smtClean="0"/>
              <a:t>i</a:t>
            </a:r>
            <a:r>
              <a:rPr lang="en-US" dirty="0" smtClean="0"/>
              <a:t> </a:t>
            </a:r>
            <a:r>
              <a:rPr lang="en-US" dirty="0"/>
              <a:t>= (total number of random numbers – 1)/number of </a:t>
            </a:r>
            <a:r>
              <a:rPr lang="en-US" dirty="0" smtClean="0"/>
              <a:t>cells</a:t>
            </a:r>
          </a:p>
          <a:p>
            <a:r>
              <a:rPr lang="en-US" dirty="0" smtClean="0"/>
              <a:t> </a:t>
            </a:r>
            <a:r>
              <a:rPr lang="en-US" dirty="0"/>
              <a:t>This way frequency Oi of pair in each cell is </a:t>
            </a:r>
            <a:r>
              <a:rPr lang="en-US" dirty="0" smtClean="0"/>
              <a:t>calculated</a:t>
            </a:r>
          </a:p>
          <a:p>
            <a:pPr marL="0" indent="0">
              <a:buNone/>
            </a:pPr>
            <a:endParaRPr lang="en-US" dirty="0" smtClean="0"/>
          </a:p>
          <a:p>
            <a:pPr marL="0" indent="0">
              <a:buNone/>
            </a:pPr>
            <a:endParaRPr lang="en-US" dirty="0"/>
          </a:p>
          <a:p>
            <a:pPr marL="0" indent="0">
              <a:buNone/>
            </a:pPr>
            <a:r>
              <a:rPr lang="en-US" dirty="0" smtClean="0"/>
              <a:t>Following </a:t>
            </a:r>
            <a:r>
              <a:rPr lang="en-US" dirty="0"/>
              <a:t>random numbers have been generated by congruential method. Test their randomness. 49 95 82 19 41 31 12 53 62 40 87 83 26 01 91 55 38 75 90 35 71 57 27 85 52 08 35 57 88 38 77 86 29 18 09 96 58 22 08 93 85 45 79 68 20 11 78 93 21 13 06 32 63 79 54 67 35 18 81 40 62 13 76 74 76 45 29 36 80 78 95 25 52.</a:t>
            </a:r>
          </a:p>
        </p:txBody>
      </p:sp>
      <p:pic>
        <p:nvPicPr>
          <p:cNvPr id="4" name="Picture 3"/>
          <p:cNvPicPr>
            <a:picLocks noChangeAspect="1"/>
          </p:cNvPicPr>
          <p:nvPr/>
        </p:nvPicPr>
        <p:blipFill>
          <a:blip r:embed="rId2"/>
          <a:stretch>
            <a:fillRect/>
          </a:stretch>
        </p:blipFill>
        <p:spPr>
          <a:xfrm>
            <a:off x="9170126" y="3566162"/>
            <a:ext cx="1959428" cy="1776547"/>
          </a:xfrm>
          <a:prstGeom prst="rect">
            <a:avLst/>
          </a:prstGeom>
        </p:spPr>
      </p:pic>
    </p:spTree>
    <p:extLst>
      <p:ext uri="{BB962C8B-B14F-4D97-AF65-F5344CB8AC3E}">
        <p14:creationId xmlns:p14="http://schemas.microsoft.com/office/powerpoint/2010/main" val="41697723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11034"/>
            <a:ext cx="9601200" cy="777240"/>
          </a:xfrm>
        </p:spPr>
        <p:txBody>
          <a:bodyPr>
            <a:normAutofit fontScale="90000"/>
          </a:bodyPr>
          <a:lstStyle/>
          <a:p>
            <a:r>
              <a:rPr lang="en-US" dirty="0"/>
              <a:t>Tests for Auto-correlation</a:t>
            </a:r>
            <a:br>
              <a:rPr lang="en-US" dirty="0"/>
            </a:br>
            <a:endParaRPr lang="en-US" dirty="0"/>
          </a:p>
        </p:txBody>
      </p:sp>
      <p:sp>
        <p:nvSpPr>
          <p:cNvPr id="3" name="Content Placeholder 2"/>
          <p:cNvSpPr>
            <a:spLocks noGrp="1"/>
          </p:cNvSpPr>
          <p:nvPr>
            <p:ph idx="1"/>
          </p:nvPr>
        </p:nvSpPr>
        <p:spPr>
          <a:xfrm>
            <a:off x="1371600" y="679269"/>
            <a:ext cx="9601200" cy="5188131"/>
          </a:xfrm>
        </p:spPr>
        <p:txBody>
          <a:bodyPr/>
          <a:lstStyle/>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tests for auto-correlation are concerned with the dependence between numbers in a sequence.</a:t>
            </a:r>
            <a:endParaRPr lang="en-US" sz="16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test computes the auto-correlation between every </a:t>
            </a:r>
            <a:r>
              <a:rPr lang="en-US"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numbers (</a:t>
            </a:r>
            <a:r>
              <a:rPr lang="en-US"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also known as the lag) starting with the </a:t>
            </a:r>
            <a:r>
              <a:rPr lang="en-US" i="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endParaRPr lang="en-US" sz="16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pic>
        <p:nvPicPr>
          <p:cNvPr id="15" name="Picture 14"/>
          <p:cNvPicPr>
            <a:picLocks noChangeAspect="1"/>
          </p:cNvPicPr>
          <p:nvPr/>
        </p:nvPicPr>
        <p:blipFill>
          <a:blip r:embed="rId2"/>
          <a:stretch>
            <a:fillRect/>
          </a:stretch>
        </p:blipFill>
        <p:spPr>
          <a:xfrm>
            <a:off x="837585" y="2417310"/>
            <a:ext cx="11049616" cy="3643856"/>
          </a:xfrm>
          <a:prstGeom prst="rect">
            <a:avLst/>
          </a:prstGeom>
        </p:spPr>
      </p:pic>
    </p:spTree>
    <p:extLst>
      <p:ext uri="{BB962C8B-B14F-4D97-AF65-F5344CB8AC3E}">
        <p14:creationId xmlns:p14="http://schemas.microsoft.com/office/powerpoint/2010/main" val="246130135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40419" y="121024"/>
            <a:ext cx="10174428" cy="6736976"/>
          </a:xfrm>
          <a:prstGeom prst="rect">
            <a:avLst/>
          </a:prstGeom>
        </p:spPr>
      </p:pic>
    </p:spTree>
    <p:extLst>
      <p:ext uri="{BB962C8B-B14F-4D97-AF65-F5344CB8AC3E}">
        <p14:creationId xmlns:p14="http://schemas.microsoft.com/office/powerpoint/2010/main" val="6431339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645459"/>
            <a:ext cx="9601200" cy="5221941"/>
          </a:xfrm>
        </p:spPr>
        <p:txBody>
          <a:bodyPr>
            <a:normAutofit/>
          </a:bodyPr>
          <a:lstStyle/>
          <a:p>
            <a:r>
              <a:rPr lang="en-US" dirty="0">
                <a:solidFill>
                  <a:srgbClr val="242424"/>
                </a:solidFill>
                <a:latin typeface="source-serif-pro"/>
              </a:rPr>
              <a:t>Test whether the 3rd, 7th, 11th, and so on numbers in the sequence in the following random number sample are auto-correlated. (Zα=0.05 and Z0.025=1.96)</a:t>
            </a:r>
            <a:r>
              <a:rPr lang="en-US" dirty="0"/>
              <a:t/>
            </a:r>
            <a:br>
              <a:rPr lang="en-US" dirty="0"/>
            </a:br>
            <a:r>
              <a:rPr lang="en-US" b="1" dirty="0">
                <a:solidFill>
                  <a:srgbClr val="242424"/>
                </a:solidFill>
                <a:latin typeface="source-serif-pro"/>
              </a:rPr>
              <a:t>0.12 0.01 0.23 0.28 0.89 0.31 0.64 0.28 0.83 0.93 0.99 0.15 0.33 0.35 0.91 0.41 0.60 0.27 0.75 0.88 0.68 0.49 0.05 0.43 0.95 0.58 0.19 0.36 0.69 </a:t>
            </a:r>
            <a:r>
              <a:rPr lang="en-US" b="1" dirty="0" smtClean="0">
                <a:solidFill>
                  <a:srgbClr val="242424"/>
                </a:solidFill>
                <a:latin typeface="source-serif-pro"/>
              </a:rPr>
              <a:t>0.87</a:t>
            </a:r>
          </a:p>
          <a:p>
            <a:r>
              <a:rPr lang="en-US" dirty="0"/>
              <a:t>A sequence of 50 random numbers is generated. You are asked to test whether every 5th number, starting from the 4th number, is independent at a 5% significance </a:t>
            </a:r>
            <a:r>
              <a:rPr lang="en-US" dirty="0" smtClean="0"/>
              <a:t>level).</a:t>
            </a:r>
            <a:r>
              <a:rPr lang="en-US" dirty="0"/>
              <a:t>The Sequence </a:t>
            </a:r>
            <a:r>
              <a:rPr lang="en-US" dirty="0" smtClean="0"/>
              <a:t>(N=50):</a:t>
            </a:r>
            <a:r>
              <a:rPr lang="en-US" dirty="0"/>
              <a:t>0.15, 0.22, 0.91, 0.05, 0.44, 0.38, 0.12, 0.67, 0.82, 0.11,0.29, 0.45, 0.08, 0.54, 0.72, 0.33, 0.19, 0.22, 0.67, 0.81,0.05, 0.44, 0.92, 0.18, 0.37, 0.61, 0.29, 0.84, 0.55, 0.98,0.12, 0.39, 0.76, 0.09, 0.48, 0.63, 0.25, 0.88, 0.91, 0.15,0.34, 0.77, 0.52, 0.64, 0.28, 0.10, 0.93, 0.41, 0.02, 0.59</a:t>
            </a:r>
          </a:p>
        </p:txBody>
      </p:sp>
      <p:graphicFrame>
        <p:nvGraphicFramePr>
          <p:cNvPr id="4" name="Table 3"/>
          <p:cNvGraphicFramePr>
            <a:graphicFrameLocks noGrp="1"/>
          </p:cNvGraphicFramePr>
          <p:nvPr>
            <p:extLst>
              <p:ext uri="{D42A27DB-BD31-4B8C-83A1-F6EECF244321}">
                <p14:modId xmlns:p14="http://schemas.microsoft.com/office/powerpoint/2010/main" val="1845474074"/>
              </p:ext>
            </p:extLst>
          </p:nvPr>
        </p:nvGraphicFramePr>
        <p:xfrm>
          <a:off x="1838570" y="4524039"/>
          <a:ext cx="8183166" cy="2225040"/>
        </p:xfrm>
        <a:graphic>
          <a:graphicData uri="http://schemas.openxmlformats.org/drawingml/2006/table">
            <a:tbl>
              <a:tblPr/>
              <a:tblGrid>
                <a:gridCol w="2727722">
                  <a:extLst>
                    <a:ext uri="{9D8B030D-6E8A-4147-A177-3AD203B41FA5}">
                      <a16:colId xmlns:a16="http://schemas.microsoft.com/office/drawing/2014/main" val="1400137542"/>
                    </a:ext>
                  </a:extLst>
                </a:gridCol>
                <a:gridCol w="2727722">
                  <a:extLst>
                    <a:ext uri="{9D8B030D-6E8A-4147-A177-3AD203B41FA5}">
                      <a16:colId xmlns:a16="http://schemas.microsoft.com/office/drawing/2014/main" val="1682435154"/>
                    </a:ext>
                  </a:extLst>
                </a:gridCol>
                <a:gridCol w="2727722">
                  <a:extLst>
                    <a:ext uri="{9D8B030D-6E8A-4147-A177-3AD203B41FA5}">
                      <a16:colId xmlns:a16="http://schemas.microsoft.com/office/drawing/2014/main" val="4022235658"/>
                    </a:ext>
                  </a:extLst>
                </a:gridCol>
              </a:tblGrid>
              <a:tr h="0">
                <a:tc>
                  <a:txBody>
                    <a:bodyPr/>
                    <a:lstStyle/>
                    <a:p>
                      <a:pPr algn="ctr"/>
                      <a:r>
                        <a:rPr lang="en-US" b="0">
                          <a:effectLst/>
                          <a:latin typeface="anova-bold"/>
                        </a:rPr>
                        <a:t>Type of Movie</a:t>
                      </a:r>
                      <a:endParaRPr lang="en-US" b="0">
                        <a:effectLst/>
                      </a:endParaRPr>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ctr"/>
                      <a:r>
                        <a:rPr lang="en-US" b="0" dirty="0">
                          <a:effectLst/>
                          <a:latin typeface="anova-bold"/>
                        </a:rPr>
                        <a:t>Snacks</a:t>
                      </a:r>
                      <a:endParaRPr lang="en-US" b="0" dirty="0">
                        <a:effectLst/>
                      </a:endParaRPr>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ctr"/>
                      <a:r>
                        <a:rPr lang="en-US" b="0">
                          <a:effectLst/>
                          <a:latin typeface="anova-bold"/>
                        </a:rPr>
                        <a:t>No Snacks</a:t>
                      </a:r>
                      <a:endParaRPr lang="en-US" b="0">
                        <a:effectLst/>
                      </a:endParaRPr>
                    </a:p>
                  </a:txBody>
                  <a:tcPr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extLst>
                  <a:ext uri="{0D108BD9-81ED-4DB2-BD59-A6C34878D82A}">
                    <a16:rowId xmlns:a16="http://schemas.microsoft.com/office/drawing/2014/main" val="3931914177"/>
                  </a:ext>
                </a:extLst>
              </a:tr>
              <a:tr h="0">
                <a:tc>
                  <a:txBody>
                    <a:bodyPr/>
                    <a:lstStyle/>
                    <a:p>
                      <a:pPr algn="l"/>
                      <a:r>
                        <a:rPr lang="en-US" b="0">
                          <a:effectLst/>
                        </a:rPr>
                        <a:t>Action</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tc>
                  <a:txBody>
                    <a:bodyPr/>
                    <a:lstStyle/>
                    <a:p>
                      <a:pPr algn="l"/>
                      <a:r>
                        <a:rPr lang="en-US" b="0" dirty="0" smtClean="0">
                          <a:effectLst/>
                        </a:rPr>
                        <a:t>5o</a:t>
                      </a:r>
                      <a:endParaRPr lang="en-US" b="0" dirty="0">
                        <a:effectLst/>
                      </a:endParaRP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tc>
                  <a:txBody>
                    <a:bodyPr/>
                    <a:lstStyle/>
                    <a:p>
                      <a:pPr algn="l"/>
                      <a:r>
                        <a:rPr lang="en-US" b="0" dirty="0">
                          <a:effectLst/>
                        </a:rPr>
                        <a:t>75</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extLst>
                  <a:ext uri="{0D108BD9-81ED-4DB2-BD59-A6C34878D82A}">
                    <a16:rowId xmlns:a16="http://schemas.microsoft.com/office/drawing/2014/main" val="136566437"/>
                  </a:ext>
                </a:extLst>
              </a:tr>
              <a:tr h="0">
                <a:tc>
                  <a:txBody>
                    <a:bodyPr/>
                    <a:lstStyle/>
                    <a:p>
                      <a:pPr algn="l"/>
                      <a:r>
                        <a:rPr lang="en-US" b="0">
                          <a:effectLst/>
                        </a:rPr>
                        <a:t>Comedy</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l"/>
                      <a:r>
                        <a:rPr lang="en-US" b="0">
                          <a:effectLst/>
                        </a:rPr>
                        <a:t>125</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l"/>
                      <a:r>
                        <a:rPr lang="en-US" b="0">
                          <a:effectLst/>
                        </a:rPr>
                        <a:t>175</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extLst>
                  <a:ext uri="{0D108BD9-81ED-4DB2-BD59-A6C34878D82A}">
                    <a16:rowId xmlns:a16="http://schemas.microsoft.com/office/drawing/2014/main" val="468979846"/>
                  </a:ext>
                </a:extLst>
              </a:tr>
              <a:tr h="0">
                <a:tc>
                  <a:txBody>
                    <a:bodyPr/>
                    <a:lstStyle/>
                    <a:p>
                      <a:pPr algn="l"/>
                      <a:r>
                        <a:rPr lang="en-US" b="0">
                          <a:effectLst/>
                        </a:rPr>
                        <a:t>Family</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tc>
                  <a:txBody>
                    <a:bodyPr/>
                    <a:lstStyle/>
                    <a:p>
                      <a:pPr algn="l"/>
                      <a:r>
                        <a:rPr lang="en-US" b="0">
                          <a:effectLst/>
                        </a:rPr>
                        <a:t>90</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tc>
                  <a:txBody>
                    <a:bodyPr/>
                    <a:lstStyle/>
                    <a:p>
                      <a:pPr algn="l"/>
                      <a:r>
                        <a:rPr lang="en-US" b="0">
                          <a:effectLst/>
                        </a:rPr>
                        <a:t>30</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1F1F1"/>
                    </a:solidFill>
                  </a:tcPr>
                </a:tc>
                <a:extLst>
                  <a:ext uri="{0D108BD9-81ED-4DB2-BD59-A6C34878D82A}">
                    <a16:rowId xmlns:a16="http://schemas.microsoft.com/office/drawing/2014/main" val="2694783127"/>
                  </a:ext>
                </a:extLst>
              </a:tr>
              <a:tr h="0">
                <a:tc>
                  <a:txBody>
                    <a:bodyPr/>
                    <a:lstStyle/>
                    <a:p>
                      <a:pPr algn="l"/>
                      <a:r>
                        <a:rPr lang="en-US" b="0">
                          <a:effectLst/>
                        </a:rPr>
                        <a:t>Horror</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l"/>
                      <a:r>
                        <a:rPr lang="en-US" b="0">
                          <a:effectLst/>
                        </a:rPr>
                        <a:t>45</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tc>
                  <a:txBody>
                    <a:bodyPr/>
                    <a:lstStyle/>
                    <a:p>
                      <a:pPr algn="l"/>
                      <a:r>
                        <a:rPr lang="en-US" b="0" dirty="0">
                          <a:effectLst/>
                        </a:rPr>
                        <a:t>10</a:t>
                      </a:r>
                    </a:p>
                  </a:txBody>
                  <a:tcPr marL="95250" marR="95250" marT="95250" marB="95250" anchor="ctr">
                    <a:lnL w="9525" cap="flat" cmpd="sng" algn="ctr">
                      <a:solidFill>
                        <a:srgbClr val="E7E7E7"/>
                      </a:solidFill>
                      <a:prstDash val="solid"/>
                      <a:round/>
                      <a:headEnd type="none" w="med" len="med"/>
                      <a:tailEnd type="none" w="med" len="med"/>
                    </a:lnL>
                    <a:lnR w="9525" cap="flat" cmpd="sng" algn="ctr">
                      <a:solidFill>
                        <a:srgbClr val="E7E7E7"/>
                      </a:solidFill>
                      <a:prstDash val="solid"/>
                      <a:round/>
                      <a:headEnd type="none" w="med" len="med"/>
                      <a:tailEnd type="none" w="med" len="med"/>
                    </a:lnR>
                    <a:lnT w="9525" cap="flat" cmpd="sng" algn="ctr">
                      <a:solidFill>
                        <a:srgbClr val="E7E7E7"/>
                      </a:solidFill>
                      <a:prstDash val="solid"/>
                      <a:round/>
                      <a:headEnd type="none" w="med" len="med"/>
                      <a:tailEnd type="none" w="med" len="med"/>
                    </a:lnT>
                    <a:lnB w="9525" cap="flat" cmpd="sng" algn="ctr">
                      <a:solidFill>
                        <a:srgbClr val="E7E7E7"/>
                      </a:solidFill>
                      <a:prstDash val="solid"/>
                      <a:round/>
                      <a:headEnd type="none" w="med" len="med"/>
                      <a:tailEnd type="none" w="med" len="med"/>
                    </a:lnB>
                    <a:solidFill>
                      <a:srgbClr val="F7F7F7"/>
                    </a:solidFill>
                  </a:tcPr>
                </a:tc>
                <a:extLst>
                  <a:ext uri="{0D108BD9-81ED-4DB2-BD59-A6C34878D82A}">
                    <a16:rowId xmlns:a16="http://schemas.microsoft.com/office/drawing/2014/main" val="2721400999"/>
                  </a:ext>
                </a:extLst>
              </a:tr>
            </a:tbl>
          </a:graphicData>
        </a:graphic>
      </p:graphicFrame>
    </p:spTree>
    <p:extLst>
      <p:ext uri="{BB962C8B-B14F-4D97-AF65-F5344CB8AC3E}">
        <p14:creationId xmlns:p14="http://schemas.microsoft.com/office/powerpoint/2010/main" val="3722622064"/>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2.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9A38F-9A2C-42E5-9013-4C4B1FFCB4F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Crop design</Template>
  <TotalTime>0</TotalTime>
  <Words>1753</Words>
  <Application>Microsoft Office PowerPoint</Application>
  <PresentationFormat>Widescreen</PresentationFormat>
  <Paragraphs>133</Paragraphs>
  <Slides>55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anova-bold</vt:lpstr>
      <vt:lpstr>Arial</vt:lpstr>
      <vt:lpstr>Calibri</vt:lpstr>
      <vt:lpstr>Cambria Math</vt:lpstr>
      <vt:lpstr>Franklin Gothic Book</vt:lpstr>
      <vt:lpstr>SourceSansPro</vt:lpstr>
      <vt:lpstr>source-serif-pro</vt:lpstr>
      <vt:lpstr>Symbol</vt:lpstr>
      <vt:lpstr>Times New Roman</vt:lpstr>
      <vt:lpstr>Crop</vt:lpstr>
      <vt:lpstr>random numbers concept</vt:lpstr>
      <vt:lpstr>Probability concept in simulation –stochastic variables :</vt:lpstr>
      <vt:lpstr>Discrete Probability Functions</vt:lpstr>
      <vt:lpstr>Random variables </vt:lpstr>
      <vt:lpstr>Types of random variables </vt:lpstr>
      <vt:lpstr>PowerPoint Presentation</vt:lpstr>
      <vt:lpstr> 2. Continuous Random Variables  </vt:lpstr>
      <vt:lpstr>PowerPoint Presentation</vt:lpstr>
      <vt:lpstr>Properties of Random Numbers </vt:lpstr>
      <vt:lpstr>Properties of Random Numbers</vt:lpstr>
      <vt:lpstr>Pseudo random numbers </vt:lpstr>
      <vt:lpstr>Generating Random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for Random numbers </vt:lpstr>
      <vt:lpstr>Uniformity Test</vt:lpstr>
      <vt:lpstr>PowerPoint Presentation</vt:lpstr>
      <vt:lpstr>Cumulative Distribution Function (CDF)</vt:lpstr>
      <vt:lpstr>Cumulative Distribution Function (CDF)</vt:lpstr>
      <vt:lpstr>Frequency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 TESTS </vt:lpstr>
      <vt:lpstr>Run up and run down </vt:lpstr>
      <vt:lpstr>Runs up and runs down </vt:lpstr>
      <vt:lpstr>PowerPoint Presentation</vt:lpstr>
      <vt:lpstr>PowerPoint Presentation</vt:lpstr>
      <vt:lpstr>Runs above and below the mean</vt:lpstr>
      <vt:lpstr>PowerPoint Presentation</vt:lpstr>
      <vt:lpstr>PowerPoint Presentation</vt:lpstr>
      <vt:lpstr>PowerPoint Presentation</vt:lpstr>
      <vt:lpstr>Runs test: length of runs.</vt:lpstr>
      <vt:lpstr>PowerPoint Presentation</vt:lpstr>
      <vt:lpstr>PowerPoint Presentation</vt:lpstr>
      <vt:lpstr>PowerPoint Presentation</vt:lpstr>
      <vt:lpstr>PowerPoint Presentation</vt:lpstr>
      <vt:lpstr>Testing for Auto-correlation</vt:lpstr>
      <vt:lpstr>Tests for Auto-correlation </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2023-12-31T06:33:12Z</dcterms:created>
  <dcterms:modified xsi:type="dcterms:W3CDTF">2026-06-02T14:32:18Z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