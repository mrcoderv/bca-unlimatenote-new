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7" r:id="rId2"/>
    <p:sldId id="264" r:id="rId3"/>
    <p:sldId id="265" r:id="rId4"/>
    <p:sldId id="266" r:id="rId5"/>
    <p:sldId id="268" r:id="rId6"/>
    <p:sldId id="258" r:id="rId7"/>
    <p:sldId id="259" r:id="rId8"/>
    <p:sldId id="260" r:id="rId9"/>
    <p:sldId id="285" r:id="rId10"/>
    <p:sldId id="286" r:id="rId11"/>
    <p:sldId id="263" r:id="rId12"/>
    <p:sldId id="267" r:id="rId13"/>
    <p:sldId id="275" r:id="rId14"/>
    <p:sldId id="269" r:id="rId15"/>
    <p:sldId id="276" r:id="rId16"/>
    <p:sldId id="271" r:id="rId17"/>
    <p:sldId id="270" r:id="rId18"/>
    <p:sldId id="287" r:id="rId19"/>
    <p:sldId id="288" r:id="rId20"/>
    <p:sldId id="272" r:id="rId21"/>
    <p:sldId id="277" r:id="rId22"/>
    <p:sldId id="274" r:id="rId23"/>
    <p:sldId id="278" r:id="rId24"/>
    <p:sldId id="289" r:id="rId25"/>
    <p:sldId id="290" r:id="rId26"/>
    <p:sldId id="291" r:id="rId27"/>
    <p:sldId id="279" r:id="rId28"/>
    <p:sldId id="292" r:id="rId29"/>
    <p:sldId id="280" r:id="rId30"/>
    <p:sldId id="294" r:id="rId31"/>
    <p:sldId id="295" r:id="rId32"/>
    <p:sldId id="281" r:id="rId33"/>
    <p:sldId id="282" r:id="rId34"/>
    <p:sldId id="296" r:id="rId35"/>
    <p:sldId id="283" r:id="rId36"/>
    <p:sldId id="297" r:id="rId37"/>
    <p:sldId id="298" r:id="rId38"/>
    <p:sldId id="299" r:id="rId39"/>
    <p:sldId id="300" r:id="rId40"/>
    <p:sldId id="284"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30E0C08-C847-4AC8-B9AE-665C17E8EF3A}">
          <p14:sldIdLst>
            <p14:sldId id="257"/>
            <p14:sldId id="264"/>
            <p14:sldId id="265"/>
            <p14:sldId id="266"/>
            <p14:sldId id="268"/>
            <p14:sldId id="258"/>
            <p14:sldId id="259"/>
            <p14:sldId id="260"/>
            <p14:sldId id="285"/>
            <p14:sldId id="286"/>
            <p14:sldId id="263"/>
            <p14:sldId id="267"/>
            <p14:sldId id="275"/>
            <p14:sldId id="269"/>
            <p14:sldId id="276"/>
            <p14:sldId id="271"/>
            <p14:sldId id="270"/>
            <p14:sldId id="287"/>
            <p14:sldId id="288"/>
            <p14:sldId id="272"/>
            <p14:sldId id="277"/>
            <p14:sldId id="274"/>
            <p14:sldId id="278"/>
            <p14:sldId id="289"/>
            <p14:sldId id="290"/>
            <p14:sldId id="291"/>
            <p14:sldId id="279"/>
            <p14:sldId id="292"/>
            <p14:sldId id="280"/>
            <p14:sldId id="294"/>
            <p14:sldId id="295"/>
            <p14:sldId id="281"/>
            <p14:sldId id="282"/>
            <p14:sldId id="296"/>
            <p14:sldId id="283"/>
            <p14:sldId id="297"/>
            <p14:sldId id="298"/>
            <p14:sldId id="299"/>
            <p14:sldId id="300"/>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811" autoAdjust="0"/>
  </p:normalViewPr>
  <p:slideViewPr>
    <p:cSldViewPr snapToGrid="0">
      <p:cViewPr varScale="1">
        <p:scale>
          <a:sx n="50" d="100"/>
          <a:sy n="50" d="100"/>
        </p:scale>
        <p:origin x="147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E8F1D3-404E-4867-9AD9-3C3A0757F48A}" type="datetimeFigureOut">
              <a:rPr lang="en-US" smtClean="0"/>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78B596-C4DA-4098-8F1D-456CD6B9599F}" type="slidenum">
              <a:rPr lang="en-US" smtClean="0"/>
              <a:t>‹#›</a:t>
            </a:fld>
            <a:endParaRPr lang="en-US"/>
          </a:p>
        </p:txBody>
      </p:sp>
    </p:spTree>
    <p:extLst>
      <p:ext uri="{BB962C8B-B14F-4D97-AF65-F5344CB8AC3E}">
        <p14:creationId xmlns:p14="http://schemas.microsoft.com/office/powerpoint/2010/main" val="1316040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Dynamics</a:t>
            </a:r>
          </a:p>
          <a:p>
            <a:r>
              <a:rPr lang="en-US" dirty="0"/>
              <a:t>  |||</a:t>
            </a:r>
          </a:p>
          <a:p>
            <a:r>
              <a:rPr lang="en-US" dirty="0"/>
              <a:t>\ ||| /</a:t>
            </a:r>
          </a:p>
          <a:p>
            <a:r>
              <a:rPr lang="en-US" dirty="0"/>
              <a:t>  \/</a:t>
            </a:r>
          </a:p>
          <a:p>
            <a:r>
              <a:rPr lang="en-US" dirty="0"/>
              <a:t>• Definition: A methodology to understand and model dynamic behavior in systems over time.</a:t>
            </a:r>
          </a:p>
          <a:p>
            <a:r>
              <a:rPr lang="en-US" dirty="0"/>
              <a:t>• Key Components:</a:t>
            </a:r>
          </a:p>
          <a:p>
            <a:r>
              <a:rPr lang="en-US" dirty="0"/>
              <a:t>  - Feedback loops</a:t>
            </a:r>
          </a:p>
          <a:p>
            <a:r>
              <a:rPr lang="en-US" dirty="0"/>
              <a:t>  - Stock and flow diagrams</a:t>
            </a:r>
          </a:p>
          <a:p>
            <a:r>
              <a:rPr lang="en-US" dirty="0"/>
              <a:t>  - Time delays</a:t>
            </a:r>
          </a:p>
          <a:p>
            <a:endParaRPr lang="en-US" dirty="0"/>
          </a:p>
          <a:p>
            <a:r>
              <a:rPr lang="en-US" dirty="0"/>
              <a:t>APPLICATION OF SYS DYNAMICS</a:t>
            </a:r>
          </a:p>
          <a:p>
            <a:endParaRPr lang="en-US" dirty="0"/>
          </a:p>
          <a:p>
            <a:r>
              <a:rPr lang="en-US" dirty="0"/>
              <a:t>• Engineering: Modeling heat transfer, fluid dynamics.</a:t>
            </a:r>
          </a:p>
          <a:p>
            <a:r>
              <a:rPr lang="en-US" dirty="0"/>
              <a:t>• Business: Market analysis, resource allocation.</a:t>
            </a:r>
          </a:p>
          <a:p>
            <a:r>
              <a:rPr lang="en-US" dirty="0"/>
              <a:t>• Environmental Studies: Climate modeling, ecosystem simulations.</a:t>
            </a:r>
          </a:p>
          <a:p>
            <a:endParaRPr lang="en-US" dirty="0"/>
          </a:p>
          <a:p>
            <a:endParaRPr lang="en-US" dirty="0"/>
          </a:p>
        </p:txBody>
      </p:sp>
      <p:sp>
        <p:nvSpPr>
          <p:cNvPr id="4" name="Slide Number Placeholder 3"/>
          <p:cNvSpPr>
            <a:spLocks noGrp="1"/>
          </p:cNvSpPr>
          <p:nvPr>
            <p:ph type="sldNum" sz="quarter" idx="5"/>
          </p:nvPr>
        </p:nvSpPr>
        <p:spPr/>
        <p:txBody>
          <a:bodyPr/>
          <a:lstStyle/>
          <a:p>
            <a:fld id="{7378B596-C4DA-4098-8F1D-456CD6B9599F}" type="slidenum">
              <a:rPr lang="en-US" smtClean="0"/>
              <a:t>4</a:t>
            </a:fld>
            <a:endParaRPr lang="en-US"/>
          </a:p>
        </p:txBody>
      </p:sp>
    </p:spTree>
    <p:extLst>
      <p:ext uri="{BB962C8B-B14F-4D97-AF65-F5344CB8AC3E}">
        <p14:creationId xmlns:p14="http://schemas.microsoft.com/office/powerpoint/2010/main" val="2968092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Example: Population Growth</a:t>
            </a:r>
            <a:endParaRPr lang="en-US" dirty="0"/>
          </a:p>
          <a:p>
            <a:r>
              <a:rPr lang="en-US" dirty="0"/>
              <a:t>Let's consider a simple example: population growth. We can model population growth using a differential equation.   </a:t>
            </a:r>
          </a:p>
          <a:p>
            <a:r>
              <a:rPr lang="en-US" b="1" dirty="0"/>
              <a:t>Assumptions:</a:t>
            </a:r>
            <a:endParaRPr lang="en-US" dirty="0"/>
          </a:p>
          <a:p>
            <a:pPr>
              <a:buFont typeface="Arial" panose="020B0604020202020204" pitchFamily="34" charset="0"/>
              <a:buChar char="•"/>
            </a:pPr>
            <a:r>
              <a:rPr lang="en-US" dirty="0"/>
              <a:t>The rate of change of population is proportional to the current population size.   </a:t>
            </a:r>
          </a:p>
          <a:p>
            <a:pPr>
              <a:buFont typeface="Arial" panose="020B0604020202020204" pitchFamily="34" charset="0"/>
              <a:buChar char="•"/>
            </a:pPr>
            <a:r>
              <a:rPr lang="en-US" dirty="0"/>
              <a:t>There are no limiting factors like resource constraints or disease.</a:t>
            </a:r>
          </a:p>
          <a:p>
            <a:r>
              <a:rPr lang="en-US" b="1" dirty="0"/>
              <a:t>Mathematical Model:</a:t>
            </a:r>
            <a:endParaRPr lang="en-US" dirty="0"/>
          </a:p>
          <a:p>
            <a:r>
              <a:rPr lang="en-US" dirty="0"/>
              <a:t>Let P(t) represent the population at time t. The rate of change of population, </a:t>
            </a:r>
            <a:r>
              <a:rPr lang="en-US" dirty="0" err="1"/>
              <a:t>dP</a:t>
            </a:r>
            <a:r>
              <a:rPr lang="en-US" dirty="0"/>
              <a:t>/dt, is proportional to P(t). We can express this relationship as:   </a:t>
            </a:r>
          </a:p>
          <a:p>
            <a:r>
              <a:rPr lang="en-US" dirty="0" err="1">
                <a:effectLst/>
              </a:rPr>
              <a:t>dP</a:t>
            </a:r>
            <a:r>
              <a:rPr lang="en-US" dirty="0">
                <a:effectLst/>
              </a:rPr>
              <a:t>/dt = </a:t>
            </a:r>
            <a:r>
              <a:rPr lang="en-US" dirty="0" err="1">
                <a:effectLst/>
              </a:rPr>
              <a:t>kP</a:t>
            </a:r>
            <a:r>
              <a:rPr lang="en-US" dirty="0">
                <a:effectLst/>
              </a:rPr>
              <a:t>(t) </a:t>
            </a:r>
          </a:p>
          <a:p>
            <a:r>
              <a:rPr lang="en-US" dirty="0"/>
              <a:t>where:</a:t>
            </a:r>
          </a:p>
          <a:p>
            <a:pPr>
              <a:buFont typeface="Arial" panose="020B0604020202020204" pitchFamily="34" charset="0"/>
              <a:buChar char="•"/>
            </a:pPr>
            <a:r>
              <a:rPr lang="en-US" dirty="0" err="1"/>
              <a:t>dP</a:t>
            </a:r>
            <a:r>
              <a:rPr lang="en-US" dirty="0"/>
              <a:t>/dt is the rate of change of population with respect to time</a:t>
            </a:r>
          </a:p>
          <a:p>
            <a:pPr>
              <a:buFont typeface="Arial" panose="020B0604020202020204" pitchFamily="34" charset="0"/>
              <a:buChar char="•"/>
            </a:pPr>
            <a:r>
              <a:rPr lang="en-US" dirty="0"/>
              <a:t>k is a constant of proportionality (growth rate)   </a:t>
            </a:r>
          </a:p>
          <a:p>
            <a:pPr>
              <a:buFont typeface="Arial" panose="020B0604020202020204" pitchFamily="34" charset="0"/>
              <a:buChar char="•"/>
            </a:pPr>
            <a:r>
              <a:rPr lang="en-US" dirty="0"/>
              <a:t>P(t) is the population at time t</a:t>
            </a:r>
          </a:p>
          <a:p>
            <a:r>
              <a:rPr lang="en-US" dirty="0"/>
              <a:t>This is a first-order ordinary differential equation. By solving this equation, we can determine the population at any given time.</a:t>
            </a:r>
          </a:p>
          <a:p>
            <a:r>
              <a:rPr lang="en-US" b="1" dirty="0"/>
              <a:t>Solution:</a:t>
            </a:r>
            <a:endParaRPr lang="en-US" dirty="0"/>
          </a:p>
          <a:p>
            <a:r>
              <a:rPr lang="en-US" dirty="0"/>
              <a:t>The solution to this differential equation is an exponential function:</a:t>
            </a:r>
          </a:p>
          <a:p>
            <a:r>
              <a:rPr lang="en-US" dirty="0">
                <a:effectLst/>
              </a:rPr>
              <a:t>P(t) = P₀ * e^(kt) </a:t>
            </a:r>
          </a:p>
          <a:p>
            <a:r>
              <a:rPr lang="en-US" dirty="0"/>
              <a:t>where:</a:t>
            </a:r>
          </a:p>
          <a:p>
            <a:pPr>
              <a:buFont typeface="Arial" panose="020B0604020202020204" pitchFamily="34" charset="0"/>
              <a:buChar char="•"/>
            </a:pPr>
            <a:r>
              <a:rPr lang="en-US" dirty="0"/>
              <a:t>P₀ is the initial population   </a:t>
            </a:r>
          </a:p>
          <a:p>
            <a:pPr>
              <a:buFont typeface="Arial" panose="020B0604020202020204" pitchFamily="34" charset="0"/>
              <a:buChar char="•"/>
            </a:pPr>
            <a:r>
              <a:rPr lang="en-US" dirty="0"/>
              <a:t>e is the base of the natural logarithm</a:t>
            </a:r>
          </a:p>
          <a:p>
            <a:pPr>
              <a:buFont typeface="Arial" panose="020B0604020202020204" pitchFamily="34" charset="0"/>
              <a:buChar char="•"/>
            </a:pPr>
            <a:r>
              <a:rPr lang="en-US" dirty="0"/>
              <a:t>k is the growth rate</a:t>
            </a:r>
          </a:p>
          <a:p>
            <a:pPr>
              <a:buFont typeface="Arial" panose="020B0604020202020204" pitchFamily="34" charset="0"/>
              <a:buChar char="•"/>
            </a:pPr>
            <a:r>
              <a:rPr lang="en-US" dirty="0"/>
              <a:t>t is time   </a:t>
            </a:r>
          </a:p>
          <a:p>
            <a:r>
              <a:rPr lang="en-US" b="1" dirty="0"/>
              <a:t>Interpretation:</a:t>
            </a:r>
            <a:endParaRPr lang="en-US" dirty="0"/>
          </a:p>
          <a:p>
            <a:r>
              <a:rPr lang="en-US" dirty="0"/>
              <a:t>This equation tells us that the population grows exponentially over time, with the growth rate determined by the constant k. If k is positive, the population increases; if k is negative, the population decreases.   </a:t>
            </a:r>
          </a:p>
          <a:p>
            <a:r>
              <a:rPr lang="en-US" b="1" dirty="0"/>
              <a:t>Applications:</a:t>
            </a:r>
            <a:endParaRPr lang="en-US" dirty="0"/>
          </a:p>
          <a:p>
            <a:r>
              <a:rPr lang="en-US" dirty="0"/>
              <a:t>This simple model can be extended to model various real-world phenomena, such as:</a:t>
            </a:r>
          </a:p>
          <a:p>
            <a:pPr>
              <a:buFont typeface="Arial" panose="020B0604020202020204" pitchFamily="34" charset="0"/>
              <a:buChar char="•"/>
            </a:pPr>
            <a:r>
              <a:rPr lang="en-US" b="1" dirty="0"/>
              <a:t>Radioactive decay:</a:t>
            </a:r>
            <a:r>
              <a:rPr lang="en-US" dirty="0"/>
              <a:t> The rate of decay of a radioactive substance is proportional to the amount of the substance remaining.   </a:t>
            </a:r>
          </a:p>
          <a:p>
            <a:pPr>
              <a:buFont typeface="Arial" panose="020B0604020202020204" pitchFamily="34" charset="0"/>
              <a:buChar char="•"/>
            </a:pPr>
            <a:r>
              <a:rPr lang="en-US" b="1" dirty="0"/>
              <a:t>Chemical reactions:</a:t>
            </a:r>
            <a:r>
              <a:rPr lang="en-US" dirty="0"/>
              <a:t> The rate of a chemical reaction can be modeled using differential equations.   </a:t>
            </a:r>
          </a:p>
          <a:p>
            <a:pPr>
              <a:buFont typeface="Arial" panose="020B0604020202020204" pitchFamily="34" charset="0"/>
              <a:buChar char="•"/>
            </a:pPr>
            <a:r>
              <a:rPr lang="en-US" b="1" dirty="0"/>
              <a:t>Electrical circuits:</a:t>
            </a:r>
            <a:r>
              <a:rPr lang="en-US" dirty="0"/>
              <a:t> The behavior of electrical circuits can be described using differential equations.   </a:t>
            </a:r>
          </a:p>
          <a:p>
            <a:pPr>
              <a:buFont typeface="Arial" panose="020B0604020202020204" pitchFamily="34" charset="0"/>
              <a:buChar char="•"/>
            </a:pPr>
            <a:r>
              <a:rPr lang="en-US" b="1" dirty="0"/>
              <a:t>Mechanical systems:</a:t>
            </a:r>
            <a:r>
              <a:rPr lang="en-US" dirty="0"/>
              <a:t> The motion of mechanical systems, such as springs and dampers, can be modeled using differential equations.   </a:t>
            </a:r>
          </a:p>
          <a:p>
            <a:r>
              <a:rPr lang="en-US" dirty="0"/>
              <a:t>By understanding and solving differential equations, we can gain insights into the behavior of complex systems and make predictions about their future state.</a:t>
            </a:r>
          </a:p>
          <a:p>
            <a:endParaRPr lang="en-US" dirty="0"/>
          </a:p>
          <a:p>
            <a:endParaRPr lang="en-US" dirty="0"/>
          </a:p>
        </p:txBody>
      </p:sp>
      <p:sp>
        <p:nvSpPr>
          <p:cNvPr id="4" name="Slide Number Placeholder 3"/>
          <p:cNvSpPr>
            <a:spLocks noGrp="1"/>
          </p:cNvSpPr>
          <p:nvPr>
            <p:ph type="sldNum" sz="quarter" idx="5"/>
          </p:nvPr>
        </p:nvSpPr>
        <p:spPr/>
        <p:txBody>
          <a:bodyPr/>
          <a:lstStyle/>
          <a:p>
            <a:fld id="{7378B596-C4DA-4098-8F1D-456CD6B9599F}" type="slidenum">
              <a:rPr lang="en-US" smtClean="0"/>
              <a:t>8</a:t>
            </a:fld>
            <a:endParaRPr lang="en-US"/>
          </a:p>
        </p:txBody>
      </p:sp>
    </p:spTree>
    <p:extLst>
      <p:ext uri="{BB962C8B-B14F-4D97-AF65-F5344CB8AC3E}">
        <p14:creationId xmlns:p14="http://schemas.microsoft.com/office/powerpoint/2010/main" val="21458417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Example: Population Growth</a:t>
            </a:r>
            <a:endParaRPr lang="en-US" dirty="0"/>
          </a:p>
          <a:p>
            <a:r>
              <a:rPr lang="en-US" dirty="0"/>
              <a:t>Let's consider a simple example: population growth. We can model population growth using a differential equation.   </a:t>
            </a:r>
          </a:p>
          <a:p>
            <a:r>
              <a:rPr lang="en-US" b="1" dirty="0"/>
              <a:t>Assumptions:</a:t>
            </a:r>
            <a:endParaRPr lang="en-US" dirty="0"/>
          </a:p>
          <a:p>
            <a:pPr>
              <a:buFont typeface="Arial" panose="020B0604020202020204" pitchFamily="34" charset="0"/>
              <a:buChar char="•"/>
            </a:pPr>
            <a:r>
              <a:rPr lang="en-US" dirty="0"/>
              <a:t>The rate of change of population is proportional to the current population size.   </a:t>
            </a:r>
          </a:p>
          <a:p>
            <a:pPr>
              <a:buFont typeface="Arial" panose="020B0604020202020204" pitchFamily="34" charset="0"/>
              <a:buChar char="•"/>
            </a:pPr>
            <a:r>
              <a:rPr lang="en-US" dirty="0"/>
              <a:t>There are no limiting factors like resource constraints or disease.</a:t>
            </a:r>
          </a:p>
          <a:p>
            <a:r>
              <a:rPr lang="en-US" b="1" dirty="0"/>
              <a:t>Mathematical Model:</a:t>
            </a:r>
            <a:endParaRPr lang="en-US" dirty="0"/>
          </a:p>
          <a:p>
            <a:r>
              <a:rPr lang="en-US" dirty="0"/>
              <a:t>Let P(t) represent the population at time t. The rate of change of population, </a:t>
            </a:r>
            <a:r>
              <a:rPr lang="en-US" dirty="0" err="1"/>
              <a:t>dP</a:t>
            </a:r>
            <a:r>
              <a:rPr lang="en-US" dirty="0"/>
              <a:t>/dt, is proportional to P(t). We can express this relationship as:   </a:t>
            </a:r>
          </a:p>
          <a:p>
            <a:r>
              <a:rPr lang="en-US" dirty="0" err="1">
                <a:effectLst/>
              </a:rPr>
              <a:t>dP</a:t>
            </a:r>
            <a:r>
              <a:rPr lang="en-US" dirty="0">
                <a:effectLst/>
              </a:rPr>
              <a:t>/dt = </a:t>
            </a:r>
            <a:r>
              <a:rPr lang="en-US" dirty="0" err="1">
                <a:effectLst/>
              </a:rPr>
              <a:t>kP</a:t>
            </a:r>
            <a:r>
              <a:rPr lang="en-US" dirty="0">
                <a:effectLst/>
              </a:rPr>
              <a:t>(t) </a:t>
            </a:r>
          </a:p>
          <a:p>
            <a:r>
              <a:rPr lang="en-US" dirty="0"/>
              <a:t>where:</a:t>
            </a:r>
          </a:p>
          <a:p>
            <a:pPr>
              <a:buFont typeface="Arial" panose="020B0604020202020204" pitchFamily="34" charset="0"/>
              <a:buChar char="•"/>
            </a:pPr>
            <a:r>
              <a:rPr lang="en-US" dirty="0" err="1"/>
              <a:t>dP</a:t>
            </a:r>
            <a:r>
              <a:rPr lang="en-US" dirty="0"/>
              <a:t>/dt is the rate of change of population with respect to time</a:t>
            </a:r>
          </a:p>
          <a:p>
            <a:pPr>
              <a:buFont typeface="Arial" panose="020B0604020202020204" pitchFamily="34" charset="0"/>
              <a:buChar char="•"/>
            </a:pPr>
            <a:r>
              <a:rPr lang="en-US" dirty="0"/>
              <a:t>k is a constant of proportionality (growth rate)   </a:t>
            </a:r>
          </a:p>
          <a:p>
            <a:pPr>
              <a:buFont typeface="Arial" panose="020B0604020202020204" pitchFamily="34" charset="0"/>
              <a:buChar char="•"/>
            </a:pPr>
            <a:r>
              <a:rPr lang="en-US" dirty="0"/>
              <a:t>P(t) is the population at time t</a:t>
            </a:r>
          </a:p>
          <a:p>
            <a:r>
              <a:rPr lang="en-US" dirty="0"/>
              <a:t>This is a first-order ordinary differential equation. By solving this equation, we can determine the population at any given time.</a:t>
            </a:r>
          </a:p>
          <a:p>
            <a:r>
              <a:rPr lang="en-US" b="1" dirty="0"/>
              <a:t>Solution:</a:t>
            </a:r>
            <a:endParaRPr lang="en-US" dirty="0"/>
          </a:p>
          <a:p>
            <a:r>
              <a:rPr lang="en-US" dirty="0"/>
              <a:t>The solution to this differential equation is an exponential function:</a:t>
            </a:r>
          </a:p>
          <a:p>
            <a:r>
              <a:rPr lang="en-US" dirty="0">
                <a:effectLst/>
              </a:rPr>
              <a:t>P(t) = P₀ * e^(kt) </a:t>
            </a:r>
          </a:p>
          <a:p>
            <a:r>
              <a:rPr lang="en-US" dirty="0"/>
              <a:t>where:</a:t>
            </a:r>
          </a:p>
          <a:p>
            <a:pPr>
              <a:buFont typeface="Arial" panose="020B0604020202020204" pitchFamily="34" charset="0"/>
              <a:buChar char="•"/>
            </a:pPr>
            <a:r>
              <a:rPr lang="en-US" dirty="0"/>
              <a:t>P₀ is the initial population   </a:t>
            </a:r>
          </a:p>
          <a:p>
            <a:pPr>
              <a:buFont typeface="Arial" panose="020B0604020202020204" pitchFamily="34" charset="0"/>
              <a:buChar char="•"/>
            </a:pPr>
            <a:r>
              <a:rPr lang="en-US" dirty="0"/>
              <a:t>e is the base of the natural logarithm</a:t>
            </a:r>
          </a:p>
          <a:p>
            <a:pPr>
              <a:buFont typeface="Arial" panose="020B0604020202020204" pitchFamily="34" charset="0"/>
              <a:buChar char="•"/>
            </a:pPr>
            <a:r>
              <a:rPr lang="en-US" dirty="0"/>
              <a:t>k is the growth rate</a:t>
            </a:r>
          </a:p>
          <a:p>
            <a:pPr>
              <a:buFont typeface="Arial" panose="020B0604020202020204" pitchFamily="34" charset="0"/>
              <a:buChar char="•"/>
            </a:pPr>
            <a:r>
              <a:rPr lang="en-US" dirty="0"/>
              <a:t>t is time   </a:t>
            </a:r>
          </a:p>
          <a:p>
            <a:r>
              <a:rPr lang="en-US" b="1" dirty="0"/>
              <a:t>Interpretation:</a:t>
            </a:r>
            <a:endParaRPr lang="en-US" dirty="0"/>
          </a:p>
          <a:p>
            <a:r>
              <a:rPr lang="en-US" dirty="0"/>
              <a:t>This equation tells us that the population grows exponentially over time, with the growth rate determined by the constant k. If k is positive, the population increases; if k is negative, the population decreases.   </a:t>
            </a:r>
          </a:p>
          <a:p>
            <a:r>
              <a:rPr lang="en-US" b="1" dirty="0"/>
              <a:t>Applications:</a:t>
            </a:r>
            <a:endParaRPr lang="en-US" dirty="0"/>
          </a:p>
          <a:p>
            <a:r>
              <a:rPr lang="en-US" dirty="0"/>
              <a:t>This simple model can be extended to model various real-world phenomena, such as:</a:t>
            </a:r>
          </a:p>
          <a:p>
            <a:pPr>
              <a:buFont typeface="Arial" panose="020B0604020202020204" pitchFamily="34" charset="0"/>
              <a:buChar char="•"/>
            </a:pPr>
            <a:r>
              <a:rPr lang="en-US" b="1" dirty="0"/>
              <a:t>Radioactive decay:</a:t>
            </a:r>
            <a:r>
              <a:rPr lang="en-US" dirty="0"/>
              <a:t> The rate of decay of a radioactive substance is proportional to the amount of the substance remaining.   </a:t>
            </a:r>
          </a:p>
          <a:p>
            <a:pPr>
              <a:buFont typeface="Arial" panose="020B0604020202020204" pitchFamily="34" charset="0"/>
              <a:buChar char="•"/>
            </a:pPr>
            <a:r>
              <a:rPr lang="en-US" b="1" dirty="0"/>
              <a:t>Chemical reactions:</a:t>
            </a:r>
            <a:r>
              <a:rPr lang="en-US" dirty="0"/>
              <a:t> The rate of a chemical reaction can be modeled using differential equations.   </a:t>
            </a:r>
          </a:p>
          <a:p>
            <a:pPr>
              <a:buFont typeface="Arial" panose="020B0604020202020204" pitchFamily="34" charset="0"/>
              <a:buChar char="•"/>
            </a:pPr>
            <a:r>
              <a:rPr lang="en-US" b="1" dirty="0"/>
              <a:t>Electrical circuits:</a:t>
            </a:r>
            <a:r>
              <a:rPr lang="en-US" dirty="0"/>
              <a:t> The behavior of electrical circuits can be described using differential equations.   </a:t>
            </a:r>
          </a:p>
          <a:p>
            <a:pPr>
              <a:buFont typeface="Arial" panose="020B0604020202020204" pitchFamily="34" charset="0"/>
              <a:buChar char="•"/>
            </a:pPr>
            <a:r>
              <a:rPr lang="en-US" b="1" dirty="0"/>
              <a:t>Mechanical systems:</a:t>
            </a:r>
            <a:r>
              <a:rPr lang="en-US" dirty="0"/>
              <a:t> The motion of mechanical systems, such as springs and dampers, can be modeled using differential equations.   </a:t>
            </a:r>
          </a:p>
          <a:p>
            <a:r>
              <a:rPr lang="en-US" dirty="0"/>
              <a:t>By understanding and solving differential equations, we can gain insights into the behavior of complex systems and make predictions about their future state.</a:t>
            </a:r>
          </a:p>
          <a:p>
            <a:endParaRPr lang="en-US" dirty="0"/>
          </a:p>
        </p:txBody>
      </p:sp>
      <p:sp>
        <p:nvSpPr>
          <p:cNvPr id="4" name="Slide Number Placeholder 3"/>
          <p:cNvSpPr>
            <a:spLocks noGrp="1"/>
          </p:cNvSpPr>
          <p:nvPr>
            <p:ph type="sldNum" sz="quarter" idx="5"/>
          </p:nvPr>
        </p:nvSpPr>
        <p:spPr/>
        <p:txBody>
          <a:bodyPr/>
          <a:lstStyle/>
          <a:p>
            <a:fld id="{7378B596-C4DA-4098-8F1D-456CD6B9599F}" type="slidenum">
              <a:rPr lang="en-US" smtClean="0"/>
              <a:t>9</a:t>
            </a:fld>
            <a:endParaRPr lang="en-US"/>
          </a:p>
        </p:txBody>
      </p:sp>
    </p:spTree>
    <p:extLst>
      <p:ext uri="{BB962C8B-B14F-4D97-AF65-F5344CB8AC3E}">
        <p14:creationId xmlns:p14="http://schemas.microsoft.com/office/powerpoint/2010/main" val="84785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Engineering</a:t>
            </a:r>
            <a:endParaRPr lang="en-US" dirty="0"/>
          </a:p>
          <a:p>
            <a:r>
              <a:rPr lang="en-US" b="1" dirty="0"/>
              <a:t>a. Structural Analysis (Stress-Strain Relationships):</a:t>
            </a:r>
            <a:endParaRPr lang="en-US" dirty="0"/>
          </a:p>
          <a:p>
            <a:pPr>
              <a:buFont typeface="Arial" panose="020B0604020202020204" pitchFamily="34" charset="0"/>
              <a:buChar char="•"/>
            </a:pPr>
            <a:r>
              <a:rPr lang="en-US" b="1" dirty="0"/>
              <a:t>Example:</a:t>
            </a:r>
            <a:r>
              <a:rPr lang="en-US" dirty="0"/>
              <a:t> Consider a beam subjected to a load. The stress and strain distribution within the beam can be modeled using the Navier-Stokes equations, which are a system of PDEs. By solving these equations, engineers can determine the beam's deformation and assess its structural integrity.</a:t>
            </a:r>
          </a:p>
          <a:p>
            <a:r>
              <a:rPr lang="en-US" b="1" dirty="0"/>
              <a:t>b. Heat Transfer in Mechanical Systems:</a:t>
            </a:r>
            <a:endParaRPr lang="en-US" dirty="0"/>
          </a:p>
          <a:p>
            <a:pPr>
              <a:buFont typeface="Arial" panose="020B0604020202020204" pitchFamily="34" charset="0"/>
              <a:buChar char="•"/>
            </a:pPr>
            <a:r>
              <a:rPr lang="en-US" b="1" dirty="0"/>
              <a:t>Example:</a:t>
            </a:r>
            <a:r>
              <a:rPr lang="en-US" dirty="0"/>
              <a:t> The heat transfer in a heat exchanger can be described by the heat equation, a PDE. By solving this equation, engineers can optimize the design of the heat exchanger to achieve efficient heat transfer.</a:t>
            </a:r>
          </a:p>
          <a:p>
            <a:r>
              <a:rPr lang="en-US" b="1" dirty="0"/>
              <a:t>2. Physics</a:t>
            </a:r>
            <a:endParaRPr lang="en-US" dirty="0"/>
          </a:p>
          <a:p>
            <a:r>
              <a:rPr lang="en-US" b="1" dirty="0"/>
              <a:t>a. Quantum Mechanics (Schrödinger Equation):</a:t>
            </a:r>
            <a:endParaRPr lang="en-US" dirty="0"/>
          </a:p>
          <a:p>
            <a:pPr>
              <a:buFont typeface="Arial" panose="020B0604020202020204" pitchFamily="34" charset="0"/>
              <a:buChar char="•"/>
            </a:pPr>
            <a:r>
              <a:rPr lang="en-US" b="1" dirty="0"/>
              <a:t>Example:</a:t>
            </a:r>
            <a:r>
              <a:rPr lang="en-US" dirty="0"/>
              <a:t> The time-dependent Schrödinger equation describes the evolution of a quantum system over time. It is used to model the behavior of electrons in atoms and molecules, leading to the development of quantum mechanics.</a:t>
            </a:r>
          </a:p>
          <a:p>
            <a:r>
              <a:rPr lang="en-US" b="1" dirty="0"/>
              <a:t>b. Electromagnetic Wave Propagation (Maxwell's Equations):</a:t>
            </a:r>
            <a:endParaRPr lang="en-US" dirty="0"/>
          </a:p>
          <a:p>
            <a:pPr>
              <a:buFont typeface="Arial" panose="020B0604020202020204" pitchFamily="34" charset="0"/>
              <a:buChar char="•"/>
            </a:pPr>
            <a:r>
              <a:rPr lang="en-US" b="1" dirty="0"/>
              <a:t>Example:</a:t>
            </a:r>
            <a:r>
              <a:rPr lang="en-US" dirty="0"/>
              <a:t> Maxwell's equations are a set of PDEs that describe the behavior of electric and magnetic fields. These equations are used to model the propagation of electromagnetic waves, such as radio waves, microwaves, and light.</a:t>
            </a:r>
          </a:p>
          <a:p>
            <a:r>
              <a:rPr lang="en-US" b="1" dirty="0"/>
              <a:t>3. Environmental Science</a:t>
            </a:r>
            <a:endParaRPr lang="en-US" dirty="0"/>
          </a:p>
          <a:p>
            <a:r>
              <a:rPr lang="en-US" b="1" dirty="0"/>
              <a:t>a. Climate Modeling:</a:t>
            </a:r>
            <a:endParaRPr lang="en-US" dirty="0"/>
          </a:p>
          <a:p>
            <a:pPr>
              <a:buFont typeface="Arial" panose="020B0604020202020204" pitchFamily="34" charset="0"/>
              <a:buChar char="•"/>
            </a:pPr>
            <a:r>
              <a:rPr lang="en-US" b="1" dirty="0"/>
              <a:t>Example:</a:t>
            </a:r>
            <a:r>
              <a:rPr lang="en-US" dirty="0"/>
              <a:t> Climate models use PDEs to simulate the Earth's climate system, including the atmosphere, oceans, and land surface. These models help us understand the impacts of climate change and predict future trends.</a:t>
            </a:r>
          </a:p>
          <a:p>
            <a:r>
              <a:rPr lang="en-US" b="1" dirty="0"/>
              <a:t>b. Groundwater Flow:</a:t>
            </a:r>
            <a:endParaRPr lang="en-US" dirty="0"/>
          </a:p>
          <a:p>
            <a:pPr>
              <a:buFont typeface="Arial" panose="020B0604020202020204" pitchFamily="34" charset="0"/>
              <a:buChar char="•"/>
            </a:pPr>
            <a:r>
              <a:rPr lang="en-US" b="1" dirty="0"/>
              <a:t>Example:</a:t>
            </a:r>
            <a:r>
              <a:rPr lang="en-US" dirty="0"/>
              <a:t> The flow of groundwater through porous media can be described by the Richards equation, a PDE. By solving this equation, hydrologists can model the movement of contaminants in groundwater and predict the impact of groundwater extraction on water resources.</a:t>
            </a:r>
          </a:p>
          <a:p>
            <a:r>
              <a:rPr lang="en-US" b="1" dirty="0"/>
              <a:t>4. Biology</a:t>
            </a:r>
            <a:endParaRPr lang="en-US" dirty="0"/>
          </a:p>
          <a:p>
            <a:r>
              <a:rPr lang="en-US" b="1" dirty="0"/>
              <a:t>a. Reaction-Diffusion Systems for Pattern Formation:</a:t>
            </a:r>
            <a:endParaRPr lang="en-US" dirty="0"/>
          </a:p>
          <a:p>
            <a:pPr>
              <a:buFont typeface="Arial" panose="020B0604020202020204" pitchFamily="34" charset="0"/>
              <a:buChar char="•"/>
            </a:pPr>
            <a:r>
              <a:rPr lang="en-US" b="1" dirty="0"/>
              <a:t>Example:</a:t>
            </a:r>
            <a:r>
              <a:rPr lang="en-US" dirty="0"/>
              <a:t> The Turing instability, described by a system of reaction-diffusion equations, can explain the formation of patterns in biological systems, such as the stripes on a zebra or the spots on a leopard.</a:t>
            </a:r>
          </a:p>
          <a:p>
            <a:r>
              <a:rPr lang="en-US" b="1" dirty="0"/>
              <a:t>b. Modeling the Spread of Diseases:</a:t>
            </a:r>
            <a:endParaRPr lang="en-US" dirty="0"/>
          </a:p>
          <a:p>
            <a:pPr>
              <a:buFont typeface="Arial" panose="020B0604020202020204" pitchFamily="34" charset="0"/>
              <a:buChar char="•"/>
            </a:pPr>
            <a:r>
              <a:rPr lang="en-US" b="1" dirty="0"/>
              <a:t>Example:</a:t>
            </a:r>
            <a:r>
              <a:rPr lang="en-US" dirty="0"/>
              <a:t> The spread of infectious diseases can be modeled using PDEs, such as the reaction-diffusion equation. By solving these equations, epidemiologists can predict the course of an epidemic and develop strategies to control its spread.</a:t>
            </a:r>
          </a:p>
          <a:p>
            <a:endParaRPr lang="en-US" dirty="0"/>
          </a:p>
        </p:txBody>
      </p:sp>
      <p:sp>
        <p:nvSpPr>
          <p:cNvPr id="4" name="Slide Number Placeholder 3"/>
          <p:cNvSpPr>
            <a:spLocks noGrp="1"/>
          </p:cNvSpPr>
          <p:nvPr>
            <p:ph type="sldNum" sz="quarter" idx="5"/>
          </p:nvPr>
        </p:nvSpPr>
        <p:spPr/>
        <p:txBody>
          <a:bodyPr/>
          <a:lstStyle/>
          <a:p>
            <a:fld id="{7378B596-C4DA-4098-8F1D-456CD6B9599F}" type="slidenum">
              <a:rPr lang="en-US" smtClean="0"/>
              <a:t>13</a:t>
            </a:fld>
            <a:endParaRPr lang="en-US"/>
          </a:p>
        </p:txBody>
      </p:sp>
    </p:spTree>
    <p:extLst>
      <p:ext uri="{BB962C8B-B14F-4D97-AF65-F5344CB8AC3E}">
        <p14:creationId xmlns:p14="http://schemas.microsoft.com/office/powerpoint/2010/main" val="4090164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Definition</a:t>
            </a:r>
          </a:p>
          <a:p>
            <a:r>
              <a:rPr lang="en-US" dirty="0"/>
              <a:t>Analog computers are computational devices that process continuous data. Unlike digital computers, which work with binary (discrete) data, analog computers use physical quantities such as electrical voltages, fluid levels, or mechanical movements to represent information and solve problems.</a:t>
            </a:r>
          </a:p>
          <a:p>
            <a:r>
              <a:rPr lang="en-US" dirty="0"/>
              <a:t>For example:</a:t>
            </a:r>
          </a:p>
          <a:p>
            <a:pPr>
              <a:buFont typeface="Arial" panose="020B0604020202020204" pitchFamily="34" charset="0"/>
              <a:buChar char="•"/>
            </a:pPr>
            <a:r>
              <a:rPr lang="en-US" b="1" dirty="0"/>
              <a:t>Electrical Voltage:</a:t>
            </a:r>
            <a:r>
              <a:rPr lang="en-US" dirty="0"/>
              <a:t> Used to simulate and compute equations.</a:t>
            </a:r>
          </a:p>
          <a:p>
            <a:pPr>
              <a:buFont typeface="Arial" panose="020B0604020202020204" pitchFamily="34" charset="0"/>
              <a:buChar char="•"/>
            </a:pPr>
            <a:r>
              <a:rPr lang="en-US" b="1" dirty="0"/>
              <a:t>Fluid Pressure:</a:t>
            </a:r>
            <a:r>
              <a:rPr lang="en-US" dirty="0"/>
              <a:t> Utilized in certain hydraulic systems for problem-solving.</a:t>
            </a:r>
          </a:p>
          <a:p>
            <a:r>
              <a:rPr lang="en-US" b="1" dirty="0"/>
              <a:t>Applications</a:t>
            </a:r>
          </a:p>
          <a:p>
            <a:r>
              <a:rPr lang="en-US" dirty="0"/>
              <a:t>Analog computers are best suited for tasks requiring real-time processing and simulation. Common use cases include:</a:t>
            </a:r>
          </a:p>
          <a:p>
            <a:pPr>
              <a:buFont typeface="+mj-lt"/>
              <a:buAutoNum type="arabicPeriod"/>
            </a:pPr>
            <a:r>
              <a:rPr lang="en-US" b="1" dirty="0"/>
              <a:t>Weather Prediction:</a:t>
            </a:r>
            <a:endParaRPr lang="en-US" dirty="0"/>
          </a:p>
          <a:p>
            <a:pPr marL="742950" lvl="1" indent="-285750">
              <a:buFont typeface="+mj-lt"/>
              <a:buAutoNum type="arabicPeriod"/>
            </a:pPr>
            <a:r>
              <a:rPr lang="en-US" dirty="0"/>
              <a:t>Simulating atmospheric conditions using differential equations for forecasting.</a:t>
            </a:r>
          </a:p>
          <a:p>
            <a:pPr>
              <a:buFont typeface="+mj-lt"/>
              <a:buAutoNum type="arabicPeriod"/>
            </a:pPr>
            <a:r>
              <a:rPr lang="en-US" b="1" dirty="0"/>
              <a:t>Control Systems:</a:t>
            </a:r>
            <a:endParaRPr lang="en-US" dirty="0"/>
          </a:p>
          <a:p>
            <a:pPr marL="742950" lvl="1" indent="-285750">
              <a:buFont typeface="+mj-lt"/>
              <a:buAutoNum type="arabicPeriod"/>
            </a:pPr>
            <a:r>
              <a:rPr lang="en-US" dirty="0"/>
              <a:t>Used in industries to maintain stability, like automatic braking systems or flight simulators.</a:t>
            </a:r>
          </a:p>
          <a:p>
            <a:pPr>
              <a:buFont typeface="+mj-lt"/>
              <a:buAutoNum type="arabicPeriod"/>
            </a:pPr>
            <a:r>
              <a:rPr lang="en-US" b="1" dirty="0"/>
              <a:t>Signal Processing:</a:t>
            </a:r>
            <a:endParaRPr lang="en-US" dirty="0"/>
          </a:p>
          <a:p>
            <a:pPr marL="742950" lvl="1" indent="-285750">
              <a:buFont typeface="+mj-lt"/>
              <a:buAutoNum type="arabicPeriod"/>
            </a:pPr>
            <a:r>
              <a:rPr lang="en-US" dirty="0"/>
              <a:t>Analog computers can filter, modulate, and amplify signals effectively.</a:t>
            </a:r>
          </a:p>
          <a:p>
            <a:r>
              <a:rPr lang="en-US" b="1" dirty="0"/>
              <a:t>Advantages</a:t>
            </a:r>
          </a:p>
          <a:p>
            <a:pPr>
              <a:buFont typeface="+mj-lt"/>
              <a:buAutoNum type="arabicPeriod"/>
            </a:pPr>
            <a:r>
              <a:rPr lang="en-US" b="1" dirty="0"/>
              <a:t>Real-Time Operation:</a:t>
            </a:r>
            <a:endParaRPr lang="en-US" dirty="0"/>
          </a:p>
          <a:p>
            <a:pPr marL="742950" lvl="1" indent="-285750">
              <a:buFont typeface="+mj-lt"/>
              <a:buAutoNum type="arabicPeriod"/>
            </a:pPr>
            <a:r>
              <a:rPr lang="en-US" dirty="0"/>
              <a:t>Outputs are generated instantaneously, making them suitable for simulations.</a:t>
            </a:r>
          </a:p>
          <a:p>
            <a:pPr marL="742950" lvl="1" indent="-285750">
              <a:buFont typeface="+mj-lt"/>
              <a:buAutoNum type="arabicPeriod"/>
            </a:pPr>
            <a:r>
              <a:rPr lang="en-US" dirty="0"/>
              <a:t>Example: Aircraft flight simulation systems.</a:t>
            </a:r>
          </a:p>
          <a:p>
            <a:pPr>
              <a:buFont typeface="+mj-lt"/>
              <a:buAutoNum type="arabicPeriod"/>
            </a:pPr>
            <a:r>
              <a:rPr lang="en-US" b="1" dirty="0"/>
              <a:t>High-Speed Computation:</a:t>
            </a:r>
            <a:endParaRPr lang="en-US" dirty="0"/>
          </a:p>
          <a:p>
            <a:pPr marL="742950" lvl="1" indent="-285750">
              <a:buFont typeface="+mj-lt"/>
              <a:buAutoNum type="arabicPeriod"/>
            </a:pPr>
            <a:r>
              <a:rPr lang="en-US" dirty="0"/>
              <a:t>Operations such as integration and differentiation are faster than in digital systems for specific problems.</a:t>
            </a:r>
          </a:p>
          <a:p>
            <a:r>
              <a:rPr lang="en-US" b="1" dirty="0"/>
              <a:t>Limitations</a:t>
            </a:r>
          </a:p>
          <a:p>
            <a:pPr>
              <a:buFont typeface="+mj-lt"/>
              <a:buAutoNum type="arabicPeriod"/>
            </a:pPr>
            <a:r>
              <a:rPr lang="en-US" b="1" dirty="0"/>
              <a:t>Precision Issues:</a:t>
            </a:r>
            <a:endParaRPr lang="en-US" dirty="0"/>
          </a:p>
          <a:p>
            <a:pPr marL="742950" lvl="1" indent="-285750">
              <a:buFont typeface="+mj-lt"/>
              <a:buAutoNum type="arabicPeriod"/>
            </a:pPr>
            <a:r>
              <a:rPr lang="en-US" dirty="0"/>
              <a:t>Analog systems are prone to inaccuracies due to noise and component tolerances. This is why digital systems often replace analog ones for precise calculations.</a:t>
            </a:r>
          </a:p>
          <a:p>
            <a:pPr marL="742950" lvl="1" indent="-285750">
              <a:buFont typeface="+mj-lt"/>
              <a:buAutoNum type="arabicPeriod"/>
            </a:pPr>
            <a:r>
              <a:rPr lang="en-US" dirty="0"/>
              <a:t>Example: A slight variation in voltage can result in significant errors.</a:t>
            </a:r>
          </a:p>
          <a:p>
            <a:pPr>
              <a:buFont typeface="+mj-lt"/>
              <a:buAutoNum type="arabicPeriod"/>
            </a:pPr>
            <a:r>
              <a:rPr lang="en-US" b="1" dirty="0"/>
              <a:t>Complexity in Programming and Maintenance:</a:t>
            </a:r>
            <a:endParaRPr lang="en-US" dirty="0"/>
          </a:p>
          <a:p>
            <a:pPr marL="742950" lvl="1" indent="-285750">
              <a:buFont typeface="+mj-lt"/>
              <a:buAutoNum type="arabicPeriod"/>
            </a:pPr>
            <a:r>
              <a:rPr lang="en-US" dirty="0"/>
              <a:t>Analog computers are harder to reconfigure for different problems compared to programmable digital computers.</a:t>
            </a:r>
          </a:p>
          <a:p>
            <a:pPr marL="742950" lvl="1" indent="-285750">
              <a:buFont typeface="+mj-lt"/>
              <a:buAutoNum type="arabicPeriod"/>
            </a:pPr>
            <a:r>
              <a:rPr lang="en-US" dirty="0"/>
              <a:t>Repairs require specialized knowledge and tools.</a:t>
            </a:r>
          </a:p>
          <a:p>
            <a:endParaRPr lang="en-US" b="1" dirty="0"/>
          </a:p>
          <a:p>
            <a:r>
              <a:rPr lang="en-US" b="1" dirty="0"/>
              <a:t>Examples of Analog Computers in Real Life</a:t>
            </a:r>
          </a:p>
          <a:p>
            <a:pPr>
              <a:buFont typeface="+mj-lt"/>
              <a:buAutoNum type="arabicPeriod"/>
            </a:pPr>
            <a:r>
              <a:rPr lang="en-US" b="1" dirty="0"/>
              <a:t>Seismology</a:t>
            </a:r>
            <a:endParaRPr lang="en-US" dirty="0"/>
          </a:p>
          <a:p>
            <a:pPr marL="742950" lvl="1" indent="-285750">
              <a:buFont typeface="+mj-lt"/>
              <a:buAutoNum type="arabicPeriod"/>
            </a:pPr>
            <a:r>
              <a:rPr lang="en-US" b="1" dirty="0"/>
              <a:t>Usage</a:t>
            </a:r>
            <a:r>
              <a:rPr lang="en-US" dirty="0"/>
              <a:t>: Analyzing seismic data for earthquake prediction.</a:t>
            </a:r>
          </a:p>
          <a:p>
            <a:pPr marL="742950" lvl="1" indent="-285750">
              <a:buFont typeface="+mj-lt"/>
              <a:buAutoNum type="arabicPeriod"/>
            </a:pPr>
            <a:r>
              <a:rPr lang="en-US" b="1" dirty="0"/>
              <a:t>Details</a:t>
            </a:r>
            <a:r>
              <a:rPr lang="en-US" dirty="0"/>
              <a:t>: Analog systems can process continuous waveforms from ground movements, simulating how seismic waves propagate through different terrains.</a:t>
            </a:r>
          </a:p>
          <a:p>
            <a:pPr>
              <a:buFont typeface="+mj-lt"/>
              <a:buAutoNum type="arabicPeriod"/>
            </a:pPr>
            <a:r>
              <a:rPr lang="en-US" b="1" dirty="0"/>
              <a:t>Early Navigation Systems</a:t>
            </a:r>
            <a:endParaRPr lang="en-US" dirty="0"/>
          </a:p>
          <a:p>
            <a:pPr marL="742950" lvl="1" indent="-285750">
              <a:buFont typeface="+mj-lt"/>
              <a:buAutoNum type="arabicPeriod"/>
            </a:pPr>
            <a:r>
              <a:rPr lang="en-US" b="1" dirty="0"/>
              <a:t>Usage</a:t>
            </a:r>
            <a:r>
              <a:rPr lang="en-US" dirty="0"/>
              <a:t>: Used in ships and aircraft for navigation before GPS systems.</a:t>
            </a:r>
          </a:p>
          <a:p>
            <a:pPr marL="742950" lvl="1" indent="-285750">
              <a:buFont typeface="+mj-lt"/>
              <a:buAutoNum type="arabicPeriod"/>
            </a:pPr>
            <a:r>
              <a:rPr lang="en-US" b="1" dirty="0"/>
              <a:t>Details</a:t>
            </a:r>
            <a:r>
              <a:rPr lang="en-US" dirty="0"/>
              <a:t>: These computers calculated positions and trajectories using gyroscopes and accelerometers.</a:t>
            </a:r>
          </a:p>
          <a:p>
            <a:pPr>
              <a:buFont typeface="+mj-lt"/>
              <a:buAutoNum type="arabicPeriod"/>
            </a:pPr>
            <a:r>
              <a:rPr lang="en-US" b="1" dirty="0"/>
              <a:t>Electronic Music Synthesizers</a:t>
            </a:r>
            <a:endParaRPr lang="en-US" dirty="0"/>
          </a:p>
          <a:p>
            <a:pPr marL="742950" lvl="1" indent="-285750">
              <a:buFont typeface="+mj-lt"/>
              <a:buAutoNum type="arabicPeriod"/>
            </a:pPr>
            <a:r>
              <a:rPr lang="en-US" b="1" dirty="0"/>
              <a:t>Usage</a:t>
            </a:r>
            <a:r>
              <a:rPr lang="en-US" dirty="0"/>
              <a:t>: Generating and manipulating sounds.</a:t>
            </a:r>
          </a:p>
          <a:p>
            <a:pPr marL="742950" lvl="1" indent="-285750">
              <a:buFont typeface="+mj-lt"/>
              <a:buAutoNum type="arabicPeriod"/>
            </a:pPr>
            <a:r>
              <a:rPr lang="en-US" b="1" dirty="0"/>
              <a:t>Details</a:t>
            </a:r>
            <a:r>
              <a:rPr lang="en-US" dirty="0"/>
              <a:t>: Analog synthesizers create sounds by modifying electrical voltages to produce waves (e.g., sine, square) that represent tones.</a:t>
            </a:r>
          </a:p>
          <a:p>
            <a:pPr>
              <a:buFont typeface="+mj-lt"/>
              <a:buAutoNum type="arabicPeriod"/>
            </a:pPr>
            <a:r>
              <a:rPr lang="en-US" b="1" dirty="0"/>
              <a:t>Nuclear Reactor Control</a:t>
            </a:r>
            <a:endParaRPr lang="en-US" dirty="0"/>
          </a:p>
          <a:p>
            <a:pPr marL="742950" lvl="1" indent="-285750">
              <a:buFont typeface="+mj-lt"/>
              <a:buAutoNum type="arabicPeriod"/>
            </a:pPr>
            <a:r>
              <a:rPr lang="en-US" b="1" dirty="0"/>
              <a:t>Usage</a:t>
            </a:r>
            <a:r>
              <a:rPr lang="en-US" dirty="0"/>
              <a:t>: Monitoring and controlling reactor variables like temperature and pressure.</a:t>
            </a:r>
          </a:p>
          <a:p>
            <a:pPr marL="742950" lvl="1" indent="-285750">
              <a:buFont typeface="+mj-lt"/>
              <a:buAutoNum type="arabicPeriod"/>
            </a:pPr>
            <a:r>
              <a:rPr lang="en-US" b="1" dirty="0"/>
              <a:t>Details</a:t>
            </a:r>
            <a:r>
              <a:rPr lang="en-US" dirty="0"/>
              <a:t>: Analog systems provided real-time feedback and adjustments before digital computers took over.</a:t>
            </a:r>
          </a:p>
          <a:p>
            <a:pPr>
              <a:buFont typeface="+mj-lt"/>
              <a:buAutoNum type="arabicPeriod"/>
            </a:pPr>
            <a:r>
              <a:rPr lang="en-US" b="1" dirty="0"/>
              <a:t>Medical Instruments</a:t>
            </a:r>
            <a:endParaRPr lang="en-US" dirty="0"/>
          </a:p>
          <a:p>
            <a:pPr marL="742950" lvl="1" indent="-285750">
              <a:buFont typeface="+mj-lt"/>
              <a:buAutoNum type="arabicPeriod"/>
            </a:pPr>
            <a:r>
              <a:rPr lang="en-US" b="1" dirty="0"/>
              <a:t>Usage</a:t>
            </a:r>
            <a:r>
              <a:rPr lang="en-US" dirty="0"/>
              <a:t>: Devices like ECG (Electrocardiogram) machines analyze heart activity.</a:t>
            </a:r>
          </a:p>
          <a:p>
            <a:pPr marL="742950" lvl="1" indent="-285750">
              <a:buFont typeface="+mj-lt"/>
              <a:buAutoNum type="arabicPeriod"/>
            </a:pPr>
            <a:r>
              <a:rPr lang="en-US" b="1" dirty="0"/>
              <a:t>Details</a:t>
            </a:r>
            <a:r>
              <a:rPr lang="en-US" dirty="0"/>
              <a:t>: The machine converts electrical impulses from the heart into continuous waveforms for interpretation.</a:t>
            </a:r>
          </a:p>
          <a:p>
            <a:r>
              <a:rPr lang="en-US" b="1" dirty="0"/>
              <a:t>Analog Operations in Research and Industry</a:t>
            </a:r>
          </a:p>
          <a:p>
            <a:pPr>
              <a:buFont typeface="+mj-lt"/>
              <a:buAutoNum type="arabicPeriod"/>
            </a:pPr>
            <a:r>
              <a:rPr lang="en-US" b="1" dirty="0"/>
              <a:t>Mechanical Analog Models</a:t>
            </a:r>
            <a:endParaRPr lang="en-US" dirty="0"/>
          </a:p>
          <a:p>
            <a:pPr marL="742950" lvl="1" indent="-285750">
              <a:buFont typeface="+mj-lt"/>
              <a:buAutoNum type="arabicPeriod"/>
            </a:pPr>
            <a:r>
              <a:rPr lang="en-US" dirty="0"/>
              <a:t>Example: </a:t>
            </a:r>
            <a:r>
              <a:rPr lang="en-US" b="1" dirty="0"/>
              <a:t>Differential Analyzers</a:t>
            </a:r>
            <a:r>
              <a:rPr lang="en-US" dirty="0"/>
              <a:t> (1930s)</a:t>
            </a:r>
          </a:p>
          <a:p>
            <a:pPr marL="742950" lvl="1" indent="-285750">
              <a:buFont typeface="+mj-lt"/>
              <a:buAutoNum type="arabicPeriod"/>
            </a:pPr>
            <a:r>
              <a:rPr lang="en-US" b="1" dirty="0"/>
              <a:t>Usage</a:t>
            </a:r>
            <a:r>
              <a:rPr lang="en-US" dirty="0"/>
              <a:t>: Solving differential equations.</a:t>
            </a:r>
          </a:p>
          <a:p>
            <a:pPr marL="742950" lvl="1" indent="-285750">
              <a:buFont typeface="+mj-lt"/>
              <a:buAutoNum type="arabicPeriod"/>
            </a:pPr>
            <a:r>
              <a:rPr lang="en-US" b="1" dirty="0"/>
              <a:t>Details</a:t>
            </a:r>
            <a:r>
              <a:rPr lang="en-US" dirty="0"/>
              <a:t>: Mechanical parts like gears and shafts physically represented mathematical relationships.</a:t>
            </a:r>
          </a:p>
          <a:p>
            <a:pPr>
              <a:buFont typeface="+mj-lt"/>
              <a:buAutoNum type="arabicPeriod"/>
            </a:pPr>
            <a:r>
              <a:rPr lang="en-US" b="1" dirty="0"/>
              <a:t>Hydraulic Computers</a:t>
            </a:r>
            <a:endParaRPr lang="en-US" dirty="0"/>
          </a:p>
          <a:p>
            <a:pPr marL="742950" lvl="1" indent="-285750">
              <a:buFont typeface="+mj-lt"/>
              <a:buAutoNum type="arabicPeriod"/>
            </a:pPr>
            <a:r>
              <a:rPr lang="en-US" dirty="0"/>
              <a:t>Example: MONIAC (Monetary National Income Analogue Computer)</a:t>
            </a:r>
          </a:p>
          <a:p>
            <a:pPr marL="742950" lvl="1" indent="-285750">
              <a:buFont typeface="+mj-lt"/>
              <a:buAutoNum type="arabicPeriod"/>
            </a:pPr>
            <a:r>
              <a:rPr lang="en-US" b="1" dirty="0"/>
              <a:t>Usage</a:t>
            </a:r>
            <a:r>
              <a:rPr lang="en-US" dirty="0"/>
              <a:t>: Simulating economic systems.</a:t>
            </a:r>
          </a:p>
          <a:p>
            <a:pPr marL="742950" lvl="1" indent="-285750">
              <a:buFont typeface="+mj-lt"/>
              <a:buAutoNum type="arabicPeriod"/>
            </a:pPr>
            <a:r>
              <a:rPr lang="en-US" b="1" dirty="0"/>
              <a:t>Details</a:t>
            </a:r>
            <a:r>
              <a:rPr lang="en-US" dirty="0"/>
              <a:t>: Water flow through pipes represented cash flow in an economy.</a:t>
            </a:r>
          </a:p>
          <a:p>
            <a:pPr>
              <a:buFont typeface="+mj-lt"/>
              <a:buAutoNum type="arabicPeriod"/>
            </a:pPr>
            <a:r>
              <a:rPr lang="en-US" b="1" dirty="0"/>
              <a:t>Analog Flight Simulators</a:t>
            </a:r>
            <a:endParaRPr lang="en-US" dirty="0"/>
          </a:p>
          <a:p>
            <a:pPr marL="742950" lvl="1" indent="-285750">
              <a:buFont typeface="+mj-lt"/>
              <a:buAutoNum type="arabicPeriod"/>
            </a:pPr>
            <a:r>
              <a:rPr lang="en-US" b="1" dirty="0"/>
              <a:t>Usage</a:t>
            </a:r>
            <a:r>
              <a:rPr lang="en-US" dirty="0"/>
              <a:t>: Training pilots.</a:t>
            </a:r>
          </a:p>
          <a:p>
            <a:pPr marL="742950" lvl="1" indent="-285750">
              <a:buFont typeface="+mj-lt"/>
              <a:buAutoNum type="arabicPeriod"/>
            </a:pPr>
            <a:r>
              <a:rPr lang="en-US" b="1" dirty="0"/>
              <a:t>Details</a:t>
            </a:r>
            <a:r>
              <a:rPr lang="en-US" dirty="0"/>
              <a:t>: Simulated aircraft dynamics using hydraulic systems to mimic physical controls and environmental factors.</a:t>
            </a:r>
          </a:p>
          <a:p>
            <a:pPr>
              <a:buFont typeface="+mj-lt"/>
              <a:buAutoNum type="arabicPeriod"/>
            </a:pPr>
            <a:r>
              <a:rPr lang="en-US" b="1" dirty="0"/>
              <a:t>Analog Communication Systems</a:t>
            </a:r>
            <a:endParaRPr lang="en-US" dirty="0"/>
          </a:p>
          <a:p>
            <a:pPr marL="742950" lvl="1" indent="-285750">
              <a:buFont typeface="+mj-lt"/>
              <a:buAutoNum type="arabicPeriod"/>
            </a:pPr>
            <a:r>
              <a:rPr lang="en-US" dirty="0"/>
              <a:t>Example: Telephone systems before digital networks.</a:t>
            </a:r>
          </a:p>
          <a:p>
            <a:pPr marL="742950" lvl="1" indent="-285750">
              <a:buFont typeface="+mj-lt"/>
              <a:buAutoNum type="arabicPeriod"/>
            </a:pPr>
            <a:r>
              <a:rPr lang="en-US" b="1" dirty="0"/>
              <a:t>Details</a:t>
            </a:r>
            <a:r>
              <a:rPr lang="en-US" dirty="0"/>
              <a:t>: Signals were transmitted as continuous waveforms, allowing voice transmission.</a:t>
            </a:r>
          </a:p>
          <a:p>
            <a:r>
              <a:rPr lang="en-US" b="1" dirty="0"/>
              <a:t>Further Comparisons</a:t>
            </a:r>
          </a:p>
          <a:p>
            <a:r>
              <a:rPr lang="en-US" dirty="0"/>
              <a:t>While these examples highlight the capabilities of analog systems, they also underscore their limitations:</a:t>
            </a:r>
          </a:p>
          <a:p>
            <a:pPr>
              <a:buFont typeface="Arial" panose="020B0604020202020204" pitchFamily="34" charset="0"/>
              <a:buChar char="•"/>
            </a:pPr>
            <a:r>
              <a:rPr lang="en-US" dirty="0"/>
              <a:t>Noise and degradation in signals can affect accuracy over time.</a:t>
            </a:r>
          </a:p>
          <a:p>
            <a:pPr>
              <a:buFont typeface="Arial" panose="020B0604020202020204" pitchFamily="34" charset="0"/>
              <a:buChar char="•"/>
            </a:pPr>
            <a:r>
              <a:rPr lang="en-US" dirty="0"/>
              <a:t>Modern technologies often replicate these functionalities digitally, trading real-time computation for higher precision and versatility.</a:t>
            </a:r>
          </a:p>
          <a:p>
            <a:endParaRPr lang="en-US" dirty="0"/>
          </a:p>
        </p:txBody>
      </p:sp>
      <p:sp>
        <p:nvSpPr>
          <p:cNvPr id="4" name="Slide Number Placeholder 3"/>
          <p:cNvSpPr>
            <a:spLocks noGrp="1"/>
          </p:cNvSpPr>
          <p:nvPr>
            <p:ph type="sldNum" sz="quarter" idx="5"/>
          </p:nvPr>
        </p:nvSpPr>
        <p:spPr/>
        <p:txBody>
          <a:bodyPr/>
          <a:lstStyle/>
          <a:p>
            <a:fld id="{7378B596-C4DA-4098-8F1D-456CD6B9599F}" type="slidenum">
              <a:rPr lang="en-US" smtClean="0"/>
              <a:t>15</a:t>
            </a:fld>
            <a:endParaRPr lang="en-US"/>
          </a:p>
        </p:txBody>
      </p:sp>
    </p:spTree>
    <p:extLst>
      <p:ext uri="{BB962C8B-B14F-4D97-AF65-F5344CB8AC3E}">
        <p14:creationId xmlns:p14="http://schemas.microsoft.com/office/powerpoint/2010/main" val="28744236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 computers rely on specialized hardware components to perform computations based on continuous data. Each component plays a unique role in processing signals and solving problems.</a:t>
            </a:r>
          </a:p>
          <a:p>
            <a:r>
              <a:rPr lang="en-US" b="1" dirty="0"/>
              <a:t>Key Components and Their Functions</a:t>
            </a:r>
          </a:p>
          <a:p>
            <a:r>
              <a:rPr lang="en-US" b="1" dirty="0"/>
              <a:t>1. Amplifiers</a:t>
            </a:r>
          </a:p>
          <a:p>
            <a:pPr>
              <a:buFont typeface="Arial" panose="020B0604020202020204" pitchFamily="34" charset="0"/>
              <a:buChar char="•"/>
            </a:pPr>
            <a:r>
              <a:rPr lang="en-US" b="1" dirty="0"/>
              <a:t>Function</a:t>
            </a:r>
            <a:r>
              <a:rPr lang="en-US" dirty="0"/>
              <a:t>: Boosts the strength of an electrical signal to ensure it is usable in further operations.</a:t>
            </a:r>
          </a:p>
          <a:p>
            <a:pPr>
              <a:buFont typeface="Arial" panose="020B0604020202020204" pitchFamily="34" charset="0"/>
              <a:buChar char="•"/>
            </a:pPr>
            <a:r>
              <a:rPr lang="en-US" b="1" dirty="0"/>
              <a:t>Use Case</a:t>
            </a:r>
            <a:r>
              <a:rPr lang="en-US" dirty="0"/>
              <a:t>: Amplifying weak signals in a circuit to prevent loss of data.</a:t>
            </a:r>
          </a:p>
          <a:p>
            <a:pPr>
              <a:buFont typeface="Arial" panose="020B0604020202020204" pitchFamily="34" charset="0"/>
              <a:buChar char="•"/>
            </a:pPr>
            <a:r>
              <a:rPr lang="en-US" b="1" dirty="0"/>
              <a:t>Example</a:t>
            </a:r>
            <a:r>
              <a:rPr lang="en-US" dirty="0"/>
              <a:t>: An amplifier is used in an audio system to enhance sound quality.</a:t>
            </a:r>
          </a:p>
          <a:p>
            <a:r>
              <a:rPr lang="en-US" b="1" dirty="0"/>
              <a:t>2. Integrators and Differentiators</a:t>
            </a:r>
          </a:p>
          <a:p>
            <a:pPr>
              <a:buFont typeface="Arial" panose="020B0604020202020204" pitchFamily="34" charset="0"/>
              <a:buChar char="•"/>
            </a:pPr>
            <a:r>
              <a:rPr lang="en-US" b="1" dirty="0"/>
              <a:t>Function</a:t>
            </a:r>
            <a:r>
              <a:rPr lang="en-US" dirty="0"/>
              <a:t>:</a:t>
            </a:r>
          </a:p>
          <a:p>
            <a:pPr marL="742950" lvl="1" indent="-285750">
              <a:buFont typeface="Arial" panose="020B0604020202020204" pitchFamily="34" charset="0"/>
              <a:buChar char="•"/>
            </a:pPr>
            <a:r>
              <a:rPr lang="en-US" b="1" dirty="0"/>
              <a:t>Integrators</a:t>
            </a:r>
            <a:r>
              <a:rPr lang="en-US" dirty="0"/>
              <a:t>: Perform mathematical integration of input signals over time.</a:t>
            </a:r>
          </a:p>
          <a:p>
            <a:pPr marL="742950" lvl="1" indent="-285750">
              <a:buFont typeface="Arial" panose="020B0604020202020204" pitchFamily="34" charset="0"/>
              <a:buChar char="•"/>
            </a:pPr>
            <a:r>
              <a:rPr lang="en-US" b="1" dirty="0"/>
              <a:t>Differentiators</a:t>
            </a:r>
            <a:r>
              <a:rPr lang="en-US" dirty="0"/>
              <a:t>: Calculate the rate of change (derivative) of input signals.</a:t>
            </a:r>
          </a:p>
          <a:p>
            <a:pPr>
              <a:buFont typeface="Arial" panose="020B0604020202020204" pitchFamily="34" charset="0"/>
              <a:buChar char="•"/>
            </a:pPr>
            <a:r>
              <a:rPr lang="en-US" b="1" dirty="0"/>
              <a:t>Use Case</a:t>
            </a:r>
            <a:r>
              <a:rPr lang="en-US" dirty="0"/>
              <a:t>: Solving differential equations in real-time.</a:t>
            </a:r>
          </a:p>
          <a:p>
            <a:pPr>
              <a:buFont typeface="Arial" panose="020B0604020202020204" pitchFamily="34" charset="0"/>
              <a:buChar char="•"/>
            </a:pPr>
            <a:r>
              <a:rPr lang="en-US" b="1" dirty="0"/>
              <a:t>Example</a:t>
            </a:r>
            <a:r>
              <a:rPr lang="en-US" dirty="0"/>
              <a:t>: Integrators are used in analog simulations of velocity from acceleration data.</a:t>
            </a:r>
          </a:p>
          <a:p>
            <a:r>
              <a:rPr lang="en-US" b="1" dirty="0"/>
              <a:t>3. Potentiometers</a:t>
            </a:r>
          </a:p>
          <a:p>
            <a:pPr>
              <a:buFont typeface="Arial" panose="020B0604020202020204" pitchFamily="34" charset="0"/>
              <a:buChar char="•"/>
            </a:pPr>
            <a:r>
              <a:rPr lang="en-US" b="1" dirty="0"/>
              <a:t>Function</a:t>
            </a:r>
            <a:r>
              <a:rPr lang="en-US" dirty="0"/>
              <a:t>: Adjusts and divides voltage levels, allowing for fine-tuning of inputs and parameters.</a:t>
            </a:r>
          </a:p>
          <a:p>
            <a:pPr>
              <a:buFont typeface="Arial" panose="020B0604020202020204" pitchFamily="34" charset="0"/>
              <a:buChar char="•"/>
            </a:pPr>
            <a:r>
              <a:rPr lang="en-US" b="1" dirty="0"/>
              <a:t>Use Case</a:t>
            </a:r>
            <a:r>
              <a:rPr lang="en-US" dirty="0"/>
              <a:t>: Setting specific resistance or voltage levels in a circuit.</a:t>
            </a:r>
          </a:p>
          <a:p>
            <a:pPr>
              <a:buFont typeface="Arial" panose="020B0604020202020204" pitchFamily="34" charset="0"/>
              <a:buChar char="•"/>
            </a:pPr>
            <a:r>
              <a:rPr lang="en-US" b="1" dirty="0"/>
              <a:t>Example</a:t>
            </a:r>
            <a:r>
              <a:rPr lang="en-US" dirty="0"/>
              <a:t>: Used in volume knobs for audio systems to regulate output levels.</a:t>
            </a:r>
          </a:p>
          <a:p>
            <a:r>
              <a:rPr lang="en-US" b="1" dirty="0"/>
              <a:t>4. Analog Multipliers</a:t>
            </a:r>
          </a:p>
          <a:p>
            <a:pPr>
              <a:buFont typeface="Arial" panose="020B0604020202020204" pitchFamily="34" charset="0"/>
              <a:buChar char="•"/>
            </a:pPr>
            <a:r>
              <a:rPr lang="en-US" b="1" dirty="0"/>
              <a:t>Function</a:t>
            </a:r>
            <a:r>
              <a:rPr lang="en-US" dirty="0"/>
              <a:t>: Performs multiplication of two continuous signals.</a:t>
            </a:r>
          </a:p>
          <a:p>
            <a:pPr>
              <a:buFont typeface="Arial" panose="020B0604020202020204" pitchFamily="34" charset="0"/>
              <a:buChar char="•"/>
            </a:pPr>
            <a:r>
              <a:rPr lang="en-US" b="1" dirty="0"/>
              <a:t>Use Case</a:t>
            </a:r>
            <a:r>
              <a:rPr lang="en-US" dirty="0"/>
              <a:t>: Essential in signal modulation and feedback control systems.</a:t>
            </a:r>
          </a:p>
          <a:p>
            <a:pPr>
              <a:buFont typeface="Arial" panose="020B0604020202020204" pitchFamily="34" charset="0"/>
              <a:buChar char="•"/>
            </a:pPr>
            <a:r>
              <a:rPr lang="en-US" b="1" dirty="0"/>
              <a:t>Example</a:t>
            </a:r>
            <a:r>
              <a:rPr lang="en-US" dirty="0"/>
              <a:t>: Multiplying two sinusoidal signals to generate frequency modulated signals.</a:t>
            </a:r>
          </a:p>
          <a:p>
            <a:r>
              <a:rPr lang="en-US" b="1" dirty="0"/>
              <a:t>5. Function Generators</a:t>
            </a:r>
          </a:p>
          <a:p>
            <a:pPr>
              <a:buFont typeface="Arial" panose="020B0604020202020204" pitchFamily="34" charset="0"/>
              <a:buChar char="•"/>
            </a:pPr>
            <a:r>
              <a:rPr lang="en-US" b="1" dirty="0"/>
              <a:t>Function</a:t>
            </a:r>
            <a:r>
              <a:rPr lang="en-US" dirty="0"/>
              <a:t>: Generates standard waveforms like sine, square, and triangular waves used as inputs for analog computations.</a:t>
            </a:r>
          </a:p>
          <a:p>
            <a:pPr>
              <a:buFont typeface="Arial" panose="020B0604020202020204" pitchFamily="34" charset="0"/>
              <a:buChar char="•"/>
            </a:pPr>
            <a:r>
              <a:rPr lang="en-US" b="1" dirty="0"/>
              <a:t>Use Case</a:t>
            </a:r>
            <a:r>
              <a:rPr lang="en-US" dirty="0"/>
              <a:t>: Testing and calibrating circuits or simulating signals.</a:t>
            </a:r>
          </a:p>
          <a:p>
            <a:pPr>
              <a:buFont typeface="Arial" panose="020B0604020202020204" pitchFamily="34" charset="0"/>
              <a:buChar char="•"/>
            </a:pPr>
            <a:r>
              <a:rPr lang="en-US" b="1" dirty="0"/>
              <a:t>Example</a:t>
            </a:r>
            <a:r>
              <a:rPr lang="en-US" dirty="0"/>
              <a:t>: A sine wave generator to simulate oscillations in mechanical systems.</a:t>
            </a:r>
          </a:p>
          <a:p>
            <a:r>
              <a:rPr lang="en-US" b="1" dirty="0"/>
              <a:t>6. Oscilloscopes</a:t>
            </a:r>
          </a:p>
          <a:p>
            <a:pPr>
              <a:buFont typeface="Arial" panose="020B0604020202020204" pitchFamily="34" charset="0"/>
              <a:buChar char="•"/>
            </a:pPr>
            <a:r>
              <a:rPr lang="en-US" b="1" dirty="0"/>
              <a:t>Function</a:t>
            </a:r>
            <a:r>
              <a:rPr lang="en-US" dirty="0"/>
              <a:t>: Visualizes and measures the output signals as waveforms on a screen.</a:t>
            </a:r>
          </a:p>
          <a:p>
            <a:pPr>
              <a:buFont typeface="Arial" panose="020B0604020202020204" pitchFamily="34" charset="0"/>
              <a:buChar char="•"/>
            </a:pPr>
            <a:r>
              <a:rPr lang="en-US" b="1" dirty="0"/>
              <a:t>Use Case</a:t>
            </a:r>
            <a:r>
              <a:rPr lang="en-US" dirty="0"/>
              <a:t>: Troubleshooting and analyzing circuit behavior.</a:t>
            </a:r>
          </a:p>
          <a:p>
            <a:pPr>
              <a:buFont typeface="Arial" panose="020B0604020202020204" pitchFamily="34" charset="0"/>
              <a:buChar char="•"/>
            </a:pPr>
            <a:r>
              <a:rPr lang="en-US" b="1" dirty="0"/>
              <a:t>Example</a:t>
            </a:r>
            <a:r>
              <a:rPr lang="en-US" dirty="0"/>
              <a:t>: Monitoring the output of an analog computer solving a harmonic motion equation.</a:t>
            </a:r>
          </a:p>
          <a:p>
            <a:endParaRPr lang="en-US" b="1" dirty="0"/>
          </a:p>
          <a:p>
            <a:endParaRPr lang="en-US" b="1" dirty="0"/>
          </a:p>
          <a:p>
            <a:r>
              <a:rPr lang="en-US" b="1" dirty="0"/>
              <a:t>How These Components Work Together</a:t>
            </a:r>
          </a:p>
          <a:p>
            <a:r>
              <a:rPr lang="en-US" dirty="0"/>
              <a:t>When solving a problem:</a:t>
            </a:r>
          </a:p>
          <a:p>
            <a:pPr>
              <a:buFont typeface="+mj-lt"/>
              <a:buAutoNum type="arabicPeriod"/>
            </a:pPr>
            <a:r>
              <a:rPr lang="en-US" b="1" dirty="0"/>
              <a:t>Inputs</a:t>
            </a:r>
            <a:r>
              <a:rPr lang="en-US" dirty="0"/>
              <a:t> (e.g., voltages) are adjusted using potentiometers.</a:t>
            </a:r>
          </a:p>
          <a:p>
            <a:pPr>
              <a:buFont typeface="+mj-lt"/>
              <a:buAutoNum type="arabicPeriod"/>
            </a:pPr>
            <a:r>
              <a:rPr lang="en-US" dirty="0"/>
              <a:t>The signals are processed using amplifiers, integrators, and differentiators based on the mathematical model.</a:t>
            </a:r>
          </a:p>
          <a:p>
            <a:pPr>
              <a:buFont typeface="+mj-lt"/>
              <a:buAutoNum type="arabicPeriod"/>
            </a:pPr>
            <a:r>
              <a:rPr lang="en-US" dirty="0"/>
              <a:t>The processed signals are combined or modified using analog multipliers and function generators.</a:t>
            </a:r>
          </a:p>
          <a:p>
            <a:pPr>
              <a:buFont typeface="+mj-lt"/>
              <a:buAutoNum type="arabicPeriod"/>
            </a:pPr>
            <a:r>
              <a:rPr lang="en-US" b="1" dirty="0"/>
              <a:t>Outputs</a:t>
            </a:r>
            <a:r>
              <a:rPr lang="en-US" dirty="0"/>
              <a:t> are visualized or recorded using oscilloscopes for interpretation.</a:t>
            </a:r>
          </a:p>
          <a:p>
            <a:r>
              <a:rPr lang="en-US" b="1" dirty="0"/>
              <a:t>Example Scenario: Aircraft Flight Simulation</a:t>
            </a:r>
          </a:p>
          <a:p>
            <a:pPr>
              <a:buFont typeface="+mj-lt"/>
              <a:buAutoNum type="arabicPeriod"/>
            </a:pPr>
            <a:r>
              <a:rPr lang="en-US" b="1" dirty="0"/>
              <a:t>Integrators</a:t>
            </a:r>
            <a:r>
              <a:rPr lang="en-US" dirty="0"/>
              <a:t> calculate altitude based on velocity.</a:t>
            </a:r>
          </a:p>
          <a:p>
            <a:pPr>
              <a:buFont typeface="+mj-lt"/>
              <a:buAutoNum type="arabicPeriod"/>
            </a:pPr>
            <a:r>
              <a:rPr lang="en-US" b="1" dirty="0"/>
              <a:t>Differentiators</a:t>
            </a:r>
            <a:r>
              <a:rPr lang="en-US" dirty="0"/>
              <a:t> determine changes in velocity (acceleration).</a:t>
            </a:r>
          </a:p>
          <a:p>
            <a:pPr>
              <a:buFont typeface="+mj-lt"/>
              <a:buAutoNum type="arabicPeriod"/>
            </a:pPr>
            <a:r>
              <a:rPr lang="en-US" b="1" dirty="0"/>
              <a:t>Function Generators</a:t>
            </a:r>
            <a:r>
              <a:rPr lang="en-US" dirty="0"/>
              <a:t> simulate turbulence (random waveforms).</a:t>
            </a:r>
          </a:p>
          <a:p>
            <a:pPr>
              <a:buFont typeface="+mj-lt"/>
              <a:buAutoNum type="arabicPeriod"/>
            </a:pPr>
            <a:r>
              <a:rPr lang="en-US" b="1" dirty="0"/>
              <a:t>Amplifiers</a:t>
            </a:r>
            <a:r>
              <a:rPr lang="en-US" dirty="0"/>
              <a:t> ensure signal strength for accurate results.</a:t>
            </a:r>
          </a:p>
          <a:p>
            <a:pPr>
              <a:buFont typeface="+mj-lt"/>
              <a:buAutoNum type="arabicPeriod"/>
            </a:pPr>
            <a:r>
              <a:rPr lang="en-US" dirty="0"/>
              <a:t>The final trajectory is displayed on an </a:t>
            </a:r>
            <a:r>
              <a:rPr lang="en-US" b="1" dirty="0"/>
              <a:t>oscilloscope</a:t>
            </a:r>
            <a:r>
              <a:rPr lang="en-US" dirty="0"/>
              <a:t> for analysis.</a:t>
            </a:r>
          </a:p>
          <a:p>
            <a:endParaRPr lang="en-US" dirty="0"/>
          </a:p>
        </p:txBody>
      </p:sp>
      <p:sp>
        <p:nvSpPr>
          <p:cNvPr id="4" name="Slide Number Placeholder 3"/>
          <p:cNvSpPr>
            <a:spLocks noGrp="1"/>
          </p:cNvSpPr>
          <p:nvPr>
            <p:ph type="sldNum" sz="quarter" idx="5"/>
          </p:nvPr>
        </p:nvSpPr>
        <p:spPr/>
        <p:txBody>
          <a:bodyPr/>
          <a:lstStyle/>
          <a:p>
            <a:fld id="{7378B596-C4DA-4098-8F1D-456CD6B9599F}" type="slidenum">
              <a:rPr lang="en-US" smtClean="0"/>
              <a:t>16</a:t>
            </a:fld>
            <a:endParaRPr lang="en-US"/>
          </a:p>
        </p:txBody>
      </p:sp>
    </p:spTree>
    <p:extLst>
      <p:ext uri="{BB962C8B-B14F-4D97-AF65-F5344CB8AC3E}">
        <p14:creationId xmlns:p14="http://schemas.microsoft.com/office/powerpoint/2010/main" val="4581590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 methods refer to techniques used in analog computers to process continuous signals and solve complex mathematical problems. These methods rely on physical systems or phenomena to represent and manipulate data.</a:t>
            </a:r>
          </a:p>
          <a:p>
            <a:r>
              <a:rPr lang="en-US" b="1" dirty="0"/>
              <a:t>Techniques Used in Analog Methods</a:t>
            </a:r>
          </a:p>
          <a:p>
            <a:r>
              <a:rPr lang="en-US" b="1" dirty="0"/>
              <a:t>1. Voltage-Based Computations</a:t>
            </a:r>
          </a:p>
          <a:p>
            <a:pPr>
              <a:buFont typeface="Arial" panose="020B0604020202020204" pitchFamily="34" charset="0"/>
              <a:buChar char="•"/>
            </a:pPr>
            <a:r>
              <a:rPr lang="en-US" b="1" dirty="0"/>
              <a:t>Explanation</a:t>
            </a:r>
            <a:r>
              <a:rPr lang="en-US" dirty="0"/>
              <a:t>: Electrical voltages are used to represent variables in equations. The relationships between voltages are manipulated to model mathematical operations.</a:t>
            </a:r>
          </a:p>
          <a:p>
            <a:pPr>
              <a:buFont typeface="Arial" panose="020B0604020202020204" pitchFamily="34" charset="0"/>
              <a:buChar char="•"/>
            </a:pPr>
            <a:r>
              <a:rPr lang="en-US" b="1" dirty="0"/>
              <a:t>Example</a:t>
            </a:r>
            <a:r>
              <a:rPr lang="en-US" dirty="0"/>
              <a:t>: Solving V=IRV = IRV=IR (Ohm’s Law) to simulate electrical circuits.</a:t>
            </a:r>
          </a:p>
          <a:p>
            <a:pPr>
              <a:buFont typeface="Arial" panose="020B0604020202020204" pitchFamily="34" charset="0"/>
              <a:buChar char="•"/>
            </a:pPr>
            <a:r>
              <a:rPr lang="en-US" b="1" dirty="0"/>
              <a:t>Application</a:t>
            </a:r>
            <a:r>
              <a:rPr lang="en-US" dirty="0"/>
              <a:t>: Analog circuits are commonly used for signal processing and control systems.</a:t>
            </a:r>
          </a:p>
          <a:p>
            <a:r>
              <a:rPr lang="en-US" b="1" dirty="0"/>
              <a:t>2. Mechanical Models</a:t>
            </a:r>
          </a:p>
          <a:p>
            <a:pPr>
              <a:buFont typeface="Arial" panose="020B0604020202020204" pitchFamily="34" charset="0"/>
              <a:buChar char="•"/>
            </a:pPr>
            <a:r>
              <a:rPr lang="en-US" b="1" dirty="0"/>
              <a:t>Explanation</a:t>
            </a:r>
            <a:r>
              <a:rPr lang="en-US" dirty="0"/>
              <a:t>: Physical mechanisms like gears, levers, and pulleys simulate mathematical relationships.</a:t>
            </a:r>
          </a:p>
          <a:p>
            <a:pPr>
              <a:buFont typeface="Arial" panose="020B0604020202020204" pitchFamily="34" charset="0"/>
              <a:buChar char="•"/>
            </a:pPr>
            <a:r>
              <a:rPr lang="en-US" b="1" dirty="0"/>
              <a:t>Example</a:t>
            </a:r>
            <a:r>
              <a:rPr lang="en-US" dirty="0"/>
              <a:t>: Early mechanical analog computers like the differential analyzer solved differential equations using rotating shafts and gears.</a:t>
            </a:r>
          </a:p>
          <a:p>
            <a:pPr>
              <a:buFont typeface="Arial" panose="020B0604020202020204" pitchFamily="34" charset="0"/>
              <a:buChar char="•"/>
            </a:pPr>
            <a:r>
              <a:rPr lang="en-US" b="1" dirty="0"/>
              <a:t>Application</a:t>
            </a:r>
            <a:r>
              <a:rPr lang="en-US" dirty="0"/>
              <a:t>: Used in engineering for structural analysis and mechanical design.</a:t>
            </a:r>
          </a:p>
          <a:p>
            <a:r>
              <a:rPr lang="en-US" b="1" dirty="0"/>
              <a:t>3. Hydraulic Models</a:t>
            </a:r>
          </a:p>
          <a:p>
            <a:pPr>
              <a:buFont typeface="Arial" panose="020B0604020202020204" pitchFamily="34" charset="0"/>
              <a:buChar char="•"/>
            </a:pPr>
            <a:r>
              <a:rPr lang="en-US" b="1" dirty="0"/>
              <a:t>Explanation</a:t>
            </a:r>
            <a:r>
              <a:rPr lang="en-US" dirty="0"/>
              <a:t>: Fluid flow through pipes and tanks is used to simulate systems involving continuous variables, such as economic models or water distribution systems.</a:t>
            </a:r>
          </a:p>
          <a:p>
            <a:pPr>
              <a:buFont typeface="Arial" panose="020B0604020202020204" pitchFamily="34" charset="0"/>
              <a:buChar char="•"/>
            </a:pPr>
            <a:r>
              <a:rPr lang="en-US" b="1" dirty="0"/>
              <a:t>Example</a:t>
            </a:r>
            <a:r>
              <a:rPr lang="en-US" dirty="0"/>
              <a:t>: The MONIAC computer used water flow to represent monetary flow in an economy.</a:t>
            </a:r>
          </a:p>
          <a:p>
            <a:pPr>
              <a:buFont typeface="Arial" panose="020B0604020202020204" pitchFamily="34" charset="0"/>
              <a:buChar char="•"/>
            </a:pPr>
            <a:r>
              <a:rPr lang="en-US" b="1" dirty="0"/>
              <a:t>Application</a:t>
            </a:r>
            <a:r>
              <a:rPr lang="en-US" dirty="0"/>
              <a:t>: Research in civil engineering and environmental modeling.</a:t>
            </a:r>
          </a:p>
          <a:p>
            <a:r>
              <a:rPr lang="en-US" b="1" dirty="0"/>
              <a:t>4. Thermal Systems</a:t>
            </a:r>
          </a:p>
          <a:p>
            <a:pPr>
              <a:buFont typeface="Arial" panose="020B0604020202020204" pitchFamily="34" charset="0"/>
              <a:buChar char="•"/>
            </a:pPr>
            <a:r>
              <a:rPr lang="en-US" b="1" dirty="0"/>
              <a:t>Explanation</a:t>
            </a:r>
            <a:r>
              <a:rPr lang="en-US" dirty="0"/>
              <a:t>: Heat conduction and transfer in materials simulate certain types of equations, especially in physics and engineering.</a:t>
            </a:r>
          </a:p>
          <a:p>
            <a:pPr>
              <a:buFont typeface="Arial" panose="020B0604020202020204" pitchFamily="34" charset="0"/>
              <a:buChar char="•"/>
            </a:pPr>
            <a:r>
              <a:rPr lang="en-US" b="1" dirty="0"/>
              <a:t>Example</a:t>
            </a:r>
            <a:r>
              <a:rPr lang="en-US" dirty="0"/>
              <a:t>: Thermal analogs can solve problems related to energy flow or heat dissipation.</a:t>
            </a:r>
          </a:p>
          <a:p>
            <a:pPr>
              <a:buFont typeface="Arial" panose="020B0604020202020204" pitchFamily="34" charset="0"/>
              <a:buChar char="•"/>
            </a:pPr>
            <a:r>
              <a:rPr lang="en-US" b="1" dirty="0"/>
              <a:t>Application</a:t>
            </a:r>
            <a:r>
              <a:rPr lang="en-US" dirty="0"/>
              <a:t>: Industrial design and materials science.</a:t>
            </a:r>
          </a:p>
          <a:p>
            <a:r>
              <a:rPr lang="en-US" b="1" dirty="0"/>
              <a:t>Common Operations in Analog Methods</a:t>
            </a:r>
          </a:p>
          <a:p>
            <a:r>
              <a:rPr lang="en-US" b="1" dirty="0"/>
              <a:t>1. Integration and Differentiation</a:t>
            </a:r>
          </a:p>
          <a:p>
            <a:pPr>
              <a:buFont typeface="Arial" panose="020B0604020202020204" pitchFamily="34" charset="0"/>
              <a:buChar char="•"/>
            </a:pPr>
            <a:r>
              <a:rPr lang="en-US" b="1" dirty="0"/>
              <a:t>Integration</a:t>
            </a:r>
            <a:r>
              <a:rPr lang="en-US" dirty="0"/>
              <a:t>: Calculates the cumulative value of a function over time.</a:t>
            </a:r>
          </a:p>
          <a:p>
            <a:pPr>
              <a:buFont typeface="Arial" panose="020B0604020202020204" pitchFamily="34" charset="0"/>
              <a:buChar char="•"/>
            </a:pPr>
            <a:r>
              <a:rPr lang="en-US" b="1" dirty="0"/>
              <a:t>Differentiation</a:t>
            </a:r>
            <a:r>
              <a:rPr lang="en-US" dirty="0"/>
              <a:t>: Computes the rate of change of a function.</a:t>
            </a:r>
          </a:p>
          <a:p>
            <a:pPr>
              <a:buFont typeface="Arial" panose="020B0604020202020204" pitchFamily="34" charset="0"/>
              <a:buChar char="•"/>
            </a:pPr>
            <a:r>
              <a:rPr lang="en-US" b="1" dirty="0"/>
              <a:t>Example</a:t>
            </a:r>
            <a:r>
              <a:rPr lang="en-US" dirty="0"/>
              <a:t>: Used to model velocity (integral of acceleration) or acceleration (derivative of velocity).</a:t>
            </a:r>
          </a:p>
          <a:p>
            <a:r>
              <a:rPr lang="en-US" b="1" dirty="0"/>
              <a:t>2. Addition and Subtraction</a:t>
            </a:r>
          </a:p>
          <a:p>
            <a:pPr>
              <a:buFont typeface="Arial" panose="020B0604020202020204" pitchFamily="34" charset="0"/>
              <a:buChar char="•"/>
            </a:pPr>
            <a:r>
              <a:rPr lang="en-US" b="1" dirty="0"/>
              <a:t>Explanation</a:t>
            </a:r>
            <a:r>
              <a:rPr lang="en-US" dirty="0"/>
              <a:t>: Combines or subtracts input signals to represent simple mathematical operations.</a:t>
            </a:r>
          </a:p>
          <a:p>
            <a:pPr>
              <a:buFont typeface="Arial" panose="020B0604020202020204" pitchFamily="34" charset="0"/>
              <a:buChar char="•"/>
            </a:pPr>
            <a:r>
              <a:rPr lang="en-US" b="1" dirty="0"/>
              <a:t>Example</a:t>
            </a:r>
            <a:r>
              <a:rPr lang="en-US" dirty="0"/>
              <a:t>: Simulating financial balances by adding or subtracting monetary flows.</a:t>
            </a:r>
          </a:p>
          <a:p>
            <a:r>
              <a:rPr lang="en-US" b="1" dirty="0"/>
              <a:t>3. Multiplication and Division</a:t>
            </a:r>
          </a:p>
          <a:p>
            <a:pPr>
              <a:buFont typeface="Arial" panose="020B0604020202020204" pitchFamily="34" charset="0"/>
              <a:buChar char="•"/>
            </a:pPr>
            <a:r>
              <a:rPr lang="en-US" b="1" dirty="0"/>
              <a:t>Explanation</a:t>
            </a:r>
            <a:r>
              <a:rPr lang="en-US" dirty="0"/>
              <a:t>: Signals are scaled or divided using analog multipliers or operational circuits.</a:t>
            </a:r>
          </a:p>
          <a:p>
            <a:pPr>
              <a:buFont typeface="Arial" panose="020B0604020202020204" pitchFamily="34" charset="0"/>
              <a:buChar char="•"/>
            </a:pPr>
            <a:r>
              <a:rPr lang="en-US" b="1" dirty="0"/>
              <a:t>Example</a:t>
            </a:r>
            <a:r>
              <a:rPr lang="en-US" dirty="0"/>
              <a:t>: Frequency modulation in communication systems.</a:t>
            </a:r>
          </a:p>
          <a:p>
            <a:r>
              <a:rPr lang="en-US" b="1" dirty="0"/>
              <a:t>Real-World Application of Analog Methods</a:t>
            </a:r>
          </a:p>
          <a:p>
            <a:pPr>
              <a:buFont typeface="+mj-lt"/>
              <a:buAutoNum type="arabicPeriod"/>
            </a:pPr>
            <a:r>
              <a:rPr lang="en-US" b="1" dirty="0"/>
              <a:t>Weather Forecasting</a:t>
            </a:r>
            <a:r>
              <a:rPr lang="en-US" dirty="0"/>
              <a:t>:</a:t>
            </a:r>
          </a:p>
          <a:p>
            <a:pPr marL="742950" lvl="1" indent="-285750">
              <a:buFont typeface="+mj-lt"/>
              <a:buAutoNum type="arabicPeriod"/>
            </a:pPr>
            <a:r>
              <a:rPr lang="en-US" dirty="0"/>
              <a:t>Use voltage variations to simulate atmospheric conditions and predict weather patterns.</a:t>
            </a:r>
          </a:p>
          <a:p>
            <a:pPr>
              <a:buFont typeface="+mj-lt"/>
              <a:buAutoNum type="arabicPeriod"/>
            </a:pPr>
            <a:r>
              <a:rPr lang="en-US" b="1" dirty="0"/>
              <a:t>Economic Simulations</a:t>
            </a:r>
            <a:r>
              <a:rPr lang="en-US" dirty="0"/>
              <a:t>:</a:t>
            </a:r>
          </a:p>
          <a:p>
            <a:pPr marL="742950" lvl="1" indent="-285750">
              <a:buFont typeface="+mj-lt"/>
              <a:buAutoNum type="arabicPeriod"/>
            </a:pPr>
            <a:r>
              <a:rPr lang="en-US" dirty="0"/>
              <a:t>Hydraulic systems simulate the flow of money and resources in an economy, helping policymakers predict economic outcomes.</a:t>
            </a:r>
          </a:p>
          <a:p>
            <a:pPr>
              <a:buFont typeface="+mj-lt"/>
              <a:buAutoNum type="arabicPeriod"/>
            </a:pPr>
            <a:r>
              <a:rPr lang="en-US" b="1" dirty="0"/>
              <a:t>Signal Processing</a:t>
            </a:r>
            <a:r>
              <a:rPr lang="en-US" dirty="0"/>
              <a:t>:</a:t>
            </a:r>
          </a:p>
          <a:p>
            <a:pPr marL="742950" lvl="1" indent="-285750">
              <a:buFont typeface="+mj-lt"/>
              <a:buAutoNum type="arabicPeriod"/>
            </a:pPr>
            <a:r>
              <a:rPr lang="en-US" dirty="0"/>
              <a:t>Analog methods filter unwanted noise from signals and enhance desired frequencies in audio and video systems.</a:t>
            </a:r>
          </a:p>
          <a:p>
            <a:pPr>
              <a:buFont typeface="+mj-lt"/>
              <a:buAutoNum type="arabicPeriod"/>
            </a:pPr>
            <a:r>
              <a:rPr lang="en-US" b="1" dirty="0"/>
              <a:t>Control Systems</a:t>
            </a:r>
            <a:r>
              <a:rPr lang="en-US" dirty="0"/>
              <a:t>:</a:t>
            </a:r>
          </a:p>
          <a:p>
            <a:pPr marL="742950" lvl="1" indent="-285750">
              <a:buFont typeface="+mj-lt"/>
              <a:buAutoNum type="arabicPeriod"/>
            </a:pPr>
            <a:r>
              <a:rPr lang="en-US" dirty="0"/>
              <a:t>Analog techniques manage the stability of physical systems, such as industrial robots or aircraft autopilots.</a:t>
            </a:r>
          </a:p>
          <a:p>
            <a:r>
              <a:rPr lang="en-US" b="1" dirty="0"/>
              <a:t>Advantages of Analog Methods</a:t>
            </a:r>
          </a:p>
          <a:p>
            <a:pPr>
              <a:buFont typeface="+mj-lt"/>
              <a:buAutoNum type="arabicPeriod"/>
            </a:pPr>
            <a:r>
              <a:rPr lang="en-US" b="1" dirty="0"/>
              <a:t>Real-Time Processing</a:t>
            </a:r>
            <a:r>
              <a:rPr lang="en-US" dirty="0"/>
              <a:t>:</a:t>
            </a:r>
          </a:p>
          <a:p>
            <a:pPr marL="742950" lvl="1" indent="-285750">
              <a:buFont typeface="+mj-lt"/>
              <a:buAutoNum type="arabicPeriod"/>
            </a:pPr>
            <a:r>
              <a:rPr lang="en-US" dirty="0"/>
              <a:t>Results are generated as the system operates.</a:t>
            </a:r>
          </a:p>
          <a:p>
            <a:pPr marL="742950" lvl="1" indent="-285750">
              <a:buFont typeface="+mj-lt"/>
              <a:buAutoNum type="arabicPeriod"/>
            </a:pPr>
            <a:r>
              <a:rPr lang="en-US" dirty="0"/>
              <a:t>Example: Monitoring live voltage in electrical systems.</a:t>
            </a:r>
          </a:p>
          <a:p>
            <a:pPr>
              <a:buFont typeface="+mj-lt"/>
              <a:buAutoNum type="arabicPeriod"/>
            </a:pPr>
            <a:r>
              <a:rPr lang="en-US" b="1" dirty="0"/>
              <a:t>Intuitive Representation</a:t>
            </a:r>
            <a:r>
              <a:rPr lang="en-US" dirty="0"/>
              <a:t>:</a:t>
            </a:r>
          </a:p>
          <a:p>
            <a:pPr marL="742950" lvl="1" indent="-285750">
              <a:buFont typeface="+mj-lt"/>
              <a:buAutoNum type="arabicPeriod"/>
            </a:pPr>
            <a:r>
              <a:rPr lang="en-US" dirty="0"/>
              <a:t>The physical systems used are often easier to understand for specific problems.</a:t>
            </a:r>
          </a:p>
          <a:p>
            <a:pPr marL="742950" lvl="1" indent="-285750">
              <a:buFont typeface="+mj-lt"/>
              <a:buAutoNum type="arabicPeriod"/>
            </a:pPr>
            <a:r>
              <a:rPr lang="en-US" dirty="0"/>
              <a:t>Example: Using a lever system to understand mechanical force.</a:t>
            </a:r>
          </a:p>
          <a:p>
            <a:r>
              <a:rPr lang="en-US" b="1" dirty="0"/>
              <a:t>Limitations</a:t>
            </a:r>
          </a:p>
          <a:p>
            <a:pPr>
              <a:buFont typeface="+mj-lt"/>
              <a:buAutoNum type="arabicPeriod"/>
            </a:pPr>
            <a:r>
              <a:rPr lang="en-US" b="1" dirty="0"/>
              <a:t>Accuracy Issues</a:t>
            </a:r>
            <a:r>
              <a:rPr lang="en-US" dirty="0"/>
              <a:t>:</a:t>
            </a:r>
          </a:p>
          <a:p>
            <a:pPr marL="742950" lvl="1" indent="-285750">
              <a:buFont typeface="+mj-lt"/>
              <a:buAutoNum type="arabicPeriod"/>
            </a:pPr>
            <a:r>
              <a:rPr lang="en-US" dirty="0"/>
              <a:t>Small errors or noise in the physical system can significantly impact results.</a:t>
            </a:r>
          </a:p>
          <a:p>
            <a:pPr marL="742950" lvl="1" indent="-285750">
              <a:buFont typeface="+mj-lt"/>
              <a:buAutoNum type="arabicPeriod"/>
            </a:pPr>
            <a:r>
              <a:rPr lang="en-US" dirty="0"/>
              <a:t>Example: A slightly misaligned gear can cause computational errors.</a:t>
            </a:r>
          </a:p>
          <a:p>
            <a:pPr>
              <a:buFont typeface="+mj-lt"/>
              <a:buAutoNum type="arabicPeriod"/>
            </a:pPr>
            <a:r>
              <a:rPr lang="en-US" b="1" dirty="0"/>
              <a:t>Lack of Flexibility</a:t>
            </a:r>
            <a:r>
              <a:rPr lang="en-US" dirty="0"/>
              <a:t>:</a:t>
            </a:r>
          </a:p>
          <a:p>
            <a:pPr marL="742950" lvl="1" indent="-285750">
              <a:buFont typeface="+mj-lt"/>
              <a:buAutoNum type="arabicPeriod"/>
            </a:pPr>
            <a:r>
              <a:rPr lang="en-US" dirty="0"/>
              <a:t>Changing the problem requires physical adjustments to the system.</a:t>
            </a:r>
          </a:p>
          <a:p>
            <a:pPr marL="742950" lvl="1" indent="-285750">
              <a:buFont typeface="+mj-lt"/>
              <a:buAutoNum type="arabicPeriod"/>
            </a:pPr>
            <a:r>
              <a:rPr lang="en-US" dirty="0"/>
              <a:t>Example: Reconfiguring hydraulic setups for different economic models.</a:t>
            </a:r>
          </a:p>
          <a:p>
            <a:endParaRPr lang="en-US" dirty="0"/>
          </a:p>
        </p:txBody>
      </p:sp>
      <p:sp>
        <p:nvSpPr>
          <p:cNvPr id="4" name="Slide Number Placeholder 3"/>
          <p:cNvSpPr>
            <a:spLocks noGrp="1"/>
          </p:cNvSpPr>
          <p:nvPr>
            <p:ph type="sldNum" sz="quarter" idx="5"/>
          </p:nvPr>
        </p:nvSpPr>
        <p:spPr/>
        <p:txBody>
          <a:bodyPr/>
          <a:lstStyle/>
          <a:p>
            <a:fld id="{7378B596-C4DA-4098-8F1D-456CD6B9599F}" type="slidenum">
              <a:rPr lang="en-US" smtClean="0"/>
              <a:t>17</a:t>
            </a:fld>
            <a:endParaRPr lang="en-US"/>
          </a:p>
        </p:txBody>
      </p:sp>
    </p:spTree>
    <p:extLst>
      <p:ext uri="{BB962C8B-B14F-4D97-AF65-F5344CB8AC3E}">
        <p14:creationId xmlns:p14="http://schemas.microsoft.com/office/powerpoint/2010/main" val="498850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hybrid computer</a:t>
            </a:r>
            <a:r>
              <a:rPr lang="en-US" dirty="0"/>
              <a:t> combines the strengths of both </a:t>
            </a:r>
            <a:r>
              <a:rPr lang="en-US" b="1" dirty="0"/>
              <a:t>analog</a:t>
            </a:r>
            <a:r>
              <a:rPr lang="en-US" dirty="0"/>
              <a:t> and </a:t>
            </a:r>
            <a:r>
              <a:rPr lang="en-US" b="1" dirty="0"/>
              <a:t>digital</a:t>
            </a:r>
            <a:r>
              <a:rPr lang="en-US" dirty="0"/>
              <a:t> computing systems, utilizing analog components for fast computation and digital components for precise operations. This fusion enables hybrid computers to handle tasks requiring real-time processing and high accuracy.</a:t>
            </a:r>
          </a:p>
          <a:p>
            <a:r>
              <a:rPr lang="en-US" b="1" dirty="0"/>
              <a:t>Definition</a:t>
            </a:r>
          </a:p>
          <a:p>
            <a:r>
              <a:rPr lang="en-US" dirty="0"/>
              <a:t>Hybrid computers integrate:</a:t>
            </a:r>
          </a:p>
          <a:p>
            <a:pPr>
              <a:buFont typeface="Arial" panose="020B0604020202020204" pitchFamily="34" charset="0"/>
              <a:buChar char="•"/>
            </a:pPr>
            <a:r>
              <a:rPr lang="en-US" b="1" dirty="0"/>
              <a:t>Analog Components</a:t>
            </a:r>
            <a:r>
              <a:rPr lang="en-US" dirty="0"/>
              <a:t>: For solving complex equations and real-time simulations.</a:t>
            </a:r>
          </a:p>
          <a:p>
            <a:pPr>
              <a:buFont typeface="Arial" panose="020B0604020202020204" pitchFamily="34" charset="0"/>
              <a:buChar char="•"/>
            </a:pPr>
            <a:r>
              <a:rPr lang="en-US" b="1" dirty="0"/>
              <a:t>Digital Components</a:t>
            </a:r>
            <a:r>
              <a:rPr lang="en-US" dirty="0"/>
              <a:t>: For logical operations, data storage, and enhanced control.</a:t>
            </a:r>
          </a:p>
          <a:p>
            <a:r>
              <a:rPr lang="en-US" b="1" dirty="0"/>
              <a:t>How Hybrid Computers Work</a:t>
            </a:r>
          </a:p>
          <a:p>
            <a:pPr>
              <a:buFont typeface="+mj-lt"/>
              <a:buAutoNum type="arabicPeriod"/>
            </a:pPr>
            <a:r>
              <a:rPr lang="en-US" b="1" dirty="0"/>
              <a:t>Input Stage</a:t>
            </a:r>
            <a:r>
              <a:rPr lang="en-US" dirty="0"/>
              <a:t>:</a:t>
            </a:r>
          </a:p>
          <a:p>
            <a:pPr marL="742950" lvl="1" indent="-285750">
              <a:buFont typeface="+mj-lt"/>
              <a:buAutoNum type="arabicPeriod"/>
            </a:pPr>
            <a:r>
              <a:rPr lang="en-US" dirty="0"/>
              <a:t>Sensors collect real-world data (e.g., temperature, pressure) and convert it into continuous analog signals.</a:t>
            </a:r>
          </a:p>
          <a:p>
            <a:pPr>
              <a:buFont typeface="+mj-lt"/>
              <a:buAutoNum type="arabicPeriod"/>
            </a:pPr>
            <a:r>
              <a:rPr lang="en-US" b="1" dirty="0"/>
              <a:t>Analog Processing</a:t>
            </a:r>
            <a:r>
              <a:rPr lang="en-US" dirty="0"/>
              <a:t>:</a:t>
            </a:r>
          </a:p>
          <a:p>
            <a:pPr marL="742950" lvl="1" indent="-285750">
              <a:buFont typeface="+mj-lt"/>
              <a:buAutoNum type="arabicPeriod"/>
            </a:pPr>
            <a:r>
              <a:rPr lang="en-US" dirty="0"/>
              <a:t>The analog unit performs rapid computations, such as solving differential equations or signal amplification.</a:t>
            </a:r>
          </a:p>
          <a:p>
            <a:pPr>
              <a:buFont typeface="+mj-lt"/>
              <a:buAutoNum type="arabicPeriod"/>
            </a:pPr>
            <a:r>
              <a:rPr lang="en-US" b="1" dirty="0"/>
              <a:t>Digital Processing</a:t>
            </a:r>
            <a:r>
              <a:rPr lang="en-US" dirty="0"/>
              <a:t>:</a:t>
            </a:r>
          </a:p>
          <a:p>
            <a:pPr marL="742950" lvl="1" indent="-285750">
              <a:buFont typeface="+mj-lt"/>
              <a:buAutoNum type="arabicPeriod"/>
            </a:pPr>
            <a:r>
              <a:rPr lang="en-US" dirty="0"/>
              <a:t>Results from the analog unit are digitized for further analysis, storage, or decision-making.</a:t>
            </a:r>
          </a:p>
          <a:p>
            <a:pPr>
              <a:buFont typeface="+mj-lt"/>
              <a:buAutoNum type="arabicPeriod"/>
            </a:pPr>
            <a:r>
              <a:rPr lang="en-US" b="1" dirty="0"/>
              <a:t>Output Stage</a:t>
            </a:r>
            <a:r>
              <a:rPr lang="en-US" dirty="0"/>
              <a:t>:</a:t>
            </a:r>
          </a:p>
          <a:p>
            <a:pPr marL="742950" lvl="1" indent="-285750">
              <a:buFont typeface="+mj-lt"/>
              <a:buAutoNum type="arabicPeriod"/>
            </a:pPr>
            <a:r>
              <a:rPr lang="en-US" dirty="0"/>
              <a:t>The processed data is displayed or used for controlling other systems.</a:t>
            </a:r>
          </a:p>
          <a:p>
            <a:r>
              <a:rPr lang="en-US" b="1" dirty="0"/>
              <a:t>Applications of Hybrid Computers</a:t>
            </a:r>
          </a:p>
          <a:p>
            <a:r>
              <a:rPr lang="en-US" b="1" dirty="0"/>
              <a:t>1. Medical Equipment</a:t>
            </a:r>
          </a:p>
          <a:p>
            <a:pPr>
              <a:buFont typeface="Arial" panose="020B0604020202020204" pitchFamily="34" charset="0"/>
              <a:buChar char="•"/>
            </a:pPr>
            <a:r>
              <a:rPr lang="en-US" dirty="0"/>
              <a:t>Example: </a:t>
            </a:r>
            <a:r>
              <a:rPr lang="en-US" b="1" dirty="0"/>
              <a:t>ECG (Electrocardiogram) Machines</a:t>
            </a:r>
            <a:endParaRPr lang="en-US" dirty="0"/>
          </a:p>
          <a:p>
            <a:pPr marL="742950" lvl="1" indent="-285750">
              <a:buFont typeface="Arial" panose="020B0604020202020204" pitchFamily="34" charset="0"/>
              <a:buChar char="•"/>
            </a:pPr>
            <a:r>
              <a:rPr lang="en-US" dirty="0"/>
              <a:t>Analog signals from the heart are amplified and processed to monitor heart activity.</a:t>
            </a:r>
          </a:p>
          <a:p>
            <a:pPr marL="742950" lvl="1" indent="-285750">
              <a:buFont typeface="Arial" panose="020B0604020202020204" pitchFamily="34" charset="0"/>
              <a:buChar char="•"/>
            </a:pPr>
            <a:r>
              <a:rPr lang="en-US" dirty="0"/>
              <a:t>The digital unit stores and analyzes the data for diagnosis.</a:t>
            </a:r>
          </a:p>
          <a:p>
            <a:pPr>
              <a:buFont typeface="Arial" panose="020B0604020202020204" pitchFamily="34" charset="0"/>
              <a:buChar char="•"/>
            </a:pPr>
            <a:r>
              <a:rPr lang="en-US" dirty="0"/>
              <a:t>Example: </a:t>
            </a:r>
            <a:r>
              <a:rPr lang="en-US" b="1" dirty="0"/>
              <a:t>MRI Scanners</a:t>
            </a:r>
            <a:endParaRPr lang="en-US" dirty="0"/>
          </a:p>
          <a:p>
            <a:pPr marL="742950" lvl="1" indent="-285750">
              <a:buFont typeface="Arial" panose="020B0604020202020204" pitchFamily="34" charset="0"/>
              <a:buChar char="•"/>
            </a:pPr>
            <a:r>
              <a:rPr lang="en-US" dirty="0"/>
              <a:t>Real-time image processing combines analog waveforms and digital algorithms.</a:t>
            </a:r>
          </a:p>
          <a:p>
            <a:r>
              <a:rPr lang="en-US" b="1" dirty="0"/>
              <a:t>2. Industrial Process Control</a:t>
            </a:r>
          </a:p>
          <a:p>
            <a:pPr>
              <a:buFont typeface="Arial" panose="020B0604020202020204" pitchFamily="34" charset="0"/>
              <a:buChar char="•"/>
            </a:pPr>
            <a:r>
              <a:rPr lang="en-US" dirty="0"/>
              <a:t>Example: </a:t>
            </a:r>
            <a:r>
              <a:rPr lang="en-US" b="1" dirty="0"/>
              <a:t>Oil Refineries</a:t>
            </a:r>
            <a:endParaRPr lang="en-US" dirty="0"/>
          </a:p>
          <a:p>
            <a:pPr marL="742950" lvl="1" indent="-285750">
              <a:buFont typeface="Arial" panose="020B0604020202020204" pitchFamily="34" charset="0"/>
              <a:buChar char="•"/>
            </a:pPr>
            <a:r>
              <a:rPr lang="en-US" dirty="0"/>
              <a:t>Analog components monitor pressure and temperature.</a:t>
            </a:r>
          </a:p>
          <a:p>
            <a:pPr marL="742950" lvl="1" indent="-285750">
              <a:buFont typeface="Arial" panose="020B0604020202020204" pitchFamily="34" charset="0"/>
              <a:buChar char="•"/>
            </a:pPr>
            <a:r>
              <a:rPr lang="en-US" dirty="0"/>
              <a:t>Digital systems analyze the data to control valves and optimize production.</a:t>
            </a:r>
          </a:p>
          <a:p>
            <a:r>
              <a:rPr lang="en-US" b="1" dirty="0"/>
              <a:t>3. Aircraft Navigation Systems</a:t>
            </a:r>
          </a:p>
          <a:p>
            <a:pPr>
              <a:buFont typeface="Arial" panose="020B0604020202020204" pitchFamily="34" charset="0"/>
              <a:buChar char="•"/>
            </a:pPr>
            <a:r>
              <a:rPr lang="en-US" dirty="0"/>
              <a:t>Example: </a:t>
            </a:r>
            <a:r>
              <a:rPr lang="en-US" b="1" dirty="0"/>
              <a:t>Flight Control Systems</a:t>
            </a:r>
            <a:endParaRPr lang="en-US" dirty="0"/>
          </a:p>
          <a:p>
            <a:pPr marL="742950" lvl="1" indent="-285750">
              <a:buFont typeface="Arial" panose="020B0604020202020204" pitchFamily="34" charset="0"/>
              <a:buChar char="•"/>
            </a:pPr>
            <a:r>
              <a:rPr lang="en-US" dirty="0"/>
              <a:t>Analog components measure altitude, speed, and direction.</a:t>
            </a:r>
          </a:p>
          <a:p>
            <a:pPr marL="742950" lvl="1" indent="-285750">
              <a:buFont typeface="Arial" panose="020B0604020202020204" pitchFamily="34" charset="0"/>
              <a:buChar char="•"/>
            </a:pPr>
            <a:r>
              <a:rPr lang="en-US" dirty="0"/>
              <a:t>Digital systems compute the optimal flight path and control adjustments.</a:t>
            </a:r>
          </a:p>
          <a:p>
            <a:r>
              <a:rPr lang="en-US" b="1" dirty="0"/>
              <a:t>4. Weather Prediction</a:t>
            </a:r>
          </a:p>
          <a:p>
            <a:pPr>
              <a:buFont typeface="Arial" panose="020B0604020202020204" pitchFamily="34" charset="0"/>
              <a:buChar char="•"/>
            </a:pPr>
            <a:r>
              <a:rPr lang="en-US" dirty="0"/>
              <a:t>Example: Simulating weather patterns by combining analog simulations of atmospheric conditions and digital predictions.</a:t>
            </a:r>
          </a:p>
          <a:p>
            <a:r>
              <a:rPr lang="en-US" b="1" dirty="0"/>
              <a:t>Features of Hybrid Computers</a:t>
            </a:r>
          </a:p>
          <a:p>
            <a:r>
              <a:rPr lang="en-US" b="1" dirty="0"/>
              <a:t>Advantages</a:t>
            </a:r>
          </a:p>
          <a:p>
            <a:pPr>
              <a:buFont typeface="+mj-lt"/>
              <a:buAutoNum type="arabicPeriod"/>
            </a:pPr>
            <a:r>
              <a:rPr lang="en-US" b="1" dirty="0"/>
              <a:t>Real-Time Processing</a:t>
            </a:r>
            <a:r>
              <a:rPr lang="en-US" dirty="0"/>
              <a:t>:</a:t>
            </a:r>
          </a:p>
          <a:p>
            <a:pPr marL="742950" lvl="1" indent="-285750">
              <a:buFont typeface="+mj-lt"/>
              <a:buAutoNum type="arabicPeriod"/>
            </a:pPr>
            <a:r>
              <a:rPr lang="en-US" dirty="0"/>
              <a:t>Analog components provide immediate results for critical computations.</a:t>
            </a:r>
          </a:p>
          <a:p>
            <a:pPr marL="742950" lvl="1" indent="-285750">
              <a:buFont typeface="+mj-lt"/>
              <a:buAutoNum type="arabicPeriod"/>
            </a:pPr>
            <a:r>
              <a:rPr lang="en-US" dirty="0"/>
              <a:t>Example: Autonomous vehicle systems where real-time decisions are crucial.</a:t>
            </a:r>
          </a:p>
          <a:p>
            <a:pPr>
              <a:buFont typeface="+mj-lt"/>
              <a:buAutoNum type="arabicPeriod"/>
            </a:pPr>
            <a:r>
              <a:rPr lang="en-US" b="1" dirty="0"/>
              <a:t>Precision</a:t>
            </a:r>
            <a:r>
              <a:rPr lang="en-US" dirty="0"/>
              <a:t>:</a:t>
            </a:r>
          </a:p>
          <a:p>
            <a:pPr marL="742950" lvl="1" indent="-285750">
              <a:buFont typeface="+mj-lt"/>
              <a:buAutoNum type="arabicPeriod"/>
            </a:pPr>
            <a:r>
              <a:rPr lang="en-US" dirty="0"/>
              <a:t>Digital components refine and store data accurately, minimizing the errors of analog systems.</a:t>
            </a:r>
          </a:p>
          <a:p>
            <a:pPr marL="742950" lvl="1" indent="-285750">
              <a:buFont typeface="+mj-lt"/>
              <a:buAutoNum type="arabicPeriod"/>
            </a:pPr>
            <a:r>
              <a:rPr lang="en-US" dirty="0"/>
              <a:t>Example: Data logging in industrial setups.</a:t>
            </a:r>
          </a:p>
          <a:p>
            <a:pPr>
              <a:buFont typeface="+mj-lt"/>
              <a:buAutoNum type="arabicPeriod"/>
            </a:pPr>
            <a:r>
              <a:rPr lang="en-US" b="1" dirty="0"/>
              <a:t>Versatility</a:t>
            </a:r>
            <a:r>
              <a:rPr lang="en-US" dirty="0"/>
              <a:t>:</a:t>
            </a:r>
          </a:p>
          <a:p>
            <a:pPr marL="742950" lvl="1" indent="-285750">
              <a:buFont typeface="+mj-lt"/>
              <a:buAutoNum type="arabicPeriod"/>
            </a:pPr>
            <a:r>
              <a:rPr lang="en-US" dirty="0"/>
              <a:t>Combines the best features of both analog and digital computing.</a:t>
            </a:r>
          </a:p>
          <a:p>
            <a:pPr marL="742950" lvl="1" indent="-285750">
              <a:buFont typeface="+mj-lt"/>
              <a:buAutoNum type="arabicPeriod"/>
            </a:pPr>
            <a:r>
              <a:rPr lang="en-US" dirty="0"/>
              <a:t>Example: Scientific research in modeling complex systems like the human brain.</a:t>
            </a:r>
          </a:p>
          <a:p>
            <a:r>
              <a:rPr lang="en-US" b="1" dirty="0"/>
              <a:t>Limitations</a:t>
            </a:r>
          </a:p>
          <a:p>
            <a:pPr>
              <a:buFont typeface="+mj-lt"/>
              <a:buAutoNum type="arabicPeriod"/>
            </a:pPr>
            <a:r>
              <a:rPr lang="en-US" b="1" dirty="0"/>
              <a:t>Cost</a:t>
            </a:r>
            <a:r>
              <a:rPr lang="en-US" dirty="0"/>
              <a:t>:</a:t>
            </a:r>
          </a:p>
          <a:p>
            <a:pPr marL="742950" lvl="1" indent="-285750">
              <a:buFont typeface="+mj-lt"/>
              <a:buAutoNum type="arabicPeriod"/>
            </a:pPr>
            <a:r>
              <a:rPr lang="en-US" dirty="0"/>
              <a:t>Hybrid systems are expensive to build and maintain due to the integration of both analog and digital components.</a:t>
            </a:r>
          </a:p>
          <a:p>
            <a:pPr>
              <a:buFont typeface="+mj-lt"/>
              <a:buAutoNum type="arabicPeriod"/>
            </a:pPr>
            <a:r>
              <a:rPr lang="en-US" b="1" dirty="0"/>
              <a:t>Complexity</a:t>
            </a:r>
            <a:r>
              <a:rPr lang="en-US" dirty="0"/>
              <a:t>:</a:t>
            </a:r>
          </a:p>
          <a:p>
            <a:pPr marL="742950" lvl="1" indent="-285750">
              <a:buFont typeface="+mj-lt"/>
              <a:buAutoNum type="arabicPeriod"/>
            </a:pPr>
            <a:r>
              <a:rPr lang="en-US" dirty="0"/>
              <a:t>Requires expertise in both analog and digital systems for operation and repair.</a:t>
            </a:r>
          </a:p>
          <a:p>
            <a:pPr>
              <a:buFont typeface="+mj-lt"/>
              <a:buAutoNum type="arabicPeriod"/>
            </a:pPr>
            <a:r>
              <a:rPr lang="en-US" b="1" dirty="0"/>
              <a:t>Size and Power Requirements</a:t>
            </a:r>
            <a:r>
              <a:rPr lang="en-US" dirty="0"/>
              <a:t>:</a:t>
            </a:r>
          </a:p>
          <a:p>
            <a:pPr marL="742950" lvl="1" indent="-285750">
              <a:buFont typeface="+mj-lt"/>
              <a:buAutoNum type="arabicPeriod"/>
            </a:pPr>
            <a:r>
              <a:rPr lang="en-US" dirty="0"/>
              <a:t>Early hybrid computers were bulky and required significant power, though modern advancements have mitigated this.</a:t>
            </a:r>
          </a:p>
          <a:p>
            <a:r>
              <a:rPr lang="en-US" b="1" dirty="0"/>
              <a:t>Real-World Example: A Hybrid Computer in Action</a:t>
            </a:r>
          </a:p>
          <a:p>
            <a:r>
              <a:rPr lang="en-US" dirty="0"/>
              <a:t>Consider an </a:t>
            </a:r>
            <a:r>
              <a:rPr lang="en-US" b="1" dirty="0"/>
              <a:t>ICU Patient Monitoring System</a:t>
            </a:r>
            <a:r>
              <a:rPr lang="en-US" dirty="0"/>
              <a:t>:</a:t>
            </a:r>
          </a:p>
          <a:p>
            <a:pPr>
              <a:buFont typeface="Arial" panose="020B0604020202020204" pitchFamily="34" charset="0"/>
              <a:buChar char="•"/>
            </a:pPr>
            <a:r>
              <a:rPr lang="en-US" b="1" dirty="0"/>
              <a:t>Analog Unit</a:t>
            </a:r>
            <a:r>
              <a:rPr lang="en-US" dirty="0"/>
              <a:t>: Continuously monitors real-time data like heart rate, oxygen levels, and blood pressure.</a:t>
            </a:r>
          </a:p>
          <a:p>
            <a:pPr>
              <a:buFont typeface="Arial" panose="020B0604020202020204" pitchFamily="34" charset="0"/>
              <a:buChar char="•"/>
            </a:pPr>
            <a:r>
              <a:rPr lang="en-US" b="1" dirty="0"/>
              <a:t>Digital Unit</a:t>
            </a:r>
            <a:r>
              <a:rPr lang="en-US" dirty="0"/>
              <a:t>: Stores this data, analyzes trends, and triggers alarms if readings exceed safe thresholds.</a:t>
            </a:r>
          </a:p>
          <a:p>
            <a:r>
              <a:rPr lang="en-US" b="1" dirty="0"/>
              <a:t>Future Trends in Hybrid Computing</a:t>
            </a:r>
          </a:p>
          <a:p>
            <a:pPr>
              <a:buFont typeface="+mj-lt"/>
              <a:buAutoNum type="arabicPeriod"/>
            </a:pPr>
            <a:r>
              <a:rPr lang="en-US" b="1" dirty="0"/>
              <a:t>AI Integration</a:t>
            </a:r>
            <a:r>
              <a:rPr lang="en-US" dirty="0"/>
              <a:t>:</a:t>
            </a:r>
          </a:p>
          <a:p>
            <a:pPr marL="742950" lvl="1" indent="-285750">
              <a:buFont typeface="+mj-lt"/>
              <a:buAutoNum type="arabicPeriod"/>
            </a:pPr>
            <a:r>
              <a:rPr lang="en-US" dirty="0"/>
              <a:t>Hybrid systems can enhance artificial intelligence applications by providing real-time data for machine learning algorithms.</a:t>
            </a:r>
          </a:p>
          <a:p>
            <a:pPr>
              <a:buFont typeface="+mj-lt"/>
              <a:buAutoNum type="arabicPeriod"/>
            </a:pPr>
            <a:r>
              <a:rPr lang="en-US" b="1" dirty="0"/>
              <a:t>IoT (Internet of Things)</a:t>
            </a:r>
            <a:r>
              <a:rPr lang="en-US" dirty="0"/>
              <a:t>:</a:t>
            </a:r>
          </a:p>
          <a:p>
            <a:pPr marL="742950" lvl="1" indent="-285750">
              <a:buFont typeface="+mj-lt"/>
              <a:buAutoNum type="arabicPeriod"/>
            </a:pPr>
            <a:r>
              <a:rPr lang="en-US" dirty="0"/>
              <a:t>Hybrid computers can bridge the gap between analog sensor data and digital networks in smart homes and cities.</a:t>
            </a:r>
          </a:p>
          <a:p>
            <a:endParaRPr lang="en-US" dirty="0"/>
          </a:p>
        </p:txBody>
      </p:sp>
      <p:sp>
        <p:nvSpPr>
          <p:cNvPr id="4" name="Slide Number Placeholder 3"/>
          <p:cNvSpPr>
            <a:spLocks noGrp="1"/>
          </p:cNvSpPr>
          <p:nvPr>
            <p:ph type="sldNum" sz="quarter" idx="5"/>
          </p:nvPr>
        </p:nvSpPr>
        <p:spPr/>
        <p:txBody>
          <a:bodyPr/>
          <a:lstStyle/>
          <a:p>
            <a:fld id="{7378B596-C4DA-4098-8F1D-456CD6B9599F}" type="slidenum">
              <a:rPr lang="en-US" smtClean="0"/>
              <a:t>20</a:t>
            </a:fld>
            <a:endParaRPr lang="en-US"/>
          </a:p>
        </p:txBody>
      </p:sp>
    </p:spTree>
    <p:extLst>
      <p:ext uri="{BB962C8B-B14F-4D97-AF65-F5344CB8AC3E}">
        <p14:creationId xmlns:p14="http://schemas.microsoft.com/office/powerpoint/2010/main" val="3516025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Digital-analog simulators are systems designed to emulate real-world processes or environments by combining </a:t>
            </a:r>
            <a:r>
              <a:rPr lang="en-US" b="1" dirty="0"/>
              <a:t>digital precision</a:t>
            </a:r>
            <a:r>
              <a:rPr lang="en-US" dirty="0"/>
              <a:t> and </a:t>
            </a:r>
            <a:r>
              <a:rPr lang="en-US" b="1" dirty="0"/>
              <a:t>analog realism</a:t>
            </a:r>
            <a:r>
              <a:rPr lang="en-US" dirty="0"/>
              <a:t>. They are commonly used in scenarios where both real-time response and high accuracy are crucial.</a:t>
            </a:r>
          </a:p>
          <a:p>
            <a:r>
              <a:rPr lang="en-US" b="1" dirty="0"/>
              <a:t>Definition</a:t>
            </a:r>
          </a:p>
          <a:p>
            <a:r>
              <a:rPr lang="en-US" dirty="0"/>
              <a:t>A digital-analog simulator integrates:</a:t>
            </a:r>
          </a:p>
          <a:p>
            <a:pPr>
              <a:buFont typeface="Arial" panose="020B0604020202020204" pitchFamily="34" charset="0"/>
              <a:buChar char="•"/>
            </a:pPr>
            <a:r>
              <a:rPr lang="en-US" b="1" dirty="0"/>
              <a:t>Analog Components</a:t>
            </a:r>
            <a:r>
              <a:rPr lang="en-US" dirty="0"/>
              <a:t>: To simulate continuous physical processes (e.g., motion, fluid flow).</a:t>
            </a:r>
          </a:p>
          <a:p>
            <a:pPr>
              <a:buFont typeface="Arial" panose="020B0604020202020204" pitchFamily="34" charset="0"/>
              <a:buChar char="•"/>
            </a:pPr>
            <a:r>
              <a:rPr lang="en-US" b="1" dirty="0"/>
              <a:t>Digital Components</a:t>
            </a:r>
            <a:r>
              <a:rPr lang="en-US" dirty="0"/>
              <a:t>: To provide computational accuracy, control, and data analysis.</a:t>
            </a:r>
          </a:p>
          <a:p>
            <a:r>
              <a:rPr lang="en-US" b="1" dirty="0"/>
              <a:t>How Digital-Analog Simulators Work</a:t>
            </a:r>
          </a:p>
          <a:p>
            <a:pPr>
              <a:buFont typeface="+mj-lt"/>
              <a:buAutoNum type="arabicPeriod"/>
            </a:pPr>
            <a:r>
              <a:rPr lang="en-US" b="1" dirty="0"/>
              <a:t>Input Stage</a:t>
            </a:r>
            <a:r>
              <a:rPr lang="en-US" dirty="0"/>
              <a:t>:</a:t>
            </a:r>
          </a:p>
          <a:p>
            <a:pPr marL="742950" lvl="1" indent="-285750">
              <a:buFont typeface="+mj-lt"/>
              <a:buAutoNum type="arabicPeriod"/>
            </a:pPr>
            <a:r>
              <a:rPr lang="en-US" dirty="0"/>
              <a:t>Real-world inputs (e.g., temperature, pressure) are captured through sensors or user inputs.</a:t>
            </a:r>
          </a:p>
          <a:p>
            <a:pPr marL="742950" lvl="1" indent="-285750">
              <a:buFont typeface="+mj-lt"/>
              <a:buAutoNum type="arabicPeriod"/>
            </a:pPr>
            <a:r>
              <a:rPr lang="en-US" dirty="0"/>
              <a:t>Analog systems process continuous signals to simulate physical phenomena.</a:t>
            </a:r>
          </a:p>
          <a:p>
            <a:pPr>
              <a:buFont typeface="+mj-lt"/>
              <a:buAutoNum type="arabicPeriod"/>
            </a:pPr>
            <a:r>
              <a:rPr lang="en-US" b="1" dirty="0"/>
              <a:t>Processing Stage</a:t>
            </a:r>
            <a:r>
              <a:rPr lang="en-US" dirty="0"/>
              <a:t>:</a:t>
            </a:r>
          </a:p>
          <a:p>
            <a:pPr marL="742950" lvl="1" indent="-285750">
              <a:buFont typeface="+mj-lt"/>
              <a:buAutoNum type="arabicPeriod"/>
            </a:pPr>
            <a:r>
              <a:rPr lang="en-US" dirty="0"/>
              <a:t>Digital units refine the analog outputs, perform calculations, and manage decision-making.</a:t>
            </a:r>
          </a:p>
          <a:p>
            <a:pPr>
              <a:buFont typeface="+mj-lt"/>
              <a:buAutoNum type="arabicPeriod"/>
            </a:pPr>
            <a:r>
              <a:rPr lang="en-US" b="1" dirty="0"/>
              <a:t>Output Stage</a:t>
            </a:r>
            <a:r>
              <a:rPr lang="en-US" dirty="0"/>
              <a:t>:</a:t>
            </a:r>
          </a:p>
          <a:p>
            <a:pPr marL="742950" lvl="1" indent="-285750">
              <a:buFont typeface="+mj-lt"/>
              <a:buAutoNum type="arabicPeriod"/>
            </a:pPr>
            <a:r>
              <a:rPr lang="en-US" dirty="0"/>
              <a:t>Results are presented visually (e.g., on a screen) or physically (e.g., actuator movement).</a:t>
            </a:r>
          </a:p>
          <a:p>
            <a:r>
              <a:rPr lang="en-US" b="1" dirty="0"/>
              <a:t>Applications of Digital-Analog Simulators</a:t>
            </a:r>
          </a:p>
          <a:p>
            <a:r>
              <a:rPr lang="en-US" b="1" dirty="0"/>
              <a:t>1. Flight Simulators</a:t>
            </a:r>
          </a:p>
          <a:p>
            <a:pPr>
              <a:buFont typeface="Arial" panose="020B0604020202020204" pitchFamily="34" charset="0"/>
              <a:buChar char="•"/>
            </a:pPr>
            <a:r>
              <a:rPr lang="en-US" b="1" dirty="0"/>
              <a:t>How it Works</a:t>
            </a:r>
            <a:r>
              <a:rPr lang="en-US" dirty="0"/>
              <a:t>: Simulates aircraft behavior under various conditions, such as turbulence, engine failure, or landing scenarios.</a:t>
            </a:r>
          </a:p>
          <a:p>
            <a:pPr>
              <a:buFont typeface="Arial" panose="020B0604020202020204" pitchFamily="34" charset="0"/>
              <a:buChar char="•"/>
            </a:pPr>
            <a:r>
              <a:rPr lang="en-US" b="1" dirty="0"/>
              <a:t>Components</a:t>
            </a:r>
            <a:r>
              <a:rPr lang="en-US" dirty="0"/>
              <a:t>:</a:t>
            </a:r>
          </a:p>
          <a:p>
            <a:pPr marL="742950" lvl="1" indent="-285750">
              <a:buFont typeface="Arial" panose="020B0604020202020204" pitchFamily="34" charset="0"/>
              <a:buChar char="•"/>
            </a:pPr>
            <a:r>
              <a:rPr lang="en-US" b="1" dirty="0"/>
              <a:t>Analog</a:t>
            </a:r>
            <a:r>
              <a:rPr lang="en-US" dirty="0"/>
              <a:t>: Real-time motion and aerodynamic forces are emulated.</a:t>
            </a:r>
          </a:p>
          <a:p>
            <a:pPr marL="742950" lvl="1" indent="-285750">
              <a:buFont typeface="Arial" panose="020B0604020202020204" pitchFamily="34" charset="0"/>
              <a:buChar char="•"/>
            </a:pPr>
            <a:r>
              <a:rPr lang="en-US" b="1" dirty="0"/>
              <a:t>Digital</a:t>
            </a:r>
            <a:r>
              <a:rPr lang="en-US" dirty="0"/>
              <a:t>: Computes optimal responses, processes pilot inputs, and adjusts simulation conditions.</a:t>
            </a:r>
          </a:p>
          <a:p>
            <a:pPr>
              <a:buFont typeface="Arial" panose="020B0604020202020204" pitchFamily="34" charset="0"/>
              <a:buChar char="•"/>
            </a:pPr>
            <a:r>
              <a:rPr lang="en-US" b="1" dirty="0"/>
              <a:t>Benefits</a:t>
            </a:r>
            <a:r>
              <a:rPr lang="en-US" dirty="0"/>
              <a:t>:</a:t>
            </a:r>
          </a:p>
          <a:p>
            <a:pPr marL="742950" lvl="1" indent="-285750">
              <a:buFont typeface="Arial" panose="020B0604020202020204" pitchFamily="34" charset="0"/>
              <a:buChar char="•"/>
            </a:pPr>
            <a:r>
              <a:rPr lang="en-US" dirty="0"/>
              <a:t>Safe environment for pilot training.</a:t>
            </a:r>
          </a:p>
          <a:p>
            <a:pPr marL="742950" lvl="1" indent="-285750">
              <a:buFont typeface="Arial" panose="020B0604020202020204" pitchFamily="34" charset="0"/>
              <a:buChar char="•"/>
            </a:pPr>
            <a:r>
              <a:rPr lang="en-US" dirty="0"/>
              <a:t>Cost-effective compared to live aircraft training.</a:t>
            </a:r>
          </a:p>
          <a:p>
            <a:r>
              <a:rPr lang="en-US" b="1" dirty="0"/>
              <a:t>2. Driving Simulators</a:t>
            </a:r>
          </a:p>
          <a:p>
            <a:pPr>
              <a:buFont typeface="Arial" panose="020B0604020202020204" pitchFamily="34" charset="0"/>
              <a:buChar char="•"/>
            </a:pPr>
            <a:r>
              <a:rPr lang="en-US" b="1" dirty="0"/>
              <a:t>How it Works</a:t>
            </a:r>
            <a:r>
              <a:rPr lang="en-US" dirty="0"/>
              <a:t>: Trains drivers in realistic conditions by simulating vehicle dynamics and road scenarios.</a:t>
            </a:r>
          </a:p>
          <a:p>
            <a:pPr>
              <a:buFont typeface="Arial" panose="020B0604020202020204" pitchFamily="34" charset="0"/>
              <a:buChar char="•"/>
            </a:pPr>
            <a:r>
              <a:rPr lang="en-US" b="1" dirty="0"/>
              <a:t>Example</a:t>
            </a:r>
            <a:r>
              <a:rPr lang="en-US" dirty="0"/>
              <a:t>: Emergency response training for drivers.</a:t>
            </a:r>
          </a:p>
          <a:p>
            <a:pPr>
              <a:buFont typeface="Arial" panose="020B0604020202020204" pitchFamily="34" charset="0"/>
              <a:buChar char="•"/>
            </a:pPr>
            <a:r>
              <a:rPr lang="en-US" b="1" dirty="0"/>
              <a:t>Hybrid Role</a:t>
            </a:r>
            <a:r>
              <a:rPr lang="en-US" dirty="0"/>
              <a:t>:</a:t>
            </a:r>
          </a:p>
          <a:p>
            <a:pPr marL="742950" lvl="1" indent="-285750">
              <a:buFont typeface="Arial" panose="020B0604020202020204" pitchFamily="34" charset="0"/>
              <a:buChar char="•"/>
            </a:pPr>
            <a:r>
              <a:rPr lang="en-US" b="1" dirty="0"/>
              <a:t>Analog</a:t>
            </a:r>
            <a:r>
              <a:rPr lang="en-US" dirty="0"/>
              <a:t>: Simulates the car’s acceleration, braking, and cornering.</a:t>
            </a:r>
          </a:p>
          <a:p>
            <a:pPr marL="742950" lvl="1" indent="-285750">
              <a:buFont typeface="Arial" panose="020B0604020202020204" pitchFamily="34" charset="0"/>
              <a:buChar char="•"/>
            </a:pPr>
            <a:r>
              <a:rPr lang="en-US" b="1" dirty="0"/>
              <a:t>Digital</a:t>
            </a:r>
            <a:r>
              <a:rPr lang="en-US" dirty="0"/>
              <a:t>: Adjusts scenarios dynamically (e.g., weather changes) and tracks driver performance.</a:t>
            </a:r>
          </a:p>
          <a:p>
            <a:r>
              <a:rPr lang="en-US" b="1" dirty="0"/>
              <a:t>3. Nuclear Reactor Simulators</a:t>
            </a:r>
          </a:p>
          <a:p>
            <a:pPr>
              <a:buFont typeface="Arial" panose="020B0604020202020204" pitchFamily="34" charset="0"/>
              <a:buChar char="•"/>
            </a:pPr>
            <a:r>
              <a:rPr lang="en-US" b="1" dirty="0"/>
              <a:t>How it Works</a:t>
            </a:r>
            <a:r>
              <a:rPr lang="en-US" dirty="0"/>
              <a:t>: Simulates reactor behavior for operator training or testing safety measures.</a:t>
            </a:r>
          </a:p>
          <a:p>
            <a:pPr>
              <a:buFont typeface="Arial" panose="020B0604020202020204" pitchFamily="34" charset="0"/>
              <a:buChar char="•"/>
            </a:pPr>
            <a:r>
              <a:rPr lang="en-US" b="1" dirty="0"/>
              <a:t>Analog</a:t>
            </a:r>
            <a:r>
              <a:rPr lang="en-US" dirty="0"/>
              <a:t>: Models reactor core dynamics in real time.</a:t>
            </a:r>
          </a:p>
          <a:p>
            <a:pPr>
              <a:buFont typeface="Arial" panose="020B0604020202020204" pitchFamily="34" charset="0"/>
              <a:buChar char="•"/>
            </a:pPr>
            <a:r>
              <a:rPr lang="en-US" b="1" dirty="0"/>
              <a:t>Digital</a:t>
            </a:r>
            <a:r>
              <a:rPr lang="en-US" dirty="0"/>
              <a:t>: Tracks and analyzes critical safety parameters.</a:t>
            </a:r>
          </a:p>
          <a:p>
            <a:endParaRPr lang="en-US" b="1" dirty="0"/>
          </a:p>
          <a:p>
            <a:r>
              <a:rPr lang="en-US" b="1" dirty="0"/>
              <a:t>4. Medical Training Simulators</a:t>
            </a:r>
          </a:p>
          <a:p>
            <a:pPr>
              <a:buFont typeface="Arial" panose="020B0604020202020204" pitchFamily="34" charset="0"/>
              <a:buChar char="•"/>
            </a:pPr>
            <a:r>
              <a:rPr lang="en-US" b="1" dirty="0"/>
              <a:t>Example</a:t>
            </a:r>
            <a:r>
              <a:rPr lang="en-US" dirty="0"/>
              <a:t>: Surgery Simulators</a:t>
            </a:r>
          </a:p>
          <a:p>
            <a:pPr>
              <a:buFont typeface="Arial" panose="020B0604020202020204" pitchFamily="34" charset="0"/>
              <a:buChar char="•"/>
            </a:pPr>
            <a:r>
              <a:rPr lang="en-US" b="1" dirty="0"/>
              <a:t>Analog</a:t>
            </a:r>
            <a:r>
              <a:rPr lang="en-US" dirty="0"/>
              <a:t>: Simulates tissue resistance and instrument feedback.</a:t>
            </a:r>
          </a:p>
          <a:p>
            <a:pPr>
              <a:buFont typeface="Arial" panose="020B0604020202020204" pitchFamily="34" charset="0"/>
              <a:buChar char="•"/>
            </a:pPr>
            <a:r>
              <a:rPr lang="en-US" b="1" dirty="0"/>
              <a:t>Digital</a:t>
            </a:r>
            <a:r>
              <a:rPr lang="en-US" dirty="0"/>
              <a:t>: Records trainee performance and generates detailed reports for improvement.</a:t>
            </a:r>
          </a:p>
          <a:p>
            <a:r>
              <a:rPr lang="en-US" b="1" dirty="0"/>
              <a:t>Features of Digital-Analog Simulators</a:t>
            </a:r>
          </a:p>
          <a:p>
            <a:endParaRPr lang="en-US" b="1" dirty="0"/>
          </a:p>
          <a:p>
            <a:r>
              <a:rPr lang="en-US" b="1" dirty="0"/>
              <a:t>5. Mars Rover Simulator</a:t>
            </a:r>
            <a:r>
              <a:rPr lang="en-US" dirty="0"/>
              <a:t>:</a:t>
            </a:r>
          </a:p>
          <a:p>
            <a:pPr>
              <a:buFont typeface="Arial" panose="020B0604020202020204" pitchFamily="34" charset="0"/>
              <a:buChar char="•"/>
            </a:pPr>
            <a:r>
              <a:rPr lang="en-US" dirty="0"/>
              <a:t>Used by NASA to test rover operations on a simulated Martian surface.</a:t>
            </a:r>
          </a:p>
          <a:p>
            <a:pPr>
              <a:buFont typeface="Arial" panose="020B0604020202020204" pitchFamily="34" charset="0"/>
              <a:buChar char="•"/>
            </a:pPr>
            <a:r>
              <a:rPr lang="en-US" b="1" dirty="0"/>
              <a:t>Analog</a:t>
            </a:r>
            <a:r>
              <a:rPr lang="en-US" dirty="0"/>
              <a:t>: Simulates terrain, gravity, and environmental factors like dust storms.</a:t>
            </a:r>
          </a:p>
          <a:p>
            <a:pPr>
              <a:buFont typeface="Arial" panose="020B0604020202020204" pitchFamily="34" charset="0"/>
              <a:buChar char="•"/>
            </a:pPr>
            <a:r>
              <a:rPr lang="en-US" b="1" dirty="0"/>
              <a:t>Digital</a:t>
            </a:r>
            <a:r>
              <a:rPr lang="en-US" dirty="0"/>
              <a:t>: Tracks rover performance, processes camera data, and sends commands.</a:t>
            </a:r>
          </a:p>
          <a:p>
            <a:r>
              <a:rPr lang="en-US" b="1" dirty="0"/>
              <a:t>Future Trends in Digital-Analog Simulation</a:t>
            </a:r>
          </a:p>
          <a:p>
            <a:pPr>
              <a:buFont typeface="+mj-lt"/>
              <a:buAutoNum type="arabicPeriod"/>
            </a:pPr>
            <a:r>
              <a:rPr lang="en-US" b="1" dirty="0"/>
              <a:t>Enhanced Virtual Reality (VR)</a:t>
            </a:r>
            <a:r>
              <a:rPr lang="en-US" dirty="0"/>
              <a:t>:</a:t>
            </a:r>
          </a:p>
          <a:p>
            <a:pPr marL="742950" lvl="1" indent="-285750">
              <a:buFont typeface="+mj-lt"/>
              <a:buAutoNum type="arabicPeriod"/>
            </a:pPr>
            <a:r>
              <a:rPr lang="en-US" dirty="0"/>
              <a:t>Digital-analog simulators can power realistic VR environments for training and gaming.</a:t>
            </a:r>
          </a:p>
          <a:p>
            <a:pPr>
              <a:buFont typeface="+mj-lt"/>
              <a:buAutoNum type="arabicPeriod"/>
            </a:pPr>
            <a:r>
              <a:rPr lang="en-US" b="1" dirty="0"/>
              <a:t>AI Integration</a:t>
            </a:r>
            <a:r>
              <a:rPr lang="en-US" dirty="0"/>
              <a:t>:</a:t>
            </a:r>
          </a:p>
          <a:p>
            <a:pPr marL="742950" lvl="1" indent="-285750">
              <a:buFont typeface="+mj-lt"/>
              <a:buAutoNum type="arabicPeriod"/>
            </a:pPr>
            <a:r>
              <a:rPr lang="en-US" dirty="0"/>
              <a:t>Artificial intelligence can enhance simulators by predicting scenarios and adapting in real time.</a:t>
            </a:r>
          </a:p>
          <a:p>
            <a:pPr>
              <a:buFont typeface="+mj-lt"/>
              <a:buAutoNum type="arabicPeriod"/>
            </a:pPr>
            <a:r>
              <a:rPr lang="en-US" b="1" dirty="0"/>
              <a:t>IoT Applications</a:t>
            </a:r>
            <a:r>
              <a:rPr lang="en-US" dirty="0"/>
              <a:t>:</a:t>
            </a:r>
          </a:p>
          <a:p>
            <a:pPr marL="742950" lvl="1" indent="-285750">
              <a:buFont typeface="+mj-lt"/>
              <a:buAutoNum type="arabicPeriod"/>
            </a:pPr>
            <a:r>
              <a:rPr lang="en-US" dirty="0"/>
              <a:t>Digital-analog simulators can test connected systems, such as autonomous vehicles and smart grids.</a:t>
            </a:r>
          </a:p>
          <a:p>
            <a:endParaRPr lang="en-US" b="1" dirty="0"/>
          </a:p>
          <a:p>
            <a:endParaRPr lang="en-US" b="1" dirty="0"/>
          </a:p>
          <a:p>
            <a:r>
              <a:rPr lang="en-US" b="1" dirty="0"/>
              <a:t>Advantages</a:t>
            </a:r>
          </a:p>
          <a:p>
            <a:pPr>
              <a:buFont typeface="+mj-lt"/>
              <a:buAutoNum type="arabicPeriod"/>
            </a:pPr>
            <a:r>
              <a:rPr lang="en-US" b="1" dirty="0"/>
              <a:t>Real-Time Feedback</a:t>
            </a:r>
            <a:r>
              <a:rPr lang="en-US" dirty="0"/>
              <a:t>:</a:t>
            </a:r>
          </a:p>
          <a:p>
            <a:pPr marL="742950" lvl="1" indent="-285750">
              <a:buFont typeface="+mj-lt"/>
              <a:buAutoNum type="arabicPeriod"/>
            </a:pPr>
            <a:r>
              <a:rPr lang="en-US" dirty="0"/>
              <a:t>Analog components ensure immediate responses, critical for training and testing.</a:t>
            </a:r>
          </a:p>
          <a:p>
            <a:pPr marL="742950" lvl="1" indent="-285750">
              <a:buFont typeface="+mj-lt"/>
              <a:buAutoNum type="arabicPeriod"/>
            </a:pPr>
            <a:r>
              <a:rPr lang="en-US" dirty="0"/>
              <a:t>Example: Simulating turbulence in a flight simulator.</a:t>
            </a:r>
          </a:p>
          <a:p>
            <a:pPr>
              <a:buFont typeface="+mj-lt"/>
              <a:buAutoNum type="arabicPeriod"/>
            </a:pPr>
            <a:r>
              <a:rPr lang="en-US" b="1" dirty="0"/>
              <a:t>High Accuracy</a:t>
            </a:r>
            <a:r>
              <a:rPr lang="en-US" dirty="0"/>
              <a:t>:</a:t>
            </a:r>
          </a:p>
          <a:p>
            <a:pPr marL="742950" lvl="1" indent="-285750">
              <a:buFont typeface="+mj-lt"/>
              <a:buAutoNum type="arabicPeriod"/>
            </a:pPr>
            <a:r>
              <a:rPr lang="en-US" dirty="0"/>
              <a:t>Digital systems analyze results with precision and store detailed data.</a:t>
            </a:r>
          </a:p>
          <a:p>
            <a:pPr marL="742950" lvl="1" indent="-285750">
              <a:buFont typeface="+mj-lt"/>
              <a:buAutoNum type="arabicPeriod"/>
            </a:pPr>
            <a:r>
              <a:rPr lang="en-US" dirty="0"/>
              <a:t>Example: Logging crash data in an automotive simulator.</a:t>
            </a:r>
          </a:p>
          <a:p>
            <a:pPr>
              <a:buFont typeface="+mj-lt"/>
              <a:buAutoNum type="arabicPeriod"/>
            </a:pPr>
            <a:r>
              <a:rPr lang="en-US" b="1" dirty="0"/>
              <a:t>Safe Testing Environment</a:t>
            </a:r>
            <a:r>
              <a:rPr lang="en-US" dirty="0"/>
              <a:t>:</a:t>
            </a:r>
          </a:p>
          <a:p>
            <a:pPr marL="742950" lvl="1" indent="-285750">
              <a:buFont typeface="+mj-lt"/>
              <a:buAutoNum type="arabicPeriod"/>
            </a:pPr>
            <a:r>
              <a:rPr lang="en-US" dirty="0"/>
              <a:t>Allows testing of hazardous scenarios without real-world risks.</a:t>
            </a:r>
          </a:p>
          <a:p>
            <a:pPr marL="742950" lvl="1" indent="-285750">
              <a:buFont typeface="+mj-lt"/>
              <a:buAutoNum type="arabicPeriod"/>
            </a:pPr>
            <a:r>
              <a:rPr lang="en-US" dirty="0"/>
              <a:t>Example: Simulating reactor malfunctions in a controlled setting.</a:t>
            </a:r>
          </a:p>
          <a:p>
            <a:pPr>
              <a:buFont typeface="+mj-lt"/>
              <a:buAutoNum type="arabicPeriod"/>
            </a:pPr>
            <a:r>
              <a:rPr lang="en-US" b="1" dirty="0"/>
              <a:t>Cost-Effective</a:t>
            </a:r>
            <a:r>
              <a:rPr lang="en-US" dirty="0"/>
              <a:t>:</a:t>
            </a:r>
          </a:p>
          <a:p>
            <a:pPr marL="742950" lvl="1" indent="-285750">
              <a:buFont typeface="+mj-lt"/>
              <a:buAutoNum type="arabicPeriod"/>
            </a:pPr>
            <a:r>
              <a:rPr lang="en-US" dirty="0"/>
              <a:t>Eliminates the need for expensive physical prototypes or live testing.</a:t>
            </a:r>
          </a:p>
          <a:p>
            <a:pPr marL="742950" lvl="1" indent="-285750">
              <a:buFont typeface="+mj-lt"/>
              <a:buAutoNum type="arabicPeriod"/>
            </a:pPr>
            <a:r>
              <a:rPr lang="en-US" dirty="0"/>
              <a:t>Example: Simulating weather effects on a bridge design.</a:t>
            </a:r>
          </a:p>
          <a:p>
            <a:r>
              <a:rPr lang="en-US" b="1" dirty="0"/>
              <a:t>Limitations</a:t>
            </a:r>
          </a:p>
          <a:p>
            <a:pPr>
              <a:buFont typeface="+mj-lt"/>
              <a:buAutoNum type="arabicPeriod"/>
            </a:pPr>
            <a:r>
              <a:rPr lang="en-US" b="1" dirty="0"/>
              <a:t>High Development Costs</a:t>
            </a:r>
            <a:r>
              <a:rPr lang="en-US" dirty="0"/>
              <a:t>:</a:t>
            </a:r>
          </a:p>
          <a:p>
            <a:pPr marL="742950" lvl="1" indent="-285750">
              <a:buFont typeface="+mj-lt"/>
              <a:buAutoNum type="arabicPeriod"/>
            </a:pPr>
            <a:r>
              <a:rPr lang="en-US" dirty="0"/>
              <a:t>Creating realistic simulators with integrated analog and digital systems requires significant investment.</a:t>
            </a:r>
          </a:p>
          <a:p>
            <a:pPr marL="742950" lvl="1" indent="-285750">
              <a:buFont typeface="+mj-lt"/>
              <a:buAutoNum type="arabicPeriod"/>
            </a:pPr>
            <a:r>
              <a:rPr lang="en-US" dirty="0"/>
              <a:t>Example: Flight simulators involve complex hardware and software development.</a:t>
            </a:r>
          </a:p>
          <a:p>
            <a:pPr>
              <a:buFont typeface="+mj-lt"/>
              <a:buAutoNum type="arabicPeriod"/>
            </a:pPr>
            <a:r>
              <a:rPr lang="en-US" b="1" dirty="0"/>
              <a:t>Complexity</a:t>
            </a:r>
            <a:r>
              <a:rPr lang="en-US" dirty="0"/>
              <a:t>:</a:t>
            </a:r>
          </a:p>
          <a:p>
            <a:pPr marL="742950" lvl="1" indent="-285750">
              <a:buFont typeface="+mj-lt"/>
              <a:buAutoNum type="arabicPeriod"/>
            </a:pPr>
            <a:r>
              <a:rPr lang="en-US" dirty="0"/>
              <a:t>Operating and maintaining digital-analog simulators requires skilled personnel.</a:t>
            </a:r>
          </a:p>
          <a:p>
            <a:pPr marL="742950" lvl="1" indent="-285750">
              <a:buFont typeface="+mj-lt"/>
              <a:buAutoNum type="arabicPeriod"/>
            </a:pPr>
            <a:r>
              <a:rPr lang="en-US" dirty="0"/>
              <a:t>Example: Calibration of analog components to align with digital data.</a:t>
            </a:r>
          </a:p>
          <a:p>
            <a:endParaRPr lang="en-US" dirty="0"/>
          </a:p>
        </p:txBody>
      </p:sp>
      <p:sp>
        <p:nvSpPr>
          <p:cNvPr id="4" name="Slide Number Placeholder 3"/>
          <p:cNvSpPr>
            <a:spLocks noGrp="1"/>
          </p:cNvSpPr>
          <p:nvPr>
            <p:ph type="sldNum" sz="quarter" idx="5"/>
          </p:nvPr>
        </p:nvSpPr>
        <p:spPr/>
        <p:txBody>
          <a:bodyPr/>
          <a:lstStyle/>
          <a:p>
            <a:fld id="{7378B596-C4DA-4098-8F1D-456CD6B9599F}" type="slidenum">
              <a:rPr lang="en-US" smtClean="0"/>
              <a:t>21</a:t>
            </a:fld>
            <a:endParaRPr lang="en-US"/>
          </a:p>
        </p:txBody>
      </p:sp>
    </p:spTree>
    <p:extLst>
      <p:ext uri="{BB962C8B-B14F-4D97-AF65-F5344CB8AC3E}">
        <p14:creationId xmlns:p14="http://schemas.microsoft.com/office/powerpoint/2010/main" val="14817745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Continuous System Simulation Language (CSSL)</a:t>
            </a:r>
            <a:r>
              <a:rPr lang="en-US" dirty="0"/>
              <a:t> is a high-level programming language designed specifically to model and simulate continuous dynamic systems. These systems are governed by differential or integral equations and are characterized by variables that change continuously over time.</a:t>
            </a:r>
          </a:p>
          <a:p>
            <a:r>
              <a:rPr lang="en-US" b="1" dirty="0"/>
              <a:t>Key Features of CSSL</a:t>
            </a:r>
          </a:p>
          <a:p>
            <a:pPr>
              <a:buFont typeface="+mj-lt"/>
              <a:buAutoNum type="arabicPeriod"/>
            </a:pPr>
            <a:r>
              <a:rPr lang="en-US" b="1" dirty="0"/>
              <a:t>Focus on Continuous Systems</a:t>
            </a:r>
            <a:r>
              <a:rPr lang="en-US" dirty="0"/>
              <a:t>:</a:t>
            </a:r>
          </a:p>
          <a:p>
            <a:pPr marL="742950" lvl="1" indent="-285750">
              <a:buFont typeface="+mj-lt"/>
              <a:buAutoNum type="arabicPeriod"/>
            </a:pPr>
            <a:r>
              <a:rPr lang="en-US" dirty="0"/>
              <a:t>Unlike discrete event simulators, CSSL is tailored for systems where variables evolve in a seamless manner (e.g., velocity, temperature, pressure).</a:t>
            </a:r>
          </a:p>
          <a:p>
            <a:pPr>
              <a:buFont typeface="+mj-lt"/>
              <a:buAutoNum type="arabicPeriod"/>
            </a:pPr>
            <a:r>
              <a:rPr lang="en-US" b="1" dirty="0"/>
              <a:t>Equation-Based Modeling</a:t>
            </a:r>
            <a:r>
              <a:rPr lang="en-US" dirty="0"/>
              <a:t>:</a:t>
            </a:r>
          </a:p>
          <a:p>
            <a:pPr marL="742950" lvl="1" indent="-285750">
              <a:buFont typeface="+mj-lt"/>
              <a:buAutoNum type="arabicPeriod"/>
            </a:pPr>
            <a:r>
              <a:rPr lang="en-US" dirty="0"/>
              <a:t>Allows users to define system behavior using mathematical equations, such as differential equations.</a:t>
            </a:r>
          </a:p>
          <a:p>
            <a:pPr>
              <a:buFont typeface="+mj-lt"/>
              <a:buAutoNum type="arabicPeriod"/>
            </a:pPr>
            <a:r>
              <a:rPr lang="en-US" b="1" dirty="0"/>
              <a:t>Time-Based Simulation</a:t>
            </a:r>
            <a:r>
              <a:rPr lang="en-US" dirty="0"/>
              <a:t>:</a:t>
            </a:r>
          </a:p>
          <a:p>
            <a:pPr marL="742950" lvl="1" indent="-285750">
              <a:buFont typeface="+mj-lt"/>
              <a:buAutoNum type="arabicPeriod"/>
            </a:pPr>
            <a:r>
              <a:rPr lang="en-US" dirty="0"/>
              <a:t>Simulates changes in the system over time by integrating equations step by step.</a:t>
            </a:r>
          </a:p>
          <a:p>
            <a:pPr>
              <a:buFont typeface="+mj-lt"/>
              <a:buAutoNum type="arabicPeriod"/>
            </a:pPr>
            <a:r>
              <a:rPr lang="en-US" b="1" dirty="0"/>
              <a:t>User-Friendly Syntax</a:t>
            </a:r>
            <a:r>
              <a:rPr lang="en-US" dirty="0"/>
              <a:t>:</a:t>
            </a:r>
          </a:p>
          <a:p>
            <a:pPr marL="742950" lvl="1" indent="-285750">
              <a:buFont typeface="+mj-lt"/>
              <a:buAutoNum type="arabicPeriod"/>
            </a:pPr>
            <a:r>
              <a:rPr lang="en-US" dirty="0"/>
              <a:t>Provides abstractions to simplify the modeling of complex physical systems.</a:t>
            </a:r>
          </a:p>
          <a:p>
            <a:r>
              <a:rPr lang="en-US" b="1" dirty="0"/>
              <a:t>Components of CSSL</a:t>
            </a:r>
          </a:p>
          <a:p>
            <a:pPr>
              <a:buFont typeface="+mj-lt"/>
              <a:buAutoNum type="arabicPeriod"/>
            </a:pPr>
            <a:r>
              <a:rPr lang="en-US" b="1" dirty="0"/>
              <a:t>Declarative System Description</a:t>
            </a:r>
            <a:r>
              <a:rPr lang="en-US" dirty="0"/>
              <a:t>:</a:t>
            </a:r>
          </a:p>
          <a:p>
            <a:pPr marL="742950" lvl="1" indent="-285750">
              <a:buFont typeface="+mj-lt"/>
              <a:buAutoNum type="arabicPeriod"/>
            </a:pPr>
            <a:r>
              <a:rPr lang="en-US" dirty="0"/>
              <a:t>Users declare variables, parameters, and equations that describe the system.</a:t>
            </a:r>
          </a:p>
          <a:p>
            <a:pPr>
              <a:buFont typeface="+mj-lt"/>
              <a:buAutoNum type="arabicPeriod"/>
            </a:pPr>
            <a:r>
              <a:rPr lang="en-US" b="1" dirty="0"/>
              <a:t>Integration Algorithms</a:t>
            </a:r>
            <a:r>
              <a:rPr lang="en-US" dirty="0"/>
              <a:t>:</a:t>
            </a:r>
          </a:p>
          <a:p>
            <a:pPr marL="742950" lvl="1" indent="-285750">
              <a:buFont typeface="+mj-lt"/>
              <a:buAutoNum type="arabicPeriod"/>
            </a:pPr>
            <a:r>
              <a:rPr lang="en-US" dirty="0"/>
              <a:t>Numerical solvers (e.g., Euler method, Runge-</a:t>
            </a:r>
            <a:r>
              <a:rPr lang="en-US" dirty="0" err="1"/>
              <a:t>Kutta</a:t>
            </a:r>
            <a:r>
              <a:rPr lang="en-US" dirty="0"/>
              <a:t>) are used to solve differential equations.</a:t>
            </a:r>
          </a:p>
          <a:p>
            <a:pPr>
              <a:buFont typeface="+mj-lt"/>
              <a:buAutoNum type="arabicPeriod"/>
            </a:pPr>
            <a:r>
              <a:rPr lang="en-US" b="1" dirty="0"/>
              <a:t>Simulation Control</a:t>
            </a:r>
            <a:r>
              <a:rPr lang="en-US" dirty="0"/>
              <a:t>:</a:t>
            </a:r>
          </a:p>
          <a:p>
            <a:pPr marL="742950" lvl="1" indent="-285750">
              <a:buFont typeface="+mj-lt"/>
              <a:buAutoNum type="arabicPeriod"/>
            </a:pPr>
            <a:r>
              <a:rPr lang="en-US" dirty="0"/>
              <a:t>Options to define simulation time, step size, and output intervals.</a:t>
            </a:r>
          </a:p>
          <a:p>
            <a:pPr>
              <a:buFont typeface="+mj-lt"/>
              <a:buAutoNum type="arabicPeriod"/>
            </a:pPr>
            <a:r>
              <a:rPr lang="en-US" b="1" dirty="0"/>
              <a:t>Visualization Tools</a:t>
            </a:r>
            <a:r>
              <a:rPr lang="en-US" dirty="0"/>
              <a:t>:</a:t>
            </a:r>
          </a:p>
          <a:p>
            <a:pPr marL="742950" lvl="1" indent="-285750">
              <a:buFont typeface="+mj-lt"/>
              <a:buAutoNum type="arabicPeriod"/>
            </a:pPr>
            <a:r>
              <a:rPr lang="en-US" dirty="0"/>
              <a:t>Enables graphing and visual analysis of results, such as plots of temperature over time.</a:t>
            </a:r>
          </a:p>
          <a:p>
            <a:r>
              <a:rPr lang="en-US" b="1" dirty="0"/>
              <a:t>Applications of CSSL</a:t>
            </a:r>
          </a:p>
          <a:p>
            <a:r>
              <a:rPr lang="en-US" b="1" dirty="0"/>
              <a:t>1. Engineering Simulations</a:t>
            </a:r>
          </a:p>
          <a:p>
            <a:pPr>
              <a:buFont typeface="Arial" panose="020B0604020202020204" pitchFamily="34" charset="0"/>
              <a:buChar char="•"/>
            </a:pPr>
            <a:r>
              <a:rPr lang="en-US" dirty="0"/>
              <a:t>Example: Modeling a car's suspension system dynamics.</a:t>
            </a:r>
          </a:p>
          <a:p>
            <a:pPr>
              <a:buFont typeface="Arial" panose="020B0604020202020204" pitchFamily="34" charset="0"/>
              <a:buChar char="•"/>
            </a:pPr>
            <a:r>
              <a:rPr lang="en-US" dirty="0"/>
              <a:t>CSSL can simulate how a suspension reacts to varying road conditions.</a:t>
            </a:r>
          </a:p>
          <a:p>
            <a:r>
              <a:rPr lang="en-US" b="1" dirty="0"/>
              <a:t>2. Control Systems</a:t>
            </a:r>
          </a:p>
          <a:p>
            <a:pPr>
              <a:buFont typeface="Arial" panose="020B0604020202020204" pitchFamily="34" charset="0"/>
              <a:buChar char="•"/>
            </a:pPr>
            <a:r>
              <a:rPr lang="en-US" dirty="0"/>
              <a:t>Example: Simulating feedback loops in temperature control systems.</a:t>
            </a:r>
          </a:p>
          <a:p>
            <a:pPr>
              <a:buFont typeface="Arial" panose="020B0604020202020204" pitchFamily="34" charset="0"/>
              <a:buChar char="•"/>
            </a:pPr>
            <a:r>
              <a:rPr lang="en-US" dirty="0"/>
              <a:t>CSSL models continuous changes in temperature and evaluates control strategies.</a:t>
            </a:r>
          </a:p>
          <a:p>
            <a:r>
              <a:rPr lang="en-US" b="1" dirty="0"/>
              <a:t>3. Environmental Modeling</a:t>
            </a:r>
          </a:p>
          <a:p>
            <a:pPr>
              <a:buFont typeface="Arial" panose="020B0604020202020204" pitchFamily="34" charset="0"/>
              <a:buChar char="•"/>
            </a:pPr>
            <a:r>
              <a:rPr lang="en-US" dirty="0"/>
              <a:t>Example: Predicting river flow patterns or climate change.</a:t>
            </a:r>
          </a:p>
          <a:p>
            <a:pPr>
              <a:buFont typeface="Arial" panose="020B0604020202020204" pitchFamily="34" charset="0"/>
              <a:buChar char="•"/>
            </a:pPr>
            <a:r>
              <a:rPr lang="en-US" dirty="0"/>
              <a:t>CSSL helps simulate fluid dynamics and heat transfer in natural systems.</a:t>
            </a:r>
          </a:p>
          <a:p>
            <a:r>
              <a:rPr lang="en-US" b="1" dirty="0"/>
              <a:t>4. Biomedical Engineering</a:t>
            </a:r>
          </a:p>
          <a:p>
            <a:pPr>
              <a:buFont typeface="Arial" panose="020B0604020202020204" pitchFamily="34" charset="0"/>
              <a:buChar char="•"/>
            </a:pPr>
            <a:r>
              <a:rPr lang="en-US" dirty="0"/>
              <a:t>Example: Modeling the human circulatory system.</a:t>
            </a:r>
          </a:p>
          <a:p>
            <a:pPr>
              <a:buFont typeface="Arial" panose="020B0604020202020204" pitchFamily="34" charset="0"/>
              <a:buChar char="•"/>
            </a:pPr>
            <a:r>
              <a:rPr lang="en-US" dirty="0"/>
              <a:t>CSSL simulates blood flow and pressure dynamics in arteries and veins.</a:t>
            </a:r>
          </a:p>
          <a:p>
            <a:r>
              <a:rPr lang="en-US" b="1" dirty="0"/>
              <a:t>Advantages of CSSL</a:t>
            </a:r>
          </a:p>
          <a:p>
            <a:pPr>
              <a:buFont typeface="+mj-lt"/>
              <a:buAutoNum type="arabicPeriod"/>
            </a:pPr>
            <a:r>
              <a:rPr lang="en-US" b="1" dirty="0"/>
              <a:t>Specialization</a:t>
            </a:r>
            <a:r>
              <a:rPr lang="en-US" dirty="0"/>
              <a:t>:</a:t>
            </a:r>
          </a:p>
          <a:p>
            <a:pPr marL="742950" lvl="1" indent="-285750">
              <a:buFont typeface="+mj-lt"/>
              <a:buAutoNum type="arabicPeriod"/>
            </a:pPr>
            <a:r>
              <a:rPr lang="en-US" dirty="0"/>
              <a:t>Tailored specifically for continuous systems, making it more efficient and accurate for these tasks.</a:t>
            </a:r>
          </a:p>
          <a:p>
            <a:pPr>
              <a:buFont typeface="+mj-lt"/>
              <a:buAutoNum type="arabicPeriod"/>
            </a:pPr>
            <a:r>
              <a:rPr lang="en-US" b="1" dirty="0"/>
              <a:t>Simplified Modeling</a:t>
            </a:r>
            <a:r>
              <a:rPr lang="en-US" dirty="0"/>
              <a:t>:</a:t>
            </a:r>
          </a:p>
          <a:p>
            <a:pPr marL="742950" lvl="1" indent="-285750">
              <a:buFont typeface="+mj-lt"/>
              <a:buAutoNum type="arabicPeriod"/>
            </a:pPr>
            <a:r>
              <a:rPr lang="en-US" dirty="0"/>
              <a:t>Eliminates the need for users to write low-level numerical solvers.</a:t>
            </a:r>
          </a:p>
          <a:p>
            <a:pPr>
              <a:buFont typeface="+mj-lt"/>
              <a:buAutoNum type="arabicPeriod"/>
            </a:pPr>
            <a:r>
              <a:rPr lang="en-US" b="1" dirty="0"/>
              <a:t>Accuracy</a:t>
            </a:r>
            <a:r>
              <a:rPr lang="en-US" dirty="0"/>
              <a:t>:</a:t>
            </a:r>
          </a:p>
          <a:p>
            <a:pPr marL="742950" lvl="1" indent="-285750">
              <a:buFont typeface="+mj-lt"/>
              <a:buAutoNum type="arabicPeriod"/>
            </a:pPr>
            <a:r>
              <a:rPr lang="en-US" dirty="0"/>
              <a:t>Built-in solvers ensure precise integration of continuous equations.</a:t>
            </a:r>
          </a:p>
          <a:p>
            <a:pPr>
              <a:buFont typeface="+mj-lt"/>
              <a:buAutoNum type="arabicPeriod"/>
            </a:pPr>
            <a:r>
              <a:rPr lang="en-US" b="1" dirty="0"/>
              <a:t>Versatility</a:t>
            </a:r>
            <a:r>
              <a:rPr lang="en-US" dirty="0"/>
              <a:t>:</a:t>
            </a:r>
          </a:p>
          <a:p>
            <a:pPr marL="742950" lvl="1" indent="-285750">
              <a:buFont typeface="+mj-lt"/>
              <a:buAutoNum type="arabicPeriod"/>
            </a:pPr>
            <a:r>
              <a:rPr lang="en-US" dirty="0"/>
              <a:t>Applicable to a wide range of domains, from physics to biology.</a:t>
            </a:r>
          </a:p>
          <a:p>
            <a:r>
              <a:rPr lang="en-US" b="1" dirty="0"/>
              <a:t>Examples of CSSL-Based Tools</a:t>
            </a:r>
          </a:p>
          <a:p>
            <a:pPr>
              <a:buFont typeface="+mj-lt"/>
              <a:buAutoNum type="arabicPeriod"/>
            </a:pPr>
            <a:r>
              <a:rPr lang="en-US" b="1" dirty="0"/>
              <a:t>SIMSCRIPT</a:t>
            </a:r>
            <a:endParaRPr lang="en-US" dirty="0"/>
          </a:p>
          <a:p>
            <a:pPr marL="742950" lvl="1" indent="-285750">
              <a:buFont typeface="+mj-lt"/>
              <a:buAutoNum type="arabicPeriod"/>
            </a:pPr>
            <a:r>
              <a:rPr lang="en-US" dirty="0"/>
              <a:t>Used in defense and logistics simulations.</a:t>
            </a:r>
          </a:p>
          <a:p>
            <a:pPr>
              <a:buFont typeface="+mj-lt"/>
              <a:buAutoNum type="arabicPeriod"/>
            </a:pPr>
            <a:r>
              <a:rPr lang="en-US" b="1" dirty="0" err="1"/>
              <a:t>Modelica</a:t>
            </a:r>
            <a:endParaRPr lang="en-US" dirty="0"/>
          </a:p>
          <a:p>
            <a:pPr marL="742950" lvl="1" indent="-285750">
              <a:buFont typeface="+mj-lt"/>
              <a:buAutoNum type="arabicPeriod"/>
            </a:pPr>
            <a:r>
              <a:rPr lang="en-US" dirty="0"/>
              <a:t>A modern, object-oriented continuous simulation language used in engineering and energy systems.</a:t>
            </a:r>
          </a:p>
          <a:p>
            <a:pPr>
              <a:buFont typeface="+mj-lt"/>
              <a:buAutoNum type="arabicPeriod"/>
            </a:pPr>
            <a:r>
              <a:rPr lang="en-US" b="1" dirty="0"/>
              <a:t>DYNAMO</a:t>
            </a:r>
            <a:endParaRPr lang="en-US" dirty="0"/>
          </a:p>
          <a:p>
            <a:pPr marL="742950" lvl="1" indent="-285750">
              <a:buFont typeface="+mj-lt"/>
              <a:buAutoNum type="arabicPeriod"/>
            </a:pPr>
            <a:r>
              <a:rPr lang="en-US" dirty="0"/>
              <a:t>Historically used for systems dynamics and policy analysis.</a:t>
            </a:r>
          </a:p>
          <a:p>
            <a:r>
              <a:rPr lang="en-US" b="1" dirty="0"/>
              <a:t>Limitations</a:t>
            </a:r>
          </a:p>
          <a:p>
            <a:pPr>
              <a:buFont typeface="+mj-lt"/>
              <a:buAutoNum type="arabicPeriod"/>
            </a:pPr>
            <a:r>
              <a:rPr lang="en-US" b="1" dirty="0"/>
              <a:t>Complexity in Setup</a:t>
            </a:r>
            <a:r>
              <a:rPr lang="en-US" dirty="0"/>
              <a:t>:</a:t>
            </a:r>
          </a:p>
          <a:p>
            <a:pPr marL="742950" lvl="1" indent="-285750">
              <a:buFont typeface="+mj-lt"/>
              <a:buAutoNum type="arabicPeriod"/>
            </a:pPr>
            <a:r>
              <a:rPr lang="en-US" dirty="0"/>
              <a:t>Requires users to have a good understanding of system dynamics and mathematical equations.</a:t>
            </a:r>
          </a:p>
          <a:p>
            <a:pPr>
              <a:buFont typeface="+mj-lt"/>
              <a:buAutoNum type="arabicPeriod"/>
            </a:pPr>
            <a:r>
              <a:rPr lang="en-US" b="1" dirty="0"/>
              <a:t>Performance</a:t>
            </a:r>
            <a:r>
              <a:rPr lang="en-US" dirty="0"/>
              <a:t>:</a:t>
            </a:r>
          </a:p>
          <a:p>
            <a:pPr marL="742950" lvl="1" indent="-285750">
              <a:buFont typeface="+mj-lt"/>
              <a:buAutoNum type="arabicPeriod"/>
            </a:pPr>
            <a:r>
              <a:rPr lang="en-US" dirty="0"/>
              <a:t>Simulating highly complex systems can be computationally intensive.</a:t>
            </a:r>
          </a:p>
          <a:p>
            <a:pPr>
              <a:buFont typeface="+mj-lt"/>
              <a:buAutoNum type="arabicPeriod"/>
            </a:pPr>
            <a:r>
              <a:rPr lang="en-US" b="1" dirty="0"/>
              <a:t>Domain-Specific</a:t>
            </a:r>
            <a:r>
              <a:rPr lang="en-US" dirty="0"/>
              <a:t>:</a:t>
            </a:r>
          </a:p>
          <a:p>
            <a:pPr marL="742950" lvl="1" indent="-285750">
              <a:buFont typeface="+mj-lt"/>
              <a:buAutoNum type="arabicPeriod"/>
            </a:pPr>
            <a:r>
              <a:rPr lang="en-US" dirty="0"/>
              <a:t>Best suited for continuous systems; not as effective for discrete or hybrid systems.</a:t>
            </a:r>
          </a:p>
          <a:p>
            <a:r>
              <a:rPr lang="en-US" b="1" dirty="0"/>
              <a:t>Future Trends in CSSL</a:t>
            </a:r>
          </a:p>
          <a:p>
            <a:pPr>
              <a:buFont typeface="+mj-lt"/>
              <a:buAutoNum type="arabicPeriod"/>
            </a:pPr>
            <a:r>
              <a:rPr lang="en-US" b="1" dirty="0"/>
              <a:t>Integration with AI</a:t>
            </a:r>
            <a:r>
              <a:rPr lang="en-US" dirty="0"/>
              <a:t>:</a:t>
            </a:r>
          </a:p>
          <a:p>
            <a:pPr marL="742950" lvl="1" indent="-285750">
              <a:buFont typeface="+mj-lt"/>
              <a:buAutoNum type="arabicPeriod"/>
            </a:pPr>
            <a:r>
              <a:rPr lang="en-US" dirty="0"/>
              <a:t>Using artificial intelligence to enhance equation solving and model optimization.</a:t>
            </a:r>
          </a:p>
          <a:p>
            <a:pPr>
              <a:buFont typeface="+mj-lt"/>
              <a:buAutoNum type="arabicPeriod"/>
            </a:pPr>
            <a:r>
              <a:rPr lang="en-US" b="1" dirty="0"/>
              <a:t>Cloud-Based Simulation</a:t>
            </a:r>
            <a:r>
              <a:rPr lang="en-US" dirty="0"/>
              <a:t>:</a:t>
            </a:r>
          </a:p>
          <a:p>
            <a:pPr marL="742950" lvl="1" indent="-285750">
              <a:buFont typeface="+mj-lt"/>
              <a:buAutoNum type="arabicPeriod"/>
            </a:pPr>
            <a:r>
              <a:rPr lang="en-US" dirty="0"/>
              <a:t>Running CSSL models on distributed platforms for scalability.</a:t>
            </a:r>
          </a:p>
          <a:p>
            <a:pPr>
              <a:buFont typeface="+mj-lt"/>
              <a:buAutoNum type="arabicPeriod"/>
            </a:pPr>
            <a:r>
              <a:rPr lang="en-US" b="1" dirty="0"/>
              <a:t>Enhanced Visualization</a:t>
            </a:r>
            <a:r>
              <a:rPr lang="en-US" dirty="0"/>
              <a:t>:</a:t>
            </a:r>
          </a:p>
          <a:p>
            <a:pPr marL="742950" lvl="1" indent="-285750">
              <a:buFont typeface="+mj-lt"/>
              <a:buAutoNum type="arabicPeriod"/>
            </a:pPr>
            <a:r>
              <a:rPr lang="en-US" dirty="0"/>
              <a:t>Integration with VR/AR to visualize continuous system behaviors in real-time.</a:t>
            </a:r>
          </a:p>
          <a:p>
            <a:r>
              <a:rPr lang="en-US" dirty="0"/>
              <a:t>CSSL remains a cornerstone for scientists and engineers working with continuous systems, bridging the gap between theoretical models and real-world applications.</a:t>
            </a:r>
          </a:p>
          <a:p>
            <a:endParaRPr lang="en-US" dirty="0"/>
          </a:p>
        </p:txBody>
      </p:sp>
      <p:sp>
        <p:nvSpPr>
          <p:cNvPr id="4" name="Slide Number Placeholder 3"/>
          <p:cNvSpPr>
            <a:spLocks noGrp="1"/>
          </p:cNvSpPr>
          <p:nvPr>
            <p:ph type="sldNum" sz="quarter" idx="5"/>
          </p:nvPr>
        </p:nvSpPr>
        <p:spPr/>
        <p:txBody>
          <a:bodyPr/>
          <a:lstStyle/>
          <a:p>
            <a:fld id="{7378B596-C4DA-4098-8F1D-456CD6B9599F}" type="slidenum">
              <a:rPr lang="en-US" smtClean="0"/>
              <a:t>22</a:t>
            </a:fld>
            <a:endParaRPr lang="en-US"/>
          </a:p>
        </p:txBody>
      </p:sp>
    </p:spTree>
    <p:extLst>
      <p:ext uri="{BB962C8B-B14F-4D97-AF65-F5344CB8AC3E}">
        <p14:creationId xmlns:p14="http://schemas.microsoft.com/office/powerpoint/2010/main" val="30199370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SIMSCRIPT</a:t>
            </a:r>
          </a:p>
          <a:p>
            <a:pPr>
              <a:buFont typeface="Arial" panose="020B0604020202020204" pitchFamily="34" charset="0"/>
              <a:buChar char="•"/>
            </a:pPr>
            <a:r>
              <a:rPr lang="en-US" b="1" dirty="0"/>
              <a:t>Overview</a:t>
            </a:r>
            <a:r>
              <a:rPr lang="en-US" dirty="0"/>
              <a:t>:</a:t>
            </a:r>
          </a:p>
          <a:p>
            <a:pPr marL="742950" lvl="1" indent="-285750">
              <a:buFont typeface="Arial" panose="020B0604020202020204" pitchFamily="34" charset="0"/>
              <a:buChar char="•"/>
            </a:pPr>
            <a:r>
              <a:rPr lang="en-US" dirty="0"/>
              <a:t>SIMSCRIPT is a powerful simulation programming language used for discrete-event simulation (DES) but also supports continuous system modeling.</a:t>
            </a:r>
          </a:p>
          <a:p>
            <a:pPr marL="742950" lvl="1" indent="-285750">
              <a:buFont typeface="Arial" panose="020B0604020202020204" pitchFamily="34" charset="0"/>
              <a:buChar char="•"/>
            </a:pPr>
            <a:r>
              <a:rPr lang="en-US" dirty="0"/>
              <a:t>It’s widely used for systems involving large-scale simulations, such as defense, logistics, and manufacturing systems.</a:t>
            </a:r>
          </a:p>
          <a:p>
            <a:pPr>
              <a:buFont typeface="Arial" panose="020B0604020202020204" pitchFamily="34" charset="0"/>
              <a:buChar char="•"/>
            </a:pPr>
            <a:r>
              <a:rPr lang="en-US" b="1" dirty="0"/>
              <a:t>Features</a:t>
            </a:r>
            <a:r>
              <a:rPr lang="en-US" dirty="0"/>
              <a:t>:</a:t>
            </a:r>
          </a:p>
          <a:p>
            <a:pPr marL="742950" lvl="1" indent="-285750">
              <a:buFont typeface="Arial" panose="020B0604020202020204" pitchFamily="34" charset="0"/>
              <a:buChar char="•"/>
            </a:pPr>
            <a:r>
              <a:rPr lang="en-US" dirty="0"/>
              <a:t>Combines continuous and discrete-event simulation in one framework.</a:t>
            </a:r>
          </a:p>
          <a:p>
            <a:pPr marL="742950" lvl="1" indent="-285750">
              <a:buFont typeface="Arial" panose="020B0604020202020204" pitchFamily="34" charset="0"/>
              <a:buChar char="•"/>
            </a:pPr>
            <a:r>
              <a:rPr lang="en-US" dirty="0"/>
              <a:t>It supports </a:t>
            </a:r>
            <a:r>
              <a:rPr lang="en-US" b="1" dirty="0"/>
              <a:t>hierarchical modeling</a:t>
            </a:r>
            <a:r>
              <a:rPr lang="en-US" dirty="0"/>
              <a:t> and provides </a:t>
            </a:r>
            <a:r>
              <a:rPr lang="en-US" b="1" dirty="0"/>
              <a:t>customizable libraries</a:t>
            </a:r>
            <a:r>
              <a:rPr lang="en-US" dirty="0"/>
              <a:t> for modeling complex systems.</a:t>
            </a:r>
          </a:p>
          <a:p>
            <a:pPr marL="742950" lvl="1" indent="-285750">
              <a:buFont typeface="Arial" panose="020B0604020202020204" pitchFamily="34" charset="0"/>
              <a:buChar char="•"/>
            </a:pPr>
            <a:r>
              <a:rPr lang="en-US" dirty="0"/>
              <a:t>Provides modules for both </a:t>
            </a:r>
            <a:r>
              <a:rPr lang="en-US" b="1" dirty="0"/>
              <a:t>analog</a:t>
            </a:r>
            <a:r>
              <a:rPr lang="en-US" dirty="0"/>
              <a:t> (continuous) and </a:t>
            </a:r>
            <a:r>
              <a:rPr lang="en-US" b="1" dirty="0"/>
              <a:t>digital</a:t>
            </a:r>
            <a:r>
              <a:rPr lang="en-US" dirty="0"/>
              <a:t> (discrete) simulations.</a:t>
            </a:r>
          </a:p>
          <a:p>
            <a:pPr>
              <a:buFont typeface="Arial" panose="020B0604020202020204" pitchFamily="34" charset="0"/>
              <a:buChar char="•"/>
            </a:pPr>
            <a:r>
              <a:rPr lang="en-US" b="1" dirty="0"/>
              <a:t>Applications</a:t>
            </a:r>
            <a:r>
              <a:rPr lang="en-US" dirty="0"/>
              <a:t>:</a:t>
            </a:r>
          </a:p>
          <a:p>
            <a:pPr marL="742950" lvl="1" indent="-285750">
              <a:buFont typeface="Arial" panose="020B0604020202020204" pitchFamily="34" charset="0"/>
              <a:buChar char="•"/>
            </a:pPr>
            <a:r>
              <a:rPr lang="en-US" b="1" dirty="0"/>
              <a:t>Defense Systems</a:t>
            </a:r>
            <a:r>
              <a:rPr lang="en-US" dirty="0"/>
              <a:t>: Modeling military operations, troop movement, and logistics.</a:t>
            </a:r>
          </a:p>
          <a:p>
            <a:pPr marL="742950" lvl="1" indent="-285750">
              <a:buFont typeface="Arial" panose="020B0604020202020204" pitchFamily="34" charset="0"/>
              <a:buChar char="•"/>
            </a:pPr>
            <a:r>
              <a:rPr lang="en-US" b="1" dirty="0"/>
              <a:t>Manufacturing</a:t>
            </a:r>
            <a:r>
              <a:rPr lang="en-US" dirty="0"/>
              <a:t>: Simulating production lines, supply chains, and factory systems.</a:t>
            </a:r>
          </a:p>
          <a:p>
            <a:r>
              <a:rPr lang="en-US" b="1" dirty="0"/>
              <a:t>2. </a:t>
            </a:r>
            <a:r>
              <a:rPr lang="en-US" b="1" dirty="0" err="1"/>
              <a:t>Modelica</a:t>
            </a:r>
            <a:endParaRPr lang="en-US" b="1" dirty="0"/>
          </a:p>
          <a:p>
            <a:pPr>
              <a:buFont typeface="Arial" panose="020B0604020202020204" pitchFamily="34" charset="0"/>
              <a:buChar char="•"/>
            </a:pPr>
            <a:r>
              <a:rPr lang="en-US" b="1" dirty="0"/>
              <a:t>Overview</a:t>
            </a:r>
            <a:r>
              <a:rPr lang="en-US" dirty="0"/>
              <a:t>:</a:t>
            </a:r>
          </a:p>
          <a:p>
            <a:pPr marL="742950" lvl="1" indent="-285750">
              <a:buFont typeface="Arial" panose="020B0604020202020204" pitchFamily="34" charset="0"/>
              <a:buChar char="•"/>
            </a:pPr>
            <a:r>
              <a:rPr lang="en-US" dirty="0" err="1"/>
              <a:t>Modelica</a:t>
            </a:r>
            <a:r>
              <a:rPr lang="en-US" dirty="0"/>
              <a:t> is a modern, object-oriented modeling language specifically designed for continuous, discrete, and hybrid system simulations.</a:t>
            </a:r>
          </a:p>
          <a:p>
            <a:pPr marL="742950" lvl="1" indent="-285750">
              <a:buFont typeface="Arial" panose="020B0604020202020204" pitchFamily="34" charset="0"/>
              <a:buChar char="•"/>
            </a:pPr>
            <a:r>
              <a:rPr lang="en-US" dirty="0"/>
              <a:t>It is widely used for </a:t>
            </a:r>
            <a:r>
              <a:rPr lang="en-US" b="1" dirty="0"/>
              <a:t>engineering</a:t>
            </a:r>
            <a:r>
              <a:rPr lang="en-US" dirty="0"/>
              <a:t> and </a:t>
            </a:r>
            <a:r>
              <a:rPr lang="en-US" b="1" dirty="0"/>
              <a:t>energy system simulations</a:t>
            </a:r>
            <a:r>
              <a:rPr lang="en-US" dirty="0"/>
              <a:t>.</a:t>
            </a:r>
          </a:p>
          <a:p>
            <a:pPr>
              <a:buFont typeface="Arial" panose="020B0604020202020204" pitchFamily="34" charset="0"/>
              <a:buChar char="•"/>
            </a:pPr>
            <a:r>
              <a:rPr lang="en-US" b="1" dirty="0"/>
              <a:t>Features</a:t>
            </a:r>
            <a:r>
              <a:rPr lang="en-US" dirty="0"/>
              <a:t>:</a:t>
            </a:r>
          </a:p>
          <a:p>
            <a:pPr marL="742950" lvl="1" indent="-285750">
              <a:buFont typeface="Arial" panose="020B0604020202020204" pitchFamily="34" charset="0"/>
              <a:buChar char="•"/>
            </a:pPr>
            <a:r>
              <a:rPr lang="en-US" dirty="0"/>
              <a:t>Provides a </a:t>
            </a:r>
            <a:r>
              <a:rPr lang="en-US" b="1" dirty="0"/>
              <a:t>multi-domain simulation environment</a:t>
            </a:r>
            <a:r>
              <a:rPr lang="en-US" dirty="0"/>
              <a:t>, enabling users to model mechanical, electrical, hydraulic, thermal, and other physical systems in an integrated framework.</a:t>
            </a:r>
          </a:p>
          <a:p>
            <a:pPr marL="742950" lvl="1" indent="-285750">
              <a:buFont typeface="Arial" panose="020B0604020202020204" pitchFamily="34" charset="0"/>
              <a:buChar char="•"/>
            </a:pPr>
            <a:r>
              <a:rPr lang="en-US" b="1" dirty="0"/>
              <a:t>Non-causal modeling</a:t>
            </a:r>
            <a:r>
              <a:rPr lang="en-US" dirty="0"/>
              <a:t>: Allows flexible equations that do not assume predefined directions for variables (e.g., energy flow).</a:t>
            </a:r>
          </a:p>
          <a:p>
            <a:pPr marL="742950" lvl="1" indent="-285750">
              <a:buFont typeface="Arial" panose="020B0604020202020204" pitchFamily="34" charset="0"/>
              <a:buChar char="•"/>
            </a:pPr>
            <a:r>
              <a:rPr lang="en-US" dirty="0"/>
              <a:t>Open-source tools like </a:t>
            </a:r>
            <a:r>
              <a:rPr lang="en-US" b="1" dirty="0" err="1"/>
              <a:t>OpenModelica</a:t>
            </a:r>
            <a:r>
              <a:rPr lang="en-US" dirty="0"/>
              <a:t> and </a:t>
            </a:r>
            <a:r>
              <a:rPr lang="en-US" b="1" dirty="0" err="1"/>
              <a:t>Dymola</a:t>
            </a:r>
            <a:r>
              <a:rPr lang="en-US" dirty="0"/>
              <a:t> support </a:t>
            </a:r>
            <a:r>
              <a:rPr lang="en-US" dirty="0" err="1"/>
              <a:t>Modelica</a:t>
            </a:r>
            <a:r>
              <a:rPr lang="en-US" dirty="0"/>
              <a:t>-based simulations.</a:t>
            </a:r>
          </a:p>
          <a:p>
            <a:pPr>
              <a:buFont typeface="Arial" panose="020B0604020202020204" pitchFamily="34" charset="0"/>
              <a:buChar char="•"/>
            </a:pPr>
            <a:r>
              <a:rPr lang="en-US" b="1" dirty="0"/>
              <a:t>Applications</a:t>
            </a:r>
            <a:r>
              <a:rPr lang="en-US" dirty="0"/>
              <a:t>:</a:t>
            </a:r>
          </a:p>
          <a:p>
            <a:pPr marL="742950" lvl="1" indent="-285750">
              <a:buFont typeface="Arial" panose="020B0604020202020204" pitchFamily="34" charset="0"/>
              <a:buChar char="•"/>
            </a:pPr>
            <a:r>
              <a:rPr lang="en-US" b="1" dirty="0"/>
              <a:t>Automotive Engineering</a:t>
            </a:r>
            <a:r>
              <a:rPr lang="en-US" dirty="0"/>
              <a:t>: Simulating vehicle dynamics, powertrain, and energy consumption.</a:t>
            </a:r>
          </a:p>
          <a:p>
            <a:pPr marL="742950" lvl="1" indent="-285750">
              <a:buFont typeface="Arial" panose="020B0604020202020204" pitchFamily="34" charset="0"/>
              <a:buChar char="•"/>
            </a:pPr>
            <a:r>
              <a:rPr lang="en-US" b="1" dirty="0"/>
              <a:t>Energy Systems</a:t>
            </a:r>
            <a:r>
              <a:rPr lang="en-US" dirty="0"/>
              <a:t>: Modeling energy production, distribution, and consumption (e.g., for wind turbines, solar panels).</a:t>
            </a:r>
          </a:p>
          <a:p>
            <a:pPr marL="742950" lvl="1" indent="-285750">
              <a:buFont typeface="Arial" panose="020B0604020202020204" pitchFamily="34" charset="0"/>
              <a:buChar char="•"/>
            </a:pPr>
            <a:r>
              <a:rPr lang="en-US" b="1" dirty="0"/>
              <a:t>Building Systems</a:t>
            </a:r>
            <a:r>
              <a:rPr lang="en-US" dirty="0"/>
              <a:t>: Simulation of HVAC systems and building energy efficiency.</a:t>
            </a:r>
          </a:p>
          <a:p>
            <a:r>
              <a:rPr lang="en-US" b="1" dirty="0"/>
              <a:t>3. DYNAMO</a:t>
            </a:r>
          </a:p>
          <a:p>
            <a:pPr>
              <a:buFont typeface="Arial" panose="020B0604020202020204" pitchFamily="34" charset="0"/>
              <a:buChar char="•"/>
            </a:pPr>
            <a:r>
              <a:rPr lang="en-US" b="1" dirty="0"/>
              <a:t>Overview</a:t>
            </a:r>
            <a:r>
              <a:rPr lang="en-US" dirty="0"/>
              <a:t>:</a:t>
            </a:r>
          </a:p>
          <a:p>
            <a:pPr marL="742950" lvl="1" indent="-285750">
              <a:buFont typeface="Arial" panose="020B0604020202020204" pitchFamily="34" charset="0"/>
              <a:buChar char="•"/>
            </a:pPr>
            <a:r>
              <a:rPr lang="en-US" dirty="0"/>
              <a:t>DYNAMO (Dynamic Modeling) is an early simulation language developed in the 1960s primarily for </a:t>
            </a:r>
            <a:r>
              <a:rPr lang="en-US" b="1" dirty="0"/>
              <a:t>system dynamics</a:t>
            </a:r>
            <a:r>
              <a:rPr lang="en-US" dirty="0"/>
              <a:t> and </a:t>
            </a:r>
            <a:r>
              <a:rPr lang="en-US" b="1" dirty="0"/>
              <a:t>policy analysis</a:t>
            </a:r>
            <a:r>
              <a:rPr lang="en-US" dirty="0"/>
              <a:t>.</a:t>
            </a:r>
          </a:p>
          <a:p>
            <a:pPr marL="742950" lvl="1" indent="-285750">
              <a:buFont typeface="Arial" panose="020B0604020202020204" pitchFamily="34" charset="0"/>
              <a:buChar char="•"/>
            </a:pPr>
            <a:r>
              <a:rPr lang="en-US" dirty="0"/>
              <a:t>It’s used for creating models of dynamic systems in economics, social sciences, and ecology.</a:t>
            </a:r>
          </a:p>
          <a:p>
            <a:pPr>
              <a:buFont typeface="Arial" panose="020B0604020202020204" pitchFamily="34" charset="0"/>
              <a:buChar char="•"/>
            </a:pPr>
            <a:r>
              <a:rPr lang="en-US" b="1" dirty="0"/>
              <a:t>Features</a:t>
            </a:r>
            <a:r>
              <a:rPr lang="en-US" dirty="0"/>
              <a:t>:</a:t>
            </a:r>
          </a:p>
          <a:p>
            <a:pPr marL="742950" lvl="1" indent="-285750">
              <a:buFont typeface="Arial" panose="020B0604020202020204" pitchFamily="34" charset="0"/>
              <a:buChar char="•"/>
            </a:pPr>
            <a:r>
              <a:rPr lang="en-US" dirty="0"/>
              <a:t>Based on </a:t>
            </a:r>
            <a:r>
              <a:rPr lang="en-US" b="1" dirty="0"/>
              <a:t>stock and flow</a:t>
            </a:r>
            <a:r>
              <a:rPr lang="en-US" dirty="0"/>
              <a:t> modeling, representing accumulations (stocks) and their changes (flows).</a:t>
            </a:r>
          </a:p>
          <a:p>
            <a:pPr marL="742950" lvl="1" indent="-285750">
              <a:buFont typeface="Arial" panose="020B0604020202020204" pitchFamily="34" charset="0"/>
              <a:buChar char="•"/>
            </a:pPr>
            <a:r>
              <a:rPr lang="en-US" dirty="0"/>
              <a:t>Provides high-level abstractions for modeling feedback loops, delays, and complex interdependencies in systems.</a:t>
            </a:r>
          </a:p>
          <a:p>
            <a:pPr marL="742950" lvl="1" indent="-285750">
              <a:buFont typeface="Arial" panose="020B0604020202020204" pitchFamily="34" charset="0"/>
              <a:buChar char="•"/>
            </a:pPr>
            <a:r>
              <a:rPr lang="en-US" dirty="0"/>
              <a:t>Widely used for </a:t>
            </a:r>
            <a:r>
              <a:rPr lang="en-US" b="1" dirty="0"/>
              <a:t>system dynamics modeling</a:t>
            </a:r>
            <a:r>
              <a:rPr lang="en-US" dirty="0"/>
              <a:t>, where continuous feedback mechanisms are important.</a:t>
            </a:r>
          </a:p>
          <a:p>
            <a:pPr>
              <a:buFont typeface="Arial" panose="020B0604020202020204" pitchFamily="34" charset="0"/>
              <a:buChar char="•"/>
            </a:pPr>
            <a:r>
              <a:rPr lang="en-US" b="1" dirty="0"/>
              <a:t>Applications</a:t>
            </a:r>
            <a:r>
              <a:rPr lang="en-US" dirty="0"/>
              <a:t>:</a:t>
            </a:r>
          </a:p>
          <a:p>
            <a:pPr marL="742950" lvl="1" indent="-285750">
              <a:buFont typeface="Arial" panose="020B0604020202020204" pitchFamily="34" charset="0"/>
              <a:buChar char="•"/>
            </a:pPr>
            <a:r>
              <a:rPr lang="en-US" b="1" dirty="0"/>
              <a:t>Ecological Modeling</a:t>
            </a:r>
            <a:r>
              <a:rPr lang="en-US" dirty="0"/>
              <a:t>: Simulating population dynamics, resource usage, and environmental changes.</a:t>
            </a:r>
          </a:p>
          <a:p>
            <a:pPr marL="742950" lvl="1" indent="-285750">
              <a:buFont typeface="Arial" panose="020B0604020202020204" pitchFamily="34" charset="0"/>
              <a:buChar char="•"/>
            </a:pPr>
            <a:r>
              <a:rPr lang="en-US" b="1" dirty="0"/>
              <a:t>Policy Analysis</a:t>
            </a:r>
            <a:r>
              <a:rPr lang="en-US" dirty="0"/>
              <a:t>: Modeling economic systems, including supply and demand, taxes, and government intervention.</a:t>
            </a:r>
          </a:p>
          <a:p>
            <a:pPr marL="742950" lvl="1" indent="-285750">
              <a:buFont typeface="Arial" panose="020B0604020202020204" pitchFamily="34" charset="0"/>
              <a:buChar char="•"/>
            </a:pPr>
            <a:r>
              <a:rPr lang="en-US" b="1" dirty="0"/>
              <a:t>Business Models</a:t>
            </a:r>
            <a:r>
              <a:rPr lang="en-US" dirty="0"/>
              <a:t>: Simulating market behavior and business processes over time</a:t>
            </a:r>
          </a:p>
          <a:p>
            <a:endParaRPr lang="en-US" dirty="0"/>
          </a:p>
        </p:txBody>
      </p:sp>
      <p:sp>
        <p:nvSpPr>
          <p:cNvPr id="4" name="Slide Number Placeholder 3"/>
          <p:cNvSpPr>
            <a:spLocks noGrp="1"/>
          </p:cNvSpPr>
          <p:nvPr>
            <p:ph type="sldNum" sz="quarter" idx="5"/>
          </p:nvPr>
        </p:nvSpPr>
        <p:spPr/>
        <p:txBody>
          <a:bodyPr/>
          <a:lstStyle/>
          <a:p>
            <a:fld id="{7378B596-C4DA-4098-8F1D-456CD6B9599F}" type="slidenum">
              <a:rPr lang="en-US" smtClean="0"/>
              <a:t>23</a:t>
            </a:fld>
            <a:endParaRPr lang="en-US"/>
          </a:p>
        </p:txBody>
      </p:sp>
    </p:spTree>
    <p:extLst>
      <p:ext uri="{BB962C8B-B14F-4D97-AF65-F5344CB8AC3E}">
        <p14:creationId xmlns:p14="http://schemas.microsoft.com/office/powerpoint/2010/main" val="21659003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 Purpose: Used to define the structure of the system being modeled, including components, parameters, and variables.</a:t>
            </a:r>
          </a:p>
          <a:p>
            <a:pPr marL="0" indent="0">
              <a:buNone/>
            </a:pPr>
            <a:r>
              <a:rPr lang="en-US" b="1" dirty="0"/>
              <a:t>Components:</a:t>
            </a:r>
          </a:p>
          <a:p>
            <a:pPr marL="0" indent="0">
              <a:buNone/>
            </a:pPr>
            <a:r>
              <a:rPr lang="en-US" dirty="0"/>
              <a:t>	Modules: Defines different parts of the system.</a:t>
            </a:r>
          </a:p>
          <a:p>
            <a:pPr marL="0" indent="0">
              <a:buNone/>
            </a:pPr>
            <a:r>
              <a:rPr lang="en-US" dirty="0"/>
              <a:t>	Connections: Describes how modules are connected (feedback loops, dependencies).</a:t>
            </a:r>
          </a:p>
          <a:p>
            <a:pPr marL="0" indent="0">
              <a:buNone/>
            </a:pPr>
            <a:r>
              <a:rPr lang="en-US" b="1" dirty="0"/>
              <a:t> Example:</a:t>
            </a:r>
          </a:p>
          <a:p>
            <a:pPr marL="0" indent="0">
              <a:buNone/>
            </a:pPr>
            <a:r>
              <a:rPr lang="en-US" dirty="0"/>
              <a:t>	STRUCTURE:</a:t>
            </a:r>
          </a:p>
          <a:p>
            <a:pPr marL="0" indent="0">
              <a:buNone/>
            </a:pPr>
            <a:r>
              <a:rPr lang="en-US" dirty="0"/>
              <a:t>	  MODULE1: {input1, output1}</a:t>
            </a:r>
          </a:p>
          <a:p>
            <a:pPr marL="0" indent="0">
              <a:buNone/>
            </a:pPr>
            <a:r>
              <a:rPr lang="en-US" dirty="0"/>
              <a:t>	  MODULE2: {input2, output2}</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7378B596-C4DA-4098-8F1D-456CD6B9599F}" type="slidenum">
              <a:rPr lang="en-US" smtClean="0"/>
              <a:t>29</a:t>
            </a:fld>
            <a:endParaRPr lang="en-US"/>
          </a:p>
        </p:txBody>
      </p:sp>
    </p:spTree>
    <p:extLst>
      <p:ext uri="{BB962C8B-B14F-4D97-AF65-F5344CB8AC3E}">
        <p14:creationId xmlns:p14="http://schemas.microsoft.com/office/powerpoint/2010/main" val="5531990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Data statements are used to set the initial values to the model parameter. For example one data statement called INCON can be used to set the initial value of integration function block.</a:t>
            </a:r>
          </a:p>
          <a:p>
            <a:endParaRPr lang="en-US" dirty="0"/>
          </a:p>
          <a:p>
            <a:endParaRPr lang="en-US" dirty="0"/>
          </a:p>
        </p:txBody>
      </p:sp>
      <p:sp>
        <p:nvSpPr>
          <p:cNvPr id="4" name="Slide Number Placeholder 3"/>
          <p:cNvSpPr>
            <a:spLocks noGrp="1"/>
          </p:cNvSpPr>
          <p:nvPr>
            <p:ph type="sldNum" sz="quarter" idx="5"/>
          </p:nvPr>
        </p:nvSpPr>
        <p:spPr/>
        <p:txBody>
          <a:bodyPr/>
          <a:lstStyle/>
          <a:p>
            <a:fld id="{7378B596-C4DA-4098-8F1D-456CD6B9599F}" type="slidenum">
              <a:rPr lang="en-US" smtClean="0"/>
              <a:t>32</a:t>
            </a:fld>
            <a:endParaRPr lang="en-US"/>
          </a:p>
        </p:txBody>
      </p:sp>
    </p:spTree>
    <p:extLst>
      <p:ext uri="{BB962C8B-B14F-4D97-AF65-F5344CB8AC3E}">
        <p14:creationId xmlns:p14="http://schemas.microsoft.com/office/powerpoint/2010/main" val="12982947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a:t>
            </a:r>
          </a:p>
          <a:p>
            <a:r>
              <a:rPr lang="en-US" dirty="0"/>
              <a:t>- Engineering: Control systems, electrical circuits, mechanical systems modeling.</a:t>
            </a:r>
          </a:p>
          <a:p>
            <a:r>
              <a:rPr lang="en-US" dirty="0"/>
              <a:t>- Environmental Systems: Modeling ecological systems, river flow, pollution dispersion.</a:t>
            </a:r>
          </a:p>
          <a:p>
            <a:r>
              <a:rPr lang="en-US" dirty="0"/>
              <a:t>- Economics: Modeling economic systems and policy impacts over time.</a:t>
            </a:r>
          </a:p>
          <a:p>
            <a:endParaRPr lang="en-US" dirty="0"/>
          </a:p>
          <a:p>
            <a:endParaRPr lang="en-US" dirty="0"/>
          </a:p>
          <a:p>
            <a:r>
              <a:rPr lang="en-US" dirty="0"/>
              <a:t>Advantages: </a:t>
            </a:r>
          </a:p>
          <a:p>
            <a:r>
              <a:rPr lang="en-US" dirty="0"/>
              <a:t>- Modular System Design: Flexible and structured system representation.</a:t>
            </a:r>
          </a:p>
          <a:p>
            <a:r>
              <a:rPr lang="en-US" dirty="0"/>
              <a:t>- Real-Time Simulation: Accurate simulations of continuous systems.</a:t>
            </a:r>
          </a:p>
          <a:p>
            <a:r>
              <a:rPr lang="en-US" dirty="0"/>
              <a:t>- Hybrid Modeling: Supports both continuous and discrete components for complex systems.</a:t>
            </a:r>
          </a:p>
          <a:p>
            <a:endParaRPr lang="en-US" dirty="0"/>
          </a:p>
          <a:p>
            <a:r>
              <a:rPr lang="en-US" dirty="0"/>
              <a:t>Limitations:</a:t>
            </a:r>
          </a:p>
          <a:p>
            <a:r>
              <a:rPr lang="en-US" dirty="0"/>
              <a:t>- Steep Learning Curve: Requires familiarity with system modeling concepts.</a:t>
            </a:r>
          </a:p>
          <a:p>
            <a:r>
              <a:rPr lang="en-US" dirty="0"/>
              <a:t>- Complexity in Hybrid Models: Modeling hybrid systems with continuous and discrete components can be intricate.</a:t>
            </a:r>
          </a:p>
          <a:p>
            <a:r>
              <a:rPr lang="en-US" dirty="0"/>
              <a:t>- Performance: Large or complex simulations can be computationally intensive.</a:t>
            </a:r>
          </a:p>
          <a:p>
            <a:endParaRPr lang="en-US" dirty="0"/>
          </a:p>
        </p:txBody>
      </p:sp>
      <p:sp>
        <p:nvSpPr>
          <p:cNvPr id="4" name="Slide Number Placeholder 3"/>
          <p:cNvSpPr>
            <a:spLocks noGrp="1"/>
          </p:cNvSpPr>
          <p:nvPr>
            <p:ph type="sldNum" sz="quarter" idx="5"/>
          </p:nvPr>
        </p:nvSpPr>
        <p:spPr/>
        <p:txBody>
          <a:bodyPr/>
          <a:lstStyle/>
          <a:p>
            <a:fld id="{7378B596-C4DA-4098-8F1D-456CD6B9599F}" type="slidenum">
              <a:rPr lang="en-US" smtClean="0"/>
              <a:t>40</a:t>
            </a:fld>
            <a:endParaRPr lang="en-US"/>
          </a:p>
        </p:txBody>
      </p:sp>
    </p:spTree>
    <p:extLst>
      <p:ext uri="{BB962C8B-B14F-4D97-AF65-F5344CB8AC3E}">
        <p14:creationId xmlns:p14="http://schemas.microsoft.com/office/powerpoint/2010/main" val="1026825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1E91EA-0B00-47D2-9D40-D3CADE15BAE9}" type="datetime1">
              <a:rPr lang="en-US" smtClean="0"/>
              <a:t>12/1/2025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9E7636B2-31E4-4D4E-B149-A26D198079F0}" type="slidenum">
              <a:rPr lang="en-US" smtClean="0"/>
              <a:t>‹#›</a:t>
            </a:fld>
            <a:endParaRPr lang="en-US"/>
          </a:p>
        </p:txBody>
      </p:sp>
    </p:spTree>
    <p:extLst>
      <p:ext uri="{BB962C8B-B14F-4D97-AF65-F5344CB8AC3E}">
        <p14:creationId xmlns:p14="http://schemas.microsoft.com/office/powerpoint/2010/main" val="3188092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4C4816-2067-4CA9-BBB7-4A3EA5BD2ABC}" type="datetime1">
              <a:rPr lang="en-US" smtClean="0"/>
              <a:t>12/1/2025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9E7636B2-31E4-4D4E-B149-A26D198079F0}" type="slidenum">
              <a:rPr lang="en-US" smtClean="0"/>
              <a:t>‹#›</a:t>
            </a:fld>
            <a:endParaRPr lang="en-US"/>
          </a:p>
        </p:txBody>
      </p:sp>
    </p:spTree>
    <p:extLst>
      <p:ext uri="{BB962C8B-B14F-4D97-AF65-F5344CB8AC3E}">
        <p14:creationId xmlns:p14="http://schemas.microsoft.com/office/powerpoint/2010/main" val="1210524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D258CE-C14A-4723-86EF-203305C129AA}" type="datetime1">
              <a:rPr lang="en-US" smtClean="0"/>
              <a:t>12/1/2025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9E7636B2-31E4-4D4E-B149-A26D198079F0}" type="slidenum">
              <a:rPr lang="en-US" smtClean="0"/>
              <a:t>‹#›</a:t>
            </a:fld>
            <a:endParaRPr lang="en-US"/>
          </a:p>
        </p:txBody>
      </p:sp>
    </p:spTree>
    <p:extLst>
      <p:ext uri="{BB962C8B-B14F-4D97-AF65-F5344CB8AC3E}">
        <p14:creationId xmlns:p14="http://schemas.microsoft.com/office/powerpoint/2010/main" val="822598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7B57DB-0F4C-41F1-BCC8-793B0932A977}" type="datetime1">
              <a:rPr lang="en-US" smtClean="0"/>
              <a:t>12/1/2025</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9E7636B2-31E4-4D4E-B149-A26D198079F0}" type="slidenum">
              <a:rPr lang="en-US" smtClean="0"/>
              <a:t>‹#›</a:t>
            </a:fld>
            <a:endParaRPr lang="en-US"/>
          </a:p>
        </p:txBody>
      </p:sp>
    </p:spTree>
    <p:extLst>
      <p:ext uri="{BB962C8B-B14F-4D97-AF65-F5344CB8AC3E}">
        <p14:creationId xmlns:p14="http://schemas.microsoft.com/office/powerpoint/2010/main" val="2863642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27A650-E55A-4A0B-AFE8-382B1CF73199}" type="datetime1">
              <a:rPr lang="en-US" smtClean="0"/>
              <a:t>12/1/2025</a:t>
            </a:fld>
            <a:endParaRPr lang="en-US"/>
          </a:p>
        </p:txBody>
      </p:sp>
      <p:sp>
        <p:nvSpPr>
          <p:cNvPr id="8" name="Footer Placeholder 7"/>
          <p:cNvSpPr>
            <a:spLocks noGrp="1"/>
          </p:cNvSpPr>
          <p:nvPr>
            <p:ph type="ftr" sz="quarter" idx="11"/>
          </p:nvPr>
        </p:nvSpPr>
        <p:spPr/>
        <p:txBody>
          <a:bodyPr/>
          <a:lstStyle/>
          <a:p>
            <a:r>
              <a:rPr lang="nb-NO"/>
              <a:t>kapil@nast.edu.np  || kapilpant157</a:t>
            </a:r>
            <a:endParaRPr lang="en-US"/>
          </a:p>
        </p:txBody>
      </p:sp>
      <p:sp>
        <p:nvSpPr>
          <p:cNvPr id="9" name="Slide Number Placeholder 8"/>
          <p:cNvSpPr>
            <a:spLocks noGrp="1"/>
          </p:cNvSpPr>
          <p:nvPr>
            <p:ph type="sldNum" sz="quarter" idx="12"/>
          </p:nvPr>
        </p:nvSpPr>
        <p:spPr/>
        <p:txBody>
          <a:bodyPr/>
          <a:lstStyle/>
          <a:p>
            <a:fld id="{9E7636B2-31E4-4D4E-B149-A26D198079F0}" type="slidenum">
              <a:rPr lang="en-US" smtClean="0"/>
              <a:t>‹#›</a:t>
            </a:fld>
            <a:endParaRPr lang="en-US"/>
          </a:p>
        </p:txBody>
      </p:sp>
    </p:spTree>
    <p:extLst>
      <p:ext uri="{BB962C8B-B14F-4D97-AF65-F5344CB8AC3E}">
        <p14:creationId xmlns:p14="http://schemas.microsoft.com/office/powerpoint/2010/main" val="2496491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93EEC5-5F63-4D8C-BF05-007B92EC5164}" type="datetime1">
              <a:rPr lang="en-US" smtClean="0"/>
              <a:t>12/1/2025</a:t>
            </a:fld>
            <a:endParaRPr lang="en-US"/>
          </a:p>
        </p:txBody>
      </p:sp>
      <p:sp>
        <p:nvSpPr>
          <p:cNvPr id="4" name="Footer Placeholder 3"/>
          <p:cNvSpPr>
            <a:spLocks noGrp="1"/>
          </p:cNvSpPr>
          <p:nvPr>
            <p:ph type="ftr" sz="quarter" idx="11"/>
          </p:nvPr>
        </p:nvSpPr>
        <p:spPr/>
        <p:txBody>
          <a:bodyPr/>
          <a:lstStyle/>
          <a:p>
            <a:r>
              <a:rPr lang="nb-NO"/>
              <a:t>kapil@nast.edu.np  || kapilpant157</a:t>
            </a:r>
            <a:endParaRPr lang="en-US"/>
          </a:p>
        </p:txBody>
      </p:sp>
      <p:sp>
        <p:nvSpPr>
          <p:cNvPr id="5" name="Slide Number Placeholder 4"/>
          <p:cNvSpPr>
            <a:spLocks noGrp="1"/>
          </p:cNvSpPr>
          <p:nvPr>
            <p:ph type="sldNum" sz="quarter" idx="12"/>
          </p:nvPr>
        </p:nvSpPr>
        <p:spPr/>
        <p:txBody>
          <a:bodyPr/>
          <a:lstStyle/>
          <a:p>
            <a:fld id="{9E7636B2-31E4-4D4E-B149-A26D198079F0}" type="slidenum">
              <a:rPr lang="en-US" smtClean="0"/>
              <a:t>‹#›</a:t>
            </a:fld>
            <a:endParaRPr lang="en-US"/>
          </a:p>
        </p:txBody>
      </p:sp>
    </p:spTree>
    <p:extLst>
      <p:ext uri="{BB962C8B-B14F-4D97-AF65-F5344CB8AC3E}">
        <p14:creationId xmlns:p14="http://schemas.microsoft.com/office/powerpoint/2010/main" val="3739862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FB823A-F692-49D9-A4B6-B7914476C3EF}" type="datetime1">
              <a:rPr lang="en-US" smtClean="0"/>
              <a:t>12/1/2025</a:t>
            </a:fld>
            <a:endParaRPr lang="en-US"/>
          </a:p>
        </p:txBody>
      </p:sp>
      <p:sp>
        <p:nvSpPr>
          <p:cNvPr id="3" name="Footer Placeholder 2"/>
          <p:cNvSpPr>
            <a:spLocks noGrp="1"/>
          </p:cNvSpPr>
          <p:nvPr>
            <p:ph type="ftr" sz="quarter" idx="11"/>
          </p:nvPr>
        </p:nvSpPr>
        <p:spPr/>
        <p:txBody>
          <a:bodyPr/>
          <a:lstStyle/>
          <a:p>
            <a:r>
              <a:rPr lang="nb-NO"/>
              <a:t>kapil@nast.edu.np  || kapilpant157</a:t>
            </a:r>
            <a:endParaRPr lang="en-US"/>
          </a:p>
        </p:txBody>
      </p:sp>
      <p:sp>
        <p:nvSpPr>
          <p:cNvPr id="4" name="Slide Number Placeholder 3"/>
          <p:cNvSpPr>
            <a:spLocks noGrp="1"/>
          </p:cNvSpPr>
          <p:nvPr>
            <p:ph type="sldNum" sz="quarter" idx="12"/>
          </p:nvPr>
        </p:nvSpPr>
        <p:spPr/>
        <p:txBody>
          <a:bodyPr/>
          <a:lstStyle/>
          <a:p>
            <a:fld id="{9E7636B2-31E4-4D4E-B149-A26D198079F0}" type="slidenum">
              <a:rPr lang="en-US" smtClean="0"/>
              <a:t>‹#›</a:t>
            </a:fld>
            <a:endParaRPr lang="en-US"/>
          </a:p>
        </p:txBody>
      </p:sp>
    </p:spTree>
    <p:extLst>
      <p:ext uri="{BB962C8B-B14F-4D97-AF65-F5344CB8AC3E}">
        <p14:creationId xmlns:p14="http://schemas.microsoft.com/office/powerpoint/2010/main" val="3814814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03C298-4C22-41EE-8397-116DBD8EE7DE}" type="datetime1">
              <a:rPr lang="en-US" smtClean="0"/>
              <a:t>12/1/2025</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9E7636B2-31E4-4D4E-B149-A26D198079F0}" type="slidenum">
              <a:rPr lang="en-US" smtClean="0"/>
              <a:t>‹#›</a:t>
            </a:fld>
            <a:endParaRPr lang="en-US"/>
          </a:p>
        </p:txBody>
      </p:sp>
    </p:spTree>
    <p:extLst>
      <p:ext uri="{BB962C8B-B14F-4D97-AF65-F5344CB8AC3E}">
        <p14:creationId xmlns:p14="http://schemas.microsoft.com/office/powerpoint/2010/main" val="4007377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513C68-4350-4F29-9DBE-7910F2114F7F}" type="datetime1">
              <a:rPr lang="en-US" smtClean="0"/>
              <a:t>12/1/2025</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9E7636B2-31E4-4D4E-B149-A26D198079F0}" type="slidenum">
              <a:rPr lang="en-US" smtClean="0"/>
              <a:t>‹#›</a:t>
            </a:fld>
            <a:endParaRPr lang="en-US"/>
          </a:p>
        </p:txBody>
      </p:sp>
    </p:spTree>
    <p:extLst>
      <p:ext uri="{BB962C8B-B14F-4D97-AF65-F5344CB8AC3E}">
        <p14:creationId xmlns:p14="http://schemas.microsoft.com/office/powerpoint/2010/main" val="242595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907413-DB53-4465-A3BA-383111B2B83B}" type="datetime1">
              <a:rPr lang="en-US" smtClean="0"/>
              <a:t>12/1/2025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9E7636B2-31E4-4D4E-B149-A26D198079F0}" type="slidenum">
              <a:rPr lang="en-US" smtClean="0"/>
              <a:t>‹#›</a:t>
            </a:fld>
            <a:endParaRPr lang="en-US"/>
          </a:p>
        </p:txBody>
      </p:sp>
    </p:spTree>
    <p:extLst>
      <p:ext uri="{BB962C8B-B14F-4D97-AF65-F5344CB8AC3E}">
        <p14:creationId xmlns:p14="http://schemas.microsoft.com/office/powerpoint/2010/main" val="1948776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7F713A-2E1F-4EAA-AE27-36CD677BD927}" type="datetime1">
              <a:rPr lang="en-US" smtClean="0"/>
              <a:t>12/1/2025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9E7636B2-31E4-4D4E-B149-A26D198079F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076428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87E576-9FD9-499E-942E-9E13CFE0B1DB}" type="datetime1">
              <a:rPr lang="en-US" smtClean="0"/>
              <a:t>12/1/2025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9E7636B2-31E4-4D4E-B149-A26D198079F0}" type="slidenum">
              <a:rPr lang="en-US" smtClean="0"/>
              <a:t>‹#›</a:t>
            </a:fld>
            <a:endParaRPr lang="en-US"/>
          </a:p>
        </p:txBody>
      </p:sp>
    </p:spTree>
    <p:extLst>
      <p:ext uri="{BB962C8B-B14F-4D97-AF65-F5344CB8AC3E}">
        <p14:creationId xmlns:p14="http://schemas.microsoft.com/office/powerpoint/2010/main" val="14559199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C82358-13B0-4D5B-9B5B-153EE9A82662}" type="datetime1">
              <a:rPr lang="en-US" smtClean="0"/>
              <a:t>12/1/2025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9E7636B2-31E4-4D4E-B149-A26D198079F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596203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0336C9-F740-4A00-868D-1DC1E8DFC259}" type="datetime1">
              <a:rPr lang="en-US" smtClean="0"/>
              <a:t>12/1/2025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9E7636B2-31E4-4D4E-B149-A26D198079F0}" type="slidenum">
              <a:rPr lang="en-US" smtClean="0"/>
              <a:t>‹#›</a:t>
            </a:fld>
            <a:endParaRPr lang="en-US"/>
          </a:p>
        </p:txBody>
      </p:sp>
    </p:spTree>
    <p:extLst>
      <p:ext uri="{BB962C8B-B14F-4D97-AF65-F5344CB8AC3E}">
        <p14:creationId xmlns:p14="http://schemas.microsoft.com/office/powerpoint/2010/main" val="15540718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3AA802-73D7-49A1-BF55-8683721F6E60}" type="datetime1">
              <a:rPr lang="en-US" smtClean="0"/>
              <a:t>12/1/2025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9E7636B2-31E4-4D4E-B149-A26D198079F0}" type="slidenum">
              <a:rPr lang="en-US" smtClean="0"/>
              <a:t>‹#›</a:t>
            </a:fld>
            <a:endParaRPr lang="en-US"/>
          </a:p>
        </p:txBody>
      </p:sp>
    </p:spTree>
    <p:extLst>
      <p:ext uri="{BB962C8B-B14F-4D97-AF65-F5344CB8AC3E}">
        <p14:creationId xmlns:p14="http://schemas.microsoft.com/office/powerpoint/2010/main" val="2133997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AAE1CB-C888-4BC0-98C1-4FEB33CED738}" type="datetime1">
              <a:rPr lang="en-US" smtClean="0"/>
              <a:t>12/1/2025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9E7636B2-31E4-4D4E-B149-A26D198079F0}" type="slidenum">
              <a:rPr lang="en-US" smtClean="0"/>
              <a:t>‹#›</a:t>
            </a:fld>
            <a:endParaRPr lang="en-US"/>
          </a:p>
        </p:txBody>
      </p:sp>
    </p:spTree>
    <p:extLst>
      <p:ext uri="{BB962C8B-B14F-4D97-AF65-F5344CB8AC3E}">
        <p14:creationId xmlns:p14="http://schemas.microsoft.com/office/powerpoint/2010/main" val="2588868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88E1826-5B64-4DC7-8F0E-FF842A4EC891}" type="datetime1">
              <a:rPr lang="en-US" smtClean="0"/>
              <a:t>12/1/2025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nb-NO"/>
              <a:t>kapil@nast.edu.np  || kapilpant157</a:t>
            </a:r>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E7636B2-31E4-4D4E-B149-A26D198079F0}" type="slidenum">
              <a:rPr lang="en-US" smtClean="0"/>
              <a:t>‹#›</a:t>
            </a:fld>
            <a:endParaRPr lang="en-US"/>
          </a:p>
        </p:txBody>
      </p:sp>
    </p:spTree>
    <p:extLst>
      <p:ext uri="{BB962C8B-B14F-4D97-AF65-F5344CB8AC3E}">
        <p14:creationId xmlns:p14="http://schemas.microsoft.com/office/powerpoint/2010/main" val="13901545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A9282E3-A28F-8160-A79B-AC013443B029}"/>
              </a:ext>
            </a:extLst>
          </p:cNvPr>
          <p:cNvSpPr>
            <a:spLocks noGrp="1"/>
          </p:cNvSpPr>
          <p:nvPr>
            <p:ph type="title"/>
          </p:nvPr>
        </p:nvSpPr>
        <p:spPr>
          <a:xfrm>
            <a:off x="643467" y="816638"/>
            <a:ext cx="3367359" cy="5224724"/>
          </a:xfrm>
        </p:spPr>
        <p:txBody>
          <a:bodyPr anchor="ctr">
            <a:normAutofit/>
          </a:bodyPr>
          <a:lstStyle/>
          <a:p>
            <a:r>
              <a:rPr lang="en-US">
                <a:effectLst/>
                <a:latin typeface="Aptos" panose="020B0004020202020204" pitchFamily="34" charset="0"/>
                <a:ea typeface="Aptos" panose="020B0004020202020204" pitchFamily="34" charset="0"/>
                <a:cs typeface="Mangal" panose="02040503050203030202" pitchFamily="18" charset="0"/>
              </a:rPr>
              <a:t>Continuous System </a:t>
            </a:r>
            <a:endParaRPr lang="en-US" dirty="0"/>
          </a:p>
        </p:txBody>
      </p:sp>
      <p:sp>
        <p:nvSpPr>
          <p:cNvPr id="3" name="Content Placeholder 2">
            <a:extLst>
              <a:ext uri="{FF2B5EF4-FFF2-40B4-BE49-F238E27FC236}">
                <a16:creationId xmlns:a16="http://schemas.microsoft.com/office/drawing/2014/main" id="{9217DD1A-1118-D641-8D4A-0BF346D6F882}"/>
              </a:ext>
            </a:extLst>
          </p:cNvPr>
          <p:cNvSpPr>
            <a:spLocks noGrp="1"/>
          </p:cNvSpPr>
          <p:nvPr>
            <p:ph idx="1"/>
          </p:nvPr>
        </p:nvSpPr>
        <p:spPr>
          <a:xfrm>
            <a:off x="4241804" y="261257"/>
            <a:ext cx="6919681" cy="6596743"/>
          </a:xfrm>
        </p:spPr>
        <p:txBody>
          <a:bodyPr anchor="ctr">
            <a:noAutofit/>
          </a:bodyPr>
          <a:lstStyle/>
          <a:p>
            <a:pPr>
              <a:lnSpc>
                <a:spcPct val="90000"/>
              </a:lnSpc>
              <a:buFont typeface="+mj-lt"/>
              <a:buAutoNum type="arabicPeriod"/>
            </a:pPr>
            <a:r>
              <a:rPr lang="en-US" sz="1200" dirty="0"/>
              <a:t>Continuous System simulation and system dynamics</a:t>
            </a:r>
          </a:p>
          <a:p>
            <a:pPr>
              <a:lnSpc>
                <a:spcPct val="90000"/>
              </a:lnSpc>
              <a:buFont typeface="+mj-lt"/>
              <a:buAutoNum type="arabicPeriod"/>
            </a:pPr>
            <a:r>
              <a:rPr lang="en-US" sz="1200" dirty="0"/>
              <a:t>Continuous System Models</a:t>
            </a:r>
          </a:p>
          <a:p>
            <a:pPr>
              <a:lnSpc>
                <a:spcPct val="90000"/>
              </a:lnSpc>
              <a:buFont typeface="+mj-lt"/>
              <a:buAutoNum type="arabicPeriod"/>
            </a:pPr>
            <a:r>
              <a:rPr lang="en-US" sz="1200" dirty="0"/>
              <a:t>Differential Equations-Linear Differential Equations</a:t>
            </a:r>
          </a:p>
          <a:p>
            <a:pPr>
              <a:lnSpc>
                <a:spcPct val="90000"/>
              </a:lnSpc>
              <a:buFont typeface="+mj-lt"/>
              <a:buAutoNum type="arabicPeriod"/>
            </a:pPr>
            <a:r>
              <a:rPr lang="en-US" sz="1200" dirty="0"/>
              <a:t>Non-Linear Differential Equations</a:t>
            </a:r>
          </a:p>
          <a:p>
            <a:pPr>
              <a:lnSpc>
                <a:spcPct val="90000"/>
              </a:lnSpc>
              <a:buFont typeface="+mj-lt"/>
              <a:buAutoNum type="arabicPeriod"/>
            </a:pPr>
            <a:r>
              <a:rPr lang="en-US" sz="1200" dirty="0"/>
              <a:t>Partial Differential Equations</a:t>
            </a:r>
          </a:p>
          <a:p>
            <a:pPr>
              <a:lnSpc>
                <a:spcPct val="90000"/>
              </a:lnSpc>
              <a:buFont typeface="+mj-lt"/>
              <a:buAutoNum type="arabicPeriod"/>
            </a:pPr>
            <a:r>
              <a:rPr lang="en-US" sz="1200" dirty="0"/>
              <a:t>Analog Computers</a:t>
            </a:r>
          </a:p>
          <a:p>
            <a:pPr>
              <a:lnSpc>
                <a:spcPct val="90000"/>
              </a:lnSpc>
              <a:buFont typeface="+mj-lt"/>
              <a:buAutoNum type="arabicPeriod"/>
            </a:pPr>
            <a:r>
              <a:rPr lang="en-US" sz="1200" dirty="0"/>
              <a:t>Components of Analog Computers</a:t>
            </a:r>
          </a:p>
          <a:p>
            <a:pPr>
              <a:lnSpc>
                <a:spcPct val="90000"/>
              </a:lnSpc>
              <a:buFont typeface="+mj-lt"/>
              <a:buAutoNum type="arabicPeriod"/>
            </a:pPr>
            <a:r>
              <a:rPr lang="en-US" sz="1200" dirty="0"/>
              <a:t>Analog methods</a:t>
            </a:r>
          </a:p>
          <a:p>
            <a:pPr>
              <a:lnSpc>
                <a:spcPct val="90000"/>
              </a:lnSpc>
              <a:buFont typeface="+mj-lt"/>
              <a:buAutoNum type="arabicPeriod"/>
            </a:pPr>
            <a:r>
              <a:rPr lang="en-US" sz="1200" dirty="0"/>
              <a:t>Hybrid Computers</a:t>
            </a:r>
          </a:p>
          <a:p>
            <a:pPr>
              <a:lnSpc>
                <a:spcPct val="90000"/>
              </a:lnSpc>
              <a:buFont typeface="+mj-lt"/>
              <a:buAutoNum type="arabicPeriod"/>
            </a:pPr>
            <a:r>
              <a:rPr lang="en-US" sz="1200" dirty="0"/>
              <a:t>Digital Analog simulator</a:t>
            </a:r>
          </a:p>
          <a:p>
            <a:pPr>
              <a:lnSpc>
                <a:spcPct val="90000"/>
              </a:lnSpc>
              <a:buFont typeface="+mj-lt"/>
              <a:buAutoNum type="arabicPeriod"/>
            </a:pPr>
            <a:r>
              <a:rPr lang="en-US" sz="1200" dirty="0"/>
              <a:t>Continuous system simulation language</a:t>
            </a:r>
          </a:p>
          <a:p>
            <a:pPr>
              <a:lnSpc>
                <a:spcPct val="90000"/>
              </a:lnSpc>
              <a:buFont typeface="+mj-lt"/>
              <a:buAutoNum type="arabicPeriod"/>
            </a:pPr>
            <a:r>
              <a:rPr lang="en-US" sz="1200" dirty="0"/>
              <a:t>CSMP III</a:t>
            </a:r>
          </a:p>
          <a:p>
            <a:pPr lvl="1">
              <a:lnSpc>
                <a:spcPct val="90000"/>
              </a:lnSpc>
              <a:buFont typeface="+mj-lt"/>
              <a:buAutoNum type="arabicPeriod"/>
            </a:pPr>
            <a:r>
              <a:rPr lang="en-US" sz="1200" dirty="0"/>
              <a:t>Structure Statement</a:t>
            </a:r>
          </a:p>
          <a:p>
            <a:pPr lvl="1">
              <a:lnSpc>
                <a:spcPct val="90000"/>
              </a:lnSpc>
              <a:buFont typeface="+mj-lt"/>
              <a:buAutoNum type="arabicPeriod"/>
            </a:pPr>
            <a:r>
              <a:rPr lang="en-US" sz="1200" dirty="0"/>
              <a:t>Data Statement</a:t>
            </a:r>
          </a:p>
          <a:p>
            <a:pPr lvl="1">
              <a:lnSpc>
                <a:spcPct val="90000"/>
              </a:lnSpc>
              <a:buFont typeface="+mj-lt"/>
              <a:buAutoNum type="arabicPeriod"/>
            </a:pPr>
            <a:r>
              <a:rPr lang="en-US" sz="1200" dirty="0"/>
              <a:t>Control Statements</a:t>
            </a:r>
          </a:p>
          <a:p>
            <a:pPr lvl="1">
              <a:lnSpc>
                <a:spcPct val="90000"/>
              </a:lnSpc>
              <a:buFont typeface="+mj-lt"/>
              <a:buAutoNum type="arabicPeriod"/>
            </a:pPr>
            <a:r>
              <a:rPr lang="en-US" sz="1200" dirty="0"/>
              <a:t>Hybrid Statement</a:t>
            </a:r>
          </a:p>
          <a:p>
            <a:pPr>
              <a:lnSpc>
                <a:spcPct val="90000"/>
              </a:lnSpc>
              <a:buFont typeface="+mj-lt"/>
              <a:buAutoNum type="arabicPeriod"/>
            </a:pPr>
            <a:r>
              <a:rPr lang="en-US" sz="1200" dirty="0"/>
              <a:t>Feedback System</a:t>
            </a:r>
          </a:p>
          <a:p>
            <a:pPr>
              <a:lnSpc>
                <a:spcPct val="90000"/>
              </a:lnSpc>
              <a:buFont typeface="+mj-lt"/>
              <a:buAutoNum type="arabicPeriod"/>
            </a:pPr>
            <a:r>
              <a:rPr lang="en-US" sz="1200" dirty="0"/>
              <a:t>Interactive system</a:t>
            </a:r>
          </a:p>
          <a:p>
            <a:pPr>
              <a:lnSpc>
                <a:spcPct val="90000"/>
              </a:lnSpc>
              <a:buFont typeface="+mj-lt"/>
              <a:buAutoNum type="arabicPeriod"/>
            </a:pPr>
            <a:r>
              <a:rPr lang="en-US" sz="1200" dirty="0"/>
              <a:t>Realtime simulation</a:t>
            </a:r>
          </a:p>
          <a:p>
            <a:pPr>
              <a:lnSpc>
                <a:spcPct val="90000"/>
              </a:lnSpc>
              <a:buFont typeface="+mj-lt"/>
              <a:buAutoNum type="arabicPeriod"/>
            </a:pPr>
            <a:r>
              <a:rPr lang="en-US" sz="1200" dirty="0"/>
              <a:t>Predator-prey model</a:t>
            </a:r>
          </a:p>
        </p:txBody>
      </p:sp>
      <p:sp>
        <p:nvSpPr>
          <p:cNvPr id="4" name="Footer Placeholder 3">
            <a:extLst>
              <a:ext uri="{FF2B5EF4-FFF2-40B4-BE49-F238E27FC236}">
                <a16:creationId xmlns:a16="http://schemas.microsoft.com/office/drawing/2014/main" id="{F5B0B01D-4EAD-78C7-DC1E-104404156D14}"/>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841835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FE2A5-A02F-8918-4BAC-8D9F3AB0B9CC}"/>
              </a:ext>
            </a:extLst>
          </p:cNvPr>
          <p:cNvSpPr>
            <a:spLocks noGrp="1"/>
          </p:cNvSpPr>
          <p:nvPr>
            <p:ph type="title"/>
          </p:nvPr>
        </p:nvSpPr>
        <p:spPr/>
        <p:txBody>
          <a:bodyPr/>
          <a:lstStyle/>
          <a:p>
            <a:r>
              <a:rPr lang="en-US" dirty="0"/>
              <a:t>Continuous System</a:t>
            </a:r>
          </a:p>
        </p:txBody>
      </p:sp>
      <p:sp>
        <p:nvSpPr>
          <p:cNvPr id="3" name="Content Placeholder 2">
            <a:extLst>
              <a:ext uri="{FF2B5EF4-FFF2-40B4-BE49-F238E27FC236}">
                <a16:creationId xmlns:a16="http://schemas.microsoft.com/office/drawing/2014/main" id="{337F91BA-D366-7135-2FE5-C61D335A46D5}"/>
              </a:ext>
            </a:extLst>
          </p:cNvPr>
          <p:cNvSpPr>
            <a:spLocks noGrp="1"/>
          </p:cNvSpPr>
          <p:nvPr>
            <p:ph idx="1"/>
          </p:nvPr>
        </p:nvSpPr>
        <p:spPr>
          <a:xfrm>
            <a:off x="677334" y="1930401"/>
            <a:ext cx="8596668" cy="4110962"/>
          </a:xfrm>
        </p:spPr>
        <p:txBody>
          <a:bodyPr>
            <a:normAutofit fontScale="92500"/>
          </a:bodyPr>
          <a:lstStyle/>
          <a:p>
            <a:r>
              <a:rPr lang="en-US" dirty="0">
                <a:solidFill>
                  <a:schemeClr val="tx1"/>
                </a:solidFill>
                <a:latin typeface="Arial" panose="020B0604020202020204" pitchFamily="34" charset="0"/>
              </a:rPr>
              <a:t>A system where changes occur continuously over time.</a:t>
            </a:r>
          </a:p>
          <a:p>
            <a:r>
              <a:rPr lang="en-US" dirty="0">
                <a:solidFill>
                  <a:schemeClr val="tx1"/>
                </a:solidFill>
                <a:latin typeface="Arial" panose="020B0604020202020204" pitchFamily="34" charset="0"/>
              </a:rPr>
              <a:t>A continuous system is the system in which the activities of the main elements of the system cause smooth changes in the attributes of the entities of the system.</a:t>
            </a:r>
            <a:endParaRPr lang="en-US" altLang="en-US" dirty="0">
              <a:solidFill>
                <a:schemeClr val="tx1"/>
              </a:solidFill>
              <a:latin typeface="Arial" panose="020B0604020202020204" pitchFamily="34" charset="0"/>
            </a:endParaRPr>
          </a:p>
          <a:p>
            <a:r>
              <a:rPr kumimoji="0" lang="en-US" altLang="en-US" sz="1800" b="0" i="0" u="none" strike="noStrike" cap="none" normalizeH="0" baseline="0" dirty="0">
                <a:ln>
                  <a:noFill/>
                </a:ln>
                <a:solidFill>
                  <a:schemeClr val="tx1"/>
                </a:solidFill>
                <a:effectLst/>
                <a:latin typeface="Arial" panose="020B0604020202020204" pitchFamily="34" charset="0"/>
              </a:rPr>
              <a:t>Continuous systems are essential for simulating real-world dynamics.</a:t>
            </a:r>
            <a:endParaRPr lang="en-US" dirty="0"/>
          </a:p>
          <a:p>
            <a:r>
              <a:rPr kumimoji="0" lang="en-US" altLang="en-US" sz="1800" b="0" i="0" u="none" strike="noStrike" cap="none" normalizeH="0" baseline="0" dirty="0">
                <a:ln>
                  <a:noFill/>
                </a:ln>
                <a:solidFill>
                  <a:schemeClr val="tx1"/>
                </a:solidFill>
                <a:effectLst/>
                <a:latin typeface="Arial" panose="020B0604020202020204" pitchFamily="34" charset="0"/>
              </a:rPr>
              <a:t>Models and simulations help in understanding, predicting, and optimizing behaviors.</a:t>
            </a:r>
          </a:p>
          <a:p>
            <a:r>
              <a:rPr kumimoji="0" lang="en-US" altLang="en-US" sz="1800" b="0" i="0" u="none" strike="noStrike" cap="none" normalizeH="0" baseline="0" dirty="0">
                <a:ln>
                  <a:noFill/>
                </a:ln>
                <a:solidFill>
                  <a:schemeClr val="tx1"/>
                </a:solidFill>
                <a:effectLst/>
                <a:latin typeface="Arial" panose="020B0604020202020204" pitchFamily="34" charset="0"/>
              </a:rPr>
              <a:t>Tools and applications are diverse, spanning engineering, business, and environmental domains. </a:t>
            </a:r>
          </a:p>
          <a:p>
            <a:r>
              <a:rPr lang="en-US" sz="1900" dirty="0">
                <a:solidFill>
                  <a:schemeClr val="tx1"/>
                </a:solidFill>
                <a:latin typeface="Arial" panose="020B0604020202020204" pitchFamily="34" charset="0"/>
              </a:rPr>
              <a:t>Examples:</a:t>
            </a:r>
          </a:p>
          <a:p>
            <a:pPr marL="0" indent="0">
              <a:buNone/>
            </a:pPr>
            <a:r>
              <a:rPr lang="en-US" sz="1900" dirty="0">
                <a:solidFill>
                  <a:schemeClr val="tx1"/>
                </a:solidFill>
                <a:latin typeface="Arial" panose="020B0604020202020204" pitchFamily="34" charset="0"/>
              </a:rPr>
              <a:t>		Temperature variations</a:t>
            </a:r>
          </a:p>
          <a:p>
            <a:pPr marL="0" indent="0">
              <a:buNone/>
            </a:pPr>
            <a:r>
              <a:rPr lang="en-US" sz="1900" dirty="0">
                <a:solidFill>
                  <a:schemeClr val="tx1"/>
                </a:solidFill>
                <a:latin typeface="Arial" panose="020B0604020202020204" pitchFamily="34" charset="0"/>
              </a:rPr>
              <a:t>		Water levels in a reservoir</a:t>
            </a:r>
          </a:p>
          <a:p>
            <a:pPr marL="0" indent="0">
              <a:buNone/>
            </a:pPr>
            <a:r>
              <a:rPr lang="en-US" sz="1900" dirty="0">
                <a:solidFill>
                  <a:schemeClr val="tx1"/>
                </a:solidFill>
                <a:latin typeface="Arial" panose="020B0604020202020204" pitchFamily="34" charset="0"/>
              </a:rPr>
              <a:t>		Electrical circuits</a:t>
            </a:r>
          </a:p>
          <a:p>
            <a:endParaRPr kumimoji="0" lang="en-US" altLang="en-US" sz="1800" b="0" i="0" u="none" strike="noStrike" cap="none" normalizeH="0" baseline="0" dirty="0">
              <a:ln>
                <a:noFill/>
              </a:ln>
              <a:solidFill>
                <a:schemeClr val="tx1"/>
              </a:solidFill>
              <a:effectLst/>
              <a:latin typeface="Arial" panose="020B0604020202020204" pitchFamily="34" charset="0"/>
            </a:endParaRPr>
          </a:p>
          <a:p>
            <a:endParaRPr lang="en-US" dirty="0"/>
          </a:p>
        </p:txBody>
      </p:sp>
      <p:sp>
        <p:nvSpPr>
          <p:cNvPr id="4" name="Footer Placeholder 3">
            <a:extLst>
              <a:ext uri="{FF2B5EF4-FFF2-40B4-BE49-F238E27FC236}">
                <a16:creationId xmlns:a16="http://schemas.microsoft.com/office/drawing/2014/main" id="{4AA451FD-A2D5-A018-0BD2-B224D5E3CE72}"/>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688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79BF9-82EE-7C1C-DAE1-12A7746C697B}"/>
              </a:ext>
            </a:extLst>
          </p:cNvPr>
          <p:cNvSpPr>
            <a:spLocks noGrp="1"/>
          </p:cNvSpPr>
          <p:nvPr>
            <p:ph type="title"/>
          </p:nvPr>
        </p:nvSpPr>
        <p:spPr/>
        <p:txBody>
          <a:bodyPr/>
          <a:lstStyle/>
          <a:p>
            <a:r>
              <a:rPr lang="en-US" dirty="0"/>
              <a:t>Continuous System Simulation</a:t>
            </a:r>
          </a:p>
        </p:txBody>
      </p:sp>
      <p:sp>
        <p:nvSpPr>
          <p:cNvPr id="3" name="Content Placeholder 2">
            <a:extLst>
              <a:ext uri="{FF2B5EF4-FFF2-40B4-BE49-F238E27FC236}">
                <a16:creationId xmlns:a16="http://schemas.microsoft.com/office/drawing/2014/main" id="{0C9C12CC-54BA-4F49-E11D-7CC869675A23}"/>
              </a:ext>
            </a:extLst>
          </p:cNvPr>
          <p:cNvSpPr>
            <a:spLocks noGrp="1"/>
          </p:cNvSpPr>
          <p:nvPr>
            <p:ph idx="1"/>
          </p:nvPr>
        </p:nvSpPr>
        <p:spPr/>
        <p:txBody>
          <a:bodyPr/>
          <a:lstStyle/>
          <a:p>
            <a:r>
              <a:rPr lang="en-US" dirty="0"/>
              <a:t>Imitating the behavior of continuous systems using computational models.</a:t>
            </a:r>
          </a:p>
          <a:p>
            <a:r>
              <a:rPr lang="en-US" b="0" i="0" dirty="0">
                <a:solidFill>
                  <a:srgbClr val="212529"/>
                </a:solidFill>
                <a:effectLst/>
                <a:latin typeface="-apple-system"/>
              </a:rPr>
              <a:t>On mathematical modeling, the attributes of the system are controlled by a continuous functions.</a:t>
            </a:r>
          </a:p>
          <a:p>
            <a:r>
              <a:rPr lang="en-US" b="0" i="0" dirty="0">
                <a:solidFill>
                  <a:srgbClr val="212529"/>
                </a:solidFill>
                <a:effectLst/>
                <a:latin typeface="-apple-system"/>
              </a:rPr>
              <a:t>The continuous system is modeled using the differential equations.</a:t>
            </a:r>
            <a:endParaRPr lang="en-US" dirty="0"/>
          </a:p>
          <a:p>
            <a:pPr marL="0" indent="0">
              <a:buNone/>
            </a:pPr>
            <a:endParaRPr lang="en-US" b="1" dirty="0"/>
          </a:p>
          <a:p>
            <a:pPr marL="0" indent="0">
              <a:buNone/>
            </a:pPr>
            <a:r>
              <a:rPr lang="en-US" b="1" dirty="0"/>
              <a:t>	Key Steps</a:t>
            </a:r>
            <a:r>
              <a:rPr lang="en-US" dirty="0"/>
              <a:t>:</a:t>
            </a:r>
          </a:p>
          <a:p>
            <a:pPr lvl="1">
              <a:buFont typeface="+mj-lt"/>
              <a:buAutoNum type="arabicPeriod"/>
            </a:pPr>
            <a:r>
              <a:rPr lang="en-US" dirty="0"/>
              <a:t>Define the system.</a:t>
            </a:r>
          </a:p>
          <a:p>
            <a:pPr lvl="1">
              <a:buFont typeface="+mj-lt"/>
              <a:buAutoNum type="arabicPeriod"/>
            </a:pPr>
            <a:r>
              <a:rPr lang="en-US" dirty="0"/>
              <a:t>Develop mathematical equations.</a:t>
            </a:r>
          </a:p>
          <a:p>
            <a:pPr lvl="1">
              <a:buFont typeface="+mj-lt"/>
              <a:buAutoNum type="arabicPeriod"/>
            </a:pPr>
            <a:r>
              <a:rPr lang="en-US" dirty="0"/>
              <a:t>Implement simulation tools.</a:t>
            </a:r>
          </a:p>
          <a:p>
            <a:pPr lvl="1">
              <a:buFont typeface="+mj-lt"/>
              <a:buAutoNum type="arabicPeriod"/>
            </a:pPr>
            <a:r>
              <a:rPr lang="en-US" dirty="0"/>
              <a:t>Analyze results.</a:t>
            </a:r>
          </a:p>
          <a:p>
            <a:endParaRPr lang="en-US" dirty="0"/>
          </a:p>
        </p:txBody>
      </p:sp>
      <p:sp>
        <p:nvSpPr>
          <p:cNvPr id="4" name="Footer Placeholder 3">
            <a:extLst>
              <a:ext uri="{FF2B5EF4-FFF2-40B4-BE49-F238E27FC236}">
                <a16:creationId xmlns:a16="http://schemas.microsoft.com/office/drawing/2014/main" id="{DFDD5BE7-6536-1885-A8BB-9D371C4EC81B}"/>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914372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B6A70-8B0E-476A-3463-45D76851E407}"/>
              </a:ext>
            </a:extLst>
          </p:cNvPr>
          <p:cNvSpPr>
            <a:spLocks noGrp="1"/>
          </p:cNvSpPr>
          <p:nvPr>
            <p:ph type="title"/>
          </p:nvPr>
        </p:nvSpPr>
        <p:spPr/>
        <p:txBody>
          <a:bodyPr/>
          <a:lstStyle/>
          <a:p>
            <a:r>
              <a:rPr lang="en-US" dirty="0"/>
              <a:t>Continuous System Models</a:t>
            </a:r>
          </a:p>
        </p:txBody>
      </p:sp>
      <p:sp>
        <p:nvSpPr>
          <p:cNvPr id="3" name="Content Placeholder 2">
            <a:extLst>
              <a:ext uri="{FF2B5EF4-FFF2-40B4-BE49-F238E27FC236}">
                <a16:creationId xmlns:a16="http://schemas.microsoft.com/office/drawing/2014/main" id="{999FA121-6BCD-AAD8-E5EB-C8482248A184}"/>
              </a:ext>
            </a:extLst>
          </p:cNvPr>
          <p:cNvSpPr>
            <a:spLocks noGrp="1"/>
          </p:cNvSpPr>
          <p:nvPr>
            <p:ph idx="1"/>
          </p:nvPr>
        </p:nvSpPr>
        <p:spPr/>
        <p:txBody>
          <a:bodyPr>
            <a:normAutofit fontScale="92500" lnSpcReduction="20000"/>
          </a:bodyPr>
          <a:lstStyle/>
          <a:p>
            <a:pPr marL="0" indent="0">
              <a:buNone/>
            </a:pPr>
            <a:r>
              <a:rPr lang="en-US" dirty="0"/>
              <a:t>Mathematical representations of a system's dynamic behavior.</a:t>
            </a:r>
          </a:p>
          <a:p>
            <a:endParaRPr lang="en-US" dirty="0"/>
          </a:p>
          <a:p>
            <a:pPr marL="0" indent="0">
              <a:buNone/>
            </a:pPr>
            <a:r>
              <a:rPr lang="en-US" b="1" dirty="0"/>
              <a:t>Types of Models:</a:t>
            </a:r>
          </a:p>
          <a:p>
            <a:pPr>
              <a:buFont typeface="+mj-lt"/>
              <a:buAutoNum type="arabicPeriod"/>
            </a:pPr>
            <a:r>
              <a:rPr lang="en-US" b="1" dirty="0"/>
              <a:t>Linear Models</a:t>
            </a:r>
            <a:r>
              <a:rPr lang="en-US" dirty="0"/>
              <a:t>: Simple, easier to solve.</a:t>
            </a:r>
          </a:p>
          <a:p>
            <a:pPr>
              <a:buFont typeface="+mj-lt"/>
              <a:buAutoNum type="arabicPeriod"/>
            </a:pPr>
            <a:r>
              <a:rPr lang="en-US" b="1" dirty="0"/>
              <a:t>Nonlinear Models</a:t>
            </a:r>
            <a:r>
              <a:rPr lang="en-US" dirty="0"/>
              <a:t>: Complex but realistic.</a:t>
            </a:r>
          </a:p>
          <a:p>
            <a:pPr>
              <a:buFont typeface="+mj-lt"/>
              <a:buAutoNum type="arabicPeriod"/>
            </a:pPr>
            <a:r>
              <a:rPr lang="en-US" b="1" dirty="0"/>
              <a:t>Differential Equations</a:t>
            </a:r>
            <a:r>
              <a:rPr lang="en-US" dirty="0"/>
              <a:t>: Represent changes over time.</a:t>
            </a:r>
          </a:p>
          <a:p>
            <a:pPr>
              <a:buFont typeface="+mj-lt"/>
              <a:buAutoNum type="arabicPeriod"/>
            </a:pPr>
            <a:endParaRPr lang="en-US" dirty="0"/>
          </a:p>
          <a:p>
            <a:pPr marL="0" indent="0">
              <a:buNone/>
            </a:pPr>
            <a:r>
              <a:rPr lang="en-US" b="1" dirty="0"/>
              <a:t>Key Elements:</a:t>
            </a:r>
          </a:p>
          <a:p>
            <a:pPr marL="0" indent="0">
              <a:buNone/>
            </a:pPr>
            <a:r>
              <a:rPr lang="en-US" dirty="0"/>
              <a:t>	• State Variables: Represent system properties.</a:t>
            </a:r>
          </a:p>
          <a:p>
            <a:pPr marL="0" indent="0">
              <a:buNone/>
            </a:pPr>
            <a:r>
              <a:rPr lang="en-US" dirty="0"/>
              <a:t>	• Parameters: Constants defining system behavior.</a:t>
            </a:r>
          </a:p>
          <a:p>
            <a:pPr marL="0" indent="0">
              <a:buNone/>
            </a:pPr>
            <a:r>
              <a:rPr lang="en-US" dirty="0"/>
              <a:t>	• Input/Output Variables: External influences and responses.</a:t>
            </a:r>
          </a:p>
          <a:p>
            <a:pPr>
              <a:buFont typeface="+mj-lt"/>
              <a:buAutoNum type="arabicPeriod"/>
            </a:pPr>
            <a:endParaRPr lang="en-US" dirty="0"/>
          </a:p>
          <a:p>
            <a:endParaRPr lang="en-US" dirty="0"/>
          </a:p>
        </p:txBody>
      </p:sp>
      <p:sp>
        <p:nvSpPr>
          <p:cNvPr id="4" name="Footer Placeholder 3">
            <a:extLst>
              <a:ext uri="{FF2B5EF4-FFF2-40B4-BE49-F238E27FC236}">
                <a16:creationId xmlns:a16="http://schemas.microsoft.com/office/drawing/2014/main" id="{4B991F56-2817-3229-6274-B93100758843}"/>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870518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385BE-0A3B-0934-D816-BE733A57DD90}"/>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F1CB8AEA-C41C-411B-B66F-FC0B1A26A89B}"/>
              </a:ext>
            </a:extLst>
          </p:cNvPr>
          <p:cNvSpPr>
            <a:spLocks noGrp="1"/>
          </p:cNvSpPr>
          <p:nvPr>
            <p:ph idx="1"/>
          </p:nvPr>
        </p:nvSpPr>
        <p:spPr/>
        <p:txBody>
          <a:bodyPr/>
          <a:lstStyle/>
          <a:p>
            <a:r>
              <a:rPr lang="en-US" dirty="0"/>
              <a:t>A continuous system is the system in which the activities of the main elements of the system cause smooth changes in the attributes of the entities of the system.</a:t>
            </a:r>
          </a:p>
          <a:p>
            <a:r>
              <a:rPr lang="en-US" dirty="0"/>
              <a:t>On mathematical modeling, the attributes of the system are controlled by a continuous functions.</a:t>
            </a:r>
          </a:p>
          <a:p>
            <a:r>
              <a:rPr lang="en-US" dirty="0"/>
              <a:t>In such system, the relationships depicts the rates at which the attributes changes.</a:t>
            </a:r>
          </a:p>
          <a:p>
            <a:r>
              <a:rPr lang="en-US" dirty="0"/>
              <a:t>The continuous system is modeled using the differential equations.</a:t>
            </a:r>
          </a:p>
          <a:p>
            <a:r>
              <a:rPr lang="en-US" dirty="0"/>
              <a:t>The complex continuous system with non-linearity can be simulated by showing the application to models for linear differential equations to obtain constant coefficients and then generalize to more complex equations.</a:t>
            </a:r>
          </a:p>
        </p:txBody>
      </p:sp>
      <p:sp>
        <p:nvSpPr>
          <p:cNvPr id="4" name="Footer Placeholder 3">
            <a:extLst>
              <a:ext uri="{FF2B5EF4-FFF2-40B4-BE49-F238E27FC236}">
                <a16:creationId xmlns:a16="http://schemas.microsoft.com/office/drawing/2014/main" id="{CBD76E75-FBAF-C7FE-0FBA-5402D32EF6DF}"/>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518574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887AD-8CFE-D7AB-8C09-A14FF2B14579}"/>
              </a:ext>
            </a:extLst>
          </p:cNvPr>
          <p:cNvSpPr>
            <a:spLocks noGrp="1"/>
          </p:cNvSpPr>
          <p:nvPr>
            <p:ph type="title"/>
          </p:nvPr>
        </p:nvSpPr>
        <p:spPr/>
        <p:txBody>
          <a:bodyPr/>
          <a:lstStyle/>
          <a:p>
            <a:r>
              <a:rPr lang="en-US" dirty="0"/>
              <a:t>Linear Models</a:t>
            </a:r>
          </a:p>
        </p:txBody>
      </p:sp>
      <p:sp>
        <p:nvSpPr>
          <p:cNvPr id="3" name="Content Placeholder 2">
            <a:extLst>
              <a:ext uri="{FF2B5EF4-FFF2-40B4-BE49-F238E27FC236}">
                <a16:creationId xmlns:a16="http://schemas.microsoft.com/office/drawing/2014/main" id="{C907E419-3DA1-FBCD-BB5F-D9115C2A5D86}"/>
              </a:ext>
            </a:extLst>
          </p:cNvPr>
          <p:cNvSpPr>
            <a:spLocks noGrp="1"/>
          </p:cNvSpPr>
          <p:nvPr>
            <p:ph idx="1"/>
          </p:nvPr>
        </p:nvSpPr>
        <p:spPr/>
        <p:txBody>
          <a:bodyPr/>
          <a:lstStyle/>
          <a:p>
            <a:pPr marL="0" indent="0">
              <a:buNone/>
            </a:pPr>
            <a:r>
              <a:rPr lang="en-US" dirty="0"/>
              <a:t>Describe proportional relationships between variables.</a:t>
            </a:r>
          </a:p>
          <a:p>
            <a:r>
              <a:rPr lang="en-US" dirty="0"/>
              <a:t>Characteristics:</a:t>
            </a:r>
          </a:p>
          <a:p>
            <a:pPr marL="457200" lvl="1" indent="0">
              <a:buNone/>
            </a:pPr>
            <a:r>
              <a:rPr lang="en-US" sz="1800" dirty="0"/>
              <a:t>Simplicity: Straightforward mathematical formulation.</a:t>
            </a:r>
          </a:p>
          <a:p>
            <a:pPr marL="0" indent="0">
              <a:buNone/>
            </a:pPr>
            <a:r>
              <a:rPr lang="en-US" dirty="0"/>
              <a:t>	Predictability: Easy to compute and interpret.</a:t>
            </a:r>
          </a:p>
          <a:p>
            <a:r>
              <a:rPr lang="en-US" dirty="0"/>
              <a:t>  Limitations: May oversimplify real-world problems.</a:t>
            </a:r>
          </a:p>
          <a:p>
            <a:r>
              <a:rPr lang="en-US" dirty="0"/>
              <a:t>Example: Ohm's Law:</a:t>
            </a:r>
          </a:p>
          <a:p>
            <a:pPr marL="0" indent="0">
              <a:buNone/>
            </a:pPr>
            <a:r>
              <a:rPr lang="en-US" dirty="0"/>
              <a:t>	V = IR (Voltage = Current × Resistance)</a:t>
            </a:r>
          </a:p>
          <a:p>
            <a:endParaRPr lang="en-US" dirty="0"/>
          </a:p>
        </p:txBody>
      </p:sp>
      <p:sp>
        <p:nvSpPr>
          <p:cNvPr id="4" name="Footer Placeholder 3">
            <a:extLst>
              <a:ext uri="{FF2B5EF4-FFF2-40B4-BE49-F238E27FC236}">
                <a16:creationId xmlns:a16="http://schemas.microsoft.com/office/drawing/2014/main" id="{D22BFC4E-EA5C-B7EE-946B-E7A6290F8A23}"/>
              </a:ext>
            </a:extLst>
          </p:cNvPr>
          <p:cNvSpPr>
            <a:spLocks noGrp="1"/>
          </p:cNvSpPr>
          <p:nvPr>
            <p:ph type="ftr" sz="quarter" idx="11"/>
          </p:nvPr>
        </p:nvSpPr>
        <p:spPr/>
        <p:txBody>
          <a:bodyPr/>
          <a:lstStyle/>
          <a:p>
            <a:r>
              <a:rPr lang="nb-NO"/>
              <a:t>kapil@nast.edu.np  || kapilpant157</a:t>
            </a:r>
            <a:endParaRPr lang="en-US"/>
          </a:p>
        </p:txBody>
      </p:sp>
      <p:sp>
        <p:nvSpPr>
          <p:cNvPr id="5" name="TextBox 4">
            <a:extLst>
              <a:ext uri="{FF2B5EF4-FFF2-40B4-BE49-F238E27FC236}">
                <a16:creationId xmlns:a16="http://schemas.microsoft.com/office/drawing/2014/main" id="{B7878562-5B4A-DC96-CD69-B2EE5B2ACCEE}"/>
              </a:ext>
            </a:extLst>
          </p:cNvPr>
          <p:cNvSpPr txBox="1"/>
          <p:nvPr/>
        </p:nvSpPr>
        <p:spPr>
          <a:xfrm>
            <a:off x="7928922" y="3429000"/>
            <a:ext cx="2690160" cy="1200329"/>
          </a:xfrm>
          <a:prstGeom prst="rect">
            <a:avLst/>
          </a:prstGeom>
          <a:noFill/>
        </p:spPr>
        <p:txBody>
          <a:bodyPr wrap="none" rtlCol="0">
            <a:spAutoFit/>
          </a:bodyPr>
          <a:lstStyle/>
          <a:p>
            <a:r>
              <a:rPr lang="en-US" dirty="0"/>
              <a:t>X</a:t>
            </a:r>
            <a:r>
              <a:rPr lang="el-GR" dirty="0"/>
              <a:t>"</a:t>
            </a:r>
            <a:r>
              <a:rPr lang="en-US" dirty="0"/>
              <a:t> + X = 0 is linear</a:t>
            </a:r>
          </a:p>
          <a:p>
            <a:r>
              <a:rPr lang="en-US" dirty="0"/>
              <a:t>X</a:t>
            </a:r>
            <a:r>
              <a:rPr lang="el-GR" dirty="0"/>
              <a:t>"</a:t>
            </a:r>
            <a:r>
              <a:rPr lang="en-US" dirty="0"/>
              <a:t> + 2x</a:t>
            </a:r>
            <a:r>
              <a:rPr lang="el-GR" dirty="0"/>
              <a:t> ' </a:t>
            </a:r>
            <a:r>
              <a:rPr lang="en-US" dirty="0"/>
              <a:t>+ x = 0 is linear</a:t>
            </a:r>
          </a:p>
          <a:p>
            <a:r>
              <a:rPr lang="en-US" dirty="0"/>
              <a:t>X</a:t>
            </a:r>
            <a:r>
              <a:rPr lang="el-GR" dirty="0"/>
              <a:t> ' </a:t>
            </a:r>
            <a:r>
              <a:rPr lang="en-US" dirty="0"/>
              <a:t>+1/x = 0 is non linear</a:t>
            </a:r>
          </a:p>
          <a:p>
            <a:r>
              <a:rPr lang="en-US" dirty="0"/>
              <a:t>X</a:t>
            </a:r>
            <a:r>
              <a:rPr lang="el-GR" dirty="0"/>
              <a:t> '</a:t>
            </a:r>
            <a:r>
              <a:rPr lang="en-US" dirty="0"/>
              <a:t> + x² = 0 is non linear</a:t>
            </a:r>
          </a:p>
        </p:txBody>
      </p:sp>
    </p:spTree>
    <p:extLst>
      <p:ext uri="{BB962C8B-B14F-4D97-AF65-F5344CB8AC3E}">
        <p14:creationId xmlns:p14="http://schemas.microsoft.com/office/powerpoint/2010/main" val="2881710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42893-F40B-6180-2463-87A86C1838A4}"/>
              </a:ext>
            </a:extLst>
          </p:cNvPr>
          <p:cNvSpPr>
            <a:spLocks noGrp="1"/>
          </p:cNvSpPr>
          <p:nvPr>
            <p:ph type="title"/>
          </p:nvPr>
        </p:nvSpPr>
        <p:spPr/>
        <p:txBody>
          <a:bodyPr/>
          <a:lstStyle/>
          <a:p>
            <a:r>
              <a:rPr lang="en-US" dirty="0"/>
              <a:t>Nonlinear Models</a:t>
            </a:r>
          </a:p>
        </p:txBody>
      </p:sp>
      <p:sp>
        <p:nvSpPr>
          <p:cNvPr id="3" name="Content Placeholder 2">
            <a:extLst>
              <a:ext uri="{FF2B5EF4-FFF2-40B4-BE49-F238E27FC236}">
                <a16:creationId xmlns:a16="http://schemas.microsoft.com/office/drawing/2014/main" id="{B9FE40E2-D9BA-6D5A-FABE-2383930883CD}"/>
              </a:ext>
            </a:extLst>
          </p:cNvPr>
          <p:cNvSpPr>
            <a:spLocks noGrp="1"/>
          </p:cNvSpPr>
          <p:nvPr>
            <p:ph idx="1"/>
          </p:nvPr>
        </p:nvSpPr>
        <p:spPr/>
        <p:txBody>
          <a:bodyPr>
            <a:normAutofit fontScale="92500" lnSpcReduction="20000"/>
          </a:bodyPr>
          <a:lstStyle/>
          <a:p>
            <a:pPr marL="0" indent="0">
              <a:buNone/>
            </a:pPr>
            <a:r>
              <a:rPr lang="en-US" dirty="0"/>
              <a:t>These models describe systems where relationships between variables are not proportional, leading to more complex behaviors.</a:t>
            </a:r>
          </a:p>
          <a:p>
            <a:pPr marL="0" indent="0">
              <a:buNone/>
            </a:pPr>
            <a:r>
              <a:rPr lang="en-US" dirty="0"/>
              <a:t>It usually appears as a variable in an equation with power of 1.</a:t>
            </a:r>
          </a:p>
          <a:p>
            <a:pPr marL="0" indent="0">
              <a:buNone/>
            </a:pPr>
            <a:r>
              <a:rPr lang="en-US" dirty="0"/>
              <a:t>Eg, x is linear but x² is not.</a:t>
            </a:r>
          </a:p>
          <a:p>
            <a:r>
              <a:rPr lang="en-US" dirty="0"/>
              <a:t>Characteristics:</a:t>
            </a:r>
          </a:p>
          <a:p>
            <a:pPr lvl="1"/>
            <a:r>
              <a:rPr lang="en-US" dirty="0"/>
              <a:t>Realistic: Captures complex system behaviors.</a:t>
            </a:r>
          </a:p>
          <a:p>
            <a:pPr lvl="1"/>
            <a:r>
              <a:rPr lang="en-US" dirty="0"/>
              <a:t>Complexity: Requires advanced solution methods.</a:t>
            </a:r>
          </a:p>
          <a:p>
            <a:pPr lvl="1"/>
            <a:r>
              <a:rPr lang="en-US" dirty="0"/>
              <a:t>Phenomena: May include chaos, thresholds, or multiple equilibria.</a:t>
            </a:r>
          </a:p>
          <a:p>
            <a:r>
              <a:rPr lang="en-US" dirty="0"/>
              <a:t>Example: Logistic Growth:</a:t>
            </a:r>
          </a:p>
          <a:p>
            <a:pPr marL="0" indent="0">
              <a:buNone/>
            </a:pPr>
            <a:r>
              <a:rPr lang="en-US" dirty="0"/>
              <a:t>	Population growth in ecosystems where resources are limited</a:t>
            </a:r>
          </a:p>
          <a:p>
            <a:pPr marL="0" indent="0">
              <a:buNone/>
            </a:pPr>
            <a:r>
              <a:rPr lang="en-US" dirty="0"/>
              <a:t>	  </a:t>
            </a:r>
            <a:r>
              <a:rPr lang="en-US" dirty="0" err="1"/>
              <a:t>dP</a:t>
            </a:r>
            <a:r>
              <a:rPr lang="en-US" dirty="0"/>
              <a:t>/dt = </a:t>
            </a:r>
            <a:r>
              <a:rPr lang="en-US" dirty="0" err="1"/>
              <a:t>rP</a:t>
            </a:r>
            <a:r>
              <a:rPr lang="en-US" dirty="0"/>
              <a:t>(1 - P/K) </a:t>
            </a:r>
          </a:p>
          <a:p>
            <a:pPr marL="0" indent="0">
              <a:buNone/>
            </a:pPr>
            <a:r>
              <a:rPr lang="en-US" dirty="0"/>
              <a:t>(P: population, r: growth rate, K: carrying capacity)</a:t>
            </a:r>
          </a:p>
          <a:p>
            <a:endParaRPr lang="en-US" dirty="0"/>
          </a:p>
        </p:txBody>
      </p:sp>
      <p:sp>
        <p:nvSpPr>
          <p:cNvPr id="4" name="Footer Placeholder 3">
            <a:extLst>
              <a:ext uri="{FF2B5EF4-FFF2-40B4-BE49-F238E27FC236}">
                <a16:creationId xmlns:a16="http://schemas.microsoft.com/office/drawing/2014/main" id="{AC2C8167-0F7A-D778-6841-D7ED6DF79035}"/>
              </a:ext>
            </a:extLst>
          </p:cNvPr>
          <p:cNvSpPr>
            <a:spLocks noGrp="1"/>
          </p:cNvSpPr>
          <p:nvPr>
            <p:ph type="ftr" sz="quarter" idx="11"/>
          </p:nvPr>
        </p:nvSpPr>
        <p:spPr/>
        <p:txBody>
          <a:bodyPr/>
          <a:lstStyle/>
          <a:p>
            <a:r>
              <a:rPr lang="nb-NO"/>
              <a:t>kapil@nast.edu.np  || kapilpant157</a:t>
            </a:r>
            <a:endParaRPr lang="en-US"/>
          </a:p>
        </p:txBody>
      </p:sp>
      <p:sp>
        <p:nvSpPr>
          <p:cNvPr id="5" name="TextBox 4">
            <a:extLst>
              <a:ext uri="{FF2B5EF4-FFF2-40B4-BE49-F238E27FC236}">
                <a16:creationId xmlns:a16="http://schemas.microsoft.com/office/drawing/2014/main" id="{D1049C38-5894-09E8-1BAD-EC216DF21DE9}"/>
              </a:ext>
            </a:extLst>
          </p:cNvPr>
          <p:cNvSpPr txBox="1"/>
          <p:nvPr/>
        </p:nvSpPr>
        <p:spPr>
          <a:xfrm>
            <a:off x="7928922" y="3708222"/>
            <a:ext cx="2690160" cy="1200329"/>
          </a:xfrm>
          <a:prstGeom prst="rect">
            <a:avLst/>
          </a:prstGeom>
          <a:noFill/>
        </p:spPr>
        <p:txBody>
          <a:bodyPr wrap="none" rtlCol="0">
            <a:spAutoFit/>
          </a:bodyPr>
          <a:lstStyle/>
          <a:p>
            <a:r>
              <a:rPr lang="en-US" dirty="0"/>
              <a:t>X</a:t>
            </a:r>
            <a:r>
              <a:rPr lang="el-GR" dirty="0"/>
              <a:t>"</a:t>
            </a:r>
            <a:r>
              <a:rPr lang="en-US" dirty="0"/>
              <a:t> + X = 0 is linear</a:t>
            </a:r>
          </a:p>
          <a:p>
            <a:r>
              <a:rPr lang="en-US" dirty="0"/>
              <a:t>X</a:t>
            </a:r>
            <a:r>
              <a:rPr lang="el-GR" dirty="0"/>
              <a:t>"</a:t>
            </a:r>
            <a:r>
              <a:rPr lang="en-US" dirty="0"/>
              <a:t> + 2x</a:t>
            </a:r>
            <a:r>
              <a:rPr lang="el-GR" dirty="0"/>
              <a:t> ' </a:t>
            </a:r>
            <a:r>
              <a:rPr lang="en-US" dirty="0"/>
              <a:t>+ x = 0 is linear</a:t>
            </a:r>
          </a:p>
          <a:p>
            <a:r>
              <a:rPr lang="en-US" dirty="0"/>
              <a:t>X</a:t>
            </a:r>
            <a:r>
              <a:rPr lang="el-GR" dirty="0"/>
              <a:t> ' </a:t>
            </a:r>
            <a:r>
              <a:rPr lang="en-US" dirty="0"/>
              <a:t>+1/x = 0 is non linear</a:t>
            </a:r>
          </a:p>
          <a:p>
            <a:r>
              <a:rPr lang="en-US" dirty="0"/>
              <a:t>X</a:t>
            </a:r>
            <a:r>
              <a:rPr lang="el-GR" dirty="0"/>
              <a:t> '</a:t>
            </a:r>
            <a:r>
              <a:rPr lang="en-US" dirty="0"/>
              <a:t> + x² = 0 is non linear</a:t>
            </a:r>
          </a:p>
        </p:txBody>
      </p:sp>
    </p:spTree>
    <p:extLst>
      <p:ext uri="{BB962C8B-B14F-4D97-AF65-F5344CB8AC3E}">
        <p14:creationId xmlns:p14="http://schemas.microsoft.com/office/powerpoint/2010/main" val="507142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420B7-FF63-D292-9773-5E5504EBB751}"/>
              </a:ext>
            </a:extLst>
          </p:cNvPr>
          <p:cNvSpPr>
            <a:spLocks noGrp="1"/>
          </p:cNvSpPr>
          <p:nvPr>
            <p:ph type="title"/>
          </p:nvPr>
        </p:nvSpPr>
        <p:spPr/>
        <p:txBody>
          <a:bodyPr/>
          <a:lstStyle/>
          <a:p>
            <a:r>
              <a:rPr lang="en-US" dirty="0"/>
              <a:t>Differential Equations</a:t>
            </a:r>
          </a:p>
        </p:txBody>
      </p:sp>
      <p:sp>
        <p:nvSpPr>
          <p:cNvPr id="3" name="Content Placeholder 2">
            <a:extLst>
              <a:ext uri="{FF2B5EF4-FFF2-40B4-BE49-F238E27FC236}">
                <a16:creationId xmlns:a16="http://schemas.microsoft.com/office/drawing/2014/main" id="{67C7EDB3-7681-C5A4-8C51-2051E7FABF15}"/>
              </a:ext>
            </a:extLst>
          </p:cNvPr>
          <p:cNvSpPr>
            <a:spLocks noGrp="1"/>
          </p:cNvSpPr>
          <p:nvPr>
            <p:ph idx="1"/>
          </p:nvPr>
        </p:nvSpPr>
        <p:spPr>
          <a:xfrm>
            <a:off x="677334" y="1413165"/>
            <a:ext cx="9609666" cy="5444836"/>
          </a:xfrm>
        </p:spPr>
        <p:txBody>
          <a:bodyPr>
            <a:normAutofit/>
          </a:bodyPr>
          <a:lstStyle/>
          <a:p>
            <a:pPr marL="0" indent="0">
              <a:buNone/>
            </a:pPr>
            <a:r>
              <a:rPr lang="en-US" dirty="0"/>
              <a:t>These models use equations involving derivatives to describe how a system's state changes over time.</a:t>
            </a:r>
          </a:p>
          <a:p>
            <a:r>
              <a:rPr lang="en-US" dirty="0"/>
              <a:t>Characteristics:</a:t>
            </a:r>
          </a:p>
          <a:p>
            <a:pPr marL="0" indent="0">
              <a:buNone/>
            </a:pPr>
            <a:r>
              <a:rPr lang="en-US" dirty="0"/>
              <a:t>	Continuous Behavior: Ideal for systems that evolve without abrupt changes.</a:t>
            </a:r>
          </a:p>
          <a:p>
            <a:pPr marL="0" indent="0">
              <a:buNone/>
            </a:pPr>
            <a:r>
              <a:rPr lang="en-US" dirty="0"/>
              <a:t>	Flexibility: Can be linear or nonlinear.</a:t>
            </a:r>
          </a:p>
          <a:p>
            <a:pPr marL="0" indent="0">
              <a:buNone/>
            </a:pPr>
            <a:r>
              <a:rPr lang="en-US" dirty="0"/>
              <a:t>	Solution Methods: Analytical or numerical approaches.</a:t>
            </a:r>
          </a:p>
          <a:p>
            <a:r>
              <a:rPr lang="en-US" dirty="0"/>
              <a:t>Example: 1.  Motion Under Gravity:</a:t>
            </a:r>
          </a:p>
          <a:p>
            <a:pPr marL="0" indent="0">
              <a:buNone/>
            </a:pPr>
            <a:r>
              <a:rPr lang="en-US" dirty="0"/>
              <a:t>	  d²x/dt² = -g  where  x: position, g: acceleration due to gravity</a:t>
            </a:r>
          </a:p>
          <a:p>
            <a:pPr marL="0" indent="0">
              <a:buNone/>
            </a:pPr>
            <a:r>
              <a:rPr lang="en-US" dirty="0"/>
              <a:t>2. rate of change of population = </a:t>
            </a:r>
            <a:r>
              <a:rPr lang="en-US" dirty="0" err="1"/>
              <a:t>dP</a:t>
            </a:r>
            <a:r>
              <a:rPr lang="en-US" dirty="0"/>
              <a:t>/dt = </a:t>
            </a:r>
            <a:r>
              <a:rPr lang="en-US" dirty="0" err="1"/>
              <a:t>kP</a:t>
            </a:r>
            <a:r>
              <a:rPr lang="en-US" dirty="0"/>
              <a:t>(t) </a:t>
            </a:r>
          </a:p>
          <a:p>
            <a:pPr marL="0" indent="0">
              <a:buNone/>
            </a:pPr>
            <a:r>
              <a:rPr lang="en-US" dirty="0"/>
              <a:t>	where </a:t>
            </a:r>
            <a:r>
              <a:rPr lang="en-US" dirty="0" err="1"/>
              <a:t>dP</a:t>
            </a:r>
            <a:r>
              <a:rPr lang="en-US" dirty="0"/>
              <a:t>/dt is the rate of change of population with respect to time ,</a:t>
            </a:r>
          </a:p>
          <a:p>
            <a:pPr marL="0" indent="0">
              <a:buNone/>
            </a:pPr>
            <a:r>
              <a:rPr lang="en-US" dirty="0"/>
              <a:t>	k is a constant of proportionality (growth rate)  </a:t>
            </a:r>
          </a:p>
          <a:p>
            <a:pPr marL="0" indent="0">
              <a:buNone/>
            </a:pPr>
            <a:r>
              <a:rPr lang="en-US" dirty="0"/>
              <a:t>	P(t) is the population at time t</a:t>
            </a:r>
          </a:p>
          <a:p>
            <a:pPr marL="0" indent="0">
              <a:buNone/>
            </a:pPr>
            <a:endParaRPr lang="en-US" dirty="0"/>
          </a:p>
        </p:txBody>
      </p:sp>
      <p:sp>
        <p:nvSpPr>
          <p:cNvPr id="4" name="Footer Placeholder 3">
            <a:extLst>
              <a:ext uri="{FF2B5EF4-FFF2-40B4-BE49-F238E27FC236}">
                <a16:creationId xmlns:a16="http://schemas.microsoft.com/office/drawing/2014/main" id="{327494B8-9CA3-56BB-D1FF-02D5AE4D3722}"/>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375094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67F6F-0B89-737E-CAB4-B444608E3C03}"/>
              </a:ext>
            </a:extLst>
          </p:cNvPr>
          <p:cNvSpPr>
            <a:spLocks noGrp="1"/>
          </p:cNvSpPr>
          <p:nvPr>
            <p:ph type="title"/>
          </p:nvPr>
        </p:nvSpPr>
        <p:spPr>
          <a:xfrm>
            <a:off x="677334" y="609600"/>
            <a:ext cx="8596668" cy="782782"/>
          </a:xfrm>
        </p:spPr>
        <p:txBody>
          <a:bodyPr/>
          <a:lstStyle/>
          <a:p>
            <a:r>
              <a:rPr lang="en-US" dirty="0"/>
              <a:t>Example</a:t>
            </a:r>
          </a:p>
        </p:txBody>
      </p:sp>
      <p:sp>
        <p:nvSpPr>
          <p:cNvPr id="3" name="Content Placeholder 2">
            <a:extLst>
              <a:ext uri="{FF2B5EF4-FFF2-40B4-BE49-F238E27FC236}">
                <a16:creationId xmlns:a16="http://schemas.microsoft.com/office/drawing/2014/main" id="{1BCAF702-0367-156E-ABF4-032698100D05}"/>
              </a:ext>
            </a:extLst>
          </p:cNvPr>
          <p:cNvSpPr>
            <a:spLocks noGrp="1"/>
          </p:cNvSpPr>
          <p:nvPr>
            <p:ph idx="1"/>
          </p:nvPr>
        </p:nvSpPr>
        <p:spPr>
          <a:xfrm>
            <a:off x="677334" y="1392383"/>
            <a:ext cx="8596668" cy="4648980"/>
          </a:xfrm>
        </p:spPr>
        <p:txBody>
          <a:bodyPr>
            <a:normAutofit fontScale="92500" lnSpcReduction="10000"/>
          </a:bodyPr>
          <a:lstStyle/>
          <a:p>
            <a:r>
              <a:rPr lang="en-US" dirty="0"/>
              <a:t>Let's consider a simple example: population growth. We can model population growth using a differential equation</a:t>
            </a:r>
          </a:p>
          <a:p>
            <a:pPr>
              <a:buFont typeface="Arial" panose="020B0604020202020204" pitchFamily="34" charset="0"/>
              <a:buChar char="•"/>
            </a:pPr>
            <a:r>
              <a:rPr lang="en-US" dirty="0"/>
              <a:t>Assume: </a:t>
            </a:r>
          </a:p>
          <a:p>
            <a:pPr marL="0" indent="0">
              <a:buNone/>
            </a:pPr>
            <a:r>
              <a:rPr lang="en-US" dirty="0"/>
              <a:t>The rate of change of population is proportional to the current population size.   </a:t>
            </a:r>
          </a:p>
          <a:p>
            <a:pPr marL="0" indent="0">
              <a:buNone/>
            </a:pPr>
            <a:r>
              <a:rPr lang="en-US" dirty="0"/>
              <a:t>There are no limiting factors like resource constraints or disease.</a:t>
            </a:r>
          </a:p>
          <a:p>
            <a:r>
              <a:rPr lang="en-US" dirty="0"/>
              <a:t>Let P(t) represent the population at time t. The rate of change of population, </a:t>
            </a:r>
            <a:r>
              <a:rPr lang="en-US" dirty="0" err="1"/>
              <a:t>dP</a:t>
            </a:r>
            <a:r>
              <a:rPr lang="en-US" dirty="0"/>
              <a:t>/dt, is proportional to P(t). We can express this relationship as:   </a:t>
            </a:r>
          </a:p>
          <a:p>
            <a:r>
              <a:rPr lang="en-US" dirty="0" err="1">
                <a:effectLst/>
              </a:rPr>
              <a:t>dP</a:t>
            </a:r>
            <a:r>
              <a:rPr lang="en-US" dirty="0">
                <a:effectLst/>
              </a:rPr>
              <a:t>/dt = </a:t>
            </a:r>
            <a:r>
              <a:rPr lang="en-US" dirty="0" err="1">
                <a:effectLst/>
              </a:rPr>
              <a:t>kP</a:t>
            </a:r>
            <a:r>
              <a:rPr lang="en-US" dirty="0">
                <a:effectLst/>
              </a:rPr>
              <a:t>(t) </a:t>
            </a:r>
          </a:p>
          <a:p>
            <a:r>
              <a:rPr lang="en-US" dirty="0"/>
              <a:t>where:</a:t>
            </a:r>
          </a:p>
          <a:p>
            <a:pPr>
              <a:buFont typeface="Arial" panose="020B0604020202020204" pitchFamily="34" charset="0"/>
              <a:buChar char="•"/>
            </a:pPr>
            <a:r>
              <a:rPr lang="en-US" dirty="0" err="1"/>
              <a:t>dP</a:t>
            </a:r>
            <a:r>
              <a:rPr lang="en-US" dirty="0"/>
              <a:t>/dt is the rate of change of population with respect to time</a:t>
            </a:r>
          </a:p>
          <a:p>
            <a:pPr>
              <a:buFont typeface="Arial" panose="020B0604020202020204" pitchFamily="34" charset="0"/>
              <a:buChar char="•"/>
            </a:pPr>
            <a:r>
              <a:rPr lang="en-US" dirty="0"/>
              <a:t>k is a constant of proportionality (growth rate)   </a:t>
            </a:r>
          </a:p>
          <a:p>
            <a:pPr>
              <a:buFont typeface="Arial" panose="020B0604020202020204" pitchFamily="34" charset="0"/>
              <a:buChar char="•"/>
            </a:pPr>
            <a:r>
              <a:rPr lang="en-US" dirty="0"/>
              <a:t>P(t) is the population at time t</a:t>
            </a:r>
          </a:p>
          <a:p>
            <a:r>
              <a:rPr lang="en-US" dirty="0"/>
              <a:t>This is a first-order ordinary differential equation. By solving this equation, we can determine the population at any given time.</a:t>
            </a:r>
          </a:p>
          <a:p>
            <a:endParaRPr lang="en-US" dirty="0"/>
          </a:p>
        </p:txBody>
      </p:sp>
      <p:sp>
        <p:nvSpPr>
          <p:cNvPr id="4" name="Footer Placeholder 3">
            <a:extLst>
              <a:ext uri="{FF2B5EF4-FFF2-40B4-BE49-F238E27FC236}">
                <a16:creationId xmlns:a16="http://schemas.microsoft.com/office/drawing/2014/main" id="{74950BCA-E583-6330-162C-C8C30A252DA0}"/>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43941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C8A14-76AB-CF42-8158-6C15121A4419}"/>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45B75A56-EBA2-8AA0-C928-59368D642538}"/>
              </a:ext>
            </a:extLst>
          </p:cNvPr>
          <p:cNvSpPr>
            <a:spLocks noGrp="1"/>
          </p:cNvSpPr>
          <p:nvPr>
            <p:ph idx="1"/>
          </p:nvPr>
        </p:nvSpPr>
        <p:spPr/>
        <p:txBody>
          <a:bodyPr/>
          <a:lstStyle/>
          <a:p>
            <a:r>
              <a:rPr lang="en-US" dirty="0"/>
              <a:t>Example of linear differential equation with constant coefficient one is the wheel suspension of an automobile.</a:t>
            </a:r>
          </a:p>
          <a:p>
            <a:r>
              <a:rPr lang="en-US" dirty="0"/>
              <a:t>Which is given as</a:t>
            </a:r>
          </a:p>
        </p:txBody>
      </p:sp>
      <p:sp>
        <p:nvSpPr>
          <p:cNvPr id="4" name="Footer Placeholder 3">
            <a:extLst>
              <a:ext uri="{FF2B5EF4-FFF2-40B4-BE49-F238E27FC236}">
                <a16:creationId xmlns:a16="http://schemas.microsoft.com/office/drawing/2014/main" id="{24D01049-D5DB-8C92-E3C9-38EF1068B00E}"/>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27512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DBB9B-5033-EA18-20F5-FDA2BE3DD25C}"/>
              </a:ext>
            </a:extLst>
          </p:cNvPr>
          <p:cNvSpPr>
            <a:spLocks noGrp="1"/>
          </p:cNvSpPr>
          <p:nvPr>
            <p:ph type="title"/>
          </p:nvPr>
        </p:nvSpPr>
        <p:spPr/>
        <p:txBody>
          <a:bodyPr/>
          <a:lstStyle/>
          <a:p>
            <a:r>
              <a:rPr lang="en-US" dirty="0"/>
              <a:t>Comparison of Models</a:t>
            </a:r>
          </a:p>
        </p:txBody>
      </p:sp>
      <p:graphicFrame>
        <p:nvGraphicFramePr>
          <p:cNvPr id="4" name="Table 3">
            <a:extLst>
              <a:ext uri="{FF2B5EF4-FFF2-40B4-BE49-F238E27FC236}">
                <a16:creationId xmlns:a16="http://schemas.microsoft.com/office/drawing/2014/main" id="{1C4EF4B5-5D02-278B-DD0D-D5D863BCFAD8}"/>
              </a:ext>
            </a:extLst>
          </p:cNvPr>
          <p:cNvGraphicFramePr>
            <a:graphicFrameLocks noGrp="1"/>
          </p:cNvGraphicFramePr>
          <p:nvPr>
            <p:extLst>
              <p:ext uri="{D42A27DB-BD31-4B8C-83A1-F6EECF244321}">
                <p14:modId xmlns:p14="http://schemas.microsoft.com/office/powerpoint/2010/main" val="3587977062"/>
              </p:ext>
            </p:extLst>
          </p:nvPr>
        </p:nvGraphicFramePr>
        <p:xfrm>
          <a:off x="677334" y="1734830"/>
          <a:ext cx="7872308" cy="4117330"/>
        </p:xfrm>
        <a:graphic>
          <a:graphicData uri="http://schemas.openxmlformats.org/drawingml/2006/table">
            <a:tbl>
              <a:tblPr firstRow="1" bandRow="1">
                <a:tableStyleId>{5C22544A-7EE6-4342-B048-85BDC9FD1C3A}</a:tableStyleId>
              </a:tblPr>
              <a:tblGrid>
                <a:gridCol w="1968077">
                  <a:extLst>
                    <a:ext uri="{9D8B030D-6E8A-4147-A177-3AD203B41FA5}">
                      <a16:colId xmlns:a16="http://schemas.microsoft.com/office/drawing/2014/main" val="2479057686"/>
                    </a:ext>
                  </a:extLst>
                </a:gridCol>
                <a:gridCol w="1968077">
                  <a:extLst>
                    <a:ext uri="{9D8B030D-6E8A-4147-A177-3AD203B41FA5}">
                      <a16:colId xmlns:a16="http://schemas.microsoft.com/office/drawing/2014/main" val="3786359774"/>
                    </a:ext>
                  </a:extLst>
                </a:gridCol>
                <a:gridCol w="1968077">
                  <a:extLst>
                    <a:ext uri="{9D8B030D-6E8A-4147-A177-3AD203B41FA5}">
                      <a16:colId xmlns:a16="http://schemas.microsoft.com/office/drawing/2014/main" val="439505746"/>
                    </a:ext>
                  </a:extLst>
                </a:gridCol>
                <a:gridCol w="1968077">
                  <a:extLst>
                    <a:ext uri="{9D8B030D-6E8A-4147-A177-3AD203B41FA5}">
                      <a16:colId xmlns:a16="http://schemas.microsoft.com/office/drawing/2014/main" val="2304313175"/>
                    </a:ext>
                  </a:extLst>
                </a:gridCol>
              </a:tblGrid>
              <a:tr h="1303475">
                <a:tc>
                  <a:txBody>
                    <a:bodyPr/>
                    <a:lstStyle/>
                    <a:p>
                      <a:r>
                        <a:rPr lang="en-US" dirty="0"/>
                        <a:t>Feature</a:t>
                      </a:r>
                    </a:p>
                  </a:txBody>
                  <a:tcPr/>
                </a:tc>
                <a:tc>
                  <a:txBody>
                    <a:bodyPr/>
                    <a:lstStyle/>
                    <a:p>
                      <a:r>
                        <a:rPr lang="en-US" dirty="0"/>
                        <a:t>Linear Models</a:t>
                      </a:r>
                    </a:p>
                  </a:txBody>
                  <a:tcPr/>
                </a:tc>
                <a:tc>
                  <a:txBody>
                    <a:bodyPr/>
                    <a:lstStyle/>
                    <a:p>
                      <a:r>
                        <a:rPr lang="en-US" dirty="0"/>
                        <a:t>Nonlinear Models</a:t>
                      </a:r>
                    </a:p>
                  </a:txBody>
                  <a:tcPr/>
                </a:tc>
                <a:tc>
                  <a:txBody>
                    <a:bodyPr/>
                    <a:lstStyle/>
                    <a:p>
                      <a:r>
                        <a:rPr lang="en-US" dirty="0"/>
                        <a:t>Differential Equations</a:t>
                      </a:r>
                    </a:p>
                  </a:txBody>
                  <a:tcPr/>
                </a:tc>
                <a:extLst>
                  <a:ext uri="{0D108BD9-81ED-4DB2-BD59-A6C34878D82A}">
                    <a16:rowId xmlns:a16="http://schemas.microsoft.com/office/drawing/2014/main" val="1356946917"/>
                  </a:ext>
                </a:extLst>
              </a:tr>
              <a:tr h="755190">
                <a:tc>
                  <a:txBody>
                    <a:bodyPr/>
                    <a:lstStyle/>
                    <a:p>
                      <a:r>
                        <a:rPr lang="en-US" dirty="0"/>
                        <a:t>Simplicity</a:t>
                      </a:r>
                    </a:p>
                  </a:txBody>
                  <a:tcPr/>
                </a:tc>
                <a:tc>
                  <a:txBody>
                    <a:bodyPr/>
                    <a:lstStyle/>
                    <a:p>
                      <a:r>
                        <a:rPr lang="en-US" dirty="0"/>
                        <a:t>High</a:t>
                      </a:r>
                    </a:p>
                  </a:txBody>
                  <a:tcPr/>
                </a:tc>
                <a:tc>
                  <a:txBody>
                    <a:bodyPr/>
                    <a:lstStyle/>
                    <a:p>
                      <a:r>
                        <a:rPr lang="en-US" dirty="0"/>
                        <a:t>Low</a:t>
                      </a:r>
                    </a:p>
                  </a:txBody>
                  <a:tcPr/>
                </a:tc>
                <a:tc>
                  <a:txBody>
                    <a:bodyPr/>
                    <a:lstStyle/>
                    <a:p>
                      <a:r>
                        <a:rPr lang="en-US" dirty="0"/>
                        <a:t>Varies</a:t>
                      </a:r>
                    </a:p>
                  </a:txBody>
                  <a:tcPr/>
                </a:tc>
                <a:extLst>
                  <a:ext uri="{0D108BD9-81ED-4DB2-BD59-A6C34878D82A}">
                    <a16:rowId xmlns:a16="http://schemas.microsoft.com/office/drawing/2014/main" val="2199548019"/>
                  </a:ext>
                </a:extLst>
              </a:tr>
              <a:tr h="755190">
                <a:tc>
                  <a:txBody>
                    <a:bodyPr/>
                    <a:lstStyle/>
                    <a:p>
                      <a:r>
                        <a:rPr lang="en-US" dirty="0"/>
                        <a:t>Realism</a:t>
                      </a:r>
                    </a:p>
                  </a:txBody>
                  <a:tcPr/>
                </a:tc>
                <a:tc>
                  <a:txBody>
                    <a:bodyPr/>
                    <a:lstStyle/>
                    <a:p>
                      <a:r>
                        <a:rPr lang="en-US" dirty="0"/>
                        <a:t>Moderate</a:t>
                      </a:r>
                    </a:p>
                  </a:txBody>
                  <a:tcPr/>
                </a:tc>
                <a:tc>
                  <a:txBody>
                    <a:bodyPr/>
                    <a:lstStyle/>
                    <a:p>
                      <a:r>
                        <a:rPr lang="en-US" dirty="0"/>
                        <a:t>High</a:t>
                      </a:r>
                    </a:p>
                  </a:txBody>
                  <a:tcPr/>
                </a:tc>
                <a:tc>
                  <a:txBody>
                    <a:bodyPr/>
                    <a:lstStyle/>
                    <a:p>
                      <a:r>
                        <a:rPr lang="en-US" dirty="0"/>
                        <a:t>High</a:t>
                      </a:r>
                    </a:p>
                  </a:txBody>
                  <a:tcPr/>
                </a:tc>
                <a:extLst>
                  <a:ext uri="{0D108BD9-81ED-4DB2-BD59-A6C34878D82A}">
                    <a16:rowId xmlns:a16="http://schemas.microsoft.com/office/drawing/2014/main" val="3370400343"/>
                  </a:ext>
                </a:extLst>
              </a:tr>
              <a:tr h="1303475">
                <a:tc>
                  <a:txBody>
                    <a:bodyPr/>
                    <a:lstStyle/>
                    <a:p>
                      <a:r>
                        <a:rPr lang="en-US" dirty="0"/>
                        <a:t>Solution Methods</a:t>
                      </a:r>
                    </a:p>
                  </a:txBody>
                  <a:tcPr/>
                </a:tc>
                <a:tc>
                  <a:txBody>
                    <a:bodyPr/>
                    <a:lstStyle/>
                    <a:p>
                      <a:r>
                        <a:rPr lang="en-US" dirty="0"/>
                        <a:t>Analytical, Exact</a:t>
                      </a:r>
                    </a:p>
                  </a:txBody>
                  <a:tcPr/>
                </a:tc>
                <a:tc>
                  <a:txBody>
                    <a:bodyPr/>
                    <a:lstStyle/>
                    <a:p>
                      <a:r>
                        <a:rPr lang="en-US" dirty="0"/>
                        <a:t>Numerical, Approximate</a:t>
                      </a:r>
                    </a:p>
                  </a:txBody>
                  <a:tcPr/>
                </a:tc>
                <a:tc>
                  <a:txBody>
                    <a:bodyPr/>
                    <a:lstStyle/>
                    <a:p>
                      <a:r>
                        <a:rPr lang="en-US" dirty="0"/>
                        <a:t>Analytical or Numerical</a:t>
                      </a:r>
                    </a:p>
                  </a:txBody>
                  <a:tcPr/>
                </a:tc>
                <a:extLst>
                  <a:ext uri="{0D108BD9-81ED-4DB2-BD59-A6C34878D82A}">
                    <a16:rowId xmlns:a16="http://schemas.microsoft.com/office/drawing/2014/main" val="2207978573"/>
                  </a:ext>
                </a:extLst>
              </a:tr>
            </a:tbl>
          </a:graphicData>
        </a:graphic>
      </p:graphicFrame>
      <p:graphicFrame>
        <p:nvGraphicFramePr>
          <p:cNvPr id="5" name="Table 4">
            <a:extLst>
              <a:ext uri="{FF2B5EF4-FFF2-40B4-BE49-F238E27FC236}">
                <a16:creationId xmlns:a16="http://schemas.microsoft.com/office/drawing/2014/main" id="{F57E2E42-1B40-2562-CF10-EE73EF8E2B54}"/>
              </a:ext>
            </a:extLst>
          </p:cNvPr>
          <p:cNvGraphicFramePr>
            <a:graphicFrameLocks noGrp="1"/>
          </p:cNvGraphicFramePr>
          <p:nvPr>
            <p:extLst>
              <p:ext uri="{D42A27DB-BD31-4B8C-83A1-F6EECF244321}">
                <p14:modId xmlns:p14="http://schemas.microsoft.com/office/powerpoint/2010/main" val="1419979254"/>
              </p:ext>
            </p:extLst>
          </p:nvPr>
        </p:nvGraphicFramePr>
        <p:xfrm>
          <a:off x="677334" y="5334000"/>
          <a:ext cx="7872308" cy="914400"/>
        </p:xfrm>
        <a:graphic>
          <a:graphicData uri="http://schemas.openxmlformats.org/drawingml/2006/table">
            <a:tbl>
              <a:tblPr firstRow="1" bandRow="1">
                <a:tableStyleId>{5C22544A-7EE6-4342-B048-85BDC9FD1C3A}</a:tableStyleId>
              </a:tblPr>
              <a:tblGrid>
                <a:gridCol w="1968077">
                  <a:extLst>
                    <a:ext uri="{9D8B030D-6E8A-4147-A177-3AD203B41FA5}">
                      <a16:colId xmlns:a16="http://schemas.microsoft.com/office/drawing/2014/main" val="678598253"/>
                    </a:ext>
                  </a:extLst>
                </a:gridCol>
                <a:gridCol w="1968077">
                  <a:extLst>
                    <a:ext uri="{9D8B030D-6E8A-4147-A177-3AD203B41FA5}">
                      <a16:colId xmlns:a16="http://schemas.microsoft.com/office/drawing/2014/main" val="375369150"/>
                    </a:ext>
                  </a:extLst>
                </a:gridCol>
                <a:gridCol w="1968077">
                  <a:extLst>
                    <a:ext uri="{9D8B030D-6E8A-4147-A177-3AD203B41FA5}">
                      <a16:colId xmlns:a16="http://schemas.microsoft.com/office/drawing/2014/main" val="4050828127"/>
                    </a:ext>
                  </a:extLst>
                </a:gridCol>
                <a:gridCol w="1968077">
                  <a:extLst>
                    <a:ext uri="{9D8B030D-6E8A-4147-A177-3AD203B41FA5}">
                      <a16:colId xmlns:a16="http://schemas.microsoft.com/office/drawing/2014/main" val="2140000577"/>
                    </a:ext>
                  </a:extLst>
                </a:gridCol>
              </a:tblGrid>
              <a:tr h="647700">
                <a:tc>
                  <a:txBody>
                    <a:bodyPr/>
                    <a:lstStyle/>
                    <a:p>
                      <a:r>
                        <a:rPr lang="en-US" dirty="0"/>
                        <a:t>Overall</a:t>
                      </a:r>
                    </a:p>
                  </a:txBody>
                  <a:tcPr/>
                </a:tc>
                <a:tc>
                  <a:txBody>
                    <a:bodyPr/>
                    <a:lstStyle/>
                    <a:p>
                      <a:r>
                        <a:rPr lang="en-US" dirty="0"/>
                        <a:t>Simple, easy to solve, but less realistic.</a:t>
                      </a:r>
                    </a:p>
                  </a:txBody>
                  <a:tcPr/>
                </a:tc>
                <a:tc>
                  <a:txBody>
                    <a:bodyPr/>
                    <a:lstStyle/>
                    <a:p>
                      <a:r>
                        <a:rPr lang="en-US" dirty="0"/>
                        <a:t>Complex, realistic, but harder to solve</a:t>
                      </a:r>
                    </a:p>
                  </a:txBody>
                  <a:tcPr/>
                </a:tc>
                <a:tc>
                  <a:txBody>
                    <a:bodyPr/>
                    <a:lstStyle/>
                    <a:p>
                      <a:r>
                        <a:rPr lang="en-US" dirty="0"/>
                        <a:t>Versatile, used for continuous changes</a:t>
                      </a:r>
                    </a:p>
                  </a:txBody>
                  <a:tcPr/>
                </a:tc>
                <a:extLst>
                  <a:ext uri="{0D108BD9-81ED-4DB2-BD59-A6C34878D82A}">
                    <a16:rowId xmlns:a16="http://schemas.microsoft.com/office/drawing/2014/main" val="535003802"/>
                  </a:ext>
                </a:extLst>
              </a:tr>
            </a:tbl>
          </a:graphicData>
        </a:graphic>
      </p:graphicFrame>
      <p:sp>
        <p:nvSpPr>
          <p:cNvPr id="3" name="Footer Placeholder 2">
            <a:extLst>
              <a:ext uri="{FF2B5EF4-FFF2-40B4-BE49-F238E27FC236}">
                <a16:creationId xmlns:a16="http://schemas.microsoft.com/office/drawing/2014/main" id="{0FB3E451-69BE-569E-9A9D-E0193FE2F5BA}"/>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769200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7F890-AFBA-E942-ED12-6214802ABC9F}"/>
              </a:ext>
            </a:extLst>
          </p:cNvPr>
          <p:cNvSpPr>
            <a:spLocks noGrp="1"/>
          </p:cNvSpPr>
          <p:nvPr>
            <p:ph type="title"/>
          </p:nvPr>
        </p:nvSpPr>
        <p:spPr/>
        <p:txBody>
          <a:bodyPr/>
          <a:lstStyle/>
          <a:p>
            <a:r>
              <a:rPr lang="en-US" dirty="0"/>
              <a:t>Partial Differ..</a:t>
            </a:r>
          </a:p>
        </p:txBody>
      </p:sp>
      <p:sp>
        <p:nvSpPr>
          <p:cNvPr id="3" name="Content Placeholder 2">
            <a:extLst>
              <a:ext uri="{FF2B5EF4-FFF2-40B4-BE49-F238E27FC236}">
                <a16:creationId xmlns:a16="http://schemas.microsoft.com/office/drawing/2014/main" id="{9A36E692-33EE-A200-CF0C-9928B72A8EC5}"/>
              </a:ext>
            </a:extLst>
          </p:cNvPr>
          <p:cNvSpPr>
            <a:spLocks noGrp="1"/>
          </p:cNvSpPr>
          <p:nvPr>
            <p:ph idx="1"/>
          </p:nvPr>
        </p:nvSpPr>
        <p:spPr/>
        <p:txBody>
          <a:bodyPr>
            <a:normAutofit/>
          </a:bodyPr>
          <a:lstStyle/>
          <a:p>
            <a:r>
              <a:rPr lang="en-US" dirty="0"/>
              <a:t>When more than one independent variable occurs in the differential equation, then the equation is said to be a </a:t>
            </a:r>
            <a:r>
              <a:rPr lang="en-US" dirty="0" err="1"/>
              <a:t>pde</a:t>
            </a:r>
            <a:r>
              <a:rPr lang="en-US" dirty="0"/>
              <a:t>.</a:t>
            </a:r>
          </a:p>
          <a:p>
            <a:r>
              <a:rPr lang="en-US" dirty="0" err="1"/>
              <a:t>Eg</a:t>
            </a:r>
            <a:r>
              <a:rPr lang="en-US" dirty="0"/>
              <a:t>: Equation of flow of heat in three-dimensional body. It consists of four independent variables ( three dimensions and time ) and one dependent variable ( temperature ).</a:t>
            </a:r>
          </a:p>
          <a:p>
            <a:r>
              <a:rPr lang="en-US" dirty="0"/>
              <a:t>Why we need it: </a:t>
            </a:r>
          </a:p>
          <a:p>
            <a:pPr marL="0" indent="0">
              <a:buNone/>
            </a:pPr>
            <a:r>
              <a:rPr lang="en-US" dirty="0"/>
              <a:t>1. Most physical and chemical process occurring in the nature involves rate of change, which requires differential equations to provide mathematical model.</a:t>
            </a:r>
          </a:p>
          <a:p>
            <a:pPr marL="0" indent="0">
              <a:buNone/>
            </a:pPr>
            <a:r>
              <a:rPr lang="en-US" dirty="0"/>
              <a:t>2. It can be used to understand general effects of growth trends as differential equations can represent a growth rate.</a:t>
            </a:r>
          </a:p>
        </p:txBody>
      </p:sp>
      <p:sp>
        <p:nvSpPr>
          <p:cNvPr id="4" name="Footer Placeholder 3">
            <a:extLst>
              <a:ext uri="{FF2B5EF4-FFF2-40B4-BE49-F238E27FC236}">
                <a16:creationId xmlns:a16="http://schemas.microsoft.com/office/drawing/2014/main" id="{64239FB2-DDB2-4802-00DD-605788FBB019}"/>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331889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868E9-BE82-2BC6-EC87-EE56F13277E5}"/>
              </a:ext>
            </a:extLst>
          </p:cNvPr>
          <p:cNvSpPr>
            <a:spLocks noGrp="1"/>
          </p:cNvSpPr>
          <p:nvPr>
            <p:ph type="title"/>
          </p:nvPr>
        </p:nvSpPr>
        <p:spPr/>
        <p:txBody>
          <a:bodyPr/>
          <a:lstStyle/>
          <a:p>
            <a:r>
              <a:rPr lang="en-US" b="1" dirty="0"/>
              <a:t>Applications of PDE Simulation</a:t>
            </a:r>
            <a:br>
              <a:rPr lang="en-US" b="1" dirty="0"/>
            </a:br>
            <a:endParaRPr lang="en-US" dirty="0"/>
          </a:p>
        </p:txBody>
      </p:sp>
      <p:sp>
        <p:nvSpPr>
          <p:cNvPr id="3" name="Content Placeholder 2">
            <a:extLst>
              <a:ext uri="{FF2B5EF4-FFF2-40B4-BE49-F238E27FC236}">
                <a16:creationId xmlns:a16="http://schemas.microsoft.com/office/drawing/2014/main" id="{33938FD8-145D-AD74-33CE-FB6FC6A75D9A}"/>
              </a:ext>
            </a:extLst>
          </p:cNvPr>
          <p:cNvSpPr>
            <a:spLocks noGrp="1"/>
          </p:cNvSpPr>
          <p:nvPr>
            <p:ph idx="1"/>
          </p:nvPr>
        </p:nvSpPr>
        <p:spPr/>
        <p:txBody>
          <a:bodyPr>
            <a:normAutofit fontScale="92500" lnSpcReduction="20000"/>
          </a:bodyPr>
          <a:lstStyle/>
          <a:p>
            <a:pPr>
              <a:buFont typeface="+mj-lt"/>
              <a:buAutoNum type="arabicPeriod"/>
            </a:pPr>
            <a:r>
              <a:rPr lang="en-US" b="1" dirty="0"/>
              <a:t>Engineering</a:t>
            </a:r>
            <a:r>
              <a:rPr lang="en-US" dirty="0"/>
              <a:t>:</a:t>
            </a:r>
          </a:p>
          <a:p>
            <a:pPr marL="742950" lvl="1" indent="-285750">
              <a:buFont typeface="+mj-lt"/>
              <a:buAutoNum type="arabicPeriod"/>
            </a:pPr>
            <a:r>
              <a:rPr lang="en-US" dirty="0"/>
              <a:t>Structural analysis (stress-strain relationships).</a:t>
            </a:r>
          </a:p>
          <a:p>
            <a:pPr marL="742950" lvl="1" indent="-285750">
              <a:buFont typeface="+mj-lt"/>
              <a:buAutoNum type="arabicPeriod"/>
            </a:pPr>
            <a:r>
              <a:rPr lang="en-US" dirty="0"/>
              <a:t>Heat transfer in mechanical systems.</a:t>
            </a:r>
          </a:p>
          <a:p>
            <a:pPr>
              <a:buFont typeface="+mj-lt"/>
              <a:buAutoNum type="arabicPeriod"/>
            </a:pPr>
            <a:r>
              <a:rPr lang="en-US" b="1" dirty="0"/>
              <a:t>Physics</a:t>
            </a:r>
            <a:r>
              <a:rPr lang="en-US" dirty="0"/>
              <a:t>:</a:t>
            </a:r>
          </a:p>
          <a:p>
            <a:pPr marL="742950" lvl="1" indent="-285750">
              <a:buFont typeface="+mj-lt"/>
              <a:buAutoNum type="arabicPeriod"/>
            </a:pPr>
            <a:r>
              <a:rPr lang="en-US" dirty="0"/>
              <a:t>Quantum mechanics (Schrödinger equation).</a:t>
            </a:r>
          </a:p>
          <a:p>
            <a:pPr marL="742950" lvl="1" indent="-285750">
              <a:buFont typeface="+mj-lt"/>
              <a:buAutoNum type="arabicPeriod"/>
            </a:pPr>
            <a:r>
              <a:rPr lang="en-US" dirty="0"/>
              <a:t>Electromagnetic wave propagation (Maxwell’s equations).</a:t>
            </a:r>
          </a:p>
          <a:p>
            <a:pPr>
              <a:buFont typeface="+mj-lt"/>
              <a:buAutoNum type="arabicPeriod"/>
            </a:pPr>
            <a:r>
              <a:rPr lang="en-US" b="1" dirty="0"/>
              <a:t>Environmental Science</a:t>
            </a:r>
            <a:r>
              <a:rPr lang="en-US" dirty="0"/>
              <a:t>:</a:t>
            </a:r>
          </a:p>
          <a:p>
            <a:pPr marL="742950" lvl="1" indent="-285750">
              <a:buFont typeface="+mj-lt"/>
              <a:buAutoNum type="arabicPeriod"/>
            </a:pPr>
            <a:r>
              <a:rPr lang="en-US" dirty="0"/>
              <a:t>Climate modeling.</a:t>
            </a:r>
          </a:p>
          <a:p>
            <a:pPr marL="742950" lvl="1" indent="-285750">
              <a:buFont typeface="+mj-lt"/>
              <a:buAutoNum type="arabicPeriod"/>
            </a:pPr>
            <a:r>
              <a:rPr lang="en-US" dirty="0"/>
              <a:t>Groundwater flow.</a:t>
            </a:r>
          </a:p>
          <a:p>
            <a:pPr>
              <a:buFont typeface="+mj-lt"/>
              <a:buAutoNum type="arabicPeriod"/>
            </a:pPr>
            <a:r>
              <a:rPr lang="en-US" b="1" dirty="0"/>
              <a:t>Biology</a:t>
            </a:r>
            <a:r>
              <a:rPr lang="en-US" dirty="0"/>
              <a:t>:</a:t>
            </a:r>
          </a:p>
          <a:p>
            <a:pPr marL="742950" lvl="1" indent="-285750">
              <a:buFont typeface="+mj-lt"/>
              <a:buAutoNum type="arabicPeriod"/>
            </a:pPr>
            <a:r>
              <a:rPr lang="en-US" dirty="0"/>
              <a:t>Reaction-diffusion systems for pattern formation.</a:t>
            </a:r>
          </a:p>
          <a:p>
            <a:pPr marL="742950" lvl="1" indent="-285750">
              <a:buFont typeface="+mj-lt"/>
              <a:buAutoNum type="arabicPeriod"/>
            </a:pPr>
            <a:r>
              <a:rPr lang="en-US" dirty="0"/>
              <a:t>Modeling the spread of diseases.</a:t>
            </a:r>
          </a:p>
          <a:p>
            <a:endParaRPr lang="en-US" dirty="0"/>
          </a:p>
        </p:txBody>
      </p:sp>
      <p:sp>
        <p:nvSpPr>
          <p:cNvPr id="4" name="Footer Placeholder 3">
            <a:extLst>
              <a:ext uri="{FF2B5EF4-FFF2-40B4-BE49-F238E27FC236}">
                <a16:creationId xmlns:a16="http://schemas.microsoft.com/office/drawing/2014/main" id="{D3330FE3-7273-1FF6-1C7C-1E02EB8DC377}"/>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558399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32D86-6C8D-2E32-D0A4-2F9FDD55E02C}"/>
              </a:ext>
            </a:extLst>
          </p:cNvPr>
          <p:cNvSpPr>
            <a:spLocks noGrp="1"/>
          </p:cNvSpPr>
          <p:nvPr>
            <p:ph type="title"/>
          </p:nvPr>
        </p:nvSpPr>
        <p:spPr/>
        <p:txBody>
          <a:bodyPr/>
          <a:lstStyle/>
          <a:p>
            <a:r>
              <a:rPr lang="en-US" dirty="0"/>
              <a:t>Analog Computers</a:t>
            </a:r>
          </a:p>
        </p:txBody>
      </p:sp>
      <p:sp>
        <p:nvSpPr>
          <p:cNvPr id="3" name="Content Placeholder 2">
            <a:extLst>
              <a:ext uri="{FF2B5EF4-FFF2-40B4-BE49-F238E27FC236}">
                <a16:creationId xmlns:a16="http://schemas.microsoft.com/office/drawing/2014/main" id="{BCFB447D-E2BF-3F22-3F72-BA8F27389C37}"/>
              </a:ext>
            </a:extLst>
          </p:cNvPr>
          <p:cNvSpPr>
            <a:spLocks noGrp="1"/>
          </p:cNvSpPr>
          <p:nvPr>
            <p:ph idx="1"/>
          </p:nvPr>
        </p:nvSpPr>
        <p:spPr>
          <a:xfrm>
            <a:off x="677334" y="1930401"/>
            <a:ext cx="9655386" cy="4718050"/>
          </a:xfrm>
        </p:spPr>
        <p:txBody>
          <a:bodyPr>
            <a:normAutofit fontScale="92500" lnSpcReduction="10000"/>
          </a:bodyPr>
          <a:lstStyle/>
          <a:p>
            <a:r>
              <a:rPr lang="en-US" dirty="0"/>
              <a:t>Analog computers are those computers that are unified with devices like adder and integral so as to simulate the continuous mathematical model of the system, which generates continuous outputs.</a:t>
            </a:r>
          </a:p>
          <a:p>
            <a:r>
              <a:rPr lang="en-US" dirty="0"/>
              <a:t>The electronic analog computer based on the use of high gain dc amplifiers are widely used analog computer.</a:t>
            </a:r>
          </a:p>
          <a:p>
            <a:r>
              <a:rPr lang="en-US" dirty="0"/>
              <a:t>In such analog computer, voltages are equated to mathematical variables and the op amps can add and integrate the voltages.</a:t>
            </a:r>
          </a:p>
          <a:p>
            <a:r>
              <a:rPr lang="en-US" dirty="0"/>
              <a:t>The proper configurations can handle addition of several input voltages each representing the input variables.</a:t>
            </a:r>
          </a:p>
          <a:p>
            <a:r>
              <a:rPr lang="en-US" dirty="0"/>
              <a:t>The </a:t>
            </a:r>
            <a:r>
              <a:rPr lang="en-US" b="1" dirty="0"/>
              <a:t>coefficient</a:t>
            </a:r>
            <a:r>
              <a:rPr lang="en-US" dirty="0"/>
              <a:t> of the model equations are obtained by using the scale factors.</a:t>
            </a:r>
          </a:p>
          <a:p>
            <a:r>
              <a:rPr lang="en-US" dirty="0"/>
              <a:t>The circuit can be arranged to produce integrator that provides integral w.r.t time of a single input voltage or sum of input voltages.</a:t>
            </a:r>
          </a:p>
          <a:p>
            <a:r>
              <a:rPr lang="en-US" b="1" dirty="0"/>
              <a:t>Sign inverter </a:t>
            </a:r>
            <a:r>
              <a:rPr lang="en-US" dirty="0"/>
              <a:t>is used to reverse the sign of the input as per the requirement of the model equation.</a:t>
            </a:r>
          </a:p>
          <a:p>
            <a:r>
              <a:rPr lang="en-US" dirty="0"/>
              <a:t>The analog computer provides limited accuracy because op amps have many assumptions which can never be true in reality.</a:t>
            </a:r>
          </a:p>
        </p:txBody>
      </p:sp>
      <p:sp>
        <p:nvSpPr>
          <p:cNvPr id="4" name="Footer Placeholder 3">
            <a:extLst>
              <a:ext uri="{FF2B5EF4-FFF2-40B4-BE49-F238E27FC236}">
                <a16:creationId xmlns:a16="http://schemas.microsoft.com/office/drawing/2014/main" id="{C2A0A903-1055-169D-DBBB-EA90B3722FFA}"/>
              </a:ext>
            </a:extLst>
          </p:cNvPr>
          <p:cNvSpPr>
            <a:spLocks noGrp="1"/>
          </p:cNvSpPr>
          <p:nvPr>
            <p:ph type="ftr" sz="quarter" idx="11"/>
          </p:nvPr>
        </p:nvSpPr>
        <p:spPr>
          <a:xfrm>
            <a:off x="883074" y="6579871"/>
            <a:ext cx="6297612" cy="365125"/>
          </a:xfrm>
        </p:spPr>
        <p:txBody>
          <a:bodyPr/>
          <a:lstStyle/>
          <a:p>
            <a:r>
              <a:rPr lang="nb-NO" dirty="0"/>
              <a:t>kapil@nast.edu.np  || kapilpant157</a:t>
            </a:r>
            <a:endParaRPr lang="en-US" dirty="0"/>
          </a:p>
        </p:txBody>
      </p:sp>
    </p:spTree>
    <p:extLst>
      <p:ext uri="{BB962C8B-B14F-4D97-AF65-F5344CB8AC3E}">
        <p14:creationId xmlns:p14="http://schemas.microsoft.com/office/powerpoint/2010/main" val="3960988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73721-CBFD-F615-0CCE-63BBCE096D71}"/>
              </a:ext>
            </a:extLst>
          </p:cNvPr>
          <p:cNvSpPr>
            <a:spLocks noGrp="1"/>
          </p:cNvSpPr>
          <p:nvPr>
            <p:ph type="title"/>
          </p:nvPr>
        </p:nvSpPr>
        <p:spPr/>
        <p:txBody>
          <a:bodyPr/>
          <a:lstStyle/>
          <a:p>
            <a:r>
              <a:rPr lang="en-US" dirty="0"/>
              <a:t>Analog Computers</a:t>
            </a:r>
          </a:p>
        </p:txBody>
      </p:sp>
      <p:sp>
        <p:nvSpPr>
          <p:cNvPr id="3" name="Content Placeholder 2">
            <a:extLst>
              <a:ext uri="{FF2B5EF4-FFF2-40B4-BE49-F238E27FC236}">
                <a16:creationId xmlns:a16="http://schemas.microsoft.com/office/drawing/2014/main" id="{D16E6EE6-1FF8-B9FD-8F4D-CD77E7065F41}"/>
              </a:ext>
            </a:extLst>
          </p:cNvPr>
          <p:cNvSpPr>
            <a:spLocks noGrp="1"/>
          </p:cNvSpPr>
          <p:nvPr>
            <p:ph idx="1"/>
          </p:nvPr>
        </p:nvSpPr>
        <p:spPr>
          <a:xfrm>
            <a:off x="677334" y="2160589"/>
            <a:ext cx="8852746" cy="3880773"/>
          </a:xfrm>
        </p:spPr>
        <p:txBody>
          <a:bodyPr>
            <a:normAutofit/>
          </a:bodyPr>
          <a:lstStyle/>
          <a:p>
            <a:pPr marL="0" indent="0">
              <a:buNone/>
            </a:pPr>
            <a:r>
              <a:rPr lang="en-US" dirty="0"/>
              <a:t>These are computational devices that process continuous data and uses continuous physical phenomena to model and solve problems</a:t>
            </a:r>
          </a:p>
          <a:p>
            <a:r>
              <a:rPr lang="en-US" dirty="0"/>
              <a:t>Analog computers use physical quantities such as electrical voltages, fluid levels, or mechanical movements to represent information and solve problems</a:t>
            </a:r>
          </a:p>
          <a:p>
            <a:pPr marL="0" indent="0">
              <a:buNone/>
            </a:pPr>
            <a:r>
              <a:rPr lang="en-US" b="1" dirty="0"/>
              <a:t>Applications:</a:t>
            </a:r>
          </a:p>
          <a:p>
            <a:pPr marL="0" indent="0">
              <a:buNone/>
            </a:pPr>
            <a:r>
              <a:rPr lang="en-US" dirty="0"/>
              <a:t>	Weather prediction, Control systems, Signal processing</a:t>
            </a:r>
          </a:p>
          <a:p>
            <a:r>
              <a:rPr lang="en-US" dirty="0"/>
              <a:t>Advantages:</a:t>
            </a:r>
          </a:p>
          <a:p>
            <a:pPr marL="0" indent="0">
              <a:buNone/>
            </a:pPr>
            <a:r>
              <a:rPr lang="en-US" dirty="0"/>
              <a:t>	Real-time operation(more natural), High-speed computation for specific tasks</a:t>
            </a:r>
          </a:p>
          <a:p>
            <a:r>
              <a:rPr lang="en-US" dirty="0"/>
              <a:t>Limitations:</a:t>
            </a:r>
          </a:p>
          <a:p>
            <a:pPr marL="0" indent="0">
              <a:buNone/>
            </a:pPr>
            <a:r>
              <a:rPr lang="en-US" dirty="0"/>
              <a:t>	Lack of precision, Difficult to program and maintain</a:t>
            </a:r>
          </a:p>
          <a:p>
            <a:endParaRPr lang="en-US" dirty="0"/>
          </a:p>
        </p:txBody>
      </p:sp>
      <p:sp>
        <p:nvSpPr>
          <p:cNvPr id="4" name="Footer Placeholder 3">
            <a:extLst>
              <a:ext uri="{FF2B5EF4-FFF2-40B4-BE49-F238E27FC236}">
                <a16:creationId xmlns:a16="http://schemas.microsoft.com/office/drawing/2014/main" id="{886AC108-7C0A-7955-4195-21C867F0858B}"/>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42466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6A08D-99BA-C21D-180F-DDFC7AAA1B3D}"/>
              </a:ext>
            </a:extLst>
          </p:cNvPr>
          <p:cNvSpPr>
            <a:spLocks noGrp="1"/>
          </p:cNvSpPr>
          <p:nvPr>
            <p:ph type="title"/>
          </p:nvPr>
        </p:nvSpPr>
        <p:spPr/>
        <p:txBody>
          <a:bodyPr/>
          <a:lstStyle/>
          <a:p>
            <a:r>
              <a:rPr lang="en-US" dirty="0"/>
              <a:t>Components of Analog Computers</a:t>
            </a:r>
          </a:p>
        </p:txBody>
      </p:sp>
      <p:sp>
        <p:nvSpPr>
          <p:cNvPr id="3" name="Content Placeholder 2">
            <a:extLst>
              <a:ext uri="{FF2B5EF4-FFF2-40B4-BE49-F238E27FC236}">
                <a16:creationId xmlns:a16="http://schemas.microsoft.com/office/drawing/2014/main" id="{3522BD2C-3CF1-F363-BF90-061FD2B7F103}"/>
              </a:ext>
            </a:extLst>
          </p:cNvPr>
          <p:cNvSpPr>
            <a:spLocks noGrp="1"/>
          </p:cNvSpPr>
          <p:nvPr>
            <p:ph idx="1"/>
          </p:nvPr>
        </p:nvSpPr>
        <p:spPr/>
        <p:txBody>
          <a:bodyPr>
            <a:normAutofit/>
          </a:bodyPr>
          <a:lstStyle/>
          <a:p>
            <a:r>
              <a:rPr lang="en-US" sz="2000" dirty="0"/>
              <a:t>Key Components:</a:t>
            </a:r>
          </a:p>
          <a:p>
            <a:pPr lvl="1"/>
            <a:r>
              <a:rPr lang="en-US" sz="1800" dirty="0"/>
              <a:t>Amplifiers: Boost signal strength</a:t>
            </a:r>
          </a:p>
          <a:p>
            <a:pPr lvl="1"/>
            <a:r>
              <a:rPr lang="en-US" sz="1800" dirty="0"/>
              <a:t>Integrators and Differentiators: Perform calculus operations</a:t>
            </a:r>
          </a:p>
          <a:p>
            <a:pPr lvl="1"/>
            <a:r>
              <a:rPr lang="en-US" sz="1800" dirty="0"/>
              <a:t>Potentiometers: Adjust voltage levels</a:t>
            </a:r>
          </a:p>
          <a:p>
            <a:pPr lvl="1"/>
            <a:r>
              <a:rPr lang="en-US" sz="1800" dirty="0"/>
              <a:t>Analog Multipliers: Perform mathematical multiplication</a:t>
            </a:r>
          </a:p>
          <a:p>
            <a:pPr lvl="1"/>
            <a:r>
              <a:rPr lang="en-US" sz="1800" dirty="0"/>
              <a:t>Function Generators: Generate waveforms</a:t>
            </a:r>
          </a:p>
          <a:p>
            <a:pPr lvl="1"/>
            <a:r>
              <a:rPr lang="en-US" sz="1800"/>
              <a:t>Oscilloscopes</a:t>
            </a:r>
            <a:r>
              <a:rPr lang="en-US" sz="1800" dirty="0"/>
              <a:t>: Visualize output</a:t>
            </a:r>
          </a:p>
        </p:txBody>
      </p:sp>
      <p:sp>
        <p:nvSpPr>
          <p:cNvPr id="4" name="Footer Placeholder 3">
            <a:extLst>
              <a:ext uri="{FF2B5EF4-FFF2-40B4-BE49-F238E27FC236}">
                <a16:creationId xmlns:a16="http://schemas.microsoft.com/office/drawing/2014/main" id="{D5769CCD-E09E-427C-9196-B875B79FB320}"/>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329337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03D94-D9B0-A03C-1614-C8BC6A3065D4}"/>
              </a:ext>
            </a:extLst>
          </p:cNvPr>
          <p:cNvSpPr>
            <a:spLocks noGrp="1"/>
          </p:cNvSpPr>
          <p:nvPr>
            <p:ph type="title"/>
          </p:nvPr>
        </p:nvSpPr>
        <p:spPr/>
        <p:txBody>
          <a:bodyPr/>
          <a:lstStyle/>
          <a:p>
            <a:r>
              <a:rPr lang="en-US" dirty="0"/>
              <a:t>Analog methods</a:t>
            </a:r>
          </a:p>
        </p:txBody>
      </p:sp>
      <p:sp>
        <p:nvSpPr>
          <p:cNvPr id="3" name="Content Placeholder 2">
            <a:extLst>
              <a:ext uri="{FF2B5EF4-FFF2-40B4-BE49-F238E27FC236}">
                <a16:creationId xmlns:a16="http://schemas.microsoft.com/office/drawing/2014/main" id="{94EAF23D-FDA4-C512-EDCB-2258805D4D0C}"/>
              </a:ext>
            </a:extLst>
          </p:cNvPr>
          <p:cNvSpPr>
            <a:spLocks noGrp="1"/>
          </p:cNvSpPr>
          <p:nvPr>
            <p:ph idx="1"/>
          </p:nvPr>
        </p:nvSpPr>
        <p:spPr/>
        <p:txBody>
          <a:bodyPr>
            <a:normAutofit lnSpcReduction="10000"/>
          </a:bodyPr>
          <a:lstStyle/>
          <a:p>
            <a:r>
              <a:rPr lang="en-US" dirty="0"/>
              <a:t>Techniques Used:</a:t>
            </a:r>
          </a:p>
          <a:p>
            <a:pPr lvl="1"/>
            <a:r>
              <a:rPr lang="en-US" dirty="0"/>
              <a:t>Voltage-based computations</a:t>
            </a:r>
          </a:p>
          <a:p>
            <a:pPr lvl="1"/>
            <a:r>
              <a:rPr lang="en-US" dirty="0"/>
              <a:t>Mechanical models (gears, levers)</a:t>
            </a:r>
          </a:p>
          <a:p>
            <a:pPr lvl="1"/>
            <a:r>
              <a:rPr lang="en-US" dirty="0"/>
              <a:t>Hydraulic models (fluid flow)</a:t>
            </a:r>
          </a:p>
          <a:p>
            <a:pPr lvl="1"/>
            <a:r>
              <a:rPr lang="en-US" dirty="0"/>
              <a:t>Thermal systems</a:t>
            </a:r>
          </a:p>
          <a:p>
            <a:endParaRPr lang="en-US" dirty="0"/>
          </a:p>
          <a:p>
            <a:r>
              <a:rPr lang="en-US" dirty="0"/>
              <a:t>Common Operations:</a:t>
            </a:r>
          </a:p>
          <a:p>
            <a:pPr lvl="1"/>
            <a:r>
              <a:rPr lang="en-US" dirty="0"/>
              <a:t>Integration</a:t>
            </a:r>
          </a:p>
          <a:p>
            <a:pPr lvl="1"/>
            <a:r>
              <a:rPr lang="en-US" dirty="0"/>
              <a:t>Differentiation</a:t>
            </a:r>
          </a:p>
          <a:p>
            <a:pPr lvl="1"/>
            <a:r>
              <a:rPr lang="en-US" dirty="0"/>
              <a:t>Addition, Subtraction</a:t>
            </a:r>
          </a:p>
          <a:p>
            <a:pPr lvl="1"/>
            <a:r>
              <a:rPr lang="en-US" dirty="0"/>
              <a:t>Multiplication, Division</a:t>
            </a:r>
          </a:p>
          <a:p>
            <a:endParaRPr lang="en-US" dirty="0"/>
          </a:p>
        </p:txBody>
      </p:sp>
      <p:sp>
        <p:nvSpPr>
          <p:cNvPr id="4" name="Footer Placeholder 3">
            <a:extLst>
              <a:ext uri="{FF2B5EF4-FFF2-40B4-BE49-F238E27FC236}">
                <a16:creationId xmlns:a16="http://schemas.microsoft.com/office/drawing/2014/main" id="{3B75486F-3647-6AF4-33C5-48ED75CDAD6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95799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0742-1730-B5F6-E7B3-E2C66CF3854D}"/>
              </a:ext>
            </a:extLst>
          </p:cNvPr>
          <p:cNvSpPr>
            <a:spLocks noGrp="1"/>
          </p:cNvSpPr>
          <p:nvPr>
            <p:ph type="title"/>
          </p:nvPr>
        </p:nvSpPr>
        <p:spPr/>
        <p:txBody>
          <a:bodyPr/>
          <a:lstStyle/>
          <a:p>
            <a:r>
              <a:rPr lang="en-US" dirty="0"/>
              <a:t>Liver model</a:t>
            </a:r>
          </a:p>
        </p:txBody>
      </p:sp>
      <p:sp>
        <p:nvSpPr>
          <p:cNvPr id="3" name="Content Placeholder 2">
            <a:extLst>
              <a:ext uri="{FF2B5EF4-FFF2-40B4-BE49-F238E27FC236}">
                <a16:creationId xmlns:a16="http://schemas.microsoft.com/office/drawing/2014/main" id="{B6DB1383-71B8-4C68-1D30-89C10ADE6A99}"/>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B28BB5C5-7194-C5FA-3EA8-737F63B54FB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821782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A5E28-C137-E2AB-5EAC-22E62F482178}"/>
              </a:ext>
            </a:extLst>
          </p:cNvPr>
          <p:cNvSpPr>
            <a:spLocks noGrp="1"/>
          </p:cNvSpPr>
          <p:nvPr>
            <p:ph type="title"/>
          </p:nvPr>
        </p:nvSpPr>
        <p:spPr/>
        <p:txBody>
          <a:bodyPr/>
          <a:lstStyle/>
          <a:p>
            <a:r>
              <a:rPr lang="en-US" dirty="0"/>
              <a:t>Automobile suspension</a:t>
            </a:r>
          </a:p>
        </p:txBody>
      </p:sp>
      <p:sp>
        <p:nvSpPr>
          <p:cNvPr id="3" name="Content Placeholder 2">
            <a:extLst>
              <a:ext uri="{FF2B5EF4-FFF2-40B4-BE49-F238E27FC236}">
                <a16:creationId xmlns:a16="http://schemas.microsoft.com/office/drawing/2014/main" id="{2BDD6A67-38E3-7BC1-1F4E-565D68804861}"/>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8AD6F331-703D-B989-F4F7-90DAA2C264AA}"/>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7265874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EB3DA-83D6-5C42-73FE-BA89EDDBF63A}"/>
              </a:ext>
            </a:extLst>
          </p:cNvPr>
          <p:cNvSpPr>
            <a:spLocks noGrp="1"/>
          </p:cNvSpPr>
          <p:nvPr>
            <p:ph type="title"/>
          </p:nvPr>
        </p:nvSpPr>
        <p:spPr/>
        <p:txBody>
          <a:bodyPr/>
          <a:lstStyle/>
          <a:p>
            <a:r>
              <a:rPr lang="en-US" dirty="0"/>
              <a:t>Hybrid Computers</a:t>
            </a:r>
          </a:p>
        </p:txBody>
      </p:sp>
      <p:sp>
        <p:nvSpPr>
          <p:cNvPr id="3" name="Content Placeholder 2">
            <a:extLst>
              <a:ext uri="{FF2B5EF4-FFF2-40B4-BE49-F238E27FC236}">
                <a16:creationId xmlns:a16="http://schemas.microsoft.com/office/drawing/2014/main" id="{9F04BEDF-3B09-BF5C-C70F-90CA79196F36}"/>
              </a:ext>
            </a:extLst>
          </p:cNvPr>
          <p:cNvSpPr>
            <a:spLocks noGrp="1"/>
          </p:cNvSpPr>
          <p:nvPr>
            <p:ph idx="1"/>
          </p:nvPr>
        </p:nvSpPr>
        <p:spPr/>
        <p:txBody>
          <a:bodyPr/>
          <a:lstStyle/>
          <a:p>
            <a:r>
              <a:rPr lang="en-US" dirty="0"/>
              <a:t>Definition:</a:t>
            </a:r>
          </a:p>
          <a:p>
            <a:pPr lvl="1"/>
            <a:r>
              <a:rPr lang="en-US" dirty="0"/>
              <a:t>Combines analog and digital computers</a:t>
            </a:r>
          </a:p>
          <a:p>
            <a:endParaRPr lang="en-US" dirty="0"/>
          </a:p>
          <a:p>
            <a:r>
              <a:rPr lang="en-US" dirty="0"/>
              <a:t>Applications:</a:t>
            </a:r>
          </a:p>
          <a:p>
            <a:pPr lvl="1"/>
            <a:r>
              <a:rPr lang="en-US" dirty="0"/>
              <a:t>Medical equipment (ECG, MRI systems), Industrial process control, Aircraft navigation systems</a:t>
            </a:r>
          </a:p>
          <a:p>
            <a:endParaRPr lang="en-US" dirty="0"/>
          </a:p>
          <a:p>
            <a:r>
              <a:rPr lang="en-US" dirty="0"/>
              <a:t>Features:</a:t>
            </a:r>
          </a:p>
          <a:p>
            <a:pPr lvl="1"/>
            <a:r>
              <a:rPr lang="en-US" dirty="0"/>
              <a:t>Analog units: computation-intensive tasks</a:t>
            </a:r>
          </a:p>
          <a:p>
            <a:pPr lvl="1"/>
            <a:r>
              <a:rPr lang="en-US" dirty="0"/>
              <a:t>Digital units: logic and storage</a:t>
            </a:r>
          </a:p>
        </p:txBody>
      </p:sp>
      <p:sp>
        <p:nvSpPr>
          <p:cNvPr id="4" name="Footer Placeholder 3">
            <a:extLst>
              <a:ext uri="{FF2B5EF4-FFF2-40B4-BE49-F238E27FC236}">
                <a16:creationId xmlns:a16="http://schemas.microsoft.com/office/drawing/2014/main" id="{CCE50CBA-78A1-5E4D-64F5-6AF2EDAA4DBF}"/>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987577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EBEB5-6734-72F7-DDA8-B7142484DF7E}"/>
              </a:ext>
            </a:extLst>
          </p:cNvPr>
          <p:cNvSpPr>
            <a:spLocks noGrp="1"/>
          </p:cNvSpPr>
          <p:nvPr>
            <p:ph type="title"/>
          </p:nvPr>
        </p:nvSpPr>
        <p:spPr/>
        <p:txBody>
          <a:bodyPr/>
          <a:lstStyle/>
          <a:p>
            <a:r>
              <a:rPr lang="en-US" dirty="0"/>
              <a:t>Digital Analog Simulator</a:t>
            </a:r>
          </a:p>
        </p:txBody>
      </p:sp>
      <p:sp>
        <p:nvSpPr>
          <p:cNvPr id="3" name="Content Placeholder 2">
            <a:extLst>
              <a:ext uri="{FF2B5EF4-FFF2-40B4-BE49-F238E27FC236}">
                <a16:creationId xmlns:a16="http://schemas.microsoft.com/office/drawing/2014/main" id="{E24A8AD9-F972-3A43-3358-AA87EF9B4DAA}"/>
              </a:ext>
            </a:extLst>
          </p:cNvPr>
          <p:cNvSpPr>
            <a:spLocks noGrp="1"/>
          </p:cNvSpPr>
          <p:nvPr>
            <p:ph idx="1"/>
          </p:nvPr>
        </p:nvSpPr>
        <p:spPr/>
        <p:txBody>
          <a:bodyPr/>
          <a:lstStyle/>
          <a:p>
            <a:pPr marL="0" indent="0">
              <a:buNone/>
            </a:pPr>
            <a:r>
              <a:rPr lang="en-US" dirty="0"/>
              <a:t>Uses digital computers to emulate analog processes.</a:t>
            </a:r>
          </a:p>
          <a:p>
            <a:pPr marL="0" indent="0">
              <a:buNone/>
            </a:pPr>
            <a:r>
              <a:rPr lang="en-US" dirty="0"/>
              <a:t>They emulate real-world processes or environments by combining </a:t>
            </a:r>
            <a:r>
              <a:rPr lang="en-US" b="1" dirty="0"/>
              <a:t>digital precision</a:t>
            </a:r>
            <a:r>
              <a:rPr lang="en-US" dirty="0"/>
              <a:t> and </a:t>
            </a:r>
            <a:r>
              <a:rPr lang="en-US" b="1" dirty="0"/>
              <a:t>analog realism</a:t>
            </a:r>
            <a:endParaRPr lang="en-US" dirty="0"/>
          </a:p>
          <a:p>
            <a:endParaRPr lang="en-US" dirty="0"/>
          </a:p>
          <a:p>
            <a:r>
              <a:rPr lang="en-US" dirty="0"/>
              <a:t>Advantages:</a:t>
            </a:r>
          </a:p>
          <a:p>
            <a:pPr lvl="1"/>
            <a:r>
              <a:rPr lang="en-US" dirty="0"/>
              <a:t>Cost-effective, Reproducible results, Flexible experimentation</a:t>
            </a:r>
          </a:p>
          <a:p>
            <a:endParaRPr lang="en-US" dirty="0"/>
          </a:p>
          <a:p>
            <a:r>
              <a:rPr lang="en-US" dirty="0"/>
              <a:t>Applications:</a:t>
            </a:r>
          </a:p>
          <a:p>
            <a:pPr lvl="1"/>
            <a:r>
              <a:rPr lang="en-US" dirty="0"/>
              <a:t>Robotics, Circuit design and testing, Education and training</a:t>
            </a:r>
          </a:p>
        </p:txBody>
      </p:sp>
      <p:sp>
        <p:nvSpPr>
          <p:cNvPr id="4" name="Footer Placeholder 3">
            <a:extLst>
              <a:ext uri="{FF2B5EF4-FFF2-40B4-BE49-F238E27FC236}">
                <a16:creationId xmlns:a16="http://schemas.microsoft.com/office/drawing/2014/main" id="{6393ED72-6836-D2B2-F3E0-A9E12AEE8FD8}"/>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0676204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06A1B-E545-5BB5-A50F-3421227D03C2}"/>
              </a:ext>
            </a:extLst>
          </p:cNvPr>
          <p:cNvSpPr>
            <a:spLocks noGrp="1"/>
          </p:cNvSpPr>
          <p:nvPr>
            <p:ph type="title"/>
          </p:nvPr>
        </p:nvSpPr>
        <p:spPr/>
        <p:txBody>
          <a:bodyPr/>
          <a:lstStyle/>
          <a:p>
            <a:r>
              <a:rPr lang="en-US" dirty="0"/>
              <a:t>Continuous System Simulation Language</a:t>
            </a:r>
            <a:br>
              <a:rPr lang="en-US" dirty="0"/>
            </a:br>
            <a:r>
              <a:rPr lang="en-US" dirty="0"/>
              <a:t>(CSSLs)</a:t>
            </a:r>
          </a:p>
        </p:txBody>
      </p:sp>
      <p:sp>
        <p:nvSpPr>
          <p:cNvPr id="3" name="Content Placeholder 2">
            <a:extLst>
              <a:ext uri="{FF2B5EF4-FFF2-40B4-BE49-F238E27FC236}">
                <a16:creationId xmlns:a16="http://schemas.microsoft.com/office/drawing/2014/main" id="{5C5821B2-D88F-3A5D-1FB2-7F4764CB07DE}"/>
              </a:ext>
            </a:extLst>
          </p:cNvPr>
          <p:cNvSpPr>
            <a:spLocks noGrp="1"/>
          </p:cNvSpPr>
          <p:nvPr>
            <p:ph idx="1"/>
          </p:nvPr>
        </p:nvSpPr>
        <p:spPr/>
        <p:txBody>
          <a:bodyPr/>
          <a:lstStyle/>
          <a:p>
            <a:pPr marL="0" indent="0">
              <a:buNone/>
            </a:pPr>
            <a:r>
              <a:rPr lang="en-US" dirty="0"/>
              <a:t>Definition: A high-level programming language designed to model and simulate continuous dynamic systems (e.g., those governed by differential equations).</a:t>
            </a:r>
          </a:p>
          <a:p>
            <a:pPr marL="0" indent="0">
              <a:buNone/>
            </a:pPr>
            <a:r>
              <a:rPr lang="en-US" b="1" dirty="0"/>
              <a:t>Key Features:</a:t>
            </a:r>
          </a:p>
          <a:p>
            <a:r>
              <a:rPr lang="en-US" dirty="0"/>
              <a:t>Focus on Continuous Systems: Models systems where variables evolve continuously over time.</a:t>
            </a:r>
          </a:p>
          <a:p>
            <a:r>
              <a:rPr lang="en-US" dirty="0"/>
              <a:t>Equation-Based Modeling: Uses differential equations to define system behavior.</a:t>
            </a:r>
          </a:p>
          <a:p>
            <a:r>
              <a:rPr lang="en-US" dirty="0"/>
              <a:t>Time-Based Simulation: Solves equations step by step over a continuous timeline.</a:t>
            </a:r>
          </a:p>
          <a:p>
            <a:r>
              <a:rPr lang="en-US" dirty="0"/>
              <a:t>User-Friendly Syntax: Simplifies the modeling of complex physical systems.</a:t>
            </a:r>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27CF16A6-41FB-3003-46CA-AD7441256B1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162432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C1EE7-0418-1F24-B57C-A9D61C4E36F8}"/>
              </a:ext>
            </a:extLst>
          </p:cNvPr>
          <p:cNvSpPr>
            <a:spLocks noGrp="1"/>
          </p:cNvSpPr>
          <p:nvPr>
            <p:ph type="title"/>
          </p:nvPr>
        </p:nvSpPr>
        <p:spPr/>
        <p:txBody>
          <a:bodyPr>
            <a:normAutofit fontScale="90000"/>
          </a:bodyPr>
          <a:lstStyle/>
          <a:p>
            <a:r>
              <a:rPr lang="en-US" b="1" dirty="0"/>
              <a:t>Applications, Advantages, and Limitations</a:t>
            </a:r>
            <a:br>
              <a:rPr lang="en-US" b="1" dirty="0"/>
            </a:br>
            <a:endParaRPr lang="en-US" dirty="0"/>
          </a:p>
        </p:txBody>
      </p:sp>
      <p:sp>
        <p:nvSpPr>
          <p:cNvPr id="3" name="Content Placeholder 2">
            <a:extLst>
              <a:ext uri="{FF2B5EF4-FFF2-40B4-BE49-F238E27FC236}">
                <a16:creationId xmlns:a16="http://schemas.microsoft.com/office/drawing/2014/main" id="{A4DFB15C-9819-AFB5-DD17-E07FBB10D72C}"/>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US" b="1" dirty="0"/>
              <a:t>Applications</a:t>
            </a:r>
            <a:r>
              <a:rPr lang="en-US" dirty="0"/>
              <a:t>:</a:t>
            </a:r>
          </a:p>
          <a:p>
            <a:pPr marL="742950" lvl="1" indent="-285750">
              <a:buFont typeface="Arial" panose="020B0604020202020204" pitchFamily="34" charset="0"/>
              <a:buChar char="•"/>
            </a:pPr>
            <a:r>
              <a:rPr lang="en-US" b="1" dirty="0"/>
              <a:t>Engineering Simulations</a:t>
            </a:r>
            <a:r>
              <a:rPr lang="en-US" dirty="0"/>
              <a:t>: Car suspension dynamics, fluid flow.</a:t>
            </a:r>
          </a:p>
          <a:p>
            <a:pPr marL="742950" lvl="1" indent="-285750">
              <a:buFont typeface="Arial" panose="020B0604020202020204" pitchFamily="34" charset="0"/>
              <a:buChar char="•"/>
            </a:pPr>
            <a:r>
              <a:rPr lang="en-US" b="1" dirty="0"/>
              <a:t>Control Systems</a:t>
            </a:r>
            <a:r>
              <a:rPr lang="en-US" dirty="0"/>
              <a:t>: Temperature control, process automation.</a:t>
            </a:r>
          </a:p>
          <a:p>
            <a:pPr marL="742950" lvl="1" indent="-285750">
              <a:buFont typeface="Arial" panose="020B0604020202020204" pitchFamily="34" charset="0"/>
              <a:buChar char="•"/>
            </a:pPr>
            <a:r>
              <a:rPr lang="en-US" b="1" dirty="0"/>
              <a:t>Environmental Modeling</a:t>
            </a:r>
            <a:r>
              <a:rPr lang="en-US" dirty="0"/>
              <a:t>: River flow, climate change.</a:t>
            </a:r>
          </a:p>
          <a:p>
            <a:pPr marL="742950" lvl="1" indent="-285750">
              <a:buFont typeface="Arial" panose="020B0604020202020204" pitchFamily="34" charset="0"/>
              <a:buChar char="•"/>
            </a:pPr>
            <a:r>
              <a:rPr lang="en-US" b="1" dirty="0"/>
              <a:t>Biomedical</a:t>
            </a:r>
            <a:r>
              <a:rPr lang="en-US" dirty="0"/>
              <a:t>: Human circulatory system modeling.</a:t>
            </a:r>
          </a:p>
          <a:p>
            <a:pPr>
              <a:buFont typeface="Arial" panose="020B0604020202020204" pitchFamily="34" charset="0"/>
              <a:buChar char="•"/>
            </a:pPr>
            <a:r>
              <a:rPr lang="en-US" b="1" dirty="0"/>
              <a:t>Advantages</a:t>
            </a:r>
            <a:r>
              <a:rPr lang="en-US" dirty="0"/>
              <a:t>:</a:t>
            </a:r>
          </a:p>
          <a:p>
            <a:pPr marL="742950" lvl="1" indent="-285750">
              <a:buFont typeface="Arial" panose="020B0604020202020204" pitchFamily="34" charset="0"/>
              <a:buChar char="•"/>
            </a:pPr>
            <a:r>
              <a:rPr lang="en-US" dirty="0"/>
              <a:t>Specialized for continuous systems, ensuring high accuracy.</a:t>
            </a:r>
          </a:p>
          <a:p>
            <a:pPr marL="742950" lvl="1" indent="-285750">
              <a:buFont typeface="Arial" panose="020B0604020202020204" pitchFamily="34" charset="0"/>
              <a:buChar char="•"/>
            </a:pPr>
            <a:r>
              <a:rPr lang="en-US" dirty="0"/>
              <a:t>Simplifies complex equations and offers versatility across domains.</a:t>
            </a:r>
          </a:p>
          <a:p>
            <a:pPr>
              <a:buFont typeface="Arial" panose="020B0604020202020204" pitchFamily="34" charset="0"/>
              <a:buChar char="•"/>
            </a:pPr>
            <a:r>
              <a:rPr lang="en-US" b="1" dirty="0"/>
              <a:t>Limitations</a:t>
            </a:r>
            <a:r>
              <a:rPr lang="en-US" dirty="0"/>
              <a:t>:</a:t>
            </a:r>
          </a:p>
          <a:p>
            <a:pPr marL="742950" lvl="1" indent="-285750">
              <a:buFont typeface="Arial" panose="020B0604020202020204" pitchFamily="34" charset="0"/>
              <a:buChar char="•"/>
            </a:pPr>
            <a:r>
              <a:rPr lang="en-US" dirty="0"/>
              <a:t>Requires knowledge of system dynamics and mathematical equations.</a:t>
            </a:r>
          </a:p>
          <a:p>
            <a:pPr marL="742950" lvl="1" indent="-285750">
              <a:buFont typeface="Arial" panose="020B0604020202020204" pitchFamily="34" charset="0"/>
              <a:buChar char="•"/>
            </a:pPr>
            <a:r>
              <a:rPr lang="en-US" dirty="0"/>
              <a:t>Computationally intensive for highly complex systems.</a:t>
            </a:r>
          </a:p>
          <a:p>
            <a:pPr>
              <a:buFont typeface="Arial" panose="020B0604020202020204" pitchFamily="34" charset="0"/>
              <a:buChar char="•"/>
            </a:pPr>
            <a:r>
              <a:rPr lang="en-US" b="1" dirty="0"/>
              <a:t>Tools</a:t>
            </a:r>
            <a:r>
              <a:rPr lang="en-US" dirty="0"/>
              <a:t>: </a:t>
            </a:r>
            <a:r>
              <a:rPr lang="en-US" b="1" dirty="0"/>
              <a:t>SIMSCRIPT</a:t>
            </a:r>
            <a:r>
              <a:rPr lang="en-US" dirty="0"/>
              <a:t>, </a:t>
            </a:r>
            <a:r>
              <a:rPr lang="en-US" b="1" dirty="0" err="1"/>
              <a:t>Modelica</a:t>
            </a:r>
            <a:r>
              <a:rPr lang="en-US" dirty="0"/>
              <a:t>, </a:t>
            </a:r>
            <a:r>
              <a:rPr lang="en-US" b="1" dirty="0"/>
              <a:t>DYNAMO</a:t>
            </a:r>
            <a:r>
              <a:rPr lang="en-US" dirty="0"/>
              <a:t>.</a:t>
            </a:r>
          </a:p>
          <a:p>
            <a:endParaRPr lang="en-US" dirty="0"/>
          </a:p>
        </p:txBody>
      </p:sp>
      <p:sp>
        <p:nvSpPr>
          <p:cNvPr id="4" name="Footer Placeholder 3">
            <a:extLst>
              <a:ext uri="{FF2B5EF4-FFF2-40B4-BE49-F238E27FC236}">
                <a16:creationId xmlns:a16="http://schemas.microsoft.com/office/drawing/2014/main" id="{3AF20784-77BA-3DA2-91A2-BDD461E4CD5D}"/>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5233831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21DAF-F1A6-7F54-130F-B69A998CBE70}"/>
              </a:ext>
            </a:extLst>
          </p:cNvPr>
          <p:cNvSpPr>
            <a:spLocks noGrp="1"/>
          </p:cNvSpPr>
          <p:nvPr>
            <p:ph type="title"/>
          </p:nvPr>
        </p:nvSpPr>
        <p:spPr/>
        <p:txBody>
          <a:bodyPr/>
          <a:lstStyle/>
          <a:p>
            <a:r>
              <a:rPr lang="en-US" dirty="0"/>
              <a:t>Continuous Simulation languages</a:t>
            </a:r>
          </a:p>
        </p:txBody>
      </p:sp>
      <p:sp>
        <p:nvSpPr>
          <p:cNvPr id="3" name="Content Placeholder 2">
            <a:extLst>
              <a:ext uri="{FF2B5EF4-FFF2-40B4-BE49-F238E27FC236}">
                <a16:creationId xmlns:a16="http://schemas.microsoft.com/office/drawing/2014/main" id="{C15EE8D5-47A3-B0C5-2ACA-2AC66DE81623}"/>
              </a:ext>
            </a:extLst>
          </p:cNvPr>
          <p:cNvSpPr>
            <a:spLocks noGrp="1"/>
          </p:cNvSpPr>
          <p:nvPr>
            <p:ph idx="1"/>
          </p:nvPr>
        </p:nvSpPr>
        <p:spPr/>
        <p:txBody>
          <a:bodyPr/>
          <a:lstStyle/>
          <a:p>
            <a:r>
              <a:rPr lang="en-US" dirty="0"/>
              <a:t>CSMP III</a:t>
            </a:r>
          </a:p>
          <a:p>
            <a:r>
              <a:rPr lang="en-US" dirty="0"/>
              <a:t>Advanced Continuous Simulation Language (ACSL):</a:t>
            </a:r>
          </a:p>
          <a:p>
            <a:pPr lvl="1"/>
            <a:r>
              <a:rPr lang="en-US" dirty="0"/>
              <a:t>Supports textual or graphical model specification.</a:t>
            </a:r>
          </a:p>
          <a:p>
            <a:r>
              <a:rPr lang="en-US" dirty="0"/>
              <a:t> </a:t>
            </a:r>
            <a:r>
              <a:rPr lang="en-US" dirty="0" err="1"/>
              <a:t>SimApp</a:t>
            </a:r>
            <a:r>
              <a:rPr lang="en-US" dirty="0"/>
              <a:t>:</a:t>
            </a:r>
          </a:p>
          <a:p>
            <a:pPr lvl="1"/>
            <a:r>
              <a:rPr lang="en-US" dirty="0"/>
              <a:t>Simple simulation of dynamic systems and control systems.</a:t>
            </a:r>
          </a:p>
          <a:p>
            <a:r>
              <a:rPr lang="en-US" dirty="0" err="1"/>
              <a:t>Simgua</a:t>
            </a:r>
            <a:r>
              <a:rPr lang="en-US" dirty="0"/>
              <a:t>:</a:t>
            </a:r>
          </a:p>
          <a:p>
            <a:pPr lvl="1"/>
            <a:r>
              <a:rPr lang="en-US" dirty="0"/>
              <a:t>A simulation toolbox and environment that supports Visual Basic.</a:t>
            </a:r>
          </a:p>
          <a:p>
            <a:r>
              <a:rPr lang="en-US" dirty="0" err="1"/>
              <a:t>VisSim</a:t>
            </a:r>
            <a:r>
              <a:rPr lang="en-US" dirty="0"/>
              <a:t>:</a:t>
            </a:r>
          </a:p>
          <a:p>
            <a:pPr lvl="1"/>
            <a:r>
              <a:rPr lang="en-US" dirty="0"/>
              <a:t>A visually programmed block diagram language.</a:t>
            </a:r>
          </a:p>
          <a:p>
            <a:endParaRPr lang="en-US" dirty="0"/>
          </a:p>
        </p:txBody>
      </p:sp>
      <p:sp>
        <p:nvSpPr>
          <p:cNvPr id="4" name="Footer Placeholder 3">
            <a:extLst>
              <a:ext uri="{FF2B5EF4-FFF2-40B4-BE49-F238E27FC236}">
                <a16:creationId xmlns:a16="http://schemas.microsoft.com/office/drawing/2014/main" id="{4944BECD-53DF-2653-0A74-7A760BBB82AF}"/>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4573479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4820C-7587-B30F-5802-FCE46FF9B681}"/>
              </a:ext>
            </a:extLst>
          </p:cNvPr>
          <p:cNvSpPr>
            <a:spLocks noGrp="1"/>
          </p:cNvSpPr>
          <p:nvPr>
            <p:ph type="title"/>
          </p:nvPr>
        </p:nvSpPr>
        <p:spPr/>
        <p:txBody>
          <a:bodyPr/>
          <a:lstStyle/>
          <a:p>
            <a:r>
              <a:rPr lang="en-US" dirty="0"/>
              <a:t>Some Discrete-Event Simulation Languages</a:t>
            </a:r>
          </a:p>
        </p:txBody>
      </p:sp>
      <p:sp>
        <p:nvSpPr>
          <p:cNvPr id="3" name="Content Placeholder 2">
            <a:extLst>
              <a:ext uri="{FF2B5EF4-FFF2-40B4-BE49-F238E27FC236}">
                <a16:creationId xmlns:a16="http://schemas.microsoft.com/office/drawing/2014/main" id="{1101BD20-BEDC-04A5-18FC-1A5C1A2229E1}"/>
              </a:ext>
            </a:extLst>
          </p:cNvPr>
          <p:cNvSpPr>
            <a:spLocks noGrp="1"/>
          </p:cNvSpPr>
          <p:nvPr>
            <p:ph idx="1"/>
          </p:nvPr>
        </p:nvSpPr>
        <p:spPr/>
        <p:txBody>
          <a:bodyPr>
            <a:normAutofit lnSpcReduction="10000"/>
          </a:bodyPr>
          <a:lstStyle/>
          <a:p>
            <a:r>
              <a:rPr lang="en-US" dirty="0"/>
              <a:t>GPSS</a:t>
            </a:r>
          </a:p>
          <a:p>
            <a:r>
              <a:rPr lang="en-US" dirty="0" err="1"/>
              <a:t>AutoMod</a:t>
            </a:r>
            <a:endParaRPr lang="en-US" dirty="0"/>
          </a:p>
          <a:p>
            <a:r>
              <a:rPr lang="en-US" dirty="0" err="1"/>
              <a:t>eM</a:t>
            </a:r>
            <a:r>
              <a:rPr lang="en-US" dirty="0"/>
              <a:t>-Plant</a:t>
            </a:r>
          </a:p>
          <a:p>
            <a:r>
              <a:rPr lang="en-US" dirty="0"/>
              <a:t>Rockwell Arena</a:t>
            </a:r>
          </a:p>
          <a:p>
            <a:r>
              <a:rPr lang="en-US" dirty="0"/>
              <a:t>GASP</a:t>
            </a:r>
          </a:p>
          <a:p>
            <a:r>
              <a:rPr lang="en-US" dirty="0" err="1"/>
              <a:t>SimPy</a:t>
            </a:r>
            <a:endParaRPr lang="en-US" dirty="0"/>
          </a:p>
          <a:p>
            <a:r>
              <a:rPr lang="en-US" dirty="0"/>
              <a:t>SIMSCRIPT II.5</a:t>
            </a:r>
          </a:p>
          <a:p>
            <a:r>
              <a:rPr lang="en-US" dirty="0"/>
              <a:t>Simula</a:t>
            </a:r>
          </a:p>
          <a:p>
            <a:r>
              <a:rPr lang="en-US" dirty="0"/>
              <a:t>Poses++</a:t>
            </a:r>
          </a:p>
          <a:p>
            <a:r>
              <a:rPr lang="en-US" dirty="0"/>
              <a:t>And many more……….</a:t>
            </a:r>
          </a:p>
          <a:p>
            <a:endParaRPr lang="en-US" dirty="0"/>
          </a:p>
        </p:txBody>
      </p:sp>
      <p:sp>
        <p:nvSpPr>
          <p:cNvPr id="4" name="Footer Placeholder 3">
            <a:extLst>
              <a:ext uri="{FF2B5EF4-FFF2-40B4-BE49-F238E27FC236}">
                <a16:creationId xmlns:a16="http://schemas.microsoft.com/office/drawing/2014/main" id="{3C312906-E1D4-12FF-7005-982619C98EE9}"/>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6165749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23D96-11C8-C2EB-D690-F2D8B08BF764}"/>
              </a:ext>
            </a:extLst>
          </p:cNvPr>
          <p:cNvSpPr>
            <a:spLocks noGrp="1"/>
          </p:cNvSpPr>
          <p:nvPr>
            <p:ph type="title"/>
          </p:nvPr>
        </p:nvSpPr>
        <p:spPr/>
        <p:txBody>
          <a:bodyPr/>
          <a:lstStyle/>
          <a:p>
            <a:r>
              <a:rPr lang="en-US" dirty="0"/>
              <a:t>Some Hybrid Simulation Languages</a:t>
            </a:r>
          </a:p>
        </p:txBody>
      </p:sp>
      <p:sp>
        <p:nvSpPr>
          <p:cNvPr id="3" name="Content Placeholder 2">
            <a:extLst>
              <a:ext uri="{FF2B5EF4-FFF2-40B4-BE49-F238E27FC236}">
                <a16:creationId xmlns:a16="http://schemas.microsoft.com/office/drawing/2014/main" id="{148C6108-35B5-706C-579B-36080AE0FECD}"/>
              </a:ext>
            </a:extLst>
          </p:cNvPr>
          <p:cNvSpPr>
            <a:spLocks noGrp="1"/>
          </p:cNvSpPr>
          <p:nvPr>
            <p:ph idx="1"/>
          </p:nvPr>
        </p:nvSpPr>
        <p:spPr/>
        <p:txBody>
          <a:bodyPr>
            <a:normAutofit/>
          </a:bodyPr>
          <a:lstStyle/>
          <a:p>
            <a:r>
              <a:rPr lang="en-US" dirty="0" err="1"/>
              <a:t>AnyLogic</a:t>
            </a:r>
            <a:r>
              <a:rPr lang="en-US" dirty="0"/>
              <a:t>:</a:t>
            </a:r>
          </a:p>
          <a:p>
            <a:pPr lvl="1"/>
            <a:r>
              <a:rPr lang="en-US" dirty="0"/>
              <a:t>Multi-method simulation tool, which supports System dynamics, Discrete event simulation, Agent-based modeling.</a:t>
            </a:r>
          </a:p>
          <a:p>
            <a:r>
              <a:rPr lang="en-US" dirty="0"/>
              <a:t>Simio:</a:t>
            </a:r>
          </a:p>
          <a:p>
            <a:pPr lvl="1"/>
            <a:r>
              <a:rPr lang="en-US" dirty="0"/>
              <a:t>A software for discrete-event, continuous, and agent-based simulation.</a:t>
            </a:r>
          </a:p>
          <a:p>
            <a:r>
              <a:rPr lang="en-US" dirty="0" err="1"/>
              <a:t>Modelica</a:t>
            </a:r>
            <a:r>
              <a:rPr lang="en-US" dirty="0"/>
              <a:t>:</a:t>
            </a:r>
          </a:p>
          <a:p>
            <a:pPr lvl="1"/>
            <a:r>
              <a:rPr lang="en-US" dirty="0"/>
              <a:t>An open-standard object-oriented language for modeling of complex physical systems.</a:t>
            </a:r>
          </a:p>
          <a:p>
            <a:r>
              <a:rPr lang="en-US" dirty="0"/>
              <a:t>Saber Simulator:</a:t>
            </a:r>
          </a:p>
          <a:p>
            <a:pPr lvl="1"/>
            <a:r>
              <a:rPr lang="en-US" dirty="0"/>
              <a:t>Simulates physical effects in different engineering domains (hydraulic, electronic, mechanical, thermal, etc.).</a:t>
            </a:r>
          </a:p>
          <a:p>
            <a:endParaRPr lang="en-US" dirty="0"/>
          </a:p>
        </p:txBody>
      </p:sp>
      <p:sp>
        <p:nvSpPr>
          <p:cNvPr id="4" name="Footer Placeholder 3">
            <a:extLst>
              <a:ext uri="{FF2B5EF4-FFF2-40B4-BE49-F238E27FC236}">
                <a16:creationId xmlns:a16="http://schemas.microsoft.com/office/drawing/2014/main" id="{B13C7316-0EAA-8C9F-B0EE-D88EEC581912}"/>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1539743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CD2BD-35EF-6686-4FD8-8B4FA250FCFA}"/>
              </a:ext>
            </a:extLst>
          </p:cNvPr>
          <p:cNvSpPr>
            <a:spLocks noGrp="1"/>
          </p:cNvSpPr>
          <p:nvPr>
            <p:ph type="title"/>
          </p:nvPr>
        </p:nvSpPr>
        <p:spPr/>
        <p:txBody>
          <a:bodyPr/>
          <a:lstStyle/>
          <a:p>
            <a:r>
              <a:rPr lang="en-US" dirty="0"/>
              <a:t>CSMP III</a:t>
            </a:r>
          </a:p>
        </p:txBody>
      </p:sp>
      <p:sp>
        <p:nvSpPr>
          <p:cNvPr id="3" name="Content Placeholder 2">
            <a:extLst>
              <a:ext uri="{FF2B5EF4-FFF2-40B4-BE49-F238E27FC236}">
                <a16:creationId xmlns:a16="http://schemas.microsoft.com/office/drawing/2014/main" id="{DEC2B6F8-D8AC-43CF-0744-1C13E085CEFE}"/>
              </a:ext>
            </a:extLst>
          </p:cNvPr>
          <p:cNvSpPr>
            <a:spLocks noGrp="1"/>
          </p:cNvSpPr>
          <p:nvPr>
            <p:ph idx="1"/>
          </p:nvPr>
        </p:nvSpPr>
        <p:spPr/>
        <p:txBody>
          <a:bodyPr/>
          <a:lstStyle/>
          <a:p>
            <a:pPr marL="0" indent="0">
              <a:buNone/>
            </a:pPr>
            <a:r>
              <a:rPr lang="en-US" dirty="0"/>
              <a:t>CSMP III is a powerful programming language for simulating continuous systems in engineering and scientific applications.</a:t>
            </a:r>
          </a:p>
          <a:p>
            <a:pPr marL="0" indent="0">
              <a:buNone/>
            </a:pPr>
            <a:r>
              <a:rPr lang="en-US" b="1" dirty="0"/>
              <a:t>Purpose: </a:t>
            </a:r>
          </a:p>
          <a:p>
            <a:pPr lvl="1"/>
            <a:r>
              <a:rPr lang="en-US" dirty="0"/>
              <a:t>It is designed for the simulation of systems involving continuous time, typically governed by differential equations.</a:t>
            </a:r>
          </a:p>
          <a:p>
            <a:pPr marL="0" indent="0">
              <a:buNone/>
            </a:pPr>
            <a:r>
              <a:rPr lang="en-US" b="1" dirty="0"/>
              <a:t>Key Features:</a:t>
            </a:r>
          </a:p>
          <a:p>
            <a:pPr lvl="1"/>
            <a:r>
              <a:rPr lang="en-US" dirty="0"/>
              <a:t>Language for modeling and simulating continuous systems.</a:t>
            </a:r>
          </a:p>
          <a:p>
            <a:pPr lvl="1"/>
            <a:r>
              <a:rPr lang="en-US" dirty="0"/>
              <a:t>Supports different modeling approaches for system analysis.</a:t>
            </a:r>
          </a:p>
          <a:p>
            <a:pPr lvl="1"/>
            <a:r>
              <a:rPr lang="en-US" dirty="0"/>
              <a:t>Includes a range of statements to define system components and behavior.</a:t>
            </a:r>
          </a:p>
          <a:p>
            <a:pPr lvl="1"/>
            <a:r>
              <a:rPr lang="en-US" dirty="0"/>
              <a:t>Structure, data, control, and hybrid statements; offer flexibility in system modeling and control</a:t>
            </a:r>
          </a:p>
          <a:p>
            <a:endParaRPr lang="en-US" dirty="0"/>
          </a:p>
        </p:txBody>
      </p:sp>
      <p:sp>
        <p:nvSpPr>
          <p:cNvPr id="4" name="Footer Placeholder 3">
            <a:extLst>
              <a:ext uri="{FF2B5EF4-FFF2-40B4-BE49-F238E27FC236}">
                <a16:creationId xmlns:a16="http://schemas.microsoft.com/office/drawing/2014/main" id="{BBCBC464-CEDA-D3E3-5591-56DBB30010BE}"/>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7028429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87CE6-1377-383F-906A-73AFA485E2CE}"/>
              </a:ext>
            </a:extLst>
          </p:cNvPr>
          <p:cNvSpPr>
            <a:spLocks noGrp="1"/>
          </p:cNvSpPr>
          <p:nvPr>
            <p:ph type="title"/>
          </p:nvPr>
        </p:nvSpPr>
        <p:spPr/>
        <p:txBody>
          <a:bodyPr/>
          <a:lstStyle/>
          <a:p>
            <a:r>
              <a:rPr lang="en-US" dirty="0"/>
              <a:t>CSMP III: Types of Statements</a:t>
            </a:r>
          </a:p>
        </p:txBody>
      </p:sp>
      <p:sp>
        <p:nvSpPr>
          <p:cNvPr id="3" name="Content Placeholder 2">
            <a:extLst>
              <a:ext uri="{FF2B5EF4-FFF2-40B4-BE49-F238E27FC236}">
                <a16:creationId xmlns:a16="http://schemas.microsoft.com/office/drawing/2014/main" id="{3BC82839-59C5-77C1-2C8D-73015616ED34}"/>
              </a:ext>
            </a:extLst>
          </p:cNvPr>
          <p:cNvSpPr>
            <a:spLocks noGrp="1"/>
          </p:cNvSpPr>
          <p:nvPr>
            <p:ph idx="1"/>
          </p:nvPr>
        </p:nvSpPr>
        <p:spPr/>
        <p:txBody>
          <a:bodyPr/>
          <a:lstStyle/>
          <a:p>
            <a:r>
              <a:rPr lang="en-US" b="1" dirty="0"/>
              <a:t>Structural statements </a:t>
            </a:r>
            <a:r>
              <a:rPr lang="en-US" dirty="0"/>
              <a:t>which defines the model. They consist of FORTARN like statement and functional block designed for operations that frequently occur in a model definition.  </a:t>
            </a:r>
          </a:p>
          <a:p>
            <a:r>
              <a:rPr lang="en-US" b="1" dirty="0"/>
              <a:t>Data statements </a:t>
            </a:r>
            <a:r>
              <a:rPr lang="en-US" dirty="0"/>
              <a:t>which assign numerical value to parameters, constant and initial conditions. </a:t>
            </a:r>
          </a:p>
          <a:p>
            <a:r>
              <a:rPr lang="en-US" b="1" dirty="0"/>
              <a:t>Control statements </a:t>
            </a:r>
            <a:r>
              <a:rPr lang="en-US" dirty="0"/>
              <a:t>which specify options in the assembly and execution of program and choice of inputs. </a:t>
            </a:r>
          </a:p>
          <a:p>
            <a:endParaRPr lang="en-US" dirty="0"/>
          </a:p>
          <a:p>
            <a:endParaRPr lang="en-US" dirty="0"/>
          </a:p>
        </p:txBody>
      </p:sp>
      <p:sp>
        <p:nvSpPr>
          <p:cNvPr id="4" name="Footer Placeholder 3">
            <a:extLst>
              <a:ext uri="{FF2B5EF4-FFF2-40B4-BE49-F238E27FC236}">
                <a16:creationId xmlns:a16="http://schemas.microsoft.com/office/drawing/2014/main" id="{562AB946-516E-72CA-4BC5-292F76C258A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3467266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922AA-FEE2-9608-B09A-DF1FE663BC5B}"/>
              </a:ext>
            </a:extLst>
          </p:cNvPr>
          <p:cNvSpPr>
            <a:spLocks noGrp="1"/>
          </p:cNvSpPr>
          <p:nvPr>
            <p:ph type="title"/>
          </p:nvPr>
        </p:nvSpPr>
        <p:spPr/>
        <p:txBody>
          <a:bodyPr/>
          <a:lstStyle/>
          <a:p>
            <a:r>
              <a:rPr lang="en-US" dirty="0"/>
              <a:t>CSMP III Structure Statement</a:t>
            </a:r>
          </a:p>
        </p:txBody>
      </p:sp>
      <p:sp>
        <p:nvSpPr>
          <p:cNvPr id="3" name="Content Placeholder 2">
            <a:extLst>
              <a:ext uri="{FF2B5EF4-FFF2-40B4-BE49-F238E27FC236}">
                <a16:creationId xmlns:a16="http://schemas.microsoft.com/office/drawing/2014/main" id="{67EA3363-6B17-6293-73E7-CE4C18E8E96C}"/>
              </a:ext>
            </a:extLst>
          </p:cNvPr>
          <p:cNvSpPr>
            <a:spLocks noGrp="1"/>
          </p:cNvSpPr>
          <p:nvPr>
            <p:ph idx="1"/>
          </p:nvPr>
        </p:nvSpPr>
        <p:spPr/>
        <p:txBody>
          <a:bodyPr>
            <a:normAutofit/>
          </a:bodyPr>
          <a:lstStyle/>
          <a:p>
            <a:pPr marL="0" indent="0">
              <a:buNone/>
            </a:pPr>
            <a:r>
              <a:rPr lang="en-US" dirty="0"/>
              <a:t>	Structural statement can make use of the operation of addition, subtraction, multiplication, division and exponentiation, using the same notation and rule as are used in FORTRAN.</a:t>
            </a:r>
          </a:p>
          <a:p>
            <a:pPr marL="0" indent="0">
              <a:buNone/>
            </a:pPr>
            <a:r>
              <a:rPr lang="en-US" dirty="0"/>
              <a:t>	If the model include the equation</a:t>
            </a:r>
          </a:p>
          <a:p>
            <a:pPr marL="0" indent="0">
              <a:buNone/>
            </a:pPr>
            <a:endParaRPr lang="en-US" dirty="0"/>
          </a:p>
          <a:p>
            <a:pPr marL="0" indent="0">
              <a:buNone/>
            </a:pPr>
            <a:r>
              <a:rPr lang="en-US" dirty="0"/>
              <a:t>	Then the following statement would be used</a:t>
            </a:r>
          </a:p>
          <a:p>
            <a:pPr marL="0" indent="0">
              <a:buNone/>
            </a:pPr>
            <a:r>
              <a:rPr lang="en-US" dirty="0"/>
              <a:t>	X=6.0*Y/W+(Z-2)**2.0</a:t>
            </a:r>
          </a:p>
          <a:p>
            <a:pPr marL="0" indent="0">
              <a:buNone/>
            </a:pPr>
            <a:r>
              <a:rPr lang="en-US" dirty="0"/>
              <a:t>	There are many </a:t>
            </a:r>
            <a:r>
              <a:rPr lang="en-US" b="1" dirty="0"/>
              <a:t>functional block </a:t>
            </a:r>
            <a:r>
              <a:rPr lang="en-US" dirty="0"/>
              <a:t>which in addition to provide operation specific to simulation. Some of them are the exponential function, trigonometric function and function for taking maximum values.</a:t>
            </a:r>
          </a:p>
          <a:p>
            <a:pPr marL="0" indent="0">
              <a:buNone/>
            </a:pPr>
            <a:endParaRPr lang="en-US" dirty="0"/>
          </a:p>
        </p:txBody>
      </p:sp>
      <p:sp>
        <p:nvSpPr>
          <p:cNvPr id="4" name="Footer Placeholder 3">
            <a:extLst>
              <a:ext uri="{FF2B5EF4-FFF2-40B4-BE49-F238E27FC236}">
                <a16:creationId xmlns:a16="http://schemas.microsoft.com/office/drawing/2014/main" id="{0EDBA543-E1AB-FA3D-233D-D4EBAC58DAFD}"/>
              </a:ext>
            </a:extLst>
          </p:cNvPr>
          <p:cNvSpPr>
            <a:spLocks noGrp="1"/>
          </p:cNvSpPr>
          <p:nvPr>
            <p:ph type="ftr" sz="quarter" idx="11"/>
          </p:nvPr>
        </p:nvSpPr>
        <p:spPr/>
        <p:txBody>
          <a:bodyPr/>
          <a:lstStyle/>
          <a:p>
            <a:r>
              <a:rPr lang="nb-NO"/>
              <a:t>kapil@nast.edu.np  || kapilpant157</a:t>
            </a:r>
            <a:endParaRPr lang="en-US"/>
          </a:p>
        </p:txBody>
      </p:sp>
      <p:pic>
        <p:nvPicPr>
          <p:cNvPr id="7" name="Picture 6">
            <a:extLst>
              <a:ext uri="{FF2B5EF4-FFF2-40B4-BE49-F238E27FC236}">
                <a16:creationId xmlns:a16="http://schemas.microsoft.com/office/drawing/2014/main" id="{7C0D8D7C-2CFA-6C66-EFBA-0B314938E187}"/>
              </a:ext>
            </a:extLst>
          </p:cNvPr>
          <p:cNvPicPr>
            <a:picLocks noChangeAspect="1"/>
          </p:cNvPicPr>
          <p:nvPr/>
        </p:nvPicPr>
        <p:blipFill>
          <a:blip r:embed="rId3"/>
          <a:stretch>
            <a:fillRect/>
          </a:stretch>
        </p:blipFill>
        <p:spPr>
          <a:xfrm>
            <a:off x="4907732" y="3023545"/>
            <a:ext cx="2067214" cy="733527"/>
          </a:xfrm>
          <a:prstGeom prst="rect">
            <a:avLst/>
          </a:prstGeom>
        </p:spPr>
      </p:pic>
    </p:spTree>
    <p:extLst>
      <p:ext uri="{BB962C8B-B14F-4D97-AF65-F5344CB8AC3E}">
        <p14:creationId xmlns:p14="http://schemas.microsoft.com/office/powerpoint/2010/main" val="3573363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0DD2F-00BB-46AD-CB2E-6C8888D7963A}"/>
              </a:ext>
            </a:extLst>
          </p:cNvPr>
          <p:cNvSpPr>
            <a:spLocks noGrp="1"/>
          </p:cNvSpPr>
          <p:nvPr>
            <p:ph type="title"/>
          </p:nvPr>
        </p:nvSpPr>
        <p:spPr/>
        <p:txBody>
          <a:bodyPr/>
          <a:lstStyle/>
          <a:p>
            <a:r>
              <a:rPr lang="en-US" dirty="0"/>
              <a:t>CSMP III: Functional Block</a:t>
            </a:r>
          </a:p>
        </p:txBody>
      </p:sp>
      <p:sp>
        <p:nvSpPr>
          <p:cNvPr id="3" name="Content Placeholder 2">
            <a:extLst>
              <a:ext uri="{FF2B5EF4-FFF2-40B4-BE49-F238E27FC236}">
                <a16:creationId xmlns:a16="http://schemas.microsoft.com/office/drawing/2014/main" id="{820FC821-C2B3-2996-D3D0-ED46D2A96590}"/>
              </a:ext>
            </a:extLst>
          </p:cNvPr>
          <p:cNvSpPr>
            <a:spLocks noGrp="1"/>
          </p:cNvSpPr>
          <p:nvPr>
            <p:ph idx="1"/>
          </p:nvPr>
        </p:nvSpPr>
        <p:spPr>
          <a:xfrm>
            <a:off x="677334" y="1563689"/>
            <a:ext cx="8596668" cy="3880773"/>
          </a:xfrm>
        </p:spPr>
        <p:txBody>
          <a:bodyPr/>
          <a:lstStyle/>
          <a:p>
            <a:r>
              <a:rPr lang="en-US" dirty="0"/>
              <a:t>There are many functional block which in addition to provide operation specific to simulation. Some of them are the exponential function, trigonometric function and function for taking maximum values. </a:t>
            </a:r>
          </a:p>
          <a:p>
            <a:endParaRPr lang="en-US" dirty="0"/>
          </a:p>
        </p:txBody>
      </p:sp>
      <p:sp>
        <p:nvSpPr>
          <p:cNvPr id="4" name="Footer Placeholder 3">
            <a:extLst>
              <a:ext uri="{FF2B5EF4-FFF2-40B4-BE49-F238E27FC236}">
                <a16:creationId xmlns:a16="http://schemas.microsoft.com/office/drawing/2014/main" id="{44A93D66-4470-118D-428D-EB92490BC0CD}"/>
              </a:ext>
            </a:extLst>
          </p:cNvPr>
          <p:cNvSpPr>
            <a:spLocks noGrp="1"/>
          </p:cNvSpPr>
          <p:nvPr>
            <p:ph type="ftr" sz="quarter" idx="11"/>
          </p:nvPr>
        </p:nvSpPr>
        <p:spPr/>
        <p:txBody>
          <a:bodyPr/>
          <a:lstStyle/>
          <a:p>
            <a:r>
              <a:rPr lang="nb-NO"/>
              <a:t>kapil@nast.edu.np  || kapilpant157</a:t>
            </a:r>
            <a:endParaRPr lang="en-US"/>
          </a:p>
        </p:txBody>
      </p:sp>
      <p:pic>
        <p:nvPicPr>
          <p:cNvPr id="5" name="Picture 4">
            <a:extLst>
              <a:ext uri="{FF2B5EF4-FFF2-40B4-BE49-F238E27FC236}">
                <a16:creationId xmlns:a16="http://schemas.microsoft.com/office/drawing/2014/main" id="{5591E053-76E3-CCDD-7961-EEBC758B0E60}"/>
              </a:ext>
            </a:extLst>
          </p:cNvPr>
          <p:cNvPicPr>
            <a:picLocks noGrp="1" noChangeAspect="1" noChangeArrowheads="1"/>
          </p:cNvPicPr>
          <p:nvPr/>
        </p:nvPicPr>
        <p:blipFill>
          <a:blip r:embed="rId2"/>
          <a:srcRect/>
          <a:stretch>
            <a:fillRect/>
          </a:stretch>
        </p:blipFill>
        <p:spPr bwMode="auto">
          <a:xfrm>
            <a:off x="1059479" y="2712720"/>
            <a:ext cx="6758641" cy="3682212"/>
          </a:xfrm>
          <a:prstGeom prst="rect">
            <a:avLst/>
          </a:prstGeom>
          <a:noFill/>
          <a:ln w="9525">
            <a:noFill/>
            <a:miter lim="800000"/>
            <a:headEnd/>
            <a:tailEnd/>
          </a:ln>
          <a:effectLst/>
        </p:spPr>
      </p:pic>
    </p:spTree>
    <p:extLst>
      <p:ext uri="{BB962C8B-B14F-4D97-AF65-F5344CB8AC3E}">
        <p14:creationId xmlns:p14="http://schemas.microsoft.com/office/powerpoint/2010/main" val="10826847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86465-02E4-125A-E0B7-CD8A44F390E1}"/>
              </a:ext>
            </a:extLst>
          </p:cNvPr>
          <p:cNvSpPr>
            <a:spLocks noGrp="1"/>
          </p:cNvSpPr>
          <p:nvPr>
            <p:ph type="title"/>
          </p:nvPr>
        </p:nvSpPr>
        <p:spPr/>
        <p:txBody>
          <a:bodyPr/>
          <a:lstStyle/>
          <a:p>
            <a:r>
              <a:rPr lang="en-US" dirty="0"/>
              <a:t>CSMP III: Functional Block</a:t>
            </a:r>
          </a:p>
        </p:txBody>
      </p:sp>
      <p:sp>
        <p:nvSpPr>
          <p:cNvPr id="4" name="Footer Placeholder 3">
            <a:extLst>
              <a:ext uri="{FF2B5EF4-FFF2-40B4-BE49-F238E27FC236}">
                <a16:creationId xmlns:a16="http://schemas.microsoft.com/office/drawing/2014/main" id="{42540A6E-9C6D-4D04-E3E1-67204F0058AD}"/>
              </a:ext>
            </a:extLst>
          </p:cNvPr>
          <p:cNvSpPr>
            <a:spLocks noGrp="1"/>
          </p:cNvSpPr>
          <p:nvPr>
            <p:ph type="ftr" sz="quarter" idx="11"/>
          </p:nvPr>
        </p:nvSpPr>
        <p:spPr/>
        <p:txBody>
          <a:bodyPr/>
          <a:lstStyle/>
          <a:p>
            <a:r>
              <a:rPr lang="nb-NO"/>
              <a:t>kapil@nast.edu.np  || kapilpant157</a:t>
            </a:r>
            <a:endParaRPr lang="en-US"/>
          </a:p>
        </p:txBody>
      </p:sp>
      <p:pic>
        <p:nvPicPr>
          <p:cNvPr id="6" name="Content Placeholder 5">
            <a:extLst>
              <a:ext uri="{FF2B5EF4-FFF2-40B4-BE49-F238E27FC236}">
                <a16:creationId xmlns:a16="http://schemas.microsoft.com/office/drawing/2014/main" id="{B3813307-372F-BD80-4A73-EDC0C09786B5}"/>
              </a:ext>
            </a:extLst>
          </p:cNvPr>
          <p:cNvPicPr>
            <a:picLocks noGrp="1" noChangeAspect="1" noChangeArrowheads="1"/>
          </p:cNvPicPr>
          <p:nvPr>
            <p:ph idx="1"/>
          </p:nvPr>
        </p:nvPicPr>
        <p:blipFill>
          <a:blip r:embed="rId2"/>
          <a:srcRect/>
          <a:stretch>
            <a:fillRect/>
          </a:stretch>
        </p:blipFill>
        <p:spPr bwMode="auto">
          <a:xfrm>
            <a:off x="677334" y="2585705"/>
            <a:ext cx="5600700" cy="1400175"/>
          </a:xfrm>
          <a:prstGeom prst="rect">
            <a:avLst/>
          </a:prstGeom>
          <a:noFill/>
          <a:ln w="9525">
            <a:noFill/>
            <a:miter lim="800000"/>
            <a:headEnd/>
            <a:tailEnd/>
          </a:ln>
          <a:effectLst/>
        </p:spPr>
      </p:pic>
    </p:spTree>
    <p:extLst>
      <p:ext uri="{BB962C8B-B14F-4D97-AF65-F5344CB8AC3E}">
        <p14:creationId xmlns:p14="http://schemas.microsoft.com/office/powerpoint/2010/main" val="26853107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3C8EA-F9A8-0E6F-70B2-00B9B72F71F6}"/>
              </a:ext>
            </a:extLst>
          </p:cNvPr>
          <p:cNvSpPr>
            <a:spLocks noGrp="1"/>
          </p:cNvSpPr>
          <p:nvPr>
            <p:ph type="title"/>
          </p:nvPr>
        </p:nvSpPr>
        <p:spPr/>
        <p:txBody>
          <a:bodyPr/>
          <a:lstStyle/>
          <a:p>
            <a:r>
              <a:rPr lang="en-US" dirty="0"/>
              <a:t>CSMP III Data Statement</a:t>
            </a:r>
          </a:p>
        </p:txBody>
      </p:sp>
      <p:sp>
        <p:nvSpPr>
          <p:cNvPr id="3" name="Content Placeholder 2">
            <a:extLst>
              <a:ext uri="{FF2B5EF4-FFF2-40B4-BE49-F238E27FC236}">
                <a16:creationId xmlns:a16="http://schemas.microsoft.com/office/drawing/2014/main" id="{3EA06E8C-3BB6-8AF5-62A0-710CE000E9F0}"/>
              </a:ext>
            </a:extLst>
          </p:cNvPr>
          <p:cNvSpPr>
            <a:spLocks noGrp="1"/>
          </p:cNvSpPr>
          <p:nvPr>
            <p:ph idx="1"/>
          </p:nvPr>
        </p:nvSpPr>
        <p:spPr/>
        <p:txBody>
          <a:bodyPr>
            <a:normAutofit fontScale="92500" lnSpcReduction="20000"/>
          </a:bodyPr>
          <a:lstStyle/>
          <a:p>
            <a:pPr marL="0" indent="0">
              <a:buNone/>
            </a:pPr>
            <a:r>
              <a:rPr lang="en-US" dirty="0"/>
              <a:t>Defines the data (constants, variables, and initial conditions) for the system's behavior.</a:t>
            </a:r>
          </a:p>
          <a:p>
            <a:pPr marL="0" indent="0">
              <a:buNone/>
            </a:pPr>
            <a:r>
              <a:rPr lang="en-US" b="1" dirty="0"/>
              <a:t> Components</a:t>
            </a:r>
            <a:r>
              <a:rPr lang="en-US" dirty="0"/>
              <a:t>:</a:t>
            </a:r>
          </a:p>
          <a:p>
            <a:pPr lvl="1"/>
            <a:r>
              <a:rPr lang="en-US" dirty="0"/>
              <a:t>Variables: Represent dynamic parameters that evolve over time (e.g., temperature, speed).</a:t>
            </a:r>
          </a:p>
          <a:p>
            <a:pPr lvl="1"/>
            <a:r>
              <a:rPr lang="en-US" dirty="0"/>
              <a:t>Constants: Fixed values used in the model (e.g., resistance, mass).</a:t>
            </a:r>
          </a:p>
          <a:p>
            <a:pPr lvl="1"/>
            <a:r>
              <a:rPr lang="en-US" dirty="0"/>
              <a:t>Initial Conditions: Specifies the starting values of the variables.</a:t>
            </a:r>
          </a:p>
          <a:p>
            <a:pPr marL="0" indent="0">
              <a:buNone/>
            </a:pPr>
            <a:r>
              <a:rPr lang="en-US" b="1" dirty="0"/>
              <a:t> Example</a:t>
            </a:r>
            <a:r>
              <a:rPr lang="en-US" dirty="0"/>
              <a:t>:</a:t>
            </a:r>
          </a:p>
          <a:p>
            <a:pPr marL="0" indent="0">
              <a:buNone/>
            </a:pPr>
            <a:r>
              <a:rPr lang="en-US" dirty="0"/>
              <a:t>	  DATA:</a:t>
            </a:r>
          </a:p>
          <a:p>
            <a:pPr marL="0" indent="0">
              <a:buNone/>
            </a:pPr>
            <a:r>
              <a:rPr lang="en-US" dirty="0"/>
              <a:t>		CONSTANTS: R = 100, M = 50</a:t>
            </a:r>
          </a:p>
          <a:p>
            <a:pPr marL="0" indent="0">
              <a:buNone/>
            </a:pPr>
            <a:r>
              <a:rPr lang="en-US" dirty="0"/>
              <a:t>		VARIABLES: X = 0, Y = 10</a:t>
            </a:r>
          </a:p>
          <a:p>
            <a:pPr marL="0" indent="0">
              <a:buNone/>
            </a:pPr>
            <a:r>
              <a:rPr lang="en-US" dirty="0"/>
              <a:t>		INITIAL: X = 0</a:t>
            </a:r>
          </a:p>
          <a:p>
            <a:endParaRPr lang="en-US" dirty="0"/>
          </a:p>
          <a:p>
            <a:endParaRPr lang="en-US" dirty="0"/>
          </a:p>
        </p:txBody>
      </p:sp>
      <p:sp>
        <p:nvSpPr>
          <p:cNvPr id="4" name="Footer Placeholder 3">
            <a:extLst>
              <a:ext uri="{FF2B5EF4-FFF2-40B4-BE49-F238E27FC236}">
                <a16:creationId xmlns:a16="http://schemas.microsoft.com/office/drawing/2014/main" id="{892B1AF3-0D3D-EA6F-F79B-78E2C171112D}"/>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7308835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F8A68-D1C4-FD21-95DE-BFDB9F58E6A1}"/>
              </a:ext>
            </a:extLst>
          </p:cNvPr>
          <p:cNvSpPr>
            <a:spLocks noGrp="1"/>
          </p:cNvSpPr>
          <p:nvPr>
            <p:ph type="title"/>
          </p:nvPr>
        </p:nvSpPr>
        <p:spPr/>
        <p:txBody>
          <a:bodyPr/>
          <a:lstStyle/>
          <a:p>
            <a:r>
              <a:rPr lang="en-US" dirty="0"/>
              <a:t>CSMP III Control Statements</a:t>
            </a:r>
          </a:p>
        </p:txBody>
      </p:sp>
      <p:sp>
        <p:nvSpPr>
          <p:cNvPr id="3" name="Content Placeholder 2">
            <a:extLst>
              <a:ext uri="{FF2B5EF4-FFF2-40B4-BE49-F238E27FC236}">
                <a16:creationId xmlns:a16="http://schemas.microsoft.com/office/drawing/2014/main" id="{193608D4-D8F3-06FB-3C68-701DC72B3F03}"/>
              </a:ext>
            </a:extLst>
          </p:cNvPr>
          <p:cNvSpPr>
            <a:spLocks noGrp="1"/>
          </p:cNvSpPr>
          <p:nvPr>
            <p:ph idx="1"/>
          </p:nvPr>
        </p:nvSpPr>
        <p:spPr/>
        <p:txBody>
          <a:bodyPr>
            <a:normAutofit lnSpcReduction="10000"/>
          </a:bodyPr>
          <a:lstStyle/>
          <a:p>
            <a:pPr marL="0" indent="0">
              <a:buNone/>
            </a:pPr>
            <a:r>
              <a:rPr lang="en-US" b="1" dirty="0"/>
              <a:t> </a:t>
            </a:r>
            <a:r>
              <a:rPr lang="en-US" dirty="0"/>
              <a:t>Control statements dictate the flow of the simulation (time steps, loops, conditions).</a:t>
            </a:r>
          </a:p>
          <a:p>
            <a:r>
              <a:rPr lang="en-US" dirty="0"/>
              <a:t>Types of Control Statements:</a:t>
            </a:r>
          </a:p>
          <a:p>
            <a:r>
              <a:rPr lang="en-US" dirty="0"/>
              <a:t>  Time Control: Defines simulation start, end time, step size, etc.</a:t>
            </a:r>
          </a:p>
          <a:p>
            <a:r>
              <a:rPr lang="en-US" dirty="0"/>
              <a:t>  Conditional Control: Specifies conditions under which actions occur (e.g., if-else).</a:t>
            </a:r>
          </a:p>
          <a:p>
            <a:r>
              <a:rPr lang="en-US" dirty="0"/>
              <a:t>  Loops: Used for repeating actions (e.g., for, while).</a:t>
            </a:r>
          </a:p>
          <a:p>
            <a:pPr marL="0" indent="0">
              <a:buNone/>
            </a:pPr>
            <a:r>
              <a:rPr lang="en-US" b="1" dirty="0"/>
              <a:t>Example</a:t>
            </a:r>
            <a:r>
              <a:rPr lang="en-US" dirty="0"/>
              <a:t>:</a:t>
            </a:r>
          </a:p>
          <a:p>
            <a:r>
              <a:rPr lang="en-US" dirty="0"/>
              <a:t>  CONTROL:</a:t>
            </a:r>
          </a:p>
          <a:p>
            <a:r>
              <a:rPr lang="en-US" dirty="0"/>
              <a:t>    STARTTIME = 0, ENDTIME = 100, STEP = 0.1</a:t>
            </a:r>
          </a:p>
          <a:p>
            <a:r>
              <a:rPr lang="en-US" dirty="0"/>
              <a:t>    IF X &gt; 50 THEN DO SOMETHING</a:t>
            </a:r>
          </a:p>
          <a:p>
            <a:endParaRPr lang="en-US" dirty="0"/>
          </a:p>
          <a:p>
            <a:endParaRPr lang="en-US" dirty="0"/>
          </a:p>
        </p:txBody>
      </p:sp>
      <p:sp>
        <p:nvSpPr>
          <p:cNvPr id="4" name="Footer Placeholder 3">
            <a:extLst>
              <a:ext uri="{FF2B5EF4-FFF2-40B4-BE49-F238E27FC236}">
                <a16:creationId xmlns:a16="http://schemas.microsoft.com/office/drawing/2014/main" id="{FC69CE66-B71A-6D62-75B5-3E7CDFB8E222}"/>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5356124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DC94B-CCA6-5126-D425-CB2F2B53CD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C30723-1BB7-94F1-CB47-AAF537E01008}"/>
              </a:ext>
            </a:extLst>
          </p:cNvPr>
          <p:cNvSpPr>
            <a:spLocks noGrp="1"/>
          </p:cNvSpPr>
          <p:nvPr>
            <p:ph type="title"/>
          </p:nvPr>
        </p:nvSpPr>
        <p:spPr/>
        <p:txBody>
          <a:bodyPr/>
          <a:lstStyle/>
          <a:p>
            <a:r>
              <a:rPr lang="en-US" dirty="0"/>
              <a:t>CSMP III Control Statements</a:t>
            </a:r>
          </a:p>
        </p:txBody>
      </p:sp>
      <p:sp>
        <p:nvSpPr>
          <p:cNvPr id="3" name="Content Placeholder 2">
            <a:extLst>
              <a:ext uri="{FF2B5EF4-FFF2-40B4-BE49-F238E27FC236}">
                <a16:creationId xmlns:a16="http://schemas.microsoft.com/office/drawing/2014/main" id="{3F3980D3-3034-FA52-1246-9F11AFEAD5C7}"/>
              </a:ext>
            </a:extLst>
          </p:cNvPr>
          <p:cNvSpPr>
            <a:spLocks noGrp="1"/>
          </p:cNvSpPr>
          <p:nvPr>
            <p:ph idx="1"/>
          </p:nvPr>
        </p:nvSpPr>
        <p:spPr>
          <a:xfrm>
            <a:off x="677334" y="1930401"/>
            <a:ext cx="8596668" cy="4110962"/>
          </a:xfrm>
        </p:spPr>
        <p:txBody>
          <a:bodyPr>
            <a:normAutofit lnSpcReduction="10000"/>
          </a:bodyPr>
          <a:lstStyle/>
          <a:p>
            <a:pPr marL="0" indent="0">
              <a:buNone/>
            </a:pPr>
            <a:r>
              <a:rPr lang="en-US" dirty="0"/>
              <a:t>Among the control statement, TIMER is one of the control statements which specify certain time interval. For adequate accuracy, it should be small in relation to the rate at which variable change values. The following is an example</a:t>
            </a:r>
          </a:p>
          <a:p>
            <a:pPr marL="0" indent="0">
              <a:buNone/>
            </a:pPr>
            <a:r>
              <a:rPr lang="en-US" b="1" dirty="0"/>
              <a:t>		TIMER DELT=0.005, FINTIM=1.5, PRDEL=0.1</a:t>
            </a:r>
          </a:p>
          <a:p>
            <a:pPr marL="0" indent="0">
              <a:buNone/>
            </a:pPr>
            <a:r>
              <a:rPr lang="en-US" dirty="0"/>
              <a:t>The item specified are</a:t>
            </a:r>
          </a:p>
          <a:p>
            <a:r>
              <a:rPr lang="en-US" dirty="0"/>
              <a:t>DELT  = integration interval</a:t>
            </a:r>
          </a:p>
          <a:p>
            <a:r>
              <a:rPr lang="en-US" dirty="0"/>
              <a:t>FINTIM = Finish time</a:t>
            </a:r>
          </a:p>
          <a:p>
            <a:r>
              <a:rPr lang="en-US" dirty="0"/>
              <a:t>PRDEL = Interval, at which to print result.</a:t>
            </a:r>
          </a:p>
          <a:p>
            <a:pPr marL="0" indent="0">
              <a:buNone/>
            </a:pPr>
            <a:r>
              <a:rPr lang="en-US" dirty="0"/>
              <a:t>If printed output is required, control statements with PRINT and PRDEL are used followed by the names of variables to form the outputs.</a:t>
            </a:r>
          </a:p>
          <a:p>
            <a:pPr marL="0" indent="0">
              <a:buNone/>
            </a:pPr>
            <a:r>
              <a:rPr lang="en-US" dirty="0"/>
              <a:t> The set of structural, data and control statements for a problem can be assembled in any order but they must be end with control statement END.</a:t>
            </a:r>
          </a:p>
          <a:p>
            <a:pPr marL="0" indent="0">
              <a:buNone/>
            </a:pPr>
            <a:endParaRPr lang="en-US" dirty="0"/>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F7D3B9F7-0FEA-1546-D5CE-152DC4B07683}"/>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6563080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1A2DE-0198-D27E-53F1-C85D6C89F914}"/>
              </a:ext>
            </a:extLst>
          </p:cNvPr>
          <p:cNvSpPr>
            <a:spLocks noGrp="1"/>
          </p:cNvSpPr>
          <p:nvPr>
            <p:ph type="title"/>
          </p:nvPr>
        </p:nvSpPr>
        <p:spPr/>
        <p:txBody>
          <a:bodyPr/>
          <a:lstStyle/>
          <a:p>
            <a:r>
              <a:rPr lang="en-US" dirty="0"/>
              <a:t>CSMP III Hybrid Statement</a:t>
            </a:r>
          </a:p>
        </p:txBody>
      </p:sp>
      <p:sp>
        <p:nvSpPr>
          <p:cNvPr id="3" name="Content Placeholder 2">
            <a:extLst>
              <a:ext uri="{FF2B5EF4-FFF2-40B4-BE49-F238E27FC236}">
                <a16:creationId xmlns:a16="http://schemas.microsoft.com/office/drawing/2014/main" id="{4B0A1E69-DADF-E2A6-D55E-A8DCEF928C23}"/>
              </a:ext>
            </a:extLst>
          </p:cNvPr>
          <p:cNvSpPr>
            <a:spLocks noGrp="1"/>
          </p:cNvSpPr>
          <p:nvPr>
            <p:ph idx="1"/>
          </p:nvPr>
        </p:nvSpPr>
        <p:spPr/>
        <p:txBody>
          <a:bodyPr>
            <a:normAutofit/>
          </a:bodyPr>
          <a:lstStyle/>
          <a:p>
            <a:pPr marL="0" indent="0">
              <a:buNone/>
            </a:pPr>
            <a:r>
              <a:rPr lang="en-US" dirty="0"/>
              <a:t>Combines continuous and discrete events in a simulation (hybrid models).</a:t>
            </a:r>
          </a:p>
          <a:p>
            <a:pPr marL="0" indent="0">
              <a:buNone/>
            </a:pPr>
            <a:r>
              <a:rPr lang="en-US" b="1" dirty="0"/>
              <a:t> Components</a:t>
            </a:r>
            <a:r>
              <a:rPr lang="en-US" dirty="0"/>
              <a:t>:</a:t>
            </a:r>
          </a:p>
          <a:p>
            <a:r>
              <a:rPr lang="en-US" dirty="0"/>
              <a:t>Continuous Elements: Represented by differential equations.</a:t>
            </a:r>
          </a:p>
          <a:p>
            <a:r>
              <a:rPr lang="en-US" dirty="0"/>
              <a:t>Discrete Events: Represented by events that occur at specific points in time (e.g., switches).</a:t>
            </a:r>
          </a:p>
          <a:p>
            <a:pPr marL="0" indent="0">
              <a:buNone/>
            </a:pPr>
            <a:r>
              <a:rPr lang="en-US" b="1" dirty="0"/>
              <a:t>Example</a:t>
            </a:r>
            <a:r>
              <a:rPr lang="en-US" dirty="0"/>
              <a:t>:</a:t>
            </a:r>
          </a:p>
          <a:p>
            <a:r>
              <a:rPr lang="en-US" dirty="0"/>
              <a:t>  HYBRID:</a:t>
            </a:r>
          </a:p>
          <a:p>
            <a:r>
              <a:rPr lang="en-US" dirty="0"/>
              <a:t>    CONTINUOUS: dx/dt = f(x)</a:t>
            </a:r>
          </a:p>
          <a:p>
            <a:r>
              <a:rPr lang="en-US" dirty="0"/>
              <a:t>    DISCRETE: EVENT1 AT t = 10</a:t>
            </a:r>
          </a:p>
          <a:p>
            <a:endParaRPr lang="en-US" dirty="0"/>
          </a:p>
          <a:p>
            <a:endParaRPr lang="en-US" dirty="0"/>
          </a:p>
        </p:txBody>
      </p:sp>
      <p:sp>
        <p:nvSpPr>
          <p:cNvPr id="4" name="Footer Placeholder 3">
            <a:extLst>
              <a:ext uri="{FF2B5EF4-FFF2-40B4-BE49-F238E27FC236}">
                <a16:creationId xmlns:a16="http://schemas.microsoft.com/office/drawing/2014/main" id="{251DD97E-B679-EDA0-F7CB-54B2EAE015B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3042900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7DDA6-816C-8B3D-F8C7-413BC636C9AD}"/>
              </a:ext>
            </a:extLst>
          </p:cNvPr>
          <p:cNvSpPr>
            <a:spLocks noGrp="1"/>
          </p:cNvSpPr>
          <p:nvPr>
            <p:ph type="title"/>
          </p:nvPr>
        </p:nvSpPr>
        <p:spPr/>
        <p:txBody>
          <a:bodyPr/>
          <a:lstStyle/>
          <a:p>
            <a:r>
              <a:rPr lang="en-US" dirty="0"/>
              <a:t>Example Program 1 in CSMP </a:t>
            </a:r>
          </a:p>
        </p:txBody>
      </p:sp>
      <p:sp>
        <p:nvSpPr>
          <p:cNvPr id="3" name="Content Placeholder 2">
            <a:extLst>
              <a:ext uri="{FF2B5EF4-FFF2-40B4-BE49-F238E27FC236}">
                <a16:creationId xmlns:a16="http://schemas.microsoft.com/office/drawing/2014/main" id="{71F195EF-FC04-AAD1-C57E-A023DD929A12}"/>
              </a:ext>
            </a:extLst>
          </p:cNvPr>
          <p:cNvSpPr>
            <a:spLocks noGrp="1"/>
          </p:cNvSpPr>
          <p:nvPr>
            <p:ph idx="1"/>
          </p:nvPr>
        </p:nvSpPr>
        <p:spPr/>
        <p:txBody>
          <a:bodyPr/>
          <a:lstStyle/>
          <a:p>
            <a:r>
              <a:rPr lang="en-US" dirty="0"/>
              <a:t>The following code shows a CSMP III program for the automobile wheel suspension problem represented by</a:t>
            </a:r>
          </a:p>
          <a:p>
            <a:endParaRPr lang="en-US" dirty="0"/>
          </a:p>
          <a:p>
            <a:endParaRPr lang="en-US" dirty="0"/>
          </a:p>
          <a:p>
            <a:endParaRPr lang="en-US" dirty="0"/>
          </a:p>
          <a:p>
            <a:r>
              <a:rPr lang="en-US" dirty="0"/>
              <a:t>It has been coded for the case where M=2.0, F=1 and K=400. And there will be different runs with different value of D as specified</a:t>
            </a:r>
          </a:p>
          <a:p>
            <a:endParaRPr lang="en-US" dirty="0"/>
          </a:p>
        </p:txBody>
      </p:sp>
      <p:sp>
        <p:nvSpPr>
          <p:cNvPr id="4" name="Footer Placeholder 3">
            <a:extLst>
              <a:ext uri="{FF2B5EF4-FFF2-40B4-BE49-F238E27FC236}">
                <a16:creationId xmlns:a16="http://schemas.microsoft.com/office/drawing/2014/main" id="{D93296DB-3A30-812A-10BB-26B90D42EE80}"/>
              </a:ext>
            </a:extLst>
          </p:cNvPr>
          <p:cNvSpPr>
            <a:spLocks noGrp="1"/>
          </p:cNvSpPr>
          <p:nvPr>
            <p:ph type="ftr" sz="quarter" idx="11"/>
          </p:nvPr>
        </p:nvSpPr>
        <p:spPr/>
        <p:txBody>
          <a:bodyPr/>
          <a:lstStyle/>
          <a:p>
            <a:r>
              <a:rPr lang="nb-NO"/>
              <a:t>kapil@nast.edu.np  || kapilpant157</a:t>
            </a:r>
            <a:endParaRPr lang="en-US"/>
          </a:p>
        </p:txBody>
      </p:sp>
      <p:pic>
        <p:nvPicPr>
          <p:cNvPr id="5" name="Picture 4">
            <a:extLst>
              <a:ext uri="{FF2B5EF4-FFF2-40B4-BE49-F238E27FC236}">
                <a16:creationId xmlns:a16="http://schemas.microsoft.com/office/drawing/2014/main" id="{1E0EE163-CAF4-198C-000A-7D8AE603A11B}"/>
              </a:ext>
            </a:extLst>
          </p:cNvPr>
          <p:cNvPicPr>
            <a:picLocks noChangeAspect="1"/>
          </p:cNvPicPr>
          <p:nvPr/>
        </p:nvPicPr>
        <p:blipFill>
          <a:blip r:embed="rId2"/>
          <a:stretch>
            <a:fillRect/>
          </a:stretch>
        </p:blipFill>
        <p:spPr>
          <a:xfrm>
            <a:off x="3269787" y="3092125"/>
            <a:ext cx="2086266" cy="733527"/>
          </a:xfrm>
          <a:prstGeom prst="rect">
            <a:avLst/>
          </a:prstGeom>
        </p:spPr>
      </p:pic>
    </p:spTree>
    <p:extLst>
      <p:ext uri="{BB962C8B-B14F-4D97-AF65-F5344CB8AC3E}">
        <p14:creationId xmlns:p14="http://schemas.microsoft.com/office/powerpoint/2010/main" val="33918016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3D314-C9F1-9035-3569-8D628FADD0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6B208-EE48-9067-4D79-A8E0EE2E10B5}"/>
              </a:ext>
            </a:extLst>
          </p:cNvPr>
          <p:cNvSpPr>
            <a:spLocks noGrp="1"/>
          </p:cNvSpPr>
          <p:nvPr>
            <p:ph type="title"/>
          </p:nvPr>
        </p:nvSpPr>
        <p:spPr/>
        <p:txBody>
          <a:bodyPr/>
          <a:lstStyle/>
          <a:p>
            <a:r>
              <a:rPr lang="en-US" dirty="0"/>
              <a:t>Example Program 1 in CSMP </a:t>
            </a:r>
          </a:p>
        </p:txBody>
      </p:sp>
      <p:sp>
        <p:nvSpPr>
          <p:cNvPr id="3" name="Content Placeholder 2">
            <a:extLst>
              <a:ext uri="{FF2B5EF4-FFF2-40B4-BE49-F238E27FC236}">
                <a16:creationId xmlns:a16="http://schemas.microsoft.com/office/drawing/2014/main" id="{A72998FB-999B-5EA2-9963-FAFDBB628A33}"/>
              </a:ext>
            </a:extLst>
          </p:cNvPr>
          <p:cNvSpPr>
            <a:spLocks noGrp="1"/>
          </p:cNvSpPr>
          <p:nvPr>
            <p:ph idx="1"/>
          </p:nvPr>
        </p:nvSpPr>
        <p:spPr>
          <a:xfrm>
            <a:off x="677334" y="1668780"/>
            <a:ext cx="8596668" cy="4579620"/>
          </a:xfrm>
        </p:spPr>
        <p:txBody>
          <a:bodyPr>
            <a:normAutofit fontScale="92500" lnSpcReduction="20000"/>
          </a:bodyPr>
          <a:lstStyle/>
          <a:p>
            <a:pPr marL="0" indent="0">
              <a:buNone/>
            </a:pPr>
            <a:r>
              <a:rPr lang="en-US" dirty="0"/>
              <a:t>TITILE AUTOMOBILE SUSPENSION SYSTEM</a:t>
            </a:r>
          </a:p>
          <a:p>
            <a:pPr marL="0" indent="0">
              <a:buNone/>
            </a:pPr>
            <a:r>
              <a:rPr lang="en-US" dirty="0"/>
              <a:t>	*</a:t>
            </a:r>
          </a:p>
          <a:p>
            <a:pPr marL="0" indent="0">
              <a:buNone/>
            </a:pPr>
            <a:r>
              <a:rPr lang="en-US" dirty="0"/>
              <a:t>	PARAM D=(5.656,16.968,39.592,56.56) </a:t>
            </a:r>
          </a:p>
          <a:p>
            <a:pPr marL="0" indent="0">
              <a:buNone/>
            </a:pPr>
            <a:r>
              <a:rPr lang="en-US" dirty="0"/>
              <a:t>	CONST M=2.0,F=1.0,K=400.0     //initial</a:t>
            </a:r>
          </a:p>
          <a:p>
            <a:pPr marL="0" indent="0">
              <a:buNone/>
            </a:pPr>
            <a:r>
              <a:rPr lang="en-US" dirty="0"/>
              <a:t>	*</a:t>
            </a:r>
          </a:p>
          <a:p>
            <a:pPr marL="0" indent="0">
              <a:buNone/>
            </a:pPr>
            <a:r>
              <a:rPr lang="en-US" dirty="0"/>
              <a:t>	X2DOT=(1.0/M)*(K*F-K*X-D*XDOT)</a:t>
            </a:r>
          </a:p>
          <a:p>
            <a:pPr marL="0" indent="0">
              <a:buNone/>
            </a:pPr>
            <a:r>
              <a:rPr lang="en-US" dirty="0"/>
              <a:t>	XDOT=INTGRL(0.0,X2DOT)                         //velocity integral</a:t>
            </a:r>
          </a:p>
          <a:p>
            <a:pPr marL="0" indent="0">
              <a:buNone/>
            </a:pPr>
            <a:r>
              <a:rPr lang="en-US" dirty="0"/>
              <a:t>	X=INTGRL(0.0,XDOT)  					//displacement integral</a:t>
            </a:r>
          </a:p>
          <a:p>
            <a:pPr marL="0" indent="0">
              <a:buNone/>
            </a:pPr>
            <a:r>
              <a:rPr lang="en-US" dirty="0"/>
              <a:t>	*</a:t>
            </a:r>
          </a:p>
          <a:p>
            <a:pPr marL="0" indent="0">
              <a:buNone/>
            </a:pPr>
            <a:r>
              <a:rPr lang="en-US" dirty="0"/>
              <a:t>	TIMER DELT=0.005,FINTIM=1.5, PRDEL=0.05     //terminal</a:t>
            </a:r>
          </a:p>
          <a:p>
            <a:pPr marL="0" indent="0">
              <a:buNone/>
            </a:pPr>
            <a:r>
              <a:rPr lang="en-US" dirty="0"/>
              <a:t>	PRINT X, XDOT, X2DOT</a:t>
            </a:r>
          </a:p>
          <a:p>
            <a:pPr marL="0" indent="0">
              <a:buNone/>
            </a:pPr>
            <a:r>
              <a:rPr lang="en-US" dirty="0"/>
              <a:t>	END </a:t>
            </a:r>
          </a:p>
          <a:p>
            <a:pPr marL="0" indent="0">
              <a:buNone/>
            </a:pPr>
            <a:r>
              <a:rPr lang="en-US" dirty="0"/>
              <a:t>	STOP </a:t>
            </a:r>
          </a:p>
          <a:p>
            <a:pPr marL="0" indent="0">
              <a:buNone/>
            </a:pPr>
            <a:endParaRPr lang="en-US" dirty="0"/>
          </a:p>
        </p:txBody>
      </p:sp>
      <p:sp>
        <p:nvSpPr>
          <p:cNvPr id="4" name="Footer Placeholder 3">
            <a:extLst>
              <a:ext uri="{FF2B5EF4-FFF2-40B4-BE49-F238E27FC236}">
                <a16:creationId xmlns:a16="http://schemas.microsoft.com/office/drawing/2014/main" id="{BC1958BC-0AE9-21BD-182D-4B6D85966784}"/>
              </a:ext>
            </a:extLst>
          </p:cNvPr>
          <p:cNvSpPr>
            <a:spLocks noGrp="1"/>
          </p:cNvSpPr>
          <p:nvPr>
            <p:ph type="ftr" sz="quarter" idx="11"/>
          </p:nvPr>
        </p:nvSpPr>
        <p:spPr/>
        <p:txBody>
          <a:bodyPr/>
          <a:lstStyle/>
          <a:p>
            <a:r>
              <a:rPr lang="nb-NO"/>
              <a:t>kapil@nast.edu.np  || kapilpant157</a:t>
            </a:r>
            <a:endParaRPr lang="en-US"/>
          </a:p>
        </p:txBody>
      </p:sp>
      <p:pic>
        <p:nvPicPr>
          <p:cNvPr id="6" name="Picture 5">
            <a:extLst>
              <a:ext uri="{FF2B5EF4-FFF2-40B4-BE49-F238E27FC236}">
                <a16:creationId xmlns:a16="http://schemas.microsoft.com/office/drawing/2014/main" id="{8FE1D67E-9063-2671-FE93-3BD21D1023A5}"/>
              </a:ext>
            </a:extLst>
          </p:cNvPr>
          <p:cNvPicPr>
            <a:picLocks noChangeAspect="1"/>
          </p:cNvPicPr>
          <p:nvPr/>
        </p:nvPicPr>
        <p:blipFill>
          <a:blip r:embed="rId2"/>
          <a:stretch>
            <a:fillRect/>
          </a:stretch>
        </p:blipFill>
        <p:spPr>
          <a:xfrm>
            <a:off x="6767367" y="1642680"/>
            <a:ext cx="2086266" cy="733527"/>
          </a:xfrm>
          <a:prstGeom prst="rect">
            <a:avLst/>
          </a:prstGeom>
        </p:spPr>
      </p:pic>
    </p:spTree>
    <p:extLst>
      <p:ext uri="{BB962C8B-B14F-4D97-AF65-F5344CB8AC3E}">
        <p14:creationId xmlns:p14="http://schemas.microsoft.com/office/powerpoint/2010/main" val="20585950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BFB8B-5F57-9A71-FD28-C3482203BF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5A890-DC42-09FD-34E6-347E1DD0B8B4}"/>
              </a:ext>
            </a:extLst>
          </p:cNvPr>
          <p:cNvSpPr>
            <a:spLocks noGrp="1"/>
          </p:cNvSpPr>
          <p:nvPr>
            <p:ph type="title"/>
          </p:nvPr>
        </p:nvSpPr>
        <p:spPr/>
        <p:txBody>
          <a:bodyPr/>
          <a:lstStyle/>
          <a:p>
            <a:r>
              <a:rPr lang="en-US" dirty="0"/>
              <a:t>Example Program 2 in CSMP </a:t>
            </a:r>
          </a:p>
        </p:txBody>
      </p:sp>
      <p:sp>
        <p:nvSpPr>
          <p:cNvPr id="3" name="Content Placeholder 2">
            <a:extLst>
              <a:ext uri="{FF2B5EF4-FFF2-40B4-BE49-F238E27FC236}">
                <a16:creationId xmlns:a16="http://schemas.microsoft.com/office/drawing/2014/main" id="{0E32AFD8-2A8A-829A-CD7A-F22FFE5E4065}"/>
              </a:ext>
            </a:extLst>
          </p:cNvPr>
          <p:cNvSpPr>
            <a:spLocks noGrp="1"/>
          </p:cNvSpPr>
          <p:nvPr>
            <p:ph idx="1"/>
          </p:nvPr>
        </p:nvSpPr>
        <p:spPr>
          <a:xfrm>
            <a:off x="677334" y="1668780"/>
            <a:ext cx="8596668" cy="4579620"/>
          </a:xfrm>
        </p:spPr>
        <p:txBody>
          <a:bodyPr>
            <a:normAutofit/>
          </a:bodyPr>
          <a:lstStyle/>
          <a:p>
            <a:r>
              <a:rPr lang="en-US" dirty="0"/>
              <a:t>Let we have a model represented by differential equation</a:t>
            </a:r>
          </a:p>
          <a:p>
            <a:pPr marL="0" indent="0">
              <a:buNone/>
            </a:pPr>
            <a:endParaRPr lang="en-US" dirty="0"/>
          </a:p>
        </p:txBody>
      </p:sp>
      <p:sp>
        <p:nvSpPr>
          <p:cNvPr id="4" name="Footer Placeholder 3">
            <a:extLst>
              <a:ext uri="{FF2B5EF4-FFF2-40B4-BE49-F238E27FC236}">
                <a16:creationId xmlns:a16="http://schemas.microsoft.com/office/drawing/2014/main" id="{09882A98-2CE3-3B1F-34E3-23A0E7C48833}"/>
              </a:ext>
            </a:extLst>
          </p:cNvPr>
          <p:cNvSpPr>
            <a:spLocks noGrp="1"/>
          </p:cNvSpPr>
          <p:nvPr>
            <p:ph type="ftr" sz="quarter" idx="11"/>
          </p:nvPr>
        </p:nvSpPr>
        <p:spPr/>
        <p:txBody>
          <a:bodyPr/>
          <a:lstStyle/>
          <a:p>
            <a:r>
              <a:rPr lang="nb-NO"/>
              <a:t>kapil@nast.edu.np  || kapilpant157</a:t>
            </a:r>
            <a:endParaRPr lang="en-US"/>
          </a:p>
        </p:txBody>
      </p:sp>
      <p:pic>
        <p:nvPicPr>
          <p:cNvPr id="5" name="Content Placeholder 6">
            <a:extLst>
              <a:ext uri="{FF2B5EF4-FFF2-40B4-BE49-F238E27FC236}">
                <a16:creationId xmlns:a16="http://schemas.microsoft.com/office/drawing/2014/main" id="{F2036129-6382-4FF2-B6B4-4404C89A2319}"/>
              </a:ext>
            </a:extLst>
          </p:cNvPr>
          <p:cNvPicPr>
            <a:picLocks noGrp="1" noChangeAspect="1"/>
          </p:cNvPicPr>
          <p:nvPr/>
        </p:nvPicPr>
        <p:blipFill>
          <a:blip r:embed="rId2"/>
          <a:stretch>
            <a:fillRect/>
          </a:stretch>
        </p:blipFill>
        <p:spPr>
          <a:xfrm>
            <a:off x="2368815" y="2271381"/>
            <a:ext cx="2914650" cy="1143000"/>
          </a:xfrm>
          <a:prstGeom prst="rect">
            <a:avLst/>
          </a:prstGeom>
        </p:spPr>
      </p:pic>
    </p:spTree>
    <p:extLst>
      <p:ext uri="{BB962C8B-B14F-4D97-AF65-F5344CB8AC3E}">
        <p14:creationId xmlns:p14="http://schemas.microsoft.com/office/powerpoint/2010/main" val="32497191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813C4-F9BE-FC23-4055-3FC289EA6D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0896C-52F0-E371-7A56-BE51F1D17FB5}"/>
              </a:ext>
            </a:extLst>
          </p:cNvPr>
          <p:cNvSpPr>
            <a:spLocks noGrp="1"/>
          </p:cNvSpPr>
          <p:nvPr>
            <p:ph type="title"/>
          </p:nvPr>
        </p:nvSpPr>
        <p:spPr/>
        <p:txBody>
          <a:bodyPr/>
          <a:lstStyle/>
          <a:p>
            <a:r>
              <a:rPr lang="en-US" dirty="0"/>
              <a:t>Example Program 2 in CSMP </a:t>
            </a:r>
          </a:p>
        </p:txBody>
      </p:sp>
      <p:sp>
        <p:nvSpPr>
          <p:cNvPr id="3" name="Content Placeholder 2">
            <a:extLst>
              <a:ext uri="{FF2B5EF4-FFF2-40B4-BE49-F238E27FC236}">
                <a16:creationId xmlns:a16="http://schemas.microsoft.com/office/drawing/2014/main" id="{14E758FA-D816-B8F2-3715-713372AA35B7}"/>
              </a:ext>
            </a:extLst>
          </p:cNvPr>
          <p:cNvSpPr>
            <a:spLocks noGrp="1"/>
          </p:cNvSpPr>
          <p:nvPr>
            <p:ph idx="1"/>
          </p:nvPr>
        </p:nvSpPr>
        <p:spPr>
          <a:xfrm>
            <a:off x="677334" y="1668780"/>
            <a:ext cx="8596668" cy="4579620"/>
          </a:xfrm>
        </p:spPr>
        <p:txBody>
          <a:bodyPr>
            <a:normAutofit/>
          </a:bodyPr>
          <a:lstStyle/>
          <a:p>
            <a:pPr lvl="1">
              <a:buNone/>
            </a:pPr>
            <a:r>
              <a:rPr lang="en-US" dirty="0"/>
              <a:t>TITLE SIMPLE CSTR REACTION SIMLUATION</a:t>
            </a:r>
          </a:p>
          <a:p>
            <a:pPr lvl="1">
              <a:buNone/>
            </a:pPr>
            <a:r>
              <a:rPr lang="en-US" dirty="0"/>
              <a:t>*</a:t>
            </a:r>
          </a:p>
          <a:p>
            <a:pPr lvl="1">
              <a:buNone/>
            </a:pPr>
            <a:r>
              <a:rPr lang="en-US" dirty="0"/>
              <a:t>PARAM ICC=0, THETA=2.0, K=1.0, C</a:t>
            </a:r>
            <a:r>
              <a:rPr lang="en-US" baseline="-25000" dirty="0"/>
              <a:t>0</a:t>
            </a:r>
            <a:r>
              <a:rPr lang="en-US" dirty="0"/>
              <a:t>=1.0,V=1.0</a:t>
            </a:r>
          </a:p>
          <a:p>
            <a:pPr lvl="1">
              <a:buNone/>
            </a:pPr>
            <a:r>
              <a:rPr lang="en-US" dirty="0"/>
              <a:t>*</a:t>
            </a:r>
          </a:p>
          <a:p>
            <a:pPr lvl="1">
              <a:buNone/>
            </a:pPr>
            <a:r>
              <a:rPr lang="en-US" dirty="0"/>
              <a:t>DCDT=(C</a:t>
            </a:r>
            <a:r>
              <a:rPr lang="en-US" baseline="-25000" dirty="0"/>
              <a:t>0</a:t>
            </a:r>
            <a:r>
              <a:rPr lang="en-US" dirty="0"/>
              <a:t>-C)/THETA-K*C</a:t>
            </a:r>
          </a:p>
          <a:p>
            <a:pPr lvl="1">
              <a:buNone/>
            </a:pPr>
            <a:r>
              <a:rPr lang="en-US" dirty="0"/>
              <a:t>C=INTGRL(ICC,DCDT)</a:t>
            </a:r>
          </a:p>
          <a:p>
            <a:pPr lvl="1">
              <a:buNone/>
            </a:pPr>
            <a:r>
              <a:rPr lang="en-US" dirty="0"/>
              <a:t>*</a:t>
            </a:r>
          </a:p>
          <a:p>
            <a:pPr lvl="1">
              <a:buNone/>
            </a:pPr>
            <a:r>
              <a:rPr lang="en-US" dirty="0"/>
              <a:t>TIMER FINTIM=15.0, DELT=0.05, PRDEL=0.5</a:t>
            </a:r>
          </a:p>
          <a:p>
            <a:pPr lvl="1">
              <a:buNone/>
            </a:pPr>
            <a:r>
              <a:rPr lang="en-US" dirty="0"/>
              <a:t>PRINT C, DCDT</a:t>
            </a:r>
          </a:p>
          <a:p>
            <a:pPr lvl="1">
              <a:buNone/>
            </a:pPr>
            <a:r>
              <a:rPr lang="en-US" dirty="0"/>
              <a:t>END</a:t>
            </a:r>
          </a:p>
          <a:p>
            <a:pPr lvl="1">
              <a:buNone/>
            </a:pPr>
            <a:r>
              <a:rPr lang="en-US" dirty="0"/>
              <a:t>STOP</a:t>
            </a:r>
          </a:p>
          <a:p>
            <a:pPr lvl="1">
              <a:buNone/>
            </a:pPr>
            <a:endParaRPr lang="en-US" dirty="0"/>
          </a:p>
        </p:txBody>
      </p:sp>
      <p:sp>
        <p:nvSpPr>
          <p:cNvPr id="4" name="Footer Placeholder 3">
            <a:extLst>
              <a:ext uri="{FF2B5EF4-FFF2-40B4-BE49-F238E27FC236}">
                <a16:creationId xmlns:a16="http://schemas.microsoft.com/office/drawing/2014/main" id="{EB19BE58-9F19-5E78-0A6F-9A1473AE6229}"/>
              </a:ext>
            </a:extLst>
          </p:cNvPr>
          <p:cNvSpPr>
            <a:spLocks noGrp="1"/>
          </p:cNvSpPr>
          <p:nvPr>
            <p:ph type="ftr" sz="quarter" idx="11"/>
          </p:nvPr>
        </p:nvSpPr>
        <p:spPr/>
        <p:txBody>
          <a:bodyPr/>
          <a:lstStyle/>
          <a:p>
            <a:r>
              <a:rPr lang="nb-NO"/>
              <a:t>kapil@nast.edu.np  || kapilpant157</a:t>
            </a:r>
            <a:endParaRPr lang="en-US"/>
          </a:p>
        </p:txBody>
      </p:sp>
      <p:pic>
        <p:nvPicPr>
          <p:cNvPr id="5" name="Content Placeholder 6">
            <a:extLst>
              <a:ext uri="{FF2B5EF4-FFF2-40B4-BE49-F238E27FC236}">
                <a16:creationId xmlns:a16="http://schemas.microsoft.com/office/drawing/2014/main" id="{C819F5F8-F9E7-6780-4CB8-0E80EABEAC0F}"/>
              </a:ext>
            </a:extLst>
          </p:cNvPr>
          <p:cNvPicPr>
            <a:picLocks noGrp="1" noChangeAspect="1"/>
          </p:cNvPicPr>
          <p:nvPr/>
        </p:nvPicPr>
        <p:blipFill>
          <a:blip r:embed="rId2"/>
          <a:stretch>
            <a:fillRect/>
          </a:stretch>
        </p:blipFill>
        <p:spPr>
          <a:xfrm>
            <a:off x="6597915" y="1846580"/>
            <a:ext cx="2914650" cy="1143000"/>
          </a:xfrm>
          <a:prstGeom prst="rect">
            <a:avLst/>
          </a:prstGeom>
        </p:spPr>
      </p:pic>
    </p:spTree>
    <p:extLst>
      <p:ext uri="{BB962C8B-B14F-4D97-AF65-F5344CB8AC3E}">
        <p14:creationId xmlns:p14="http://schemas.microsoft.com/office/powerpoint/2010/main" val="16736677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D0E8F-0D7B-A596-E22E-8D89B286D2C2}"/>
              </a:ext>
            </a:extLst>
          </p:cNvPr>
          <p:cNvSpPr>
            <a:spLocks noGrp="1"/>
          </p:cNvSpPr>
          <p:nvPr>
            <p:ph type="title"/>
          </p:nvPr>
        </p:nvSpPr>
        <p:spPr/>
        <p:txBody>
          <a:bodyPr/>
          <a:lstStyle/>
          <a:p>
            <a:r>
              <a:rPr lang="en-US" dirty="0"/>
              <a:t>Application, Advantages and Limitations</a:t>
            </a:r>
          </a:p>
        </p:txBody>
      </p:sp>
      <p:sp>
        <p:nvSpPr>
          <p:cNvPr id="3" name="Content Placeholder 2">
            <a:extLst>
              <a:ext uri="{FF2B5EF4-FFF2-40B4-BE49-F238E27FC236}">
                <a16:creationId xmlns:a16="http://schemas.microsoft.com/office/drawing/2014/main" id="{A6D7CFB4-F8EF-C55E-0B78-F1C7369C7D27}"/>
              </a:ext>
            </a:extLst>
          </p:cNvPr>
          <p:cNvSpPr>
            <a:spLocks noGrp="1"/>
          </p:cNvSpPr>
          <p:nvPr>
            <p:ph idx="1"/>
          </p:nvPr>
        </p:nvSpPr>
        <p:spPr/>
        <p:txBody>
          <a:bodyPr>
            <a:normAutofit fontScale="92500" lnSpcReduction="20000"/>
          </a:bodyPr>
          <a:lstStyle/>
          <a:p>
            <a:r>
              <a:rPr lang="en-US" dirty="0"/>
              <a:t>Applications:</a:t>
            </a:r>
          </a:p>
          <a:p>
            <a:pPr lvl="1"/>
            <a:r>
              <a:rPr lang="en-US" dirty="0"/>
              <a:t>Engineering</a:t>
            </a:r>
          </a:p>
          <a:p>
            <a:pPr lvl="1"/>
            <a:r>
              <a:rPr lang="en-US" dirty="0"/>
              <a:t>Environmental Systems</a:t>
            </a:r>
          </a:p>
          <a:p>
            <a:pPr lvl="1"/>
            <a:r>
              <a:rPr lang="en-US" dirty="0"/>
              <a:t>Economics</a:t>
            </a:r>
          </a:p>
          <a:p>
            <a:r>
              <a:rPr lang="en-US" dirty="0"/>
              <a:t>Advantages:</a:t>
            </a:r>
          </a:p>
          <a:p>
            <a:pPr lvl="1"/>
            <a:r>
              <a:rPr lang="en-US" dirty="0"/>
              <a:t>Modular System Design</a:t>
            </a:r>
          </a:p>
          <a:p>
            <a:pPr lvl="1"/>
            <a:r>
              <a:rPr lang="en-US" dirty="0"/>
              <a:t>Real-Time Simulation</a:t>
            </a:r>
          </a:p>
          <a:p>
            <a:pPr lvl="1"/>
            <a:r>
              <a:rPr lang="en-US" dirty="0"/>
              <a:t>Hybrid Modeling</a:t>
            </a:r>
          </a:p>
          <a:p>
            <a:r>
              <a:rPr lang="en-US" dirty="0"/>
              <a:t>Limitations:</a:t>
            </a:r>
          </a:p>
          <a:p>
            <a:pPr lvl="1"/>
            <a:r>
              <a:rPr lang="en-US" dirty="0"/>
              <a:t>Steep Learning Curve</a:t>
            </a:r>
          </a:p>
          <a:p>
            <a:pPr lvl="1"/>
            <a:r>
              <a:rPr lang="en-US" dirty="0"/>
              <a:t>Complexity in Hybrid Models</a:t>
            </a:r>
          </a:p>
          <a:p>
            <a:pPr lvl="1"/>
            <a:r>
              <a:rPr lang="en-US" dirty="0"/>
              <a:t>Performance</a:t>
            </a:r>
          </a:p>
          <a:p>
            <a:pPr marL="0" indent="0">
              <a:buNone/>
            </a:pPr>
            <a:endParaRPr lang="en-US" dirty="0"/>
          </a:p>
        </p:txBody>
      </p:sp>
      <p:sp>
        <p:nvSpPr>
          <p:cNvPr id="4" name="Footer Placeholder 3">
            <a:extLst>
              <a:ext uri="{FF2B5EF4-FFF2-40B4-BE49-F238E27FC236}">
                <a16:creationId xmlns:a16="http://schemas.microsoft.com/office/drawing/2014/main" id="{A7E48183-DEC9-EFBA-858C-6F1A7ED44529}"/>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4169049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2728</TotalTime>
  <Words>8253</Words>
  <Application>Microsoft Office PowerPoint</Application>
  <PresentationFormat>Widescreen</PresentationFormat>
  <Paragraphs>932</Paragraphs>
  <Slides>40</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-apple-system</vt:lpstr>
      <vt:lpstr>Aptos</vt:lpstr>
      <vt:lpstr>Arial</vt:lpstr>
      <vt:lpstr>Trebuchet MS</vt:lpstr>
      <vt:lpstr>Wingdings 3</vt:lpstr>
      <vt:lpstr>Facet</vt:lpstr>
      <vt:lpstr>Continuous System </vt:lpstr>
      <vt:lpstr>Continuous System</vt:lpstr>
      <vt:lpstr>Continuous System Simulation</vt:lpstr>
      <vt:lpstr>Continuous System Models</vt:lpstr>
      <vt:lpstr>summary.</vt:lpstr>
      <vt:lpstr>Linear Models</vt:lpstr>
      <vt:lpstr>Nonlinear Models</vt:lpstr>
      <vt:lpstr>Differential Equations</vt:lpstr>
      <vt:lpstr>Example</vt:lpstr>
      <vt:lpstr>Example</vt:lpstr>
      <vt:lpstr>Comparison of Models</vt:lpstr>
      <vt:lpstr>Partial Differ..</vt:lpstr>
      <vt:lpstr>Applications of PDE Simulation </vt:lpstr>
      <vt:lpstr>Analog Computers</vt:lpstr>
      <vt:lpstr>Analog Computers</vt:lpstr>
      <vt:lpstr>Components of Analog Computers</vt:lpstr>
      <vt:lpstr>Analog methods</vt:lpstr>
      <vt:lpstr>Liver model</vt:lpstr>
      <vt:lpstr>Automobile suspension</vt:lpstr>
      <vt:lpstr>Hybrid Computers</vt:lpstr>
      <vt:lpstr>Digital Analog Simulator</vt:lpstr>
      <vt:lpstr>Continuous System Simulation Language (CSSLs)</vt:lpstr>
      <vt:lpstr>Applications, Advantages, and Limitations </vt:lpstr>
      <vt:lpstr>Continuous Simulation languages</vt:lpstr>
      <vt:lpstr>Some Discrete-Event Simulation Languages</vt:lpstr>
      <vt:lpstr>Some Hybrid Simulation Languages</vt:lpstr>
      <vt:lpstr>CSMP III</vt:lpstr>
      <vt:lpstr>CSMP III: Types of Statements</vt:lpstr>
      <vt:lpstr>CSMP III Structure Statement</vt:lpstr>
      <vt:lpstr>CSMP III: Functional Block</vt:lpstr>
      <vt:lpstr>CSMP III: Functional Block</vt:lpstr>
      <vt:lpstr>CSMP III Data Statement</vt:lpstr>
      <vt:lpstr>CSMP III Control Statements</vt:lpstr>
      <vt:lpstr>CSMP III Control Statements</vt:lpstr>
      <vt:lpstr>CSMP III Hybrid Statement</vt:lpstr>
      <vt:lpstr>Example Program 1 in CSMP </vt:lpstr>
      <vt:lpstr>Example Program 1 in CSMP </vt:lpstr>
      <vt:lpstr>Example Program 2 in CSMP </vt:lpstr>
      <vt:lpstr>Example Program 2 in CSMP </vt:lpstr>
      <vt:lpstr>Application, Advantages and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KAPIL DEV PANT</dc:creator>
  <cp:lastModifiedBy>Kapil Dev Pant</cp:lastModifiedBy>
  <cp:revision>162</cp:revision>
  <dcterms:created xsi:type="dcterms:W3CDTF">2024-11-16T11:34:59Z</dcterms:created>
  <dcterms:modified xsi:type="dcterms:W3CDTF">2025-12-01T01:25:18Z</dcterms:modified>
</cp:coreProperties>
</file>