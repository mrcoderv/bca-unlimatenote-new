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68" r:id="rId2"/>
    <p:sldId id="256" r:id="rId3"/>
    <p:sldId id="257" r:id="rId4"/>
    <p:sldId id="269" r:id="rId5"/>
    <p:sldId id="270" r:id="rId6"/>
    <p:sldId id="259" r:id="rId7"/>
    <p:sldId id="260" r:id="rId8"/>
    <p:sldId id="271" r:id="rId9"/>
    <p:sldId id="263" r:id="rId10"/>
    <p:sldId id="273" r:id="rId11"/>
    <p:sldId id="272" r:id="rId12"/>
    <p:sldId id="264" r:id="rId13"/>
    <p:sldId id="276" r:id="rId14"/>
    <p:sldId id="275" r:id="rId15"/>
    <p:sldId id="265" r:id="rId16"/>
    <p:sldId id="277" r:id="rId17"/>
    <p:sldId id="274" r:id="rId18"/>
    <p:sldId id="266" r:id="rId19"/>
    <p:sldId id="27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39" autoAdjust="0"/>
  </p:normalViewPr>
  <p:slideViewPr>
    <p:cSldViewPr snapToGrid="0" snapToObjects="1">
      <p:cViewPr varScale="1">
        <p:scale>
          <a:sx n="49" d="100"/>
          <a:sy n="49" d="100"/>
        </p:scale>
        <p:origin x="10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E9C84-64DB-4FA4-9D24-FD1931282BED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96F3F-3F6C-46DE-92C2-870D243DA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97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IID: Independent and identically distributed variables.</a:t>
            </a:r>
          </a:p>
          <a:p>
            <a:r>
              <a:rPr lang="en-US" dirty="0"/>
              <a:t>Central Limit Theorem: Sum of large IID variables ~ Normal distribution.</a:t>
            </a:r>
          </a:p>
          <a:p>
            <a:r>
              <a:rPr lang="en-US" dirty="0"/>
              <a:t>Justifies estimation techniques in simulation output analysis.</a:t>
            </a:r>
          </a:p>
          <a:p>
            <a:endParaRPr lang="en-US" b="1" dirty="0"/>
          </a:p>
          <a:p>
            <a:r>
              <a:rPr lang="en-US" b="1" dirty="0"/>
              <a:t>Nature of the Problem</a:t>
            </a:r>
          </a:p>
          <a:p>
            <a:r>
              <a:rPr lang="en-US" dirty="0"/>
              <a:t>When simulations involve </a:t>
            </a:r>
            <a:r>
              <a:rPr lang="en-US" b="1" dirty="0"/>
              <a:t>stochastic (random) inputs</a:t>
            </a:r>
            <a:r>
              <a:rPr lang="en-US" dirty="0"/>
              <a:t>, the outputs generated are also </a:t>
            </a:r>
            <a:r>
              <a:rPr lang="en-US" b="1" dirty="0"/>
              <a:t>random variables</a:t>
            </a:r>
            <a:r>
              <a:rPr lang="en-US" dirty="0"/>
              <a:t>. This creates a fundamental challenge in analyzing simulation results — unlike deterministic models, the outputs from stochastic simulations vary from run to run. Here's a breakdown of why this matters:</a:t>
            </a:r>
          </a:p>
          <a:p>
            <a:r>
              <a:rPr lang="en-US" b="1" dirty="0"/>
              <a:t>1. Simulation Output is Typically Not IID</a:t>
            </a:r>
          </a:p>
          <a:p>
            <a:r>
              <a:rPr lang="en-US" dirty="0"/>
              <a:t>In traditional statistics, many analytical techniques assume that the data is </a:t>
            </a:r>
            <a:r>
              <a:rPr lang="en-US" b="1" dirty="0"/>
              <a:t>independent and identically distributed (IID)</a:t>
            </a:r>
            <a:r>
              <a:rPr lang="en-US" dirty="0"/>
              <a:t>.</a:t>
            </a:r>
          </a:p>
          <a:p>
            <a:r>
              <a:rPr lang="en-US" dirty="0"/>
              <a:t>However, </a:t>
            </a:r>
            <a:r>
              <a:rPr lang="en-US" b="1" dirty="0"/>
              <a:t>simulation outputs often violate these assumptions</a:t>
            </a:r>
            <a:r>
              <a:rPr lang="en-US" dirty="0"/>
              <a:t>. For example, in a queue simulation:</a:t>
            </a:r>
          </a:p>
          <a:p>
            <a:pPr lvl="1"/>
            <a:r>
              <a:rPr lang="en-US" dirty="0"/>
              <a:t>The waiting time of customer 2 depends on the waiting time of customer 1.</a:t>
            </a:r>
          </a:p>
          <a:p>
            <a:pPr lvl="1"/>
            <a:r>
              <a:rPr lang="en-US" dirty="0"/>
              <a:t>This introduces </a:t>
            </a:r>
            <a:r>
              <a:rPr lang="en-US" b="1" dirty="0"/>
              <a:t>autocorrelation</a:t>
            </a:r>
            <a:r>
              <a:rPr lang="en-US" dirty="0"/>
              <a:t> — a form of dependency between successive observations.</a:t>
            </a:r>
          </a:p>
          <a:p>
            <a:r>
              <a:rPr lang="en-US" b="1" dirty="0"/>
              <a:t>2. Difficulty Applying Classical Statistical Techniques</a:t>
            </a:r>
          </a:p>
          <a:p>
            <a:r>
              <a:rPr lang="en-US" dirty="0"/>
              <a:t>Techniques like calculating a simple mean or variance are </a:t>
            </a:r>
            <a:r>
              <a:rPr lang="en-US" b="1" dirty="0"/>
              <a:t>not always valid</a:t>
            </a:r>
            <a:r>
              <a:rPr lang="en-US" dirty="0"/>
              <a:t> for simulation outputs because:</a:t>
            </a:r>
          </a:p>
          <a:p>
            <a:pPr lvl="1"/>
            <a:r>
              <a:rPr lang="en-US" dirty="0"/>
              <a:t>The output data may have </a:t>
            </a:r>
            <a:r>
              <a:rPr lang="en-US" b="1" dirty="0"/>
              <a:t>memory</a:t>
            </a:r>
            <a:r>
              <a:rPr lang="en-US" dirty="0"/>
              <a:t> (one value affects the next).</a:t>
            </a:r>
          </a:p>
          <a:p>
            <a:pPr lvl="1"/>
            <a:r>
              <a:rPr lang="en-US" dirty="0"/>
              <a:t>The data may not have </a:t>
            </a:r>
            <a:r>
              <a:rPr lang="en-US" b="1" dirty="0"/>
              <a:t>reached steady-state</a:t>
            </a:r>
            <a:r>
              <a:rPr lang="en-US" dirty="0"/>
              <a:t>, especially in long-run simulations.</a:t>
            </a:r>
          </a:p>
          <a:p>
            <a:r>
              <a:rPr lang="en-US" dirty="0"/>
              <a:t>As a result, </a:t>
            </a:r>
            <a:r>
              <a:rPr lang="en-US" b="1" dirty="0"/>
              <a:t>specialized statistical techniques</a:t>
            </a:r>
            <a:r>
              <a:rPr lang="en-US" dirty="0"/>
              <a:t> are required to deal with:</a:t>
            </a:r>
          </a:p>
          <a:p>
            <a:pPr lvl="1"/>
            <a:r>
              <a:rPr lang="en-US" dirty="0"/>
              <a:t>Dependent data.</a:t>
            </a:r>
          </a:p>
          <a:p>
            <a:pPr lvl="1"/>
            <a:r>
              <a:rPr lang="en-US" dirty="0"/>
              <a:t>Non-stationary processes.</a:t>
            </a:r>
          </a:p>
          <a:p>
            <a:pPr lvl="1"/>
            <a:r>
              <a:rPr lang="en-US" dirty="0"/>
              <a:t>Biased estimations due to system warm-up effects.</a:t>
            </a:r>
          </a:p>
          <a:p>
            <a:r>
              <a:rPr lang="en-US" b="1" dirty="0"/>
              <a:t>3. Example: Queue Simulation</a:t>
            </a:r>
          </a:p>
          <a:p>
            <a:r>
              <a:rPr lang="en-US" dirty="0"/>
              <a:t>Consider a single-server queue:</a:t>
            </a:r>
          </a:p>
          <a:p>
            <a:pPr lvl="1"/>
            <a:r>
              <a:rPr lang="en-US" dirty="0"/>
              <a:t>Early in the simulation, the system is empty, so initial customers have no wait.</a:t>
            </a:r>
          </a:p>
          <a:p>
            <a:pPr lvl="1"/>
            <a:r>
              <a:rPr lang="en-US" dirty="0"/>
              <a:t>As time progresses and the queue builds up, wait times increase.</a:t>
            </a:r>
          </a:p>
          <a:p>
            <a:r>
              <a:rPr lang="en-US" dirty="0"/>
              <a:t>This </a:t>
            </a:r>
            <a:r>
              <a:rPr lang="en-US" b="1" dirty="0"/>
              <a:t>non-stationary behavior</a:t>
            </a:r>
            <a:r>
              <a:rPr lang="en-US" dirty="0"/>
              <a:t> makes early data unrepresentative of long-term performance.</a:t>
            </a:r>
          </a:p>
          <a:p>
            <a:r>
              <a:rPr lang="en-US" b="1" dirty="0"/>
              <a:t>4. Need for Output Analysis</a:t>
            </a:r>
          </a:p>
          <a:p>
            <a:r>
              <a:rPr lang="en-US" dirty="0"/>
              <a:t>The goal of output analysis is to obtain </a:t>
            </a:r>
            <a:r>
              <a:rPr lang="en-US" b="1" dirty="0"/>
              <a:t>reliable estimates</a:t>
            </a:r>
            <a:r>
              <a:rPr lang="en-US" dirty="0"/>
              <a:t> (like mean, variance, confidence intervals) of the performance metrics from simulation.</a:t>
            </a:r>
          </a:p>
          <a:p>
            <a:r>
              <a:rPr lang="en-US" dirty="0"/>
              <a:t>To achieve this, simulation analysts must:</a:t>
            </a:r>
          </a:p>
          <a:p>
            <a:pPr lvl="1"/>
            <a:r>
              <a:rPr lang="en-US" dirty="0"/>
              <a:t>Understand the </a:t>
            </a:r>
            <a:r>
              <a:rPr lang="en-US" b="1" dirty="0"/>
              <a:t>nature of their simulation</a:t>
            </a:r>
            <a:r>
              <a:rPr lang="en-US" dirty="0"/>
              <a:t> (terminating vs. steady-state).</a:t>
            </a:r>
          </a:p>
          <a:p>
            <a:pPr lvl="1"/>
            <a:r>
              <a:rPr lang="en-US" dirty="0"/>
              <a:t>Choose the correct </a:t>
            </a:r>
            <a:r>
              <a:rPr lang="en-US" b="1" dirty="0"/>
              <a:t>estimation technique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Possibly </a:t>
            </a:r>
            <a:r>
              <a:rPr lang="en-US" b="1" dirty="0"/>
              <a:t>discard initial outputs</a:t>
            </a:r>
            <a:r>
              <a:rPr lang="en-US" dirty="0"/>
              <a:t> (to eliminate bias).</a:t>
            </a:r>
          </a:p>
          <a:p>
            <a:pPr lvl="1"/>
            <a:r>
              <a:rPr lang="en-US" dirty="0"/>
              <a:t>Run the simulation </a:t>
            </a:r>
            <a:r>
              <a:rPr lang="en-US" b="1" dirty="0"/>
              <a:t>multiple times</a:t>
            </a:r>
            <a:r>
              <a:rPr lang="en-US" dirty="0"/>
              <a:t> (replications) to ensure statistical validity.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nature of the problem</a:t>
            </a:r>
            <a:r>
              <a:rPr lang="en-US" dirty="0"/>
              <a:t> in output analysis lies in the </a:t>
            </a:r>
            <a:r>
              <a:rPr lang="en-US" b="1" dirty="0"/>
              <a:t>randomness and dependence</a:t>
            </a:r>
            <a:r>
              <a:rPr lang="en-US" dirty="0"/>
              <a:t> of simulation data. Without proper handling, this can lead to </a:t>
            </a:r>
            <a:r>
              <a:rPr lang="en-US" b="1" dirty="0"/>
              <a:t>incorrect conclusions</a:t>
            </a:r>
            <a:r>
              <a:rPr lang="en-US" dirty="0"/>
              <a:t>. That’s why simulation output analysis is a specialized field in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07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System Type</a:t>
            </a:r>
          </a:p>
          <a:p>
            <a:r>
              <a:rPr lang="en-US" b="1" dirty="0"/>
              <a:t>Deterministic</a:t>
            </a:r>
            <a:r>
              <a:rPr lang="en-US" dirty="0"/>
              <a:t>: No randomness (e.g., traffic light timer)</a:t>
            </a:r>
          </a:p>
          <a:p>
            <a:r>
              <a:rPr lang="en-US" b="1" dirty="0"/>
              <a:t>Stochastic</a:t>
            </a:r>
            <a:r>
              <a:rPr lang="en-US" dirty="0"/>
              <a:t>: Contains randomness (e.g., arrival of customers in a bank)</a:t>
            </a:r>
          </a:p>
          <a:p>
            <a:r>
              <a:rPr lang="en-US" b="1" dirty="0"/>
              <a:t>2. Time Orientation</a:t>
            </a:r>
          </a:p>
          <a:p>
            <a:r>
              <a:rPr lang="en-US" b="1" dirty="0"/>
              <a:t>Static (Monte Carlo simulation)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No concept of time</a:t>
            </a:r>
          </a:p>
          <a:p>
            <a:pPr lvl="1"/>
            <a:r>
              <a:rPr lang="en-US" dirty="0"/>
              <a:t>Analyzes a system at a particular point</a:t>
            </a:r>
          </a:p>
          <a:p>
            <a:pPr lvl="1"/>
            <a:r>
              <a:rPr lang="en-US" dirty="0"/>
              <a:t>Example: Estimating Pi using random sampling</a:t>
            </a:r>
          </a:p>
          <a:p>
            <a:r>
              <a:rPr lang="en-US" b="1" dirty="0"/>
              <a:t>Dynamic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Changes with time</a:t>
            </a:r>
          </a:p>
          <a:p>
            <a:pPr lvl="1"/>
            <a:r>
              <a:rPr lang="en-US" dirty="0"/>
              <a:t>Models system behavior over time</a:t>
            </a:r>
          </a:p>
          <a:p>
            <a:pPr lvl="1"/>
            <a:r>
              <a:rPr lang="en-US" dirty="0"/>
              <a:t>Example: Customer flow through a service system</a:t>
            </a:r>
          </a:p>
          <a:p>
            <a:r>
              <a:rPr lang="en-US" b="1" dirty="0"/>
              <a:t>3. Duration</a:t>
            </a:r>
          </a:p>
          <a:p>
            <a:r>
              <a:rPr lang="en-US" b="1" dirty="0"/>
              <a:t>Terminating System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Has a natural start and end point</a:t>
            </a:r>
          </a:p>
          <a:p>
            <a:pPr lvl="1"/>
            <a:r>
              <a:rPr lang="en-US" dirty="0"/>
              <a:t>Example: Daily operation of a bank (9 AM to 5 PM)</a:t>
            </a:r>
          </a:p>
          <a:p>
            <a:r>
              <a:rPr lang="en-US" b="1" dirty="0"/>
              <a:t>Non-Terminating (Steady-State)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Runs continuously without a fixed end</a:t>
            </a:r>
          </a:p>
          <a:p>
            <a:pPr lvl="1"/>
            <a:r>
              <a:rPr lang="en-US" dirty="0"/>
              <a:t>Example: 24/7 manufacturing plant</a:t>
            </a:r>
          </a:p>
          <a:p>
            <a:r>
              <a:rPr lang="en-US" b="1" dirty="0"/>
              <a:t>4. Complexity</a:t>
            </a:r>
          </a:p>
          <a:p>
            <a:r>
              <a:rPr lang="en-US" dirty="0"/>
              <a:t>Number of entities, queues, resources, and decision rules</a:t>
            </a:r>
          </a:p>
          <a:p>
            <a:r>
              <a:rPr lang="en-US" dirty="0"/>
              <a:t>High complexity systems often </a:t>
            </a:r>
            <a:r>
              <a:rPr lang="en-US" b="1" dirty="0"/>
              <a:t>require simulation</a:t>
            </a:r>
            <a:r>
              <a:rPr lang="en-US" dirty="0"/>
              <a:t> when analytical models fail</a:t>
            </a:r>
          </a:p>
          <a:p>
            <a:endParaRPr lang="en-US" b="1" dirty="0"/>
          </a:p>
          <a:p>
            <a:r>
              <a:rPr lang="en-US" b="1" dirty="0"/>
              <a:t>5. Decision Context</a:t>
            </a:r>
          </a:p>
          <a:p>
            <a:r>
              <a:rPr lang="en-US" b="1" dirty="0"/>
              <a:t>Performance Evaluation</a:t>
            </a:r>
            <a:r>
              <a:rPr lang="en-US" dirty="0"/>
              <a:t>: Measure KPIs like waiting time, utilization</a:t>
            </a:r>
          </a:p>
          <a:p>
            <a:r>
              <a:rPr lang="en-US" b="1" dirty="0"/>
              <a:t>System Comparison</a:t>
            </a:r>
            <a:r>
              <a:rPr lang="en-US" dirty="0"/>
              <a:t>: Compare multiple configurations (e.g., 2 vs. 3 counters)</a:t>
            </a:r>
          </a:p>
          <a:p>
            <a:r>
              <a:rPr lang="en-US" b="1" dirty="0"/>
              <a:t>Optimization</a:t>
            </a:r>
            <a:r>
              <a:rPr lang="en-US" dirty="0"/>
              <a:t>: Find the best policy or setting</a:t>
            </a:r>
          </a:p>
          <a:p>
            <a:r>
              <a:rPr lang="en-US" b="1" dirty="0"/>
              <a:t>Prediction</a:t>
            </a:r>
            <a:r>
              <a:rPr lang="en-US" dirty="0"/>
              <a:t>: Forecast future performance under different scenarios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36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Types of Simulations (Comprehensive Note)</a:t>
            </a:r>
          </a:p>
          <a:p>
            <a:r>
              <a:rPr lang="en-US" dirty="0"/>
              <a:t>Simulation models can be broadly categorized based on how the simulation </a:t>
            </a:r>
            <a:r>
              <a:rPr lang="en-US" b="1" dirty="0"/>
              <a:t>starts, progresses, and ends</a:t>
            </a:r>
            <a:r>
              <a:rPr lang="en-US" dirty="0"/>
              <a:t>. This classification is crucial because it influences </a:t>
            </a:r>
            <a:r>
              <a:rPr lang="en-US" b="1" dirty="0"/>
              <a:t>how output data should be analyzed</a:t>
            </a:r>
            <a:r>
              <a:rPr lang="en-US" dirty="0"/>
              <a:t> — especially in terms of bias, statistical estimation, and run length.</a:t>
            </a:r>
          </a:p>
          <a:p>
            <a:r>
              <a:rPr lang="en-US" dirty="0"/>
              <a:t>There are two primary types:</a:t>
            </a:r>
          </a:p>
          <a:p>
            <a:r>
              <a:rPr lang="en-US" b="1" dirty="0"/>
              <a:t>1. Terminating (Finite-Horizon) Simulations</a:t>
            </a:r>
          </a:p>
          <a:p>
            <a:r>
              <a:rPr lang="en-US" b="1" dirty="0"/>
              <a:t>Definition:</a:t>
            </a:r>
            <a:endParaRPr lang="en-US" dirty="0"/>
          </a:p>
          <a:p>
            <a:r>
              <a:rPr lang="en-US" dirty="0"/>
              <a:t>A simulation that </a:t>
            </a:r>
            <a:r>
              <a:rPr lang="en-US" b="1" dirty="0"/>
              <a:t>ends at a specific point in time</a:t>
            </a:r>
            <a:r>
              <a:rPr lang="en-US" dirty="0"/>
              <a:t> or </a:t>
            </a:r>
            <a:r>
              <a:rPr lang="en-US" b="1" dirty="0"/>
              <a:t>upon the occurrence of a specific event</a:t>
            </a:r>
            <a:r>
              <a:rPr lang="en-US" dirty="0"/>
              <a:t>.</a:t>
            </a:r>
          </a:p>
          <a:p>
            <a:r>
              <a:rPr lang="en-US" dirty="0"/>
              <a:t>These simulations </a:t>
            </a:r>
            <a:r>
              <a:rPr lang="en-US" b="1" dirty="0"/>
              <a:t>start with a well-defined initial state</a:t>
            </a:r>
            <a:r>
              <a:rPr lang="en-US" dirty="0"/>
              <a:t> and </a:t>
            </a:r>
            <a:r>
              <a:rPr lang="en-US" b="1" dirty="0"/>
              <a:t>end at a fixed time or event</a:t>
            </a:r>
            <a:r>
              <a:rPr lang="en-US" dirty="0"/>
              <a:t>, meaning they model a finite time window of the system.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A bank that operates from 8:30 AM to 4:30 PM each day.</a:t>
            </a:r>
          </a:p>
          <a:p>
            <a:r>
              <a:rPr lang="en-US" dirty="0"/>
              <a:t>A hospital emergency simulation that runs for a single shift.</a:t>
            </a:r>
          </a:p>
          <a:p>
            <a:r>
              <a:rPr lang="en-US" dirty="0"/>
              <a:t>A service process that ends after processing a fixed number of customers.</a:t>
            </a:r>
          </a:p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initial conditions are critical</a:t>
            </a:r>
            <a:r>
              <a:rPr lang="en-US" dirty="0"/>
              <a:t>, because the simulation starts from a defined state (e.g., empty queue).</a:t>
            </a:r>
          </a:p>
          <a:p>
            <a:r>
              <a:rPr lang="en-US" dirty="0"/>
              <a:t>The goal is to analyze performance </a:t>
            </a:r>
            <a:r>
              <a:rPr lang="en-US" b="1" dirty="0"/>
              <a:t>within a defined timeframe</a:t>
            </a:r>
            <a:r>
              <a:rPr lang="en-US" dirty="0"/>
              <a:t>.</a:t>
            </a:r>
          </a:p>
          <a:p>
            <a:r>
              <a:rPr lang="en-US" dirty="0"/>
              <a:t>It is usually easier to collect </a:t>
            </a:r>
            <a:r>
              <a:rPr lang="en-US" b="1" dirty="0"/>
              <a:t>independent observations</a:t>
            </a:r>
            <a:r>
              <a:rPr lang="en-US" dirty="0"/>
              <a:t> in this type, especially if the system resets after each run.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2. Non-Terminating (Steady-State) Simulations</a:t>
            </a:r>
          </a:p>
          <a:p>
            <a:r>
              <a:rPr lang="en-US" b="1" dirty="0"/>
              <a:t>Definition:</a:t>
            </a:r>
            <a:endParaRPr lang="en-US" dirty="0"/>
          </a:p>
          <a:p>
            <a:r>
              <a:rPr lang="en-US" dirty="0"/>
              <a:t>A simulation that </a:t>
            </a:r>
            <a:r>
              <a:rPr lang="en-US" b="1" dirty="0"/>
              <a:t>runs continuously or indefinitely</a:t>
            </a:r>
            <a:r>
              <a:rPr lang="en-US" dirty="0"/>
              <a:t>, with the goal of studying the system’s </a:t>
            </a:r>
            <a:r>
              <a:rPr lang="en-US" b="1" dirty="0"/>
              <a:t>long-run average behavior</a:t>
            </a:r>
            <a:r>
              <a:rPr lang="en-US" dirty="0"/>
              <a:t>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A telecommunications system running 24/7, where we want to know average packet delay.</a:t>
            </a:r>
          </a:p>
          <a:p>
            <a:r>
              <a:rPr lang="en-US" dirty="0"/>
              <a:t>A manufacturing line running round-the-clock, where we want to monitor average downtime or throughput.</a:t>
            </a:r>
          </a:p>
          <a:p>
            <a:r>
              <a:rPr lang="en-US" b="1" dirty="0"/>
              <a:t>Characteristics:</a:t>
            </a:r>
            <a:endParaRPr lang="en-US" dirty="0"/>
          </a:p>
          <a:p>
            <a:r>
              <a:rPr lang="en-US" dirty="0"/>
              <a:t>The initial conditions should </a:t>
            </a:r>
            <a:r>
              <a:rPr lang="en-US" b="1" dirty="0"/>
              <a:t>not influence the long-run results</a:t>
            </a:r>
            <a:r>
              <a:rPr lang="en-US" dirty="0"/>
              <a:t>.</a:t>
            </a:r>
          </a:p>
          <a:p>
            <a:r>
              <a:rPr lang="en-US" dirty="0"/>
              <a:t>Typically requires </a:t>
            </a:r>
            <a:r>
              <a:rPr lang="en-US" b="1" dirty="0"/>
              <a:t>removal of initial bias</a:t>
            </a:r>
            <a:r>
              <a:rPr lang="en-US" dirty="0"/>
              <a:t> (also called “warm-up period”) before collecting data.</a:t>
            </a:r>
          </a:p>
          <a:p>
            <a:r>
              <a:rPr lang="en-US" dirty="0"/>
              <a:t>Often used to study </a:t>
            </a:r>
            <a:r>
              <a:rPr lang="en-US" b="1" dirty="0"/>
              <a:t>steady-state parameters</a:t>
            </a:r>
            <a:r>
              <a:rPr lang="en-US" dirty="0"/>
              <a:t> (like average queue length or system utilization).</a:t>
            </a:r>
          </a:p>
          <a:p>
            <a:r>
              <a:rPr lang="en-US" b="1" dirty="0"/>
              <a:t>Key Differences</a:t>
            </a:r>
          </a:p>
          <a:p>
            <a:r>
              <a:rPr lang="en-US" dirty="0" err="1"/>
              <a:t>AspectTerminating</a:t>
            </a:r>
            <a:r>
              <a:rPr lang="en-US" dirty="0"/>
              <a:t> </a:t>
            </a:r>
            <a:r>
              <a:rPr lang="en-US" dirty="0" err="1"/>
              <a:t>SimulationNon</a:t>
            </a:r>
            <a:r>
              <a:rPr lang="en-US" dirty="0"/>
              <a:t>-Terminating </a:t>
            </a:r>
            <a:r>
              <a:rPr lang="en-US" dirty="0" err="1"/>
              <a:t>SimulationDurationFinite</a:t>
            </a:r>
            <a:r>
              <a:rPr lang="en-US" dirty="0"/>
              <a:t>, ends by event or </a:t>
            </a:r>
            <a:r>
              <a:rPr lang="en-US" dirty="0" err="1"/>
              <a:t>timeLong</a:t>
            </a:r>
            <a:r>
              <a:rPr lang="en-US" dirty="0"/>
              <a:t> or </a:t>
            </a:r>
            <a:r>
              <a:rPr lang="en-US" dirty="0" err="1"/>
              <a:t>infiniteInitial</a:t>
            </a:r>
            <a:r>
              <a:rPr lang="en-US" dirty="0"/>
              <a:t> </a:t>
            </a:r>
            <a:r>
              <a:rPr lang="en-US" dirty="0" err="1"/>
              <a:t>ConditionsCritical</a:t>
            </a:r>
            <a:r>
              <a:rPr lang="en-US" dirty="0"/>
              <a:t> to </a:t>
            </a:r>
            <a:r>
              <a:rPr lang="en-US" dirty="0" err="1"/>
              <a:t>accuracyShould</a:t>
            </a:r>
            <a:r>
              <a:rPr lang="en-US" dirty="0"/>
              <a:t> not affect </a:t>
            </a:r>
            <a:r>
              <a:rPr lang="en-US" dirty="0" err="1"/>
              <a:t>resultsBias</a:t>
            </a:r>
            <a:r>
              <a:rPr lang="en-US" dirty="0"/>
              <a:t> </a:t>
            </a:r>
            <a:r>
              <a:rPr lang="en-US" dirty="0" err="1"/>
              <a:t>IssueMinimalRequires</a:t>
            </a:r>
            <a:r>
              <a:rPr lang="en-US" dirty="0"/>
              <a:t> bias </a:t>
            </a:r>
            <a:r>
              <a:rPr lang="en-US" dirty="0" err="1"/>
              <a:t>removalPurposeShort</a:t>
            </a:r>
            <a:r>
              <a:rPr lang="en-US" dirty="0"/>
              <a:t>-term </a:t>
            </a:r>
            <a:r>
              <a:rPr lang="en-US" dirty="0" err="1"/>
              <a:t>behaviorLong</a:t>
            </a:r>
            <a:r>
              <a:rPr lang="en-US" dirty="0"/>
              <a:t>-run steady-state behavior</a:t>
            </a:r>
          </a:p>
          <a:p>
            <a:r>
              <a:rPr lang="en-US" b="1" dirty="0"/>
              <a:t>Why This Matters for Output Analysis</a:t>
            </a:r>
          </a:p>
          <a:p>
            <a:r>
              <a:rPr lang="en-US" dirty="0"/>
              <a:t>The </a:t>
            </a:r>
            <a:r>
              <a:rPr lang="en-US" b="1" dirty="0"/>
              <a:t>type of simulation affects how we analyze the results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 terminating simulations, data can be treated more like traditional samples.</a:t>
            </a:r>
          </a:p>
          <a:p>
            <a:pPr lvl="1"/>
            <a:r>
              <a:rPr lang="en-US" dirty="0"/>
              <a:t>In non-terminating simulations, </a:t>
            </a:r>
            <a:r>
              <a:rPr lang="en-US" b="1" dirty="0"/>
              <a:t>techniques like warm-up removal, batching, and replication</a:t>
            </a:r>
            <a:r>
              <a:rPr lang="en-US" dirty="0"/>
              <a:t> are needed to ensure statistical validity.</a:t>
            </a:r>
          </a:p>
          <a:p>
            <a:r>
              <a:rPr lang="en-US" dirty="0"/>
              <a:t>Knowing the type helps determine:</a:t>
            </a:r>
          </a:p>
          <a:p>
            <a:pPr lvl="1"/>
            <a:r>
              <a:rPr lang="en-US" b="1" dirty="0"/>
              <a:t>How long to run the simulation</a:t>
            </a:r>
            <a:endParaRPr lang="en-US" dirty="0"/>
          </a:p>
          <a:p>
            <a:pPr lvl="1"/>
            <a:r>
              <a:rPr lang="en-US" b="1" dirty="0"/>
              <a:t>How to collect and interpret results</a:t>
            </a:r>
            <a:endParaRPr lang="en-US" dirty="0"/>
          </a:p>
          <a:p>
            <a:pPr lvl="1"/>
            <a:r>
              <a:rPr lang="en-US" b="1" dirty="0"/>
              <a:t>Whether special statistical methods are required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67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Estimation Methods (Comprehensive Note)</a:t>
            </a:r>
          </a:p>
          <a:p>
            <a:r>
              <a:rPr lang="en-US" dirty="0"/>
              <a:t>One of the central goals of simulation output analysis is to </a:t>
            </a:r>
            <a:r>
              <a:rPr lang="en-US" b="1" dirty="0"/>
              <a:t>estimate performance metrics</a:t>
            </a:r>
            <a:r>
              <a:rPr lang="en-US" dirty="0"/>
              <a:t> (e.g., mean queue length, average wait time, system utilization). Because simulations involve randomness, we don't get fixed outputs — instead, we get </a:t>
            </a:r>
            <a:r>
              <a:rPr lang="en-US" b="1" dirty="0"/>
              <a:t>sample data</a:t>
            </a:r>
            <a:r>
              <a:rPr lang="en-US" dirty="0"/>
              <a:t> from which we must </a:t>
            </a:r>
            <a:r>
              <a:rPr lang="en-US" b="1" dirty="0"/>
              <a:t>infer characteristics of the underlying system</a:t>
            </a:r>
            <a:r>
              <a:rPr lang="en-US" dirty="0"/>
              <a:t>.</a:t>
            </a:r>
          </a:p>
          <a:p>
            <a:r>
              <a:rPr lang="en-US" dirty="0"/>
              <a:t>There are two main types of estimation methods used in simulation:</a:t>
            </a:r>
          </a:p>
          <a:p>
            <a:r>
              <a:rPr lang="en-US" b="1" dirty="0"/>
              <a:t>1. Point Estimation</a:t>
            </a:r>
          </a:p>
          <a:p>
            <a:r>
              <a:rPr lang="en-US" dirty="0"/>
              <a:t>A point estimate is a </a:t>
            </a:r>
            <a:r>
              <a:rPr lang="en-US" b="1" dirty="0"/>
              <a:t>single numerical value</a:t>
            </a:r>
            <a:r>
              <a:rPr lang="en-US" dirty="0"/>
              <a:t> calculated from simulation output data that serves as the best guess of an unknown population parameter (like the mean or proportion).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Suppose we run a simulation of a queue 100 times and record the wait time for each customer.</a:t>
            </a:r>
          </a:p>
          <a:p>
            <a:r>
              <a:rPr lang="en-US" dirty="0"/>
              <a:t>The </a:t>
            </a:r>
            <a:r>
              <a:rPr lang="en-US" b="1" dirty="0"/>
              <a:t>sample mean</a:t>
            </a:r>
            <a:r>
              <a:rPr lang="en-US" dirty="0"/>
              <a:t> of those wait times is a </a:t>
            </a:r>
            <a:r>
              <a:rPr lang="en-US" b="1" dirty="0"/>
              <a:t>point estimate</a:t>
            </a:r>
            <a:r>
              <a:rPr lang="en-US" dirty="0"/>
              <a:t> of the true average wait time.</a:t>
            </a:r>
          </a:p>
          <a:p>
            <a:r>
              <a:rPr lang="en-US" b="1" dirty="0"/>
              <a:t>Formula:</a:t>
            </a:r>
            <a:endParaRPr lang="en-US" dirty="0"/>
          </a:p>
          <a:p>
            <a:r>
              <a:rPr lang="en-US" dirty="0"/>
              <a:t>Yˉ=1n∑i=1nyi\bar{Y} = \frac{1}{n} \sum_{</a:t>
            </a:r>
            <a:r>
              <a:rPr lang="en-US" dirty="0" err="1"/>
              <a:t>i</a:t>
            </a:r>
            <a:r>
              <a:rPr lang="en-US" dirty="0"/>
              <a:t>=1}^n </a:t>
            </a:r>
            <a:r>
              <a:rPr lang="en-US" dirty="0" err="1"/>
              <a:t>y_iY</a:t>
            </a:r>
            <a:r>
              <a:rPr lang="en-US" dirty="0"/>
              <a:t>ˉ=n1​</a:t>
            </a:r>
            <a:r>
              <a:rPr lang="en-US" dirty="0" err="1"/>
              <a:t>i</a:t>
            </a:r>
            <a:r>
              <a:rPr lang="en-US" dirty="0"/>
              <a:t>=1∑n​</a:t>
            </a:r>
            <a:r>
              <a:rPr lang="en-US" dirty="0" err="1"/>
              <a:t>yi</a:t>
            </a:r>
            <a:r>
              <a:rPr lang="en-US" dirty="0"/>
              <a:t>​ Where:</a:t>
            </a:r>
          </a:p>
          <a:p>
            <a:r>
              <a:rPr lang="en-US" dirty="0" err="1"/>
              <a:t>yiy_iyi</a:t>
            </a:r>
            <a:r>
              <a:rPr lang="en-US" dirty="0"/>
              <a:t>​: individual simulation output values</a:t>
            </a:r>
          </a:p>
          <a:p>
            <a:r>
              <a:rPr lang="en-US" dirty="0" err="1"/>
              <a:t>nnn</a:t>
            </a:r>
            <a:r>
              <a:rPr lang="en-US" dirty="0"/>
              <a:t>: number of observations</a:t>
            </a:r>
          </a:p>
          <a:p>
            <a:r>
              <a:rPr lang="en-US" b="1" dirty="0"/>
              <a:t>Bias in Point Estimation:</a:t>
            </a:r>
            <a:endParaRPr lang="en-US" dirty="0"/>
          </a:p>
          <a:p>
            <a:r>
              <a:rPr lang="en-US" dirty="0"/>
              <a:t>A point estimator is </a:t>
            </a:r>
            <a:r>
              <a:rPr lang="en-US" b="1" dirty="0"/>
              <a:t>unbiased</a:t>
            </a:r>
            <a:r>
              <a:rPr lang="en-US" dirty="0"/>
              <a:t> if:</a:t>
            </a:r>
          </a:p>
          <a:p>
            <a:r>
              <a:rPr lang="en-US" dirty="0"/>
              <a:t>E(Yˉ)=</a:t>
            </a:r>
            <a:r>
              <a:rPr lang="en-US" dirty="0" err="1"/>
              <a:t>μE</a:t>
            </a:r>
            <a:r>
              <a:rPr lang="en-US" dirty="0"/>
              <a:t>(\bar{Y}) = \</a:t>
            </a:r>
            <a:r>
              <a:rPr lang="en-US" dirty="0" err="1"/>
              <a:t>muE</a:t>
            </a:r>
            <a:r>
              <a:rPr lang="en-US" dirty="0"/>
              <a:t>(Yˉ)=μ That is, its expected value equals the true population mean.</a:t>
            </a:r>
          </a:p>
          <a:p>
            <a:r>
              <a:rPr lang="en-US" dirty="0"/>
              <a:t>If not, the estimator is </a:t>
            </a:r>
            <a:r>
              <a:rPr lang="en-US" b="1" dirty="0"/>
              <a:t>biased</a:t>
            </a:r>
            <a:r>
              <a:rPr lang="en-US" dirty="0"/>
              <a:t>, and the difference is called the </a:t>
            </a:r>
            <a:r>
              <a:rPr lang="en-US" b="1" dirty="0"/>
              <a:t>bias</a:t>
            </a:r>
            <a:r>
              <a:rPr lang="en-US" dirty="0"/>
              <a:t>.</a:t>
            </a:r>
          </a:p>
          <a:p>
            <a:r>
              <a:rPr lang="en-US" b="1" dirty="0"/>
              <a:t>2. Interval Estimation (Confidence Intervals)</a:t>
            </a:r>
          </a:p>
          <a:p>
            <a:r>
              <a:rPr lang="en-US" b="1" dirty="0"/>
              <a:t>Definition:</a:t>
            </a:r>
            <a:endParaRPr lang="en-US" dirty="0"/>
          </a:p>
          <a:p>
            <a:r>
              <a:rPr lang="en-US" dirty="0"/>
              <a:t>Instead of giving a single estimate, a confidence interval provides a </a:t>
            </a:r>
            <a:r>
              <a:rPr lang="en-US" b="1" dirty="0"/>
              <a:t>range of values</a:t>
            </a:r>
            <a:r>
              <a:rPr lang="en-US" dirty="0"/>
              <a:t> within which the true parameter likely falls, with a specified level of confidence (e.g., 95%).</a:t>
            </a:r>
          </a:p>
          <a:p>
            <a:r>
              <a:rPr lang="en-US" b="1" dirty="0"/>
              <a:t>Why It's Important:</a:t>
            </a:r>
            <a:endParaRPr lang="en-US" dirty="0"/>
          </a:p>
          <a:p>
            <a:r>
              <a:rPr lang="en-US" dirty="0"/>
              <a:t>A point estimate alone </a:t>
            </a:r>
            <a:r>
              <a:rPr lang="en-US" b="1" dirty="0"/>
              <a:t>doesn’t reveal variability or reliability</a:t>
            </a:r>
            <a:r>
              <a:rPr lang="en-US" dirty="0"/>
              <a:t>.</a:t>
            </a:r>
          </a:p>
          <a:p>
            <a:r>
              <a:rPr lang="en-US" dirty="0"/>
              <a:t>Confidence intervals show </a:t>
            </a:r>
            <a:r>
              <a:rPr lang="en-US" b="1" dirty="0"/>
              <a:t>how precise</a:t>
            </a:r>
            <a:r>
              <a:rPr lang="en-US" dirty="0"/>
              <a:t> the estimate is, accounting for sample variability.</a:t>
            </a:r>
          </a:p>
          <a:p>
            <a:r>
              <a:rPr lang="en-US" b="1" dirty="0"/>
              <a:t>When Population Variance is Known:</a:t>
            </a:r>
            <a:endParaRPr lang="en-US" dirty="0"/>
          </a:p>
          <a:p>
            <a:r>
              <a:rPr lang="en-US" dirty="0"/>
              <a:t>CI=Yˉ±Zα/2⋅σnCI = \bar{Y} \pm Z_{\alpha/2} \</a:t>
            </a:r>
            <a:r>
              <a:rPr lang="en-US" dirty="0" err="1"/>
              <a:t>cdot</a:t>
            </a:r>
            <a:r>
              <a:rPr lang="en-US" dirty="0"/>
              <a:t> \frac{\sigma}{\sqrt{n}}CI=Yˉ±Zα/2​⋅n​σ​ </a:t>
            </a:r>
            <a:r>
              <a:rPr lang="en-US" b="1" dirty="0"/>
              <a:t>When Population Variance is Unknown (common in simulation):</a:t>
            </a:r>
            <a:endParaRPr lang="en-US" dirty="0"/>
          </a:p>
          <a:p>
            <a:r>
              <a:rPr lang="en-US" dirty="0"/>
              <a:t>CI=Yˉ±tn−1,α/2⋅snCI = \bar{Y} \pm t_{n-1,\alpha/2} \</a:t>
            </a:r>
            <a:r>
              <a:rPr lang="en-US" dirty="0" err="1"/>
              <a:t>cdot</a:t>
            </a:r>
            <a:r>
              <a:rPr lang="en-US" dirty="0"/>
              <a:t> \frac{s}{\sqrt{n}}CI=Yˉ±tn−1,α/2​⋅n​s​ Where:</a:t>
            </a:r>
          </a:p>
          <a:p>
            <a:r>
              <a:rPr lang="en-US" dirty="0"/>
              <a:t>Yˉ\bar{Y}Yˉ: sample mean</a:t>
            </a:r>
          </a:p>
          <a:p>
            <a:r>
              <a:rPr lang="en-US" dirty="0" err="1"/>
              <a:t>sss</a:t>
            </a:r>
            <a:r>
              <a:rPr lang="en-US" dirty="0"/>
              <a:t>: sample standard deviation</a:t>
            </a:r>
          </a:p>
          <a:p>
            <a:r>
              <a:rPr lang="en-US" dirty="0" err="1"/>
              <a:t>nnn</a:t>
            </a:r>
            <a:r>
              <a:rPr lang="en-US" dirty="0"/>
              <a:t>: sample size</a:t>
            </a:r>
          </a:p>
          <a:p>
            <a:r>
              <a:rPr lang="en-US" dirty="0" err="1"/>
              <a:t>ttt</a:t>
            </a:r>
            <a:r>
              <a:rPr lang="en-US" dirty="0"/>
              <a:t>: value from the Student’s t-distribution</a:t>
            </a:r>
          </a:p>
          <a:p>
            <a:r>
              <a:rPr lang="en-US" b="1" dirty="0"/>
              <a:t>Interpretation Example:</a:t>
            </a:r>
            <a:endParaRPr lang="en-US" dirty="0"/>
          </a:p>
          <a:p>
            <a:r>
              <a:rPr lang="en-US" dirty="0"/>
              <a:t>If the CI for average wait time is [5.5, 6.1] at 95% confidence, it means:</a:t>
            </a:r>
          </a:p>
          <a:p>
            <a:pPr lvl="1"/>
            <a:r>
              <a:rPr lang="en-US" dirty="0"/>
              <a:t>We are 95% confident that the </a:t>
            </a:r>
            <a:r>
              <a:rPr lang="en-US" b="1" dirty="0"/>
              <a:t>true mean</a:t>
            </a:r>
            <a:r>
              <a:rPr lang="en-US" dirty="0"/>
              <a:t> lies within that range.</a:t>
            </a:r>
          </a:p>
          <a:p>
            <a:r>
              <a:rPr lang="en-US" b="1" dirty="0"/>
              <a:t>Connection to Central Limit Theorem (CLT)</a:t>
            </a:r>
          </a:p>
          <a:p>
            <a:r>
              <a:rPr lang="en-US" dirty="0"/>
              <a:t>Both estimation methods </a:t>
            </a:r>
            <a:r>
              <a:rPr lang="en-US" b="1" dirty="0"/>
              <a:t>rely on CLT</a:t>
            </a:r>
            <a:r>
              <a:rPr lang="en-US" dirty="0"/>
              <a:t>, which states that the sampling distribution of the mean approximates a normal distribution for large </a:t>
            </a:r>
            <a:r>
              <a:rPr lang="en-US" dirty="0" err="1"/>
              <a:t>nnn</a:t>
            </a:r>
            <a:r>
              <a:rPr lang="en-US" dirty="0"/>
              <a:t>.</a:t>
            </a:r>
          </a:p>
          <a:p>
            <a:r>
              <a:rPr lang="en-US" dirty="0"/>
              <a:t>Even if the simulation outputs are not normally distributed, CLT allows valid inferences as long as:</a:t>
            </a:r>
          </a:p>
          <a:p>
            <a:pPr lvl="1"/>
            <a:r>
              <a:rPr lang="en-US" b="1" dirty="0"/>
              <a:t>Data are IID</a:t>
            </a:r>
            <a:r>
              <a:rPr lang="en-US" dirty="0"/>
              <a:t> (or sufficiently corrected),</a:t>
            </a:r>
          </a:p>
          <a:p>
            <a:pPr lvl="1"/>
            <a:r>
              <a:rPr lang="en-US" b="1" dirty="0"/>
              <a:t>Sample size is large</a:t>
            </a:r>
            <a:r>
              <a:rPr lang="en-US" dirty="0"/>
              <a:t>.</a:t>
            </a:r>
          </a:p>
          <a:p>
            <a:r>
              <a:rPr lang="en-US" b="1" dirty="0"/>
              <a:t>Application in Simulation</a:t>
            </a:r>
          </a:p>
          <a:p>
            <a:r>
              <a:rPr lang="en-US" dirty="0"/>
              <a:t>Used to report results such as:</a:t>
            </a:r>
          </a:p>
          <a:p>
            <a:pPr lvl="1"/>
            <a:r>
              <a:rPr lang="en-US" dirty="0"/>
              <a:t>“Average wait time is </a:t>
            </a:r>
            <a:r>
              <a:rPr lang="en-US" b="1" dirty="0"/>
              <a:t>5.8 ± 0.3 minutes</a:t>
            </a:r>
            <a:r>
              <a:rPr lang="en-US" dirty="0"/>
              <a:t> with 95% confidence.”</a:t>
            </a:r>
          </a:p>
          <a:p>
            <a:r>
              <a:rPr lang="en-US" dirty="0"/>
              <a:t>Required for comparing </a:t>
            </a:r>
            <a:r>
              <a:rPr lang="en-US" b="1" dirty="0"/>
              <a:t>different simulation models</a:t>
            </a:r>
            <a:r>
              <a:rPr lang="en-US" dirty="0"/>
              <a:t> or </a:t>
            </a:r>
            <a:r>
              <a:rPr lang="en-US" b="1" dirty="0"/>
              <a:t>scenarios</a:t>
            </a:r>
            <a:r>
              <a:rPr lang="en-US" dirty="0"/>
              <a:t> statistically.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12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91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Methods of Computing Run Statistics:</a:t>
            </a:r>
          </a:p>
          <a:p>
            <a:r>
              <a:rPr lang="en-US" b="1" dirty="0"/>
              <a:t>Manual Calculation (Programming)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Accumulate sums and counts during simulation.</a:t>
            </a:r>
          </a:p>
          <a:p>
            <a:pPr lvl="1"/>
            <a:r>
              <a:rPr lang="en-US" dirty="0"/>
              <a:t>Compute mean, variance, etc.</a:t>
            </a:r>
          </a:p>
          <a:p>
            <a:r>
              <a:rPr lang="en-US" b="1" dirty="0"/>
              <a:t>Using Simulation Software Tools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Tools like </a:t>
            </a:r>
            <a:r>
              <a:rPr lang="en-US" b="1" dirty="0"/>
              <a:t>Arena</a:t>
            </a:r>
            <a:r>
              <a:rPr lang="en-US" dirty="0"/>
              <a:t>, </a:t>
            </a:r>
            <a:r>
              <a:rPr lang="en-US" b="1" dirty="0"/>
              <a:t>Simul8</a:t>
            </a:r>
            <a:r>
              <a:rPr lang="en-US" dirty="0"/>
              <a:t>, </a:t>
            </a:r>
            <a:r>
              <a:rPr lang="en-US" b="1" dirty="0"/>
              <a:t>GPSS</a:t>
            </a:r>
            <a:r>
              <a:rPr lang="en-US" dirty="0"/>
              <a:t>, or </a:t>
            </a:r>
            <a:r>
              <a:rPr lang="en-US" b="1" dirty="0"/>
              <a:t>SIMSCRIPT</a:t>
            </a:r>
            <a:r>
              <a:rPr lang="en-US" dirty="0"/>
              <a:t> automatically compute statistics.</a:t>
            </a:r>
          </a:p>
          <a:p>
            <a:pPr lvl="1"/>
            <a:r>
              <a:rPr lang="en-US" dirty="0"/>
              <a:t>Provide visual charts and CI estimates.</a:t>
            </a:r>
          </a:p>
          <a:p>
            <a:r>
              <a:rPr lang="en-US" b="1" dirty="0"/>
              <a:t>Batch Means Method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Divide long simulation into time batches.</a:t>
            </a:r>
          </a:p>
          <a:p>
            <a:pPr lvl="1"/>
            <a:r>
              <a:rPr lang="en-US" dirty="0"/>
              <a:t>Use each batch's result as a sample for statistics.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95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56CB-3D02-13C1-29A3-952E7AB6A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5D3EB-75DA-2094-B26E-7C994A283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F730A-0BC8-6262-2B94-968B1AD67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EA5A6-1864-5E56-C381-0EB3CCC4C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42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it?</a:t>
            </a:r>
          </a:p>
          <a:p>
            <a:r>
              <a:rPr lang="en-US" dirty="0"/>
              <a:t>Replication of runs is a method in simulation where the </a:t>
            </a:r>
            <a:r>
              <a:rPr lang="en-US" b="1" dirty="0"/>
              <a:t>same simulation model is run multiple times</a:t>
            </a:r>
            <a:r>
              <a:rPr lang="en-US" dirty="0"/>
              <a:t>, each time using </a:t>
            </a:r>
            <a:r>
              <a:rPr lang="en-US" b="1" dirty="0"/>
              <a:t>different random number streams or seeds</a:t>
            </a:r>
            <a:r>
              <a:rPr lang="en-US" dirty="0"/>
              <a:t>, to account for variability in stochastic (random) systems.</a:t>
            </a:r>
          </a:p>
          <a:p>
            <a:r>
              <a:rPr lang="en-US" dirty="0"/>
              <a:t>Since simulation outcomes can vary due to randomness (e.g., arrival times, service durations), a single run may not represent the true performance of the system. By </a:t>
            </a:r>
            <a:r>
              <a:rPr lang="en-US" b="1" dirty="0"/>
              <a:t>repeating the experiment</a:t>
            </a:r>
            <a:r>
              <a:rPr lang="en-US" dirty="0"/>
              <a:t>, we get more reliable statistical estimates.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03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F189-B06B-12C5-4C5E-44C5C55E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A6945-1648-E25F-CAAA-3157CD598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43F9C-D515-1025-0064-84CD07132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56238-71AD-E0B2-D862-0E5E36ECA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10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it?</a:t>
            </a:r>
          </a:p>
          <a:p>
            <a:r>
              <a:rPr lang="en-US" b="1" dirty="0"/>
              <a:t>Initial bias</a:t>
            </a:r>
            <a:r>
              <a:rPr lang="en-US" dirty="0"/>
              <a:t> (also called </a:t>
            </a:r>
            <a:r>
              <a:rPr lang="en-US" b="1" dirty="0"/>
              <a:t>startup bias</a:t>
            </a:r>
            <a:r>
              <a:rPr lang="en-US" dirty="0"/>
              <a:t>) occurs in simulation models of </a:t>
            </a:r>
            <a:r>
              <a:rPr lang="en-US" b="1" dirty="0"/>
              <a:t>non-terminating (steady-state)</a:t>
            </a:r>
            <a:r>
              <a:rPr lang="en-US" dirty="0"/>
              <a:t> systems due to </a:t>
            </a:r>
            <a:r>
              <a:rPr lang="en-US" b="1" dirty="0"/>
              <a:t>artificial initial conditions</a:t>
            </a:r>
            <a:r>
              <a:rPr lang="en-US" dirty="0"/>
              <a:t>—typically an </a:t>
            </a:r>
            <a:r>
              <a:rPr lang="en-US" b="1" dirty="0"/>
              <a:t>empty system</a:t>
            </a:r>
            <a:r>
              <a:rPr lang="en-US" dirty="0"/>
              <a:t> at time zero (no customers, no queues, no work-in-progress).</a:t>
            </a:r>
          </a:p>
          <a:p>
            <a:r>
              <a:rPr lang="en-US" dirty="0"/>
              <a:t>This startup condition is </a:t>
            </a:r>
            <a:r>
              <a:rPr lang="en-US" b="1" dirty="0"/>
              <a:t>not realistic</a:t>
            </a:r>
            <a:r>
              <a:rPr lang="en-US" dirty="0"/>
              <a:t> for systems that normally operate continuously. So, the results in the early part of a simulation run </a:t>
            </a:r>
            <a:r>
              <a:rPr lang="en-US" b="1" dirty="0"/>
              <a:t>do not reflect typical performance</a:t>
            </a:r>
            <a:r>
              <a:rPr lang="en-US" dirty="0"/>
              <a:t>, and this distorts the statistics.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40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2FA54-058D-9D63-ABE2-C3BF2646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024B8-A41B-0FB7-EA0F-A30A9D348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C00FE-5AA2-839F-A18B-9E148A901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CFBA4-D088-F08E-C2BE-BC89A8B84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6F3F-3F6C-46DE-92C2-870D243DA2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16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30425-8A5F-4962-BA14-C8C0935F37E9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94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4D46A-7729-4857-B19C-F0E65BB7B759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5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4B594-36AB-4846-99A0-5632E8D19B40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51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6D8-1245-4B08-AADC-E02EE510BD48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1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C62D-388A-4F6E-BF93-215AF1E950AE}" type="datetime1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2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DA38-DDD6-4972-9292-A57114579300}" type="datetime1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6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0417-A8FE-4228-9FD3-1072788F69B9}" type="datetime1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7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4DCB-B61B-494E-BDA6-451AB63DE93F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95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C0A-E098-4B02-8663-A076DD8F13A9}" type="datetime1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2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0B525-CCCA-44C3-A42E-E305F5DE3C41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20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FF5-8A10-458A-8568-F34F59938B96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5611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6D45-87E4-4084-BE5E-5CC5C9D272FB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17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2599C-E8A5-4888-BAFC-F98954ED6909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0594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F802-9718-4359-A39C-F4BC4CF07AC4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67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A324E-B5DE-4DF4-9023-36A81CD73B4F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14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0BDBF-D188-4F11-B2C2-CD038A1F0025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1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E9490-D642-49CB-8B77-BA4078B7DEB3}" type="datetime1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kapil@nast.edu.np || kapilpant157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2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A8AF-B0B3-19E0-53A8-BCAAA16DD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Output Analysis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A86CD-F641-EB9B-FE15-C081389ED1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Kapil Dev Pant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A0C96-80FC-702A-600F-6F103137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6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dirty="0"/>
              <a:t>Nature of Problem</a:t>
            </a:r>
            <a:endParaRPr lang="en-US" dirty="0"/>
          </a:p>
          <a:p>
            <a:pPr>
              <a:buAutoNum type="arabicPeriod"/>
            </a:pPr>
            <a:r>
              <a:rPr dirty="0"/>
              <a:t>Estimation Methods</a:t>
            </a:r>
            <a:endParaRPr lang="en-US" dirty="0"/>
          </a:p>
          <a:p>
            <a:pPr>
              <a:buAutoNum type="arabicPeriod"/>
            </a:pPr>
            <a:r>
              <a:rPr dirty="0"/>
              <a:t>Simulation Run Statistics</a:t>
            </a:r>
            <a:endParaRPr lang="en-US" dirty="0"/>
          </a:p>
          <a:p>
            <a:pPr>
              <a:buAutoNum type="arabicPeriod"/>
            </a:pPr>
            <a:r>
              <a:rPr dirty="0"/>
              <a:t>Replication of Runs</a:t>
            </a:r>
            <a:endParaRPr lang="en-US" dirty="0"/>
          </a:p>
          <a:p>
            <a:pPr>
              <a:buAutoNum type="arabicPeriod"/>
            </a:pPr>
            <a:r>
              <a:rPr dirty="0"/>
              <a:t>Elimination of Initial Bias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9EAE4-3855-B927-515D-7431239A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629402" cy="3880773"/>
          </a:xfrm>
        </p:spPr>
        <p:txBody>
          <a:bodyPr/>
          <a:lstStyle/>
          <a:p>
            <a:r>
              <a:rPr lang="en-US" dirty="0"/>
              <a:t>Nature of Problem refers to the Type and characteristics of the real-world system or situation being Simulated.</a:t>
            </a:r>
          </a:p>
          <a:p>
            <a:r>
              <a:rPr lang="en-US" dirty="0"/>
              <a:t>Involves in understanding what we are trying to study, solve or improve using simulation.</a:t>
            </a:r>
          </a:p>
          <a:p>
            <a:r>
              <a:rPr dirty="0"/>
              <a:t>In stochastic simulations, most outputs become random variables.</a:t>
            </a:r>
          </a:p>
          <a:p>
            <a:r>
              <a:rPr dirty="0"/>
              <a:t>Specialized methods are needed to analyze simulation output.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F1A78-2066-547F-C4FB-84F89BB5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00C4-D2C6-BD8A-7691-53E35F33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Aspects of Problem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1F49-FCA1-B25A-3AFB-243045C18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590"/>
            <a:ext cx="3448051" cy="3880773"/>
          </a:xfrm>
        </p:spPr>
        <p:txBody>
          <a:bodyPr>
            <a:normAutofit fontScale="92500" lnSpcReduction="10000"/>
          </a:bodyPr>
          <a:lstStyle/>
          <a:p>
            <a:pPr>
              <a:buAutoNum type="arabicPeriod"/>
            </a:pPr>
            <a:r>
              <a:rPr lang="en-US" dirty="0"/>
              <a:t>System Types</a:t>
            </a:r>
          </a:p>
          <a:p>
            <a:pPr lvl="1">
              <a:buAutoNum type="arabicPeriod"/>
            </a:pPr>
            <a:r>
              <a:rPr lang="en-US" dirty="0"/>
              <a:t>Deterministic</a:t>
            </a:r>
          </a:p>
          <a:p>
            <a:pPr lvl="1">
              <a:buAutoNum type="arabicPeriod"/>
            </a:pPr>
            <a:r>
              <a:rPr lang="en-US" dirty="0"/>
              <a:t>Stochastic</a:t>
            </a:r>
          </a:p>
          <a:p>
            <a:pPr>
              <a:buAutoNum type="arabicPeriod"/>
            </a:pPr>
            <a:r>
              <a:rPr lang="en-US" dirty="0"/>
              <a:t>Time orientation</a:t>
            </a:r>
          </a:p>
          <a:p>
            <a:pPr lvl="1">
              <a:buAutoNum type="arabicPeriod"/>
            </a:pPr>
            <a:r>
              <a:rPr lang="en-US" dirty="0"/>
              <a:t>Static</a:t>
            </a:r>
          </a:p>
          <a:p>
            <a:pPr lvl="1">
              <a:buAutoNum type="arabicPeriod"/>
            </a:pPr>
            <a:r>
              <a:rPr lang="en-US" dirty="0"/>
              <a:t>Dynamic</a:t>
            </a:r>
          </a:p>
          <a:p>
            <a:pPr>
              <a:buAutoNum type="arabicPeriod"/>
            </a:pPr>
            <a:r>
              <a:rPr lang="en-US" dirty="0"/>
              <a:t>Duration</a:t>
            </a:r>
          </a:p>
          <a:p>
            <a:pPr lvl="1">
              <a:buAutoNum type="arabicPeriod"/>
            </a:pPr>
            <a:r>
              <a:rPr lang="en-US" dirty="0"/>
              <a:t>Terminating System</a:t>
            </a:r>
          </a:p>
          <a:p>
            <a:pPr lvl="1">
              <a:buAutoNum type="arabicPeriod"/>
            </a:pPr>
            <a:r>
              <a:rPr lang="en-US" dirty="0"/>
              <a:t>Non-Terminating Systems</a:t>
            </a:r>
          </a:p>
          <a:p>
            <a:pPr>
              <a:buAutoNum type="arabicPeriod"/>
            </a:pPr>
            <a:r>
              <a:rPr lang="en-US" dirty="0"/>
              <a:t>Complexity</a:t>
            </a:r>
          </a:p>
          <a:p>
            <a:pPr>
              <a:buAutoNum type="arabicPeriod"/>
            </a:pPr>
            <a:r>
              <a:rPr lang="en-US" dirty="0"/>
              <a:t>Decision Context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D9BDF3-F821-E890-7870-C033AD9C4CB2}"/>
              </a:ext>
            </a:extLst>
          </p:cNvPr>
          <p:cNvSpPr txBox="1">
            <a:spLocks/>
          </p:cNvSpPr>
          <p:nvPr/>
        </p:nvSpPr>
        <p:spPr>
          <a:xfrm>
            <a:off x="3783455" y="2160590"/>
            <a:ext cx="4350895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>
                <a:solidFill>
                  <a:srgbClr val="FF0000"/>
                </a:solidFill>
              </a:rPr>
              <a:t>SO WHY NEED THIS ??</a:t>
            </a:r>
          </a:p>
          <a:p>
            <a:pPr marL="0" indent="0">
              <a:buNone/>
            </a:pPr>
            <a:r>
              <a:rPr lang="en-US" dirty="0"/>
              <a:t>-It determines the </a:t>
            </a:r>
            <a:r>
              <a:rPr lang="en-US" b="1" dirty="0"/>
              <a:t>type of Simulation Method</a:t>
            </a:r>
            <a:r>
              <a:rPr lang="en-US" dirty="0"/>
              <a:t> like discrete-event or agent based, or time interval etc.</a:t>
            </a:r>
          </a:p>
          <a:p>
            <a:pPr marL="0" indent="0">
              <a:buNone/>
            </a:pPr>
            <a:r>
              <a:rPr lang="en-US" dirty="0"/>
              <a:t>-Guides the level of </a:t>
            </a:r>
            <a:r>
              <a:rPr lang="en-US" b="1" dirty="0"/>
              <a:t>details</a:t>
            </a:r>
            <a:r>
              <a:rPr lang="en-US" dirty="0"/>
              <a:t> and </a:t>
            </a:r>
            <a:r>
              <a:rPr lang="en-US" b="1" dirty="0"/>
              <a:t>data collection</a:t>
            </a:r>
            <a:r>
              <a:rPr lang="en-US" dirty="0"/>
              <a:t> needed</a:t>
            </a:r>
          </a:p>
          <a:p>
            <a:pPr marL="0" indent="0">
              <a:buNone/>
            </a:pPr>
            <a:r>
              <a:rPr lang="en-US" dirty="0"/>
              <a:t>-Helps choose the correct </a:t>
            </a:r>
            <a:r>
              <a:rPr lang="en-US" b="1" dirty="0"/>
              <a:t>statistical methods </a:t>
            </a:r>
            <a:r>
              <a:rPr lang="en-US" dirty="0"/>
              <a:t>and</a:t>
            </a:r>
            <a:r>
              <a:rPr lang="en-US" b="1" dirty="0"/>
              <a:t> validation techniques</a:t>
            </a:r>
          </a:p>
          <a:p>
            <a:pPr marL="0" indent="0">
              <a:buNone/>
            </a:pPr>
            <a:r>
              <a:rPr lang="en-US" dirty="0"/>
              <a:t>-Saves time by ensuring </a:t>
            </a:r>
            <a:r>
              <a:rPr lang="en-US" b="1" dirty="0"/>
              <a:t>simulation is appropriate and cost-effective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DABD5-A02F-1CD9-3FFB-B14731C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72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EAB5-A1AE-12B3-EFBD-DFC189B89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and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6D6CA-9157-680E-97B6-364EBF0C3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930400"/>
            <a:ext cx="4229101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you're modeling a </a:t>
            </a:r>
            <a:r>
              <a:rPr lang="en-US" b="1" dirty="0"/>
              <a:t>checkout process in a supermarket</a:t>
            </a:r>
            <a:r>
              <a:rPr lang="en-US" dirty="0"/>
              <a:t>, you must know:</a:t>
            </a:r>
          </a:p>
          <a:p>
            <a:r>
              <a:rPr lang="en-US" dirty="0"/>
              <a:t>Are arrivals random? (Yes → stochastic)</a:t>
            </a:r>
          </a:p>
          <a:p>
            <a:r>
              <a:rPr lang="en-US" dirty="0"/>
              <a:t>Is it ongoing or daily? (Daily → terminating)</a:t>
            </a:r>
          </a:p>
          <a:p>
            <a:r>
              <a:rPr lang="en-US" dirty="0"/>
              <a:t>Are we comparing two queue systems? (Yes → system comparison)</a:t>
            </a:r>
          </a:p>
          <a:p>
            <a:pPr marL="0" indent="0">
              <a:buNone/>
            </a:pPr>
            <a:r>
              <a:rPr lang="en-US" dirty="0"/>
              <a:t>Understanding these aspects helps design the simulation model correctly.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7BBD12-427C-494E-CC0B-94202981740A}"/>
              </a:ext>
            </a:extLst>
          </p:cNvPr>
          <p:cNvSpPr txBox="1">
            <a:spLocks/>
          </p:cNvSpPr>
          <p:nvPr/>
        </p:nvSpPr>
        <p:spPr>
          <a:xfrm>
            <a:off x="4572000" y="1860550"/>
            <a:ext cx="42291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Understanding these aspects helps design the simulation model correctly and ensures:</a:t>
            </a:r>
          </a:p>
          <a:p>
            <a:r>
              <a:rPr lang="en-US" dirty="0"/>
              <a:t>The model reflects reality accurately</a:t>
            </a:r>
          </a:p>
          <a:p>
            <a:r>
              <a:rPr lang="en-US" dirty="0"/>
              <a:t>The right methods (replications, warm ups, estimation ) are used.</a:t>
            </a:r>
          </a:p>
          <a:p>
            <a:r>
              <a:rPr lang="en-US" dirty="0"/>
              <a:t>The results are useful and trust worthy.</a:t>
            </a:r>
          </a:p>
          <a:p>
            <a:endParaRPr lang="en-US" dirty="0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1F915118-7DCD-29BF-8232-0D3825CFC04C}"/>
              </a:ext>
            </a:extLst>
          </p:cNvPr>
          <p:cNvCxnSpPr>
            <a:cxnSpLocks/>
            <a:endCxn id="3" idx="0"/>
          </p:cNvCxnSpPr>
          <p:nvPr/>
        </p:nvCxnSpPr>
        <p:spPr>
          <a:xfrm rot="16200000" flipH="1">
            <a:off x="1870075" y="1343025"/>
            <a:ext cx="660400" cy="51435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796779E-1272-049E-E1C3-ACA993018047}"/>
              </a:ext>
            </a:extLst>
          </p:cNvPr>
          <p:cNvCxnSpPr>
            <a:endCxn id="4" idx="0"/>
          </p:cNvCxnSpPr>
          <p:nvPr/>
        </p:nvCxnSpPr>
        <p:spPr>
          <a:xfrm>
            <a:off x="4324350" y="1270000"/>
            <a:ext cx="2362201" cy="590550"/>
          </a:xfrm>
          <a:prstGeom prst="curved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CF9AE-0B07-FF43-E8DF-10E999C3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4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Simulations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Terminating Simulations:</a:t>
            </a:r>
            <a:endParaRPr lang="en-US" dirty="0"/>
          </a:p>
          <a:p>
            <a:pPr lvl="1"/>
            <a:r>
              <a:rPr dirty="0"/>
              <a:t>Ends on a specific time or event (e.g., bank hours).</a:t>
            </a:r>
          </a:p>
          <a:p>
            <a:r>
              <a:rPr dirty="0"/>
              <a:t>Non-Terminating Simulations:</a:t>
            </a:r>
            <a:endParaRPr lang="en-US" dirty="0"/>
          </a:p>
          <a:p>
            <a:pPr lvl="1"/>
            <a:r>
              <a:rPr dirty="0"/>
              <a:t>Studies long-run behavior (steady state).</a:t>
            </a:r>
            <a:endParaRPr lang="en-US" dirty="0"/>
          </a:p>
          <a:p>
            <a:pPr lvl="1"/>
            <a:r>
              <a:rPr dirty="0"/>
              <a:t>Initial conditions matter for accuracy.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D5AEB-E827-8B89-B03B-3F835572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Estimation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673" y="1427748"/>
            <a:ext cx="8277727" cy="46136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Used to summarize simulation results into meaningful numerical values (estimates) for key performance metrics — such as average waiting time, system utilization, queue length, etc.</a:t>
            </a:r>
          </a:p>
          <a:p>
            <a:pPr marL="0" indent="0">
              <a:buNone/>
            </a:pPr>
            <a:r>
              <a:rPr lang="en-US" dirty="0"/>
              <a:t>Types</a:t>
            </a:r>
            <a:endParaRPr dirty="0"/>
          </a:p>
          <a:p>
            <a:pPr>
              <a:buAutoNum type="arabicPeriod"/>
            </a:pPr>
            <a:r>
              <a:rPr dirty="0"/>
              <a:t>Point Estim</a:t>
            </a:r>
            <a:r>
              <a:rPr lang="en-US" dirty="0"/>
              <a:t>ation</a:t>
            </a:r>
          </a:p>
          <a:p>
            <a:pPr lvl="1">
              <a:buAutoNum type="arabicPeriod"/>
            </a:pPr>
            <a:r>
              <a:rPr lang="en-US" dirty="0"/>
              <a:t>Provides Single value(estimate) for performance measure</a:t>
            </a:r>
          </a:p>
          <a:p>
            <a:pPr lvl="1">
              <a:buAutoNum type="arabicPeriod"/>
            </a:pPr>
            <a:r>
              <a:rPr lang="en-US" dirty="0"/>
              <a:t>Example: Mean waiting time = 10.5 minutes</a:t>
            </a:r>
          </a:p>
          <a:p>
            <a:pPr lvl="1">
              <a:buAutoNum type="arabicPeriod"/>
            </a:pPr>
            <a:r>
              <a:rPr lang="en-US" dirty="0"/>
              <a:t>Easy to compute but don’t talk about uncertainty</a:t>
            </a:r>
          </a:p>
          <a:p>
            <a:pPr>
              <a:buAutoNum type="arabicPeriod"/>
            </a:pPr>
            <a:r>
              <a:rPr dirty="0"/>
              <a:t>Interval Estimation</a:t>
            </a:r>
            <a:endParaRPr lang="en-US" dirty="0"/>
          </a:p>
          <a:p>
            <a:pPr lvl="1">
              <a:buAutoNum type="arabicPeriod"/>
            </a:pPr>
            <a:r>
              <a:rPr lang="en-US" dirty="0"/>
              <a:t>Provides a range</a:t>
            </a:r>
            <a:r>
              <a:rPr dirty="0"/>
              <a:t> </a:t>
            </a:r>
            <a:r>
              <a:rPr lang="en-US" dirty="0"/>
              <a:t>(</a:t>
            </a:r>
            <a:r>
              <a:rPr dirty="0"/>
              <a:t>confidence </a:t>
            </a:r>
            <a:r>
              <a:rPr lang="en-US" dirty="0"/>
              <a:t>interval) within which the true value is likely to lie with given probability</a:t>
            </a:r>
            <a:r>
              <a:rPr dirty="0"/>
              <a:t>.</a:t>
            </a:r>
            <a:endParaRPr lang="en-US" dirty="0"/>
          </a:p>
          <a:p>
            <a:pPr lvl="1">
              <a:buAutoNum type="arabicPeriod"/>
            </a:pPr>
            <a:r>
              <a:rPr lang="en-US" dirty="0"/>
              <a:t>Formula for CI of the mean</a:t>
            </a:r>
            <a:r>
              <a:rPr dirty="0"/>
              <a:t>:  CI = x̄ ± t * (s/√n)</a:t>
            </a:r>
            <a:r>
              <a:rPr lang="pt-BR" dirty="0"/>
              <a:t>, where </a:t>
            </a:r>
          </a:p>
          <a:p>
            <a:pPr lvl="2">
              <a:buAutoNum type="arabicPeriod"/>
            </a:pPr>
            <a:r>
              <a:rPr lang="pt-BR" dirty="0"/>
              <a:t>Xˉ = sample mean</a:t>
            </a:r>
          </a:p>
          <a:p>
            <a:pPr lvl="2">
              <a:buAutoNum type="arabicPeriod"/>
            </a:pPr>
            <a:r>
              <a:rPr lang="pt-BR" dirty="0"/>
              <a:t>s = sample standard deviation</a:t>
            </a:r>
          </a:p>
          <a:p>
            <a:pPr lvl="2">
              <a:buAutoNum type="arabicPeriod"/>
            </a:pPr>
            <a:r>
              <a:rPr lang="pt-BR" dirty="0"/>
              <a:t>n = number of observations (or replications)</a:t>
            </a:r>
          </a:p>
          <a:p>
            <a:pPr lvl="2">
              <a:buAutoNum type="arabicPeriod"/>
            </a:pPr>
            <a:r>
              <a:rPr lang="pt-BR" dirty="0"/>
              <a:t>t</a:t>
            </a:r>
            <a:r>
              <a:rPr lang="el-GR" dirty="0"/>
              <a:t>α/2​ = </a:t>
            </a:r>
            <a:r>
              <a:rPr lang="pt-BR" dirty="0"/>
              <a:t>value from t-distribution</a:t>
            </a:r>
          </a:p>
          <a:p>
            <a:pPr>
              <a:buAutoNum type="arabicPeriod"/>
            </a:pPr>
            <a:r>
              <a:rPr lang="en-US" dirty="0"/>
              <a:t>Variance Estimation</a:t>
            </a:r>
          </a:p>
          <a:p>
            <a:pPr lvl="1">
              <a:buAutoNum type="arabicPeriod"/>
            </a:pPr>
            <a:r>
              <a:rPr lang="en-US" dirty="0"/>
              <a:t>Measures spread or uncertainty in the simulation output.</a:t>
            </a:r>
          </a:p>
          <a:p>
            <a:pPr lvl="1">
              <a:buAutoNum type="arabicPeriod"/>
            </a:pPr>
            <a:r>
              <a:rPr lang="en-US" dirty="0"/>
              <a:t>Helps assess stability and reliability of results.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0EE8-6242-EC86-9505-AB72B4587F7D}"/>
              </a:ext>
            </a:extLst>
          </p:cNvPr>
          <p:cNvSpPr txBox="1"/>
          <p:nvPr/>
        </p:nvSpPr>
        <p:spPr>
          <a:xfrm>
            <a:off x="5852887" y="4927601"/>
            <a:ext cx="34675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nk Free" panose="03080402000500000000" pitchFamily="66" charset="0"/>
              </a:rPr>
              <a:t>Coz , Sim outputs are based on random events, we Don’t get exact values, so we estimate expected  values.</a:t>
            </a:r>
          </a:p>
          <a:p>
            <a:r>
              <a:rPr lang="en-US" dirty="0">
                <a:solidFill>
                  <a:srgbClr val="FF0000"/>
                </a:solidFill>
                <a:latin typeface="Ink Free" panose="03080402000500000000" pitchFamily="66" charset="0"/>
              </a:rPr>
              <a:t>It involves stochastic variability so gives different results also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EB71-4B1E-F784-07FA-E15648B90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4CC6-7373-8DD3-CF1E-2953C42C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46B3B-B212-56CD-13A9-06B4A797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and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88BAE-A7D8-3F48-57D3-F8ABC3D23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930400"/>
            <a:ext cx="4229101" cy="3880773"/>
          </a:xfrm>
        </p:spPr>
        <p:txBody>
          <a:bodyPr/>
          <a:lstStyle/>
          <a:p>
            <a:r>
              <a:rPr lang="en-US" dirty="0"/>
              <a:t>You simulate a traffic intersection 20 times. Each run gives a slightly different average wait time. Estimation methods let you calculate:</a:t>
            </a:r>
          </a:p>
          <a:p>
            <a:r>
              <a:rPr lang="en-US" b="1" dirty="0"/>
              <a:t>Mean wait time</a:t>
            </a:r>
            <a:r>
              <a:rPr lang="en-US" dirty="0"/>
              <a:t> across 20 runs.</a:t>
            </a:r>
          </a:p>
          <a:p>
            <a:r>
              <a:rPr lang="en-US" b="1" dirty="0"/>
              <a:t>Confidence interval</a:t>
            </a:r>
            <a:r>
              <a:rPr lang="en-US" dirty="0"/>
              <a:t> to see how much this average might vary.</a:t>
            </a:r>
          </a:p>
          <a:p>
            <a:r>
              <a:rPr lang="en-US" b="1" dirty="0"/>
              <a:t>Variance</a:t>
            </a:r>
            <a:r>
              <a:rPr lang="en-US" dirty="0"/>
              <a:t> to understand how unpredictable the system is.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1E4745-565B-D118-B65D-EC7923C69F48}"/>
              </a:ext>
            </a:extLst>
          </p:cNvPr>
          <p:cNvSpPr txBox="1">
            <a:spLocks/>
          </p:cNvSpPr>
          <p:nvPr/>
        </p:nvSpPr>
        <p:spPr>
          <a:xfrm>
            <a:off x="4572000" y="1860550"/>
            <a:ext cx="42291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Allow you to quantify uncertainty in simulation results.</a:t>
            </a:r>
          </a:p>
          <a:p>
            <a:r>
              <a:rPr lang="en-US" dirty="0"/>
              <a:t>Support decision-making with statistical confidence.</a:t>
            </a:r>
          </a:p>
          <a:p>
            <a:r>
              <a:rPr lang="en-US" dirty="0"/>
              <a:t>Essential for validating model output.</a:t>
            </a:r>
          </a:p>
          <a:p>
            <a:r>
              <a:rPr lang="en-US" dirty="0"/>
              <a:t>Help in comparing system alternatives using statistical tests.</a:t>
            </a:r>
          </a:p>
          <a:p>
            <a:endParaRPr lang="en-US" dirty="0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2B6D6025-EC2F-BCB0-A2A2-B5730DCAEAAE}"/>
              </a:ext>
            </a:extLst>
          </p:cNvPr>
          <p:cNvCxnSpPr>
            <a:cxnSpLocks/>
            <a:endCxn id="3" idx="0"/>
          </p:cNvCxnSpPr>
          <p:nvPr/>
        </p:nvCxnSpPr>
        <p:spPr>
          <a:xfrm rot="16200000" flipH="1">
            <a:off x="1870075" y="1343025"/>
            <a:ext cx="660400" cy="51435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60A0089-619A-40D0-ED7E-50B599417A53}"/>
              </a:ext>
            </a:extLst>
          </p:cNvPr>
          <p:cNvCxnSpPr>
            <a:endCxn id="4" idx="0"/>
          </p:cNvCxnSpPr>
          <p:nvPr/>
        </p:nvCxnSpPr>
        <p:spPr>
          <a:xfrm>
            <a:off x="4324350" y="1270000"/>
            <a:ext cx="2362201" cy="590550"/>
          </a:xfrm>
          <a:prstGeom prst="curved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B7AFF-AE65-5EFF-2C34-BD9BB837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21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Run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6" y="1488614"/>
            <a:ext cx="8534403" cy="45527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Simulation Run Statistics</a:t>
            </a:r>
            <a:r>
              <a:rPr lang="en-US" dirty="0"/>
              <a:t> are the </a:t>
            </a:r>
            <a:r>
              <a:rPr lang="en-US" b="1" dirty="0"/>
              <a:t>summary results</a:t>
            </a:r>
            <a:r>
              <a:rPr lang="en-US" dirty="0"/>
              <a:t> collected during or after a simulation run to </a:t>
            </a:r>
            <a:r>
              <a:rPr lang="en-US" b="1" dirty="0"/>
              <a:t>analyze the system's performance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These statistics help us </a:t>
            </a:r>
            <a:r>
              <a:rPr lang="en-US" b="1" dirty="0"/>
              <a:t>understand</a:t>
            </a:r>
            <a:r>
              <a:rPr lang="en-US" dirty="0"/>
              <a:t>, </a:t>
            </a:r>
            <a:r>
              <a:rPr lang="en-US" b="1" dirty="0"/>
              <a:t>evaluate</a:t>
            </a:r>
            <a:r>
              <a:rPr lang="en-US" dirty="0"/>
              <a:t>, and </a:t>
            </a:r>
            <a:r>
              <a:rPr lang="en-US" b="1" dirty="0"/>
              <a:t>compare</a:t>
            </a:r>
            <a:r>
              <a:rPr lang="en-US" dirty="0"/>
              <a:t> different system configurations under uncertainty.</a:t>
            </a:r>
          </a:p>
          <a:p>
            <a:pPr marL="0" indent="0">
              <a:buNone/>
            </a:pPr>
            <a:r>
              <a:rPr lang="en-US" dirty="0"/>
              <a:t>What types of </a:t>
            </a:r>
            <a:r>
              <a:rPr lang="en-US" b="1" dirty="0"/>
              <a:t>statistics</a:t>
            </a:r>
            <a:r>
              <a:rPr lang="en-US" dirty="0"/>
              <a:t> are collected?</a:t>
            </a:r>
            <a:endParaRPr dirty="0"/>
          </a:p>
          <a:p>
            <a:pPr>
              <a:buAutoNum type="arabicPeriod"/>
            </a:pPr>
            <a:r>
              <a:rPr lang="en-US" dirty="0"/>
              <a:t>Point Estimates (Single Values):</a:t>
            </a:r>
          </a:p>
          <a:p>
            <a:pPr lvl="1">
              <a:buAutoNum type="arabicPeriod"/>
            </a:pPr>
            <a:r>
              <a:rPr lang="en-US" dirty="0"/>
              <a:t>Mean (Average): e.g., average waiting time.</a:t>
            </a:r>
          </a:p>
          <a:p>
            <a:pPr lvl="1">
              <a:buAutoNum type="arabicPeriod"/>
            </a:pPr>
            <a:r>
              <a:rPr lang="en-US" dirty="0"/>
              <a:t>Maximum/Minimum: e.g., max queue length.</a:t>
            </a:r>
          </a:p>
          <a:p>
            <a:pPr lvl="1">
              <a:buAutoNum type="arabicPeriod"/>
            </a:pPr>
            <a:r>
              <a:rPr lang="en-US" dirty="0"/>
              <a:t>Utilization: e.g., proportion of time a server is busy.</a:t>
            </a:r>
          </a:p>
          <a:p>
            <a:pPr lvl="1">
              <a:buAutoNum type="arabicPeriod"/>
            </a:pPr>
            <a:r>
              <a:rPr lang="en-US" dirty="0"/>
              <a:t>Throughput: number of completed transactions per unit time.</a:t>
            </a:r>
          </a:p>
          <a:p>
            <a:pPr>
              <a:buAutoNum type="arabicPeriod"/>
            </a:pPr>
            <a:r>
              <a:rPr lang="en-US" dirty="0"/>
              <a:t>Measures of Variability:</a:t>
            </a:r>
          </a:p>
          <a:p>
            <a:pPr lvl="1">
              <a:buAutoNum type="arabicPeriod"/>
            </a:pPr>
            <a:r>
              <a:rPr lang="en-US" dirty="0"/>
              <a:t>Standard Deviation: how spread out the values are.</a:t>
            </a:r>
          </a:p>
          <a:p>
            <a:pPr lvl="1">
              <a:buAutoNum type="arabicPeriod"/>
            </a:pPr>
            <a:r>
              <a:rPr lang="en-US" dirty="0"/>
              <a:t>Variance: square of standard deviation.</a:t>
            </a:r>
          </a:p>
          <a:p>
            <a:pPr>
              <a:buAutoNum type="arabicPeriod"/>
            </a:pPr>
            <a:r>
              <a:rPr lang="en-US" dirty="0"/>
              <a:t>Confidence Intervals (CIs):</a:t>
            </a:r>
          </a:p>
          <a:p>
            <a:pPr lvl="1">
              <a:buAutoNum type="arabicPeriod"/>
            </a:pPr>
            <a:r>
              <a:rPr lang="en-US" dirty="0"/>
              <a:t>Give a range (e.g., 4.8 to 5.2 minutes) where the true value is expected to lie.</a:t>
            </a:r>
          </a:p>
          <a:p>
            <a:pPr lvl="1">
              <a:buAutoNum type="arabicPeriod"/>
            </a:pPr>
            <a:r>
              <a:rPr lang="en-US" dirty="0"/>
              <a:t>Typically 95% CI is used.</a:t>
            </a:r>
          </a:p>
          <a:p>
            <a:pPr lvl="1">
              <a:buAutoNum type="arabicPeriod"/>
            </a:pPr>
            <a:r>
              <a:rPr lang="en-US" dirty="0"/>
              <a:t>Very important for decision-making under uncertainty.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1D486-8741-2B8E-8C1D-B54BFAE9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EE82E-C3CF-664D-89D5-6E0197B0C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these statistics generated?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EC13A-5777-74B6-7C30-B90A36FA2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Each Simulation Run:</a:t>
            </a:r>
          </a:p>
          <a:p>
            <a:pPr lvl="1"/>
            <a:r>
              <a:rPr lang="en-US" dirty="0"/>
              <a:t>Statistics are recorded for system variables like queue length, service time, etc.</a:t>
            </a:r>
          </a:p>
          <a:p>
            <a:r>
              <a:rPr lang="en-US" dirty="0"/>
              <a:t>Across Replications:</a:t>
            </a:r>
          </a:p>
          <a:p>
            <a:pPr lvl="1"/>
            <a:r>
              <a:rPr lang="en-US" dirty="0"/>
              <a:t>Results from multiple runs are aggregated to calculate:</a:t>
            </a:r>
          </a:p>
          <a:p>
            <a:pPr lvl="2"/>
            <a:r>
              <a:rPr lang="en-US" dirty="0"/>
              <a:t>Average of averages</a:t>
            </a:r>
          </a:p>
          <a:p>
            <a:pPr lvl="2"/>
            <a:r>
              <a:rPr lang="en-US" dirty="0"/>
              <a:t>Standard deviation across runs</a:t>
            </a:r>
          </a:p>
          <a:p>
            <a:pPr lvl="2"/>
            <a:r>
              <a:rPr lang="en-US" dirty="0"/>
              <a:t>Confidence intervals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3849D-A108-2A6C-3340-65C8AC04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95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48656-03E0-A170-BC62-8B7F8D9E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5111-D775-AA13-2665-A061FCB6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and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80911-5D3C-095E-307B-47FBC5499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930400"/>
            <a:ext cx="4229101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a call center simulation, collecting run statistics like:</a:t>
            </a:r>
          </a:p>
          <a:p>
            <a:r>
              <a:rPr lang="en-US" dirty="0"/>
              <a:t>Average wait time: </a:t>
            </a:r>
            <a:r>
              <a:rPr lang="en-US" b="1" dirty="0"/>
              <a:t>4.9 minutes</a:t>
            </a:r>
            <a:endParaRPr lang="en-US" dirty="0"/>
          </a:p>
          <a:p>
            <a:r>
              <a:rPr lang="en-US" dirty="0"/>
              <a:t>Utilization: </a:t>
            </a:r>
            <a:r>
              <a:rPr lang="en-US" b="1" dirty="0"/>
              <a:t>85%</a:t>
            </a:r>
            <a:endParaRPr lang="en-US" dirty="0"/>
          </a:p>
          <a:p>
            <a:r>
              <a:rPr lang="en-US" dirty="0"/>
              <a:t>95% CI for wait time: </a:t>
            </a:r>
            <a:r>
              <a:rPr lang="en-US" b="1" dirty="0"/>
              <a:t>[4.6, 5.2] minutes</a:t>
            </a:r>
          </a:p>
          <a:p>
            <a:pPr marL="0" indent="0">
              <a:buNone/>
            </a:pPr>
            <a:r>
              <a:rPr lang="en-US" dirty="0"/>
              <a:t>This</a:t>
            </a:r>
            <a:r>
              <a:rPr lang="en-US" b="1" dirty="0"/>
              <a:t> </a:t>
            </a:r>
            <a:r>
              <a:rPr lang="en-US" dirty="0"/>
              <a:t>gives a complete view of system performance with statistical confidence.</a:t>
            </a:r>
          </a:p>
          <a:p>
            <a:pPr marL="0" indent="0">
              <a:buNone/>
            </a:pPr>
            <a:r>
              <a:rPr lang="en-US" dirty="0"/>
              <a:t>Bike test ride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DB1472-5327-0E02-AA4F-354D33B23614}"/>
              </a:ext>
            </a:extLst>
          </p:cNvPr>
          <p:cNvSpPr txBox="1">
            <a:spLocks/>
          </p:cNvSpPr>
          <p:nvPr/>
        </p:nvSpPr>
        <p:spPr>
          <a:xfrm>
            <a:off x="4572000" y="1860550"/>
            <a:ext cx="42291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Importance of Simulation Run Statistics</a:t>
            </a:r>
          </a:p>
          <a:p>
            <a:r>
              <a:rPr lang="en-US" dirty="0"/>
              <a:t>Provide </a:t>
            </a:r>
            <a:r>
              <a:rPr lang="en-US" b="1" dirty="0"/>
              <a:t>quantitative insights</a:t>
            </a:r>
            <a:r>
              <a:rPr lang="en-US" dirty="0"/>
              <a:t> into system performance.</a:t>
            </a:r>
          </a:p>
          <a:p>
            <a:r>
              <a:rPr lang="en-US" dirty="0"/>
              <a:t>Allow for </a:t>
            </a:r>
            <a:r>
              <a:rPr lang="en-US" b="1" dirty="0"/>
              <a:t>comparison</a:t>
            </a:r>
            <a:r>
              <a:rPr lang="en-US" dirty="0"/>
              <a:t> between different models or policies.</a:t>
            </a:r>
          </a:p>
          <a:p>
            <a:r>
              <a:rPr lang="en-US" dirty="0"/>
              <a:t>Help in </a:t>
            </a:r>
            <a:r>
              <a:rPr lang="en-US" b="1" dirty="0"/>
              <a:t>optimization</a:t>
            </a:r>
            <a:r>
              <a:rPr lang="en-US" dirty="0"/>
              <a:t> (e.g., which server config gives least wait time?).</a:t>
            </a:r>
          </a:p>
          <a:p>
            <a:r>
              <a:rPr lang="en-US" dirty="0"/>
              <a:t>Enable </a:t>
            </a:r>
            <a:r>
              <a:rPr lang="en-US" b="1" dirty="0"/>
              <a:t>informed decision-making</a:t>
            </a:r>
            <a:r>
              <a:rPr lang="en-US" dirty="0"/>
              <a:t> using confidence intervals.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41FCB16-A722-BFB5-B88B-26B0B4E4B5D0}"/>
              </a:ext>
            </a:extLst>
          </p:cNvPr>
          <p:cNvCxnSpPr>
            <a:cxnSpLocks/>
            <a:endCxn id="3" idx="0"/>
          </p:cNvCxnSpPr>
          <p:nvPr/>
        </p:nvCxnSpPr>
        <p:spPr>
          <a:xfrm rot="16200000" flipH="1">
            <a:off x="1870075" y="1343025"/>
            <a:ext cx="660400" cy="51435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EB13F0F-7461-3FE5-3D3C-2F45875F07F9}"/>
              </a:ext>
            </a:extLst>
          </p:cNvPr>
          <p:cNvCxnSpPr>
            <a:endCxn id="4" idx="0"/>
          </p:cNvCxnSpPr>
          <p:nvPr/>
        </p:nvCxnSpPr>
        <p:spPr>
          <a:xfrm>
            <a:off x="4324350" y="1270000"/>
            <a:ext cx="2362201" cy="590550"/>
          </a:xfrm>
          <a:prstGeom prst="curved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588FB-EE4D-4F20-A944-D392DBDEA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57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Replication of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930400"/>
            <a:ext cx="7042485" cy="4614779"/>
          </a:xfrm>
        </p:spPr>
        <p:txBody>
          <a:bodyPr>
            <a:normAutofit/>
          </a:bodyPr>
          <a:lstStyle/>
          <a:p>
            <a:r>
              <a:rPr dirty="0"/>
              <a:t>Run multiple simulations with different seeds.</a:t>
            </a:r>
          </a:p>
          <a:p>
            <a:r>
              <a:rPr dirty="0"/>
              <a:t>Each run gives independent result.</a:t>
            </a:r>
          </a:p>
          <a:p>
            <a:r>
              <a:rPr dirty="0"/>
              <a:t>Final output: Mean and variance over replications.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How is it done ?</a:t>
            </a:r>
          </a:p>
          <a:p>
            <a:pPr>
              <a:buAutoNum type="arabicPeriod"/>
            </a:pPr>
            <a:r>
              <a:rPr lang="en-US" b="1" dirty="0"/>
              <a:t>Fix Simulation Settings</a:t>
            </a:r>
            <a:r>
              <a:rPr lang="en-US" dirty="0"/>
              <a:t>: Keep model logic, parameters, and run length the same.</a:t>
            </a:r>
          </a:p>
          <a:p>
            <a:pPr>
              <a:buAutoNum type="arabicPeriod"/>
            </a:pPr>
            <a:r>
              <a:rPr lang="en-US" b="1" dirty="0"/>
              <a:t>Change Random Seeds</a:t>
            </a:r>
            <a:r>
              <a:rPr lang="en-US" dirty="0"/>
              <a:t>: Each replication uses a different random number seed to ensure statistical independence.</a:t>
            </a:r>
          </a:p>
          <a:p>
            <a:pPr>
              <a:buAutoNum type="arabicPeriod"/>
            </a:pPr>
            <a:r>
              <a:rPr lang="en-US" b="1" dirty="0"/>
              <a:t>Collect Output Metrics</a:t>
            </a:r>
            <a:r>
              <a:rPr lang="en-US" dirty="0"/>
              <a:t>: Gather results (e.g., average waiting time, queue length) from each run.</a:t>
            </a:r>
          </a:p>
          <a:p>
            <a:pPr>
              <a:buAutoNum type="arabicPeriod"/>
            </a:pPr>
            <a:r>
              <a:rPr lang="en-US" b="1" dirty="0"/>
              <a:t>Analyze Results</a:t>
            </a:r>
            <a:r>
              <a:rPr lang="en-US" dirty="0"/>
              <a:t>: Use statistics (mean, variance, confidence intervals) from the multiple replications.</a:t>
            </a:r>
          </a:p>
          <a:p>
            <a:pPr marL="0" indent="0">
              <a:buNone/>
            </a:pPr>
            <a:endParaRPr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93B49-F557-1072-A1B4-D4CE9691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8F3C-18F8-D09C-02CB-D5522437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Replication of Runs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4368E-3F5C-0980-0250-8F845B275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930400"/>
            <a:ext cx="6978316" cy="45024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There are three major approaches:</a:t>
            </a:r>
          </a:p>
          <a:p>
            <a:pPr>
              <a:buAutoNum type="arabicPeriod"/>
            </a:pPr>
            <a:r>
              <a:rPr lang="en-US" b="1" dirty="0"/>
              <a:t>Fixed Number of Replications:</a:t>
            </a:r>
          </a:p>
          <a:p>
            <a:pPr lvl="1">
              <a:buAutoNum type="arabicPeriod"/>
            </a:pPr>
            <a:r>
              <a:rPr lang="en-US" dirty="0"/>
              <a:t>Predefine how many times the simulation will run (e.g., 10, 30, 100).</a:t>
            </a:r>
          </a:p>
          <a:p>
            <a:pPr lvl="1">
              <a:buAutoNum type="arabicPeriod"/>
            </a:pPr>
            <a:r>
              <a:rPr lang="en-US" dirty="0"/>
              <a:t>Compute statistics from those runs.</a:t>
            </a:r>
          </a:p>
          <a:p>
            <a:pPr>
              <a:buAutoNum type="arabicPeriod"/>
            </a:pPr>
            <a:r>
              <a:rPr lang="en-US" b="1" dirty="0"/>
              <a:t>Sequential Sampling:</a:t>
            </a:r>
          </a:p>
          <a:p>
            <a:pPr lvl="1">
              <a:buAutoNum type="arabicPeriod"/>
            </a:pPr>
            <a:r>
              <a:rPr lang="en-US" dirty="0"/>
              <a:t>Start with a minimum number of replications.</a:t>
            </a:r>
          </a:p>
          <a:p>
            <a:pPr lvl="1">
              <a:buAutoNum type="arabicPeriod"/>
            </a:pPr>
            <a:r>
              <a:rPr lang="en-US" dirty="0"/>
              <a:t>Keep adding replications until desired precision (e.g., 95% confidence interval width) is reached.</a:t>
            </a:r>
          </a:p>
          <a:p>
            <a:pPr>
              <a:buAutoNum type="arabicPeriod"/>
            </a:pPr>
            <a:r>
              <a:rPr lang="en-US" b="1" dirty="0"/>
              <a:t>Batch Means (Alternative Approach):</a:t>
            </a:r>
          </a:p>
          <a:p>
            <a:pPr lvl="1">
              <a:buAutoNum type="arabicPeriod"/>
            </a:pPr>
            <a:r>
              <a:rPr lang="en-US" dirty="0"/>
              <a:t>Divide one long run into several equal batches.</a:t>
            </a:r>
          </a:p>
          <a:p>
            <a:pPr lvl="1">
              <a:buAutoNum type="arabicPeriod"/>
            </a:pPr>
            <a:r>
              <a:rPr lang="en-US" dirty="0"/>
              <a:t>Treat each batch as a replication (works well for steady-state systems).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9B8EB-F6BD-F8BE-EF9D-0AD4A7EB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50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8DB8F-64C4-BB01-E9F2-AB04C0959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80A0-0F65-C370-4923-2C965E4F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and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B4449-0DC0-5FFF-7511-32FF736BF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930400"/>
            <a:ext cx="4229101" cy="3880773"/>
          </a:xfrm>
        </p:spPr>
        <p:txBody>
          <a:bodyPr/>
          <a:lstStyle/>
          <a:p>
            <a:r>
              <a:rPr lang="en-US" b="1" dirty="0"/>
              <a:t>Example:</a:t>
            </a:r>
            <a:r>
              <a:rPr lang="en-US" dirty="0"/>
              <a:t> In a bank queue simulation, instead of reporting waiting time from just one run, doing 30 replications gives a mean wait time and a 95% confidence range </a:t>
            </a:r>
          </a:p>
          <a:p>
            <a:r>
              <a:rPr lang="en-US" dirty="0"/>
              <a:t>(e.g., 4.8 to 5.2 minutes). </a:t>
            </a:r>
          </a:p>
          <a:p>
            <a:r>
              <a:rPr lang="en-US" dirty="0"/>
              <a:t>This is far more informative.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A51C85-E324-0CFC-440E-2C1B636A8451}"/>
              </a:ext>
            </a:extLst>
          </p:cNvPr>
          <p:cNvSpPr txBox="1">
            <a:spLocks/>
          </p:cNvSpPr>
          <p:nvPr/>
        </p:nvSpPr>
        <p:spPr>
          <a:xfrm>
            <a:off x="4572000" y="1860550"/>
            <a:ext cx="42291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Importance of Replication of Runs:</a:t>
            </a:r>
          </a:p>
          <a:p>
            <a:r>
              <a:rPr lang="en-US" b="1" dirty="0"/>
              <a:t>Reduces randomness bias</a:t>
            </a:r>
            <a:r>
              <a:rPr lang="en-US" dirty="0"/>
              <a:t> in results.</a:t>
            </a:r>
          </a:p>
          <a:p>
            <a:r>
              <a:rPr lang="en-US" b="1" dirty="0"/>
              <a:t>Improves accuracy</a:t>
            </a:r>
            <a:r>
              <a:rPr lang="en-US" dirty="0"/>
              <a:t> of performance estimates.</a:t>
            </a:r>
          </a:p>
          <a:p>
            <a:r>
              <a:rPr lang="en-US" dirty="0"/>
              <a:t>Enables </a:t>
            </a:r>
            <a:r>
              <a:rPr lang="en-US" b="1" dirty="0"/>
              <a:t>confidence interval estimation</a:t>
            </a:r>
            <a:r>
              <a:rPr lang="en-US" dirty="0"/>
              <a:t>, helping decision-makers know how reliable the results are.</a:t>
            </a:r>
          </a:p>
          <a:p>
            <a:r>
              <a:rPr lang="en-US" dirty="0"/>
              <a:t>Helps in </a:t>
            </a:r>
            <a:r>
              <a:rPr lang="en-US" b="1" dirty="0"/>
              <a:t>comparative studies</a:t>
            </a:r>
            <a:r>
              <a:rPr lang="en-US" dirty="0"/>
              <a:t>—when testing different system configurations or policies.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EE640590-AFA2-6936-A845-DA94FFDE6620}"/>
              </a:ext>
            </a:extLst>
          </p:cNvPr>
          <p:cNvCxnSpPr>
            <a:cxnSpLocks/>
            <a:endCxn id="3" idx="0"/>
          </p:cNvCxnSpPr>
          <p:nvPr/>
        </p:nvCxnSpPr>
        <p:spPr>
          <a:xfrm rot="16200000" flipH="1">
            <a:off x="1870075" y="1343025"/>
            <a:ext cx="660400" cy="51435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54253D03-590B-6BDD-6ED6-5940474188ED}"/>
              </a:ext>
            </a:extLst>
          </p:cNvPr>
          <p:cNvCxnSpPr>
            <a:endCxn id="4" idx="0"/>
          </p:cNvCxnSpPr>
          <p:nvPr/>
        </p:nvCxnSpPr>
        <p:spPr>
          <a:xfrm>
            <a:off x="4324350" y="1270000"/>
            <a:ext cx="2362201" cy="590550"/>
          </a:xfrm>
          <a:prstGeom prst="curved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0AAFA-E75E-7585-38A3-6C20E529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76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Elimination of Initial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steady-state, initial values cause bias.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1. Smart Initialization: Start near steady-state.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2. Truncation: Discard early data.</a:t>
            </a:r>
          </a:p>
          <a:p>
            <a:r>
              <a:rPr dirty="0"/>
              <a:t>Use pilot runs to determine warm-up length.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568A8-44E1-D1A4-94AB-F1AC0F4ABE91}"/>
              </a:ext>
            </a:extLst>
          </p:cNvPr>
          <p:cNvSpPr txBox="1"/>
          <p:nvPr/>
        </p:nvSpPr>
        <p:spPr>
          <a:xfrm>
            <a:off x="805565" y="4117019"/>
            <a:ext cx="530647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Ink Free" panose="03080402000500000000" pitchFamily="66" charset="0"/>
              </a:rPr>
              <a:t>Why is it a Problem?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Ink Free" panose="03080402000500000000" pitchFamily="66" charset="0"/>
              </a:rPr>
              <a:t>-Early outputs (e.g., low queue length, low wait time) are </a:t>
            </a:r>
            <a:r>
              <a:rPr lang="en-US" altLang="en-US" sz="2000" b="1" dirty="0">
                <a:solidFill>
                  <a:srgbClr val="FF0000"/>
                </a:solidFill>
                <a:latin typeface="Ink Free" panose="03080402000500000000" pitchFamily="66" charset="0"/>
              </a:rPr>
              <a:t>unrealistically optimistic</a:t>
            </a:r>
            <a:r>
              <a:rPr lang="en-US" altLang="en-US" sz="2000" dirty="0">
                <a:solidFill>
                  <a:srgbClr val="FF0000"/>
                </a:solidFill>
                <a:latin typeface="Ink Free" panose="03080402000500000000" pitchFamily="66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Ink Free" panose="03080402000500000000" pitchFamily="66" charset="0"/>
              </a:rPr>
              <a:t>-If included in final results, they cause </a:t>
            </a:r>
            <a:r>
              <a:rPr lang="en-US" altLang="en-US" sz="2000" b="1" dirty="0">
                <a:solidFill>
                  <a:srgbClr val="FF0000"/>
                </a:solidFill>
                <a:latin typeface="Ink Free" panose="03080402000500000000" pitchFamily="66" charset="0"/>
              </a:rPr>
              <a:t>biased estimates</a:t>
            </a:r>
            <a:r>
              <a:rPr lang="en-US" altLang="en-US" sz="2000" dirty="0">
                <a:solidFill>
                  <a:srgbClr val="FF0000"/>
                </a:solidFill>
                <a:latin typeface="Ink Free" panose="03080402000500000000" pitchFamily="66" charset="0"/>
              </a:rPr>
              <a:t> of long-term system performance.</a:t>
            </a:r>
          </a:p>
          <a:p>
            <a:endParaRPr lang="en-US" sz="2000" dirty="0">
              <a:solidFill>
                <a:srgbClr val="FF0000"/>
              </a:solidFill>
              <a:latin typeface="Ink Free" panose="03080402000500000000" pitchFamily="66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FA1E9-56EB-D7D0-31B5-1CFE3E4A7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60D0-6F9B-495A-06C5-298C2BE9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eliminate Initial Bias?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88270-9E5D-03E5-2024-9CE6AD8F9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3" y="1748591"/>
            <a:ext cx="8197517" cy="4499810"/>
          </a:xfrm>
        </p:spPr>
        <p:txBody>
          <a:bodyPr>
            <a:normAutofit fontScale="92500" lnSpcReduction="20000"/>
          </a:bodyPr>
          <a:lstStyle/>
          <a:p>
            <a:pPr>
              <a:buAutoNum type="arabicPeriod"/>
            </a:pPr>
            <a:r>
              <a:rPr lang="en-US" b="1" dirty="0"/>
              <a:t>Warm-Up Period Approach </a:t>
            </a:r>
            <a:r>
              <a:rPr lang="en-US" dirty="0"/>
              <a:t>(most common):</a:t>
            </a:r>
          </a:p>
          <a:p>
            <a:pPr lvl="1">
              <a:buAutoNum type="arabicPeriod"/>
            </a:pPr>
            <a:r>
              <a:rPr lang="en-US" dirty="0"/>
              <a:t>Discard data from the initial period (e.g., first t minutes or first n customers).</a:t>
            </a:r>
          </a:p>
          <a:p>
            <a:pPr lvl="1">
              <a:buAutoNum type="arabicPeriod"/>
            </a:pPr>
            <a:r>
              <a:rPr lang="en-US" dirty="0"/>
              <a:t>Only use the data after the system stabilizes.</a:t>
            </a:r>
          </a:p>
          <a:p>
            <a:pPr lvl="1">
              <a:buAutoNum type="arabicPeriod"/>
            </a:pPr>
            <a:r>
              <a:rPr lang="en-US" dirty="0"/>
              <a:t>This </a:t>
            </a:r>
            <a:r>
              <a:rPr lang="en-US" b="1" dirty="0"/>
              <a:t>t</a:t>
            </a:r>
            <a:r>
              <a:rPr lang="en-US" dirty="0"/>
              <a:t> is called the warm-up period.</a:t>
            </a:r>
          </a:p>
          <a:p>
            <a:pPr>
              <a:buAutoNum type="arabicPeriod"/>
            </a:pPr>
            <a:r>
              <a:rPr lang="en-US" b="1" dirty="0"/>
              <a:t>Multiple Initialization </a:t>
            </a:r>
            <a:r>
              <a:rPr lang="en-US" dirty="0"/>
              <a:t>Methods:</a:t>
            </a:r>
          </a:p>
          <a:p>
            <a:pPr lvl="1">
              <a:buAutoNum type="arabicPeriod"/>
            </a:pPr>
            <a:r>
              <a:rPr lang="en-US" dirty="0"/>
              <a:t>Instead of starting from an empty system, </a:t>
            </a:r>
            <a:r>
              <a:rPr lang="en-US" b="1" dirty="0"/>
              <a:t>start simulation </a:t>
            </a:r>
            <a:r>
              <a:rPr lang="en-US" dirty="0"/>
              <a:t>closer to a </a:t>
            </a:r>
            <a:r>
              <a:rPr lang="en-US" b="1" dirty="0"/>
              <a:t>steady-state </a:t>
            </a:r>
            <a:r>
              <a:rPr lang="en-US" dirty="0"/>
              <a:t>(e.g., pre-loaded queues).</a:t>
            </a:r>
          </a:p>
          <a:p>
            <a:pPr lvl="1">
              <a:buAutoNum type="arabicPeriod"/>
            </a:pPr>
            <a:r>
              <a:rPr lang="en-US" dirty="0"/>
              <a:t>Requires domain knowledge.</a:t>
            </a:r>
          </a:p>
          <a:p>
            <a:pPr>
              <a:buAutoNum type="arabicPeriod"/>
            </a:pPr>
            <a:r>
              <a:rPr lang="en-US" b="1" dirty="0"/>
              <a:t>Use Replication + Warm-Up</a:t>
            </a:r>
            <a:r>
              <a:rPr lang="en-US" dirty="0"/>
              <a:t>:</a:t>
            </a:r>
          </a:p>
          <a:p>
            <a:pPr lvl="1">
              <a:buAutoNum type="arabicPeriod"/>
            </a:pPr>
            <a:r>
              <a:rPr lang="en-US" b="1" dirty="0"/>
              <a:t>Combine replication </a:t>
            </a:r>
            <a:r>
              <a:rPr lang="en-US" dirty="0"/>
              <a:t>with a warm-up period in each run.</a:t>
            </a:r>
          </a:p>
          <a:p>
            <a:pPr lvl="1">
              <a:buAutoNum type="arabicPeriod"/>
            </a:pPr>
            <a:r>
              <a:rPr lang="en-US" dirty="0"/>
              <a:t>Improves </a:t>
            </a:r>
            <a:r>
              <a:rPr lang="en-US" b="1" dirty="0"/>
              <a:t>robustness</a:t>
            </a:r>
            <a:r>
              <a:rPr lang="en-US" dirty="0"/>
              <a:t> of the estimates.</a:t>
            </a:r>
          </a:p>
          <a:p>
            <a:pPr>
              <a:buAutoNum type="arabicPeriod"/>
            </a:pPr>
            <a:r>
              <a:rPr lang="en-US" b="1" dirty="0"/>
              <a:t>Heuristic/Graphical Techniques</a:t>
            </a:r>
            <a:r>
              <a:rPr lang="en-US" dirty="0"/>
              <a:t> to Determine Warm-Up Length:</a:t>
            </a:r>
          </a:p>
          <a:p>
            <a:pPr lvl="1">
              <a:buAutoNum type="arabicPeriod"/>
            </a:pPr>
            <a:r>
              <a:rPr lang="en-US" b="1" dirty="0"/>
              <a:t>Plot output performance vs time </a:t>
            </a:r>
            <a:r>
              <a:rPr lang="en-US" dirty="0"/>
              <a:t>(e.g., average wait time).</a:t>
            </a:r>
          </a:p>
          <a:p>
            <a:pPr lvl="1">
              <a:buAutoNum type="arabicPeriod"/>
            </a:pPr>
            <a:r>
              <a:rPr lang="en-US" dirty="0"/>
              <a:t>Observe when the curve </a:t>
            </a:r>
            <a:r>
              <a:rPr lang="en-US" b="1" dirty="0"/>
              <a:t>stabilizes</a:t>
            </a:r>
            <a:r>
              <a:rPr lang="en-US" dirty="0"/>
              <a:t>, then select warm-up length accordingly.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7A5FD-183D-D760-BEC8-7DF1AF6C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54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FDB3-430A-823D-729F-F870B343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A166-21B5-E99A-FB7D-1F82009B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and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8F055-D428-C6EF-CF04-CC7B308A8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930400"/>
            <a:ext cx="4229101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In a 24-hour hospital simulation, patient queue lengths are artificially low in the first hour due to no patients at the beginning. </a:t>
            </a:r>
          </a:p>
          <a:p>
            <a:r>
              <a:rPr lang="en-US" dirty="0"/>
              <a:t>By </a:t>
            </a:r>
            <a:r>
              <a:rPr lang="en-US" b="1" dirty="0"/>
              <a:t>discarding the first hour’s data</a:t>
            </a:r>
            <a:r>
              <a:rPr lang="en-US" dirty="0"/>
              <a:t>, we get a </a:t>
            </a:r>
            <a:r>
              <a:rPr lang="en-US" b="1" dirty="0"/>
              <a:t>more accurate estimate</a:t>
            </a:r>
            <a:r>
              <a:rPr lang="en-US" dirty="0"/>
              <a:t> of average queue lengths.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766D93-8D0B-B13A-ECD4-554C2DF38874}"/>
              </a:ext>
            </a:extLst>
          </p:cNvPr>
          <p:cNvSpPr txBox="1">
            <a:spLocks/>
          </p:cNvSpPr>
          <p:nvPr/>
        </p:nvSpPr>
        <p:spPr>
          <a:xfrm>
            <a:off x="4572000" y="1860550"/>
            <a:ext cx="42291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Importance of Eliminating Initial Bias</a:t>
            </a:r>
          </a:p>
          <a:p>
            <a:r>
              <a:rPr lang="en-US" dirty="0"/>
              <a:t>Ensures </a:t>
            </a:r>
            <a:r>
              <a:rPr lang="en-US" b="1" dirty="0"/>
              <a:t>valid and reliable</a:t>
            </a:r>
            <a:r>
              <a:rPr lang="en-US" dirty="0"/>
              <a:t> performance metrics.</a:t>
            </a:r>
          </a:p>
          <a:p>
            <a:r>
              <a:rPr lang="en-US" dirty="0"/>
              <a:t>Helps capture the </a:t>
            </a:r>
            <a:r>
              <a:rPr lang="en-US" b="1" dirty="0"/>
              <a:t>true steady-state behavior</a:t>
            </a:r>
            <a:r>
              <a:rPr lang="en-US" dirty="0"/>
              <a:t> of the system.</a:t>
            </a:r>
          </a:p>
          <a:p>
            <a:r>
              <a:rPr lang="en-US" dirty="0"/>
              <a:t>Prevents </a:t>
            </a:r>
            <a:r>
              <a:rPr lang="en-US" b="1" dirty="0"/>
              <a:t>misleading conclusions</a:t>
            </a:r>
            <a:r>
              <a:rPr lang="en-US" dirty="0"/>
              <a:t> in long-run simulations (e.g., in manufacturing, call centers, etc.).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24F36ED7-B5E9-16A1-E43C-8C8B643051D0}"/>
              </a:ext>
            </a:extLst>
          </p:cNvPr>
          <p:cNvCxnSpPr>
            <a:cxnSpLocks/>
            <a:endCxn id="3" idx="0"/>
          </p:cNvCxnSpPr>
          <p:nvPr/>
        </p:nvCxnSpPr>
        <p:spPr>
          <a:xfrm rot="16200000" flipH="1">
            <a:off x="1870075" y="1343025"/>
            <a:ext cx="660400" cy="51435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6ACC258-C80C-7104-DF08-AB900A3C695F}"/>
              </a:ext>
            </a:extLst>
          </p:cNvPr>
          <p:cNvCxnSpPr>
            <a:endCxn id="4" idx="0"/>
          </p:cNvCxnSpPr>
          <p:nvPr/>
        </p:nvCxnSpPr>
        <p:spPr>
          <a:xfrm>
            <a:off x="4324350" y="1270000"/>
            <a:ext cx="2362201" cy="590550"/>
          </a:xfrm>
          <a:prstGeom prst="curved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15313-044A-7CF7-3D1B-1A7DB09B0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89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012" y="1748590"/>
            <a:ext cx="2823409" cy="206943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Nature of Problem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Understand system type (deterministic/stochastic), time orientation (static /dynamic), and run type (terminating/non-terminating).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Guides model choice, data collection, and analysis strategy.</a:t>
            </a:r>
          </a:p>
          <a:p>
            <a:pPr marL="457200" lvl="1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528274-07E3-8F90-CF15-3FE69A3521CE}"/>
              </a:ext>
            </a:extLst>
          </p:cNvPr>
          <p:cNvSpPr txBox="1">
            <a:spLocks/>
          </p:cNvSpPr>
          <p:nvPr/>
        </p:nvSpPr>
        <p:spPr>
          <a:xfrm>
            <a:off x="3094887" y="1748588"/>
            <a:ext cx="2709874" cy="2213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Estimation Methods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Point Estimation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Mean, proportion.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Interval Estimation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Confidence intervals (e.g., 95% CI).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Variance Estimation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Measures uncertainty and spread.</a:t>
            </a:r>
          </a:p>
          <a:p>
            <a:pPr marL="457200" lvl="1" indent="0">
              <a:buFont typeface="Wingdings 3" charset="2"/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lvl="1" indent="0">
              <a:buFont typeface="Wingdings 3" charset="2"/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C14FE5-252E-BC64-355E-08C0DF65FA97}"/>
              </a:ext>
            </a:extLst>
          </p:cNvPr>
          <p:cNvSpPr txBox="1">
            <a:spLocks/>
          </p:cNvSpPr>
          <p:nvPr/>
        </p:nvSpPr>
        <p:spPr>
          <a:xfrm>
            <a:off x="385012" y="4042201"/>
            <a:ext cx="2709874" cy="21817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Simulation Run Statistics</a:t>
            </a:r>
            <a:r>
              <a:rPr lang="en-US" dirty="0">
                <a:solidFill>
                  <a:srgbClr val="002060"/>
                </a:solidFill>
              </a:rPr>
              <a:t>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2060"/>
                </a:solidFill>
              </a:rPr>
              <a:t>Collect data like average wait time, queue lengths.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2060"/>
                </a:solidFill>
              </a:rPr>
              <a:t>Point Estimates like Mean, Max, Min, Utilization, throughput.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2060"/>
                </a:solidFill>
              </a:rPr>
              <a:t>Include variability measures (SD, variance) and confidence intervals for better insights.</a:t>
            </a:r>
          </a:p>
          <a:p>
            <a:pPr marL="457200" lvl="1" indent="0">
              <a:buFont typeface="Wingdings 3" charset="2"/>
              <a:buNone/>
            </a:pPr>
            <a:endParaRPr lang="en-US" dirty="0">
              <a:solidFill>
                <a:srgbClr val="002060"/>
              </a:solidFill>
            </a:endParaRPr>
          </a:p>
          <a:p>
            <a:pPr marL="457200" lvl="1" indent="0">
              <a:buFont typeface="Wingdings 3" charset="2"/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707851-908C-DE0A-499E-D4FDEE0F4197}"/>
              </a:ext>
            </a:extLst>
          </p:cNvPr>
          <p:cNvSpPr txBox="1">
            <a:spLocks/>
          </p:cNvSpPr>
          <p:nvPr/>
        </p:nvSpPr>
        <p:spPr>
          <a:xfrm>
            <a:off x="3202977" y="3962398"/>
            <a:ext cx="2954230" cy="218172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Replication of Runs: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Repeat simulation with different random seeds.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Use fixed replications or sequential sampling.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Helps reduce randomness bias and build statistical confidence.</a:t>
            </a:r>
          </a:p>
          <a:p>
            <a:pPr marL="457200" lvl="1" indent="0">
              <a:buFont typeface="Wingdings 3" charset="2"/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099F46-84F8-E4FC-77EC-1EADFA14AF21}"/>
              </a:ext>
            </a:extLst>
          </p:cNvPr>
          <p:cNvSpPr txBox="1">
            <a:spLocks/>
          </p:cNvSpPr>
          <p:nvPr/>
        </p:nvSpPr>
        <p:spPr>
          <a:xfrm>
            <a:off x="5693709" y="1748590"/>
            <a:ext cx="2709875" cy="2213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Elimination of Initial Bias: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Removes startup effects in steady-state models.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Use warm-up periods or steady-state initialization.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Ensures valid, long-run performance results.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38182-7FA4-7A64-CE46-DF14C12B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DDC5-9AD7-3986-7925-28523A15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D54F-4197-7DCF-0951-70BF6196E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003"/>
            <a:ext cx="7756188" cy="4550611"/>
          </a:xfrm>
        </p:spPr>
        <p:txBody>
          <a:bodyPr>
            <a:normAutofit fontScale="92500" lnSpcReduction="20000"/>
          </a:bodyPr>
          <a:lstStyle/>
          <a:p>
            <a:pPr lvl="0">
              <a:buFont typeface="+mj-lt"/>
              <a:buAutoNum type="arabicPeriod"/>
            </a:pPr>
            <a:r>
              <a:rPr lang="en-US" dirty="0"/>
              <a:t>Why analysis of simulation is needed?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Explain the statement “Replication of runs will refine the simulation output” with necessary examples and statistics.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What is initial bias? What are various methods to eliminate initial bias?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What do you understand by replication of runs? Why is it necessary?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Why is the analysis of simulation output necessary? In output analysis, how is the estimation approach applied?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Write short note on Simulation run statistics.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How does initial bias make adverse effect? Discuss about eliminating initial bias effect.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Write short notes on simulation statistics. 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Discuss the different method of estimation technique. 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What do you mean by central value theorem? Write its applications. 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Why is the output analysis of simulation methods different from traditional statistical methods of analysis??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7A02E-76DF-44DB-EC95-4DC9A4C9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kapil@nast.edu.np || kapilpant157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119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460</TotalTime>
  <Words>3840</Words>
  <Application>Microsoft Office PowerPoint</Application>
  <PresentationFormat>On-screen Show (4:3)</PresentationFormat>
  <Paragraphs>385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Ink Free</vt:lpstr>
      <vt:lpstr>Trebuchet MS</vt:lpstr>
      <vt:lpstr>Wingdings 3</vt:lpstr>
      <vt:lpstr>Facet</vt:lpstr>
      <vt:lpstr>Output Analysis Methods</vt:lpstr>
      <vt:lpstr>Contents</vt:lpstr>
      <vt:lpstr>Nature of the Problem</vt:lpstr>
      <vt:lpstr>Key Aspects of Problem Nature</vt:lpstr>
      <vt:lpstr>Example and Importance</vt:lpstr>
      <vt:lpstr>Types of Simulations</vt:lpstr>
      <vt:lpstr>Estimation Methods</vt:lpstr>
      <vt:lpstr>Example and Importance</vt:lpstr>
      <vt:lpstr>Simulation Run Statistics</vt:lpstr>
      <vt:lpstr>How are these statistics generated?</vt:lpstr>
      <vt:lpstr>Example and Importance</vt:lpstr>
      <vt:lpstr>Replication of Runs</vt:lpstr>
      <vt:lpstr>Methods of Replication of Runs</vt:lpstr>
      <vt:lpstr>Example and Importance</vt:lpstr>
      <vt:lpstr>Elimination of Initial Bias</vt:lpstr>
      <vt:lpstr>How to eliminate Initial Bias?</vt:lpstr>
      <vt:lpstr>Example and Importance</vt:lpstr>
      <vt:lpstr>Summary</vt:lpstr>
      <vt:lpstr>Questions..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Kapil Dev Pant</dc:creator>
  <cp:keywords/>
  <dc:description>generated using python-pptx</dc:description>
  <cp:lastModifiedBy>Kapil Dev Pant</cp:lastModifiedBy>
  <cp:revision>75</cp:revision>
  <dcterms:created xsi:type="dcterms:W3CDTF">2013-01-27T09:14:16Z</dcterms:created>
  <dcterms:modified xsi:type="dcterms:W3CDTF">2025-07-06T07:24:33Z</dcterms:modified>
  <cp:category/>
</cp:coreProperties>
</file>