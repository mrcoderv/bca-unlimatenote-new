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4" r:id="rId9"/>
    <p:sldId id="265" r:id="rId10"/>
    <p:sldId id="263"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683" autoAdjust="0"/>
  </p:normalViewPr>
  <p:slideViewPr>
    <p:cSldViewPr snapToGrid="0">
      <p:cViewPr varScale="1">
        <p:scale>
          <a:sx n="40" d="100"/>
          <a:sy n="40" d="100"/>
        </p:scale>
        <p:origin x="1080" y="42"/>
      </p:cViewPr>
      <p:guideLst/>
    </p:cSldViewPr>
  </p:slideViewPr>
  <p:notesTextViewPr>
    <p:cViewPr>
      <p:scale>
        <a:sx n="1" d="1"/>
        <a:sy n="1" d="1"/>
      </p:scale>
      <p:origin x="0" y="-54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896EE-E4F1-4B11-9DE9-883792E5015E}"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B57BE-A21A-4DE0-A2FF-0F4A0CC619B5}" type="slidenum">
              <a:rPr lang="en-US" smtClean="0"/>
              <a:t>‹#›</a:t>
            </a:fld>
            <a:endParaRPr lang="en-US"/>
          </a:p>
        </p:txBody>
      </p:sp>
    </p:spTree>
    <p:extLst>
      <p:ext uri="{BB962C8B-B14F-4D97-AF65-F5344CB8AC3E}">
        <p14:creationId xmlns:p14="http://schemas.microsoft.com/office/powerpoint/2010/main" val="2241853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1</a:t>
            </a:fld>
            <a:endParaRPr lang="en-US"/>
          </a:p>
        </p:txBody>
      </p:sp>
    </p:spTree>
    <p:extLst>
      <p:ext uri="{BB962C8B-B14F-4D97-AF65-F5344CB8AC3E}">
        <p14:creationId xmlns:p14="http://schemas.microsoft.com/office/powerpoint/2010/main" val="1479363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Gathering Statistics: Essential for accurate system analysis.</a:t>
            </a:r>
          </a:p>
          <a:p>
            <a:r>
              <a:rPr lang="en-US" dirty="0"/>
              <a:t>- Counters and Summary Statistics: Simplify data interpretation.</a:t>
            </a:r>
          </a:p>
          <a:p>
            <a:r>
              <a:rPr lang="en-US" dirty="0"/>
              <a:t>- Measuring Utilization and Occupancy: Optimize resource efficiency.</a:t>
            </a:r>
          </a:p>
          <a:p>
            <a:r>
              <a:rPr lang="en-US" dirty="0"/>
              <a:t>- Recording Distribution and Transit Time: Evaluate system flow and variability.</a:t>
            </a:r>
          </a:p>
          <a:p>
            <a:r>
              <a:rPr lang="en-US" dirty="0"/>
              <a:t>- Discrete Simulation Language: Powerful tool for complex system modeling.</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2</a:t>
            </a:fld>
            <a:endParaRPr lang="en-US"/>
          </a:p>
        </p:txBody>
      </p:sp>
    </p:spTree>
    <p:extLst>
      <p:ext uri="{BB962C8B-B14F-4D97-AF65-F5344CB8AC3E}">
        <p14:creationId xmlns:p14="http://schemas.microsoft.com/office/powerpoint/2010/main" val="1223124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event: arrival or departure of customer in queue, ales of item from stock, lift example.</a:t>
            </a:r>
          </a:p>
          <a:p>
            <a:endParaRPr lang="en-US" dirty="0"/>
          </a:p>
          <a:p>
            <a:r>
              <a:rPr lang="en-US" b="1" dirty="0"/>
              <a:t>Applications of Discrete System Simulation</a:t>
            </a:r>
          </a:p>
          <a:p>
            <a:pPr>
              <a:buFont typeface="+mj-lt"/>
              <a:buAutoNum type="arabicPeriod"/>
            </a:pPr>
            <a:r>
              <a:rPr lang="en-US" b="1" dirty="0"/>
              <a:t>Manufacturing Systems</a:t>
            </a:r>
            <a:endParaRPr lang="en-US" dirty="0"/>
          </a:p>
          <a:p>
            <a:pPr marL="742950" lvl="1" indent="-285750">
              <a:buFont typeface="+mj-lt"/>
              <a:buAutoNum type="arabicPeriod"/>
            </a:pPr>
            <a:r>
              <a:rPr lang="en-US" b="1" dirty="0"/>
              <a:t>Use:</a:t>
            </a:r>
            <a:r>
              <a:rPr lang="en-US" dirty="0"/>
              <a:t> Optimizing production lines and processes.</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Analyzing machine utilization and downtime.</a:t>
            </a:r>
          </a:p>
          <a:p>
            <a:pPr marL="1143000" lvl="2" indent="-228600">
              <a:buFont typeface="+mj-lt"/>
              <a:buAutoNum type="arabicPeriod"/>
            </a:pPr>
            <a:r>
              <a:rPr lang="en-US" dirty="0"/>
              <a:t>Testing different layouts for a factory floor.</a:t>
            </a:r>
          </a:p>
          <a:p>
            <a:pPr>
              <a:buFont typeface="+mj-lt"/>
              <a:buAutoNum type="arabicPeriod"/>
            </a:pPr>
            <a:r>
              <a:rPr lang="en-US" b="1" dirty="0"/>
              <a:t>Supply Chain and Logistics</a:t>
            </a:r>
            <a:endParaRPr lang="en-US" dirty="0"/>
          </a:p>
          <a:p>
            <a:pPr marL="742950" lvl="1" indent="-285750">
              <a:buFont typeface="+mj-lt"/>
              <a:buAutoNum type="arabicPeriod"/>
            </a:pPr>
            <a:r>
              <a:rPr lang="en-US" b="1" dirty="0"/>
              <a:t>Use:</a:t>
            </a:r>
            <a:r>
              <a:rPr lang="en-US" dirty="0"/>
              <a:t> Managing inventory and distribution networks.</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warehouse operations.</a:t>
            </a:r>
          </a:p>
          <a:p>
            <a:pPr marL="1143000" lvl="2" indent="-228600">
              <a:buFont typeface="+mj-lt"/>
              <a:buAutoNum type="arabicPeriod"/>
            </a:pPr>
            <a:r>
              <a:rPr lang="en-US" dirty="0"/>
              <a:t>Evaluating the performance of transportation systems.</a:t>
            </a:r>
          </a:p>
          <a:p>
            <a:pPr>
              <a:buFont typeface="+mj-lt"/>
              <a:buAutoNum type="arabicPeriod"/>
            </a:pPr>
            <a:r>
              <a:rPr lang="en-US" b="1" dirty="0"/>
              <a:t>Telecommunication Systems</a:t>
            </a:r>
            <a:endParaRPr lang="en-US" dirty="0"/>
          </a:p>
          <a:p>
            <a:pPr marL="742950" lvl="1" indent="-285750">
              <a:buFont typeface="+mj-lt"/>
              <a:buAutoNum type="arabicPeriod"/>
            </a:pPr>
            <a:r>
              <a:rPr lang="en-US" b="1" dirty="0"/>
              <a:t>Use:</a:t>
            </a:r>
            <a:r>
              <a:rPr lang="en-US" dirty="0"/>
              <a:t> Enhancing network reliability and capacity planning.</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Analyzing call-handling systems in call centers.</a:t>
            </a:r>
          </a:p>
          <a:p>
            <a:pPr marL="1143000" lvl="2" indent="-228600">
              <a:buFont typeface="+mj-lt"/>
              <a:buAutoNum type="arabicPeriod"/>
            </a:pPr>
            <a:r>
              <a:rPr lang="en-US" dirty="0"/>
              <a:t>Optimizing data packet routing in networks.</a:t>
            </a:r>
          </a:p>
          <a:p>
            <a:pPr>
              <a:buFont typeface="+mj-lt"/>
              <a:buAutoNum type="arabicPeriod"/>
            </a:pPr>
            <a:r>
              <a:rPr lang="en-US" b="1" dirty="0"/>
              <a:t>Healthcare Systems</a:t>
            </a:r>
            <a:endParaRPr lang="en-US" dirty="0"/>
          </a:p>
          <a:p>
            <a:pPr marL="742950" lvl="1" indent="-285750">
              <a:buFont typeface="+mj-lt"/>
              <a:buAutoNum type="arabicPeriod"/>
            </a:pPr>
            <a:r>
              <a:rPr lang="en-US" b="1" dirty="0"/>
              <a:t>Use:</a:t>
            </a:r>
            <a:r>
              <a:rPr lang="en-US" dirty="0"/>
              <a:t> Improving hospital operations and patient flow.</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emergency room workflows.</a:t>
            </a:r>
          </a:p>
          <a:p>
            <a:pPr marL="1143000" lvl="2" indent="-228600">
              <a:buFont typeface="+mj-lt"/>
              <a:buAutoNum type="arabicPeriod"/>
            </a:pPr>
            <a:r>
              <a:rPr lang="en-US" dirty="0"/>
              <a:t>Predicting the impact of staffing changes on service quality.</a:t>
            </a:r>
          </a:p>
          <a:p>
            <a:pPr>
              <a:buFont typeface="+mj-lt"/>
              <a:buAutoNum type="arabicPeriod"/>
            </a:pPr>
            <a:r>
              <a:rPr lang="en-US" b="1" dirty="0"/>
              <a:t>Traffic and Transportation</a:t>
            </a:r>
            <a:endParaRPr lang="en-US" dirty="0"/>
          </a:p>
          <a:p>
            <a:pPr marL="742950" lvl="1" indent="-285750">
              <a:buFont typeface="+mj-lt"/>
              <a:buAutoNum type="arabicPeriod"/>
            </a:pPr>
            <a:r>
              <a:rPr lang="en-US" b="1" dirty="0"/>
              <a:t>Use:</a:t>
            </a:r>
            <a:r>
              <a:rPr lang="en-US" dirty="0"/>
              <a:t> Managing traffic flow and public transportation systems.</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traffic patterns to optimize signal timings.</a:t>
            </a:r>
          </a:p>
          <a:p>
            <a:pPr marL="1143000" lvl="2" indent="-228600">
              <a:buFont typeface="+mj-lt"/>
              <a:buAutoNum type="arabicPeriod"/>
            </a:pPr>
            <a:r>
              <a:rPr lang="en-US" dirty="0"/>
              <a:t>Evaluating new bus routes or train schedules.</a:t>
            </a:r>
          </a:p>
          <a:p>
            <a:pPr>
              <a:buFont typeface="+mj-lt"/>
              <a:buAutoNum type="arabicPeriod"/>
            </a:pPr>
            <a:r>
              <a:rPr lang="en-US" b="1" dirty="0"/>
              <a:t>Retail and E-commerce</a:t>
            </a:r>
            <a:endParaRPr lang="en-US" dirty="0"/>
          </a:p>
          <a:p>
            <a:pPr marL="742950" lvl="1" indent="-285750">
              <a:buFont typeface="+mj-lt"/>
              <a:buAutoNum type="arabicPeriod"/>
            </a:pPr>
            <a:r>
              <a:rPr lang="en-US" b="1" dirty="0"/>
              <a:t>Use:</a:t>
            </a:r>
            <a:r>
              <a:rPr lang="en-US" dirty="0"/>
              <a:t> Improving customer experience and sales.</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checkout line queues in supermarkets.</a:t>
            </a:r>
          </a:p>
          <a:p>
            <a:pPr marL="1143000" lvl="2" indent="-228600">
              <a:buFont typeface="+mj-lt"/>
              <a:buAutoNum type="arabicPeriod"/>
            </a:pPr>
            <a:r>
              <a:rPr lang="en-US" dirty="0"/>
              <a:t>Optimizing inventory levels for online stores.</a:t>
            </a:r>
          </a:p>
          <a:p>
            <a:pPr>
              <a:buFont typeface="+mj-lt"/>
              <a:buAutoNum type="arabicPeriod"/>
            </a:pPr>
            <a:r>
              <a:rPr lang="en-US" b="1" dirty="0"/>
              <a:t>Finance and Banking</a:t>
            </a:r>
            <a:endParaRPr lang="en-US" dirty="0"/>
          </a:p>
          <a:p>
            <a:pPr marL="742950" lvl="1" indent="-285750">
              <a:buFont typeface="+mj-lt"/>
              <a:buAutoNum type="arabicPeriod"/>
            </a:pPr>
            <a:r>
              <a:rPr lang="en-US" b="1" dirty="0"/>
              <a:t>Use:</a:t>
            </a:r>
            <a:r>
              <a:rPr lang="en-US" dirty="0"/>
              <a:t> Evaluating risk and optimizing operations.</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customer service processes in banks.</a:t>
            </a:r>
          </a:p>
          <a:p>
            <a:pPr marL="1143000" lvl="2" indent="-228600">
              <a:buFont typeface="+mj-lt"/>
              <a:buAutoNum type="arabicPeriod"/>
            </a:pPr>
            <a:r>
              <a:rPr lang="en-US" dirty="0"/>
              <a:t>Analyzing credit risk models.</a:t>
            </a:r>
          </a:p>
          <a:p>
            <a:pPr>
              <a:buFont typeface="+mj-lt"/>
              <a:buAutoNum type="arabicPeriod"/>
            </a:pPr>
            <a:r>
              <a:rPr lang="en-US" b="1" dirty="0"/>
              <a:t>Military and Defense</a:t>
            </a:r>
            <a:endParaRPr lang="en-US" dirty="0"/>
          </a:p>
          <a:p>
            <a:pPr marL="742950" lvl="1" indent="-285750">
              <a:buFont typeface="+mj-lt"/>
              <a:buAutoNum type="arabicPeriod"/>
            </a:pPr>
            <a:r>
              <a:rPr lang="en-US" b="1" dirty="0"/>
              <a:t>Use:</a:t>
            </a:r>
            <a:r>
              <a:rPr lang="en-US" dirty="0"/>
              <a:t> Training and strategic planning.</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battlefield scenarios.</a:t>
            </a:r>
          </a:p>
          <a:p>
            <a:pPr marL="1143000" lvl="2" indent="-228600">
              <a:buFont typeface="+mj-lt"/>
              <a:buAutoNum type="arabicPeriod"/>
            </a:pPr>
            <a:r>
              <a:rPr lang="en-US" dirty="0"/>
              <a:t>Testing the reliability of defense systems.</a:t>
            </a:r>
          </a:p>
          <a:p>
            <a:pPr>
              <a:buFont typeface="+mj-lt"/>
              <a:buAutoNum type="arabicPeriod"/>
            </a:pPr>
            <a:r>
              <a:rPr lang="en-US" b="1" dirty="0"/>
              <a:t>Education and Research</a:t>
            </a:r>
            <a:endParaRPr lang="en-US" dirty="0"/>
          </a:p>
          <a:p>
            <a:pPr marL="742950" lvl="1" indent="-285750">
              <a:buFont typeface="+mj-lt"/>
              <a:buAutoNum type="arabicPeriod"/>
            </a:pPr>
            <a:r>
              <a:rPr lang="en-US" b="1" dirty="0"/>
              <a:t>Use:</a:t>
            </a:r>
            <a:r>
              <a:rPr lang="en-US" dirty="0"/>
              <a:t> Teaching complex systems and testing theories.</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ecosystems for biology studies.</a:t>
            </a:r>
          </a:p>
          <a:p>
            <a:pPr marL="1143000" lvl="2" indent="-228600">
              <a:buFont typeface="+mj-lt"/>
              <a:buAutoNum type="arabicPeriod"/>
            </a:pPr>
            <a:r>
              <a:rPr lang="en-US" dirty="0"/>
              <a:t>Modeling population growth in urban planning.</a:t>
            </a:r>
          </a:p>
          <a:p>
            <a:pPr>
              <a:buFont typeface="+mj-lt"/>
              <a:buAutoNum type="arabicPeriod"/>
            </a:pPr>
            <a:r>
              <a:rPr lang="en-US" b="1" dirty="0"/>
              <a:t>Energy Systems</a:t>
            </a:r>
            <a:endParaRPr lang="en-US" dirty="0"/>
          </a:p>
          <a:p>
            <a:pPr marL="742950" lvl="1" indent="-285750">
              <a:buFont typeface="+mj-lt"/>
              <a:buAutoNum type="arabicPeriod"/>
            </a:pPr>
            <a:r>
              <a:rPr lang="en-US" b="1" dirty="0"/>
              <a:t>Use:</a:t>
            </a:r>
            <a:r>
              <a:rPr lang="en-US" dirty="0"/>
              <a:t> Managing power generation and distribution.</a:t>
            </a:r>
          </a:p>
          <a:p>
            <a:pPr marL="742950" lvl="1" indent="-285750">
              <a:buFont typeface="+mj-lt"/>
              <a:buAutoNum type="arabicPeriod"/>
            </a:pPr>
            <a:r>
              <a:rPr lang="en-US" b="1" dirty="0"/>
              <a:t>Examples:</a:t>
            </a:r>
            <a:endParaRPr lang="en-US" dirty="0"/>
          </a:p>
          <a:p>
            <a:pPr marL="1143000" lvl="2" indent="-228600">
              <a:buFont typeface="+mj-lt"/>
              <a:buAutoNum type="arabicPeriod"/>
            </a:pPr>
            <a:r>
              <a:rPr lang="en-US" dirty="0"/>
              <a:t>Simulating electricity grid operations.</a:t>
            </a:r>
          </a:p>
          <a:p>
            <a:pPr marL="1143000" lvl="2" indent="-228600">
              <a:buFont typeface="+mj-lt"/>
              <a:buAutoNum type="arabicPeriod"/>
            </a:pPr>
            <a:r>
              <a:rPr lang="en-US" dirty="0"/>
              <a:t>Planning renewable energy integration.</a:t>
            </a:r>
          </a:p>
          <a:p>
            <a:r>
              <a:rPr lang="en-US" b="1" dirty="0"/>
              <a:t>Key Benefits in Applications</a:t>
            </a:r>
          </a:p>
          <a:p>
            <a:pPr>
              <a:buFont typeface="Arial" panose="020B0604020202020204" pitchFamily="34" charset="0"/>
              <a:buChar char="•"/>
            </a:pPr>
            <a:r>
              <a:rPr lang="en-US" dirty="0"/>
              <a:t>Cost-effective analysis and experimentation.</a:t>
            </a:r>
          </a:p>
          <a:p>
            <a:pPr>
              <a:buFont typeface="Arial" panose="020B0604020202020204" pitchFamily="34" charset="0"/>
              <a:buChar char="•"/>
            </a:pPr>
            <a:r>
              <a:rPr lang="en-US" dirty="0"/>
              <a:t>Risk-free testing of new designs and policies.</a:t>
            </a:r>
          </a:p>
          <a:p>
            <a:pPr>
              <a:buFont typeface="Arial" panose="020B0604020202020204" pitchFamily="34" charset="0"/>
              <a:buChar char="•"/>
            </a:pPr>
            <a:r>
              <a:rPr lang="en-US" dirty="0"/>
              <a:t>Insight into system dynamics and bottlenecks.</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3</a:t>
            </a:fld>
            <a:endParaRPr lang="en-US"/>
          </a:p>
        </p:txBody>
      </p:sp>
    </p:spTree>
    <p:extLst>
      <p:ext uri="{BB962C8B-B14F-4D97-AF65-F5344CB8AC3E}">
        <p14:creationId xmlns:p14="http://schemas.microsoft.com/office/powerpoint/2010/main" val="81192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there are a lot of things that are working on the back ground, but we ignore those because those are not our priorities.</a:t>
            </a:r>
          </a:p>
          <a:p>
            <a:r>
              <a:rPr lang="en-US" dirty="0"/>
              <a:t>Pushing button ===&gt; current in circuit, rotation of </a:t>
            </a:r>
            <a:r>
              <a:rPr lang="en-US" dirty="0" err="1"/>
              <a:t>moter</a:t>
            </a:r>
            <a:r>
              <a:rPr lang="en-US" dirty="0"/>
              <a:t>, displacement of door pressure on wires.</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4</a:t>
            </a:fld>
            <a:endParaRPr lang="en-US"/>
          </a:p>
        </p:txBody>
      </p:sp>
    </p:spTree>
    <p:extLst>
      <p:ext uri="{BB962C8B-B14F-4D97-AF65-F5344CB8AC3E}">
        <p14:creationId xmlns:p14="http://schemas.microsoft.com/office/powerpoint/2010/main" val="2499233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Advantage of Event scheduling:</a:t>
            </a:r>
          </a:p>
          <a:p>
            <a:pPr>
              <a:buFont typeface="Arial" panose="020B0604020202020204" pitchFamily="34" charset="0"/>
              <a:buChar char="•"/>
            </a:pPr>
            <a:r>
              <a:rPr lang="en-US" dirty="0"/>
              <a:t>Efficient since it avoids simulating idle periods.</a:t>
            </a:r>
          </a:p>
          <a:p>
            <a:pPr>
              <a:buFont typeface="Arial" panose="020B0604020202020204" pitchFamily="34" charset="0"/>
              <a:buChar char="•"/>
            </a:pPr>
            <a:r>
              <a:rPr lang="en-US" dirty="0"/>
              <a:t>Ideal for systems where events are sporadic or irregular.</a:t>
            </a:r>
          </a:p>
          <a:p>
            <a:endParaRPr lang="en-US" dirty="0"/>
          </a:p>
          <a:p>
            <a:pPr>
              <a:buFont typeface="Arial" panose="020B0604020202020204" pitchFamily="34" charset="0"/>
              <a:buNone/>
            </a:pPr>
            <a:r>
              <a:rPr lang="en-US" b="1" dirty="0"/>
              <a:t>Advantages of time slicing:</a:t>
            </a:r>
          </a:p>
          <a:p>
            <a:pPr>
              <a:buFont typeface="Arial" panose="020B0604020202020204" pitchFamily="34" charset="0"/>
              <a:buNone/>
            </a:pPr>
            <a:r>
              <a:rPr lang="en-US" dirty="0"/>
              <a:t>Simpler implementation.</a:t>
            </a:r>
          </a:p>
          <a:p>
            <a:pPr>
              <a:buFont typeface="Arial" panose="020B0604020202020204" pitchFamily="34" charset="0"/>
              <a:buChar char="•"/>
            </a:pPr>
            <a:r>
              <a:rPr lang="en-US" dirty="0"/>
              <a:t>Suitable for continuous monitoring systems.</a:t>
            </a:r>
          </a:p>
          <a:p>
            <a:pPr>
              <a:buFont typeface="Arial" panose="020B0604020202020204" pitchFamily="34" charset="0"/>
              <a:buChar char="•"/>
            </a:pPr>
            <a:endParaRPr lang="en-US" dirty="0"/>
          </a:p>
          <a:p>
            <a:pPr>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5</a:t>
            </a:fld>
            <a:endParaRPr lang="en-US"/>
          </a:p>
        </p:txBody>
      </p:sp>
    </p:spTree>
    <p:extLst>
      <p:ext uri="{BB962C8B-B14F-4D97-AF65-F5344CB8AC3E}">
        <p14:creationId xmlns:p14="http://schemas.microsoft.com/office/powerpoint/2010/main" val="1768544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Benefits of Accurate Time Representation</a:t>
            </a:r>
          </a:p>
          <a:p>
            <a:pPr>
              <a:buFont typeface="Arial" panose="020B0604020202020204" pitchFamily="34" charset="0"/>
              <a:buChar char="•"/>
            </a:pPr>
            <a:r>
              <a:rPr lang="en-US" dirty="0"/>
              <a:t>Improves simulation precision.</a:t>
            </a:r>
          </a:p>
          <a:p>
            <a:pPr>
              <a:buFont typeface="Arial" panose="020B0604020202020204" pitchFamily="34" charset="0"/>
              <a:buChar char="•"/>
            </a:pPr>
            <a:r>
              <a:rPr lang="en-US" dirty="0"/>
              <a:t>Ensures resources are allocated appropriately.</a:t>
            </a:r>
          </a:p>
          <a:p>
            <a:pPr>
              <a:buFont typeface="Arial" panose="020B0604020202020204" pitchFamily="34" charset="0"/>
              <a:buChar char="•"/>
            </a:pPr>
            <a:r>
              <a:rPr lang="en-US" dirty="0"/>
              <a:t>Reflects real-world dynamics more effectively.</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6</a:t>
            </a:fld>
            <a:endParaRPr lang="en-US"/>
          </a:p>
        </p:txBody>
      </p:sp>
    </p:spTree>
    <p:extLst>
      <p:ext uri="{BB962C8B-B14F-4D97-AF65-F5344CB8AC3E}">
        <p14:creationId xmlns:p14="http://schemas.microsoft.com/office/powerpoint/2010/main" val="35888782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Arrival patterns describe how entities (e.g., customers, tasks, or signals) arrive in a system over time. In simulation, accurately generating these patterns is critical for realistic modeling and analysis.</a:t>
            </a:r>
          </a:p>
        </p:txBody>
      </p:sp>
      <p:sp>
        <p:nvSpPr>
          <p:cNvPr id="4" name="Slide Number Placeholder 3"/>
          <p:cNvSpPr>
            <a:spLocks noGrp="1"/>
          </p:cNvSpPr>
          <p:nvPr>
            <p:ph type="sldNum" sz="quarter" idx="5"/>
          </p:nvPr>
        </p:nvSpPr>
        <p:spPr/>
        <p:txBody>
          <a:bodyPr/>
          <a:lstStyle/>
          <a:p>
            <a:fld id="{39DB57BE-A21A-4DE0-A2FF-0F4A0CC619B5}" type="slidenum">
              <a:rPr lang="en-US" smtClean="0"/>
              <a:t>7</a:t>
            </a:fld>
            <a:endParaRPr lang="en-US"/>
          </a:p>
        </p:txBody>
      </p:sp>
    </p:spTree>
    <p:extLst>
      <p:ext uri="{BB962C8B-B14F-4D97-AF65-F5344CB8AC3E}">
        <p14:creationId xmlns:p14="http://schemas.microsoft.com/office/powerpoint/2010/main" val="2497560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Deterministic Generation in Simulation</a:t>
            </a:r>
          </a:p>
          <a:p>
            <a:r>
              <a:rPr lang="en-US" b="1" dirty="0"/>
              <a:t>Deterministic Generation</a:t>
            </a:r>
            <a:r>
              <a:rPr lang="en-US" dirty="0"/>
              <a:t> refers to a simulation method where the output of the system is fully determined by the initial conditions and the parameters specified for the model. In other words, given the same initial conditions and inputs, the deterministic simulation will always produce the same results without any variability or randomness.</a:t>
            </a:r>
          </a:p>
          <a:p>
            <a:r>
              <a:rPr lang="en-US" b="1" dirty="0"/>
              <a:t>Key Characteristics of Deterministic Generation</a:t>
            </a:r>
          </a:p>
          <a:p>
            <a:pPr>
              <a:buFont typeface="+mj-lt"/>
              <a:buAutoNum type="arabicPeriod"/>
            </a:pPr>
            <a:r>
              <a:rPr lang="en-US" b="1" dirty="0"/>
              <a:t>Predictability</a:t>
            </a:r>
            <a:r>
              <a:rPr lang="en-US" dirty="0"/>
              <a:t>: The behavior and outcomes are predictable and repeatable because there is no stochastic (random) element involved.</a:t>
            </a:r>
          </a:p>
          <a:p>
            <a:pPr>
              <a:buFont typeface="+mj-lt"/>
              <a:buAutoNum type="arabicPeriod"/>
            </a:pPr>
            <a:r>
              <a:rPr lang="en-US" b="1" dirty="0"/>
              <a:t>Fixed Inputs Lead to Fixed Outputs</a:t>
            </a:r>
            <a:r>
              <a:rPr lang="en-US" dirty="0"/>
              <a:t>: For a specific set of input parameters and initial conditions, the simulation results are always identical.</a:t>
            </a:r>
          </a:p>
          <a:p>
            <a:pPr>
              <a:buFont typeface="+mj-lt"/>
              <a:buAutoNum type="arabicPeriod"/>
            </a:pPr>
            <a:r>
              <a:rPr lang="en-US" b="1" dirty="0"/>
              <a:t>Mathematical Modeling</a:t>
            </a:r>
            <a:r>
              <a:rPr lang="en-US" dirty="0"/>
              <a:t>: It often involves mathematical equations that describe the system dynamics explicitly.</a:t>
            </a:r>
          </a:p>
          <a:p>
            <a:pPr>
              <a:buFont typeface="+mj-lt"/>
              <a:buAutoNum type="arabicPeriod"/>
            </a:pPr>
            <a:r>
              <a:rPr lang="en-US" b="1" dirty="0"/>
              <a:t>No Randomness</a:t>
            </a:r>
            <a:r>
              <a:rPr lang="en-US" dirty="0"/>
              <a:t>: Unlike stochastic simulations, deterministic generation does not incorporate any random variables or probabilistic behaviors.</a:t>
            </a:r>
          </a:p>
          <a:p>
            <a:r>
              <a:rPr lang="en-US" b="1" dirty="0"/>
              <a:t>Examples of Deterministic Simulation</a:t>
            </a:r>
          </a:p>
          <a:p>
            <a:pPr>
              <a:buFont typeface="Arial" panose="020B0604020202020204" pitchFamily="34" charset="0"/>
              <a:buChar char="•"/>
            </a:pPr>
            <a:r>
              <a:rPr lang="en-US" b="1" dirty="0"/>
              <a:t>Traffic Flow Simulation</a:t>
            </a:r>
            <a:r>
              <a:rPr lang="en-US" dirty="0"/>
              <a:t>: Modeling vehicle movement on a highway using predefined speed and acceleration equations without accounting for random driver behavior.</a:t>
            </a:r>
          </a:p>
          <a:p>
            <a:pPr>
              <a:buFont typeface="Arial" panose="020B0604020202020204" pitchFamily="34" charset="0"/>
              <a:buChar char="•"/>
            </a:pPr>
            <a:r>
              <a:rPr lang="en-US" b="1" dirty="0"/>
              <a:t>Manufacturing Process Simulation</a:t>
            </a:r>
            <a:r>
              <a:rPr lang="en-US" dirty="0"/>
              <a:t>: Simulating a production line with fixed machine processing times and predetermined sequences.</a:t>
            </a:r>
          </a:p>
          <a:p>
            <a:pPr>
              <a:buFont typeface="Arial" panose="020B0604020202020204" pitchFamily="34" charset="0"/>
              <a:buChar char="•"/>
            </a:pPr>
            <a:r>
              <a:rPr lang="en-US" b="1" dirty="0"/>
              <a:t>Physical Systems</a:t>
            </a:r>
            <a:r>
              <a:rPr lang="en-US" dirty="0"/>
              <a:t>: Predicting the trajectory of a projectile using Newton's laws of motion, where all forces and initial velocities are known.</a:t>
            </a:r>
          </a:p>
          <a:p>
            <a:r>
              <a:rPr lang="en-US" b="1" dirty="0"/>
              <a:t>Applications of Deterministic Generation</a:t>
            </a:r>
          </a:p>
          <a:p>
            <a:pPr>
              <a:buFont typeface="Arial" panose="020B0604020202020204" pitchFamily="34" charset="0"/>
              <a:buChar char="•"/>
            </a:pPr>
            <a:r>
              <a:rPr lang="en-US" b="1" dirty="0"/>
              <a:t>Control Systems</a:t>
            </a:r>
            <a:r>
              <a:rPr lang="en-US" dirty="0"/>
              <a:t>: To design and test control strategies for systems where precision is critical.</a:t>
            </a:r>
          </a:p>
          <a:p>
            <a:pPr>
              <a:buFont typeface="Arial" panose="020B0604020202020204" pitchFamily="34" charset="0"/>
              <a:buChar char="•"/>
            </a:pPr>
            <a:r>
              <a:rPr lang="en-US" b="1" dirty="0"/>
              <a:t>Engineering</a:t>
            </a:r>
            <a:r>
              <a:rPr lang="en-US" dirty="0"/>
              <a:t>: To predict system behavior under known conditions, such as stress analysis in materials or fluid dynamics.</a:t>
            </a:r>
          </a:p>
          <a:p>
            <a:pPr>
              <a:buFont typeface="Arial" panose="020B0604020202020204" pitchFamily="34" charset="0"/>
              <a:buChar char="•"/>
            </a:pPr>
            <a:r>
              <a:rPr lang="en-US" b="1" dirty="0"/>
              <a:t>Planning and Optimization</a:t>
            </a:r>
            <a:r>
              <a:rPr lang="en-US" dirty="0"/>
              <a:t>: For scenarios where variability is negligible or not a factor, such as scheduling in deterministic environments.</a:t>
            </a:r>
          </a:p>
          <a:p>
            <a:r>
              <a:rPr lang="en-US" b="1" dirty="0"/>
              <a:t>Advantages</a:t>
            </a:r>
          </a:p>
          <a:p>
            <a:pPr>
              <a:buFont typeface="Arial" panose="020B0604020202020204" pitchFamily="34" charset="0"/>
              <a:buChar char="•"/>
            </a:pPr>
            <a:r>
              <a:rPr lang="en-US" b="1" dirty="0"/>
              <a:t>Simplicity</a:t>
            </a:r>
            <a:r>
              <a:rPr lang="en-US" dirty="0"/>
              <a:t>: Easier to model and compute since randomness is not involved.</a:t>
            </a:r>
          </a:p>
          <a:p>
            <a:pPr>
              <a:buFont typeface="Arial" panose="020B0604020202020204" pitchFamily="34" charset="0"/>
              <a:buChar char="•"/>
            </a:pPr>
            <a:r>
              <a:rPr lang="en-US" b="1" dirty="0"/>
              <a:t>Repeatability</a:t>
            </a:r>
            <a:r>
              <a:rPr lang="en-US" dirty="0"/>
              <a:t>: The results are consistent and can be replicated for verification or validation.</a:t>
            </a:r>
          </a:p>
          <a:p>
            <a:pPr>
              <a:buFont typeface="Arial" panose="020B0604020202020204" pitchFamily="34" charset="0"/>
              <a:buChar char="•"/>
            </a:pPr>
            <a:r>
              <a:rPr lang="en-US" b="1" dirty="0"/>
              <a:t>Clarity</a:t>
            </a:r>
            <a:r>
              <a:rPr lang="en-US" dirty="0"/>
              <a:t>: Easier to analyze the system's behavior due to the absence of noise or randomness.</a:t>
            </a:r>
          </a:p>
          <a:p>
            <a:r>
              <a:rPr lang="en-US" b="1" dirty="0"/>
              <a:t>Limitations</a:t>
            </a:r>
          </a:p>
          <a:p>
            <a:pPr>
              <a:buFont typeface="Arial" panose="020B0604020202020204" pitchFamily="34" charset="0"/>
              <a:buChar char="•"/>
            </a:pPr>
            <a:r>
              <a:rPr lang="en-US" b="1" dirty="0"/>
              <a:t>Lack of Realism</a:t>
            </a:r>
            <a:r>
              <a:rPr lang="en-US" dirty="0"/>
              <a:t>: Many real-world systems have inherent randomness, which deterministic simulations fail to capture.</a:t>
            </a:r>
          </a:p>
          <a:p>
            <a:pPr>
              <a:buFont typeface="Arial" panose="020B0604020202020204" pitchFamily="34" charset="0"/>
              <a:buChar char="•"/>
            </a:pPr>
            <a:r>
              <a:rPr lang="en-US" b="1" dirty="0"/>
              <a:t>Inflexibility</a:t>
            </a:r>
            <a:r>
              <a:rPr lang="en-US" dirty="0"/>
              <a:t>: Deterministic models might not adapt well to changes in conditions that introduce variability or uncertainty.</a:t>
            </a:r>
          </a:p>
          <a:p>
            <a:pPr>
              <a:buFont typeface="Arial" panose="020B0604020202020204" pitchFamily="34" charset="0"/>
              <a:buChar char="•"/>
            </a:pPr>
            <a:r>
              <a:rPr lang="en-US" b="1" dirty="0"/>
              <a:t>Complexity in Dynamic Systems</a:t>
            </a:r>
            <a:r>
              <a:rPr lang="en-US" dirty="0"/>
              <a:t>: Highly dynamic or chaotic systems might require extremely precise initial conditions to maintain deterministic behavior.</a:t>
            </a:r>
          </a:p>
          <a:p>
            <a:r>
              <a:rPr lang="en-US" dirty="0"/>
              <a:t>In summary, deterministic generation in simulation provides a reliable and predictable framework for studying systems where randomness is either absent or irrelevant. However, for systems influenced by uncertainty, stochastic methods are often more appropriate</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8</a:t>
            </a:fld>
            <a:endParaRPr lang="en-US"/>
          </a:p>
        </p:txBody>
      </p:sp>
    </p:spTree>
    <p:extLst>
      <p:ext uri="{BB962C8B-B14F-4D97-AF65-F5344CB8AC3E}">
        <p14:creationId xmlns:p14="http://schemas.microsoft.com/office/powerpoint/2010/main" val="80709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Stochastic Generation in Simulation</a:t>
            </a:r>
          </a:p>
          <a:p>
            <a:r>
              <a:rPr lang="en-US" b="1" dirty="0"/>
              <a:t>Stochastic Generation</a:t>
            </a:r>
            <a:r>
              <a:rPr lang="en-US" dirty="0"/>
              <a:t> refers to the process of modeling and simulating events where the timing or properties of the events involve randomness or uncertainty. Unlike deterministic generation, stochastic generation uses random variables and probability distributions to represent variability in the system.</a:t>
            </a:r>
          </a:p>
          <a:p>
            <a:r>
              <a:rPr lang="en-US" b="1" dirty="0"/>
              <a:t>Key Characteristics of Stochastic Generation</a:t>
            </a:r>
          </a:p>
          <a:p>
            <a:pPr>
              <a:buFont typeface="+mj-lt"/>
              <a:buAutoNum type="arabicPeriod"/>
            </a:pPr>
            <a:r>
              <a:rPr lang="en-US" b="1" dirty="0"/>
              <a:t>Randomness</a:t>
            </a:r>
            <a:r>
              <a:rPr lang="en-US" dirty="0"/>
              <a:t>: The system’s behavior or event outcomes involve random variables, leading to non-repetitive results even under the same initial conditions.</a:t>
            </a:r>
          </a:p>
          <a:p>
            <a:pPr>
              <a:buFont typeface="+mj-lt"/>
              <a:buAutoNum type="arabicPeriod"/>
            </a:pPr>
            <a:r>
              <a:rPr lang="en-US" b="1" dirty="0"/>
              <a:t>Probability Distributions</a:t>
            </a:r>
            <a:r>
              <a:rPr lang="en-US" dirty="0"/>
              <a:t>: Events are typically generated based on a chosen probability distribution (e.g., Poisson, Exponential, Normal, etc.).</a:t>
            </a:r>
          </a:p>
          <a:p>
            <a:pPr>
              <a:buFont typeface="+mj-lt"/>
              <a:buAutoNum type="arabicPeriod"/>
            </a:pPr>
            <a:r>
              <a:rPr lang="en-US" b="1" dirty="0"/>
              <a:t>Variability</a:t>
            </a:r>
            <a:r>
              <a:rPr lang="en-US" dirty="0"/>
              <a:t>: Captures the inherent uncertainty or variability in real-world systems.</a:t>
            </a:r>
          </a:p>
          <a:p>
            <a:pPr>
              <a:buFont typeface="+mj-lt"/>
              <a:buAutoNum type="arabicPeriod"/>
            </a:pPr>
            <a:r>
              <a:rPr lang="en-US" b="1" dirty="0"/>
              <a:t>Reproducibility</a:t>
            </a:r>
            <a:r>
              <a:rPr lang="en-US" dirty="0"/>
              <a:t> (Optional): Random number generators can be seeded to reproduce results for analysis and debugging.</a:t>
            </a:r>
          </a:p>
          <a:p>
            <a:r>
              <a:rPr lang="en-US" b="1" dirty="0"/>
              <a:t>Formula for Stochastic Arrival Times</a:t>
            </a:r>
          </a:p>
          <a:p>
            <a:r>
              <a:rPr lang="en-US" dirty="0"/>
              <a:t>The stochastic generation of event times often relies on inter-arrival times (</a:t>
            </a:r>
            <a:r>
              <a:rPr lang="en-US" dirty="0" err="1"/>
              <a:t>Δti</a:t>
            </a:r>
            <a:r>
              <a:rPr lang="en-US" dirty="0"/>
              <a:t>\Delta </a:t>
            </a:r>
            <a:r>
              <a:rPr lang="en-US" dirty="0" err="1"/>
              <a:t>t_iΔti</a:t>
            </a:r>
            <a:r>
              <a:rPr lang="en-US" dirty="0"/>
              <a:t>​) generated from a probability distribution. The arrival time for an event </a:t>
            </a:r>
            <a:r>
              <a:rPr lang="en-US" dirty="0" err="1"/>
              <a:t>tit_iti</a:t>
            </a:r>
            <a:r>
              <a:rPr lang="en-US" dirty="0"/>
              <a:t>​ can be calculated as:</a:t>
            </a:r>
          </a:p>
          <a:p>
            <a:r>
              <a:rPr lang="en-US" dirty="0"/>
              <a:t>Where:</a:t>
            </a:r>
          </a:p>
          <a:p>
            <a:pPr>
              <a:buFont typeface="Arial" panose="020B0604020202020204" pitchFamily="34" charset="0"/>
              <a:buChar char="•"/>
            </a:pPr>
            <a:r>
              <a:rPr lang="en-US" dirty="0"/>
              <a:t>t0​: Start time.</a:t>
            </a:r>
          </a:p>
          <a:p>
            <a:pPr>
              <a:buFont typeface="Arial" panose="020B0604020202020204" pitchFamily="34" charset="0"/>
              <a:buChar char="•"/>
            </a:pPr>
            <a:r>
              <a:rPr lang="en-US" dirty="0" err="1"/>
              <a:t>Δtj</a:t>
            </a:r>
            <a:r>
              <a:rPr lang="en-US" dirty="0"/>
              <a:t>​: Randomly generated inter-arrival time for the j-</a:t>
            </a:r>
            <a:r>
              <a:rPr lang="en-US" dirty="0" err="1"/>
              <a:t>th</a:t>
            </a:r>
            <a:r>
              <a:rPr lang="en-US" dirty="0"/>
              <a:t> event.</a:t>
            </a:r>
          </a:p>
          <a:p>
            <a:pPr>
              <a:buFont typeface="Arial" panose="020B0604020202020204" pitchFamily="34" charset="0"/>
              <a:buChar char="•"/>
            </a:pPr>
            <a:endParaRPr lang="en-US" dirty="0"/>
          </a:p>
          <a:p>
            <a:pPr>
              <a:buFont typeface="Arial" panose="020B0604020202020204" pitchFamily="34" charset="0"/>
              <a:buChar char="•"/>
            </a:pPr>
            <a:endParaRPr lang="en-US" dirty="0"/>
          </a:p>
          <a:p>
            <a:r>
              <a:rPr lang="en-US" b="1" dirty="0"/>
              <a:t>Example: Exponential Distribution for Inter-Arrival Times</a:t>
            </a:r>
          </a:p>
          <a:p>
            <a:r>
              <a:rPr lang="en-US" dirty="0"/>
              <a:t>The </a:t>
            </a:r>
            <a:r>
              <a:rPr lang="en-US" b="1" dirty="0"/>
              <a:t>Exponential Distribution</a:t>
            </a:r>
            <a:r>
              <a:rPr lang="en-US" dirty="0"/>
              <a:t> is commonly used for modeling time between successive events in systems like queues or arrivals, where events happen randomly at a constant average rate (λ\</a:t>
            </a:r>
            <a:r>
              <a:rPr lang="en-US" dirty="0" err="1"/>
              <a:t>lambdaλ</a:t>
            </a:r>
            <a:r>
              <a:rPr lang="en-US" dirty="0"/>
              <a:t>).</a:t>
            </a:r>
          </a:p>
          <a:p>
            <a:r>
              <a:rPr lang="en-US" dirty="0"/>
              <a:t>The inter-arrival time </a:t>
            </a:r>
            <a:r>
              <a:rPr lang="en-US" dirty="0" err="1"/>
              <a:t>Δt</a:t>
            </a:r>
            <a:r>
              <a:rPr lang="en-US" dirty="0"/>
              <a:t>\Delta </a:t>
            </a:r>
            <a:r>
              <a:rPr lang="en-US" dirty="0" err="1"/>
              <a:t>tΔt</a:t>
            </a:r>
            <a:r>
              <a:rPr lang="en-US" dirty="0"/>
              <a:t> is given by:</a:t>
            </a:r>
          </a:p>
          <a:p>
            <a:r>
              <a:rPr lang="en-US" dirty="0" err="1"/>
              <a:t>Δt∼Exponential</a:t>
            </a:r>
            <a:r>
              <a:rPr lang="en-US" dirty="0"/>
              <a:t>(λ)\Delta t \sim \text{Exponential}(\lambda)</a:t>
            </a:r>
            <a:r>
              <a:rPr lang="en-US" dirty="0" err="1"/>
              <a:t>Δt∼Exponential</a:t>
            </a:r>
            <a:r>
              <a:rPr lang="en-US" dirty="0"/>
              <a:t>(λ)Where:</a:t>
            </a:r>
          </a:p>
          <a:p>
            <a:pPr>
              <a:buFont typeface="Arial" panose="020B0604020202020204" pitchFamily="34" charset="0"/>
              <a:buChar char="•"/>
            </a:pPr>
            <a:r>
              <a:rPr lang="en-US" dirty="0"/>
              <a:t>λ\</a:t>
            </a:r>
            <a:r>
              <a:rPr lang="en-US" dirty="0" err="1"/>
              <a:t>lambdaλ</a:t>
            </a:r>
            <a:r>
              <a:rPr lang="en-US" dirty="0"/>
              <a:t>: Rate parameter (λ=1/mean inter-arrival time\lambda = 1/\text{mean inter-arrival time}λ=1/mean inter-arrival time).</a:t>
            </a:r>
          </a:p>
          <a:p>
            <a:endParaRPr lang="en-US" b="1" dirty="0"/>
          </a:p>
          <a:p>
            <a:endParaRPr lang="en-US" b="1" dirty="0"/>
          </a:p>
          <a:p>
            <a:r>
              <a:rPr lang="en-US" b="1" dirty="0"/>
              <a:t>Applications</a:t>
            </a:r>
          </a:p>
          <a:p>
            <a:pPr>
              <a:buFont typeface="Arial" panose="020B0604020202020204" pitchFamily="34" charset="0"/>
              <a:buChar char="•"/>
            </a:pPr>
            <a:r>
              <a:rPr lang="en-US" b="1" dirty="0"/>
              <a:t>Queueing Systems</a:t>
            </a:r>
            <a:r>
              <a:rPr lang="en-US" dirty="0"/>
              <a:t>: Simulating customer arrivals in a service system (e.g., bank, call center).</a:t>
            </a:r>
          </a:p>
          <a:p>
            <a:pPr>
              <a:buFont typeface="Arial" panose="020B0604020202020204" pitchFamily="34" charset="0"/>
              <a:buChar char="•"/>
            </a:pPr>
            <a:r>
              <a:rPr lang="en-US" b="1" dirty="0"/>
              <a:t>Network Traffic</a:t>
            </a:r>
            <a:r>
              <a:rPr lang="en-US" dirty="0"/>
              <a:t>: Modeling packet arrivals in a network.</a:t>
            </a:r>
          </a:p>
          <a:p>
            <a:pPr>
              <a:buFont typeface="Arial" panose="020B0604020202020204" pitchFamily="34" charset="0"/>
              <a:buChar char="•"/>
            </a:pPr>
            <a:r>
              <a:rPr lang="en-US" b="1" dirty="0"/>
              <a:t>Inventory Systems</a:t>
            </a:r>
            <a:r>
              <a:rPr lang="en-US" dirty="0"/>
              <a:t>: Predicting demand for goods with variable arrival rates.</a:t>
            </a:r>
          </a:p>
          <a:p>
            <a:pPr>
              <a:buFont typeface="Arial" panose="020B0604020202020204" pitchFamily="34" charset="0"/>
              <a:buChar char="•"/>
            </a:pPr>
            <a:r>
              <a:rPr lang="en-US" b="1" dirty="0"/>
              <a:t>Biological Systems</a:t>
            </a:r>
            <a:r>
              <a:rPr lang="en-US" dirty="0"/>
              <a:t>: Modeling random biological processes like neuron firing.</a:t>
            </a:r>
          </a:p>
          <a:p>
            <a:r>
              <a:rPr lang="en-US" b="1" dirty="0"/>
              <a:t>Advantages</a:t>
            </a:r>
          </a:p>
          <a:p>
            <a:pPr>
              <a:buFont typeface="Arial" panose="020B0604020202020204" pitchFamily="34" charset="0"/>
              <a:buChar char="•"/>
            </a:pPr>
            <a:r>
              <a:rPr lang="en-US" b="1" dirty="0"/>
              <a:t>Realism</a:t>
            </a:r>
            <a:r>
              <a:rPr lang="en-US" dirty="0"/>
              <a:t>: Captures the variability and uncertainty of real-world systems.</a:t>
            </a:r>
          </a:p>
          <a:p>
            <a:pPr>
              <a:buFont typeface="Arial" panose="020B0604020202020204" pitchFamily="34" charset="0"/>
              <a:buChar char="•"/>
            </a:pPr>
            <a:r>
              <a:rPr lang="en-US" b="1" dirty="0"/>
              <a:t>Flexibility</a:t>
            </a:r>
            <a:r>
              <a:rPr lang="en-US" dirty="0"/>
              <a:t>: Can adapt to different scenarios by changing the probability distribution.</a:t>
            </a:r>
          </a:p>
          <a:p>
            <a:r>
              <a:rPr lang="en-US" b="1" dirty="0"/>
              <a:t>Limitations</a:t>
            </a:r>
          </a:p>
          <a:p>
            <a:pPr>
              <a:buFont typeface="Arial" panose="020B0604020202020204" pitchFamily="34" charset="0"/>
              <a:buChar char="•"/>
            </a:pPr>
            <a:r>
              <a:rPr lang="en-US" b="1" dirty="0"/>
              <a:t>Complexity</a:t>
            </a:r>
            <a:r>
              <a:rPr lang="en-US" dirty="0"/>
              <a:t>: Harder to analyze due to randomness in outcomes.</a:t>
            </a:r>
          </a:p>
          <a:p>
            <a:pPr>
              <a:buFont typeface="Arial" panose="020B0604020202020204" pitchFamily="34" charset="0"/>
              <a:buChar char="•"/>
            </a:pPr>
            <a:r>
              <a:rPr lang="en-US" b="1" dirty="0"/>
              <a:t>Reproducibility</a:t>
            </a:r>
            <a:r>
              <a:rPr lang="en-US" dirty="0"/>
              <a:t>: Requires careful management of random seeds for repeatability.</a:t>
            </a:r>
          </a:p>
          <a:p>
            <a:pPr>
              <a:buFont typeface="Arial" panose="020B0604020202020204" pitchFamily="34" charset="0"/>
              <a:buChar char="•"/>
            </a:pPr>
            <a:r>
              <a:rPr lang="en-US" b="1" dirty="0"/>
              <a:t>Increased Computational Cost</a:t>
            </a:r>
            <a:r>
              <a:rPr lang="en-US" dirty="0"/>
              <a:t>: Simulating many stochastic events can be computationally intensive.</a:t>
            </a:r>
          </a:p>
          <a:p>
            <a:endParaRPr lang="en-US" b="1" dirty="0"/>
          </a:p>
          <a:p>
            <a:endParaRPr lang="en-US" b="1" dirty="0"/>
          </a:p>
          <a:p>
            <a:endParaRPr lang="en-US" b="1" dirty="0"/>
          </a:p>
          <a:p>
            <a:r>
              <a:rPr lang="en-US" b="1" dirty="0"/>
              <a:t>Example: Call Center Simulation</a:t>
            </a:r>
          </a:p>
          <a:p>
            <a:r>
              <a:rPr lang="en-US" b="1" dirty="0"/>
              <a:t>Scenario:</a:t>
            </a:r>
            <a:endParaRPr lang="en-US" dirty="0"/>
          </a:p>
          <a:p>
            <a:pPr>
              <a:buFont typeface="Arial" panose="020B0604020202020204" pitchFamily="34" charset="0"/>
              <a:buChar char="•"/>
            </a:pPr>
            <a:r>
              <a:rPr lang="en-US" b="1" dirty="0"/>
              <a:t>Objective:</a:t>
            </a:r>
            <a:r>
              <a:rPr lang="en-US" dirty="0"/>
              <a:t> Model customer arrivals in a call center.</a:t>
            </a:r>
          </a:p>
          <a:p>
            <a:pPr>
              <a:buFont typeface="Arial" panose="020B0604020202020204" pitchFamily="34" charset="0"/>
              <a:buChar char="•"/>
            </a:pPr>
            <a:r>
              <a:rPr lang="en-US" b="1" dirty="0"/>
              <a:t>Details:</a:t>
            </a:r>
            <a:endParaRPr lang="en-US" dirty="0"/>
          </a:p>
          <a:p>
            <a:pPr marL="742950" lvl="1" indent="-285750">
              <a:buFont typeface="Arial" panose="020B0604020202020204" pitchFamily="34" charset="0"/>
              <a:buChar char="•"/>
            </a:pPr>
            <a:r>
              <a:rPr lang="en-US" dirty="0"/>
              <a:t>Arrival rate: 20 calls/hour (Poisson distributed).</a:t>
            </a:r>
          </a:p>
          <a:p>
            <a:pPr marL="742950" lvl="1" indent="-285750">
              <a:buFont typeface="Arial" panose="020B0604020202020204" pitchFamily="34" charset="0"/>
              <a:buChar char="•"/>
            </a:pPr>
            <a:r>
              <a:rPr lang="en-US" dirty="0"/>
              <a:t>Inter-arrival times: Exponentially distributed with </a:t>
            </a:r>
            <a:r>
              <a:rPr lang="el-GR" dirty="0"/>
              <a:t>λ=13</a:t>
            </a:r>
            <a:r>
              <a:rPr lang="en-US" dirty="0"/>
              <a:t>  </a:t>
            </a:r>
            <a:r>
              <a:rPr lang="el-GR" dirty="0"/>
              <a:t>\</a:t>
            </a:r>
            <a:r>
              <a:rPr lang="en-US" dirty="0"/>
              <a:t>lambda = \frac{1}{3} </a:t>
            </a:r>
            <a:r>
              <a:rPr lang="el-GR" dirty="0"/>
              <a:t>λ=31​ (3 </a:t>
            </a:r>
            <a:r>
              <a:rPr lang="en-US" dirty="0"/>
              <a:t>minutes between calls on average).</a:t>
            </a:r>
          </a:p>
          <a:p>
            <a:r>
              <a:rPr lang="en-US" b="1" dirty="0"/>
              <a:t>Steps:</a:t>
            </a:r>
            <a:endParaRPr lang="en-US" dirty="0"/>
          </a:p>
          <a:p>
            <a:pPr>
              <a:buFont typeface="+mj-lt"/>
              <a:buAutoNum type="arabicPeriod"/>
            </a:pPr>
            <a:r>
              <a:rPr lang="en-US" dirty="0"/>
              <a:t>Generate random inter-arrival times: [2 min, 4 min, 3 min, 5 min].</a:t>
            </a:r>
          </a:p>
          <a:p>
            <a:pPr>
              <a:buFont typeface="+mj-lt"/>
              <a:buAutoNum type="arabicPeriod"/>
            </a:pPr>
            <a:r>
              <a:rPr lang="en-US" dirty="0"/>
              <a:t>Calculate arrival times:</a:t>
            </a:r>
          </a:p>
          <a:p>
            <a:pPr marL="742950" lvl="1" indent="-285750">
              <a:buFont typeface="+mj-lt"/>
              <a:buAutoNum type="arabicPeriod"/>
            </a:pPr>
            <a:r>
              <a:rPr lang="en-US" dirty="0"/>
              <a:t>Call 1: 0 min (initial time).</a:t>
            </a:r>
          </a:p>
          <a:p>
            <a:pPr marL="742950" lvl="1" indent="-285750">
              <a:buFont typeface="+mj-lt"/>
              <a:buAutoNum type="arabicPeriod"/>
            </a:pPr>
            <a:r>
              <a:rPr lang="en-US" dirty="0"/>
              <a:t>Call 2: 2 min (0 + 2).</a:t>
            </a:r>
          </a:p>
          <a:p>
            <a:pPr marL="742950" lvl="1" indent="-285750">
              <a:buFont typeface="+mj-lt"/>
              <a:buAutoNum type="arabicPeriod"/>
            </a:pPr>
            <a:r>
              <a:rPr lang="en-US" dirty="0"/>
              <a:t>Call 3: 6 min (2 + 4).</a:t>
            </a:r>
          </a:p>
          <a:p>
            <a:pPr marL="742950" lvl="1" indent="-285750">
              <a:buFont typeface="+mj-lt"/>
              <a:buAutoNum type="arabicPeriod"/>
            </a:pPr>
            <a:r>
              <a:rPr lang="en-US" dirty="0"/>
              <a:t>Call 4: 9 min (6 + 3).</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9</a:t>
            </a:fld>
            <a:endParaRPr lang="en-US"/>
          </a:p>
        </p:txBody>
      </p:sp>
    </p:spTree>
    <p:extLst>
      <p:ext uri="{BB962C8B-B14F-4D97-AF65-F5344CB8AC3E}">
        <p14:creationId xmlns:p14="http://schemas.microsoft.com/office/powerpoint/2010/main" val="2671718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r>
              <a:rPr lang="en-US" b="1" dirty="0"/>
              <a:t>Example: Call Center Simulation</a:t>
            </a:r>
          </a:p>
          <a:p>
            <a:r>
              <a:rPr lang="en-US" b="1" dirty="0"/>
              <a:t>Scenario:</a:t>
            </a:r>
            <a:endParaRPr lang="en-US" dirty="0"/>
          </a:p>
          <a:p>
            <a:pPr>
              <a:buFont typeface="Arial" panose="020B0604020202020204" pitchFamily="34" charset="0"/>
              <a:buChar char="•"/>
            </a:pPr>
            <a:r>
              <a:rPr lang="en-US" b="1" dirty="0"/>
              <a:t>Objective:</a:t>
            </a:r>
            <a:r>
              <a:rPr lang="en-US" dirty="0"/>
              <a:t> Model customer arrivals in a call center.</a:t>
            </a:r>
          </a:p>
          <a:p>
            <a:pPr>
              <a:buFont typeface="Arial" panose="020B0604020202020204" pitchFamily="34" charset="0"/>
              <a:buChar char="•"/>
            </a:pPr>
            <a:r>
              <a:rPr lang="en-US" b="1" dirty="0"/>
              <a:t>Details:</a:t>
            </a:r>
            <a:endParaRPr lang="en-US" dirty="0"/>
          </a:p>
          <a:p>
            <a:pPr marL="742950" lvl="1" indent="-285750">
              <a:buFont typeface="Arial" panose="020B0604020202020204" pitchFamily="34" charset="0"/>
              <a:buChar char="•"/>
            </a:pPr>
            <a:r>
              <a:rPr lang="en-US" dirty="0"/>
              <a:t>Arrival rate: 20 calls/hour (Poisson distributed).</a:t>
            </a:r>
          </a:p>
          <a:p>
            <a:pPr marL="742950" lvl="1" indent="-285750">
              <a:buFont typeface="Arial" panose="020B0604020202020204" pitchFamily="34" charset="0"/>
              <a:buChar char="•"/>
            </a:pPr>
            <a:r>
              <a:rPr lang="en-US" dirty="0"/>
              <a:t>Inter-arrival times: Exponentially distributed with </a:t>
            </a:r>
            <a:r>
              <a:rPr lang="el-GR" dirty="0"/>
              <a:t>λ=3​ (3 </a:t>
            </a:r>
            <a:r>
              <a:rPr lang="en-US" dirty="0"/>
              <a:t>minutes between calls on average).</a:t>
            </a:r>
          </a:p>
          <a:p>
            <a:r>
              <a:rPr lang="en-US" b="1" dirty="0"/>
              <a:t>Steps:</a:t>
            </a:r>
            <a:endParaRPr lang="en-US" dirty="0"/>
          </a:p>
          <a:p>
            <a:pPr>
              <a:buFont typeface="+mj-lt"/>
              <a:buAutoNum type="arabicPeriod"/>
            </a:pPr>
            <a:r>
              <a:rPr lang="en-US" dirty="0"/>
              <a:t>Generate random inter-arrival times: [2 min, 4 min, 3 min, 5 min].</a:t>
            </a:r>
          </a:p>
          <a:p>
            <a:pPr>
              <a:buFont typeface="+mj-lt"/>
              <a:buAutoNum type="arabicPeriod"/>
            </a:pPr>
            <a:r>
              <a:rPr lang="en-US" dirty="0"/>
              <a:t>Calculate arrival times:</a:t>
            </a:r>
          </a:p>
          <a:p>
            <a:pPr marL="742950" lvl="1" indent="-285750">
              <a:buFont typeface="+mj-lt"/>
              <a:buAutoNum type="arabicPeriod"/>
            </a:pPr>
            <a:r>
              <a:rPr lang="en-US" dirty="0"/>
              <a:t>Call 1: 0 min (initial time).</a:t>
            </a:r>
          </a:p>
          <a:p>
            <a:pPr marL="742950" lvl="1" indent="-285750">
              <a:buFont typeface="+mj-lt"/>
              <a:buAutoNum type="arabicPeriod"/>
            </a:pPr>
            <a:r>
              <a:rPr lang="en-US" dirty="0"/>
              <a:t>Call 2: 2 min (0 + 2).</a:t>
            </a:r>
          </a:p>
          <a:p>
            <a:pPr marL="742950" lvl="1" indent="-285750">
              <a:buFont typeface="+mj-lt"/>
              <a:buAutoNum type="arabicPeriod"/>
            </a:pPr>
            <a:r>
              <a:rPr lang="en-US" dirty="0"/>
              <a:t>Call 3: 6 min (2 + 4).</a:t>
            </a:r>
          </a:p>
          <a:p>
            <a:pPr marL="742950" lvl="1" indent="-285750">
              <a:buFont typeface="+mj-lt"/>
              <a:buAutoNum type="arabicPeriod"/>
            </a:pPr>
            <a:r>
              <a:rPr lang="en-US" dirty="0"/>
              <a:t>Call 4: 9 min (6 + 3).</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10</a:t>
            </a:fld>
            <a:endParaRPr lang="en-US"/>
          </a:p>
        </p:txBody>
      </p:sp>
    </p:spTree>
    <p:extLst>
      <p:ext uri="{BB962C8B-B14F-4D97-AF65-F5344CB8AC3E}">
        <p14:creationId xmlns:p14="http://schemas.microsoft.com/office/powerpoint/2010/main" val="2453521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Gathering Statistics</a:t>
            </a:r>
          </a:p>
          <a:p>
            <a:r>
              <a:rPr lang="en-US" b="1" dirty="0"/>
              <a:t>Objective:</a:t>
            </a:r>
            <a:r>
              <a:rPr lang="en-US" dirty="0"/>
              <a:t> Collect data to evaluate system performance effectively.</a:t>
            </a:r>
          </a:p>
          <a:p>
            <a:r>
              <a:rPr lang="en-US" b="1" dirty="0"/>
              <a:t>Details:</a:t>
            </a:r>
          </a:p>
          <a:p>
            <a:pPr>
              <a:buFont typeface="+mj-lt"/>
              <a:buAutoNum type="arabicPeriod"/>
            </a:pPr>
            <a:r>
              <a:rPr lang="en-US" b="1" dirty="0"/>
              <a:t>Types of Data:</a:t>
            </a:r>
            <a:endParaRPr lang="en-US" dirty="0"/>
          </a:p>
          <a:p>
            <a:pPr marL="742950" lvl="1" indent="-285750">
              <a:buFont typeface="+mj-lt"/>
              <a:buAutoNum type="arabicPeriod"/>
            </a:pPr>
            <a:r>
              <a:rPr lang="en-US" b="1" dirty="0"/>
              <a:t>Input Data:</a:t>
            </a:r>
            <a:endParaRPr lang="en-US" dirty="0"/>
          </a:p>
          <a:p>
            <a:pPr marL="1143000" lvl="2" indent="-228600">
              <a:buFont typeface="+mj-lt"/>
              <a:buAutoNum type="arabicPeriod"/>
            </a:pPr>
            <a:r>
              <a:rPr lang="en-US" dirty="0"/>
              <a:t>Example: In a call center, input data could include the rate at which customers call (e.g., 50 calls per hour) and the distribution of call durations.</a:t>
            </a:r>
          </a:p>
          <a:p>
            <a:pPr marL="742950" lvl="1" indent="-285750">
              <a:buFont typeface="+mj-lt"/>
              <a:buAutoNum type="arabicPeriod"/>
            </a:pPr>
            <a:r>
              <a:rPr lang="en-US" b="1" dirty="0"/>
              <a:t>Output Data:</a:t>
            </a:r>
            <a:endParaRPr lang="en-US" dirty="0"/>
          </a:p>
          <a:p>
            <a:pPr marL="1143000" lvl="2" indent="-228600">
              <a:buFont typeface="+mj-lt"/>
              <a:buAutoNum type="arabicPeriod"/>
            </a:pPr>
            <a:r>
              <a:rPr lang="en-US" dirty="0"/>
              <a:t>Example: In a warehouse, output data might include the average time an item spends in the picking process and the total number of items processed in a day.</a:t>
            </a:r>
          </a:p>
          <a:p>
            <a:pPr>
              <a:buFont typeface="+mj-lt"/>
              <a:buAutoNum type="arabicPeriod"/>
            </a:pPr>
            <a:r>
              <a:rPr lang="en-US" b="1" dirty="0"/>
              <a:t>Methods:</a:t>
            </a:r>
            <a:endParaRPr lang="en-US" dirty="0"/>
          </a:p>
          <a:p>
            <a:pPr marL="742950" lvl="1" indent="-285750">
              <a:buFont typeface="+mj-lt"/>
              <a:buAutoNum type="arabicPeriod"/>
            </a:pPr>
            <a:r>
              <a:rPr lang="en-US" b="1" dirty="0"/>
              <a:t>Observation and Measurement:</a:t>
            </a:r>
            <a:endParaRPr lang="en-US" dirty="0"/>
          </a:p>
          <a:p>
            <a:pPr marL="1143000" lvl="2" indent="-228600">
              <a:buFont typeface="+mj-lt"/>
              <a:buAutoNum type="arabicPeriod"/>
            </a:pPr>
            <a:r>
              <a:rPr lang="en-US" dirty="0"/>
              <a:t>Example: Physically observing the number of cars passing through a toll booth and noting their arrival times.</a:t>
            </a:r>
          </a:p>
          <a:p>
            <a:pPr marL="742950" lvl="1" indent="-285750">
              <a:buFont typeface="+mj-lt"/>
              <a:buAutoNum type="arabicPeriod"/>
            </a:pPr>
            <a:r>
              <a:rPr lang="en-US" b="1" dirty="0"/>
              <a:t>Use of Historical Records:</a:t>
            </a:r>
            <a:endParaRPr lang="en-US" dirty="0"/>
          </a:p>
          <a:p>
            <a:pPr marL="1143000" lvl="2" indent="-228600">
              <a:buFont typeface="+mj-lt"/>
              <a:buAutoNum type="arabicPeriod"/>
            </a:pPr>
            <a:r>
              <a:rPr lang="en-US" dirty="0"/>
              <a:t>Example: Analyzing past sales data to determine the busiest shopping days in a retail store.</a:t>
            </a:r>
          </a:p>
          <a:p>
            <a:pPr marL="742950" lvl="1" indent="-285750">
              <a:buFont typeface="+mj-lt"/>
              <a:buAutoNum type="arabicPeriod"/>
            </a:pPr>
            <a:r>
              <a:rPr lang="en-US" b="1" dirty="0"/>
              <a:t>Simulation Models:</a:t>
            </a:r>
            <a:endParaRPr lang="en-US" dirty="0"/>
          </a:p>
          <a:p>
            <a:pPr marL="1143000" lvl="2" indent="-228600">
              <a:buFont typeface="+mj-lt"/>
              <a:buAutoNum type="arabicPeriod"/>
            </a:pPr>
            <a:r>
              <a:rPr lang="en-US" dirty="0"/>
              <a:t>Example: Simulating customer arrivals at a bank to predict peak hour wait times based on historical data.</a:t>
            </a:r>
          </a:p>
          <a:p>
            <a:pPr>
              <a:buFont typeface="+mj-lt"/>
              <a:buAutoNum type="arabicPeriod"/>
            </a:pPr>
            <a:r>
              <a:rPr lang="en-US" b="1" dirty="0"/>
              <a:t>Tools:</a:t>
            </a:r>
            <a:endParaRPr lang="en-US" dirty="0"/>
          </a:p>
          <a:p>
            <a:pPr marL="742950" lvl="1" indent="-285750">
              <a:buFont typeface="+mj-lt"/>
              <a:buAutoNum type="arabicPeriod"/>
            </a:pPr>
            <a:r>
              <a:rPr lang="en-US" b="1" dirty="0"/>
              <a:t>Statistical Software:</a:t>
            </a:r>
            <a:endParaRPr lang="en-US" dirty="0"/>
          </a:p>
          <a:p>
            <a:pPr marL="1143000" lvl="2" indent="-228600">
              <a:buFont typeface="+mj-lt"/>
              <a:buAutoNum type="arabicPeriod"/>
            </a:pPr>
            <a:r>
              <a:rPr lang="en-US" dirty="0"/>
              <a:t>Example: Using </a:t>
            </a:r>
            <a:r>
              <a:rPr lang="en-US" b="1" dirty="0"/>
              <a:t>Excel</a:t>
            </a:r>
            <a:r>
              <a:rPr lang="en-US" dirty="0"/>
              <a:t> to calculate mean and variance of sales data or </a:t>
            </a:r>
            <a:r>
              <a:rPr lang="en-US" b="1" dirty="0"/>
              <a:t>SPSS</a:t>
            </a:r>
            <a:r>
              <a:rPr lang="en-US" dirty="0"/>
              <a:t> to perform regression analysis.</a:t>
            </a:r>
          </a:p>
          <a:p>
            <a:pPr marL="742950" lvl="1" indent="-285750">
              <a:buFont typeface="+mj-lt"/>
              <a:buAutoNum type="arabicPeriod"/>
            </a:pPr>
            <a:r>
              <a:rPr lang="en-US" b="1" dirty="0"/>
              <a:t>Programming Languages:</a:t>
            </a:r>
            <a:endParaRPr lang="en-US" dirty="0"/>
          </a:p>
          <a:p>
            <a:pPr marL="1143000" lvl="2" indent="-228600">
              <a:buFont typeface="+mj-lt"/>
              <a:buAutoNum type="arabicPeriod"/>
            </a:pPr>
            <a:r>
              <a:rPr lang="en-US" dirty="0"/>
              <a:t>Example: Using Python libraries like </a:t>
            </a:r>
            <a:r>
              <a:rPr lang="en-US" b="1" dirty="0"/>
              <a:t>Pandas</a:t>
            </a:r>
            <a:r>
              <a:rPr lang="en-US" dirty="0"/>
              <a:t> to clean and analyze datasets or </a:t>
            </a:r>
            <a:r>
              <a:rPr lang="en-US" b="1" dirty="0"/>
              <a:t>SciPy</a:t>
            </a:r>
            <a:r>
              <a:rPr lang="en-US" dirty="0"/>
              <a:t> to perform statistical tests.</a:t>
            </a:r>
          </a:p>
          <a:p>
            <a:r>
              <a:rPr lang="en-US" b="1" dirty="0"/>
              <a:t>Real-World Applications:</a:t>
            </a:r>
          </a:p>
          <a:p>
            <a:pPr>
              <a:buFont typeface="Arial" panose="020B0604020202020204" pitchFamily="34" charset="0"/>
              <a:buChar char="•"/>
            </a:pPr>
            <a:r>
              <a:rPr lang="en-US" b="1" dirty="0"/>
              <a:t>Manufacturing:</a:t>
            </a:r>
            <a:r>
              <a:rPr lang="en-US" dirty="0"/>
              <a:t> Collecting data on machine downtime to identify inefficiencies and schedule maintenance.</a:t>
            </a:r>
          </a:p>
          <a:p>
            <a:pPr>
              <a:buFont typeface="Arial" panose="020B0604020202020204" pitchFamily="34" charset="0"/>
              <a:buChar char="•"/>
            </a:pPr>
            <a:r>
              <a:rPr lang="en-US" b="1" dirty="0"/>
              <a:t>Healthcare:</a:t>
            </a:r>
            <a:r>
              <a:rPr lang="en-US" dirty="0"/>
              <a:t> Gathering statistics on patient admissions to optimize staff scheduling and resource allocation.</a:t>
            </a:r>
          </a:p>
          <a:p>
            <a:pPr>
              <a:buFont typeface="Arial" panose="020B0604020202020204" pitchFamily="34" charset="0"/>
              <a:buChar char="•"/>
            </a:pPr>
            <a:r>
              <a:rPr lang="en-US" b="1" dirty="0"/>
              <a:t>Transportation:</a:t>
            </a:r>
            <a:r>
              <a:rPr lang="en-US" dirty="0"/>
              <a:t> Measuring arrival and departure times of buses to improve scheduling and reduce delays.</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11</a:t>
            </a:fld>
            <a:endParaRPr lang="en-US"/>
          </a:p>
        </p:txBody>
      </p:sp>
    </p:spTree>
    <p:extLst>
      <p:ext uri="{BB962C8B-B14F-4D97-AF65-F5344CB8AC3E}">
        <p14:creationId xmlns:p14="http://schemas.microsoft.com/office/powerpoint/2010/main" val="1519651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Counters and Summary Statistics</a:t>
            </a:r>
          </a:p>
          <a:p>
            <a:r>
              <a:rPr lang="en-US" b="1" dirty="0"/>
              <a:t>Definition:</a:t>
            </a:r>
            <a:r>
              <a:rPr lang="en-US" dirty="0"/>
              <a:t> Tools that track specific events and provide a concise summary of system performance.</a:t>
            </a:r>
          </a:p>
          <a:p>
            <a:r>
              <a:rPr lang="en-US" b="1" dirty="0"/>
              <a:t>1. Key Counters:</a:t>
            </a:r>
          </a:p>
          <a:p>
            <a:pPr>
              <a:buFont typeface="Arial" panose="020B0604020202020204" pitchFamily="34" charset="0"/>
              <a:buChar char="•"/>
            </a:pPr>
            <a:r>
              <a:rPr lang="en-US" b="1" dirty="0"/>
              <a:t>Event Counts:</a:t>
            </a:r>
            <a:endParaRPr lang="en-US" dirty="0"/>
          </a:p>
          <a:p>
            <a:pPr marL="742950" lvl="1" indent="-285750">
              <a:buFont typeface="Arial" panose="020B0604020202020204" pitchFamily="34" charset="0"/>
              <a:buChar char="•"/>
            </a:pPr>
            <a:r>
              <a:rPr lang="en-US" b="1" dirty="0"/>
              <a:t>Example:</a:t>
            </a:r>
            <a:r>
              <a:rPr lang="en-US" dirty="0"/>
              <a:t> In a supermarket, a counter records the number of customers entering during peak hours. If 500 customers enter between 5 PM and 7 PM, this data helps identify busy periods.</a:t>
            </a:r>
          </a:p>
          <a:p>
            <a:pPr>
              <a:buFont typeface="Arial" panose="020B0604020202020204" pitchFamily="34" charset="0"/>
              <a:buChar char="•"/>
            </a:pPr>
            <a:r>
              <a:rPr lang="en-US" b="1" dirty="0"/>
              <a:t>Time-Based Counters:</a:t>
            </a:r>
            <a:endParaRPr lang="en-US" dirty="0"/>
          </a:p>
          <a:p>
            <a:pPr marL="742950" lvl="1" indent="-285750">
              <a:buFont typeface="Arial" panose="020B0604020202020204" pitchFamily="34" charset="0"/>
              <a:buChar char="•"/>
            </a:pPr>
            <a:r>
              <a:rPr lang="en-US" b="1" dirty="0"/>
              <a:t>Example:</a:t>
            </a:r>
            <a:r>
              <a:rPr lang="en-US" dirty="0"/>
              <a:t> In a factory, a counter tracks the total operational time of a machine. If a machine operates for 6 hours out of an 8-hour shift, the counter records 360 minutes of busy time.</a:t>
            </a:r>
          </a:p>
          <a:p>
            <a:r>
              <a:rPr lang="en-US" b="1" dirty="0"/>
              <a:t>2. Summary Statistics:</a:t>
            </a:r>
          </a:p>
          <a:p>
            <a:pPr>
              <a:buFont typeface="Arial" panose="020B0604020202020204" pitchFamily="34" charset="0"/>
              <a:buChar char="•"/>
            </a:pPr>
            <a:r>
              <a:rPr lang="en-US" b="1" dirty="0"/>
              <a:t>Mean (Average):</a:t>
            </a:r>
            <a:endParaRPr lang="en-US" dirty="0"/>
          </a:p>
          <a:p>
            <a:pPr marL="742950" lvl="1" indent="-285750">
              <a:buFont typeface="Arial" panose="020B0604020202020204" pitchFamily="34" charset="0"/>
              <a:buChar char="•"/>
            </a:pPr>
            <a:r>
              <a:rPr lang="en-US" b="1" dirty="0"/>
              <a:t>Example:</a:t>
            </a:r>
            <a:r>
              <a:rPr lang="en-US" dirty="0"/>
              <a:t> A restaurant manager calculates the average number of meals served per hour, such as 30 meals per hour during lunch service.</a:t>
            </a:r>
          </a:p>
          <a:p>
            <a:pPr>
              <a:buFont typeface="Arial" panose="020B0604020202020204" pitchFamily="34" charset="0"/>
              <a:buChar char="•"/>
            </a:pPr>
            <a:r>
              <a:rPr lang="en-US" b="1" dirty="0"/>
              <a:t>Median:</a:t>
            </a:r>
            <a:endParaRPr lang="en-US" dirty="0"/>
          </a:p>
          <a:p>
            <a:pPr marL="742950" lvl="1" indent="-285750">
              <a:buFont typeface="Arial" panose="020B0604020202020204" pitchFamily="34" charset="0"/>
              <a:buChar char="•"/>
            </a:pPr>
            <a:r>
              <a:rPr lang="en-US" b="1" dirty="0"/>
              <a:t>Example:</a:t>
            </a:r>
            <a:r>
              <a:rPr lang="en-US" dirty="0"/>
              <a:t> In a delivery system, the median delivery time might be 25 minutes, meaning half of the deliveries take less than 25 minutes and half take more.</a:t>
            </a:r>
          </a:p>
          <a:p>
            <a:pPr>
              <a:buFont typeface="Arial" panose="020B0604020202020204" pitchFamily="34" charset="0"/>
              <a:buChar char="•"/>
            </a:pPr>
            <a:r>
              <a:rPr lang="en-US" b="1" dirty="0"/>
              <a:t>Standard Deviation:</a:t>
            </a:r>
            <a:endParaRPr lang="en-US" dirty="0"/>
          </a:p>
          <a:p>
            <a:pPr marL="742950" lvl="1" indent="-285750">
              <a:buFont typeface="Arial" panose="020B0604020202020204" pitchFamily="34" charset="0"/>
              <a:buChar char="•"/>
            </a:pPr>
            <a:r>
              <a:rPr lang="en-US" b="1" dirty="0"/>
              <a:t>Example:</a:t>
            </a:r>
            <a:r>
              <a:rPr lang="en-US" dirty="0"/>
              <a:t> In a school, the standard deviation of students' scores in a math test shows the spread of their performance. A low value indicates consistent performance, while a high value shows a wide range of scores.</a:t>
            </a:r>
          </a:p>
          <a:p>
            <a:pPr>
              <a:buFont typeface="Arial" panose="020B0604020202020204" pitchFamily="34" charset="0"/>
              <a:buChar char="•"/>
            </a:pPr>
            <a:r>
              <a:rPr lang="en-US" b="1" dirty="0"/>
              <a:t>Percentiles:</a:t>
            </a:r>
            <a:endParaRPr lang="en-US" dirty="0"/>
          </a:p>
          <a:p>
            <a:pPr marL="742950" lvl="1" indent="-285750">
              <a:buFont typeface="Arial" panose="020B0604020202020204" pitchFamily="34" charset="0"/>
              <a:buChar char="•"/>
            </a:pPr>
            <a:r>
              <a:rPr lang="en-US" b="1" dirty="0"/>
              <a:t>Example:</a:t>
            </a:r>
            <a:r>
              <a:rPr lang="en-US" dirty="0"/>
              <a:t> In a hospital, the 90th percentile of patient wait times might be 45 minutes, meaning 90% of patients wait 45 minutes or less.</a:t>
            </a:r>
          </a:p>
          <a:p>
            <a:pPr>
              <a:buFont typeface="Arial" panose="020B0604020202020204" pitchFamily="34" charset="0"/>
              <a:buChar char="•"/>
            </a:pPr>
            <a:r>
              <a:rPr lang="en-US" b="1" dirty="0"/>
              <a:t>Confidence Intervals:</a:t>
            </a:r>
            <a:endParaRPr lang="en-US" dirty="0"/>
          </a:p>
          <a:p>
            <a:pPr marL="742950" lvl="1" indent="-285750">
              <a:buFont typeface="Arial" panose="020B0604020202020204" pitchFamily="34" charset="0"/>
              <a:buChar char="•"/>
            </a:pPr>
            <a:r>
              <a:rPr lang="en-US" b="1" dirty="0"/>
              <a:t>Example:</a:t>
            </a:r>
            <a:r>
              <a:rPr lang="en-US" dirty="0"/>
              <a:t> A call center calculates the average call handling time as 3.5 minutes with a confidence interval of 3.3 to 3.7 minutes, giving a range of likely values.</a:t>
            </a:r>
          </a:p>
          <a:p>
            <a:r>
              <a:rPr lang="en-US" b="1" dirty="0"/>
              <a:t>3. Applications:</a:t>
            </a:r>
          </a:p>
          <a:p>
            <a:pPr>
              <a:buFont typeface="Arial" panose="020B0604020202020204" pitchFamily="34" charset="0"/>
              <a:buChar char="•"/>
            </a:pPr>
            <a:r>
              <a:rPr lang="en-US" b="1" dirty="0"/>
              <a:t>Retail:</a:t>
            </a:r>
            <a:r>
              <a:rPr lang="en-US" dirty="0"/>
              <a:t> Event counters track daily footfall, while summary statistics help determine the average revenue per customer.</a:t>
            </a:r>
          </a:p>
          <a:p>
            <a:pPr>
              <a:buFont typeface="Arial" panose="020B0604020202020204" pitchFamily="34" charset="0"/>
              <a:buChar char="•"/>
            </a:pPr>
            <a:r>
              <a:rPr lang="en-US" b="1" dirty="0"/>
              <a:t>Traffic Management:</a:t>
            </a:r>
            <a:r>
              <a:rPr lang="en-US" dirty="0"/>
              <a:t> Counters measure vehicle flow at intersections, and summary statistics help calculate average and peak traffic times.</a:t>
            </a:r>
          </a:p>
          <a:p>
            <a:pPr>
              <a:buFont typeface="Arial" panose="020B0604020202020204" pitchFamily="34" charset="0"/>
              <a:buChar char="•"/>
            </a:pPr>
            <a:r>
              <a:rPr lang="en-US" b="1" dirty="0"/>
              <a:t>Healthcare:</a:t>
            </a:r>
            <a:r>
              <a:rPr lang="en-US" dirty="0"/>
              <a:t> Patient counts in emergency rooms are tracked, while median and percentile statistics analyze typical and outlier wait times.</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12</a:t>
            </a:fld>
            <a:endParaRPr lang="en-US"/>
          </a:p>
        </p:txBody>
      </p:sp>
    </p:spTree>
    <p:extLst>
      <p:ext uri="{BB962C8B-B14F-4D97-AF65-F5344CB8AC3E}">
        <p14:creationId xmlns:p14="http://schemas.microsoft.com/office/powerpoint/2010/main" val="1927897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Measuring Utilization and Occupancy</a:t>
            </a:r>
          </a:p>
          <a:p>
            <a:r>
              <a:rPr lang="en-US" b="1" dirty="0"/>
              <a:t>Objective:</a:t>
            </a:r>
            <a:r>
              <a:rPr lang="en-US" dirty="0"/>
              <a:t> Assess how effectively resources are being used within a system to optimize performance.</a:t>
            </a:r>
          </a:p>
          <a:p>
            <a:r>
              <a:rPr lang="en-US" b="1" dirty="0"/>
              <a:t>1. Key Metrics:</a:t>
            </a:r>
          </a:p>
          <a:p>
            <a:pPr>
              <a:buFont typeface="Arial" panose="020B0604020202020204" pitchFamily="34" charset="0"/>
              <a:buChar char="•"/>
            </a:pPr>
            <a:r>
              <a:rPr lang="en-US" b="1" dirty="0"/>
              <a:t>Utilization:</a:t>
            </a:r>
            <a:endParaRPr lang="en-US" dirty="0"/>
          </a:p>
          <a:p>
            <a:pPr marL="742950" lvl="1" indent="-285750">
              <a:buFont typeface="Arial" panose="020B0604020202020204" pitchFamily="34" charset="0"/>
              <a:buChar char="•"/>
            </a:pPr>
            <a:r>
              <a:rPr lang="en-US" dirty="0"/>
              <a:t>Measures the percentage of time a resource is actively used.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Formula:</a:t>
            </a:r>
            <a:br>
              <a:rPr lang="en-US" dirty="0"/>
            </a:br>
            <a:r>
              <a:rPr lang="en-US" dirty="0"/>
              <a:t>Utilization =(Busy Time / Total Time) × 100%</a:t>
            </a:r>
          </a:p>
          <a:p>
            <a:pPr>
              <a:buFont typeface="Arial" panose="020B0604020202020204" pitchFamily="34" charset="0"/>
              <a:buChar char="•"/>
            </a:pPr>
            <a:r>
              <a:rPr lang="en-US" b="1" dirty="0"/>
              <a:t>Real Example:</a:t>
            </a:r>
            <a:endParaRPr lang="en-US" dirty="0"/>
          </a:p>
          <a:p>
            <a:pPr marL="742950" lvl="1" indent="-285750">
              <a:buFont typeface="Arial" panose="020B0604020202020204" pitchFamily="34" charset="0"/>
              <a:buChar char="•"/>
            </a:pPr>
            <a:r>
              <a:rPr lang="en-US" dirty="0"/>
              <a:t>A manufacturing machine runs for 6 hours during an 8-hour shift.</a:t>
            </a:r>
            <a:br>
              <a:rPr lang="en-US" dirty="0"/>
            </a:br>
            <a:r>
              <a:rPr lang="en-US" dirty="0"/>
              <a:t>Utilization = 6/8×100%=75%.</a:t>
            </a:r>
          </a:p>
          <a:p>
            <a:pPr marL="742950" lvl="1" indent="-285750">
              <a:buFont typeface="Arial" panose="020B0604020202020204" pitchFamily="34" charset="0"/>
              <a:buChar char="•"/>
            </a:pPr>
            <a:r>
              <a:rPr lang="en-US" b="1" dirty="0"/>
              <a:t>Insight:</a:t>
            </a:r>
            <a:r>
              <a:rPr lang="en-US" dirty="0"/>
              <a:t> This shows the machine is being utilized effectively but has room for increased workload.</a:t>
            </a:r>
          </a:p>
          <a:p>
            <a:pPr>
              <a:buFont typeface="Arial" panose="020B0604020202020204" pitchFamily="34" charset="0"/>
              <a:buChar char="•"/>
            </a:pPr>
            <a:r>
              <a:rPr lang="en-US" b="1" dirty="0"/>
              <a:t>Occupancy:</a:t>
            </a:r>
            <a:endParaRPr lang="en-US" dirty="0"/>
          </a:p>
          <a:p>
            <a:pPr marL="742950" lvl="1" indent="-285750">
              <a:buFont typeface="Arial" panose="020B0604020202020204" pitchFamily="34" charset="0"/>
              <a:buChar char="•"/>
            </a:pPr>
            <a:r>
              <a:rPr lang="en-US" dirty="0"/>
              <a:t>Indicates the proportion of time a resource is occupied relative to its total availability.</a:t>
            </a:r>
          </a:p>
          <a:p>
            <a:pPr marL="742950" lvl="1" indent="-285750">
              <a:buFont typeface="Arial" panose="020B0604020202020204" pitchFamily="34" charset="0"/>
              <a:buChar char="•"/>
            </a:pPr>
            <a:r>
              <a:rPr lang="en-US" b="1" dirty="0"/>
              <a:t>Formula:</a:t>
            </a:r>
            <a:br>
              <a:rPr lang="en-US" dirty="0"/>
            </a:br>
            <a:r>
              <a:rPr lang="en-US" dirty="0"/>
              <a:t>Occupancy = Occupied Time/Total Available Time×100%</a:t>
            </a:r>
          </a:p>
          <a:p>
            <a:pPr>
              <a:buFont typeface="Arial" panose="020B0604020202020204" pitchFamily="34" charset="0"/>
              <a:buChar char="•"/>
            </a:pPr>
            <a:r>
              <a:rPr lang="en-US" b="1" dirty="0"/>
              <a:t>Real Example:</a:t>
            </a:r>
            <a:endParaRPr lang="en-US" dirty="0"/>
          </a:p>
          <a:p>
            <a:pPr marL="742950" lvl="1" indent="-285750">
              <a:buFont typeface="Arial" panose="020B0604020202020204" pitchFamily="34" charset="0"/>
              <a:buChar char="•"/>
            </a:pPr>
            <a:r>
              <a:rPr lang="en-US" dirty="0"/>
              <a:t>In a hospital with 100 beds, 85 beds are occupied on a given day.</a:t>
            </a:r>
            <a:br>
              <a:rPr lang="en-US" dirty="0"/>
            </a:br>
            <a:r>
              <a:rPr lang="en-US" dirty="0"/>
              <a:t>Occupancy = 85/100×100%=85%</a:t>
            </a:r>
          </a:p>
          <a:p>
            <a:pPr marL="742950" lvl="1" indent="-285750">
              <a:buFont typeface="Arial" panose="020B0604020202020204" pitchFamily="34" charset="0"/>
              <a:buChar char="•"/>
            </a:pPr>
            <a:r>
              <a:rPr lang="en-US" b="1" dirty="0"/>
              <a:t>Insight:</a:t>
            </a:r>
            <a:r>
              <a:rPr lang="en-US" dirty="0"/>
              <a:t> This indicates high bed utilization and helps plan for peak demand periods.</a:t>
            </a:r>
          </a:p>
          <a:p>
            <a:r>
              <a:rPr lang="en-US" b="1" dirty="0"/>
              <a:t>2. Insights and Applications:</a:t>
            </a:r>
          </a:p>
          <a:p>
            <a:pPr>
              <a:buFont typeface="Arial" panose="020B0604020202020204" pitchFamily="34" charset="0"/>
              <a:buChar char="•"/>
            </a:pPr>
            <a:r>
              <a:rPr lang="en-US" b="1" dirty="0"/>
              <a:t>Call Centers:</a:t>
            </a:r>
            <a:endParaRPr lang="en-US" dirty="0"/>
          </a:p>
          <a:p>
            <a:pPr marL="742950" lvl="1" indent="-285750">
              <a:buFont typeface="Arial" panose="020B0604020202020204" pitchFamily="34" charset="0"/>
              <a:buChar char="•"/>
            </a:pPr>
            <a:r>
              <a:rPr lang="en-US" dirty="0"/>
              <a:t>Utilization measures how often agents are on calls during their shift.</a:t>
            </a:r>
          </a:p>
          <a:p>
            <a:pPr marL="742950" lvl="1" indent="-285750">
              <a:buFont typeface="Arial" panose="020B0604020202020204" pitchFamily="34" charset="0"/>
              <a:buChar char="•"/>
            </a:pPr>
            <a:r>
              <a:rPr lang="en-US" dirty="0"/>
              <a:t>Example: An agent spends 5 hours talking on calls in an 8-hour shift. Utilization = 58×100%=62.5%</a:t>
            </a:r>
          </a:p>
          <a:p>
            <a:pPr>
              <a:buFont typeface="Arial" panose="020B0604020202020204" pitchFamily="34" charset="0"/>
              <a:buChar char="•"/>
            </a:pPr>
            <a:r>
              <a:rPr lang="en-US" b="1" dirty="0"/>
              <a:t>Transportation:</a:t>
            </a:r>
            <a:endParaRPr lang="en-US" dirty="0"/>
          </a:p>
          <a:p>
            <a:pPr marL="742950" lvl="1" indent="-285750">
              <a:buFont typeface="Arial" panose="020B0604020202020204" pitchFamily="34" charset="0"/>
              <a:buChar char="•"/>
            </a:pPr>
            <a:r>
              <a:rPr lang="en-US" dirty="0"/>
              <a:t>Occupancy measures how full buses or trains are during peak hours.</a:t>
            </a:r>
          </a:p>
          <a:p>
            <a:pPr marL="742950" lvl="1" indent="-285750">
              <a:buFont typeface="Arial" panose="020B0604020202020204" pitchFamily="34" charset="0"/>
              <a:buChar char="•"/>
            </a:pPr>
            <a:r>
              <a:rPr lang="en-US" dirty="0"/>
              <a:t>Example: A bus with a capacity of 50 seats carries an average of 40 passengers during a trip. Occupancy = 40/50×100%=80%</a:t>
            </a:r>
          </a:p>
          <a:p>
            <a:pPr>
              <a:buFont typeface="Arial" panose="020B0604020202020204" pitchFamily="34" charset="0"/>
              <a:buChar char="•"/>
            </a:pPr>
            <a:r>
              <a:rPr lang="en-US" b="1" dirty="0"/>
              <a:t>Warehousing:</a:t>
            </a:r>
            <a:endParaRPr lang="en-US" dirty="0"/>
          </a:p>
          <a:p>
            <a:pPr marL="742950" lvl="1" indent="-285750">
              <a:buFont typeface="Arial" panose="020B0604020202020204" pitchFamily="34" charset="0"/>
              <a:buChar char="•"/>
            </a:pPr>
            <a:r>
              <a:rPr lang="en-US" dirty="0"/>
              <a:t>Utilization tracks the percentage of storage space being used.</a:t>
            </a:r>
          </a:p>
          <a:p>
            <a:pPr marL="742950" lvl="1" indent="-285750">
              <a:buFont typeface="Arial" panose="020B0604020202020204" pitchFamily="34" charset="0"/>
              <a:buChar char="•"/>
            </a:pPr>
            <a:r>
              <a:rPr lang="en-US" dirty="0"/>
              <a:t>Example: A warehouse with a total capacity of 10,000 square feet has 7,500 square feet in use. Utilization = 750010000×100%=75%.</a:t>
            </a:r>
          </a:p>
          <a:p>
            <a:r>
              <a:rPr lang="en-US" b="1" dirty="0"/>
              <a:t>3. Importance:</a:t>
            </a:r>
          </a:p>
          <a:p>
            <a:pPr>
              <a:buFont typeface="Arial" panose="020B0604020202020204" pitchFamily="34" charset="0"/>
              <a:buChar char="•"/>
            </a:pPr>
            <a:r>
              <a:rPr lang="en-US" dirty="0"/>
              <a:t>Helps identify underutilized or overburdened resources.</a:t>
            </a:r>
          </a:p>
          <a:p>
            <a:pPr>
              <a:buFont typeface="Arial" panose="020B0604020202020204" pitchFamily="34" charset="0"/>
              <a:buChar char="•"/>
            </a:pPr>
            <a:r>
              <a:rPr lang="en-US" dirty="0"/>
              <a:t>Enables better planning and resource allocation.</a:t>
            </a:r>
          </a:p>
          <a:p>
            <a:pPr>
              <a:buFont typeface="Arial" panose="020B0604020202020204" pitchFamily="34" charset="0"/>
              <a:buChar char="•"/>
            </a:pPr>
            <a:r>
              <a:rPr lang="en-US" dirty="0"/>
              <a:t>Avoids inefficiencies like bottlenecks or idle resources.</a:t>
            </a:r>
          </a:p>
          <a:p>
            <a:pPr marL="742950" lvl="1" indent="-2857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13</a:t>
            </a:fld>
            <a:endParaRPr lang="en-US"/>
          </a:p>
        </p:txBody>
      </p:sp>
    </p:spTree>
    <p:extLst>
      <p:ext uri="{BB962C8B-B14F-4D97-AF65-F5344CB8AC3E}">
        <p14:creationId xmlns:p14="http://schemas.microsoft.com/office/powerpoint/2010/main" val="3608990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Recording Distribution and Transit Time</a:t>
            </a:r>
          </a:p>
          <a:p>
            <a:r>
              <a:rPr lang="en-US" b="1" dirty="0"/>
              <a:t>Objective:</a:t>
            </a:r>
            <a:r>
              <a:rPr lang="en-US" dirty="0"/>
              <a:t> Understand the variability and flow of entities in a system by analyzing distributions and transit times.</a:t>
            </a:r>
          </a:p>
          <a:p>
            <a:r>
              <a:rPr lang="en-US" b="1" dirty="0"/>
              <a:t>1. Key Concepts:</a:t>
            </a:r>
          </a:p>
          <a:p>
            <a:pPr>
              <a:buFont typeface="Arial" panose="020B0604020202020204" pitchFamily="34" charset="0"/>
              <a:buChar char="•"/>
            </a:pPr>
            <a:r>
              <a:rPr lang="en-US" b="1" dirty="0"/>
              <a:t>Distribution:</a:t>
            </a:r>
            <a:endParaRPr lang="en-US" dirty="0"/>
          </a:p>
          <a:p>
            <a:pPr marL="742950" lvl="1" indent="-285750">
              <a:buFont typeface="Arial" panose="020B0604020202020204" pitchFamily="34" charset="0"/>
              <a:buChar char="•"/>
            </a:pPr>
            <a:r>
              <a:rPr lang="en-US" dirty="0"/>
              <a:t>Refers to the statistical pattern of a variable, such as service times or arrival rates.</a:t>
            </a:r>
          </a:p>
          <a:p>
            <a:pPr marL="742950" lvl="1" indent="-285750">
              <a:buFont typeface="Arial" panose="020B0604020202020204" pitchFamily="34" charset="0"/>
              <a:buChar char="•"/>
            </a:pPr>
            <a:r>
              <a:rPr lang="en-US" dirty="0"/>
              <a:t>Commonly used distributions include:</a:t>
            </a:r>
          </a:p>
          <a:p>
            <a:pPr marL="1143000" lvl="2" indent="-228600">
              <a:buFont typeface="Arial" panose="020B0604020202020204" pitchFamily="34" charset="0"/>
              <a:buChar char="•"/>
            </a:pPr>
            <a:r>
              <a:rPr lang="en-US" b="1" dirty="0"/>
              <a:t>Exponential Distribution:</a:t>
            </a:r>
            <a:r>
              <a:rPr lang="en-US" dirty="0"/>
              <a:t> Models inter-arrival times in systems like customer arrivals at a queue.</a:t>
            </a:r>
            <a:br>
              <a:rPr lang="en-US" dirty="0"/>
            </a:br>
            <a:r>
              <a:rPr lang="en-US" b="1" dirty="0"/>
              <a:t>Example:</a:t>
            </a:r>
            <a:r>
              <a:rPr lang="en-US" dirty="0"/>
              <a:t> In a bank, customers arrive at an average rate of 5 per hour, with arrival intervals following an exponential pattern.</a:t>
            </a:r>
          </a:p>
          <a:p>
            <a:pPr marL="1143000" lvl="2" indent="-228600">
              <a:buFont typeface="Arial" panose="020B0604020202020204" pitchFamily="34" charset="0"/>
              <a:buChar char="•"/>
            </a:pPr>
            <a:r>
              <a:rPr lang="en-US" b="1" dirty="0"/>
              <a:t>Poisson Distribution:</a:t>
            </a:r>
            <a:r>
              <a:rPr lang="en-US" dirty="0"/>
              <a:t> Models the count of events in a fixed interval.</a:t>
            </a:r>
            <a:br>
              <a:rPr lang="en-US" dirty="0"/>
            </a:br>
            <a:r>
              <a:rPr lang="en-US" b="1" dirty="0"/>
              <a:t>Example:</a:t>
            </a:r>
            <a:r>
              <a:rPr lang="en-US" dirty="0"/>
              <a:t> The number of calls a call center receives per hour.</a:t>
            </a:r>
          </a:p>
          <a:p>
            <a:pPr marL="1143000" lvl="2" indent="-228600">
              <a:buFont typeface="Arial" panose="020B0604020202020204" pitchFamily="34" charset="0"/>
              <a:buChar char="•"/>
            </a:pPr>
            <a:r>
              <a:rPr lang="en-US" b="1" dirty="0"/>
              <a:t>Normal Distribution:</a:t>
            </a:r>
            <a:r>
              <a:rPr lang="en-US" dirty="0"/>
              <a:t> Models symmetric data, such as employee performance scores.</a:t>
            </a:r>
            <a:br>
              <a:rPr lang="en-US" dirty="0"/>
            </a:br>
            <a:r>
              <a:rPr lang="en-US" b="1" dirty="0"/>
              <a:t>Example:</a:t>
            </a:r>
            <a:r>
              <a:rPr lang="en-US" dirty="0"/>
              <a:t> Service times at a restaurant where most servers take around 5 minutes, with slight variations.</a:t>
            </a:r>
          </a:p>
          <a:p>
            <a:pPr>
              <a:buFont typeface="Arial" panose="020B0604020202020204" pitchFamily="34" charset="0"/>
              <a:buChar char="•"/>
            </a:pPr>
            <a:r>
              <a:rPr lang="en-US" b="1" dirty="0"/>
              <a:t>Transit Time:</a:t>
            </a:r>
            <a:endParaRPr lang="en-US" dirty="0"/>
          </a:p>
          <a:p>
            <a:pPr marL="742950" lvl="1" indent="-285750">
              <a:buFont typeface="Arial" panose="020B0604020202020204" pitchFamily="34" charset="0"/>
              <a:buChar char="•"/>
            </a:pPr>
            <a:r>
              <a:rPr lang="en-US" dirty="0"/>
              <a:t>The total time an entity spends in the system, including waiting and processing times.</a:t>
            </a:r>
          </a:p>
          <a:p>
            <a:pPr marL="742950" lvl="1" indent="-285750">
              <a:buFont typeface="Arial" panose="020B0604020202020204" pitchFamily="34" charset="0"/>
              <a:buChar char="•"/>
            </a:pPr>
            <a:r>
              <a:rPr lang="en-US" b="1" dirty="0"/>
              <a:t>Example:</a:t>
            </a:r>
            <a:endParaRPr lang="en-US" dirty="0"/>
          </a:p>
          <a:p>
            <a:pPr marL="1143000" lvl="2" indent="-228600">
              <a:buFont typeface="Arial" panose="020B0604020202020204" pitchFamily="34" charset="0"/>
              <a:buChar char="•"/>
            </a:pPr>
            <a:r>
              <a:rPr lang="en-US" dirty="0"/>
              <a:t>A package in a logistics system takes 2 hours waiting for sorting and 3 hours for delivery.</a:t>
            </a:r>
            <a:br>
              <a:rPr lang="en-US" dirty="0"/>
            </a:br>
            <a:r>
              <a:rPr lang="en-US" dirty="0"/>
              <a:t>Transit Time = 2 + 3 = 5 hours.</a:t>
            </a:r>
          </a:p>
          <a:p>
            <a:r>
              <a:rPr lang="en-US" b="1" dirty="0"/>
              <a:t>2. Importance of Recording:</a:t>
            </a:r>
          </a:p>
          <a:p>
            <a:pPr>
              <a:buFont typeface="Arial" panose="020B0604020202020204" pitchFamily="34" charset="0"/>
              <a:buChar char="•"/>
            </a:pPr>
            <a:r>
              <a:rPr lang="en-US" b="1" dirty="0"/>
              <a:t>Performance Evaluation:</a:t>
            </a:r>
            <a:endParaRPr lang="en-US" dirty="0"/>
          </a:p>
          <a:p>
            <a:pPr marL="742950" lvl="1" indent="-285750">
              <a:buFont typeface="Arial" panose="020B0604020202020204" pitchFamily="34" charset="0"/>
              <a:buChar char="•"/>
            </a:pPr>
            <a:r>
              <a:rPr lang="en-US" dirty="0"/>
              <a:t>Identifying bottlenecks by analyzing where transit times are unusually high.</a:t>
            </a:r>
          </a:p>
          <a:p>
            <a:pPr marL="742950" lvl="1" indent="-285750">
              <a:buFont typeface="Arial" panose="020B0604020202020204" pitchFamily="34" charset="0"/>
              <a:buChar char="•"/>
            </a:pPr>
            <a:r>
              <a:rPr lang="en-US" dirty="0"/>
              <a:t>Example: Customers spend an average of 15 minutes in a checkout line. If the waiting time exceeds 20 minutes frequently, the system needs improvement.</a:t>
            </a:r>
          </a:p>
          <a:p>
            <a:pPr>
              <a:buFont typeface="Arial" panose="020B0604020202020204" pitchFamily="34" charset="0"/>
              <a:buChar char="•"/>
            </a:pPr>
            <a:r>
              <a:rPr lang="en-US" b="1" dirty="0"/>
              <a:t>Capacity Planning:</a:t>
            </a:r>
            <a:endParaRPr lang="en-US" dirty="0"/>
          </a:p>
          <a:p>
            <a:pPr marL="742950" lvl="1" indent="-285750">
              <a:buFont typeface="Arial" panose="020B0604020202020204" pitchFamily="34" charset="0"/>
              <a:buChar char="•"/>
            </a:pPr>
            <a:r>
              <a:rPr lang="en-US" dirty="0"/>
              <a:t>Using transit time and distribution data to design systems that meet demand.</a:t>
            </a:r>
          </a:p>
          <a:p>
            <a:pPr marL="742950" lvl="1" indent="-285750">
              <a:buFont typeface="Arial" panose="020B0604020202020204" pitchFamily="34" charset="0"/>
              <a:buChar char="•"/>
            </a:pPr>
            <a:r>
              <a:rPr lang="en-US" dirty="0"/>
              <a:t>Example: If a factory observes that 90% of products take less than 2 hours to complete, it can scale operations to meet peak production times.</a:t>
            </a:r>
          </a:p>
          <a:p>
            <a:r>
              <a:rPr lang="en-US" b="1" dirty="0"/>
              <a:t>3. Applications:</a:t>
            </a:r>
          </a:p>
          <a:p>
            <a:pPr>
              <a:buFont typeface="Arial" panose="020B0604020202020204" pitchFamily="34" charset="0"/>
              <a:buChar char="•"/>
            </a:pPr>
            <a:r>
              <a:rPr lang="en-US" b="1" dirty="0"/>
              <a:t>Retail:</a:t>
            </a:r>
            <a:endParaRPr lang="en-US" dirty="0"/>
          </a:p>
          <a:p>
            <a:pPr marL="742950" lvl="1" indent="-285750">
              <a:buFont typeface="Arial" panose="020B0604020202020204" pitchFamily="34" charset="0"/>
              <a:buChar char="•"/>
            </a:pPr>
            <a:r>
              <a:rPr lang="en-US" dirty="0"/>
              <a:t>Distribution data is used to predict peak shopping hours and optimize staff scheduling.</a:t>
            </a:r>
          </a:p>
          <a:p>
            <a:pPr marL="742950" lvl="1" indent="-285750">
              <a:buFont typeface="Arial" panose="020B0604020202020204" pitchFamily="34" charset="0"/>
              <a:buChar char="•"/>
            </a:pPr>
            <a:r>
              <a:rPr lang="en-US" dirty="0"/>
              <a:t>Example: Analyzing customer arrival patterns at a mall shows the peak time is between 6 PM and 8 PM.</a:t>
            </a:r>
          </a:p>
          <a:p>
            <a:pPr>
              <a:buFont typeface="Arial" panose="020B0604020202020204" pitchFamily="34" charset="0"/>
              <a:buChar char="•"/>
            </a:pPr>
            <a:r>
              <a:rPr lang="en-US" b="1" dirty="0"/>
              <a:t>Healthcare:</a:t>
            </a:r>
            <a:endParaRPr lang="en-US" dirty="0"/>
          </a:p>
          <a:p>
            <a:pPr marL="742950" lvl="1" indent="-285750">
              <a:buFont typeface="Arial" panose="020B0604020202020204" pitchFamily="34" charset="0"/>
              <a:buChar char="•"/>
            </a:pPr>
            <a:r>
              <a:rPr lang="en-US" dirty="0"/>
              <a:t>Transit times of patients from check-in to discharge help identify delays.</a:t>
            </a:r>
          </a:p>
          <a:p>
            <a:pPr marL="742950" lvl="1" indent="-285750">
              <a:buFont typeface="Arial" panose="020B0604020202020204" pitchFamily="34" charset="0"/>
              <a:buChar char="•"/>
            </a:pPr>
            <a:r>
              <a:rPr lang="en-US" dirty="0"/>
              <a:t>Example: If patients spend 30% of their hospital stay waiting for test results, processes can be streamlined.</a:t>
            </a:r>
          </a:p>
          <a:p>
            <a:pPr>
              <a:buFont typeface="Arial" panose="020B0604020202020204" pitchFamily="34" charset="0"/>
              <a:buChar char="•"/>
            </a:pPr>
            <a:r>
              <a:rPr lang="en-US" b="1" dirty="0"/>
              <a:t>Transportation:</a:t>
            </a:r>
            <a:endParaRPr lang="en-US" dirty="0"/>
          </a:p>
          <a:p>
            <a:pPr marL="742950" lvl="1" indent="-285750">
              <a:buFont typeface="Arial" panose="020B0604020202020204" pitchFamily="34" charset="0"/>
              <a:buChar char="•"/>
            </a:pPr>
            <a:r>
              <a:rPr lang="en-US" dirty="0"/>
              <a:t>Transit time data helps evaluate the efficiency of routes.</a:t>
            </a:r>
          </a:p>
          <a:p>
            <a:pPr marL="742950" lvl="1" indent="-285750">
              <a:buFont typeface="Arial" panose="020B0604020202020204" pitchFamily="34" charset="0"/>
              <a:buChar char="•"/>
            </a:pPr>
            <a:r>
              <a:rPr lang="en-US" dirty="0"/>
              <a:t>Example: A delivery company records transit times for packages and finds that urban deliveries take 25% longer during rush hour.</a:t>
            </a:r>
          </a:p>
          <a:p>
            <a:r>
              <a:rPr lang="en-US" b="1" dirty="0"/>
              <a:t>4. Summary:</a:t>
            </a:r>
          </a:p>
          <a:p>
            <a:pPr>
              <a:buFont typeface="Arial" panose="020B0604020202020204" pitchFamily="34" charset="0"/>
              <a:buChar char="•"/>
            </a:pPr>
            <a:r>
              <a:rPr lang="en-US" dirty="0"/>
              <a:t>Recording distribution and transit time provides insights into variability and system flow.</a:t>
            </a:r>
          </a:p>
          <a:p>
            <a:pPr>
              <a:buFont typeface="Arial" panose="020B0604020202020204" pitchFamily="34" charset="0"/>
              <a:buChar char="•"/>
            </a:pPr>
            <a:r>
              <a:rPr lang="en-US" dirty="0"/>
              <a:t>Helps improve efficiency, reduce delays, and enhance system design.</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14</a:t>
            </a:fld>
            <a:endParaRPr lang="en-US"/>
          </a:p>
        </p:txBody>
      </p:sp>
    </p:spTree>
    <p:extLst>
      <p:ext uri="{BB962C8B-B14F-4D97-AF65-F5344CB8AC3E}">
        <p14:creationId xmlns:p14="http://schemas.microsoft.com/office/powerpoint/2010/main" val="24706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Discrete Simulation Language</a:t>
            </a:r>
          </a:p>
          <a:p>
            <a:r>
              <a:rPr lang="en-US" b="1" dirty="0"/>
              <a:t>Definition:</a:t>
            </a:r>
          </a:p>
          <a:p>
            <a:r>
              <a:rPr lang="en-US" dirty="0"/>
              <a:t>A programming or modeling language used to build discrete-event simulations, where system state changes occur at specific points in time due to discrete events.</a:t>
            </a:r>
          </a:p>
          <a:p>
            <a:r>
              <a:rPr lang="en-US" b="1" dirty="0"/>
              <a:t>1. Features of Discrete Simulation Languages</a:t>
            </a:r>
          </a:p>
          <a:p>
            <a:r>
              <a:rPr lang="en-US" b="1" dirty="0"/>
              <a:t>a) Event Scheduling:</a:t>
            </a:r>
            <a:endParaRPr lang="en-US" dirty="0"/>
          </a:p>
          <a:p>
            <a:pPr>
              <a:buFont typeface="Arial" panose="020B0604020202020204" pitchFamily="34" charset="0"/>
              <a:buChar char="•"/>
            </a:pPr>
            <a:r>
              <a:rPr lang="en-US" dirty="0"/>
              <a:t>Allows defining and managing events that trigger changes in the system state.</a:t>
            </a:r>
          </a:p>
          <a:p>
            <a:pPr marL="742950" lvl="1" indent="-285750">
              <a:buFont typeface="Arial" panose="020B0604020202020204" pitchFamily="34" charset="0"/>
              <a:buChar char="•"/>
            </a:pPr>
            <a:r>
              <a:rPr lang="en-US" b="1" dirty="0"/>
              <a:t>Example:</a:t>
            </a:r>
            <a:r>
              <a:rPr lang="en-US" dirty="0"/>
              <a:t> A queue simulation schedules a "customer arrival" event followed by a "service completion" event.</a:t>
            </a:r>
          </a:p>
          <a:p>
            <a:r>
              <a:rPr lang="en-US" b="1" dirty="0"/>
              <a:t>b) Resource Allocation:</a:t>
            </a:r>
            <a:endParaRPr lang="en-US" dirty="0"/>
          </a:p>
          <a:p>
            <a:pPr>
              <a:buFont typeface="Arial" panose="020B0604020202020204" pitchFamily="34" charset="0"/>
              <a:buChar char="•"/>
            </a:pPr>
            <a:r>
              <a:rPr lang="en-US" dirty="0"/>
              <a:t>Simulates limited resources (e.g., servers, machines) and allocates them to competing entities.</a:t>
            </a:r>
          </a:p>
          <a:p>
            <a:pPr marL="742950" lvl="1" indent="-285750">
              <a:buFont typeface="Arial" panose="020B0604020202020204" pitchFamily="34" charset="0"/>
              <a:buChar char="•"/>
            </a:pPr>
            <a:r>
              <a:rPr lang="en-US" b="1" dirty="0"/>
              <a:t>Example:</a:t>
            </a:r>
            <a:r>
              <a:rPr lang="en-US" dirty="0"/>
              <a:t> A hospital simulation tracks bed availability and assigns them to patients as they arrive.</a:t>
            </a:r>
          </a:p>
          <a:p>
            <a:r>
              <a:rPr lang="en-US" b="1" dirty="0"/>
              <a:t>c) Statistical Analysis Tools:</a:t>
            </a:r>
            <a:endParaRPr lang="en-US" dirty="0"/>
          </a:p>
          <a:p>
            <a:pPr>
              <a:buFont typeface="Arial" panose="020B0604020202020204" pitchFamily="34" charset="0"/>
              <a:buChar char="•"/>
            </a:pPr>
            <a:r>
              <a:rPr lang="en-US" dirty="0"/>
              <a:t>Built-in tools for data collection and performance analysis, such as measuring utilization, waiting times, and throughput.</a:t>
            </a:r>
          </a:p>
          <a:p>
            <a:r>
              <a:rPr lang="en-US" b="1" dirty="0"/>
              <a:t>d) Graphical Interfaces (in some languages):</a:t>
            </a:r>
            <a:endParaRPr lang="en-US" dirty="0"/>
          </a:p>
          <a:p>
            <a:pPr>
              <a:buFont typeface="Arial" panose="020B0604020202020204" pitchFamily="34" charset="0"/>
              <a:buChar char="•"/>
            </a:pPr>
            <a:r>
              <a:rPr lang="en-US" dirty="0"/>
              <a:t>Visualize simulations to better understand system dynamics and interactions.</a:t>
            </a:r>
          </a:p>
          <a:p>
            <a:pPr marL="742950" lvl="1" indent="-285750">
              <a:buFont typeface="Arial" panose="020B0604020202020204" pitchFamily="34" charset="0"/>
              <a:buChar char="•"/>
            </a:pPr>
            <a:r>
              <a:rPr lang="en-US" b="1" dirty="0"/>
              <a:t>Example:</a:t>
            </a:r>
            <a:r>
              <a:rPr lang="en-US" dirty="0"/>
              <a:t> Animating customer flow in a retail store simulation.</a:t>
            </a:r>
          </a:p>
          <a:p>
            <a:endParaRPr lang="en-US" b="1" dirty="0"/>
          </a:p>
          <a:p>
            <a:endParaRPr lang="en-US" b="1" dirty="0"/>
          </a:p>
          <a:p>
            <a:endParaRPr lang="en-US" b="1" dirty="0"/>
          </a:p>
          <a:p>
            <a:endParaRPr lang="en-US" b="1" dirty="0"/>
          </a:p>
          <a:p>
            <a:r>
              <a:rPr lang="en-US" b="1" dirty="0"/>
              <a:t>2. Examples of Discrete Simulation Languages</a:t>
            </a:r>
          </a:p>
          <a:p>
            <a:r>
              <a:rPr lang="en-US" b="1" dirty="0"/>
              <a:t>a) </a:t>
            </a:r>
            <a:r>
              <a:rPr lang="en-US" b="1" dirty="0" err="1"/>
              <a:t>SimPy</a:t>
            </a:r>
            <a:r>
              <a:rPr lang="en-US" b="1" dirty="0"/>
              <a:t> (Python-based):</a:t>
            </a:r>
            <a:endParaRPr lang="en-US" dirty="0"/>
          </a:p>
          <a:p>
            <a:pPr>
              <a:buFont typeface="Arial" panose="020B0604020202020204" pitchFamily="34" charset="0"/>
              <a:buChar char="•"/>
            </a:pPr>
            <a:r>
              <a:rPr lang="en-US" dirty="0"/>
              <a:t>A process-based discrete-event simulation framework.</a:t>
            </a:r>
          </a:p>
          <a:p>
            <a:pPr marL="742950" lvl="1" indent="-285750">
              <a:buFont typeface="Arial" panose="020B0604020202020204" pitchFamily="34" charset="0"/>
              <a:buChar char="•"/>
            </a:pPr>
            <a:r>
              <a:rPr lang="en-US" b="1" dirty="0"/>
              <a:t>Use Case:</a:t>
            </a:r>
            <a:r>
              <a:rPr lang="en-US" dirty="0"/>
              <a:t> Modeling a call center where customer arrivals, queue handling, and agent availability are tracked.</a:t>
            </a:r>
          </a:p>
          <a:p>
            <a:r>
              <a:rPr lang="en-US" b="1" dirty="0"/>
              <a:t>b) Arena (GUI-based):</a:t>
            </a:r>
            <a:endParaRPr lang="en-US" dirty="0"/>
          </a:p>
          <a:p>
            <a:pPr>
              <a:buFont typeface="Arial" panose="020B0604020202020204" pitchFamily="34" charset="0"/>
              <a:buChar char="•"/>
            </a:pPr>
            <a:r>
              <a:rPr lang="en-US" dirty="0"/>
              <a:t>A commercial software tool with drag-and-drop modeling.</a:t>
            </a:r>
          </a:p>
          <a:p>
            <a:pPr marL="742950" lvl="1" indent="-285750">
              <a:buFont typeface="Arial" panose="020B0604020202020204" pitchFamily="34" charset="0"/>
              <a:buChar char="•"/>
            </a:pPr>
            <a:r>
              <a:rPr lang="en-US" b="1" dirty="0"/>
              <a:t>Use Case:</a:t>
            </a:r>
            <a:r>
              <a:rPr lang="en-US" dirty="0"/>
              <a:t> Simulating a manufacturing process to analyze bottlenecks.</a:t>
            </a:r>
          </a:p>
          <a:p>
            <a:r>
              <a:rPr lang="en-US" b="1" dirty="0"/>
              <a:t>c) </a:t>
            </a:r>
            <a:r>
              <a:rPr lang="en-US" b="1" dirty="0" err="1"/>
              <a:t>AnyLogic</a:t>
            </a:r>
            <a:r>
              <a:rPr lang="en-US" b="1" dirty="0"/>
              <a:t> (Java-based):</a:t>
            </a:r>
            <a:endParaRPr lang="en-US" dirty="0"/>
          </a:p>
          <a:p>
            <a:pPr>
              <a:buFont typeface="Arial" panose="020B0604020202020204" pitchFamily="34" charset="0"/>
              <a:buChar char="•"/>
            </a:pPr>
            <a:r>
              <a:rPr lang="en-US" dirty="0"/>
              <a:t>A versatile simulation platform for hybrid (discrete, agent-based, and system dynamics) models.</a:t>
            </a:r>
          </a:p>
          <a:p>
            <a:pPr marL="742950" lvl="1" indent="-285750">
              <a:buFont typeface="Arial" panose="020B0604020202020204" pitchFamily="34" charset="0"/>
              <a:buChar char="•"/>
            </a:pPr>
            <a:r>
              <a:rPr lang="en-US" b="1" dirty="0"/>
              <a:t>Use Case:</a:t>
            </a:r>
            <a:r>
              <a:rPr lang="en-US" dirty="0"/>
              <a:t> Simulating urban traffic systems to optimize signal timings.</a:t>
            </a:r>
          </a:p>
          <a:p>
            <a:r>
              <a:rPr lang="en-US" b="1" dirty="0"/>
              <a:t>3. Applications</a:t>
            </a:r>
          </a:p>
          <a:p>
            <a:r>
              <a:rPr lang="en-US" b="1" dirty="0"/>
              <a:t>a) Manufacturing Systems:</a:t>
            </a:r>
            <a:endParaRPr lang="en-US" dirty="0"/>
          </a:p>
          <a:p>
            <a:pPr>
              <a:buFont typeface="Arial" panose="020B0604020202020204" pitchFamily="34" charset="0"/>
              <a:buChar char="•"/>
            </a:pPr>
            <a:r>
              <a:rPr lang="en-US" dirty="0"/>
              <a:t>Model production lines to identify inefficiencies and optimize output.</a:t>
            </a:r>
          </a:p>
          <a:p>
            <a:pPr marL="742950" lvl="1" indent="-285750">
              <a:buFont typeface="Arial" panose="020B0604020202020204" pitchFamily="34" charset="0"/>
              <a:buChar char="•"/>
            </a:pPr>
            <a:r>
              <a:rPr lang="en-US" b="1" dirty="0"/>
              <a:t>Example:</a:t>
            </a:r>
            <a:r>
              <a:rPr lang="en-US" dirty="0"/>
              <a:t> Simulating an assembly line to determine the optimal number of workers required.</a:t>
            </a:r>
          </a:p>
          <a:p>
            <a:r>
              <a:rPr lang="en-US" b="1" dirty="0"/>
              <a:t>b) Traffic Flow Analysis:</a:t>
            </a:r>
            <a:endParaRPr lang="en-US" dirty="0"/>
          </a:p>
          <a:p>
            <a:pPr>
              <a:buFont typeface="Arial" panose="020B0604020202020204" pitchFamily="34" charset="0"/>
              <a:buChar char="•"/>
            </a:pPr>
            <a:r>
              <a:rPr lang="en-US" dirty="0"/>
              <a:t>Simulate road networks to analyze congestion patterns and test traffic management strategies.</a:t>
            </a:r>
          </a:p>
          <a:p>
            <a:pPr marL="742950" lvl="1" indent="-285750">
              <a:buFont typeface="Arial" panose="020B0604020202020204" pitchFamily="34" charset="0"/>
              <a:buChar char="•"/>
            </a:pPr>
            <a:r>
              <a:rPr lang="en-US" b="1" dirty="0"/>
              <a:t>Example:</a:t>
            </a:r>
            <a:r>
              <a:rPr lang="en-US" dirty="0"/>
              <a:t> A city simulates rush-hour traffic to assess the impact of new road layouts.</a:t>
            </a:r>
          </a:p>
          <a:p>
            <a:r>
              <a:rPr lang="en-US" b="1" dirty="0"/>
              <a:t>c) Healthcare Operations:</a:t>
            </a:r>
            <a:endParaRPr lang="en-US" dirty="0"/>
          </a:p>
          <a:p>
            <a:pPr>
              <a:buFont typeface="Arial" panose="020B0604020202020204" pitchFamily="34" charset="0"/>
              <a:buChar char="•"/>
            </a:pPr>
            <a:r>
              <a:rPr lang="en-US" dirty="0"/>
              <a:t>Optimize patient flow, staff allocation, and resource utilization in hospitals.</a:t>
            </a:r>
          </a:p>
          <a:p>
            <a:pPr marL="742950" lvl="1" indent="-285750">
              <a:buFont typeface="Arial" panose="020B0604020202020204" pitchFamily="34" charset="0"/>
              <a:buChar char="•"/>
            </a:pPr>
            <a:r>
              <a:rPr lang="en-US" b="1" dirty="0"/>
              <a:t>Example:</a:t>
            </a:r>
            <a:r>
              <a:rPr lang="en-US" dirty="0"/>
              <a:t> Simulating an emergency department to minimize patient waiting times.</a:t>
            </a:r>
          </a:p>
          <a:p>
            <a:r>
              <a:rPr lang="en-US" b="1" dirty="0"/>
              <a:t>4. Why Use Discrete Simulation Languages?</a:t>
            </a:r>
          </a:p>
          <a:p>
            <a:pPr>
              <a:buFont typeface="Arial" panose="020B0604020202020204" pitchFamily="34" charset="0"/>
              <a:buChar char="•"/>
            </a:pPr>
            <a:r>
              <a:rPr lang="en-US" b="1" dirty="0"/>
              <a:t>Flexibility:</a:t>
            </a:r>
            <a:r>
              <a:rPr lang="en-US" dirty="0"/>
              <a:t> Handle complex systems with interacting components.</a:t>
            </a:r>
          </a:p>
          <a:p>
            <a:pPr>
              <a:buFont typeface="Arial" panose="020B0604020202020204" pitchFamily="34" charset="0"/>
              <a:buChar char="•"/>
            </a:pPr>
            <a:r>
              <a:rPr lang="en-US" b="1" dirty="0"/>
              <a:t>Visualization:</a:t>
            </a:r>
            <a:r>
              <a:rPr lang="en-US" dirty="0"/>
              <a:t> Gain insights into processes through animations and reports.</a:t>
            </a:r>
          </a:p>
          <a:p>
            <a:pPr>
              <a:buFont typeface="Arial" panose="020B0604020202020204" pitchFamily="34" charset="0"/>
              <a:buChar char="•"/>
            </a:pPr>
            <a:r>
              <a:rPr lang="en-US" b="1" dirty="0"/>
              <a:t>Optimization:</a:t>
            </a:r>
            <a:r>
              <a:rPr lang="en-US" dirty="0"/>
              <a:t> Test different configurations before implementing changes in the real world.</a:t>
            </a:r>
          </a:p>
          <a:p>
            <a:r>
              <a:rPr lang="en-US" b="1" dirty="0"/>
              <a:t>Conclusion</a:t>
            </a:r>
          </a:p>
          <a:p>
            <a:r>
              <a:rPr lang="en-US" dirty="0"/>
              <a:t>Discrete simulation languages are powerful tools for modeling and analyzing systems with event-driven dynamics. They are widely used in industries like manufacturing, logistics, healthcare, and urban planning to improve efficiency and decision-making. </a:t>
            </a:r>
          </a:p>
          <a:p>
            <a:endParaRPr lang="en-US" b="1" dirty="0"/>
          </a:p>
          <a:p>
            <a:endParaRPr lang="en-US" b="1" dirty="0"/>
          </a:p>
          <a:p>
            <a:endParaRPr lang="en-US" b="1" dirty="0"/>
          </a:p>
          <a:p>
            <a:r>
              <a:rPr lang="en-US" b="1" dirty="0" err="1"/>
              <a:t>SimPy</a:t>
            </a:r>
            <a:r>
              <a:rPr lang="en-US" b="1" dirty="0"/>
              <a:t>: Call Center Simulation Example</a:t>
            </a:r>
          </a:p>
          <a:p>
            <a:r>
              <a:rPr lang="en-US" dirty="0" err="1"/>
              <a:t>SimPy</a:t>
            </a:r>
            <a:r>
              <a:rPr lang="en-US" dirty="0"/>
              <a:t> is a Python-based framework for building discrete-event simulations. It allows you to model processes, resources, and event-driven systems effectively.</a:t>
            </a:r>
          </a:p>
          <a:p>
            <a:r>
              <a:rPr lang="en-US" b="1" dirty="0"/>
              <a:t>Objective:</a:t>
            </a:r>
          </a:p>
          <a:p>
            <a:r>
              <a:rPr lang="en-US" dirty="0"/>
              <a:t>Simulate a call center with the following characteristics:</a:t>
            </a:r>
          </a:p>
          <a:p>
            <a:pPr>
              <a:buFont typeface="Arial" panose="020B0604020202020204" pitchFamily="34" charset="0"/>
              <a:buChar char="•"/>
            </a:pPr>
            <a:r>
              <a:rPr lang="en-US" dirty="0"/>
              <a:t>Customers arrive randomly.</a:t>
            </a:r>
          </a:p>
          <a:p>
            <a:pPr>
              <a:buFont typeface="Arial" panose="020B0604020202020204" pitchFamily="34" charset="0"/>
              <a:buChar char="•"/>
            </a:pPr>
            <a:r>
              <a:rPr lang="en-US" dirty="0"/>
              <a:t>Agents serve customers on a first-come, first-served basis.</a:t>
            </a:r>
          </a:p>
          <a:p>
            <a:pPr>
              <a:buFont typeface="Arial" panose="020B0604020202020204" pitchFamily="34" charset="0"/>
              <a:buChar char="•"/>
            </a:pPr>
            <a:r>
              <a:rPr lang="en-US" dirty="0"/>
              <a:t>Measure metrics like waiting time, agent utilization, and service completion.</a:t>
            </a:r>
          </a:p>
          <a:p>
            <a:r>
              <a:rPr lang="en-US" b="1" dirty="0"/>
              <a:t>Simulation Scenario:</a:t>
            </a:r>
          </a:p>
          <a:p>
            <a:pPr>
              <a:buFont typeface="Arial" panose="020B0604020202020204" pitchFamily="34" charset="0"/>
              <a:buChar char="•"/>
            </a:pPr>
            <a:r>
              <a:rPr lang="en-US" b="1" dirty="0"/>
              <a:t>Call Center Details:</a:t>
            </a:r>
            <a:endParaRPr lang="en-US" dirty="0"/>
          </a:p>
          <a:p>
            <a:pPr marL="742950" lvl="1" indent="-285750">
              <a:buFont typeface="Arial" panose="020B0604020202020204" pitchFamily="34" charset="0"/>
              <a:buChar char="•"/>
            </a:pPr>
            <a:r>
              <a:rPr lang="en-US" dirty="0"/>
              <a:t>3 agents are available to handle calls.</a:t>
            </a:r>
          </a:p>
          <a:p>
            <a:pPr marL="742950" lvl="1" indent="-285750">
              <a:buFont typeface="Arial" panose="020B0604020202020204" pitchFamily="34" charset="0"/>
              <a:buChar char="•"/>
            </a:pPr>
            <a:r>
              <a:rPr lang="en-US" dirty="0"/>
              <a:t>Customers arrive every 5 to 10 minutes (random interval).</a:t>
            </a:r>
          </a:p>
          <a:p>
            <a:pPr marL="742950" lvl="1" indent="-285750">
              <a:buFont typeface="Arial" panose="020B0604020202020204" pitchFamily="34" charset="0"/>
              <a:buChar char="•"/>
            </a:pPr>
            <a:r>
              <a:rPr lang="en-US" dirty="0"/>
              <a:t>Each call lasts between 3 to 8 minutes.</a:t>
            </a:r>
          </a:p>
          <a:p>
            <a:pPr>
              <a:buFont typeface="Arial" panose="020B0604020202020204" pitchFamily="34" charset="0"/>
              <a:buChar char="•"/>
            </a:pPr>
            <a:r>
              <a:rPr lang="en-US" b="1" dirty="0"/>
              <a:t>Metrics to Track:</a:t>
            </a:r>
            <a:endParaRPr lang="en-US" dirty="0"/>
          </a:p>
          <a:p>
            <a:pPr marL="742950" lvl="1" indent="-285750">
              <a:buFont typeface="Arial" panose="020B0604020202020204" pitchFamily="34" charset="0"/>
              <a:buChar char="•"/>
            </a:pPr>
            <a:r>
              <a:rPr lang="en-US" dirty="0"/>
              <a:t>Average waiting time for customers.</a:t>
            </a:r>
          </a:p>
          <a:p>
            <a:pPr marL="742950" lvl="1" indent="-285750">
              <a:buFont typeface="Arial" panose="020B0604020202020204" pitchFamily="34" charset="0"/>
              <a:buChar char="•"/>
            </a:pPr>
            <a:r>
              <a:rPr lang="en-US" dirty="0"/>
              <a:t>Agent utilization percentage.</a:t>
            </a:r>
          </a:p>
          <a:p>
            <a:pPr marL="742950" lvl="1" indent="-285750">
              <a:buFont typeface="Arial" panose="020B0604020202020204" pitchFamily="34" charset="0"/>
              <a:buChar char="•"/>
            </a:pPr>
            <a:r>
              <a:rPr lang="en-US" dirty="0"/>
              <a:t>Total customers served in a day.</a:t>
            </a:r>
          </a:p>
          <a:p>
            <a:r>
              <a:rPr lang="en-US" b="1" dirty="0"/>
              <a:t>Code Implementation:</a:t>
            </a:r>
          </a:p>
          <a:p>
            <a:r>
              <a:rPr lang="en-US" dirty="0"/>
              <a:t>Here is a basic example of a call center simulation using </a:t>
            </a:r>
            <a:r>
              <a:rPr lang="en-US" dirty="0" err="1"/>
              <a:t>SimPy</a:t>
            </a:r>
            <a:r>
              <a:rPr lang="en-US" dirty="0"/>
              <a:t>.</a:t>
            </a:r>
          </a:p>
          <a:p>
            <a:r>
              <a:rPr lang="en-US" dirty="0"/>
              <a:t>python</a:t>
            </a:r>
          </a:p>
          <a:p>
            <a:r>
              <a:rPr lang="en-US" dirty="0"/>
              <a:t>Copy code</a:t>
            </a:r>
          </a:p>
          <a:p>
            <a:pPr rtl="0"/>
            <a:r>
              <a:rPr lang="en-US" dirty="0"/>
              <a:t>import </a:t>
            </a:r>
            <a:r>
              <a:rPr lang="en-US" dirty="0" err="1"/>
              <a:t>simpy</a:t>
            </a:r>
            <a:r>
              <a:rPr lang="en-US" dirty="0"/>
              <a:t> import random # Constants NUM_AGENTS = 3 # Number of agents in the call center SIM_TIME = 480 # Simulation time in minutes (8 hours) INTER_ARRIVAL_TIME = (5, 10) # Time between customer arrivals (min) CALL_DURATION = (3, 8) # Duration of each call (min) # Global metrics </a:t>
            </a:r>
            <a:r>
              <a:rPr lang="en-US" dirty="0" err="1"/>
              <a:t>waiting_times</a:t>
            </a:r>
            <a:r>
              <a:rPr lang="en-US" dirty="0"/>
              <a:t> = [] </a:t>
            </a:r>
            <a:r>
              <a:rPr lang="en-US" dirty="0" err="1"/>
              <a:t>busy_time</a:t>
            </a:r>
            <a:r>
              <a:rPr lang="en-US" dirty="0"/>
              <a:t> = [0] * NUM_AGENTS # Track each agent's busy time # Customer process def customer(env, name, agents): </a:t>
            </a:r>
            <a:r>
              <a:rPr lang="en-US" dirty="0" err="1"/>
              <a:t>arrival_time</a:t>
            </a:r>
            <a:r>
              <a:rPr lang="en-US" dirty="0"/>
              <a:t> = </a:t>
            </a:r>
            <a:r>
              <a:rPr lang="en-US" dirty="0" err="1"/>
              <a:t>env.now</a:t>
            </a:r>
            <a:r>
              <a:rPr lang="en-US" dirty="0"/>
              <a:t> print(f"{name} arrives at {arrival_time:.2f}") # Request an agent with </a:t>
            </a:r>
            <a:r>
              <a:rPr lang="en-US" dirty="0" err="1"/>
              <a:t>agents.request</a:t>
            </a:r>
            <a:r>
              <a:rPr lang="en-US" dirty="0"/>
              <a:t>() as request: yield request </a:t>
            </a:r>
            <a:r>
              <a:rPr lang="en-US" dirty="0" err="1"/>
              <a:t>wait_time</a:t>
            </a:r>
            <a:r>
              <a:rPr lang="en-US" dirty="0"/>
              <a:t> = </a:t>
            </a:r>
            <a:r>
              <a:rPr lang="en-US" dirty="0" err="1"/>
              <a:t>env.now</a:t>
            </a:r>
            <a:r>
              <a:rPr lang="en-US" dirty="0"/>
              <a:t> - </a:t>
            </a:r>
            <a:r>
              <a:rPr lang="en-US" dirty="0" err="1"/>
              <a:t>arrival_time</a:t>
            </a:r>
            <a:r>
              <a:rPr lang="en-US" dirty="0"/>
              <a:t> </a:t>
            </a:r>
            <a:r>
              <a:rPr lang="en-US" dirty="0" err="1"/>
              <a:t>waiting_times.append</a:t>
            </a:r>
            <a:r>
              <a:rPr lang="en-US" dirty="0"/>
              <a:t>(</a:t>
            </a:r>
            <a:r>
              <a:rPr lang="en-US" dirty="0" err="1"/>
              <a:t>wait_time</a:t>
            </a:r>
            <a:r>
              <a:rPr lang="en-US" dirty="0"/>
              <a:t>) print(f"{name} starts call at {env.now:.2f} after waiting {wait_time:.2f} minutes") # Simulate call duration </a:t>
            </a:r>
            <a:r>
              <a:rPr lang="en-US" dirty="0" err="1"/>
              <a:t>call_duration</a:t>
            </a:r>
            <a:r>
              <a:rPr lang="en-US" dirty="0"/>
              <a:t> = </a:t>
            </a:r>
            <a:r>
              <a:rPr lang="en-US" dirty="0" err="1"/>
              <a:t>random.randint</a:t>
            </a:r>
            <a:r>
              <a:rPr lang="en-US" dirty="0"/>
              <a:t>(*CALL_DURATION) yield </a:t>
            </a:r>
            <a:r>
              <a:rPr lang="en-US" dirty="0" err="1"/>
              <a:t>env.timeout</a:t>
            </a:r>
            <a:r>
              <a:rPr lang="en-US" dirty="0"/>
              <a:t>(</a:t>
            </a:r>
            <a:r>
              <a:rPr lang="en-US" dirty="0" err="1"/>
              <a:t>call_duration</a:t>
            </a:r>
            <a:r>
              <a:rPr lang="en-US" dirty="0"/>
              <a:t>) # Track agent busy time </a:t>
            </a:r>
            <a:r>
              <a:rPr lang="en-US" dirty="0" err="1"/>
              <a:t>agent_id</a:t>
            </a:r>
            <a:r>
              <a:rPr lang="en-US" dirty="0"/>
              <a:t> = </a:t>
            </a:r>
            <a:r>
              <a:rPr lang="en-US" dirty="0" err="1"/>
              <a:t>agents.count</a:t>
            </a:r>
            <a:r>
              <a:rPr lang="en-US" dirty="0"/>
              <a:t> # Number of busy agents </a:t>
            </a:r>
            <a:r>
              <a:rPr lang="en-US" dirty="0" err="1"/>
              <a:t>busy_time</a:t>
            </a:r>
            <a:r>
              <a:rPr lang="en-US" dirty="0"/>
              <a:t>[</a:t>
            </a:r>
            <a:r>
              <a:rPr lang="en-US" dirty="0" err="1"/>
              <a:t>agent_id</a:t>
            </a:r>
            <a:r>
              <a:rPr lang="en-US" dirty="0"/>
              <a:t> - 1] += </a:t>
            </a:r>
            <a:r>
              <a:rPr lang="en-US" dirty="0" err="1"/>
              <a:t>call_duration</a:t>
            </a:r>
            <a:r>
              <a:rPr lang="en-US" dirty="0"/>
              <a:t> print(f"{name} ends call at {env.now:.2f}") # Customer arrival process def </a:t>
            </a:r>
            <a:r>
              <a:rPr lang="en-US" dirty="0" err="1"/>
              <a:t>customer_arrivals</a:t>
            </a:r>
            <a:r>
              <a:rPr lang="en-US" dirty="0"/>
              <a:t>(env, agents): </a:t>
            </a:r>
            <a:r>
              <a:rPr lang="en-US" dirty="0" err="1"/>
              <a:t>customer_id</a:t>
            </a:r>
            <a:r>
              <a:rPr lang="en-US" dirty="0"/>
              <a:t> = 0 while True: yield </a:t>
            </a:r>
            <a:r>
              <a:rPr lang="en-US" dirty="0" err="1"/>
              <a:t>env.timeout</a:t>
            </a:r>
            <a:r>
              <a:rPr lang="en-US" dirty="0"/>
              <a:t>(</a:t>
            </a:r>
            <a:r>
              <a:rPr lang="en-US" dirty="0" err="1"/>
              <a:t>random.randint</a:t>
            </a:r>
            <a:r>
              <a:rPr lang="en-US" dirty="0"/>
              <a:t>(*INTER_ARRIVAL_TIME)) </a:t>
            </a:r>
            <a:r>
              <a:rPr lang="en-US" dirty="0" err="1"/>
              <a:t>customer_id</a:t>
            </a:r>
            <a:r>
              <a:rPr lang="en-US" dirty="0"/>
              <a:t> += 1 </a:t>
            </a:r>
            <a:r>
              <a:rPr lang="en-US" dirty="0" err="1"/>
              <a:t>env.process</a:t>
            </a:r>
            <a:r>
              <a:rPr lang="en-US" dirty="0"/>
              <a:t>(customer(env, </a:t>
            </a:r>
            <a:r>
              <a:rPr lang="en-US" dirty="0" err="1"/>
              <a:t>f"Customer</a:t>
            </a:r>
            <a:r>
              <a:rPr lang="en-US" dirty="0"/>
              <a:t> {</a:t>
            </a:r>
            <a:r>
              <a:rPr lang="en-US" dirty="0" err="1"/>
              <a:t>customer_id</a:t>
            </a:r>
            <a:r>
              <a:rPr lang="en-US" dirty="0"/>
              <a:t>}", agents)) # Simulation setup env = </a:t>
            </a:r>
            <a:r>
              <a:rPr lang="en-US" dirty="0" err="1"/>
              <a:t>simpy.Environment</a:t>
            </a:r>
            <a:r>
              <a:rPr lang="en-US" dirty="0"/>
              <a:t>() agents = </a:t>
            </a:r>
            <a:r>
              <a:rPr lang="en-US" dirty="0" err="1"/>
              <a:t>simpy.Resource</a:t>
            </a:r>
            <a:r>
              <a:rPr lang="en-US" dirty="0"/>
              <a:t>(env, capacity=NUM_AGENTS) # Start processes </a:t>
            </a:r>
            <a:r>
              <a:rPr lang="en-US" dirty="0" err="1"/>
              <a:t>env.process</a:t>
            </a:r>
            <a:r>
              <a:rPr lang="en-US" dirty="0"/>
              <a:t>(</a:t>
            </a:r>
            <a:r>
              <a:rPr lang="en-US" dirty="0" err="1"/>
              <a:t>customer_arrivals</a:t>
            </a:r>
            <a:r>
              <a:rPr lang="en-US" dirty="0"/>
              <a:t>(env, agents)) # Run simulation </a:t>
            </a:r>
            <a:r>
              <a:rPr lang="en-US" dirty="0" err="1"/>
              <a:t>env.run</a:t>
            </a:r>
            <a:r>
              <a:rPr lang="en-US" dirty="0"/>
              <a:t>(until=SIM_TIME) # Results </a:t>
            </a:r>
            <a:r>
              <a:rPr lang="en-US" dirty="0" err="1"/>
              <a:t>average_wait_time</a:t>
            </a:r>
            <a:r>
              <a:rPr lang="en-US" dirty="0"/>
              <a:t> = sum(</a:t>
            </a:r>
            <a:r>
              <a:rPr lang="en-US" dirty="0" err="1"/>
              <a:t>waiting_times</a:t>
            </a:r>
            <a:r>
              <a:rPr lang="en-US" dirty="0"/>
              <a:t>) / </a:t>
            </a:r>
            <a:r>
              <a:rPr lang="en-US" dirty="0" err="1"/>
              <a:t>len</a:t>
            </a:r>
            <a:r>
              <a:rPr lang="en-US" dirty="0"/>
              <a:t>(</a:t>
            </a:r>
            <a:r>
              <a:rPr lang="en-US" dirty="0" err="1"/>
              <a:t>waiting_times</a:t>
            </a:r>
            <a:r>
              <a:rPr lang="en-US" dirty="0"/>
              <a:t>) utilization = [</a:t>
            </a:r>
            <a:r>
              <a:rPr lang="en-US" dirty="0" err="1"/>
              <a:t>bt</a:t>
            </a:r>
            <a:r>
              <a:rPr lang="en-US" dirty="0"/>
              <a:t> / SIM_TIME * 100 for </a:t>
            </a:r>
            <a:r>
              <a:rPr lang="en-US" dirty="0" err="1"/>
              <a:t>bt</a:t>
            </a:r>
            <a:r>
              <a:rPr lang="en-US" dirty="0"/>
              <a:t> in </a:t>
            </a:r>
            <a:r>
              <a:rPr lang="en-US" dirty="0" err="1"/>
              <a:t>busy_time</a:t>
            </a:r>
            <a:r>
              <a:rPr lang="en-US" dirty="0"/>
              <a:t>] print("\</a:t>
            </a:r>
            <a:r>
              <a:rPr lang="en-US" dirty="0" err="1"/>
              <a:t>nSimulation</a:t>
            </a:r>
            <a:r>
              <a:rPr lang="en-US" dirty="0"/>
              <a:t> Results:") print(</a:t>
            </a:r>
            <a:r>
              <a:rPr lang="en-US" dirty="0" err="1"/>
              <a:t>f"Average</a:t>
            </a:r>
            <a:r>
              <a:rPr lang="en-US" dirty="0"/>
              <a:t> Waiting Time: {average_wait_time:.2f} minutes") print(</a:t>
            </a:r>
            <a:r>
              <a:rPr lang="en-US" dirty="0" err="1"/>
              <a:t>f"Agent</a:t>
            </a:r>
            <a:r>
              <a:rPr lang="en-US" dirty="0"/>
              <a:t> Utilization: {utilization}") print(</a:t>
            </a:r>
            <a:r>
              <a:rPr lang="en-US" dirty="0" err="1"/>
              <a:t>f"Total</a:t>
            </a:r>
            <a:r>
              <a:rPr lang="en-US" dirty="0"/>
              <a:t> Customers Served: {</a:t>
            </a:r>
            <a:r>
              <a:rPr lang="en-US" dirty="0" err="1"/>
              <a:t>len</a:t>
            </a:r>
            <a:r>
              <a:rPr lang="en-US" dirty="0"/>
              <a:t>(</a:t>
            </a:r>
            <a:r>
              <a:rPr lang="en-US" dirty="0" err="1"/>
              <a:t>waiting_times</a:t>
            </a:r>
            <a:r>
              <a:rPr lang="en-US" dirty="0"/>
              <a:t>)}") </a:t>
            </a:r>
          </a:p>
          <a:p>
            <a:r>
              <a:rPr lang="en-US" b="1" dirty="0"/>
              <a:t>Key Features in the Code:</a:t>
            </a:r>
          </a:p>
          <a:p>
            <a:pPr>
              <a:buFont typeface="+mj-lt"/>
              <a:buAutoNum type="arabicPeriod"/>
            </a:pPr>
            <a:r>
              <a:rPr lang="en-US" b="1" dirty="0" err="1"/>
              <a:t>simpy.Resource</a:t>
            </a:r>
            <a:r>
              <a:rPr lang="en-US" b="1" dirty="0"/>
              <a:t>:</a:t>
            </a:r>
            <a:r>
              <a:rPr lang="en-US" dirty="0"/>
              <a:t> Models the agents in the call center.</a:t>
            </a:r>
          </a:p>
          <a:p>
            <a:pPr marL="742950" lvl="1" indent="-285750">
              <a:buFont typeface="+mj-lt"/>
              <a:buAutoNum type="arabicPeriod"/>
            </a:pPr>
            <a:r>
              <a:rPr lang="en-US" dirty="0"/>
              <a:t>Allows handling requests and tracks availability.</a:t>
            </a:r>
          </a:p>
          <a:p>
            <a:pPr>
              <a:buFont typeface="+mj-lt"/>
              <a:buAutoNum type="arabicPeriod"/>
            </a:pPr>
            <a:r>
              <a:rPr lang="en-US" b="1" dirty="0" err="1"/>
              <a:t>env.timeout</a:t>
            </a:r>
            <a:r>
              <a:rPr lang="en-US" b="1" dirty="0"/>
              <a:t>:</a:t>
            </a:r>
            <a:r>
              <a:rPr lang="en-US" dirty="0"/>
              <a:t> Simulates delays (e.g., customer arrival intervals and call durations).</a:t>
            </a:r>
          </a:p>
          <a:p>
            <a:pPr>
              <a:buFont typeface="+mj-lt"/>
              <a:buAutoNum type="arabicPeriod"/>
            </a:pPr>
            <a:r>
              <a:rPr lang="en-US" b="1" dirty="0"/>
              <a:t>with </a:t>
            </a:r>
            <a:r>
              <a:rPr lang="en-US" b="1" dirty="0" err="1"/>
              <a:t>agents.request</a:t>
            </a:r>
            <a:r>
              <a:rPr lang="en-US" b="1" dirty="0"/>
              <a:t>():</a:t>
            </a:r>
            <a:r>
              <a:rPr lang="en-US" dirty="0"/>
              <a:t> Simulates waiting for an agent to become available.</a:t>
            </a:r>
          </a:p>
          <a:p>
            <a:r>
              <a:rPr lang="en-US" b="1" dirty="0"/>
              <a:t>Output Metrics:</a:t>
            </a:r>
          </a:p>
          <a:p>
            <a:pPr>
              <a:buFont typeface="Arial" panose="020B0604020202020204" pitchFamily="34" charset="0"/>
              <a:buChar char="•"/>
            </a:pPr>
            <a:r>
              <a:rPr lang="en-US" b="1" dirty="0"/>
              <a:t>Average Waiting Time:</a:t>
            </a:r>
            <a:r>
              <a:rPr lang="en-US" dirty="0"/>
              <a:t> Shows the average time customers spent waiting for an agent.</a:t>
            </a:r>
          </a:p>
          <a:p>
            <a:pPr>
              <a:buFont typeface="Arial" panose="020B0604020202020204" pitchFamily="34" charset="0"/>
              <a:buChar char="•"/>
            </a:pPr>
            <a:r>
              <a:rPr lang="en-US" b="1" dirty="0"/>
              <a:t>Agent Utilization:</a:t>
            </a:r>
            <a:r>
              <a:rPr lang="en-US" dirty="0"/>
              <a:t> Percentage of time agents were busy handling calls.</a:t>
            </a:r>
          </a:p>
          <a:p>
            <a:pPr>
              <a:buFont typeface="Arial" panose="020B0604020202020204" pitchFamily="34" charset="0"/>
              <a:buChar char="•"/>
            </a:pPr>
            <a:r>
              <a:rPr lang="en-US" b="1" dirty="0"/>
              <a:t>Total Customers Served:</a:t>
            </a:r>
            <a:r>
              <a:rPr lang="en-US" dirty="0"/>
              <a:t> Number of customers who completed their calls within the simulation period.</a:t>
            </a:r>
          </a:p>
          <a:p>
            <a:r>
              <a:rPr lang="en-US" b="1" dirty="0"/>
              <a:t>Visualization (Optional):</a:t>
            </a:r>
          </a:p>
          <a:p>
            <a:r>
              <a:rPr lang="en-US" dirty="0"/>
              <a:t>You can enhance the simulation with visualization libraries like Matplotlib to plot metrics such as:</a:t>
            </a:r>
          </a:p>
          <a:p>
            <a:pPr>
              <a:buFont typeface="Arial" panose="020B0604020202020204" pitchFamily="34" charset="0"/>
              <a:buChar char="•"/>
            </a:pPr>
            <a:r>
              <a:rPr lang="en-US" dirty="0"/>
              <a:t>Agent utilization over time.</a:t>
            </a:r>
          </a:p>
          <a:p>
            <a:pPr>
              <a:buFont typeface="Arial" panose="020B0604020202020204" pitchFamily="34" charset="0"/>
              <a:buChar char="•"/>
            </a:pPr>
            <a:r>
              <a:rPr lang="en-US" dirty="0"/>
              <a:t>Waiting times for customers.</a:t>
            </a:r>
          </a:p>
          <a:p>
            <a:r>
              <a:rPr lang="en-US" dirty="0"/>
              <a:t>Would you like to see a visualization example or further customization of this simulation?</a:t>
            </a:r>
          </a:p>
          <a:p>
            <a:endParaRPr lang="en-US" b="1" dirty="0"/>
          </a:p>
          <a:p>
            <a:endParaRPr lang="en-US" b="1" dirty="0"/>
          </a:p>
          <a:p>
            <a:endParaRPr lang="en-US" b="1" dirty="0"/>
          </a:p>
          <a:p>
            <a:endParaRPr lang="en-US" b="1" dirty="0"/>
          </a:p>
          <a:p>
            <a:endParaRPr lang="en-US" b="1" dirty="0"/>
          </a:p>
          <a:p>
            <a:endParaRPr lang="en-US" b="1" dirty="0"/>
          </a:p>
          <a:p>
            <a:r>
              <a:rPr lang="en-US" b="1" dirty="0" err="1"/>
              <a:t>SimScript</a:t>
            </a:r>
            <a:r>
              <a:rPr lang="en-US" b="1" dirty="0"/>
              <a:t> and GPSS: Overview and Comparison</a:t>
            </a:r>
          </a:p>
          <a:p>
            <a:r>
              <a:rPr lang="en-US" dirty="0" err="1"/>
              <a:t>SimScript</a:t>
            </a:r>
            <a:r>
              <a:rPr lang="en-US" dirty="0"/>
              <a:t> and GPSS (General Purpose Simulation System) are specialized discrete-event simulation languages, commonly used for modeling and analyzing complex systems in industries like manufacturing, logistics, and telecommunications.</a:t>
            </a:r>
          </a:p>
          <a:p>
            <a:r>
              <a:rPr lang="en-US" b="1" dirty="0"/>
              <a:t>1. </a:t>
            </a:r>
            <a:r>
              <a:rPr lang="en-US" b="1" dirty="0" err="1"/>
              <a:t>SimScript</a:t>
            </a:r>
            <a:endParaRPr lang="en-US" b="1" dirty="0"/>
          </a:p>
          <a:p>
            <a:r>
              <a:rPr lang="en-US" b="1" dirty="0"/>
              <a:t>Overview:</a:t>
            </a:r>
          </a:p>
          <a:p>
            <a:pPr>
              <a:buFont typeface="Arial" panose="020B0604020202020204" pitchFamily="34" charset="0"/>
              <a:buChar char="•"/>
            </a:pPr>
            <a:r>
              <a:rPr lang="en-US" b="1" dirty="0"/>
              <a:t>Developer:</a:t>
            </a:r>
            <a:r>
              <a:rPr lang="en-US" dirty="0"/>
              <a:t> RAND Corporation (1959).</a:t>
            </a:r>
          </a:p>
          <a:p>
            <a:pPr>
              <a:buFont typeface="Arial" panose="020B0604020202020204" pitchFamily="34" charset="0"/>
              <a:buChar char="•"/>
            </a:pPr>
            <a:r>
              <a:rPr lang="en-US" b="1" dirty="0"/>
              <a:t>Features:</a:t>
            </a:r>
            <a:r>
              <a:rPr lang="en-US" dirty="0"/>
              <a:t> Object-oriented and designed for large-scale, complex simulations.</a:t>
            </a:r>
          </a:p>
          <a:p>
            <a:pPr>
              <a:buFont typeface="Arial" panose="020B0604020202020204" pitchFamily="34" charset="0"/>
              <a:buChar char="•"/>
            </a:pPr>
            <a:r>
              <a:rPr lang="en-US" b="1" dirty="0"/>
              <a:t>Language Characteristics:</a:t>
            </a:r>
            <a:endParaRPr lang="en-US" dirty="0"/>
          </a:p>
          <a:p>
            <a:pPr marL="742950" lvl="1" indent="-285750">
              <a:buFont typeface="Arial" panose="020B0604020202020204" pitchFamily="34" charset="0"/>
              <a:buChar char="•"/>
            </a:pPr>
            <a:r>
              <a:rPr lang="en-US" dirty="0"/>
              <a:t>High-level, declarative syntax.</a:t>
            </a:r>
          </a:p>
          <a:p>
            <a:pPr marL="742950" lvl="1" indent="-285750">
              <a:buFont typeface="Arial" panose="020B0604020202020204" pitchFamily="34" charset="0"/>
              <a:buChar char="•"/>
            </a:pPr>
            <a:r>
              <a:rPr lang="en-US" dirty="0"/>
              <a:t>Event-driven model.</a:t>
            </a:r>
          </a:p>
          <a:p>
            <a:pPr marL="742950" lvl="1" indent="-285750">
              <a:buFont typeface="Arial" panose="020B0604020202020204" pitchFamily="34" charset="0"/>
              <a:buChar char="•"/>
            </a:pPr>
            <a:r>
              <a:rPr lang="en-US" dirty="0"/>
              <a:t>Supports data collection, statistical analysis, and reporting.</a:t>
            </a:r>
          </a:p>
          <a:p>
            <a:pPr marL="742950" lvl="1" indent="-285750">
              <a:buFont typeface="Arial" panose="020B0604020202020204" pitchFamily="34" charset="0"/>
              <a:buChar char="•"/>
            </a:pPr>
            <a:r>
              <a:rPr lang="en-US" dirty="0"/>
              <a:t>Extensible for hybrid simulations.</a:t>
            </a:r>
          </a:p>
          <a:p>
            <a:r>
              <a:rPr lang="en-US" b="1" dirty="0"/>
              <a:t>Applications:</a:t>
            </a:r>
          </a:p>
          <a:p>
            <a:pPr>
              <a:buFont typeface="Arial" panose="020B0604020202020204" pitchFamily="34" charset="0"/>
              <a:buChar char="•"/>
            </a:pPr>
            <a:r>
              <a:rPr lang="en-US" dirty="0"/>
              <a:t>Military simulations (e.g., combat scenarios).</a:t>
            </a:r>
          </a:p>
          <a:p>
            <a:pPr>
              <a:buFont typeface="Arial" panose="020B0604020202020204" pitchFamily="34" charset="0"/>
              <a:buChar char="•"/>
            </a:pPr>
            <a:r>
              <a:rPr lang="en-US" dirty="0"/>
              <a:t>Business process modeling (e.g., supply chains).</a:t>
            </a:r>
          </a:p>
          <a:p>
            <a:pPr>
              <a:buFont typeface="Arial" panose="020B0604020202020204" pitchFamily="34" charset="0"/>
              <a:buChar char="•"/>
            </a:pPr>
            <a:r>
              <a:rPr lang="en-US" dirty="0"/>
              <a:t>Transportation systems (e.g., air traffic control).</a:t>
            </a:r>
          </a:p>
          <a:p>
            <a:r>
              <a:rPr lang="en-US" b="1" dirty="0"/>
              <a:t>Example:</a:t>
            </a:r>
          </a:p>
          <a:p>
            <a:r>
              <a:rPr lang="en-US" dirty="0"/>
              <a:t>Modeling a simple queue system where customers arrive, wait, and are served:</a:t>
            </a:r>
          </a:p>
          <a:p>
            <a:r>
              <a:rPr lang="en-US" dirty="0"/>
              <a:t>plaintext</a:t>
            </a:r>
          </a:p>
          <a:p>
            <a:r>
              <a:rPr lang="en-US" dirty="0"/>
              <a:t>Copy code</a:t>
            </a:r>
          </a:p>
          <a:p>
            <a:pPr rtl="0"/>
            <a:r>
              <a:rPr lang="en-US" dirty="0"/>
              <a:t>DEFINE QUEUE LENGTH AS INTEGER DEFINE SERVER AS RESOURCE DEFINE ARRIVAL AS EVENT DEFINE DEPARTURE AS EVENT PROCESS ARRIVAL IF SERVER IS FREE THEN START DEPARTURE AFTER SERVICE TIME ALLOCATE SERVER ELSE ADD TO QUEUE LENGTH ENDIF ENDPROCESS PROCESS DEPARTURE IF QUEUE LENGTH &gt; 0 THEN REMOVE FROM QUEUE LENGTH START DEPARTURE AFTER SERVICE TIME ELSE RELEASE SERVER ENDIF ENDPROCESS </a:t>
            </a:r>
          </a:p>
          <a:p>
            <a:r>
              <a:rPr lang="en-US" b="1" dirty="0"/>
              <a:t>2. GPSS (General Purpose Simulation System)</a:t>
            </a:r>
          </a:p>
          <a:p>
            <a:r>
              <a:rPr lang="en-US" b="1" dirty="0"/>
              <a:t>Overview:</a:t>
            </a:r>
          </a:p>
          <a:p>
            <a:pPr>
              <a:buFont typeface="Arial" panose="020B0604020202020204" pitchFamily="34" charset="0"/>
              <a:buChar char="•"/>
            </a:pPr>
            <a:r>
              <a:rPr lang="en-US" b="1" dirty="0"/>
              <a:t>Developer:</a:t>
            </a:r>
            <a:r>
              <a:rPr lang="en-US" dirty="0"/>
              <a:t> Geoffrey Gordon, IBM (1960s).</a:t>
            </a:r>
          </a:p>
          <a:p>
            <a:pPr>
              <a:buFont typeface="Arial" panose="020B0604020202020204" pitchFamily="34" charset="0"/>
              <a:buChar char="•"/>
            </a:pPr>
            <a:r>
              <a:rPr lang="en-US" b="1" dirty="0"/>
              <a:t>Features:</a:t>
            </a:r>
            <a:r>
              <a:rPr lang="en-US" dirty="0"/>
              <a:t> Block-structured, flow-oriented simulation language.</a:t>
            </a:r>
          </a:p>
          <a:p>
            <a:pPr>
              <a:buFont typeface="Arial" panose="020B0604020202020204" pitchFamily="34" charset="0"/>
              <a:buChar char="•"/>
            </a:pPr>
            <a:r>
              <a:rPr lang="en-US" b="1" dirty="0"/>
              <a:t>Language Characteristics:</a:t>
            </a:r>
            <a:endParaRPr lang="en-US" dirty="0"/>
          </a:p>
          <a:p>
            <a:pPr marL="742950" lvl="1" indent="-285750">
              <a:buFont typeface="Arial" panose="020B0604020202020204" pitchFamily="34" charset="0"/>
              <a:buChar char="•"/>
            </a:pPr>
            <a:r>
              <a:rPr lang="en-US" dirty="0"/>
              <a:t>Models entities and their movement through a series of blocks.</a:t>
            </a:r>
          </a:p>
          <a:p>
            <a:pPr marL="742950" lvl="1" indent="-285750">
              <a:buFont typeface="Arial" panose="020B0604020202020204" pitchFamily="34" charset="0"/>
              <a:buChar char="•"/>
            </a:pPr>
            <a:r>
              <a:rPr lang="en-US" dirty="0"/>
              <a:t>Easy to learn for specific systems.</a:t>
            </a:r>
          </a:p>
          <a:p>
            <a:pPr marL="742950" lvl="1" indent="-285750">
              <a:buFont typeface="Arial" panose="020B0604020202020204" pitchFamily="34" charset="0"/>
              <a:buChar char="•"/>
            </a:pPr>
            <a:r>
              <a:rPr lang="en-US" dirty="0"/>
              <a:t>Predefined blocks (e.g., GENERATE, QUEUE, DEPART) simplify modeling.</a:t>
            </a:r>
          </a:p>
          <a:p>
            <a:pPr marL="742950" lvl="1" indent="-285750">
              <a:buFont typeface="Arial" panose="020B0604020202020204" pitchFamily="34" charset="0"/>
              <a:buChar char="•"/>
            </a:pPr>
            <a:r>
              <a:rPr lang="en-US" dirty="0"/>
              <a:t>Limited flexibility compared to modern languages.</a:t>
            </a:r>
          </a:p>
          <a:p>
            <a:r>
              <a:rPr lang="en-US" b="1" dirty="0"/>
              <a:t>Applications:</a:t>
            </a:r>
          </a:p>
          <a:p>
            <a:pPr>
              <a:buFont typeface="Arial" panose="020B0604020202020204" pitchFamily="34" charset="0"/>
              <a:buChar char="•"/>
            </a:pPr>
            <a:r>
              <a:rPr lang="en-US" dirty="0"/>
              <a:t>Manufacturing systems (e.g., assembly lines).</a:t>
            </a:r>
          </a:p>
          <a:p>
            <a:pPr>
              <a:buFont typeface="Arial" panose="020B0604020202020204" pitchFamily="34" charset="0"/>
              <a:buChar char="•"/>
            </a:pPr>
            <a:r>
              <a:rPr lang="en-US" dirty="0"/>
              <a:t>Service systems (e.g., banks, call centers).</a:t>
            </a:r>
          </a:p>
          <a:p>
            <a:pPr>
              <a:buFont typeface="Arial" panose="020B0604020202020204" pitchFamily="34" charset="0"/>
              <a:buChar char="•"/>
            </a:pPr>
            <a:r>
              <a:rPr lang="en-US" dirty="0"/>
              <a:t>Transportation and logistics.</a:t>
            </a:r>
          </a:p>
          <a:p>
            <a:r>
              <a:rPr lang="en-US" b="1" dirty="0"/>
              <a:t>Example:</a:t>
            </a:r>
          </a:p>
          <a:p>
            <a:r>
              <a:rPr lang="en-US" dirty="0"/>
              <a:t>Simulating a simple queue system:</a:t>
            </a:r>
          </a:p>
          <a:p>
            <a:r>
              <a:rPr lang="en-US" dirty="0"/>
              <a:t>plaintext</a:t>
            </a:r>
          </a:p>
          <a:p>
            <a:r>
              <a:rPr lang="en-US" dirty="0"/>
              <a:t>Copy code</a:t>
            </a:r>
          </a:p>
          <a:p>
            <a:pPr rtl="0"/>
            <a:r>
              <a:rPr lang="en-US" dirty="0"/>
              <a:t>GENERATE 5,1 ; Generate customers every 5±1 minutes QUEUE CUSTOMER_QUEUE ; Add customer to the queue SEIZE SERVER ; Allocate the server DEPART CUSTOMER_QUEUE ; Remove from the queue ADVANCE 4,1 ; Simulate service time (4±1 minutes) RELEASE SERVER ; Release the server TERMINATE ; End the process </a:t>
            </a:r>
          </a:p>
          <a:p>
            <a:r>
              <a:rPr lang="en-US" b="1" dirty="0"/>
              <a:t>Comparison: </a:t>
            </a:r>
            <a:r>
              <a:rPr lang="en-US" b="1" dirty="0" err="1"/>
              <a:t>SimScript</a:t>
            </a:r>
            <a:r>
              <a:rPr lang="en-US" b="1" dirty="0"/>
              <a:t> vs. GPSS</a:t>
            </a:r>
          </a:p>
          <a:p>
            <a:r>
              <a:rPr lang="en-US" dirty="0" err="1"/>
              <a:t>Feature</a:t>
            </a:r>
            <a:r>
              <a:rPr lang="en-US" b="1" dirty="0" err="1"/>
              <a:t>SimScriptGPSSLearning</a:t>
            </a:r>
            <a:r>
              <a:rPr lang="en-US" b="1" dirty="0"/>
              <a:t> </a:t>
            </a:r>
            <a:r>
              <a:rPr lang="en-US" b="1" dirty="0" err="1"/>
              <a:t>Curve</a:t>
            </a:r>
            <a:r>
              <a:rPr lang="en-US" dirty="0" err="1"/>
              <a:t>Steeper</a:t>
            </a:r>
            <a:r>
              <a:rPr lang="en-US" dirty="0"/>
              <a:t>, requires programming </a:t>
            </a:r>
            <a:r>
              <a:rPr lang="en-US" dirty="0" err="1"/>
              <a:t>skillsEasier</a:t>
            </a:r>
            <a:r>
              <a:rPr lang="en-US" dirty="0"/>
              <a:t>, predefined blocks simplify </a:t>
            </a:r>
            <a:r>
              <a:rPr lang="en-US" dirty="0" err="1"/>
              <a:t>use</a:t>
            </a:r>
            <a:r>
              <a:rPr lang="en-US" b="1" dirty="0" err="1"/>
              <a:t>Flexibility</a:t>
            </a:r>
            <a:r>
              <a:rPr lang="en-US" dirty="0" err="1"/>
              <a:t>High</a:t>
            </a:r>
            <a:r>
              <a:rPr lang="en-US" dirty="0"/>
              <a:t>, supports hybrid </a:t>
            </a:r>
            <a:r>
              <a:rPr lang="en-US" dirty="0" err="1"/>
              <a:t>simulationsLimited</a:t>
            </a:r>
            <a:r>
              <a:rPr lang="en-US" dirty="0"/>
              <a:t>, focuses on flow-oriented </a:t>
            </a:r>
            <a:r>
              <a:rPr lang="en-US" dirty="0" err="1"/>
              <a:t>models</a:t>
            </a:r>
            <a:r>
              <a:rPr lang="en-US" b="1" dirty="0" err="1"/>
              <a:t>Language</a:t>
            </a:r>
            <a:r>
              <a:rPr lang="en-US" b="1" dirty="0"/>
              <a:t> </a:t>
            </a:r>
            <a:r>
              <a:rPr lang="en-US" b="1" dirty="0" err="1"/>
              <a:t>Style</a:t>
            </a:r>
            <a:r>
              <a:rPr lang="en-US" dirty="0" err="1"/>
              <a:t>Object</a:t>
            </a:r>
            <a:r>
              <a:rPr lang="en-US" dirty="0"/>
              <a:t>-oriented, </a:t>
            </a:r>
            <a:r>
              <a:rPr lang="en-US" dirty="0" err="1"/>
              <a:t>proceduralBlock</a:t>
            </a:r>
            <a:r>
              <a:rPr lang="en-US" dirty="0"/>
              <a:t>-structured, </a:t>
            </a:r>
            <a:r>
              <a:rPr lang="en-US" dirty="0" err="1"/>
              <a:t>declarative</a:t>
            </a:r>
            <a:r>
              <a:rPr lang="en-US" b="1" dirty="0" err="1"/>
              <a:t>Complexity</a:t>
            </a:r>
            <a:r>
              <a:rPr lang="en-US" dirty="0" err="1"/>
              <a:t>Suitable</a:t>
            </a:r>
            <a:r>
              <a:rPr lang="en-US" dirty="0"/>
              <a:t> for large-scale </a:t>
            </a:r>
            <a:r>
              <a:rPr lang="en-US" dirty="0" err="1"/>
              <a:t>systemsIdeal</a:t>
            </a:r>
            <a:r>
              <a:rPr lang="en-US" dirty="0"/>
              <a:t> for smaller </a:t>
            </a:r>
            <a:r>
              <a:rPr lang="en-US" dirty="0" err="1"/>
              <a:t>systems</a:t>
            </a:r>
            <a:r>
              <a:rPr lang="en-US" b="1" dirty="0" err="1"/>
              <a:t>Applications</a:t>
            </a:r>
            <a:r>
              <a:rPr lang="en-US" dirty="0" err="1"/>
              <a:t>Military</a:t>
            </a:r>
            <a:r>
              <a:rPr lang="en-US" dirty="0"/>
              <a:t>, business processes, </a:t>
            </a:r>
            <a:r>
              <a:rPr lang="en-US" dirty="0" err="1"/>
              <a:t>transportManufacturing</a:t>
            </a:r>
            <a:r>
              <a:rPr lang="en-US" dirty="0"/>
              <a:t>, service </a:t>
            </a:r>
            <a:r>
              <a:rPr lang="en-US" dirty="0" err="1"/>
              <a:t>industries</a:t>
            </a:r>
            <a:r>
              <a:rPr lang="en-US" b="1" dirty="0" err="1"/>
              <a:t>Modern</a:t>
            </a:r>
            <a:r>
              <a:rPr lang="en-US" b="1" dirty="0"/>
              <a:t> Relevance</a:t>
            </a:r>
          </a:p>
          <a:p>
            <a:r>
              <a:rPr lang="en-US" dirty="0"/>
              <a:t>While both </a:t>
            </a:r>
            <a:r>
              <a:rPr lang="en-US" dirty="0" err="1"/>
              <a:t>SimScript</a:t>
            </a:r>
            <a:r>
              <a:rPr lang="en-US" dirty="0"/>
              <a:t> and GPSS were groundbreaking in their time, they are now less commonly used due to the rise of more versatile and user-friendly tools like </a:t>
            </a:r>
            <a:r>
              <a:rPr lang="en-US" dirty="0" err="1"/>
              <a:t>SimPy</a:t>
            </a:r>
            <a:r>
              <a:rPr lang="en-US" dirty="0"/>
              <a:t>, </a:t>
            </a:r>
            <a:r>
              <a:rPr lang="en-US" dirty="0" err="1"/>
              <a:t>AnyLogic</a:t>
            </a:r>
            <a:r>
              <a:rPr lang="en-US" dirty="0"/>
              <a:t>, and Arena.</a:t>
            </a:r>
          </a:p>
          <a:p>
            <a:pPr>
              <a:buFont typeface="Arial" panose="020B0604020202020204" pitchFamily="34" charset="0"/>
              <a:buChar char="•"/>
            </a:pPr>
            <a:r>
              <a:rPr lang="en-US" b="1" dirty="0" err="1"/>
              <a:t>SimScript</a:t>
            </a:r>
            <a:r>
              <a:rPr lang="en-US" b="1" dirty="0"/>
              <a:t>:</a:t>
            </a:r>
            <a:r>
              <a:rPr lang="en-US" dirty="0"/>
              <a:t> Still used for highly specialized military and transport simulations.</a:t>
            </a:r>
          </a:p>
          <a:p>
            <a:pPr>
              <a:buFont typeface="Arial" panose="020B0604020202020204" pitchFamily="34" charset="0"/>
              <a:buChar char="•"/>
            </a:pPr>
            <a:r>
              <a:rPr lang="en-US" b="1" dirty="0"/>
              <a:t>GPSS:</a:t>
            </a:r>
            <a:r>
              <a:rPr lang="en-US" dirty="0"/>
              <a:t> Primarily an educational tool to introduce simulation concepts.</a:t>
            </a:r>
          </a:p>
          <a:p>
            <a:endParaRPr lang="en-US" dirty="0"/>
          </a:p>
        </p:txBody>
      </p:sp>
      <p:sp>
        <p:nvSpPr>
          <p:cNvPr id="4" name="Slide Number Placeholder 3"/>
          <p:cNvSpPr>
            <a:spLocks noGrp="1"/>
          </p:cNvSpPr>
          <p:nvPr>
            <p:ph type="sldNum" sz="quarter" idx="5"/>
          </p:nvPr>
        </p:nvSpPr>
        <p:spPr/>
        <p:txBody>
          <a:bodyPr/>
          <a:lstStyle/>
          <a:p>
            <a:fld id="{39DB57BE-A21A-4DE0-A2FF-0F4A0CC619B5}" type="slidenum">
              <a:rPr lang="en-US" smtClean="0"/>
              <a:t>15</a:t>
            </a:fld>
            <a:endParaRPr lang="en-US"/>
          </a:p>
        </p:txBody>
      </p:sp>
    </p:spTree>
    <p:extLst>
      <p:ext uri="{BB962C8B-B14F-4D97-AF65-F5344CB8AC3E}">
        <p14:creationId xmlns:p14="http://schemas.microsoft.com/office/powerpoint/2010/main" val="3927536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Kapil Dev Pant</a:t>
            </a:r>
          </a:p>
        </p:txBody>
      </p:sp>
      <p:sp>
        <p:nvSpPr>
          <p:cNvPr id="4" name="Date Placeholder 3"/>
          <p:cNvSpPr>
            <a:spLocks noGrp="1"/>
          </p:cNvSpPr>
          <p:nvPr>
            <p:ph type="dt" sz="half" idx="10"/>
          </p:nvPr>
        </p:nvSpPr>
        <p:spPr/>
        <p:txBody>
          <a:bodyPr/>
          <a:lstStyle/>
          <a:p>
            <a:fld id="{8144AF7A-2460-4CD4-8D58-F9EDCA0FDD42}"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3296680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544F4-8D0D-446C-ACEA-F975AE79FC92}"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2230068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DDC0A0-7BAC-449C-9DBE-1FB2677773A9}"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397333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39EFBB-93EE-4550-953F-FFDD60037862}" type="datetime1">
              <a:rPr lang="en-US" smtClean="0"/>
              <a:t>12/28/2025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1574382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B3A134-4AAB-4769-8FF4-4D45A6F1F8BA}" type="datetime1">
              <a:rPr lang="en-US" smtClean="0"/>
              <a:t>12/28/2025</a:t>
            </a:fld>
            <a:endParaRPr lang="en-US"/>
          </a:p>
        </p:txBody>
      </p:sp>
      <p:sp>
        <p:nvSpPr>
          <p:cNvPr id="8" name="Footer Placeholder 7"/>
          <p:cNvSpPr>
            <a:spLocks noGrp="1"/>
          </p:cNvSpPr>
          <p:nvPr>
            <p:ph type="ftr" sz="quarter" idx="11"/>
          </p:nvPr>
        </p:nvSpPr>
        <p:spPr/>
        <p:txBody>
          <a:bodyPr/>
          <a:lstStyle/>
          <a:p>
            <a:r>
              <a:rPr lang="nb-NO"/>
              <a:t>Kapil@nast.edu.np || kapilpant157</a:t>
            </a:r>
            <a:endParaRPr lang="en-US"/>
          </a:p>
        </p:txBody>
      </p:sp>
      <p:sp>
        <p:nvSpPr>
          <p:cNvPr id="9" name="Slide Number Placeholder 8"/>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4045598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356439-5BCC-4E68-B042-BDE12141CFBF}" type="datetime1">
              <a:rPr lang="en-US" smtClean="0"/>
              <a:t>12/28/2025</a:t>
            </a:fld>
            <a:endParaRPr lang="en-US"/>
          </a:p>
        </p:txBody>
      </p:sp>
      <p:sp>
        <p:nvSpPr>
          <p:cNvPr id="4" name="Footer Placeholder 3"/>
          <p:cNvSpPr>
            <a:spLocks noGrp="1"/>
          </p:cNvSpPr>
          <p:nvPr>
            <p:ph type="ftr" sz="quarter" idx="11"/>
          </p:nvPr>
        </p:nvSpPr>
        <p:spPr/>
        <p:txBody>
          <a:bodyPr/>
          <a:lstStyle/>
          <a:p>
            <a:r>
              <a:rPr lang="nb-NO"/>
              <a:t>Kapil@nast.edu.np || kapilpant157</a:t>
            </a:r>
            <a:endParaRPr lang="en-US"/>
          </a:p>
        </p:txBody>
      </p:sp>
      <p:sp>
        <p:nvSpPr>
          <p:cNvPr id="5" name="Slide Number Placeholder 4"/>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1890716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3F2502-6FBD-4063-B46A-10E778B30AB6}" type="datetime1">
              <a:rPr lang="en-US" smtClean="0"/>
              <a:t>12/28/2025</a:t>
            </a:fld>
            <a:endParaRPr lang="en-US"/>
          </a:p>
        </p:txBody>
      </p:sp>
      <p:sp>
        <p:nvSpPr>
          <p:cNvPr id="3" name="Footer Placeholder 2"/>
          <p:cNvSpPr>
            <a:spLocks noGrp="1"/>
          </p:cNvSpPr>
          <p:nvPr>
            <p:ph type="ftr" sz="quarter" idx="11"/>
          </p:nvPr>
        </p:nvSpPr>
        <p:spPr/>
        <p:txBody>
          <a:bodyPr/>
          <a:lstStyle/>
          <a:p>
            <a:r>
              <a:rPr lang="nb-NO"/>
              <a:t>Kapil@nast.edu.np || kapilpant157</a:t>
            </a:r>
            <a:endParaRPr lang="en-US"/>
          </a:p>
        </p:txBody>
      </p:sp>
      <p:sp>
        <p:nvSpPr>
          <p:cNvPr id="4" name="Slide Number Placeholder 3"/>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1005899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F94A9B-2CCD-4D69-AC6C-55D3F88409FE}" type="datetime1">
              <a:rPr lang="en-US" smtClean="0"/>
              <a:t>12/28/2025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3703472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50BB33-A06F-4303-893B-E65A87A64904}" type="datetime1">
              <a:rPr lang="en-US" smtClean="0"/>
              <a:t>12/28/2025</a:t>
            </a:fld>
            <a:endParaRPr lang="en-US"/>
          </a:p>
        </p:txBody>
      </p:sp>
      <p:sp>
        <p:nvSpPr>
          <p:cNvPr id="6" name="Footer Placeholder 5"/>
          <p:cNvSpPr>
            <a:spLocks noGrp="1"/>
          </p:cNvSpPr>
          <p:nvPr>
            <p:ph type="ftr" sz="quarter" idx="11"/>
          </p:nvPr>
        </p:nvSpPr>
        <p:spPr/>
        <p:txBody>
          <a:bodyPr/>
          <a:lstStyle/>
          <a:p>
            <a:r>
              <a:rPr lang="nb-NO"/>
              <a:t>Kapil@nast.edu.np || kapilpant157</a:t>
            </a:r>
            <a:endParaRPr lang="en-US"/>
          </a:p>
        </p:txBody>
      </p:sp>
      <p:sp>
        <p:nvSpPr>
          <p:cNvPr id="7" name="Slide Number Placeholder 6"/>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2104084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449662-43A5-4D9E-A075-7CD9EFB20521}"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3846716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E7F54D-4766-4B01-AABA-442927451989}"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4161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5E5237-6163-405A-92B4-A2375785013F}"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21834609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E9FAFC-23A6-4DBD-A5AA-ADD1084C5D9D}"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04980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96D7F3-35E8-4AF7-B32A-EE8B3E5BD795}"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4139065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869984-487D-475A-B613-030B4C3E51A5}"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2529020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C5B6F1-67EF-4011-88D4-20726E1D6238}" type="datetime1">
              <a:rPr lang="en-US" smtClean="0"/>
              <a:t>12/28/2025</a:t>
            </a:fld>
            <a:endParaRPr lang="en-US"/>
          </a:p>
        </p:txBody>
      </p:sp>
      <p:sp>
        <p:nvSpPr>
          <p:cNvPr id="5" name="Footer Placeholder 4"/>
          <p:cNvSpPr>
            <a:spLocks noGrp="1"/>
          </p:cNvSpPr>
          <p:nvPr>
            <p:ph type="ftr" sz="quarter" idx="11"/>
          </p:nvPr>
        </p:nvSpPr>
        <p:spPr/>
        <p:txBody>
          <a:bodyPr/>
          <a:lstStyle/>
          <a:p>
            <a:r>
              <a:rPr lang="nb-NO"/>
              <a:t>Kapil@nast.edu.np || kapilpant157</a:t>
            </a:r>
            <a:endParaRPr lang="en-US"/>
          </a:p>
        </p:txBody>
      </p:sp>
      <p:sp>
        <p:nvSpPr>
          <p:cNvPr id="6" name="Slide Number Placeholder 5"/>
          <p:cNvSpPr>
            <a:spLocks noGrp="1"/>
          </p:cNvSpPr>
          <p:nvPr>
            <p:ph type="sldNum" sz="quarter" idx="12"/>
          </p:nvPr>
        </p:nvSpPr>
        <p:spPr/>
        <p:txBody>
          <a:bodyPr/>
          <a:lstStyle/>
          <a:p>
            <a:fld id="{B435D874-C54E-4AFA-A18B-DD91C43C45DD}" type="slidenum">
              <a:rPr lang="en-US" smtClean="0"/>
              <a:t>‹#›</a:t>
            </a:fld>
            <a:endParaRPr lang="en-US"/>
          </a:p>
        </p:txBody>
      </p:sp>
    </p:spTree>
    <p:extLst>
      <p:ext uri="{BB962C8B-B14F-4D97-AF65-F5344CB8AC3E}">
        <p14:creationId xmlns:p14="http://schemas.microsoft.com/office/powerpoint/2010/main" val="328387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A1940C1-D532-4971-B4AB-1854AB70EF10}" type="datetime1">
              <a:rPr lang="en-US" smtClean="0"/>
              <a:t>12/28/2025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nb-NO"/>
              <a:t>Kapil@nast.edu.np || kapilpant157</a:t>
            </a:r>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435D874-C54E-4AFA-A18B-DD91C43C45DD}" type="slidenum">
              <a:rPr lang="en-US" smtClean="0"/>
              <a:t>‹#›</a:t>
            </a:fld>
            <a:endParaRPr lang="en-US"/>
          </a:p>
        </p:txBody>
      </p:sp>
    </p:spTree>
    <p:extLst>
      <p:ext uri="{BB962C8B-B14F-4D97-AF65-F5344CB8AC3E}">
        <p14:creationId xmlns:p14="http://schemas.microsoft.com/office/powerpoint/2010/main" val="27454408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F9CA3-EC84-E239-5447-BBB562A56ACE}"/>
              </a:ext>
            </a:extLst>
          </p:cNvPr>
          <p:cNvSpPr>
            <a:spLocks noGrp="1"/>
          </p:cNvSpPr>
          <p:nvPr>
            <p:ph type="ctrTitle"/>
          </p:nvPr>
        </p:nvSpPr>
        <p:spPr>
          <a:xfrm>
            <a:off x="1507067" y="1782698"/>
            <a:ext cx="7766936" cy="1646302"/>
          </a:xfrm>
        </p:spPr>
        <p:txBody>
          <a:bodyPr/>
          <a:lstStyle/>
          <a:p>
            <a:r>
              <a:rPr lang="en-US" sz="5400" kern="100" dirty="0">
                <a:effectLst/>
                <a:latin typeface="Aptos" panose="020B0004020202020204" pitchFamily="34" charset="0"/>
                <a:ea typeface="Aptos" panose="020B0004020202020204" pitchFamily="34" charset="0"/>
                <a:cs typeface="Mangal" panose="02040503050203030202" pitchFamily="18" charset="0"/>
              </a:rPr>
              <a:t>Discrete System Simulation</a:t>
            </a:r>
            <a:endParaRPr lang="en-US" dirty="0"/>
          </a:p>
        </p:txBody>
      </p:sp>
      <p:sp>
        <p:nvSpPr>
          <p:cNvPr id="3" name="Subtitle 2">
            <a:extLst>
              <a:ext uri="{FF2B5EF4-FFF2-40B4-BE49-F238E27FC236}">
                <a16:creationId xmlns:a16="http://schemas.microsoft.com/office/drawing/2014/main" id="{8D634109-CB31-4E57-598B-850CB97C571E}"/>
              </a:ext>
            </a:extLst>
          </p:cNvPr>
          <p:cNvSpPr>
            <a:spLocks noGrp="1"/>
          </p:cNvSpPr>
          <p:nvPr>
            <p:ph type="subTitle" idx="1"/>
          </p:nvPr>
        </p:nvSpPr>
        <p:spPr/>
        <p:txBody>
          <a:bodyPr/>
          <a:lstStyle/>
          <a:p>
            <a:r>
              <a:rPr lang="en-US" dirty="0"/>
              <a:t>Kapil Dev Pant</a:t>
            </a:r>
          </a:p>
        </p:txBody>
      </p:sp>
      <p:sp>
        <p:nvSpPr>
          <p:cNvPr id="4" name="Footer Placeholder 3">
            <a:extLst>
              <a:ext uri="{FF2B5EF4-FFF2-40B4-BE49-F238E27FC236}">
                <a16:creationId xmlns:a16="http://schemas.microsoft.com/office/drawing/2014/main" id="{C598773A-F968-4BB4-23A5-AFECC5D66F2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859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62784-EED4-BAD1-AEBF-4B639A1D594C}"/>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F494E705-C030-142D-BCA4-2BDB1BE919F5}"/>
              </a:ext>
            </a:extLst>
          </p:cNvPr>
          <p:cNvSpPr>
            <a:spLocks noGrp="1"/>
          </p:cNvSpPr>
          <p:nvPr>
            <p:ph idx="1"/>
          </p:nvPr>
        </p:nvSpPr>
        <p:spPr/>
        <p:txBody>
          <a:bodyPr>
            <a:normAutofit lnSpcReduction="10000"/>
          </a:bodyPr>
          <a:lstStyle/>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Discrete System Simulation</a:t>
            </a:r>
          </a:p>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Representation of Time</a:t>
            </a:r>
          </a:p>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Generation of Arrival patterns</a:t>
            </a:r>
          </a:p>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Simulation of Telephone System</a:t>
            </a:r>
          </a:p>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Gathering Statistics</a:t>
            </a:r>
          </a:p>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Counters and Summary Statistics</a:t>
            </a:r>
          </a:p>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Measuring Utilization and Occupancy</a:t>
            </a:r>
          </a:p>
          <a:p>
            <a:pPr marL="342900" marR="0" lvl="0" indent="-342900">
              <a:lnSpc>
                <a:spcPct val="115000"/>
              </a:lnSpc>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Recording Distribution and Transit Time</a:t>
            </a:r>
          </a:p>
          <a:p>
            <a:pPr marL="342900" marR="0" lvl="0" indent="-342900">
              <a:lnSpc>
                <a:spcPct val="115000"/>
              </a:lnSpc>
              <a:spcAft>
                <a:spcPts val="800"/>
              </a:spcAft>
              <a:buFont typeface="+mj-lt"/>
              <a:buAutoNum type="arabicPeriod"/>
            </a:pPr>
            <a:r>
              <a:rPr lang="en-US" sz="1800" kern="100" dirty="0">
                <a:effectLst/>
                <a:latin typeface="Aptos" panose="020B0004020202020204" pitchFamily="34" charset="0"/>
                <a:ea typeface="Aptos" panose="020B0004020202020204" pitchFamily="34" charset="0"/>
                <a:cs typeface="Mangal" panose="02040503050203030202" pitchFamily="18" charset="0"/>
              </a:rPr>
              <a:t>Discrete Simulation Language</a:t>
            </a:r>
          </a:p>
        </p:txBody>
      </p:sp>
      <p:sp>
        <p:nvSpPr>
          <p:cNvPr id="4" name="Footer Placeholder 3">
            <a:extLst>
              <a:ext uri="{FF2B5EF4-FFF2-40B4-BE49-F238E27FC236}">
                <a16:creationId xmlns:a16="http://schemas.microsoft.com/office/drawing/2014/main" id="{F99990CB-A275-00FD-DFFB-B2A8DD91907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00437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C78A1-C358-383B-A47F-DF3C667F58DF}"/>
              </a:ext>
            </a:extLst>
          </p:cNvPr>
          <p:cNvSpPr>
            <a:spLocks noGrp="1"/>
          </p:cNvSpPr>
          <p:nvPr>
            <p:ph type="title"/>
          </p:nvPr>
        </p:nvSpPr>
        <p:spPr/>
        <p:txBody>
          <a:bodyPr/>
          <a:lstStyle/>
          <a:p>
            <a:r>
              <a:rPr lang="en-US" sz="3600" kern="100" dirty="0">
                <a:effectLst/>
                <a:latin typeface="Aptos" panose="020B0004020202020204" pitchFamily="34" charset="0"/>
                <a:ea typeface="Aptos" panose="020B0004020202020204" pitchFamily="34" charset="0"/>
                <a:cs typeface="Mangal" panose="02040503050203030202" pitchFamily="18" charset="0"/>
              </a:rPr>
              <a:t>Discrete System Simulation</a:t>
            </a:r>
            <a:br>
              <a:rPr lang="en-US" sz="3600" kern="100" dirty="0">
                <a:effectLst/>
                <a:latin typeface="Aptos" panose="020B0004020202020204" pitchFamily="34" charset="0"/>
                <a:ea typeface="Aptos" panose="020B0004020202020204" pitchFamily="34" charset="0"/>
                <a:cs typeface="Mangal" panose="02040503050203030202" pitchFamily="18" charset="0"/>
              </a:rPr>
            </a:br>
            <a:endParaRPr lang="en-US" dirty="0"/>
          </a:p>
        </p:txBody>
      </p:sp>
      <p:sp>
        <p:nvSpPr>
          <p:cNvPr id="3" name="Content Placeholder 2">
            <a:extLst>
              <a:ext uri="{FF2B5EF4-FFF2-40B4-BE49-F238E27FC236}">
                <a16:creationId xmlns:a16="http://schemas.microsoft.com/office/drawing/2014/main" id="{0AE821B0-CA45-1745-E550-87FCDD6779AC}"/>
              </a:ext>
            </a:extLst>
          </p:cNvPr>
          <p:cNvSpPr>
            <a:spLocks noGrp="1"/>
          </p:cNvSpPr>
          <p:nvPr>
            <p:ph idx="1"/>
          </p:nvPr>
        </p:nvSpPr>
        <p:spPr/>
        <p:txBody>
          <a:bodyPr/>
          <a:lstStyle/>
          <a:p>
            <a:r>
              <a:rPr lang="en-US" dirty="0"/>
              <a:t>Models systems where events occur at discrete points in time.</a:t>
            </a:r>
          </a:p>
          <a:p>
            <a:r>
              <a:rPr lang="en-US" b="1" dirty="0"/>
              <a:t>Key Features: </a:t>
            </a:r>
            <a:r>
              <a:rPr lang="en-US" dirty="0"/>
              <a:t>State changes at specific times. Rest we ignore.</a:t>
            </a:r>
          </a:p>
          <a:p>
            <a:pPr lvl="1"/>
            <a:r>
              <a:rPr lang="en-US" dirty="0"/>
              <a:t>Each change is called an </a:t>
            </a:r>
            <a:r>
              <a:rPr lang="en-US" b="1" dirty="0"/>
              <a:t>EVENT</a:t>
            </a:r>
            <a:r>
              <a:rPr lang="en-US" dirty="0"/>
              <a:t>.</a:t>
            </a:r>
          </a:p>
          <a:p>
            <a:pPr lvl="1"/>
            <a:r>
              <a:rPr lang="en-US" dirty="0" err="1"/>
              <a:t>Eg</a:t>
            </a:r>
            <a:r>
              <a:rPr lang="en-US" dirty="0"/>
              <a:t>: arrival or departure of customer.</a:t>
            </a:r>
          </a:p>
          <a:p>
            <a:pPr lvl="1"/>
            <a:r>
              <a:rPr lang="en-US" dirty="0"/>
              <a:t>We use </a:t>
            </a:r>
            <a:r>
              <a:rPr lang="en-US" b="1" dirty="0"/>
              <a:t>state descriptor</a:t>
            </a:r>
            <a:r>
              <a:rPr lang="en-US" dirty="0"/>
              <a:t> to represent state of system</a:t>
            </a:r>
          </a:p>
          <a:p>
            <a:r>
              <a:rPr lang="en-US" b="1" dirty="0"/>
              <a:t>Applications: </a:t>
            </a:r>
          </a:p>
          <a:p>
            <a:pPr lvl="1"/>
            <a:r>
              <a:rPr lang="en-US" dirty="0"/>
              <a:t>Manufacturing</a:t>
            </a:r>
          </a:p>
          <a:p>
            <a:pPr lvl="1"/>
            <a:r>
              <a:rPr lang="en-US" dirty="0"/>
              <a:t>Communication systems</a:t>
            </a:r>
          </a:p>
          <a:p>
            <a:pPr lvl="1"/>
            <a:r>
              <a:rPr lang="en-US" dirty="0"/>
              <a:t>Logistics.</a:t>
            </a:r>
          </a:p>
          <a:p>
            <a:endParaRPr lang="en-US" dirty="0"/>
          </a:p>
          <a:p>
            <a:endParaRPr lang="en-US" dirty="0"/>
          </a:p>
        </p:txBody>
      </p:sp>
      <p:sp>
        <p:nvSpPr>
          <p:cNvPr id="4" name="Footer Placeholder 3">
            <a:extLst>
              <a:ext uri="{FF2B5EF4-FFF2-40B4-BE49-F238E27FC236}">
                <a16:creationId xmlns:a16="http://schemas.microsoft.com/office/drawing/2014/main" id="{2CF9F780-B4B3-D9AF-21D5-0757688C5D7B}"/>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390946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A419B-C1DE-81D7-77D5-02CEC3FB4295}"/>
              </a:ext>
            </a:extLst>
          </p:cNvPr>
          <p:cNvSpPr>
            <a:spLocks noGrp="1"/>
          </p:cNvSpPr>
          <p:nvPr>
            <p:ph type="title"/>
          </p:nvPr>
        </p:nvSpPr>
        <p:spPr/>
        <p:txBody>
          <a:bodyPr/>
          <a:lstStyle/>
          <a:p>
            <a:r>
              <a:rPr lang="en-US" dirty="0"/>
              <a:t>LIFT example</a:t>
            </a:r>
          </a:p>
        </p:txBody>
      </p:sp>
      <p:sp>
        <p:nvSpPr>
          <p:cNvPr id="3" name="Content Placeholder 2">
            <a:extLst>
              <a:ext uri="{FF2B5EF4-FFF2-40B4-BE49-F238E27FC236}">
                <a16:creationId xmlns:a16="http://schemas.microsoft.com/office/drawing/2014/main" id="{1B3B7E76-6D18-3553-4371-8D6EB25497F2}"/>
              </a:ext>
            </a:extLst>
          </p:cNvPr>
          <p:cNvSpPr>
            <a:spLocks noGrp="1"/>
          </p:cNvSpPr>
          <p:nvPr>
            <p:ph idx="1"/>
          </p:nvPr>
        </p:nvSpPr>
        <p:spPr/>
        <p:txBody>
          <a:bodyPr/>
          <a:lstStyle/>
          <a:p>
            <a:r>
              <a:rPr lang="en-US" dirty="0"/>
              <a:t>Door open</a:t>
            </a:r>
          </a:p>
          <a:p>
            <a:r>
              <a:rPr lang="en-US" dirty="0"/>
              <a:t>Passenger enter &amp; push button</a:t>
            </a:r>
          </a:p>
          <a:p>
            <a:r>
              <a:rPr lang="en-US" dirty="0"/>
              <a:t>Door closes and lifts starts to move</a:t>
            </a:r>
          </a:p>
          <a:p>
            <a:r>
              <a:rPr lang="en-US" dirty="0"/>
              <a:t>Lift stops at the desired floor</a:t>
            </a:r>
          </a:p>
          <a:p>
            <a:r>
              <a:rPr lang="en-US" dirty="0"/>
              <a:t>Door opens and passenger gets out</a:t>
            </a:r>
          </a:p>
          <a:p>
            <a:r>
              <a:rPr lang="en-US" dirty="0"/>
              <a:t>Door closes again</a:t>
            </a:r>
          </a:p>
        </p:txBody>
      </p:sp>
      <p:pic>
        <p:nvPicPr>
          <p:cNvPr id="5" name="Picture 4">
            <a:extLst>
              <a:ext uri="{FF2B5EF4-FFF2-40B4-BE49-F238E27FC236}">
                <a16:creationId xmlns:a16="http://schemas.microsoft.com/office/drawing/2014/main" id="{4BD7A121-E710-AC67-520B-60AAA2E751C9}"/>
              </a:ext>
            </a:extLst>
          </p:cNvPr>
          <p:cNvPicPr>
            <a:picLocks noChangeAspect="1"/>
          </p:cNvPicPr>
          <p:nvPr/>
        </p:nvPicPr>
        <p:blipFill>
          <a:blip r:embed="rId3"/>
          <a:stretch>
            <a:fillRect/>
          </a:stretch>
        </p:blipFill>
        <p:spPr>
          <a:xfrm>
            <a:off x="4771691" y="1930400"/>
            <a:ext cx="4782217" cy="3400900"/>
          </a:xfrm>
          <a:prstGeom prst="rect">
            <a:avLst/>
          </a:prstGeom>
        </p:spPr>
      </p:pic>
      <p:sp>
        <p:nvSpPr>
          <p:cNvPr id="4" name="Footer Placeholder 3">
            <a:extLst>
              <a:ext uri="{FF2B5EF4-FFF2-40B4-BE49-F238E27FC236}">
                <a16:creationId xmlns:a16="http://schemas.microsoft.com/office/drawing/2014/main" id="{05DB55ED-5C2B-6A6C-6D14-47494566F66A}"/>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55102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FBBE-4311-9A8C-EF26-FA6D2E42B919}"/>
              </a:ext>
            </a:extLst>
          </p:cNvPr>
          <p:cNvSpPr>
            <a:spLocks noGrp="1"/>
          </p:cNvSpPr>
          <p:nvPr>
            <p:ph type="title"/>
          </p:nvPr>
        </p:nvSpPr>
        <p:spPr/>
        <p:txBody>
          <a:bodyPr/>
          <a:lstStyle/>
          <a:p>
            <a:r>
              <a:rPr lang="en-US" dirty="0"/>
              <a:t>Representation of Time</a:t>
            </a:r>
          </a:p>
        </p:txBody>
      </p:sp>
      <p:sp>
        <p:nvSpPr>
          <p:cNvPr id="3" name="Content Placeholder 2">
            <a:extLst>
              <a:ext uri="{FF2B5EF4-FFF2-40B4-BE49-F238E27FC236}">
                <a16:creationId xmlns:a16="http://schemas.microsoft.com/office/drawing/2014/main" id="{C6FC3938-6E69-78B0-2379-E6A6D8F6D2EF}"/>
              </a:ext>
            </a:extLst>
          </p:cNvPr>
          <p:cNvSpPr>
            <a:spLocks noGrp="1"/>
          </p:cNvSpPr>
          <p:nvPr>
            <p:ph idx="1"/>
          </p:nvPr>
        </p:nvSpPr>
        <p:spPr/>
        <p:txBody>
          <a:bodyPr>
            <a:normAutofit lnSpcReduction="10000"/>
          </a:bodyPr>
          <a:lstStyle/>
          <a:p>
            <a:pPr lvl="1"/>
            <a:r>
              <a:rPr lang="en-US" u="sng" dirty="0"/>
              <a:t>Event Scheduling</a:t>
            </a:r>
            <a:r>
              <a:rPr lang="en-US" dirty="0"/>
              <a:t>: </a:t>
            </a:r>
          </a:p>
          <a:p>
            <a:pPr marL="457200" lvl="1" indent="0">
              <a:buNone/>
            </a:pPr>
            <a:r>
              <a:rPr lang="en-US" dirty="0"/>
              <a:t>Focuses on exact times when specific events occur.</a:t>
            </a:r>
          </a:p>
          <a:p>
            <a:pPr marL="457200" lvl="1" indent="0">
              <a:buNone/>
            </a:pPr>
            <a:r>
              <a:rPr lang="en-US" dirty="0"/>
              <a:t>The simulation clock jumps to the next scheduled event, skipping periods of inactivity.</a:t>
            </a:r>
          </a:p>
          <a:p>
            <a:pPr marL="457200" lvl="1" indent="0">
              <a:buNone/>
            </a:pPr>
            <a:r>
              <a:rPr lang="en-US" dirty="0"/>
              <a:t>Example: </a:t>
            </a:r>
          </a:p>
          <a:p>
            <a:pPr marL="457200" lvl="1" indent="0">
              <a:buNone/>
            </a:pPr>
            <a:r>
              <a:rPr lang="en-US" dirty="0"/>
              <a:t>In a call center simulation, the clock advances directly to the time of the next incoming call or completed call.</a:t>
            </a:r>
          </a:p>
          <a:p>
            <a:pPr lvl="1"/>
            <a:r>
              <a:rPr lang="en-US" u="sng" dirty="0"/>
              <a:t>Time Slicing (Fixed time step)</a:t>
            </a:r>
            <a:r>
              <a:rPr lang="en-US" dirty="0"/>
              <a:t>:</a:t>
            </a:r>
          </a:p>
          <a:p>
            <a:pPr marL="457200" lvl="1" indent="0">
              <a:buNone/>
            </a:pPr>
            <a:r>
              <a:rPr lang="en-US" dirty="0"/>
              <a:t>Simulates every time unit regardless of activity (whether events occur or not).</a:t>
            </a:r>
          </a:p>
          <a:p>
            <a:pPr marL="457200" lvl="1" indent="0">
              <a:buNone/>
            </a:pPr>
            <a:r>
              <a:rPr lang="en-US" dirty="0"/>
              <a:t>Divides time into equal intervals and checks for events at the end of each slice.</a:t>
            </a:r>
          </a:p>
          <a:p>
            <a:pPr marL="457200" lvl="1" indent="0">
              <a:buNone/>
            </a:pPr>
            <a:r>
              <a:rPr lang="en-US" dirty="0"/>
              <a:t>Example:</a:t>
            </a:r>
          </a:p>
          <a:p>
            <a:pPr marL="457200" lvl="1" indent="0">
              <a:buNone/>
            </a:pPr>
            <a:r>
              <a:rPr lang="en-US" dirty="0"/>
              <a:t>In traffic flow simulation, the clock moves in 1-second intervals to check vehicle positions and traffic light states.</a:t>
            </a:r>
          </a:p>
        </p:txBody>
      </p:sp>
      <p:sp>
        <p:nvSpPr>
          <p:cNvPr id="4" name="Footer Placeholder 3">
            <a:extLst>
              <a:ext uri="{FF2B5EF4-FFF2-40B4-BE49-F238E27FC236}">
                <a16:creationId xmlns:a16="http://schemas.microsoft.com/office/drawing/2014/main" id="{3E2ABED2-4E14-7834-D074-C20D6BC89F6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2829565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5D4FD-DEF2-E1A8-96BF-25E2558EEF0B}"/>
              </a:ext>
            </a:extLst>
          </p:cNvPr>
          <p:cNvSpPr>
            <a:spLocks noGrp="1"/>
          </p:cNvSpPr>
          <p:nvPr>
            <p:ph type="title"/>
          </p:nvPr>
        </p:nvSpPr>
        <p:spPr/>
        <p:txBody>
          <a:bodyPr/>
          <a:lstStyle/>
          <a:p>
            <a:r>
              <a:rPr lang="en-US" dirty="0"/>
              <a:t>When to choose what ? </a:t>
            </a:r>
          </a:p>
        </p:txBody>
      </p:sp>
      <p:sp>
        <p:nvSpPr>
          <p:cNvPr id="3" name="Content Placeholder 2">
            <a:extLst>
              <a:ext uri="{FF2B5EF4-FFF2-40B4-BE49-F238E27FC236}">
                <a16:creationId xmlns:a16="http://schemas.microsoft.com/office/drawing/2014/main" id="{8FF9A2AB-D5D4-730E-0A4F-5ACB2A312A0C}"/>
              </a:ext>
            </a:extLst>
          </p:cNvPr>
          <p:cNvSpPr>
            <a:spLocks noGrp="1"/>
          </p:cNvSpPr>
          <p:nvPr>
            <p:ph idx="1"/>
          </p:nvPr>
        </p:nvSpPr>
        <p:spPr/>
        <p:txBody>
          <a:bodyPr/>
          <a:lstStyle/>
          <a:p>
            <a:r>
              <a:rPr lang="en-US" dirty="0"/>
              <a:t>Event Scheduling is preferable when:</a:t>
            </a:r>
          </a:p>
          <a:p>
            <a:pPr lvl="1"/>
            <a:r>
              <a:rPr lang="en-US" dirty="0"/>
              <a:t>Events are sparse and irregular.</a:t>
            </a:r>
          </a:p>
          <a:p>
            <a:pPr lvl="1"/>
            <a:r>
              <a:rPr lang="en-US" dirty="0"/>
              <a:t>High computational efficiency is needed.</a:t>
            </a:r>
          </a:p>
          <a:p>
            <a:r>
              <a:rPr lang="en-US" dirty="0"/>
              <a:t>Time Slicing is preferable when:</a:t>
            </a:r>
          </a:p>
          <a:p>
            <a:pPr lvl="1"/>
            <a:r>
              <a:rPr lang="en-US" dirty="0"/>
              <a:t>Events occur frequently or at regular intervals.</a:t>
            </a:r>
          </a:p>
          <a:p>
            <a:pPr lvl="1"/>
            <a:r>
              <a:rPr lang="en-US" dirty="0"/>
              <a:t>Continuous system states are being tracked.</a:t>
            </a:r>
          </a:p>
          <a:p>
            <a:pPr marL="457200" lvl="1" indent="0">
              <a:buNone/>
            </a:pPr>
            <a:endParaRPr lang="en-US" dirty="0"/>
          </a:p>
          <a:p>
            <a:pPr marL="457200" lvl="1" indent="0">
              <a:buNone/>
            </a:pPr>
            <a:r>
              <a:rPr lang="en-US" dirty="0"/>
              <a:t>Some simulations combine both methods, using event scheduling for major events and time slicing for sub-events or system monitoring. </a:t>
            </a:r>
            <a:r>
              <a:rPr lang="en-US" dirty="0">
                <a:sym typeface="Wingdings" panose="05000000000000000000" pitchFamily="2" charset="2"/>
              </a:rPr>
              <a:t> Called as Hybrid Approach</a:t>
            </a:r>
            <a:r>
              <a:rPr lang="en-US" dirty="0"/>
              <a:t> </a:t>
            </a:r>
          </a:p>
        </p:txBody>
      </p:sp>
      <p:sp>
        <p:nvSpPr>
          <p:cNvPr id="4" name="Footer Placeholder 3">
            <a:extLst>
              <a:ext uri="{FF2B5EF4-FFF2-40B4-BE49-F238E27FC236}">
                <a16:creationId xmlns:a16="http://schemas.microsoft.com/office/drawing/2014/main" id="{1C66CE21-7C63-74C4-AF18-820538244943}"/>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3754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AE6D3-B926-FCD4-8938-183BE718063F}"/>
              </a:ext>
            </a:extLst>
          </p:cNvPr>
          <p:cNvSpPr>
            <a:spLocks noGrp="1"/>
          </p:cNvSpPr>
          <p:nvPr>
            <p:ph type="title"/>
          </p:nvPr>
        </p:nvSpPr>
        <p:spPr/>
        <p:txBody>
          <a:bodyPr/>
          <a:lstStyle/>
          <a:p>
            <a:r>
              <a:rPr lang="en-US" dirty="0"/>
              <a:t>Generation of Arrival Patterns</a:t>
            </a:r>
          </a:p>
        </p:txBody>
      </p:sp>
      <p:sp>
        <p:nvSpPr>
          <p:cNvPr id="3" name="Content Placeholder 2">
            <a:extLst>
              <a:ext uri="{FF2B5EF4-FFF2-40B4-BE49-F238E27FC236}">
                <a16:creationId xmlns:a16="http://schemas.microsoft.com/office/drawing/2014/main" id="{29287DF6-E53B-A95A-8885-C37D0BD23937}"/>
              </a:ext>
            </a:extLst>
          </p:cNvPr>
          <p:cNvSpPr>
            <a:spLocks noGrp="1"/>
          </p:cNvSpPr>
          <p:nvPr>
            <p:ph idx="1"/>
          </p:nvPr>
        </p:nvSpPr>
        <p:spPr/>
        <p:txBody>
          <a:bodyPr/>
          <a:lstStyle/>
          <a:p>
            <a:r>
              <a:rPr lang="en-US" dirty="0"/>
              <a:t>Patterns describing how entities (calls, tasks) arrive in a system</a:t>
            </a:r>
          </a:p>
          <a:p>
            <a:r>
              <a:rPr lang="en-US" dirty="0"/>
              <a:t>Helps model demand, load, or resource utilization</a:t>
            </a:r>
          </a:p>
          <a:p>
            <a:r>
              <a:rPr lang="en-US" dirty="0"/>
              <a:t>Impacts system performance, such as queue lengths, waiting times, and service efficiency.</a:t>
            </a:r>
          </a:p>
          <a:p>
            <a:r>
              <a:rPr lang="en-US" b="1" dirty="0"/>
              <a:t>TYPES</a:t>
            </a:r>
            <a:r>
              <a:rPr lang="en-US" dirty="0"/>
              <a:t>:</a:t>
            </a:r>
          </a:p>
          <a:p>
            <a:r>
              <a:rPr lang="en-US" dirty="0"/>
              <a:t>Deterministic Patterns</a:t>
            </a:r>
          </a:p>
          <a:p>
            <a:r>
              <a:rPr lang="en-US" dirty="0" err="1"/>
              <a:t>Stocastic</a:t>
            </a:r>
            <a:r>
              <a:rPr lang="en-US" dirty="0"/>
              <a:t> (Random) Patterns</a:t>
            </a:r>
          </a:p>
        </p:txBody>
      </p:sp>
      <p:sp>
        <p:nvSpPr>
          <p:cNvPr id="4" name="Footer Placeholder 3">
            <a:extLst>
              <a:ext uri="{FF2B5EF4-FFF2-40B4-BE49-F238E27FC236}">
                <a16:creationId xmlns:a16="http://schemas.microsoft.com/office/drawing/2014/main" id="{2086B09A-D3EE-0909-4D91-435B4CC40FD9}"/>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839240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387CC-9C6E-C49E-5AE8-8F8E620CE575}"/>
              </a:ext>
            </a:extLst>
          </p:cNvPr>
          <p:cNvSpPr>
            <a:spLocks noGrp="1"/>
          </p:cNvSpPr>
          <p:nvPr>
            <p:ph type="title"/>
          </p:nvPr>
        </p:nvSpPr>
        <p:spPr/>
        <p:txBody>
          <a:bodyPr/>
          <a:lstStyle/>
          <a:p>
            <a:r>
              <a:rPr lang="en-US" dirty="0"/>
              <a:t>Deterministic Generation</a:t>
            </a:r>
          </a:p>
        </p:txBody>
      </p:sp>
      <p:sp>
        <p:nvSpPr>
          <p:cNvPr id="3" name="Content Placeholder 2">
            <a:extLst>
              <a:ext uri="{FF2B5EF4-FFF2-40B4-BE49-F238E27FC236}">
                <a16:creationId xmlns:a16="http://schemas.microsoft.com/office/drawing/2014/main" id="{2017634C-1860-CED1-C04F-8076141885F0}"/>
              </a:ext>
            </a:extLst>
          </p:cNvPr>
          <p:cNvSpPr>
            <a:spLocks noGrp="1"/>
          </p:cNvSpPr>
          <p:nvPr>
            <p:ph idx="1"/>
          </p:nvPr>
        </p:nvSpPr>
        <p:spPr/>
        <p:txBody>
          <a:bodyPr/>
          <a:lstStyle/>
          <a:p>
            <a:r>
              <a:rPr lang="en-US" dirty="0"/>
              <a:t>Use a constant time step to add arrivals.</a:t>
            </a:r>
          </a:p>
          <a:p>
            <a:r>
              <a:rPr lang="en-US" dirty="0"/>
              <a:t>Formula:  </a:t>
            </a:r>
            <a:r>
              <a:rPr lang="en-US" sz="3600" dirty="0"/>
              <a:t>𝑡𝑖=𝑡0+𝑖⋅</a:t>
            </a:r>
            <a:r>
              <a:rPr lang="el-GR" sz="3600" dirty="0"/>
              <a:t>Δ</a:t>
            </a:r>
            <a:r>
              <a:rPr lang="en-US" sz="3600" dirty="0"/>
              <a:t>t</a:t>
            </a:r>
            <a:endParaRPr lang="en-US" dirty="0"/>
          </a:p>
          <a:p>
            <a:r>
              <a:rPr lang="en-US" dirty="0"/>
              <a:t>t0​ : Start time, </a:t>
            </a:r>
            <a:r>
              <a:rPr lang="el-GR" dirty="0"/>
              <a:t>Δ</a:t>
            </a:r>
            <a:r>
              <a:rPr lang="en-US" dirty="0"/>
              <a:t>t: Fixed interval, 𝑖: Event index.</a:t>
            </a:r>
          </a:p>
        </p:txBody>
      </p:sp>
      <p:sp>
        <p:nvSpPr>
          <p:cNvPr id="4" name="Footer Placeholder 3">
            <a:extLst>
              <a:ext uri="{FF2B5EF4-FFF2-40B4-BE49-F238E27FC236}">
                <a16:creationId xmlns:a16="http://schemas.microsoft.com/office/drawing/2014/main" id="{CC97D90C-4C7E-1AE7-9AB0-AEC99E6A8334}"/>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1647562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CAE00-C5CC-0F30-3626-66404F5863D5}"/>
              </a:ext>
            </a:extLst>
          </p:cNvPr>
          <p:cNvSpPr>
            <a:spLocks noGrp="1"/>
          </p:cNvSpPr>
          <p:nvPr>
            <p:ph type="title"/>
          </p:nvPr>
        </p:nvSpPr>
        <p:spPr/>
        <p:txBody>
          <a:bodyPr/>
          <a:lstStyle/>
          <a:p>
            <a:r>
              <a:rPr lang="en-US" dirty="0"/>
              <a:t>Stochastic Generation</a:t>
            </a:r>
          </a:p>
        </p:txBody>
      </p:sp>
      <p:sp>
        <p:nvSpPr>
          <p:cNvPr id="3" name="Content Placeholder 2">
            <a:extLst>
              <a:ext uri="{FF2B5EF4-FFF2-40B4-BE49-F238E27FC236}">
                <a16:creationId xmlns:a16="http://schemas.microsoft.com/office/drawing/2014/main" id="{A06E1B12-9720-7603-46D9-B652067EDF44}"/>
              </a:ext>
            </a:extLst>
          </p:cNvPr>
          <p:cNvSpPr>
            <a:spLocks noGrp="1"/>
          </p:cNvSpPr>
          <p:nvPr>
            <p:ph idx="1"/>
          </p:nvPr>
        </p:nvSpPr>
        <p:spPr/>
        <p:txBody>
          <a:bodyPr/>
          <a:lstStyle/>
          <a:p>
            <a:r>
              <a:rPr lang="en-US" dirty="0"/>
              <a:t>Randomly generate inter-arrival times using probability functions.</a:t>
            </a:r>
          </a:p>
          <a:p>
            <a:r>
              <a:rPr lang="en-US" dirty="0"/>
              <a:t>Algorithm:</a:t>
            </a:r>
          </a:p>
          <a:p>
            <a:pPr lvl="1"/>
            <a:r>
              <a:rPr lang="en-US" dirty="0"/>
              <a:t>Draw random numbers from the desired distribution.</a:t>
            </a:r>
          </a:p>
          <a:p>
            <a:pPr lvl="1"/>
            <a:r>
              <a:rPr lang="en-US" dirty="0"/>
              <a:t>Add these times to determine arrival events.</a:t>
            </a:r>
          </a:p>
          <a:p>
            <a:r>
              <a:rPr lang="en-US" dirty="0"/>
              <a:t>Example for Poisson Process:</a:t>
            </a:r>
          </a:p>
          <a:p>
            <a:pPr lvl="1"/>
            <a:r>
              <a:rPr lang="en-US" dirty="0"/>
              <a:t>Average arrival rate: 10 customers/hour.</a:t>
            </a:r>
          </a:p>
          <a:p>
            <a:pPr lvl="1"/>
            <a:r>
              <a:rPr lang="en-US" dirty="0"/>
              <a:t>Simulated inter-arrival times: [6 min, 12 min, 8 min, 15 min].</a:t>
            </a:r>
          </a:p>
        </p:txBody>
      </p:sp>
      <p:pic>
        <p:nvPicPr>
          <p:cNvPr id="5" name="Picture 4">
            <a:extLst>
              <a:ext uri="{FF2B5EF4-FFF2-40B4-BE49-F238E27FC236}">
                <a16:creationId xmlns:a16="http://schemas.microsoft.com/office/drawing/2014/main" id="{269845C2-9458-97EA-EC8D-228D7DAC9A0C}"/>
              </a:ext>
            </a:extLst>
          </p:cNvPr>
          <p:cNvPicPr>
            <a:picLocks noChangeAspect="1"/>
          </p:cNvPicPr>
          <p:nvPr/>
        </p:nvPicPr>
        <p:blipFill>
          <a:blip r:embed="rId3"/>
          <a:stretch>
            <a:fillRect/>
          </a:stretch>
        </p:blipFill>
        <p:spPr>
          <a:xfrm>
            <a:off x="6839144" y="2871169"/>
            <a:ext cx="3036720" cy="1467749"/>
          </a:xfrm>
          <a:prstGeom prst="rect">
            <a:avLst/>
          </a:prstGeom>
        </p:spPr>
      </p:pic>
      <p:sp>
        <p:nvSpPr>
          <p:cNvPr id="4" name="Footer Placeholder 3">
            <a:extLst>
              <a:ext uri="{FF2B5EF4-FFF2-40B4-BE49-F238E27FC236}">
                <a16:creationId xmlns:a16="http://schemas.microsoft.com/office/drawing/2014/main" id="{EF7A4F83-69E9-08F8-7BE5-B6A88D75A4CE}"/>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179739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50F86-3FFF-0B5E-0F63-6507D1BE46BF}"/>
              </a:ext>
            </a:extLst>
          </p:cNvPr>
          <p:cNvSpPr>
            <a:spLocks noGrp="1"/>
          </p:cNvSpPr>
          <p:nvPr>
            <p:ph type="title"/>
          </p:nvPr>
        </p:nvSpPr>
        <p:spPr/>
        <p:txBody>
          <a:bodyPr/>
          <a:lstStyle/>
          <a:p>
            <a:r>
              <a:rPr lang="en-US" dirty="0"/>
              <a:t>Simulation of Telephone System</a:t>
            </a:r>
          </a:p>
        </p:txBody>
      </p:sp>
      <p:sp>
        <p:nvSpPr>
          <p:cNvPr id="3" name="Content Placeholder 2">
            <a:extLst>
              <a:ext uri="{FF2B5EF4-FFF2-40B4-BE49-F238E27FC236}">
                <a16:creationId xmlns:a16="http://schemas.microsoft.com/office/drawing/2014/main" id="{8C990C4E-9289-BE5A-0375-1607F167583A}"/>
              </a:ext>
            </a:extLst>
          </p:cNvPr>
          <p:cNvSpPr>
            <a:spLocks noGrp="1"/>
          </p:cNvSpPr>
          <p:nvPr>
            <p:ph idx="1"/>
          </p:nvPr>
        </p:nvSpPr>
        <p:spPr/>
        <p:txBody>
          <a:bodyPr/>
          <a:lstStyle/>
          <a:p>
            <a:r>
              <a:rPr lang="en-US" dirty="0"/>
              <a:t>Evaluate system performance under varying loads.</a:t>
            </a:r>
          </a:p>
          <a:p>
            <a:r>
              <a:rPr lang="en-US" dirty="0"/>
              <a:t>Key components:</a:t>
            </a:r>
          </a:p>
          <a:p>
            <a:pPr lvl="1"/>
            <a:r>
              <a:rPr lang="en-US" dirty="0"/>
              <a:t>Call arrivals</a:t>
            </a:r>
          </a:p>
          <a:p>
            <a:pPr lvl="1"/>
            <a:r>
              <a:rPr lang="en-US" dirty="0"/>
              <a:t>Call handling</a:t>
            </a:r>
          </a:p>
          <a:p>
            <a:pPr lvl="1"/>
            <a:r>
              <a:rPr lang="en-US" dirty="0"/>
              <a:t>Queue management.</a:t>
            </a:r>
          </a:p>
          <a:p>
            <a:r>
              <a:rPr lang="en-US" b="1" dirty="0"/>
              <a:t>Metrics</a:t>
            </a:r>
            <a:r>
              <a:rPr lang="en-US" dirty="0"/>
              <a:t>: Call drop rates, waiting times, resource utilization</a:t>
            </a:r>
          </a:p>
          <a:p>
            <a:r>
              <a:rPr lang="en-US" b="1" dirty="0"/>
              <a:t>Tools Used: </a:t>
            </a:r>
            <a:r>
              <a:rPr lang="en-US" dirty="0" err="1"/>
              <a:t>SimPy</a:t>
            </a:r>
            <a:r>
              <a:rPr lang="en-US" dirty="0"/>
              <a:t>, MATLAB.</a:t>
            </a:r>
          </a:p>
          <a:p>
            <a:endParaRPr lang="en-US" dirty="0"/>
          </a:p>
        </p:txBody>
      </p:sp>
      <p:sp>
        <p:nvSpPr>
          <p:cNvPr id="4" name="Footer Placeholder 3">
            <a:extLst>
              <a:ext uri="{FF2B5EF4-FFF2-40B4-BE49-F238E27FC236}">
                <a16:creationId xmlns:a16="http://schemas.microsoft.com/office/drawing/2014/main" id="{78FC571E-DA5A-E8FB-C3CC-43AB638A0157}"/>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037876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D4DE1-75D7-68C7-D294-7765A220C94A}"/>
              </a:ext>
            </a:extLst>
          </p:cNvPr>
          <p:cNvSpPr>
            <a:spLocks noGrp="1"/>
          </p:cNvSpPr>
          <p:nvPr>
            <p:ph type="title"/>
          </p:nvPr>
        </p:nvSpPr>
        <p:spPr/>
        <p:txBody>
          <a:bodyPr/>
          <a:lstStyle/>
          <a:p>
            <a:r>
              <a:rPr lang="en-US" dirty="0"/>
              <a:t>Gathering Statistics</a:t>
            </a:r>
            <a:br>
              <a:rPr lang="en-US" dirty="0"/>
            </a:br>
            <a:endParaRPr lang="en-US" dirty="0"/>
          </a:p>
        </p:txBody>
      </p:sp>
      <p:sp>
        <p:nvSpPr>
          <p:cNvPr id="3" name="Content Placeholder 2">
            <a:extLst>
              <a:ext uri="{FF2B5EF4-FFF2-40B4-BE49-F238E27FC236}">
                <a16:creationId xmlns:a16="http://schemas.microsoft.com/office/drawing/2014/main" id="{F8618172-4E0F-BFF6-52E1-4CCF8D23E837}"/>
              </a:ext>
            </a:extLst>
          </p:cNvPr>
          <p:cNvSpPr>
            <a:spLocks noGrp="1"/>
          </p:cNvSpPr>
          <p:nvPr>
            <p:ph idx="1"/>
          </p:nvPr>
        </p:nvSpPr>
        <p:spPr/>
        <p:txBody>
          <a:bodyPr>
            <a:normAutofit fontScale="92500" lnSpcReduction="10000"/>
          </a:bodyPr>
          <a:lstStyle/>
          <a:p>
            <a:pPr marL="0" indent="0">
              <a:buNone/>
            </a:pPr>
            <a:r>
              <a:rPr lang="en-US" dirty="0"/>
              <a:t>Objective: Collect data to evaluate system performance.</a:t>
            </a:r>
          </a:p>
          <a:p>
            <a:pPr marL="0" indent="0">
              <a:buNone/>
            </a:pPr>
            <a:r>
              <a:rPr lang="en-US" dirty="0"/>
              <a:t>Types of Data:</a:t>
            </a:r>
          </a:p>
          <a:p>
            <a:pPr lvl="1"/>
            <a:r>
              <a:rPr lang="en-US" dirty="0"/>
              <a:t>Input data (e.g., arrival rates, service times).</a:t>
            </a:r>
          </a:p>
          <a:p>
            <a:pPr lvl="1"/>
            <a:r>
              <a:rPr lang="en-US" dirty="0"/>
              <a:t>Output data (e.g., waiting times, system throughput).</a:t>
            </a:r>
          </a:p>
          <a:p>
            <a:pPr marL="0" indent="0">
              <a:buNone/>
            </a:pPr>
            <a:r>
              <a:rPr lang="en-US" dirty="0"/>
              <a:t>Methods:</a:t>
            </a:r>
          </a:p>
          <a:p>
            <a:pPr lvl="1"/>
            <a:r>
              <a:rPr lang="en-US" dirty="0"/>
              <a:t>Observation and measurement.</a:t>
            </a:r>
          </a:p>
          <a:p>
            <a:pPr lvl="1"/>
            <a:r>
              <a:rPr lang="en-US" dirty="0"/>
              <a:t>Use of historical records.</a:t>
            </a:r>
          </a:p>
          <a:p>
            <a:pPr lvl="1"/>
            <a:r>
              <a:rPr lang="en-US" dirty="0"/>
              <a:t>Simulation models.</a:t>
            </a:r>
          </a:p>
          <a:p>
            <a:pPr marL="0" indent="0">
              <a:buNone/>
            </a:pPr>
            <a:r>
              <a:rPr lang="en-US" dirty="0"/>
              <a:t>Tools:</a:t>
            </a:r>
          </a:p>
          <a:p>
            <a:pPr lvl="1"/>
            <a:r>
              <a:rPr lang="en-US" dirty="0"/>
              <a:t>Statistical software (e.g., SPSS, Excel).</a:t>
            </a:r>
          </a:p>
          <a:p>
            <a:pPr lvl="1"/>
            <a:r>
              <a:rPr lang="en-US" dirty="0"/>
              <a:t>Programming languages (e.g., Python, R).</a:t>
            </a:r>
          </a:p>
          <a:p>
            <a:endParaRPr lang="en-US" dirty="0"/>
          </a:p>
        </p:txBody>
      </p:sp>
      <p:sp>
        <p:nvSpPr>
          <p:cNvPr id="4" name="Footer Placeholder 3">
            <a:extLst>
              <a:ext uri="{FF2B5EF4-FFF2-40B4-BE49-F238E27FC236}">
                <a16:creationId xmlns:a16="http://schemas.microsoft.com/office/drawing/2014/main" id="{B2C296C6-66AB-9A56-1DFF-441CBE47776C}"/>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439497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C69FC-514D-3D6E-17DA-2EF98645D47F}"/>
              </a:ext>
            </a:extLst>
          </p:cNvPr>
          <p:cNvSpPr>
            <a:spLocks noGrp="1"/>
          </p:cNvSpPr>
          <p:nvPr>
            <p:ph type="title"/>
          </p:nvPr>
        </p:nvSpPr>
        <p:spPr/>
        <p:txBody>
          <a:bodyPr/>
          <a:lstStyle/>
          <a:p>
            <a:r>
              <a:rPr lang="en-US" dirty="0"/>
              <a:t>Counters and Summary Statistics</a:t>
            </a:r>
          </a:p>
        </p:txBody>
      </p:sp>
      <p:sp>
        <p:nvSpPr>
          <p:cNvPr id="3" name="Content Placeholder 2">
            <a:extLst>
              <a:ext uri="{FF2B5EF4-FFF2-40B4-BE49-F238E27FC236}">
                <a16:creationId xmlns:a16="http://schemas.microsoft.com/office/drawing/2014/main" id="{37394B75-5011-0CE0-4229-616BAF5DA669}"/>
              </a:ext>
            </a:extLst>
          </p:cNvPr>
          <p:cNvSpPr>
            <a:spLocks noGrp="1"/>
          </p:cNvSpPr>
          <p:nvPr>
            <p:ph idx="1"/>
          </p:nvPr>
        </p:nvSpPr>
        <p:spPr/>
        <p:txBody>
          <a:bodyPr>
            <a:normAutofit fontScale="92500" lnSpcReduction="20000"/>
          </a:bodyPr>
          <a:lstStyle/>
          <a:p>
            <a:pPr marL="0" indent="0">
              <a:buNone/>
            </a:pPr>
            <a:r>
              <a:rPr lang="en-US" dirty="0"/>
              <a:t>Tools to keep track of specific events and provide summaries.</a:t>
            </a:r>
          </a:p>
          <a:p>
            <a:endParaRPr lang="en-US" dirty="0"/>
          </a:p>
          <a:p>
            <a:pPr marL="0" indent="0">
              <a:buNone/>
            </a:pPr>
            <a:r>
              <a:rPr lang="en-US" dirty="0"/>
              <a:t>Key Counters:</a:t>
            </a:r>
          </a:p>
          <a:p>
            <a:pPr lvl="1"/>
            <a:r>
              <a:rPr lang="en-US" dirty="0"/>
              <a:t>Event counts (e.g., number of arrivals, departures).</a:t>
            </a:r>
          </a:p>
          <a:p>
            <a:pPr lvl="1"/>
            <a:r>
              <a:rPr lang="en-US" dirty="0"/>
              <a:t>Time-based counters (e.g., total busy time of resources).</a:t>
            </a:r>
          </a:p>
          <a:p>
            <a:pPr marL="0" indent="0">
              <a:buNone/>
            </a:pPr>
            <a:r>
              <a:rPr lang="en-US" dirty="0"/>
              <a:t>Summary Statistics:</a:t>
            </a:r>
          </a:p>
          <a:p>
            <a:pPr lvl="1"/>
            <a:r>
              <a:rPr lang="en-US" dirty="0"/>
              <a:t>Mean, median, and mode.</a:t>
            </a:r>
          </a:p>
          <a:p>
            <a:pPr lvl="1"/>
            <a:r>
              <a:rPr lang="en-US" dirty="0"/>
              <a:t>Standard deviation and variance.</a:t>
            </a:r>
          </a:p>
          <a:p>
            <a:pPr lvl="1"/>
            <a:r>
              <a:rPr lang="en-US" dirty="0"/>
              <a:t>Percentiles and confidence intervals.</a:t>
            </a:r>
          </a:p>
          <a:p>
            <a:pPr marL="0" indent="0">
              <a:buNone/>
            </a:pPr>
            <a:r>
              <a:rPr lang="en-US" dirty="0"/>
              <a:t>Applications:</a:t>
            </a:r>
          </a:p>
          <a:p>
            <a:pPr lvl="1"/>
            <a:r>
              <a:rPr lang="en-US" dirty="0"/>
              <a:t>Evaluate system performance metrics.</a:t>
            </a:r>
          </a:p>
          <a:p>
            <a:pPr lvl="1"/>
            <a:r>
              <a:rPr lang="en-US" dirty="0"/>
              <a:t>Identify bottlenecks and inefficiencies.</a:t>
            </a:r>
          </a:p>
          <a:p>
            <a:endParaRPr lang="en-US" dirty="0"/>
          </a:p>
        </p:txBody>
      </p:sp>
      <p:sp>
        <p:nvSpPr>
          <p:cNvPr id="4" name="Footer Placeholder 3">
            <a:extLst>
              <a:ext uri="{FF2B5EF4-FFF2-40B4-BE49-F238E27FC236}">
                <a16:creationId xmlns:a16="http://schemas.microsoft.com/office/drawing/2014/main" id="{F22C22B5-A25D-1494-4293-635EF7B611C2}"/>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242044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4A6E0-9140-40BB-3B9E-E763F32E72AC}"/>
              </a:ext>
            </a:extLst>
          </p:cNvPr>
          <p:cNvSpPr>
            <a:spLocks noGrp="1"/>
          </p:cNvSpPr>
          <p:nvPr>
            <p:ph type="title"/>
          </p:nvPr>
        </p:nvSpPr>
        <p:spPr/>
        <p:txBody>
          <a:bodyPr/>
          <a:lstStyle/>
          <a:p>
            <a:r>
              <a:rPr lang="en-US" dirty="0"/>
              <a:t>Measuring Utilization and Occupancy</a:t>
            </a:r>
          </a:p>
        </p:txBody>
      </p:sp>
      <p:sp>
        <p:nvSpPr>
          <p:cNvPr id="3" name="Content Placeholder 2">
            <a:extLst>
              <a:ext uri="{FF2B5EF4-FFF2-40B4-BE49-F238E27FC236}">
                <a16:creationId xmlns:a16="http://schemas.microsoft.com/office/drawing/2014/main" id="{E24FC687-949C-0DD4-D190-D0C540F24B94}"/>
              </a:ext>
            </a:extLst>
          </p:cNvPr>
          <p:cNvSpPr>
            <a:spLocks noGrp="1"/>
          </p:cNvSpPr>
          <p:nvPr>
            <p:ph idx="1"/>
          </p:nvPr>
        </p:nvSpPr>
        <p:spPr/>
        <p:txBody>
          <a:bodyPr>
            <a:normAutofit/>
          </a:bodyPr>
          <a:lstStyle/>
          <a:p>
            <a:pPr marL="0" indent="0">
              <a:buNone/>
            </a:pPr>
            <a:r>
              <a:rPr lang="en-US" dirty="0"/>
              <a:t>Assess the efficiency of resource use.</a:t>
            </a:r>
          </a:p>
          <a:p>
            <a:pPr marL="0" indent="0">
              <a:buNone/>
            </a:pPr>
            <a:endParaRPr lang="en-US" dirty="0"/>
          </a:p>
          <a:p>
            <a:r>
              <a:rPr lang="en-US" dirty="0"/>
              <a:t>Utilization: (Busy Time / Total Time) × 100%</a:t>
            </a:r>
          </a:p>
          <a:p>
            <a:pPr lvl="1"/>
            <a:r>
              <a:rPr lang="en-US" dirty="0"/>
              <a:t>Example: Machine utilization in a factory.</a:t>
            </a:r>
          </a:p>
          <a:p>
            <a:r>
              <a:rPr lang="en-US" dirty="0"/>
              <a:t>Occupancy: (Occupied Time / Total Available Time) × 100%</a:t>
            </a:r>
          </a:p>
          <a:p>
            <a:pPr lvl="1"/>
            <a:r>
              <a:rPr lang="en-US" dirty="0"/>
              <a:t>Example: Bed occupancy in a hospital.</a:t>
            </a:r>
          </a:p>
          <a:p>
            <a:pPr marL="0" indent="0">
              <a:buNone/>
            </a:pPr>
            <a:r>
              <a:rPr lang="en-US" dirty="0"/>
              <a:t>Insights:</a:t>
            </a:r>
          </a:p>
          <a:p>
            <a:pPr lvl="1"/>
            <a:r>
              <a:rPr lang="en-US" dirty="0"/>
              <a:t>Helps balance resource allocation.</a:t>
            </a:r>
          </a:p>
          <a:p>
            <a:pPr lvl="1"/>
            <a:r>
              <a:rPr lang="en-US" dirty="0"/>
              <a:t>Avoids over-utilization or under-utilization.</a:t>
            </a:r>
          </a:p>
          <a:p>
            <a:endParaRPr lang="en-US" dirty="0"/>
          </a:p>
        </p:txBody>
      </p:sp>
      <p:sp>
        <p:nvSpPr>
          <p:cNvPr id="4" name="Footer Placeholder 3">
            <a:extLst>
              <a:ext uri="{FF2B5EF4-FFF2-40B4-BE49-F238E27FC236}">
                <a16:creationId xmlns:a16="http://schemas.microsoft.com/office/drawing/2014/main" id="{0B098FB5-8E88-9C2A-73FE-D9E5D0642CEF}"/>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478254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55637-7B8E-F42F-C30C-608D99DC354E}"/>
              </a:ext>
            </a:extLst>
          </p:cNvPr>
          <p:cNvSpPr>
            <a:spLocks noGrp="1"/>
          </p:cNvSpPr>
          <p:nvPr>
            <p:ph type="title"/>
          </p:nvPr>
        </p:nvSpPr>
        <p:spPr/>
        <p:txBody>
          <a:bodyPr/>
          <a:lstStyle/>
          <a:p>
            <a:r>
              <a:rPr lang="en-US" dirty="0"/>
              <a:t>Recording Distribution and Transit Time</a:t>
            </a:r>
          </a:p>
        </p:txBody>
      </p:sp>
      <p:sp>
        <p:nvSpPr>
          <p:cNvPr id="3" name="Content Placeholder 2">
            <a:extLst>
              <a:ext uri="{FF2B5EF4-FFF2-40B4-BE49-F238E27FC236}">
                <a16:creationId xmlns:a16="http://schemas.microsoft.com/office/drawing/2014/main" id="{37BB02E8-7D17-5002-67E2-C9689CF7396B}"/>
              </a:ext>
            </a:extLst>
          </p:cNvPr>
          <p:cNvSpPr>
            <a:spLocks noGrp="1"/>
          </p:cNvSpPr>
          <p:nvPr>
            <p:ph idx="1"/>
          </p:nvPr>
        </p:nvSpPr>
        <p:spPr/>
        <p:txBody>
          <a:bodyPr>
            <a:normAutofit fontScale="92500" lnSpcReduction="20000"/>
          </a:bodyPr>
          <a:lstStyle/>
          <a:p>
            <a:pPr marL="0" indent="0">
              <a:buNone/>
            </a:pPr>
            <a:r>
              <a:rPr lang="en-US" dirty="0"/>
              <a:t>Understand flow and variability in the system.</a:t>
            </a:r>
          </a:p>
          <a:p>
            <a:endParaRPr lang="en-US" dirty="0"/>
          </a:p>
          <a:p>
            <a:pPr marL="0" indent="0">
              <a:buNone/>
            </a:pPr>
            <a:r>
              <a:rPr lang="en-US" dirty="0"/>
              <a:t>Distribution:</a:t>
            </a:r>
          </a:p>
          <a:p>
            <a:r>
              <a:rPr lang="en-US" dirty="0"/>
              <a:t>  Probability distribution of key metrics (e.g., service times, inter-arrival times).</a:t>
            </a:r>
          </a:p>
          <a:p>
            <a:pPr lvl="1"/>
            <a:r>
              <a:rPr lang="en-US" dirty="0"/>
              <a:t>Examples: Exponential, Poisson, Normal distributions.</a:t>
            </a:r>
          </a:p>
          <a:p>
            <a:pPr marL="0" indent="0">
              <a:buNone/>
            </a:pPr>
            <a:r>
              <a:rPr lang="en-US" dirty="0"/>
              <a:t>Transit Time:</a:t>
            </a:r>
          </a:p>
          <a:p>
            <a:r>
              <a:rPr lang="en-US" dirty="0"/>
              <a:t>Time taken for an entity to move through the system.</a:t>
            </a:r>
          </a:p>
          <a:p>
            <a:r>
              <a:rPr lang="en-US" dirty="0"/>
              <a:t>Includes waiting and processing times.</a:t>
            </a:r>
          </a:p>
          <a:p>
            <a:endParaRPr lang="en-US" dirty="0"/>
          </a:p>
          <a:p>
            <a:pPr marL="0" indent="0">
              <a:buNone/>
            </a:pPr>
            <a:r>
              <a:rPr lang="en-US" dirty="0"/>
              <a:t>Importance:</a:t>
            </a:r>
          </a:p>
          <a:p>
            <a:r>
              <a:rPr lang="en-US" dirty="0"/>
              <a:t>Helps in performance evaluation and capacity planning.</a:t>
            </a:r>
          </a:p>
          <a:p>
            <a:endParaRPr lang="en-US" dirty="0"/>
          </a:p>
        </p:txBody>
      </p:sp>
      <p:sp>
        <p:nvSpPr>
          <p:cNvPr id="4" name="Footer Placeholder 3">
            <a:extLst>
              <a:ext uri="{FF2B5EF4-FFF2-40B4-BE49-F238E27FC236}">
                <a16:creationId xmlns:a16="http://schemas.microsoft.com/office/drawing/2014/main" id="{926EF61E-BB68-FBB0-4349-779411666A2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68421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FC839-47AF-3AF3-B4A6-3200B0034461}"/>
              </a:ext>
            </a:extLst>
          </p:cNvPr>
          <p:cNvSpPr>
            <a:spLocks noGrp="1"/>
          </p:cNvSpPr>
          <p:nvPr>
            <p:ph type="title"/>
          </p:nvPr>
        </p:nvSpPr>
        <p:spPr/>
        <p:txBody>
          <a:bodyPr/>
          <a:lstStyle/>
          <a:p>
            <a:r>
              <a:rPr lang="en-US" dirty="0"/>
              <a:t>Discrete Simulation Language</a:t>
            </a:r>
          </a:p>
        </p:txBody>
      </p:sp>
      <p:sp>
        <p:nvSpPr>
          <p:cNvPr id="3" name="Content Placeholder 2">
            <a:extLst>
              <a:ext uri="{FF2B5EF4-FFF2-40B4-BE49-F238E27FC236}">
                <a16:creationId xmlns:a16="http://schemas.microsoft.com/office/drawing/2014/main" id="{9062533A-CE89-ECC8-E126-3B57746EDB5D}"/>
              </a:ext>
            </a:extLst>
          </p:cNvPr>
          <p:cNvSpPr>
            <a:spLocks noGrp="1"/>
          </p:cNvSpPr>
          <p:nvPr>
            <p:ph idx="1"/>
          </p:nvPr>
        </p:nvSpPr>
        <p:spPr/>
        <p:txBody>
          <a:bodyPr>
            <a:normAutofit fontScale="77500" lnSpcReduction="20000"/>
          </a:bodyPr>
          <a:lstStyle/>
          <a:p>
            <a:pPr marL="0" indent="0">
              <a:buNone/>
            </a:pPr>
            <a:r>
              <a:rPr lang="en-US" dirty="0"/>
              <a:t>Programming languages used for building discrete event simulation models.</a:t>
            </a:r>
          </a:p>
          <a:p>
            <a:pPr marL="0" indent="0">
              <a:buNone/>
            </a:pPr>
            <a:r>
              <a:rPr lang="en-US" dirty="0"/>
              <a:t>Examples:</a:t>
            </a:r>
          </a:p>
          <a:p>
            <a:r>
              <a:rPr lang="en-US" dirty="0" err="1"/>
              <a:t>SimPy</a:t>
            </a:r>
            <a:r>
              <a:rPr lang="en-US" dirty="0"/>
              <a:t> (Python-based).</a:t>
            </a:r>
          </a:p>
          <a:p>
            <a:r>
              <a:rPr lang="en-US" dirty="0"/>
              <a:t>Arena (GUI-based).</a:t>
            </a:r>
          </a:p>
          <a:p>
            <a:r>
              <a:rPr lang="en-US" dirty="0" err="1"/>
              <a:t>AnyLogic</a:t>
            </a:r>
            <a:r>
              <a:rPr lang="en-US" dirty="0"/>
              <a:t> (Java-based).</a:t>
            </a:r>
          </a:p>
          <a:p>
            <a:pPr marL="0" indent="0">
              <a:buNone/>
            </a:pPr>
            <a:r>
              <a:rPr lang="en-US" dirty="0"/>
              <a:t>Features:</a:t>
            </a:r>
          </a:p>
          <a:p>
            <a:r>
              <a:rPr lang="en-US" dirty="0"/>
              <a:t>Event scheduling.</a:t>
            </a:r>
          </a:p>
          <a:p>
            <a:r>
              <a:rPr lang="en-US" dirty="0"/>
              <a:t>Resource allocation.</a:t>
            </a:r>
          </a:p>
          <a:p>
            <a:r>
              <a:rPr lang="en-US" dirty="0"/>
              <a:t>Statistical analysis tools.</a:t>
            </a:r>
          </a:p>
          <a:p>
            <a:pPr marL="0" indent="0">
              <a:buNone/>
            </a:pPr>
            <a:r>
              <a:rPr lang="en-US" dirty="0"/>
              <a:t>Applications:</a:t>
            </a:r>
          </a:p>
          <a:p>
            <a:r>
              <a:rPr lang="en-US" dirty="0"/>
              <a:t>Manufacturing systems.</a:t>
            </a:r>
          </a:p>
          <a:p>
            <a:r>
              <a:rPr lang="en-US" dirty="0"/>
              <a:t>Traffic flow analysis.</a:t>
            </a:r>
          </a:p>
          <a:p>
            <a:r>
              <a:rPr lang="en-US" dirty="0"/>
              <a:t>Healthcare operations.</a:t>
            </a:r>
          </a:p>
          <a:p>
            <a:endParaRPr lang="en-US" dirty="0"/>
          </a:p>
        </p:txBody>
      </p:sp>
      <p:sp>
        <p:nvSpPr>
          <p:cNvPr id="4" name="Footer Placeholder 3">
            <a:extLst>
              <a:ext uri="{FF2B5EF4-FFF2-40B4-BE49-F238E27FC236}">
                <a16:creationId xmlns:a16="http://schemas.microsoft.com/office/drawing/2014/main" id="{013092E6-982A-1853-EE86-80C9AEE2ED55}"/>
              </a:ext>
            </a:extLst>
          </p:cNvPr>
          <p:cNvSpPr>
            <a:spLocks noGrp="1"/>
          </p:cNvSpPr>
          <p:nvPr>
            <p:ph type="ftr" sz="quarter" idx="11"/>
          </p:nvPr>
        </p:nvSpPr>
        <p:spPr/>
        <p:txBody>
          <a:bodyPr/>
          <a:lstStyle/>
          <a:p>
            <a:r>
              <a:rPr lang="nb-NO"/>
              <a:t>Kapil@nast.edu.np || kapilpant157</a:t>
            </a:r>
            <a:endParaRPr lang="en-US"/>
          </a:p>
        </p:txBody>
      </p:sp>
    </p:spTree>
    <p:extLst>
      <p:ext uri="{BB962C8B-B14F-4D97-AF65-F5344CB8AC3E}">
        <p14:creationId xmlns:p14="http://schemas.microsoft.com/office/powerpoint/2010/main" val="3673454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1215</TotalTime>
  <Words>5589</Words>
  <Application>Microsoft Office PowerPoint</Application>
  <PresentationFormat>Widescreen</PresentationFormat>
  <Paragraphs>571</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Trebuchet MS</vt:lpstr>
      <vt:lpstr>Wingdings</vt:lpstr>
      <vt:lpstr>Wingdings 3</vt:lpstr>
      <vt:lpstr>Facet</vt:lpstr>
      <vt:lpstr>Discrete System Simulation</vt:lpstr>
      <vt:lpstr>Content</vt:lpstr>
      <vt:lpstr>Discrete System Simulation </vt:lpstr>
      <vt:lpstr>LIFT example</vt:lpstr>
      <vt:lpstr>Representation of Time</vt:lpstr>
      <vt:lpstr>When to choose what ? </vt:lpstr>
      <vt:lpstr>Generation of Arrival Patterns</vt:lpstr>
      <vt:lpstr>Deterministic Generation</vt:lpstr>
      <vt:lpstr>Stochastic Generation</vt:lpstr>
      <vt:lpstr>Simulation of Telephone System</vt:lpstr>
      <vt:lpstr>Gathering Statistics </vt:lpstr>
      <vt:lpstr>Counters and Summary Statistics</vt:lpstr>
      <vt:lpstr>Measuring Utilization and Occupancy</vt:lpstr>
      <vt:lpstr>Recording Distribution and Transit Time</vt:lpstr>
      <vt:lpstr>Discrete Simulation Language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KAPIL DEV PANT</dc:creator>
  <cp:lastModifiedBy>Kapil Dev Pant</cp:lastModifiedBy>
  <cp:revision>66</cp:revision>
  <dcterms:created xsi:type="dcterms:W3CDTF">2024-12-28T16:10:41Z</dcterms:created>
  <dcterms:modified xsi:type="dcterms:W3CDTF">2025-12-28T17:51:14Z</dcterms:modified>
</cp:coreProperties>
</file>