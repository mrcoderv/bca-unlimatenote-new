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0" r:id="rId1"/>
  </p:sldMasterIdLst>
  <p:notesMasterIdLst>
    <p:notesMasterId r:id="rId36"/>
  </p:notesMasterIdLst>
  <p:handoutMasterIdLst>
    <p:handoutMasterId r:id="rId37"/>
  </p:handoutMasterIdLst>
  <p:sldIdLst>
    <p:sldId id="273" r:id="rId2"/>
    <p:sldId id="272" r:id="rId3"/>
    <p:sldId id="274" r:id="rId4"/>
    <p:sldId id="257" r:id="rId5"/>
    <p:sldId id="276" r:id="rId6"/>
    <p:sldId id="263" r:id="rId7"/>
    <p:sldId id="264" r:id="rId8"/>
    <p:sldId id="259" r:id="rId9"/>
    <p:sldId id="271" r:id="rId10"/>
    <p:sldId id="265" r:id="rId11"/>
    <p:sldId id="266" r:id="rId12"/>
    <p:sldId id="268" r:id="rId13"/>
    <p:sldId id="270" r:id="rId14"/>
    <p:sldId id="269" r:id="rId15"/>
    <p:sldId id="277" r:id="rId16"/>
    <p:sldId id="278" r:id="rId17"/>
    <p:sldId id="260" r:id="rId18"/>
    <p:sldId id="261" r:id="rId19"/>
    <p:sldId id="283" r:id="rId20"/>
    <p:sldId id="284" r:id="rId21"/>
    <p:sldId id="285" r:id="rId22"/>
    <p:sldId id="289" r:id="rId23"/>
    <p:sldId id="286" r:id="rId24"/>
    <p:sldId id="290" r:id="rId25"/>
    <p:sldId id="291" r:id="rId26"/>
    <p:sldId id="288" r:id="rId27"/>
    <p:sldId id="287" r:id="rId28"/>
    <p:sldId id="262" r:id="rId29"/>
    <p:sldId id="279" r:id="rId30"/>
    <p:sldId id="280" r:id="rId31"/>
    <p:sldId id="281" r:id="rId32"/>
    <p:sldId id="258" r:id="rId33"/>
    <p:sldId id="282" r:id="rId34"/>
    <p:sldId id="275"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296" autoAdjust="0"/>
  </p:normalViewPr>
  <p:slideViewPr>
    <p:cSldViewPr snapToGrid="0" snapToObjects="1">
      <p:cViewPr varScale="1">
        <p:scale>
          <a:sx n="45" d="100"/>
          <a:sy n="45" d="100"/>
        </p:scale>
        <p:origin x="1674" y="48"/>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54" d="100"/>
          <a:sy n="54" d="100"/>
        </p:scale>
        <p:origin x="2898"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10E661-3A44-2E8B-4986-EDE14F1D72C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6EE7BF6-4F97-F16D-25DD-161E2B81125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963BEA4-F066-4E65-8229-021736269F7E}" type="datetimeFigureOut">
              <a:rPr lang="en-US" smtClean="0"/>
              <a:t>1/31/2026</a:t>
            </a:fld>
            <a:endParaRPr lang="en-US"/>
          </a:p>
        </p:txBody>
      </p:sp>
      <p:sp>
        <p:nvSpPr>
          <p:cNvPr id="4" name="Footer Placeholder 3">
            <a:extLst>
              <a:ext uri="{FF2B5EF4-FFF2-40B4-BE49-F238E27FC236}">
                <a16:creationId xmlns:a16="http://schemas.microsoft.com/office/drawing/2014/main" id="{F6CC2FA7-5583-B26D-DA5C-EF320E4E386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86B6515-D080-A44A-C2CA-F990260D38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CACD364-4559-4791-9785-A0546D5384D6}" type="slidenum">
              <a:rPr lang="en-US" smtClean="0"/>
              <a:t>‹#›</a:t>
            </a:fld>
            <a:endParaRPr lang="en-US"/>
          </a:p>
        </p:txBody>
      </p:sp>
    </p:spTree>
    <p:extLst>
      <p:ext uri="{BB962C8B-B14F-4D97-AF65-F5344CB8AC3E}">
        <p14:creationId xmlns:p14="http://schemas.microsoft.com/office/powerpoint/2010/main" val="3272540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FA6DCA-8CF4-468B-9367-C4FAD992A409}" type="datetimeFigureOut">
              <a:rPr lang="en-US" smtClean="0"/>
              <a:t>1/31/2026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856EA3-D5FC-400C-84ED-CD71C2479320}" type="slidenum">
              <a:rPr lang="en-US" smtClean="0"/>
              <a:t>‹#›</a:t>
            </a:fld>
            <a:endParaRPr lang="en-US"/>
          </a:p>
        </p:txBody>
      </p:sp>
    </p:spTree>
    <p:extLst>
      <p:ext uri="{BB962C8B-B14F-4D97-AF65-F5344CB8AC3E}">
        <p14:creationId xmlns:p14="http://schemas.microsoft.com/office/powerpoint/2010/main" val="28343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 software is a powerful tool used to create a virtual model of a real-world system or process. This allows users to analyze and experiment with the model in a controlled environment, without the risks or costs associated with real-world testing. This software allows for detailed modeling, visualization, and analysis, making it invaluable in fields such as manufacturing, healthcare, transportation, and finance. </a:t>
            </a:r>
          </a:p>
          <a:p>
            <a:r>
              <a:rPr lang="en-US" dirty="0"/>
              <a:t>Criteria for selecting Simulation Software are:</a:t>
            </a:r>
          </a:p>
          <a:p>
            <a:r>
              <a:rPr lang="en-US" dirty="0"/>
              <a:t>❖ Take the experts advice when evaluating and selecting Simulation Software. </a:t>
            </a:r>
          </a:p>
          <a:p>
            <a:r>
              <a:rPr lang="en-US" dirty="0"/>
              <a:t>❖ Check the accuracy level of the software. </a:t>
            </a:r>
          </a:p>
          <a:p>
            <a:r>
              <a:rPr lang="en-US" dirty="0"/>
              <a:t>❖ Check vendor support, ease of use, and applicability of the system. </a:t>
            </a:r>
          </a:p>
          <a:p>
            <a:r>
              <a:rPr lang="en-US" dirty="0"/>
              <a:t>❖ Check execution speed of the software. </a:t>
            </a:r>
          </a:p>
          <a:p>
            <a:r>
              <a:rPr lang="en-US" dirty="0"/>
              <a:t>❖ Ask vendor to solve small versions of your problem. </a:t>
            </a:r>
          </a:p>
          <a:p>
            <a:r>
              <a:rPr lang="en-US" dirty="0"/>
              <a:t>❖ Review the model-building features of the software. </a:t>
            </a:r>
          </a:p>
          <a:p>
            <a:r>
              <a:rPr lang="en-US" dirty="0"/>
              <a:t>❖ Check animation layout features available in the software. </a:t>
            </a:r>
          </a:p>
          <a:p>
            <a:r>
              <a:rPr lang="en-US" dirty="0"/>
              <a:t>❖ Check output representation features. </a:t>
            </a:r>
          </a:p>
          <a:p>
            <a:r>
              <a:rPr lang="en-US" dirty="0"/>
              <a:t>❖ Examine the product documentation, user manuals.</a:t>
            </a:r>
          </a:p>
        </p:txBody>
      </p:sp>
      <p:sp>
        <p:nvSpPr>
          <p:cNvPr id="4" name="Slide Number Placeholder 3"/>
          <p:cNvSpPr>
            <a:spLocks noGrp="1"/>
          </p:cNvSpPr>
          <p:nvPr>
            <p:ph type="sldNum" sz="quarter" idx="5"/>
          </p:nvPr>
        </p:nvSpPr>
        <p:spPr/>
        <p:txBody>
          <a:bodyPr/>
          <a:lstStyle/>
          <a:p>
            <a:fld id="{86856EA3-D5FC-400C-84ED-CD71C2479320}" type="slidenum">
              <a:rPr lang="en-US" smtClean="0"/>
              <a:t>3</a:t>
            </a:fld>
            <a:endParaRPr lang="en-US"/>
          </a:p>
        </p:txBody>
      </p:sp>
    </p:spTree>
    <p:extLst>
      <p:ext uri="{BB962C8B-B14F-4D97-AF65-F5344CB8AC3E}">
        <p14:creationId xmlns:p14="http://schemas.microsoft.com/office/powerpoint/2010/main" val="3939698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1" dirty="0"/>
              <a:t>1. General Purpose Simulation Languages (GPL)</a:t>
            </a:r>
          </a:p>
          <a:p>
            <a:r>
              <a:rPr lang="en-US" b="1" dirty="0"/>
              <a:t>Examples</a:t>
            </a:r>
            <a:r>
              <a:rPr lang="en-US" dirty="0"/>
              <a:t>: C, Python, Java</a:t>
            </a:r>
          </a:p>
          <a:p>
            <a:r>
              <a:rPr lang="en-US" b="1" dirty="0"/>
              <a:t>Explanation</a:t>
            </a:r>
            <a:r>
              <a:rPr lang="en-US" dirty="0"/>
              <a:t>:</a:t>
            </a:r>
            <a:br>
              <a:rPr lang="en-US" dirty="0"/>
            </a:br>
            <a:r>
              <a:rPr lang="en-US" dirty="0"/>
              <a:t>These are programming languages designed for a wide variety of applications, including but not limited to simulation. They provide </a:t>
            </a:r>
            <a:r>
              <a:rPr lang="en-US" b="1" dirty="0"/>
              <a:t>flexibility</a:t>
            </a:r>
            <a:r>
              <a:rPr lang="en-US" dirty="0"/>
              <a:t>, allowing developers to build custom simulation models from scratch.</a:t>
            </a:r>
          </a:p>
          <a:p>
            <a:r>
              <a:rPr lang="en-US" b="1" dirty="0"/>
              <a:t>Advantages</a:t>
            </a:r>
            <a:r>
              <a:rPr lang="en-US" dirty="0"/>
              <a:t>:</a:t>
            </a:r>
          </a:p>
          <a:p>
            <a:pPr lvl="1"/>
            <a:r>
              <a:rPr lang="en-US" dirty="0"/>
              <a:t>Highly customizable and powerful.</a:t>
            </a:r>
          </a:p>
          <a:p>
            <a:pPr lvl="1"/>
            <a:r>
              <a:rPr lang="en-US" dirty="0"/>
              <a:t>Suitable for integrating simulation with other systems or software.</a:t>
            </a:r>
          </a:p>
          <a:p>
            <a:pPr lvl="1"/>
            <a:r>
              <a:rPr lang="en-US" dirty="0"/>
              <a:t>Large communities and rich libraries (e.g., NumPy for Python).</a:t>
            </a:r>
          </a:p>
          <a:p>
            <a:r>
              <a:rPr lang="en-US" b="1" dirty="0"/>
              <a:t>Disadvantages</a:t>
            </a:r>
            <a:r>
              <a:rPr lang="en-US" dirty="0"/>
              <a:t>:</a:t>
            </a:r>
          </a:p>
          <a:p>
            <a:pPr lvl="1"/>
            <a:r>
              <a:rPr lang="en-US" dirty="0"/>
              <a:t>Require more </a:t>
            </a:r>
            <a:r>
              <a:rPr lang="en-US" b="1" dirty="0"/>
              <a:t>programming effort and time</a:t>
            </a:r>
            <a:r>
              <a:rPr lang="en-US" dirty="0"/>
              <a:t>.</a:t>
            </a:r>
          </a:p>
          <a:p>
            <a:pPr lvl="1"/>
            <a:r>
              <a:rPr lang="en-US" dirty="0"/>
              <a:t>Lack built-in simulation-specific features like event scheduling or queue management.</a:t>
            </a:r>
          </a:p>
          <a:p>
            <a:pPr lvl="1"/>
            <a:endParaRPr lang="en-US" dirty="0"/>
          </a:p>
          <a:p>
            <a:r>
              <a:rPr lang="en-US" b="1" dirty="0"/>
              <a:t>2. Simulation-Specific Languages</a:t>
            </a:r>
          </a:p>
          <a:p>
            <a:r>
              <a:rPr lang="en-US" b="1" dirty="0"/>
              <a:t>Examples</a:t>
            </a:r>
            <a:r>
              <a:rPr lang="en-US" dirty="0"/>
              <a:t>: GPSS, SIMSCRIPT, Arena</a:t>
            </a:r>
          </a:p>
          <a:p>
            <a:r>
              <a:rPr lang="en-US" b="1" dirty="0"/>
              <a:t>Explanation</a:t>
            </a:r>
            <a:r>
              <a:rPr lang="en-US" dirty="0"/>
              <a:t>:</a:t>
            </a:r>
            <a:br>
              <a:rPr lang="en-US" dirty="0"/>
            </a:br>
            <a:r>
              <a:rPr lang="en-US" dirty="0"/>
              <a:t>These languages are </a:t>
            </a:r>
            <a:r>
              <a:rPr lang="en-US" b="1" dirty="0"/>
              <a:t>specially designed for simulation tasks</a:t>
            </a:r>
            <a:r>
              <a:rPr lang="en-US" dirty="0"/>
              <a:t>. They offer built-in support for simulation concepts like entities, events, queues, and resources.</a:t>
            </a:r>
          </a:p>
          <a:p>
            <a:r>
              <a:rPr lang="en-US" b="1" dirty="0"/>
              <a:t>Advantages</a:t>
            </a:r>
            <a:r>
              <a:rPr lang="en-US" dirty="0"/>
              <a:t>:</a:t>
            </a:r>
          </a:p>
          <a:p>
            <a:pPr lvl="1"/>
            <a:r>
              <a:rPr lang="en-US" dirty="0"/>
              <a:t>Easier and faster to model simulation scenarios.</a:t>
            </a:r>
          </a:p>
          <a:p>
            <a:pPr lvl="1"/>
            <a:r>
              <a:rPr lang="en-US" dirty="0"/>
              <a:t>Include simulation-oriented constructs (e.g., “GENERATE”, “QUEUE”, “DEPART” in GPSS).</a:t>
            </a:r>
          </a:p>
          <a:p>
            <a:pPr lvl="1"/>
            <a:r>
              <a:rPr lang="en-US" dirty="0"/>
              <a:t>Suitable for discrete-event simulation.</a:t>
            </a:r>
          </a:p>
          <a:p>
            <a:r>
              <a:rPr lang="en-US" b="1" dirty="0"/>
              <a:t>Disadvantages</a:t>
            </a:r>
            <a:r>
              <a:rPr lang="en-US" dirty="0"/>
              <a:t>:</a:t>
            </a:r>
          </a:p>
          <a:p>
            <a:pPr lvl="1"/>
            <a:r>
              <a:rPr lang="en-US" dirty="0"/>
              <a:t>Less flexible for general-purpose programming.</a:t>
            </a:r>
          </a:p>
          <a:p>
            <a:pPr lvl="1"/>
            <a:r>
              <a:rPr lang="en-US" dirty="0"/>
              <a:t>Smaller user communities and fewer external libraries than GPLs.</a:t>
            </a:r>
          </a:p>
          <a:p>
            <a:pPr lvl="1"/>
            <a:endParaRPr lang="en-US" dirty="0"/>
          </a:p>
          <a:p>
            <a:r>
              <a:rPr lang="en-US" b="1" dirty="0"/>
              <a:t>3. Graphical Simulation Tools</a:t>
            </a:r>
          </a:p>
          <a:p>
            <a:r>
              <a:rPr lang="en-US" b="1" dirty="0"/>
              <a:t>Examples</a:t>
            </a:r>
            <a:r>
              <a:rPr lang="en-US" dirty="0"/>
              <a:t>: MATLAB Simulink, </a:t>
            </a:r>
            <a:r>
              <a:rPr lang="en-US" dirty="0" err="1"/>
              <a:t>AnyLogic</a:t>
            </a:r>
            <a:endParaRPr lang="en-US" dirty="0"/>
          </a:p>
          <a:p>
            <a:r>
              <a:rPr lang="en-US" b="1" dirty="0"/>
              <a:t>Explanation</a:t>
            </a:r>
            <a:r>
              <a:rPr lang="en-US" dirty="0"/>
              <a:t>:</a:t>
            </a:r>
            <a:br>
              <a:rPr lang="en-US" dirty="0"/>
            </a:br>
            <a:r>
              <a:rPr lang="en-US" dirty="0"/>
              <a:t>These are software tools that allow users to build simulation models using </a:t>
            </a:r>
            <a:r>
              <a:rPr lang="en-US" b="1" dirty="0"/>
              <a:t>visual components and drag-and-drop interfaces</a:t>
            </a:r>
            <a:r>
              <a:rPr lang="en-US" dirty="0"/>
              <a:t>. Ideal for users who prefer working visually rather than writing code.</a:t>
            </a:r>
          </a:p>
          <a:p>
            <a:r>
              <a:rPr lang="en-US" b="1" dirty="0"/>
              <a:t>Advantages</a:t>
            </a:r>
            <a:r>
              <a:rPr lang="en-US" dirty="0"/>
              <a:t>:</a:t>
            </a:r>
          </a:p>
          <a:p>
            <a:pPr lvl="1"/>
            <a:r>
              <a:rPr lang="en-US" dirty="0"/>
              <a:t>Intuitive and user-friendly interface.</a:t>
            </a:r>
          </a:p>
          <a:p>
            <a:pPr lvl="1"/>
            <a:r>
              <a:rPr lang="en-US" dirty="0"/>
              <a:t>Speeds up model building and visualization.</a:t>
            </a:r>
          </a:p>
          <a:p>
            <a:pPr lvl="1"/>
            <a:r>
              <a:rPr lang="en-US" dirty="0"/>
              <a:t>Often include animation and real-time results.</a:t>
            </a:r>
          </a:p>
          <a:p>
            <a:pPr lvl="1"/>
            <a:r>
              <a:rPr lang="en-US" dirty="0"/>
              <a:t>Suitable for both discrete and continuous system modeling (e.g., Simulink for dynamic systems, </a:t>
            </a:r>
            <a:r>
              <a:rPr lang="en-US" dirty="0" err="1"/>
              <a:t>AnyLogic</a:t>
            </a:r>
            <a:r>
              <a:rPr lang="en-US" dirty="0"/>
              <a:t> for hybrid models).</a:t>
            </a:r>
          </a:p>
          <a:p>
            <a:r>
              <a:rPr lang="en-US" b="1" dirty="0"/>
              <a:t>Disadvantages</a:t>
            </a:r>
            <a:r>
              <a:rPr lang="en-US" dirty="0"/>
              <a:t>:</a:t>
            </a:r>
          </a:p>
          <a:p>
            <a:pPr lvl="1"/>
            <a:r>
              <a:rPr lang="en-US" dirty="0"/>
              <a:t>May have a </a:t>
            </a:r>
            <a:r>
              <a:rPr lang="en-US" b="1" dirty="0"/>
              <a:t>steeper learning curve</a:t>
            </a:r>
            <a:r>
              <a:rPr lang="en-US" dirty="0"/>
              <a:t> for complex systems.</a:t>
            </a:r>
          </a:p>
          <a:p>
            <a:pPr lvl="1"/>
            <a:r>
              <a:rPr lang="en-US" dirty="0"/>
              <a:t>Often commercial or require licenses.</a:t>
            </a:r>
          </a:p>
          <a:p>
            <a:pPr lvl="1"/>
            <a:r>
              <a:rPr lang="en-US" dirty="0"/>
              <a:t>Limited flexibility compared to coding in GPLs.</a:t>
            </a:r>
          </a:p>
          <a:p>
            <a:pPr lvl="1"/>
            <a:endParaRPr lang="en-US" dirty="0"/>
          </a:p>
          <a:p>
            <a:r>
              <a:rPr lang="en-US" b="1" dirty="0"/>
              <a:t>4. Agent-Based Simulation Languages</a:t>
            </a:r>
          </a:p>
          <a:p>
            <a:r>
              <a:rPr lang="en-US" b="1" dirty="0"/>
              <a:t>Examples</a:t>
            </a:r>
            <a:r>
              <a:rPr lang="en-US" dirty="0"/>
              <a:t>: </a:t>
            </a:r>
            <a:r>
              <a:rPr lang="en-US" dirty="0" err="1"/>
              <a:t>NetLogo</a:t>
            </a:r>
            <a:r>
              <a:rPr lang="en-US" dirty="0"/>
              <a:t>, Repast</a:t>
            </a:r>
          </a:p>
          <a:p>
            <a:r>
              <a:rPr lang="en-US" b="1" dirty="0"/>
              <a:t>Explanation</a:t>
            </a:r>
            <a:r>
              <a:rPr lang="en-US" dirty="0"/>
              <a:t>:</a:t>
            </a:r>
            <a:br>
              <a:rPr lang="en-US" dirty="0"/>
            </a:br>
            <a:r>
              <a:rPr lang="en-US" dirty="0"/>
              <a:t>Agent-Based Simulation (ABS) languages are specifically designed to model systems where </a:t>
            </a:r>
            <a:r>
              <a:rPr lang="en-US" b="1" dirty="0"/>
              <a:t>individual entities (agents)</a:t>
            </a:r>
            <a:r>
              <a:rPr lang="en-US" dirty="0"/>
              <a:t> interact autonomously based on a set of rules.</a:t>
            </a:r>
          </a:p>
          <a:p>
            <a:r>
              <a:rPr lang="en-US" b="1" dirty="0"/>
              <a:t>Agents</a:t>
            </a:r>
            <a:r>
              <a:rPr lang="en-US" dirty="0"/>
              <a:t> can represent people, animals, vehicles, businesses, etc.</a:t>
            </a:r>
          </a:p>
          <a:p>
            <a:r>
              <a:rPr lang="en-US" dirty="0"/>
              <a:t>Each agent has </a:t>
            </a:r>
            <a:r>
              <a:rPr lang="en-US" b="1" dirty="0"/>
              <a:t>its own behavior, state, and decision-making logic</a:t>
            </a:r>
            <a:r>
              <a:rPr lang="en-US" dirty="0"/>
              <a:t>.</a:t>
            </a:r>
          </a:p>
          <a:p>
            <a:r>
              <a:rPr lang="en-US" dirty="0"/>
              <a:t>The overall system behavior </a:t>
            </a:r>
            <a:r>
              <a:rPr lang="en-US" b="1" dirty="0"/>
              <a:t>emerges from interactions</a:t>
            </a:r>
            <a:r>
              <a:rPr lang="en-US" dirty="0"/>
              <a:t> among these agents.</a:t>
            </a:r>
          </a:p>
          <a:p>
            <a:r>
              <a:rPr lang="en-US" b="1" dirty="0"/>
              <a:t>Advantages</a:t>
            </a:r>
            <a:r>
              <a:rPr lang="en-US" dirty="0"/>
              <a:t>:</a:t>
            </a:r>
          </a:p>
          <a:p>
            <a:r>
              <a:rPr lang="en-US" dirty="0"/>
              <a:t>Ideal for simulating </a:t>
            </a:r>
            <a:r>
              <a:rPr lang="en-US" b="1" dirty="0"/>
              <a:t>complex adaptive systems</a:t>
            </a:r>
            <a:r>
              <a:rPr lang="en-US" dirty="0"/>
              <a:t> (e.g., ecosystems, social behavior, markets).</a:t>
            </a:r>
          </a:p>
          <a:p>
            <a:r>
              <a:rPr lang="en-US" dirty="0"/>
              <a:t>Easy to visualize individual agent behavior and interactions.</a:t>
            </a:r>
          </a:p>
          <a:p>
            <a:r>
              <a:rPr lang="en-US" dirty="0"/>
              <a:t>Languages like </a:t>
            </a:r>
            <a:r>
              <a:rPr lang="en-US" b="1" dirty="0" err="1"/>
              <a:t>NetLogo</a:t>
            </a:r>
            <a:r>
              <a:rPr lang="en-US" dirty="0"/>
              <a:t> provide simple syntax and visualization for beginners.</a:t>
            </a:r>
          </a:p>
          <a:p>
            <a:r>
              <a:rPr lang="en-US" b="1" dirty="0"/>
              <a:t>Disadvantages</a:t>
            </a:r>
            <a:r>
              <a:rPr lang="en-US" dirty="0"/>
              <a:t>:</a:t>
            </a:r>
          </a:p>
          <a:p>
            <a:r>
              <a:rPr lang="en-US" dirty="0"/>
              <a:t>Can become computationally intensive with many agents.</a:t>
            </a:r>
          </a:p>
          <a:p>
            <a:r>
              <a:rPr lang="en-US" dirty="0"/>
              <a:t>Less suited for systems better described by global equations or events.</a:t>
            </a:r>
          </a:p>
          <a:p>
            <a:endParaRPr lang="en-US" dirty="0"/>
          </a:p>
          <a:p>
            <a:r>
              <a:rPr lang="en-US" b="1" dirty="0"/>
              <a:t>5. Hybrid Simulation Tools</a:t>
            </a:r>
          </a:p>
          <a:p>
            <a:r>
              <a:rPr lang="en-US" b="1" dirty="0"/>
              <a:t>Examples</a:t>
            </a:r>
            <a:r>
              <a:rPr lang="en-US" dirty="0"/>
              <a:t>: </a:t>
            </a:r>
            <a:r>
              <a:rPr lang="en-US" dirty="0" err="1"/>
              <a:t>AnyLogic</a:t>
            </a:r>
            <a:endParaRPr lang="en-US" dirty="0"/>
          </a:p>
          <a:p>
            <a:r>
              <a:rPr lang="en-US" b="1" dirty="0"/>
              <a:t>Explanation</a:t>
            </a:r>
            <a:r>
              <a:rPr lang="en-US" dirty="0"/>
              <a:t>:</a:t>
            </a:r>
            <a:br>
              <a:rPr lang="en-US" dirty="0"/>
            </a:br>
            <a:r>
              <a:rPr lang="en-US" dirty="0"/>
              <a:t>Hybrid simulation tools support </a:t>
            </a:r>
            <a:r>
              <a:rPr lang="en-US" b="1" dirty="0"/>
              <a:t>multiple modeling paradigms</a:t>
            </a:r>
            <a:r>
              <a:rPr lang="en-US" dirty="0"/>
              <a:t> in a single environment—typically:</a:t>
            </a:r>
          </a:p>
          <a:p>
            <a:r>
              <a:rPr lang="en-US" b="1" dirty="0"/>
              <a:t>Discrete-Event Simulation (DES)</a:t>
            </a:r>
            <a:r>
              <a:rPr lang="en-US" dirty="0"/>
              <a:t> – models events that occur at specific time points (e.g., a machine breakdown).</a:t>
            </a:r>
          </a:p>
          <a:p>
            <a:r>
              <a:rPr lang="en-US" b="1" dirty="0"/>
              <a:t>Continuous Simulation</a:t>
            </a:r>
            <a:r>
              <a:rPr lang="en-US" dirty="0"/>
              <a:t> – uses differential equations to model time-varying behavior (e.g., fluid flow, population growth).</a:t>
            </a:r>
          </a:p>
          <a:p>
            <a:r>
              <a:rPr lang="en-US" b="1" dirty="0"/>
              <a:t>Agent-Based Simulation (ABS)</a:t>
            </a:r>
            <a:r>
              <a:rPr lang="en-US" dirty="0"/>
              <a:t> – models independent entities interacting dynamically.</a:t>
            </a:r>
          </a:p>
          <a:p>
            <a:r>
              <a:rPr lang="en-US" b="1" dirty="0"/>
              <a:t>Advantages</a:t>
            </a:r>
            <a:r>
              <a:rPr lang="en-US" dirty="0"/>
              <a:t>:</a:t>
            </a:r>
          </a:p>
          <a:p>
            <a:r>
              <a:rPr lang="en-US" dirty="0"/>
              <a:t>Very </a:t>
            </a:r>
            <a:r>
              <a:rPr lang="en-US" b="1" dirty="0"/>
              <a:t>powerful and flexible</a:t>
            </a:r>
            <a:r>
              <a:rPr lang="en-US" dirty="0"/>
              <a:t>, as they combine the strengths of all paradigms.</a:t>
            </a:r>
          </a:p>
          <a:p>
            <a:r>
              <a:rPr lang="en-US" dirty="0"/>
              <a:t>Useful in real-world systems that include both continuous processes and autonomous agents (e.g., healthcare systems, transportation, logistics).</a:t>
            </a:r>
          </a:p>
          <a:p>
            <a:r>
              <a:rPr lang="en-US" b="1" dirty="0" err="1"/>
              <a:t>AnyLogic</a:t>
            </a:r>
            <a:r>
              <a:rPr lang="en-US" dirty="0"/>
              <a:t> is a leading tool that supports full hybrid modeling and provides graphical interfaces.</a:t>
            </a:r>
          </a:p>
          <a:p>
            <a:r>
              <a:rPr lang="en-US" b="1" dirty="0"/>
              <a:t>Disadvantages</a:t>
            </a:r>
            <a:r>
              <a:rPr lang="en-US" dirty="0"/>
              <a:t>:</a:t>
            </a:r>
          </a:p>
          <a:p>
            <a:r>
              <a:rPr lang="en-US" b="1" dirty="0"/>
              <a:t>Higher complexity</a:t>
            </a:r>
            <a:r>
              <a:rPr lang="en-US" dirty="0"/>
              <a:t> and learning curve.</a:t>
            </a:r>
          </a:p>
          <a:p>
            <a:r>
              <a:rPr lang="en-US" dirty="0"/>
              <a:t>Often </a:t>
            </a:r>
            <a:r>
              <a:rPr lang="en-US" b="1" dirty="0"/>
              <a:t>commercial</a:t>
            </a:r>
            <a:r>
              <a:rPr lang="en-US" dirty="0"/>
              <a:t> and may require licensing.</a:t>
            </a:r>
          </a:p>
          <a:p>
            <a:r>
              <a:rPr lang="en-US" dirty="0"/>
              <a:t>May require a deeper understanding of all modeling types.</a:t>
            </a:r>
          </a:p>
          <a:p>
            <a:pPr lvl="1"/>
            <a:endParaRPr lang="en-US" dirty="0"/>
          </a:p>
          <a:p>
            <a:endParaRPr lang="en-US" dirty="0"/>
          </a:p>
        </p:txBody>
      </p:sp>
      <p:sp>
        <p:nvSpPr>
          <p:cNvPr id="4" name="Slide Number Placeholder 3"/>
          <p:cNvSpPr>
            <a:spLocks noGrp="1"/>
          </p:cNvSpPr>
          <p:nvPr>
            <p:ph type="sldNum" sz="quarter" idx="5"/>
          </p:nvPr>
        </p:nvSpPr>
        <p:spPr/>
        <p:txBody>
          <a:bodyPr/>
          <a:lstStyle/>
          <a:p>
            <a:fld id="{86856EA3-D5FC-400C-84ED-CD71C2479320}" type="slidenum">
              <a:rPr lang="en-US" smtClean="0"/>
              <a:t>4</a:t>
            </a:fld>
            <a:endParaRPr lang="en-US"/>
          </a:p>
        </p:txBody>
      </p:sp>
    </p:spTree>
    <p:extLst>
      <p:ext uri="{BB962C8B-B14F-4D97-AF65-F5344CB8AC3E}">
        <p14:creationId xmlns:p14="http://schemas.microsoft.com/office/powerpoint/2010/main" val="3943323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Characteristics of GPSS: </a:t>
            </a:r>
          </a:p>
          <a:p>
            <a:r>
              <a:rPr lang="en-US" dirty="0"/>
              <a:t>The key features or characteristics of GPSS are given as: </a:t>
            </a:r>
          </a:p>
          <a:p>
            <a:r>
              <a:rPr lang="en-US" dirty="0"/>
              <a:t>1. Event-Driven Simulation: GPSS uses events to drive system changes and simulate dynamic processes. </a:t>
            </a:r>
          </a:p>
          <a:p>
            <a:r>
              <a:rPr lang="en-US" dirty="0"/>
              <a:t>2. Block-Oriented Modeling: The system is modelled using interconnected blocks, each representing a component or action. </a:t>
            </a:r>
          </a:p>
          <a:p>
            <a:r>
              <a:rPr lang="en-US" dirty="0"/>
              <a:t>3. Entity Creation and processing: GPSS allows defining, creating, and processing entities as they move through the system. </a:t>
            </a:r>
          </a:p>
          <a:p>
            <a:r>
              <a:rPr lang="en-US" dirty="0"/>
              <a:t>4. Statistical Processing: Built-in statistical tools help in evaluating system performance during simulation. </a:t>
            </a:r>
          </a:p>
          <a:p>
            <a:r>
              <a:rPr lang="en-US" dirty="0"/>
              <a:t>5. Flexibility: GPSS offers customization options to adapt simulations to various needs. </a:t>
            </a:r>
          </a:p>
        </p:txBody>
      </p:sp>
      <p:sp>
        <p:nvSpPr>
          <p:cNvPr id="4" name="Slide Number Placeholder 3"/>
          <p:cNvSpPr>
            <a:spLocks noGrp="1"/>
          </p:cNvSpPr>
          <p:nvPr>
            <p:ph type="sldNum" sz="quarter" idx="5"/>
          </p:nvPr>
        </p:nvSpPr>
        <p:spPr/>
        <p:txBody>
          <a:bodyPr/>
          <a:lstStyle/>
          <a:p>
            <a:fld id="{86856EA3-D5FC-400C-84ED-CD71C2479320}" type="slidenum">
              <a:rPr lang="en-US" smtClean="0"/>
              <a:t>5</a:t>
            </a:fld>
            <a:endParaRPr lang="en-US"/>
          </a:p>
        </p:txBody>
      </p:sp>
    </p:spTree>
    <p:extLst>
      <p:ext uri="{BB962C8B-B14F-4D97-AF65-F5344CB8AC3E}">
        <p14:creationId xmlns:p14="http://schemas.microsoft.com/office/powerpoint/2010/main" val="1804940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856EA3-D5FC-400C-84ED-CD71C2479320}" type="slidenum">
              <a:rPr lang="en-US" smtClean="0"/>
              <a:t>6</a:t>
            </a:fld>
            <a:endParaRPr lang="en-US"/>
          </a:p>
        </p:txBody>
      </p:sp>
    </p:spTree>
    <p:extLst>
      <p:ext uri="{BB962C8B-B14F-4D97-AF65-F5344CB8AC3E}">
        <p14:creationId xmlns:p14="http://schemas.microsoft.com/office/powerpoint/2010/main" val="3894014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Example Applications of GPSS</a:t>
            </a:r>
          </a:p>
          <a:p>
            <a:r>
              <a:rPr lang="en-US" dirty="0"/>
              <a:t>GPSS is versatile and can be applied to a wide range of domains, especially for modeling discrete-event systems. Here are a couple of typical use cases:</a:t>
            </a:r>
          </a:p>
          <a:p>
            <a:pPr>
              <a:buFont typeface="+mj-lt"/>
              <a:buAutoNum type="arabicPeriod"/>
            </a:pPr>
            <a:r>
              <a:rPr lang="en-US" b="1" dirty="0"/>
              <a:t>Bank Teller Systems:</a:t>
            </a:r>
            <a:endParaRPr lang="en-US" dirty="0"/>
          </a:p>
          <a:p>
            <a:pPr marL="742950" lvl="1" indent="-285750">
              <a:buFont typeface="+mj-lt"/>
              <a:buAutoNum type="arabicPeriod"/>
            </a:pPr>
            <a:r>
              <a:rPr lang="en-US" b="1" dirty="0"/>
              <a:t>Scenario</a:t>
            </a:r>
            <a:r>
              <a:rPr lang="en-US" dirty="0"/>
              <a:t>: Customers arrive at a bank, and they are either served by available tellers or wait in a queue.</a:t>
            </a:r>
          </a:p>
          <a:p>
            <a:pPr marL="742950" lvl="1" indent="-285750">
              <a:buFont typeface="+mj-lt"/>
              <a:buAutoNum type="arabicPeriod"/>
            </a:pPr>
            <a:r>
              <a:rPr lang="en-US" dirty="0"/>
              <a:t>GPSS can model customer arrivals, service times, and the management of the queue, helping the bank understand factors like customer wait times and teller utilization.</a:t>
            </a:r>
          </a:p>
          <a:p>
            <a:pPr marL="742950" lvl="1" indent="-285750">
              <a:buFont typeface="+mj-lt"/>
              <a:buAutoNum type="arabicPeriod"/>
            </a:pPr>
            <a:r>
              <a:rPr lang="en-US" b="1" dirty="0"/>
              <a:t>Key Actions</a:t>
            </a:r>
            <a:r>
              <a:rPr lang="en-US" dirty="0"/>
              <a:t>:</a:t>
            </a:r>
          </a:p>
          <a:p>
            <a:pPr marL="1143000" lvl="2" indent="-228600">
              <a:buFont typeface="+mj-lt"/>
              <a:buAutoNum type="arabicPeriod"/>
            </a:pPr>
            <a:r>
              <a:rPr lang="en-US" b="1" dirty="0"/>
              <a:t>Arrival (GENERATE)</a:t>
            </a:r>
            <a:r>
              <a:rPr lang="en-US" dirty="0"/>
              <a:t>: Customers enter the system at regular intervals.</a:t>
            </a:r>
          </a:p>
          <a:p>
            <a:pPr marL="1143000" lvl="2" indent="-228600">
              <a:buFont typeface="+mj-lt"/>
              <a:buAutoNum type="arabicPeriod"/>
            </a:pPr>
            <a:r>
              <a:rPr lang="en-US" b="1" dirty="0"/>
              <a:t>Queue (QUEUE)</a:t>
            </a:r>
            <a:r>
              <a:rPr lang="en-US" dirty="0"/>
              <a:t>: If no teller is available, the customer waits in line.</a:t>
            </a:r>
          </a:p>
          <a:p>
            <a:pPr marL="1143000" lvl="2" indent="-228600">
              <a:buFont typeface="+mj-lt"/>
              <a:buAutoNum type="arabicPeriod"/>
            </a:pPr>
            <a:r>
              <a:rPr lang="en-US" b="1" dirty="0"/>
              <a:t>Seize (SEIZE)</a:t>
            </a:r>
            <a:r>
              <a:rPr lang="en-US" dirty="0"/>
              <a:t>: The customer is assigned to an available teller.</a:t>
            </a:r>
          </a:p>
          <a:p>
            <a:pPr marL="1143000" lvl="2" indent="-228600">
              <a:buFont typeface="+mj-lt"/>
              <a:buAutoNum type="arabicPeriod"/>
            </a:pPr>
            <a:r>
              <a:rPr lang="en-US" b="1" dirty="0"/>
              <a:t>Service (DEPART)</a:t>
            </a:r>
            <a:r>
              <a:rPr lang="en-US" dirty="0"/>
              <a:t>: After service, the customer leaves the system.</a:t>
            </a:r>
          </a:p>
          <a:p>
            <a:pPr>
              <a:buFont typeface="+mj-lt"/>
              <a:buAutoNum type="arabicPeriod"/>
            </a:pPr>
            <a:r>
              <a:rPr lang="en-US" b="1" dirty="0"/>
              <a:t>Traffic Flow:</a:t>
            </a:r>
            <a:endParaRPr lang="en-US" dirty="0"/>
          </a:p>
          <a:p>
            <a:pPr marL="742950" lvl="1" indent="-285750">
              <a:buFont typeface="+mj-lt"/>
              <a:buAutoNum type="arabicPeriod"/>
            </a:pPr>
            <a:r>
              <a:rPr lang="en-US" b="1" dirty="0"/>
              <a:t>Scenario</a:t>
            </a:r>
            <a:r>
              <a:rPr lang="en-US" dirty="0"/>
              <a:t>: Modeling vehicle movements at intersections or traffic lights.</a:t>
            </a:r>
          </a:p>
          <a:p>
            <a:pPr marL="742950" lvl="1" indent="-285750">
              <a:buFont typeface="+mj-lt"/>
              <a:buAutoNum type="arabicPeriod"/>
            </a:pPr>
            <a:r>
              <a:rPr lang="en-US" dirty="0"/>
              <a:t>GPSS can help optimize traffic flow, reduce congestion, and model the impact of changes to road conditions or traffic signal timings.</a:t>
            </a:r>
          </a:p>
          <a:p>
            <a:pPr marL="742950" lvl="1" indent="-285750">
              <a:buFont typeface="+mj-lt"/>
              <a:buAutoNum type="arabicPeriod"/>
            </a:pPr>
            <a:r>
              <a:rPr lang="en-US" b="1" dirty="0"/>
              <a:t>Key Actions</a:t>
            </a:r>
            <a:r>
              <a:rPr lang="en-US" dirty="0"/>
              <a:t>:</a:t>
            </a:r>
          </a:p>
          <a:p>
            <a:pPr marL="1143000" lvl="2" indent="-228600">
              <a:buFont typeface="+mj-lt"/>
              <a:buAutoNum type="arabicPeriod"/>
            </a:pPr>
            <a:r>
              <a:rPr lang="en-US" b="1" dirty="0"/>
              <a:t>Arrival (GENERATE)</a:t>
            </a:r>
            <a:r>
              <a:rPr lang="en-US" dirty="0"/>
              <a:t>: Vehicles arrive at the intersection.</a:t>
            </a:r>
          </a:p>
          <a:p>
            <a:pPr marL="1143000" lvl="2" indent="-228600">
              <a:buFont typeface="+mj-lt"/>
              <a:buAutoNum type="arabicPeriod"/>
            </a:pPr>
            <a:r>
              <a:rPr lang="en-US" b="1" dirty="0"/>
              <a:t>Queue (QUEUE)</a:t>
            </a:r>
            <a:r>
              <a:rPr lang="en-US" dirty="0"/>
              <a:t>: Vehicles wait in line when the intersection is busy.</a:t>
            </a:r>
          </a:p>
          <a:p>
            <a:pPr marL="1143000" lvl="2" indent="-228600">
              <a:buFont typeface="+mj-lt"/>
              <a:buAutoNum type="arabicPeriod"/>
            </a:pPr>
            <a:r>
              <a:rPr lang="en-US" b="1" dirty="0"/>
              <a:t>Seize (SEIZE)</a:t>
            </a:r>
            <a:r>
              <a:rPr lang="en-US" dirty="0"/>
              <a:t>: Vehicles get access to the intersection or traffic lane.</a:t>
            </a:r>
          </a:p>
          <a:p>
            <a:pPr marL="1143000" lvl="2" indent="-228600">
              <a:buFont typeface="+mj-lt"/>
              <a:buAutoNum type="arabicPeriod"/>
            </a:pPr>
            <a:r>
              <a:rPr lang="en-US" b="1" dirty="0"/>
              <a:t>Release (RELEASE)</a:t>
            </a:r>
            <a:r>
              <a:rPr lang="en-US" dirty="0"/>
              <a:t>: After passing through the intersection, vehicles exit the system.</a:t>
            </a:r>
          </a:p>
          <a:p>
            <a:r>
              <a:rPr lang="en-US" b="1" dirty="0"/>
              <a:t>Basic Structure of a GPSS Program</a:t>
            </a:r>
          </a:p>
          <a:p>
            <a:r>
              <a:rPr lang="en-US" dirty="0"/>
              <a:t>GPSS programs follow a simple structure with blocks, each serving a specific function in the simulation. The most common blocks include:</a:t>
            </a:r>
          </a:p>
          <a:p>
            <a:pPr>
              <a:buFont typeface="Arial" panose="020B0604020202020204" pitchFamily="34" charset="0"/>
              <a:buChar char="•"/>
            </a:pPr>
            <a:r>
              <a:rPr lang="en-US" b="1" dirty="0"/>
              <a:t>START</a:t>
            </a:r>
            <a:r>
              <a:rPr lang="en-US" dirty="0"/>
              <a:t>: Initializes the simulation by setting up the number of entities or time periods.</a:t>
            </a:r>
          </a:p>
          <a:p>
            <a:pPr>
              <a:buFont typeface="Arial" panose="020B0604020202020204" pitchFamily="34" charset="0"/>
              <a:buChar char="•"/>
            </a:pPr>
            <a:r>
              <a:rPr lang="en-US" b="1" dirty="0"/>
              <a:t>GENERATE</a:t>
            </a:r>
            <a:r>
              <a:rPr lang="en-US" dirty="0"/>
              <a:t>: Defines how entities (e.g., customers, vehicles) enter the system, typically with a time interval.</a:t>
            </a:r>
          </a:p>
          <a:p>
            <a:pPr>
              <a:buFont typeface="Arial" panose="020B0604020202020204" pitchFamily="34" charset="0"/>
              <a:buChar char="•"/>
            </a:pPr>
            <a:r>
              <a:rPr lang="en-US" b="1" dirty="0"/>
              <a:t>QUEUE</a:t>
            </a:r>
            <a:r>
              <a:rPr lang="en-US" dirty="0"/>
              <a:t>: Places entities in a waiting line if necessary.</a:t>
            </a:r>
          </a:p>
          <a:p>
            <a:pPr>
              <a:buFont typeface="Arial" panose="020B0604020202020204" pitchFamily="34" charset="0"/>
              <a:buChar char="•"/>
            </a:pPr>
            <a:r>
              <a:rPr lang="en-US" b="1" dirty="0"/>
              <a:t>SEIZE</a:t>
            </a:r>
            <a:r>
              <a:rPr lang="en-US" dirty="0"/>
              <a:t>: Allocates a resource to an entity (e.g., a teller or server).</a:t>
            </a:r>
          </a:p>
          <a:p>
            <a:pPr>
              <a:buFont typeface="Arial" panose="020B0604020202020204" pitchFamily="34" charset="0"/>
              <a:buChar char="•"/>
            </a:pPr>
            <a:r>
              <a:rPr lang="en-US" b="1" dirty="0"/>
              <a:t>RELEASE</a:t>
            </a:r>
            <a:r>
              <a:rPr lang="en-US" dirty="0"/>
              <a:t>: Frees the resource after use.</a:t>
            </a:r>
          </a:p>
          <a:p>
            <a:pPr>
              <a:buFont typeface="Arial" panose="020B0604020202020204" pitchFamily="34" charset="0"/>
              <a:buChar char="•"/>
            </a:pPr>
            <a:r>
              <a:rPr lang="en-US" b="1" dirty="0"/>
              <a:t>TERMINATE</a:t>
            </a:r>
            <a:r>
              <a:rPr lang="en-US" dirty="0"/>
              <a:t>: Ends the process for an entity, removing it from the system.</a:t>
            </a:r>
          </a:p>
          <a:p>
            <a:r>
              <a:rPr lang="en-US" b="1" dirty="0"/>
              <a:t>Example GPSS Code: Bank Queue Simulation</a:t>
            </a:r>
          </a:p>
          <a:p>
            <a:r>
              <a:rPr lang="en-US" dirty="0"/>
              <a:t>In this code example, we model a simple bank queue system where customers arrive, wait for a teller, get served, and then leave.</a:t>
            </a:r>
          </a:p>
          <a:p>
            <a:pPr rtl="0"/>
            <a:endParaRPr lang="en-US" dirty="0"/>
          </a:p>
          <a:p>
            <a:pPr rtl="0"/>
            <a:r>
              <a:rPr lang="en-US" dirty="0"/>
              <a:t>START 1 ; Start with one customer entity </a:t>
            </a:r>
          </a:p>
          <a:p>
            <a:pPr rtl="0"/>
            <a:r>
              <a:rPr lang="en-US" dirty="0"/>
              <a:t>GENERATE 5 ; Customers arrive every 5 minutes </a:t>
            </a:r>
          </a:p>
          <a:p>
            <a:pPr rtl="0"/>
            <a:r>
              <a:rPr lang="en-US" dirty="0"/>
              <a:t>QUEUE LINE ; Customers join the queue </a:t>
            </a:r>
          </a:p>
          <a:p>
            <a:pPr rtl="0"/>
            <a:r>
              <a:rPr lang="en-US" dirty="0"/>
              <a:t>SEIZE TELLER ; A teller is allocated to the customer </a:t>
            </a:r>
          </a:p>
          <a:p>
            <a:pPr rtl="0"/>
            <a:r>
              <a:rPr lang="en-US" dirty="0"/>
              <a:t>DEPART LINE ; The customer leaves the queue </a:t>
            </a:r>
          </a:p>
          <a:p>
            <a:pPr rtl="0"/>
            <a:r>
              <a:rPr lang="en-US" dirty="0"/>
              <a:t>RELEASE TELLER ; Teller is freed after service </a:t>
            </a:r>
          </a:p>
          <a:p>
            <a:pPr rtl="0"/>
            <a:r>
              <a:rPr lang="en-US" dirty="0"/>
              <a:t>TERMINATE 1 ; Customer exits the system </a:t>
            </a:r>
          </a:p>
          <a:p>
            <a:pPr>
              <a:buFont typeface="Arial" panose="020B0604020202020204" pitchFamily="34" charset="0"/>
              <a:buChar char="•"/>
            </a:pPr>
            <a:r>
              <a:rPr lang="en-US" b="1" dirty="0"/>
              <a:t>Explanation</a:t>
            </a:r>
            <a:r>
              <a:rPr lang="en-US" dirty="0"/>
              <a:t>:</a:t>
            </a:r>
          </a:p>
          <a:p>
            <a:pPr marL="742950" lvl="1" indent="-285750">
              <a:buFont typeface="Arial" panose="020B0604020202020204" pitchFamily="34" charset="0"/>
              <a:buChar char="•"/>
            </a:pPr>
            <a:r>
              <a:rPr lang="en-US" b="1" dirty="0"/>
              <a:t>START 1</a:t>
            </a:r>
            <a:r>
              <a:rPr lang="en-US" dirty="0"/>
              <a:t>: Initiates the simulation with one entity (customer).</a:t>
            </a:r>
          </a:p>
          <a:p>
            <a:pPr marL="742950" lvl="1" indent="-285750">
              <a:buFont typeface="Arial" panose="020B0604020202020204" pitchFamily="34" charset="0"/>
              <a:buChar char="•"/>
            </a:pPr>
            <a:r>
              <a:rPr lang="en-US" b="1" dirty="0"/>
              <a:t>GENERATE 5</a:t>
            </a:r>
            <a:r>
              <a:rPr lang="en-US" dirty="0"/>
              <a:t>: The first customer arrives after 5 minutes.</a:t>
            </a:r>
          </a:p>
          <a:p>
            <a:pPr marL="742950" lvl="1" indent="-285750">
              <a:buFont typeface="Arial" panose="020B0604020202020204" pitchFamily="34" charset="0"/>
              <a:buChar char="•"/>
            </a:pPr>
            <a:r>
              <a:rPr lang="en-US" b="1" dirty="0"/>
              <a:t>QUEUE LINE</a:t>
            </a:r>
            <a:r>
              <a:rPr lang="en-US" dirty="0"/>
              <a:t>: The customer joins a queue (if no teller is available).</a:t>
            </a:r>
          </a:p>
          <a:p>
            <a:pPr marL="742950" lvl="1" indent="-285750">
              <a:buFont typeface="Arial" panose="020B0604020202020204" pitchFamily="34" charset="0"/>
              <a:buChar char="•"/>
            </a:pPr>
            <a:r>
              <a:rPr lang="en-US" b="1" dirty="0"/>
              <a:t>SEIZE TELLER</a:t>
            </a:r>
            <a:r>
              <a:rPr lang="en-US" dirty="0"/>
              <a:t>: The customer is assigned to a teller.</a:t>
            </a:r>
          </a:p>
          <a:p>
            <a:pPr marL="742950" lvl="1" indent="-285750">
              <a:buFont typeface="Arial" panose="020B0604020202020204" pitchFamily="34" charset="0"/>
              <a:buChar char="•"/>
            </a:pPr>
            <a:r>
              <a:rPr lang="en-US" b="1" dirty="0"/>
              <a:t>DEPART LINE</a:t>
            </a:r>
            <a:r>
              <a:rPr lang="en-US" dirty="0"/>
              <a:t>: The customer leaves the queue after being served.</a:t>
            </a:r>
          </a:p>
          <a:p>
            <a:pPr marL="742950" lvl="1" indent="-285750">
              <a:buFont typeface="Arial" panose="020B0604020202020204" pitchFamily="34" charset="0"/>
              <a:buChar char="•"/>
            </a:pPr>
            <a:r>
              <a:rPr lang="en-US" b="1" dirty="0"/>
              <a:t>RELEASE TELLER</a:t>
            </a:r>
            <a:r>
              <a:rPr lang="en-US" dirty="0"/>
              <a:t>: After serving the customer, the teller becomes available for the next customer.</a:t>
            </a:r>
          </a:p>
          <a:p>
            <a:pPr marL="742950" lvl="1" indent="-285750">
              <a:buFont typeface="Arial" panose="020B0604020202020204" pitchFamily="34" charset="0"/>
              <a:buChar char="•"/>
            </a:pPr>
            <a:r>
              <a:rPr lang="en-US" b="1" dirty="0"/>
              <a:t>TERMINATE 1</a:t>
            </a:r>
            <a:r>
              <a:rPr lang="en-US" dirty="0"/>
              <a:t>: The customer exits the system.</a:t>
            </a:r>
          </a:p>
          <a:p>
            <a:r>
              <a:rPr lang="en-US" b="1" dirty="0"/>
              <a:t>Advantages of GPSS</a:t>
            </a:r>
          </a:p>
          <a:p>
            <a:pPr>
              <a:buFont typeface="+mj-lt"/>
              <a:buAutoNum type="arabicPeriod"/>
            </a:pPr>
            <a:r>
              <a:rPr lang="en-US" b="1" dirty="0"/>
              <a:t>Ease of Use</a:t>
            </a:r>
            <a:r>
              <a:rPr lang="en-US" dirty="0"/>
              <a:t>: GPSS is simple to use for modeling discrete systems, especially for those who may not be expert programmers.</a:t>
            </a:r>
          </a:p>
          <a:p>
            <a:pPr>
              <a:buFont typeface="+mj-lt"/>
              <a:buAutoNum type="arabicPeriod"/>
            </a:pPr>
            <a:r>
              <a:rPr lang="en-US" b="1" dirty="0"/>
              <a:t>Predefined Blocks</a:t>
            </a:r>
            <a:r>
              <a:rPr lang="en-US" dirty="0"/>
              <a:t>: The use of predefined blocks (such as GENERATE, QUEUE, SEIZE, etc.) makes coding more intuitive.</a:t>
            </a:r>
          </a:p>
          <a:p>
            <a:pPr>
              <a:buFont typeface="+mj-lt"/>
              <a:buAutoNum type="arabicPeriod"/>
            </a:pPr>
            <a:r>
              <a:rPr lang="en-US" b="1" dirty="0"/>
              <a:t>Statistical Analysis</a:t>
            </a:r>
            <a:r>
              <a:rPr lang="en-US" dirty="0"/>
              <a:t>: GPSS automatically generates key system metrics like average wait times, queue lengths, and resource utilization, which helps in performance evaluation.</a:t>
            </a:r>
          </a:p>
          <a:p>
            <a:pPr>
              <a:buFont typeface="+mj-lt"/>
              <a:buAutoNum type="arabicPeriod"/>
            </a:pPr>
            <a:r>
              <a:rPr lang="en-US" b="1" dirty="0"/>
              <a:t>Application to Various Fields</a:t>
            </a:r>
            <a:r>
              <a:rPr lang="en-US" dirty="0"/>
              <a:t>: It is well-suited for a range of industries, including banking, healthcare, manufacturing, and logistics.</a:t>
            </a:r>
          </a:p>
          <a:p>
            <a:r>
              <a:rPr lang="en-US" b="1" dirty="0"/>
              <a:t>Limitations of GPSS</a:t>
            </a:r>
          </a:p>
          <a:p>
            <a:pPr>
              <a:buFont typeface="+mj-lt"/>
              <a:buAutoNum type="arabicPeriod"/>
            </a:pPr>
            <a:r>
              <a:rPr lang="en-US" b="1" dirty="0"/>
              <a:t>Limited Flexibility</a:t>
            </a:r>
            <a:r>
              <a:rPr lang="en-US" dirty="0"/>
              <a:t>: GPSS is mainly designed for discrete-event systems and may not be ideal for continuous systems (e.g., fluid dynamics, heat transfer).</a:t>
            </a:r>
          </a:p>
          <a:p>
            <a:pPr>
              <a:buFont typeface="+mj-lt"/>
              <a:buAutoNum type="arabicPeriod"/>
            </a:pPr>
            <a:r>
              <a:rPr lang="en-US" b="1" dirty="0"/>
              <a:t>Not Ideal for Large Systems</a:t>
            </a:r>
            <a:r>
              <a:rPr lang="en-US" dirty="0"/>
              <a:t>: For complex, large-scale systems with multiple interacting components, GPSS may not be as efficient as other modern tools.</a:t>
            </a:r>
          </a:p>
          <a:p>
            <a:pPr>
              <a:buFont typeface="+mj-lt"/>
              <a:buAutoNum type="arabicPeriod"/>
            </a:pPr>
            <a:r>
              <a:rPr lang="en-US" b="1" dirty="0"/>
              <a:t>Requires Understanding of Block-Based Programming</a:t>
            </a:r>
            <a:r>
              <a:rPr lang="en-US" dirty="0"/>
              <a:t>: Although the syntax is simpler, users need to understand the logic behind block-based programming to build more complex simulations.</a:t>
            </a:r>
          </a:p>
          <a:p>
            <a:endParaRPr lang="en-US" dirty="0"/>
          </a:p>
        </p:txBody>
      </p:sp>
      <p:sp>
        <p:nvSpPr>
          <p:cNvPr id="4" name="Slide Number Placeholder 3"/>
          <p:cNvSpPr>
            <a:spLocks noGrp="1"/>
          </p:cNvSpPr>
          <p:nvPr>
            <p:ph type="sldNum" sz="quarter" idx="5"/>
          </p:nvPr>
        </p:nvSpPr>
        <p:spPr/>
        <p:txBody>
          <a:bodyPr/>
          <a:lstStyle/>
          <a:p>
            <a:fld id="{86856EA3-D5FC-400C-84ED-CD71C2479320}" type="slidenum">
              <a:rPr lang="en-US" smtClean="0"/>
              <a:t>8</a:t>
            </a:fld>
            <a:endParaRPr lang="en-US"/>
          </a:p>
        </p:txBody>
      </p:sp>
    </p:spTree>
    <p:extLst>
      <p:ext uri="{BB962C8B-B14F-4D97-AF65-F5344CB8AC3E}">
        <p14:creationId xmlns:p14="http://schemas.microsoft.com/office/powerpoint/2010/main" val="3297616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 : The GENERATE block is essential for introducing new entities into the simulation. Its parameters include Mean, which represents the average time between the creation of entities (e.g., a mean of 5.0 indicates an entity is generated every 5 time units), and Modifier, which can adjust the mean. The Offset is an additional time added to this generation interval, while Count specifies how many entities to generate (default is 1). Finally, Priority determines the importance of these entities, influencing how they are processed relative to others. </a:t>
            </a:r>
          </a:p>
          <a:p>
            <a:endParaRPr lang="en-US" dirty="0"/>
          </a:p>
          <a:p>
            <a:r>
              <a:rPr lang="en-US" dirty="0"/>
              <a:t>TERMINATE: The TERMINATE block is used to end the lifecycle of entities in the simulation. The parameter Units specifies how many entities are to be terminated (commonly set to one). This block is crucial for modeling the completion of services or processes, signifying that an entity has finished its journey in the system. </a:t>
            </a:r>
          </a:p>
        </p:txBody>
      </p:sp>
      <p:sp>
        <p:nvSpPr>
          <p:cNvPr id="4" name="Slide Number Placeholder 3"/>
          <p:cNvSpPr>
            <a:spLocks noGrp="1"/>
          </p:cNvSpPr>
          <p:nvPr>
            <p:ph type="sldNum" sz="quarter" idx="5"/>
          </p:nvPr>
        </p:nvSpPr>
        <p:spPr/>
        <p:txBody>
          <a:bodyPr/>
          <a:lstStyle/>
          <a:p>
            <a:fld id="{86856EA3-D5FC-400C-84ED-CD71C2479320}" type="slidenum">
              <a:rPr lang="en-US" smtClean="0"/>
              <a:t>10</a:t>
            </a:fld>
            <a:endParaRPr lang="en-US"/>
          </a:p>
        </p:txBody>
      </p:sp>
    </p:spTree>
    <p:extLst>
      <p:ext uri="{BB962C8B-B14F-4D97-AF65-F5344CB8AC3E}">
        <p14:creationId xmlns:p14="http://schemas.microsoft.com/office/powerpoint/2010/main" val="3944979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QUEUE: The QUEUE block represents waiting lines for entities needing service or resources. The parameter Queue No. identifies the specific queue being referenced, while Units indicates how many entities are currently waiting in that queue. This block is vital for modeling congestion and system bottlenecks.</a:t>
            </a:r>
          </a:p>
          <a:p>
            <a:endParaRPr lang="en-US" dirty="0"/>
          </a:p>
          <a:p>
            <a:endParaRPr lang="en-US" dirty="0"/>
          </a:p>
          <a:p>
            <a:r>
              <a:rPr lang="en-US" dirty="0"/>
              <a:t>DEPART: The DEPART block indicates that entities are leaving a queue before receiving the necessary service. Its parameters include Queue No., which specifies the queue from which the entity is departing, and Units, denoting how many units are departing. This block helps simulate the throughput of the system. </a:t>
            </a:r>
          </a:p>
        </p:txBody>
      </p:sp>
      <p:sp>
        <p:nvSpPr>
          <p:cNvPr id="4" name="Slide Number Placeholder 3"/>
          <p:cNvSpPr>
            <a:spLocks noGrp="1"/>
          </p:cNvSpPr>
          <p:nvPr>
            <p:ph type="sldNum" sz="quarter" idx="5"/>
          </p:nvPr>
        </p:nvSpPr>
        <p:spPr/>
        <p:txBody>
          <a:bodyPr/>
          <a:lstStyle/>
          <a:p>
            <a:fld id="{86856EA3-D5FC-400C-84ED-CD71C2479320}" type="slidenum">
              <a:rPr lang="en-US" smtClean="0"/>
              <a:t>11</a:t>
            </a:fld>
            <a:endParaRPr lang="en-US"/>
          </a:p>
        </p:txBody>
      </p:sp>
    </p:spTree>
    <p:extLst>
      <p:ext uri="{BB962C8B-B14F-4D97-AF65-F5344CB8AC3E}">
        <p14:creationId xmlns:p14="http://schemas.microsoft.com/office/powerpoint/2010/main" val="35803985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SEIZE: The SEIZE block allocates a resource or facility to an entity. The key parameter here is Facility No., which indicates which specific resource is being seized (e.g., a machine or server). This block is essential for simulating resource allocation before an entity can proceed with processing.</a:t>
            </a:r>
          </a:p>
          <a:p>
            <a:endParaRPr lang="en-US" dirty="0"/>
          </a:p>
          <a:p>
            <a:r>
              <a:rPr lang="en-US" dirty="0"/>
              <a:t>RELEASE: In contrast to SEIZE, the RELEASE block is responsible for freeing up resources after an entity has completed its task. The parameter Facility No. specifies the resource that is being released. This block helps to simulate the return of resources back to the system, making them available for other entities. </a:t>
            </a:r>
          </a:p>
        </p:txBody>
      </p:sp>
      <p:sp>
        <p:nvSpPr>
          <p:cNvPr id="4" name="Slide Number Placeholder 3"/>
          <p:cNvSpPr>
            <a:spLocks noGrp="1"/>
          </p:cNvSpPr>
          <p:nvPr>
            <p:ph type="sldNum" sz="quarter" idx="5"/>
          </p:nvPr>
        </p:nvSpPr>
        <p:spPr/>
        <p:txBody>
          <a:bodyPr/>
          <a:lstStyle/>
          <a:p>
            <a:fld id="{86856EA3-D5FC-400C-84ED-CD71C2479320}" type="slidenum">
              <a:rPr lang="en-US" smtClean="0"/>
              <a:t>12</a:t>
            </a:fld>
            <a:endParaRPr lang="en-US"/>
          </a:p>
        </p:txBody>
      </p:sp>
    </p:spTree>
    <p:extLst>
      <p:ext uri="{BB962C8B-B14F-4D97-AF65-F5344CB8AC3E}">
        <p14:creationId xmlns:p14="http://schemas.microsoft.com/office/powerpoint/2010/main" val="873993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 The ADVANCE block simulates the processing time an entity requires. Its primary parameter is Mean, which indicates the average duration the entity will spend in this block (e.g., a mean of 3.0 signifies it takes an average of 3 time units for processing). The Modifier can further adjust this mean time, allowing for variations in processing duration. </a:t>
            </a:r>
          </a:p>
          <a:p>
            <a:endParaRPr lang="en-US" dirty="0"/>
          </a:p>
          <a:p>
            <a:r>
              <a:rPr lang="en-US" dirty="0"/>
              <a:t>TRANSFER: The TRANSFER block is utilized for controlling the movement of entities between different parts of the simulation, such as from one queue to another. The parameter Transfer Probability indicates the likelihood that an entity will move to a specific destination (e.g., a probability of 0.4 means there is a 40% chance of transfer). This block adds a level of complexity and realism to the simulation by modeling decision-making processes. </a:t>
            </a:r>
          </a:p>
        </p:txBody>
      </p:sp>
      <p:sp>
        <p:nvSpPr>
          <p:cNvPr id="4" name="Slide Number Placeholder 3"/>
          <p:cNvSpPr>
            <a:spLocks noGrp="1"/>
          </p:cNvSpPr>
          <p:nvPr>
            <p:ph type="sldNum" sz="quarter" idx="5"/>
          </p:nvPr>
        </p:nvSpPr>
        <p:spPr/>
        <p:txBody>
          <a:bodyPr/>
          <a:lstStyle/>
          <a:p>
            <a:fld id="{86856EA3-D5FC-400C-84ED-CD71C2479320}" type="slidenum">
              <a:rPr lang="en-US" smtClean="0"/>
              <a:t>13</a:t>
            </a:fld>
            <a:endParaRPr lang="en-US"/>
          </a:p>
        </p:txBody>
      </p:sp>
    </p:spTree>
    <p:extLst>
      <p:ext uri="{BB962C8B-B14F-4D97-AF65-F5344CB8AC3E}">
        <p14:creationId xmlns:p14="http://schemas.microsoft.com/office/powerpoint/2010/main" val="1404353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 The ENTER block adds entities to a designated storage area or queue within the simulation. Its parameters include Storage No., which identifies the specific storage location (e.g., QUEUE1), and Units, which indicates the number of entities entering the storage (typically one). This block is essential for modeling waiting areas where entities can queue up for service.</a:t>
            </a:r>
          </a:p>
          <a:p>
            <a:endParaRPr lang="en-US" dirty="0"/>
          </a:p>
          <a:p>
            <a:r>
              <a:rPr lang="en-US" dirty="0"/>
              <a:t>LEAVE: The LEAVE block signifies that entities are exiting a storage area or queue after being serviced. The parameters include Storage No., identifying the storage area from which the entity is departing, and Units, indicating how many units are leaving. This block is important for tracking the flow of entities out of waiting areas. </a:t>
            </a:r>
          </a:p>
        </p:txBody>
      </p:sp>
      <p:sp>
        <p:nvSpPr>
          <p:cNvPr id="4" name="Slide Number Placeholder 3"/>
          <p:cNvSpPr>
            <a:spLocks noGrp="1"/>
          </p:cNvSpPr>
          <p:nvPr>
            <p:ph type="sldNum" sz="quarter" idx="5"/>
          </p:nvPr>
        </p:nvSpPr>
        <p:spPr/>
        <p:txBody>
          <a:bodyPr/>
          <a:lstStyle/>
          <a:p>
            <a:fld id="{86856EA3-D5FC-400C-84ED-CD71C2479320}" type="slidenum">
              <a:rPr lang="en-US" smtClean="0"/>
              <a:t>14</a:t>
            </a:fld>
            <a:endParaRPr lang="en-US"/>
          </a:p>
        </p:txBody>
      </p:sp>
    </p:spTree>
    <p:extLst>
      <p:ext uri="{BB962C8B-B14F-4D97-AF65-F5344CB8AC3E}">
        <p14:creationId xmlns:p14="http://schemas.microsoft.com/office/powerpoint/2010/main" val="11131071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GENERATE 5,0</a:t>
            </a:r>
          </a:p>
          <a:p>
            <a:pPr marL="0" indent="0">
              <a:buNone/>
            </a:pPr>
            <a:r>
              <a:rPr lang="en-US" dirty="0"/>
              <a:t>QUEUE Q</a:t>
            </a:r>
          </a:p>
          <a:p>
            <a:pPr marL="0" indent="0">
              <a:buNone/>
            </a:pPr>
            <a:r>
              <a:rPr lang="en-US" dirty="0"/>
              <a:t>SEIZE INSPECTOR</a:t>
            </a:r>
          </a:p>
          <a:p>
            <a:pPr marL="0" indent="0">
              <a:buNone/>
            </a:pPr>
            <a:r>
              <a:rPr lang="en-US" dirty="0"/>
              <a:t>DEPART Q</a:t>
            </a:r>
          </a:p>
          <a:p>
            <a:pPr marL="0" indent="0">
              <a:buNone/>
            </a:pPr>
            <a:r>
              <a:rPr lang="en-US" dirty="0"/>
              <a:t>ADVANCE 4,3</a:t>
            </a:r>
          </a:p>
          <a:p>
            <a:pPr marL="0" indent="0">
              <a:buNone/>
            </a:pPr>
            <a:r>
              <a:rPr lang="en-US" dirty="0"/>
              <a:t>RELEASE INSPECTOR</a:t>
            </a:r>
          </a:p>
          <a:p>
            <a:pPr marL="0" indent="0">
              <a:buNone/>
            </a:pPr>
            <a:r>
              <a:rPr lang="en-US" dirty="0"/>
              <a:t>TRANSFER 0.15, Acc, Rej</a:t>
            </a:r>
          </a:p>
          <a:p>
            <a:pPr marL="0" indent="0">
              <a:buNone/>
            </a:pPr>
            <a:r>
              <a:rPr lang="en-US" dirty="0"/>
              <a:t>Acc TERMINATE 1</a:t>
            </a:r>
          </a:p>
          <a:p>
            <a:pPr marL="0" indent="0">
              <a:buNone/>
            </a:pPr>
            <a:r>
              <a:rPr lang="en-US" dirty="0"/>
              <a:t>Rej TERMINATE 1</a:t>
            </a:r>
          </a:p>
          <a:p>
            <a:pPr marL="0" indent="0">
              <a:buNone/>
            </a:pPr>
            <a:r>
              <a:rPr lang="en-US" dirty="0"/>
              <a:t>START 100</a:t>
            </a:r>
          </a:p>
          <a:p>
            <a:endParaRPr lang="en-US" dirty="0"/>
          </a:p>
        </p:txBody>
      </p:sp>
      <p:sp>
        <p:nvSpPr>
          <p:cNvPr id="4" name="Slide Number Placeholder 3"/>
          <p:cNvSpPr>
            <a:spLocks noGrp="1"/>
          </p:cNvSpPr>
          <p:nvPr>
            <p:ph type="sldNum" sz="quarter" idx="5"/>
          </p:nvPr>
        </p:nvSpPr>
        <p:spPr/>
        <p:txBody>
          <a:bodyPr/>
          <a:lstStyle/>
          <a:p>
            <a:fld id="{86856EA3-D5FC-400C-84ED-CD71C2479320}" type="slidenum">
              <a:rPr lang="en-US" smtClean="0"/>
              <a:t>16</a:t>
            </a:fld>
            <a:endParaRPr lang="en-US"/>
          </a:p>
        </p:txBody>
      </p:sp>
    </p:spTree>
    <p:extLst>
      <p:ext uri="{BB962C8B-B14F-4D97-AF65-F5344CB8AC3E}">
        <p14:creationId xmlns:p14="http://schemas.microsoft.com/office/powerpoint/2010/main" val="1148790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is SIMSCRIPT?</a:t>
            </a:r>
          </a:p>
          <a:p>
            <a:pPr>
              <a:buFont typeface="Arial" panose="020B0604020202020204" pitchFamily="34" charset="0"/>
              <a:buChar char="•"/>
            </a:pPr>
            <a:r>
              <a:rPr lang="en-US" b="1" dirty="0"/>
              <a:t>SIMSCRIPT</a:t>
            </a:r>
            <a:r>
              <a:rPr lang="en-US" dirty="0"/>
              <a:t> is a high-level, general-purpose simulation language primarily designed for modeling discrete-event systems, though it can also handle continuous systems.</a:t>
            </a:r>
          </a:p>
          <a:p>
            <a:pPr>
              <a:buFont typeface="Arial" panose="020B0604020202020204" pitchFamily="34" charset="0"/>
              <a:buChar char="•"/>
            </a:pPr>
            <a:r>
              <a:rPr lang="en-US" dirty="0"/>
              <a:t>It’s ideal for simulating complex systems where entities interact with each other over time, such as manufacturing, transportation, logistics, and healthcare systems.</a:t>
            </a:r>
          </a:p>
          <a:p>
            <a:pPr>
              <a:buFont typeface="Arial" panose="020B0604020202020204" pitchFamily="34" charset="0"/>
              <a:buChar char="•"/>
            </a:pPr>
            <a:r>
              <a:rPr lang="en-US" b="1" dirty="0"/>
              <a:t>Historical Context</a:t>
            </a:r>
            <a:r>
              <a:rPr lang="en-US" dirty="0"/>
              <a:t>: Developed in the early 1960s, SIMSCRIPT was one of the first successful simulation languages and has since been updated (SIMSCRIPT II, III) for modern computing environments.</a:t>
            </a:r>
          </a:p>
          <a:p>
            <a:pPr>
              <a:buFont typeface="Arial" panose="020B0604020202020204" pitchFamily="34" charset="0"/>
              <a:buChar char="•"/>
            </a:pPr>
            <a:r>
              <a:rPr lang="en-US" b="1" dirty="0"/>
              <a:t>Key Strengths</a:t>
            </a:r>
            <a:r>
              <a:rPr lang="en-US" dirty="0"/>
              <a:t>: The language is particularly powerful for large-scale systems with complex processes and interactions.</a:t>
            </a:r>
          </a:p>
          <a:p>
            <a:r>
              <a:rPr lang="en-US" b="1" dirty="0"/>
              <a:t>Program Organization in SIMSCRIPT</a:t>
            </a:r>
          </a:p>
          <a:p>
            <a:r>
              <a:rPr lang="en-US" dirty="0"/>
              <a:t>SIMSCRIPT programs follow a structured approach consisting of three key sections: </a:t>
            </a:r>
            <a:r>
              <a:rPr lang="en-US" b="1" dirty="0"/>
              <a:t>Declarations</a:t>
            </a:r>
            <a:r>
              <a:rPr lang="en-US" dirty="0"/>
              <a:t>, </a:t>
            </a:r>
            <a:r>
              <a:rPr lang="en-US" b="1" dirty="0"/>
              <a:t>Process Descriptions</a:t>
            </a:r>
            <a:r>
              <a:rPr lang="en-US" dirty="0"/>
              <a:t>, and the </a:t>
            </a:r>
            <a:r>
              <a:rPr lang="en-US" b="1" dirty="0"/>
              <a:t>Main Program</a:t>
            </a:r>
            <a:r>
              <a:rPr lang="en-US" dirty="0"/>
              <a:t>. Each of these sections serves a specific function within the simulation model.</a:t>
            </a:r>
          </a:p>
          <a:p>
            <a:r>
              <a:rPr lang="en-US" b="1" dirty="0"/>
              <a:t>1. Declarations</a:t>
            </a:r>
          </a:p>
          <a:p>
            <a:pPr>
              <a:buFont typeface="Arial" panose="020B0604020202020204" pitchFamily="34" charset="0"/>
              <a:buChar char="•"/>
            </a:pPr>
            <a:r>
              <a:rPr lang="en-US" b="1" dirty="0"/>
              <a:t>Purpose</a:t>
            </a:r>
            <a:r>
              <a:rPr lang="en-US" dirty="0"/>
              <a:t>: This is where you define the key elements of the simulation, such as entities, resources, attributes, and events.</a:t>
            </a:r>
          </a:p>
          <a:p>
            <a:pPr>
              <a:buFont typeface="Arial" panose="020B0604020202020204" pitchFamily="34" charset="0"/>
              <a:buChar char="•"/>
            </a:pPr>
            <a:r>
              <a:rPr lang="en-US" b="1" dirty="0"/>
              <a:t>Entities</a:t>
            </a:r>
            <a:r>
              <a:rPr lang="en-US" dirty="0"/>
              <a:t> represent the things being modeled (e.g., customers, machines, trucks, patients, etc.). Each entity has its own lifecycle and can participate in different events or processes.</a:t>
            </a:r>
          </a:p>
          <a:p>
            <a:pPr>
              <a:buFont typeface="Arial" panose="020B0604020202020204" pitchFamily="34" charset="0"/>
              <a:buChar char="•"/>
            </a:pPr>
            <a:r>
              <a:rPr lang="en-US" b="1" dirty="0"/>
              <a:t>Attributes</a:t>
            </a:r>
            <a:r>
              <a:rPr lang="en-US" dirty="0"/>
              <a:t> are properties or characteristics associated with entities, which can change over time (e.g., a customer’s service time or the inventory level of a warehouse).</a:t>
            </a:r>
          </a:p>
          <a:p>
            <a:pPr>
              <a:buFont typeface="Arial" panose="020B0604020202020204" pitchFamily="34" charset="0"/>
              <a:buChar char="•"/>
            </a:pPr>
            <a:r>
              <a:rPr lang="en-US" b="1" dirty="0"/>
              <a:t>Events</a:t>
            </a:r>
            <a:r>
              <a:rPr lang="en-US" dirty="0"/>
              <a:t> define actions that occur at specific points in time (e.g., the arrival of a customer, a machine breakdown, or the completion of a task).</a:t>
            </a:r>
          </a:p>
          <a:p>
            <a:r>
              <a:rPr lang="en-US" b="1" dirty="0"/>
              <a:t>Example Declarations</a:t>
            </a:r>
            <a:r>
              <a:rPr lang="en-US" dirty="0"/>
              <a:t>:</a:t>
            </a:r>
          </a:p>
          <a:p>
            <a:pPr rtl="0"/>
            <a:r>
              <a:rPr lang="en-US" dirty="0"/>
              <a:t>DEFINE CUSTOMER AS ENTITY ; A customer entity DEFINE SERVICE_TIME AS REAL ; Service time attribute for each customer DEFINE LINE_QUEUE AS QUEUE ; A queue for customers waiting for service DEFINE TELLER AS RESOURCE ; A resource (teller) to serve customers </a:t>
            </a:r>
          </a:p>
          <a:p>
            <a:pPr>
              <a:buFont typeface="Arial" panose="020B0604020202020204" pitchFamily="34" charset="0"/>
              <a:buChar char="•"/>
            </a:pPr>
            <a:r>
              <a:rPr lang="en-US" b="1" dirty="0"/>
              <a:t>Entity</a:t>
            </a:r>
            <a:r>
              <a:rPr lang="en-US" dirty="0"/>
              <a:t> CUSTOMER: Represents an individual customer in the simulation. Each customer has an instance of attributes like SERVICE_TIME.</a:t>
            </a:r>
          </a:p>
          <a:p>
            <a:pPr>
              <a:buFont typeface="Arial" panose="020B0604020202020204" pitchFamily="34" charset="0"/>
              <a:buChar char="•"/>
            </a:pPr>
            <a:r>
              <a:rPr lang="en-US" b="1" dirty="0"/>
              <a:t>Queue</a:t>
            </a:r>
            <a:r>
              <a:rPr lang="en-US" dirty="0"/>
              <a:t> LINE_QUEUE: This holds customers who are waiting for service.</a:t>
            </a:r>
          </a:p>
          <a:p>
            <a:pPr>
              <a:buFont typeface="Arial" panose="020B0604020202020204" pitchFamily="34" charset="0"/>
              <a:buChar char="•"/>
            </a:pPr>
            <a:r>
              <a:rPr lang="en-US" b="1" dirty="0"/>
              <a:t>Resource</a:t>
            </a:r>
            <a:r>
              <a:rPr lang="en-US" dirty="0"/>
              <a:t> TELLER: The teller (a resource) that will serve customers.</a:t>
            </a:r>
          </a:p>
          <a:p>
            <a:r>
              <a:rPr lang="en-US" b="1" dirty="0"/>
              <a:t>2. Process Descriptions</a:t>
            </a:r>
          </a:p>
          <a:p>
            <a:pPr>
              <a:buFont typeface="Arial" panose="020B0604020202020204" pitchFamily="34" charset="0"/>
              <a:buChar char="•"/>
            </a:pPr>
            <a:r>
              <a:rPr lang="en-US" b="1" dirty="0"/>
              <a:t>Purpose</a:t>
            </a:r>
            <a:r>
              <a:rPr lang="en-US" dirty="0"/>
              <a:t>: This section contains the logic and flow of the simulation—how entities move through the system and interact with resources.</a:t>
            </a:r>
          </a:p>
          <a:p>
            <a:pPr>
              <a:buFont typeface="Arial" panose="020B0604020202020204" pitchFamily="34" charset="0"/>
              <a:buChar char="•"/>
            </a:pPr>
            <a:r>
              <a:rPr lang="en-US" b="1" dirty="0"/>
              <a:t>Process Descriptions</a:t>
            </a:r>
            <a:r>
              <a:rPr lang="en-US" dirty="0"/>
              <a:t> define what happens to entities at various stages in the simulation. These processes can include actions like arrival, service, queuing, and departure.</a:t>
            </a:r>
          </a:p>
          <a:p>
            <a:pPr>
              <a:buFont typeface="Arial" panose="020B0604020202020204" pitchFamily="34" charset="0"/>
              <a:buChar char="•"/>
            </a:pPr>
            <a:r>
              <a:rPr lang="en-US" dirty="0"/>
              <a:t>The processes are defined using procedural code and can interact with various simulation entities and resources. These actions are triggered by events such as entity arrivals or resource availability.</a:t>
            </a:r>
          </a:p>
          <a:p>
            <a:r>
              <a:rPr lang="en-US" b="1" dirty="0"/>
              <a:t>Key Actions in Process Descriptions</a:t>
            </a:r>
            <a:r>
              <a:rPr lang="en-US" dirty="0"/>
              <a:t>:</a:t>
            </a:r>
          </a:p>
          <a:p>
            <a:pPr>
              <a:buFont typeface="Arial" panose="020B0604020202020204" pitchFamily="34" charset="0"/>
              <a:buChar char="•"/>
            </a:pPr>
            <a:r>
              <a:rPr lang="en-US" b="1" dirty="0"/>
              <a:t>CREATE</a:t>
            </a:r>
            <a:r>
              <a:rPr lang="en-US" dirty="0"/>
              <a:t>: Defines when and how entities are created (e.g., customer arrivals).</a:t>
            </a:r>
          </a:p>
          <a:p>
            <a:pPr>
              <a:buFont typeface="Arial" panose="020B0604020202020204" pitchFamily="34" charset="0"/>
              <a:buChar char="•"/>
            </a:pPr>
            <a:r>
              <a:rPr lang="en-US" b="1" dirty="0"/>
              <a:t>WAIT</a:t>
            </a:r>
            <a:r>
              <a:rPr lang="en-US" dirty="0"/>
              <a:t>: Pauses the simulation until a certain condition is met (e.g., a customer waits for a free teller).</a:t>
            </a:r>
          </a:p>
          <a:p>
            <a:pPr>
              <a:buFont typeface="Arial" panose="020B0604020202020204" pitchFamily="34" charset="0"/>
              <a:buChar char="•"/>
            </a:pPr>
            <a:r>
              <a:rPr lang="en-US" b="1" dirty="0"/>
              <a:t>SEIZE</a:t>
            </a:r>
            <a:r>
              <a:rPr lang="en-US" dirty="0"/>
              <a:t>: Allocates a resource (e.g., a teller is assigned to serve the customer).</a:t>
            </a:r>
          </a:p>
          <a:p>
            <a:pPr>
              <a:buFont typeface="Arial" panose="020B0604020202020204" pitchFamily="34" charset="0"/>
              <a:buChar char="•"/>
            </a:pPr>
            <a:r>
              <a:rPr lang="en-US" b="1" dirty="0"/>
              <a:t>RELEASE</a:t>
            </a:r>
            <a:r>
              <a:rPr lang="en-US" dirty="0"/>
              <a:t>: Frees a resource after use (e.g., after serving the customer, the teller is released).</a:t>
            </a:r>
          </a:p>
          <a:p>
            <a:pPr>
              <a:buFont typeface="Arial" panose="020B0604020202020204" pitchFamily="34" charset="0"/>
              <a:buChar char="•"/>
            </a:pPr>
            <a:r>
              <a:rPr lang="en-US" b="1" dirty="0"/>
              <a:t>PROCESS</a:t>
            </a:r>
            <a:r>
              <a:rPr lang="en-US" dirty="0"/>
              <a:t>: Defines the duration of an entity’s stay in a particular state, often using random variables to simulate service times, travel times, etc.</a:t>
            </a:r>
          </a:p>
          <a:p>
            <a:pPr>
              <a:buFont typeface="Arial" panose="020B0604020202020204" pitchFamily="34" charset="0"/>
              <a:buChar char="•"/>
            </a:pPr>
            <a:r>
              <a:rPr lang="en-US" b="1" dirty="0"/>
              <a:t>DESTROY</a:t>
            </a:r>
            <a:r>
              <a:rPr lang="en-US" dirty="0"/>
              <a:t>: Removes entities from the system when their process is completed.</a:t>
            </a:r>
          </a:p>
          <a:p>
            <a:r>
              <a:rPr lang="en-US" b="1" dirty="0"/>
              <a:t>Example Process Description</a:t>
            </a:r>
            <a:r>
              <a:rPr lang="en-US" dirty="0"/>
              <a:t>:</a:t>
            </a:r>
          </a:p>
          <a:p>
            <a:pPr rtl="0"/>
            <a:r>
              <a:rPr lang="en-US" dirty="0"/>
              <a:t>BEGIN MAIN </a:t>
            </a:r>
          </a:p>
          <a:p>
            <a:pPr rtl="0"/>
            <a:r>
              <a:rPr lang="en-US" dirty="0"/>
              <a:t>CREATE CUSTOMER ; Create a new customer </a:t>
            </a:r>
          </a:p>
          <a:p>
            <a:pPr rtl="0"/>
            <a:r>
              <a:rPr lang="en-US" dirty="0"/>
              <a:t>SET SERVICE_TIME = RANDOM(5, 10) ; Set a random service time between 5 and 10 minutes </a:t>
            </a:r>
          </a:p>
          <a:p>
            <a:pPr rtl="0"/>
            <a:r>
              <a:rPr lang="en-US" dirty="0"/>
              <a:t>SEIZE TELLER ; Seize a teller to serve the customer </a:t>
            </a:r>
          </a:p>
          <a:p>
            <a:pPr rtl="0"/>
            <a:r>
              <a:rPr lang="en-US" dirty="0"/>
              <a:t>WAIT UNTIL TELLER FREE ; Wait until the teller is free </a:t>
            </a:r>
          </a:p>
          <a:p>
            <a:pPr rtl="0"/>
            <a:r>
              <a:rPr lang="en-US" dirty="0"/>
              <a:t>PROCESS SERVICE_TIME ; Process the customer's service </a:t>
            </a:r>
          </a:p>
          <a:p>
            <a:pPr rtl="0"/>
            <a:r>
              <a:rPr lang="en-US" dirty="0"/>
              <a:t>RELEASE TELLER ; Release the teller after serving the customer </a:t>
            </a:r>
          </a:p>
          <a:p>
            <a:pPr rtl="0"/>
            <a:r>
              <a:rPr lang="en-US" dirty="0"/>
              <a:t>DESTROY CUSTOMER ; Remove the customer from the system </a:t>
            </a:r>
          </a:p>
          <a:p>
            <a:pPr rtl="0"/>
            <a:r>
              <a:rPr lang="en-US" dirty="0"/>
              <a:t>END </a:t>
            </a:r>
          </a:p>
          <a:p>
            <a:pPr>
              <a:buFont typeface="Arial" panose="020B0604020202020204" pitchFamily="34" charset="0"/>
              <a:buChar char="•"/>
            </a:pPr>
            <a:r>
              <a:rPr lang="en-US" b="1" dirty="0"/>
              <a:t>Explanation</a:t>
            </a:r>
            <a:r>
              <a:rPr lang="en-US" dirty="0"/>
              <a:t>:</a:t>
            </a:r>
          </a:p>
          <a:p>
            <a:pPr marL="742950" lvl="1" indent="-285750">
              <a:buFont typeface="Arial" panose="020B0604020202020204" pitchFamily="34" charset="0"/>
              <a:buChar char="•"/>
            </a:pPr>
            <a:r>
              <a:rPr lang="en-US" b="1" dirty="0"/>
              <a:t>CREATE CUSTOMER</a:t>
            </a:r>
            <a:r>
              <a:rPr lang="en-US" dirty="0"/>
              <a:t>: A customer entity is created at the start of the simulation.</a:t>
            </a:r>
          </a:p>
          <a:p>
            <a:pPr marL="742950" lvl="1" indent="-285750">
              <a:buFont typeface="Arial" panose="020B0604020202020204" pitchFamily="34" charset="0"/>
              <a:buChar char="•"/>
            </a:pPr>
            <a:r>
              <a:rPr lang="en-US" b="1" dirty="0"/>
              <a:t>SET SERVICE_TIME</a:t>
            </a:r>
            <a:r>
              <a:rPr lang="en-US" dirty="0"/>
              <a:t>: A random service time is assigned to the customer (simulating variability in service duration).</a:t>
            </a:r>
          </a:p>
          <a:p>
            <a:pPr marL="742950" lvl="1" indent="-285750">
              <a:buFont typeface="Arial" panose="020B0604020202020204" pitchFamily="34" charset="0"/>
              <a:buChar char="•"/>
            </a:pPr>
            <a:r>
              <a:rPr lang="en-US" b="1" dirty="0"/>
              <a:t>SEIZE TELLER</a:t>
            </a:r>
            <a:r>
              <a:rPr lang="en-US" dirty="0"/>
              <a:t>: The customer acquires a teller resource.</a:t>
            </a:r>
          </a:p>
          <a:p>
            <a:pPr marL="742950" lvl="1" indent="-285750">
              <a:buFont typeface="Arial" panose="020B0604020202020204" pitchFamily="34" charset="0"/>
              <a:buChar char="•"/>
            </a:pPr>
            <a:r>
              <a:rPr lang="en-US" b="1" dirty="0"/>
              <a:t>WAIT UNTIL TELLER FREE</a:t>
            </a:r>
            <a:r>
              <a:rPr lang="en-US" dirty="0"/>
              <a:t>: If the teller is busy, the customer will wait.</a:t>
            </a:r>
          </a:p>
          <a:p>
            <a:pPr marL="742950" lvl="1" indent="-285750">
              <a:buFont typeface="Arial" panose="020B0604020202020204" pitchFamily="34" charset="0"/>
              <a:buChar char="•"/>
            </a:pPr>
            <a:r>
              <a:rPr lang="en-US" b="1" dirty="0"/>
              <a:t>PROCESS SERVICE_TIME</a:t>
            </a:r>
            <a:r>
              <a:rPr lang="en-US" dirty="0"/>
              <a:t>: The customer is served for the set amount of time.</a:t>
            </a:r>
          </a:p>
          <a:p>
            <a:pPr marL="742950" lvl="1" indent="-285750">
              <a:buFont typeface="Arial" panose="020B0604020202020204" pitchFamily="34" charset="0"/>
              <a:buChar char="•"/>
            </a:pPr>
            <a:r>
              <a:rPr lang="en-US" b="1" dirty="0"/>
              <a:t>RELEASE TELLER</a:t>
            </a:r>
            <a:r>
              <a:rPr lang="en-US" dirty="0"/>
              <a:t>: The teller is released for the next customer.</a:t>
            </a:r>
          </a:p>
          <a:p>
            <a:pPr marL="742950" lvl="1" indent="-285750">
              <a:buFont typeface="Arial" panose="020B0604020202020204" pitchFamily="34" charset="0"/>
              <a:buChar char="•"/>
            </a:pPr>
            <a:r>
              <a:rPr lang="en-US" b="1" dirty="0"/>
              <a:t>DESTROY CUSTOMER</a:t>
            </a:r>
            <a:r>
              <a:rPr lang="en-US" dirty="0"/>
              <a:t>: After service, the customer entity is removed from the system.</a:t>
            </a:r>
          </a:p>
          <a:p>
            <a:r>
              <a:rPr lang="en-US" b="1" dirty="0"/>
              <a:t>3. Main Program</a:t>
            </a:r>
          </a:p>
          <a:p>
            <a:pPr>
              <a:buFont typeface="Arial" panose="020B0604020202020204" pitchFamily="34" charset="0"/>
              <a:buChar char="•"/>
            </a:pPr>
            <a:r>
              <a:rPr lang="en-US" b="1" dirty="0"/>
              <a:t>Purpose</a:t>
            </a:r>
            <a:r>
              <a:rPr lang="en-US" dirty="0"/>
              <a:t>: The </a:t>
            </a:r>
            <a:r>
              <a:rPr lang="en-US" b="1" dirty="0"/>
              <a:t>Main Program</a:t>
            </a:r>
            <a:r>
              <a:rPr lang="en-US" dirty="0"/>
              <a:t> coordinates the flow of the simulation by executing the process descriptions, initializing system components, and managing the overall simulation flow.</a:t>
            </a:r>
          </a:p>
          <a:p>
            <a:pPr>
              <a:buFont typeface="Arial" panose="020B0604020202020204" pitchFamily="34" charset="0"/>
              <a:buChar char="•"/>
            </a:pPr>
            <a:r>
              <a:rPr lang="en-US" dirty="0"/>
              <a:t>The main program typically includes:</a:t>
            </a:r>
          </a:p>
          <a:p>
            <a:pPr marL="742950" lvl="1" indent="-285750">
              <a:buFont typeface="Arial" panose="020B0604020202020204" pitchFamily="34" charset="0"/>
              <a:buChar char="•"/>
            </a:pPr>
            <a:r>
              <a:rPr lang="en-US" b="1" dirty="0"/>
              <a:t>Initialization</a:t>
            </a:r>
            <a:r>
              <a:rPr lang="en-US" dirty="0"/>
              <a:t>: Setting initial values, such as defining the number of entities, initializing resources, and setting up the environment.</a:t>
            </a:r>
          </a:p>
          <a:p>
            <a:pPr marL="742950" lvl="1" indent="-285750">
              <a:buFont typeface="Arial" panose="020B0604020202020204" pitchFamily="34" charset="0"/>
              <a:buChar char="•"/>
            </a:pPr>
            <a:r>
              <a:rPr lang="en-US" b="1" dirty="0"/>
              <a:t>Simulation Execution</a:t>
            </a:r>
            <a:r>
              <a:rPr lang="en-US" dirty="0"/>
              <a:t>: Controlling the execution of processes and the timing of events.</a:t>
            </a:r>
          </a:p>
          <a:p>
            <a:pPr marL="742950" lvl="1" indent="-285750">
              <a:buFont typeface="Arial" panose="020B0604020202020204" pitchFamily="34" charset="0"/>
              <a:buChar char="•"/>
            </a:pPr>
            <a:r>
              <a:rPr lang="en-US" b="1" dirty="0"/>
              <a:t>Termination</a:t>
            </a:r>
            <a:r>
              <a:rPr lang="en-US" dirty="0"/>
              <a:t>: Determining when to stop the simulation and collecting the results.</a:t>
            </a:r>
          </a:p>
          <a:p>
            <a:r>
              <a:rPr lang="en-US" b="1" dirty="0"/>
              <a:t>Example Main Program</a:t>
            </a:r>
            <a:r>
              <a:rPr lang="en-US" dirty="0"/>
              <a:t>:</a:t>
            </a:r>
          </a:p>
          <a:p>
            <a:pPr rtl="0"/>
            <a:r>
              <a:rPr lang="en-US" dirty="0"/>
              <a:t>BEGIN MAIN I</a:t>
            </a:r>
          </a:p>
          <a:p>
            <a:pPr rtl="0"/>
            <a:r>
              <a:rPr lang="en-US" dirty="0"/>
              <a:t>NITIALIZE SYSTEM ; Initialize system parameters, resources, and variables SIMULATE UNTIL 1000 UNITS OF TIME ; Run the simulation for 1000 units of time (e.g., 1000 minutes) </a:t>
            </a:r>
          </a:p>
          <a:p>
            <a:pPr rtl="0"/>
            <a:r>
              <a:rPr lang="en-US" dirty="0"/>
              <a:t>PRINT RESULTS ; Print the collected results (e.g., queue lengths, wait times) TERMINATE ; End the simulation END </a:t>
            </a:r>
          </a:p>
          <a:p>
            <a:pPr>
              <a:buFont typeface="Arial" panose="020B0604020202020204" pitchFamily="34" charset="0"/>
              <a:buChar char="•"/>
            </a:pPr>
            <a:r>
              <a:rPr lang="en-US" b="1" dirty="0"/>
              <a:t>Explanation</a:t>
            </a:r>
            <a:r>
              <a:rPr lang="en-US" dirty="0"/>
              <a:t>:</a:t>
            </a:r>
          </a:p>
          <a:p>
            <a:pPr marL="742950" lvl="1" indent="-285750">
              <a:buFont typeface="Arial" panose="020B0604020202020204" pitchFamily="34" charset="0"/>
              <a:buChar char="•"/>
            </a:pPr>
            <a:r>
              <a:rPr lang="en-US" b="1" dirty="0"/>
              <a:t>INITIALIZE SYSTEM</a:t>
            </a:r>
            <a:r>
              <a:rPr lang="en-US" dirty="0"/>
              <a:t>: Sets up the resources, queues, and other necessary parameters for the simulation.</a:t>
            </a:r>
          </a:p>
          <a:p>
            <a:pPr marL="742950" lvl="1" indent="-285750">
              <a:buFont typeface="Arial" panose="020B0604020202020204" pitchFamily="34" charset="0"/>
              <a:buChar char="•"/>
            </a:pPr>
            <a:r>
              <a:rPr lang="en-US" b="1" dirty="0"/>
              <a:t>SIMULATE UNTIL 1000 UNITS OF TIME</a:t>
            </a:r>
            <a:r>
              <a:rPr lang="en-US" dirty="0"/>
              <a:t>: The simulation runs for a specified time period (e.g., 1000 minutes). This could represent a day, a week, or any defined time unit.</a:t>
            </a:r>
          </a:p>
          <a:p>
            <a:pPr marL="742950" lvl="1" indent="-285750">
              <a:buFont typeface="Arial" panose="020B0604020202020204" pitchFamily="34" charset="0"/>
              <a:buChar char="•"/>
            </a:pPr>
            <a:r>
              <a:rPr lang="en-US" b="1" dirty="0"/>
              <a:t>PRINT RESULTS</a:t>
            </a:r>
            <a:r>
              <a:rPr lang="en-US" dirty="0"/>
              <a:t>: After the simulation, the results (such as system performance data, statistical metrics) are displayed.</a:t>
            </a:r>
          </a:p>
          <a:p>
            <a:pPr marL="742950" lvl="1" indent="-285750">
              <a:buFont typeface="Arial" panose="020B0604020202020204" pitchFamily="34" charset="0"/>
              <a:buChar char="•"/>
            </a:pPr>
            <a:r>
              <a:rPr lang="en-US" b="1" dirty="0"/>
              <a:t>TERMINATE</a:t>
            </a:r>
            <a:r>
              <a:rPr lang="en-US" dirty="0"/>
              <a:t>: The simulation ends once the defined time has passed, or an end condition is met.</a:t>
            </a:r>
          </a:p>
          <a:p>
            <a:r>
              <a:rPr lang="en-US" b="1" dirty="0"/>
              <a:t>Advantages of SIMSCRIPT</a:t>
            </a:r>
          </a:p>
          <a:p>
            <a:pPr>
              <a:buFont typeface="+mj-lt"/>
              <a:buAutoNum type="arabicPeriod"/>
            </a:pPr>
            <a:r>
              <a:rPr lang="en-US" b="1" dirty="0"/>
              <a:t>Structured and Readable Syntax</a:t>
            </a:r>
            <a:r>
              <a:rPr lang="en-US" dirty="0"/>
              <a:t>: SIMSCRIPT is a high-level language, making it easier to write, read, and modify compared to lower-level languages.</a:t>
            </a:r>
          </a:p>
          <a:p>
            <a:pPr>
              <a:buFont typeface="+mj-lt"/>
              <a:buAutoNum type="arabicPeriod"/>
            </a:pPr>
            <a:r>
              <a:rPr lang="en-US" b="1" dirty="0"/>
              <a:t>Powerful for Large Systems</a:t>
            </a:r>
            <a:r>
              <a:rPr lang="en-US" dirty="0"/>
              <a:t>: It can handle large and complex systems, modeling multiple entities and resources with ease.</a:t>
            </a:r>
          </a:p>
          <a:p>
            <a:pPr>
              <a:buFont typeface="+mj-lt"/>
              <a:buAutoNum type="arabicPeriod"/>
            </a:pPr>
            <a:r>
              <a:rPr lang="en-US" b="1" dirty="0"/>
              <a:t>Built-in Statistical Functions</a:t>
            </a:r>
            <a:r>
              <a:rPr lang="en-US" dirty="0"/>
              <a:t>: SIMSCRIPT provides built-in tools for statistical analysis, such as collecting data on resource utilization, queue lengths, and waiting times.</a:t>
            </a:r>
          </a:p>
          <a:p>
            <a:pPr>
              <a:buFont typeface="+mj-lt"/>
              <a:buAutoNum type="arabicPeriod"/>
            </a:pPr>
            <a:r>
              <a:rPr lang="en-US" b="1" dirty="0"/>
              <a:t>Extensive Library Support</a:t>
            </a:r>
            <a:r>
              <a:rPr lang="en-US" dirty="0"/>
              <a:t>: There are many domain-specific libraries available for modeling systems in areas like healthcare, logistics, manufacturing, and military operations.</a:t>
            </a:r>
          </a:p>
          <a:p>
            <a:r>
              <a:rPr lang="en-US" b="1" dirty="0"/>
              <a:t>Limitations of SIMSCRIPT</a:t>
            </a:r>
          </a:p>
          <a:p>
            <a:pPr>
              <a:buFont typeface="+mj-lt"/>
              <a:buAutoNum type="arabicPeriod"/>
            </a:pPr>
            <a:r>
              <a:rPr lang="en-US" b="1" dirty="0"/>
              <a:t>Complex for Simple Simulations</a:t>
            </a:r>
            <a:r>
              <a:rPr lang="en-US" dirty="0"/>
              <a:t>: For simpler systems, SIMSCRIPT might be more complicated than necessary. For small-scale simulations, simpler tools like GPSS or MATLAB might be better suited.</a:t>
            </a:r>
          </a:p>
          <a:p>
            <a:pPr>
              <a:buFont typeface="+mj-lt"/>
              <a:buAutoNum type="arabicPeriod"/>
            </a:pPr>
            <a:r>
              <a:rPr lang="en-US" b="1" dirty="0"/>
              <a:t>Learning Curve</a:t>
            </a:r>
            <a:r>
              <a:rPr lang="en-US" dirty="0"/>
              <a:t>: Despite its high-level nature, there is still a learning curve associated with understanding the full range of commands and constructs in SIMSCRIPT.</a:t>
            </a:r>
          </a:p>
          <a:p>
            <a:pPr>
              <a:buFont typeface="+mj-lt"/>
              <a:buAutoNum type="arabicPeriod"/>
            </a:pPr>
            <a:r>
              <a:rPr lang="en-US" b="1" dirty="0"/>
              <a:t>Performance</a:t>
            </a:r>
            <a:r>
              <a:rPr lang="en-US" dirty="0"/>
              <a:t>: As with many high-level simulation languages, performance might not be optimal for extremely large simulations involving millions of entities and events, though optimization can mitigate this.</a:t>
            </a:r>
          </a:p>
          <a:p>
            <a:r>
              <a:rPr lang="en-US" b="1" dirty="0"/>
              <a:t>Summary of SIMSCRIPT Program Structure</a:t>
            </a:r>
          </a:p>
          <a:p>
            <a:pPr>
              <a:buFont typeface="Arial" panose="020B0604020202020204" pitchFamily="34" charset="0"/>
              <a:buChar char="•"/>
            </a:pPr>
            <a:r>
              <a:rPr lang="en-US" dirty="0"/>
              <a:t>SIMSCRIPT is highly structured, with clear separation between </a:t>
            </a:r>
            <a:r>
              <a:rPr lang="en-US" b="1" dirty="0"/>
              <a:t>declarations</a:t>
            </a:r>
            <a:r>
              <a:rPr lang="en-US" dirty="0"/>
              <a:t>, </a:t>
            </a:r>
            <a:r>
              <a:rPr lang="en-US" b="1" dirty="0"/>
              <a:t>process descriptions</a:t>
            </a:r>
            <a:r>
              <a:rPr lang="en-US" dirty="0"/>
              <a:t>, and the </a:t>
            </a:r>
            <a:r>
              <a:rPr lang="en-US" b="1" dirty="0"/>
              <a:t>main program</a:t>
            </a:r>
            <a:r>
              <a:rPr lang="en-US" dirty="0"/>
              <a:t>.</a:t>
            </a:r>
          </a:p>
          <a:p>
            <a:pPr>
              <a:buFont typeface="Arial" panose="020B0604020202020204" pitchFamily="34" charset="0"/>
              <a:buChar char="•"/>
            </a:pPr>
            <a:r>
              <a:rPr lang="en-US" dirty="0"/>
              <a:t>This structure helps in organizing complex simulations, making the system modular, and easier to manage.</a:t>
            </a:r>
          </a:p>
          <a:p>
            <a:pPr>
              <a:buFont typeface="Arial" panose="020B0604020202020204" pitchFamily="34" charset="0"/>
              <a:buChar char="•"/>
            </a:pPr>
            <a:r>
              <a:rPr lang="en-US" dirty="0"/>
              <a:t>The program flow is controlled in the </a:t>
            </a:r>
            <a:r>
              <a:rPr lang="en-US" b="1" dirty="0"/>
              <a:t>Main Program</a:t>
            </a:r>
            <a:r>
              <a:rPr lang="en-US" dirty="0"/>
              <a:t>, which calls processes to simulate system behaviors.</a:t>
            </a:r>
          </a:p>
          <a:p>
            <a:pPr>
              <a:buFont typeface="Arial" panose="020B0604020202020204" pitchFamily="34" charset="0"/>
              <a:buChar char="•"/>
            </a:pPr>
            <a:r>
              <a:rPr lang="en-US" dirty="0"/>
              <a:t>SIMSCRIPT is particularly suitable for large-scale simulations but might not be ideal for simple, small-scale models.</a:t>
            </a:r>
          </a:p>
        </p:txBody>
      </p:sp>
      <p:sp>
        <p:nvSpPr>
          <p:cNvPr id="4" name="Slide Number Placeholder 3"/>
          <p:cNvSpPr>
            <a:spLocks noGrp="1"/>
          </p:cNvSpPr>
          <p:nvPr>
            <p:ph type="sldNum" sz="quarter" idx="5"/>
          </p:nvPr>
        </p:nvSpPr>
        <p:spPr/>
        <p:txBody>
          <a:bodyPr/>
          <a:lstStyle/>
          <a:p>
            <a:fld id="{86856EA3-D5FC-400C-84ED-CD71C2479320}" type="slidenum">
              <a:rPr lang="en-US" smtClean="0"/>
              <a:t>17</a:t>
            </a:fld>
            <a:endParaRPr lang="en-US"/>
          </a:p>
        </p:txBody>
      </p:sp>
    </p:spTree>
    <p:extLst>
      <p:ext uri="{BB962C8B-B14F-4D97-AF65-F5344CB8AC3E}">
        <p14:creationId xmlns:p14="http://schemas.microsoft.com/office/powerpoint/2010/main" val="368890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Example Applications of SIMSCRIPT</a:t>
            </a:r>
          </a:p>
          <a:p>
            <a:r>
              <a:rPr lang="en-US" dirty="0"/>
              <a:t>SIMSCRIPT is widely used across various fields, especially where complex, large-scale systems are involved. Here are two notable examples of how SIMSCRIPT is applied:</a:t>
            </a:r>
          </a:p>
          <a:p>
            <a:pPr>
              <a:buFont typeface="+mj-lt"/>
              <a:buAutoNum type="arabicPeriod"/>
            </a:pPr>
            <a:r>
              <a:rPr lang="en-US" b="1" dirty="0"/>
              <a:t>Military Logistics and Operations Research</a:t>
            </a:r>
            <a:r>
              <a:rPr lang="en-US" dirty="0"/>
              <a:t>:</a:t>
            </a:r>
          </a:p>
          <a:p>
            <a:pPr marL="742950" lvl="1" indent="-285750">
              <a:buFont typeface="+mj-lt"/>
              <a:buAutoNum type="arabicPeriod"/>
            </a:pPr>
            <a:r>
              <a:rPr lang="en-US" b="1" dirty="0"/>
              <a:t>Scenario</a:t>
            </a:r>
            <a:r>
              <a:rPr lang="en-US" dirty="0"/>
              <a:t>: In military logistics, SIMSCRIPT is used to model the movement of goods, personnel, and vehicles, simulating supply chains, resource allocations, and strategic operations.</a:t>
            </a:r>
          </a:p>
          <a:p>
            <a:pPr marL="742950" lvl="1" indent="-285750">
              <a:buFont typeface="+mj-lt"/>
              <a:buAutoNum type="arabicPeriod"/>
            </a:pPr>
            <a:r>
              <a:rPr lang="en-US" b="1" dirty="0"/>
              <a:t>Purpose</a:t>
            </a:r>
            <a:r>
              <a:rPr lang="en-US" dirty="0"/>
              <a:t>: The language allows the simulation of transportation systems, resource scheduling, and inventory management in real-time, helping military planners optimize resources.</a:t>
            </a:r>
          </a:p>
          <a:p>
            <a:pPr marL="742950" lvl="1" indent="-285750">
              <a:buFont typeface="+mj-lt"/>
              <a:buAutoNum type="arabicPeriod"/>
            </a:pPr>
            <a:r>
              <a:rPr lang="en-US" b="1" dirty="0"/>
              <a:t>Example Use</a:t>
            </a:r>
            <a:r>
              <a:rPr lang="en-US" dirty="0"/>
              <a:t>: Simulating the transportation of goods between bases, managing fleets of vehicles, and optimizing supply chain routes under various constraints.</a:t>
            </a:r>
          </a:p>
          <a:p>
            <a:pPr marL="742950" lvl="1" indent="-285750">
              <a:buFont typeface="+mj-lt"/>
              <a:buAutoNum type="arabicPeriod"/>
            </a:pPr>
            <a:r>
              <a:rPr lang="en-US" b="1" dirty="0"/>
              <a:t>Benefits</a:t>
            </a:r>
            <a:r>
              <a:rPr lang="en-US" dirty="0"/>
              <a:t>: Helps in making decisions about where and when to deploy resources for maximum effectiveness, evaluating different strategies without the need for expensive real-world experiments.</a:t>
            </a:r>
          </a:p>
          <a:p>
            <a:pPr>
              <a:buFont typeface="+mj-lt"/>
              <a:buAutoNum type="arabicPeriod"/>
            </a:pPr>
            <a:r>
              <a:rPr lang="en-US" b="1" dirty="0"/>
              <a:t>Healthcare Systems (e.g., Patient Flow in Hospitals)</a:t>
            </a:r>
            <a:r>
              <a:rPr lang="en-US" dirty="0"/>
              <a:t>:</a:t>
            </a:r>
          </a:p>
          <a:p>
            <a:pPr marL="742950" lvl="1" indent="-285750">
              <a:buFont typeface="+mj-lt"/>
              <a:buAutoNum type="arabicPeriod"/>
            </a:pPr>
            <a:r>
              <a:rPr lang="en-US" b="1" dirty="0"/>
              <a:t>Scenario</a:t>
            </a:r>
            <a:r>
              <a:rPr lang="en-US" dirty="0"/>
              <a:t>: SIMSCRIPT is used to model patient flow in healthcare facilities, such as hospitals or clinics, to analyze how patients move through the system, from arrival to discharge.</a:t>
            </a:r>
          </a:p>
          <a:p>
            <a:pPr marL="742950" lvl="1" indent="-285750">
              <a:buFont typeface="+mj-lt"/>
              <a:buAutoNum type="arabicPeriod"/>
            </a:pPr>
            <a:r>
              <a:rPr lang="en-US" b="1" dirty="0"/>
              <a:t>Purpose</a:t>
            </a:r>
            <a:r>
              <a:rPr lang="en-US" dirty="0"/>
              <a:t>: The goal is to simulate patient waiting times, service times, and resource usage (e.g., doctors, nurses, medical equipment) to improve hospital operations.</a:t>
            </a:r>
          </a:p>
          <a:p>
            <a:pPr marL="742950" lvl="1" indent="-285750">
              <a:buFont typeface="+mj-lt"/>
              <a:buAutoNum type="arabicPeriod"/>
            </a:pPr>
            <a:r>
              <a:rPr lang="en-US" b="1" dirty="0"/>
              <a:t>Example Use</a:t>
            </a:r>
            <a:r>
              <a:rPr lang="en-US" dirty="0"/>
              <a:t>: Modeling emergency room operations to optimize patient wait times, or simulating the flow of patients between various departments (e.g., emergency, surgery, recovery).</a:t>
            </a:r>
          </a:p>
          <a:p>
            <a:pPr marL="742950" lvl="1" indent="-285750">
              <a:buFont typeface="+mj-lt"/>
              <a:buAutoNum type="arabicPeriod"/>
            </a:pPr>
            <a:r>
              <a:rPr lang="en-US" b="1" dirty="0"/>
              <a:t>Benefits</a:t>
            </a:r>
            <a:r>
              <a:rPr lang="en-US" dirty="0"/>
              <a:t>: Provides insights into system bottlenecks, helps improve patient throughput, and supports resource planning and scheduling.</a:t>
            </a:r>
          </a:p>
          <a:p>
            <a:r>
              <a:rPr lang="en-US" dirty="0"/>
              <a:t>These examples highlight SIMSCRIPT's flexibility in handling complex systems with multiple interacting entities, attributes, and processes.</a:t>
            </a:r>
          </a:p>
          <a:p>
            <a:r>
              <a:rPr lang="en-US" b="1" dirty="0"/>
              <a:t>Sample SIMSCRIPT Code</a:t>
            </a:r>
          </a:p>
          <a:p>
            <a:r>
              <a:rPr lang="en-US" dirty="0"/>
              <a:t>To illustrate how a SIMSCRIPT program is structured, let’s consider a simple example where we model a basic queue system. In this case, customers arrive at a bank, wait for service, and then leave after being served.</a:t>
            </a:r>
          </a:p>
          <a:p>
            <a:r>
              <a:rPr lang="en-US" dirty="0"/>
              <a:t>Here’s a </a:t>
            </a:r>
            <a:r>
              <a:rPr lang="en-US" b="1" dirty="0"/>
              <a:t>sample SIMSCRIPT program</a:t>
            </a:r>
            <a:r>
              <a:rPr lang="en-US" dirty="0"/>
              <a:t> that simulates this scenario:</a:t>
            </a:r>
          </a:p>
          <a:p>
            <a:pPr rtl="0"/>
            <a:endParaRPr lang="en-US" dirty="0"/>
          </a:p>
          <a:p>
            <a:pPr rtl="0"/>
            <a:r>
              <a:rPr lang="en-US" dirty="0"/>
              <a:t>DEFINE CUSTOMER AS ENTITY ; Define a customer as an entity </a:t>
            </a:r>
          </a:p>
          <a:p>
            <a:pPr rtl="0"/>
            <a:r>
              <a:rPr lang="en-US" dirty="0"/>
              <a:t>DEFINE ARRIVAL_TIME AS REAL ; Define a real-valued variable for arrival time </a:t>
            </a:r>
          </a:p>
          <a:p>
            <a:pPr rtl="0"/>
            <a:r>
              <a:rPr lang="en-US" dirty="0"/>
              <a:t>DEFINE SERVICE_TIME AS REAL ; Define service time for each customer </a:t>
            </a:r>
          </a:p>
          <a:p>
            <a:pPr rtl="0"/>
            <a:r>
              <a:rPr lang="en-US" dirty="0"/>
              <a:t>DEFINE TELLER AS RESOURCE ; Define a resource (teller) to serve customers </a:t>
            </a:r>
          </a:p>
          <a:p>
            <a:pPr rtl="0"/>
            <a:r>
              <a:rPr lang="en-US" dirty="0"/>
              <a:t>BEGIN MAIN LOOP UNTIL TIME &gt; SIM_TIME ; Continue the simulation until the time exceeds the defined limit </a:t>
            </a:r>
          </a:p>
          <a:p>
            <a:pPr rtl="0"/>
            <a:r>
              <a:rPr lang="en-US" dirty="0"/>
              <a:t>CREATE CUSTOMER ; Create a new customer entity SET ARRIVAL_TIME = RANDOM(5, 10) ; Set the arrival time for the customer (random between 5 and 10) WAIT ARRIVAL_TIME ; Wait until the arrival time for the customer SEIZE TELLER ; The customer seizes the teller resource SET SERVICE_TIME = RANDOM(10, 15) ; Set the service time (random between 10 and 15) PROCESS SERVICE_TIME ; Process the service time for the customer RELEASE TELLER ; Release the teller resource after service DESTROY CUSTOMER ; Destroy the customer entity after service END LOOP END </a:t>
            </a:r>
          </a:p>
          <a:p>
            <a:r>
              <a:rPr lang="en-US" b="1" dirty="0"/>
              <a:t>Explanation of Code:</a:t>
            </a:r>
          </a:p>
          <a:p>
            <a:pPr>
              <a:buFont typeface="Arial" panose="020B0604020202020204" pitchFamily="34" charset="0"/>
              <a:buChar char="•"/>
            </a:pPr>
            <a:r>
              <a:rPr lang="en-US" b="1" dirty="0"/>
              <a:t>DEFINE Statements</a:t>
            </a:r>
            <a:r>
              <a:rPr lang="en-US" dirty="0"/>
              <a:t>:</a:t>
            </a:r>
          </a:p>
          <a:p>
            <a:pPr marL="742950" lvl="1" indent="-285750">
              <a:buFont typeface="Arial" panose="020B0604020202020204" pitchFamily="34" charset="0"/>
              <a:buChar char="•"/>
            </a:pPr>
            <a:r>
              <a:rPr lang="en-US" dirty="0"/>
              <a:t>DEFINE CUSTOMER AS ENTITY: The CUSTOMER is an entity in the simulation, meaning it is an object that will undergo a life cycle (arrives, waits, gets served, and departs).</a:t>
            </a:r>
          </a:p>
          <a:p>
            <a:pPr marL="742950" lvl="1" indent="-285750">
              <a:buFont typeface="Arial" panose="020B0604020202020204" pitchFamily="34" charset="0"/>
              <a:buChar char="•"/>
            </a:pPr>
            <a:r>
              <a:rPr lang="en-US" dirty="0"/>
              <a:t>DEFINE ARRIVAL_TIME AS REAL: This defines the arrival time of the customer, which is a real number representing the time it takes for the customer to arrive at the bank.</a:t>
            </a:r>
          </a:p>
          <a:p>
            <a:pPr marL="742950" lvl="1" indent="-285750">
              <a:buFont typeface="Arial" panose="020B0604020202020204" pitchFamily="34" charset="0"/>
              <a:buChar char="•"/>
            </a:pPr>
            <a:r>
              <a:rPr lang="en-US" dirty="0"/>
              <a:t>DEFINE SERVICE_TIME AS REAL: This defines how long the service takes for each customer.</a:t>
            </a:r>
          </a:p>
          <a:p>
            <a:pPr marL="742950" lvl="1" indent="-285750">
              <a:buFont typeface="Arial" panose="020B0604020202020204" pitchFamily="34" charset="0"/>
              <a:buChar char="•"/>
            </a:pPr>
            <a:r>
              <a:rPr lang="en-US" dirty="0"/>
              <a:t>DEFINE TELLER AS RESOURCE: A TELLER is a resource in the simulation, meaning there is a limited number of tellers that customers will compete for.</a:t>
            </a:r>
          </a:p>
          <a:p>
            <a:pPr>
              <a:buFont typeface="Arial" panose="020B0604020202020204" pitchFamily="34" charset="0"/>
              <a:buChar char="•"/>
            </a:pPr>
            <a:r>
              <a:rPr lang="en-US" b="1" dirty="0"/>
              <a:t>BEGIN MAIN</a:t>
            </a:r>
            <a:r>
              <a:rPr lang="en-US" dirty="0"/>
              <a:t>:</a:t>
            </a:r>
          </a:p>
          <a:p>
            <a:pPr marL="742950" lvl="1" indent="-285750">
              <a:buFont typeface="Arial" panose="020B0604020202020204" pitchFamily="34" charset="0"/>
              <a:buChar char="•"/>
            </a:pPr>
            <a:r>
              <a:rPr lang="en-US" dirty="0"/>
              <a:t>The main program starts here and contains the core logic of the simulation.</a:t>
            </a:r>
          </a:p>
          <a:p>
            <a:pPr marL="742950" lvl="1" indent="-285750">
              <a:buFont typeface="Arial" panose="020B0604020202020204" pitchFamily="34" charset="0"/>
              <a:buChar char="•"/>
            </a:pPr>
            <a:r>
              <a:rPr lang="en-US" dirty="0"/>
              <a:t>LOOP UNTIL TIME &gt; SIM_TIME: This loop keeps running until the simulation reaches a predefined end time (SIM_TIME).</a:t>
            </a:r>
          </a:p>
          <a:p>
            <a:pPr>
              <a:buFont typeface="Arial" panose="020B0604020202020204" pitchFamily="34" charset="0"/>
              <a:buChar char="•"/>
            </a:pPr>
            <a:r>
              <a:rPr lang="en-US" b="1" dirty="0"/>
              <a:t>Entity Creation and Simulation Steps</a:t>
            </a:r>
            <a:r>
              <a:rPr lang="en-US" dirty="0"/>
              <a:t>:</a:t>
            </a:r>
          </a:p>
          <a:p>
            <a:pPr marL="742950" lvl="1" indent="-285750">
              <a:buFont typeface="Arial" panose="020B0604020202020204" pitchFamily="34" charset="0"/>
              <a:buChar char="•"/>
            </a:pPr>
            <a:r>
              <a:rPr lang="en-US" dirty="0"/>
              <a:t>CREATE CUSTOMER: A new customer is created in the system.</a:t>
            </a:r>
          </a:p>
          <a:p>
            <a:pPr marL="742950" lvl="1" indent="-285750">
              <a:buFont typeface="Arial" panose="020B0604020202020204" pitchFamily="34" charset="0"/>
              <a:buChar char="•"/>
            </a:pPr>
            <a:r>
              <a:rPr lang="en-US" dirty="0"/>
              <a:t>SET ARRIVAL_TIME = RANDOM(5, 10): This sets the arrival time of the customer as a random value between 5 and 10 units of time (this simulates variability in when customers arrive).</a:t>
            </a:r>
          </a:p>
          <a:p>
            <a:pPr marL="742950" lvl="1" indent="-285750">
              <a:buFont typeface="Arial" panose="020B0604020202020204" pitchFamily="34" charset="0"/>
              <a:buChar char="•"/>
            </a:pPr>
            <a:r>
              <a:rPr lang="en-US" dirty="0"/>
              <a:t>WAIT ARRIVAL_TIME: The system simulates the waiting period based on the arrival time.</a:t>
            </a:r>
          </a:p>
          <a:p>
            <a:pPr marL="742950" lvl="1" indent="-285750">
              <a:buFont typeface="Arial" panose="020B0604020202020204" pitchFamily="34" charset="0"/>
              <a:buChar char="•"/>
            </a:pPr>
            <a:r>
              <a:rPr lang="en-US" dirty="0"/>
              <a:t>SEIZE TELLER: The customer acquires a teller to be served. If no teller is free, the customer will wait until one is available.</a:t>
            </a:r>
          </a:p>
          <a:p>
            <a:pPr marL="742950" lvl="1" indent="-285750">
              <a:buFont typeface="Arial" panose="020B0604020202020204" pitchFamily="34" charset="0"/>
              <a:buChar char="•"/>
            </a:pPr>
            <a:r>
              <a:rPr lang="en-US" dirty="0"/>
              <a:t>SET SERVICE_TIME = RANDOM(10, 15): The service time is also set randomly, which means that the time spent by each customer with the teller can vary.</a:t>
            </a:r>
          </a:p>
          <a:p>
            <a:pPr marL="742950" lvl="1" indent="-285750">
              <a:buFont typeface="Arial" panose="020B0604020202020204" pitchFamily="34" charset="0"/>
              <a:buChar char="•"/>
            </a:pPr>
            <a:r>
              <a:rPr lang="en-US" dirty="0"/>
              <a:t>PROCESS SERVICE_TIME: The customer is served for the duration of the SERVICE_TIME.</a:t>
            </a:r>
          </a:p>
          <a:p>
            <a:pPr marL="742950" lvl="1" indent="-285750">
              <a:buFont typeface="Arial" panose="020B0604020202020204" pitchFamily="34" charset="0"/>
              <a:buChar char="•"/>
            </a:pPr>
            <a:r>
              <a:rPr lang="en-US" dirty="0"/>
              <a:t>RELEASE TELLER: After the customer is served, the teller is freed up and can serve the next customer.</a:t>
            </a:r>
          </a:p>
          <a:p>
            <a:pPr marL="742950" lvl="1" indent="-285750">
              <a:buFont typeface="Arial" panose="020B0604020202020204" pitchFamily="34" charset="0"/>
              <a:buChar char="•"/>
            </a:pPr>
            <a:r>
              <a:rPr lang="en-US" dirty="0"/>
              <a:t>DESTROY CUSTOMER: The customer entity is destroyed after they have been served, indicating their exit from the system.</a:t>
            </a:r>
          </a:p>
          <a:p>
            <a:r>
              <a:rPr lang="en-US" b="1" dirty="0"/>
              <a:t>Explanation of How the Code Works:</a:t>
            </a:r>
          </a:p>
          <a:p>
            <a:pPr>
              <a:buFont typeface="+mj-lt"/>
              <a:buAutoNum type="arabicPeriod"/>
            </a:pPr>
            <a:r>
              <a:rPr lang="en-US" b="1" dirty="0"/>
              <a:t>Customer Arrival</a:t>
            </a:r>
            <a:r>
              <a:rPr lang="en-US" dirty="0"/>
              <a:t>:</a:t>
            </a:r>
          </a:p>
          <a:p>
            <a:pPr marL="742950" lvl="1" indent="-285750">
              <a:buFont typeface="+mj-lt"/>
              <a:buAutoNum type="arabicPeriod"/>
            </a:pPr>
            <a:r>
              <a:rPr lang="en-US" dirty="0"/>
              <a:t>A customer arrives at a random time between 5 and 10 time units.</a:t>
            </a:r>
          </a:p>
          <a:p>
            <a:pPr>
              <a:buFont typeface="+mj-lt"/>
              <a:buAutoNum type="arabicPeriod"/>
            </a:pPr>
            <a:r>
              <a:rPr lang="en-US" b="1" dirty="0"/>
              <a:t>Queueing and Service</a:t>
            </a:r>
            <a:r>
              <a:rPr lang="en-US" dirty="0"/>
              <a:t>:</a:t>
            </a:r>
          </a:p>
          <a:p>
            <a:pPr marL="742950" lvl="1" indent="-285750">
              <a:buFont typeface="+mj-lt"/>
              <a:buAutoNum type="arabicPeriod"/>
            </a:pPr>
            <a:r>
              <a:rPr lang="en-US" dirty="0"/>
              <a:t>If the teller is busy, the customer will wait in line (the queue mechanism is implicitly handled).</a:t>
            </a:r>
          </a:p>
          <a:p>
            <a:pPr marL="742950" lvl="1" indent="-285750">
              <a:buFont typeface="+mj-lt"/>
              <a:buAutoNum type="arabicPeriod"/>
            </a:pPr>
            <a:r>
              <a:rPr lang="en-US" dirty="0"/>
              <a:t>Once a teller is free, the customer is assigned to the teller.</a:t>
            </a:r>
          </a:p>
          <a:p>
            <a:pPr marL="742950" lvl="1" indent="-285750">
              <a:buFont typeface="+mj-lt"/>
              <a:buAutoNum type="arabicPeriod"/>
            </a:pPr>
            <a:r>
              <a:rPr lang="en-US" dirty="0"/>
              <a:t>The service time is also randomly generated, simulating the variability in how long it takes to serve different customers.</a:t>
            </a:r>
          </a:p>
          <a:p>
            <a:pPr>
              <a:buFont typeface="+mj-lt"/>
              <a:buAutoNum type="arabicPeriod"/>
            </a:pPr>
            <a:r>
              <a:rPr lang="en-US" b="1" dirty="0"/>
              <a:t>Resource Management</a:t>
            </a:r>
            <a:r>
              <a:rPr lang="en-US" dirty="0"/>
              <a:t>:</a:t>
            </a:r>
          </a:p>
          <a:p>
            <a:pPr marL="742950" lvl="1" indent="-285750">
              <a:buFont typeface="+mj-lt"/>
              <a:buAutoNum type="arabicPeriod"/>
            </a:pPr>
            <a:r>
              <a:rPr lang="en-US" dirty="0"/>
              <a:t>Only one customer can be served by a teller at a time, so resources (tellers) are seized and released as they become available.</a:t>
            </a:r>
          </a:p>
          <a:p>
            <a:pPr>
              <a:buFont typeface="+mj-lt"/>
              <a:buAutoNum type="arabicPeriod"/>
            </a:pPr>
            <a:r>
              <a:rPr lang="en-US" b="1" dirty="0"/>
              <a:t>End of Simulation</a:t>
            </a:r>
            <a:r>
              <a:rPr lang="en-US" dirty="0"/>
              <a:t>:</a:t>
            </a:r>
          </a:p>
          <a:p>
            <a:pPr marL="742950" lvl="1" indent="-285750">
              <a:buFont typeface="+mj-lt"/>
              <a:buAutoNum type="arabicPeriod"/>
            </a:pPr>
            <a:r>
              <a:rPr lang="en-US" dirty="0"/>
              <a:t>The loop continues until the predefined time limit (SIM_TIME) is reached, simulating a full day, week, or other time period in the system.</a:t>
            </a:r>
          </a:p>
          <a:p>
            <a:pPr marL="742950" lvl="1" indent="-285750">
              <a:buFont typeface="+mj-lt"/>
              <a:buAutoNum type="arabicPeriod"/>
            </a:pPr>
            <a:r>
              <a:rPr lang="en-US" dirty="0"/>
              <a:t>Results such as wait times, teller utilization, and queue lengths can be gathered at the end of the simulation for analysis.</a:t>
            </a:r>
          </a:p>
          <a:p>
            <a:r>
              <a:rPr lang="en-US" b="1" dirty="0"/>
              <a:t>Explanation of Code Output:</a:t>
            </a:r>
          </a:p>
          <a:p>
            <a:r>
              <a:rPr lang="en-US" dirty="0"/>
              <a:t>While the sample program itself doesn't include detailed output statements (e.g., printing data to the screen), in practice, SIMSCRIPT programs typically collect and output data such as:</a:t>
            </a:r>
          </a:p>
          <a:p>
            <a:pPr>
              <a:buFont typeface="Arial" panose="020B0604020202020204" pitchFamily="34" charset="0"/>
              <a:buChar char="•"/>
            </a:pPr>
            <a:r>
              <a:rPr lang="en-US" b="1" dirty="0"/>
              <a:t>Average wait time</a:t>
            </a:r>
            <a:r>
              <a:rPr lang="en-US" dirty="0"/>
              <a:t> for customers.</a:t>
            </a:r>
          </a:p>
          <a:p>
            <a:pPr>
              <a:buFont typeface="Arial" panose="020B0604020202020204" pitchFamily="34" charset="0"/>
              <a:buChar char="•"/>
            </a:pPr>
            <a:r>
              <a:rPr lang="en-US" b="1" dirty="0"/>
              <a:t>Teller utilization</a:t>
            </a:r>
            <a:r>
              <a:rPr lang="en-US" dirty="0"/>
              <a:t>: How often the teller is busy.</a:t>
            </a:r>
          </a:p>
          <a:p>
            <a:pPr>
              <a:buFont typeface="Arial" panose="020B0604020202020204" pitchFamily="34" charset="0"/>
              <a:buChar char="•"/>
            </a:pPr>
            <a:r>
              <a:rPr lang="en-US" b="1" dirty="0"/>
              <a:t>Queue lengths</a:t>
            </a:r>
            <a:r>
              <a:rPr lang="en-US" dirty="0"/>
              <a:t>: How many customers are waiting in line over time.</a:t>
            </a:r>
          </a:p>
          <a:p>
            <a:r>
              <a:rPr lang="en-US" dirty="0"/>
              <a:t>These outputs can help managers or decision-makers optimize resource allocation and improve system performance.</a:t>
            </a:r>
          </a:p>
          <a:p>
            <a:r>
              <a:rPr lang="en-US" b="1" dirty="0"/>
              <a:t>Benefits of Using SIMSCRIPT in These Applications:</a:t>
            </a:r>
          </a:p>
          <a:p>
            <a:pPr>
              <a:buFont typeface="Arial" panose="020B0604020202020204" pitchFamily="34" charset="0"/>
              <a:buChar char="•"/>
            </a:pPr>
            <a:r>
              <a:rPr lang="en-US" b="1" dirty="0"/>
              <a:t>Flexibility</a:t>
            </a:r>
            <a:r>
              <a:rPr lang="en-US" dirty="0"/>
              <a:t>: SIMSCRIPT’s high-level constructs allow for easy customization and modification of complex systems.</a:t>
            </a:r>
          </a:p>
          <a:p>
            <a:pPr>
              <a:buFont typeface="Arial" panose="020B0604020202020204" pitchFamily="34" charset="0"/>
              <a:buChar char="•"/>
            </a:pPr>
            <a:r>
              <a:rPr lang="en-US" b="1" dirty="0"/>
              <a:t>Scalability</a:t>
            </a:r>
            <a:r>
              <a:rPr lang="en-US" dirty="0"/>
              <a:t>: It can handle large numbers of entities and complex interactions, making it suitable for large-scale simulations like military logistics or healthcare systems.</a:t>
            </a:r>
          </a:p>
          <a:p>
            <a:pPr>
              <a:buFont typeface="Arial" panose="020B0604020202020204" pitchFamily="34" charset="0"/>
              <a:buChar char="•"/>
            </a:pPr>
            <a:r>
              <a:rPr lang="en-US" b="1" dirty="0"/>
              <a:t>Real-time Data and Analysis</a:t>
            </a:r>
            <a:r>
              <a:rPr lang="en-US" dirty="0"/>
              <a:t>: Built-in statistical tools make it easy to analyze the simulation results in real time and make adjustments as needed.</a:t>
            </a:r>
          </a:p>
          <a:p>
            <a:r>
              <a:rPr lang="en-US" b="1" dirty="0"/>
              <a:t>Summary of SIMSCRIPT Programs:</a:t>
            </a:r>
          </a:p>
          <a:p>
            <a:pPr>
              <a:buFont typeface="Arial" panose="020B0604020202020204" pitchFamily="34" charset="0"/>
              <a:buChar char="•"/>
            </a:pPr>
            <a:r>
              <a:rPr lang="en-US" b="1" dirty="0"/>
              <a:t>SIMSCRIPT</a:t>
            </a:r>
            <a:r>
              <a:rPr lang="en-US" dirty="0"/>
              <a:t> is ideal for modeling complex, large-scale systems with multiple entities, attributes, and processes.</a:t>
            </a:r>
          </a:p>
          <a:p>
            <a:pPr>
              <a:buFont typeface="Arial" panose="020B0604020202020204" pitchFamily="34" charset="0"/>
              <a:buChar char="•"/>
            </a:pPr>
            <a:r>
              <a:rPr lang="en-US" dirty="0"/>
              <a:t>In our example, we modeled a simple customer-bank simulation, but SIMSCRIPT can be extended to more intricate systems involving various processes, resource management, and optimization strategies.</a:t>
            </a:r>
          </a:p>
          <a:p>
            <a:pPr>
              <a:buFont typeface="Arial" panose="020B0604020202020204" pitchFamily="34" charset="0"/>
              <a:buChar char="•"/>
            </a:pPr>
            <a:r>
              <a:rPr lang="en-US" dirty="0"/>
              <a:t>The structure of a SIMSCRIPT program involves defining entities and attributes, describing the processes they go through, and controlling the flow of the simulation in the main program.</a:t>
            </a:r>
          </a:p>
        </p:txBody>
      </p:sp>
      <p:sp>
        <p:nvSpPr>
          <p:cNvPr id="4" name="Slide Number Placeholder 3"/>
          <p:cNvSpPr>
            <a:spLocks noGrp="1"/>
          </p:cNvSpPr>
          <p:nvPr>
            <p:ph type="sldNum" sz="quarter" idx="5"/>
          </p:nvPr>
        </p:nvSpPr>
        <p:spPr/>
        <p:txBody>
          <a:bodyPr/>
          <a:lstStyle/>
          <a:p>
            <a:fld id="{86856EA3-D5FC-400C-84ED-CD71C2479320}" type="slidenum">
              <a:rPr lang="en-US" smtClean="0"/>
              <a:t>18</a:t>
            </a:fld>
            <a:endParaRPr lang="en-US"/>
          </a:p>
        </p:txBody>
      </p:sp>
    </p:spTree>
    <p:extLst>
      <p:ext uri="{BB962C8B-B14F-4D97-AF65-F5344CB8AC3E}">
        <p14:creationId xmlns:p14="http://schemas.microsoft.com/office/powerpoint/2010/main" val="30799024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856EA3-D5FC-400C-84ED-CD71C2479320}" type="slidenum">
              <a:rPr lang="en-US" smtClean="0"/>
              <a:t>28</a:t>
            </a:fld>
            <a:endParaRPr lang="en-US"/>
          </a:p>
        </p:txBody>
      </p:sp>
    </p:spTree>
    <p:extLst>
      <p:ext uri="{BB962C8B-B14F-4D97-AF65-F5344CB8AC3E}">
        <p14:creationId xmlns:p14="http://schemas.microsoft.com/office/powerpoint/2010/main" val="3227291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5F78B9E-96E6-4B0D-ADD5-56837FB06456}" type="datetime1">
              <a:rPr lang="en-US" smtClean="0"/>
              <a:t>1/31/2026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dirty="0"/>
          </a:p>
        </p:txBody>
      </p:sp>
      <p:sp>
        <p:nvSpPr>
          <p:cNvPr id="6" name="Slide Number Placeholder 5"/>
          <p:cNvSpPr>
            <a:spLocks noGrp="1"/>
          </p:cNvSpPr>
          <p:nvPr>
            <p:ph type="sldNum" sz="quarter" idx="12"/>
          </p:nvPr>
        </p:nvSpPr>
        <p:spPr/>
        <p:txBody>
          <a:bodyPr/>
          <a:lstStyle/>
          <a:p>
            <a:fld id="{7EA05A3E-6DBA-4FE0-898F-5EF47B17DFD2}" type="slidenum">
              <a:rPr lang="en-US" smtClean="0"/>
              <a:t>‹#›</a:t>
            </a:fld>
            <a:endParaRPr lang="en-US"/>
          </a:p>
        </p:txBody>
      </p:sp>
    </p:spTree>
    <p:extLst>
      <p:ext uri="{BB962C8B-B14F-4D97-AF65-F5344CB8AC3E}">
        <p14:creationId xmlns:p14="http://schemas.microsoft.com/office/powerpoint/2010/main" val="986220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57A223-A72C-4BC4-BF8F-F97613D469C6}" type="datetime1">
              <a:rPr lang="en-US" smtClean="0"/>
              <a:t>1/31/2026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dirty="0"/>
          </a:p>
        </p:txBody>
      </p:sp>
      <p:sp>
        <p:nvSpPr>
          <p:cNvPr id="6" name="Slide Number Placeholder 5"/>
          <p:cNvSpPr>
            <a:spLocks noGrp="1"/>
          </p:cNvSpPr>
          <p:nvPr>
            <p:ph type="sldNum" sz="quarter" idx="12"/>
          </p:nvPr>
        </p:nvSpPr>
        <p:spPr/>
        <p:txBody>
          <a:bodyPr/>
          <a:lstStyle/>
          <a:p>
            <a:fld id="{7EA05A3E-6DBA-4FE0-898F-5EF47B17DFD2}" type="slidenum">
              <a:rPr lang="en-US" smtClean="0"/>
              <a:t>‹#›</a:t>
            </a:fld>
            <a:endParaRPr lang="en-US"/>
          </a:p>
        </p:txBody>
      </p:sp>
    </p:spTree>
    <p:extLst>
      <p:ext uri="{BB962C8B-B14F-4D97-AF65-F5344CB8AC3E}">
        <p14:creationId xmlns:p14="http://schemas.microsoft.com/office/powerpoint/2010/main" val="419971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082239-9EFC-472F-88E9-D3E5B5ABC29D}" type="datetime1">
              <a:rPr lang="en-US" smtClean="0"/>
              <a:t>1/31/2026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dirty="0"/>
          </a:p>
        </p:txBody>
      </p:sp>
      <p:sp>
        <p:nvSpPr>
          <p:cNvPr id="6" name="Slide Number Placeholder 5"/>
          <p:cNvSpPr>
            <a:spLocks noGrp="1"/>
          </p:cNvSpPr>
          <p:nvPr>
            <p:ph type="sldNum" sz="quarter" idx="12"/>
          </p:nvPr>
        </p:nvSpPr>
        <p:spPr/>
        <p:txBody>
          <a:bodyPr/>
          <a:lstStyle/>
          <a:p>
            <a:fld id="{7EA05A3E-6DBA-4FE0-898F-5EF47B17DFD2}" type="slidenum">
              <a:rPr lang="en-US" smtClean="0"/>
              <a:t>‹#›</a:t>
            </a:fld>
            <a:endParaRPr lang="en-US"/>
          </a:p>
        </p:txBody>
      </p:sp>
      <p:sp>
        <p:nvSpPr>
          <p:cNvPr id="7" name="Title 6">
            <a:extLst>
              <a:ext uri="{FF2B5EF4-FFF2-40B4-BE49-F238E27FC236}">
                <a16:creationId xmlns:a16="http://schemas.microsoft.com/office/drawing/2014/main" id="{ADA4CC74-0254-118E-C398-723E0E6F6BEC}"/>
              </a:ext>
            </a:extLst>
          </p:cNvPr>
          <p:cNvSpPr>
            <a:spLocks noGrp="1"/>
          </p:cNvSpPr>
          <p:nvPr>
            <p:ph type="title"/>
          </p:nvPr>
        </p:nvSpPr>
        <p:spPr/>
        <p:txBody>
          <a:bodyPr/>
          <a:lstStyle/>
          <a:p>
            <a:r>
              <a:rPr lang="en-US"/>
              <a:t>Click to edit Master title style</a:t>
            </a:r>
          </a:p>
        </p:txBody>
      </p:sp>
      <p:sp>
        <p:nvSpPr>
          <p:cNvPr id="9" name="Text Placeholder 8">
            <a:extLst>
              <a:ext uri="{FF2B5EF4-FFF2-40B4-BE49-F238E27FC236}">
                <a16:creationId xmlns:a16="http://schemas.microsoft.com/office/drawing/2014/main" id="{508A85EB-A1E1-CB2C-D90F-5F067D3A18F5}"/>
              </a:ext>
            </a:extLst>
          </p:cNvPr>
          <p:cNvSpPr>
            <a:spLocks noGrp="1"/>
          </p:cNvSpPr>
          <p:nvPr>
            <p:ph type="body" sz="quarter" idx="13" hasCustomPrompt="1"/>
          </p:nvPr>
        </p:nvSpPr>
        <p:spPr>
          <a:xfrm>
            <a:off x="1422400" y="2554288"/>
            <a:ext cx="2598738" cy="874712"/>
          </a:xfrm>
        </p:spPr>
        <p:txBody>
          <a:bodyPr/>
          <a:lstStyle>
            <a:lvl1pPr>
              <a:defRPr/>
            </a:lvl1pPr>
          </a:lstStyle>
          <a:p>
            <a:pPr lvl="0"/>
            <a:r>
              <a:rPr lang="en-US" dirty="0"/>
              <a:t>Kapil</a:t>
            </a:r>
          </a:p>
        </p:txBody>
      </p:sp>
    </p:spTree>
    <p:extLst>
      <p:ext uri="{BB962C8B-B14F-4D97-AF65-F5344CB8AC3E}">
        <p14:creationId xmlns:p14="http://schemas.microsoft.com/office/powerpoint/2010/main" val="3962723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9CA4C4-C29E-4D9B-BC92-1BB538F7386A}" type="datetime1">
              <a:rPr lang="en-US" smtClean="0"/>
              <a:t>1/31/2026</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7EA05A3E-6DBA-4FE0-898F-5EF47B17DFD2}" type="slidenum">
              <a:rPr lang="en-US" smtClean="0"/>
              <a:t>‹#›</a:t>
            </a:fld>
            <a:endParaRPr lang="en-US"/>
          </a:p>
        </p:txBody>
      </p:sp>
    </p:spTree>
    <p:extLst>
      <p:ext uri="{BB962C8B-B14F-4D97-AF65-F5344CB8AC3E}">
        <p14:creationId xmlns:p14="http://schemas.microsoft.com/office/powerpoint/2010/main" val="3101655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8FB3A5-8732-4609-8C77-9772BC68DBD6}" type="datetime1">
              <a:rPr lang="en-US" smtClean="0"/>
              <a:t>1/31/2026</a:t>
            </a:fld>
            <a:endParaRPr lang="en-US"/>
          </a:p>
        </p:txBody>
      </p:sp>
      <p:sp>
        <p:nvSpPr>
          <p:cNvPr id="8" name="Footer Placeholder 7"/>
          <p:cNvSpPr>
            <a:spLocks noGrp="1"/>
          </p:cNvSpPr>
          <p:nvPr>
            <p:ph type="ftr" sz="quarter" idx="11"/>
          </p:nvPr>
        </p:nvSpPr>
        <p:spPr/>
        <p:txBody>
          <a:bodyPr/>
          <a:lstStyle/>
          <a:p>
            <a:r>
              <a:rPr lang="nb-NO"/>
              <a:t>Kapil@nast.edu.np || kapilpant157</a:t>
            </a:r>
            <a:endParaRPr lang="en-US"/>
          </a:p>
        </p:txBody>
      </p:sp>
      <p:sp>
        <p:nvSpPr>
          <p:cNvPr id="9" name="Slide Number Placeholder 8"/>
          <p:cNvSpPr>
            <a:spLocks noGrp="1"/>
          </p:cNvSpPr>
          <p:nvPr>
            <p:ph type="sldNum" sz="quarter" idx="12"/>
          </p:nvPr>
        </p:nvSpPr>
        <p:spPr/>
        <p:txBody>
          <a:bodyPr/>
          <a:lstStyle/>
          <a:p>
            <a:fld id="{7EA05A3E-6DBA-4FE0-898F-5EF47B17DFD2}" type="slidenum">
              <a:rPr lang="en-US" smtClean="0"/>
              <a:t>‹#›</a:t>
            </a:fld>
            <a:endParaRPr lang="en-US"/>
          </a:p>
        </p:txBody>
      </p:sp>
    </p:spTree>
    <p:extLst>
      <p:ext uri="{BB962C8B-B14F-4D97-AF65-F5344CB8AC3E}">
        <p14:creationId xmlns:p14="http://schemas.microsoft.com/office/powerpoint/2010/main" val="652134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E6813B-5D02-4AEC-B5F8-8339E3AE730B}" type="datetime1">
              <a:rPr lang="en-US" smtClean="0"/>
              <a:t>1/31/2026</a:t>
            </a:fld>
            <a:endParaRPr lang="en-US"/>
          </a:p>
        </p:txBody>
      </p:sp>
      <p:sp>
        <p:nvSpPr>
          <p:cNvPr id="4" name="Footer Placeholder 3"/>
          <p:cNvSpPr>
            <a:spLocks noGrp="1"/>
          </p:cNvSpPr>
          <p:nvPr>
            <p:ph type="ftr" sz="quarter" idx="11"/>
          </p:nvPr>
        </p:nvSpPr>
        <p:spPr/>
        <p:txBody>
          <a:bodyPr/>
          <a:lstStyle/>
          <a:p>
            <a:r>
              <a:rPr lang="nb-NO"/>
              <a:t>Kapil@nast.edu.np || kapilpant157</a:t>
            </a:r>
            <a:endParaRPr lang="en-US"/>
          </a:p>
        </p:txBody>
      </p:sp>
      <p:sp>
        <p:nvSpPr>
          <p:cNvPr id="5" name="Slide Number Placeholder 4"/>
          <p:cNvSpPr>
            <a:spLocks noGrp="1"/>
          </p:cNvSpPr>
          <p:nvPr>
            <p:ph type="sldNum" sz="quarter" idx="12"/>
          </p:nvPr>
        </p:nvSpPr>
        <p:spPr/>
        <p:txBody>
          <a:bodyPr/>
          <a:lstStyle/>
          <a:p>
            <a:fld id="{7EA05A3E-6DBA-4FE0-898F-5EF47B17DFD2}" type="slidenum">
              <a:rPr lang="en-US" smtClean="0"/>
              <a:t>‹#›</a:t>
            </a:fld>
            <a:endParaRPr lang="en-US"/>
          </a:p>
        </p:txBody>
      </p:sp>
    </p:spTree>
    <p:extLst>
      <p:ext uri="{BB962C8B-B14F-4D97-AF65-F5344CB8AC3E}">
        <p14:creationId xmlns:p14="http://schemas.microsoft.com/office/powerpoint/2010/main" val="715373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846E08-9146-4589-BEC3-F28F7CB51782}" type="datetime1">
              <a:rPr lang="en-US" smtClean="0"/>
              <a:t>1/31/2026</a:t>
            </a:fld>
            <a:endParaRPr lang="en-US"/>
          </a:p>
        </p:txBody>
      </p:sp>
      <p:sp>
        <p:nvSpPr>
          <p:cNvPr id="3" name="Footer Placeholder 2"/>
          <p:cNvSpPr>
            <a:spLocks noGrp="1"/>
          </p:cNvSpPr>
          <p:nvPr>
            <p:ph type="ftr" sz="quarter" idx="11"/>
          </p:nvPr>
        </p:nvSpPr>
        <p:spPr/>
        <p:txBody>
          <a:bodyPr/>
          <a:lstStyle/>
          <a:p>
            <a:r>
              <a:rPr lang="nb-NO"/>
              <a:t>Kapil@nast.edu.np || kapilpant157</a:t>
            </a:r>
            <a:endParaRPr lang="en-US"/>
          </a:p>
        </p:txBody>
      </p:sp>
      <p:sp>
        <p:nvSpPr>
          <p:cNvPr id="4" name="Slide Number Placeholder 3"/>
          <p:cNvSpPr>
            <a:spLocks noGrp="1"/>
          </p:cNvSpPr>
          <p:nvPr>
            <p:ph type="sldNum" sz="quarter" idx="12"/>
          </p:nvPr>
        </p:nvSpPr>
        <p:spPr/>
        <p:txBody>
          <a:bodyPr/>
          <a:lstStyle/>
          <a:p>
            <a:fld id="{7EA05A3E-6DBA-4FE0-898F-5EF47B17DFD2}" type="slidenum">
              <a:rPr lang="en-US" smtClean="0"/>
              <a:t>‹#›</a:t>
            </a:fld>
            <a:endParaRPr lang="en-US"/>
          </a:p>
        </p:txBody>
      </p:sp>
    </p:spTree>
    <p:extLst>
      <p:ext uri="{BB962C8B-B14F-4D97-AF65-F5344CB8AC3E}">
        <p14:creationId xmlns:p14="http://schemas.microsoft.com/office/powerpoint/2010/main" val="179967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AFE0C7E-E046-4ECE-B9CA-242961BC0ECF}" type="datetime1">
              <a:rPr lang="en-US" smtClean="0"/>
              <a:t>1/31/2026</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7EA05A3E-6DBA-4FE0-898F-5EF47B17DFD2}" type="slidenum">
              <a:rPr lang="en-US" smtClean="0"/>
              <a:t>‹#›</a:t>
            </a:fld>
            <a:endParaRPr lang="en-US"/>
          </a:p>
        </p:txBody>
      </p:sp>
    </p:spTree>
    <p:extLst>
      <p:ext uri="{BB962C8B-B14F-4D97-AF65-F5344CB8AC3E}">
        <p14:creationId xmlns:p14="http://schemas.microsoft.com/office/powerpoint/2010/main" val="4229622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0A38E0-58B1-41F3-8126-F7777E5D5256}" type="datetime1">
              <a:rPr lang="en-US" smtClean="0"/>
              <a:t>1/31/2026</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7EA05A3E-6DBA-4FE0-898F-5EF47B17DFD2}" type="slidenum">
              <a:rPr lang="en-US" smtClean="0"/>
              <a:t>‹#›</a:t>
            </a:fld>
            <a:endParaRPr lang="en-US"/>
          </a:p>
        </p:txBody>
      </p:sp>
    </p:spTree>
    <p:extLst>
      <p:ext uri="{BB962C8B-B14F-4D97-AF65-F5344CB8AC3E}">
        <p14:creationId xmlns:p14="http://schemas.microsoft.com/office/powerpoint/2010/main" val="562757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D97F96-1598-4A64-90A0-20EF74200EDE}" type="datetime1">
              <a:rPr lang="en-US" smtClean="0"/>
              <a:t>1/31/2026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7EA05A3E-6DBA-4FE0-898F-5EF47B17DFD2}" type="slidenum">
              <a:rPr lang="en-US" smtClean="0"/>
              <a:t>‹#›</a:t>
            </a:fld>
            <a:endParaRPr lang="en-US"/>
          </a:p>
        </p:txBody>
      </p:sp>
    </p:spTree>
    <p:extLst>
      <p:ext uri="{BB962C8B-B14F-4D97-AF65-F5344CB8AC3E}">
        <p14:creationId xmlns:p14="http://schemas.microsoft.com/office/powerpoint/2010/main" val="1080732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CD60CD-C5E6-46F8-87D5-849033329DF1}" type="datetime1">
              <a:rPr lang="en-US" smtClean="0"/>
              <a:t>1/31/2026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7EA05A3E-6DBA-4FE0-898F-5EF47B17DFD2}"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711012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C3AAEE-2D14-4036-A0C4-18A88927F891}" type="datetime1">
              <a:rPr lang="en-US" smtClean="0"/>
              <a:t>1/31/2026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7EA05A3E-6DBA-4FE0-898F-5EF47B17DFD2}" type="slidenum">
              <a:rPr lang="en-US" smtClean="0"/>
              <a:t>‹#›</a:t>
            </a:fld>
            <a:endParaRPr lang="en-US"/>
          </a:p>
        </p:txBody>
      </p:sp>
    </p:spTree>
    <p:extLst>
      <p:ext uri="{BB962C8B-B14F-4D97-AF65-F5344CB8AC3E}">
        <p14:creationId xmlns:p14="http://schemas.microsoft.com/office/powerpoint/2010/main" val="33388801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3BE67-AC66-4E5B-8D8A-4FC1849F5F44}" type="datetime1">
              <a:rPr lang="en-US" smtClean="0"/>
              <a:t>1/31/2026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7EA05A3E-6DBA-4FE0-898F-5EF47B17DFD2}"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593693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EE561F-1D72-40BF-9AA7-D318239F0405}" type="datetime1">
              <a:rPr lang="en-US" smtClean="0"/>
              <a:t>1/31/2026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7EA05A3E-6DBA-4FE0-898F-5EF47B17DFD2}" type="slidenum">
              <a:rPr lang="en-US" smtClean="0"/>
              <a:t>‹#›</a:t>
            </a:fld>
            <a:endParaRPr lang="en-US"/>
          </a:p>
        </p:txBody>
      </p:sp>
    </p:spTree>
    <p:extLst>
      <p:ext uri="{BB962C8B-B14F-4D97-AF65-F5344CB8AC3E}">
        <p14:creationId xmlns:p14="http://schemas.microsoft.com/office/powerpoint/2010/main" val="41184922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E27C2C-7858-431D-AB88-D48CA37C5816}" type="datetime1">
              <a:rPr lang="en-US" smtClean="0"/>
              <a:t>1/31/2026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7EA05A3E-6DBA-4FE0-898F-5EF47B17DFD2}" type="slidenum">
              <a:rPr lang="en-US" smtClean="0"/>
              <a:t>‹#›</a:t>
            </a:fld>
            <a:endParaRPr lang="en-US"/>
          </a:p>
        </p:txBody>
      </p:sp>
    </p:spTree>
    <p:extLst>
      <p:ext uri="{BB962C8B-B14F-4D97-AF65-F5344CB8AC3E}">
        <p14:creationId xmlns:p14="http://schemas.microsoft.com/office/powerpoint/2010/main" val="21054249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B49C38-0CBE-438F-B886-7D63C7BDEA42}" type="datetime1">
              <a:rPr lang="en-US" smtClean="0"/>
              <a:t>1/31/2026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7EA05A3E-6DBA-4FE0-898F-5EF47B17DFD2}" type="slidenum">
              <a:rPr lang="en-US" smtClean="0"/>
              <a:t>‹#›</a:t>
            </a:fld>
            <a:endParaRPr lang="en-US"/>
          </a:p>
        </p:txBody>
      </p:sp>
    </p:spTree>
    <p:extLst>
      <p:ext uri="{BB962C8B-B14F-4D97-AF65-F5344CB8AC3E}">
        <p14:creationId xmlns:p14="http://schemas.microsoft.com/office/powerpoint/2010/main" val="10783350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3" name="Subtitle 2"/>
          <p:cNvSpPr>
            <a:spLocks noGrp="1"/>
          </p:cNvSpPr>
          <p:nvPr>
            <p:ph type="subTitle" idx="1" hasCustomPrompt="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-Kapil Dev Pant</a:t>
            </a:r>
          </a:p>
        </p:txBody>
      </p:sp>
      <p:sp>
        <p:nvSpPr>
          <p:cNvPr id="4" name="Date Placeholder 3"/>
          <p:cNvSpPr>
            <a:spLocks noGrp="1"/>
          </p:cNvSpPr>
          <p:nvPr>
            <p:ph type="dt" sz="half" idx="10"/>
          </p:nvPr>
        </p:nvSpPr>
        <p:spPr>
          <a:xfrm>
            <a:off x="5517728" y="6362170"/>
            <a:ext cx="684132" cy="365125"/>
          </a:xfrm>
        </p:spPr>
        <p:txBody>
          <a:bodyPr/>
          <a:lstStyle/>
          <a:p>
            <a:fld id="{B9900C62-C63E-4607-AA92-DF721F5B5213}" type="datetime1">
              <a:rPr lang="en-US" smtClean="0"/>
              <a:t>1/31/2026</a:t>
            </a:fld>
            <a:endParaRPr lang="en-US"/>
          </a:p>
        </p:txBody>
      </p:sp>
      <p:sp>
        <p:nvSpPr>
          <p:cNvPr id="5" name="Footer Placeholder 4"/>
          <p:cNvSpPr>
            <a:spLocks noGrp="1"/>
          </p:cNvSpPr>
          <p:nvPr>
            <p:ph type="ftr" sz="quarter" idx="11"/>
          </p:nvPr>
        </p:nvSpPr>
        <p:spPr>
          <a:xfrm>
            <a:off x="582067" y="6362170"/>
            <a:ext cx="4622973" cy="365125"/>
          </a:xfrm>
        </p:spPr>
        <p:txBody>
          <a:bodyPr/>
          <a:lstStyle/>
          <a:p>
            <a:r>
              <a:rPr lang="nb-NO"/>
              <a:t>Kapil@nast.edu.np || kapilpant157</a:t>
            </a:r>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0" name="Title 9">
            <a:extLst>
              <a:ext uri="{FF2B5EF4-FFF2-40B4-BE49-F238E27FC236}">
                <a16:creationId xmlns:a16="http://schemas.microsoft.com/office/drawing/2014/main" id="{0F5E3B4B-E719-B942-0E05-70E0390211F4}"/>
              </a:ext>
            </a:extLst>
          </p:cNvPr>
          <p:cNvSpPr>
            <a:spLocks noGrp="1"/>
          </p:cNvSpPr>
          <p:nvPr>
            <p:ph type="title" hasCustomPrompt="1"/>
          </p:nvPr>
        </p:nvSpPr>
        <p:spPr/>
        <p:txBody>
          <a:bodyPr/>
          <a:lstStyle>
            <a:lvl1pPr>
              <a:defRPr/>
            </a:lvl1pPr>
          </a:lstStyle>
          <a:p>
            <a:r>
              <a:rPr lang="en-US" dirty="0"/>
              <a:t>Analysis of Simulation Output </a:t>
            </a:r>
          </a:p>
        </p:txBody>
      </p:sp>
    </p:spTree>
    <p:extLst>
      <p:ext uri="{BB962C8B-B14F-4D97-AF65-F5344CB8AC3E}">
        <p14:creationId xmlns:p14="http://schemas.microsoft.com/office/powerpoint/2010/main" val="3149526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033BCB2-261B-4F7A-9F66-2E12A8C0E1BC}" type="datetime1">
              <a:rPr lang="en-US" smtClean="0"/>
              <a:t>1/31/2026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nb-NO"/>
              <a:t>Kapil@nast.edu.np || kapilpant157</a:t>
            </a:r>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7EA05A3E-6DBA-4FE0-898F-5EF47B17DFD2}" type="slidenum">
              <a:rPr lang="en-US" smtClean="0"/>
              <a:t>‹#›</a:t>
            </a:fld>
            <a:endParaRPr lang="en-US"/>
          </a:p>
        </p:txBody>
      </p:sp>
    </p:spTree>
    <p:extLst>
      <p:ext uri="{BB962C8B-B14F-4D97-AF65-F5344CB8AC3E}">
        <p14:creationId xmlns:p14="http://schemas.microsoft.com/office/powerpoint/2010/main" val="325990765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hf hd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C58A10-B003-1A0B-FAAC-9842AAAD8E77}"/>
              </a:ext>
            </a:extLst>
          </p:cNvPr>
          <p:cNvSpPr>
            <a:spLocks noGrp="1"/>
          </p:cNvSpPr>
          <p:nvPr>
            <p:ph type="subTitle" idx="1"/>
          </p:nvPr>
        </p:nvSpPr>
        <p:spPr/>
        <p:txBody>
          <a:bodyPr/>
          <a:lstStyle/>
          <a:p>
            <a:r>
              <a:rPr lang="en-US" dirty="0"/>
              <a:t>Kapil Dev Pant (6hrs)</a:t>
            </a:r>
          </a:p>
        </p:txBody>
      </p:sp>
      <p:sp>
        <p:nvSpPr>
          <p:cNvPr id="2" name="Title 1">
            <a:extLst>
              <a:ext uri="{FF2B5EF4-FFF2-40B4-BE49-F238E27FC236}">
                <a16:creationId xmlns:a16="http://schemas.microsoft.com/office/drawing/2014/main" id="{65293F4D-1464-C1C5-F4C2-D998193B9315}"/>
              </a:ext>
            </a:extLst>
          </p:cNvPr>
          <p:cNvSpPr>
            <a:spLocks noGrp="1"/>
          </p:cNvSpPr>
          <p:nvPr>
            <p:ph type="title"/>
          </p:nvPr>
        </p:nvSpPr>
        <p:spPr>
          <a:xfrm>
            <a:off x="1130595" y="2404534"/>
            <a:ext cx="5826719" cy="1646302"/>
          </a:xfrm>
        </p:spPr>
        <p:txBody>
          <a:bodyPr/>
          <a:lstStyle/>
          <a:p>
            <a:r>
              <a:rPr lang="en-US" dirty="0"/>
              <a:t>Discrete System Languages</a:t>
            </a:r>
          </a:p>
        </p:txBody>
      </p:sp>
      <p:sp>
        <p:nvSpPr>
          <p:cNvPr id="4" name="Footer Placeholder 3">
            <a:extLst>
              <a:ext uri="{FF2B5EF4-FFF2-40B4-BE49-F238E27FC236}">
                <a16:creationId xmlns:a16="http://schemas.microsoft.com/office/drawing/2014/main" id="{3E406C79-BA74-1B07-1704-3B33E094EE96}"/>
              </a:ext>
            </a:extLst>
          </p:cNvPr>
          <p:cNvSpPr>
            <a:spLocks noGrp="1"/>
          </p:cNvSpPr>
          <p:nvPr>
            <p:ph type="ftr" sz="quarter" idx="11"/>
          </p:nvPr>
        </p:nvSpPr>
        <p:spPr/>
        <p:txBody>
          <a:bodyPr/>
          <a:lstStyle/>
          <a:p>
            <a:r>
              <a:rPr lang="nb-NO" sz="1000" dirty="0"/>
              <a:t>Kapil@nast.edu.np || kapilpant157</a:t>
            </a:r>
            <a:endParaRPr lang="en-US" sz="1000" dirty="0"/>
          </a:p>
        </p:txBody>
      </p:sp>
      <p:sp>
        <p:nvSpPr>
          <p:cNvPr id="5" name="Date Placeholder 4">
            <a:extLst>
              <a:ext uri="{FF2B5EF4-FFF2-40B4-BE49-F238E27FC236}">
                <a16:creationId xmlns:a16="http://schemas.microsoft.com/office/drawing/2014/main" id="{DEB05563-3D54-C574-6B92-2FAC2EB87068}"/>
              </a:ext>
            </a:extLst>
          </p:cNvPr>
          <p:cNvSpPr>
            <a:spLocks noGrp="1"/>
          </p:cNvSpPr>
          <p:nvPr>
            <p:ph type="dt" sz="half" idx="10"/>
          </p:nvPr>
        </p:nvSpPr>
        <p:spPr/>
        <p:txBody>
          <a:bodyPr/>
          <a:lstStyle/>
          <a:p>
            <a:fld id="{7C0CFD79-954C-428F-94F8-3AA607314C62}" type="datetime1">
              <a:rPr lang="en-US" smtClean="0"/>
              <a:t>1/31/2026</a:t>
            </a:fld>
            <a:endParaRPr lang="en-US"/>
          </a:p>
        </p:txBody>
      </p:sp>
      <p:sp>
        <p:nvSpPr>
          <p:cNvPr id="6" name="Slide Number Placeholder 5">
            <a:extLst>
              <a:ext uri="{FF2B5EF4-FFF2-40B4-BE49-F238E27FC236}">
                <a16:creationId xmlns:a16="http://schemas.microsoft.com/office/drawing/2014/main" id="{03842B1A-00A5-CFC6-FF7A-988B0C5BE5D9}"/>
              </a:ext>
            </a:extLst>
          </p:cNvPr>
          <p:cNvSpPr>
            <a:spLocks noGrp="1"/>
          </p:cNvSpPr>
          <p:nvPr>
            <p:ph type="sldNum" sz="quarter" idx="12"/>
          </p:nvPr>
        </p:nvSpPr>
        <p:spPr/>
        <p:txBody>
          <a:bodyPr/>
          <a:lstStyle/>
          <a:p>
            <a:fld id="{C1FF6DA9-008F-8B48-92A6-B652298478BF}" type="slidenum">
              <a:rPr lang="en-US" smtClean="0"/>
              <a:t>1</a:t>
            </a:fld>
            <a:endParaRPr lang="en-US"/>
          </a:p>
        </p:txBody>
      </p:sp>
    </p:spTree>
    <p:extLst>
      <p:ext uri="{BB962C8B-B14F-4D97-AF65-F5344CB8AC3E}">
        <p14:creationId xmlns:p14="http://schemas.microsoft.com/office/powerpoint/2010/main" val="514810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BB763-4CB9-06CE-F719-AC34D4C1DA0F}"/>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0E454555-5649-CE09-3024-3D6B466C1C85}"/>
              </a:ext>
            </a:extLst>
          </p:cNvPr>
          <p:cNvSpPr>
            <a:spLocks noGrp="1"/>
          </p:cNvSpPr>
          <p:nvPr>
            <p:ph idx="1"/>
          </p:nvPr>
        </p:nvSpPr>
        <p:spPr/>
        <p:txBody>
          <a:bodyPr/>
          <a:lstStyle/>
          <a:p>
            <a:pPr>
              <a:buFont typeface="+mj-lt"/>
              <a:buAutoNum type="arabicPeriod"/>
            </a:pPr>
            <a:r>
              <a:rPr lang="en-US" dirty="0"/>
              <a:t>Simulation Using GPSS</a:t>
            </a:r>
          </a:p>
          <a:p>
            <a:pPr marL="800100" lvl="1" indent="-342900">
              <a:buFont typeface="+mj-lt"/>
              <a:buAutoNum type="arabicPeriod"/>
            </a:pPr>
            <a:r>
              <a:rPr lang="en-US" dirty="0"/>
              <a:t>GPSS problems</a:t>
            </a:r>
          </a:p>
          <a:p>
            <a:pPr>
              <a:buFont typeface="+mj-lt"/>
              <a:buAutoNum type="arabicPeriod"/>
            </a:pPr>
            <a:r>
              <a:rPr lang="en-US" dirty="0"/>
              <a:t>Simulation using SIMSCRIPT</a:t>
            </a:r>
          </a:p>
          <a:p>
            <a:pPr marL="800100" lvl="1" indent="-342900">
              <a:buFont typeface="+mj-lt"/>
              <a:buAutoNum type="arabicPeriod"/>
            </a:pPr>
            <a:r>
              <a:rPr lang="en-US" dirty="0"/>
              <a:t>Organization of SIMSCRIPT</a:t>
            </a:r>
          </a:p>
          <a:p>
            <a:pPr marL="800100" lvl="1" indent="-342900">
              <a:buFont typeface="+mj-lt"/>
              <a:buAutoNum type="arabicPeriod"/>
            </a:pPr>
            <a:r>
              <a:rPr lang="en-US" dirty="0"/>
              <a:t>Programs of SIMSCRIPT</a:t>
            </a:r>
          </a:p>
          <a:p>
            <a:pPr>
              <a:buFont typeface="+mj-lt"/>
              <a:buAutoNum type="arabicPeriod"/>
            </a:pPr>
            <a:r>
              <a:rPr lang="en-US" dirty="0"/>
              <a:t>Other discrete simulation Languages</a:t>
            </a:r>
          </a:p>
        </p:txBody>
      </p:sp>
      <p:sp>
        <p:nvSpPr>
          <p:cNvPr id="4" name="Footer Placeholder 3">
            <a:extLst>
              <a:ext uri="{FF2B5EF4-FFF2-40B4-BE49-F238E27FC236}">
                <a16:creationId xmlns:a16="http://schemas.microsoft.com/office/drawing/2014/main" id="{544FC86C-81A3-0E0D-EA20-BA852A828209}"/>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B31E4E99-B4A7-2ED5-3C41-E218A41E99CC}"/>
              </a:ext>
            </a:extLst>
          </p:cNvPr>
          <p:cNvSpPr>
            <a:spLocks noGrp="1"/>
          </p:cNvSpPr>
          <p:nvPr>
            <p:ph type="dt" sz="half" idx="10"/>
          </p:nvPr>
        </p:nvSpPr>
        <p:spPr/>
        <p:txBody>
          <a:bodyPr/>
          <a:lstStyle/>
          <a:p>
            <a:fld id="{CBBFBF75-C4D1-44A1-9EC6-A05C16C3B549}" type="datetime1">
              <a:rPr lang="en-US" smtClean="0"/>
              <a:t>1/31/2026</a:t>
            </a:fld>
            <a:endParaRPr lang="en-US" dirty="0"/>
          </a:p>
        </p:txBody>
      </p:sp>
      <p:sp>
        <p:nvSpPr>
          <p:cNvPr id="6" name="Slide Number Placeholder 5">
            <a:extLst>
              <a:ext uri="{FF2B5EF4-FFF2-40B4-BE49-F238E27FC236}">
                <a16:creationId xmlns:a16="http://schemas.microsoft.com/office/drawing/2014/main" id="{87BA2D56-1507-D553-E030-69F52F44DD8C}"/>
              </a:ext>
            </a:extLst>
          </p:cNvPr>
          <p:cNvSpPr>
            <a:spLocks noGrp="1"/>
          </p:cNvSpPr>
          <p:nvPr>
            <p:ph type="sldNum" sz="quarter" idx="12"/>
          </p:nvPr>
        </p:nvSpPr>
        <p:spPr/>
        <p:txBody>
          <a:bodyPr/>
          <a:lstStyle/>
          <a:p>
            <a:fld id="{7EA05A3E-6DBA-4FE0-898F-5EF47B17DFD2}" type="slidenum">
              <a:rPr lang="en-US" smtClean="0"/>
              <a:t>2</a:t>
            </a:fld>
            <a:endParaRPr lang="en-US" dirty="0"/>
          </a:p>
        </p:txBody>
      </p:sp>
    </p:spTree>
    <p:extLst>
      <p:ext uri="{BB962C8B-B14F-4D97-AF65-F5344CB8AC3E}">
        <p14:creationId xmlns:p14="http://schemas.microsoft.com/office/powerpoint/2010/main" val="3919970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231F-8209-F406-2EC1-441164053EB7}"/>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C70F379D-8B8B-FDDF-20D8-71B149E63289}"/>
              </a:ext>
            </a:extLst>
          </p:cNvPr>
          <p:cNvSpPr>
            <a:spLocks noGrp="1"/>
          </p:cNvSpPr>
          <p:nvPr>
            <p:ph idx="1"/>
          </p:nvPr>
        </p:nvSpPr>
        <p:spPr/>
        <p:txBody>
          <a:bodyPr/>
          <a:lstStyle/>
          <a:p>
            <a:r>
              <a:rPr lang="en-US" dirty="0"/>
              <a:t>What is Simulation?</a:t>
            </a:r>
          </a:p>
          <a:p>
            <a:r>
              <a:rPr lang="en-US" dirty="0"/>
              <a:t>Definition and importance in system analysis.</a:t>
            </a:r>
          </a:p>
          <a:p>
            <a:r>
              <a:rPr lang="en-US" dirty="0"/>
              <a:t>Applications in diverse fields: engineering, healthcare, business, etc.</a:t>
            </a:r>
          </a:p>
          <a:p>
            <a:endParaRPr lang="en-US" dirty="0"/>
          </a:p>
          <a:p>
            <a:endParaRPr lang="en-US" dirty="0"/>
          </a:p>
        </p:txBody>
      </p:sp>
      <p:sp>
        <p:nvSpPr>
          <p:cNvPr id="4" name="Footer Placeholder 3">
            <a:extLst>
              <a:ext uri="{FF2B5EF4-FFF2-40B4-BE49-F238E27FC236}">
                <a16:creationId xmlns:a16="http://schemas.microsoft.com/office/drawing/2014/main" id="{BA5B76E7-9624-04D8-198B-2F3029FA0F84}"/>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D03EF7B1-1982-0DAE-7434-2B30C1D4ABDA}"/>
              </a:ext>
            </a:extLst>
          </p:cNvPr>
          <p:cNvSpPr>
            <a:spLocks noGrp="1"/>
          </p:cNvSpPr>
          <p:nvPr>
            <p:ph type="dt" sz="half" idx="10"/>
          </p:nvPr>
        </p:nvSpPr>
        <p:spPr/>
        <p:txBody>
          <a:bodyPr/>
          <a:lstStyle/>
          <a:p>
            <a:fld id="{EFB14131-6428-46F1-8366-F2152E58C193}" type="datetime1">
              <a:rPr lang="en-US" smtClean="0"/>
              <a:t>1/31/2026</a:t>
            </a:fld>
            <a:endParaRPr lang="en-US"/>
          </a:p>
        </p:txBody>
      </p:sp>
      <p:sp>
        <p:nvSpPr>
          <p:cNvPr id="6" name="Slide Number Placeholder 5">
            <a:extLst>
              <a:ext uri="{FF2B5EF4-FFF2-40B4-BE49-F238E27FC236}">
                <a16:creationId xmlns:a16="http://schemas.microsoft.com/office/drawing/2014/main" id="{16971120-00E2-9EF2-3CA2-166922BEA640}"/>
              </a:ext>
            </a:extLst>
          </p:cNvPr>
          <p:cNvSpPr>
            <a:spLocks noGrp="1"/>
          </p:cNvSpPr>
          <p:nvPr>
            <p:ph type="sldNum" sz="quarter" idx="12"/>
          </p:nvPr>
        </p:nvSpPr>
        <p:spPr/>
        <p:txBody>
          <a:bodyPr/>
          <a:lstStyle/>
          <a:p>
            <a:fld id="{7EA05A3E-6DBA-4FE0-898F-5EF47B17DFD2}" type="slidenum">
              <a:rPr lang="en-US" smtClean="0"/>
              <a:t>3</a:t>
            </a:fld>
            <a:endParaRPr lang="en-US"/>
          </a:p>
        </p:txBody>
      </p:sp>
    </p:spTree>
    <p:extLst>
      <p:ext uri="{BB962C8B-B14F-4D97-AF65-F5344CB8AC3E}">
        <p14:creationId xmlns:p14="http://schemas.microsoft.com/office/powerpoint/2010/main" val="2780086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Simulation Languages</a:t>
            </a:r>
          </a:p>
        </p:txBody>
      </p:sp>
      <p:sp>
        <p:nvSpPr>
          <p:cNvPr id="3" name="Content Placeholder 2"/>
          <p:cNvSpPr>
            <a:spLocks noGrp="1"/>
          </p:cNvSpPr>
          <p:nvPr>
            <p:ph idx="1"/>
          </p:nvPr>
        </p:nvSpPr>
        <p:spPr/>
        <p:txBody>
          <a:bodyPr>
            <a:normAutofit fontScale="92500" lnSpcReduction="20000"/>
          </a:bodyPr>
          <a:lstStyle/>
          <a:p>
            <a:pPr marL="0" indent="0">
              <a:buNone/>
            </a:pPr>
            <a:r>
              <a:rPr dirty="0"/>
              <a:t>General Purpose Simulation Languages (GPL)</a:t>
            </a:r>
          </a:p>
          <a:p>
            <a:r>
              <a:rPr dirty="0"/>
              <a:t>Examples: C, Python, Java.</a:t>
            </a:r>
          </a:p>
          <a:p>
            <a:r>
              <a:rPr dirty="0"/>
              <a:t>Flexibility but require more programming effort.</a:t>
            </a:r>
          </a:p>
          <a:p>
            <a:endParaRPr dirty="0"/>
          </a:p>
          <a:p>
            <a:pPr marL="0" indent="0">
              <a:buNone/>
            </a:pPr>
            <a:r>
              <a:rPr dirty="0"/>
              <a:t>Simulation-Specific Languages</a:t>
            </a:r>
          </a:p>
          <a:p>
            <a:r>
              <a:rPr dirty="0"/>
              <a:t>Examples: GPSS, SIMSCRIPT, Arena.</a:t>
            </a:r>
          </a:p>
          <a:p>
            <a:r>
              <a:rPr dirty="0"/>
              <a:t>Tailored for modeling and simulation tasks.</a:t>
            </a:r>
          </a:p>
          <a:p>
            <a:endParaRPr dirty="0"/>
          </a:p>
          <a:p>
            <a:pPr marL="0" indent="0">
              <a:buNone/>
            </a:pPr>
            <a:r>
              <a:rPr dirty="0"/>
              <a:t>Graphical Simulation Tools</a:t>
            </a:r>
          </a:p>
          <a:p>
            <a:r>
              <a:rPr dirty="0"/>
              <a:t>Examples: MATLAB Simulink, </a:t>
            </a:r>
            <a:r>
              <a:rPr dirty="0" err="1"/>
              <a:t>AnyLogic</a:t>
            </a:r>
            <a:r>
              <a:rPr dirty="0"/>
              <a:t>.</a:t>
            </a:r>
          </a:p>
          <a:p>
            <a:r>
              <a:rPr dirty="0"/>
              <a:t>Visual interface with drag-and-drop features.</a:t>
            </a:r>
          </a:p>
        </p:txBody>
      </p:sp>
      <p:sp>
        <p:nvSpPr>
          <p:cNvPr id="4" name="Footer Placeholder 3">
            <a:extLst>
              <a:ext uri="{FF2B5EF4-FFF2-40B4-BE49-F238E27FC236}">
                <a16:creationId xmlns:a16="http://schemas.microsoft.com/office/drawing/2014/main" id="{143951E9-A455-A030-1BF6-2AA08A1FB5CD}"/>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57EADB20-7790-1488-4ADF-4D653DA285DE}"/>
              </a:ext>
            </a:extLst>
          </p:cNvPr>
          <p:cNvSpPr>
            <a:spLocks noGrp="1"/>
          </p:cNvSpPr>
          <p:nvPr>
            <p:ph type="dt" sz="half" idx="10"/>
          </p:nvPr>
        </p:nvSpPr>
        <p:spPr/>
        <p:txBody>
          <a:bodyPr/>
          <a:lstStyle/>
          <a:p>
            <a:fld id="{3461E39E-8D34-4D07-9C67-C66568486FAF}" type="datetime1">
              <a:rPr lang="en-US" smtClean="0"/>
              <a:t>1/31/2026</a:t>
            </a:fld>
            <a:endParaRPr lang="en-US"/>
          </a:p>
        </p:txBody>
      </p:sp>
      <p:sp>
        <p:nvSpPr>
          <p:cNvPr id="6" name="Slide Number Placeholder 5">
            <a:extLst>
              <a:ext uri="{FF2B5EF4-FFF2-40B4-BE49-F238E27FC236}">
                <a16:creationId xmlns:a16="http://schemas.microsoft.com/office/drawing/2014/main" id="{D66A0E4C-CE58-2480-A0D1-ECA1D0A57237}"/>
              </a:ext>
            </a:extLst>
          </p:cNvPr>
          <p:cNvSpPr>
            <a:spLocks noGrp="1"/>
          </p:cNvSpPr>
          <p:nvPr>
            <p:ph type="sldNum" sz="quarter" idx="12"/>
          </p:nvPr>
        </p:nvSpPr>
        <p:spPr/>
        <p:txBody>
          <a:bodyPr/>
          <a:lstStyle/>
          <a:p>
            <a:fld id="{7EA05A3E-6DBA-4FE0-898F-5EF47B17DFD2}"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B26A-6C03-B5EC-8E3B-17DCADDD2998}"/>
              </a:ext>
            </a:extLst>
          </p:cNvPr>
          <p:cNvSpPr>
            <a:spLocks noGrp="1"/>
          </p:cNvSpPr>
          <p:nvPr>
            <p:ph type="title"/>
          </p:nvPr>
        </p:nvSpPr>
        <p:spPr/>
        <p:txBody>
          <a:bodyPr>
            <a:normAutofit fontScale="90000"/>
          </a:bodyPr>
          <a:lstStyle/>
          <a:p>
            <a:r>
              <a:rPr lang="en-US" dirty="0"/>
              <a:t>Simulation using GPSS (General Purpose Simulation System)</a:t>
            </a:r>
          </a:p>
        </p:txBody>
      </p:sp>
      <p:sp>
        <p:nvSpPr>
          <p:cNvPr id="3" name="Content Placeholder 2">
            <a:extLst>
              <a:ext uri="{FF2B5EF4-FFF2-40B4-BE49-F238E27FC236}">
                <a16:creationId xmlns:a16="http://schemas.microsoft.com/office/drawing/2014/main" id="{77669E7B-2F31-8F34-3676-21773D0B4D0E}"/>
              </a:ext>
            </a:extLst>
          </p:cNvPr>
          <p:cNvSpPr>
            <a:spLocks noGrp="1"/>
          </p:cNvSpPr>
          <p:nvPr>
            <p:ph idx="1"/>
          </p:nvPr>
        </p:nvSpPr>
        <p:spPr>
          <a:xfrm>
            <a:off x="481263" y="1930400"/>
            <a:ext cx="6476050" cy="4110963"/>
          </a:xfrm>
        </p:spPr>
        <p:txBody>
          <a:bodyPr>
            <a:normAutofit fontScale="85000" lnSpcReduction="10000"/>
          </a:bodyPr>
          <a:lstStyle/>
          <a:p>
            <a:pPr marL="0" indent="0">
              <a:buNone/>
            </a:pPr>
            <a:r>
              <a:rPr lang="en-US" dirty="0"/>
              <a:t>GPSS is a discrete-event simulation language used primarily for modeling discrete systems like manufacturing, traffic, and queueing processes. It focuses on event scheduling and resource utilization.</a:t>
            </a:r>
          </a:p>
          <a:p>
            <a:pPr marL="0" indent="0">
              <a:buNone/>
            </a:pPr>
            <a:r>
              <a:rPr lang="en-US" b="1" dirty="0"/>
              <a:t>GPSS Features</a:t>
            </a:r>
          </a:p>
          <a:p>
            <a:pPr lvl="1"/>
            <a:r>
              <a:rPr lang="en-US" dirty="0"/>
              <a:t>Involves solving real-world problems using predefined block diagram-based simulation.</a:t>
            </a:r>
          </a:p>
          <a:p>
            <a:pPr lvl="1"/>
            <a:r>
              <a:rPr lang="en-US" dirty="0"/>
              <a:t>Statistical analysis and report generation</a:t>
            </a:r>
          </a:p>
          <a:p>
            <a:pPr marL="0" indent="0">
              <a:buNone/>
            </a:pPr>
            <a:r>
              <a:rPr lang="en-US" b="1" dirty="0"/>
              <a:t>Key Concepts:</a:t>
            </a:r>
          </a:p>
          <a:p>
            <a:pPr lvl="1"/>
            <a:r>
              <a:rPr lang="en-US" b="1" dirty="0"/>
              <a:t>Transactions:</a:t>
            </a:r>
            <a:r>
              <a:rPr lang="en-US" dirty="0"/>
              <a:t> Dynamic entities flowing through the system (e.g., customers).</a:t>
            </a:r>
          </a:p>
          <a:p>
            <a:pPr lvl="1"/>
            <a:r>
              <a:rPr lang="en-US" b="1" dirty="0"/>
              <a:t>Blocks:</a:t>
            </a:r>
            <a:r>
              <a:rPr lang="en-US" dirty="0"/>
              <a:t> Basic building units that represent operations (e.g., queue, delay, terminate).</a:t>
            </a:r>
          </a:p>
          <a:p>
            <a:pPr lvl="1"/>
            <a:r>
              <a:rPr lang="en-US" b="1" dirty="0"/>
              <a:t>Facilities:</a:t>
            </a:r>
            <a:r>
              <a:rPr lang="en-US" dirty="0"/>
              <a:t> Resources like machines or service counters.</a:t>
            </a:r>
          </a:p>
          <a:p>
            <a:pPr lvl="1"/>
            <a:r>
              <a:rPr lang="en-US" b="1" dirty="0"/>
              <a:t>Queues:</a:t>
            </a:r>
            <a:r>
              <a:rPr lang="en-US" dirty="0"/>
              <a:t> Waiting lines where transactions wait if resources are unavailable.</a:t>
            </a:r>
          </a:p>
          <a:p>
            <a:endParaRPr lang="en-US" dirty="0"/>
          </a:p>
        </p:txBody>
      </p:sp>
      <p:sp>
        <p:nvSpPr>
          <p:cNvPr id="4" name="Footer Placeholder 3">
            <a:extLst>
              <a:ext uri="{FF2B5EF4-FFF2-40B4-BE49-F238E27FC236}">
                <a16:creationId xmlns:a16="http://schemas.microsoft.com/office/drawing/2014/main" id="{D228B6B7-8DCC-A65C-3AC0-4424F0A69AB0}"/>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20C68C02-CDE8-85E1-A284-E1C9DC8EA960}"/>
              </a:ext>
            </a:extLst>
          </p:cNvPr>
          <p:cNvSpPr>
            <a:spLocks noGrp="1"/>
          </p:cNvSpPr>
          <p:nvPr>
            <p:ph type="dt" sz="half" idx="10"/>
          </p:nvPr>
        </p:nvSpPr>
        <p:spPr/>
        <p:txBody>
          <a:bodyPr/>
          <a:lstStyle/>
          <a:p>
            <a:fld id="{018388D3-829A-4DDD-B62A-5F7987675637}" type="datetime1">
              <a:rPr lang="en-US" smtClean="0"/>
              <a:t>1/31/2026</a:t>
            </a:fld>
            <a:endParaRPr lang="en-US"/>
          </a:p>
        </p:txBody>
      </p:sp>
      <p:sp>
        <p:nvSpPr>
          <p:cNvPr id="6" name="Slide Number Placeholder 5">
            <a:extLst>
              <a:ext uri="{FF2B5EF4-FFF2-40B4-BE49-F238E27FC236}">
                <a16:creationId xmlns:a16="http://schemas.microsoft.com/office/drawing/2014/main" id="{9114B7C6-2DA8-3323-F0E3-6CCF9287264C}"/>
              </a:ext>
            </a:extLst>
          </p:cNvPr>
          <p:cNvSpPr>
            <a:spLocks noGrp="1"/>
          </p:cNvSpPr>
          <p:nvPr>
            <p:ph type="sldNum" sz="quarter" idx="12"/>
          </p:nvPr>
        </p:nvSpPr>
        <p:spPr/>
        <p:txBody>
          <a:bodyPr/>
          <a:lstStyle/>
          <a:p>
            <a:fld id="{7EA05A3E-6DBA-4FE0-898F-5EF47B17DFD2}" type="slidenum">
              <a:rPr lang="en-US" smtClean="0"/>
              <a:t>5</a:t>
            </a:fld>
            <a:endParaRPr lang="en-US"/>
          </a:p>
        </p:txBody>
      </p:sp>
    </p:spTree>
    <p:extLst>
      <p:ext uri="{BB962C8B-B14F-4D97-AF65-F5344CB8AC3E}">
        <p14:creationId xmlns:p14="http://schemas.microsoft.com/office/powerpoint/2010/main" val="368100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771EE-A01F-168F-5889-9385396632B9}"/>
              </a:ext>
            </a:extLst>
          </p:cNvPr>
          <p:cNvSpPr>
            <a:spLocks noGrp="1"/>
          </p:cNvSpPr>
          <p:nvPr>
            <p:ph type="title"/>
          </p:nvPr>
        </p:nvSpPr>
        <p:spPr/>
        <p:txBody>
          <a:bodyPr/>
          <a:lstStyle/>
          <a:p>
            <a:r>
              <a:rPr lang="en-US" dirty="0"/>
              <a:t>GPSS BLOCKS</a:t>
            </a:r>
          </a:p>
        </p:txBody>
      </p:sp>
      <p:pic>
        <p:nvPicPr>
          <p:cNvPr id="5" name="Content Placeholder 4">
            <a:extLst>
              <a:ext uri="{FF2B5EF4-FFF2-40B4-BE49-F238E27FC236}">
                <a16:creationId xmlns:a16="http://schemas.microsoft.com/office/drawing/2014/main" id="{54CB4CCB-017B-D5CE-05D7-D14FD23B4251}"/>
              </a:ext>
            </a:extLst>
          </p:cNvPr>
          <p:cNvPicPr>
            <a:picLocks noGrp="1" noChangeAspect="1"/>
          </p:cNvPicPr>
          <p:nvPr>
            <p:ph idx="1"/>
          </p:nvPr>
        </p:nvPicPr>
        <p:blipFill>
          <a:blip r:embed="rId3"/>
          <a:stretch>
            <a:fillRect/>
          </a:stretch>
        </p:blipFill>
        <p:spPr>
          <a:xfrm>
            <a:off x="609599" y="1429170"/>
            <a:ext cx="2953162" cy="1781424"/>
          </a:xfrm>
        </p:spPr>
      </p:pic>
      <p:pic>
        <p:nvPicPr>
          <p:cNvPr id="7" name="Picture 6">
            <a:extLst>
              <a:ext uri="{FF2B5EF4-FFF2-40B4-BE49-F238E27FC236}">
                <a16:creationId xmlns:a16="http://schemas.microsoft.com/office/drawing/2014/main" id="{D68FCFF7-394F-A9A7-95D7-63BE8D3C82FA}"/>
              </a:ext>
            </a:extLst>
          </p:cNvPr>
          <p:cNvPicPr>
            <a:picLocks noChangeAspect="1"/>
          </p:cNvPicPr>
          <p:nvPr/>
        </p:nvPicPr>
        <p:blipFill>
          <a:blip r:embed="rId4"/>
          <a:stretch>
            <a:fillRect/>
          </a:stretch>
        </p:blipFill>
        <p:spPr>
          <a:xfrm>
            <a:off x="609599" y="3210594"/>
            <a:ext cx="2991267" cy="2943636"/>
          </a:xfrm>
          <a:prstGeom prst="rect">
            <a:avLst/>
          </a:prstGeom>
        </p:spPr>
      </p:pic>
      <p:pic>
        <p:nvPicPr>
          <p:cNvPr id="9" name="Picture 8">
            <a:extLst>
              <a:ext uri="{FF2B5EF4-FFF2-40B4-BE49-F238E27FC236}">
                <a16:creationId xmlns:a16="http://schemas.microsoft.com/office/drawing/2014/main" id="{85D9D781-AB45-1A2A-C18A-6CB347BFD53C}"/>
              </a:ext>
            </a:extLst>
          </p:cNvPr>
          <p:cNvPicPr>
            <a:picLocks noChangeAspect="1"/>
          </p:cNvPicPr>
          <p:nvPr/>
        </p:nvPicPr>
        <p:blipFill>
          <a:blip r:embed="rId5"/>
          <a:stretch>
            <a:fillRect/>
          </a:stretch>
        </p:blipFill>
        <p:spPr>
          <a:xfrm>
            <a:off x="4357758" y="1270000"/>
            <a:ext cx="3010320" cy="3086531"/>
          </a:xfrm>
          <a:prstGeom prst="rect">
            <a:avLst/>
          </a:prstGeom>
        </p:spPr>
      </p:pic>
      <p:pic>
        <p:nvPicPr>
          <p:cNvPr id="13" name="Picture 12">
            <a:extLst>
              <a:ext uri="{FF2B5EF4-FFF2-40B4-BE49-F238E27FC236}">
                <a16:creationId xmlns:a16="http://schemas.microsoft.com/office/drawing/2014/main" id="{3E1862B3-01F7-1894-1BBA-BB55B51EB12D}"/>
              </a:ext>
            </a:extLst>
          </p:cNvPr>
          <p:cNvPicPr>
            <a:picLocks noChangeAspect="1"/>
          </p:cNvPicPr>
          <p:nvPr/>
        </p:nvPicPr>
        <p:blipFill>
          <a:blip r:embed="rId6"/>
          <a:stretch>
            <a:fillRect/>
          </a:stretch>
        </p:blipFill>
        <p:spPr>
          <a:xfrm>
            <a:off x="4348232" y="4423109"/>
            <a:ext cx="3019846" cy="2095792"/>
          </a:xfrm>
          <a:prstGeom prst="rect">
            <a:avLst/>
          </a:prstGeom>
        </p:spPr>
      </p:pic>
      <p:sp>
        <p:nvSpPr>
          <p:cNvPr id="3" name="Footer Placeholder 2">
            <a:extLst>
              <a:ext uri="{FF2B5EF4-FFF2-40B4-BE49-F238E27FC236}">
                <a16:creationId xmlns:a16="http://schemas.microsoft.com/office/drawing/2014/main" id="{AF5B0E9F-9DE1-A7DD-C429-16BF08F3CA83}"/>
              </a:ext>
            </a:extLst>
          </p:cNvPr>
          <p:cNvSpPr>
            <a:spLocks noGrp="1"/>
          </p:cNvSpPr>
          <p:nvPr>
            <p:ph type="ftr" sz="quarter" idx="11"/>
          </p:nvPr>
        </p:nvSpPr>
        <p:spPr/>
        <p:txBody>
          <a:bodyPr/>
          <a:lstStyle/>
          <a:p>
            <a:r>
              <a:rPr lang="nb-NO"/>
              <a:t>Kapil@nast.edu.np || kapilpant157</a:t>
            </a:r>
            <a:endParaRPr lang="en-US" dirty="0"/>
          </a:p>
        </p:txBody>
      </p:sp>
      <p:sp>
        <p:nvSpPr>
          <p:cNvPr id="4" name="Date Placeholder 3">
            <a:extLst>
              <a:ext uri="{FF2B5EF4-FFF2-40B4-BE49-F238E27FC236}">
                <a16:creationId xmlns:a16="http://schemas.microsoft.com/office/drawing/2014/main" id="{5362CAE1-FC2B-C899-1A7B-5BD627943D30}"/>
              </a:ext>
            </a:extLst>
          </p:cNvPr>
          <p:cNvSpPr>
            <a:spLocks noGrp="1"/>
          </p:cNvSpPr>
          <p:nvPr>
            <p:ph type="dt" sz="half" idx="10"/>
          </p:nvPr>
        </p:nvSpPr>
        <p:spPr/>
        <p:txBody>
          <a:bodyPr/>
          <a:lstStyle/>
          <a:p>
            <a:fld id="{9EC6DAD8-5731-45E5-BF00-D80510B69546}" type="datetime1">
              <a:rPr lang="en-US" smtClean="0"/>
              <a:t>1/31/2026</a:t>
            </a:fld>
            <a:endParaRPr lang="en-US"/>
          </a:p>
        </p:txBody>
      </p:sp>
      <p:sp>
        <p:nvSpPr>
          <p:cNvPr id="6" name="Slide Number Placeholder 5">
            <a:extLst>
              <a:ext uri="{FF2B5EF4-FFF2-40B4-BE49-F238E27FC236}">
                <a16:creationId xmlns:a16="http://schemas.microsoft.com/office/drawing/2014/main" id="{41206350-1459-1332-5C7E-3CDBDC8FCEA0}"/>
              </a:ext>
            </a:extLst>
          </p:cNvPr>
          <p:cNvSpPr>
            <a:spLocks noGrp="1"/>
          </p:cNvSpPr>
          <p:nvPr>
            <p:ph type="sldNum" sz="quarter" idx="12"/>
          </p:nvPr>
        </p:nvSpPr>
        <p:spPr/>
        <p:txBody>
          <a:bodyPr/>
          <a:lstStyle/>
          <a:p>
            <a:fld id="{7EA05A3E-6DBA-4FE0-898F-5EF47B17DFD2}" type="slidenum">
              <a:rPr lang="en-US" smtClean="0"/>
              <a:t>6</a:t>
            </a:fld>
            <a:endParaRPr lang="en-US"/>
          </a:p>
        </p:txBody>
      </p:sp>
    </p:spTree>
    <p:extLst>
      <p:ext uri="{BB962C8B-B14F-4D97-AF65-F5344CB8AC3E}">
        <p14:creationId xmlns:p14="http://schemas.microsoft.com/office/powerpoint/2010/main" val="2900003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BA530-7B39-4BAC-F7A6-761CE2336B5F}"/>
              </a:ext>
            </a:extLst>
          </p:cNvPr>
          <p:cNvSpPr>
            <a:spLocks noGrp="1"/>
          </p:cNvSpPr>
          <p:nvPr>
            <p:ph type="title"/>
          </p:nvPr>
        </p:nvSpPr>
        <p:spPr/>
        <p:txBody>
          <a:bodyPr/>
          <a:lstStyle/>
          <a:p>
            <a:r>
              <a:rPr lang="en-US" dirty="0"/>
              <a:t>GPSS Blocks</a:t>
            </a:r>
          </a:p>
        </p:txBody>
      </p:sp>
      <p:pic>
        <p:nvPicPr>
          <p:cNvPr id="5" name="Content Placeholder 4">
            <a:extLst>
              <a:ext uri="{FF2B5EF4-FFF2-40B4-BE49-F238E27FC236}">
                <a16:creationId xmlns:a16="http://schemas.microsoft.com/office/drawing/2014/main" id="{AC68513E-2320-AA99-B854-4B6C19DEB58E}"/>
              </a:ext>
            </a:extLst>
          </p:cNvPr>
          <p:cNvPicPr>
            <a:picLocks noGrp="1" noChangeAspect="1"/>
          </p:cNvPicPr>
          <p:nvPr>
            <p:ph idx="1"/>
          </p:nvPr>
        </p:nvPicPr>
        <p:blipFill>
          <a:blip r:embed="rId2"/>
          <a:stretch>
            <a:fillRect/>
          </a:stretch>
        </p:blipFill>
        <p:spPr>
          <a:xfrm>
            <a:off x="609599" y="1666629"/>
            <a:ext cx="3019846" cy="3524742"/>
          </a:xfrm>
        </p:spPr>
      </p:pic>
      <p:pic>
        <p:nvPicPr>
          <p:cNvPr id="7" name="Picture 6">
            <a:extLst>
              <a:ext uri="{FF2B5EF4-FFF2-40B4-BE49-F238E27FC236}">
                <a16:creationId xmlns:a16="http://schemas.microsoft.com/office/drawing/2014/main" id="{99635937-75FF-847C-8D45-5DE8BC044285}"/>
              </a:ext>
            </a:extLst>
          </p:cNvPr>
          <p:cNvPicPr>
            <a:picLocks noChangeAspect="1"/>
          </p:cNvPicPr>
          <p:nvPr/>
        </p:nvPicPr>
        <p:blipFill>
          <a:blip r:embed="rId3"/>
          <a:stretch>
            <a:fillRect/>
          </a:stretch>
        </p:blipFill>
        <p:spPr>
          <a:xfrm>
            <a:off x="4327785" y="1590408"/>
            <a:ext cx="2785820" cy="3600963"/>
          </a:xfrm>
          <a:prstGeom prst="rect">
            <a:avLst/>
          </a:prstGeom>
        </p:spPr>
      </p:pic>
      <p:sp>
        <p:nvSpPr>
          <p:cNvPr id="3" name="Footer Placeholder 2">
            <a:extLst>
              <a:ext uri="{FF2B5EF4-FFF2-40B4-BE49-F238E27FC236}">
                <a16:creationId xmlns:a16="http://schemas.microsoft.com/office/drawing/2014/main" id="{42E3EF41-2D00-6E63-216B-49D126F8A7C6}"/>
              </a:ext>
            </a:extLst>
          </p:cNvPr>
          <p:cNvSpPr>
            <a:spLocks noGrp="1"/>
          </p:cNvSpPr>
          <p:nvPr>
            <p:ph type="ftr" sz="quarter" idx="11"/>
          </p:nvPr>
        </p:nvSpPr>
        <p:spPr/>
        <p:txBody>
          <a:bodyPr/>
          <a:lstStyle/>
          <a:p>
            <a:r>
              <a:rPr lang="nb-NO"/>
              <a:t>Kapil@nast.edu.np || kapilpant157</a:t>
            </a:r>
            <a:endParaRPr lang="en-US" dirty="0"/>
          </a:p>
        </p:txBody>
      </p:sp>
      <p:sp>
        <p:nvSpPr>
          <p:cNvPr id="4" name="Date Placeholder 3">
            <a:extLst>
              <a:ext uri="{FF2B5EF4-FFF2-40B4-BE49-F238E27FC236}">
                <a16:creationId xmlns:a16="http://schemas.microsoft.com/office/drawing/2014/main" id="{F6C59D7A-D36E-476F-3F5E-1229424C17BC}"/>
              </a:ext>
            </a:extLst>
          </p:cNvPr>
          <p:cNvSpPr>
            <a:spLocks noGrp="1"/>
          </p:cNvSpPr>
          <p:nvPr>
            <p:ph type="dt" sz="half" idx="10"/>
          </p:nvPr>
        </p:nvSpPr>
        <p:spPr/>
        <p:txBody>
          <a:bodyPr/>
          <a:lstStyle/>
          <a:p>
            <a:fld id="{7FEBABB1-7061-4CE0-A2B0-F6EA3CD13270}" type="datetime1">
              <a:rPr lang="en-US" smtClean="0"/>
              <a:t>1/31/2026</a:t>
            </a:fld>
            <a:endParaRPr lang="en-US"/>
          </a:p>
        </p:txBody>
      </p:sp>
      <p:sp>
        <p:nvSpPr>
          <p:cNvPr id="6" name="Slide Number Placeholder 5">
            <a:extLst>
              <a:ext uri="{FF2B5EF4-FFF2-40B4-BE49-F238E27FC236}">
                <a16:creationId xmlns:a16="http://schemas.microsoft.com/office/drawing/2014/main" id="{026FF73A-6B39-DBA9-CE42-D8D2197EC98B}"/>
              </a:ext>
            </a:extLst>
          </p:cNvPr>
          <p:cNvSpPr>
            <a:spLocks noGrp="1"/>
          </p:cNvSpPr>
          <p:nvPr>
            <p:ph type="sldNum" sz="quarter" idx="12"/>
          </p:nvPr>
        </p:nvSpPr>
        <p:spPr/>
        <p:txBody>
          <a:bodyPr/>
          <a:lstStyle/>
          <a:p>
            <a:fld id="{7EA05A3E-6DBA-4FE0-898F-5EF47B17DFD2}" type="slidenum">
              <a:rPr lang="en-US" smtClean="0"/>
              <a:t>7</a:t>
            </a:fld>
            <a:endParaRPr lang="en-US"/>
          </a:p>
        </p:txBody>
      </p:sp>
    </p:spTree>
    <p:extLst>
      <p:ext uri="{BB962C8B-B14F-4D97-AF65-F5344CB8AC3E}">
        <p14:creationId xmlns:p14="http://schemas.microsoft.com/office/powerpoint/2010/main" val="2213066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GPSS Program Application</a:t>
            </a:r>
          </a:p>
        </p:txBody>
      </p:sp>
      <p:sp>
        <p:nvSpPr>
          <p:cNvPr id="3" name="Content Placeholder 2"/>
          <p:cNvSpPr>
            <a:spLocks noGrp="1"/>
          </p:cNvSpPr>
          <p:nvPr>
            <p:ph idx="1"/>
          </p:nvPr>
        </p:nvSpPr>
        <p:spPr>
          <a:xfrm>
            <a:off x="609598" y="1793922"/>
            <a:ext cx="6347714" cy="3880773"/>
          </a:xfrm>
        </p:spPr>
        <p:txBody>
          <a:bodyPr>
            <a:normAutofit fontScale="77500" lnSpcReduction="20000"/>
          </a:bodyPr>
          <a:lstStyle/>
          <a:p>
            <a:pPr marL="0" indent="0">
              <a:buNone/>
            </a:pPr>
            <a:r>
              <a:rPr dirty="0"/>
              <a:t>Example Applications</a:t>
            </a:r>
          </a:p>
          <a:p>
            <a:r>
              <a:rPr dirty="0"/>
              <a:t>Bank teller systems: Simulating customer arrivals and service times.</a:t>
            </a:r>
          </a:p>
          <a:p>
            <a:r>
              <a:rPr dirty="0"/>
              <a:t>Traffic flow: Modeling vehicle movements at intersections.</a:t>
            </a:r>
          </a:p>
          <a:p>
            <a:pPr marL="0" indent="0">
              <a:buNone/>
            </a:pPr>
            <a:r>
              <a:rPr dirty="0"/>
              <a:t>Basic Structure of a GPSS Program</a:t>
            </a:r>
          </a:p>
          <a:p>
            <a:r>
              <a:rPr dirty="0"/>
              <a:t>START, GENERATE, QUEUE, SEIZE, RELEASE, TERMINATE.</a:t>
            </a:r>
          </a:p>
          <a:p>
            <a:pPr marL="0" indent="0">
              <a:buNone/>
            </a:pPr>
            <a:r>
              <a:rPr dirty="0"/>
              <a:t>Example Code:</a:t>
            </a:r>
          </a:p>
          <a:p>
            <a:r>
              <a:rPr dirty="0"/>
              <a:t>START 1</a:t>
            </a:r>
          </a:p>
          <a:p>
            <a:r>
              <a:rPr dirty="0"/>
              <a:t>GENERATE 5</a:t>
            </a:r>
          </a:p>
          <a:p>
            <a:r>
              <a:rPr dirty="0"/>
              <a:t>QUEUE LINE</a:t>
            </a:r>
          </a:p>
          <a:p>
            <a:r>
              <a:rPr dirty="0"/>
              <a:t>SEIZE SERVER</a:t>
            </a:r>
          </a:p>
          <a:p>
            <a:r>
              <a:rPr dirty="0"/>
              <a:t>DEPART LINE</a:t>
            </a:r>
          </a:p>
          <a:p>
            <a:r>
              <a:rPr dirty="0"/>
              <a:t>RELEASE SERVER</a:t>
            </a:r>
          </a:p>
          <a:p>
            <a:r>
              <a:rPr dirty="0"/>
              <a:t>TERMINATE 1</a:t>
            </a:r>
          </a:p>
        </p:txBody>
      </p:sp>
      <p:sp>
        <p:nvSpPr>
          <p:cNvPr id="4" name="Footer Placeholder 3">
            <a:extLst>
              <a:ext uri="{FF2B5EF4-FFF2-40B4-BE49-F238E27FC236}">
                <a16:creationId xmlns:a16="http://schemas.microsoft.com/office/drawing/2014/main" id="{BDDD2D2D-7FE1-61A4-4695-6612D28C518B}"/>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B342B499-F3DA-28AD-A0CD-896118D829C2}"/>
              </a:ext>
            </a:extLst>
          </p:cNvPr>
          <p:cNvSpPr>
            <a:spLocks noGrp="1"/>
          </p:cNvSpPr>
          <p:nvPr>
            <p:ph type="dt" sz="half" idx="10"/>
          </p:nvPr>
        </p:nvSpPr>
        <p:spPr/>
        <p:txBody>
          <a:bodyPr/>
          <a:lstStyle/>
          <a:p>
            <a:fld id="{3CB5B3F6-21B5-4330-B171-817C0A51EE2A}" type="datetime1">
              <a:rPr lang="en-US" smtClean="0"/>
              <a:t>1/31/2026</a:t>
            </a:fld>
            <a:endParaRPr lang="en-US"/>
          </a:p>
        </p:txBody>
      </p:sp>
      <p:sp>
        <p:nvSpPr>
          <p:cNvPr id="6" name="Slide Number Placeholder 5">
            <a:extLst>
              <a:ext uri="{FF2B5EF4-FFF2-40B4-BE49-F238E27FC236}">
                <a16:creationId xmlns:a16="http://schemas.microsoft.com/office/drawing/2014/main" id="{ECC6181D-05CA-1F72-EE0A-C2CE42D4514B}"/>
              </a:ext>
            </a:extLst>
          </p:cNvPr>
          <p:cNvSpPr>
            <a:spLocks noGrp="1"/>
          </p:cNvSpPr>
          <p:nvPr>
            <p:ph type="sldNum" sz="quarter" idx="12"/>
          </p:nvPr>
        </p:nvSpPr>
        <p:spPr/>
        <p:txBody>
          <a:bodyPr/>
          <a:lstStyle/>
          <a:p>
            <a:fld id="{7EA05A3E-6DBA-4FE0-898F-5EF47B17DFD2}"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AFB1F-A84F-A4C5-FB62-D59A3D355EE8}"/>
              </a:ext>
            </a:extLst>
          </p:cNvPr>
          <p:cNvSpPr>
            <a:spLocks noGrp="1"/>
          </p:cNvSpPr>
          <p:nvPr>
            <p:ph type="title"/>
          </p:nvPr>
        </p:nvSpPr>
        <p:spPr>
          <a:xfrm>
            <a:off x="462642" y="439003"/>
            <a:ext cx="2764972" cy="1320800"/>
          </a:xfrm>
        </p:spPr>
        <p:txBody>
          <a:bodyPr/>
          <a:lstStyle/>
          <a:p>
            <a:r>
              <a:rPr lang="en-US" dirty="0"/>
              <a:t>Example</a:t>
            </a:r>
          </a:p>
        </p:txBody>
      </p:sp>
      <p:sp>
        <p:nvSpPr>
          <p:cNvPr id="3" name="Content Placeholder 2">
            <a:extLst>
              <a:ext uri="{FF2B5EF4-FFF2-40B4-BE49-F238E27FC236}">
                <a16:creationId xmlns:a16="http://schemas.microsoft.com/office/drawing/2014/main" id="{C72C7D3A-A34F-CA2A-54C6-AE36004939EA}"/>
              </a:ext>
            </a:extLst>
          </p:cNvPr>
          <p:cNvSpPr>
            <a:spLocks noGrp="1"/>
          </p:cNvSpPr>
          <p:nvPr>
            <p:ph idx="1"/>
          </p:nvPr>
        </p:nvSpPr>
        <p:spPr>
          <a:xfrm>
            <a:off x="163286" y="1930400"/>
            <a:ext cx="2764972" cy="4110963"/>
          </a:xfrm>
        </p:spPr>
        <p:txBody>
          <a:bodyPr>
            <a:normAutofit/>
          </a:bodyPr>
          <a:lstStyle/>
          <a:p>
            <a:pPr marL="0" indent="0">
              <a:buNone/>
            </a:pPr>
            <a:r>
              <a:rPr lang="en-US" dirty="0"/>
              <a:t>GENERATE 100,20</a:t>
            </a:r>
          </a:p>
          <a:p>
            <a:pPr marL="0" indent="0">
              <a:buNone/>
            </a:pPr>
            <a:r>
              <a:rPr lang="en-US" dirty="0"/>
              <a:t>QUEUE GARAGE</a:t>
            </a:r>
          </a:p>
          <a:p>
            <a:pPr marL="0" indent="0">
              <a:buNone/>
            </a:pPr>
            <a:r>
              <a:rPr lang="en-US" dirty="0"/>
              <a:t>SEIZE PUMP</a:t>
            </a:r>
          </a:p>
          <a:p>
            <a:pPr marL="0" indent="0">
              <a:buNone/>
            </a:pPr>
            <a:r>
              <a:rPr lang="en-US" dirty="0"/>
              <a:t>DEPART GARAGE</a:t>
            </a:r>
          </a:p>
          <a:p>
            <a:pPr marL="0" indent="0">
              <a:buNone/>
            </a:pPr>
            <a:r>
              <a:rPr lang="en-US" dirty="0"/>
              <a:t>ADVANCE 100,5</a:t>
            </a:r>
          </a:p>
          <a:p>
            <a:pPr marL="0" indent="0">
              <a:buNone/>
            </a:pPr>
            <a:r>
              <a:rPr lang="en-US" dirty="0"/>
              <a:t>RELEASE PUMP</a:t>
            </a:r>
          </a:p>
          <a:p>
            <a:pPr marL="0" indent="0">
              <a:buNone/>
            </a:pPr>
            <a:r>
              <a:rPr lang="en-US" dirty="0"/>
              <a:t>TERMINATE 1</a:t>
            </a:r>
          </a:p>
          <a:p>
            <a:pPr marL="0" indent="0">
              <a:buNone/>
            </a:pPr>
            <a:r>
              <a:rPr lang="en-US" dirty="0"/>
              <a:t>START 500</a:t>
            </a:r>
          </a:p>
          <a:p>
            <a:endParaRPr lang="en-US" dirty="0"/>
          </a:p>
        </p:txBody>
      </p:sp>
      <p:sp>
        <p:nvSpPr>
          <p:cNvPr id="4" name="Title 1">
            <a:extLst>
              <a:ext uri="{FF2B5EF4-FFF2-40B4-BE49-F238E27FC236}">
                <a16:creationId xmlns:a16="http://schemas.microsoft.com/office/drawing/2014/main" id="{C70B5297-20BE-B2AA-1DC8-602B7DAC62B4}"/>
              </a:ext>
            </a:extLst>
          </p:cNvPr>
          <p:cNvSpPr txBox="1">
            <a:spLocks/>
          </p:cNvSpPr>
          <p:nvPr/>
        </p:nvSpPr>
        <p:spPr>
          <a:xfrm>
            <a:off x="4201886" y="609600"/>
            <a:ext cx="3135086"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Block Diagram</a:t>
            </a:r>
          </a:p>
        </p:txBody>
      </p:sp>
      <p:sp>
        <p:nvSpPr>
          <p:cNvPr id="5" name="TextBox 4">
            <a:extLst>
              <a:ext uri="{FF2B5EF4-FFF2-40B4-BE49-F238E27FC236}">
                <a16:creationId xmlns:a16="http://schemas.microsoft.com/office/drawing/2014/main" id="{ABA7BA75-0E02-54F6-D026-952E1A7FBE49}"/>
              </a:ext>
            </a:extLst>
          </p:cNvPr>
          <p:cNvSpPr txBox="1"/>
          <p:nvPr/>
        </p:nvSpPr>
        <p:spPr>
          <a:xfrm>
            <a:off x="1314450" y="1062540"/>
            <a:ext cx="2400300" cy="338554"/>
          </a:xfrm>
          <a:prstGeom prst="rect">
            <a:avLst/>
          </a:prstGeom>
          <a:noFill/>
        </p:spPr>
        <p:txBody>
          <a:bodyPr wrap="square" rtlCol="0">
            <a:spAutoFit/>
          </a:bodyPr>
          <a:lstStyle/>
          <a:p>
            <a:r>
              <a:rPr lang="en-US" sz="1600" dirty="0">
                <a:solidFill>
                  <a:srgbClr val="FF0000"/>
                </a:solidFill>
                <a:latin typeface="Bradley Hand ITC" panose="03070402050302030203" pitchFamily="66" charset="0"/>
              </a:rPr>
              <a:t>Creates transactions</a:t>
            </a:r>
          </a:p>
        </p:txBody>
      </p:sp>
      <p:sp>
        <p:nvSpPr>
          <p:cNvPr id="6" name="TextBox 5">
            <a:extLst>
              <a:ext uri="{FF2B5EF4-FFF2-40B4-BE49-F238E27FC236}">
                <a16:creationId xmlns:a16="http://schemas.microsoft.com/office/drawing/2014/main" id="{7983F240-06C0-D90B-6415-AA7162D9ABDE}"/>
              </a:ext>
            </a:extLst>
          </p:cNvPr>
          <p:cNvSpPr txBox="1"/>
          <p:nvPr/>
        </p:nvSpPr>
        <p:spPr>
          <a:xfrm>
            <a:off x="1314450" y="5515532"/>
            <a:ext cx="2318658" cy="338554"/>
          </a:xfrm>
          <a:prstGeom prst="rect">
            <a:avLst/>
          </a:prstGeom>
          <a:noFill/>
        </p:spPr>
        <p:txBody>
          <a:bodyPr wrap="square" rtlCol="0">
            <a:spAutoFit/>
          </a:bodyPr>
          <a:lstStyle/>
          <a:p>
            <a:r>
              <a:rPr lang="en-US" sz="1600" dirty="0">
                <a:solidFill>
                  <a:srgbClr val="FF0000"/>
                </a:solidFill>
                <a:latin typeface="Bradley Hand ITC" panose="03070402050302030203" pitchFamily="66" charset="0"/>
              </a:rPr>
              <a:t>Ends  transaction</a:t>
            </a:r>
          </a:p>
        </p:txBody>
      </p:sp>
      <p:sp>
        <p:nvSpPr>
          <p:cNvPr id="7" name="TextBox 6">
            <a:extLst>
              <a:ext uri="{FF2B5EF4-FFF2-40B4-BE49-F238E27FC236}">
                <a16:creationId xmlns:a16="http://schemas.microsoft.com/office/drawing/2014/main" id="{BF7FADFC-6E4F-AF9F-9986-79E791E7E822}"/>
              </a:ext>
            </a:extLst>
          </p:cNvPr>
          <p:cNvSpPr txBox="1"/>
          <p:nvPr/>
        </p:nvSpPr>
        <p:spPr>
          <a:xfrm>
            <a:off x="2740479" y="3366598"/>
            <a:ext cx="2359480" cy="584775"/>
          </a:xfrm>
          <a:prstGeom prst="rect">
            <a:avLst/>
          </a:prstGeom>
          <a:noFill/>
        </p:spPr>
        <p:txBody>
          <a:bodyPr wrap="square" rtlCol="0">
            <a:spAutoFit/>
          </a:bodyPr>
          <a:lstStyle/>
          <a:p>
            <a:r>
              <a:rPr lang="en-US" sz="1600" dirty="0">
                <a:solidFill>
                  <a:srgbClr val="FF0000"/>
                </a:solidFill>
                <a:latin typeface="Bradley Hand ITC" panose="03070402050302030203" pitchFamily="66" charset="0"/>
              </a:rPr>
              <a:t>Removes from queue named garage</a:t>
            </a:r>
          </a:p>
        </p:txBody>
      </p:sp>
      <p:sp>
        <p:nvSpPr>
          <p:cNvPr id="8" name="TextBox 7">
            <a:extLst>
              <a:ext uri="{FF2B5EF4-FFF2-40B4-BE49-F238E27FC236}">
                <a16:creationId xmlns:a16="http://schemas.microsoft.com/office/drawing/2014/main" id="{97327B62-9DAE-D1CE-6FF4-AF7D843750A3}"/>
              </a:ext>
            </a:extLst>
          </p:cNvPr>
          <p:cNvSpPr txBox="1"/>
          <p:nvPr/>
        </p:nvSpPr>
        <p:spPr>
          <a:xfrm>
            <a:off x="2405743" y="1687205"/>
            <a:ext cx="2318658" cy="584775"/>
          </a:xfrm>
          <a:prstGeom prst="rect">
            <a:avLst/>
          </a:prstGeom>
          <a:noFill/>
        </p:spPr>
        <p:txBody>
          <a:bodyPr wrap="square" rtlCol="0">
            <a:spAutoFit/>
          </a:bodyPr>
          <a:lstStyle/>
          <a:p>
            <a:r>
              <a:rPr lang="en-US" sz="1600" dirty="0">
                <a:solidFill>
                  <a:srgbClr val="FF0000"/>
                </a:solidFill>
                <a:latin typeface="Bradley Hand ITC" panose="03070402050302030203" pitchFamily="66" charset="0"/>
              </a:rPr>
              <a:t>Adds transactions to queue named garage</a:t>
            </a:r>
          </a:p>
        </p:txBody>
      </p:sp>
      <p:sp>
        <p:nvSpPr>
          <p:cNvPr id="9" name="TextBox 8">
            <a:extLst>
              <a:ext uri="{FF2B5EF4-FFF2-40B4-BE49-F238E27FC236}">
                <a16:creationId xmlns:a16="http://schemas.microsoft.com/office/drawing/2014/main" id="{AF0168F2-85E8-9225-C7CF-A548889626A0}"/>
              </a:ext>
            </a:extLst>
          </p:cNvPr>
          <p:cNvSpPr txBox="1"/>
          <p:nvPr/>
        </p:nvSpPr>
        <p:spPr>
          <a:xfrm>
            <a:off x="2597676" y="2539457"/>
            <a:ext cx="2318658" cy="584775"/>
          </a:xfrm>
          <a:prstGeom prst="rect">
            <a:avLst/>
          </a:prstGeom>
          <a:noFill/>
        </p:spPr>
        <p:txBody>
          <a:bodyPr wrap="square" rtlCol="0">
            <a:spAutoFit/>
          </a:bodyPr>
          <a:lstStyle/>
          <a:p>
            <a:r>
              <a:rPr lang="en-US" sz="1600" dirty="0">
                <a:solidFill>
                  <a:srgbClr val="FF0000"/>
                </a:solidFill>
                <a:latin typeface="Bradley Hand ITC" panose="03070402050302030203" pitchFamily="66" charset="0"/>
              </a:rPr>
              <a:t>Requests a facility named Pump</a:t>
            </a:r>
          </a:p>
        </p:txBody>
      </p:sp>
      <p:sp>
        <p:nvSpPr>
          <p:cNvPr id="10" name="TextBox 9">
            <a:extLst>
              <a:ext uri="{FF2B5EF4-FFF2-40B4-BE49-F238E27FC236}">
                <a16:creationId xmlns:a16="http://schemas.microsoft.com/office/drawing/2014/main" id="{186AA83B-33BA-1C20-EF6F-0172D404B901}"/>
              </a:ext>
            </a:extLst>
          </p:cNvPr>
          <p:cNvSpPr txBox="1"/>
          <p:nvPr/>
        </p:nvSpPr>
        <p:spPr>
          <a:xfrm>
            <a:off x="2593522" y="4231398"/>
            <a:ext cx="2318658" cy="584775"/>
          </a:xfrm>
          <a:prstGeom prst="rect">
            <a:avLst/>
          </a:prstGeom>
          <a:noFill/>
        </p:spPr>
        <p:txBody>
          <a:bodyPr wrap="square" rtlCol="0">
            <a:spAutoFit/>
          </a:bodyPr>
          <a:lstStyle/>
          <a:p>
            <a:r>
              <a:rPr lang="en-US" sz="1600" dirty="0">
                <a:solidFill>
                  <a:srgbClr val="FF0000"/>
                </a:solidFill>
                <a:latin typeface="Bradley Hand ITC" panose="03070402050302030203" pitchFamily="66" charset="0"/>
              </a:rPr>
              <a:t>Pump facility Processes transactions </a:t>
            </a:r>
          </a:p>
        </p:txBody>
      </p:sp>
      <p:sp>
        <p:nvSpPr>
          <p:cNvPr id="11" name="TextBox 10">
            <a:extLst>
              <a:ext uri="{FF2B5EF4-FFF2-40B4-BE49-F238E27FC236}">
                <a16:creationId xmlns:a16="http://schemas.microsoft.com/office/drawing/2014/main" id="{3BD29295-6415-BB2F-44D6-4E0B6335F121}"/>
              </a:ext>
            </a:extLst>
          </p:cNvPr>
          <p:cNvSpPr txBox="1"/>
          <p:nvPr/>
        </p:nvSpPr>
        <p:spPr>
          <a:xfrm>
            <a:off x="2147206" y="4923110"/>
            <a:ext cx="2318658" cy="584775"/>
          </a:xfrm>
          <a:prstGeom prst="rect">
            <a:avLst/>
          </a:prstGeom>
          <a:noFill/>
        </p:spPr>
        <p:txBody>
          <a:bodyPr wrap="square" rtlCol="0">
            <a:spAutoFit/>
          </a:bodyPr>
          <a:lstStyle/>
          <a:p>
            <a:r>
              <a:rPr lang="en-US" sz="1600" dirty="0">
                <a:solidFill>
                  <a:srgbClr val="FF0000"/>
                </a:solidFill>
                <a:latin typeface="Bradley Hand ITC" panose="03070402050302030203" pitchFamily="66" charset="0"/>
              </a:rPr>
              <a:t>Releases facility named pump</a:t>
            </a:r>
          </a:p>
        </p:txBody>
      </p:sp>
      <p:sp>
        <p:nvSpPr>
          <p:cNvPr id="12" name="TextBox 11">
            <a:extLst>
              <a:ext uri="{FF2B5EF4-FFF2-40B4-BE49-F238E27FC236}">
                <a16:creationId xmlns:a16="http://schemas.microsoft.com/office/drawing/2014/main" id="{AE8C73B4-23B8-9927-C1B9-FFD3CD3066EC}"/>
              </a:ext>
            </a:extLst>
          </p:cNvPr>
          <p:cNvSpPr txBox="1"/>
          <p:nvPr/>
        </p:nvSpPr>
        <p:spPr>
          <a:xfrm>
            <a:off x="274864" y="5962425"/>
            <a:ext cx="2318658" cy="338554"/>
          </a:xfrm>
          <a:prstGeom prst="rect">
            <a:avLst/>
          </a:prstGeom>
          <a:noFill/>
        </p:spPr>
        <p:txBody>
          <a:bodyPr wrap="square" rtlCol="0">
            <a:spAutoFit/>
          </a:bodyPr>
          <a:lstStyle/>
          <a:p>
            <a:r>
              <a:rPr lang="en-US" sz="1600" dirty="0">
                <a:solidFill>
                  <a:srgbClr val="FF0000"/>
                </a:solidFill>
                <a:latin typeface="Bradley Hand ITC" panose="03070402050302030203" pitchFamily="66" charset="0"/>
              </a:rPr>
              <a:t>Starts simulations</a:t>
            </a:r>
          </a:p>
        </p:txBody>
      </p:sp>
      <p:cxnSp>
        <p:nvCxnSpPr>
          <p:cNvPr id="23" name="Connector: Curved 22">
            <a:extLst>
              <a:ext uri="{FF2B5EF4-FFF2-40B4-BE49-F238E27FC236}">
                <a16:creationId xmlns:a16="http://schemas.microsoft.com/office/drawing/2014/main" id="{D83A2E19-D097-C24B-7475-BCA50EF1002B}"/>
              </a:ext>
            </a:extLst>
          </p:cNvPr>
          <p:cNvCxnSpPr>
            <a:cxnSpLocks/>
            <a:stCxn id="3" idx="0"/>
            <a:endCxn id="5" idx="2"/>
          </p:cNvCxnSpPr>
          <p:nvPr/>
        </p:nvCxnSpPr>
        <p:spPr>
          <a:xfrm rot="5400000" flipH="1" flipV="1">
            <a:off x="1765533" y="1181333"/>
            <a:ext cx="529306" cy="968828"/>
          </a:xfrm>
          <a:prstGeom prst="curvedConnector3">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5" name="Connector: Curved 24">
            <a:extLst>
              <a:ext uri="{FF2B5EF4-FFF2-40B4-BE49-F238E27FC236}">
                <a16:creationId xmlns:a16="http://schemas.microsoft.com/office/drawing/2014/main" id="{6EBED6EB-42AF-6BA5-9080-463DBE770396}"/>
              </a:ext>
            </a:extLst>
          </p:cNvPr>
          <p:cNvCxnSpPr>
            <a:cxnSpLocks/>
            <a:endCxn id="8" idx="1"/>
          </p:cNvCxnSpPr>
          <p:nvPr/>
        </p:nvCxnSpPr>
        <p:spPr>
          <a:xfrm flipV="1">
            <a:off x="1816195" y="1979593"/>
            <a:ext cx="589548" cy="586095"/>
          </a:xfrm>
          <a:prstGeom prst="curvedConnector3">
            <a:avLst>
              <a:gd name="adj1" fmla="val 50000"/>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31" name="Connector: Curved 30">
            <a:extLst>
              <a:ext uri="{FF2B5EF4-FFF2-40B4-BE49-F238E27FC236}">
                <a16:creationId xmlns:a16="http://schemas.microsoft.com/office/drawing/2014/main" id="{5646D4CD-6CF5-9363-573E-D992EA637A74}"/>
              </a:ext>
            </a:extLst>
          </p:cNvPr>
          <p:cNvCxnSpPr>
            <a:cxnSpLocks/>
            <a:endCxn id="9" idx="1"/>
          </p:cNvCxnSpPr>
          <p:nvPr/>
        </p:nvCxnSpPr>
        <p:spPr>
          <a:xfrm flipV="1">
            <a:off x="1500797" y="2831845"/>
            <a:ext cx="1096879" cy="145727"/>
          </a:xfrm>
          <a:prstGeom prst="curvedConnector3">
            <a:avLst>
              <a:gd name="adj1" fmla="val 50000"/>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33" name="Connector: Curved 32">
            <a:extLst>
              <a:ext uri="{FF2B5EF4-FFF2-40B4-BE49-F238E27FC236}">
                <a16:creationId xmlns:a16="http://schemas.microsoft.com/office/drawing/2014/main" id="{3B68E7BE-467D-8073-0C53-80A5CB852B43}"/>
              </a:ext>
            </a:extLst>
          </p:cNvPr>
          <p:cNvCxnSpPr>
            <a:cxnSpLocks/>
            <a:endCxn id="7" idx="1"/>
          </p:cNvCxnSpPr>
          <p:nvPr/>
        </p:nvCxnSpPr>
        <p:spPr>
          <a:xfrm>
            <a:off x="1925053" y="3366598"/>
            <a:ext cx="815426" cy="292388"/>
          </a:xfrm>
          <a:prstGeom prst="curvedConnector3">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35" name="Connector: Curved 34">
            <a:extLst>
              <a:ext uri="{FF2B5EF4-FFF2-40B4-BE49-F238E27FC236}">
                <a16:creationId xmlns:a16="http://schemas.microsoft.com/office/drawing/2014/main" id="{77C92419-F9A1-16F6-2C9C-7AD3455741C9}"/>
              </a:ext>
            </a:extLst>
          </p:cNvPr>
          <p:cNvCxnSpPr>
            <a:endCxn id="10" idx="1"/>
          </p:cNvCxnSpPr>
          <p:nvPr/>
        </p:nvCxnSpPr>
        <p:spPr>
          <a:xfrm rot="16200000" flipH="1">
            <a:off x="1803236" y="3733499"/>
            <a:ext cx="803245" cy="777327"/>
          </a:xfrm>
          <a:prstGeom prst="curvedConnector2">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37" name="Connector: Curved 36">
            <a:extLst>
              <a:ext uri="{FF2B5EF4-FFF2-40B4-BE49-F238E27FC236}">
                <a16:creationId xmlns:a16="http://schemas.microsoft.com/office/drawing/2014/main" id="{7E75F3DC-A6E9-BCF5-3AF7-AAA19DD28CAE}"/>
              </a:ext>
            </a:extLst>
          </p:cNvPr>
          <p:cNvCxnSpPr/>
          <p:nvPr/>
        </p:nvCxnSpPr>
        <p:spPr>
          <a:xfrm rot="16200000" flipH="1">
            <a:off x="1686656" y="4204023"/>
            <a:ext cx="848626" cy="589548"/>
          </a:xfrm>
          <a:prstGeom prst="curvedConnector3">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39" name="Connector: Curved 38">
            <a:extLst>
              <a:ext uri="{FF2B5EF4-FFF2-40B4-BE49-F238E27FC236}">
                <a16:creationId xmlns:a16="http://schemas.microsoft.com/office/drawing/2014/main" id="{A8D6A08E-CDE5-75F0-2747-A83B0CBBEE73}"/>
              </a:ext>
            </a:extLst>
          </p:cNvPr>
          <p:cNvCxnSpPr/>
          <p:nvPr/>
        </p:nvCxnSpPr>
        <p:spPr>
          <a:xfrm rot="16200000" flipH="1">
            <a:off x="1358885" y="4818395"/>
            <a:ext cx="975208" cy="601434"/>
          </a:xfrm>
          <a:prstGeom prst="curvedConnector3">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41" name="Connector: Curved 40">
            <a:extLst>
              <a:ext uri="{FF2B5EF4-FFF2-40B4-BE49-F238E27FC236}">
                <a16:creationId xmlns:a16="http://schemas.microsoft.com/office/drawing/2014/main" id="{76C4FB9D-54AB-2010-B98B-D0C8236BB0F5}"/>
              </a:ext>
            </a:extLst>
          </p:cNvPr>
          <p:cNvCxnSpPr>
            <a:endCxn id="12" idx="0"/>
          </p:cNvCxnSpPr>
          <p:nvPr/>
        </p:nvCxnSpPr>
        <p:spPr>
          <a:xfrm rot="16200000" flipH="1">
            <a:off x="635494" y="5163726"/>
            <a:ext cx="861036" cy="736362"/>
          </a:xfrm>
          <a:prstGeom prst="curvedConnector3">
            <a:avLst/>
          </a:prstGeom>
          <a:ln>
            <a:tailEnd type="triangle"/>
          </a:ln>
        </p:spPr>
        <p:style>
          <a:lnRef idx="3">
            <a:schemeClr val="accent5"/>
          </a:lnRef>
          <a:fillRef idx="0">
            <a:schemeClr val="accent5"/>
          </a:fillRef>
          <a:effectRef idx="2">
            <a:schemeClr val="accent5"/>
          </a:effectRef>
          <a:fontRef idx="minor">
            <a:schemeClr val="tx1"/>
          </a:fontRef>
        </p:style>
      </p:cxnSp>
      <p:sp>
        <p:nvSpPr>
          <p:cNvPr id="13" name="Footer Placeholder 12">
            <a:extLst>
              <a:ext uri="{FF2B5EF4-FFF2-40B4-BE49-F238E27FC236}">
                <a16:creationId xmlns:a16="http://schemas.microsoft.com/office/drawing/2014/main" id="{49403556-1E57-744B-3FEE-1D51C5BC2583}"/>
              </a:ext>
            </a:extLst>
          </p:cNvPr>
          <p:cNvSpPr>
            <a:spLocks noGrp="1"/>
          </p:cNvSpPr>
          <p:nvPr>
            <p:ph type="ftr" sz="quarter" idx="11"/>
          </p:nvPr>
        </p:nvSpPr>
        <p:spPr/>
        <p:txBody>
          <a:bodyPr/>
          <a:lstStyle/>
          <a:p>
            <a:r>
              <a:rPr lang="nb-NO"/>
              <a:t>Kapil@nast.edu.np || kapilpant157</a:t>
            </a:r>
            <a:endParaRPr lang="en-US" dirty="0"/>
          </a:p>
        </p:txBody>
      </p:sp>
      <p:sp>
        <p:nvSpPr>
          <p:cNvPr id="14" name="Date Placeholder 13">
            <a:extLst>
              <a:ext uri="{FF2B5EF4-FFF2-40B4-BE49-F238E27FC236}">
                <a16:creationId xmlns:a16="http://schemas.microsoft.com/office/drawing/2014/main" id="{9D6680C1-9E55-5A8B-6205-6C0C14BF5EA4}"/>
              </a:ext>
            </a:extLst>
          </p:cNvPr>
          <p:cNvSpPr>
            <a:spLocks noGrp="1"/>
          </p:cNvSpPr>
          <p:nvPr>
            <p:ph type="dt" sz="half" idx="10"/>
          </p:nvPr>
        </p:nvSpPr>
        <p:spPr/>
        <p:txBody>
          <a:bodyPr/>
          <a:lstStyle/>
          <a:p>
            <a:fld id="{5ED222B5-0AA1-4D5B-8FEE-7C553D2E1565}" type="datetime1">
              <a:rPr lang="en-US" smtClean="0"/>
              <a:t>1/31/2026</a:t>
            </a:fld>
            <a:endParaRPr lang="en-US"/>
          </a:p>
        </p:txBody>
      </p:sp>
      <p:sp>
        <p:nvSpPr>
          <p:cNvPr id="15" name="Slide Number Placeholder 14">
            <a:extLst>
              <a:ext uri="{FF2B5EF4-FFF2-40B4-BE49-F238E27FC236}">
                <a16:creationId xmlns:a16="http://schemas.microsoft.com/office/drawing/2014/main" id="{974D49FD-AE0E-683E-CC82-006660F5EDE4}"/>
              </a:ext>
            </a:extLst>
          </p:cNvPr>
          <p:cNvSpPr>
            <a:spLocks noGrp="1"/>
          </p:cNvSpPr>
          <p:nvPr>
            <p:ph type="sldNum" sz="quarter" idx="12"/>
          </p:nvPr>
        </p:nvSpPr>
        <p:spPr/>
        <p:txBody>
          <a:bodyPr/>
          <a:lstStyle/>
          <a:p>
            <a:fld id="{7EA05A3E-6DBA-4FE0-898F-5EF47B17DFD2}" type="slidenum">
              <a:rPr lang="en-US" smtClean="0"/>
              <a:t>9</a:t>
            </a:fld>
            <a:endParaRPr lang="en-US"/>
          </a:p>
        </p:txBody>
      </p:sp>
    </p:spTree>
    <p:extLst>
      <p:ext uri="{BB962C8B-B14F-4D97-AF65-F5344CB8AC3E}">
        <p14:creationId xmlns:p14="http://schemas.microsoft.com/office/powerpoint/2010/main" val="3838601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DDFB7-77D2-9499-65D4-E1E8E2D81012}"/>
              </a:ext>
            </a:extLst>
          </p:cNvPr>
          <p:cNvSpPr>
            <a:spLocks noGrp="1"/>
          </p:cNvSpPr>
          <p:nvPr>
            <p:ph type="title"/>
          </p:nvPr>
        </p:nvSpPr>
        <p:spPr>
          <a:xfrm>
            <a:off x="609599" y="609600"/>
            <a:ext cx="3505201" cy="1320800"/>
          </a:xfrm>
        </p:spPr>
        <p:txBody>
          <a:bodyPr/>
          <a:lstStyle/>
          <a:p>
            <a:r>
              <a:rPr lang="en-US" dirty="0"/>
              <a:t>Generate Block</a:t>
            </a:r>
          </a:p>
        </p:txBody>
      </p:sp>
      <p:sp>
        <p:nvSpPr>
          <p:cNvPr id="3" name="Content Placeholder 2">
            <a:extLst>
              <a:ext uri="{FF2B5EF4-FFF2-40B4-BE49-F238E27FC236}">
                <a16:creationId xmlns:a16="http://schemas.microsoft.com/office/drawing/2014/main" id="{9E74874C-390F-529A-B905-6CA50CDF90A4}"/>
              </a:ext>
            </a:extLst>
          </p:cNvPr>
          <p:cNvSpPr>
            <a:spLocks noGrp="1"/>
          </p:cNvSpPr>
          <p:nvPr>
            <p:ph idx="1"/>
          </p:nvPr>
        </p:nvSpPr>
        <p:spPr>
          <a:xfrm>
            <a:off x="378492" y="1488613"/>
            <a:ext cx="4095751" cy="3880773"/>
          </a:xfrm>
        </p:spPr>
        <p:txBody>
          <a:bodyPr>
            <a:normAutofit fontScale="92500"/>
          </a:bodyPr>
          <a:lstStyle/>
          <a:p>
            <a:r>
              <a:rPr lang="en-US" dirty="0"/>
              <a:t>Purpose: Introduces transactions into the system</a:t>
            </a:r>
          </a:p>
          <a:p>
            <a:r>
              <a:rPr lang="en-US" dirty="0"/>
              <a:t>Syntax: GENERATE A,B,C,D,E</a:t>
            </a:r>
          </a:p>
          <a:p>
            <a:r>
              <a:rPr lang="en-US" dirty="0"/>
              <a:t>Attributes:</a:t>
            </a:r>
          </a:p>
          <a:p>
            <a:pPr lvl="1"/>
            <a:r>
              <a:rPr lang="en-US" dirty="0"/>
              <a:t>A: Mean inter-arrival time</a:t>
            </a:r>
          </a:p>
          <a:p>
            <a:pPr lvl="1"/>
            <a:r>
              <a:rPr lang="en-US" dirty="0"/>
              <a:t>B: Half-width of uniform distribution</a:t>
            </a:r>
          </a:p>
          <a:p>
            <a:pPr lvl="1"/>
            <a:r>
              <a:rPr lang="en-US" dirty="0"/>
              <a:t>C: Delay before first transaction</a:t>
            </a:r>
          </a:p>
          <a:p>
            <a:pPr lvl="1"/>
            <a:r>
              <a:rPr lang="en-US" dirty="0"/>
              <a:t>D: Max number of transactions</a:t>
            </a:r>
          </a:p>
          <a:p>
            <a:pPr lvl="1"/>
            <a:r>
              <a:rPr lang="en-US" dirty="0"/>
              <a:t>E: Priority</a:t>
            </a:r>
          </a:p>
          <a:p>
            <a:r>
              <a:rPr lang="en-US" dirty="0"/>
              <a:t>Example: GENERATE 10,2 — transaction every 10±2 units</a:t>
            </a:r>
          </a:p>
        </p:txBody>
      </p:sp>
      <p:sp>
        <p:nvSpPr>
          <p:cNvPr id="4" name="Rectangle 1">
            <a:extLst>
              <a:ext uri="{FF2B5EF4-FFF2-40B4-BE49-F238E27FC236}">
                <a16:creationId xmlns:a16="http://schemas.microsoft.com/office/drawing/2014/main" id="{2E77C704-3583-E18A-63B9-3E7C6ED075A9}"/>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itle 1">
            <a:extLst>
              <a:ext uri="{FF2B5EF4-FFF2-40B4-BE49-F238E27FC236}">
                <a16:creationId xmlns:a16="http://schemas.microsoft.com/office/drawing/2014/main" id="{2454F5C2-AADD-93D9-4234-ED1C0237B278}"/>
              </a:ext>
            </a:extLst>
          </p:cNvPr>
          <p:cNvSpPr txBox="1">
            <a:spLocks/>
          </p:cNvSpPr>
          <p:nvPr/>
        </p:nvSpPr>
        <p:spPr>
          <a:xfrm>
            <a:off x="4833689" y="613437"/>
            <a:ext cx="3265281" cy="914400"/>
          </a:xfrm>
          <a:prstGeom prst="rect">
            <a:avLst/>
          </a:prstGeom>
        </p:spPr>
        <p:txBody>
          <a:bodyPr vert="horz" lIns="91440" tIns="45720" rIns="91440" bIns="45720" rtlCol="0" anchor="t">
            <a:normAutofit fontScale="92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Terminate Block</a:t>
            </a:r>
          </a:p>
        </p:txBody>
      </p:sp>
      <p:sp>
        <p:nvSpPr>
          <p:cNvPr id="8" name="Content Placeholder 2">
            <a:extLst>
              <a:ext uri="{FF2B5EF4-FFF2-40B4-BE49-F238E27FC236}">
                <a16:creationId xmlns:a16="http://schemas.microsoft.com/office/drawing/2014/main" id="{788E931E-7664-CAFA-0DED-742E4CC957BB}"/>
              </a:ext>
            </a:extLst>
          </p:cNvPr>
          <p:cNvSpPr txBox="1">
            <a:spLocks/>
          </p:cNvSpPr>
          <p:nvPr/>
        </p:nvSpPr>
        <p:spPr>
          <a:xfrm>
            <a:off x="4833688" y="1548156"/>
            <a:ext cx="3700713"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Purpose: Remove transaction and decrement simulation counter</a:t>
            </a:r>
          </a:p>
          <a:p>
            <a:r>
              <a:rPr lang="en-US" dirty="0"/>
              <a:t>Syntax: TERMINATE A</a:t>
            </a:r>
          </a:p>
          <a:p>
            <a:r>
              <a:rPr lang="en-US" dirty="0"/>
              <a:t>Attribute:</a:t>
            </a:r>
          </a:p>
          <a:p>
            <a:r>
              <a:rPr lang="en-US" dirty="0"/>
              <a:t>A: Decrement value</a:t>
            </a:r>
          </a:p>
          <a:p>
            <a:r>
              <a:rPr lang="en-US" dirty="0"/>
              <a:t>Example: TERMINATE 1</a:t>
            </a:r>
          </a:p>
        </p:txBody>
      </p:sp>
      <p:pic>
        <p:nvPicPr>
          <p:cNvPr id="10" name="Picture 9">
            <a:extLst>
              <a:ext uri="{FF2B5EF4-FFF2-40B4-BE49-F238E27FC236}">
                <a16:creationId xmlns:a16="http://schemas.microsoft.com/office/drawing/2014/main" id="{910E8D8A-4A1D-09B5-68D9-91671A0A6B87}"/>
              </a:ext>
            </a:extLst>
          </p:cNvPr>
          <p:cNvPicPr>
            <a:picLocks noChangeAspect="1"/>
          </p:cNvPicPr>
          <p:nvPr/>
        </p:nvPicPr>
        <p:blipFill>
          <a:blip r:embed="rId3"/>
          <a:stretch>
            <a:fillRect/>
          </a:stretch>
        </p:blipFill>
        <p:spPr>
          <a:xfrm>
            <a:off x="5143580" y="4416378"/>
            <a:ext cx="2264230" cy="1320800"/>
          </a:xfrm>
          <a:prstGeom prst="rect">
            <a:avLst/>
          </a:prstGeom>
        </p:spPr>
      </p:pic>
      <p:pic>
        <p:nvPicPr>
          <p:cNvPr id="12" name="Picture 11">
            <a:extLst>
              <a:ext uri="{FF2B5EF4-FFF2-40B4-BE49-F238E27FC236}">
                <a16:creationId xmlns:a16="http://schemas.microsoft.com/office/drawing/2014/main" id="{DAC508E6-BE00-7717-10E0-017E211AAACA}"/>
              </a:ext>
            </a:extLst>
          </p:cNvPr>
          <p:cNvPicPr>
            <a:picLocks noChangeAspect="1"/>
          </p:cNvPicPr>
          <p:nvPr/>
        </p:nvPicPr>
        <p:blipFill>
          <a:blip r:embed="rId4"/>
          <a:stretch>
            <a:fillRect/>
          </a:stretch>
        </p:blipFill>
        <p:spPr>
          <a:xfrm>
            <a:off x="1128549" y="5404345"/>
            <a:ext cx="2264230" cy="1178135"/>
          </a:xfrm>
          <a:prstGeom prst="rect">
            <a:avLst/>
          </a:prstGeom>
        </p:spPr>
      </p:pic>
      <p:sp>
        <p:nvSpPr>
          <p:cNvPr id="5" name="Footer Placeholder 4">
            <a:extLst>
              <a:ext uri="{FF2B5EF4-FFF2-40B4-BE49-F238E27FC236}">
                <a16:creationId xmlns:a16="http://schemas.microsoft.com/office/drawing/2014/main" id="{45F5ABE8-9794-D025-1AB5-8ED3FA7924B4}"/>
              </a:ext>
            </a:extLst>
          </p:cNvPr>
          <p:cNvSpPr>
            <a:spLocks noGrp="1"/>
          </p:cNvSpPr>
          <p:nvPr>
            <p:ph type="ftr" sz="quarter" idx="11"/>
          </p:nvPr>
        </p:nvSpPr>
        <p:spPr/>
        <p:txBody>
          <a:bodyPr/>
          <a:lstStyle/>
          <a:p>
            <a:r>
              <a:rPr lang="nb-NO"/>
              <a:t>Kapil@nast.edu.np || kapilpant157</a:t>
            </a:r>
            <a:endParaRPr lang="en-US" dirty="0"/>
          </a:p>
        </p:txBody>
      </p:sp>
      <p:sp>
        <p:nvSpPr>
          <p:cNvPr id="6" name="Date Placeholder 5">
            <a:extLst>
              <a:ext uri="{FF2B5EF4-FFF2-40B4-BE49-F238E27FC236}">
                <a16:creationId xmlns:a16="http://schemas.microsoft.com/office/drawing/2014/main" id="{6048003C-F266-81B0-7AE5-82133D1DB96D}"/>
              </a:ext>
            </a:extLst>
          </p:cNvPr>
          <p:cNvSpPr>
            <a:spLocks noGrp="1"/>
          </p:cNvSpPr>
          <p:nvPr>
            <p:ph type="dt" sz="half" idx="10"/>
          </p:nvPr>
        </p:nvSpPr>
        <p:spPr/>
        <p:txBody>
          <a:bodyPr/>
          <a:lstStyle/>
          <a:p>
            <a:fld id="{FFB9167D-5501-4113-8282-67EDA93A42AF}" type="datetime1">
              <a:rPr lang="en-US" smtClean="0"/>
              <a:t>1/31/2026</a:t>
            </a:fld>
            <a:endParaRPr lang="en-US"/>
          </a:p>
        </p:txBody>
      </p:sp>
      <p:sp>
        <p:nvSpPr>
          <p:cNvPr id="9" name="Slide Number Placeholder 8">
            <a:extLst>
              <a:ext uri="{FF2B5EF4-FFF2-40B4-BE49-F238E27FC236}">
                <a16:creationId xmlns:a16="http://schemas.microsoft.com/office/drawing/2014/main" id="{16FD2715-4940-EDA4-7D16-684207F47A4C}"/>
              </a:ext>
            </a:extLst>
          </p:cNvPr>
          <p:cNvSpPr>
            <a:spLocks noGrp="1"/>
          </p:cNvSpPr>
          <p:nvPr>
            <p:ph type="sldNum" sz="quarter" idx="12"/>
          </p:nvPr>
        </p:nvSpPr>
        <p:spPr/>
        <p:txBody>
          <a:bodyPr/>
          <a:lstStyle/>
          <a:p>
            <a:fld id="{7EA05A3E-6DBA-4FE0-898F-5EF47B17DFD2}" type="slidenum">
              <a:rPr lang="en-US" smtClean="0"/>
              <a:t>10</a:t>
            </a:fld>
            <a:endParaRPr lang="en-US"/>
          </a:p>
        </p:txBody>
      </p:sp>
    </p:spTree>
    <p:extLst>
      <p:ext uri="{BB962C8B-B14F-4D97-AF65-F5344CB8AC3E}">
        <p14:creationId xmlns:p14="http://schemas.microsoft.com/office/powerpoint/2010/main" val="2214240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59EA3-A88B-7132-546A-232A6EC67F3B}"/>
              </a:ext>
            </a:extLst>
          </p:cNvPr>
          <p:cNvSpPr>
            <a:spLocks noGrp="1"/>
          </p:cNvSpPr>
          <p:nvPr>
            <p:ph type="title"/>
          </p:nvPr>
        </p:nvSpPr>
        <p:spPr>
          <a:xfrm>
            <a:off x="609600" y="609600"/>
            <a:ext cx="2871538" cy="914400"/>
          </a:xfrm>
        </p:spPr>
        <p:txBody>
          <a:bodyPr>
            <a:normAutofit/>
          </a:bodyPr>
          <a:lstStyle/>
          <a:p>
            <a:r>
              <a:rPr lang="en-US" dirty="0"/>
              <a:t>Queue Block</a:t>
            </a:r>
          </a:p>
        </p:txBody>
      </p:sp>
      <p:sp>
        <p:nvSpPr>
          <p:cNvPr id="3" name="Content Placeholder 2">
            <a:extLst>
              <a:ext uri="{FF2B5EF4-FFF2-40B4-BE49-F238E27FC236}">
                <a16:creationId xmlns:a16="http://schemas.microsoft.com/office/drawing/2014/main" id="{5A6F29A1-15C2-4939-246D-161E02CFFFAB}"/>
              </a:ext>
            </a:extLst>
          </p:cNvPr>
          <p:cNvSpPr>
            <a:spLocks noGrp="1"/>
          </p:cNvSpPr>
          <p:nvPr>
            <p:ph idx="1"/>
          </p:nvPr>
        </p:nvSpPr>
        <p:spPr>
          <a:xfrm>
            <a:off x="609599" y="2160590"/>
            <a:ext cx="3481138" cy="3880773"/>
          </a:xfrm>
        </p:spPr>
        <p:txBody>
          <a:bodyPr>
            <a:normAutofit/>
          </a:bodyPr>
          <a:lstStyle/>
          <a:p>
            <a:r>
              <a:rPr lang="en-US" dirty="0"/>
              <a:t>Purpose: Add transaction to a named queue and start collecting statistics</a:t>
            </a:r>
          </a:p>
          <a:p>
            <a:r>
              <a:rPr lang="en-US" dirty="0"/>
              <a:t>Syntax: QUEUE </a:t>
            </a:r>
            <a:r>
              <a:rPr lang="en-US" i="1" dirty="0" err="1"/>
              <a:t>QueueName</a:t>
            </a:r>
            <a:endParaRPr lang="en-US" i="1" dirty="0"/>
          </a:p>
          <a:p>
            <a:r>
              <a:rPr lang="en-US" dirty="0"/>
              <a:t>Attribute:</a:t>
            </a:r>
          </a:p>
          <a:p>
            <a:pPr lvl="1"/>
            <a:r>
              <a:rPr lang="en-US" dirty="0"/>
              <a:t>A: Name of queue</a:t>
            </a:r>
          </a:p>
          <a:p>
            <a:r>
              <a:rPr lang="en-US" dirty="0"/>
              <a:t>Example: QUEUE GARAGE</a:t>
            </a:r>
          </a:p>
        </p:txBody>
      </p:sp>
      <p:sp>
        <p:nvSpPr>
          <p:cNvPr id="5" name="Title 1">
            <a:extLst>
              <a:ext uri="{FF2B5EF4-FFF2-40B4-BE49-F238E27FC236}">
                <a16:creationId xmlns:a16="http://schemas.microsoft.com/office/drawing/2014/main" id="{B08CB860-5777-16B7-865E-A26F29FC12BD}"/>
              </a:ext>
            </a:extLst>
          </p:cNvPr>
          <p:cNvSpPr txBox="1">
            <a:spLocks/>
          </p:cNvSpPr>
          <p:nvPr/>
        </p:nvSpPr>
        <p:spPr>
          <a:xfrm>
            <a:off x="4090738" y="609600"/>
            <a:ext cx="2871538" cy="9144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Depart Block</a:t>
            </a:r>
          </a:p>
        </p:txBody>
      </p:sp>
      <p:sp>
        <p:nvSpPr>
          <p:cNvPr id="6" name="Content Placeholder 2">
            <a:extLst>
              <a:ext uri="{FF2B5EF4-FFF2-40B4-BE49-F238E27FC236}">
                <a16:creationId xmlns:a16="http://schemas.microsoft.com/office/drawing/2014/main" id="{15862C24-AA59-B199-A4BF-26FC43502E2C}"/>
              </a:ext>
            </a:extLst>
          </p:cNvPr>
          <p:cNvSpPr txBox="1">
            <a:spLocks/>
          </p:cNvSpPr>
          <p:nvPr/>
        </p:nvSpPr>
        <p:spPr>
          <a:xfrm>
            <a:off x="4090737" y="2160590"/>
            <a:ext cx="3481138"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Purpose: Removes a transaction from the queue</a:t>
            </a:r>
          </a:p>
          <a:p>
            <a:r>
              <a:rPr lang="en-US" dirty="0"/>
              <a:t>Syntax: DEPART </a:t>
            </a:r>
            <a:r>
              <a:rPr lang="en-US" i="1" dirty="0" err="1"/>
              <a:t>QueueName</a:t>
            </a:r>
            <a:endParaRPr lang="en-US" i="1" dirty="0"/>
          </a:p>
          <a:p>
            <a:r>
              <a:rPr lang="en-US" dirty="0"/>
              <a:t>Attribute:</a:t>
            </a:r>
          </a:p>
          <a:p>
            <a:pPr lvl="1"/>
            <a:r>
              <a:rPr lang="en-US" dirty="0"/>
              <a:t>A: Name of queue</a:t>
            </a:r>
          </a:p>
          <a:p>
            <a:r>
              <a:rPr lang="en-US" dirty="0"/>
              <a:t>Example: DEPART GARAGE</a:t>
            </a:r>
          </a:p>
        </p:txBody>
      </p:sp>
      <p:pic>
        <p:nvPicPr>
          <p:cNvPr id="7" name="Picture 6">
            <a:extLst>
              <a:ext uri="{FF2B5EF4-FFF2-40B4-BE49-F238E27FC236}">
                <a16:creationId xmlns:a16="http://schemas.microsoft.com/office/drawing/2014/main" id="{D01BF532-AE8D-454C-E8A9-5E140D802EB0}"/>
              </a:ext>
            </a:extLst>
          </p:cNvPr>
          <p:cNvPicPr>
            <a:picLocks noChangeAspect="1"/>
          </p:cNvPicPr>
          <p:nvPr/>
        </p:nvPicPr>
        <p:blipFill>
          <a:blip r:embed="rId3"/>
          <a:stretch>
            <a:fillRect/>
          </a:stretch>
        </p:blipFill>
        <p:spPr>
          <a:xfrm>
            <a:off x="1182550" y="5014660"/>
            <a:ext cx="2298588" cy="1026703"/>
          </a:xfrm>
          <a:prstGeom prst="rect">
            <a:avLst/>
          </a:prstGeom>
        </p:spPr>
      </p:pic>
      <p:pic>
        <p:nvPicPr>
          <p:cNvPr id="9" name="Picture 8">
            <a:extLst>
              <a:ext uri="{FF2B5EF4-FFF2-40B4-BE49-F238E27FC236}">
                <a16:creationId xmlns:a16="http://schemas.microsoft.com/office/drawing/2014/main" id="{A2FAC6C0-6F67-6412-17AA-EA920A2B02C4}"/>
              </a:ext>
            </a:extLst>
          </p:cNvPr>
          <p:cNvPicPr>
            <a:picLocks noChangeAspect="1"/>
          </p:cNvPicPr>
          <p:nvPr/>
        </p:nvPicPr>
        <p:blipFill>
          <a:blip r:embed="rId4"/>
          <a:stretch>
            <a:fillRect/>
          </a:stretch>
        </p:blipFill>
        <p:spPr>
          <a:xfrm>
            <a:off x="5149901" y="4709817"/>
            <a:ext cx="1812375" cy="950754"/>
          </a:xfrm>
          <a:prstGeom prst="rect">
            <a:avLst/>
          </a:prstGeom>
        </p:spPr>
      </p:pic>
      <p:sp>
        <p:nvSpPr>
          <p:cNvPr id="4" name="Footer Placeholder 3">
            <a:extLst>
              <a:ext uri="{FF2B5EF4-FFF2-40B4-BE49-F238E27FC236}">
                <a16:creationId xmlns:a16="http://schemas.microsoft.com/office/drawing/2014/main" id="{DDD4C0BC-5E2F-EF34-C12D-68F437CA4ABC}"/>
              </a:ext>
            </a:extLst>
          </p:cNvPr>
          <p:cNvSpPr>
            <a:spLocks noGrp="1"/>
          </p:cNvSpPr>
          <p:nvPr>
            <p:ph type="ftr" sz="quarter" idx="11"/>
          </p:nvPr>
        </p:nvSpPr>
        <p:spPr/>
        <p:txBody>
          <a:bodyPr/>
          <a:lstStyle/>
          <a:p>
            <a:r>
              <a:rPr lang="nb-NO"/>
              <a:t>Kapil@nast.edu.np || kapilpant157</a:t>
            </a:r>
            <a:endParaRPr lang="en-US" dirty="0"/>
          </a:p>
        </p:txBody>
      </p:sp>
      <p:sp>
        <p:nvSpPr>
          <p:cNvPr id="8" name="Date Placeholder 7">
            <a:extLst>
              <a:ext uri="{FF2B5EF4-FFF2-40B4-BE49-F238E27FC236}">
                <a16:creationId xmlns:a16="http://schemas.microsoft.com/office/drawing/2014/main" id="{B63D4E23-8BB7-A408-2F95-75D9A529D332}"/>
              </a:ext>
            </a:extLst>
          </p:cNvPr>
          <p:cNvSpPr>
            <a:spLocks noGrp="1"/>
          </p:cNvSpPr>
          <p:nvPr>
            <p:ph type="dt" sz="half" idx="10"/>
          </p:nvPr>
        </p:nvSpPr>
        <p:spPr/>
        <p:txBody>
          <a:bodyPr/>
          <a:lstStyle/>
          <a:p>
            <a:fld id="{D743C2EB-66D1-41CA-9E95-30D7E7B55A0C}" type="datetime1">
              <a:rPr lang="en-US" smtClean="0"/>
              <a:t>1/31/2026</a:t>
            </a:fld>
            <a:endParaRPr lang="en-US"/>
          </a:p>
        </p:txBody>
      </p:sp>
      <p:sp>
        <p:nvSpPr>
          <p:cNvPr id="10" name="Slide Number Placeholder 9">
            <a:extLst>
              <a:ext uri="{FF2B5EF4-FFF2-40B4-BE49-F238E27FC236}">
                <a16:creationId xmlns:a16="http://schemas.microsoft.com/office/drawing/2014/main" id="{4EC19AF6-E7E3-B69D-0B56-943A8EB4D192}"/>
              </a:ext>
            </a:extLst>
          </p:cNvPr>
          <p:cNvSpPr>
            <a:spLocks noGrp="1"/>
          </p:cNvSpPr>
          <p:nvPr>
            <p:ph type="sldNum" sz="quarter" idx="12"/>
          </p:nvPr>
        </p:nvSpPr>
        <p:spPr/>
        <p:txBody>
          <a:bodyPr/>
          <a:lstStyle/>
          <a:p>
            <a:fld id="{7EA05A3E-6DBA-4FE0-898F-5EF47B17DFD2}" type="slidenum">
              <a:rPr lang="en-US" smtClean="0"/>
              <a:t>11</a:t>
            </a:fld>
            <a:endParaRPr lang="en-US"/>
          </a:p>
        </p:txBody>
      </p:sp>
    </p:spTree>
    <p:extLst>
      <p:ext uri="{BB962C8B-B14F-4D97-AF65-F5344CB8AC3E}">
        <p14:creationId xmlns:p14="http://schemas.microsoft.com/office/powerpoint/2010/main" val="3960615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CEFC32-A26C-5AFC-2FF9-987371C41238}"/>
              </a:ext>
            </a:extLst>
          </p:cNvPr>
          <p:cNvSpPr>
            <a:spLocks noGrp="1"/>
          </p:cNvSpPr>
          <p:nvPr>
            <p:ph type="title"/>
          </p:nvPr>
        </p:nvSpPr>
        <p:spPr>
          <a:xfrm>
            <a:off x="609600" y="609600"/>
            <a:ext cx="2871538" cy="914400"/>
          </a:xfrm>
        </p:spPr>
        <p:txBody>
          <a:bodyPr/>
          <a:lstStyle/>
          <a:p>
            <a:r>
              <a:rPr lang="en-US" dirty="0"/>
              <a:t>Seize Block</a:t>
            </a:r>
          </a:p>
        </p:txBody>
      </p:sp>
      <p:sp>
        <p:nvSpPr>
          <p:cNvPr id="5" name="Content Placeholder 2">
            <a:extLst>
              <a:ext uri="{FF2B5EF4-FFF2-40B4-BE49-F238E27FC236}">
                <a16:creationId xmlns:a16="http://schemas.microsoft.com/office/drawing/2014/main" id="{B5A2F11C-FA13-51A9-A704-1396154E21EB}"/>
              </a:ext>
            </a:extLst>
          </p:cNvPr>
          <p:cNvSpPr>
            <a:spLocks noGrp="1"/>
          </p:cNvSpPr>
          <p:nvPr>
            <p:ph idx="1"/>
          </p:nvPr>
        </p:nvSpPr>
        <p:spPr>
          <a:xfrm>
            <a:off x="609599" y="2160590"/>
            <a:ext cx="3481138" cy="3880773"/>
          </a:xfrm>
        </p:spPr>
        <p:txBody>
          <a:bodyPr>
            <a:normAutofit/>
          </a:bodyPr>
          <a:lstStyle/>
          <a:p>
            <a:r>
              <a:rPr lang="en-US" dirty="0"/>
              <a:t>Purpose: Seize a facility for exclusive use</a:t>
            </a:r>
          </a:p>
          <a:p>
            <a:r>
              <a:rPr lang="en-US" dirty="0"/>
              <a:t>Syntax: SEIZE </a:t>
            </a:r>
            <a:r>
              <a:rPr lang="en-US" i="1" dirty="0" err="1"/>
              <a:t>FacilityName</a:t>
            </a:r>
            <a:endParaRPr lang="en-US" i="1" dirty="0"/>
          </a:p>
          <a:p>
            <a:r>
              <a:rPr lang="en-US" dirty="0"/>
              <a:t>Attribute:</a:t>
            </a:r>
          </a:p>
          <a:p>
            <a:pPr lvl="1"/>
            <a:r>
              <a:rPr lang="en-US" dirty="0"/>
              <a:t>A: Name of the facility</a:t>
            </a:r>
          </a:p>
          <a:p>
            <a:r>
              <a:rPr lang="en-US" dirty="0"/>
              <a:t>Example: SEIZE PUMP</a:t>
            </a:r>
          </a:p>
        </p:txBody>
      </p:sp>
      <p:sp>
        <p:nvSpPr>
          <p:cNvPr id="6" name="Title 1">
            <a:extLst>
              <a:ext uri="{FF2B5EF4-FFF2-40B4-BE49-F238E27FC236}">
                <a16:creationId xmlns:a16="http://schemas.microsoft.com/office/drawing/2014/main" id="{AC7675F4-F98B-DE74-B103-CE04B4FC5C3F}"/>
              </a:ext>
            </a:extLst>
          </p:cNvPr>
          <p:cNvSpPr txBox="1">
            <a:spLocks/>
          </p:cNvSpPr>
          <p:nvPr/>
        </p:nvSpPr>
        <p:spPr>
          <a:xfrm>
            <a:off x="4090738" y="609600"/>
            <a:ext cx="2871538" cy="914400"/>
          </a:xfrm>
          <a:prstGeom prst="rect">
            <a:avLst/>
          </a:prstGeom>
        </p:spPr>
        <p:txBody>
          <a:bodyPr vert="horz" lIns="91440" tIns="45720" rIns="91440" bIns="45720" rtlCol="0" anchor="t">
            <a:normAutofit fontScale="92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Release Block</a:t>
            </a:r>
          </a:p>
        </p:txBody>
      </p:sp>
      <p:sp>
        <p:nvSpPr>
          <p:cNvPr id="7" name="Content Placeholder 2">
            <a:extLst>
              <a:ext uri="{FF2B5EF4-FFF2-40B4-BE49-F238E27FC236}">
                <a16:creationId xmlns:a16="http://schemas.microsoft.com/office/drawing/2014/main" id="{C298F189-E5C2-5081-D14A-95B15C175DD5}"/>
              </a:ext>
            </a:extLst>
          </p:cNvPr>
          <p:cNvSpPr txBox="1">
            <a:spLocks/>
          </p:cNvSpPr>
          <p:nvPr/>
        </p:nvSpPr>
        <p:spPr>
          <a:xfrm>
            <a:off x="4090736" y="2160590"/>
            <a:ext cx="3700713"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Purpose: Release the previously seized facility</a:t>
            </a:r>
          </a:p>
          <a:p>
            <a:r>
              <a:rPr lang="en-US" dirty="0"/>
              <a:t>Syntax: RELEASE </a:t>
            </a:r>
            <a:r>
              <a:rPr lang="en-US" i="1" dirty="0" err="1"/>
              <a:t>FacilityName</a:t>
            </a:r>
            <a:endParaRPr lang="en-US" i="1" dirty="0"/>
          </a:p>
          <a:p>
            <a:r>
              <a:rPr lang="en-US" dirty="0"/>
              <a:t>Example: RELEASE PUMP</a:t>
            </a:r>
          </a:p>
        </p:txBody>
      </p:sp>
      <p:pic>
        <p:nvPicPr>
          <p:cNvPr id="3" name="Picture 2">
            <a:extLst>
              <a:ext uri="{FF2B5EF4-FFF2-40B4-BE49-F238E27FC236}">
                <a16:creationId xmlns:a16="http://schemas.microsoft.com/office/drawing/2014/main" id="{48A0786D-2DA5-9398-BD46-56E5811A9587}"/>
              </a:ext>
            </a:extLst>
          </p:cNvPr>
          <p:cNvPicPr>
            <a:picLocks noChangeAspect="1"/>
          </p:cNvPicPr>
          <p:nvPr/>
        </p:nvPicPr>
        <p:blipFill>
          <a:blip r:embed="rId3"/>
          <a:stretch>
            <a:fillRect/>
          </a:stretch>
        </p:blipFill>
        <p:spPr>
          <a:xfrm>
            <a:off x="833480" y="4688088"/>
            <a:ext cx="2423777" cy="1353275"/>
          </a:xfrm>
          <a:prstGeom prst="rect">
            <a:avLst/>
          </a:prstGeom>
        </p:spPr>
      </p:pic>
      <p:pic>
        <p:nvPicPr>
          <p:cNvPr id="9" name="Picture 8">
            <a:extLst>
              <a:ext uri="{FF2B5EF4-FFF2-40B4-BE49-F238E27FC236}">
                <a16:creationId xmlns:a16="http://schemas.microsoft.com/office/drawing/2014/main" id="{34933CAA-241E-081A-9BA1-039A98387578}"/>
              </a:ext>
            </a:extLst>
          </p:cNvPr>
          <p:cNvPicPr>
            <a:picLocks noChangeAspect="1"/>
          </p:cNvPicPr>
          <p:nvPr/>
        </p:nvPicPr>
        <p:blipFill>
          <a:blip r:embed="rId4"/>
          <a:stretch>
            <a:fillRect/>
          </a:stretch>
        </p:blipFill>
        <p:spPr>
          <a:xfrm>
            <a:off x="4797743" y="4133106"/>
            <a:ext cx="2426062" cy="1109963"/>
          </a:xfrm>
          <a:prstGeom prst="rect">
            <a:avLst/>
          </a:prstGeom>
        </p:spPr>
      </p:pic>
      <p:sp>
        <p:nvSpPr>
          <p:cNvPr id="2" name="Footer Placeholder 1">
            <a:extLst>
              <a:ext uri="{FF2B5EF4-FFF2-40B4-BE49-F238E27FC236}">
                <a16:creationId xmlns:a16="http://schemas.microsoft.com/office/drawing/2014/main" id="{43FA5C0F-3143-A94D-F4CA-BEE5AB3CCD41}"/>
              </a:ext>
            </a:extLst>
          </p:cNvPr>
          <p:cNvSpPr>
            <a:spLocks noGrp="1"/>
          </p:cNvSpPr>
          <p:nvPr>
            <p:ph type="ftr" sz="quarter" idx="11"/>
          </p:nvPr>
        </p:nvSpPr>
        <p:spPr/>
        <p:txBody>
          <a:bodyPr/>
          <a:lstStyle/>
          <a:p>
            <a:r>
              <a:rPr lang="nb-NO"/>
              <a:t>Kapil@nast.edu.np || kapilpant157</a:t>
            </a:r>
            <a:endParaRPr lang="en-US" dirty="0"/>
          </a:p>
        </p:txBody>
      </p:sp>
      <p:sp>
        <p:nvSpPr>
          <p:cNvPr id="8" name="Date Placeholder 7">
            <a:extLst>
              <a:ext uri="{FF2B5EF4-FFF2-40B4-BE49-F238E27FC236}">
                <a16:creationId xmlns:a16="http://schemas.microsoft.com/office/drawing/2014/main" id="{0A2F6B2B-81A9-1C05-8AA4-1E46C1C06821}"/>
              </a:ext>
            </a:extLst>
          </p:cNvPr>
          <p:cNvSpPr>
            <a:spLocks noGrp="1"/>
          </p:cNvSpPr>
          <p:nvPr>
            <p:ph type="dt" sz="half" idx="10"/>
          </p:nvPr>
        </p:nvSpPr>
        <p:spPr/>
        <p:txBody>
          <a:bodyPr/>
          <a:lstStyle/>
          <a:p>
            <a:fld id="{6C860F36-6AC5-4912-BCA8-181398D5F87E}" type="datetime1">
              <a:rPr lang="en-US" smtClean="0"/>
              <a:t>1/31/2026</a:t>
            </a:fld>
            <a:endParaRPr lang="en-US"/>
          </a:p>
        </p:txBody>
      </p:sp>
      <p:sp>
        <p:nvSpPr>
          <p:cNvPr id="10" name="Slide Number Placeholder 9">
            <a:extLst>
              <a:ext uri="{FF2B5EF4-FFF2-40B4-BE49-F238E27FC236}">
                <a16:creationId xmlns:a16="http://schemas.microsoft.com/office/drawing/2014/main" id="{C6DDECAF-4800-85A9-9F95-E6F7EF0F84EE}"/>
              </a:ext>
            </a:extLst>
          </p:cNvPr>
          <p:cNvSpPr>
            <a:spLocks noGrp="1"/>
          </p:cNvSpPr>
          <p:nvPr>
            <p:ph type="sldNum" sz="quarter" idx="12"/>
          </p:nvPr>
        </p:nvSpPr>
        <p:spPr/>
        <p:txBody>
          <a:bodyPr/>
          <a:lstStyle/>
          <a:p>
            <a:fld id="{7EA05A3E-6DBA-4FE0-898F-5EF47B17DFD2}" type="slidenum">
              <a:rPr lang="en-US" smtClean="0"/>
              <a:t>12</a:t>
            </a:fld>
            <a:endParaRPr lang="en-US"/>
          </a:p>
        </p:txBody>
      </p:sp>
    </p:spTree>
    <p:extLst>
      <p:ext uri="{BB962C8B-B14F-4D97-AF65-F5344CB8AC3E}">
        <p14:creationId xmlns:p14="http://schemas.microsoft.com/office/powerpoint/2010/main" val="252458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730C9-2812-343C-BDD1-2AC2B4AD216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792FD2A-1036-0644-F874-2F2E1B32897C}"/>
              </a:ext>
            </a:extLst>
          </p:cNvPr>
          <p:cNvSpPr>
            <a:spLocks noGrp="1"/>
          </p:cNvSpPr>
          <p:nvPr>
            <p:ph type="title"/>
          </p:nvPr>
        </p:nvSpPr>
        <p:spPr>
          <a:xfrm>
            <a:off x="609599" y="757094"/>
            <a:ext cx="3505201" cy="914400"/>
          </a:xfrm>
        </p:spPr>
        <p:txBody>
          <a:bodyPr>
            <a:normAutofit/>
          </a:bodyPr>
          <a:lstStyle/>
          <a:p>
            <a:r>
              <a:rPr lang="en-US" dirty="0"/>
              <a:t>ADVANCE Block</a:t>
            </a:r>
          </a:p>
        </p:txBody>
      </p:sp>
      <p:sp>
        <p:nvSpPr>
          <p:cNvPr id="5" name="Content Placeholder 2">
            <a:extLst>
              <a:ext uri="{FF2B5EF4-FFF2-40B4-BE49-F238E27FC236}">
                <a16:creationId xmlns:a16="http://schemas.microsoft.com/office/drawing/2014/main" id="{9C015950-4C5D-6297-C0C1-F46CC3C8B755}"/>
              </a:ext>
            </a:extLst>
          </p:cNvPr>
          <p:cNvSpPr>
            <a:spLocks noGrp="1"/>
          </p:cNvSpPr>
          <p:nvPr>
            <p:ph idx="1"/>
          </p:nvPr>
        </p:nvSpPr>
        <p:spPr>
          <a:xfrm>
            <a:off x="609598" y="1695651"/>
            <a:ext cx="3700713" cy="3880773"/>
          </a:xfrm>
        </p:spPr>
        <p:txBody>
          <a:bodyPr>
            <a:normAutofit/>
          </a:bodyPr>
          <a:lstStyle/>
          <a:p>
            <a:pPr marL="0" indent="0">
              <a:buNone/>
            </a:pPr>
            <a:r>
              <a:rPr lang="en-US" dirty="0"/>
              <a:t>Purpose: Delay the transaction (simulate processing time)</a:t>
            </a:r>
          </a:p>
          <a:p>
            <a:pPr marL="0" indent="0">
              <a:buNone/>
            </a:pPr>
            <a:r>
              <a:rPr lang="en-US" dirty="0"/>
              <a:t>Syntax: ADVANCE A,B</a:t>
            </a:r>
          </a:p>
          <a:p>
            <a:pPr marL="0" indent="0">
              <a:buNone/>
            </a:pPr>
            <a:r>
              <a:rPr lang="en-US" dirty="0"/>
              <a:t>Attributes:</a:t>
            </a:r>
          </a:p>
          <a:p>
            <a:pPr lvl="1"/>
            <a:r>
              <a:rPr lang="en-US" dirty="0"/>
              <a:t>A: Mean delay time</a:t>
            </a:r>
          </a:p>
          <a:p>
            <a:pPr lvl="1"/>
            <a:r>
              <a:rPr lang="en-US" dirty="0"/>
              <a:t>B: Half-width of distribution</a:t>
            </a:r>
          </a:p>
          <a:p>
            <a:pPr marL="0" indent="0">
              <a:buNone/>
            </a:pPr>
            <a:r>
              <a:rPr lang="en-US" dirty="0"/>
              <a:t>Example: ADVANCE 5,1 —&gt; delay of 5±1-time units</a:t>
            </a:r>
          </a:p>
        </p:txBody>
      </p:sp>
      <p:sp>
        <p:nvSpPr>
          <p:cNvPr id="2" name="Title 1">
            <a:extLst>
              <a:ext uri="{FF2B5EF4-FFF2-40B4-BE49-F238E27FC236}">
                <a16:creationId xmlns:a16="http://schemas.microsoft.com/office/drawing/2014/main" id="{363B29C6-F9AA-BF45-EB5A-D7141FBE71C9}"/>
              </a:ext>
            </a:extLst>
          </p:cNvPr>
          <p:cNvSpPr txBox="1">
            <a:spLocks/>
          </p:cNvSpPr>
          <p:nvPr/>
        </p:nvSpPr>
        <p:spPr>
          <a:xfrm>
            <a:off x="4310311" y="816637"/>
            <a:ext cx="3505201"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TRANSFER Block</a:t>
            </a:r>
          </a:p>
        </p:txBody>
      </p:sp>
      <p:sp>
        <p:nvSpPr>
          <p:cNvPr id="3" name="Content Placeholder 2">
            <a:extLst>
              <a:ext uri="{FF2B5EF4-FFF2-40B4-BE49-F238E27FC236}">
                <a16:creationId xmlns:a16="http://schemas.microsoft.com/office/drawing/2014/main" id="{D8FB8F42-CD58-5AE1-0984-DC4287DD0240}"/>
              </a:ext>
            </a:extLst>
          </p:cNvPr>
          <p:cNvSpPr txBox="1">
            <a:spLocks/>
          </p:cNvSpPr>
          <p:nvPr/>
        </p:nvSpPr>
        <p:spPr>
          <a:xfrm>
            <a:off x="4176961" y="1760448"/>
            <a:ext cx="4095751" cy="454307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dirty="0"/>
              <a:t>Purpose: Routes transaction based on a probability</a:t>
            </a:r>
          </a:p>
          <a:p>
            <a:pPr marL="0" indent="0">
              <a:buNone/>
            </a:pPr>
            <a:r>
              <a:rPr lang="en-US" dirty="0"/>
              <a:t>Syntax: TRANSFER A,B,C</a:t>
            </a:r>
          </a:p>
          <a:p>
            <a:pPr marL="0" indent="0">
              <a:buNone/>
            </a:pPr>
            <a:r>
              <a:rPr lang="en-US" dirty="0"/>
              <a:t>Example 1: TRANSFER 0.9, REPAIR, EXIT</a:t>
            </a:r>
          </a:p>
          <a:p>
            <a:pPr lvl="1"/>
            <a:r>
              <a:rPr lang="en-US" dirty="0"/>
              <a:t>90% to EXIT, 10% to REPAIR</a:t>
            </a:r>
          </a:p>
          <a:p>
            <a:pPr marL="0" indent="0">
              <a:buNone/>
            </a:pPr>
            <a:r>
              <a:rPr lang="en-US" dirty="0"/>
              <a:t>Example 2: TRANSFER BOTH, Insp1 , Insp2</a:t>
            </a:r>
          </a:p>
          <a:p>
            <a:pPr lvl="1"/>
            <a:r>
              <a:rPr lang="en-US" dirty="0"/>
              <a:t>If free go to 1, if insp1 engaged go to Insp 2</a:t>
            </a:r>
          </a:p>
          <a:p>
            <a:endParaRPr lang="en-US" dirty="0"/>
          </a:p>
        </p:txBody>
      </p:sp>
      <p:pic>
        <p:nvPicPr>
          <p:cNvPr id="9" name="Picture 8">
            <a:extLst>
              <a:ext uri="{FF2B5EF4-FFF2-40B4-BE49-F238E27FC236}">
                <a16:creationId xmlns:a16="http://schemas.microsoft.com/office/drawing/2014/main" id="{4A1AFF5E-C61F-B05F-2B24-CEE84936B6EC}"/>
              </a:ext>
            </a:extLst>
          </p:cNvPr>
          <p:cNvPicPr>
            <a:picLocks noChangeAspect="1"/>
          </p:cNvPicPr>
          <p:nvPr/>
        </p:nvPicPr>
        <p:blipFill>
          <a:blip r:embed="rId3"/>
          <a:stretch>
            <a:fillRect/>
          </a:stretch>
        </p:blipFill>
        <p:spPr>
          <a:xfrm>
            <a:off x="671760" y="4801772"/>
            <a:ext cx="2285267" cy="1081420"/>
          </a:xfrm>
          <a:prstGeom prst="rect">
            <a:avLst/>
          </a:prstGeom>
        </p:spPr>
      </p:pic>
      <p:pic>
        <p:nvPicPr>
          <p:cNvPr id="11" name="Picture 10">
            <a:extLst>
              <a:ext uri="{FF2B5EF4-FFF2-40B4-BE49-F238E27FC236}">
                <a16:creationId xmlns:a16="http://schemas.microsoft.com/office/drawing/2014/main" id="{804F04E0-2446-DAA0-91AA-2CDA0ADB9750}"/>
              </a:ext>
            </a:extLst>
          </p:cNvPr>
          <p:cNvPicPr>
            <a:picLocks noChangeAspect="1"/>
          </p:cNvPicPr>
          <p:nvPr/>
        </p:nvPicPr>
        <p:blipFill>
          <a:blip r:embed="rId4"/>
          <a:stretch>
            <a:fillRect/>
          </a:stretch>
        </p:blipFill>
        <p:spPr>
          <a:xfrm>
            <a:off x="4835693" y="5301878"/>
            <a:ext cx="2454436" cy="1162628"/>
          </a:xfrm>
          <a:prstGeom prst="rect">
            <a:avLst/>
          </a:prstGeom>
        </p:spPr>
      </p:pic>
      <p:sp>
        <p:nvSpPr>
          <p:cNvPr id="6" name="Footer Placeholder 5">
            <a:extLst>
              <a:ext uri="{FF2B5EF4-FFF2-40B4-BE49-F238E27FC236}">
                <a16:creationId xmlns:a16="http://schemas.microsoft.com/office/drawing/2014/main" id="{59DCAA66-234A-76C9-E549-1BB5A23EC8C1}"/>
              </a:ext>
            </a:extLst>
          </p:cNvPr>
          <p:cNvSpPr>
            <a:spLocks noGrp="1"/>
          </p:cNvSpPr>
          <p:nvPr>
            <p:ph type="ftr" sz="quarter" idx="11"/>
          </p:nvPr>
        </p:nvSpPr>
        <p:spPr/>
        <p:txBody>
          <a:bodyPr/>
          <a:lstStyle/>
          <a:p>
            <a:r>
              <a:rPr lang="nb-NO"/>
              <a:t>Kapil@nast.edu.np || kapilpant157</a:t>
            </a:r>
            <a:endParaRPr lang="en-US" dirty="0"/>
          </a:p>
        </p:txBody>
      </p:sp>
      <p:sp>
        <p:nvSpPr>
          <p:cNvPr id="7" name="Date Placeholder 6">
            <a:extLst>
              <a:ext uri="{FF2B5EF4-FFF2-40B4-BE49-F238E27FC236}">
                <a16:creationId xmlns:a16="http://schemas.microsoft.com/office/drawing/2014/main" id="{FA75C5B4-9288-7AB6-592D-7A69AE624654}"/>
              </a:ext>
            </a:extLst>
          </p:cNvPr>
          <p:cNvSpPr>
            <a:spLocks noGrp="1"/>
          </p:cNvSpPr>
          <p:nvPr>
            <p:ph type="dt" sz="half" idx="10"/>
          </p:nvPr>
        </p:nvSpPr>
        <p:spPr/>
        <p:txBody>
          <a:bodyPr/>
          <a:lstStyle/>
          <a:p>
            <a:fld id="{1064B8B3-82D1-49BE-98EE-D64928128A4B}" type="datetime1">
              <a:rPr lang="en-US" smtClean="0"/>
              <a:t>1/31/2026</a:t>
            </a:fld>
            <a:endParaRPr lang="en-US"/>
          </a:p>
        </p:txBody>
      </p:sp>
      <p:sp>
        <p:nvSpPr>
          <p:cNvPr id="8" name="Slide Number Placeholder 7">
            <a:extLst>
              <a:ext uri="{FF2B5EF4-FFF2-40B4-BE49-F238E27FC236}">
                <a16:creationId xmlns:a16="http://schemas.microsoft.com/office/drawing/2014/main" id="{646AD72B-C695-972F-A3C0-6C906F1CABA7}"/>
              </a:ext>
            </a:extLst>
          </p:cNvPr>
          <p:cNvSpPr>
            <a:spLocks noGrp="1"/>
          </p:cNvSpPr>
          <p:nvPr>
            <p:ph type="sldNum" sz="quarter" idx="12"/>
          </p:nvPr>
        </p:nvSpPr>
        <p:spPr/>
        <p:txBody>
          <a:bodyPr/>
          <a:lstStyle/>
          <a:p>
            <a:fld id="{7EA05A3E-6DBA-4FE0-898F-5EF47B17DFD2}" type="slidenum">
              <a:rPr lang="en-US" smtClean="0"/>
              <a:t>13</a:t>
            </a:fld>
            <a:endParaRPr lang="en-US"/>
          </a:p>
        </p:txBody>
      </p:sp>
    </p:spTree>
    <p:extLst>
      <p:ext uri="{BB962C8B-B14F-4D97-AF65-F5344CB8AC3E}">
        <p14:creationId xmlns:p14="http://schemas.microsoft.com/office/powerpoint/2010/main" val="604774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8336A-CF97-6B92-3842-41C0C3E40F6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BC22C67-5F91-622D-0BE7-58714A51AE20}"/>
              </a:ext>
            </a:extLst>
          </p:cNvPr>
          <p:cNvSpPr>
            <a:spLocks noGrp="1"/>
          </p:cNvSpPr>
          <p:nvPr>
            <p:ph type="title"/>
          </p:nvPr>
        </p:nvSpPr>
        <p:spPr>
          <a:xfrm>
            <a:off x="609600" y="609600"/>
            <a:ext cx="2871538" cy="914400"/>
          </a:xfrm>
        </p:spPr>
        <p:txBody>
          <a:bodyPr/>
          <a:lstStyle/>
          <a:p>
            <a:r>
              <a:rPr lang="en-US" dirty="0"/>
              <a:t>Enter Block</a:t>
            </a:r>
          </a:p>
        </p:txBody>
      </p:sp>
      <p:sp>
        <p:nvSpPr>
          <p:cNvPr id="5" name="Content Placeholder 2">
            <a:extLst>
              <a:ext uri="{FF2B5EF4-FFF2-40B4-BE49-F238E27FC236}">
                <a16:creationId xmlns:a16="http://schemas.microsoft.com/office/drawing/2014/main" id="{DB5A3493-0895-ADE3-CD8A-01ABE983F981}"/>
              </a:ext>
            </a:extLst>
          </p:cNvPr>
          <p:cNvSpPr>
            <a:spLocks noGrp="1"/>
          </p:cNvSpPr>
          <p:nvPr>
            <p:ph idx="1"/>
          </p:nvPr>
        </p:nvSpPr>
        <p:spPr>
          <a:xfrm>
            <a:off x="609598" y="2160590"/>
            <a:ext cx="3700713" cy="3880773"/>
          </a:xfrm>
        </p:spPr>
        <p:txBody>
          <a:bodyPr/>
          <a:lstStyle/>
          <a:p>
            <a:r>
              <a:rPr lang="en-US" dirty="0"/>
              <a:t>Purpose: Take units from a storage</a:t>
            </a:r>
          </a:p>
          <a:p>
            <a:r>
              <a:rPr lang="en-US" dirty="0"/>
              <a:t>Syntax: ENTER </a:t>
            </a:r>
            <a:r>
              <a:rPr lang="en-US" i="1" dirty="0" err="1"/>
              <a:t>StorageName</a:t>
            </a:r>
            <a:r>
              <a:rPr lang="en-US" dirty="0"/>
              <a:t>, Units</a:t>
            </a:r>
          </a:p>
          <a:p>
            <a:r>
              <a:rPr lang="en-US" dirty="0"/>
              <a:t>Example: ENTER WAREHOUSE, 5</a:t>
            </a:r>
          </a:p>
        </p:txBody>
      </p:sp>
      <p:sp>
        <p:nvSpPr>
          <p:cNvPr id="6" name="Title 1">
            <a:extLst>
              <a:ext uri="{FF2B5EF4-FFF2-40B4-BE49-F238E27FC236}">
                <a16:creationId xmlns:a16="http://schemas.microsoft.com/office/drawing/2014/main" id="{93C7913F-E26B-166B-997A-92CE450FB018}"/>
              </a:ext>
            </a:extLst>
          </p:cNvPr>
          <p:cNvSpPr txBox="1">
            <a:spLocks/>
          </p:cNvSpPr>
          <p:nvPr/>
        </p:nvSpPr>
        <p:spPr>
          <a:xfrm>
            <a:off x="4090738" y="609600"/>
            <a:ext cx="2871538" cy="9144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Leave Block</a:t>
            </a:r>
          </a:p>
        </p:txBody>
      </p:sp>
      <p:sp>
        <p:nvSpPr>
          <p:cNvPr id="7" name="Content Placeholder 2">
            <a:extLst>
              <a:ext uri="{FF2B5EF4-FFF2-40B4-BE49-F238E27FC236}">
                <a16:creationId xmlns:a16="http://schemas.microsoft.com/office/drawing/2014/main" id="{D1F864E5-7805-C887-6510-BE185D10FE26}"/>
              </a:ext>
            </a:extLst>
          </p:cNvPr>
          <p:cNvSpPr txBox="1">
            <a:spLocks/>
          </p:cNvSpPr>
          <p:nvPr/>
        </p:nvSpPr>
        <p:spPr>
          <a:xfrm>
            <a:off x="4090736" y="2160590"/>
            <a:ext cx="3700713"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Purpose: Return units to storage</a:t>
            </a:r>
          </a:p>
          <a:p>
            <a:r>
              <a:rPr lang="en-US" dirty="0"/>
              <a:t>Syntax: LEAVE </a:t>
            </a:r>
            <a:r>
              <a:rPr lang="en-US" i="1" dirty="0" err="1"/>
              <a:t>StorageName</a:t>
            </a:r>
            <a:r>
              <a:rPr lang="en-US" dirty="0"/>
              <a:t>, Units</a:t>
            </a:r>
          </a:p>
          <a:p>
            <a:r>
              <a:rPr lang="en-US" dirty="0"/>
              <a:t>Example: LEAVE WAREHOUSE, 5</a:t>
            </a:r>
          </a:p>
        </p:txBody>
      </p:sp>
      <p:pic>
        <p:nvPicPr>
          <p:cNvPr id="3" name="Picture 2">
            <a:extLst>
              <a:ext uri="{FF2B5EF4-FFF2-40B4-BE49-F238E27FC236}">
                <a16:creationId xmlns:a16="http://schemas.microsoft.com/office/drawing/2014/main" id="{EA293696-6735-0D86-30AA-0FBA35E2E055}"/>
              </a:ext>
            </a:extLst>
          </p:cNvPr>
          <p:cNvPicPr>
            <a:picLocks noChangeAspect="1"/>
          </p:cNvPicPr>
          <p:nvPr/>
        </p:nvPicPr>
        <p:blipFill>
          <a:blip r:embed="rId3"/>
          <a:stretch>
            <a:fillRect/>
          </a:stretch>
        </p:blipFill>
        <p:spPr>
          <a:xfrm>
            <a:off x="1168902" y="4822329"/>
            <a:ext cx="2361879" cy="1219034"/>
          </a:xfrm>
          <a:prstGeom prst="rect">
            <a:avLst/>
          </a:prstGeom>
        </p:spPr>
      </p:pic>
      <p:pic>
        <p:nvPicPr>
          <p:cNvPr id="9" name="Picture 8">
            <a:extLst>
              <a:ext uri="{FF2B5EF4-FFF2-40B4-BE49-F238E27FC236}">
                <a16:creationId xmlns:a16="http://schemas.microsoft.com/office/drawing/2014/main" id="{83267301-CDAE-772F-B420-F71EC96A165E}"/>
              </a:ext>
            </a:extLst>
          </p:cNvPr>
          <p:cNvPicPr>
            <a:picLocks noChangeAspect="1"/>
          </p:cNvPicPr>
          <p:nvPr/>
        </p:nvPicPr>
        <p:blipFill>
          <a:blip r:embed="rId4"/>
          <a:stretch>
            <a:fillRect/>
          </a:stretch>
        </p:blipFill>
        <p:spPr>
          <a:xfrm>
            <a:off x="4869615" y="4707845"/>
            <a:ext cx="2193010" cy="1061584"/>
          </a:xfrm>
          <a:prstGeom prst="rect">
            <a:avLst/>
          </a:prstGeom>
        </p:spPr>
      </p:pic>
      <p:sp>
        <p:nvSpPr>
          <p:cNvPr id="2" name="Footer Placeholder 1">
            <a:extLst>
              <a:ext uri="{FF2B5EF4-FFF2-40B4-BE49-F238E27FC236}">
                <a16:creationId xmlns:a16="http://schemas.microsoft.com/office/drawing/2014/main" id="{9CA5782E-8376-38C6-78F4-D671AFE055DC}"/>
              </a:ext>
            </a:extLst>
          </p:cNvPr>
          <p:cNvSpPr>
            <a:spLocks noGrp="1"/>
          </p:cNvSpPr>
          <p:nvPr>
            <p:ph type="ftr" sz="quarter" idx="11"/>
          </p:nvPr>
        </p:nvSpPr>
        <p:spPr/>
        <p:txBody>
          <a:bodyPr/>
          <a:lstStyle/>
          <a:p>
            <a:r>
              <a:rPr lang="nb-NO"/>
              <a:t>Kapil@nast.edu.np || kapilpant157</a:t>
            </a:r>
            <a:endParaRPr lang="en-US" dirty="0"/>
          </a:p>
        </p:txBody>
      </p:sp>
      <p:sp>
        <p:nvSpPr>
          <p:cNvPr id="8" name="Date Placeholder 7">
            <a:extLst>
              <a:ext uri="{FF2B5EF4-FFF2-40B4-BE49-F238E27FC236}">
                <a16:creationId xmlns:a16="http://schemas.microsoft.com/office/drawing/2014/main" id="{01E3B881-642F-12D3-79D6-A2EB991A5661}"/>
              </a:ext>
            </a:extLst>
          </p:cNvPr>
          <p:cNvSpPr>
            <a:spLocks noGrp="1"/>
          </p:cNvSpPr>
          <p:nvPr>
            <p:ph type="dt" sz="half" idx="10"/>
          </p:nvPr>
        </p:nvSpPr>
        <p:spPr/>
        <p:txBody>
          <a:bodyPr/>
          <a:lstStyle/>
          <a:p>
            <a:fld id="{94F51F40-B02B-4947-AC9E-2293B3688A12}" type="datetime1">
              <a:rPr lang="en-US" smtClean="0"/>
              <a:t>1/31/2026</a:t>
            </a:fld>
            <a:endParaRPr lang="en-US"/>
          </a:p>
        </p:txBody>
      </p:sp>
      <p:sp>
        <p:nvSpPr>
          <p:cNvPr id="10" name="Slide Number Placeholder 9">
            <a:extLst>
              <a:ext uri="{FF2B5EF4-FFF2-40B4-BE49-F238E27FC236}">
                <a16:creationId xmlns:a16="http://schemas.microsoft.com/office/drawing/2014/main" id="{9D24839A-4B4E-BC8C-3565-A3339A10E4CE}"/>
              </a:ext>
            </a:extLst>
          </p:cNvPr>
          <p:cNvSpPr>
            <a:spLocks noGrp="1"/>
          </p:cNvSpPr>
          <p:nvPr>
            <p:ph type="sldNum" sz="quarter" idx="12"/>
          </p:nvPr>
        </p:nvSpPr>
        <p:spPr/>
        <p:txBody>
          <a:bodyPr/>
          <a:lstStyle/>
          <a:p>
            <a:fld id="{7EA05A3E-6DBA-4FE0-898F-5EF47B17DFD2}" type="slidenum">
              <a:rPr lang="en-US" smtClean="0"/>
              <a:t>14</a:t>
            </a:fld>
            <a:endParaRPr lang="en-US"/>
          </a:p>
        </p:txBody>
      </p:sp>
    </p:spTree>
    <p:extLst>
      <p:ext uri="{BB962C8B-B14F-4D97-AF65-F5344CB8AC3E}">
        <p14:creationId xmlns:p14="http://schemas.microsoft.com/office/powerpoint/2010/main" val="1221406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0C4EB-1A74-15FD-4591-A4DDC462B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189618-E73D-4980-600C-3687472492F1}"/>
              </a:ext>
            </a:extLst>
          </p:cNvPr>
          <p:cNvSpPr>
            <a:spLocks noGrp="1"/>
          </p:cNvSpPr>
          <p:nvPr>
            <p:ph type="title"/>
          </p:nvPr>
        </p:nvSpPr>
        <p:spPr>
          <a:xfrm>
            <a:off x="424542" y="610453"/>
            <a:ext cx="2764972" cy="1320800"/>
          </a:xfrm>
        </p:spPr>
        <p:txBody>
          <a:bodyPr/>
          <a:lstStyle/>
          <a:p>
            <a:r>
              <a:rPr lang="en-US" dirty="0"/>
              <a:t>Example</a:t>
            </a:r>
          </a:p>
        </p:txBody>
      </p:sp>
      <p:sp>
        <p:nvSpPr>
          <p:cNvPr id="3" name="Content Placeholder 2">
            <a:extLst>
              <a:ext uri="{FF2B5EF4-FFF2-40B4-BE49-F238E27FC236}">
                <a16:creationId xmlns:a16="http://schemas.microsoft.com/office/drawing/2014/main" id="{E635FA3C-5564-D694-2F96-669055EB106C}"/>
              </a:ext>
            </a:extLst>
          </p:cNvPr>
          <p:cNvSpPr>
            <a:spLocks noGrp="1"/>
          </p:cNvSpPr>
          <p:nvPr>
            <p:ph idx="1"/>
          </p:nvPr>
        </p:nvSpPr>
        <p:spPr>
          <a:xfrm>
            <a:off x="385573" y="1553555"/>
            <a:ext cx="7110114" cy="4920397"/>
          </a:xfrm>
        </p:spPr>
        <p:txBody>
          <a:bodyPr>
            <a:normAutofit/>
          </a:bodyPr>
          <a:lstStyle/>
          <a:p>
            <a:pPr marL="0" indent="0">
              <a:buNone/>
            </a:pPr>
            <a:r>
              <a:rPr lang="en-US" dirty="0"/>
              <a:t>Create a GPSS model and program to simulate a barber shop for a day (9:00 AM to 4:00PM) where customer enters the shop in every 10 ± 2 minutes and a barber takes 13 ± 2 minutes for haircut. </a:t>
            </a:r>
          </a:p>
          <a:p>
            <a:pPr marL="0" indent="0">
              <a:buNone/>
            </a:pPr>
            <a:endParaRPr lang="en-US" dirty="0"/>
          </a:p>
          <a:p>
            <a:pPr marL="0" indent="0">
              <a:buNone/>
            </a:pPr>
            <a:r>
              <a:rPr lang="en-US" dirty="0"/>
              <a:t>GENERATE 10,2</a:t>
            </a:r>
          </a:p>
          <a:p>
            <a:pPr marL="0" indent="0">
              <a:buNone/>
            </a:pPr>
            <a:r>
              <a:rPr lang="en-US" dirty="0"/>
              <a:t>QUEUE S</a:t>
            </a:r>
          </a:p>
          <a:p>
            <a:pPr marL="0" indent="0">
              <a:buNone/>
            </a:pPr>
            <a:r>
              <a:rPr lang="en-US" dirty="0"/>
              <a:t>SEIZE B</a:t>
            </a:r>
          </a:p>
          <a:p>
            <a:pPr marL="0" indent="0">
              <a:buNone/>
            </a:pPr>
            <a:r>
              <a:rPr lang="en-US" dirty="0"/>
              <a:t>DEPART S</a:t>
            </a:r>
          </a:p>
          <a:p>
            <a:pPr marL="0" indent="0">
              <a:buNone/>
            </a:pPr>
            <a:r>
              <a:rPr lang="en-US" dirty="0"/>
              <a:t>ADVANCE 13,2</a:t>
            </a:r>
          </a:p>
          <a:p>
            <a:pPr marL="0" indent="0">
              <a:buNone/>
            </a:pPr>
            <a:r>
              <a:rPr lang="en-US" dirty="0"/>
              <a:t>RELEASE BARBER</a:t>
            </a:r>
          </a:p>
          <a:p>
            <a:pPr marL="0" indent="0">
              <a:buNone/>
            </a:pPr>
            <a:r>
              <a:rPr lang="en-US" dirty="0"/>
              <a:t>TERMINATE 1</a:t>
            </a:r>
          </a:p>
          <a:p>
            <a:pPr marL="0" indent="0">
              <a:buNone/>
            </a:pPr>
            <a:r>
              <a:rPr lang="en-US" dirty="0"/>
              <a:t>START 100</a:t>
            </a:r>
          </a:p>
          <a:p>
            <a:endParaRPr lang="en-US" dirty="0"/>
          </a:p>
        </p:txBody>
      </p:sp>
      <p:sp>
        <p:nvSpPr>
          <p:cNvPr id="4" name="Title 1">
            <a:extLst>
              <a:ext uri="{FF2B5EF4-FFF2-40B4-BE49-F238E27FC236}">
                <a16:creationId xmlns:a16="http://schemas.microsoft.com/office/drawing/2014/main" id="{6527B2B2-EFBA-F4FB-03A3-98E40AB4CB2E}"/>
              </a:ext>
            </a:extLst>
          </p:cNvPr>
          <p:cNvSpPr txBox="1">
            <a:spLocks/>
          </p:cNvSpPr>
          <p:nvPr/>
        </p:nvSpPr>
        <p:spPr>
          <a:xfrm>
            <a:off x="4201886" y="609600"/>
            <a:ext cx="3135086"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Block Diagram</a:t>
            </a:r>
          </a:p>
        </p:txBody>
      </p:sp>
      <p:pic>
        <p:nvPicPr>
          <p:cNvPr id="6" name="Picture 5">
            <a:extLst>
              <a:ext uri="{FF2B5EF4-FFF2-40B4-BE49-F238E27FC236}">
                <a16:creationId xmlns:a16="http://schemas.microsoft.com/office/drawing/2014/main" id="{425F0304-A7CC-871E-A27E-C5C595229DD4}"/>
              </a:ext>
            </a:extLst>
          </p:cNvPr>
          <p:cNvPicPr>
            <a:picLocks noChangeAspect="1"/>
          </p:cNvPicPr>
          <p:nvPr/>
        </p:nvPicPr>
        <p:blipFill>
          <a:blip r:embed="rId2"/>
          <a:stretch>
            <a:fillRect/>
          </a:stretch>
        </p:blipFill>
        <p:spPr>
          <a:xfrm>
            <a:off x="4128734" y="2560321"/>
            <a:ext cx="2985935" cy="3913631"/>
          </a:xfrm>
          <a:prstGeom prst="rect">
            <a:avLst/>
          </a:prstGeom>
        </p:spPr>
      </p:pic>
      <p:sp>
        <p:nvSpPr>
          <p:cNvPr id="7" name="Footer Placeholder 6">
            <a:extLst>
              <a:ext uri="{FF2B5EF4-FFF2-40B4-BE49-F238E27FC236}">
                <a16:creationId xmlns:a16="http://schemas.microsoft.com/office/drawing/2014/main" id="{B4313D6B-57BE-1ACB-3A2C-FC4AA931C7D0}"/>
              </a:ext>
            </a:extLst>
          </p:cNvPr>
          <p:cNvSpPr>
            <a:spLocks noGrp="1"/>
          </p:cNvSpPr>
          <p:nvPr>
            <p:ph type="ftr" sz="quarter" idx="11"/>
          </p:nvPr>
        </p:nvSpPr>
        <p:spPr/>
        <p:txBody>
          <a:bodyPr/>
          <a:lstStyle/>
          <a:p>
            <a:r>
              <a:rPr lang="nb-NO"/>
              <a:t>Kapil@nast.edu.np || kapilpant157</a:t>
            </a:r>
            <a:endParaRPr lang="en-US" dirty="0"/>
          </a:p>
        </p:txBody>
      </p:sp>
      <p:sp>
        <p:nvSpPr>
          <p:cNvPr id="8" name="Date Placeholder 7">
            <a:extLst>
              <a:ext uri="{FF2B5EF4-FFF2-40B4-BE49-F238E27FC236}">
                <a16:creationId xmlns:a16="http://schemas.microsoft.com/office/drawing/2014/main" id="{4C56AC10-3A8E-1F57-CC6A-06D7674C9938}"/>
              </a:ext>
            </a:extLst>
          </p:cNvPr>
          <p:cNvSpPr>
            <a:spLocks noGrp="1"/>
          </p:cNvSpPr>
          <p:nvPr>
            <p:ph type="dt" sz="half" idx="10"/>
          </p:nvPr>
        </p:nvSpPr>
        <p:spPr/>
        <p:txBody>
          <a:bodyPr/>
          <a:lstStyle/>
          <a:p>
            <a:fld id="{761CEA52-6DFD-491F-B796-6DC34044D25C}" type="datetime1">
              <a:rPr lang="en-US" smtClean="0"/>
              <a:t>1/31/2026</a:t>
            </a:fld>
            <a:endParaRPr lang="en-US"/>
          </a:p>
        </p:txBody>
      </p:sp>
      <p:sp>
        <p:nvSpPr>
          <p:cNvPr id="9" name="Slide Number Placeholder 8">
            <a:extLst>
              <a:ext uri="{FF2B5EF4-FFF2-40B4-BE49-F238E27FC236}">
                <a16:creationId xmlns:a16="http://schemas.microsoft.com/office/drawing/2014/main" id="{3529993E-D96F-2B88-8A67-C70AAA9137F5}"/>
              </a:ext>
            </a:extLst>
          </p:cNvPr>
          <p:cNvSpPr>
            <a:spLocks noGrp="1"/>
          </p:cNvSpPr>
          <p:nvPr>
            <p:ph type="sldNum" sz="quarter" idx="12"/>
          </p:nvPr>
        </p:nvSpPr>
        <p:spPr/>
        <p:txBody>
          <a:bodyPr/>
          <a:lstStyle/>
          <a:p>
            <a:fld id="{7EA05A3E-6DBA-4FE0-898F-5EF47B17DFD2}" type="slidenum">
              <a:rPr lang="en-US" smtClean="0"/>
              <a:t>15</a:t>
            </a:fld>
            <a:endParaRPr lang="en-US"/>
          </a:p>
        </p:txBody>
      </p:sp>
    </p:spTree>
    <p:extLst>
      <p:ext uri="{BB962C8B-B14F-4D97-AF65-F5344CB8AC3E}">
        <p14:creationId xmlns:p14="http://schemas.microsoft.com/office/powerpoint/2010/main" val="2235511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1DCB3-6637-F334-6CBC-60436ADF9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78C5ED-6C5F-CB1E-2FD6-90B6122A51FE}"/>
              </a:ext>
            </a:extLst>
          </p:cNvPr>
          <p:cNvSpPr>
            <a:spLocks noGrp="1"/>
          </p:cNvSpPr>
          <p:nvPr>
            <p:ph type="title"/>
          </p:nvPr>
        </p:nvSpPr>
        <p:spPr>
          <a:xfrm>
            <a:off x="424542" y="610453"/>
            <a:ext cx="2764972" cy="1320800"/>
          </a:xfrm>
        </p:spPr>
        <p:txBody>
          <a:bodyPr/>
          <a:lstStyle/>
          <a:p>
            <a:r>
              <a:rPr lang="en-US" dirty="0"/>
              <a:t>Example</a:t>
            </a:r>
          </a:p>
        </p:txBody>
      </p:sp>
      <p:sp>
        <p:nvSpPr>
          <p:cNvPr id="3" name="Content Placeholder 2">
            <a:extLst>
              <a:ext uri="{FF2B5EF4-FFF2-40B4-BE49-F238E27FC236}">
                <a16:creationId xmlns:a16="http://schemas.microsoft.com/office/drawing/2014/main" id="{FBEF1834-0ADE-9369-5914-2621AA0F0FD5}"/>
              </a:ext>
            </a:extLst>
          </p:cNvPr>
          <p:cNvSpPr>
            <a:spLocks noGrp="1"/>
          </p:cNvSpPr>
          <p:nvPr>
            <p:ph idx="1"/>
          </p:nvPr>
        </p:nvSpPr>
        <p:spPr>
          <a:xfrm>
            <a:off x="163286" y="1455166"/>
            <a:ext cx="7755418" cy="5402834"/>
          </a:xfrm>
        </p:spPr>
        <p:txBody>
          <a:bodyPr>
            <a:normAutofit fontScale="92500" lnSpcReduction="10000"/>
          </a:bodyPr>
          <a:lstStyle/>
          <a:p>
            <a:pPr marL="0" indent="0">
              <a:buNone/>
            </a:pPr>
            <a:r>
              <a:rPr lang="en-US" dirty="0"/>
              <a:t>A machine tool in manufacturing department is turning out parts at the rate of every 5 minutes. When they are finished, the parts are sent to an inspector, who takes 4 ± 3 minutes to examine each one and rejects 15% of the parts. Draw and explain the block diagram and write GPSS program to simulate using the concept of facility. </a:t>
            </a:r>
          </a:p>
          <a:p>
            <a:pPr marL="0" indent="0">
              <a:buNone/>
            </a:pPr>
            <a:r>
              <a:rPr lang="en-US" b="1" u="sng" dirty="0"/>
              <a:t>GPSS CODE:</a:t>
            </a:r>
          </a:p>
          <a:p>
            <a:pPr marL="0" indent="0">
              <a:buNone/>
            </a:pPr>
            <a:r>
              <a:rPr lang="en-US" dirty="0"/>
              <a:t>GENERATE 5,0</a:t>
            </a:r>
          </a:p>
          <a:p>
            <a:pPr marL="0" indent="0">
              <a:buNone/>
            </a:pPr>
            <a:r>
              <a:rPr lang="en-US" dirty="0"/>
              <a:t>QUEUE Q</a:t>
            </a:r>
          </a:p>
          <a:p>
            <a:pPr marL="0" indent="0">
              <a:buNone/>
            </a:pPr>
            <a:r>
              <a:rPr lang="en-US" dirty="0"/>
              <a:t>SEIZE INSPECTOR</a:t>
            </a:r>
          </a:p>
          <a:p>
            <a:pPr marL="0" indent="0">
              <a:buNone/>
            </a:pPr>
            <a:r>
              <a:rPr lang="en-US" dirty="0"/>
              <a:t>DEPART Q</a:t>
            </a:r>
          </a:p>
          <a:p>
            <a:pPr marL="0" indent="0">
              <a:buNone/>
            </a:pPr>
            <a:r>
              <a:rPr lang="en-US" dirty="0"/>
              <a:t>ADVANCE 4,3</a:t>
            </a:r>
          </a:p>
          <a:p>
            <a:pPr marL="0" indent="0">
              <a:buNone/>
            </a:pPr>
            <a:r>
              <a:rPr lang="en-US" dirty="0"/>
              <a:t>RELEASE INSPECTOR</a:t>
            </a:r>
          </a:p>
          <a:p>
            <a:pPr marL="0" indent="0">
              <a:buNone/>
            </a:pPr>
            <a:r>
              <a:rPr lang="en-US" dirty="0"/>
              <a:t>TRANSFER 0.15, Acc, Rej</a:t>
            </a:r>
          </a:p>
          <a:p>
            <a:pPr marL="0" indent="0">
              <a:buNone/>
            </a:pPr>
            <a:r>
              <a:rPr lang="en-US" dirty="0"/>
              <a:t>Acc TERMINATE 1</a:t>
            </a:r>
          </a:p>
          <a:p>
            <a:pPr marL="0" indent="0">
              <a:buNone/>
            </a:pPr>
            <a:r>
              <a:rPr lang="en-US" dirty="0"/>
              <a:t>Rej TERMINATE 1</a:t>
            </a:r>
          </a:p>
          <a:p>
            <a:pPr marL="0" indent="0">
              <a:buNone/>
            </a:pPr>
            <a:r>
              <a:rPr lang="en-US" dirty="0"/>
              <a:t>START 100</a:t>
            </a:r>
          </a:p>
        </p:txBody>
      </p:sp>
      <p:sp>
        <p:nvSpPr>
          <p:cNvPr id="4" name="Title 1">
            <a:extLst>
              <a:ext uri="{FF2B5EF4-FFF2-40B4-BE49-F238E27FC236}">
                <a16:creationId xmlns:a16="http://schemas.microsoft.com/office/drawing/2014/main" id="{B6307C68-616D-DE6C-80CD-798ACDF01126}"/>
              </a:ext>
            </a:extLst>
          </p:cNvPr>
          <p:cNvSpPr txBox="1">
            <a:spLocks/>
          </p:cNvSpPr>
          <p:nvPr/>
        </p:nvSpPr>
        <p:spPr>
          <a:xfrm>
            <a:off x="4201886" y="609600"/>
            <a:ext cx="3135086"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Block Diagram</a:t>
            </a:r>
          </a:p>
        </p:txBody>
      </p:sp>
      <p:pic>
        <p:nvPicPr>
          <p:cNvPr id="6" name="Picture 5">
            <a:extLst>
              <a:ext uri="{FF2B5EF4-FFF2-40B4-BE49-F238E27FC236}">
                <a16:creationId xmlns:a16="http://schemas.microsoft.com/office/drawing/2014/main" id="{887DAD2E-C91A-B277-1601-BD2B0A0AC635}"/>
              </a:ext>
            </a:extLst>
          </p:cNvPr>
          <p:cNvPicPr>
            <a:picLocks noChangeAspect="1"/>
          </p:cNvPicPr>
          <p:nvPr/>
        </p:nvPicPr>
        <p:blipFill>
          <a:blip r:embed="rId3"/>
          <a:stretch>
            <a:fillRect/>
          </a:stretch>
        </p:blipFill>
        <p:spPr>
          <a:xfrm>
            <a:off x="4572000" y="2551396"/>
            <a:ext cx="2632524" cy="4306604"/>
          </a:xfrm>
          <a:prstGeom prst="rect">
            <a:avLst/>
          </a:prstGeom>
        </p:spPr>
      </p:pic>
      <p:sp>
        <p:nvSpPr>
          <p:cNvPr id="7" name="Footer Placeholder 6">
            <a:extLst>
              <a:ext uri="{FF2B5EF4-FFF2-40B4-BE49-F238E27FC236}">
                <a16:creationId xmlns:a16="http://schemas.microsoft.com/office/drawing/2014/main" id="{95711B16-C261-E37D-5313-B545366D30C7}"/>
              </a:ext>
            </a:extLst>
          </p:cNvPr>
          <p:cNvSpPr>
            <a:spLocks noGrp="1"/>
          </p:cNvSpPr>
          <p:nvPr>
            <p:ph type="ftr" sz="quarter" idx="11"/>
          </p:nvPr>
        </p:nvSpPr>
        <p:spPr/>
        <p:txBody>
          <a:bodyPr/>
          <a:lstStyle/>
          <a:p>
            <a:r>
              <a:rPr lang="nb-NO"/>
              <a:t>Kapil@nast.edu.np || kapilpant157</a:t>
            </a:r>
            <a:endParaRPr lang="en-US" dirty="0"/>
          </a:p>
        </p:txBody>
      </p:sp>
      <p:sp>
        <p:nvSpPr>
          <p:cNvPr id="8" name="Date Placeholder 7">
            <a:extLst>
              <a:ext uri="{FF2B5EF4-FFF2-40B4-BE49-F238E27FC236}">
                <a16:creationId xmlns:a16="http://schemas.microsoft.com/office/drawing/2014/main" id="{6CEA7A82-583F-2F78-AD3C-0AD9B1969F32}"/>
              </a:ext>
            </a:extLst>
          </p:cNvPr>
          <p:cNvSpPr>
            <a:spLocks noGrp="1"/>
          </p:cNvSpPr>
          <p:nvPr>
            <p:ph type="dt" sz="half" idx="10"/>
          </p:nvPr>
        </p:nvSpPr>
        <p:spPr/>
        <p:txBody>
          <a:bodyPr/>
          <a:lstStyle/>
          <a:p>
            <a:fld id="{21035F5E-8615-49FD-88D8-B59406965BD7}" type="datetime1">
              <a:rPr lang="en-US" smtClean="0"/>
              <a:t>1/31/2026</a:t>
            </a:fld>
            <a:endParaRPr lang="en-US"/>
          </a:p>
        </p:txBody>
      </p:sp>
      <p:sp>
        <p:nvSpPr>
          <p:cNvPr id="9" name="Slide Number Placeholder 8">
            <a:extLst>
              <a:ext uri="{FF2B5EF4-FFF2-40B4-BE49-F238E27FC236}">
                <a16:creationId xmlns:a16="http://schemas.microsoft.com/office/drawing/2014/main" id="{51A352CC-B3F4-3B23-1B62-5748EA8DB621}"/>
              </a:ext>
            </a:extLst>
          </p:cNvPr>
          <p:cNvSpPr>
            <a:spLocks noGrp="1"/>
          </p:cNvSpPr>
          <p:nvPr>
            <p:ph type="sldNum" sz="quarter" idx="12"/>
          </p:nvPr>
        </p:nvSpPr>
        <p:spPr/>
        <p:txBody>
          <a:bodyPr/>
          <a:lstStyle/>
          <a:p>
            <a:fld id="{7EA05A3E-6DBA-4FE0-898F-5EF47B17DFD2}" type="slidenum">
              <a:rPr lang="en-US" smtClean="0"/>
              <a:t>16</a:t>
            </a:fld>
            <a:endParaRPr lang="en-US"/>
          </a:p>
        </p:txBody>
      </p:sp>
    </p:spTree>
    <p:extLst>
      <p:ext uri="{BB962C8B-B14F-4D97-AF65-F5344CB8AC3E}">
        <p14:creationId xmlns:p14="http://schemas.microsoft.com/office/powerpoint/2010/main" val="2021511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SIMSCRIPT: Organization of a Program</a:t>
            </a:r>
          </a:p>
        </p:txBody>
      </p:sp>
      <p:sp>
        <p:nvSpPr>
          <p:cNvPr id="3" name="Content Placeholder 2"/>
          <p:cNvSpPr>
            <a:spLocks noGrp="1"/>
          </p:cNvSpPr>
          <p:nvPr>
            <p:ph idx="1"/>
          </p:nvPr>
        </p:nvSpPr>
        <p:spPr>
          <a:xfrm>
            <a:off x="609599" y="2160590"/>
            <a:ext cx="6802878" cy="4697410"/>
          </a:xfrm>
        </p:spPr>
        <p:txBody>
          <a:bodyPr>
            <a:normAutofit fontScale="92500" lnSpcReduction="20000"/>
          </a:bodyPr>
          <a:lstStyle/>
          <a:p>
            <a:pPr marL="0" indent="0">
              <a:buNone/>
            </a:pPr>
            <a:r>
              <a:rPr dirty="0"/>
              <a:t>What is SIMSCRIPT?</a:t>
            </a:r>
          </a:p>
          <a:p>
            <a:r>
              <a:rPr dirty="0"/>
              <a:t>High-level</a:t>
            </a:r>
            <a:r>
              <a:rPr lang="en-US" dirty="0"/>
              <a:t>, general purpose </a:t>
            </a:r>
            <a:r>
              <a:rPr dirty="0"/>
              <a:t>simulation language </a:t>
            </a:r>
            <a:r>
              <a:rPr lang="en-US" dirty="0"/>
              <a:t>designed </a:t>
            </a:r>
            <a:r>
              <a:rPr dirty="0"/>
              <a:t>for</a:t>
            </a:r>
            <a:r>
              <a:rPr lang="en-US" dirty="0"/>
              <a:t> modeling large and complex</a:t>
            </a:r>
            <a:r>
              <a:rPr dirty="0"/>
              <a:t> discrete </a:t>
            </a:r>
            <a:r>
              <a:rPr lang="en-US" dirty="0"/>
              <a:t>as well as</a:t>
            </a:r>
            <a:r>
              <a:rPr dirty="0"/>
              <a:t> continuous systems.</a:t>
            </a:r>
          </a:p>
          <a:p>
            <a:r>
              <a:rPr dirty="0"/>
              <a:t>Developed for large-scale system analysis.</a:t>
            </a:r>
          </a:p>
          <a:p>
            <a:endParaRPr dirty="0"/>
          </a:p>
          <a:p>
            <a:pPr marL="0" indent="0">
              <a:buNone/>
            </a:pPr>
            <a:r>
              <a:rPr dirty="0"/>
              <a:t>Program Organization</a:t>
            </a:r>
            <a:r>
              <a:rPr lang="en-US" dirty="0"/>
              <a:t> of SIMSCRIPT</a:t>
            </a:r>
            <a:endParaRPr dirty="0"/>
          </a:p>
          <a:p>
            <a:r>
              <a:rPr dirty="0"/>
              <a:t>Declarations: Define entities, attributes, and events.</a:t>
            </a:r>
          </a:p>
          <a:p>
            <a:r>
              <a:rPr dirty="0"/>
              <a:t>Process Descriptions: Detail system behavior.</a:t>
            </a:r>
          </a:p>
          <a:p>
            <a:r>
              <a:rPr dirty="0"/>
              <a:t>Main Program: Controls simulation execution.</a:t>
            </a:r>
          </a:p>
          <a:p>
            <a:endParaRPr dirty="0"/>
          </a:p>
          <a:p>
            <a:pPr marL="0" indent="0">
              <a:buNone/>
            </a:pPr>
            <a:r>
              <a:rPr dirty="0"/>
              <a:t>Advantages</a:t>
            </a:r>
          </a:p>
          <a:p>
            <a:r>
              <a:rPr dirty="0"/>
              <a:t>Readability and modularity.</a:t>
            </a:r>
          </a:p>
          <a:p>
            <a:r>
              <a:rPr dirty="0"/>
              <a:t>Built-in statistical tools.</a:t>
            </a:r>
          </a:p>
        </p:txBody>
      </p:sp>
      <p:sp>
        <p:nvSpPr>
          <p:cNvPr id="4" name="Footer Placeholder 3">
            <a:extLst>
              <a:ext uri="{FF2B5EF4-FFF2-40B4-BE49-F238E27FC236}">
                <a16:creationId xmlns:a16="http://schemas.microsoft.com/office/drawing/2014/main" id="{63170865-7180-E2B4-F103-AE11108C00BB}"/>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35359CA7-6D22-F5CE-DABD-AD2F4570EB71}"/>
              </a:ext>
            </a:extLst>
          </p:cNvPr>
          <p:cNvSpPr>
            <a:spLocks noGrp="1"/>
          </p:cNvSpPr>
          <p:nvPr>
            <p:ph type="dt" sz="half" idx="10"/>
          </p:nvPr>
        </p:nvSpPr>
        <p:spPr/>
        <p:txBody>
          <a:bodyPr/>
          <a:lstStyle/>
          <a:p>
            <a:fld id="{BB9B38D8-2B4D-4B09-B49B-D7F883C1DCC6}" type="datetime1">
              <a:rPr lang="en-US" smtClean="0"/>
              <a:t>1/31/2026</a:t>
            </a:fld>
            <a:endParaRPr lang="en-US"/>
          </a:p>
        </p:txBody>
      </p:sp>
      <p:sp>
        <p:nvSpPr>
          <p:cNvPr id="6" name="Slide Number Placeholder 5">
            <a:extLst>
              <a:ext uri="{FF2B5EF4-FFF2-40B4-BE49-F238E27FC236}">
                <a16:creationId xmlns:a16="http://schemas.microsoft.com/office/drawing/2014/main" id="{B7F8D395-12B9-7940-C55D-0D07191D33F3}"/>
              </a:ext>
            </a:extLst>
          </p:cNvPr>
          <p:cNvSpPr>
            <a:spLocks noGrp="1"/>
          </p:cNvSpPr>
          <p:nvPr>
            <p:ph type="sldNum" sz="quarter" idx="12"/>
          </p:nvPr>
        </p:nvSpPr>
        <p:spPr/>
        <p:txBody>
          <a:bodyPr/>
          <a:lstStyle/>
          <a:p>
            <a:fld id="{7EA05A3E-6DBA-4FE0-898F-5EF47B17DFD2}"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SIMSCRIPT Programs</a:t>
            </a:r>
          </a:p>
        </p:txBody>
      </p:sp>
      <p:sp>
        <p:nvSpPr>
          <p:cNvPr id="3" name="Content Placeholder 2"/>
          <p:cNvSpPr>
            <a:spLocks noGrp="1"/>
          </p:cNvSpPr>
          <p:nvPr>
            <p:ph idx="1"/>
          </p:nvPr>
        </p:nvSpPr>
        <p:spPr>
          <a:xfrm>
            <a:off x="609599" y="1930400"/>
            <a:ext cx="6580910" cy="4636655"/>
          </a:xfrm>
        </p:spPr>
        <p:txBody>
          <a:bodyPr>
            <a:normAutofit lnSpcReduction="10000"/>
          </a:bodyPr>
          <a:lstStyle/>
          <a:p>
            <a:pPr marL="0" indent="0">
              <a:buNone/>
            </a:pPr>
            <a:r>
              <a:rPr lang="en-US" dirty="0"/>
              <a:t>Example Applications</a:t>
            </a:r>
          </a:p>
          <a:p>
            <a:r>
              <a:rPr lang="en-US" dirty="0"/>
              <a:t>Military logistics and operations research.</a:t>
            </a:r>
          </a:p>
          <a:p>
            <a:r>
              <a:rPr lang="en-US" dirty="0"/>
              <a:t>Health systems: Patient flow in hospitals.</a:t>
            </a:r>
          </a:p>
          <a:p>
            <a:endParaRPr lang="en-US" dirty="0"/>
          </a:p>
          <a:p>
            <a:pPr marL="0" indent="0">
              <a:buNone/>
            </a:pPr>
            <a:r>
              <a:rPr lang="en-US" dirty="0"/>
              <a:t>Sample SIMSCRIPT Code</a:t>
            </a:r>
          </a:p>
          <a:p>
            <a:pPr marL="0" indent="0">
              <a:buNone/>
            </a:pPr>
            <a:endParaRPr lang="en-US" dirty="0"/>
          </a:p>
          <a:p>
            <a:pPr marL="0" indent="0">
              <a:buNone/>
            </a:pPr>
            <a:r>
              <a:rPr lang="en-US" dirty="0"/>
              <a:t>DEFINE CUSTOMER AS AN ENTITY</a:t>
            </a:r>
          </a:p>
          <a:p>
            <a:pPr marL="0" indent="0">
              <a:buNone/>
            </a:pPr>
            <a:r>
              <a:rPr lang="en-US" dirty="0"/>
              <a:t>DEFINE SERVICE_TIME AS A REAL VARIABLE</a:t>
            </a:r>
          </a:p>
          <a:p>
            <a:pPr marL="0" indent="0">
              <a:buNone/>
            </a:pPr>
            <a:r>
              <a:rPr lang="en-US" dirty="0"/>
              <a:t>BEGIN MAIN</a:t>
            </a:r>
          </a:p>
          <a:p>
            <a:pPr marL="0" indent="0">
              <a:buNone/>
            </a:pPr>
            <a:r>
              <a:rPr lang="en-US" dirty="0"/>
              <a:t>   CREATE CUSTOMER</a:t>
            </a:r>
          </a:p>
          <a:p>
            <a:pPr marL="0" indent="0">
              <a:buNone/>
            </a:pPr>
            <a:r>
              <a:rPr lang="en-US" dirty="0"/>
              <a:t>   PROCESS SERVICE_TIME</a:t>
            </a:r>
          </a:p>
          <a:p>
            <a:pPr marL="0" indent="0">
              <a:buNone/>
            </a:pPr>
            <a:r>
              <a:rPr lang="en-US" dirty="0"/>
              <a:t>END</a:t>
            </a:r>
          </a:p>
        </p:txBody>
      </p:sp>
      <p:sp>
        <p:nvSpPr>
          <p:cNvPr id="4" name="Footer Placeholder 3">
            <a:extLst>
              <a:ext uri="{FF2B5EF4-FFF2-40B4-BE49-F238E27FC236}">
                <a16:creationId xmlns:a16="http://schemas.microsoft.com/office/drawing/2014/main" id="{0D45FA0B-CE91-F268-ADEB-BC8C32418358}"/>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C9BBBCE1-0EAA-F27F-4D4D-036CF4B368A1}"/>
              </a:ext>
            </a:extLst>
          </p:cNvPr>
          <p:cNvSpPr>
            <a:spLocks noGrp="1"/>
          </p:cNvSpPr>
          <p:nvPr>
            <p:ph type="dt" sz="half" idx="10"/>
          </p:nvPr>
        </p:nvSpPr>
        <p:spPr/>
        <p:txBody>
          <a:bodyPr/>
          <a:lstStyle/>
          <a:p>
            <a:fld id="{913E41F5-B7BD-4599-9FC0-E4A742142D79}" type="datetime1">
              <a:rPr lang="en-US" smtClean="0"/>
              <a:t>1/31/2026</a:t>
            </a:fld>
            <a:endParaRPr lang="en-US"/>
          </a:p>
        </p:txBody>
      </p:sp>
      <p:sp>
        <p:nvSpPr>
          <p:cNvPr id="6" name="Slide Number Placeholder 5">
            <a:extLst>
              <a:ext uri="{FF2B5EF4-FFF2-40B4-BE49-F238E27FC236}">
                <a16:creationId xmlns:a16="http://schemas.microsoft.com/office/drawing/2014/main" id="{79C3DDA4-8D89-12D5-1200-F92BFADFDBAD}"/>
              </a:ext>
            </a:extLst>
          </p:cNvPr>
          <p:cNvSpPr>
            <a:spLocks noGrp="1"/>
          </p:cNvSpPr>
          <p:nvPr>
            <p:ph type="sldNum" sz="quarter" idx="12"/>
          </p:nvPr>
        </p:nvSpPr>
        <p:spPr/>
        <p:txBody>
          <a:bodyPr/>
          <a:lstStyle/>
          <a:p>
            <a:fld id="{7EA05A3E-6DBA-4FE0-898F-5EF47B17DFD2}"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11328-B1CB-4260-7F85-98943F028211}"/>
              </a:ext>
            </a:extLst>
          </p:cNvPr>
          <p:cNvSpPr>
            <a:spLocks noGrp="1"/>
          </p:cNvSpPr>
          <p:nvPr>
            <p:ph type="title"/>
          </p:nvPr>
        </p:nvSpPr>
        <p:spPr/>
        <p:txBody>
          <a:bodyPr/>
          <a:lstStyle/>
          <a:p>
            <a:r>
              <a:rPr lang="en-US" dirty="0"/>
              <a:t>Names and Label</a:t>
            </a:r>
          </a:p>
        </p:txBody>
      </p:sp>
      <p:sp>
        <p:nvSpPr>
          <p:cNvPr id="3" name="Content Placeholder 2">
            <a:extLst>
              <a:ext uri="{FF2B5EF4-FFF2-40B4-BE49-F238E27FC236}">
                <a16:creationId xmlns:a16="http://schemas.microsoft.com/office/drawing/2014/main" id="{8AA1D7D2-8885-E4BD-588C-70C17315F5A4}"/>
              </a:ext>
            </a:extLst>
          </p:cNvPr>
          <p:cNvSpPr>
            <a:spLocks noGrp="1"/>
          </p:cNvSpPr>
          <p:nvPr>
            <p:ph idx="1"/>
          </p:nvPr>
        </p:nvSpPr>
        <p:spPr>
          <a:xfrm>
            <a:off x="609598" y="1488613"/>
            <a:ext cx="6347714" cy="3880773"/>
          </a:xfrm>
        </p:spPr>
        <p:txBody>
          <a:bodyPr>
            <a:normAutofit/>
          </a:bodyPr>
          <a:lstStyle/>
          <a:p>
            <a:r>
              <a:rPr lang="en-US" dirty="0"/>
              <a:t>Rules for Naming Entities:</a:t>
            </a:r>
          </a:p>
          <a:p>
            <a:pPr lvl="1"/>
            <a:r>
              <a:rPr lang="en-US" dirty="0"/>
              <a:t>Must start with a letter (A-Z, a-z)</a:t>
            </a:r>
          </a:p>
          <a:p>
            <a:pPr lvl="1"/>
            <a:r>
              <a:rPr lang="en-US" dirty="0"/>
              <a:t>Can contain letters, numbers, and underscores</a:t>
            </a:r>
          </a:p>
          <a:p>
            <a:pPr lvl="1"/>
            <a:r>
              <a:rPr lang="en-US" dirty="0"/>
              <a:t>Maximum 32 characters</a:t>
            </a:r>
          </a:p>
          <a:p>
            <a:pPr lvl="1"/>
            <a:r>
              <a:rPr lang="en-US" dirty="0"/>
              <a:t>Case-insensitive (e.g., Caller = CALLER)</a:t>
            </a:r>
          </a:p>
          <a:p>
            <a:pPr marL="0" indent="0">
              <a:buNone/>
            </a:pPr>
            <a:r>
              <a:rPr lang="en-US" dirty="0"/>
              <a:t>Examples:</a:t>
            </a:r>
          </a:p>
          <a:p>
            <a:pPr marL="0" indent="0">
              <a:buNone/>
            </a:pPr>
            <a:r>
              <a:rPr lang="en-US" dirty="0"/>
              <a:t>Valid: Customer_1, TRUNK_LINE, </a:t>
            </a:r>
            <a:r>
              <a:rPr lang="en-US" dirty="0" err="1"/>
              <a:t>callDuration</a:t>
            </a:r>
            <a:endParaRPr lang="en-US" dirty="0"/>
          </a:p>
          <a:p>
            <a:pPr marL="0" indent="0">
              <a:buNone/>
            </a:pPr>
            <a:r>
              <a:rPr lang="en-US" dirty="0"/>
              <a:t>Invalid: 1Customer, Trunk-Line, @call</a:t>
            </a:r>
          </a:p>
        </p:txBody>
      </p:sp>
      <p:sp>
        <p:nvSpPr>
          <p:cNvPr id="4" name="Footer Placeholder 3">
            <a:extLst>
              <a:ext uri="{FF2B5EF4-FFF2-40B4-BE49-F238E27FC236}">
                <a16:creationId xmlns:a16="http://schemas.microsoft.com/office/drawing/2014/main" id="{B3DA2C58-C387-7AE6-E03B-408E91E2DCEA}"/>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A623F4F8-E84A-19E2-7513-F57F3FDB1879}"/>
              </a:ext>
            </a:extLst>
          </p:cNvPr>
          <p:cNvSpPr>
            <a:spLocks noGrp="1"/>
          </p:cNvSpPr>
          <p:nvPr>
            <p:ph type="dt" sz="half" idx="10"/>
          </p:nvPr>
        </p:nvSpPr>
        <p:spPr/>
        <p:txBody>
          <a:bodyPr/>
          <a:lstStyle/>
          <a:p>
            <a:fld id="{AAA3132B-A4D5-4E71-96F6-765FD63B28B7}" type="datetime1">
              <a:rPr lang="en-US" smtClean="0"/>
              <a:t>1/31/2026</a:t>
            </a:fld>
            <a:endParaRPr lang="en-US"/>
          </a:p>
        </p:txBody>
      </p:sp>
      <p:sp>
        <p:nvSpPr>
          <p:cNvPr id="6" name="Slide Number Placeholder 5">
            <a:extLst>
              <a:ext uri="{FF2B5EF4-FFF2-40B4-BE49-F238E27FC236}">
                <a16:creationId xmlns:a16="http://schemas.microsoft.com/office/drawing/2014/main" id="{C085F440-C697-1482-BB44-AD43E8A4D687}"/>
              </a:ext>
            </a:extLst>
          </p:cNvPr>
          <p:cNvSpPr>
            <a:spLocks noGrp="1"/>
          </p:cNvSpPr>
          <p:nvPr>
            <p:ph type="sldNum" sz="quarter" idx="12"/>
          </p:nvPr>
        </p:nvSpPr>
        <p:spPr/>
        <p:txBody>
          <a:bodyPr/>
          <a:lstStyle/>
          <a:p>
            <a:fld id="{7EA05A3E-6DBA-4FE0-898F-5EF47B17DFD2}" type="slidenum">
              <a:rPr lang="en-US" smtClean="0"/>
              <a:t>19</a:t>
            </a:fld>
            <a:endParaRPr lang="en-US"/>
          </a:p>
        </p:txBody>
      </p:sp>
    </p:spTree>
    <p:extLst>
      <p:ext uri="{BB962C8B-B14F-4D97-AF65-F5344CB8AC3E}">
        <p14:creationId xmlns:p14="http://schemas.microsoft.com/office/powerpoint/2010/main" val="4136374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7C6C0-CB40-D684-8B98-02C6C7230A8F}"/>
              </a:ext>
            </a:extLst>
          </p:cNvPr>
          <p:cNvSpPr>
            <a:spLocks noGrp="1"/>
          </p:cNvSpPr>
          <p:nvPr>
            <p:ph type="title"/>
          </p:nvPr>
        </p:nvSpPr>
        <p:spPr/>
        <p:txBody>
          <a:bodyPr/>
          <a:lstStyle/>
          <a:p>
            <a:r>
              <a:rPr lang="en-US" dirty="0"/>
              <a:t>SIMSCRIPT Statements</a:t>
            </a:r>
          </a:p>
        </p:txBody>
      </p:sp>
      <p:sp>
        <p:nvSpPr>
          <p:cNvPr id="3" name="Content Placeholder 2">
            <a:extLst>
              <a:ext uri="{FF2B5EF4-FFF2-40B4-BE49-F238E27FC236}">
                <a16:creationId xmlns:a16="http://schemas.microsoft.com/office/drawing/2014/main" id="{E0C8CCD5-D87D-B490-A4EB-453B4B65EF12}"/>
              </a:ext>
            </a:extLst>
          </p:cNvPr>
          <p:cNvSpPr>
            <a:spLocks noGrp="1"/>
          </p:cNvSpPr>
          <p:nvPr>
            <p:ph idx="1"/>
          </p:nvPr>
        </p:nvSpPr>
        <p:spPr/>
        <p:txBody>
          <a:bodyPr>
            <a:normAutofit fontScale="85000" lnSpcReduction="20000"/>
          </a:bodyPr>
          <a:lstStyle/>
          <a:p>
            <a:r>
              <a:rPr lang="en-US" dirty="0"/>
              <a:t>Key Statement Types:</a:t>
            </a:r>
          </a:p>
          <a:p>
            <a:r>
              <a:rPr lang="en-US" dirty="0"/>
              <a:t>PREAMBLE – Declarations (variables, processes, resources)</a:t>
            </a:r>
          </a:p>
          <a:p>
            <a:r>
              <a:rPr lang="en-US" dirty="0"/>
              <a:t>MAIN – Initialization and simulation control</a:t>
            </a:r>
          </a:p>
          <a:p>
            <a:r>
              <a:rPr lang="en-US" dirty="0"/>
              <a:t>EVENT – Discrete event logic</a:t>
            </a:r>
          </a:p>
          <a:p>
            <a:r>
              <a:rPr lang="en-US" dirty="0"/>
              <a:t>SCHEDULE – Timing control</a:t>
            </a:r>
          </a:p>
          <a:p>
            <a:r>
              <a:rPr lang="en-US" dirty="0"/>
              <a:t>CREATE / DESTROY – Entity management</a:t>
            </a:r>
          </a:p>
          <a:p>
            <a:r>
              <a:rPr lang="en-US" dirty="0"/>
              <a:t>Example:</a:t>
            </a:r>
          </a:p>
          <a:p>
            <a:pPr marL="0" indent="0">
              <a:buNone/>
            </a:pPr>
            <a:r>
              <a:rPr lang="en-US" dirty="0"/>
              <a:t>	PREAMBLE</a:t>
            </a:r>
          </a:p>
          <a:p>
            <a:pPr marL="0" indent="0">
              <a:buNone/>
            </a:pPr>
            <a:r>
              <a:rPr lang="en-US" dirty="0"/>
              <a:t>    		PROCESSES INCLUDE CALLER</a:t>
            </a:r>
          </a:p>
          <a:p>
            <a:pPr marL="0" indent="0">
              <a:buNone/>
            </a:pPr>
            <a:r>
              <a:rPr lang="en-US" dirty="0"/>
              <a:t>    		RESOURCES INCLUDE AGENT(5)</a:t>
            </a:r>
          </a:p>
          <a:p>
            <a:pPr marL="0" indent="0">
              <a:buNone/>
            </a:pPr>
            <a:r>
              <a:rPr lang="en-US" dirty="0"/>
              <a:t>    		EVENT NOTICES INCLUDE CALL_ARRIVAL, CALL_END</a:t>
            </a:r>
          </a:p>
          <a:p>
            <a:pPr marL="0" indent="0">
              <a:buNone/>
            </a:pPr>
            <a:r>
              <a:rPr lang="en-US" dirty="0"/>
              <a:t>	END</a:t>
            </a:r>
          </a:p>
        </p:txBody>
      </p:sp>
      <p:sp>
        <p:nvSpPr>
          <p:cNvPr id="4" name="Footer Placeholder 3">
            <a:extLst>
              <a:ext uri="{FF2B5EF4-FFF2-40B4-BE49-F238E27FC236}">
                <a16:creationId xmlns:a16="http://schemas.microsoft.com/office/drawing/2014/main" id="{77017C90-356A-58E8-560A-E7F330F36A2D}"/>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3B0FF506-4854-00CB-85C6-DB21CD485680}"/>
              </a:ext>
            </a:extLst>
          </p:cNvPr>
          <p:cNvSpPr>
            <a:spLocks noGrp="1"/>
          </p:cNvSpPr>
          <p:nvPr>
            <p:ph type="dt" sz="half" idx="10"/>
          </p:nvPr>
        </p:nvSpPr>
        <p:spPr/>
        <p:txBody>
          <a:bodyPr/>
          <a:lstStyle/>
          <a:p>
            <a:fld id="{8BED7C21-545E-444B-B173-A613F7EF0114}" type="datetime1">
              <a:rPr lang="en-US" smtClean="0"/>
              <a:t>1/31/2026</a:t>
            </a:fld>
            <a:endParaRPr lang="en-US"/>
          </a:p>
        </p:txBody>
      </p:sp>
      <p:sp>
        <p:nvSpPr>
          <p:cNvPr id="6" name="Slide Number Placeholder 5">
            <a:extLst>
              <a:ext uri="{FF2B5EF4-FFF2-40B4-BE49-F238E27FC236}">
                <a16:creationId xmlns:a16="http://schemas.microsoft.com/office/drawing/2014/main" id="{112E3DA7-E5E3-CFE9-865D-CCF5479F79B0}"/>
              </a:ext>
            </a:extLst>
          </p:cNvPr>
          <p:cNvSpPr>
            <a:spLocks noGrp="1"/>
          </p:cNvSpPr>
          <p:nvPr>
            <p:ph type="sldNum" sz="quarter" idx="12"/>
          </p:nvPr>
        </p:nvSpPr>
        <p:spPr/>
        <p:txBody>
          <a:bodyPr/>
          <a:lstStyle/>
          <a:p>
            <a:fld id="{7EA05A3E-6DBA-4FE0-898F-5EF47B17DFD2}" type="slidenum">
              <a:rPr lang="en-US" smtClean="0"/>
              <a:t>20</a:t>
            </a:fld>
            <a:endParaRPr lang="en-US"/>
          </a:p>
        </p:txBody>
      </p:sp>
    </p:spTree>
    <p:extLst>
      <p:ext uri="{BB962C8B-B14F-4D97-AF65-F5344CB8AC3E}">
        <p14:creationId xmlns:p14="http://schemas.microsoft.com/office/powerpoint/2010/main" val="3324571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2F288-F7CD-A284-313C-CDCDC9DCEF38}"/>
              </a:ext>
            </a:extLst>
          </p:cNvPr>
          <p:cNvSpPr>
            <a:spLocks noGrp="1"/>
          </p:cNvSpPr>
          <p:nvPr>
            <p:ph type="title"/>
          </p:nvPr>
        </p:nvSpPr>
        <p:spPr/>
        <p:txBody>
          <a:bodyPr/>
          <a:lstStyle/>
          <a:p>
            <a:r>
              <a:rPr lang="en-US" dirty="0"/>
              <a:t>Defining Systems</a:t>
            </a:r>
          </a:p>
        </p:txBody>
      </p:sp>
      <p:sp>
        <p:nvSpPr>
          <p:cNvPr id="3" name="Content Placeholder 2">
            <a:extLst>
              <a:ext uri="{FF2B5EF4-FFF2-40B4-BE49-F238E27FC236}">
                <a16:creationId xmlns:a16="http://schemas.microsoft.com/office/drawing/2014/main" id="{2B09060E-A128-83D3-9BB6-9461EABE078F}"/>
              </a:ext>
            </a:extLst>
          </p:cNvPr>
          <p:cNvSpPr>
            <a:spLocks noGrp="1"/>
          </p:cNvSpPr>
          <p:nvPr>
            <p:ph idx="1"/>
          </p:nvPr>
        </p:nvSpPr>
        <p:spPr/>
        <p:txBody>
          <a:bodyPr>
            <a:normAutofit/>
          </a:bodyPr>
          <a:lstStyle/>
          <a:p>
            <a:pPr marL="0" indent="0">
              <a:buNone/>
            </a:pPr>
            <a:r>
              <a:rPr lang="en-US" dirty="0"/>
              <a:t>System Components in SIMSCRIPT:</a:t>
            </a:r>
          </a:p>
          <a:p>
            <a:r>
              <a:rPr lang="en-US" dirty="0"/>
              <a:t>Entities (Processes, Resources, Events)</a:t>
            </a:r>
          </a:p>
          <a:p>
            <a:r>
              <a:rPr lang="en-US" dirty="0"/>
              <a:t>Attributes (Variables tied to entities)</a:t>
            </a:r>
          </a:p>
          <a:p>
            <a:r>
              <a:rPr lang="en-US" dirty="0"/>
              <a:t>Sets (Queues, FIFO/LIFO structures)</a:t>
            </a:r>
          </a:p>
          <a:p>
            <a:r>
              <a:rPr lang="en-US" dirty="0"/>
              <a:t>Example:</a:t>
            </a:r>
          </a:p>
          <a:p>
            <a:pPr marL="0" indent="0">
              <a:buNone/>
            </a:pPr>
            <a:r>
              <a:rPr lang="en-US" dirty="0"/>
              <a:t>	DEFINE</a:t>
            </a:r>
          </a:p>
          <a:p>
            <a:pPr marL="0" indent="0">
              <a:buNone/>
            </a:pPr>
            <a:r>
              <a:rPr lang="en-US" dirty="0"/>
              <a:t>		QUEUE CALL_QUEUE AS A FIFO SET</a:t>
            </a:r>
          </a:p>
          <a:p>
            <a:pPr marL="0" indent="0">
              <a:buNone/>
            </a:pPr>
            <a:r>
              <a:rPr lang="en-US" dirty="0"/>
              <a:t>    		BUSY_AGENTS AS AN INTEGER VARIABLE</a:t>
            </a:r>
          </a:p>
          <a:p>
            <a:pPr marL="0" indent="0">
              <a:buNone/>
            </a:pPr>
            <a:r>
              <a:rPr lang="en-US" dirty="0"/>
              <a:t>    		WAIT_TIME AS A REAL VARIABLE</a:t>
            </a:r>
          </a:p>
        </p:txBody>
      </p:sp>
      <p:sp>
        <p:nvSpPr>
          <p:cNvPr id="4" name="Footer Placeholder 3">
            <a:extLst>
              <a:ext uri="{FF2B5EF4-FFF2-40B4-BE49-F238E27FC236}">
                <a16:creationId xmlns:a16="http://schemas.microsoft.com/office/drawing/2014/main" id="{0EBCFB9E-0E8D-E2C0-63C1-003549303882}"/>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24F232A9-4A91-6156-D977-0D634555DA64}"/>
              </a:ext>
            </a:extLst>
          </p:cNvPr>
          <p:cNvSpPr>
            <a:spLocks noGrp="1"/>
          </p:cNvSpPr>
          <p:nvPr>
            <p:ph type="dt" sz="half" idx="10"/>
          </p:nvPr>
        </p:nvSpPr>
        <p:spPr/>
        <p:txBody>
          <a:bodyPr/>
          <a:lstStyle/>
          <a:p>
            <a:fld id="{A49ABA2B-D553-4E74-9851-54101AB974E0}" type="datetime1">
              <a:rPr lang="en-US" smtClean="0"/>
              <a:t>1/31/2026</a:t>
            </a:fld>
            <a:endParaRPr lang="en-US"/>
          </a:p>
        </p:txBody>
      </p:sp>
      <p:sp>
        <p:nvSpPr>
          <p:cNvPr id="6" name="Slide Number Placeholder 5">
            <a:extLst>
              <a:ext uri="{FF2B5EF4-FFF2-40B4-BE49-F238E27FC236}">
                <a16:creationId xmlns:a16="http://schemas.microsoft.com/office/drawing/2014/main" id="{07F40291-1AE5-D414-3C2C-50E63CC15B5D}"/>
              </a:ext>
            </a:extLst>
          </p:cNvPr>
          <p:cNvSpPr>
            <a:spLocks noGrp="1"/>
          </p:cNvSpPr>
          <p:nvPr>
            <p:ph type="sldNum" sz="quarter" idx="12"/>
          </p:nvPr>
        </p:nvSpPr>
        <p:spPr/>
        <p:txBody>
          <a:bodyPr/>
          <a:lstStyle/>
          <a:p>
            <a:fld id="{7EA05A3E-6DBA-4FE0-898F-5EF47B17DFD2}" type="slidenum">
              <a:rPr lang="en-US" smtClean="0"/>
              <a:t>21</a:t>
            </a:fld>
            <a:endParaRPr lang="en-US"/>
          </a:p>
        </p:txBody>
      </p:sp>
    </p:spTree>
    <p:extLst>
      <p:ext uri="{BB962C8B-B14F-4D97-AF65-F5344CB8AC3E}">
        <p14:creationId xmlns:p14="http://schemas.microsoft.com/office/powerpoint/2010/main" val="29956297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BB260-1B42-1997-5008-8BFA2DEA6012}"/>
              </a:ext>
            </a:extLst>
          </p:cNvPr>
          <p:cNvSpPr>
            <a:spLocks noGrp="1"/>
          </p:cNvSpPr>
          <p:nvPr>
            <p:ph type="title"/>
          </p:nvPr>
        </p:nvSpPr>
        <p:spPr>
          <a:xfrm>
            <a:off x="609599" y="609600"/>
            <a:ext cx="6860876" cy="1320800"/>
          </a:xfrm>
        </p:spPr>
        <p:txBody>
          <a:bodyPr/>
          <a:lstStyle/>
          <a:p>
            <a:r>
              <a:rPr lang="en-US" dirty="0"/>
              <a:t>Simulation Control Statements</a:t>
            </a:r>
          </a:p>
        </p:txBody>
      </p:sp>
      <p:sp>
        <p:nvSpPr>
          <p:cNvPr id="3" name="Content Placeholder 2">
            <a:extLst>
              <a:ext uri="{FF2B5EF4-FFF2-40B4-BE49-F238E27FC236}">
                <a16:creationId xmlns:a16="http://schemas.microsoft.com/office/drawing/2014/main" id="{92215D33-9B8D-89A9-2FB2-C1822625BEFE}"/>
              </a:ext>
            </a:extLst>
          </p:cNvPr>
          <p:cNvSpPr>
            <a:spLocks noGrp="1"/>
          </p:cNvSpPr>
          <p:nvPr>
            <p:ph idx="1"/>
          </p:nvPr>
        </p:nvSpPr>
        <p:spPr/>
        <p:txBody>
          <a:bodyPr>
            <a:normAutofit/>
          </a:bodyPr>
          <a:lstStyle/>
          <a:p>
            <a:r>
              <a:rPr lang="en-US" dirty="0"/>
              <a:t>Key Commands:</a:t>
            </a:r>
          </a:p>
          <a:p>
            <a:pPr lvl="1"/>
            <a:r>
              <a:rPr lang="en-US" dirty="0"/>
              <a:t>START SIMULATION – Begins execution</a:t>
            </a:r>
          </a:p>
          <a:p>
            <a:pPr lvl="1"/>
            <a:r>
              <a:rPr lang="en-US" dirty="0"/>
              <a:t>HOLD FOR X MINUTES – Delays a process</a:t>
            </a:r>
          </a:p>
          <a:p>
            <a:pPr lvl="1"/>
            <a:r>
              <a:rPr lang="en-US" dirty="0"/>
              <a:t>SCHEDULE EVENT IN X MINUTES – Future event</a:t>
            </a:r>
          </a:p>
          <a:p>
            <a:pPr lvl="1"/>
            <a:r>
              <a:rPr lang="en-US" dirty="0"/>
              <a:t>TERMINATE – Ends simulation</a:t>
            </a:r>
          </a:p>
          <a:p>
            <a:r>
              <a:rPr lang="en-US" dirty="0"/>
              <a:t>Example:</a:t>
            </a:r>
          </a:p>
          <a:p>
            <a:pPr marL="0" indent="0">
              <a:buNone/>
            </a:pPr>
            <a:r>
              <a:rPr lang="en-US" dirty="0"/>
              <a:t>	MAIN</a:t>
            </a:r>
          </a:p>
          <a:p>
            <a:pPr marL="0" indent="0">
              <a:buNone/>
            </a:pPr>
            <a:r>
              <a:rPr lang="en-US" dirty="0"/>
              <a:t>    		SCHEDULE A CALL_ARRIVAL IN 2.0 MINUTES</a:t>
            </a:r>
          </a:p>
          <a:p>
            <a:pPr marL="0" indent="0">
              <a:buNone/>
            </a:pPr>
            <a:r>
              <a:rPr lang="en-US" dirty="0"/>
              <a:t>    		START SIMULATION UNTIL CLOCK = 480.0</a:t>
            </a:r>
          </a:p>
          <a:p>
            <a:pPr marL="0" indent="0">
              <a:buNone/>
            </a:pPr>
            <a:r>
              <a:rPr lang="en-US" dirty="0"/>
              <a:t>	END</a:t>
            </a:r>
          </a:p>
        </p:txBody>
      </p:sp>
      <p:sp>
        <p:nvSpPr>
          <p:cNvPr id="4" name="Footer Placeholder 3">
            <a:extLst>
              <a:ext uri="{FF2B5EF4-FFF2-40B4-BE49-F238E27FC236}">
                <a16:creationId xmlns:a16="http://schemas.microsoft.com/office/drawing/2014/main" id="{C191B6DE-F5A0-5AA1-22E8-84EA9B187D43}"/>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D74D9522-3F64-3E22-8219-3CAA6FDC794E}"/>
              </a:ext>
            </a:extLst>
          </p:cNvPr>
          <p:cNvSpPr>
            <a:spLocks noGrp="1"/>
          </p:cNvSpPr>
          <p:nvPr>
            <p:ph type="dt" sz="half" idx="10"/>
          </p:nvPr>
        </p:nvSpPr>
        <p:spPr/>
        <p:txBody>
          <a:bodyPr/>
          <a:lstStyle/>
          <a:p>
            <a:fld id="{9FB87F63-6682-4261-997C-08C22CE9C638}" type="datetime1">
              <a:rPr lang="en-US" smtClean="0"/>
              <a:t>1/31/2026</a:t>
            </a:fld>
            <a:endParaRPr lang="en-US"/>
          </a:p>
        </p:txBody>
      </p:sp>
      <p:sp>
        <p:nvSpPr>
          <p:cNvPr id="6" name="Slide Number Placeholder 5">
            <a:extLst>
              <a:ext uri="{FF2B5EF4-FFF2-40B4-BE49-F238E27FC236}">
                <a16:creationId xmlns:a16="http://schemas.microsoft.com/office/drawing/2014/main" id="{1492E582-4B2D-6B4C-4729-8E401CCECBB3}"/>
              </a:ext>
            </a:extLst>
          </p:cNvPr>
          <p:cNvSpPr>
            <a:spLocks noGrp="1"/>
          </p:cNvSpPr>
          <p:nvPr>
            <p:ph type="sldNum" sz="quarter" idx="12"/>
          </p:nvPr>
        </p:nvSpPr>
        <p:spPr/>
        <p:txBody>
          <a:bodyPr/>
          <a:lstStyle/>
          <a:p>
            <a:fld id="{7EA05A3E-6DBA-4FE0-898F-5EF47B17DFD2}" type="slidenum">
              <a:rPr lang="en-US" smtClean="0"/>
              <a:t>22</a:t>
            </a:fld>
            <a:endParaRPr lang="en-US"/>
          </a:p>
        </p:txBody>
      </p:sp>
    </p:spTree>
    <p:extLst>
      <p:ext uri="{BB962C8B-B14F-4D97-AF65-F5344CB8AC3E}">
        <p14:creationId xmlns:p14="http://schemas.microsoft.com/office/powerpoint/2010/main" val="1100156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E6746-22C5-4E2B-4D84-6E407C44EDDC}"/>
              </a:ext>
            </a:extLst>
          </p:cNvPr>
          <p:cNvSpPr>
            <a:spLocks noGrp="1"/>
          </p:cNvSpPr>
          <p:nvPr>
            <p:ph type="title"/>
          </p:nvPr>
        </p:nvSpPr>
        <p:spPr/>
        <p:txBody>
          <a:bodyPr/>
          <a:lstStyle/>
          <a:p>
            <a:r>
              <a:rPr lang="en-US" dirty="0"/>
              <a:t>Referencing Variables</a:t>
            </a:r>
          </a:p>
        </p:txBody>
      </p:sp>
      <p:sp>
        <p:nvSpPr>
          <p:cNvPr id="3" name="Content Placeholder 2">
            <a:extLst>
              <a:ext uri="{FF2B5EF4-FFF2-40B4-BE49-F238E27FC236}">
                <a16:creationId xmlns:a16="http://schemas.microsoft.com/office/drawing/2014/main" id="{F0BAC3FF-B0E7-52C0-4175-88426C171003}"/>
              </a:ext>
            </a:extLst>
          </p:cNvPr>
          <p:cNvSpPr>
            <a:spLocks noGrp="1"/>
          </p:cNvSpPr>
          <p:nvPr>
            <p:ph idx="1"/>
          </p:nvPr>
        </p:nvSpPr>
        <p:spPr>
          <a:xfrm>
            <a:off x="609598" y="2160590"/>
            <a:ext cx="8292861" cy="3880773"/>
          </a:xfrm>
        </p:spPr>
        <p:txBody>
          <a:bodyPr>
            <a:normAutofit/>
          </a:bodyPr>
          <a:lstStyle/>
          <a:p>
            <a:r>
              <a:rPr lang="en-US" dirty="0"/>
              <a:t>How to Access Variables:</a:t>
            </a:r>
          </a:p>
          <a:p>
            <a:pPr lvl="1"/>
            <a:r>
              <a:rPr lang="en-US" dirty="0"/>
              <a:t>Local to Entity: WAIT_TIME(CALLER)</a:t>
            </a:r>
          </a:p>
          <a:p>
            <a:pPr lvl="1"/>
            <a:r>
              <a:rPr lang="en-US" dirty="0"/>
              <a:t>Global: TOTAL_CALLS</a:t>
            </a:r>
          </a:p>
          <a:p>
            <a:r>
              <a:rPr lang="en-US" dirty="0"/>
              <a:t>Attributes: CREATION_TIME(CALLER)</a:t>
            </a:r>
          </a:p>
          <a:p>
            <a:r>
              <a:rPr lang="en-US" dirty="0"/>
              <a:t>Example:</a:t>
            </a:r>
          </a:p>
          <a:p>
            <a:pPr marL="0" indent="0">
              <a:buNone/>
            </a:pPr>
            <a:r>
              <a:rPr lang="en-US" dirty="0"/>
              <a:t>	EVENT CALL_END</a:t>
            </a:r>
          </a:p>
          <a:p>
            <a:pPr marL="0" indent="0">
              <a:buNone/>
            </a:pPr>
            <a:r>
              <a:rPr lang="en-US" dirty="0"/>
              <a:t>    		LET WAIT_TIME(CALLER) = TIME(V) - CREATION_TIME(CALLER)</a:t>
            </a:r>
          </a:p>
          <a:p>
            <a:pPr marL="0" indent="0">
              <a:buNone/>
            </a:pPr>
            <a:r>
              <a:rPr lang="en-US" dirty="0"/>
              <a:t>    		PRINT "WAIT TIME = ", WAIT_TIME(CALLER)</a:t>
            </a:r>
          </a:p>
          <a:p>
            <a:pPr marL="0" indent="0">
              <a:buNone/>
            </a:pPr>
            <a:r>
              <a:rPr lang="en-US" dirty="0"/>
              <a:t>	END</a:t>
            </a:r>
          </a:p>
        </p:txBody>
      </p:sp>
      <p:sp>
        <p:nvSpPr>
          <p:cNvPr id="4" name="Footer Placeholder 3">
            <a:extLst>
              <a:ext uri="{FF2B5EF4-FFF2-40B4-BE49-F238E27FC236}">
                <a16:creationId xmlns:a16="http://schemas.microsoft.com/office/drawing/2014/main" id="{1B328FA8-0C7E-1CF7-7845-F5C1765CE342}"/>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1E1EBC36-9072-8197-D321-5495B99089AF}"/>
              </a:ext>
            </a:extLst>
          </p:cNvPr>
          <p:cNvSpPr>
            <a:spLocks noGrp="1"/>
          </p:cNvSpPr>
          <p:nvPr>
            <p:ph type="dt" sz="half" idx="10"/>
          </p:nvPr>
        </p:nvSpPr>
        <p:spPr/>
        <p:txBody>
          <a:bodyPr/>
          <a:lstStyle/>
          <a:p>
            <a:fld id="{A11222BE-E402-41EF-90EC-333AE151FFE4}" type="datetime1">
              <a:rPr lang="en-US" smtClean="0"/>
              <a:t>1/31/2026</a:t>
            </a:fld>
            <a:endParaRPr lang="en-US"/>
          </a:p>
        </p:txBody>
      </p:sp>
      <p:sp>
        <p:nvSpPr>
          <p:cNvPr id="6" name="Slide Number Placeholder 5">
            <a:extLst>
              <a:ext uri="{FF2B5EF4-FFF2-40B4-BE49-F238E27FC236}">
                <a16:creationId xmlns:a16="http://schemas.microsoft.com/office/drawing/2014/main" id="{6F89EF10-7FA8-B2C1-109F-C460E47533FB}"/>
              </a:ext>
            </a:extLst>
          </p:cNvPr>
          <p:cNvSpPr>
            <a:spLocks noGrp="1"/>
          </p:cNvSpPr>
          <p:nvPr>
            <p:ph type="sldNum" sz="quarter" idx="12"/>
          </p:nvPr>
        </p:nvSpPr>
        <p:spPr/>
        <p:txBody>
          <a:bodyPr/>
          <a:lstStyle/>
          <a:p>
            <a:fld id="{7EA05A3E-6DBA-4FE0-898F-5EF47B17DFD2}" type="slidenum">
              <a:rPr lang="en-US" smtClean="0"/>
              <a:t>23</a:t>
            </a:fld>
            <a:endParaRPr lang="en-US"/>
          </a:p>
        </p:txBody>
      </p:sp>
    </p:spTree>
    <p:extLst>
      <p:ext uri="{BB962C8B-B14F-4D97-AF65-F5344CB8AC3E}">
        <p14:creationId xmlns:p14="http://schemas.microsoft.com/office/powerpoint/2010/main" val="6229975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24A21-0F99-6358-1662-F7A1D4E046F7}"/>
              </a:ext>
            </a:extLst>
          </p:cNvPr>
          <p:cNvSpPr>
            <a:spLocks noGrp="1"/>
          </p:cNvSpPr>
          <p:nvPr>
            <p:ph type="title"/>
          </p:nvPr>
        </p:nvSpPr>
        <p:spPr/>
        <p:txBody>
          <a:bodyPr/>
          <a:lstStyle/>
          <a:p>
            <a:r>
              <a:rPr lang="en-US" dirty="0"/>
              <a:t>Example – Call Center Simulation</a:t>
            </a:r>
          </a:p>
        </p:txBody>
      </p:sp>
      <p:sp>
        <p:nvSpPr>
          <p:cNvPr id="3" name="Content Placeholder 2">
            <a:extLst>
              <a:ext uri="{FF2B5EF4-FFF2-40B4-BE49-F238E27FC236}">
                <a16:creationId xmlns:a16="http://schemas.microsoft.com/office/drawing/2014/main" id="{6686C2B8-E454-079C-1330-CB99C880DC40}"/>
              </a:ext>
            </a:extLst>
          </p:cNvPr>
          <p:cNvSpPr>
            <a:spLocks noGrp="1"/>
          </p:cNvSpPr>
          <p:nvPr>
            <p:ph idx="1"/>
          </p:nvPr>
        </p:nvSpPr>
        <p:spPr/>
        <p:txBody>
          <a:bodyPr>
            <a:normAutofit/>
          </a:bodyPr>
          <a:lstStyle/>
          <a:p>
            <a:r>
              <a:rPr lang="en-US" dirty="0"/>
              <a:t>Key Components:</a:t>
            </a:r>
          </a:p>
          <a:p>
            <a:pPr lvl="1"/>
            <a:r>
              <a:rPr lang="en-US" dirty="0"/>
              <a:t>Processes: CALLER</a:t>
            </a:r>
          </a:p>
          <a:p>
            <a:pPr lvl="1"/>
            <a:r>
              <a:rPr lang="en-US" dirty="0"/>
              <a:t>Resources: AGENT(5)</a:t>
            </a:r>
          </a:p>
          <a:p>
            <a:pPr lvl="1"/>
            <a:r>
              <a:rPr lang="en-US" dirty="0"/>
              <a:t>Events: CALL_ARRIVAL, CALL_END</a:t>
            </a:r>
          </a:p>
          <a:p>
            <a:pPr lvl="1"/>
            <a:r>
              <a:rPr lang="en-US" dirty="0"/>
              <a:t>Metrics: WAIT_TIME, QUEUE_LENGTH</a:t>
            </a:r>
          </a:p>
          <a:p>
            <a:r>
              <a:rPr lang="en-US" dirty="0"/>
              <a:t>Flow:</a:t>
            </a:r>
          </a:p>
          <a:p>
            <a:pPr lvl="1"/>
            <a:r>
              <a:rPr lang="en-US" dirty="0"/>
              <a:t>Callers arrive (EXPONENTIAL inter-arrival)</a:t>
            </a:r>
          </a:p>
          <a:p>
            <a:pPr lvl="1"/>
            <a:r>
              <a:rPr lang="en-US" dirty="0"/>
              <a:t>Agents serve (NORMAL service time)</a:t>
            </a:r>
          </a:p>
          <a:p>
            <a:pPr lvl="1"/>
            <a:r>
              <a:rPr lang="en-US" dirty="0"/>
              <a:t>Queue forms if no agents free</a:t>
            </a:r>
          </a:p>
        </p:txBody>
      </p:sp>
      <p:sp>
        <p:nvSpPr>
          <p:cNvPr id="4" name="Footer Placeholder 3">
            <a:extLst>
              <a:ext uri="{FF2B5EF4-FFF2-40B4-BE49-F238E27FC236}">
                <a16:creationId xmlns:a16="http://schemas.microsoft.com/office/drawing/2014/main" id="{6D295F19-10A6-6CA9-C5A0-7B99E6CC5B46}"/>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A3AF4940-CD0F-3B00-DC18-0CBAB664CC18}"/>
              </a:ext>
            </a:extLst>
          </p:cNvPr>
          <p:cNvSpPr>
            <a:spLocks noGrp="1"/>
          </p:cNvSpPr>
          <p:nvPr>
            <p:ph type="dt" sz="half" idx="10"/>
          </p:nvPr>
        </p:nvSpPr>
        <p:spPr/>
        <p:txBody>
          <a:bodyPr/>
          <a:lstStyle/>
          <a:p>
            <a:fld id="{6D985146-2B5B-4B18-A746-8EB9334FF1E2}" type="datetime1">
              <a:rPr lang="en-US" smtClean="0"/>
              <a:t>1/31/2026</a:t>
            </a:fld>
            <a:endParaRPr lang="en-US"/>
          </a:p>
        </p:txBody>
      </p:sp>
      <p:sp>
        <p:nvSpPr>
          <p:cNvPr id="6" name="Slide Number Placeholder 5">
            <a:extLst>
              <a:ext uri="{FF2B5EF4-FFF2-40B4-BE49-F238E27FC236}">
                <a16:creationId xmlns:a16="http://schemas.microsoft.com/office/drawing/2014/main" id="{50D645A0-CB34-336C-56B8-7E9E25DEAEA0}"/>
              </a:ext>
            </a:extLst>
          </p:cNvPr>
          <p:cNvSpPr>
            <a:spLocks noGrp="1"/>
          </p:cNvSpPr>
          <p:nvPr>
            <p:ph type="sldNum" sz="quarter" idx="12"/>
          </p:nvPr>
        </p:nvSpPr>
        <p:spPr/>
        <p:txBody>
          <a:bodyPr/>
          <a:lstStyle/>
          <a:p>
            <a:fld id="{7EA05A3E-6DBA-4FE0-898F-5EF47B17DFD2}" type="slidenum">
              <a:rPr lang="en-US" smtClean="0"/>
              <a:t>24</a:t>
            </a:fld>
            <a:endParaRPr lang="en-US"/>
          </a:p>
        </p:txBody>
      </p:sp>
    </p:spTree>
    <p:extLst>
      <p:ext uri="{BB962C8B-B14F-4D97-AF65-F5344CB8AC3E}">
        <p14:creationId xmlns:p14="http://schemas.microsoft.com/office/powerpoint/2010/main" val="3000276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A5891-5D79-8A31-EA21-DA36C652C58B}"/>
              </a:ext>
            </a:extLst>
          </p:cNvPr>
          <p:cNvSpPr>
            <a:spLocks noGrp="1"/>
          </p:cNvSpPr>
          <p:nvPr>
            <p:ph type="title"/>
          </p:nvPr>
        </p:nvSpPr>
        <p:spPr>
          <a:xfrm>
            <a:off x="609599" y="609600"/>
            <a:ext cx="6914148" cy="1320800"/>
          </a:xfrm>
        </p:spPr>
        <p:txBody>
          <a:bodyPr/>
          <a:lstStyle/>
          <a:p>
            <a:r>
              <a:rPr lang="en-US" dirty="0"/>
              <a:t>SIMSCRIPT PSEUDO PROGRAMS</a:t>
            </a:r>
          </a:p>
        </p:txBody>
      </p:sp>
      <p:sp>
        <p:nvSpPr>
          <p:cNvPr id="3" name="Content Placeholder 2">
            <a:extLst>
              <a:ext uri="{FF2B5EF4-FFF2-40B4-BE49-F238E27FC236}">
                <a16:creationId xmlns:a16="http://schemas.microsoft.com/office/drawing/2014/main" id="{70AD14A5-4EAE-1421-4A6D-B75EC9E8EF49}"/>
              </a:ext>
            </a:extLst>
          </p:cNvPr>
          <p:cNvSpPr>
            <a:spLocks noGrp="1"/>
          </p:cNvSpPr>
          <p:nvPr>
            <p:ph idx="1"/>
          </p:nvPr>
        </p:nvSpPr>
        <p:spPr>
          <a:xfrm>
            <a:off x="609598" y="1557218"/>
            <a:ext cx="3136233" cy="3665711"/>
          </a:xfrm>
        </p:spPr>
        <p:txBody>
          <a:bodyPr>
            <a:noAutofit/>
          </a:bodyPr>
          <a:lstStyle/>
          <a:p>
            <a:pPr marL="0" indent="0">
              <a:spcBef>
                <a:spcPts val="0"/>
              </a:spcBef>
              <a:buNone/>
            </a:pPr>
            <a:r>
              <a:rPr lang="en-US" sz="1200" dirty="0"/>
              <a:t>define simulation.</a:t>
            </a:r>
          </a:p>
          <a:p>
            <a:pPr marL="0" indent="0">
              <a:spcBef>
                <a:spcPts val="0"/>
              </a:spcBef>
              <a:buNone/>
            </a:pPr>
            <a:endParaRPr lang="en-US" sz="1200" dirty="0"/>
          </a:p>
          <a:p>
            <a:pPr marL="0" indent="0">
              <a:spcBef>
                <a:spcPts val="0"/>
              </a:spcBef>
              <a:buNone/>
            </a:pPr>
            <a:r>
              <a:rPr lang="en-US" sz="1200" dirty="0"/>
              <a:t>define entities:</a:t>
            </a:r>
          </a:p>
          <a:p>
            <a:pPr marL="0" indent="0">
              <a:spcBef>
                <a:spcPts val="0"/>
              </a:spcBef>
              <a:buNone/>
            </a:pPr>
            <a:r>
              <a:rPr lang="en-US" sz="1200" dirty="0"/>
              <a:t>    a call.</a:t>
            </a:r>
          </a:p>
          <a:p>
            <a:pPr marL="0" indent="0">
              <a:spcBef>
                <a:spcPts val="0"/>
              </a:spcBef>
              <a:buNone/>
            </a:pPr>
            <a:endParaRPr lang="en-US" sz="1200" dirty="0"/>
          </a:p>
          <a:p>
            <a:pPr marL="0" indent="0">
              <a:spcBef>
                <a:spcPts val="0"/>
              </a:spcBef>
              <a:buNone/>
            </a:pPr>
            <a:r>
              <a:rPr lang="en-US" sz="1200" dirty="0"/>
              <a:t>define attributes of call:</a:t>
            </a:r>
          </a:p>
          <a:p>
            <a:pPr marL="0" indent="0">
              <a:spcBef>
                <a:spcPts val="0"/>
              </a:spcBef>
              <a:buNone/>
            </a:pPr>
            <a:r>
              <a:rPr lang="en-US" sz="1200" dirty="0"/>
              <a:t>    arrival-time.</a:t>
            </a:r>
          </a:p>
          <a:p>
            <a:pPr marL="0" indent="0">
              <a:spcBef>
                <a:spcPts val="0"/>
              </a:spcBef>
              <a:buNone/>
            </a:pPr>
            <a:endParaRPr lang="en-US" sz="1200" dirty="0"/>
          </a:p>
          <a:p>
            <a:pPr marL="0" indent="0">
              <a:spcBef>
                <a:spcPts val="0"/>
              </a:spcBef>
              <a:buNone/>
            </a:pPr>
            <a:r>
              <a:rPr lang="en-US" sz="1200" dirty="0"/>
              <a:t>define variables:</a:t>
            </a:r>
          </a:p>
          <a:p>
            <a:pPr marL="0" indent="0">
              <a:spcBef>
                <a:spcPts val="0"/>
              </a:spcBef>
              <a:buNone/>
            </a:pPr>
            <a:r>
              <a:rPr lang="en-US" sz="1200" dirty="0"/>
              <a:t>    total-calls = 0,</a:t>
            </a:r>
          </a:p>
          <a:p>
            <a:pPr marL="0" indent="0">
              <a:spcBef>
                <a:spcPts val="0"/>
              </a:spcBef>
              <a:buNone/>
            </a:pPr>
            <a:r>
              <a:rPr lang="en-US" sz="1200" dirty="0"/>
              <a:t>    connected-calls = 0,</a:t>
            </a:r>
          </a:p>
          <a:p>
            <a:pPr marL="0" indent="0">
              <a:spcBef>
                <a:spcPts val="0"/>
              </a:spcBef>
              <a:buNone/>
            </a:pPr>
            <a:r>
              <a:rPr lang="en-US" sz="1200" dirty="0"/>
              <a:t>    blocked-calls = 0,</a:t>
            </a:r>
          </a:p>
          <a:p>
            <a:pPr marL="0" indent="0">
              <a:spcBef>
                <a:spcPts val="0"/>
              </a:spcBef>
              <a:buNone/>
            </a:pPr>
            <a:r>
              <a:rPr lang="en-US" sz="1200" dirty="0"/>
              <a:t>    total-hold-time = 0.0,</a:t>
            </a:r>
          </a:p>
          <a:p>
            <a:pPr marL="0" indent="0">
              <a:spcBef>
                <a:spcPts val="0"/>
              </a:spcBef>
              <a:buNone/>
            </a:pPr>
            <a:r>
              <a:rPr lang="en-US" sz="1200" dirty="0"/>
              <a:t>    busy-lines = 0.</a:t>
            </a:r>
          </a:p>
          <a:p>
            <a:pPr marL="0" indent="0">
              <a:spcBef>
                <a:spcPts val="0"/>
              </a:spcBef>
              <a:buNone/>
            </a:pPr>
            <a:endParaRPr lang="en-US" sz="1200" dirty="0"/>
          </a:p>
          <a:p>
            <a:pPr marL="0" indent="0">
              <a:spcBef>
                <a:spcPts val="0"/>
              </a:spcBef>
              <a:buNone/>
            </a:pPr>
            <a:r>
              <a:rPr lang="en-US" sz="1200" dirty="0"/>
              <a:t>define constants:</a:t>
            </a:r>
          </a:p>
          <a:p>
            <a:pPr marL="0" indent="0">
              <a:spcBef>
                <a:spcPts val="0"/>
              </a:spcBef>
              <a:buNone/>
            </a:pPr>
            <a:r>
              <a:rPr lang="en-US" sz="1200" dirty="0"/>
              <a:t>    max-lines = 5.</a:t>
            </a:r>
          </a:p>
        </p:txBody>
      </p:sp>
      <p:sp>
        <p:nvSpPr>
          <p:cNvPr id="6" name="Content Placeholder 2">
            <a:extLst>
              <a:ext uri="{FF2B5EF4-FFF2-40B4-BE49-F238E27FC236}">
                <a16:creationId xmlns:a16="http://schemas.microsoft.com/office/drawing/2014/main" id="{AB827385-51C5-4A20-8DBC-26DBB0D85948}"/>
              </a:ext>
            </a:extLst>
          </p:cNvPr>
          <p:cNvSpPr txBox="1">
            <a:spLocks/>
          </p:cNvSpPr>
          <p:nvPr/>
        </p:nvSpPr>
        <p:spPr>
          <a:xfrm>
            <a:off x="3745832" y="1488613"/>
            <a:ext cx="4086726" cy="5369387"/>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spcBef>
                <a:spcPts val="0"/>
              </a:spcBef>
              <a:buNone/>
            </a:pPr>
            <a:r>
              <a:rPr lang="en-US" sz="1050" dirty="0"/>
              <a:t>event: call arrival.</a:t>
            </a:r>
          </a:p>
          <a:p>
            <a:pPr marL="0" indent="0">
              <a:spcBef>
                <a:spcPts val="0"/>
              </a:spcBef>
              <a:buNone/>
            </a:pPr>
            <a:r>
              <a:rPr lang="en-US" sz="1050" dirty="0"/>
              <a:t>    increment total-calls.</a:t>
            </a:r>
          </a:p>
          <a:p>
            <a:pPr marL="0" indent="0">
              <a:spcBef>
                <a:spcPts val="0"/>
              </a:spcBef>
              <a:buNone/>
            </a:pPr>
            <a:r>
              <a:rPr lang="en-US" sz="1050" dirty="0"/>
              <a:t>    create a call.</a:t>
            </a:r>
          </a:p>
          <a:p>
            <a:pPr marL="0" indent="0">
              <a:spcBef>
                <a:spcPts val="0"/>
              </a:spcBef>
              <a:buNone/>
            </a:pPr>
            <a:r>
              <a:rPr lang="en-US" sz="1050" dirty="0"/>
              <a:t>    let arrival-time of call = clock.</a:t>
            </a:r>
          </a:p>
          <a:p>
            <a:pPr marL="0" indent="0">
              <a:spcBef>
                <a:spcPts val="0"/>
              </a:spcBef>
              <a:buNone/>
            </a:pPr>
            <a:endParaRPr lang="en-US" sz="1050" dirty="0"/>
          </a:p>
          <a:p>
            <a:pPr marL="0" indent="0">
              <a:spcBef>
                <a:spcPts val="0"/>
              </a:spcBef>
              <a:buNone/>
            </a:pPr>
            <a:r>
              <a:rPr lang="en-US" sz="1050" dirty="0"/>
              <a:t>    if busy-lines &lt; max-lines then</a:t>
            </a:r>
          </a:p>
          <a:p>
            <a:pPr marL="0" indent="0">
              <a:spcBef>
                <a:spcPts val="0"/>
              </a:spcBef>
              <a:buNone/>
            </a:pPr>
            <a:r>
              <a:rPr lang="en-US" sz="1050" dirty="0"/>
              <a:t>        increment busy-lines.</a:t>
            </a:r>
          </a:p>
          <a:p>
            <a:pPr marL="0" indent="0">
              <a:spcBef>
                <a:spcPts val="0"/>
              </a:spcBef>
              <a:buNone/>
            </a:pPr>
            <a:r>
              <a:rPr lang="en-US" sz="1050" dirty="0"/>
              <a:t>        increment connected-calls.</a:t>
            </a:r>
          </a:p>
          <a:p>
            <a:pPr marL="0" indent="0">
              <a:spcBef>
                <a:spcPts val="0"/>
              </a:spcBef>
              <a:buNone/>
            </a:pPr>
            <a:r>
              <a:rPr lang="en-US" sz="1050" dirty="0"/>
              <a:t>        let hold-time = random(3, 1).    ! Average hold time 3 minutes</a:t>
            </a:r>
          </a:p>
          <a:p>
            <a:pPr marL="0" indent="0">
              <a:spcBef>
                <a:spcPts val="0"/>
              </a:spcBef>
              <a:buNone/>
            </a:pPr>
            <a:r>
              <a:rPr lang="en-US" sz="1050" dirty="0"/>
              <a:t>        add hold-time to total-hold-time.</a:t>
            </a:r>
          </a:p>
          <a:p>
            <a:pPr marL="0" indent="0">
              <a:spcBef>
                <a:spcPts val="0"/>
              </a:spcBef>
              <a:buNone/>
            </a:pPr>
            <a:r>
              <a:rPr lang="en-US" sz="1050" dirty="0"/>
              <a:t>        schedule end call for the call in hold-time minutes.</a:t>
            </a:r>
          </a:p>
          <a:p>
            <a:pPr marL="0" indent="0">
              <a:spcBef>
                <a:spcPts val="0"/>
              </a:spcBef>
              <a:buNone/>
            </a:pPr>
            <a:r>
              <a:rPr lang="en-US" sz="1050" dirty="0"/>
              <a:t>    else</a:t>
            </a:r>
          </a:p>
          <a:p>
            <a:pPr marL="0" indent="0">
              <a:spcBef>
                <a:spcPts val="0"/>
              </a:spcBef>
              <a:buNone/>
            </a:pPr>
            <a:r>
              <a:rPr lang="en-US" sz="1050" dirty="0"/>
              <a:t>        increment blocked-calls.</a:t>
            </a:r>
          </a:p>
          <a:p>
            <a:pPr marL="0" indent="0">
              <a:spcBef>
                <a:spcPts val="0"/>
              </a:spcBef>
              <a:buNone/>
            </a:pPr>
            <a:r>
              <a:rPr lang="en-US" sz="1050" dirty="0"/>
              <a:t>        destroy the call.</a:t>
            </a:r>
          </a:p>
          <a:p>
            <a:pPr marL="0" indent="0">
              <a:spcBef>
                <a:spcPts val="0"/>
              </a:spcBef>
              <a:buNone/>
            </a:pPr>
            <a:endParaRPr lang="en-US" sz="1050" dirty="0"/>
          </a:p>
          <a:p>
            <a:pPr marL="0" indent="0">
              <a:spcBef>
                <a:spcPts val="0"/>
              </a:spcBef>
              <a:buNone/>
            </a:pPr>
            <a:r>
              <a:rPr lang="en-US" sz="1050" dirty="0"/>
              <a:t>    schedule next call arrival in (random(1, 0.5)) minutes.</a:t>
            </a:r>
          </a:p>
          <a:p>
            <a:pPr marL="0" indent="0">
              <a:spcBef>
                <a:spcPts val="0"/>
              </a:spcBef>
              <a:buNone/>
            </a:pPr>
            <a:endParaRPr lang="en-US" sz="1050" dirty="0"/>
          </a:p>
          <a:p>
            <a:pPr marL="0" indent="0">
              <a:spcBef>
                <a:spcPts val="0"/>
              </a:spcBef>
              <a:buNone/>
            </a:pPr>
            <a:r>
              <a:rPr lang="en-US" sz="1050" dirty="0"/>
              <a:t>event: end call.</a:t>
            </a:r>
          </a:p>
          <a:p>
            <a:pPr marL="0" indent="0">
              <a:spcBef>
                <a:spcPts val="0"/>
              </a:spcBef>
              <a:buNone/>
            </a:pPr>
            <a:r>
              <a:rPr lang="en-US" sz="1050" dirty="0"/>
              <a:t>    decrement busy-lines.</a:t>
            </a:r>
          </a:p>
          <a:p>
            <a:pPr marL="0" indent="0">
              <a:lnSpc>
                <a:spcPct val="120000"/>
              </a:lnSpc>
              <a:spcBef>
                <a:spcPts val="0"/>
              </a:spcBef>
              <a:buFont typeface="Wingdings 3" charset="2"/>
              <a:buNone/>
            </a:pPr>
            <a:r>
              <a:rPr lang="en-US" sz="1050" dirty="0"/>
              <a:t>    destroy the call.</a:t>
            </a:r>
          </a:p>
          <a:p>
            <a:pPr marL="0" indent="0">
              <a:lnSpc>
                <a:spcPct val="120000"/>
              </a:lnSpc>
              <a:spcBef>
                <a:spcPts val="0"/>
              </a:spcBef>
              <a:buFont typeface="Wingdings 3" charset="2"/>
              <a:buNone/>
            </a:pPr>
            <a:endParaRPr lang="en-US" sz="1050" dirty="0"/>
          </a:p>
          <a:p>
            <a:pPr marL="0" indent="0">
              <a:spcBef>
                <a:spcPts val="0"/>
              </a:spcBef>
              <a:buFont typeface="Wingdings 3" charset="2"/>
              <a:buNone/>
            </a:pPr>
            <a:r>
              <a:rPr lang="en-US" sz="1050" dirty="0"/>
              <a:t>end simulation.</a:t>
            </a:r>
          </a:p>
          <a:p>
            <a:pPr marL="0" indent="0">
              <a:spcBef>
                <a:spcPts val="0"/>
              </a:spcBef>
              <a:buFont typeface="Wingdings 3" charset="2"/>
              <a:buNone/>
            </a:pPr>
            <a:r>
              <a:rPr lang="en-US" sz="1050" dirty="0"/>
              <a:t>    print "Simulation Report".</a:t>
            </a:r>
          </a:p>
          <a:p>
            <a:pPr marL="0" indent="0">
              <a:spcBef>
                <a:spcPts val="0"/>
              </a:spcBef>
              <a:buFont typeface="Wingdings 3" charset="2"/>
              <a:buNone/>
            </a:pPr>
            <a:r>
              <a:rPr lang="en-US" sz="1050" dirty="0"/>
              <a:t>    print "Total Calls: ", total-calls.</a:t>
            </a:r>
          </a:p>
          <a:p>
            <a:pPr marL="0" indent="0">
              <a:spcBef>
                <a:spcPts val="0"/>
              </a:spcBef>
              <a:buFont typeface="Wingdings 3" charset="2"/>
              <a:buNone/>
            </a:pPr>
            <a:r>
              <a:rPr lang="en-US" sz="1050" dirty="0"/>
              <a:t>    print "Connected Calls: ", connected-calls.</a:t>
            </a:r>
          </a:p>
          <a:p>
            <a:pPr marL="0" indent="0">
              <a:spcBef>
                <a:spcPts val="0"/>
              </a:spcBef>
              <a:buFont typeface="Wingdings 3" charset="2"/>
              <a:buNone/>
            </a:pPr>
            <a:r>
              <a:rPr lang="en-US" sz="1050" dirty="0"/>
              <a:t>    print "Blocked Calls: ", blocked-calls.</a:t>
            </a:r>
          </a:p>
          <a:p>
            <a:pPr marL="0" indent="0">
              <a:spcBef>
                <a:spcPts val="0"/>
              </a:spcBef>
              <a:buFont typeface="Wingdings 3" charset="2"/>
              <a:buNone/>
            </a:pPr>
            <a:r>
              <a:rPr lang="en-US" sz="1050" dirty="0"/>
              <a:t>    print "Average Hold Time: ", total-hold-time / connected-calls.</a:t>
            </a:r>
          </a:p>
          <a:p>
            <a:pPr marL="0" indent="0">
              <a:buFont typeface="Wingdings 3" charset="2"/>
              <a:buNone/>
            </a:pPr>
            <a:endParaRPr lang="en-US" sz="1050" dirty="0"/>
          </a:p>
          <a:p>
            <a:pPr marL="0" indent="0">
              <a:spcBef>
                <a:spcPts val="0"/>
              </a:spcBef>
              <a:buFont typeface="Wingdings 3" charset="2"/>
              <a:buNone/>
            </a:pPr>
            <a:r>
              <a:rPr lang="en-US" sz="1050" dirty="0"/>
              <a:t>end.</a:t>
            </a:r>
          </a:p>
        </p:txBody>
      </p:sp>
      <p:sp>
        <p:nvSpPr>
          <p:cNvPr id="7" name="Content Placeholder 2">
            <a:extLst>
              <a:ext uri="{FF2B5EF4-FFF2-40B4-BE49-F238E27FC236}">
                <a16:creationId xmlns:a16="http://schemas.microsoft.com/office/drawing/2014/main" id="{D3F56C09-399E-3D2B-10E4-2814231B3508}"/>
              </a:ext>
            </a:extLst>
          </p:cNvPr>
          <p:cNvSpPr txBox="1">
            <a:spLocks/>
          </p:cNvSpPr>
          <p:nvPr/>
        </p:nvSpPr>
        <p:spPr>
          <a:xfrm>
            <a:off x="609599" y="5172129"/>
            <a:ext cx="2823412" cy="98989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1200" dirty="0"/>
              <a:t>main program.</a:t>
            </a:r>
          </a:p>
          <a:p>
            <a:pPr marL="0" indent="0">
              <a:spcBef>
                <a:spcPts val="0"/>
              </a:spcBef>
              <a:buNone/>
            </a:pPr>
            <a:r>
              <a:rPr lang="en-US" sz="1200" dirty="0"/>
              <a:t>    start simulation.</a:t>
            </a:r>
          </a:p>
          <a:p>
            <a:pPr marL="0" indent="0">
              <a:spcBef>
                <a:spcPts val="0"/>
              </a:spcBef>
              <a:buNone/>
            </a:pPr>
            <a:r>
              <a:rPr lang="en-US" sz="1200" dirty="0"/>
              <a:t>    schedule call arrival in 0.0 minutes.</a:t>
            </a:r>
          </a:p>
          <a:p>
            <a:pPr marL="0" indent="0">
              <a:spcBef>
                <a:spcPts val="0"/>
              </a:spcBef>
              <a:buNone/>
            </a:pPr>
            <a:r>
              <a:rPr lang="en-US" sz="1200" dirty="0"/>
              <a:t>    terminate simulation at 480.0.   ! simulate for 8 hours (480 minutes)</a:t>
            </a:r>
          </a:p>
        </p:txBody>
      </p:sp>
      <p:sp>
        <p:nvSpPr>
          <p:cNvPr id="4" name="Footer Placeholder 3">
            <a:extLst>
              <a:ext uri="{FF2B5EF4-FFF2-40B4-BE49-F238E27FC236}">
                <a16:creationId xmlns:a16="http://schemas.microsoft.com/office/drawing/2014/main" id="{FC70166B-4759-EFD1-4F0F-604759747941}"/>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C1808015-1641-2BE3-7046-8A4F6FDF66A7}"/>
              </a:ext>
            </a:extLst>
          </p:cNvPr>
          <p:cNvSpPr>
            <a:spLocks noGrp="1"/>
          </p:cNvSpPr>
          <p:nvPr>
            <p:ph type="dt" sz="half" idx="10"/>
          </p:nvPr>
        </p:nvSpPr>
        <p:spPr/>
        <p:txBody>
          <a:bodyPr/>
          <a:lstStyle/>
          <a:p>
            <a:fld id="{6A68D622-54AA-4268-8DD2-8F6F2F145E59}" type="datetime1">
              <a:rPr lang="en-US" smtClean="0"/>
              <a:t>1/31/2026</a:t>
            </a:fld>
            <a:endParaRPr lang="en-US"/>
          </a:p>
        </p:txBody>
      </p:sp>
      <p:sp>
        <p:nvSpPr>
          <p:cNvPr id="8" name="Slide Number Placeholder 7">
            <a:extLst>
              <a:ext uri="{FF2B5EF4-FFF2-40B4-BE49-F238E27FC236}">
                <a16:creationId xmlns:a16="http://schemas.microsoft.com/office/drawing/2014/main" id="{DB8746CD-18BC-A0C0-72C8-A6D82563698A}"/>
              </a:ext>
            </a:extLst>
          </p:cNvPr>
          <p:cNvSpPr>
            <a:spLocks noGrp="1"/>
          </p:cNvSpPr>
          <p:nvPr>
            <p:ph type="sldNum" sz="quarter" idx="12"/>
          </p:nvPr>
        </p:nvSpPr>
        <p:spPr/>
        <p:txBody>
          <a:bodyPr/>
          <a:lstStyle/>
          <a:p>
            <a:fld id="{7EA05A3E-6DBA-4FE0-898F-5EF47B17DFD2}" type="slidenum">
              <a:rPr lang="en-US" smtClean="0"/>
              <a:t>25</a:t>
            </a:fld>
            <a:endParaRPr lang="en-US"/>
          </a:p>
        </p:txBody>
      </p:sp>
    </p:spTree>
    <p:extLst>
      <p:ext uri="{BB962C8B-B14F-4D97-AF65-F5344CB8AC3E}">
        <p14:creationId xmlns:p14="http://schemas.microsoft.com/office/powerpoint/2010/main" val="38288597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298C23-BB9D-88BB-FA46-235C8ACCE446}"/>
              </a:ext>
            </a:extLst>
          </p:cNvPr>
          <p:cNvSpPr>
            <a:spLocks noGrp="1"/>
          </p:cNvSpPr>
          <p:nvPr>
            <p:ph idx="1"/>
          </p:nvPr>
        </p:nvSpPr>
        <p:spPr>
          <a:xfrm>
            <a:off x="0" y="323850"/>
            <a:ext cx="3218288" cy="6313948"/>
          </a:xfrm>
        </p:spPr>
        <p:txBody>
          <a:bodyPr>
            <a:noAutofit/>
          </a:bodyPr>
          <a:lstStyle/>
          <a:p>
            <a:pPr marL="0" indent="0">
              <a:buNone/>
            </a:pPr>
            <a:r>
              <a:rPr lang="en-US" sz="1000" dirty="0"/>
              <a:t>PREAMBLE</a:t>
            </a:r>
          </a:p>
          <a:p>
            <a:pPr marL="0" indent="0">
              <a:buNone/>
            </a:pPr>
            <a:r>
              <a:rPr lang="en-US" sz="1000" dirty="0"/>
              <a:t>    PROCESSES INCLUDE CALLER</a:t>
            </a:r>
          </a:p>
          <a:p>
            <a:pPr marL="0" indent="0">
              <a:buNone/>
            </a:pPr>
            <a:r>
              <a:rPr lang="en-US" sz="1000" dirty="0"/>
              <a:t>    RESOURCES INCLUDE AGENT(5)</a:t>
            </a:r>
          </a:p>
          <a:p>
            <a:pPr marL="0" indent="0">
              <a:buNone/>
            </a:pPr>
            <a:r>
              <a:rPr lang="en-US" sz="1000" dirty="0"/>
              <a:t>    EVENT NOTICES INCLUDE CALL_ARRIVAL, CALL_END</a:t>
            </a:r>
          </a:p>
          <a:p>
            <a:pPr marL="0" indent="0">
              <a:buNone/>
            </a:pPr>
            <a:r>
              <a:rPr lang="en-US" sz="1000" dirty="0"/>
              <a:t>    RANDOM VARIABLES INCLUDE</a:t>
            </a:r>
          </a:p>
          <a:p>
            <a:pPr marL="0" indent="0">
              <a:buNone/>
            </a:pPr>
            <a:r>
              <a:rPr lang="en-US" sz="1000" dirty="0"/>
              <a:t>        INTER_ARRIVAL TIME EXPONENTIAL F(MEAN = 2.0),</a:t>
            </a:r>
          </a:p>
          <a:p>
            <a:pPr marL="0" indent="0">
              <a:buNone/>
            </a:pPr>
            <a:r>
              <a:rPr lang="en-US" sz="1000" dirty="0"/>
              <a:t>        CALL_DURATION NORMAL F(MEAN = 3.0, SD = 0.5)</a:t>
            </a:r>
          </a:p>
          <a:p>
            <a:pPr marL="0" indent="0">
              <a:buNone/>
            </a:pPr>
            <a:endParaRPr lang="en-US" sz="1000" dirty="0"/>
          </a:p>
          <a:p>
            <a:pPr marL="0" indent="0">
              <a:buNone/>
            </a:pPr>
            <a:r>
              <a:rPr lang="en-US" sz="1000" dirty="0"/>
              <a:t>    ACCUMULATE</a:t>
            </a:r>
          </a:p>
          <a:p>
            <a:pPr marL="0" indent="0">
              <a:buNone/>
            </a:pPr>
            <a:r>
              <a:rPr lang="en-US" sz="1000" dirty="0"/>
              <a:t>        TOTAL_WAIT_TIME AS THE AVERAGE OF WAIT_TIME</a:t>
            </a:r>
          </a:p>
          <a:p>
            <a:pPr marL="0" indent="0">
              <a:buNone/>
            </a:pPr>
            <a:r>
              <a:rPr lang="en-US" sz="1000" dirty="0"/>
              <a:t>        MAX_QUEUE_LENGTH AS THE MAXIMUM OF QUEUE_LENGTH</a:t>
            </a:r>
          </a:p>
          <a:p>
            <a:pPr marL="0" indent="0">
              <a:buNone/>
            </a:pPr>
            <a:r>
              <a:rPr lang="en-US" sz="1000" dirty="0"/>
              <a:t>        AGENT_UTILIZATION AS THE AVERAGE OF BUSY_AGENTS/5.0</a:t>
            </a:r>
          </a:p>
          <a:p>
            <a:pPr marL="0" indent="0">
              <a:buNone/>
            </a:pPr>
            <a:endParaRPr lang="en-US" sz="1000" dirty="0"/>
          </a:p>
          <a:p>
            <a:pPr marL="0" indent="0">
              <a:buNone/>
            </a:pPr>
            <a:r>
              <a:rPr lang="en-US" sz="1000" dirty="0"/>
              <a:t>    DEFINE</a:t>
            </a:r>
          </a:p>
          <a:p>
            <a:pPr marL="0" indent="0">
              <a:buNone/>
            </a:pPr>
            <a:r>
              <a:rPr lang="en-US" sz="1000" dirty="0"/>
              <a:t>        QUEUE CALL_QUEUE AS A FIFO SET</a:t>
            </a:r>
          </a:p>
          <a:p>
            <a:pPr marL="0" indent="0">
              <a:buNone/>
            </a:pPr>
            <a:r>
              <a:rPr lang="en-US" sz="1000" dirty="0"/>
              <a:t>        BUSY_AGENTS AS AN INTEGER VARIABLE</a:t>
            </a:r>
          </a:p>
          <a:p>
            <a:pPr marL="0" indent="0">
              <a:buNone/>
            </a:pPr>
            <a:r>
              <a:rPr lang="en-US" sz="1000" dirty="0"/>
              <a:t>        QUEUE_LENGTH AS AN INTEGER VARIABLE</a:t>
            </a:r>
          </a:p>
          <a:p>
            <a:pPr marL="0" indent="0">
              <a:buNone/>
            </a:pPr>
            <a:r>
              <a:rPr lang="en-US" sz="1000" dirty="0"/>
              <a:t>END</a:t>
            </a:r>
          </a:p>
          <a:p>
            <a:endParaRPr lang="en-US" sz="1000" dirty="0"/>
          </a:p>
        </p:txBody>
      </p:sp>
      <p:sp>
        <p:nvSpPr>
          <p:cNvPr id="4" name="Content Placeholder 2">
            <a:extLst>
              <a:ext uri="{FF2B5EF4-FFF2-40B4-BE49-F238E27FC236}">
                <a16:creationId xmlns:a16="http://schemas.microsoft.com/office/drawing/2014/main" id="{714CC26C-BF15-E729-2B7C-92D622ADB6DE}"/>
              </a:ext>
            </a:extLst>
          </p:cNvPr>
          <p:cNvSpPr txBox="1">
            <a:spLocks/>
          </p:cNvSpPr>
          <p:nvPr/>
        </p:nvSpPr>
        <p:spPr>
          <a:xfrm>
            <a:off x="3181782" y="204430"/>
            <a:ext cx="2927922" cy="300969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900" dirty="0"/>
              <a:t>MAIN</a:t>
            </a:r>
          </a:p>
          <a:p>
            <a:pPr marL="0" indent="0">
              <a:buNone/>
            </a:pPr>
            <a:r>
              <a:rPr lang="en-US" sz="900" dirty="0"/>
              <a:t>    CREATE EVERY AGENT</a:t>
            </a:r>
          </a:p>
          <a:p>
            <a:pPr marL="0" indent="0">
              <a:buNone/>
            </a:pPr>
            <a:r>
              <a:rPr lang="en-US" sz="900" dirty="0"/>
              <a:t>    SCHEDULE A CALL_ARRIVAL IN EXPONENTIAL F(MEAN = 2.0) MINUTES</a:t>
            </a:r>
          </a:p>
          <a:p>
            <a:pPr marL="0" indent="0">
              <a:buNone/>
            </a:pPr>
            <a:r>
              <a:rPr lang="en-US" sz="900" dirty="0"/>
              <a:t>    START SIMULATION</a:t>
            </a:r>
          </a:p>
          <a:p>
            <a:pPr marL="0" indent="0">
              <a:buNone/>
            </a:pPr>
            <a:r>
              <a:rPr lang="en-US" sz="900" dirty="0"/>
              <a:t>    PRINT "CALL CENTER SIMULATION RESULTS" SKIP 2</a:t>
            </a:r>
          </a:p>
          <a:p>
            <a:pPr marL="0" indent="0">
              <a:buNone/>
            </a:pPr>
            <a:r>
              <a:rPr lang="en-US" sz="900" dirty="0"/>
              <a:t>    PRINT "TOTAL CALLS PROCESSED = ", NP(CALLER) SKIP</a:t>
            </a:r>
          </a:p>
          <a:p>
            <a:pPr marL="0" indent="0">
              <a:buNone/>
            </a:pPr>
            <a:r>
              <a:rPr lang="en-US" sz="900" dirty="0"/>
              <a:t>    PRINT "AVERAGE WAIT TIME = ", AVE(WAIT_TIME), " MINUTES" SKIP</a:t>
            </a:r>
          </a:p>
          <a:p>
            <a:pPr marL="0" indent="0">
              <a:buNone/>
            </a:pPr>
            <a:r>
              <a:rPr lang="en-US" sz="900" dirty="0"/>
              <a:t>    PRINT "MAX QUEUE LENGTH = ", MAX(QUEUE_LENGTH) SKIP</a:t>
            </a:r>
          </a:p>
          <a:p>
            <a:pPr marL="0" indent="0">
              <a:buNone/>
            </a:pPr>
            <a:r>
              <a:rPr lang="en-US" sz="900" dirty="0"/>
              <a:t>    PRINT "AGENT UTILIZATION = ", AVE(AGENT_UTILIZATION)*100, "%" SKIP</a:t>
            </a:r>
          </a:p>
          <a:p>
            <a:pPr marL="0" indent="0">
              <a:buNone/>
            </a:pPr>
            <a:r>
              <a:rPr lang="en-US" sz="900" dirty="0"/>
              <a:t>END</a:t>
            </a:r>
          </a:p>
        </p:txBody>
      </p:sp>
      <p:sp>
        <p:nvSpPr>
          <p:cNvPr id="5" name="Content Placeholder 2">
            <a:extLst>
              <a:ext uri="{FF2B5EF4-FFF2-40B4-BE49-F238E27FC236}">
                <a16:creationId xmlns:a16="http://schemas.microsoft.com/office/drawing/2014/main" id="{937EA497-464D-7EA9-3F7E-9CBC480288F2}"/>
              </a:ext>
            </a:extLst>
          </p:cNvPr>
          <p:cNvSpPr txBox="1">
            <a:spLocks/>
          </p:cNvSpPr>
          <p:nvPr/>
        </p:nvSpPr>
        <p:spPr>
          <a:xfrm>
            <a:off x="5998724" y="455986"/>
            <a:ext cx="3108772"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900" dirty="0">
              <a:solidFill>
                <a:srgbClr val="FF0000"/>
              </a:solidFill>
            </a:endParaRPr>
          </a:p>
          <a:p>
            <a:pPr marL="0" indent="0">
              <a:buNone/>
            </a:pPr>
            <a:r>
              <a:rPr lang="en-US" sz="900" dirty="0">
                <a:solidFill>
                  <a:srgbClr val="FF0000"/>
                </a:solidFill>
              </a:rPr>
              <a:t>EVENT CALL_END</a:t>
            </a:r>
          </a:p>
          <a:p>
            <a:pPr marL="0" indent="0">
              <a:buNone/>
            </a:pPr>
            <a:r>
              <a:rPr lang="en-US" sz="900" dirty="0">
                <a:solidFill>
                  <a:srgbClr val="FF0000"/>
                </a:solidFill>
              </a:rPr>
              <a:t>    FREE THIS AGENT</a:t>
            </a:r>
          </a:p>
          <a:p>
            <a:pPr marL="0" indent="0">
              <a:buNone/>
            </a:pPr>
            <a:r>
              <a:rPr lang="en-US" sz="900" dirty="0">
                <a:solidFill>
                  <a:srgbClr val="FF0000"/>
                </a:solidFill>
              </a:rPr>
              <a:t>    LET BUSY_AGENTS = BUSY_AGENTS - 1</a:t>
            </a:r>
          </a:p>
          <a:p>
            <a:pPr marL="0" indent="0">
              <a:buNone/>
            </a:pPr>
            <a:r>
              <a:rPr lang="en-US" sz="900" dirty="0">
                <a:solidFill>
                  <a:srgbClr val="FF0000"/>
                </a:solidFill>
              </a:rPr>
              <a:t>    IF NOT EMPTY(CALL_QUEUE) THEN</a:t>
            </a:r>
          </a:p>
          <a:p>
            <a:pPr marL="0" indent="0">
              <a:buNone/>
            </a:pPr>
            <a:r>
              <a:rPr lang="en-US" sz="900" dirty="0">
                <a:solidFill>
                  <a:srgbClr val="FF0000"/>
                </a:solidFill>
              </a:rPr>
              <a:t>        REMOVE FIRST CALLER FROM CALL_QUEUE</a:t>
            </a:r>
          </a:p>
          <a:p>
            <a:pPr marL="0" indent="0">
              <a:buNone/>
            </a:pPr>
            <a:r>
              <a:rPr lang="en-US" sz="900" dirty="0">
                <a:solidFill>
                  <a:srgbClr val="FF0000"/>
                </a:solidFill>
              </a:rPr>
              <a:t>        LET QUEUE_LENGTH = QUEUE_LENGTH - 1</a:t>
            </a:r>
          </a:p>
          <a:p>
            <a:pPr marL="0" indent="0">
              <a:buNone/>
            </a:pPr>
            <a:r>
              <a:rPr lang="en-US" sz="900" dirty="0">
                <a:solidFill>
                  <a:srgbClr val="FF0000"/>
                </a:solidFill>
              </a:rPr>
              <a:t>        LET WAIT_TIME(CALLER) = TIME(V) - CREATION_TIME(CALLER)</a:t>
            </a:r>
          </a:p>
          <a:p>
            <a:pPr marL="0" indent="0">
              <a:buNone/>
            </a:pPr>
            <a:r>
              <a:rPr lang="en-US" sz="900" dirty="0">
                <a:solidFill>
                  <a:srgbClr val="FF0000"/>
                </a:solidFill>
              </a:rPr>
              <a:t>        USE AN AGENT FOR THIS CALLER</a:t>
            </a:r>
          </a:p>
          <a:p>
            <a:pPr marL="0" indent="0">
              <a:buNone/>
            </a:pPr>
            <a:r>
              <a:rPr lang="en-US" sz="900" dirty="0">
                <a:solidFill>
                  <a:srgbClr val="FF0000"/>
                </a:solidFill>
              </a:rPr>
              <a:t>        LET BUSY_AGENTS = BUSY_AGENTS + 1</a:t>
            </a:r>
          </a:p>
          <a:p>
            <a:pPr marL="0" indent="0">
              <a:buNone/>
            </a:pPr>
            <a:r>
              <a:rPr lang="en-US" sz="900" dirty="0">
                <a:solidFill>
                  <a:srgbClr val="FF0000"/>
                </a:solidFill>
              </a:rPr>
              <a:t>        SCHEDULE A CALL_END IN NORMAL F(MEAN = 3.0, SD = 0.5) MINUTES</a:t>
            </a:r>
          </a:p>
          <a:p>
            <a:pPr marL="0" indent="0">
              <a:buNone/>
            </a:pPr>
            <a:r>
              <a:rPr lang="en-US" sz="900" dirty="0">
                <a:solidFill>
                  <a:srgbClr val="FF0000"/>
                </a:solidFill>
              </a:rPr>
              <a:t>    DESTROY THE CALLER</a:t>
            </a:r>
          </a:p>
          <a:p>
            <a:pPr marL="0" indent="0">
              <a:buNone/>
            </a:pPr>
            <a:r>
              <a:rPr lang="en-US" sz="900" dirty="0">
                <a:solidFill>
                  <a:srgbClr val="FF0000"/>
                </a:solidFill>
              </a:rPr>
              <a:t>END</a:t>
            </a:r>
          </a:p>
        </p:txBody>
      </p:sp>
      <p:sp>
        <p:nvSpPr>
          <p:cNvPr id="6" name="Content Placeholder 2">
            <a:extLst>
              <a:ext uri="{FF2B5EF4-FFF2-40B4-BE49-F238E27FC236}">
                <a16:creationId xmlns:a16="http://schemas.microsoft.com/office/drawing/2014/main" id="{F00FAE53-C939-BB18-47DC-A6932348C762}"/>
              </a:ext>
            </a:extLst>
          </p:cNvPr>
          <p:cNvSpPr txBox="1">
            <a:spLocks/>
          </p:cNvSpPr>
          <p:nvPr/>
        </p:nvSpPr>
        <p:spPr>
          <a:xfrm>
            <a:off x="3181782" y="3419832"/>
            <a:ext cx="2927922" cy="3880773"/>
          </a:xfrm>
          <a:prstGeom prst="rect">
            <a:avLst/>
          </a:prstGeom>
        </p:spPr>
        <p:txBody>
          <a:bodyPr vert="horz" lIns="91440" tIns="45720" rIns="91440" bIns="45720" rtlCol="0">
            <a:normAutofit fontScale="5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US" dirty="0">
              <a:solidFill>
                <a:schemeClr val="accent2">
                  <a:lumMod val="75000"/>
                </a:schemeClr>
              </a:solidFill>
            </a:endParaRPr>
          </a:p>
          <a:p>
            <a:pPr marL="0" indent="0">
              <a:buNone/>
            </a:pPr>
            <a:r>
              <a:rPr lang="en-US" dirty="0">
                <a:solidFill>
                  <a:schemeClr val="accent2">
                    <a:lumMod val="75000"/>
                  </a:schemeClr>
                </a:solidFill>
              </a:rPr>
              <a:t>EVENT CALL_ARRIVAL</a:t>
            </a:r>
          </a:p>
          <a:p>
            <a:pPr marL="0" indent="0">
              <a:buNone/>
            </a:pPr>
            <a:r>
              <a:rPr lang="en-US" dirty="0">
                <a:solidFill>
                  <a:schemeClr val="accent2">
                    <a:lumMod val="75000"/>
                  </a:schemeClr>
                </a:solidFill>
              </a:rPr>
              <a:t>    CREATE A CALLER</a:t>
            </a:r>
          </a:p>
          <a:p>
            <a:pPr marL="0" indent="0">
              <a:buNone/>
            </a:pPr>
            <a:r>
              <a:rPr lang="en-US" dirty="0">
                <a:solidFill>
                  <a:schemeClr val="accent2">
                    <a:lumMod val="75000"/>
                  </a:schemeClr>
                </a:solidFill>
              </a:rPr>
              <a:t>    IF EMPTY(AGENT) THEN</a:t>
            </a:r>
          </a:p>
          <a:p>
            <a:pPr marL="0" indent="0">
              <a:buNone/>
            </a:pPr>
            <a:r>
              <a:rPr lang="en-US" dirty="0">
                <a:solidFill>
                  <a:schemeClr val="accent2">
                    <a:lumMod val="75000"/>
                  </a:schemeClr>
                </a:solidFill>
              </a:rPr>
              <a:t>        LET QUEUE_LENGTH = QUEUE_LENGTH + 1</a:t>
            </a:r>
          </a:p>
          <a:p>
            <a:pPr marL="0" indent="0">
              <a:buNone/>
            </a:pPr>
            <a:r>
              <a:rPr lang="en-US" dirty="0">
                <a:solidFill>
                  <a:schemeClr val="accent2">
                    <a:lumMod val="75000"/>
                  </a:schemeClr>
                </a:solidFill>
              </a:rPr>
              <a:t>        FILE THE CALLER IN CALL_QUEUE</a:t>
            </a:r>
          </a:p>
          <a:p>
            <a:pPr marL="0" indent="0">
              <a:buNone/>
            </a:pPr>
            <a:r>
              <a:rPr lang="en-US" dirty="0">
                <a:solidFill>
                  <a:schemeClr val="accent2">
                    <a:lumMod val="75000"/>
                  </a:schemeClr>
                </a:solidFill>
              </a:rPr>
              <a:t>    ELSE</a:t>
            </a:r>
          </a:p>
          <a:p>
            <a:pPr marL="0" indent="0">
              <a:buNone/>
            </a:pPr>
            <a:r>
              <a:rPr lang="en-US" dirty="0">
                <a:solidFill>
                  <a:schemeClr val="accent2">
                    <a:lumMod val="75000"/>
                  </a:schemeClr>
                </a:solidFill>
              </a:rPr>
              <a:t>        USE AN AGENT FOR THIS CALLER</a:t>
            </a:r>
          </a:p>
          <a:p>
            <a:pPr marL="0" indent="0">
              <a:buNone/>
            </a:pPr>
            <a:r>
              <a:rPr lang="en-US" dirty="0">
                <a:solidFill>
                  <a:schemeClr val="accent2">
                    <a:lumMod val="75000"/>
                  </a:schemeClr>
                </a:solidFill>
              </a:rPr>
              <a:t>        LET WAIT_TIME(CALLER) = 0.0</a:t>
            </a:r>
          </a:p>
          <a:p>
            <a:pPr marL="0" indent="0">
              <a:buNone/>
            </a:pPr>
            <a:r>
              <a:rPr lang="en-US" dirty="0">
                <a:solidFill>
                  <a:schemeClr val="accent2">
                    <a:lumMod val="75000"/>
                  </a:schemeClr>
                </a:solidFill>
              </a:rPr>
              <a:t>        LET BUSY_AGENTS = BUSY_AGENTS + 1</a:t>
            </a:r>
          </a:p>
          <a:p>
            <a:pPr marL="0" indent="0">
              <a:buNone/>
            </a:pPr>
            <a:r>
              <a:rPr lang="en-US" dirty="0">
                <a:solidFill>
                  <a:schemeClr val="accent2">
                    <a:lumMod val="75000"/>
                  </a:schemeClr>
                </a:solidFill>
              </a:rPr>
              <a:t>        SCHEDULE A CALL_END IN NORMAL F(MEAN = 3.0, SD = 0.5) MINUTES</a:t>
            </a:r>
          </a:p>
          <a:p>
            <a:pPr marL="0" indent="0">
              <a:buNone/>
            </a:pPr>
            <a:r>
              <a:rPr lang="en-US" dirty="0">
                <a:solidFill>
                  <a:schemeClr val="accent2">
                    <a:lumMod val="75000"/>
                  </a:schemeClr>
                </a:solidFill>
              </a:rPr>
              <a:t>    RESCHEDULE A CALL_ARRIVAL IN EXPONENTIAL F(MEAN = 2.0) MINUTES</a:t>
            </a:r>
          </a:p>
          <a:p>
            <a:pPr marL="0" indent="0">
              <a:buNone/>
            </a:pPr>
            <a:r>
              <a:rPr lang="en-US" dirty="0">
                <a:solidFill>
                  <a:schemeClr val="accent2">
                    <a:lumMod val="75000"/>
                  </a:schemeClr>
                </a:solidFill>
              </a:rPr>
              <a:t>END</a:t>
            </a:r>
          </a:p>
        </p:txBody>
      </p:sp>
      <p:sp>
        <p:nvSpPr>
          <p:cNvPr id="2" name="Footer Placeholder 1">
            <a:extLst>
              <a:ext uri="{FF2B5EF4-FFF2-40B4-BE49-F238E27FC236}">
                <a16:creationId xmlns:a16="http://schemas.microsoft.com/office/drawing/2014/main" id="{6F4A801B-B2FB-E4B7-B75F-B7744C43C511}"/>
              </a:ext>
            </a:extLst>
          </p:cNvPr>
          <p:cNvSpPr>
            <a:spLocks noGrp="1"/>
          </p:cNvSpPr>
          <p:nvPr>
            <p:ph type="ftr" sz="quarter" idx="11"/>
          </p:nvPr>
        </p:nvSpPr>
        <p:spPr/>
        <p:txBody>
          <a:bodyPr/>
          <a:lstStyle/>
          <a:p>
            <a:r>
              <a:rPr lang="nb-NO"/>
              <a:t>Kapil@nast.edu.np || kapilpant157</a:t>
            </a:r>
            <a:endParaRPr lang="en-US" dirty="0"/>
          </a:p>
        </p:txBody>
      </p:sp>
      <p:sp>
        <p:nvSpPr>
          <p:cNvPr id="7" name="Date Placeholder 6">
            <a:extLst>
              <a:ext uri="{FF2B5EF4-FFF2-40B4-BE49-F238E27FC236}">
                <a16:creationId xmlns:a16="http://schemas.microsoft.com/office/drawing/2014/main" id="{19069322-6A99-A299-E3C7-3479DDC7C843}"/>
              </a:ext>
            </a:extLst>
          </p:cNvPr>
          <p:cNvSpPr>
            <a:spLocks noGrp="1"/>
          </p:cNvSpPr>
          <p:nvPr>
            <p:ph type="dt" sz="half" idx="10"/>
          </p:nvPr>
        </p:nvSpPr>
        <p:spPr/>
        <p:txBody>
          <a:bodyPr/>
          <a:lstStyle/>
          <a:p>
            <a:fld id="{0964CB3F-1699-4882-9FFB-C521EC1F5F1D}" type="datetime1">
              <a:rPr lang="en-US" smtClean="0"/>
              <a:t>1/31/2026</a:t>
            </a:fld>
            <a:endParaRPr lang="en-US"/>
          </a:p>
        </p:txBody>
      </p:sp>
      <p:sp>
        <p:nvSpPr>
          <p:cNvPr id="8" name="Slide Number Placeholder 7">
            <a:extLst>
              <a:ext uri="{FF2B5EF4-FFF2-40B4-BE49-F238E27FC236}">
                <a16:creationId xmlns:a16="http://schemas.microsoft.com/office/drawing/2014/main" id="{3D3D7FA1-E653-B751-2528-C870C9F194F9}"/>
              </a:ext>
            </a:extLst>
          </p:cNvPr>
          <p:cNvSpPr>
            <a:spLocks noGrp="1"/>
          </p:cNvSpPr>
          <p:nvPr>
            <p:ph type="sldNum" sz="quarter" idx="12"/>
          </p:nvPr>
        </p:nvSpPr>
        <p:spPr/>
        <p:txBody>
          <a:bodyPr/>
          <a:lstStyle/>
          <a:p>
            <a:fld id="{7EA05A3E-6DBA-4FE0-898F-5EF47B17DFD2}" type="slidenum">
              <a:rPr lang="en-US" smtClean="0"/>
              <a:t>26</a:t>
            </a:fld>
            <a:endParaRPr lang="en-US"/>
          </a:p>
        </p:txBody>
      </p:sp>
    </p:spTree>
    <p:extLst>
      <p:ext uri="{BB962C8B-B14F-4D97-AF65-F5344CB8AC3E}">
        <p14:creationId xmlns:p14="http://schemas.microsoft.com/office/powerpoint/2010/main" val="2237355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569B5-53FB-62AB-163B-9456095D7EB8}"/>
              </a:ext>
            </a:extLst>
          </p:cNvPr>
          <p:cNvSpPr>
            <a:spLocks noGrp="1"/>
          </p:cNvSpPr>
          <p:nvPr>
            <p:ph type="title"/>
          </p:nvPr>
        </p:nvSpPr>
        <p:spPr>
          <a:xfrm>
            <a:off x="529389" y="110784"/>
            <a:ext cx="8085222" cy="705853"/>
          </a:xfrm>
        </p:spPr>
        <p:txBody>
          <a:bodyPr/>
          <a:lstStyle/>
          <a:p>
            <a:r>
              <a:rPr lang="en-US" dirty="0"/>
              <a:t>Super Market  Simulation</a:t>
            </a:r>
          </a:p>
        </p:txBody>
      </p:sp>
      <p:sp>
        <p:nvSpPr>
          <p:cNvPr id="3" name="Content Placeholder 2">
            <a:extLst>
              <a:ext uri="{FF2B5EF4-FFF2-40B4-BE49-F238E27FC236}">
                <a16:creationId xmlns:a16="http://schemas.microsoft.com/office/drawing/2014/main" id="{97380283-0BBF-5506-BCC5-94B9175FF0AE}"/>
              </a:ext>
            </a:extLst>
          </p:cNvPr>
          <p:cNvSpPr>
            <a:spLocks noGrp="1"/>
          </p:cNvSpPr>
          <p:nvPr>
            <p:ph idx="1"/>
          </p:nvPr>
        </p:nvSpPr>
        <p:spPr>
          <a:xfrm>
            <a:off x="208548" y="1069727"/>
            <a:ext cx="3096127" cy="5507536"/>
          </a:xfrm>
        </p:spPr>
        <p:txBody>
          <a:bodyPr>
            <a:normAutofit fontScale="47500" lnSpcReduction="20000"/>
          </a:bodyPr>
          <a:lstStyle/>
          <a:p>
            <a:pPr marL="0" indent="0">
              <a:buNone/>
            </a:pPr>
            <a:r>
              <a:rPr lang="en-US" dirty="0"/>
              <a:t>PREAMBLE</a:t>
            </a:r>
          </a:p>
          <a:p>
            <a:pPr marL="0" indent="0">
              <a:buNone/>
            </a:pPr>
            <a:r>
              <a:rPr lang="en-US" dirty="0"/>
              <a:t>    PROCESSES INCLUDE CUSTOMER</a:t>
            </a:r>
          </a:p>
          <a:p>
            <a:pPr marL="0" indent="0">
              <a:buNone/>
            </a:pPr>
            <a:r>
              <a:rPr lang="en-US" dirty="0"/>
              <a:t>    RESOURCES INCLUDE </a:t>
            </a:r>
          </a:p>
          <a:p>
            <a:pPr marL="0" indent="0">
              <a:buNone/>
            </a:pPr>
            <a:r>
              <a:rPr lang="en-US" dirty="0"/>
              <a:t>        REGULAR_CASHIER(3),</a:t>
            </a:r>
          </a:p>
          <a:p>
            <a:pPr marL="0" indent="0">
              <a:buNone/>
            </a:pPr>
            <a:r>
              <a:rPr lang="en-US" dirty="0"/>
              <a:t>        EXPRESS_CASHIER(1)  '' For 10 items or less</a:t>
            </a:r>
          </a:p>
          <a:p>
            <a:pPr marL="0" indent="0">
              <a:buNone/>
            </a:pPr>
            <a:r>
              <a:rPr lang="en-US" dirty="0"/>
              <a:t>    EVENT NOTICES INCLUDE ARRIVAL, REGULAR_CHECKOUT, EXPRESS_CHECKOUT</a:t>
            </a:r>
          </a:p>
          <a:p>
            <a:pPr marL="0" indent="0">
              <a:buNone/>
            </a:pPr>
            <a:r>
              <a:rPr lang="en-US" dirty="0"/>
              <a:t>    RANDOM VARIABLES INCLUDE</a:t>
            </a:r>
          </a:p>
          <a:p>
            <a:pPr marL="0" indent="0">
              <a:buNone/>
            </a:pPr>
            <a:r>
              <a:rPr lang="en-US" dirty="0"/>
              <a:t>        CUST_ARRIVAL EXPONENTIAL F(MEAN = 1.2),</a:t>
            </a:r>
          </a:p>
          <a:p>
            <a:pPr marL="0" indent="0">
              <a:buNone/>
            </a:pPr>
            <a:r>
              <a:rPr lang="en-US" dirty="0"/>
              <a:t>        REGULAR_SERVICE NORMAL F(MEAN = 5.0, SD = 1.5),</a:t>
            </a:r>
          </a:p>
          <a:p>
            <a:pPr marL="0" indent="0">
              <a:buNone/>
            </a:pPr>
            <a:r>
              <a:rPr lang="en-US" dirty="0"/>
              <a:t>        EXPRESS_SERVICE NORMAL F(MEAN = 2.0, SD = 0.8)</a:t>
            </a:r>
          </a:p>
          <a:p>
            <a:pPr marL="0" indent="0">
              <a:buNone/>
            </a:pPr>
            <a:endParaRPr lang="en-US" dirty="0"/>
          </a:p>
          <a:p>
            <a:pPr marL="0" indent="0">
              <a:buNone/>
            </a:pPr>
            <a:r>
              <a:rPr lang="en-US" dirty="0"/>
              <a:t>    ACCUMULATE</a:t>
            </a:r>
          </a:p>
          <a:p>
            <a:pPr marL="0" indent="0">
              <a:buNone/>
            </a:pPr>
            <a:r>
              <a:rPr lang="en-US" dirty="0"/>
              <a:t>        TOTAL_WAIT_TIME AS THE AVERAGE OF WAIT_TIME</a:t>
            </a:r>
          </a:p>
          <a:p>
            <a:pPr marL="0" indent="0">
              <a:buNone/>
            </a:pPr>
            <a:r>
              <a:rPr lang="en-US" dirty="0"/>
              <a:t>        ITEMS_PROCESSED AS A TALLY VARIABLE</a:t>
            </a:r>
          </a:p>
          <a:p>
            <a:pPr marL="0" indent="0">
              <a:buNone/>
            </a:pPr>
            <a:r>
              <a:rPr lang="en-US" dirty="0"/>
              <a:t>        EXPRESS_USAGE AS A COUNTER</a:t>
            </a:r>
          </a:p>
          <a:p>
            <a:pPr marL="0" indent="0">
              <a:buNone/>
            </a:pPr>
            <a:endParaRPr lang="en-US" dirty="0"/>
          </a:p>
          <a:p>
            <a:pPr marL="0" indent="0">
              <a:buNone/>
            </a:pPr>
            <a:r>
              <a:rPr lang="en-US" dirty="0"/>
              <a:t>    DEFINE</a:t>
            </a:r>
          </a:p>
          <a:p>
            <a:pPr marL="0" indent="0">
              <a:buNone/>
            </a:pPr>
            <a:r>
              <a:rPr lang="en-US" dirty="0"/>
              <a:t>        QUEUE REGULAR_QUEUE, EXPRESS_QUEUE AS FIFO SETS</a:t>
            </a:r>
          </a:p>
          <a:p>
            <a:pPr marL="0" indent="0">
              <a:buNone/>
            </a:pPr>
            <a:r>
              <a:rPr lang="en-US" dirty="0"/>
              <a:t>        ITEM_COUNT AS AN INTEGER VARIABLE</a:t>
            </a:r>
          </a:p>
          <a:p>
            <a:pPr marL="0" indent="0">
              <a:buNone/>
            </a:pPr>
            <a:r>
              <a:rPr lang="en-US" dirty="0"/>
              <a:t>        BUSY_REGULAR, BUSY_EXPRESS AS INTEGER VARIABLES</a:t>
            </a:r>
          </a:p>
          <a:p>
            <a:pPr marL="0" indent="0">
              <a:buNone/>
            </a:pPr>
            <a:r>
              <a:rPr lang="en-US" dirty="0"/>
              <a:t>END</a:t>
            </a:r>
          </a:p>
          <a:p>
            <a:pPr marL="0" indent="0">
              <a:buNone/>
            </a:pPr>
            <a:endParaRPr lang="en-US" dirty="0"/>
          </a:p>
        </p:txBody>
      </p:sp>
      <p:sp>
        <p:nvSpPr>
          <p:cNvPr id="4" name="Content Placeholder 2">
            <a:extLst>
              <a:ext uri="{FF2B5EF4-FFF2-40B4-BE49-F238E27FC236}">
                <a16:creationId xmlns:a16="http://schemas.microsoft.com/office/drawing/2014/main" id="{5DF97E57-3778-2CC3-E016-B1E1E396040F}"/>
              </a:ext>
            </a:extLst>
          </p:cNvPr>
          <p:cNvSpPr txBox="1">
            <a:spLocks/>
          </p:cNvSpPr>
          <p:nvPr/>
        </p:nvSpPr>
        <p:spPr>
          <a:xfrm>
            <a:off x="3240508" y="1088696"/>
            <a:ext cx="3096127" cy="550753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dirty="0"/>
          </a:p>
        </p:txBody>
      </p:sp>
      <p:sp>
        <p:nvSpPr>
          <p:cNvPr id="5" name="Content Placeholder 2">
            <a:extLst>
              <a:ext uri="{FF2B5EF4-FFF2-40B4-BE49-F238E27FC236}">
                <a16:creationId xmlns:a16="http://schemas.microsoft.com/office/drawing/2014/main" id="{56D13648-F381-37EA-13F2-2DEA9FA1DA0B}"/>
              </a:ext>
            </a:extLst>
          </p:cNvPr>
          <p:cNvSpPr txBox="1">
            <a:spLocks/>
          </p:cNvSpPr>
          <p:nvPr/>
        </p:nvSpPr>
        <p:spPr>
          <a:xfrm>
            <a:off x="5903493" y="1088696"/>
            <a:ext cx="3096127" cy="550753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dirty="0"/>
          </a:p>
        </p:txBody>
      </p:sp>
      <p:sp>
        <p:nvSpPr>
          <p:cNvPr id="6" name="Content Placeholder 2">
            <a:extLst>
              <a:ext uri="{FF2B5EF4-FFF2-40B4-BE49-F238E27FC236}">
                <a16:creationId xmlns:a16="http://schemas.microsoft.com/office/drawing/2014/main" id="{A25F04E2-3694-7BAB-AB36-9DE5BB5602A1}"/>
              </a:ext>
            </a:extLst>
          </p:cNvPr>
          <p:cNvSpPr txBox="1">
            <a:spLocks/>
          </p:cNvSpPr>
          <p:nvPr/>
        </p:nvSpPr>
        <p:spPr>
          <a:xfrm>
            <a:off x="3023938" y="1222127"/>
            <a:ext cx="2943722" cy="3125284"/>
          </a:xfrm>
          <a:prstGeom prst="rect">
            <a:avLst/>
          </a:prstGeom>
        </p:spPr>
        <p:txBody>
          <a:bodyPr vert="horz" lIns="91440" tIns="45720" rIns="91440" bIns="45720" rtlCol="0">
            <a:normAutofit fontScale="40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dirty="0"/>
              <a:t>MAIN</a:t>
            </a:r>
          </a:p>
          <a:p>
            <a:pPr marL="0" indent="0">
              <a:buFont typeface="Wingdings 3" charset="2"/>
              <a:buNone/>
            </a:pPr>
            <a:r>
              <a:rPr lang="en-US" dirty="0"/>
              <a:t>    CREATE EVERY REGULAR_CASHIER AND EXPRESS_CASHIER</a:t>
            </a:r>
          </a:p>
          <a:p>
            <a:pPr marL="0" indent="0">
              <a:buFont typeface="Wingdings 3" charset="2"/>
              <a:buNone/>
            </a:pPr>
            <a:r>
              <a:rPr lang="en-US" dirty="0"/>
              <a:t>    SCHEDULE AN ARRIVAL IN EXPONENTIAL F(MEAN = 1.2) MINUTES</a:t>
            </a:r>
          </a:p>
          <a:p>
            <a:pPr marL="0" indent="0">
              <a:buFont typeface="Wingdings 3" charset="2"/>
              <a:buNone/>
            </a:pPr>
            <a:r>
              <a:rPr lang="en-US" dirty="0"/>
              <a:t>    START SIMULATION UNTIL CLOCK = 600.0  '' 10-hour day</a:t>
            </a:r>
          </a:p>
          <a:p>
            <a:pPr marL="0" indent="0">
              <a:buFont typeface="Wingdings 3" charset="2"/>
              <a:buNone/>
            </a:pPr>
            <a:r>
              <a:rPr lang="en-US" dirty="0"/>
              <a:t>    </a:t>
            </a:r>
          </a:p>
          <a:p>
            <a:pPr marL="0" indent="0">
              <a:buFont typeface="Wingdings 3" charset="2"/>
              <a:buNone/>
            </a:pPr>
            <a:r>
              <a:rPr lang="en-US" dirty="0"/>
              <a:t>    PRINT "SUPERMARKET WITH EXPRESS LANE REPORT" //</a:t>
            </a:r>
          </a:p>
          <a:p>
            <a:pPr marL="0" indent="0">
              <a:buFont typeface="Wingdings 3" charset="2"/>
              <a:buNone/>
            </a:pPr>
            <a:r>
              <a:rPr lang="en-US" dirty="0"/>
              <a:t>    PRINT "TOTAL CUSTOMERS: ", NP(CUSTOMER) /</a:t>
            </a:r>
          </a:p>
          <a:p>
            <a:pPr marL="0" indent="0">
              <a:buFont typeface="Wingdings 3" charset="2"/>
              <a:buNone/>
            </a:pPr>
            <a:r>
              <a:rPr lang="en-US" dirty="0"/>
              <a:t>    PRINT "AVERAGE WAIT TIME: ", AVE(WAIT_TIME), " MINUTES" /</a:t>
            </a:r>
          </a:p>
          <a:p>
            <a:pPr marL="0" indent="0">
              <a:buFont typeface="Wingdings 3" charset="2"/>
              <a:buNone/>
            </a:pPr>
            <a:r>
              <a:rPr lang="en-US" dirty="0"/>
              <a:t>    PRINT "EXPRESS LANE USAGE: ", EXPRESS_USAGE, " CUSTOMERS" /</a:t>
            </a:r>
          </a:p>
          <a:p>
            <a:pPr marL="0" indent="0">
              <a:buFont typeface="Wingdings 3" charset="2"/>
              <a:buNone/>
            </a:pPr>
            <a:r>
              <a:rPr lang="en-US" dirty="0"/>
              <a:t>    PRINT "TOTAL ITEMS PROCESSED: ", ITEMS_PROCESSED //</a:t>
            </a:r>
          </a:p>
          <a:p>
            <a:pPr marL="0" indent="0">
              <a:buFont typeface="Wingdings 3" charset="2"/>
              <a:buNone/>
            </a:pPr>
            <a:r>
              <a:rPr lang="en-US" dirty="0"/>
              <a:t>END</a:t>
            </a:r>
          </a:p>
        </p:txBody>
      </p:sp>
      <p:sp>
        <p:nvSpPr>
          <p:cNvPr id="7" name="Content Placeholder 2">
            <a:extLst>
              <a:ext uri="{FF2B5EF4-FFF2-40B4-BE49-F238E27FC236}">
                <a16:creationId xmlns:a16="http://schemas.microsoft.com/office/drawing/2014/main" id="{55E89273-F8D6-992A-20BB-DFCA55BA7C0C}"/>
              </a:ext>
            </a:extLst>
          </p:cNvPr>
          <p:cNvSpPr txBox="1">
            <a:spLocks/>
          </p:cNvSpPr>
          <p:nvPr/>
        </p:nvSpPr>
        <p:spPr>
          <a:xfrm>
            <a:off x="3176341" y="3634297"/>
            <a:ext cx="3096127" cy="5507536"/>
          </a:xfrm>
          <a:prstGeom prst="rect">
            <a:avLst/>
          </a:prstGeom>
        </p:spPr>
        <p:txBody>
          <a:bodyPr vert="horz" lIns="91440" tIns="45720" rIns="91440" bIns="45720" rtlCol="0">
            <a:normAutofit fontScale="3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dirty="0"/>
              <a:t>EVENT ARRIVAL</a:t>
            </a:r>
          </a:p>
          <a:p>
            <a:pPr marL="0" indent="0">
              <a:buFont typeface="Wingdings 3" charset="2"/>
              <a:buNone/>
            </a:pPr>
            <a:r>
              <a:rPr lang="en-US" dirty="0"/>
              <a:t>    CREATE A CUSTOMER</a:t>
            </a:r>
          </a:p>
          <a:p>
            <a:pPr marL="0" indent="0">
              <a:buFont typeface="Wingdings 3" charset="2"/>
              <a:buNone/>
            </a:pPr>
            <a:r>
              <a:rPr lang="en-US" dirty="0"/>
              <a:t>    LET ARRIVAL_TIME(CUSTOMER) = TIME(V)</a:t>
            </a:r>
          </a:p>
          <a:p>
            <a:pPr marL="0" indent="0">
              <a:buFont typeface="Wingdings 3" charset="2"/>
              <a:buNone/>
            </a:pPr>
            <a:r>
              <a:rPr lang="en-US" dirty="0"/>
              <a:t>    LET ITEM_COUNT(CUSTOMER) = RANDI(1, 30)  '' Random 1-30 items</a:t>
            </a:r>
          </a:p>
          <a:p>
            <a:pPr marL="0" indent="0">
              <a:buFont typeface="Wingdings 3" charset="2"/>
              <a:buNone/>
            </a:pPr>
            <a:r>
              <a:rPr lang="en-US" dirty="0"/>
              <a:t>    '' Route to appropriate queue</a:t>
            </a:r>
          </a:p>
          <a:p>
            <a:pPr marL="0" indent="0">
              <a:buFont typeface="Wingdings 3" charset="2"/>
              <a:buNone/>
            </a:pPr>
            <a:r>
              <a:rPr lang="en-US" dirty="0"/>
              <a:t>    IF ITEM_COUNT(CUSTOMER) &lt;= 10 AND BUSY_EXPRESS &lt; 1 THEN</a:t>
            </a:r>
          </a:p>
          <a:p>
            <a:pPr marL="0" indent="0">
              <a:buFont typeface="Wingdings 3" charset="2"/>
              <a:buNone/>
            </a:pPr>
            <a:r>
              <a:rPr lang="en-US" dirty="0"/>
              <a:t>        USE EXPRESS_CASHIER FOR THIS CUSTOMER</a:t>
            </a:r>
          </a:p>
          <a:p>
            <a:pPr marL="0" indent="0">
              <a:buFont typeface="Wingdings 3" charset="2"/>
              <a:buNone/>
            </a:pPr>
            <a:r>
              <a:rPr lang="en-US" dirty="0"/>
              <a:t>        LET BUSY_EXPRESS = 1</a:t>
            </a:r>
          </a:p>
          <a:p>
            <a:pPr marL="0" indent="0">
              <a:buFont typeface="Wingdings 3" charset="2"/>
              <a:buNone/>
            </a:pPr>
            <a:r>
              <a:rPr lang="en-US" dirty="0"/>
              <a:t>        LET EXPRESS_USAGE = EXPRESS_USAGE + 1</a:t>
            </a:r>
          </a:p>
          <a:p>
            <a:pPr marL="0" indent="0">
              <a:buFont typeface="Wingdings 3" charset="2"/>
              <a:buNone/>
            </a:pPr>
            <a:r>
              <a:rPr lang="en-US" dirty="0"/>
              <a:t>        LET WAIT_TIME(CUSTOMER) = 0.0</a:t>
            </a:r>
          </a:p>
          <a:p>
            <a:pPr marL="0" indent="0">
              <a:buFont typeface="Wingdings 3" charset="2"/>
              <a:buNone/>
            </a:pPr>
            <a:r>
              <a:rPr lang="en-US" dirty="0"/>
              <a:t>        SCHEDULE AN EXPRESS_CHECKOUT IN NORMAL F(MEAN = 2.0, SD = 0.8) MINUTES</a:t>
            </a:r>
          </a:p>
          <a:p>
            <a:pPr marL="0" indent="0">
              <a:buFont typeface="Wingdings 3" charset="2"/>
              <a:buNone/>
            </a:pPr>
            <a:r>
              <a:rPr lang="en-US" dirty="0"/>
              <a:t>    ELSE</a:t>
            </a:r>
          </a:p>
          <a:p>
            <a:pPr marL="0" indent="0">
              <a:buFont typeface="Wingdings 3" charset="2"/>
              <a:buNone/>
            </a:pPr>
            <a:r>
              <a:rPr lang="en-US" dirty="0"/>
              <a:t>        IF BUSY_REGULAR &lt; 3 THEN</a:t>
            </a:r>
          </a:p>
          <a:p>
            <a:pPr marL="0" indent="0">
              <a:buFont typeface="Wingdings 3" charset="2"/>
              <a:buNone/>
            </a:pPr>
            <a:r>
              <a:rPr lang="en-US" dirty="0"/>
              <a:t>            USE A REGULAR_CASHIER FOR THIS CUSTOMER</a:t>
            </a:r>
          </a:p>
          <a:p>
            <a:pPr marL="0" indent="0">
              <a:buFont typeface="Wingdings 3" charset="2"/>
              <a:buNone/>
            </a:pPr>
            <a:r>
              <a:rPr lang="en-US" dirty="0"/>
              <a:t>            LET BUSY_REGULAR = BUSY_REGULAR + 1</a:t>
            </a:r>
          </a:p>
          <a:p>
            <a:pPr marL="0" indent="0">
              <a:buFont typeface="Wingdings 3" charset="2"/>
              <a:buNone/>
            </a:pPr>
            <a:r>
              <a:rPr lang="en-US" dirty="0"/>
              <a:t>            LET WAIT_TIME(CUSTOMER) = 0.0</a:t>
            </a:r>
          </a:p>
          <a:p>
            <a:pPr marL="0" indent="0">
              <a:buFont typeface="Wingdings 3" charset="2"/>
              <a:buNone/>
            </a:pPr>
            <a:r>
              <a:rPr lang="en-US" dirty="0"/>
              <a:t>            SCHEDULE A REGULAR_CHECKOUT IN NORMAL F(MEAN = 5.0, SD = 1.5) MINUTES</a:t>
            </a:r>
          </a:p>
          <a:p>
            <a:pPr marL="0" indent="0">
              <a:buFont typeface="Wingdings 3" charset="2"/>
              <a:buNone/>
            </a:pPr>
            <a:r>
              <a:rPr lang="en-US" dirty="0"/>
              <a:t>        ELSE</a:t>
            </a:r>
          </a:p>
          <a:p>
            <a:pPr marL="0" indent="0">
              <a:buFont typeface="Wingdings 3" charset="2"/>
              <a:buNone/>
            </a:pPr>
            <a:r>
              <a:rPr lang="en-US" dirty="0"/>
              <a:t>            '' File in shortest queue</a:t>
            </a:r>
          </a:p>
          <a:p>
            <a:pPr marL="0" indent="0">
              <a:buFont typeface="Wingdings 3" charset="2"/>
              <a:buNone/>
            </a:pPr>
            <a:r>
              <a:rPr lang="en-US" dirty="0"/>
              <a:t>            IF LENGTH(EXPRESS_QUEUE) &lt; LENGTH(REGULAR_QUEUE) AND ITEM_COUNT &lt;= 10 THEN</a:t>
            </a:r>
          </a:p>
          <a:p>
            <a:pPr marL="0" indent="0">
              <a:buFont typeface="Wingdings 3" charset="2"/>
              <a:buNone/>
            </a:pPr>
            <a:r>
              <a:rPr lang="en-US" dirty="0"/>
              <a:t>                FILE THE CUSTOMER IN EXPRESS_QUEUE</a:t>
            </a:r>
          </a:p>
          <a:p>
            <a:pPr marL="0" indent="0">
              <a:buFont typeface="Wingdings 3" charset="2"/>
              <a:buNone/>
            </a:pPr>
            <a:r>
              <a:rPr lang="en-US" dirty="0"/>
              <a:t>            ELSE</a:t>
            </a:r>
          </a:p>
          <a:p>
            <a:pPr marL="0" indent="0">
              <a:buFont typeface="Wingdings 3" charset="2"/>
              <a:buNone/>
            </a:pPr>
            <a:r>
              <a:rPr lang="en-US" dirty="0"/>
              <a:t>                FILE THE CUSTOMER IN REGULAR_QUEUE</a:t>
            </a:r>
          </a:p>
          <a:p>
            <a:pPr marL="0" indent="0">
              <a:buFont typeface="Wingdings 3" charset="2"/>
              <a:buNone/>
            </a:pPr>
            <a:r>
              <a:rPr lang="en-US" dirty="0"/>
              <a:t>    </a:t>
            </a:r>
          </a:p>
          <a:p>
            <a:pPr marL="0" indent="0">
              <a:buFont typeface="Wingdings 3" charset="2"/>
              <a:buNone/>
            </a:pPr>
            <a:r>
              <a:rPr lang="en-US" dirty="0"/>
              <a:t>    SCHEDULE AN ARRIVAL IN EXPONENTIAL F(MEAN = 1.2) MINUTES</a:t>
            </a:r>
          </a:p>
          <a:p>
            <a:pPr marL="0" indent="0">
              <a:buFont typeface="Wingdings 3" charset="2"/>
              <a:buNone/>
            </a:pPr>
            <a:r>
              <a:rPr lang="en-US" dirty="0"/>
              <a:t>END</a:t>
            </a:r>
          </a:p>
          <a:p>
            <a:pPr marL="0" indent="0">
              <a:buFont typeface="Wingdings 3" charset="2"/>
              <a:buNone/>
            </a:pPr>
            <a:endParaRPr lang="en-US" dirty="0"/>
          </a:p>
        </p:txBody>
      </p:sp>
      <p:sp>
        <p:nvSpPr>
          <p:cNvPr id="8" name="Content Placeholder 2">
            <a:extLst>
              <a:ext uri="{FF2B5EF4-FFF2-40B4-BE49-F238E27FC236}">
                <a16:creationId xmlns:a16="http://schemas.microsoft.com/office/drawing/2014/main" id="{65ADBFD4-5186-F3FF-CC91-E424D6FEC00A}"/>
              </a:ext>
            </a:extLst>
          </p:cNvPr>
          <p:cNvSpPr txBox="1">
            <a:spLocks/>
          </p:cNvSpPr>
          <p:nvPr/>
        </p:nvSpPr>
        <p:spPr>
          <a:xfrm>
            <a:off x="6424871" y="675232"/>
            <a:ext cx="3096127" cy="5507536"/>
          </a:xfrm>
          <a:prstGeom prst="rect">
            <a:avLst/>
          </a:prstGeom>
        </p:spPr>
        <p:txBody>
          <a:bodyPr vert="horz" lIns="91440" tIns="45720" rIns="91440" bIns="45720" rtlCol="0">
            <a:normAutofit fontScale="2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dirty="0"/>
              <a:t>EVENT REGULAR_CHECKOUT</a:t>
            </a:r>
          </a:p>
          <a:p>
            <a:pPr marL="0" indent="0">
              <a:buFont typeface="Wingdings 3" charset="2"/>
              <a:buNone/>
            </a:pPr>
            <a:r>
              <a:rPr lang="en-US" dirty="0"/>
              <a:t>    FREE THIS REGULAR_CASHIER</a:t>
            </a:r>
          </a:p>
          <a:p>
            <a:pPr marL="0" indent="0">
              <a:buFont typeface="Wingdings 3" charset="2"/>
              <a:buNone/>
            </a:pPr>
            <a:r>
              <a:rPr lang="en-US" dirty="0"/>
              <a:t>    LET BUSY_REGULAR = BUSY_REGULAR - 1</a:t>
            </a:r>
          </a:p>
          <a:p>
            <a:pPr marL="0" indent="0">
              <a:buFont typeface="Wingdings 3" charset="2"/>
              <a:buNone/>
            </a:pPr>
            <a:r>
              <a:rPr lang="en-US" dirty="0"/>
              <a:t>    LET WAIT_TIME(CUSTOMER) = TIME(V) - ARRIVAL_TIME(CUSTOMER)</a:t>
            </a:r>
          </a:p>
          <a:p>
            <a:pPr marL="0" indent="0">
              <a:buFont typeface="Wingdings 3" charset="2"/>
              <a:buNone/>
            </a:pPr>
            <a:r>
              <a:rPr lang="en-US" dirty="0"/>
              <a:t>    LET ITEMS_PROCESSED = ITEMS_PROCESSED + ITEM_COUNT(CUSTOMER)</a:t>
            </a:r>
          </a:p>
          <a:p>
            <a:pPr marL="0" indent="0">
              <a:buFont typeface="Wingdings 3" charset="2"/>
              <a:buNone/>
            </a:pPr>
            <a:r>
              <a:rPr lang="en-US" dirty="0"/>
              <a:t>    </a:t>
            </a:r>
          </a:p>
          <a:p>
            <a:pPr marL="0" indent="0">
              <a:buFont typeface="Wingdings 3" charset="2"/>
              <a:buNone/>
            </a:pPr>
            <a:r>
              <a:rPr lang="en-US" dirty="0"/>
              <a:t>    IF NOT EMPTY(REGULAR_QUEUE) THEN</a:t>
            </a:r>
          </a:p>
          <a:p>
            <a:pPr marL="0" indent="0">
              <a:buFont typeface="Wingdings 3" charset="2"/>
              <a:buNone/>
            </a:pPr>
            <a:r>
              <a:rPr lang="en-US" dirty="0"/>
              <a:t>        REMOVE FIRST CUSTOMER FROM REGULAR_QUEUE</a:t>
            </a:r>
          </a:p>
          <a:p>
            <a:pPr marL="0" indent="0">
              <a:buFont typeface="Wingdings 3" charset="2"/>
              <a:buNone/>
            </a:pPr>
            <a:r>
              <a:rPr lang="en-US" dirty="0"/>
              <a:t>        USE A REGULAR_CASHIER FOR THIS CUSTOMER</a:t>
            </a:r>
          </a:p>
          <a:p>
            <a:pPr marL="0" indent="0">
              <a:buFont typeface="Wingdings 3" charset="2"/>
              <a:buNone/>
            </a:pPr>
            <a:r>
              <a:rPr lang="en-US" dirty="0"/>
              <a:t>        LET BUSY_REGULAR = BUSY_REGULAR + 1</a:t>
            </a:r>
          </a:p>
          <a:p>
            <a:pPr marL="0" indent="0">
              <a:buFont typeface="Wingdings 3" charset="2"/>
              <a:buNone/>
            </a:pPr>
            <a:r>
              <a:rPr lang="en-US" dirty="0"/>
              <a:t>        SCHEDULE A REGULAR_CHECKOUT IN NORMAL F(MEAN = 5.0, SD = 1.5) MINUTES</a:t>
            </a:r>
          </a:p>
          <a:p>
            <a:pPr marL="0" indent="0">
              <a:buFont typeface="Wingdings 3" charset="2"/>
              <a:buNone/>
            </a:pPr>
            <a:r>
              <a:rPr lang="en-US" dirty="0"/>
              <a:t>    </a:t>
            </a:r>
          </a:p>
          <a:p>
            <a:pPr marL="0" indent="0">
              <a:buFont typeface="Wingdings 3" charset="2"/>
              <a:buNone/>
            </a:pPr>
            <a:r>
              <a:rPr lang="en-US" dirty="0"/>
              <a:t>    DESTROY THE CUSTOMER</a:t>
            </a:r>
          </a:p>
          <a:p>
            <a:pPr marL="0" indent="0">
              <a:buFont typeface="Wingdings 3" charset="2"/>
              <a:buNone/>
            </a:pPr>
            <a:r>
              <a:rPr lang="en-US" dirty="0"/>
              <a:t>END</a:t>
            </a:r>
          </a:p>
          <a:p>
            <a:pPr marL="0" indent="0">
              <a:buFont typeface="Wingdings 3" charset="2"/>
              <a:buNone/>
            </a:pPr>
            <a:endParaRPr lang="en-US" dirty="0"/>
          </a:p>
          <a:p>
            <a:pPr marL="0" indent="0">
              <a:buFont typeface="Wingdings 3" charset="2"/>
              <a:buNone/>
            </a:pPr>
            <a:r>
              <a:rPr lang="en-US" dirty="0"/>
              <a:t>EVENT EXPRESS_CHECKOUT</a:t>
            </a:r>
          </a:p>
          <a:p>
            <a:pPr marL="0" indent="0">
              <a:buFont typeface="Wingdings 3" charset="2"/>
              <a:buNone/>
            </a:pPr>
            <a:r>
              <a:rPr lang="en-US" dirty="0"/>
              <a:t>    FREE THIS EXPRESS_CASHIER</a:t>
            </a:r>
          </a:p>
          <a:p>
            <a:pPr marL="0" indent="0">
              <a:buFont typeface="Wingdings 3" charset="2"/>
              <a:buNone/>
            </a:pPr>
            <a:r>
              <a:rPr lang="en-US" dirty="0"/>
              <a:t>    LET BUSY_EXPRESS = 0</a:t>
            </a:r>
          </a:p>
          <a:p>
            <a:pPr marL="0" indent="0">
              <a:buFont typeface="Wingdings 3" charset="2"/>
              <a:buNone/>
            </a:pPr>
            <a:r>
              <a:rPr lang="en-US" dirty="0"/>
              <a:t>    LET WAIT_TIME(CUSTOMER) = TIME(V) - ARRIVAL_TIME(CUSTOMER)</a:t>
            </a:r>
          </a:p>
          <a:p>
            <a:pPr marL="0" indent="0">
              <a:buFont typeface="Wingdings 3" charset="2"/>
              <a:buNone/>
            </a:pPr>
            <a:r>
              <a:rPr lang="en-US" dirty="0"/>
              <a:t>    LET ITEMS_PROCESSED = ITEMS_PROCESSED + ITEM_COUNT(CUSTOMER)</a:t>
            </a:r>
          </a:p>
          <a:p>
            <a:pPr marL="0" indent="0">
              <a:buFont typeface="Wingdings 3" charset="2"/>
              <a:buNone/>
            </a:pPr>
            <a:r>
              <a:rPr lang="en-US" dirty="0"/>
              <a:t>    </a:t>
            </a:r>
          </a:p>
          <a:p>
            <a:pPr marL="0" indent="0">
              <a:buFont typeface="Wingdings 3" charset="2"/>
              <a:buNone/>
            </a:pPr>
            <a:r>
              <a:rPr lang="en-US" dirty="0"/>
              <a:t>    IF NOT EMPTY(EXPRESS_QUEUE) THEN</a:t>
            </a:r>
          </a:p>
          <a:p>
            <a:pPr marL="0" indent="0">
              <a:buFont typeface="Wingdings 3" charset="2"/>
              <a:buNone/>
            </a:pPr>
            <a:r>
              <a:rPr lang="en-US" dirty="0"/>
              <a:t>        REMOVE FIRST CUSTOMER FROM EXPRESS_QUEUE</a:t>
            </a:r>
          </a:p>
          <a:p>
            <a:pPr marL="0" indent="0">
              <a:buFont typeface="Wingdings 3" charset="2"/>
              <a:buNone/>
            </a:pPr>
            <a:r>
              <a:rPr lang="en-US" dirty="0"/>
              <a:t>        USE EXPRESS_CASHIER FOR THIS CUSTOMER</a:t>
            </a:r>
          </a:p>
          <a:p>
            <a:pPr marL="0" indent="0">
              <a:buFont typeface="Wingdings 3" charset="2"/>
              <a:buNone/>
            </a:pPr>
            <a:r>
              <a:rPr lang="en-US" dirty="0"/>
              <a:t>        LET BUSY_EXPRESS = 1</a:t>
            </a:r>
          </a:p>
          <a:p>
            <a:pPr marL="0" indent="0">
              <a:buFont typeface="Wingdings 3" charset="2"/>
              <a:buNone/>
            </a:pPr>
            <a:r>
              <a:rPr lang="en-US" dirty="0"/>
              <a:t>        SCHEDULE AN EXPRESS_CHECKOUT IN NORMAL F(MEAN = 2.0, SD = 0.8) MINUTES</a:t>
            </a:r>
          </a:p>
          <a:p>
            <a:pPr marL="0" indent="0">
              <a:buFont typeface="Wingdings 3" charset="2"/>
              <a:buNone/>
            </a:pPr>
            <a:r>
              <a:rPr lang="en-US" dirty="0"/>
              <a:t>    ELSE IF NOT EMPTY(REGULAR_QUEUE) AND BUSY_REGULAR &lt; 3 THEN</a:t>
            </a:r>
          </a:p>
          <a:p>
            <a:pPr marL="0" indent="0">
              <a:buFont typeface="Wingdings 3" charset="2"/>
              <a:buNone/>
            </a:pPr>
            <a:r>
              <a:rPr lang="en-US" dirty="0"/>
              <a:t>        '' Express cashier helps with regular queue if no express customers</a:t>
            </a:r>
          </a:p>
          <a:p>
            <a:pPr marL="0" indent="0">
              <a:buFont typeface="Wingdings 3" charset="2"/>
              <a:buNone/>
            </a:pPr>
            <a:r>
              <a:rPr lang="en-US" dirty="0"/>
              <a:t>        REMOVE FIRST CUSTOMER FROM REGULAR_QUEUE</a:t>
            </a:r>
          </a:p>
          <a:p>
            <a:pPr marL="0" indent="0">
              <a:buFont typeface="Wingdings 3" charset="2"/>
              <a:buNone/>
            </a:pPr>
            <a:r>
              <a:rPr lang="en-US" dirty="0"/>
              <a:t>        USE EXPRESS_CASHIER FOR THIS CUSTOMER</a:t>
            </a:r>
          </a:p>
          <a:p>
            <a:pPr marL="0" indent="0">
              <a:buFont typeface="Wingdings 3" charset="2"/>
              <a:buNone/>
            </a:pPr>
            <a:r>
              <a:rPr lang="en-US" dirty="0"/>
              <a:t>        LET BUSY_EXPRESS = 1</a:t>
            </a:r>
          </a:p>
          <a:p>
            <a:pPr marL="0" indent="0">
              <a:buFont typeface="Wingdings 3" charset="2"/>
              <a:buNone/>
            </a:pPr>
            <a:r>
              <a:rPr lang="en-US" dirty="0"/>
              <a:t>        SCHEDULE A REGULAR_CHECKOUT IN NORMAL F(MEAN = 5.0, SD = 1.5) MINUTES</a:t>
            </a:r>
          </a:p>
          <a:p>
            <a:pPr marL="0" indent="0">
              <a:buFont typeface="Wingdings 3" charset="2"/>
              <a:buNone/>
            </a:pPr>
            <a:r>
              <a:rPr lang="en-US" dirty="0"/>
              <a:t>    </a:t>
            </a:r>
          </a:p>
          <a:p>
            <a:pPr marL="0" indent="0">
              <a:buFont typeface="Wingdings 3" charset="2"/>
              <a:buNone/>
            </a:pPr>
            <a:r>
              <a:rPr lang="en-US" dirty="0"/>
              <a:t>    DESTROY THE CUSTOMER</a:t>
            </a:r>
          </a:p>
          <a:p>
            <a:pPr marL="0" indent="0">
              <a:buFont typeface="Wingdings 3" charset="2"/>
              <a:buNone/>
            </a:pPr>
            <a:r>
              <a:rPr lang="en-US" dirty="0"/>
              <a:t>END</a:t>
            </a:r>
          </a:p>
        </p:txBody>
      </p:sp>
      <p:sp>
        <p:nvSpPr>
          <p:cNvPr id="9" name="Footer Placeholder 8">
            <a:extLst>
              <a:ext uri="{FF2B5EF4-FFF2-40B4-BE49-F238E27FC236}">
                <a16:creationId xmlns:a16="http://schemas.microsoft.com/office/drawing/2014/main" id="{E6819ED1-4982-43E0-F780-C4CB69EE8369}"/>
              </a:ext>
            </a:extLst>
          </p:cNvPr>
          <p:cNvSpPr>
            <a:spLocks noGrp="1"/>
          </p:cNvSpPr>
          <p:nvPr>
            <p:ph type="ftr" sz="quarter" idx="11"/>
          </p:nvPr>
        </p:nvSpPr>
        <p:spPr/>
        <p:txBody>
          <a:bodyPr/>
          <a:lstStyle/>
          <a:p>
            <a:r>
              <a:rPr lang="nb-NO"/>
              <a:t>Kapil@nast.edu.np || kapilpant157</a:t>
            </a:r>
            <a:endParaRPr lang="en-US" dirty="0"/>
          </a:p>
        </p:txBody>
      </p:sp>
      <p:sp>
        <p:nvSpPr>
          <p:cNvPr id="10" name="Date Placeholder 9">
            <a:extLst>
              <a:ext uri="{FF2B5EF4-FFF2-40B4-BE49-F238E27FC236}">
                <a16:creationId xmlns:a16="http://schemas.microsoft.com/office/drawing/2014/main" id="{5F9C7F70-67A7-AE44-E204-8CCCF3BBA7C8}"/>
              </a:ext>
            </a:extLst>
          </p:cNvPr>
          <p:cNvSpPr>
            <a:spLocks noGrp="1"/>
          </p:cNvSpPr>
          <p:nvPr>
            <p:ph type="dt" sz="half" idx="10"/>
          </p:nvPr>
        </p:nvSpPr>
        <p:spPr/>
        <p:txBody>
          <a:bodyPr/>
          <a:lstStyle/>
          <a:p>
            <a:fld id="{91EB6EA7-B041-4601-B3D9-35F797313E0E}" type="datetime1">
              <a:rPr lang="en-US" smtClean="0"/>
              <a:t>1/31/2026</a:t>
            </a:fld>
            <a:endParaRPr lang="en-US"/>
          </a:p>
        </p:txBody>
      </p:sp>
      <p:sp>
        <p:nvSpPr>
          <p:cNvPr id="11" name="Slide Number Placeholder 10">
            <a:extLst>
              <a:ext uri="{FF2B5EF4-FFF2-40B4-BE49-F238E27FC236}">
                <a16:creationId xmlns:a16="http://schemas.microsoft.com/office/drawing/2014/main" id="{BCC93499-5287-04B3-2138-16FAAF445DB1}"/>
              </a:ext>
            </a:extLst>
          </p:cNvPr>
          <p:cNvSpPr>
            <a:spLocks noGrp="1"/>
          </p:cNvSpPr>
          <p:nvPr>
            <p:ph type="sldNum" sz="quarter" idx="12"/>
          </p:nvPr>
        </p:nvSpPr>
        <p:spPr/>
        <p:txBody>
          <a:bodyPr/>
          <a:lstStyle/>
          <a:p>
            <a:fld id="{7EA05A3E-6DBA-4FE0-898F-5EF47B17DFD2}" type="slidenum">
              <a:rPr lang="en-US" smtClean="0"/>
              <a:t>27</a:t>
            </a:fld>
            <a:endParaRPr lang="en-US"/>
          </a:p>
        </p:txBody>
      </p:sp>
    </p:spTree>
    <p:extLst>
      <p:ext uri="{BB962C8B-B14F-4D97-AF65-F5344CB8AC3E}">
        <p14:creationId xmlns:p14="http://schemas.microsoft.com/office/powerpoint/2010/main" val="17646419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Comparison of GPSS and SIMSCRIPT</a:t>
            </a:r>
          </a:p>
        </p:txBody>
      </p:sp>
      <p:graphicFrame>
        <p:nvGraphicFramePr>
          <p:cNvPr id="4" name="Table 3">
            <a:extLst>
              <a:ext uri="{FF2B5EF4-FFF2-40B4-BE49-F238E27FC236}">
                <a16:creationId xmlns:a16="http://schemas.microsoft.com/office/drawing/2014/main" id="{613F4E5D-371E-7954-FCAF-9E2B6FBA169A}"/>
              </a:ext>
            </a:extLst>
          </p:cNvPr>
          <p:cNvGraphicFramePr>
            <a:graphicFrameLocks noGrp="1"/>
          </p:cNvGraphicFramePr>
          <p:nvPr>
            <p:extLst>
              <p:ext uri="{D42A27DB-BD31-4B8C-83A1-F6EECF244321}">
                <p14:modId xmlns:p14="http://schemas.microsoft.com/office/powerpoint/2010/main" val="3405191352"/>
              </p:ext>
            </p:extLst>
          </p:nvPr>
        </p:nvGraphicFramePr>
        <p:xfrm>
          <a:off x="861311" y="2542539"/>
          <a:ext cx="6551859" cy="2176963"/>
        </p:xfrm>
        <a:graphic>
          <a:graphicData uri="http://schemas.openxmlformats.org/drawingml/2006/table">
            <a:tbl>
              <a:tblPr firstRow="1" bandRow="1">
                <a:tableStyleId>{5C22544A-7EE6-4342-B048-85BDC9FD1C3A}</a:tableStyleId>
              </a:tblPr>
              <a:tblGrid>
                <a:gridCol w="2183953">
                  <a:extLst>
                    <a:ext uri="{9D8B030D-6E8A-4147-A177-3AD203B41FA5}">
                      <a16:colId xmlns:a16="http://schemas.microsoft.com/office/drawing/2014/main" val="2908252825"/>
                    </a:ext>
                  </a:extLst>
                </a:gridCol>
                <a:gridCol w="2183953">
                  <a:extLst>
                    <a:ext uri="{9D8B030D-6E8A-4147-A177-3AD203B41FA5}">
                      <a16:colId xmlns:a16="http://schemas.microsoft.com/office/drawing/2014/main" val="4019386819"/>
                    </a:ext>
                  </a:extLst>
                </a:gridCol>
                <a:gridCol w="2183953">
                  <a:extLst>
                    <a:ext uri="{9D8B030D-6E8A-4147-A177-3AD203B41FA5}">
                      <a16:colId xmlns:a16="http://schemas.microsoft.com/office/drawing/2014/main" val="3542385889"/>
                    </a:ext>
                  </a:extLst>
                </a:gridCol>
              </a:tblGrid>
              <a:tr h="437461">
                <a:tc>
                  <a:txBody>
                    <a:bodyPr/>
                    <a:lstStyle/>
                    <a:p>
                      <a:r>
                        <a:rPr lang="en-US" dirty="0"/>
                        <a:t>Feature </a:t>
                      </a:r>
                    </a:p>
                  </a:txBody>
                  <a:tcPr/>
                </a:tc>
                <a:tc>
                  <a:txBody>
                    <a:bodyPr/>
                    <a:lstStyle/>
                    <a:p>
                      <a:r>
                        <a:rPr lang="en-US" dirty="0"/>
                        <a:t>GPSS</a:t>
                      </a:r>
                    </a:p>
                  </a:txBody>
                  <a:tcPr/>
                </a:tc>
                <a:tc>
                  <a:txBody>
                    <a:bodyPr/>
                    <a:lstStyle/>
                    <a:p>
                      <a:r>
                        <a:rPr lang="en-US" dirty="0"/>
                        <a:t>SIMSCRIPT</a:t>
                      </a:r>
                    </a:p>
                  </a:txBody>
                  <a:tcPr/>
                </a:tc>
                <a:extLst>
                  <a:ext uri="{0D108BD9-81ED-4DB2-BD59-A6C34878D82A}">
                    <a16:rowId xmlns:a16="http://schemas.microsoft.com/office/drawing/2014/main" val="170369995"/>
                  </a:ext>
                </a:extLst>
              </a:tr>
              <a:tr h="546971">
                <a:tc>
                  <a:txBody>
                    <a:bodyPr/>
                    <a:lstStyle/>
                    <a:p>
                      <a:r>
                        <a:rPr lang="en-US" dirty="0"/>
                        <a:t>Ease of Use </a:t>
                      </a:r>
                    </a:p>
                  </a:txBody>
                  <a:tcPr/>
                </a:tc>
                <a:tc>
                  <a:txBody>
                    <a:bodyPr/>
                    <a:lstStyle/>
                    <a:p>
                      <a:r>
                        <a:rPr lang="en-US" dirty="0"/>
                        <a:t>Simple block-based </a:t>
                      </a:r>
                    </a:p>
                  </a:txBody>
                  <a:tcPr/>
                </a:tc>
                <a:tc>
                  <a:txBody>
                    <a:bodyPr/>
                    <a:lstStyle/>
                    <a:p>
                      <a:r>
                        <a:rPr lang="en-US" dirty="0"/>
                        <a:t>Structured coding </a:t>
                      </a:r>
                    </a:p>
                  </a:txBody>
                  <a:tcPr/>
                </a:tc>
                <a:extLst>
                  <a:ext uri="{0D108BD9-81ED-4DB2-BD59-A6C34878D82A}">
                    <a16:rowId xmlns:a16="http://schemas.microsoft.com/office/drawing/2014/main" val="3126307514"/>
                  </a:ext>
                </a:extLst>
              </a:tr>
              <a:tr h="437461">
                <a:tc>
                  <a:txBody>
                    <a:bodyPr/>
                    <a:lstStyle/>
                    <a:p>
                      <a:r>
                        <a:rPr lang="en-US" dirty="0"/>
                        <a:t>Flexibility </a:t>
                      </a:r>
                    </a:p>
                  </a:txBody>
                  <a:tcPr/>
                </a:tc>
                <a:tc>
                  <a:txBody>
                    <a:bodyPr/>
                    <a:lstStyle/>
                    <a:p>
                      <a:r>
                        <a:rPr lang="en-US" dirty="0"/>
                        <a:t>Moderate</a:t>
                      </a:r>
                    </a:p>
                  </a:txBody>
                  <a:tcPr/>
                </a:tc>
                <a:tc>
                  <a:txBody>
                    <a:bodyPr/>
                    <a:lstStyle/>
                    <a:p>
                      <a:r>
                        <a:rPr lang="en-US" dirty="0"/>
                        <a:t> High </a:t>
                      </a:r>
                    </a:p>
                  </a:txBody>
                  <a:tcPr/>
                </a:tc>
                <a:extLst>
                  <a:ext uri="{0D108BD9-81ED-4DB2-BD59-A6C34878D82A}">
                    <a16:rowId xmlns:a16="http://schemas.microsoft.com/office/drawing/2014/main" val="3581625843"/>
                  </a:ext>
                </a:extLst>
              </a:tr>
              <a:tr h="755070">
                <a:tc>
                  <a:txBody>
                    <a:bodyPr/>
                    <a:lstStyle/>
                    <a:p>
                      <a:r>
                        <a:rPr lang="en-US" dirty="0"/>
                        <a:t>Best For </a:t>
                      </a:r>
                    </a:p>
                  </a:txBody>
                  <a:tcPr/>
                </a:tc>
                <a:tc>
                  <a:txBody>
                    <a:bodyPr/>
                    <a:lstStyle/>
                    <a:p>
                      <a:r>
                        <a:rPr lang="en-US" dirty="0"/>
                        <a:t>Small systems </a:t>
                      </a:r>
                    </a:p>
                  </a:txBody>
                  <a:tcPr/>
                </a:tc>
                <a:tc>
                  <a:txBody>
                    <a:bodyPr/>
                    <a:lstStyle/>
                    <a:p>
                      <a:r>
                        <a:rPr lang="en-US" dirty="0"/>
                        <a:t>Large-scale models </a:t>
                      </a:r>
                    </a:p>
                  </a:txBody>
                  <a:tcPr/>
                </a:tc>
                <a:extLst>
                  <a:ext uri="{0D108BD9-81ED-4DB2-BD59-A6C34878D82A}">
                    <a16:rowId xmlns:a16="http://schemas.microsoft.com/office/drawing/2014/main" val="3681505207"/>
                  </a:ext>
                </a:extLst>
              </a:tr>
            </a:tbl>
          </a:graphicData>
        </a:graphic>
      </p:graphicFrame>
      <p:sp>
        <p:nvSpPr>
          <p:cNvPr id="3" name="Footer Placeholder 2">
            <a:extLst>
              <a:ext uri="{FF2B5EF4-FFF2-40B4-BE49-F238E27FC236}">
                <a16:creationId xmlns:a16="http://schemas.microsoft.com/office/drawing/2014/main" id="{D8D3EAD8-2617-3A8B-5D1F-41EB7E0CD441}"/>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E1800386-7F22-6E15-7F2D-4D20EC30ED79}"/>
              </a:ext>
            </a:extLst>
          </p:cNvPr>
          <p:cNvSpPr>
            <a:spLocks noGrp="1"/>
          </p:cNvSpPr>
          <p:nvPr>
            <p:ph type="dt" sz="half" idx="10"/>
          </p:nvPr>
        </p:nvSpPr>
        <p:spPr/>
        <p:txBody>
          <a:bodyPr/>
          <a:lstStyle/>
          <a:p>
            <a:fld id="{164DBBAC-E042-4FBB-BBE7-AAEFAF24BA31}" type="datetime1">
              <a:rPr lang="en-US" smtClean="0"/>
              <a:t>1/31/2026</a:t>
            </a:fld>
            <a:endParaRPr lang="en-US"/>
          </a:p>
        </p:txBody>
      </p:sp>
      <p:sp>
        <p:nvSpPr>
          <p:cNvPr id="6" name="Slide Number Placeholder 5">
            <a:extLst>
              <a:ext uri="{FF2B5EF4-FFF2-40B4-BE49-F238E27FC236}">
                <a16:creationId xmlns:a16="http://schemas.microsoft.com/office/drawing/2014/main" id="{5197C5BC-AB9E-9F90-8276-F75803DDDA77}"/>
              </a:ext>
            </a:extLst>
          </p:cNvPr>
          <p:cNvSpPr>
            <a:spLocks noGrp="1"/>
          </p:cNvSpPr>
          <p:nvPr>
            <p:ph type="sldNum" sz="quarter" idx="12"/>
          </p:nvPr>
        </p:nvSpPr>
        <p:spPr/>
        <p:txBody>
          <a:bodyPr/>
          <a:lstStyle/>
          <a:p>
            <a:fld id="{7EA05A3E-6DBA-4FE0-898F-5EF47B17DFD2}"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F8BD8-E522-A56B-2F20-0E83ECB4021D}"/>
              </a:ext>
            </a:extLst>
          </p:cNvPr>
          <p:cNvSpPr>
            <a:spLocks noGrp="1"/>
          </p:cNvSpPr>
          <p:nvPr>
            <p:ph type="title"/>
          </p:nvPr>
        </p:nvSpPr>
        <p:spPr/>
        <p:txBody>
          <a:bodyPr/>
          <a:lstStyle/>
          <a:p>
            <a:r>
              <a:rPr lang="en-US" dirty="0"/>
              <a:t>Discrete Simulation Languages</a:t>
            </a:r>
          </a:p>
        </p:txBody>
      </p:sp>
      <p:sp>
        <p:nvSpPr>
          <p:cNvPr id="3" name="Content Placeholder 2">
            <a:extLst>
              <a:ext uri="{FF2B5EF4-FFF2-40B4-BE49-F238E27FC236}">
                <a16:creationId xmlns:a16="http://schemas.microsoft.com/office/drawing/2014/main" id="{25DB61F4-8826-6081-092B-2DA59A5C92DC}"/>
              </a:ext>
            </a:extLst>
          </p:cNvPr>
          <p:cNvSpPr>
            <a:spLocks noGrp="1"/>
          </p:cNvSpPr>
          <p:nvPr>
            <p:ph idx="1"/>
          </p:nvPr>
        </p:nvSpPr>
        <p:spPr/>
        <p:txBody>
          <a:bodyPr/>
          <a:lstStyle/>
          <a:p>
            <a:r>
              <a:rPr lang="en-US" dirty="0"/>
              <a:t>GPSS</a:t>
            </a:r>
          </a:p>
          <a:p>
            <a:r>
              <a:rPr lang="en-US" dirty="0" err="1"/>
              <a:t>SimPy</a:t>
            </a:r>
            <a:r>
              <a:rPr lang="en-US" dirty="0"/>
              <a:t> (Python)</a:t>
            </a:r>
          </a:p>
          <a:p>
            <a:r>
              <a:rPr lang="en-US" dirty="0" err="1"/>
              <a:t>AnyLogic</a:t>
            </a:r>
            <a:endParaRPr lang="en-US" dirty="0"/>
          </a:p>
          <a:p>
            <a:r>
              <a:rPr lang="en-US" dirty="0"/>
              <a:t>Arena</a:t>
            </a:r>
          </a:p>
          <a:p>
            <a:r>
              <a:rPr lang="en-US" dirty="0" err="1"/>
              <a:t>FlexSim</a:t>
            </a:r>
            <a:endParaRPr lang="en-US" dirty="0"/>
          </a:p>
        </p:txBody>
      </p:sp>
      <p:sp>
        <p:nvSpPr>
          <p:cNvPr id="4" name="TextBox 3">
            <a:extLst>
              <a:ext uri="{FF2B5EF4-FFF2-40B4-BE49-F238E27FC236}">
                <a16:creationId xmlns:a16="http://schemas.microsoft.com/office/drawing/2014/main" id="{6F7F203D-5BED-4191-3A3B-9B17DD603DEE}"/>
              </a:ext>
            </a:extLst>
          </p:cNvPr>
          <p:cNvSpPr txBox="1"/>
          <p:nvPr/>
        </p:nvSpPr>
        <p:spPr>
          <a:xfrm>
            <a:off x="4699028" y="1565992"/>
            <a:ext cx="2320485" cy="923330"/>
          </a:xfrm>
          <a:prstGeom prst="rect">
            <a:avLst/>
          </a:prstGeom>
          <a:noFill/>
        </p:spPr>
        <p:txBody>
          <a:bodyPr wrap="square" rtlCol="0">
            <a:spAutoFit/>
          </a:bodyPr>
          <a:lstStyle/>
          <a:p>
            <a:r>
              <a:rPr lang="en-US" dirty="0"/>
              <a:t>Block- Based: better for understanding event floe </a:t>
            </a:r>
          </a:p>
        </p:txBody>
      </p:sp>
      <p:sp>
        <p:nvSpPr>
          <p:cNvPr id="5" name="TextBox 4">
            <a:extLst>
              <a:ext uri="{FF2B5EF4-FFF2-40B4-BE49-F238E27FC236}">
                <a16:creationId xmlns:a16="http://schemas.microsoft.com/office/drawing/2014/main" id="{D23A72AB-2449-5E64-17C6-1F50F3F89519}"/>
              </a:ext>
            </a:extLst>
          </p:cNvPr>
          <p:cNvSpPr txBox="1"/>
          <p:nvPr/>
        </p:nvSpPr>
        <p:spPr>
          <a:xfrm>
            <a:off x="5612046" y="2783090"/>
            <a:ext cx="2320485" cy="923330"/>
          </a:xfrm>
          <a:prstGeom prst="rect">
            <a:avLst/>
          </a:prstGeom>
          <a:noFill/>
        </p:spPr>
        <p:txBody>
          <a:bodyPr wrap="square" rtlCol="0">
            <a:spAutoFit/>
          </a:bodyPr>
          <a:lstStyle/>
          <a:p>
            <a:r>
              <a:rPr lang="en-US" dirty="0"/>
              <a:t>Text-Based: easy to integrate with programming</a:t>
            </a:r>
          </a:p>
        </p:txBody>
      </p:sp>
      <p:sp>
        <p:nvSpPr>
          <p:cNvPr id="6" name="TextBox 5">
            <a:extLst>
              <a:ext uri="{FF2B5EF4-FFF2-40B4-BE49-F238E27FC236}">
                <a16:creationId xmlns:a16="http://schemas.microsoft.com/office/drawing/2014/main" id="{D5C3B39E-14BE-49D4-AC9B-66020C215B4E}"/>
              </a:ext>
            </a:extLst>
          </p:cNvPr>
          <p:cNvSpPr txBox="1"/>
          <p:nvPr/>
        </p:nvSpPr>
        <p:spPr>
          <a:xfrm>
            <a:off x="3375474" y="5336817"/>
            <a:ext cx="2320485" cy="646331"/>
          </a:xfrm>
          <a:prstGeom prst="rect">
            <a:avLst/>
          </a:prstGeom>
          <a:noFill/>
        </p:spPr>
        <p:txBody>
          <a:bodyPr wrap="square" rtlCol="0">
            <a:spAutoFit/>
          </a:bodyPr>
          <a:lstStyle/>
          <a:p>
            <a:r>
              <a:rPr lang="en-US" dirty="0"/>
              <a:t>3D GUI-Based: Great for visual learners</a:t>
            </a:r>
          </a:p>
        </p:txBody>
      </p:sp>
      <p:sp>
        <p:nvSpPr>
          <p:cNvPr id="7" name="TextBox 6">
            <a:extLst>
              <a:ext uri="{FF2B5EF4-FFF2-40B4-BE49-F238E27FC236}">
                <a16:creationId xmlns:a16="http://schemas.microsoft.com/office/drawing/2014/main" id="{D47BDB4F-E803-532C-7B72-678239FF17C0}"/>
              </a:ext>
            </a:extLst>
          </p:cNvPr>
          <p:cNvSpPr txBox="1"/>
          <p:nvPr/>
        </p:nvSpPr>
        <p:spPr>
          <a:xfrm>
            <a:off x="5178965" y="4059649"/>
            <a:ext cx="2320485" cy="646331"/>
          </a:xfrm>
          <a:prstGeom prst="rect">
            <a:avLst/>
          </a:prstGeom>
          <a:noFill/>
        </p:spPr>
        <p:txBody>
          <a:bodyPr wrap="square" rtlCol="0">
            <a:spAutoFit/>
          </a:bodyPr>
          <a:lstStyle/>
          <a:p>
            <a:r>
              <a:rPr lang="en-US" dirty="0"/>
              <a:t>Mixed: Advanced among all these</a:t>
            </a:r>
          </a:p>
        </p:txBody>
      </p:sp>
      <p:cxnSp>
        <p:nvCxnSpPr>
          <p:cNvPr id="9" name="Connector: Curved 8">
            <a:extLst>
              <a:ext uri="{FF2B5EF4-FFF2-40B4-BE49-F238E27FC236}">
                <a16:creationId xmlns:a16="http://schemas.microsoft.com/office/drawing/2014/main" id="{13F95903-7214-B1F2-7382-AF778FDE5AA7}"/>
              </a:ext>
            </a:extLst>
          </p:cNvPr>
          <p:cNvCxnSpPr>
            <a:endCxn id="4" idx="1"/>
          </p:cNvCxnSpPr>
          <p:nvPr/>
        </p:nvCxnSpPr>
        <p:spPr>
          <a:xfrm flipV="1">
            <a:off x="1712068" y="2027657"/>
            <a:ext cx="2986960" cy="132933"/>
          </a:xfrm>
          <a:prstGeom prst="curvedConnector3">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 name="Connector: Curved 10">
            <a:extLst>
              <a:ext uri="{FF2B5EF4-FFF2-40B4-BE49-F238E27FC236}">
                <a16:creationId xmlns:a16="http://schemas.microsoft.com/office/drawing/2014/main" id="{2244C9F9-1CBF-76EA-2535-7F4B348DC630}"/>
              </a:ext>
            </a:extLst>
          </p:cNvPr>
          <p:cNvCxnSpPr>
            <a:cxnSpLocks/>
            <a:endCxn id="7" idx="1"/>
          </p:cNvCxnSpPr>
          <p:nvPr/>
        </p:nvCxnSpPr>
        <p:spPr>
          <a:xfrm>
            <a:off x="2186687" y="3173512"/>
            <a:ext cx="2992278" cy="1209303"/>
          </a:xfrm>
          <a:prstGeom prst="curvedConnector3">
            <a:avLst>
              <a:gd name="adj1" fmla="val 50000"/>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Connector: Curved 12">
            <a:extLst>
              <a:ext uri="{FF2B5EF4-FFF2-40B4-BE49-F238E27FC236}">
                <a16:creationId xmlns:a16="http://schemas.microsoft.com/office/drawing/2014/main" id="{67030C32-611C-10BF-B5E2-383A7FC95275}"/>
              </a:ext>
            </a:extLst>
          </p:cNvPr>
          <p:cNvCxnSpPr>
            <a:cxnSpLocks/>
          </p:cNvCxnSpPr>
          <p:nvPr/>
        </p:nvCxnSpPr>
        <p:spPr>
          <a:xfrm>
            <a:off x="2767735" y="2786621"/>
            <a:ext cx="2844311" cy="461665"/>
          </a:xfrm>
          <a:prstGeom prst="curvedConnector3">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Connector: Curved 16">
            <a:extLst>
              <a:ext uri="{FF2B5EF4-FFF2-40B4-BE49-F238E27FC236}">
                <a16:creationId xmlns:a16="http://schemas.microsoft.com/office/drawing/2014/main" id="{A26C1A2F-CA27-86B6-E328-462A28813D4B}"/>
              </a:ext>
            </a:extLst>
          </p:cNvPr>
          <p:cNvCxnSpPr>
            <a:cxnSpLocks/>
            <a:endCxn id="6" idx="0"/>
          </p:cNvCxnSpPr>
          <p:nvPr/>
        </p:nvCxnSpPr>
        <p:spPr>
          <a:xfrm>
            <a:off x="1646033" y="3629319"/>
            <a:ext cx="2889684" cy="1707498"/>
          </a:xfrm>
          <a:prstGeom prst="curvedConnector2">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Connector: Curved 19">
            <a:extLst>
              <a:ext uri="{FF2B5EF4-FFF2-40B4-BE49-F238E27FC236}">
                <a16:creationId xmlns:a16="http://schemas.microsoft.com/office/drawing/2014/main" id="{4AC8EE3A-37C6-9654-D774-6E26D3E18AA6}"/>
              </a:ext>
            </a:extLst>
          </p:cNvPr>
          <p:cNvCxnSpPr>
            <a:cxnSpLocks/>
            <a:endCxn id="6" idx="0"/>
          </p:cNvCxnSpPr>
          <p:nvPr/>
        </p:nvCxnSpPr>
        <p:spPr>
          <a:xfrm>
            <a:off x="1684944" y="3998649"/>
            <a:ext cx="2850773" cy="1338168"/>
          </a:xfrm>
          <a:prstGeom prst="curvedConnector2">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Footer Placeholder 7">
            <a:extLst>
              <a:ext uri="{FF2B5EF4-FFF2-40B4-BE49-F238E27FC236}">
                <a16:creationId xmlns:a16="http://schemas.microsoft.com/office/drawing/2014/main" id="{5C6E4576-6A02-7128-7EFA-DC7AC0F24029}"/>
              </a:ext>
            </a:extLst>
          </p:cNvPr>
          <p:cNvSpPr>
            <a:spLocks noGrp="1"/>
          </p:cNvSpPr>
          <p:nvPr>
            <p:ph type="ftr" sz="quarter" idx="11"/>
          </p:nvPr>
        </p:nvSpPr>
        <p:spPr/>
        <p:txBody>
          <a:bodyPr/>
          <a:lstStyle/>
          <a:p>
            <a:r>
              <a:rPr lang="nb-NO"/>
              <a:t>Kapil@nast.edu.np || kapilpant157</a:t>
            </a:r>
            <a:endParaRPr lang="en-US" dirty="0"/>
          </a:p>
        </p:txBody>
      </p:sp>
      <p:sp>
        <p:nvSpPr>
          <p:cNvPr id="10" name="Date Placeholder 9">
            <a:extLst>
              <a:ext uri="{FF2B5EF4-FFF2-40B4-BE49-F238E27FC236}">
                <a16:creationId xmlns:a16="http://schemas.microsoft.com/office/drawing/2014/main" id="{E8753F0A-5CF1-2F4E-B517-652EF0C95700}"/>
              </a:ext>
            </a:extLst>
          </p:cNvPr>
          <p:cNvSpPr>
            <a:spLocks noGrp="1"/>
          </p:cNvSpPr>
          <p:nvPr>
            <p:ph type="dt" sz="half" idx="10"/>
          </p:nvPr>
        </p:nvSpPr>
        <p:spPr/>
        <p:txBody>
          <a:bodyPr/>
          <a:lstStyle/>
          <a:p>
            <a:fld id="{40E32BF3-999D-4560-946D-0A0844D4BEE4}" type="datetime1">
              <a:rPr lang="en-US" smtClean="0"/>
              <a:t>1/31/2026</a:t>
            </a:fld>
            <a:endParaRPr lang="en-US"/>
          </a:p>
        </p:txBody>
      </p:sp>
      <p:sp>
        <p:nvSpPr>
          <p:cNvPr id="12" name="Slide Number Placeholder 11">
            <a:extLst>
              <a:ext uri="{FF2B5EF4-FFF2-40B4-BE49-F238E27FC236}">
                <a16:creationId xmlns:a16="http://schemas.microsoft.com/office/drawing/2014/main" id="{62B87214-BEBF-1C69-32F8-7628415A6D98}"/>
              </a:ext>
            </a:extLst>
          </p:cNvPr>
          <p:cNvSpPr>
            <a:spLocks noGrp="1"/>
          </p:cNvSpPr>
          <p:nvPr>
            <p:ph type="sldNum" sz="quarter" idx="12"/>
          </p:nvPr>
        </p:nvSpPr>
        <p:spPr/>
        <p:txBody>
          <a:bodyPr/>
          <a:lstStyle/>
          <a:p>
            <a:fld id="{7EA05A3E-6DBA-4FE0-898F-5EF47B17DFD2}" type="slidenum">
              <a:rPr lang="en-US" smtClean="0"/>
              <a:t>29</a:t>
            </a:fld>
            <a:endParaRPr lang="en-US"/>
          </a:p>
        </p:txBody>
      </p:sp>
    </p:spTree>
    <p:extLst>
      <p:ext uri="{BB962C8B-B14F-4D97-AF65-F5344CB8AC3E}">
        <p14:creationId xmlns:p14="http://schemas.microsoft.com/office/powerpoint/2010/main" val="36125297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A224D-EACC-53E1-ABAB-1C29D8042101}"/>
              </a:ext>
            </a:extLst>
          </p:cNvPr>
          <p:cNvSpPr>
            <a:spLocks noGrp="1"/>
          </p:cNvSpPr>
          <p:nvPr>
            <p:ph type="title"/>
          </p:nvPr>
        </p:nvSpPr>
        <p:spPr>
          <a:xfrm>
            <a:off x="609599" y="609600"/>
            <a:ext cx="7055797" cy="1320800"/>
          </a:xfrm>
        </p:spPr>
        <p:txBody>
          <a:bodyPr/>
          <a:lstStyle/>
          <a:p>
            <a:r>
              <a:rPr lang="en-US" dirty="0" err="1"/>
              <a:t>SimPy</a:t>
            </a:r>
            <a:r>
              <a:rPr lang="en-US" dirty="0"/>
              <a:t> (Python Based Simulation)</a:t>
            </a:r>
          </a:p>
        </p:txBody>
      </p:sp>
      <p:sp>
        <p:nvSpPr>
          <p:cNvPr id="3" name="Content Placeholder 2">
            <a:extLst>
              <a:ext uri="{FF2B5EF4-FFF2-40B4-BE49-F238E27FC236}">
                <a16:creationId xmlns:a16="http://schemas.microsoft.com/office/drawing/2014/main" id="{1BD11C33-B0ED-AD67-3890-67ECEF8EB710}"/>
              </a:ext>
            </a:extLst>
          </p:cNvPr>
          <p:cNvSpPr>
            <a:spLocks noGrp="1"/>
          </p:cNvSpPr>
          <p:nvPr>
            <p:ph idx="1"/>
          </p:nvPr>
        </p:nvSpPr>
        <p:spPr>
          <a:xfrm>
            <a:off x="609599" y="1693663"/>
            <a:ext cx="7658912" cy="5164337"/>
          </a:xfrm>
        </p:spPr>
        <p:txBody>
          <a:bodyPr>
            <a:normAutofit fontScale="92500" lnSpcReduction="20000"/>
          </a:bodyPr>
          <a:lstStyle/>
          <a:p>
            <a:pPr marL="0" indent="0">
              <a:buNone/>
            </a:pPr>
            <a:r>
              <a:rPr lang="en-US" dirty="0" err="1"/>
              <a:t>SimPy</a:t>
            </a:r>
            <a:r>
              <a:rPr lang="en-US" dirty="0"/>
              <a:t> is an </a:t>
            </a:r>
            <a:r>
              <a:rPr lang="en-US" b="1" dirty="0"/>
              <a:t>open-source simulation framework</a:t>
            </a:r>
            <a:r>
              <a:rPr lang="en-US" dirty="0"/>
              <a:t> in Python for modeling </a:t>
            </a:r>
            <a:r>
              <a:rPr lang="en-US" b="1" dirty="0"/>
              <a:t>discrete-event systems</a:t>
            </a:r>
            <a:r>
              <a:rPr lang="en-US" dirty="0"/>
              <a:t> using </a:t>
            </a:r>
            <a:r>
              <a:rPr lang="en-US" b="1" dirty="0"/>
              <a:t>process-based modeling</a:t>
            </a:r>
            <a:r>
              <a:rPr lang="en-US" dirty="0"/>
              <a:t>.</a:t>
            </a:r>
          </a:p>
          <a:p>
            <a:r>
              <a:rPr lang="en-US" dirty="0"/>
              <a:t>Core Concepts:</a:t>
            </a:r>
          </a:p>
          <a:p>
            <a:pPr lvl="1"/>
            <a:r>
              <a:rPr lang="en-US" dirty="0"/>
              <a:t>Environment: Simulation clock &amp; event queue.</a:t>
            </a:r>
          </a:p>
          <a:p>
            <a:pPr lvl="1"/>
            <a:r>
              <a:rPr lang="en-US" dirty="0"/>
              <a:t>Processes: Modeled with Python generators (</a:t>
            </a:r>
            <a:r>
              <a:rPr lang="en-US" i="1" dirty="0"/>
              <a:t>yield </a:t>
            </a:r>
            <a:r>
              <a:rPr lang="en-US" i="1" dirty="0" err="1"/>
              <a:t>env.timeout</a:t>
            </a:r>
            <a:r>
              <a:rPr lang="en-US" i="1" dirty="0"/>
              <a:t>()).</a:t>
            </a:r>
          </a:p>
          <a:p>
            <a:pPr lvl="1"/>
            <a:r>
              <a:rPr lang="en-US" dirty="0"/>
              <a:t>Resources: Like </a:t>
            </a:r>
            <a:r>
              <a:rPr lang="en-US" i="1" dirty="0"/>
              <a:t>Resource, </a:t>
            </a:r>
            <a:r>
              <a:rPr lang="en-US" i="1" dirty="0" err="1"/>
              <a:t>PriorityResource</a:t>
            </a:r>
            <a:r>
              <a:rPr lang="en-US" i="1" dirty="0"/>
              <a:t>, Container</a:t>
            </a:r>
            <a:r>
              <a:rPr lang="en-US" dirty="0"/>
              <a:t>.</a:t>
            </a:r>
          </a:p>
          <a:p>
            <a:r>
              <a:rPr lang="en-US" dirty="0"/>
              <a:t>Strengths:</a:t>
            </a:r>
          </a:p>
          <a:p>
            <a:pPr lvl="1"/>
            <a:r>
              <a:rPr lang="en-US" dirty="0"/>
              <a:t>Easy to learn if familiar with Python.</a:t>
            </a:r>
          </a:p>
          <a:p>
            <a:pPr lvl="1"/>
            <a:r>
              <a:rPr lang="en-US" dirty="0"/>
              <a:t>Fully programmable and flexible.</a:t>
            </a:r>
          </a:p>
          <a:p>
            <a:pPr lvl="1"/>
            <a:r>
              <a:rPr lang="en-US" dirty="0"/>
              <a:t>Integrates well with data analysis, visualization (e.g., Matplotlib).</a:t>
            </a:r>
          </a:p>
          <a:p>
            <a:r>
              <a:rPr lang="en-US" dirty="0"/>
              <a:t>Use Cases: Queues, manufacturing systems, hospitals, call centers.</a:t>
            </a:r>
          </a:p>
          <a:p>
            <a:pPr marL="0" indent="0">
              <a:buNone/>
            </a:pPr>
            <a:r>
              <a:rPr lang="en-US" dirty="0"/>
              <a:t>Example: </a:t>
            </a:r>
          </a:p>
          <a:p>
            <a:pPr marL="0" indent="0">
              <a:buNone/>
            </a:pPr>
            <a:r>
              <a:rPr lang="en-US" i="1" dirty="0"/>
              <a:t>def patient(env):</a:t>
            </a:r>
          </a:p>
          <a:p>
            <a:pPr marL="0" indent="0">
              <a:buNone/>
            </a:pPr>
            <a:r>
              <a:rPr lang="en-US" i="1" dirty="0"/>
              <a:t>    print(</a:t>
            </a:r>
            <a:r>
              <a:rPr lang="en-US" i="1" dirty="0" err="1"/>
              <a:t>f'Patient</a:t>
            </a:r>
            <a:r>
              <a:rPr lang="en-US" i="1" dirty="0"/>
              <a:t> arrives at {</a:t>
            </a:r>
            <a:r>
              <a:rPr lang="en-US" i="1" dirty="0" err="1"/>
              <a:t>env.now</a:t>
            </a:r>
            <a:r>
              <a:rPr lang="en-US" i="1" dirty="0"/>
              <a:t>}')</a:t>
            </a:r>
          </a:p>
          <a:p>
            <a:pPr marL="0" indent="0">
              <a:buNone/>
            </a:pPr>
            <a:r>
              <a:rPr lang="en-US" i="1" dirty="0"/>
              <a:t>    yield </a:t>
            </a:r>
            <a:r>
              <a:rPr lang="en-US" i="1" dirty="0" err="1"/>
              <a:t>env.timeout</a:t>
            </a:r>
            <a:r>
              <a:rPr lang="en-US" i="1" dirty="0"/>
              <a:t>(5)</a:t>
            </a:r>
          </a:p>
          <a:p>
            <a:pPr marL="0" indent="0">
              <a:buNone/>
            </a:pPr>
            <a:r>
              <a:rPr lang="en-US" i="1" dirty="0"/>
              <a:t>    print(</a:t>
            </a:r>
            <a:r>
              <a:rPr lang="en-US" i="1" dirty="0" err="1"/>
              <a:t>f'Patient</a:t>
            </a:r>
            <a:r>
              <a:rPr lang="en-US" i="1" dirty="0"/>
              <a:t> leaves at {</a:t>
            </a:r>
            <a:r>
              <a:rPr lang="en-US" i="1" dirty="0" err="1"/>
              <a:t>env.now</a:t>
            </a:r>
            <a:r>
              <a:rPr lang="en-US" i="1" dirty="0"/>
              <a:t>}')</a:t>
            </a:r>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E294A9F0-BFF5-AAF3-896A-5F955E242634}"/>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13E31F40-3D6A-DB86-B13B-9DB6ECE2C561}"/>
              </a:ext>
            </a:extLst>
          </p:cNvPr>
          <p:cNvSpPr>
            <a:spLocks noGrp="1"/>
          </p:cNvSpPr>
          <p:nvPr>
            <p:ph type="dt" sz="half" idx="10"/>
          </p:nvPr>
        </p:nvSpPr>
        <p:spPr/>
        <p:txBody>
          <a:bodyPr/>
          <a:lstStyle/>
          <a:p>
            <a:fld id="{8306D613-00B3-4454-9D8A-3E8663436342}" type="datetime1">
              <a:rPr lang="en-US" smtClean="0"/>
              <a:t>1/31/2026</a:t>
            </a:fld>
            <a:endParaRPr lang="en-US"/>
          </a:p>
        </p:txBody>
      </p:sp>
      <p:sp>
        <p:nvSpPr>
          <p:cNvPr id="6" name="Slide Number Placeholder 5">
            <a:extLst>
              <a:ext uri="{FF2B5EF4-FFF2-40B4-BE49-F238E27FC236}">
                <a16:creationId xmlns:a16="http://schemas.microsoft.com/office/drawing/2014/main" id="{A3E92B8B-88BE-CFF3-5A50-9ACB0B84BDA4}"/>
              </a:ext>
            </a:extLst>
          </p:cNvPr>
          <p:cNvSpPr>
            <a:spLocks noGrp="1"/>
          </p:cNvSpPr>
          <p:nvPr>
            <p:ph type="sldNum" sz="quarter" idx="12"/>
          </p:nvPr>
        </p:nvSpPr>
        <p:spPr/>
        <p:txBody>
          <a:bodyPr/>
          <a:lstStyle/>
          <a:p>
            <a:fld id="{7EA05A3E-6DBA-4FE0-898F-5EF47B17DFD2}" type="slidenum">
              <a:rPr lang="en-US" smtClean="0"/>
              <a:t>30</a:t>
            </a:fld>
            <a:endParaRPr lang="en-US"/>
          </a:p>
        </p:txBody>
      </p:sp>
    </p:spTree>
    <p:extLst>
      <p:ext uri="{BB962C8B-B14F-4D97-AF65-F5344CB8AC3E}">
        <p14:creationId xmlns:p14="http://schemas.microsoft.com/office/powerpoint/2010/main" val="2442411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4B197-2AF5-FCDF-FE02-97448631ED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F86D42-F66A-164E-5837-A9AE8BF7B7AC}"/>
              </a:ext>
            </a:extLst>
          </p:cNvPr>
          <p:cNvSpPr>
            <a:spLocks noGrp="1"/>
          </p:cNvSpPr>
          <p:nvPr>
            <p:ph type="title"/>
          </p:nvPr>
        </p:nvSpPr>
        <p:spPr>
          <a:xfrm>
            <a:off x="609599" y="609600"/>
            <a:ext cx="7055797" cy="1320800"/>
          </a:xfrm>
        </p:spPr>
        <p:txBody>
          <a:bodyPr/>
          <a:lstStyle/>
          <a:p>
            <a:r>
              <a:rPr lang="en-US" dirty="0" err="1"/>
              <a:t>AnyLogic</a:t>
            </a:r>
            <a:endParaRPr lang="en-US" dirty="0"/>
          </a:p>
        </p:txBody>
      </p:sp>
      <p:sp>
        <p:nvSpPr>
          <p:cNvPr id="3" name="Content Placeholder 2">
            <a:extLst>
              <a:ext uri="{FF2B5EF4-FFF2-40B4-BE49-F238E27FC236}">
                <a16:creationId xmlns:a16="http://schemas.microsoft.com/office/drawing/2014/main" id="{E980C8BD-A6D1-4B8F-C6B0-CDEEE0647863}"/>
              </a:ext>
            </a:extLst>
          </p:cNvPr>
          <p:cNvSpPr>
            <a:spLocks noGrp="1"/>
          </p:cNvSpPr>
          <p:nvPr>
            <p:ph idx="1"/>
          </p:nvPr>
        </p:nvSpPr>
        <p:spPr>
          <a:xfrm>
            <a:off x="609599" y="1381329"/>
            <a:ext cx="7658912" cy="5476672"/>
          </a:xfrm>
        </p:spPr>
        <p:txBody>
          <a:bodyPr>
            <a:normAutofit/>
          </a:bodyPr>
          <a:lstStyle/>
          <a:p>
            <a:pPr marL="0" indent="0">
              <a:buNone/>
            </a:pPr>
            <a:r>
              <a:rPr lang="en-US" dirty="0" err="1"/>
              <a:t>AnyLogic</a:t>
            </a:r>
            <a:r>
              <a:rPr lang="en-US" dirty="0"/>
              <a:t> is a professional simulation tool that supports discrete-event, agent-based, and system dynamics modeling in one environment</a:t>
            </a:r>
          </a:p>
          <a:p>
            <a:pPr marL="0" indent="0">
              <a:buNone/>
            </a:pPr>
            <a:r>
              <a:rPr lang="en-US" dirty="0"/>
              <a:t>Core Concepts:</a:t>
            </a:r>
          </a:p>
          <a:p>
            <a:pPr lvl="1"/>
            <a:r>
              <a:rPr lang="en-US" dirty="0"/>
              <a:t>Graphical modeling + Java scripting.</a:t>
            </a:r>
          </a:p>
          <a:p>
            <a:pPr lvl="1"/>
            <a:r>
              <a:rPr lang="en-US" dirty="0"/>
              <a:t>GIS, pedestrian, and traffic libraries.</a:t>
            </a:r>
          </a:p>
          <a:p>
            <a:pPr lvl="1"/>
            <a:r>
              <a:rPr lang="en-US" dirty="0"/>
              <a:t>Export to web, cloud, mobile.</a:t>
            </a:r>
          </a:p>
          <a:p>
            <a:r>
              <a:rPr lang="en-US" dirty="0"/>
              <a:t>Strengths:</a:t>
            </a:r>
          </a:p>
          <a:p>
            <a:pPr lvl="1"/>
            <a:r>
              <a:rPr lang="en-US" dirty="0"/>
              <a:t>Hybrid modeling (DES + agents + system dynamics).</a:t>
            </a:r>
          </a:p>
          <a:p>
            <a:pPr lvl="1"/>
            <a:r>
              <a:rPr lang="en-US" dirty="0"/>
              <a:t>Visual &amp; scalable for complex systems.</a:t>
            </a:r>
          </a:p>
          <a:p>
            <a:pPr lvl="1"/>
            <a:r>
              <a:rPr lang="en-US" dirty="0"/>
              <a:t>Industry standard in logistics, supply chain, healthcare.</a:t>
            </a:r>
          </a:p>
          <a:p>
            <a:r>
              <a:rPr lang="en-US" dirty="0"/>
              <a:t>Use Cases: Supply chain, transportation, crowd movement, disease spread (e.g. COVID-19 models).</a:t>
            </a:r>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29C54AD6-C04F-8966-CFF9-4F4CDA7267E9}"/>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B51A719E-CED8-95D2-DF80-7CE8C40EF3C2}"/>
              </a:ext>
            </a:extLst>
          </p:cNvPr>
          <p:cNvSpPr>
            <a:spLocks noGrp="1"/>
          </p:cNvSpPr>
          <p:nvPr>
            <p:ph type="dt" sz="half" idx="10"/>
          </p:nvPr>
        </p:nvSpPr>
        <p:spPr/>
        <p:txBody>
          <a:bodyPr/>
          <a:lstStyle/>
          <a:p>
            <a:fld id="{36B5E2C2-3EF4-454D-956D-5CBD5E8F85EE}" type="datetime1">
              <a:rPr lang="en-US" smtClean="0"/>
              <a:t>1/31/2026</a:t>
            </a:fld>
            <a:endParaRPr lang="en-US"/>
          </a:p>
        </p:txBody>
      </p:sp>
      <p:sp>
        <p:nvSpPr>
          <p:cNvPr id="6" name="Slide Number Placeholder 5">
            <a:extLst>
              <a:ext uri="{FF2B5EF4-FFF2-40B4-BE49-F238E27FC236}">
                <a16:creationId xmlns:a16="http://schemas.microsoft.com/office/drawing/2014/main" id="{35EB6F2A-0B5C-63DC-0EE8-84DEC648C300}"/>
              </a:ext>
            </a:extLst>
          </p:cNvPr>
          <p:cNvSpPr>
            <a:spLocks noGrp="1"/>
          </p:cNvSpPr>
          <p:nvPr>
            <p:ph type="sldNum" sz="quarter" idx="12"/>
          </p:nvPr>
        </p:nvSpPr>
        <p:spPr/>
        <p:txBody>
          <a:bodyPr/>
          <a:lstStyle/>
          <a:p>
            <a:fld id="{7EA05A3E-6DBA-4FE0-898F-5EF47B17DFD2}" type="slidenum">
              <a:rPr lang="en-US" smtClean="0"/>
              <a:t>31</a:t>
            </a:fld>
            <a:endParaRPr lang="en-US"/>
          </a:p>
        </p:txBody>
      </p:sp>
    </p:spTree>
    <p:extLst>
      <p:ext uri="{BB962C8B-B14F-4D97-AF65-F5344CB8AC3E}">
        <p14:creationId xmlns:p14="http://schemas.microsoft.com/office/powerpoint/2010/main" val="15818211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Arena: Visual Discrete-Event Simulation by Rockwell</a:t>
            </a:r>
          </a:p>
        </p:txBody>
      </p:sp>
      <p:sp>
        <p:nvSpPr>
          <p:cNvPr id="3" name="Content Placeholder 2"/>
          <p:cNvSpPr>
            <a:spLocks noGrp="1"/>
          </p:cNvSpPr>
          <p:nvPr>
            <p:ph idx="1"/>
          </p:nvPr>
        </p:nvSpPr>
        <p:spPr/>
        <p:txBody>
          <a:bodyPr>
            <a:normAutofit fontScale="92500" lnSpcReduction="20000"/>
          </a:bodyPr>
          <a:lstStyle/>
          <a:p>
            <a:pPr marL="0" indent="0">
              <a:buNone/>
            </a:pPr>
            <a:r>
              <a:rPr dirty="0"/>
              <a:t>Arena is a block-based GUI simulation tool widely used in academia and industry for modeling business processes and manufacturing systems.</a:t>
            </a:r>
            <a:endParaRPr lang="en-US" dirty="0"/>
          </a:p>
          <a:p>
            <a:r>
              <a:rPr dirty="0"/>
              <a:t>Core Features:</a:t>
            </a:r>
            <a:endParaRPr lang="en-US" dirty="0"/>
          </a:p>
          <a:p>
            <a:pPr lvl="1"/>
            <a:r>
              <a:rPr dirty="0"/>
              <a:t>Drag-and-drop modules (e.g., Create, Process, Dispose).</a:t>
            </a:r>
            <a:endParaRPr lang="en-US" dirty="0"/>
          </a:p>
          <a:p>
            <a:pPr lvl="1"/>
            <a:r>
              <a:rPr dirty="0"/>
              <a:t>Built-in statistics and animation.</a:t>
            </a:r>
            <a:endParaRPr lang="en-US" dirty="0"/>
          </a:p>
          <a:p>
            <a:pPr lvl="1"/>
            <a:r>
              <a:rPr dirty="0"/>
              <a:t>Flowchart-style model building.</a:t>
            </a:r>
          </a:p>
          <a:p>
            <a:r>
              <a:rPr lang="en-US" dirty="0"/>
              <a:t>S</a:t>
            </a:r>
            <a:r>
              <a:rPr dirty="0"/>
              <a:t>trengths:</a:t>
            </a:r>
            <a:endParaRPr lang="en-US" dirty="0"/>
          </a:p>
          <a:p>
            <a:pPr lvl="1"/>
            <a:r>
              <a:rPr dirty="0"/>
              <a:t>Easy for beginners (no coding needed).</a:t>
            </a:r>
            <a:endParaRPr lang="en-US" dirty="0"/>
          </a:p>
          <a:p>
            <a:pPr lvl="1"/>
            <a:r>
              <a:rPr dirty="0"/>
              <a:t>Industry trusted (used by GE, Coca-Cola, Boeing).</a:t>
            </a:r>
            <a:endParaRPr lang="en-US" dirty="0"/>
          </a:p>
          <a:p>
            <a:pPr lvl="1"/>
            <a:r>
              <a:rPr dirty="0"/>
              <a:t>Built-in experiment tools for what-if analysis.</a:t>
            </a:r>
          </a:p>
          <a:p>
            <a:r>
              <a:rPr dirty="0"/>
              <a:t>Use Cases: Manufacturing lines, hospital operations, service queues.</a:t>
            </a:r>
          </a:p>
        </p:txBody>
      </p:sp>
      <p:sp>
        <p:nvSpPr>
          <p:cNvPr id="4" name="Footer Placeholder 3">
            <a:extLst>
              <a:ext uri="{FF2B5EF4-FFF2-40B4-BE49-F238E27FC236}">
                <a16:creationId xmlns:a16="http://schemas.microsoft.com/office/drawing/2014/main" id="{0CA54507-F465-E9A0-AFCF-56D705E2A3D9}"/>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18947909-E4F4-1976-AE93-FE9316D89C4A}"/>
              </a:ext>
            </a:extLst>
          </p:cNvPr>
          <p:cNvSpPr>
            <a:spLocks noGrp="1"/>
          </p:cNvSpPr>
          <p:nvPr>
            <p:ph type="dt" sz="half" idx="10"/>
          </p:nvPr>
        </p:nvSpPr>
        <p:spPr/>
        <p:txBody>
          <a:bodyPr/>
          <a:lstStyle/>
          <a:p>
            <a:fld id="{59C716C6-E9CD-4023-BBF1-57E168E91C0E}" type="datetime1">
              <a:rPr lang="en-US" smtClean="0"/>
              <a:t>1/31/2026</a:t>
            </a:fld>
            <a:endParaRPr lang="en-US"/>
          </a:p>
        </p:txBody>
      </p:sp>
      <p:sp>
        <p:nvSpPr>
          <p:cNvPr id="6" name="Slide Number Placeholder 5">
            <a:extLst>
              <a:ext uri="{FF2B5EF4-FFF2-40B4-BE49-F238E27FC236}">
                <a16:creationId xmlns:a16="http://schemas.microsoft.com/office/drawing/2014/main" id="{3021A41F-8E91-DA98-CD60-4D2FE3351804}"/>
              </a:ext>
            </a:extLst>
          </p:cNvPr>
          <p:cNvSpPr>
            <a:spLocks noGrp="1"/>
          </p:cNvSpPr>
          <p:nvPr>
            <p:ph type="sldNum" sz="quarter" idx="12"/>
          </p:nvPr>
        </p:nvSpPr>
        <p:spPr/>
        <p:txBody>
          <a:bodyPr/>
          <a:lstStyle/>
          <a:p>
            <a:fld id="{7EA05A3E-6DBA-4FE0-898F-5EF47B17DFD2}"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FlexSim: 3D Simulation Modeling</a:t>
            </a:r>
          </a:p>
        </p:txBody>
      </p:sp>
      <p:sp>
        <p:nvSpPr>
          <p:cNvPr id="3" name="Content Placeholder 2"/>
          <p:cNvSpPr>
            <a:spLocks noGrp="1"/>
          </p:cNvSpPr>
          <p:nvPr>
            <p:ph idx="1"/>
          </p:nvPr>
        </p:nvSpPr>
        <p:spPr/>
        <p:txBody>
          <a:bodyPr>
            <a:normAutofit fontScale="92500" lnSpcReduction="20000"/>
          </a:bodyPr>
          <a:lstStyle/>
          <a:p>
            <a:pPr marL="0" indent="0">
              <a:buNone/>
            </a:pPr>
            <a:r>
              <a:rPr dirty="0" err="1"/>
              <a:t>FlexSim</a:t>
            </a:r>
            <a:r>
              <a:rPr dirty="0"/>
              <a:t> is a 3D simulation tool for modeling discrete-event systems, especially useful for logistics, healthcare, and manufacturing.</a:t>
            </a:r>
          </a:p>
          <a:p>
            <a:r>
              <a:rPr dirty="0"/>
              <a:t>Core Features:</a:t>
            </a:r>
          </a:p>
          <a:p>
            <a:pPr lvl="1"/>
            <a:r>
              <a:rPr dirty="0"/>
              <a:t>Drag-and-drop interface with 3D visualization.</a:t>
            </a:r>
            <a:endParaRPr lang="en-US" dirty="0"/>
          </a:p>
          <a:p>
            <a:pPr lvl="1"/>
            <a:r>
              <a:rPr dirty="0"/>
              <a:t>Realistic physics and animations.</a:t>
            </a:r>
            <a:endParaRPr lang="en-US" dirty="0"/>
          </a:p>
          <a:p>
            <a:pPr lvl="1"/>
            <a:r>
              <a:rPr dirty="0"/>
              <a:t>Custom logic via scripting (</a:t>
            </a:r>
            <a:r>
              <a:rPr dirty="0" err="1"/>
              <a:t>FlexScript</a:t>
            </a:r>
            <a:r>
              <a:rPr dirty="0"/>
              <a:t> = C-style).</a:t>
            </a:r>
          </a:p>
          <a:p>
            <a:r>
              <a:rPr dirty="0"/>
              <a:t>Strengths:</a:t>
            </a:r>
          </a:p>
          <a:p>
            <a:pPr lvl="1"/>
            <a:r>
              <a:rPr dirty="0"/>
              <a:t>Highly visual, interactive models.</a:t>
            </a:r>
            <a:endParaRPr lang="en-US" dirty="0"/>
          </a:p>
          <a:p>
            <a:pPr lvl="1"/>
            <a:r>
              <a:rPr dirty="0"/>
              <a:t>Realistic modeling of material handling, factories, warehouse</a:t>
            </a:r>
            <a:r>
              <a:rPr lang="en-US" dirty="0"/>
              <a:t>s.</a:t>
            </a:r>
          </a:p>
          <a:p>
            <a:pPr lvl="1"/>
            <a:r>
              <a:rPr dirty="0"/>
              <a:t>Strong in scenario testing and optimization.</a:t>
            </a:r>
          </a:p>
          <a:p>
            <a:r>
              <a:rPr dirty="0"/>
              <a:t>Use Cases: Airport operations, factory floor, hospital patient flow.</a:t>
            </a:r>
          </a:p>
        </p:txBody>
      </p:sp>
      <p:sp>
        <p:nvSpPr>
          <p:cNvPr id="4" name="Footer Placeholder 3">
            <a:extLst>
              <a:ext uri="{FF2B5EF4-FFF2-40B4-BE49-F238E27FC236}">
                <a16:creationId xmlns:a16="http://schemas.microsoft.com/office/drawing/2014/main" id="{EAAAE05B-E6C4-A8D5-104D-1DADE8ABFC81}"/>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264A82A2-333C-E6BB-C152-19DF28E2B145}"/>
              </a:ext>
            </a:extLst>
          </p:cNvPr>
          <p:cNvSpPr>
            <a:spLocks noGrp="1"/>
          </p:cNvSpPr>
          <p:nvPr>
            <p:ph type="dt" sz="half" idx="10"/>
          </p:nvPr>
        </p:nvSpPr>
        <p:spPr/>
        <p:txBody>
          <a:bodyPr/>
          <a:lstStyle/>
          <a:p>
            <a:fld id="{A165D34F-1746-4F5D-93F3-DB01E2EC3275}" type="datetime1">
              <a:rPr lang="en-US" smtClean="0"/>
              <a:t>1/31/2026</a:t>
            </a:fld>
            <a:endParaRPr lang="en-US"/>
          </a:p>
        </p:txBody>
      </p:sp>
      <p:sp>
        <p:nvSpPr>
          <p:cNvPr id="6" name="Slide Number Placeholder 5">
            <a:extLst>
              <a:ext uri="{FF2B5EF4-FFF2-40B4-BE49-F238E27FC236}">
                <a16:creationId xmlns:a16="http://schemas.microsoft.com/office/drawing/2014/main" id="{82BF8144-04BA-5246-49CF-95CA5921D5FD}"/>
              </a:ext>
            </a:extLst>
          </p:cNvPr>
          <p:cNvSpPr>
            <a:spLocks noGrp="1"/>
          </p:cNvSpPr>
          <p:nvPr>
            <p:ph type="sldNum" sz="quarter" idx="12"/>
          </p:nvPr>
        </p:nvSpPr>
        <p:spPr/>
        <p:txBody>
          <a:bodyPr/>
          <a:lstStyle/>
          <a:p>
            <a:fld id="{7EA05A3E-6DBA-4FE0-898F-5EF47B17DFD2}"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32ED5-0E9A-6470-C547-F44955C65D85}"/>
              </a:ext>
            </a:extLst>
          </p:cNvPr>
          <p:cNvSpPr>
            <a:spLocks noGrp="1"/>
          </p:cNvSpPr>
          <p:nvPr>
            <p:ph type="title"/>
          </p:nvPr>
        </p:nvSpPr>
        <p:spPr/>
        <p:txBody>
          <a:bodyPr>
            <a:normAutofit fontScale="90000"/>
          </a:bodyPr>
          <a:lstStyle/>
          <a:p>
            <a:r>
              <a:rPr lang="en-US" dirty="0"/>
              <a:t>Applications and Benefits of Discrete Simulation Languages</a:t>
            </a:r>
          </a:p>
        </p:txBody>
      </p:sp>
      <p:sp>
        <p:nvSpPr>
          <p:cNvPr id="3" name="Content Placeholder 2">
            <a:extLst>
              <a:ext uri="{FF2B5EF4-FFF2-40B4-BE49-F238E27FC236}">
                <a16:creationId xmlns:a16="http://schemas.microsoft.com/office/drawing/2014/main" id="{DECF8D70-C3A9-F3F1-7BC0-82EF60C68F17}"/>
              </a:ext>
            </a:extLst>
          </p:cNvPr>
          <p:cNvSpPr>
            <a:spLocks noGrp="1"/>
          </p:cNvSpPr>
          <p:nvPr>
            <p:ph idx="1"/>
          </p:nvPr>
        </p:nvSpPr>
        <p:spPr/>
        <p:txBody>
          <a:bodyPr>
            <a:normAutofit/>
          </a:bodyPr>
          <a:lstStyle/>
          <a:p>
            <a:r>
              <a:rPr lang="en-US" dirty="0"/>
              <a:t>Predict system behavior under different configurations.</a:t>
            </a:r>
          </a:p>
          <a:p>
            <a:r>
              <a:rPr lang="en-US" dirty="0"/>
              <a:t>Reduce operational costs through virtual experimentation.</a:t>
            </a:r>
          </a:p>
          <a:p>
            <a:r>
              <a:rPr lang="en-US" dirty="0"/>
              <a:t>Identify bottlenecks, improve resource utilization.</a:t>
            </a:r>
          </a:p>
          <a:p>
            <a:r>
              <a:rPr lang="en-US" dirty="0"/>
              <a:t>Conduct risk-free testing of policies, designs, or control logic</a:t>
            </a:r>
          </a:p>
          <a:p>
            <a:r>
              <a:rPr lang="en-US" dirty="0"/>
              <a:t>Train personnel using simulated environments.</a:t>
            </a:r>
          </a:p>
          <a:p>
            <a:r>
              <a:rPr lang="en-US" dirty="0"/>
              <a:t>Queue systems, manufacturing processes, and logistics</a:t>
            </a:r>
          </a:p>
        </p:txBody>
      </p:sp>
      <p:sp>
        <p:nvSpPr>
          <p:cNvPr id="4" name="Footer Placeholder 3">
            <a:extLst>
              <a:ext uri="{FF2B5EF4-FFF2-40B4-BE49-F238E27FC236}">
                <a16:creationId xmlns:a16="http://schemas.microsoft.com/office/drawing/2014/main" id="{8AA2FD50-B04E-2168-DDF3-E1BF5CBF0986}"/>
              </a:ext>
            </a:extLst>
          </p:cNvPr>
          <p:cNvSpPr>
            <a:spLocks noGrp="1"/>
          </p:cNvSpPr>
          <p:nvPr>
            <p:ph type="ftr" sz="quarter" idx="11"/>
          </p:nvPr>
        </p:nvSpPr>
        <p:spPr/>
        <p:txBody>
          <a:bodyPr/>
          <a:lstStyle/>
          <a:p>
            <a:r>
              <a:rPr lang="nb-NO"/>
              <a:t>Kapil@nast.edu.np || kapilpant157</a:t>
            </a:r>
            <a:endParaRPr lang="en-US" dirty="0"/>
          </a:p>
        </p:txBody>
      </p:sp>
      <p:sp>
        <p:nvSpPr>
          <p:cNvPr id="5" name="Date Placeholder 4">
            <a:extLst>
              <a:ext uri="{FF2B5EF4-FFF2-40B4-BE49-F238E27FC236}">
                <a16:creationId xmlns:a16="http://schemas.microsoft.com/office/drawing/2014/main" id="{8A8523CF-8F66-EA05-65A2-7EE10C410F55}"/>
              </a:ext>
            </a:extLst>
          </p:cNvPr>
          <p:cNvSpPr>
            <a:spLocks noGrp="1"/>
          </p:cNvSpPr>
          <p:nvPr>
            <p:ph type="dt" sz="half" idx="10"/>
          </p:nvPr>
        </p:nvSpPr>
        <p:spPr/>
        <p:txBody>
          <a:bodyPr/>
          <a:lstStyle/>
          <a:p>
            <a:fld id="{26FF3D8E-6B90-4147-AA8D-65D964FAEF39}" type="datetime1">
              <a:rPr lang="en-US" smtClean="0"/>
              <a:t>1/31/2026</a:t>
            </a:fld>
            <a:endParaRPr lang="en-US"/>
          </a:p>
        </p:txBody>
      </p:sp>
      <p:sp>
        <p:nvSpPr>
          <p:cNvPr id="6" name="Slide Number Placeholder 5">
            <a:extLst>
              <a:ext uri="{FF2B5EF4-FFF2-40B4-BE49-F238E27FC236}">
                <a16:creationId xmlns:a16="http://schemas.microsoft.com/office/drawing/2014/main" id="{25ABDDAC-0BEB-8A18-7631-A411EF8DAF47}"/>
              </a:ext>
            </a:extLst>
          </p:cNvPr>
          <p:cNvSpPr>
            <a:spLocks noGrp="1"/>
          </p:cNvSpPr>
          <p:nvPr>
            <p:ph type="sldNum" sz="quarter" idx="12"/>
          </p:nvPr>
        </p:nvSpPr>
        <p:spPr/>
        <p:txBody>
          <a:bodyPr/>
          <a:lstStyle/>
          <a:p>
            <a:fld id="{7EA05A3E-6DBA-4FE0-898F-5EF47B17DFD2}" type="slidenum">
              <a:rPr lang="en-US" smtClean="0"/>
              <a:t>34</a:t>
            </a:fld>
            <a:endParaRPr lang="en-US"/>
          </a:p>
        </p:txBody>
      </p:sp>
    </p:spTree>
    <p:extLst>
      <p:ext uri="{BB962C8B-B14F-4D97-AF65-F5344CB8AC3E}">
        <p14:creationId xmlns:p14="http://schemas.microsoft.com/office/powerpoint/2010/main" val="5064576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2277</TotalTime>
  <Words>8628</Words>
  <Application>Microsoft Office PowerPoint</Application>
  <PresentationFormat>On-screen Show (4:3)</PresentationFormat>
  <Paragraphs>943</Paragraphs>
  <Slides>34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Arial</vt:lpstr>
      <vt:lpstr>Bradley Hand ITC</vt:lpstr>
      <vt:lpstr>Calibri</vt:lpstr>
      <vt:lpstr>Trebuchet MS</vt:lpstr>
      <vt:lpstr>Wingdings 3</vt:lpstr>
      <vt:lpstr>Facet</vt:lpstr>
      <vt:lpstr>Discrete System Languages</vt:lpstr>
      <vt:lpstr>Contents</vt:lpstr>
      <vt:lpstr>Introduction</vt:lpstr>
      <vt:lpstr>Types of Simulation Languages</vt:lpstr>
      <vt:lpstr>Simulation using GPSS (General Purpose Simulation System)</vt:lpstr>
      <vt:lpstr>GPSS BLOCKS</vt:lpstr>
      <vt:lpstr>GPSS Blocks</vt:lpstr>
      <vt:lpstr>GPSS Program Application</vt:lpstr>
      <vt:lpstr>Example</vt:lpstr>
      <vt:lpstr>Generate Block</vt:lpstr>
      <vt:lpstr>Queue Block</vt:lpstr>
      <vt:lpstr>Seize Block</vt:lpstr>
      <vt:lpstr>ADVANCE Block</vt:lpstr>
      <vt:lpstr>Enter Block</vt:lpstr>
      <vt:lpstr>Example</vt:lpstr>
      <vt:lpstr>Example</vt:lpstr>
      <vt:lpstr>SIMSCRIPT: Organization of a Program</vt:lpstr>
      <vt:lpstr>SIMSCRIPT Programs</vt:lpstr>
      <vt:lpstr>Names and Label</vt:lpstr>
      <vt:lpstr>SIMSCRIPT Statements</vt:lpstr>
      <vt:lpstr>Defining Systems</vt:lpstr>
      <vt:lpstr>Simulation Control Statements</vt:lpstr>
      <vt:lpstr>Referencing Variables</vt:lpstr>
      <vt:lpstr>Example – Call Center Simulation</vt:lpstr>
      <vt:lpstr>SIMSCRIPT PSEUDO PROGRAMS</vt:lpstr>
      <vt:lpstr>PowerPoint Presentation</vt:lpstr>
      <vt:lpstr>Super Market  Simulation</vt:lpstr>
      <vt:lpstr>Comparison of GPSS and SIMSCRIPT</vt:lpstr>
      <vt:lpstr>Discrete Simulation Languages</vt:lpstr>
      <vt:lpstr>SimPy (Python Based Simulation)</vt:lpstr>
      <vt:lpstr>AnyLogic</vt:lpstr>
      <vt:lpstr>Arena: Visual Discrete-Event Simulation by Rockwell</vt:lpstr>
      <vt:lpstr>FlexSim: 3D Simulation Modeling</vt:lpstr>
      <vt:lpstr>Applications and Benefits of Discrete Simulation Languages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Kapil Dev Pant</cp:lastModifiedBy>
  <cp:revision>200</cp:revision>
  <dcterms:created xsi:type="dcterms:W3CDTF">2013-01-27T09:14:16Z</dcterms:created>
  <dcterms:modified xsi:type="dcterms:W3CDTF">2026-01-31T07:44:10Z</dcterms:modified>
  <cp:category/>
</cp:coreProperties>
</file>