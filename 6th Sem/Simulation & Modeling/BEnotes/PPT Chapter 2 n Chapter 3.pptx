
<file path=[Content_Types].xml><?xml version="1.0" encoding="utf-8"?>
<Types xmlns="http://schemas.openxmlformats.org/package/2006/content-types">
  <Default Extension="png" ContentType="image/png"/>
  <Default Extension="bin" ContentType="application/vnd.openxmlformats-officedocument.oleObject"/>
  <Default Extension="rels" ContentType="application/vnd.openxmlformats-package.relationships+xml"/>
  <Default Extension="xml" ContentType="application/xml"/>
  <Default Extension="fntdata" ContentType="application/x-fontdata"/>
  <Default Extension="gif" ContentType="image/gif"/>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0" r:id="rId2"/>
  </p:sldMasterIdLst>
  <p:notesMasterIdLst>
    <p:notesMasterId r:id="rId103"/>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 id="325" r:id="rId72"/>
    <p:sldId id="326" r:id="rId73"/>
    <p:sldId id="327" r:id="rId74"/>
    <p:sldId id="328" r:id="rId75"/>
    <p:sldId id="329" r:id="rId76"/>
    <p:sldId id="330" r:id="rId77"/>
    <p:sldId id="331" r:id="rId78"/>
    <p:sldId id="332" r:id="rId79"/>
    <p:sldId id="333" r:id="rId80"/>
    <p:sldId id="334" r:id="rId81"/>
    <p:sldId id="335" r:id="rId82"/>
    <p:sldId id="336" r:id="rId83"/>
    <p:sldId id="337" r:id="rId84"/>
    <p:sldId id="338" r:id="rId85"/>
    <p:sldId id="339" r:id="rId86"/>
    <p:sldId id="340" r:id="rId87"/>
    <p:sldId id="341" r:id="rId88"/>
    <p:sldId id="342" r:id="rId89"/>
    <p:sldId id="343" r:id="rId90"/>
    <p:sldId id="344" r:id="rId91"/>
    <p:sldId id="345" r:id="rId92"/>
    <p:sldId id="346" r:id="rId93"/>
    <p:sldId id="347" r:id="rId94"/>
    <p:sldId id="348" r:id="rId95"/>
    <p:sldId id="349" r:id="rId96"/>
    <p:sldId id="350" r:id="rId97"/>
    <p:sldId id="351" r:id="rId98"/>
    <p:sldId id="352" r:id="rId99"/>
    <p:sldId id="353" r:id="rId100"/>
    <p:sldId id="354" r:id="rId101"/>
    <p:sldId id="355" r:id="rId102"/>
  </p:sldIdLst>
  <p:sldSz cx="9144000" cy="6858000" type="screen4x3"/>
  <p:notesSz cx="6858000" cy="9144000"/>
  <p:embeddedFontLst>
    <p:embeddedFont>
      <p:font typeface="Constantia" panose="02030602050306030303" pitchFamily="18" charset="0"/>
      <p:regular r:id="rId104"/>
      <p:bold r:id="rId105"/>
      <p:italic r:id="rId106"/>
      <p:boldItalic r:id="rId107"/>
    </p:embeddedFont>
    <p:embeddedFont>
      <p:font typeface="Calibri" panose="020F0502020204030204" pitchFamily="34" charset="0"/>
      <p:regular r:id="rId108"/>
      <p:bold r:id="rId109"/>
      <p:italic r:id="rId110"/>
      <p:boldItalic r:id="rId111"/>
    </p:embeddedFont>
    <p:embeddedFont>
      <p:font typeface="Noto Sans Symbols" panose="020B0604020202020204" charset="0"/>
      <p:regular r:id="rId112"/>
      <p:bold r:id="rId11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14" roundtripDataSignature="AMtx7mgRsBrj3zV+RQk2o/lKT9EEF7ifA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9" d="100"/>
          <a:sy n="69" d="100"/>
        </p:scale>
        <p:origin x="1416"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theme" Target="theme/theme1.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font" Target="fonts/font9.fntdata"/><Relationship Id="rId16" Type="http://schemas.openxmlformats.org/officeDocument/2006/relationships/slide" Target="slides/slide14.xml"/><Relationship Id="rId107" Type="http://schemas.openxmlformats.org/officeDocument/2006/relationships/font" Target="fonts/font4.fntdata"/><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font" Target="fonts/font10.fntdata"/><Relationship Id="rId118" Type="http://schemas.openxmlformats.org/officeDocument/2006/relationships/tableStyles" Target="tableStyles.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notesMaster" Target="notesMasters/notesMaster1.xml"/><Relationship Id="rId108" Type="http://schemas.openxmlformats.org/officeDocument/2006/relationships/font" Target="fonts/font5.fntdata"/><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customschemas.google.com/relationships/presentationmetadata" Target="meta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font" Target="fonts/font6.fntdata"/><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font" Target="fonts/font1.fntdata"/><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font" Target="fonts/font7.fntdata"/><Relationship Id="rId115" Type="http://schemas.openxmlformats.org/officeDocument/2006/relationships/presProps" Target="presProps.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font" Target="fonts/font2.fntdata"/><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font" Target="fonts/font8.fntdata"/><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font" Target="fonts/font3.fntdata"/></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1.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 name="Google Shape;124;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0" name="Google Shape;130;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3" name="Google Shape;14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9" name="Google Shape;149;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2cd16a2dbf6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2cd16a2dbf6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6" name="Google Shape;156;g2cd16a2dbf6_0_0: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2cd16a2dbf6_0_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2cd16a2dbf6_0_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3" name="Google Shape;163;g2cd16a2dbf6_0_8: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2cd0e7b4738_0_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2cd0e7b4738_0_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1" name="Google Shape;171;g2cd0e7b4738_0_6: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26ee3ae31fa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26ee3ae31fa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8" name="Google Shape;178;g26ee3ae31fa_0_0: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26ee3ae31fa_0_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26ee3ae31fa_0_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6" name="Google Shape;186;g26ee3ae31fa_0_11: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6ee3ae31fa_0_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g26ee3ae31fa_0_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4" name="Google Shape;194;g26ee3ae31fa_0_17: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26ee3ae31fa_0_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26ee3ae31fa_0_2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2" name="Google Shape;202;g26ee3ae31fa_0_25: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26ee3ae31fa_1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26ee3ae31fa_1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0" name="Google Shape;210;g26ee3ae31fa_1_0: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26ee3ae31fa_1_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 name="Google Shape;217;g26ee3ae31fa_1_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8" name="Google Shape;218;g26ee3ae31fa_1_6: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26ee3ae31fa_1_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g26ee3ae31fa_1_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6" name="Google Shape;226;g26ee3ae31fa_1_12: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26ee3ae31fa_1_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26ee3ae31fa_1_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4" name="Google Shape;234;g26ee3ae31fa_1_21: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1" name="Google Shape;241;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7" name="Google Shape;247;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3" name="Google Shape;253;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9" name="Google Shape;25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5" name="Google Shape;265;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1" name="Google Shape;271;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7" name="Google Shape;277;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3" name="Google Shape;283;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9" name="Google Shape;289;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5" name="Google Shape;295;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1" name="Google Shape;301;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9" name="Google Shape;309;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5" name="Google Shape;315;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1" name="Google Shape;321;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7" name="Google Shape;327;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3" name="Google Shape;333;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2cf3a27bc01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9" name="Google Shape;339;g2cf3a27bc01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0" name="Google Shape;340;g2cf3a27bc01_0_0: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2cf3a27bc01_0_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6" name="Google Shape;346;g2cf3a27bc01_0_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7" name="Google Shape;347;g2cf3a27bc01_0_6: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36</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g2cf3a27bc01_0_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3" name="Google Shape;353;g2cf3a27bc01_0_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4" name="Google Shape;354;g2cf3a27bc01_0_12: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37</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2cf3a27bc01_0_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2cf3a27bc01_0_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2" name="Google Shape;362;g2cf3a27bc01_0_18: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38</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p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9" name="Google Shape;369;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p2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300">
                <a:solidFill>
                  <a:schemeClr val="dk1"/>
                </a:solidFill>
                <a:latin typeface="Times New Roman"/>
                <a:ea typeface="Times New Roman"/>
                <a:cs typeface="Times New Roman"/>
                <a:sym typeface="Times New Roman"/>
              </a:rPr>
              <a:t>40</a:t>
            </a:fld>
            <a:endParaRPr sz="1300">
              <a:solidFill>
                <a:schemeClr val="dk1"/>
              </a:solidFill>
              <a:latin typeface="Times New Roman"/>
              <a:ea typeface="Times New Roman"/>
              <a:cs typeface="Times New Roman"/>
              <a:sym typeface="Times New Roman"/>
            </a:endParaRPr>
          </a:p>
        </p:txBody>
      </p:sp>
      <p:sp>
        <p:nvSpPr>
          <p:cNvPr id="375" name="Google Shape;375;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76" name="Google Shape;376;p2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p2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2" name="Google Shape;392;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p2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300">
                <a:solidFill>
                  <a:schemeClr val="dk1"/>
                </a:solidFill>
                <a:latin typeface="Times New Roman"/>
                <a:ea typeface="Times New Roman"/>
                <a:cs typeface="Times New Roman"/>
                <a:sym typeface="Times New Roman"/>
              </a:rPr>
              <a:t>42</a:t>
            </a:fld>
            <a:endParaRPr sz="1300">
              <a:solidFill>
                <a:schemeClr val="dk1"/>
              </a:solidFill>
              <a:latin typeface="Times New Roman"/>
              <a:ea typeface="Times New Roman"/>
              <a:cs typeface="Times New Roman"/>
              <a:sym typeface="Times New Roman"/>
            </a:endParaRPr>
          </a:p>
        </p:txBody>
      </p:sp>
      <p:sp>
        <p:nvSpPr>
          <p:cNvPr id="398" name="Google Shape;398;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99" name="Google Shape;399;p2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p2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300">
                <a:solidFill>
                  <a:schemeClr val="dk1"/>
                </a:solidFill>
                <a:latin typeface="Times New Roman"/>
                <a:ea typeface="Times New Roman"/>
                <a:cs typeface="Times New Roman"/>
                <a:sym typeface="Times New Roman"/>
              </a:rPr>
              <a:t>43</a:t>
            </a:fld>
            <a:endParaRPr sz="1300">
              <a:solidFill>
                <a:schemeClr val="dk1"/>
              </a:solidFill>
              <a:latin typeface="Times New Roman"/>
              <a:ea typeface="Times New Roman"/>
              <a:cs typeface="Times New Roman"/>
              <a:sym typeface="Times New Roman"/>
            </a:endParaRPr>
          </a:p>
        </p:txBody>
      </p:sp>
      <p:sp>
        <p:nvSpPr>
          <p:cNvPr id="407" name="Google Shape;407;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08" name="Google Shape;408;p2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2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300">
                <a:solidFill>
                  <a:schemeClr val="dk1"/>
                </a:solidFill>
                <a:latin typeface="Times New Roman"/>
                <a:ea typeface="Times New Roman"/>
                <a:cs typeface="Times New Roman"/>
                <a:sym typeface="Times New Roman"/>
              </a:rPr>
              <a:t>44</a:t>
            </a:fld>
            <a:endParaRPr sz="1300">
              <a:solidFill>
                <a:schemeClr val="dk1"/>
              </a:solidFill>
              <a:latin typeface="Times New Roman"/>
              <a:ea typeface="Times New Roman"/>
              <a:cs typeface="Times New Roman"/>
              <a:sym typeface="Times New Roman"/>
            </a:endParaRPr>
          </a:p>
        </p:txBody>
      </p:sp>
      <p:sp>
        <p:nvSpPr>
          <p:cNvPr id="416" name="Google Shape;416;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17" name="Google Shape;417;p2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p3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300">
                <a:solidFill>
                  <a:schemeClr val="dk1"/>
                </a:solidFill>
                <a:latin typeface="Times New Roman"/>
                <a:ea typeface="Times New Roman"/>
                <a:cs typeface="Times New Roman"/>
                <a:sym typeface="Times New Roman"/>
              </a:rPr>
              <a:t>45</a:t>
            </a:fld>
            <a:endParaRPr sz="1300">
              <a:solidFill>
                <a:schemeClr val="dk1"/>
              </a:solidFill>
              <a:latin typeface="Times New Roman"/>
              <a:ea typeface="Times New Roman"/>
              <a:cs typeface="Times New Roman"/>
              <a:sym typeface="Times New Roman"/>
            </a:endParaRPr>
          </a:p>
        </p:txBody>
      </p:sp>
      <p:sp>
        <p:nvSpPr>
          <p:cNvPr id="425" name="Google Shape;425;p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26" name="Google Shape;426;p3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p3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300">
                <a:solidFill>
                  <a:schemeClr val="dk1"/>
                </a:solidFill>
                <a:latin typeface="Times New Roman"/>
                <a:ea typeface="Times New Roman"/>
                <a:cs typeface="Times New Roman"/>
                <a:sym typeface="Times New Roman"/>
              </a:rPr>
              <a:t>46</a:t>
            </a:fld>
            <a:endParaRPr sz="1300">
              <a:solidFill>
                <a:schemeClr val="dk1"/>
              </a:solidFill>
              <a:latin typeface="Times New Roman"/>
              <a:ea typeface="Times New Roman"/>
              <a:cs typeface="Times New Roman"/>
              <a:sym typeface="Times New Roman"/>
            </a:endParaRPr>
          </a:p>
        </p:txBody>
      </p:sp>
      <p:sp>
        <p:nvSpPr>
          <p:cNvPr id="434" name="Google Shape;434;p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35" name="Google Shape;435;p3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p3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300">
                <a:solidFill>
                  <a:schemeClr val="dk1"/>
                </a:solidFill>
                <a:latin typeface="Times New Roman"/>
                <a:ea typeface="Times New Roman"/>
                <a:cs typeface="Times New Roman"/>
                <a:sym typeface="Times New Roman"/>
              </a:rPr>
              <a:t>47</a:t>
            </a:fld>
            <a:endParaRPr sz="1300">
              <a:solidFill>
                <a:schemeClr val="dk1"/>
              </a:solidFill>
              <a:latin typeface="Times New Roman"/>
              <a:ea typeface="Times New Roman"/>
              <a:cs typeface="Times New Roman"/>
              <a:sym typeface="Times New Roman"/>
            </a:endParaRPr>
          </a:p>
        </p:txBody>
      </p:sp>
      <p:sp>
        <p:nvSpPr>
          <p:cNvPr id="444" name="Google Shape;444;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45" name="Google Shape;445;p3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p3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300">
                <a:solidFill>
                  <a:schemeClr val="dk1"/>
                </a:solidFill>
                <a:latin typeface="Times New Roman"/>
                <a:ea typeface="Times New Roman"/>
                <a:cs typeface="Times New Roman"/>
                <a:sym typeface="Times New Roman"/>
              </a:rPr>
              <a:t>48</a:t>
            </a:fld>
            <a:endParaRPr sz="1300">
              <a:solidFill>
                <a:schemeClr val="dk1"/>
              </a:solidFill>
              <a:latin typeface="Times New Roman"/>
              <a:ea typeface="Times New Roman"/>
              <a:cs typeface="Times New Roman"/>
              <a:sym typeface="Times New Roman"/>
            </a:endParaRPr>
          </a:p>
        </p:txBody>
      </p:sp>
      <p:sp>
        <p:nvSpPr>
          <p:cNvPr id="456" name="Google Shape;456;p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57" name="Google Shape;457;p3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p3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300">
                <a:solidFill>
                  <a:schemeClr val="dk1"/>
                </a:solidFill>
                <a:latin typeface="Times New Roman"/>
                <a:ea typeface="Times New Roman"/>
                <a:cs typeface="Times New Roman"/>
                <a:sym typeface="Times New Roman"/>
              </a:rPr>
              <a:t>49</a:t>
            </a:fld>
            <a:endParaRPr sz="1300">
              <a:solidFill>
                <a:schemeClr val="dk1"/>
              </a:solidFill>
              <a:latin typeface="Times New Roman"/>
              <a:ea typeface="Times New Roman"/>
              <a:cs typeface="Times New Roman"/>
              <a:sym typeface="Times New Roman"/>
            </a:endParaRPr>
          </a:p>
        </p:txBody>
      </p:sp>
      <p:sp>
        <p:nvSpPr>
          <p:cNvPr id="467" name="Google Shape;467;p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68" name="Google Shape;468;p3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p3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300">
                <a:solidFill>
                  <a:schemeClr val="dk1"/>
                </a:solidFill>
                <a:latin typeface="Times New Roman"/>
                <a:ea typeface="Times New Roman"/>
                <a:cs typeface="Times New Roman"/>
                <a:sym typeface="Times New Roman"/>
              </a:rPr>
              <a:t>50</a:t>
            </a:fld>
            <a:endParaRPr sz="1300">
              <a:solidFill>
                <a:schemeClr val="dk1"/>
              </a:solidFill>
              <a:latin typeface="Times New Roman"/>
              <a:ea typeface="Times New Roman"/>
              <a:cs typeface="Times New Roman"/>
              <a:sym typeface="Times New Roman"/>
            </a:endParaRPr>
          </a:p>
        </p:txBody>
      </p:sp>
      <p:sp>
        <p:nvSpPr>
          <p:cNvPr id="481" name="Google Shape;481;p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82" name="Google Shape;482;p3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8"/>
        <p:cNvGrpSpPr/>
        <p:nvPr/>
      </p:nvGrpSpPr>
      <p:grpSpPr>
        <a:xfrm>
          <a:off x="0" y="0"/>
          <a:ext cx="0" cy="0"/>
          <a:chOff x="0" y="0"/>
          <a:chExt cx="0" cy="0"/>
        </a:xfrm>
      </p:grpSpPr>
      <p:sp>
        <p:nvSpPr>
          <p:cNvPr id="489" name="Google Shape;489;p3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300">
                <a:solidFill>
                  <a:schemeClr val="dk1"/>
                </a:solidFill>
                <a:latin typeface="Times New Roman"/>
                <a:ea typeface="Times New Roman"/>
                <a:cs typeface="Times New Roman"/>
                <a:sym typeface="Times New Roman"/>
              </a:rPr>
              <a:t>51</a:t>
            </a:fld>
            <a:endParaRPr sz="1300">
              <a:solidFill>
                <a:schemeClr val="dk1"/>
              </a:solidFill>
              <a:latin typeface="Times New Roman"/>
              <a:ea typeface="Times New Roman"/>
              <a:cs typeface="Times New Roman"/>
              <a:sym typeface="Times New Roman"/>
            </a:endParaRPr>
          </a:p>
        </p:txBody>
      </p:sp>
      <p:sp>
        <p:nvSpPr>
          <p:cNvPr id="490" name="Google Shape;490;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91" name="Google Shape;491;p3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p3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300">
                <a:solidFill>
                  <a:schemeClr val="dk1"/>
                </a:solidFill>
                <a:latin typeface="Times New Roman"/>
                <a:ea typeface="Times New Roman"/>
                <a:cs typeface="Times New Roman"/>
                <a:sym typeface="Times New Roman"/>
              </a:rPr>
              <a:t>52</a:t>
            </a:fld>
            <a:endParaRPr sz="1300">
              <a:solidFill>
                <a:schemeClr val="dk1"/>
              </a:solidFill>
              <a:latin typeface="Times New Roman"/>
              <a:ea typeface="Times New Roman"/>
              <a:cs typeface="Times New Roman"/>
              <a:sym typeface="Times New Roman"/>
            </a:endParaRPr>
          </a:p>
        </p:txBody>
      </p:sp>
      <p:sp>
        <p:nvSpPr>
          <p:cNvPr id="499" name="Google Shape;499;p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00" name="Google Shape;500;p3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p:cNvGrpSpPr/>
        <p:nvPr/>
      </p:nvGrpSpPr>
      <p:grpSpPr>
        <a:xfrm>
          <a:off x="0" y="0"/>
          <a:ext cx="0" cy="0"/>
          <a:chOff x="0" y="0"/>
          <a:chExt cx="0" cy="0"/>
        </a:xfrm>
      </p:grpSpPr>
      <p:sp>
        <p:nvSpPr>
          <p:cNvPr id="508" name="Google Shape;508;p3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300">
                <a:solidFill>
                  <a:schemeClr val="dk1"/>
                </a:solidFill>
                <a:latin typeface="Times New Roman"/>
                <a:ea typeface="Times New Roman"/>
                <a:cs typeface="Times New Roman"/>
                <a:sym typeface="Times New Roman"/>
              </a:rPr>
              <a:t>53</a:t>
            </a:fld>
            <a:endParaRPr sz="1300">
              <a:solidFill>
                <a:schemeClr val="dk1"/>
              </a:solidFill>
              <a:latin typeface="Times New Roman"/>
              <a:ea typeface="Times New Roman"/>
              <a:cs typeface="Times New Roman"/>
              <a:sym typeface="Times New Roman"/>
            </a:endParaRPr>
          </a:p>
        </p:txBody>
      </p:sp>
      <p:sp>
        <p:nvSpPr>
          <p:cNvPr id="509" name="Google Shape;509;p3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10" name="Google Shape;510;p3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6"/>
        <p:cNvGrpSpPr/>
        <p:nvPr/>
      </p:nvGrpSpPr>
      <p:grpSpPr>
        <a:xfrm>
          <a:off x="0" y="0"/>
          <a:ext cx="0" cy="0"/>
          <a:chOff x="0" y="0"/>
          <a:chExt cx="0" cy="0"/>
        </a:xfrm>
      </p:grpSpPr>
      <p:sp>
        <p:nvSpPr>
          <p:cNvPr id="517" name="Google Shape;517;p3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300">
                <a:solidFill>
                  <a:schemeClr val="dk1"/>
                </a:solidFill>
                <a:latin typeface="Times New Roman"/>
                <a:ea typeface="Times New Roman"/>
                <a:cs typeface="Times New Roman"/>
                <a:sym typeface="Times New Roman"/>
              </a:rPr>
              <a:t>54</a:t>
            </a:fld>
            <a:endParaRPr sz="1300">
              <a:solidFill>
                <a:schemeClr val="dk1"/>
              </a:solidFill>
              <a:latin typeface="Times New Roman"/>
              <a:ea typeface="Times New Roman"/>
              <a:cs typeface="Times New Roman"/>
              <a:sym typeface="Times New Roman"/>
            </a:endParaRPr>
          </a:p>
        </p:txBody>
      </p:sp>
      <p:sp>
        <p:nvSpPr>
          <p:cNvPr id="518" name="Google Shape;518;p3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19" name="Google Shape;519;p3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7"/>
        <p:cNvGrpSpPr/>
        <p:nvPr/>
      </p:nvGrpSpPr>
      <p:grpSpPr>
        <a:xfrm>
          <a:off x="0" y="0"/>
          <a:ext cx="0" cy="0"/>
          <a:chOff x="0" y="0"/>
          <a:chExt cx="0" cy="0"/>
        </a:xfrm>
      </p:grpSpPr>
      <p:sp>
        <p:nvSpPr>
          <p:cNvPr id="528" name="Google Shape;528;p4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300">
                <a:solidFill>
                  <a:schemeClr val="dk1"/>
                </a:solidFill>
                <a:latin typeface="Times New Roman"/>
                <a:ea typeface="Times New Roman"/>
                <a:cs typeface="Times New Roman"/>
                <a:sym typeface="Times New Roman"/>
              </a:rPr>
              <a:t>55</a:t>
            </a:fld>
            <a:endParaRPr sz="1300">
              <a:solidFill>
                <a:schemeClr val="dk1"/>
              </a:solidFill>
              <a:latin typeface="Times New Roman"/>
              <a:ea typeface="Times New Roman"/>
              <a:cs typeface="Times New Roman"/>
              <a:sym typeface="Times New Roman"/>
            </a:endParaRPr>
          </a:p>
        </p:txBody>
      </p:sp>
      <p:sp>
        <p:nvSpPr>
          <p:cNvPr id="529" name="Google Shape;529;p4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30" name="Google Shape;530;p4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p:cNvGrpSpPr/>
        <p:nvPr/>
      </p:nvGrpSpPr>
      <p:grpSpPr>
        <a:xfrm>
          <a:off x="0" y="0"/>
          <a:ext cx="0" cy="0"/>
          <a:chOff x="0" y="0"/>
          <a:chExt cx="0" cy="0"/>
        </a:xfrm>
      </p:grpSpPr>
      <p:sp>
        <p:nvSpPr>
          <p:cNvPr id="537" name="Google Shape;537;p4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300">
                <a:solidFill>
                  <a:schemeClr val="dk1"/>
                </a:solidFill>
                <a:latin typeface="Times New Roman"/>
                <a:ea typeface="Times New Roman"/>
                <a:cs typeface="Times New Roman"/>
                <a:sym typeface="Times New Roman"/>
              </a:rPr>
              <a:t>56</a:t>
            </a:fld>
            <a:endParaRPr sz="1300">
              <a:solidFill>
                <a:schemeClr val="dk1"/>
              </a:solidFill>
              <a:latin typeface="Times New Roman"/>
              <a:ea typeface="Times New Roman"/>
              <a:cs typeface="Times New Roman"/>
              <a:sym typeface="Times New Roman"/>
            </a:endParaRPr>
          </a:p>
        </p:txBody>
      </p:sp>
      <p:sp>
        <p:nvSpPr>
          <p:cNvPr id="538" name="Google Shape;538;p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39" name="Google Shape;539;p4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0"/>
        <p:cNvGrpSpPr/>
        <p:nvPr/>
      </p:nvGrpSpPr>
      <p:grpSpPr>
        <a:xfrm>
          <a:off x="0" y="0"/>
          <a:ext cx="0" cy="0"/>
          <a:chOff x="0" y="0"/>
          <a:chExt cx="0" cy="0"/>
        </a:xfrm>
      </p:grpSpPr>
      <p:sp>
        <p:nvSpPr>
          <p:cNvPr id="551" name="Google Shape;551;p4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300">
                <a:solidFill>
                  <a:schemeClr val="dk1"/>
                </a:solidFill>
                <a:latin typeface="Times New Roman"/>
                <a:ea typeface="Times New Roman"/>
                <a:cs typeface="Times New Roman"/>
                <a:sym typeface="Times New Roman"/>
              </a:rPr>
              <a:t>57</a:t>
            </a:fld>
            <a:endParaRPr sz="1300">
              <a:solidFill>
                <a:schemeClr val="dk1"/>
              </a:solidFill>
              <a:latin typeface="Times New Roman"/>
              <a:ea typeface="Times New Roman"/>
              <a:cs typeface="Times New Roman"/>
              <a:sym typeface="Times New Roman"/>
            </a:endParaRPr>
          </a:p>
        </p:txBody>
      </p:sp>
      <p:sp>
        <p:nvSpPr>
          <p:cNvPr id="552" name="Google Shape;552;p4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53" name="Google Shape;553;p4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p4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3" name="Google Shape;563;p4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8"/>
        <p:cNvGrpSpPr/>
        <p:nvPr/>
      </p:nvGrpSpPr>
      <p:grpSpPr>
        <a:xfrm>
          <a:off x="0" y="0"/>
          <a:ext cx="0" cy="0"/>
          <a:chOff x="0" y="0"/>
          <a:chExt cx="0" cy="0"/>
        </a:xfrm>
      </p:grpSpPr>
      <p:sp>
        <p:nvSpPr>
          <p:cNvPr id="569" name="Google Shape;569;p4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0" name="Google Shape;570;p4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4"/>
        <p:cNvGrpSpPr/>
        <p:nvPr/>
      </p:nvGrpSpPr>
      <p:grpSpPr>
        <a:xfrm>
          <a:off x="0" y="0"/>
          <a:ext cx="0" cy="0"/>
          <a:chOff x="0" y="0"/>
          <a:chExt cx="0" cy="0"/>
        </a:xfrm>
      </p:grpSpPr>
      <p:sp>
        <p:nvSpPr>
          <p:cNvPr id="575" name="Google Shape;575;p4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6" name="Google Shape;576;p4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0"/>
        <p:cNvGrpSpPr/>
        <p:nvPr/>
      </p:nvGrpSpPr>
      <p:grpSpPr>
        <a:xfrm>
          <a:off x="0" y="0"/>
          <a:ext cx="0" cy="0"/>
          <a:chOff x="0" y="0"/>
          <a:chExt cx="0" cy="0"/>
        </a:xfrm>
      </p:grpSpPr>
      <p:sp>
        <p:nvSpPr>
          <p:cNvPr id="581" name="Google Shape;581;p4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2" name="Google Shape;582;p4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7"/>
        <p:cNvGrpSpPr/>
        <p:nvPr/>
      </p:nvGrpSpPr>
      <p:grpSpPr>
        <a:xfrm>
          <a:off x="0" y="0"/>
          <a:ext cx="0" cy="0"/>
          <a:chOff x="0" y="0"/>
          <a:chExt cx="0" cy="0"/>
        </a:xfrm>
      </p:grpSpPr>
      <p:sp>
        <p:nvSpPr>
          <p:cNvPr id="588" name="Google Shape;588;p4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9" name="Google Shape;589;p4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5"/>
        <p:cNvGrpSpPr/>
        <p:nvPr/>
      </p:nvGrpSpPr>
      <p:grpSpPr>
        <a:xfrm>
          <a:off x="0" y="0"/>
          <a:ext cx="0" cy="0"/>
          <a:chOff x="0" y="0"/>
          <a:chExt cx="0" cy="0"/>
        </a:xfrm>
      </p:grpSpPr>
      <p:sp>
        <p:nvSpPr>
          <p:cNvPr id="596" name="Google Shape;596;p4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7" name="Google Shape;597;p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1"/>
        <p:cNvGrpSpPr/>
        <p:nvPr/>
      </p:nvGrpSpPr>
      <p:grpSpPr>
        <a:xfrm>
          <a:off x="0" y="0"/>
          <a:ext cx="0" cy="0"/>
          <a:chOff x="0" y="0"/>
          <a:chExt cx="0" cy="0"/>
        </a:xfrm>
      </p:grpSpPr>
      <p:sp>
        <p:nvSpPr>
          <p:cNvPr id="602" name="Google Shape;602;p4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3" name="Google Shape;603;p4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7"/>
        <p:cNvGrpSpPr/>
        <p:nvPr/>
      </p:nvGrpSpPr>
      <p:grpSpPr>
        <a:xfrm>
          <a:off x="0" y="0"/>
          <a:ext cx="0" cy="0"/>
          <a:chOff x="0" y="0"/>
          <a:chExt cx="0" cy="0"/>
        </a:xfrm>
      </p:grpSpPr>
      <p:sp>
        <p:nvSpPr>
          <p:cNvPr id="608" name="Google Shape;608;p5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9" name="Google Shape;609;p5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3"/>
        <p:cNvGrpSpPr/>
        <p:nvPr/>
      </p:nvGrpSpPr>
      <p:grpSpPr>
        <a:xfrm>
          <a:off x="0" y="0"/>
          <a:ext cx="0" cy="0"/>
          <a:chOff x="0" y="0"/>
          <a:chExt cx="0" cy="0"/>
        </a:xfrm>
      </p:grpSpPr>
      <p:sp>
        <p:nvSpPr>
          <p:cNvPr id="614" name="Google Shape;614;p5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5" name="Google Shape;615;p5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9"/>
        <p:cNvGrpSpPr/>
        <p:nvPr/>
      </p:nvGrpSpPr>
      <p:grpSpPr>
        <a:xfrm>
          <a:off x="0" y="0"/>
          <a:ext cx="0" cy="0"/>
          <a:chOff x="0" y="0"/>
          <a:chExt cx="0" cy="0"/>
        </a:xfrm>
      </p:grpSpPr>
      <p:sp>
        <p:nvSpPr>
          <p:cNvPr id="620" name="Google Shape;620;p5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1" name="Google Shape;621;p5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5"/>
        <p:cNvGrpSpPr/>
        <p:nvPr/>
      </p:nvGrpSpPr>
      <p:grpSpPr>
        <a:xfrm>
          <a:off x="0" y="0"/>
          <a:ext cx="0" cy="0"/>
          <a:chOff x="0" y="0"/>
          <a:chExt cx="0" cy="0"/>
        </a:xfrm>
      </p:grpSpPr>
      <p:sp>
        <p:nvSpPr>
          <p:cNvPr id="626" name="Google Shape;626;p5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7" name="Google Shape;627;p5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2"/>
        <p:cNvGrpSpPr/>
        <p:nvPr/>
      </p:nvGrpSpPr>
      <p:grpSpPr>
        <a:xfrm>
          <a:off x="0" y="0"/>
          <a:ext cx="0" cy="0"/>
          <a:chOff x="0" y="0"/>
          <a:chExt cx="0" cy="0"/>
        </a:xfrm>
      </p:grpSpPr>
      <p:sp>
        <p:nvSpPr>
          <p:cNvPr id="633" name="Google Shape;633;p5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34" name="Google Shape;634;p5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8"/>
        <p:cNvGrpSpPr/>
        <p:nvPr/>
      </p:nvGrpSpPr>
      <p:grpSpPr>
        <a:xfrm>
          <a:off x="0" y="0"/>
          <a:ext cx="0" cy="0"/>
          <a:chOff x="0" y="0"/>
          <a:chExt cx="0" cy="0"/>
        </a:xfrm>
      </p:grpSpPr>
      <p:sp>
        <p:nvSpPr>
          <p:cNvPr id="639" name="Google Shape;639;p5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0" name="Google Shape;640;p5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4"/>
        <p:cNvGrpSpPr/>
        <p:nvPr/>
      </p:nvGrpSpPr>
      <p:grpSpPr>
        <a:xfrm>
          <a:off x="0" y="0"/>
          <a:ext cx="0" cy="0"/>
          <a:chOff x="0" y="0"/>
          <a:chExt cx="0" cy="0"/>
        </a:xfrm>
      </p:grpSpPr>
      <p:sp>
        <p:nvSpPr>
          <p:cNvPr id="645" name="Google Shape;645;p5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6" name="Google Shape;646;p5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p:cNvGrpSpPr/>
        <p:nvPr/>
      </p:nvGrpSpPr>
      <p:grpSpPr>
        <a:xfrm>
          <a:off x="0" y="0"/>
          <a:ext cx="0" cy="0"/>
          <a:chOff x="0" y="0"/>
          <a:chExt cx="0" cy="0"/>
        </a:xfrm>
      </p:grpSpPr>
      <p:sp>
        <p:nvSpPr>
          <p:cNvPr id="652" name="Google Shape;652;p5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3" name="Google Shape;653;p5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0"/>
        <p:cNvGrpSpPr/>
        <p:nvPr/>
      </p:nvGrpSpPr>
      <p:grpSpPr>
        <a:xfrm>
          <a:off x="0" y="0"/>
          <a:ext cx="0" cy="0"/>
          <a:chOff x="0" y="0"/>
          <a:chExt cx="0" cy="0"/>
        </a:xfrm>
      </p:grpSpPr>
      <p:sp>
        <p:nvSpPr>
          <p:cNvPr id="661" name="Google Shape;661;p5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2" name="Google Shape;662;p5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p5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1" name="Google Shape;671;p5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5"/>
        <p:cNvGrpSpPr/>
        <p:nvPr/>
      </p:nvGrpSpPr>
      <p:grpSpPr>
        <a:xfrm>
          <a:off x="0" y="0"/>
          <a:ext cx="0" cy="0"/>
          <a:chOff x="0" y="0"/>
          <a:chExt cx="0" cy="0"/>
        </a:xfrm>
      </p:grpSpPr>
      <p:sp>
        <p:nvSpPr>
          <p:cNvPr id="676" name="Google Shape;676;p6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7" name="Google Shape;677;p6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1"/>
        <p:cNvGrpSpPr/>
        <p:nvPr/>
      </p:nvGrpSpPr>
      <p:grpSpPr>
        <a:xfrm>
          <a:off x="0" y="0"/>
          <a:ext cx="0" cy="0"/>
          <a:chOff x="0" y="0"/>
          <a:chExt cx="0" cy="0"/>
        </a:xfrm>
      </p:grpSpPr>
      <p:sp>
        <p:nvSpPr>
          <p:cNvPr id="682" name="Google Shape;682;p6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3" name="Google Shape;683;p6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7"/>
        <p:cNvGrpSpPr/>
        <p:nvPr/>
      </p:nvGrpSpPr>
      <p:grpSpPr>
        <a:xfrm>
          <a:off x="0" y="0"/>
          <a:ext cx="0" cy="0"/>
          <a:chOff x="0" y="0"/>
          <a:chExt cx="0" cy="0"/>
        </a:xfrm>
      </p:grpSpPr>
      <p:sp>
        <p:nvSpPr>
          <p:cNvPr id="688" name="Google Shape;688;p6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9" name="Google Shape;689;p6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3"/>
        <p:cNvGrpSpPr/>
        <p:nvPr/>
      </p:nvGrpSpPr>
      <p:grpSpPr>
        <a:xfrm>
          <a:off x="0" y="0"/>
          <a:ext cx="0" cy="0"/>
          <a:chOff x="0" y="0"/>
          <a:chExt cx="0" cy="0"/>
        </a:xfrm>
      </p:grpSpPr>
      <p:sp>
        <p:nvSpPr>
          <p:cNvPr id="694" name="Google Shape;694;p6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5" name="Google Shape;695;p6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9"/>
        <p:cNvGrpSpPr/>
        <p:nvPr/>
      </p:nvGrpSpPr>
      <p:grpSpPr>
        <a:xfrm>
          <a:off x="0" y="0"/>
          <a:ext cx="0" cy="0"/>
          <a:chOff x="0" y="0"/>
          <a:chExt cx="0" cy="0"/>
        </a:xfrm>
      </p:grpSpPr>
      <p:sp>
        <p:nvSpPr>
          <p:cNvPr id="700" name="Google Shape;700;p6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1" name="Google Shape;701;p6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
        <p:cNvGrpSpPr/>
        <p:nvPr/>
      </p:nvGrpSpPr>
      <p:grpSpPr>
        <a:xfrm>
          <a:off x="0" y="0"/>
          <a:ext cx="0" cy="0"/>
          <a:chOff x="0" y="0"/>
          <a:chExt cx="0" cy="0"/>
        </a:xfrm>
      </p:grpSpPr>
      <p:sp>
        <p:nvSpPr>
          <p:cNvPr id="706" name="Google Shape;706;p6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7" name="Google Shape;707;p6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1"/>
        <p:cNvGrpSpPr/>
        <p:nvPr/>
      </p:nvGrpSpPr>
      <p:grpSpPr>
        <a:xfrm>
          <a:off x="0" y="0"/>
          <a:ext cx="0" cy="0"/>
          <a:chOff x="0" y="0"/>
          <a:chExt cx="0" cy="0"/>
        </a:xfrm>
      </p:grpSpPr>
      <p:sp>
        <p:nvSpPr>
          <p:cNvPr id="712" name="Google Shape;712;p6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3" name="Google Shape;713;p6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7"/>
        <p:cNvGrpSpPr/>
        <p:nvPr/>
      </p:nvGrpSpPr>
      <p:grpSpPr>
        <a:xfrm>
          <a:off x="0" y="0"/>
          <a:ext cx="0" cy="0"/>
          <a:chOff x="0" y="0"/>
          <a:chExt cx="0" cy="0"/>
        </a:xfrm>
      </p:grpSpPr>
      <p:sp>
        <p:nvSpPr>
          <p:cNvPr id="718" name="Google Shape;718;p6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9" name="Google Shape;719;p6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4"/>
        <p:cNvGrpSpPr/>
        <p:nvPr/>
      </p:nvGrpSpPr>
      <p:grpSpPr>
        <a:xfrm>
          <a:off x="0" y="0"/>
          <a:ext cx="0" cy="0"/>
          <a:chOff x="0" y="0"/>
          <a:chExt cx="0" cy="0"/>
        </a:xfrm>
      </p:grpSpPr>
      <p:sp>
        <p:nvSpPr>
          <p:cNvPr id="725" name="Google Shape;725;p6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6" name="Google Shape;726;p6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1"/>
        <p:cNvGrpSpPr/>
        <p:nvPr/>
      </p:nvGrpSpPr>
      <p:grpSpPr>
        <a:xfrm>
          <a:off x="0" y="0"/>
          <a:ext cx="0" cy="0"/>
          <a:chOff x="0" y="0"/>
          <a:chExt cx="0" cy="0"/>
        </a:xfrm>
      </p:grpSpPr>
      <p:sp>
        <p:nvSpPr>
          <p:cNvPr id="732" name="Google Shape;732;p6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33" name="Google Shape;733;p6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8"/>
        <p:cNvGrpSpPr/>
        <p:nvPr/>
      </p:nvGrpSpPr>
      <p:grpSpPr>
        <a:xfrm>
          <a:off x="0" y="0"/>
          <a:ext cx="0" cy="0"/>
          <a:chOff x="0" y="0"/>
          <a:chExt cx="0" cy="0"/>
        </a:xfrm>
      </p:grpSpPr>
      <p:sp>
        <p:nvSpPr>
          <p:cNvPr id="739" name="Google Shape;739;p7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40" name="Google Shape;740;p7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4"/>
        <p:cNvGrpSpPr/>
        <p:nvPr/>
      </p:nvGrpSpPr>
      <p:grpSpPr>
        <a:xfrm>
          <a:off x="0" y="0"/>
          <a:ext cx="0" cy="0"/>
          <a:chOff x="0" y="0"/>
          <a:chExt cx="0" cy="0"/>
        </a:xfrm>
      </p:grpSpPr>
      <p:sp>
        <p:nvSpPr>
          <p:cNvPr id="745" name="Google Shape;745;p7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46" name="Google Shape;746;p7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0"/>
        <p:cNvGrpSpPr/>
        <p:nvPr/>
      </p:nvGrpSpPr>
      <p:grpSpPr>
        <a:xfrm>
          <a:off x="0" y="0"/>
          <a:ext cx="0" cy="0"/>
          <a:chOff x="0" y="0"/>
          <a:chExt cx="0" cy="0"/>
        </a:xfrm>
      </p:grpSpPr>
      <p:sp>
        <p:nvSpPr>
          <p:cNvPr id="751" name="Google Shape;751;p7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2" name="Google Shape;752;p7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6"/>
        <p:cNvGrpSpPr/>
        <p:nvPr/>
      </p:nvGrpSpPr>
      <p:grpSpPr>
        <a:xfrm>
          <a:off x="0" y="0"/>
          <a:ext cx="0" cy="0"/>
          <a:chOff x="0" y="0"/>
          <a:chExt cx="0" cy="0"/>
        </a:xfrm>
      </p:grpSpPr>
      <p:sp>
        <p:nvSpPr>
          <p:cNvPr id="757" name="Google Shape;757;p7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8" name="Google Shape;758;p7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3"/>
        <p:cNvGrpSpPr/>
        <p:nvPr/>
      </p:nvGrpSpPr>
      <p:grpSpPr>
        <a:xfrm>
          <a:off x="0" y="0"/>
          <a:ext cx="0" cy="0"/>
          <a:chOff x="0" y="0"/>
          <a:chExt cx="0" cy="0"/>
        </a:xfrm>
      </p:grpSpPr>
      <p:sp>
        <p:nvSpPr>
          <p:cNvPr id="764" name="Google Shape;764;p7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5" name="Google Shape;765;p7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9"/>
        <p:cNvGrpSpPr/>
        <p:nvPr/>
      </p:nvGrpSpPr>
      <p:grpSpPr>
        <a:xfrm>
          <a:off x="0" y="0"/>
          <a:ext cx="0" cy="0"/>
          <a:chOff x="0" y="0"/>
          <a:chExt cx="0" cy="0"/>
        </a:xfrm>
      </p:grpSpPr>
      <p:sp>
        <p:nvSpPr>
          <p:cNvPr id="770" name="Google Shape;770;p7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71" name="Google Shape;771;p7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5"/>
        <p:cNvGrpSpPr/>
        <p:nvPr/>
      </p:nvGrpSpPr>
      <p:grpSpPr>
        <a:xfrm>
          <a:off x="0" y="0"/>
          <a:ext cx="0" cy="0"/>
          <a:chOff x="0" y="0"/>
          <a:chExt cx="0" cy="0"/>
        </a:xfrm>
      </p:grpSpPr>
      <p:sp>
        <p:nvSpPr>
          <p:cNvPr id="776" name="Google Shape;776;p7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77" name="Google Shape;777;p7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2"/>
        <p:cNvGrpSpPr/>
        <p:nvPr/>
      </p:nvGrpSpPr>
      <p:grpSpPr>
        <a:xfrm>
          <a:off x="0" y="0"/>
          <a:ext cx="0" cy="0"/>
          <a:chOff x="0" y="0"/>
          <a:chExt cx="0" cy="0"/>
        </a:xfrm>
      </p:grpSpPr>
      <p:sp>
        <p:nvSpPr>
          <p:cNvPr id="783" name="Google Shape;783;p7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84" name="Google Shape;784;p7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8"/>
        <p:cNvGrpSpPr/>
        <p:nvPr/>
      </p:nvGrpSpPr>
      <p:grpSpPr>
        <a:xfrm>
          <a:off x="0" y="0"/>
          <a:ext cx="0" cy="0"/>
          <a:chOff x="0" y="0"/>
          <a:chExt cx="0" cy="0"/>
        </a:xfrm>
      </p:grpSpPr>
      <p:sp>
        <p:nvSpPr>
          <p:cNvPr id="789" name="Google Shape;789;p7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90" name="Google Shape;790;p7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5"/>
        <p:cNvGrpSpPr/>
        <p:nvPr/>
      </p:nvGrpSpPr>
      <p:grpSpPr>
        <a:xfrm>
          <a:off x="0" y="0"/>
          <a:ext cx="0" cy="0"/>
          <a:chOff x="0" y="0"/>
          <a:chExt cx="0" cy="0"/>
        </a:xfrm>
      </p:grpSpPr>
      <p:sp>
        <p:nvSpPr>
          <p:cNvPr id="796" name="Google Shape;796;p7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97" name="Google Shape;797;p7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1"/>
        <p:cNvGrpSpPr/>
        <p:nvPr/>
      </p:nvGrpSpPr>
      <p:grpSpPr>
        <a:xfrm>
          <a:off x="0" y="0"/>
          <a:ext cx="0" cy="0"/>
          <a:chOff x="0" y="0"/>
          <a:chExt cx="0" cy="0"/>
        </a:xfrm>
      </p:grpSpPr>
      <p:sp>
        <p:nvSpPr>
          <p:cNvPr id="802" name="Google Shape;802;p8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03" name="Google Shape;803;p8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8"/>
        <p:cNvGrpSpPr/>
        <p:nvPr/>
      </p:nvGrpSpPr>
      <p:grpSpPr>
        <a:xfrm>
          <a:off x="0" y="0"/>
          <a:ext cx="0" cy="0"/>
          <a:chOff x="0" y="0"/>
          <a:chExt cx="0" cy="0"/>
        </a:xfrm>
      </p:grpSpPr>
      <p:sp>
        <p:nvSpPr>
          <p:cNvPr id="809" name="Google Shape;809;p8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10" name="Google Shape;810;p8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4"/>
        <p:cNvGrpSpPr/>
        <p:nvPr/>
      </p:nvGrpSpPr>
      <p:grpSpPr>
        <a:xfrm>
          <a:off x="0" y="0"/>
          <a:ext cx="0" cy="0"/>
          <a:chOff x="0" y="0"/>
          <a:chExt cx="0" cy="0"/>
        </a:xfrm>
      </p:grpSpPr>
      <p:sp>
        <p:nvSpPr>
          <p:cNvPr id="815" name="Google Shape;815;p8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16" name="Google Shape;816;p8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0"/>
        <p:cNvGrpSpPr/>
        <p:nvPr/>
      </p:nvGrpSpPr>
      <p:grpSpPr>
        <a:xfrm>
          <a:off x="0" y="0"/>
          <a:ext cx="0" cy="0"/>
          <a:chOff x="0" y="0"/>
          <a:chExt cx="0" cy="0"/>
        </a:xfrm>
      </p:grpSpPr>
      <p:sp>
        <p:nvSpPr>
          <p:cNvPr id="821" name="Google Shape;821;p8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2" name="Google Shape;822;p8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6"/>
        <p:cNvGrpSpPr/>
        <p:nvPr/>
      </p:nvGrpSpPr>
      <p:grpSpPr>
        <a:xfrm>
          <a:off x="0" y="0"/>
          <a:ext cx="0" cy="0"/>
          <a:chOff x="0" y="0"/>
          <a:chExt cx="0" cy="0"/>
        </a:xfrm>
      </p:grpSpPr>
      <p:sp>
        <p:nvSpPr>
          <p:cNvPr id="827" name="Google Shape;827;p8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8" name="Google Shape;828;p8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2"/>
        <p:cNvGrpSpPr/>
        <p:nvPr/>
      </p:nvGrpSpPr>
      <p:grpSpPr>
        <a:xfrm>
          <a:off x="0" y="0"/>
          <a:ext cx="0" cy="0"/>
          <a:chOff x="0" y="0"/>
          <a:chExt cx="0" cy="0"/>
        </a:xfrm>
      </p:grpSpPr>
      <p:sp>
        <p:nvSpPr>
          <p:cNvPr id="833" name="Google Shape;833;p8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34" name="Google Shape;834;p8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gradFill>
          <a:gsLst>
            <a:gs pos="0">
              <a:srgbClr val="439FD7"/>
            </a:gs>
            <a:gs pos="25000">
              <a:srgbClr val="4397CA"/>
            </a:gs>
            <a:gs pos="100000">
              <a:srgbClr val="00466A"/>
            </a:gs>
          </a:gsLst>
          <a:path path="circle">
            <a:fillToRect l="50000" t="50000" r="50000" b="50000"/>
          </a:path>
          <a:tileRect/>
        </a:gradFill>
        <a:effectLst/>
      </p:bgPr>
    </p:bg>
    <p:spTree>
      <p:nvGrpSpPr>
        <p:cNvPr id="1" name="Shape 20"/>
        <p:cNvGrpSpPr/>
        <p:nvPr/>
      </p:nvGrpSpPr>
      <p:grpSpPr>
        <a:xfrm>
          <a:off x="0" y="0"/>
          <a:ext cx="0" cy="0"/>
          <a:chOff x="0" y="0"/>
          <a:chExt cx="0" cy="0"/>
        </a:xfrm>
      </p:grpSpPr>
      <p:sp>
        <p:nvSpPr>
          <p:cNvPr id="21" name="Google Shape;21;p89"/>
          <p:cNvSpPr txBox="1">
            <a:spLocks noGrp="1"/>
          </p:cNvSpPr>
          <p:nvPr>
            <p:ph type="ctrTitle"/>
          </p:nvPr>
        </p:nvSpPr>
        <p:spPr>
          <a:xfrm>
            <a:off x="533400" y="1371600"/>
            <a:ext cx="7851648" cy="1828800"/>
          </a:xfrm>
          <a:prstGeom prst="rect">
            <a:avLst/>
          </a:prstGeom>
          <a:noFill/>
          <a:ln>
            <a:noFill/>
          </a:ln>
        </p:spPr>
        <p:txBody>
          <a:bodyPr spcFirstLastPara="1" wrap="square" lIns="0" tIns="0" rIns="18275" bIns="0" anchor="b" anchorCtr="0">
            <a:normAutofit/>
          </a:bodyPr>
          <a:lstStyle>
            <a:lvl1pPr lvl="0" algn="r">
              <a:spcBef>
                <a:spcPts val="0"/>
              </a:spcBef>
              <a:spcAft>
                <a:spcPts val="0"/>
              </a:spcAft>
              <a:buClr>
                <a:srgbClr val="4CE0EA"/>
              </a:buClr>
              <a:buSzPts val="5600"/>
              <a:buFont typeface="Calibri"/>
              <a:buNone/>
              <a:defRPr sz="5600" b="1">
                <a:solidFill>
                  <a:srgbClr val="4CE0EA"/>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89"/>
          <p:cNvSpPr txBox="1">
            <a:spLocks noGrp="1"/>
          </p:cNvSpPr>
          <p:nvPr>
            <p:ph type="subTitle" idx="1"/>
          </p:nvPr>
        </p:nvSpPr>
        <p:spPr>
          <a:xfrm>
            <a:off x="533400" y="3228536"/>
            <a:ext cx="7854696" cy="1752600"/>
          </a:xfrm>
          <a:prstGeom prst="rect">
            <a:avLst/>
          </a:prstGeom>
          <a:noFill/>
          <a:ln>
            <a:noFill/>
          </a:ln>
        </p:spPr>
        <p:txBody>
          <a:bodyPr spcFirstLastPara="1" wrap="square" lIns="0" tIns="45700" rIns="18275" bIns="45700" anchor="t" anchorCtr="0">
            <a:normAutofit/>
          </a:bodyPr>
          <a:lstStyle>
            <a:lvl1pPr marR="45720" lvl="0" algn="r">
              <a:spcBef>
                <a:spcPts val="520"/>
              </a:spcBef>
              <a:spcAft>
                <a:spcPts val="0"/>
              </a:spcAft>
              <a:buSzPts val="2470"/>
              <a:buNone/>
              <a:defRPr>
                <a:solidFill>
                  <a:schemeClr val="lt1"/>
                </a:solidFill>
              </a:defRPr>
            </a:lvl1pPr>
            <a:lvl2pPr lvl="1" algn="ctr">
              <a:spcBef>
                <a:spcPts val="360"/>
              </a:spcBef>
              <a:spcAft>
                <a:spcPts val="0"/>
              </a:spcAft>
              <a:buSzPts val="1530"/>
              <a:buNone/>
              <a:defRPr/>
            </a:lvl2pPr>
            <a:lvl3pPr lvl="2" algn="ctr">
              <a:spcBef>
                <a:spcPts val="360"/>
              </a:spcBef>
              <a:spcAft>
                <a:spcPts val="0"/>
              </a:spcAft>
              <a:buSzPts val="1260"/>
              <a:buNone/>
              <a:defRPr/>
            </a:lvl3pPr>
            <a:lvl4pPr lvl="3" algn="ctr">
              <a:spcBef>
                <a:spcPts val="360"/>
              </a:spcBef>
              <a:spcAft>
                <a:spcPts val="0"/>
              </a:spcAft>
              <a:buSzPts val="1170"/>
              <a:buNone/>
              <a:defRPr/>
            </a:lvl4pPr>
            <a:lvl5pPr lvl="4" algn="ctr">
              <a:spcBef>
                <a:spcPts val="360"/>
              </a:spcBef>
              <a:spcAft>
                <a:spcPts val="0"/>
              </a:spcAft>
              <a:buSzPts val="1170"/>
              <a:buNone/>
              <a:defRPr/>
            </a:lvl5pPr>
            <a:lvl6pPr lvl="5" algn="ctr">
              <a:spcBef>
                <a:spcPts val="360"/>
              </a:spcBef>
              <a:spcAft>
                <a:spcPts val="0"/>
              </a:spcAft>
              <a:buSzPts val="1440"/>
              <a:buNone/>
              <a:defRPr/>
            </a:lvl6pPr>
            <a:lvl7pPr lvl="6" algn="ctr">
              <a:spcBef>
                <a:spcPts val="360"/>
              </a:spcBef>
              <a:spcAft>
                <a:spcPts val="0"/>
              </a:spcAft>
              <a:buSzPts val="144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a:endParaRPr/>
          </a:p>
        </p:txBody>
      </p:sp>
      <p:sp>
        <p:nvSpPr>
          <p:cNvPr id="23" name="Google Shape;23;p89"/>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89"/>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89"/>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7"/>
        <p:cNvGrpSpPr/>
        <p:nvPr/>
      </p:nvGrpSpPr>
      <p:grpSpPr>
        <a:xfrm>
          <a:off x="0" y="0"/>
          <a:ext cx="0" cy="0"/>
          <a:chOff x="0" y="0"/>
          <a:chExt cx="0" cy="0"/>
        </a:xfrm>
      </p:grpSpPr>
      <p:sp>
        <p:nvSpPr>
          <p:cNvPr id="38" name="Google Shape;38;p90"/>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90"/>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lvl1pPr marL="457200" lvl="0" indent="-337185" algn="l">
              <a:spcBef>
                <a:spcPts val="360"/>
              </a:spcBef>
              <a:spcAft>
                <a:spcPts val="0"/>
              </a:spcAft>
              <a:buSzPts val="1710"/>
              <a:buChar char="⚫"/>
              <a:defRPr/>
            </a:lvl1pPr>
            <a:lvl2pPr marL="914400" lvl="1" indent="-325755" algn="l">
              <a:spcBef>
                <a:spcPts val="360"/>
              </a:spcBef>
              <a:spcAft>
                <a:spcPts val="0"/>
              </a:spcAft>
              <a:buSzPts val="1530"/>
              <a:buChar char="⚫"/>
              <a:defRPr/>
            </a:lvl2pPr>
            <a:lvl3pPr marL="1371600" lvl="2" indent="-308610" algn="l">
              <a:spcBef>
                <a:spcPts val="360"/>
              </a:spcBef>
              <a:spcAft>
                <a:spcPts val="0"/>
              </a:spcAft>
              <a:buSzPts val="1260"/>
              <a:buChar char="⚫"/>
              <a:defRPr/>
            </a:lvl3pPr>
            <a:lvl4pPr marL="1828800" lvl="3" indent="-302894" algn="l">
              <a:spcBef>
                <a:spcPts val="360"/>
              </a:spcBef>
              <a:spcAft>
                <a:spcPts val="0"/>
              </a:spcAft>
              <a:buSzPts val="1170"/>
              <a:buChar char="⚫"/>
              <a:defRPr/>
            </a:lvl4pPr>
            <a:lvl5pPr marL="2286000" lvl="4" indent="-302895" algn="l">
              <a:spcBef>
                <a:spcPts val="360"/>
              </a:spcBef>
              <a:spcAft>
                <a:spcPts val="0"/>
              </a:spcAft>
              <a:buSzPts val="1170"/>
              <a:buChar char="⚫"/>
              <a:defRPr/>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40" name="Google Shape;40;p90"/>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90"/>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90"/>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3"/>
        <p:cNvGrpSpPr/>
        <p:nvPr/>
      </p:nvGrpSpPr>
      <p:grpSpPr>
        <a:xfrm>
          <a:off x="0" y="0"/>
          <a:ext cx="0" cy="0"/>
          <a:chOff x="0" y="0"/>
          <a:chExt cx="0" cy="0"/>
        </a:xfrm>
      </p:grpSpPr>
      <p:sp>
        <p:nvSpPr>
          <p:cNvPr id="44" name="Google Shape;44;p91"/>
          <p:cNvSpPr txBox="1">
            <a:spLocks noGrp="1"/>
          </p:cNvSpPr>
          <p:nvPr>
            <p:ph type="title"/>
          </p:nvPr>
        </p:nvSpPr>
        <p:spPr>
          <a:xfrm>
            <a:off x="457200" y="704088"/>
            <a:ext cx="8305800" cy="1143000"/>
          </a:xfrm>
          <a:prstGeom prst="rect">
            <a:avLst/>
          </a:prstGeom>
          <a:noFill/>
          <a:ln>
            <a:noFill/>
          </a:ln>
        </p:spPr>
        <p:txBody>
          <a:bodyPr spcFirstLastPara="1" wrap="square" lIns="0" tIns="45700" rIns="0" bIns="0" anchor="b" anchorCtr="0">
            <a:normAutofit/>
          </a:bodyPr>
          <a:lstStyle>
            <a:lvl1pPr lvl="0" algn="l">
              <a:spcBef>
                <a:spcPts val="0"/>
              </a:spcBef>
              <a:spcAft>
                <a:spcPts val="0"/>
              </a:spcAft>
              <a:buClr>
                <a:schemeClr val="dk2"/>
              </a:buClr>
              <a:buSzPts val="5000"/>
              <a:buFont typeface="Calibri"/>
              <a:buNone/>
              <a:defRPr sz="5000" b="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91"/>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91"/>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91"/>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92"/>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92"/>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92"/>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Slide" type="title">
  <p:cSld name="TITLE">
    <p:bg>
      <p:bgPr>
        <a:gradFill>
          <a:gsLst>
            <a:gs pos="0">
              <a:srgbClr val="439FD7"/>
            </a:gs>
            <a:gs pos="25000">
              <a:srgbClr val="4397CA"/>
            </a:gs>
            <a:gs pos="100000">
              <a:srgbClr val="00466A"/>
            </a:gs>
          </a:gsLst>
          <a:path path="circle">
            <a:fillToRect l="50000" t="50000" r="50000" b="50000"/>
          </a:path>
          <a:tileRect/>
        </a:gradFill>
        <a:effectLst/>
      </p:bgPr>
    </p:bg>
    <p:spTree>
      <p:nvGrpSpPr>
        <p:cNvPr id="1" name="Shape 52"/>
        <p:cNvGrpSpPr/>
        <p:nvPr/>
      </p:nvGrpSpPr>
      <p:grpSpPr>
        <a:xfrm>
          <a:off x="0" y="0"/>
          <a:ext cx="0" cy="0"/>
          <a:chOff x="0" y="0"/>
          <a:chExt cx="0" cy="0"/>
        </a:xfrm>
      </p:grpSpPr>
      <p:sp>
        <p:nvSpPr>
          <p:cNvPr id="53" name="Google Shape;53;p88"/>
          <p:cNvSpPr txBox="1">
            <a:spLocks noGrp="1"/>
          </p:cNvSpPr>
          <p:nvPr>
            <p:ph type="ctrTitle"/>
          </p:nvPr>
        </p:nvSpPr>
        <p:spPr>
          <a:xfrm>
            <a:off x="533400" y="1371600"/>
            <a:ext cx="7851648" cy="1828800"/>
          </a:xfrm>
          <a:prstGeom prst="rect">
            <a:avLst/>
          </a:prstGeom>
          <a:noFill/>
          <a:ln>
            <a:noFill/>
          </a:ln>
        </p:spPr>
        <p:txBody>
          <a:bodyPr spcFirstLastPara="1" wrap="square" lIns="0" tIns="0" rIns="18275" bIns="0" anchor="b" anchorCtr="0">
            <a:normAutofit/>
          </a:bodyPr>
          <a:lstStyle>
            <a:lvl1pPr lvl="0" algn="r">
              <a:spcBef>
                <a:spcPts val="0"/>
              </a:spcBef>
              <a:spcAft>
                <a:spcPts val="0"/>
              </a:spcAft>
              <a:buClr>
                <a:srgbClr val="4CE0EA"/>
              </a:buClr>
              <a:buSzPts val="5600"/>
              <a:buFont typeface="Calibri"/>
              <a:buNone/>
              <a:defRPr sz="5600" b="1">
                <a:solidFill>
                  <a:srgbClr val="4CE0EA"/>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4" name="Google Shape;54;p88"/>
          <p:cNvSpPr txBox="1">
            <a:spLocks noGrp="1"/>
          </p:cNvSpPr>
          <p:nvPr>
            <p:ph type="subTitle" idx="1"/>
          </p:nvPr>
        </p:nvSpPr>
        <p:spPr>
          <a:xfrm>
            <a:off x="533400" y="3228536"/>
            <a:ext cx="7854696" cy="1752600"/>
          </a:xfrm>
          <a:prstGeom prst="rect">
            <a:avLst/>
          </a:prstGeom>
          <a:noFill/>
          <a:ln>
            <a:noFill/>
          </a:ln>
        </p:spPr>
        <p:txBody>
          <a:bodyPr spcFirstLastPara="1" wrap="square" lIns="0" tIns="45700" rIns="18275" bIns="45700" anchor="t" anchorCtr="0">
            <a:normAutofit/>
          </a:bodyPr>
          <a:lstStyle>
            <a:lvl1pPr marR="45720" lvl="0" algn="r">
              <a:spcBef>
                <a:spcPts val="520"/>
              </a:spcBef>
              <a:spcAft>
                <a:spcPts val="0"/>
              </a:spcAft>
              <a:buSzPts val="2470"/>
              <a:buNone/>
              <a:defRPr>
                <a:solidFill>
                  <a:schemeClr val="lt1"/>
                </a:solidFill>
              </a:defRPr>
            </a:lvl1pPr>
            <a:lvl2pPr lvl="1" algn="ctr">
              <a:spcBef>
                <a:spcPts val="360"/>
              </a:spcBef>
              <a:spcAft>
                <a:spcPts val="0"/>
              </a:spcAft>
              <a:buSzPts val="1530"/>
              <a:buNone/>
              <a:defRPr/>
            </a:lvl2pPr>
            <a:lvl3pPr lvl="2" algn="ctr">
              <a:spcBef>
                <a:spcPts val="360"/>
              </a:spcBef>
              <a:spcAft>
                <a:spcPts val="0"/>
              </a:spcAft>
              <a:buSzPts val="1260"/>
              <a:buNone/>
              <a:defRPr/>
            </a:lvl3pPr>
            <a:lvl4pPr lvl="3" algn="ctr">
              <a:spcBef>
                <a:spcPts val="360"/>
              </a:spcBef>
              <a:spcAft>
                <a:spcPts val="0"/>
              </a:spcAft>
              <a:buSzPts val="1170"/>
              <a:buNone/>
              <a:defRPr/>
            </a:lvl4pPr>
            <a:lvl5pPr lvl="4" algn="ctr">
              <a:spcBef>
                <a:spcPts val="360"/>
              </a:spcBef>
              <a:spcAft>
                <a:spcPts val="0"/>
              </a:spcAft>
              <a:buSzPts val="1170"/>
              <a:buNone/>
              <a:defRPr/>
            </a:lvl5pPr>
            <a:lvl6pPr lvl="5" algn="ctr">
              <a:spcBef>
                <a:spcPts val="360"/>
              </a:spcBef>
              <a:spcAft>
                <a:spcPts val="0"/>
              </a:spcAft>
              <a:buSzPts val="1440"/>
              <a:buNone/>
              <a:defRPr/>
            </a:lvl6pPr>
            <a:lvl7pPr lvl="6" algn="ctr">
              <a:spcBef>
                <a:spcPts val="360"/>
              </a:spcBef>
              <a:spcAft>
                <a:spcPts val="0"/>
              </a:spcAft>
              <a:buSzPts val="144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a:endParaRPr/>
          </a:p>
        </p:txBody>
      </p:sp>
      <p:sp>
        <p:nvSpPr>
          <p:cNvPr id="55" name="Google Shape;55;p88"/>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8"/>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8"/>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gradFill>
          <a:gsLst>
            <a:gs pos="0">
              <a:srgbClr val="439FD7"/>
            </a:gs>
            <a:gs pos="25000">
              <a:srgbClr val="4397CA"/>
            </a:gs>
            <a:gs pos="100000">
              <a:srgbClr val="00466A"/>
            </a:gs>
          </a:gsLst>
          <a:path path="circle">
            <a:fillToRect l="50000" t="50000" r="50000" b="50000"/>
          </a:path>
          <a:tileRect/>
        </a:gradFill>
        <a:effectLst/>
      </p:bgPr>
    </p:bg>
    <p:spTree>
      <p:nvGrpSpPr>
        <p:cNvPr id="1" name="Shape 58"/>
        <p:cNvGrpSpPr/>
        <p:nvPr/>
      </p:nvGrpSpPr>
      <p:grpSpPr>
        <a:xfrm>
          <a:off x="0" y="0"/>
          <a:ext cx="0" cy="0"/>
          <a:chOff x="0" y="0"/>
          <a:chExt cx="0" cy="0"/>
        </a:xfrm>
      </p:grpSpPr>
      <p:sp>
        <p:nvSpPr>
          <p:cNvPr id="59" name="Google Shape;59;p93"/>
          <p:cNvSpPr txBox="1">
            <a:spLocks noGrp="1"/>
          </p:cNvSpPr>
          <p:nvPr>
            <p:ph type="title"/>
          </p:nvPr>
        </p:nvSpPr>
        <p:spPr>
          <a:xfrm>
            <a:off x="530352" y="1316736"/>
            <a:ext cx="7772400" cy="1362456"/>
          </a:xfrm>
          <a:prstGeom prst="rect">
            <a:avLst/>
          </a:prstGeom>
          <a:noFill/>
          <a:ln>
            <a:noFill/>
          </a:ln>
        </p:spPr>
        <p:txBody>
          <a:bodyPr spcFirstLastPara="1" wrap="square" lIns="0" tIns="0" rIns="0" bIns="0" anchor="b" anchorCtr="0">
            <a:noAutofit/>
          </a:bodyPr>
          <a:lstStyle>
            <a:lvl1pPr lvl="0" algn="l">
              <a:spcBef>
                <a:spcPts val="0"/>
              </a:spcBef>
              <a:spcAft>
                <a:spcPts val="0"/>
              </a:spcAft>
              <a:buClr>
                <a:srgbClr val="4AE3AC"/>
              </a:buClr>
              <a:buSzPts val="5600"/>
              <a:buFont typeface="Calibri"/>
              <a:buNone/>
              <a:defRPr sz="5600" b="1" cap="none">
                <a:solidFill>
                  <a:srgbClr val="4AE3AC"/>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3"/>
          <p:cNvSpPr txBox="1">
            <a:spLocks noGrp="1"/>
          </p:cNvSpPr>
          <p:nvPr>
            <p:ph type="body" idx="1"/>
          </p:nvPr>
        </p:nvSpPr>
        <p:spPr>
          <a:xfrm>
            <a:off x="530352" y="2704664"/>
            <a:ext cx="7772400" cy="1509712"/>
          </a:xfrm>
          <a:prstGeom prst="rect">
            <a:avLst/>
          </a:prstGeom>
          <a:noFill/>
          <a:ln>
            <a:noFill/>
          </a:ln>
        </p:spPr>
        <p:txBody>
          <a:bodyPr spcFirstLastPara="1" wrap="square" lIns="45700" tIns="45700" rIns="45700" bIns="45700" anchor="t" anchorCtr="0">
            <a:normAutofit/>
          </a:bodyPr>
          <a:lstStyle>
            <a:lvl1pPr marL="457200" lvl="0" indent="-228600" algn="l">
              <a:spcBef>
                <a:spcPts val="440"/>
              </a:spcBef>
              <a:spcAft>
                <a:spcPts val="0"/>
              </a:spcAft>
              <a:buSzPts val="2090"/>
              <a:buNone/>
              <a:defRPr sz="2200">
                <a:solidFill>
                  <a:schemeClr val="lt1"/>
                </a:solidFill>
              </a:defRPr>
            </a:lvl1pPr>
            <a:lvl2pPr marL="914400" lvl="1" indent="-228600" algn="l">
              <a:spcBef>
                <a:spcPts val="360"/>
              </a:spcBef>
              <a:spcAft>
                <a:spcPts val="0"/>
              </a:spcAft>
              <a:buSzPts val="1530"/>
              <a:buNone/>
              <a:defRPr sz="1800">
                <a:solidFill>
                  <a:schemeClr val="lt1"/>
                </a:solidFill>
              </a:defRPr>
            </a:lvl2pPr>
            <a:lvl3pPr marL="1371600" lvl="2" indent="-228600" algn="l">
              <a:spcBef>
                <a:spcPts val="320"/>
              </a:spcBef>
              <a:spcAft>
                <a:spcPts val="0"/>
              </a:spcAft>
              <a:buSzPts val="1120"/>
              <a:buNone/>
              <a:defRPr sz="1600">
                <a:solidFill>
                  <a:schemeClr val="lt1"/>
                </a:solidFill>
              </a:defRPr>
            </a:lvl3pPr>
            <a:lvl4pPr marL="1828800" lvl="3" indent="-228600" algn="l">
              <a:spcBef>
                <a:spcPts val="280"/>
              </a:spcBef>
              <a:spcAft>
                <a:spcPts val="0"/>
              </a:spcAft>
              <a:buSzPts val="910"/>
              <a:buNone/>
              <a:defRPr sz="1400">
                <a:solidFill>
                  <a:schemeClr val="lt1"/>
                </a:solidFill>
              </a:defRPr>
            </a:lvl4pPr>
            <a:lvl5pPr marL="2286000" lvl="4" indent="-228600" algn="l">
              <a:spcBef>
                <a:spcPts val="280"/>
              </a:spcBef>
              <a:spcAft>
                <a:spcPts val="0"/>
              </a:spcAft>
              <a:buSzPts val="910"/>
              <a:buNone/>
              <a:defRPr sz="1400">
                <a:solidFill>
                  <a:schemeClr val="lt1"/>
                </a:solidFill>
              </a:defRPr>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61" name="Google Shape;61;p93"/>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93"/>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3"/>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64"/>
        <p:cNvGrpSpPr/>
        <p:nvPr/>
      </p:nvGrpSpPr>
      <p:grpSpPr>
        <a:xfrm>
          <a:off x="0" y="0"/>
          <a:ext cx="0" cy="0"/>
          <a:chOff x="0" y="0"/>
          <a:chExt cx="0" cy="0"/>
        </a:xfrm>
      </p:grpSpPr>
      <p:sp>
        <p:nvSpPr>
          <p:cNvPr id="65" name="Google Shape;65;p94"/>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6" name="Google Shape;66;p94"/>
          <p:cNvSpPr txBox="1">
            <a:spLocks noGrp="1"/>
          </p:cNvSpPr>
          <p:nvPr>
            <p:ph type="body" idx="1"/>
          </p:nvPr>
        </p:nvSpPr>
        <p:spPr>
          <a:xfrm>
            <a:off x="457200" y="1920085"/>
            <a:ext cx="4038600" cy="4434840"/>
          </a:xfrm>
          <a:prstGeom prst="rect">
            <a:avLst/>
          </a:prstGeom>
          <a:noFill/>
          <a:ln>
            <a:noFill/>
          </a:ln>
        </p:spPr>
        <p:txBody>
          <a:bodyPr spcFirstLastPara="1" wrap="square" lIns="91425" tIns="45700" rIns="91425" bIns="45700" anchor="t" anchorCtr="0">
            <a:normAutofit/>
          </a:bodyPr>
          <a:lstStyle>
            <a:lvl1pPr marL="457200" lvl="0" indent="-385445" algn="l">
              <a:spcBef>
                <a:spcPts val="520"/>
              </a:spcBef>
              <a:spcAft>
                <a:spcPts val="0"/>
              </a:spcAft>
              <a:buSzPts val="2470"/>
              <a:buChar char="⚫"/>
              <a:defRPr sz="2600"/>
            </a:lvl1pPr>
            <a:lvl2pPr marL="914400" lvl="1" indent="-358140" algn="l">
              <a:spcBef>
                <a:spcPts val="480"/>
              </a:spcBef>
              <a:spcAft>
                <a:spcPts val="0"/>
              </a:spcAft>
              <a:buSzPts val="2040"/>
              <a:buChar char="⚫"/>
              <a:defRPr sz="2400"/>
            </a:lvl2pPr>
            <a:lvl3pPr marL="1371600" lvl="2" indent="-317500" algn="l">
              <a:spcBef>
                <a:spcPts val="400"/>
              </a:spcBef>
              <a:spcAft>
                <a:spcPts val="0"/>
              </a:spcAft>
              <a:buSzPts val="1400"/>
              <a:buChar char="⚫"/>
              <a:defRPr sz="2000"/>
            </a:lvl3pPr>
            <a:lvl4pPr marL="1828800" lvl="3" indent="-302894" algn="l">
              <a:spcBef>
                <a:spcPts val="360"/>
              </a:spcBef>
              <a:spcAft>
                <a:spcPts val="0"/>
              </a:spcAft>
              <a:buSzPts val="1170"/>
              <a:buChar char="⚫"/>
              <a:defRPr sz="1800"/>
            </a:lvl4pPr>
            <a:lvl5pPr marL="2286000" lvl="4" indent="-302895" algn="l">
              <a:spcBef>
                <a:spcPts val="360"/>
              </a:spcBef>
              <a:spcAft>
                <a:spcPts val="0"/>
              </a:spcAft>
              <a:buSzPts val="1170"/>
              <a:buChar char="⚫"/>
              <a:defRPr sz="1800"/>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67" name="Google Shape;67;p94"/>
          <p:cNvSpPr txBox="1">
            <a:spLocks noGrp="1"/>
          </p:cNvSpPr>
          <p:nvPr>
            <p:ph type="body" idx="2"/>
          </p:nvPr>
        </p:nvSpPr>
        <p:spPr>
          <a:xfrm>
            <a:off x="4648200" y="1920085"/>
            <a:ext cx="4038600" cy="4434840"/>
          </a:xfrm>
          <a:prstGeom prst="rect">
            <a:avLst/>
          </a:prstGeom>
          <a:noFill/>
          <a:ln>
            <a:noFill/>
          </a:ln>
        </p:spPr>
        <p:txBody>
          <a:bodyPr spcFirstLastPara="1" wrap="square" lIns="91425" tIns="45700" rIns="91425" bIns="45700" anchor="t" anchorCtr="0">
            <a:normAutofit/>
          </a:bodyPr>
          <a:lstStyle>
            <a:lvl1pPr marL="457200" lvl="0" indent="-385445" algn="l">
              <a:spcBef>
                <a:spcPts val="520"/>
              </a:spcBef>
              <a:spcAft>
                <a:spcPts val="0"/>
              </a:spcAft>
              <a:buSzPts val="2470"/>
              <a:buChar char="⚫"/>
              <a:defRPr sz="2600"/>
            </a:lvl1pPr>
            <a:lvl2pPr marL="914400" lvl="1" indent="-358140" algn="l">
              <a:spcBef>
                <a:spcPts val="480"/>
              </a:spcBef>
              <a:spcAft>
                <a:spcPts val="0"/>
              </a:spcAft>
              <a:buSzPts val="2040"/>
              <a:buChar char="⚫"/>
              <a:defRPr sz="2400"/>
            </a:lvl2pPr>
            <a:lvl3pPr marL="1371600" lvl="2" indent="-317500" algn="l">
              <a:spcBef>
                <a:spcPts val="400"/>
              </a:spcBef>
              <a:spcAft>
                <a:spcPts val="0"/>
              </a:spcAft>
              <a:buSzPts val="1400"/>
              <a:buChar char="⚫"/>
              <a:defRPr sz="2000"/>
            </a:lvl3pPr>
            <a:lvl4pPr marL="1828800" lvl="3" indent="-302894" algn="l">
              <a:spcBef>
                <a:spcPts val="360"/>
              </a:spcBef>
              <a:spcAft>
                <a:spcPts val="0"/>
              </a:spcAft>
              <a:buSzPts val="1170"/>
              <a:buChar char="⚫"/>
              <a:defRPr sz="1800"/>
            </a:lvl4pPr>
            <a:lvl5pPr marL="2286000" lvl="4" indent="-302895" algn="l">
              <a:spcBef>
                <a:spcPts val="360"/>
              </a:spcBef>
              <a:spcAft>
                <a:spcPts val="0"/>
              </a:spcAft>
              <a:buSzPts val="1170"/>
              <a:buChar char="⚫"/>
              <a:defRPr sz="1800"/>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68" name="Google Shape;68;p94"/>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94"/>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94"/>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71"/>
        <p:cNvGrpSpPr/>
        <p:nvPr/>
      </p:nvGrpSpPr>
      <p:grpSpPr>
        <a:xfrm>
          <a:off x="0" y="0"/>
          <a:ext cx="0" cy="0"/>
          <a:chOff x="0" y="0"/>
          <a:chExt cx="0" cy="0"/>
        </a:xfrm>
      </p:grpSpPr>
      <p:sp>
        <p:nvSpPr>
          <p:cNvPr id="72" name="Google Shape;72;p95"/>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lvl1pPr lvl="0" algn="l">
              <a:spcBef>
                <a:spcPts val="0"/>
              </a:spcBef>
              <a:spcAft>
                <a:spcPts val="0"/>
              </a:spcAft>
              <a:buClr>
                <a:schemeClr val="dk2"/>
              </a:buClr>
              <a:buSzPts val="50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3" name="Google Shape;73;p95"/>
          <p:cNvSpPr txBox="1">
            <a:spLocks noGrp="1"/>
          </p:cNvSpPr>
          <p:nvPr>
            <p:ph type="body" idx="1"/>
          </p:nvPr>
        </p:nvSpPr>
        <p:spPr>
          <a:xfrm>
            <a:off x="457200" y="1855248"/>
            <a:ext cx="4040188" cy="659352"/>
          </a:xfrm>
          <a:prstGeom prst="rect">
            <a:avLst/>
          </a:prstGeom>
          <a:noFill/>
          <a:ln>
            <a:noFill/>
          </a:ln>
        </p:spPr>
        <p:txBody>
          <a:bodyPr spcFirstLastPara="1" wrap="square" lIns="45700" tIns="0" rIns="45700" bIns="0" anchor="ctr" anchorCtr="0">
            <a:noAutofit/>
          </a:bodyPr>
          <a:lstStyle>
            <a:lvl1pPr marL="457200" lvl="0" indent="-228600" algn="l">
              <a:spcBef>
                <a:spcPts val="480"/>
              </a:spcBef>
              <a:spcAft>
                <a:spcPts val="0"/>
              </a:spcAft>
              <a:buSzPts val="2280"/>
              <a:buNone/>
              <a:defRPr sz="2400" b="1" cap="none">
                <a:solidFill>
                  <a:schemeClr val="dk2"/>
                </a:solidFill>
              </a:defRPr>
            </a:lvl1pPr>
            <a:lvl2pPr marL="914400" lvl="1" indent="-228600" algn="l">
              <a:spcBef>
                <a:spcPts val="400"/>
              </a:spcBef>
              <a:spcAft>
                <a:spcPts val="0"/>
              </a:spcAft>
              <a:buSzPts val="1700"/>
              <a:buNone/>
              <a:defRPr sz="2000" b="1"/>
            </a:lvl2pPr>
            <a:lvl3pPr marL="1371600" lvl="2" indent="-228600" algn="l">
              <a:spcBef>
                <a:spcPts val="360"/>
              </a:spcBef>
              <a:spcAft>
                <a:spcPts val="0"/>
              </a:spcAft>
              <a:buSzPts val="1260"/>
              <a:buNone/>
              <a:defRPr sz="1800" b="1"/>
            </a:lvl3pPr>
            <a:lvl4pPr marL="1828800" lvl="3" indent="-228600" algn="l">
              <a:spcBef>
                <a:spcPts val="320"/>
              </a:spcBef>
              <a:spcAft>
                <a:spcPts val="0"/>
              </a:spcAft>
              <a:buSzPts val="1040"/>
              <a:buNone/>
              <a:defRPr sz="1600" b="1"/>
            </a:lvl4pPr>
            <a:lvl5pPr marL="2286000" lvl="4" indent="-228600" algn="l">
              <a:spcBef>
                <a:spcPts val="320"/>
              </a:spcBef>
              <a:spcAft>
                <a:spcPts val="0"/>
              </a:spcAft>
              <a:buSzPts val="1040"/>
              <a:buNone/>
              <a:defRPr sz="1600" b="1"/>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74" name="Google Shape;74;p95"/>
          <p:cNvSpPr txBox="1">
            <a:spLocks noGrp="1"/>
          </p:cNvSpPr>
          <p:nvPr>
            <p:ph type="body" idx="2"/>
          </p:nvPr>
        </p:nvSpPr>
        <p:spPr>
          <a:xfrm>
            <a:off x="4645025" y="1859757"/>
            <a:ext cx="4041775" cy="654843"/>
          </a:xfrm>
          <a:prstGeom prst="rect">
            <a:avLst/>
          </a:prstGeom>
          <a:noFill/>
          <a:ln>
            <a:noFill/>
          </a:ln>
        </p:spPr>
        <p:txBody>
          <a:bodyPr spcFirstLastPara="1" wrap="square" lIns="45700" tIns="0" rIns="45700" bIns="0" anchor="ctr" anchorCtr="0">
            <a:normAutofit/>
          </a:bodyPr>
          <a:lstStyle>
            <a:lvl1pPr marL="457200" lvl="0" indent="-228600" algn="l">
              <a:spcBef>
                <a:spcPts val="480"/>
              </a:spcBef>
              <a:spcAft>
                <a:spcPts val="0"/>
              </a:spcAft>
              <a:buSzPts val="2280"/>
              <a:buNone/>
              <a:defRPr sz="2400" b="1" cap="none">
                <a:solidFill>
                  <a:schemeClr val="dk2"/>
                </a:solidFill>
              </a:defRPr>
            </a:lvl1pPr>
            <a:lvl2pPr marL="914400" lvl="1" indent="-228600" algn="l">
              <a:spcBef>
                <a:spcPts val="400"/>
              </a:spcBef>
              <a:spcAft>
                <a:spcPts val="0"/>
              </a:spcAft>
              <a:buSzPts val="1700"/>
              <a:buNone/>
              <a:defRPr sz="2000" b="1"/>
            </a:lvl2pPr>
            <a:lvl3pPr marL="1371600" lvl="2" indent="-228600" algn="l">
              <a:spcBef>
                <a:spcPts val="360"/>
              </a:spcBef>
              <a:spcAft>
                <a:spcPts val="0"/>
              </a:spcAft>
              <a:buSzPts val="1260"/>
              <a:buNone/>
              <a:defRPr sz="1800" b="1"/>
            </a:lvl3pPr>
            <a:lvl4pPr marL="1828800" lvl="3" indent="-228600" algn="l">
              <a:spcBef>
                <a:spcPts val="320"/>
              </a:spcBef>
              <a:spcAft>
                <a:spcPts val="0"/>
              </a:spcAft>
              <a:buSzPts val="1040"/>
              <a:buNone/>
              <a:defRPr sz="1600" b="1"/>
            </a:lvl4pPr>
            <a:lvl5pPr marL="2286000" lvl="4" indent="-228600" algn="l">
              <a:spcBef>
                <a:spcPts val="320"/>
              </a:spcBef>
              <a:spcAft>
                <a:spcPts val="0"/>
              </a:spcAft>
              <a:buSzPts val="1040"/>
              <a:buNone/>
              <a:defRPr sz="1600" b="1"/>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75" name="Google Shape;75;p95"/>
          <p:cNvSpPr txBox="1">
            <a:spLocks noGrp="1"/>
          </p:cNvSpPr>
          <p:nvPr>
            <p:ph type="body" idx="3"/>
          </p:nvPr>
        </p:nvSpPr>
        <p:spPr>
          <a:xfrm>
            <a:off x="457200" y="2514600"/>
            <a:ext cx="4040188" cy="3845720"/>
          </a:xfrm>
          <a:prstGeom prst="rect">
            <a:avLst/>
          </a:prstGeom>
          <a:noFill/>
          <a:ln>
            <a:noFill/>
          </a:ln>
        </p:spPr>
        <p:txBody>
          <a:bodyPr spcFirstLastPara="1" wrap="square" lIns="91425" tIns="0" rIns="91425" bIns="45700" anchor="t" anchorCtr="0">
            <a:normAutofit/>
          </a:bodyPr>
          <a:lstStyle>
            <a:lvl1pPr marL="457200" lvl="0" indent="-361315" algn="l">
              <a:spcBef>
                <a:spcPts val="440"/>
              </a:spcBef>
              <a:spcAft>
                <a:spcPts val="0"/>
              </a:spcAft>
              <a:buSzPts val="2090"/>
              <a:buChar char="⚫"/>
              <a:defRPr sz="2200"/>
            </a:lvl1pPr>
            <a:lvl2pPr marL="914400" lvl="1" indent="-336550" algn="l">
              <a:spcBef>
                <a:spcPts val="400"/>
              </a:spcBef>
              <a:spcAft>
                <a:spcPts val="0"/>
              </a:spcAft>
              <a:buSzPts val="1700"/>
              <a:buChar char="⚫"/>
              <a:defRPr sz="2000"/>
            </a:lvl2pPr>
            <a:lvl3pPr marL="1371600" lvl="2" indent="-308610" algn="l">
              <a:spcBef>
                <a:spcPts val="360"/>
              </a:spcBef>
              <a:spcAft>
                <a:spcPts val="0"/>
              </a:spcAft>
              <a:buSzPts val="1260"/>
              <a:buChar char="⚫"/>
              <a:defRPr sz="1800"/>
            </a:lvl3pPr>
            <a:lvl4pPr marL="1828800" lvl="3" indent="-294639" algn="l">
              <a:spcBef>
                <a:spcPts val="320"/>
              </a:spcBef>
              <a:spcAft>
                <a:spcPts val="0"/>
              </a:spcAft>
              <a:buSzPts val="1040"/>
              <a:buChar char="⚫"/>
              <a:defRPr sz="1600"/>
            </a:lvl4pPr>
            <a:lvl5pPr marL="2286000" lvl="4" indent="-294639" algn="l">
              <a:spcBef>
                <a:spcPts val="320"/>
              </a:spcBef>
              <a:spcAft>
                <a:spcPts val="0"/>
              </a:spcAft>
              <a:buSzPts val="1040"/>
              <a:buChar char="⚫"/>
              <a:defRPr sz="1600"/>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76" name="Google Shape;76;p95"/>
          <p:cNvSpPr txBox="1">
            <a:spLocks noGrp="1"/>
          </p:cNvSpPr>
          <p:nvPr>
            <p:ph type="body" idx="4"/>
          </p:nvPr>
        </p:nvSpPr>
        <p:spPr>
          <a:xfrm>
            <a:off x="4645025" y="2514600"/>
            <a:ext cx="4041775" cy="3845720"/>
          </a:xfrm>
          <a:prstGeom prst="rect">
            <a:avLst/>
          </a:prstGeom>
          <a:noFill/>
          <a:ln>
            <a:noFill/>
          </a:ln>
        </p:spPr>
        <p:txBody>
          <a:bodyPr spcFirstLastPara="1" wrap="square" lIns="91425" tIns="0" rIns="91425" bIns="45700" anchor="t" anchorCtr="0">
            <a:normAutofit/>
          </a:bodyPr>
          <a:lstStyle>
            <a:lvl1pPr marL="457200" lvl="0" indent="-361315" algn="l">
              <a:spcBef>
                <a:spcPts val="440"/>
              </a:spcBef>
              <a:spcAft>
                <a:spcPts val="0"/>
              </a:spcAft>
              <a:buSzPts val="2090"/>
              <a:buChar char="⚫"/>
              <a:defRPr sz="2200"/>
            </a:lvl1pPr>
            <a:lvl2pPr marL="914400" lvl="1" indent="-336550" algn="l">
              <a:spcBef>
                <a:spcPts val="400"/>
              </a:spcBef>
              <a:spcAft>
                <a:spcPts val="0"/>
              </a:spcAft>
              <a:buSzPts val="1700"/>
              <a:buChar char="⚫"/>
              <a:defRPr sz="2000"/>
            </a:lvl2pPr>
            <a:lvl3pPr marL="1371600" lvl="2" indent="-308610" algn="l">
              <a:spcBef>
                <a:spcPts val="360"/>
              </a:spcBef>
              <a:spcAft>
                <a:spcPts val="0"/>
              </a:spcAft>
              <a:buSzPts val="1260"/>
              <a:buChar char="⚫"/>
              <a:defRPr sz="1800"/>
            </a:lvl3pPr>
            <a:lvl4pPr marL="1828800" lvl="3" indent="-294639" algn="l">
              <a:spcBef>
                <a:spcPts val="320"/>
              </a:spcBef>
              <a:spcAft>
                <a:spcPts val="0"/>
              </a:spcAft>
              <a:buSzPts val="1040"/>
              <a:buChar char="⚫"/>
              <a:defRPr sz="1600"/>
            </a:lvl4pPr>
            <a:lvl5pPr marL="2286000" lvl="4" indent="-294639" algn="l">
              <a:spcBef>
                <a:spcPts val="320"/>
              </a:spcBef>
              <a:spcAft>
                <a:spcPts val="0"/>
              </a:spcAft>
              <a:buSzPts val="1040"/>
              <a:buChar char="⚫"/>
              <a:defRPr sz="1600"/>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77" name="Google Shape;77;p95"/>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95"/>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95"/>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80"/>
        <p:cNvGrpSpPr/>
        <p:nvPr/>
      </p:nvGrpSpPr>
      <p:grpSpPr>
        <a:xfrm>
          <a:off x="0" y="0"/>
          <a:ext cx="0" cy="0"/>
          <a:chOff x="0" y="0"/>
          <a:chExt cx="0" cy="0"/>
        </a:xfrm>
      </p:grpSpPr>
      <p:sp>
        <p:nvSpPr>
          <p:cNvPr id="81" name="Google Shape;81;p96"/>
          <p:cNvSpPr txBox="1">
            <a:spLocks noGrp="1"/>
          </p:cNvSpPr>
          <p:nvPr>
            <p:ph type="title"/>
          </p:nvPr>
        </p:nvSpPr>
        <p:spPr>
          <a:xfrm>
            <a:off x="685800" y="514352"/>
            <a:ext cx="2743200" cy="1162050"/>
          </a:xfrm>
          <a:prstGeom prst="rect">
            <a:avLst/>
          </a:prstGeom>
          <a:noFill/>
          <a:ln>
            <a:noFill/>
          </a:ln>
        </p:spPr>
        <p:txBody>
          <a:bodyPr spcFirstLastPara="1" wrap="square" lIns="0" tIns="45700" rIns="0" bIns="0" anchor="b" anchorCtr="0">
            <a:noAutofit/>
          </a:bodyPr>
          <a:lstStyle>
            <a:lvl1pPr lvl="0" algn="l">
              <a:spcBef>
                <a:spcPts val="0"/>
              </a:spcBef>
              <a:spcAft>
                <a:spcPts val="0"/>
              </a:spcAft>
              <a:buClr>
                <a:schemeClr val="dk2"/>
              </a:buClr>
              <a:buSzPts val="2600"/>
              <a:buFont typeface="Calibri"/>
              <a:buNone/>
              <a:defRPr sz="2600" b="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96"/>
          <p:cNvSpPr txBox="1">
            <a:spLocks noGrp="1"/>
          </p:cNvSpPr>
          <p:nvPr>
            <p:ph type="body" idx="1"/>
          </p:nvPr>
        </p:nvSpPr>
        <p:spPr>
          <a:xfrm>
            <a:off x="685800" y="1676400"/>
            <a:ext cx="2743200" cy="4572000"/>
          </a:xfrm>
          <a:prstGeom prst="rect">
            <a:avLst/>
          </a:prstGeom>
          <a:noFill/>
          <a:ln>
            <a:noFill/>
          </a:ln>
        </p:spPr>
        <p:txBody>
          <a:bodyPr spcFirstLastPara="1" wrap="square" lIns="18275" tIns="45700" rIns="18275" bIns="45700" anchor="t" anchorCtr="0">
            <a:normAutofit/>
          </a:bodyPr>
          <a:lstStyle>
            <a:lvl1pPr marL="457200" lvl="0" indent="-228600" algn="l">
              <a:spcBef>
                <a:spcPts val="280"/>
              </a:spcBef>
              <a:spcAft>
                <a:spcPts val="0"/>
              </a:spcAft>
              <a:buSzPts val="1330"/>
              <a:buNone/>
              <a:defRPr sz="1400"/>
            </a:lvl1pPr>
            <a:lvl2pPr marL="914400" lvl="1" indent="-228600" algn="l">
              <a:spcBef>
                <a:spcPts val="240"/>
              </a:spcBef>
              <a:spcAft>
                <a:spcPts val="0"/>
              </a:spcAft>
              <a:buSzPts val="1020"/>
              <a:buNone/>
              <a:defRPr sz="1200"/>
            </a:lvl2pPr>
            <a:lvl3pPr marL="1371600" lvl="2" indent="-228600" algn="l">
              <a:spcBef>
                <a:spcPts val="200"/>
              </a:spcBef>
              <a:spcAft>
                <a:spcPts val="0"/>
              </a:spcAft>
              <a:buSzPts val="700"/>
              <a:buNone/>
              <a:defRPr sz="1000"/>
            </a:lvl3pPr>
            <a:lvl4pPr marL="1828800" lvl="3" indent="-228600" algn="l">
              <a:spcBef>
                <a:spcPts val="180"/>
              </a:spcBef>
              <a:spcAft>
                <a:spcPts val="0"/>
              </a:spcAft>
              <a:buSzPts val="585"/>
              <a:buNone/>
              <a:defRPr sz="900"/>
            </a:lvl4pPr>
            <a:lvl5pPr marL="2286000" lvl="4" indent="-228600" algn="l">
              <a:spcBef>
                <a:spcPts val="180"/>
              </a:spcBef>
              <a:spcAft>
                <a:spcPts val="0"/>
              </a:spcAft>
              <a:buSzPts val="585"/>
              <a:buNone/>
              <a:defRPr sz="900"/>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83" name="Google Shape;83;p96"/>
          <p:cNvSpPr txBox="1">
            <a:spLocks noGrp="1"/>
          </p:cNvSpPr>
          <p:nvPr>
            <p:ph type="body" idx="2"/>
          </p:nvPr>
        </p:nvSpPr>
        <p:spPr>
          <a:xfrm>
            <a:off x="3575050" y="1676400"/>
            <a:ext cx="5111750" cy="4572000"/>
          </a:xfrm>
          <a:prstGeom prst="rect">
            <a:avLst/>
          </a:prstGeom>
          <a:noFill/>
          <a:ln>
            <a:noFill/>
          </a:ln>
        </p:spPr>
        <p:txBody>
          <a:bodyPr spcFirstLastPara="1" wrap="square" lIns="91425" tIns="0" rIns="91425" bIns="45700" anchor="t" anchorCtr="0">
            <a:normAutofit/>
          </a:bodyPr>
          <a:lstStyle>
            <a:lvl1pPr marL="457200" lvl="0" indent="-397510" algn="l">
              <a:spcBef>
                <a:spcPts val="560"/>
              </a:spcBef>
              <a:spcAft>
                <a:spcPts val="0"/>
              </a:spcAft>
              <a:buSzPts val="2660"/>
              <a:buChar char="⚫"/>
              <a:defRPr sz="2800"/>
            </a:lvl1pPr>
            <a:lvl2pPr marL="914400" lvl="1" indent="-368935" algn="l">
              <a:spcBef>
                <a:spcPts val="520"/>
              </a:spcBef>
              <a:spcAft>
                <a:spcPts val="0"/>
              </a:spcAft>
              <a:buSzPts val="2210"/>
              <a:buChar char="⚫"/>
              <a:defRPr sz="2600"/>
            </a:lvl2pPr>
            <a:lvl3pPr marL="1371600" lvl="2" indent="-335280" algn="l">
              <a:spcBef>
                <a:spcPts val="480"/>
              </a:spcBef>
              <a:spcAft>
                <a:spcPts val="0"/>
              </a:spcAft>
              <a:buSzPts val="1680"/>
              <a:buChar char="⚫"/>
              <a:defRPr sz="2400"/>
            </a:lvl3pPr>
            <a:lvl4pPr marL="1828800" lvl="3" indent="-311150" algn="l">
              <a:spcBef>
                <a:spcPts val="400"/>
              </a:spcBef>
              <a:spcAft>
                <a:spcPts val="0"/>
              </a:spcAft>
              <a:buSzPts val="1300"/>
              <a:buChar char="⚫"/>
              <a:defRPr sz="2000"/>
            </a:lvl4pPr>
            <a:lvl5pPr marL="2286000" lvl="4" indent="-302895" algn="l">
              <a:spcBef>
                <a:spcPts val="360"/>
              </a:spcBef>
              <a:spcAft>
                <a:spcPts val="0"/>
              </a:spcAft>
              <a:buSzPts val="1170"/>
              <a:buChar char="⚫"/>
              <a:defRPr sz="1800"/>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84" name="Google Shape;84;p96"/>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96"/>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96"/>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87"/>
        <p:cNvGrpSpPr/>
        <p:nvPr/>
      </p:nvGrpSpPr>
      <p:grpSpPr>
        <a:xfrm>
          <a:off x="0" y="0"/>
          <a:ext cx="0" cy="0"/>
          <a:chOff x="0" y="0"/>
          <a:chExt cx="0" cy="0"/>
        </a:xfrm>
      </p:grpSpPr>
      <p:sp>
        <p:nvSpPr>
          <p:cNvPr id="88" name="Google Shape;88;p97"/>
          <p:cNvSpPr/>
          <p:nvPr/>
        </p:nvSpPr>
        <p:spPr>
          <a:xfrm rot="-10380000" flipH="1">
            <a:off x="3165753" y="1108077"/>
            <a:ext cx="5257800" cy="4114800"/>
          </a:xfrm>
          <a:prstGeom prst="snipRoundRect">
            <a:avLst>
              <a:gd name="adj1" fmla="val 0"/>
              <a:gd name="adj2" fmla="val 3646"/>
            </a:avLst>
          </a:prstGeom>
          <a:solidFill>
            <a:srgbClr val="FFFFFF"/>
          </a:solidFill>
          <a:ln w="9525" cap="rnd" cmpd="sng">
            <a:solidFill>
              <a:srgbClr val="C0C0C0"/>
            </a:solidFill>
            <a:prstDash val="solid"/>
            <a:round/>
            <a:headEnd type="none" w="sm" len="sm"/>
            <a:tailEnd type="none" w="sm" len="sm"/>
          </a:ln>
          <a:effectLst>
            <a:outerShdw blurRad="63500" dist="38500" dir="7500000" sx="98500" sy="100080" kx="100000" algn="tl"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onstantia"/>
              <a:ea typeface="Constantia"/>
              <a:cs typeface="Constantia"/>
              <a:sym typeface="Constantia"/>
            </a:endParaRPr>
          </a:p>
        </p:txBody>
      </p:sp>
      <p:sp>
        <p:nvSpPr>
          <p:cNvPr id="89" name="Google Shape;89;p97"/>
          <p:cNvSpPr/>
          <p:nvPr/>
        </p:nvSpPr>
        <p:spPr>
          <a:xfrm rot="-10380000" flipH="1">
            <a:off x="8004134" y="5359769"/>
            <a:ext cx="155448" cy="155448"/>
          </a:xfrm>
          <a:prstGeom prst="rtTriangle">
            <a:avLst/>
          </a:prstGeom>
          <a:solidFill>
            <a:srgbClr val="FFFFFF"/>
          </a:solidFill>
          <a:ln w="12700" cap="flat" cmpd="sng">
            <a:solidFill>
              <a:srgbClr val="FFFFFF"/>
            </a:solidFill>
            <a:prstDash val="solid"/>
            <a:bevel/>
            <a:headEnd type="none" w="sm" len="sm"/>
            <a:tailEnd type="none" w="sm" len="sm"/>
          </a:ln>
          <a:effectLst>
            <a:outerShdw blurRad="19685" dist="6350" dir="12900000" algn="tl" rotWithShape="0">
              <a:srgbClr val="000000">
                <a:alpha val="46666"/>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onstantia"/>
              <a:ea typeface="Constantia"/>
              <a:cs typeface="Constantia"/>
              <a:sym typeface="Constantia"/>
            </a:endParaRPr>
          </a:p>
        </p:txBody>
      </p:sp>
      <p:sp>
        <p:nvSpPr>
          <p:cNvPr id="90" name="Google Shape;90;p97"/>
          <p:cNvSpPr txBox="1">
            <a:spLocks noGrp="1"/>
          </p:cNvSpPr>
          <p:nvPr>
            <p:ph type="title"/>
          </p:nvPr>
        </p:nvSpPr>
        <p:spPr>
          <a:xfrm>
            <a:off x="609600" y="1176996"/>
            <a:ext cx="2212848" cy="1582621"/>
          </a:xfrm>
          <a:prstGeom prst="rect">
            <a:avLst/>
          </a:prstGeom>
          <a:noFill/>
          <a:ln>
            <a:noFill/>
          </a:ln>
        </p:spPr>
        <p:txBody>
          <a:bodyPr spcFirstLastPara="1" wrap="square" lIns="45700" tIns="45700" rIns="45700" bIns="45700" anchor="b" anchorCtr="0">
            <a:normAutofit/>
          </a:bodyPr>
          <a:lstStyle>
            <a:lvl1pPr lvl="0" algn="l">
              <a:spcBef>
                <a:spcPts val="0"/>
              </a:spcBef>
              <a:spcAft>
                <a:spcPts val="0"/>
              </a:spcAft>
              <a:buClr>
                <a:schemeClr val="dk2"/>
              </a:buClr>
              <a:buSzPts val="2000"/>
              <a:buFont typeface="Calibri"/>
              <a:buNone/>
              <a:defRPr sz="2000" b="1">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1" name="Google Shape;91;p97"/>
          <p:cNvSpPr txBox="1">
            <a:spLocks noGrp="1"/>
          </p:cNvSpPr>
          <p:nvPr>
            <p:ph type="body" idx="1"/>
          </p:nvPr>
        </p:nvSpPr>
        <p:spPr>
          <a:xfrm>
            <a:off x="609600" y="2828785"/>
            <a:ext cx="2209800" cy="2179320"/>
          </a:xfrm>
          <a:prstGeom prst="rect">
            <a:avLst/>
          </a:prstGeom>
          <a:noFill/>
          <a:ln>
            <a:noFill/>
          </a:ln>
        </p:spPr>
        <p:txBody>
          <a:bodyPr spcFirstLastPara="1" wrap="square" lIns="64000" tIns="45700" rIns="45700" bIns="45700" anchor="t" anchorCtr="0">
            <a:normAutofit/>
          </a:bodyPr>
          <a:lstStyle>
            <a:lvl1pPr marL="457200" lvl="0" indent="-228600" algn="l">
              <a:spcBef>
                <a:spcPts val="250"/>
              </a:spcBef>
              <a:spcAft>
                <a:spcPts val="0"/>
              </a:spcAft>
              <a:buSzPts val="1235"/>
              <a:buFont typeface="Constantia"/>
              <a:buNone/>
              <a:defRPr sz="1300"/>
            </a:lvl1pPr>
            <a:lvl2pPr marL="914400" lvl="1" indent="-293369" algn="l">
              <a:spcBef>
                <a:spcPts val="240"/>
              </a:spcBef>
              <a:spcAft>
                <a:spcPts val="0"/>
              </a:spcAft>
              <a:buSzPts val="1020"/>
              <a:buChar char="⚫"/>
              <a:defRPr sz="1200"/>
            </a:lvl2pPr>
            <a:lvl3pPr marL="1371600" lvl="2" indent="-273050" algn="l">
              <a:spcBef>
                <a:spcPts val="200"/>
              </a:spcBef>
              <a:spcAft>
                <a:spcPts val="0"/>
              </a:spcAft>
              <a:buSzPts val="700"/>
              <a:buChar char="⚫"/>
              <a:defRPr sz="1000"/>
            </a:lvl3pPr>
            <a:lvl4pPr marL="1828800" lvl="3" indent="-265747" algn="l">
              <a:spcBef>
                <a:spcPts val="180"/>
              </a:spcBef>
              <a:spcAft>
                <a:spcPts val="0"/>
              </a:spcAft>
              <a:buSzPts val="585"/>
              <a:buChar char="⚫"/>
              <a:defRPr sz="900"/>
            </a:lvl4pPr>
            <a:lvl5pPr marL="2286000" lvl="4" indent="-265747" algn="l">
              <a:spcBef>
                <a:spcPts val="180"/>
              </a:spcBef>
              <a:spcAft>
                <a:spcPts val="0"/>
              </a:spcAft>
              <a:buSzPts val="585"/>
              <a:buChar char="⚫"/>
              <a:defRPr sz="900"/>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92" name="Google Shape;92;p97"/>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97"/>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97"/>
          <p:cNvSpPr txBox="1">
            <a:spLocks noGrp="1"/>
          </p:cNvSpPr>
          <p:nvPr>
            <p:ph type="sldNum" idx="12"/>
          </p:nvPr>
        </p:nvSpPr>
        <p:spPr>
          <a:xfrm>
            <a:off x="8077200" y="6356350"/>
            <a:ext cx="609600" cy="365125"/>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95" name="Google Shape;95;p97"/>
          <p:cNvSpPr>
            <a:spLocks noGrp="1"/>
          </p:cNvSpPr>
          <p:nvPr>
            <p:ph type="pic" idx="2"/>
          </p:nvPr>
        </p:nvSpPr>
        <p:spPr>
          <a:xfrm rot="420000">
            <a:off x="3485793" y="1199517"/>
            <a:ext cx="4617720" cy="3931920"/>
          </a:xfrm>
          <a:prstGeom prst="rect">
            <a:avLst/>
          </a:prstGeom>
          <a:solidFill>
            <a:schemeClr val="lt2"/>
          </a:solidFill>
          <a:ln w="9525" cap="rnd" cmpd="sng">
            <a:solidFill>
              <a:srgbClr val="C0C0C0"/>
            </a:solidFill>
            <a:prstDash val="solid"/>
            <a:round/>
            <a:headEnd type="none" w="sm" len="sm"/>
            <a:tailEnd type="none" w="sm" len="sm"/>
          </a:ln>
        </p:spPr>
      </p:sp>
      <p:sp>
        <p:nvSpPr>
          <p:cNvPr id="96" name="Google Shape;96;p97"/>
          <p:cNvSpPr/>
          <p:nvPr/>
        </p:nvSpPr>
        <p:spPr>
          <a:xfrm rot="10800000" flipH="1">
            <a:off x="-9525" y="5816600"/>
            <a:ext cx="9163050" cy="1041400"/>
          </a:xfrm>
          <a:custGeom>
            <a:avLst/>
            <a:gdLst/>
            <a:ahLst/>
            <a:cxnLst/>
            <a:rect l="l" t="t" r="r" b="b"/>
            <a:pathLst>
              <a:path w="5772" h="656" extrusionOk="0">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705"/>
                </a:srgbClr>
              </a:gs>
              <a:gs pos="100000">
                <a:srgbClr val="00E9F7">
                  <a:alpha val="54901"/>
                </a:srgbClr>
              </a:gs>
            </a:gsLst>
            <a:lin ang="5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onstantia"/>
              <a:ea typeface="Constantia"/>
              <a:cs typeface="Constantia"/>
              <a:sym typeface="Constantia"/>
            </a:endParaRPr>
          </a:p>
        </p:txBody>
      </p:sp>
      <p:sp>
        <p:nvSpPr>
          <p:cNvPr id="97" name="Google Shape;97;p97"/>
          <p:cNvSpPr/>
          <p:nvPr/>
        </p:nvSpPr>
        <p:spPr>
          <a:xfrm rot="10800000" flipH="1">
            <a:off x="4381500" y="6219825"/>
            <a:ext cx="4762500" cy="638175"/>
          </a:xfrm>
          <a:custGeom>
            <a:avLst/>
            <a:gdLst/>
            <a:ahLst/>
            <a:cxnLst/>
            <a:rect l="l" t="t" r="r" b="b"/>
            <a:pathLst>
              <a:path w="3000" h="595" extrusionOk="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803"/>
                </a:srgbClr>
              </a:gs>
              <a:gs pos="80000">
                <a:srgbClr val="0099E4">
                  <a:alpha val="44705"/>
                </a:srgbClr>
              </a:gs>
              <a:gs pos="100000">
                <a:srgbClr val="0099E4">
                  <a:alpha val="44705"/>
                </a:srgbClr>
              </a:gs>
            </a:gsLst>
            <a:lin ang="5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onstantia"/>
              <a:ea typeface="Constantia"/>
              <a:cs typeface="Constantia"/>
              <a:sym typeface="Constantia"/>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98"/>
        <p:cNvGrpSpPr/>
        <p:nvPr/>
      </p:nvGrpSpPr>
      <p:grpSpPr>
        <a:xfrm>
          <a:off x="0" y="0"/>
          <a:ext cx="0" cy="0"/>
          <a:chOff x="0" y="0"/>
          <a:chExt cx="0" cy="0"/>
        </a:xfrm>
      </p:grpSpPr>
      <p:sp>
        <p:nvSpPr>
          <p:cNvPr id="99" name="Google Shape;99;p98"/>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0" name="Google Shape;100;p98"/>
          <p:cNvSpPr txBox="1">
            <a:spLocks noGrp="1"/>
          </p:cNvSpPr>
          <p:nvPr>
            <p:ph type="body" idx="1"/>
          </p:nvPr>
        </p:nvSpPr>
        <p:spPr>
          <a:xfrm rot="5400000">
            <a:off x="2377440" y="15240"/>
            <a:ext cx="4389120" cy="8229600"/>
          </a:xfrm>
          <a:prstGeom prst="rect">
            <a:avLst/>
          </a:prstGeom>
          <a:noFill/>
          <a:ln>
            <a:noFill/>
          </a:ln>
        </p:spPr>
        <p:txBody>
          <a:bodyPr spcFirstLastPara="1" wrap="square" lIns="91425" tIns="45700" rIns="91425" bIns="45700" anchor="t" anchorCtr="0">
            <a:normAutofit/>
          </a:bodyPr>
          <a:lstStyle>
            <a:lvl1pPr marL="457200" lvl="0" indent="-337185" algn="l">
              <a:spcBef>
                <a:spcPts val="360"/>
              </a:spcBef>
              <a:spcAft>
                <a:spcPts val="0"/>
              </a:spcAft>
              <a:buSzPts val="1710"/>
              <a:buChar char="⚫"/>
              <a:defRPr/>
            </a:lvl1pPr>
            <a:lvl2pPr marL="914400" lvl="1" indent="-325755" algn="l">
              <a:spcBef>
                <a:spcPts val="360"/>
              </a:spcBef>
              <a:spcAft>
                <a:spcPts val="0"/>
              </a:spcAft>
              <a:buSzPts val="1530"/>
              <a:buChar char="⚫"/>
              <a:defRPr/>
            </a:lvl2pPr>
            <a:lvl3pPr marL="1371600" lvl="2" indent="-308610" algn="l">
              <a:spcBef>
                <a:spcPts val="360"/>
              </a:spcBef>
              <a:spcAft>
                <a:spcPts val="0"/>
              </a:spcAft>
              <a:buSzPts val="1260"/>
              <a:buChar char="⚫"/>
              <a:defRPr/>
            </a:lvl3pPr>
            <a:lvl4pPr marL="1828800" lvl="3" indent="-302894" algn="l">
              <a:spcBef>
                <a:spcPts val="360"/>
              </a:spcBef>
              <a:spcAft>
                <a:spcPts val="0"/>
              </a:spcAft>
              <a:buSzPts val="1170"/>
              <a:buChar char="⚫"/>
              <a:defRPr/>
            </a:lvl4pPr>
            <a:lvl5pPr marL="2286000" lvl="4" indent="-302895" algn="l">
              <a:spcBef>
                <a:spcPts val="360"/>
              </a:spcBef>
              <a:spcAft>
                <a:spcPts val="0"/>
              </a:spcAft>
              <a:buSzPts val="1170"/>
              <a:buChar char="⚫"/>
              <a:defRPr/>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101" name="Google Shape;101;p98"/>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2" name="Google Shape;102;p98"/>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98"/>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04"/>
        <p:cNvGrpSpPr/>
        <p:nvPr/>
      </p:nvGrpSpPr>
      <p:grpSpPr>
        <a:xfrm>
          <a:off x="0" y="0"/>
          <a:ext cx="0" cy="0"/>
          <a:chOff x="0" y="0"/>
          <a:chExt cx="0" cy="0"/>
        </a:xfrm>
      </p:grpSpPr>
      <p:sp>
        <p:nvSpPr>
          <p:cNvPr id="105" name="Google Shape;105;p99"/>
          <p:cNvSpPr txBox="1">
            <a:spLocks noGrp="1"/>
          </p:cNvSpPr>
          <p:nvPr>
            <p:ph type="title"/>
          </p:nvPr>
        </p:nvSpPr>
        <p:spPr>
          <a:xfrm rot="5400000">
            <a:off x="5052219" y="2491582"/>
            <a:ext cx="5211763" cy="2057400"/>
          </a:xfrm>
          <a:prstGeom prst="rect">
            <a:avLst/>
          </a:prstGeom>
          <a:noFill/>
          <a:ln>
            <a:noFill/>
          </a:ln>
        </p:spPr>
        <p:txBody>
          <a:bodyPr spcFirstLastPara="1" wrap="square" lIns="0" tIns="45700" rIns="0" bIns="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6" name="Google Shape;106;p99"/>
          <p:cNvSpPr txBox="1">
            <a:spLocks noGrp="1"/>
          </p:cNvSpPr>
          <p:nvPr>
            <p:ph type="body" idx="1"/>
          </p:nvPr>
        </p:nvSpPr>
        <p:spPr>
          <a:xfrm rot="5400000">
            <a:off x="861219" y="510382"/>
            <a:ext cx="5211763" cy="6019800"/>
          </a:xfrm>
          <a:prstGeom prst="rect">
            <a:avLst/>
          </a:prstGeom>
          <a:noFill/>
          <a:ln>
            <a:noFill/>
          </a:ln>
        </p:spPr>
        <p:txBody>
          <a:bodyPr spcFirstLastPara="1" wrap="square" lIns="91425" tIns="45700" rIns="91425" bIns="45700" anchor="t" anchorCtr="0">
            <a:normAutofit/>
          </a:bodyPr>
          <a:lstStyle>
            <a:lvl1pPr marL="457200" lvl="0" indent="-337185" algn="l">
              <a:spcBef>
                <a:spcPts val="360"/>
              </a:spcBef>
              <a:spcAft>
                <a:spcPts val="0"/>
              </a:spcAft>
              <a:buSzPts val="1710"/>
              <a:buChar char="⚫"/>
              <a:defRPr/>
            </a:lvl1pPr>
            <a:lvl2pPr marL="914400" lvl="1" indent="-325755" algn="l">
              <a:spcBef>
                <a:spcPts val="360"/>
              </a:spcBef>
              <a:spcAft>
                <a:spcPts val="0"/>
              </a:spcAft>
              <a:buSzPts val="1530"/>
              <a:buChar char="⚫"/>
              <a:defRPr/>
            </a:lvl2pPr>
            <a:lvl3pPr marL="1371600" lvl="2" indent="-308610" algn="l">
              <a:spcBef>
                <a:spcPts val="360"/>
              </a:spcBef>
              <a:spcAft>
                <a:spcPts val="0"/>
              </a:spcAft>
              <a:buSzPts val="1260"/>
              <a:buChar char="⚫"/>
              <a:defRPr/>
            </a:lvl3pPr>
            <a:lvl4pPr marL="1828800" lvl="3" indent="-302894" algn="l">
              <a:spcBef>
                <a:spcPts val="360"/>
              </a:spcBef>
              <a:spcAft>
                <a:spcPts val="0"/>
              </a:spcAft>
              <a:buSzPts val="1170"/>
              <a:buChar char="⚫"/>
              <a:defRPr/>
            </a:lvl4pPr>
            <a:lvl5pPr marL="2286000" lvl="4" indent="-302895" algn="l">
              <a:spcBef>
                <a:spcPts val="360"/>
              </a:spcBef>
              <a:spcAft>
                <a:spcPts val="0"/>
              </a:spcAft>
              <a:buSzPts val="1170"/>
              <a:buChar char="⚫"/>
              <a:defRPr/>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107" name="Google Shape;107;p99"/>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8" name="Google Shape;108;p99"/>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9" name="Google Shape;109;p99"/>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image" Target="../media/image2.png"/><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3">
            <a:alphaModFix/>
          </a:blip>
          <a:tile tx="0" ty="0" sx="65000" sy="65000" flip="none" algn="tl"/>
        </a:blipFill>
        <a:effectLst/>
      </p:bgPr>
    </p:bg>
    <p:spTree>
      <p:nvGrpSpPr>
        <p:cNvPr id="1" name="Shape 9"/>
        <p:cNvGrpSpPr/>
        <p:nvPr/>
      </p:nvGrpSpPr>
      <p:grpSpPr>
        <a:xfrm>
          <a:off x="0" y="0"/>
          <a:ext cx="0" cy="0"/>
          <a:chOff x="0" y="0"/>
          <a:chExt cx="0" cy="0"/>
        </a:xfrm>
      </p:grpSpPr>
      <p:sp>
        <p:nvSpPr>
          <p:cNvPr id="10" name="Google Shape;10;p87"/>
          <p:cNvSpPr/>
          <p:nvPr/>
        </p:nvSpPr>
        <p:spPr>
          <a:xfrm>
            <a:off x="-9525" y="-7144"/>
            <a:ext cx="9163050" cy="1041400"/>
          </a:xfrm>
          <a:custGeom>
            <a:avLst/>
            <a:gdLst/>
            <a:ahLst/>
            <a:cxnLst/>
            <a:rect l="l" t="t" r="r" b="b"/>
            <a:pathLst>
              <a:path w="5772" h="656" extrusionOk="0">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705"/>
                </a:srgbClr>
              </a:gs>
              <a:gs pos="100000">
                <a:srgbClr val="00E9F7">
                  <a:alpha val="54901"/>
                </a:srgbClr>
              </a:gs>
            </a:gsLst>
            <a:lin ang="5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onstantia"/>
              <a:ea typeface="Constantia"/>
              <a:cs typeface="Constantia"/>
              <a:sym typeface="Constantia"/>
            </a:endParaRPr>
          </a:p>
        </p:txBody>
      </p:sp>
      <p:sp>
        <p:nvSpPr>
          <p:cNvPr id="11" name="Google Shape;11;p87"/>
          <p:cNvSpPr/>
          <p:nvPr/>
        </p:nvSpPr>
        <p:spPr>
          <a:xfrm>
            <a:off x="4381500" y="-7144"/>
            <a:ext cx="4762500" cy="638175"/>
          </a:xfrm>
          <a:custGeom>
            <a:avLst/>
            <a:gdLst/>
            <a:ahLst/>
            <a:cxnLst/>
            <a:rect l="l" t="t" r="r" b="b"/>
            <a:pathLst>
              <a:path w="3000" h="595" extrusionOk="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803"/>
                </a:srgbClr>
              </a:gs>
              <a:gs pos="80000">
                <a:srgbClr val="0099E4">
                  <a:alpha val="44705"/>
                </a:srgbClr>
              </a:gs>
              <a:gs pos="100000">
                <a:srgbClr val="0099E4">
                  <a:alpha val="44705"/>
                </a:srgbClr>
              </a:gs>
            </a:gsLst>
            <a:lin ang="5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onstantia"/>
              <a:ea typeface="Constantia"/>
              <a:cs typeface="Constantia"/>
              <a:sym typeface="Constantia"/>
            </a:endParaRPr>
          </a:p>
        </p:txBody>
      </p:sp>
      <p:sp>
        <p:nvSpPr>
          <p:cNvPr id="12" name="Google Shape;12;p87"/>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lvl1pPr marR="0" lvl="0" algn="l" rtl="0">
              <a:spcBef>
                <a:spcPts val="0"/>
              </a:spcBef>
              <a:spcAft>
                <a:spcPts val="0"/>
              </a:spcAft>
              <a:buClr>
                <a:schemeClr val="lt2"/>
              </a:buClr>
              <a:buSzPts val="5000"/>
              <a:buFont typeface="Calibri"/>
              <a:buNone/>
              <a:defRPr sz="5000" b="0" i="0" u="none" strike="noStrike" cap="none">
                <a:solidFill>
                  <a:schemeClr val="lt2"/>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 name="Google Shape;13;p87"/>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lvl1pPr marL="457200" marR="0" lvl="0" indent="-385445" algn="l" rtl="0">
              <a:spcBef>
                <a:spcPts val="520"/>
              </a:spcBef>
              <a:spcAft>
                <a:spcPts val="0"/>
              </a:spcAft>
              <a:buClr>
                <a:schemeClr val="accent3"/>
              </a:buClr>
              <a:buSzPts val="2470"/>
              <a:buFont typeface="Noto Sans Symbols"/>
              <a:buChar char="⚫"/>
              <a:defRPr sz="2600" b="0" i="0" u="none" strike="noStrike" cap="none">
                <a:solidFill>
                  <a:schemeClr val="lt1"/>
                </a:solidFill>
                <a:latin typeface="Constantia"/>
                <a:ea typeface="Constantia"/>
                <a:cs typeface="Constantia"/>
                <a:sym typeface="Constantia"/>
              </a:defRPr>
            </a:lvl1pPr>
            <a:lvl2pPr marL="914400" marR="0" lvl="1" indent="-358140" algn="l" rtl="0">
              <a:spcBef>
                <a:spcPts val="480"/>
              </a:spcBef>
              <a:spcAft>
                <a:spcPts val="0"/>
              </a:spcAft>
              <a:buClr>
                <a:schemeClr val="accent1"/>
              </a:buClr>
              <a:buSzPts val="2040"/>
              <a:buFont typeface="Noto Sans Symbols"/>
              <a:buChar char="⚫"/>
              <a:defRPr sz="2400" b="0" i="0" u="none" strike="noStrike" cap="none">
                <a:solidFill>
                  <a:schemeClr val="lt1"/>
                </a:solidFill>
                <a:latin typeface="Constantia"/>
                <a:ea typeface="Constantia"/>
                <a:cs typeface="Constantia"/>
                <a:sym typeface="Constantia"/>
              </a:defRPr>
            </a:lvl2pPr>
            <a:lvl3pPr marL="1371600" marR="0" lvl="2" indent="-321944" algn="l" rtl="0">
              <a:spcBef>
                <a:spcPts val="420"/>
              </a:spcBef>
              <a:spcAft>
                <a:spcPts val="0"/>
              </a:spcAft>
              <a:buClr>
                <a:schemeClr val="accent2"/>
              </a:buClr>
              <a:buSzPts val="1470"/>
              <a:buFont typeface="Noto Sans Symbols"/>
              <a:buChar char="⚫"/>
              <a:defRPr sz="2100" b="0" i="0" u="none" strike="noStrike" cap="none">
                <a:solidFill>
                  <a:schemeClr val="lt1"/>
                </a:solidFill>
                <a:latin typeface="Constantia"/>
                <a:ea typeface="Constantia"/>
                <a:cs typeface="Constantia"/>
                <a:sym typeface="Constantia"/>
              </a:defRPr>
            </a:lvl3pPr>
            <a:lvl4pPr marL="1828800" marR="0" lvl="3" indent="-311150" algn="l" rtl="0">
              <a:spcBef>
                <a:spcPts val="400"/>
              </a:spcBef>
              <a:spcAft>
                <a:spcPts val="0"/>
              </a:spcAft>
              <a:buClr>
                <a:schemeClr val="accent3"/>
              </a:buClr>
              <a:buSzPts val="1300"/>
              <a:buFont typeface="Noto Sans Symbols"/>
              <a:buChar char="⚫"/>
              <a:defRPr sz="2000" b="0" i="0" u="none" strike="noStrike" cap="none">
                <a:solidFill>
                  <a:schemeClr val="lt1"/>
                </a:solidFill>
                <a:latin typeface="Constantia"/>
                <a:ea typeface="Constantia"/>
                <a:cs typeface="Constantia"/>
                <a:sym typeface="Constantia"/>
              </a:defRPr>
            </a:lvl4pPr>
            <a:lvl5pPr marL="2286000" marR="0" lvl="4" indent="-311150" algn="l" rtl="0">
              <a:spcBef>
                <a:spcPts val="400"/>
              </a:spcBef>
              <a:spcAft>
                <a:spcPts val="0"/>
              </a:spcAft>
              <a:buClr>
                <a:schemeClr val="accent4"/>
              </a:buClr>
              <a:buSzPts val="1300"/>
              <a:buFont typeface="Noto Sans Symbols"/>
              <a:buChar char="⚫"/>
              <a:defRPr sz="2000" b="0" i="0" u="none" strike="noStrike" cap="none">
                <a:solidFill>
                  <a:schemeClr val="lt1"/>
                </a:solidFill>
                <a:latin typeface="Constantia"/>
                <a:ea typeface="Constantia"/>
                <a:cs typeface="Constantia"/>
                <a:sym typeface="Constantia"/>
              </a:defRPr>
            </a:lvl5pPr>
            <a:lvl6pPr marL="2743200" marR="0" lvl="5" indent="-320039" algn="l" rtl="0">
              <a:spcBef>
                <a:spcPts val="360"/>
              </a:spcBef>
              <a:spcAft>
                <a:spcPts val="0"/>
              </a:spcAft>
              <a:buClr>
                <a:schemeClr val="accent5"/>
              </a:buClr>
              <a:buSzPts val="1440"/>
              <a:buFont typeface="Noto Sans Symbols"/>
              <a:buChar char="⚫"/>
              <a:defRPr sz="1800" b="0" i="0" u="none" strike="noStrike" cap="none">
                <a:solidFill>
                  <a:schemeClr val="lt1"/>
                </a:solidFill>
                <a:latin typeface="Constantia"/>
                <a:ea typeface="Constantia"/>
                <a:cs typeface="Constantia"/>
                <a:sym typeface="Constantia"/>
              </a:defRPr>
            </a:lvl6pPr>
            <a:lvl7pPr marL="3200400" marR="0" lvl="6" indent="-309879" algn="l" rtl="0">
              <a:spcBef>
                <a:spcPts val="320"/>
              </a:spcBef>
              <a:spcAft>
                <a:spcPts val="0"/>
              </a:spcAft>
              <a:buClr>
                <a:schemeClr val="accent6"/>
              </a:buClr>
              <a:buSzPts val="1280"/>
              <a:buFont typeface="Noto Sans Symbols"/>
              <a:buChar char="⚫"/>
              <a:defRPr sz="1600" b="0" i="0" u="none" strike="noStrike" cap="none">
                <a:solidFill>
                  <a:schemeClr val="lt1"/>
                </a:solidFill>
                <a:latin typeface="Constantia"/>
                <a:ea typeface="Constantia"/>
                <a:cs typeface="Constantia"/>
                <a:sym typeface="Constantia"/>
              </a:defRPr>
            </a:lvl7pPr>
            <a:lvl8pPr marL="3657600" marR="0" lvl="7" indent="-330200" algn="l" rtl="0">
              <a:spcBef>
                <a:spcPts val="320"/>
              </a:spcBef>
              <a:spcAft>
                <a:spcPts val="0"/>
              </a:spcAft>
              <a:buClr>
                <a:schemeClr val="lt2"/>
              </a:buClr>
              <a:buSzPts val="1600"/>
              <a:buFont typeface="Constantia"/>
              <a:buChar char="•"/>
              <a:defRPr sz="1600" b="0" i="0" u="none" strike="noStrike" cap="none">
                <a:solidFill>
                  <a:schemeClr val="lt1"/>
                </a:solidFill>
                <a:latin typeface="Constantia"/>
                <a:ea typeface="Constantia"/>
                <a:cs typeface="Constantia"/>
                <a:sym typeface="Constantia"/>
              </a:defRPr>
            </a:lvl8pPr>
            <a:lvl9pPr marL="4114800" marR="0" lvl="8" indent="-317500" algn="l" rtl="0">
              <a:spcBef>
                <a:spcPts val="280"/>
              </a:spcBef>
              <a:spcAft>
                <a:spcPts val="0"/>
              </a:spcAft>
              <a:buClr>
                <a:schemeClr val="lt2"/>
              </a:buClr>
              <a:buSzPts val="1400"/>
              <a:buFont typeface="Constantia"/>
              <a:buChar char="•"/>
              <a:defRPr sz="1400" b="0" i="0" u="none" strike="noStrike" cap="none">
                <a:solidFill>
                  <a:schemeClr val="lt1"/>
                </a:solidFill>
                <a:latin typeface="Constantia"/>
                <a:ea typeface="Constantia"/>
                <a:cs typeface="Constantia"/>
                <a:sym typeface="Constantia"/>
              </a:defRPr>
            </a:lvl9pPr>
          </a:lstStyle>
          <a:p>
            <a:endParaRPr/>
          </a:p>
        </p:txBody>
      </p:sp>
      <p:sp>
        <p:nvSpPr>
          <p:cNvPr id="14" name="Google Shape;14;p87"/>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marR="0" lvl="0" algn="l" rtl="0">
              <a:spcBef>
                <a:spcPts val="0"/>
              </a:spcBef>
              <a:spcAft>
                <a:spcPts val="0"/>
              </a:spcAft>
              <a:buSzPts val="1400"/>
              <a:buNone/>
              <a:defRPr sz="1200" b="0" i="0" u="none" strike="noStrike" cap="none">
                <a:solidFill>
                  <a:srgbClr val="D0E9ED"/>
                </a:solidFill>
                <a:latin typeface="Constantia"/>
                <a:ea typeface="Constantia"/>
                <a:cs typeface="Constantia"/>
                <a:sym typeface="Constantia"/>
              </a:defRPr>
            </a:lvl1pPr>
            <a:lvl2pPr marR="0" lvl="1"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2pPr>
            <a:lvl3pPr marR="0" lvl="2"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3pPr>
            <a:lvl4pPr marR="0" lvl="3"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4pPr>
            <a:lvl5pPr marR="0" lvl="4"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5pPr>
            <a:lvl6pPr marR="0" lvl="5"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6pPr>
            <a:lvl7pPr marR="0" lvl="6"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7pPr>
            <a:lvl8pPr marR="0" lvl="7"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8pPr>
            <a:lvl9pPr marR="0" lvl="8"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9pPr>
          </a:lstStyle>
          <a:p>
            <a:endParaRPr/>
          </a:p>
        </p:txBody>
      </p:sp>
      <p:sp>
        <p:nvSpPr>
          <p:cNvPr id="15" name="Google Shape;15;p87"/>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marR="0" lvl="0" algn="l" rtl="0">
              <a:spcBef>
                <a:spcPts val="0"/>
              </a:spcBef>
              <a:spcAft>
                <a:spcPts val="0"/>
              </a:spcAft>
              <a:buSzPts val="1400"/>
              <a:buNone/>
              <a:defRPr sz="1200" b="0" i="0" u="none" strike="noStrike" cap="none">
                <a:solidFill>
                  <a:srgbClr val="D0E9ED"/>
                </a:solidFill>
                <a:latin typeface="Constantia"/>
                <a:ea typeface="Constantia"/>
                <a:cs typeface="Constantia"/>
                <a:sym typeface="Constantia"/>
              </a:defRPr>
            </a:lvl1pPr>
            <a:lvl2pPr marR="0" lvl="1"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2pPr>
            <a:lvl3pPr marR="0" lvl="2"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3pPr>
            <a:lvl4pPr marR="0" lvl="3"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4pPr>
            <a:lvl5pPr marR="0" lvl="4"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5pPr>
            <a:lvl6pPr marR="0" lvl="5"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6pPr>
            <a:lvl7pPr marR="0" lvl="6"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7pPr>
            <a:lvl8pPr marR="0" lvl="7"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8pPr>
            <a:lvl9pPr marR="0" lvl="8"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9pPr>
          </a:lstStyle>
          <a:p>
            <a:endParaRPr/>
          </a:p>
        </p:txBody>
      </p:sp>
      <p:sp>
        <p:nvSpPr>
          <p:cNvPr id="16" name="Google Shape;16;p87"/>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lvl1pPr marL="0" marR="0" lvl="0" indent="0" algn="r" rtl="0">
              <a:spcBef>
                <a:spcPts val="0"/>
              </a:spcBef>
              <a:buNone/>
              <a:defRPr sz="1200" b="0" i="0" u="none" strike="noStrike" cap="none">
                <a:solidFill>
                  <a:srgbClr val="D0E9ED"/>
                </a:solidFill>
                <a:latin typeface="Constantia"/>
                <a:ea typeface="Constantia"/>
                <a:cs typeface="Constantia"/>
                <a:sym typeface="Constantia"/>
              </a:defRPr>
            </a:lvl1pPr>
            <a:lvl2pPr marL="0" marR="0" lvl="1" indent="0" algn="r" rtl="0">
              <a:spcBef>
                <a:spcPts val="0"/>
              </a:spcBef>
              <a:buNone/>
              <a:defRPr sz="1200" b="0" i="0" u="none" strike="noStrike" cap="none">
                <a:solidFill>
                  <a:srgbClr val="D0E9ED"/>
                </a:solidFill>
                <a:latin typeface="Constantia"/>
                <a:ea typeface="Constantia"/>
                <a:cs typeface="Constantia"/>
                <a:sym typeface="Constantia"/>
              </a:defRPr>
            </a:lvl2pPr>
            <a:lvl3pPr marL="0" marR="0" lvl="2" indent="0" algn="r" rtl="0">
              <a:spcBef>
                <a:spcPts val="0"/>
              </a:spcBef>
              <a:buNone/>
              <a:defRPr sz="1200" b="0" i="0" u="none" strike="noStrike" cap="none">
                <a:solidFill>
                  <a:srgbClr val="D0E9ED"/>
                </a:solidFill>
                <a:latin typeface="Constantia"/>
                <a:ea typeface="Constantia"/>
                <a:cs typeface="Constantia"/>
                <a:sym typeface="Constantia"/>
              </a:defRPr>
            </a:lvl3pPr>
            <a:lvl4pPr marL="0" marR="0" lvl="3" indent="0" algn="r" rtl="0">
              <a:spcBef>
                <a:spcPts val="0"/>
              </a:spcBef>
              <a:buNone/>
              <a:defRPr sz="1200" b="0" i="0" u="none" strike="noStrike" cap="none">
                <a:solidFill>
                  <a:srgbClr val="D0E9ED"/>
                </a:solidFill>
                <a:latin typeface="Constantia"/>
                <a:ea typeface="Constantia"/>
                <a:cs typeface="Constantia"/>
                <a:sym typeface="Constantia"/>
              </a:defRPr>
            </a:lvl4pPr>
            <a:lvl5pPr marL="0" marR="0" lvl="4" indent="0" algn="r" rtl="0">
              <a:spcBef>
                <a:spcPts val="0"/>
              </a:spcBef>
              <a:buNone/>
              <a:defRPr sz="1200" b="0" i="0" u="none" strike="noStrike" cap="none">
                <a:solidFill>
                  <a:srgbClr val="D0E9ED"/>
                </a:solidFill>
                <a:latin typeface="Constantia"/>
                <a:ea typeface="Constantia"/>
                <a:cs typeface="Constantia"/>
                <a:sym typeface="Constantia"/>
              </a:defRPr>
            </a:lvl5pPr>
            <a:lvl6pPr marL="0" marR="0" lvl="5" indent="0" algn="r" rtl="0">
              <a:spcBef>
                <a:spcPts val="0"/>
              </a:spcBef>
              <a:buNone/>
              <a:defRPr sz="1200" b="0" i="0" u="none" strike="noStrike" cap="none">
                <a:solidFill>
                  <a:srgbClr val="D0E9ED"/>
                </a:solidFill>
                <a:latin typeface="Constantia"/>
                <a:ea typeface="Constantia"/>
                <a:cs typeface="Constantia"/>
                <a:sym typeface="Constantia"/>
              </a:defRPr>
            </a:lvl6pPr>
            <a:lvl7pPr marL="0" marR="0" lvl="6" indent="0" algn="r" rtl="0">
              <a:spcBef>
                <a:spcPts val="0"/>
              </a:spcBef>
              <a:buNone/>
              <a:defRPr sz="1200" b="0" i="0" u="none" strike="noStrike" cap="none">
                <a:solidFill>
                  <a:srgbClr val="D0E9ED"/>
                </a:solidFill>
                <a:latin typeface="Constantia"/>
                <a:ea typeface="Constantia"/>
                <a:cs typeface="Constantia"/>
                <a:sym typeface="Constantia"/>
              </a:defRPr>
            </a:lvl7pPr>
            <a:lvl8pPr marL="0" marR="0" lvl="7" indent="0" algn="r" rtl="0">
              <a:spcBef>
                <a:spcPts val="0"/>
              </a:spcBef>
              <a:buNone/>
              <a:defRPr sz="1200" b="0" i="0" u="none" strike="noStrike" cap="none">
                <a:solidFill>
                  <a:srgbClr val="D0E9ED"/>
                </a:solidFill>
                <a:latin typeface="Constantia"/>
                <a:ea typeface="Constantia"/>
                <a:cs typeface="Constantia"/>
                <a:sym typeface="Constantia"/>
              </a:defRPr>
            </a:lvl8pPr>
            <a:lvl9pPr marL="0" marR="0" lvl="8" indent="0" algn="r" rtl="0">
              <a:spcBef>
                <a:spcPts val="0"/>
              </a:spcBef>
              <a:buNone/>
              <a:defRPr sz="1200" b="0" i="0" u="none" strike="noStrike" cap="none">
                <a:solidFill>
                  <a:srgbClr val="D0E9ED"/>
                </a:solidFill>
                <a:latin typeface="Constantia"/>
                <a:ea typeface="Constantia"/>
                <a:cs typeface="Constantia"/>
                <a:sym typeface="Constantia"/>
              </a:defRPr>
            </a:lvl9pPr>
          </a:lstStyle>
          <a:p>
            <a:pPr marL="0" lvl="0" indent="0" algn="r" rtl="0">
              <a:spcBef>
                <a:spcPts val="0"/>
              </a:spcBef>
              <a:spcAft>
                <a:spcPts val="0"/>
              </a:spcAft>
              <a:buNone/>
            </a:pPr>
            <a:fld id="{00000000-1234-1234-1234-123412341234}" type="slidenum">
              <a:rPr lang="en-US"/>
              <a:t>‹#›</a:t>
            </a:fld>
            <a:endParaRPr/>
          </a:p>
        </p:txBody>
      </p:sp>
      <p:grpSp>
        <p:nvGrpSpPr>
          <p:cNvPr id="17" name="Google Shape;17;p87"/>
          <p:cNvGrpSpPr/>
          <p:nvPr/>
        </p:nvGrpSpPr>
        <p:grpSpPr>
          <a:xfrm>
            <a:off x="-29294" y="-16113"/>
            <a:ext cx="9198255" cy="1086266"/>
            <a:chOff x="-29322" y="-1971"/>
            <a:chExt cx="9198255" cy="1086266"/>
          </a:xfrm>
        </p:grpSpPr>
        <p:sp>
          <p:nvSpPr>
            <p:cNvPr id="18" name="Google Shape;18;p87"/>
            <p:cNvSpPr/>
            <p:nvPr/>
          </p:nvSpPr>
          <p:spPr>
            <a:xfrm rot="-164308">
              <a:off x="-19045" y="216550"/>
              <a:ext cx="9163050" cy="649224"/>
            </a:xfrm>
            <a:custGeom>
              <a:avLst/>
              <a:gdLst/>
              <a:ahLst/>
              <a:cxnLst/>
              <a:rect l="l" t="t" r="r" b="b"/>
              <a:pathLst>
                <a:path w="5772" h="1055" extrusionOk="0">
                  <a:moveTo>
                    <a:pt x="0" y="966"/>
                  </a:moveTo>
                  <a:cubicBezTo>
                    <a:pt x="282" y="738"/>
                    <a:pt x="923" y="275"/>
                    <a:pt x="1608" y="282"/>
                  </a:cubicBezTo>
                  <a:cubicBezTo>
                    <a:pt x="2293" y="289"/>
                    <a:pt x="3416" y="1055"/>
                    <a:pt x="4110" y="1008"/>
                  </a:cubicBezTo>
                  <a:cubicBezTo>
                    <a:pt x="4804" y="961"/>
                    <a:pt x="5426" y="210"/>
                    <a:pt x="5772" y="0"/>
                  </a:cubicBezTo>
                </a:path>
              </a:pathLst>
            </a:custGeom>
            <a:noFill/>
            <a:ln w="10775" cap="flat" cmpd="sng">
              <a:solidFill>
                <a:srgbClr val="09B6B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nstantia"/>
                <a:ea typeface="Constantia"/>
                <a:cs typeface="Constantia"/>
                <a:sym typeface="Constantia"/>
              </a:endParaRPr>
            </a:p>
          </p:txBody>
        </p:sp>
        <p:sp>
          <p:nvSpPr>
            <p:cNvPr id="19" name="Google Shape;19;p87"/>
            <p:cNvSpPr/>
            <p:nvPr/>
          </p:nvSpPr>
          <p:spPr>
            <a:xfrm rot="-164308">
              <a:off x="-14309" y="290003"/>
              <a:ext cx="9175812" cy="530352"/>
            </a:xfrm>
            <a:custGeom>
              <a:avLst/>
              <a:gdLst/>
              <a:ahLst/>
              <a:cxnLst/>
              <a:rect l="l" t="t" r="r" b="b"/>
              <a:pathLst>
                <a:path w="5766" h="854" extrusionOk="0">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nstantia"/>
                <a:ea typeface="Constantia"/>
                <a:cs typeface="Constantia"/>
                <a:sym typeface="Constantia"/>
              </a:endParaRPr>
            </a:p>
          </p:txBody>
        </p:sp>
      </p:grpSp>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1">
          <a:blip r:embed="rId13">
            <a:alphaModFix/>
          </a:blip>
          <a:tile tx="0" ty="0" sx="65000" sy="65000" flip="none" algn="tl"/>
        </a:blipFill>
        <a:effectLst/>
      </p:bgPr>
    </p:bg>
    <p:spTree>
      <p:nvGrpSpPr>
        <p:cNvPr id="1" name="Shape 26"/>
        <p:cNvGrpSpPr/>
        <p:nvPr/>
      </p:nvGrpSpPr>
      <p:grpSpPr>
        <a:xfrm>
          <a:off x="0" y="0"/>
          <a:ext cx="0" cy="0"/>
          <a:chOff x="0" y="0"/>
          <a:chExt cx="0" cy="0"/>
        </a:xfrm>
      </p:grpSpPr>
      <p:sp>
        <p:nvSpPr>
          <p:cNvPr id="27" name="Google Shape;27;p86"/>
          <p:cNvSpPr/>
          <p:nvPr/>
        </p:nvSpPr>
        <p:spPr>
          <a:xfrm>
            <a:off x="-9525" y="-7144"/>
            <a:ext cx="9163050" cy="1041400"/>
          </a:xfrm>
          <a:custGeom>
            <a:avLst/>
            <a:gdLst/>
            <a:ahLst/>
            <a:cxnLst/>
            <a:rect l="l" t="t" r="r" b="b"/>
            <a:pathLst>
              <a:path w="5772" h="656" extrusionOk="0">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705"/>
                </a:srgbClr>
              </a:gs>
              <a:gs pos="100000">
                <a:srgbClr val="00E9F7">
                  <a:alpha val="54901"/>
                </a:srgbClr>
              </a:gs>
            </a:gsLst>
            <a:lin ang="5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onstantia"/>
              <a:ea typeface="Constantia"/>
              <a:cs typeface="Constantia"/>
              <a:sym typeface="Constantia"/>
            </a:endParaRPr>
          </a:p>
        </p:txBody>
      </p:sp>
      <p:sp>
        <p:nvSpPr>
          <p:cNvPr id="28" name="Google Shape;28;p86"/>
          <p:cNvSpPr/>
          <p:nvPr/>
        </p:nvSpPr>
        <p:spPr>
          <a:xfrm>
            <a:off x="4381500" y="-7144"/>
            <a:ext cx="4762500" cy="638175"/>
          </a:xfrm>
          <a:custGeom>
            <a:avLst/>
            <a:gdLst/>
            <a:ahLst/>
            <a:cxnLst/>
            <a:rect l="l" t="t" r="r" b="b"/>
            <a:pathLst>
              <a:path w="3000" h="595" extrusionOk="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803"/>
                </a:srgbClr>
              </a:gs>
              <a:gs pos="80000">
                <a:srgbClr val="0099E4">
                  <a:alpha val="44705"/>
                </a:srgbClr>
              </a:gs>
              <a:gs pos="100000">
                <a:srgbClr val="0099E4">
                  <a:alpha val="44705"/>
                </a:srgbClr>
              </a:gs>
            </a:gsLst>
            <a:lin ang="5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onstantia"/>
              <a:ea typeface="Constantia"/>
              <a:cs typeface="Constantia"/>
              <a:sym typeface="Constantia"/>
            </a:endParaRPr>
          </a:p>
        </p:txBody>
      </p:sp>
      <p:sp>
        <p:nvSpPr>
          <p:cNvPr id="29" name="Google Shape;29;p86"/>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lvl1pPr marR="0" lvl="0" algn="l" rtl="0">
              <a:spcBef>
                <a:spcPts val="0"/>
              </a:spcBef>
              <a:spcAft>
                <a:spcPts val="0"/>
              </a:spcAft>
              <a:buClr>
                <a:schemeClr val="dk2"/>
              </a:buClr>
              <a:buSzPts val="5000"/>
              <a:buFont typeface="Calibri"/>
              <a:buNone/>
              <a:defRPr sz="5000" b="0" i="0" u="none" strike="noStrike" cap="none">
                <a:solidFill>
                  <a:schemeClr val="dk2"/>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0" name="Google Shape;30;p86"/>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lvl1pPr marL="457200" marR="0" lvl="0" indent="-385445" algn="l" rtl="0">
              <a:spcBef>
                <a:spcPts val="520"/>
              </a:spcBef>
              <a:spcAft>
                <a:spcPts val="0"/>
              </a:spcAft>
              <a:buClr>
                <a:schemeClr val="accent3"/>
              </a:buClr>
              <a:buSzPts val="2470"/>
              <a:buFont typeface="Noto Sans Symbols"/>
              <a:buChar char="⚫"/>
              <a:defRPr sz="2600" b="0" i="0" u="none" strike="noStrike" cap="none">
                <a:solidFill>
                  <a:schemeClr val="dk1"/>
                </a:solidFill>
                <a:latin typeface="Constantia"/>
                <a:ea typeface="Constantia"/>
                <a:cs typeface="Constantia"/>
                <a:sym typeface="Constantia"/>
              </a:defRPr>
            </a:lvl1pPr>
            <a:lvl2pPr marL="914400" marR="0" lvl="1" indent="-358140" algn="l" rtl="0">
              <a:spcBef>
                <a:spcPts val="480"/>
              </a:spcBef>
              <a:spcAft>
                <a:spcPts val="0"/>
              </a:spcAft>
              <a:buClr>
                <a:schemeClr val="accent1"/>
              </a:buClr>
              <a:buSzPts val="2040"/>
              <a:buFont typeface="Noto Sans Symbols"/>
              <a:buChar char="⚫"/>
              <a:defRPr sz="2400" b="0" i="0" u="none" strike="noStrike" cap="none">
                <a:solidFill>
                  <a:schemeClr val="dk1"/>
                </a:solidFill>
                <a:latin typeface="Constantia"/>
                <a:ea typeface="Constantia"/>
                <a:cs typeface="Constantia"/>
                <a:sym typeface="Constantia"/>
              </a:defRPr>
            </a:lvl2pPr>
            <a:lvl3pPr marL="1371600" marR="0" lvl="2" indent="-321944" algn="l" rtl="0">
              <a:spcBef>
                <a:spcPts val="420"/>
              </a:spcBef>
              <a:spcAft>
                <a:spcPts val="0"/>
              </a:spcAft>
              <a:buClr>
                <a:schemeClr val="accent2"/>
              </a:buClr>
              <a:buSzPts val="1470"/>
              <a:buFont typeface="Noto Sans Symbols"/>
              <a:buChar char="⚫"/>
              <a:defRPr sz="2100" b="0" i="0" u="none" strike="noStrike" cap="none">
                <a:solidFill>
                  <a:schemeClr val="dk1"/>
                </a:solidFill>
                <a:latin typeface="Constantia"/>
                <a:ea typeface="Constantia"/>
                <a:cs typeface="Constantia"/>
                <a:sym typeface="Constantia"/>
              </a:defRPr>
            </a:lvl3pPr>
            <a:lvl4pPr marL="1828800" marR="0" lvl="3" indent="-311150" algn="l" rtl="0">
              <a:spcBef>
                <a:spcPts val="400"/>
              </a:spcBef>
              <a:spcAft>
                <a:spcPts val="0"/>
              </a:spcAft>
              <a:buClr>
                <a:schemeClr val="accent3"/>
              </a:buClr>
              <a:buSzPts val="1300"/>
              <a:buFont typeface="Noto Sans Symbols"/>
              <a:buChar char="⚫"/>
              <a:defRPr sz="2000" b="0" i="0" u="none" strike="noStrike" cap="none">
                <a:solidFill>
                  <a:schemeClr val="dk1"/>
                </a:solidFill>
                <a:latin typeface="Constantia"/>
                <a:ea typeface="Constantia"/>
                <a:cs typeface="Constantia"/>
                <a:sym typeface="Constantia"/>
              </a:defRPr>
            </a:lvl4pPr>
            <a:lvl5pPr marL="2286000" marR="0" lvl="4" indent="-311150" algn="l" rtl="0">
              <a:spcBef>
                <a:spcPts val="400"/>
              </a:spcBef>
              <a:spcAft>
                <a:spcPts val="0"/>
              </a:spcAft>
              <a:buClr>
                <a:schemeClr val="accent4"/>
              </a:buClr>
              <a:buSzPts val="1300"/>
              <a:buFont typeface="Noto Sans Symbols"/>
              <a:buChar char="⚫"/>
              <a:defRPr sz="2000" b="0" i="0" u="none" strike="noStrike" cap="none">
                <a:solidFill>
                  <a:schemeClr val="dk1"/>
                </a:solidFill>
                <a:latin typeface="Constantia"/>
                <a:ea typeface="Constantia"/>
                <a:cs typeface="Constantia"/>
                <a:sym typeface="Constantia"/>
              </a:defRPr>
            </a:lvl5pPr>
            <a:lvl6pPr marL="2743200" marR="0" lvl="5" indent="-320039" algn="l" rtl="0">
              <a:spcBef>
                <a:spcPts val="360"/>
              </a:spcBef>
              <a:spcAft>
                <a:spcPts val="0"/>
              </a:spcAft>
              <a:buClr>
                <a:schemeClr val="accent5"/>
              </a:buClr>
              <a:buSzPts val="1440"/>
              <a:buFont typeface="Noto Sans Symbols"/>
              <a:buChar char="⚫"/>
              <a:defRPr sz="1800" b="0" i="0" u="none" strike="noStrike" cap="none">
                <a:solidFill>
                  <a:schemeClr val="dk1"/>
                </a:solidFill>
                <a:latin typeface="Constantia"/>
                <a:ea typeface="Constantia"/>
                <a:cs typeface="Constantia"/>
                <a:sym typeface="Constantia"/>
              </a:defRPr>
            </a:lvl6pPr>
            <a:lvl7pPr marL="3200400" marR="0" lvl="6" indent="-309879" algn="l" rtl="0">
              <a:spcBef>
                <a:spcPts val="320"/>
              </a:spcBef>
              <a:spcAft>
                <a:spcPts val="0"/>
              </a:spcAft>
              <a:buClr>
                <a:schemeClr val="accent6"/>
              </a:buClr>
              <a:buSzPts val="1280"/>
              <a:buFont typeface="Noto Sans Symbols"/>
              <a:buChar char="⚫"/>
              <a:defRPr sz="1600" b="0" i="0" u="none" strike="noStrike" cap="none">
                <a:solidFill>
                  <a:schemeClr val="dk1"/>
                </a:solidFill>
                <a:latin typeface="Constantia"/>
                <a:ea typeface="Constantia"/>
                <a:cs typeface="Constantia"/>
                <a:sym typeface="Constantia"/>
              </a:defRPr>
            </a:lvl7pPr>
            <a:lvl8pPr marL="3657600" marR="0" lvl="7" indent="-330200" algn="l" rtl="0">
              <a:spcBef>
                <a:spcPts val="320"/>
              </a:spcBef>
              <a:spcAft>
                <a:spcPts val="0"/>
              </a:spcAft>
              <a:buClr>
                <a:schemeClr val="dk2"/>
              </a:buClr>
              <a:buSzPts val="1600"/>
              <a:buFont typeface="Constantia"/>
              <a:buChar char="•"/>
              <a:defRPr sz="1600" b="0" i="0" u="none" strike="noStrike" cap="none">
                <a:solidFill>
                  <a:schemeClr val="dk1"/>
                </a:solidFill>
                <a:latin typeface="Constantia"/>
                <a:ea typeface="Constantia"/>
                <a:cs typeface="Constantia"/>
                <a:sym typeface="Constantia"/>
              </a:defRPr>
            </a:lvl8pPr>
            <a:lvl9pPr marL="4114800" marR="0" lvl="8" indent="-317500" algn="l" rtl="0">
              <a:spcBef>
                <a:spcPts val="280"/>
              </a:spcBef>
              <a:spcAft>
                <a:spcPts val="0"/>
              </a:spcAft>
              <a:buClr>
                <a:schemeClr val="dk2"/>
              </a:buClr>
              <a:buSzPts val="1400"/>
              <a:buFont typeface="Constantia"/>
              <a:buChar char="•"/>
              <a:defRPr sz="1400" b="0" i="0" u="none" strike="noStrike" cap="none">
                <a:solidFill>
                  <a:schemeClr val="dk1"/>
                </a:solidFill>
                <a:latin typeface="Constantia"/>
                <a:ea typeface="Constantia"/>
                <a:cs typeface="Constantia"/>
                <a:sym typeface="Constantia"/>
              </a:defRPr>
            </a:lvl9pPr>
          </a:lstStyle>
          <a:p>
            <a:endParaRPr/>
          </a:p>
        </p:txBody>
      </p:sp>
      <p:sp>
        <p:nvSpPr>
          <p:cNvPr id="31" name="Google Shape;31;p86"/>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marR="0" lvl="0" algn="l" rtl="0">
              <a:spcBef>
                <a:spcPts val="0"/>
              </a:spcBef>
              <a:spcAft>
                <a:spcPts val="0"/>
              </a:spcAft>
              <a:buSzPts val="1400"/>
              <a:buNone/>
              <a:defRPr sz="1200">
                <a:solidFill>
                  <a:srgbClr val="035C75"/>
                </a:solidFill>
                <a:latin typeface="Constantia"/>
                <a:ea typeface="Constantia"/>
                <a:cs typeface="Constantia"/>
                <a:sym typeface="Constantia"/>
              </a:defRPr>
            </a:lvl1pPr>
            <a:lvl2pPr marR="0" lvl="1"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2pPr>
            <a:lvl3pPr marR="0" lvl="2"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3pPr>
            <a:lvl4pPr marR="0" lvl="3"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4pPr>
            <a:lvl5pPr marR="0" lvl="4"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5pPr>
            <a:lvl6pPr marR="0" lvl="5"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6pPr>
            <a:lvl7pPr marR="0" lvl="6"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7pPr>
            <a:lvl8pPr marR="0" lvl="7"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8pPr>
            <a:lvl9pPr marR="0" lvl="8"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9pPr>
          </a:lstStyle>
          <a:p>
            <a:endParaRPr/>
          </a:p>
        </p:txBody>
      </p:sp>
      <p:sp>
        <p:nvSpPr>
          <p:cNvPr id="32" name="Google Shape;32;p86"/>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marR="0" lvl="0" algn="l" rtl="0">
              <a:spcBef>
                <a:spcPts val="0"/>
              </a:spcBef>
              <a:spcAft>
                <a:spcPts val="0"/>
              </a:spcAft>
              <a:buSzPts val="1400"/>
              <a:buNone/>
              <a:defRPr sz="1200">
                <a:solidFill>
                  <a:srgbClr val="035C75"/>
                </a:solidFill>
                <a:latin typeface="Constantia"/>
                <a:ea typeface="Constantia"/>
                <a:cs typeface="Constantia"/>
                <a:sym typeface="Constantia"/>
              </a:defRPr>
            </a:lvl1pPr>
            <a:lvl2pPr marR="0" lvl="1"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2pPr>
            <a:lvl3pPr marR="0" lvl="2"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3pPr>
            <a:lvl4pPr marR="0" lvl="3"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4pPr>
            <a:lvl5pPr marR="0" lvl="4"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5pPr>
            <a:lvl6pPr marR="0" lvl="5"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6pPr>
            <a:lvl7pPr marR="0" lvl="6"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7pPr>
            <a:lvl8pPr marR="0" lvl="7"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8pPr>
            <a:lvl9pPr marR="0" lvl="8"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9pPr>
          </a:lstStyle>
          <a:p>
            <a:endParaRPr/>
          </a:p>
        </p:txBody>
      </p:sp>
      <p:sp>
        <p:nvSpPr>
          <p:cNvPr id="33" name="Google Shape;33;p86"/>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lvl1pPr marL="0" marR="0" lvl="0" indent="0" algn="r" rtl="0">
              <a:spcBef>
                <a:spcPts val="0"/>
              </a:spcBef>
              <a:buNone/>
              <a:defRPr sz="1200" b="0" u="none">
                <a:solidFill>
                  <a:srgbClr val="035C75"/>
                </a:solidFill>
                <a:latin typeface="Constantia"/>
                <a:ea typeface="Constantia"/>
                <a:cs typeface="Constantia"/>
                <a:sym typeface="Constantia"/>
              </a:defRPr>
            </a:lvl1pPr>
            <a:lvl2pPr marL="0" marR="0" lvl="1" indent="0" algn="r" rtl="0">
              <a:spcBef>
                <a:spcPts val="0"/>
              </a:spcBef>
              <a:buNone/>
              <a:defRPr sz="1200" b="0" u="none">
                <a:solidFill>
                  <a:srgbClr val="035C75"/>
                </a:solidFill>
                <a:latin typeface="Constantia"/>
                <a:ea typeface="Constantia"/>
                <a:cs typeface="Constantia"/>
                <a:sym typeface="Constantia"/>
              </a:defRPr>
            </a:lvl2pPr>
            <a:lvl3pPr marL="0" marR="0" lvl="2" indent="0" algn="r" rtl="0">
              <a:spcBef>
                <a:spcPts val="0"/>
              </a:spcBef>
              <a:buNone/>
              <a:defRPr sz="1200" b="0" u="none">
                <a:solidFill>
                  <a:srgbClr val="035C75"/>
                </a:solidFill>
                <a:latin typeface="Constantia"/>
                <a:ea typeface="Constantia"/>
                <a:cs typeface="Constantia"/>
                <a:sym typeface="Constantia"/>
              </a:defRPr>
            </a:lvl3pPr>
            <a:lvl4pPr marL="0" marR="0" lvl="3" indent="0" algn="r" rtl="0">
              <a:spcBef>
                <a:spcPts val="0"/>
              </a:spcBef>
              <a:buNone/>
              <a:defRPr sz="1200" b="0" u="none">
                <a:solidFill>
                  <a:srgbClr val="035C75"/>
                </a:solidFill>
                <a:latin typeface="Constantia"/>
                <a:ea typeface="Constantia"/>
                <a:cs typeface="Constantia"/>
                <a:sym typeface="Constantia"/>
              </a:defRPr>
            </a:lvl4pPr>
            <a:lvl5pPr marL="0" marR="0" lvl="4" indent="0" algn="r" rtl="0">
              <a:spcBef>
                <a:spcPts val="0"/>
              </a:spcBef>
              <a:buNone/>
              <a:defRPr sz="1200" b="0" u="none">
                <a:solidFill>
                  <a:srgbClr val="035C75"/>
                </a:solidFill>
                <a:latin typeface="Constantia"/>
                <a:ea typeface="Constantia"/>
                <a:cs typeface="Constantia"/>
                <a:sym typeface="Constantia"/>
              </a:defRPr>
            </a:lvl5pPr>
            <a:lvl6pPr marL="0" marR="0" lvl="5" indent="0" algn="r" rtl="0">
              <a:spcBef>
                <a:spcPts val="0"/>
              </a:spcBef>
              <a:buNone/>
              <a:defRPr sz="1200" b="0" u="none">
                <a:solidFill>
                  <a:srgbClr val="035C75"/>
                </a:solidFill>
                <a:latin typeface="Constantia"/>
                <a:ea typeface="Constantia"/>
                <a:cs typeface="Constantia"/>
                <a:sym typeface="Constantia"/>
              </a:defRPr>
            </a:lvl6pPr>
            <a:lvl7pPr marL="0" marR="0" lvl="6" indent="0" algn="r" rtl="0">
              <a:spcBef>
                <a:spcPts val="0"/>
              </a:spcBef>
              <a:buNone/>
              <a:defRPr sz="1200" b="0" u="none">
                <a:solidFill>
                  <a:srgbClr val="035C75"/>
                </a:solidFill>
                <a:latin typeface="Constantia"/>
                <a:ea typeface="Constantia"/>
                <a:cs typeface="Constantia"/>
                <a:sym typeface="Constantia"/>
              </a:defRPr>
            </a:lvl7pPr>
            <a:lvl8pPr marL="0" marR="0" lvl="7" indent="0" algn="r" rtl="0">
              <a:spcBef>
                <a:spcPts val="0"/>
              </a:spcBef>
              <a:buNone/>
              <a:defRPr sz="1200" b="0" u="none">
                <a:solidFill>
                  <a:srgbClr val="035C75"/>
                </a:solidFill>
                <a:latin typeface="Constantia"/>
                <a:ea typeface="Constantia"/>
                <a:cs typeface="Constantia"/>
                <a:sym typeface="Constantia"/>
              </a:defRPr>
            </a:lvl8pPr>
            <a:lvl9pPr marL="0" marR="0" lvl="8" indent="0" algn="r" rtl="0">
              <a:spcBef>
                <a:spcPts val="0"/>
              </a:spcBef>
              <a:buNone/>
              <a:defRPr sz="1200" b="0" u="none">
                <a:solidFill>
                  <a:srgbClr val="035C75"/>
                </a:solidFill>
                <a:latin typeface="Constantia"/>
                <a:ea typeface="Constantia"/>
                <a:cs typeface="Constantia"/>
                <a:sym typeface="Constantia"/>
              </a:defRPr>
            </a:lvl9pPr>
          </a:lstStyle>
          <a:p>
            <a:pPr marL="0" lvl="0" indent="0" algn="r" rtl="0">
              <a:spcBef>
                <a:spcPts val="0"/>
              </a:spcBef>
              <a:spcAft>
                <a:spcPts val="0"/>
              </a:spcAft>
              <a:buNone/>
            </a:pPr>
            <a:fld id="{00000000-1234-1234-1234-123412341234}" type="slidenum">
              <a:rPr lang="en-US"/>
              <a:t>‹#›</a:t>
            </a:fld>
            <a:endParaRPr/>
          </a:p>
        </p:txBody>
      </p:sp>
      <p:grpSp>
        <p:nvGrpSpPr>
          <p:cNvPr id="34" name="Google Shape;34;p86"/>
          <p:cNvGrpSpPr/>
          <p:nvPr/>
        </p:nvGrpSpPr>
        <p:grpSpPr>
          <a:xfrm>
            <a:off x="-29294" y="-16113"/>
            <a:ext cx="9198255" cy="1086266"/>
            <a:chOff x="-29322" y="-1971"/>
            <a:chExt cx="9198255" cy="1086266"/>
          </a:xfrm>
        </p:grpSpPr>
        <p:sp>
          <p:nvSpPr>
            <p:cNvPr id="35" name="Google Shape;35;p86"/>
            <p:cNvSpPr/>
            <p:nvPr/>
          </p:nvSpPr>
          <p:spPr>
            <a:xfrm rot="-164308">
              <a:off x="-19045" y="216550"/>
              <a:ext cx="9163050" cy="649224"/>
            </a:xfrm>
            <a:custGeom>
              <a:avLst/>
              <a:gdLst/>
              <a:ahLst/>
              <a:cxnLst/>
              <a:rect l="l" t="t" r="r" b="b"/>
              <a:pathLst>
                <a:path w="5772" h="1055" extrusionOk="0">
                  <a:moveTo>
                    <a:pt x="0" y="966"/>
                  </a:moveTo>
                  <a:cubicBezTo>
                    <a:pt x="282" y="738"/>
                    <a:pt x="923" y="275"/>
                    <a:pt x="1608" y="282"/>
                  </a:cubicBezTo>
                  <a:cubicBezTo>
                    <a:pt x="2293" y="289"/>
                    <a:pt x="3416" y="1055"/>
                    <a:pt x="4110" y="1008"/>
                  </a:cubicBezTo>
                  <a:cubicBezTo>
                    <a:pt x="4804" y="961"/>
                    <a:pt x="5426" y="210"/>
                    <a:pt x="5772" y="0"/>
                  </a:cubicBezTo>
                </a:path>
              </a:pathLst>
            </a:custGeom>
            <a:noFill/>
            <a:ln w="10775" cap="flat" cmpd="sng">
              <a:solidFill>
                <a:srgbClr val="09B6B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onstantia"/>
                <a:ea typeface="Constantia"/>
                <a:cs typeface="Constantia"/>
                <a:sym typeface="Constantia"/>
              </a:endParaRPr>
            </a:p>
          </p:txBody>
        </p:sp>
        <p:sp>
          <p:nvSpPr>
            <p:cNvPr id="36" name="Google Shape;36;p86"/>
            <p:cNvSpPr/>
            <p:nvPr/>
          </p:nvSpPr>
          <p:spPr>
            <a:xfrm rot="-164308">
              <a:off x="-14309" y="290003"/>
              <a:ext cx="9175812" cy="530352"/>
            </a:xfrm>
            <a:custGeom>
              <a:avLst/>
              <a:gdLst/>
              <a:ahLst/>
              <a:cxnLst/>
              <a:rect l="l" t="t" r="r" b="b"/>
              <a:pathLst>
                <a:path w="5766" h="854" extrusionOk="0">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onstantia"/>
                <a:ea typeface="Constantia"/>
                <a:cs typeface="Constantia"/>
                <a:sym typeface="Constantia"/>
              </a:endParaRPr>
            </a:p>
          </p:txBody>
        </p:sp>
      </p:grpSp>
    </p:spTree>
  </p:cSld>
  <p:clrMap bg1="lt1" tx1="dk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16.jp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0.xml"/><Relationship Id="rId1" Type="http://schemas.openxmlformats.org/officeDocument/2006/relationships/slideLayout" Target="../slideLayouts/slideLayout3.xml"/><Relationship Id="rId5" Type="http://schemas.openxmlformats.org/officeDocument/2006/relationships/image" Target="../media/image22.gif"/><Relationship Id="rId4" Type="http://schemas.openxmlformats.org/officeDocument/2006/relationships/image" Target="../media/image21.jpg"/></Relationships>
</file>

<file path=ppt/slides/_rels/slide4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8.xml"/><Relationship Id="rId1" Type="http://schemas.openxmlformats.org/officeDocument/2006/relationships/slideLayout" Target="../slideLayouts/slideLayout3.xml"/><Relationship Id="rId4" Type="http://schemas.openxmlformats.org/officeDocument/2006/relationships/image" Target="../media/image27.png"/></Relationships>
</file>

<file path=ppt/slides/_rels/slide4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4.xml"/><Relationship Id="rId1" Type="http://schemas.openxmlformats.org/officeDocument/2006/relationships/vmlDrawing" Target="../drawings/vmlDrawing1.vml"/><Relationship Id="rId5" Type="http://schemas.openxmlformats.org/officeDocument/2006/relationships/image" Target="../media/image31.png"/><Relationship Id="rId4" Type="http://schemas.openxmlformats.org/officeDocument/2006/relationships/oleObject" Target="../embeddings/oleObject1.bin"/></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2.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68.xml"/><Relationship Id="rId1" Type="http://schemas.openxmlformats.org/officeDocument/2006/relationships/slideLayout" Target="../slideLayouts/slideLayout2.xml"/><Relationship Id="rId4" Type="http://schemas.openxmlformats.org/officeDocument/2006/relationships/image" Target="../media/image40.jpg"/></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72.xml"/><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41.png"/></Relationships>
</file>

<file path=ppt/slides/_rels/slide7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73.xml"/><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44.png"/></Relationships>
</file>

<file path=ppt/slides/_rels/slide7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55.jp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56.jpg"/><Relationship Id="rId2" Type="http://schemas.openxmlformats.org/officeDocument/2006/relationships/notesSlide" Target="../notesSlides/notesSlide91.xml"/><Relationship Id="rId1" Type="http://schemas.openxmlformats.org/officeDocument/2006/relationships/slideLayout" Target="../slideLayouts/slideLayout2.xml"/><Relationship Id="rId4" Type="http://schemas.openxmlformats.org/officeDocument/2006/relationships/image" Target="../media/image57.jpg"/></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58.jpg"/><Relationship Id="rId2" Type="http://schemas.openxmlformats.org/officeDocument/2006/relationships/notesSlide" Target="../notesSlides/notesSlide93.xml"/><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60.jp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62.jp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
          <p:cNvSpPr txBox="1">
            <a:spLocks noGrp="1"/>
          </p:cNvSpPr>
          <p:nvPr>
            <p:ph type="ctrTitle"/>
          </p:nvPr>
        </p:nvSpPr>
        <p:spPr>
          <a:xfrm>
            <a:off x="533400" y="1371600"/>
            <a:ext cx="7851648" cy="1828800"/>
          </a:xfrm>
          <a:prstGeom prst="rect">
            <a:avLst/>
          </a:prstGeom>
          <a:noFill/>
          <a:ln>
            <a:noFill/>
          </a:ln>
        </p:spPr>
        <p:txBody>
          <a:bodyPr spcFirstLastPara="1" wrap="square" lIns="0" tIns="0" rIns="18275" bIns="0" anchor="b" anchorCtr="0">
            <a:noAutofit/>
          </a:bodyPr>
          <a:lstStyle/>
          <a:p>
            <a:pPr marL="0" lvl="0" indent="0" algn="ctr" rtl="0">
              <a:spcBef>
                <a:spcPts val="0"/>
              </a:spcBef>
              <a:spcAft>
                <a:spcPts val="0"/>
              </a:spcAft>
              <a:buClr>
                <a:srgbClr val="4CE0EA"/>
              </a:buClr>
              <a:buSzPts val="5400"/>
              <a:buFont typeface="Calibri"/>
              <a:buNone/>
            </a:pPr>
            <a:r>
              <a:rPr lang="en-US" sz="5400"/>
              <a:t>Chapter 2</a:t>
            </a:r>
            <a:br>
              <a:rPr lang="en-US" sz="5400"/>
            </a:br>
            <a:r>
              <a:rPr lang="en-US" sz="5400"/>
              <a:t>System Simulation</a:t>
            </a:r>
            <a:br>
              <a:rPr lang="en-US" sz="5400"/>
            </a:br>
            <a:r>
              <a:rPr lang="en-US" sz="5400"/>
              <a:t>Chapter 3</a:t>
            </a:r>
            <a:br>
              <a:rPr lang="en-US" sz="5400"/>
            </a:br>
            <a:r>
              <a:rPr lang="en-US" sz="5400"/>
              <a:t>Continuous System</a:t>
            </a:r>
            <a:endParaRPr sz="5400"/>
          </a:p>
        </p:txBody>
      </p:sp>
      <p:sp>
        <p:nvSpPr>
          <p:cNvPr id="115" name="Google Shape;115;p1"/>
          <p:cNvSpPr txBox="1">
            <a:spLocks noGrp="1"/>
          </p:cNvSpPr>
          <p:nvPr>
            <p:ph type="subTitle" idx="1"/>
          </p:nvPr>
        </p:nvSpPr>
        <p:spPr>
          <a:xfrm>
            <a:off x="533400" y="3228536"/>
            <a:ext cx="7854696" cy="3248464"/>
          </a:xfrm>
          <a:prstGeom prst="rect">
            <a:avLst/>
          </a:prstGeom>
          <a:noFill/>
          <a:ln>
            <a:noFill/>
          </a:ln>
        </p:spPr>
        <p:txBody>
          <a:bodyPr spcFirstLastPara="1" wrap="square" lIns="0" tIns="45700" rIns="18275" bIns="45700" anchor="t" anchorCtr="0">
            <a:normAutofit/>
          </a:bodyPr>
          <a:lstStyle/>
          <a:p>
            <a:pPr marL="0" marR="45720" lvl="0" indent="0" algn="r" rtl="0">
              <a:spcBef>
                <a:spcPts val="0"/>
              </a:spcBef>
              <a:spcAft>
                <a:spcPts val="0"/>
              </a:spcAft>
              <a:buSzPts val="2470"/>
              <a:buNone/>
            </a:pPr>
            <a:endParaRPr dirty="0"/>
          </a:p>
          <a:p>
            <a:pPr marL="0" lvl="0" indent="0" algn="ctr" rtl="0">
              <a:spcBef>
                <a:spcPts val="640"/>
              </a:spcBef>
              <a:spcAft>
                <a:spcPts val="0"/>
              </a:spcAft>
              <a:buSzPts val="3040"/>
              <a:buNone/>
            </a:pPr>
            <a:r>
              <a:rPr lang="en-US" sz="3200" b="1" dirty="0"/>
              <a:t>Prepared By:</a:t>
            </a:r>
            <a:endParaRPr dirty="0"/>
          </a:p>
          <a:p>
            <a:pPr marL="0" lvl="0" indent="0" algn="ctr" rtl="0">
              <a:spcBef>
                <a:spcPts val="520"/>
              </a:spcBef>
              <a:spcAft>
                <a:spcPts val="0"/>
              </a:spcAft>
              <a:buSzPts val="2470"/>
              <a:buNone/>
            </a:pPr>
            <a:r>
              <a:rPr lang="en-US" smtClean="0"/>
              <a:t>Department </a:t>
            </a:r>
            <a:r>
              <a:rPr lang="en-US" dirty="0"/>
              <a:t>of Computer Science and Engineering</a:t>
            </a:r>
            <a:endParaRPr dirty="0"/>
          </a:p>
          <a:p>
            <a:pPr marL="0" lvl="0" indent="0" algn="ctr" rtl="0">
              <a:spcBef>
                <a:spcPts val="520"/>
              </a:spcBef>
              <a:spcAft>
                <a:spcPts val="0"/>
              </a:spcAft>
              <a:buSzPts val="2470"/>
              <a:buNone/>
            </a:pPr>
            <a:r>
              <a:rPr lang="en-US" dirty="0"/>
              <a:t>Nepal Engineering College</a:t>
            </a:r>
            <a:endParaRPr dirty="0"/>
          </a:p>
          <a:p>
            <a:pPr marL="0" lvl="0" indent="0" algn="ctr" rtl="0">
              <a:spcBef>
                <a:spcPts val="520"/>
              </a:spcBef>
              <a:spcAft>
                <a:spcPts val="0"/>
              </a:spcAft>
              <a:buSzPts val="2470"/>
              <a:buNone/>
            </a:pP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System Simulation</a:t>
            </a:r>
            <a:endParaRPr/>
          </a:p>
        </p:txBody>
      </p:sp>
      <p:sp>
        <p:nvSpPr>
          <p:cNvPr id="121" name="Google Shape;121;p2"/>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US"/>
              <a:t>It is defined as the technique of solving problems by the observations of performance over time of a dynamic model of system. </a:t>
            </a:r>
            <a:endParaRPr/>
          </a:p>
          <a:p>
            <a:pPr marL="274320" lvl="0" indent="-274320" algn="l" rtl="0">
              <a:spcBef>
                <a:spcPts val="520"/>
              </a:spcBef>
              <a:spcAft>
                <a:spcPts val="0"/>
              </a:spcAft>
              <a:buSzPts val="2470"/>
              <a:buChar char="⚫"/>
            </a:pPr>
            <a:r>
              <a:rPr lang="en-US"/>
              <a:t>This definition includes the use of dynamic physical models where the results are derived from physical measurements rather than numerical computations.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3"/>
          <p:cNvSpPr txBox="1">
            <a:spLocks noGrp="1"/>
          </p:cNvSpPr>
          <p:nvPr>
            <p:ph type="title"/>
          </p:nvPr>
        </p:nvSpPr>
        <p:spPr>
          <a:xfrm>
            <a:off x="457200" y="381000"/>
            <a:ext cx="8229600" cy="8382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Monte Carlo Method</a:t>
            </a:r>
            <a:endParaRPr/>
          </a:p>
        </p:txBody>
      </p:sp>
      <p:sp>
        <p:nvSpPr>
          <p:cNvPr id="127" name="Google Shape;127;p3"/>
          <p:cNvSpPr txBox="1">
            <a:spLocks noGrp="1"/>
          </p:cNvSpPr>
          <p:nvPr>
            <p:ph type="body" idx="1"/>
          </p:nvPr>
        </p:nvSpPr>
        <p:spPr>
          <a:xfrm>
            <a:off x="457200" y="1371600"/>
            <a:ext cx="8229600" cy="4953000"/>
          </a:xfrm>
          <a:prstGeom prst="rect">
            <a:avLst/>
          </a:prstGeom>
          <a:noFill/>
          <a:ln>
            <a:noFill/>
          </a:ln>
        </p:spPr>
        <p:txBody>
          <a:bodyPr spcFirstLastPara="1" wrap="square" lIns="91425" tIns="45700" rIns="91425" bIns="45700" anchor="t" anchorCtr="0">
            <a:normAutofit fontScale="85000" lnSpcReduction="20000"/>
          </a:bodyPr>
          <a:lstStyle/>
          <a:p>
            <a:pPr marL="274320" lvl="0" indent="-274320" algn="l" rtl="0">
              <a:spcBef>
                <a:spcPts val="0"/>
              </a:spcBef>
              <a:spcAft>
                <a:spcPts val="0"/>
              </a:spcAft>
              <a:buSzPct val="95000"/>
              <a:buChar char="⚫"/>
            </a:pPr>
            <a:r>
              <a:rPr lang="en-US"/>
              <a:t>The Monte Carlo method is a numerical computational method which consists of experimental sampling with random number.</a:t>
            </a:r>
            <a:endParaRPr/>
          </a:p>
          <a:p>
            <a:pPr marL="274320" lvl="0" indent="-274320" algn="l" rtl="0">
              <a:spcBef>
                <a:spcPts val="442"/>
              </a:spcBef>
              <a:spcAft>
                <a:spcPts val="0"/>
              </a:spcAft>
              <a:buSzPct val="95000"/>
              <a:buChar char="⚫"/>
            </a:pPr>
            <a:r>
              <a:rPr lang="en-US"/>
              <a:t>For example, the integral of a single variable over a given range corresponds to finding the area under the graph representing the function. Suppose the function f(x0) is positive and has lower and upper bound a and b respectively and the function is bounded above by the value c. The graph of the function is then contained within a rectangle with sides of length (b-c) and c. </a:t>
            </a:r>
            <a:endParaRPr/>
          </a:p>
          <a:p>
            <a:pPr marL="274320" lvl="0" indent="-274320" algn="l" rtl="0">
              <a:spcBef>
                <a:spcPts val="442"/>
              </a:spcBef>
              <a:spcAft>
                <a:spcPts val="0"/>
              </a:spcAft>
              <a:buSzPct val="95000"/>
              <a:buChar char="⚫"/>
            </a:pPr>
            <a:r>
              <a:rPr lang="en-US"/>
              <a:t>If we are pick points at random within the rectangle and determined whether they lie beneath the curve or not, it is apparent that, providing the distribution of selected points is uniformly spread over the rectangle, the fraction of points falling on or below the curve should be approximately the ratio of the area under the curve to the area of the rectangle.</a:t>
            </a:r>
            <a:endParaRPr/>
          </a:p>
          <a:p>
            <a:pPr marL="274320" lvl="0" indent="-274320" algn="l" rtl="0">
              <a:spcBef>
                <a:spcPts val="442"/>
              </a:spcBef>
              <a:spcAft>
                <a:spcPts val="0"/>
              </a:spcAft>
              <a:buSzPct val="95000"/>
              <a:buChar char="⚫"/>
            </a:pPr>
            <a:r>
              <a:rPr lang="en-US"/>
              <a:t>If ‘N’ points are used and ‘n’ of them fall under the curve, then approximately</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4"/>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endParaRPr/>
          </a:p>
        </p:txBody>
      </p:sp>
      <p:pic>
        <p:nvPicPr>
          <p:cNvPr id="133" name="Google Shape;133;p4" descr="monte.PNG"/>
          <p:cNvPicPr preferRelativeResize="0">
            <a:picLocks noGrp="1"/>
          </p:cNvPicPr>
          <p:nvPr>
            <p:ph type="body" idx="1"/>
          </p:nvPr>
        </p:nvPicPr>
        <p:blipFill rotWithShape="1">
          <a:blip r:embed="rId3">
            <a:alphaModFix/>
          </a:blip>
          <a:srcRect/>
          <a:stretch/>
        </p:blipFill>
        <p:spPr>
          <a:xfrm>
            <a:off x="762000" y="3131661"/>
            <a:ext cx="6096000" cy="3726339"/>
          </a:xfrm>
          <a:prstGeom prst="rect">
            <a:avLst/>
          </a:prstGeom>
          <a:noFill/>
          <a:ln>
            <a:noFill/>
          </a:ln>
        </p:spPr>
      </p:pic>
      <p:pic>
        <p:nvPicPr>
          <p:cNvPr id="134" name="Google Shape;134;p4" descr="monte1.PNG"/>
          <p:cNvPicPr preferRelativeResize="0"/>
          <p:nvPr/>
        </p:nvPicPr>
        <p:blipFill rotWithShape="1">
          <a:blip r:embed="rId4">
            <a:alphaModFix/>
          </a:blip>
          <a:srcRect/>
          <a:stretch/>
        </p:blipFill>
        <p:spPr>
          <a:xfrm>
            <a:off x="1066800" y="1096298"/>
            <a:ext cx="4191000" cy="175751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5"/>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endParaRPr/>
          </a:p>
        </p:txBody>
      </p:sp>
      <p:sp>
        <p:nvSpPr>
          <p:cNvPr id="140" name="Google Shape;140;p5"/>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US"/>
              <a:t>The accuracy improves as the number N increases. When it is decided that sufficient points have been taken, the value of integral is estimated by multiplying n with N by the area of rectangle i.e.)c(b-a).</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6"/>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Computational Technique</a:t>
            </a:r>
            <a:endParaRPr/>
          </a:p>
        </p:txBody>
      </p:sp>
      <p:sp>
        <p:nvSpPr>
          <p:cNvPr id="146" name="Google Shape;146;p6"/>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US"/>
              <a:t>For each point, a value of ‘x’ is selected at random between a and b, say x0.</a:t>
            </a:r>
            <a:endParaRPr/>
          </a:p>
          <a:p>
            <a:pPr marL="274320" lvl="0" indent="-274320" algn="l" rtl="0">
              <a:spcBef>
                <a:spcPts val="520"/>
              </a:spcBef>
              <a:spcAft>
                <a:spcPts val="0"/>
              </a:spcAft>
              <a:buSzPts val="2470"/>
              <a:buChar char="⚫"/>
            </a:pPr>
            <a:r>
              <a:rPr lang="en-US"/>
              <a:t> A second random selection is made between 0 and c to give Y. If Y0 is &lt;=f(x0), the point is accepted in the count ‘n’, otherwise it is rejected and the next point is picked. </a:t>
            </a:r>
            <a:endParaRPr/>
          </a:p>
          <a:p>
            <a:pPr marL="274320" lvl="0" indent="-274320" algn="l" rtl="0">
              <a:spcBef>
                <a:spcPts val="520"/>
              </a:spcBef>
              <a:spcAft>
                <a:spcPts val="0"/>
              </a:spcAft>
              <a:buSzPts val="2470"/>
              <a:buChar char="⚫"/>
            </a:pPr>
            <a:r>
              <a:rPr lang="en-US"/>
              <a:t>This method often based on integral of many variables by using a random number for each of the variables.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7"/>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endParaRPr/>
          </a:p>
        </p:txBody>
      </p:sp>
      <p:sp>
        <p:nvSpPr>
          <p:cNvPr id="152" name="Google Shape;152;p7"/>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US"/>
              <a:t>Monte Carlo application are sometimes classified as being simulation.</a:t>
            </a:r>
            <a:endParaRPr/>
          </a:p>
          <a:p>
            <a:pPr marL="274320" lvl="0" indent="-274320" algn="l" rtl="0">
              <a:spcBef>
                <a:spcPts val="520"/>
              </a:spcBef>
              <a:spcAft>
                <a:spcPts val="0"/>
              </a:spcAft>
              <a:buSzPts val="2470"/>
              <a:buChar char="⚫"/>
            </a:pPr>
            <a:r>
              <a:rPr lang="en-US"/>
              <a:t> Simulation and Monte Carlo method are both numerical computational technique but the difference is that simulation applies to dynamic model whereas MonteCarlo technique applied to static model.</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g2cd16a2dbf6_0_0"/>
          <p:cNvSpPr txBox="1">
            <a:spLocks noGrp="1"/>
          </p:cNvSpPr>
          <p:nvPr>
            <p:ph type="title"/>
          </p:nvPr>
        </p:nvSpPr>
        <p:spPr>
          <a:xfrm>
            <a:off x="457200" y="-171441"/>
            <a:ext cx="8229600" cy="2018400"/>
          </a:xfrm>
          <a:prstGeom prst="rect">
            <a:avLst/>
          </a:prstGeom>
          <a:ln w="9525" cap="flat" cmpd="sng">
            <a:solidFill>
              <a:srgbClr val="000000"/>
            </a:solidFill>
            <a:prstDash val="solid"/>
            <a:round/>
            <a:headEnd type="none" w="sm" len="sm"/>
            <a:tailEnd type="none" w="sm" len="sm"/>
          </a:ln>
        </p:spPr>
        <p:txBody>
          <a:bodyPr spcFirstLastPara="1" wrap="square" lIns="0" tIns="45700" rIns="0" bIns="0" anchor="b" anchorCtr="0">
            <a:normAutofit fontScale="90000"/>
          </a:bodyPr>
          <a:lstStyle/>
          <a:p>
            <a:pPr marL="0" lvl="0" indent="0" algn="l" rtl="0">
              <a:spcBef>
                <a:spcPts val="0"/>
              </a:spcBef>
              <a:spcAft>
                <a:spcPts val="0"/>
              </a:spcAft>
              <a:buNone/>
            </a:pPr>
            <a:r>
              <a:rPr lang="en-US"/>
              <a:t>Estimating the value of pi using Monte Carlo method. Also calculate the error percentage.</a:t>
            </a:r>
            <a:endParaRPr/>
          </a:p>
        </p:txBody>
      </p:sp>
      <p:sp>
        <p:nvSpPr>
          <p:cNvPr id="159" name="Google Shape;159;g2cd16a2dbf6_0_0"/>
          <p:cNvSpPr txBox="1">
            <a:spLocks noGrp="1"/>
          </p:cNvSpPr>
          <p:nvPr>
            <p:ph type="body" idx="1"/>
          </p:nvPr>
        </p:nvSpPr>
        <p:spPr>
          <a:xfrm>
            <a:off x="457200" y="1935475"/>
            <a:ext cx="8229600" cy="4770000"/>
          </a:xfrm>
          <a:prstGeom prst="rect">
            <a:avLst/>
          </a:prstGeom>
        </p:spPr>
        <p:txBody>
          <a:bodyPr spcFirstLastPara="1" wrap="square" lIns="91425" tIns="45700" rIns="91425" bIns="45700" anchor="t" anchorCtr="0">
            <a:normAutofit fontScale="92500" lnSpcReduction="20000"/>
          </a:bodyPr>
          <a:lstStyle/>
          <a:p>
            <a:pPr marL="0" lvl="0" indent="0" algn="l" rtl="0">
              <a:spcBef>
                <a:spcPts val="0"/>
              </a:spcBef>
              <a:spcAft>
                <a:spcPts val="0"/>
              </a:spcAft>
              <a:buNone/>
            </a:pPr>
            <a:r>
              <a:rPr lang="en-US"/>
              <a:t>Solution:</a:t>
            </a:r>
            <a:endParaRPr/>
          </a:p>
          <a:p>
            <a:pPr marL="0" lvl="0" indent="0" algn="l" rtl="0">
              <a:spcBef>
                <a:spcPts val="0"/>
              </a:spcBef>
              <a:spcAft>
                <a:spcPts val="0"/>
              </a:spcAft>
              <a:buNone/>
            </a:pPr>
            <a:r>
              <a:rPr lang="en-US"/>
              <a:t>According to Monte Carlo method,</a:t>
            </a:r>
            <a:endParaRPr/>
          </a:p>
          <a:p>
            <a:pPr marL="0" lvl="0" indent="0" algn="l" rtl="0">
              <a:spcBef>
                <a:spcPts val="0"/>
              </a:spcBef>
              <a:spcAft>
                <a:spcPts val="0"/>
              </a:spcAft>
              <a:buNone/>
            </a:pPr>
            <a:r>
              <a:rPr lang="en-US"/>
              <a:t>n/N=area of curve/area of rectagle enclosing the curve,</a:t>
            </a:r>
            <a:endParaRPr/>
          </a:p>
          <a:p>
            <a:pPr marL="0" lvl="0" indent="0" algn="l" rtl="0">
              <a:spcBef>
                <a:spcPts val="0"/>
              </a:spcBef>
              <a:spcAft>
                <a:spcPts val="0"/>
              </a:spcAft>
              <a:buNone/>
            </a:pPr>
            <a:endParaRPr/>
          </a:p>
          <a:p>
            <a:pPr marL="0" lvl="0" indent="0" algn="l" rtl="0">
              <a:spcBef>
                <a:spcPts val="0"/>
              </a:spcBef>
              <a:spcAft>
                <a:spcPts val="0"/>
              </a:spcAft>
              <a:buNone/>
            </a:pPr>
            <a:r>
              <a:rPr lang="en-US"/>
              <a:t>where n is the number of points inside the curve and N is the total number ofnpoints taken into consideration.</a:t>
            </a:r>
            <a:endParaRPr/>
          </a:p>
          <a:p>
            <a:pPr marL="0" lvl="0" indent="0" algn="l" rtl="0">
              <a:spcBef>
                <a:spcPts val="0"/>
              </a:spcBef>
              <a:spcAft>
                <a:spcPts val="0"/>
              </a:spcAft>
              <a:buNone/>
            </a:pPr>
            <a:r>
              <a:rPr lang="en-US"/>
              <a:t>points taken </a:t>
            </a:r>
            <a:endParaRPr/>
          </a:p>
          <a:p>
            <a:pPr marL="0" lvl="0" indent="0" algn="l" rtl="0">
              <a:spcBef>
                <a:spcPts val="0"/>
              </a:spcBef>
              <a:spcAft>
                <a:spcPts val="0"/>
              </a:spcAft>
              <a:buNone/>
            </a:pPr>
            <a:endParaRPr/>
          </a:p>
          <a:p>
            <a:pPr marL="0" lvl="0" indent="0" algn="l" rtl="0">
              <a:spcBef>
                <a:spcPts val="0"/>
              </a:spcBef>
              <a:spcAft>
                <a:spcPts val="0"/>
              </a:spcAft>
              <a:buNone/>
            </a:pPr>
            <a:r>
              <a:rPr lang="en-US"/>
              <a:t>ie </a:t>
            </a:r>
            <a:endParaRPr/>
          </a:p>
          <a:p>
            <a:pPr marL="0" lvl="0" indent="0" algn="l" rtl="0">
              <a:spcBef>
                <a:spcPts val="0"/>
              </a:spcBef>
              <a:spcAft>
                <a:spcPts val="0"/>
              </a:spcAft>
              <a:buNone/>
            </a:pPr>
            <a:endParaRPr/>
          </a:p>
          <a:p>
            <a:pPr marL="0" lvl="0" indent="0" algn="l" rtl="0">
              <a:spcBef>
                <a:spcPts val="0"/>
              </a:spcBef>
              <a:spcAft>
                <a:spcPts val="0"/>
              </a:spcAft>
              <a:buNone/>
            </a:pPr>
            <a:r>
              <a:rPr lang="en-US"/>
              <a:t>n/N=pi*r*r/4*r*r</a:t>
            </a:r>
            <a:endParaRPr/>
          </a:p>
          <a:p>
            <a:pPr marL="0" lvl="0" indent="0" algn="l" rtl="0">
              <a:spcBef>
                <a:spcPts val="0"/>
              </a:spcBef>
              <a:spcAft>
                <a:spcPts val="0"/>
              </a:spcAft>
              <a:buNone/>
            </a:pPr>
            <a:endParaRPr/>
          </a:p>
          <a:p>
            <a:pPr marL="0" lvl="0" indent="0" algn="l" rtl="0">
              <a:spcBef>
                <a:spcPts val="0"/>
              </a:spcBef>
              <a:spcAft>
                <a:spcPts val="0"/>
              </a:spcAft>
              <a:buNone/>
            </a:pPr>
            <a:r>
              <a:rPr lang="en-US"/>
              <a:t>Let us consider the radius of circle be 5 unit.</a:t>
            </a:r>
            <a:endParaRPr/>
          </a:p>
          <a:p>
            <a:pPr marL="0" lvl="0" indent="0" algn="l" rtl="0">
              <a:spcBef>
                <a:spcPts val="0"/>
              </a:spcBef>
              <a:spcAft>
                <a:spcPts val="0"/>
              </a:spcAft>
              <a:buNone/>
            </a:pPr>
            <a:r>
              <a:rPr lang="en-US"/>
              <a:t>n/N=pi/4</a:t>
            </a:r>
            <a:endParaRPr/>
          </a:p>
          <a:p>
            <a:pPr marL="0" lvl="0" indent="0" algn="l" rtl="0">
              <a:spcBef>
                <a:spcPts val="0"/>
              </a:spcBef>
              <a:spcAft>
                <a:spcPts val="0"/>
              </a:spcAft>
              <a:buNone/>
            </a:pPr>
            <a:r>
              <a:rPr lang="en-US"/>
              <a:t>pi=4n/N</a:t>
            </a:r>
            <a:endParaRPr/>
          </a:p>
          <a:p>
            <a:pPr marL="0" lvl="0" indent="0" algn="l" rtl="0">
              <a:spcBef>
                <a:spcPts val="360"/>
              </a:spcBef>
              <a:spcAft>
                <a:spcPts val="0"/>
              </a:spcAft>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g2cd16a2dbf6_0_8"/>
          <p:cNvSpPr txBox="1">
            <a:spLocks noGrp="1"/>
          </p:cNvSpPr>
          <p:nvPr>
            <p:ph type="title"/>
          </p:nvPr>
        </p:nvSpPr>
        <p:spPr>
          <a:xfrm>
            <a:off x="457200" y="7"/>
            <a:ext cx="8229600" cy="1847100"/>
          </a:xfrm>
          <a:prstGeom prst="rect">
            <a:avLst/>
          </a:prstGeom>
        </p:spPr>
        <p:txBody>
          <a:bodyPr spcFirstLastPara="1" wrap="square" lIns="0" tIns="45700" rIns="0" bIns="0" anchor="b" anchorCtr="0">
            <a:normAutofit/>
          </a:bodyPr>
          <a:lstStyle/>
          <a:p>
            <a:pPr marL="0" lvl="0" indent="0" algn="l" rtl="0">
              <a:spcBef>
                <a:spcPts val="0"/>
              </a:spcBef>
              <a:spcAft>
                <a:spcPts val="0"/>
              </a:spcAft>
              <a:buClr>
                <a:schemeClr val="dk1"/>
              </a:buClr>
              <a:buSzPts val="1100"/>
              <a:buFont typeface="Arial"/>
              <a:buNone/>
            </a:pPr>
            <a:endParaRPr/>
          </a:p>
        </p:txBody>
      </p:sp>
      <p:sp>
        <p:nvSpPr>
          <p:cNvPr id="166" name="Google Shape;166;g2cd16a2dbf6_0_8"/>
          <p:cNvSpPr txBox="1">
            <a:spLocks noGrp="1"/>
          </p:cNvSpPr>
          <p:nvPr>
            <p:ph type="body" idx="1"/>
          </p:nvPr>
        </p:nvSpPr>
        <p:spPr>
          <a:xfrm>
            <a:off x="247650" y="264625"/>
            <a:ext cx="8705700" cy="6326400"/>
          </a:xfrm>
          <a:prstGeom prst="rect">
            <a:avLst/>
          </a:prstGeom>
        </p:spPr>
        <p:txBody>
          <a:bodyPr spcFirstLastPara="1" wrap="square" lIns="91425" tIns="45700" rIns="91425" bIns="45700" anchor="t" anchorCtr="0">
            <a:normAutofit fontScale="62500" lnSpcReduction="20000"/>
          </a:bodyPr>
          <a:lstStyle/>
          <a:p>
            <a:pPr marL="0" lvl="0" indent="0" algn="r" rtl="0">
              <a:lnSpc>
                <a:spcPct val="115000"/>
              </a:lnSpc>
              <a:spcBef>
                <a:spcPts val="0"/>
              </a:spcBef>
              <a:spcAft>
                <a:spcPts val="0"/>
              </a:spcAft>
              <a:buNone/>
            </a:pPr>
            <a:r>
              <a:rPr lang="en-US"/>
              <a:t>25</a:t>
            </a:r>
            <a:endParaRPr/>
          </a:p>
          <a:p>
            <a:pPr marL="0" lvl="0" indent="0" algn="l" rtl="0">
              <a:spcBef>
                <a:spcPts val="360"/>
              </a:spcBef>
              <a:spcAft>
                <a:spcPts val="0"/>
              </a:spcAft>
              <a:buNone/>
            </a:pPr>
            <a:endParaRPr/>
          </a:p>
          <a:p>
            <a:pPr marL="0" lvl="0" indent="0" algn="l" rtl="0">
              <a:spcBef>
                <a:spcPts val="360"/>
              </a:spcBef>
              <a:spcAft>
                <a:spcPts val="0"/>
              </a:spcAft>
              <a:buNone/>
            </a:pPr>
            <a:r>
              <a:rPr lang="en-US"/>
              <a:t>S.No.	Xr(1-5)	Yr (1-5)	D	d=√D	d&lt;=5</a:t>
            </a:r>
            <a:endParaRPr/>
          </a:p>
          <a:p>
            <a:pPr marL="0" lvl="0" indent="0" algn="l" rtl="0">
              <a:spcBef>
                <a:spcPts val="360"/>
              </a:spcBef>
              <a:spcAft>
                <a:spcPts val="0"/>
              </a:spcAft>
              <a:buNone/>
            </a:pPr>
            <a:r>
              <a:rPr lang="en-US"/>
              <a:t>1		5		1		26	5.10		0</a:t>
            </a:r>
            <a:endParaRPr/>
          </a:p>
          <a:p>
            <a:pPr marL="0" lvl="0" indent="0" algn="l" rtl="0">
              <a:spcBef>
                <a:spcPts val="360"/>
              </a:spcBef>
              <a:spcAft>
                <a:spcPts val="0"/>
              </a:spcAft>
              <a:buNone/>
            </a:pPr>
            <a:r>
              <a:rPr lang="en-US"/>
              <a:t>2		2		4		20	4.47		1</a:t>
            </a:r>
            <a:endParaRPr/>
          </a:p>
          <a:p>
            <a:pPr marL="0" lvl="0" indent="0" algn="l" rtl="0">
              <a:spcBef>
                <a:spcPts val="360"/>
              </a:spcBef>
              <a:spcAft>
                <a:spcPts val="0"/>
              </a:spcAft>
              <a:buNone/>
            </a:pPr>
            <a:r>
              <a:rPr lang="en-US"/>
              <a:t>3		3		4		25	5.00		1</a:t>
            </a:r>
            <a:endParaRPr/>
          </a:p>
          <a:p>
            <a:pPr marL="0" lvl="0" indent="0" algn="l" rtl="0">
              <a:spcBef>
                <a:spcPts val="360"/>
              </a:spcBef>
              <a:spcAft>
                <a:spcPts val="0"/>
              </a:spcAft>
              <a:buNone/>
            </a:pPr>
            <a:r>
              <a:rPr lang="en-US"/>
              <a:t>4		1		1		2	1.41		1</a:t>
            </a:r>
            <a:endParaRPr/>
          </a:p>
          <a:p>
            <a:pPr marL="0" lvl="0" indent="0" algn="l" rtl="0">
              <a:spcBef>
                <a:spcPts val="360"/>
              </a:spcBef>
              <a:spcAft>
                <a:spcPts val="0"/>
              </a:spcAft>
              <a:buNone/>
            </a:pPr>
            <a:r>
              <a:rPr lang="en-US"/>
              <a:t>5		1		4		17	4.12		1</a:t>
            </a:r>
            <a:endParaRPr/>
          </a:p>
          <a:p>
            <a:pPr marL="0" lvl="0" indent="0" algn="l" rtl="0">
              <a:spcBef>
                <a:spcPts val="360"/>
              </a:spcBef>
              <a:spcAft>
                <a:spcPts val="0"/>
              </a:spcAft>
              <a:buNone/>
            </a:pPr>
            <a:r>
              <a:rPr lang="en-US"/>
              <a:t>6		4		1		17	4.12		1</a:t>
            </a:r>
            <a:endParaRPr/>
          </a:p>
          <a:p>
            <a:pPr marL="0" lvl="0" indent="0" algn="l" rtl="0">
              <a:spcBef>
                <a:spcPts val="360"/>
              </a:spcBef>
              <a:spcAft>
                <a:spcPts val="0"/>
              </a:spcAft>
              <a:buNone/>
            </a:pPr>
            <a:r>
              <a:rPr lang="en-US"/>
              <a:t>7		1		4		17	4.12		1                       </a:t>
            </a:r>
            <a:endParaRPr/>
          </a:p>
          <a:p>
            <a:pPr marL="0" lvl="0" indent="0" algn="l" rtl="0">
              <a:spcBef>
                <a:spcPts val="0"/>
              </a:spcBef>
              <a:spcAft>
                <a:spcPts val="0"/>
              </a:spcAft>
              <a:buNone/>
            </a:pPr>
            <a:endParaRPr/>
          </a:p>
          <a:p>
            <a:pPr marL="0" lvl="0" indent="0" algn="l" rtl="0">
              <a:spcBef>
                <a:spcPts val="360"/>
              </a:spcBef>
              <a:spcAft>
                <a:spcPts val="0"/>
              </a:spcAft>
              <a:buNone/>
            </a:pPr>
            <a:r>
              <a:rPr lang="en-US"/>
              <a:t>8		5		4		41	6.40		0</a:t>
            </a:r>
            <a:endParaRPr/>
          </a:p>
          <a:p>
            <a:pPr marL="0" lvl="0" indent="0" algn="l" rtl="0">
              <a:spcBef>
                <a:spcPts val="360"/>
              </a:spcBef>
              <a:spcAft>
                <a:spcPts val="0"/>
              </a:spcAft>
              <a:buNone/>
            </a:pPr>
            <a:r>
              <a:rPr lang="en-US"/>
              <a:t>9		2		1		5	2.24		1</a:t>
            </a:r>
            <a:endParaRPr/>
          </a:p>
          <a:p>
            <a:pPr marL="0" lvl="0" indent="0" algn="l" rtl="0">
              <a:spcBef>
                <a:spcPts val="360"/>
              </a:spcBef>
              <a:spcAft>
                <a:spcPts val="0"/>
              </a:spcAft>
              <a:buNone/>
            </a:pPr>
            <a:r>
              <a:rPr lang="en-US"/>
              <a:t>10		4		1		17	4.12		1</a:t>
            </a:r>
            <a:endParaRPr/>
          </a:p>
          <a:p>
            <a:pPr marL="0" lvl="0" indent="0" algn="l" rtl="0">
              <a:spcBef>
                <a:spcPts val="360"/>
              </a:spcBef>
              <a:spcAft>
                <a:spcPts val="0"/>
              </a:spcAft>
              <a:buNone/>
            </a:pPr>
            <a:r>
              <a:rPr lang="en-US"/>
              <a:t>11		2		2		8	2.83		0</a:t>
            </a:r>
            <a:endParaRPr/>
          </a:p>
          <a:p>
            <a:pPr marL="0" lvl="0" indent="0" algn="l" rtl="0">
              <a:spcBef>
                <a:spcPts val="360"/>
              </a:spcBef>
              <a:spcAft>
                <a:spcPts val="0"/>
              </a:spcAft>
              <a:buNone/>
            </a:pPr>
            <a:r>
              <a:rPr lang="en-US"/>
              <a:t>12		4		5		41	6.40		0</a:t>
            </a:r>
            <a:endParaRPr/>
          </a:p>
          <a:p>
            <a:pPr marL="0" lvl="0" indent="0" algn="l" rtl="0">
              <a:spcBef>
                <a:spcPts val="360"/>
              </a:spcBef>
              <a:spcAft>
                <a:spcPts val="0"/>
              </a:spcAft>
              <a:buNone/>
            </a:pPr>
            <a:r>
              <a:rPr lang="en-US"/>
              <a:t>13		3		2		13	3.61		1</a:t>
            </a:r>
            <a:endParaRPr/>
          </a:p>
          <a:p>
            <a:pPr marL="0" lvl="0" indent="0" algn="l" rtl="0">
              <a:spcBef>
                <a:spcPts val="360"/>
              </a:spcBef>
              <a:spcAft>
                <a:spcPts val="0"/>
              </a:spcAft>
              <a:buNone/>
            </a:pPr>
            <a:r>
              <a:rPr lang="en-US"/>
              <a:t>14		2		5		29	5.39		0</a:t>
            </a:r>
            <a:endParaRPr/>
          </a:p>
          <a:p>
            <a:pPr marL="0" lvl="0" indent="0" algn="l" rtl="0">
              <a:spcBef>
                <a:spcPts val="360"/>
              </a:spcBef>
              <a:spcAft>
                <a:spcPts val="0"/>
              </a:spcAft>
              <a:buNone/>
            </a:pPr>
            <a:r>
              <a:rPr lang="en-US"/>
              <a:t>15		4		4		32	5.66		0</a:t>
            </a:r>
            <a:endParaRPr/>
          </a:p>
          <a:p>
            <a:pPr marL="0" lvl="0" indent="0" algn="l" rtl="0">
              <a:spcBef>
                <a:spcPts val="360"/>
              </a:spcBef>
              <a:spcAft>
                <a:spcPts val="0"/>
              </a:spcAft>
              <a:buNone/>
            </a:pPr>
            <a:r>
              <a:rPr lang="en-US"/>
              <a:t>16		3		4		25	5.00		1</a:t>
            </a:r>
            <a:endParaRPr/>
          </a:p>
          <a:p>
            <a:pPr marL="0" lvl="0" indent="0" algn="l" rtl="0">
              <a:spcBef>
                <a:spcPts val="360"/>
              </a:spcBef>
              <a:spcAft>
                <a:spcPts val="0"/>
              </a:spcAft>
              <a:buNone/>
            </a:pPr>
            <a:r>
              <a:rPr lang="en-US"/>
              <a:t>17		3		5		34	5.83		0</a:t>
            </a:r>
            <a:endParaRPr/>
          </a:p>
          <a:p>
            <a:pPr marL="0" lvl="0" indent="0" algn="l" rtl="0">
              <a:spcBef>
                <a:spcPts val="360"/>
              </a:spcBef>
              <a:spcAft>
                <a:spcPts val="0"/>
              </a:spcAft>
              <a:buNone/>
            </a:pPr>
            <a:r>
              <a:rPr lang="en-US"/>
              <a:t>18		4		3		25	5.00		1</a:t>
            </a:r>
            <a:endParaRPr/>
          </a:p>
          <a:p>
            <a:pPr marL="0" lvl="0" indent="0" algn="l" rtl="0">
              <a:spcBef>
                <a:spcPts val="360"/>
              </a:spcBef>
              <a:spcAft>
                <a:spcPts val="0"/>
              </a:spcAft>
              <a:buNone/>
            </a:pPr>
            <a:r>
              <a:rPr lang="en-US"/>
              <a:t>19		1		2		5	2.24		1</a:t>
            </a:r>
            <a:endParaRPr/>
          </a:p>
          <a:p>
            <a:pPr marL="0" lvl="0" indent="0" algn="l" rtl="0">
              <a:spcBef>
                <a:spcPts val="360"/>
              </a:spcBef>
              <a:spcAft>
                <a:spcPts val="0"/>
              </a:spcAft>
              <a:buNone/>
            </a:pPr>
            <a:r>
              <a:rPr lang="en-US"/>
              <a:t>20		1		1		2	1.41		1</a:t>
            </a:r>
            <a:endParaRPr/>
          </a:p>
          <a:p>
            <a:pPr marL="0" lvl="0" indent="0" algn="l" rtl="0">
              <a:spcBef>
                <a:spcPts val="360"/>
              </a:spcBef>
              <a:spcAft>
                <a:spcPts val="0"/>
              </a:spcAft>
              <a:buNone/>
            </a:pPr>
            <a:r>
              <a:rPr lang="en-US"/>
              <a:t>									13</a:t>
            </a:r>
            <a:endParaRPr/>
          </a:p>
          <a:p>
            <a:pPr marL="0" lvl="0" indent="0" algn="l" rtl="0">
              <a:spcBef>
                <a:spcPts val="360"/>
              </a:spcBef>
              <a:spcAft>
                <a:spcPts val="0"/>
              </a:spcAft>
              <a:buNone/>
            </a:pPr>
            <a:endParaRPr/>
          </a:p>
        </p:txBody>
      </p:sp>
      <p:pic>
        <p:nvPicPr>
          <p:cNvPr id="167" name="Google Shape;167;g2cd16a2dbf6_0_8"/>
          <p:cNvPicPr preferRelativeResize="0"/>
          <p:nvPr/>
        </p:nvPicPr>
        <p:blipFill>
          <a:blip r:embed="rId3">
            <a:alphaModFix/>
          </a:blip>
          <a:stretch>
            <a:fillRect/>
          </a:stretch>
        </p:blipFill>
        <p:spPr>
          <a:xfrm>
            <a:off x="4993625" y="1937150"/>
            <a:ext cx="3382600" cy="39505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g2cd0e7b4738_0_6"/>
          <p:cNvSpPr txBox="1">
            <a:spLocks noGrp="1"/>
          </p:cNvSpPr>
          <p:nvPr>
            <p:ph type="title"/>
          </p:nvPr>
        </p:nvSpPr>
        <p:spPr>
          <a:xfrm>
            <a:off x="457200" y="704088"/>
            <a:ext cx="8229600" cy="1143000"/>
          </a:xfrm>
          <a:prstGeom prst="rect">
            <a:avLst/>
          </a:prstGeom>
        </p:spPr>
        <p:txBody>
          <a:bodyPr spcFirstLastPara="1" wrap="square" lIns="0" tIns="45700" rIns="0" bIns="0" anchor="b" anchorCtr="0">
            <a:normAutofit/>
          </a:bodyPr>
          <a:lstStyle/>
          <a:p>
            <a:pPr marL="0" lvl="0" indent="0" algn="l" rtl="0">
              <a:spcBef>
                <a:spcPts val="0"/>
              </a:spcBef>
              <a:spcAft>
                <a:spcPts val="0"/>
              </a:spcAft>
              <a:buNone/>
            </a:pPr>
            <a:endParaRPr/>
          </a:p>
        </p:txBody>
      </p:sp>
      <p:sp>
        <p:nvSpPr>
          <p:cNvPr id="174" name="Google Shape;174;g2cd0e7b4738_0_6"/>
          <p:cNvSpPr txBox="1">
            <a:spLocks noGrp="1"/>
          </p:cNvSpPr>
          <p:nvPr>
            <p:ph type="body" idx="1"/>
          </p:nvPr>
        </p:nvSpPr>
        <p:spPr>
          <a:xfrm>
            <a:off x="457200" y="551275"/>
            <a:ext cx="8229600" cy="6130200"/>
          </a:xfrm>
          <a:prstGeom prst="rect">
            <a:avLst/>
          </a:prstGeom>
        </p:spPr>
        <p:txBody>
          <a:bodyPr spcFirstLastPara="1" wrap="square" lIns="91425" tIns="45700" rIns="91425" bIns="45700" anchor="t" anchorCtr="0">
            <a:normAutofit lnSpcReduction="10000"/>
          </a:bodyPr>
          <a:lstStyle/>
          <a:p>
            <a:pPr marL="0" lvl="0" indent="0" algn="l" rtl="0">
              <a:spcBef>
                <a:spcPts val="360"/>
              </a:spcBef>
              <a:spcAft>
                <a:spcPts val="0"/>
              </a:spcAft>
              <a:buNone/>
            </a:pPr>
            <a:r>
              <a:rPr lang="en-US"/>
              <a:t>Now,</a:t>
            </a:r>
            <a:endParaRPr/>
          </a:p>
          <a:p>
            <a:pPr marL="0" lvl="0" indent="0" algn="l" rtl="0">
              <a:spcBef>
                <a:spcPts val="360"/>
              </a:spcBef>
              <a:spcAft>
                <a:spcPts val="0"/>
              </a:spcAft>
              <a:buNone/>
            </a:pPr>
            <a:r>
              <a:rPr lang="en-US"/>
              <a:t>N=20 and n=13</a:t>
            </a:r>
            <a:endParaRPr/>
          </a:p>
          <a:p>
            <a:pPr marL="0" lvl="0" indent="0" algn="l" rtl="0">
              <a:spcBef>
                <a:spcPts val="360"/>
              </a:spcBef>
              <a:spcAft>
                <a:spcPts val="0"/>
              </a:spcAft>
              <a:buNone/>
            </a:pPr>
            <a:r>
              <a:rPr lang="en-US"/>
              <a:t>According to Monte Carlo method</a:t>
            </a:r>
            <a:endParaRPr/>
          </a:p>
          <a:p>
            <a:pPr marL="0" lvl="0" indent="0" algn="l" rtl="0">
              <a:spcBef>
                <a:spcPts val="360"/>
              </a:spcBef>
              <a:spcAft>
                <a:spcPts val="0"/>
              </a:spcAft>
              <a:buNone/>
            </a:pPr>
            <a:r>
              <a:rPr lang="en-US"/>
              <a:t>pi=4*n/N</a:t>
            </a:r>
            <a:endParaRPr/>
          </a:p>
          <a:p>
            <a:pPr marL="0" lvl="0" indent="0" algn="l" rtl="0">
              <a:spcBef>
                <a:spcPts val="360"/>
              </a:spcBef>
              <a:spcAft>
                <a:spcPts val="0"/>
              </a:spcAft>
              <a:buNone/>
            </a:pPr>
            <a:r>
              <a:rPr lang="en-US"/>
              <a:t>or, pi=4*13/20</a:t>
            </a:r>
            <a:endParaRPr/>
          </a:p>
          <a:p>
            <a:pPr marL="0" lvl="0" indent="0" algn="l" rtl="0">
              <a:spcBef>
                <a:spcPts val="360"/>
              </a:spcBef>
              <a:spcAft>
                <a:spcPts val="0"/>
              </a:spcAft>
              <a:buNone/>
            </a:pPr>
            <a:r>
              <a:rPr lang="en-US"/>
              <a:t>or, pi=52/20</a:t>
            </a:r>
            <a:endParaRPr/>
          </a:p>
          <a:p>
            <a:pPr marL="0" lvl="0" indent="0" algn="l" rtl="0">
              <a:spcBef>
                <a:spcPts val="360"/>
              </a:spcBef>
              <a:spcAft>
                <a:spcPts val="0"/>
              </a:spcAft>
              <a:buNone/>
            </a:pPr>
            <a:r>
              <a:rPr lang="en-US"/>
              <a:t>pi=2.60</a:t>
            </a:r>
            <a:endParaRPr/>
          </a:p>
          <a:p>
            <a:pPr marL="0" lvl="0" indent="0" algn="l" rtl="0">
              <a:spcBef>
                <a:spcPts val="360"/>
              </a:spcBef>
              <a:spcAft>
                <a:spcPts val="0"/>
              </a:spcAft>
              <a:buNone/>
            </a:pPr>
            <a:endParaRPr/>
          </a:p>
          <a:p>
            <a:pPr marL="0" lvl="0" indent="0" algn="l" rtl="0">
              <a:spcBef>
                <a:spcPts val="360"/>
              </a:spcBef>
              <a:spcAft>
                <a:spcPts val="0"/>
              </a:spcAft>
              <a:buNone/>
            </a:pPr>
            <a:r>
              <a:rPr lang="en-US"/>
              <a:t>Now, error percentage (ep) is calculated as</a:t>
            </a:r>
            <a:endParaRPr/>
          </a:p>
          <a:p>
            <a:pPr marL="0" lvl="0" indent="0" algn="l" rtl="0">
              <a:spcBef>
                <a:spcPts val="360"/>
              </a:spcBef>
              <a:spcAft>
                <a:spcPts val="0"/>
              </a:spcAft>
              <a:buNone/>
            </a:pPr>
            <a:r>
              <a:rPr lang="en-US"/>
              <a:t>ep=(3.14.6-2.6)/3.1416*100%</a:t>
            </a:r>
            <a:endParaRPr/>
          </a:p>
          <a:p>
            <a:pPr marL="0" lvl="0" indent="0" algn="l" rtl="0">
              <a:spcBef>
                <a:spcPts val="360"/>
              </a:spcBef>
              <a:spcAft>
                <a:spcPts val="0"/>
              </a:spcAft>
              <a:buNone/>
            </a:pPr>
            <a:r>
              <a:rPr lang="en-US"/>
              <a:t>ep=17.23%</a:t>
            </a:r>
            <a:endParaRPr/>
          </a:p>
          <a:p>
            <a:pPr marL="0" lvl="0" indent="0" algn="l" rtl="0">
              <a:spcBef>
                <a:spcPts val="360"/>
              </a:spcBef>
              <a:spcAft>
                <a:spcPts val="0"/>
              </a:spcAft>
              <a:buNone/>
            </a:pPr>
            <a:r>
              <a:rPr lang="en-US"/>
              <a:t>Therefore, the value of pi estimated by Monte Carlo method is found to be 2.6 which has error percentage of 17.23%.</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g26ee3ae31fa_0_0"/>
          <p:cNvSpPr txBox="1">
            <a:spLocks noGrp="1"/>
          </p:cNvSpPr>
          <p:nvPr>
            <p:ph type="title"/>
          </p:nvPr>
        </p:nvSpPr>
        <p:spPr>
          <a:xfrm rot="10800000" flipH="1">
            <a:off x="457200" y="38102"/>
            <a:ext cx="8229600" cy="138300"/>
          </a:xfrm>
          <a:prstGeom prst="rect">
            <a:avLst/>
          </a:prstGeom>
        </p:spPr>
        <p:txBody>
          <a:bodyPr spcFirstLastPara="1" wrap="square" lIns="0" tIns="45700" rIns="0" bIns="0" anchor="b" anchorCtr="0">
            <a:normAutofit fontScale="90000"/>
          </a:bodyPr>
          <a:lstStyle/>
          <a:p>
            <a:pPr marL="0" lvl="0" indent="0" algn="l" rtl="0">
              <a:spcBef>
                <a:spcPts val="0"/>
              </a:spcBef>
              <a:spcAft>
                <a:spcPts val="0"/>
              </a:spcAft>
              <a:buNone/>
            </a:pPr>
            <a:endParaRPr/>
          </a:p>
        </p:txBody>
      </p:sp>
      <p:sp>
        <p:nvSpPr>
          <p:cNvPr id="181" name="Google Shape;181;g26ee3ae31fa_0_0"/>
          <p:cNvSpPr txBox="1">
            <a:spLocks noGrp="1"/>
          </p:cNvSpPr>
          <p:nvPr>
            <p:ph type="body" idx="1"/>
          </p:nvPr>
        </p:nvSpPr>
        <p:spPr>
          <a:xfrm>
            <a:off x="457200" y="342900"/>
            <a:ext cx="8229600" cy="5981700"/>
          </a:xfrm>
          <a:prstGeom prst="rect">
            <a:avLst/>
          </a:prstGeom>
        </p:spPr>
        <p:txBody>
          <a:bodyPr spcFirstLastPara="1" wrap="square" lIns="91425" tIns="45700" rIns="91425" bIns="45700" anchor="t" anchorCtr="0">
            <a:normAutofit/>
          </a:bodyPr>
          <a:lstStyle/>
          <a:p>
            <a:pPr marL="0" lvl="0" indent="0" algn="l" rtl="0">
              <a:spcBef>
                <a:spcPts val="360"/>
              </a:spcBef>
              <a:spcAft>
                <a:spcPts val="0"/>
              </a:spcAft>
              <a:buNone/>
            </a:pPr>
            <a:endParaRPr/>
          </a:p>
        </p:txBody>
      </p:sp>
      <p:pic>
        <p:nvPicPr>
          <p:cNvPr id="182" name="Google Shape;182;g26ee3ae31fa_0_0"/>
          <p:cNvPicPr preferRelativeResize="0"/>
          <p:nvPr/>
        </p:nvPicPr>
        <p:blipFill>
          <a:blip r:embed="rId3">
            <a:alphaModFix/>
          </a:blip>
          <a:stretch>
            <a:fillRect/>
          </a:stretch>
        </p:blipFill>
        <p:spPr>
          <a:xfrm>
            <a:off x="457198" y="0"/>
            <a:ext cx="8133150" cy="58674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g26ee3ae31fa_0_11"/>
          <p:cNvSpPr txBox="1">
            <a:spLocks noGrp="1"/>
          </p:cNvSpPr>
          <p:nvPr>
            <p:ph type="title"/>
          </p:nvPr>
        </p:nvSpPr>
        <p:spPr>
          <a:xfrm>
            <a:off x="457200" y="704088"/>
            <a:ext cx="8229600" cy="1143000"/>
          </a:xfrm>
          <a:prstGeom prst="rect">
            <a:avLst/>
          </a:prstGeom>
        </p:spPr>
        <p:txBody>
          <a:bodyPr spcFirstLastPara="1" wrap="square" lIns="0" tIns="45700" rIns="0" bIns="0" anchor="b" anchorCtr="0">
            <a:normAutofit/>
          </a:bodyPr>
          <a:lstStyle/>
          <a:p>
            <a:pPr marL="0" lvl="0" indent="0" algn="l" rtl="0">
              <a:spcBef>
                <a:spcPts val="0"/>
              </a:spcBef>
              <a:spcAft>
                <a:spcPts val="0"/>
              </a:spcAft>
              <a:buNone/>
            </a:pPr>
            <a:endParaRPr/>
          </a:p>
        </p:txBody>
      </p:sp>
      <p:sp>
        <p:nvSpPr>
          <p:cNvPr id="189" name="Google Shape;189;g26ee3ae31fa_0_11"/>
          <p:cNvSpPr txBox="1">
            <a:spLocks noGrp="1"/>
          </p:cNvSpPr>
          <p:nvPr>
            <p:ph type="body" idx="1"/>
          </p:nvPr>
        </p:nvSpPr>
        <p:spPr>
          <a:xfrm>
            <a:off x="457200" y="190500"/>
            <a:ext cx="8229600" cy="6458100"/>
          </a:xfrm>
          <a:prstGeom prst="rect">
            <a:avLst/>
          </a:prstGeom>
        </p:spPr>
        <p:txBody>
          <a:bodyPr spcFirstLastPara="1" wrap="square" lIns="91425" tIns="45700" rIns="91425" bIns="45700" anchor="t" anchorCtr="0">
            <a:normAutofit/>
          </a:bodyPr>
          <a:lstStyle/>
          <a:p>
            <a:pPr marL="0" lvl="0" indent="0" algn="l" rtl="0">
              <a:spcBef>
                <a:spcPts val="360"/>
              </a:spcBef>
              <a:spcAft>
                <a:spcPts val="0"/>
              </a:spcAft>
              <a:buNone/>
            </a:pPr>
            <a:endParaRPr/>
          </a:p>
        </p:txBody>
      </p:sp>
      <p:pic>
        <p:nvPicPr>
          <p:cNvPr id="190" name="Google Shape;190;g26ee3ae31fa_0_11"/>
          <p:cNvPicPr preferRelativeResize="0"/>
          <p:nvPr/>
        </p:nvPicPr>
        <p:blipFill>
          <a:blip r:embed="rId3">
            <a:alphaModFix/>
          </a:blip>
          <a:stretch>
            <a:fillRect/>
          </a:stretch>
        </p:blipFill>
        <p:spPr>
          <a:xfrm>
            <a:off x="258024" y="190500"/>
            <a:ext cx="8602733" cy="64581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g26ee3ae31fa_0_17"/>
          <p:cNvSpPr txBox="1">
            <a:spLocks noGrp="1"/>
          </p:cNvSpPr>
          <p:nvPr>
            <p:ph type="title"/>
          </p:nvPr>
        </p:nvSpPr>
        <p:spPr>
          <a:xfrm>
            <a:off x="457200" y="171455"/>
            <a:ext cx="8229600" cy="209400"/>
          </a:xfrm>
          <a:prstGeom prst="rect">
            <a:avLst/>
          </a:prstGeom>
        </p:spPr>
        <p:txBody>
          <a:bodyPr spcFirstLastPara="1" wrap="square" lIns="0" tIns="45700" rIns="0" bIns="0" anchor="b" anchorCtr="0">
            <a:normAutofit fontScale="90000"/>
          </a:bodyPr>
          <a:lstStyle/>
          <a:p>
            <a:pPr marL="0" lvl="0" indent="0" algn="l" rtl="0">
              <a:spcBef>
                <a:spcPts val="0"/>
              </a:spcBef>
              <a:spcAft>
                <a:spcPts val="0"/>
              </a:spcAft>
              <a:buNone/>
            </a:pPr>
            <a:endParaRPr/>
          </a:p>
        </p:txBody>
      </p:sp>
      <p:sp>
        <p:nvSpPr>
          <p:cNvPr id="197" name="Google Shape;197;g26ee3ae31fa_0_17"/>
          <p:cNvSpPr txBox="1">
            <a:spLocks noGrp="1"/>
          </p:cNvSpPr>
          <p:nvPr>
            <p:ph type="body" idx="1"/>
          </p:nvPr>
        </p:nvSpPr>
        <p:spPr>
          <a:xfrm>
            <a:off x="457200" y="380848"/>
            <a:ext cx="8229600" cy="5943600"/>
          </a:xfrm>
          <a:prstGeom prst="rect">
            <a:avLst/>
          </a:prstGeom>
        </p:spPr>
        <p:txBody>
          <a:bodyPr spcFirstLastPara="1" wrap="square" lIns="91425" tIns="45700" rIns="91425" bIns="45700" anchor="t" anchorCtr="0">
            <a:normAutofit/>
          </a:bodyPr>
          <a:lstStyle/>
          <a:p>
            <a:pPr marL="0" lvl="0" indent="0" algn="l" rtl="0">
              <a:spcBef>
                <a:spcPts val="360"/>
              </a:spcBef>
              <a:spcAft>
                <a:spcPts val="0"/>
              </a:spcAft>
              <a:buNone/>
            </a:pPr>
            <a:endParaRPr/>
          </a:p>
        </p:txBody>
      </p:sp>
      <p:pic>
        <p:nvPicPr>
          <p:cNvPr id="198" name="Google Shape;198;g26ee3ae31fa_0_17"/>
          <p:cNvPicPr preferRelativeResize="0"/>
          <p:nvPr/>
        </p:nvPicPr>
        <p:blipFill>
          <a:blip r:embed="rId3">
            <a:alphaModFix/>
          </a:blip>
          <a:stretch>
            <a:fillRect/>
          </a:stretch>
        </p:blipFill>
        <p:spPr>
          <a:xfrm>
            <a:off x="609600" y="0"/>
            <a:ext cx="8077200" cy="632444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g26ee3ae31fa_0_25"/>
          <p:cNvSpPr txBox="1">
            <a:spLocks noGrp="1"/>
          </p:cNvSpPr>
          <p:nvPr>
            <p:ph type="title"/>
          </p:nvPr>
        </p:nvSpPr>
        <p:spPr>
          <a:xfrm>
            <a:off x="457200" y="266729"/>
            <a:ext cx="8229600" cy="266700"/>
          </a:xfrm>
          <a:prstGeom prst="rect">
            <a:avLst/>
          </a:prstGeom>
        </p:spPr>
        <p:txBody>
          <a:bodyPr spcFirstLastPara="1" wrap="square" lIns="0" tIns="45700" rIns="0" bIns="0" anchor="b" anchorCtr="0">
            <a:normAutofit fontScale="90000"/>
          </a:bodyPr>
          <a:lstStyle/>
          <a:p>
            <a:pPr marL="0" lvl="0" indent="0" algn="l" rtl="0">
              <a:spcBef>
                <a:spcPts val="0"/>
              </a:spcBef>
              <a:spcAft>
                <a:spcPts val="0"/>
              </a:spcAft>
              <a:buNone/>
            </a:pPr>
            <a:endParaRPr/>
          </a:p>
        </p:txBody>
      </p:sp>
      <p:sp>
        <p:nvSpPr>
          <p:cNvPr id="205" name="Google Shape;205;g26ee3ae31fa_0_25"/>
          <p:cNvSpPr txBox="1">
            <a:spLocks noGrp="1"/>
          </p:cNvSpPr>
          <p:nvPr>
            <p:ph type="body" idx="1"/>
          </p:nvPr>
        </p:nvSpPr>
        <p:spPr>
          <a:xfrm>
            <a:off x="457200" y="266725"/>
            <a:ext cx="8229600" cy="6057600"/>
          </a:xfrm>
          <a:prstGeom prst="rect">
            <a:avLst/>
          </a:prstGeom>
        </p:spPr>
        <p:txBody>
          <a:bodyPr spcFirstLastPara="1" wrap="square" lIns="91425" tIns="45700" rIns="91425" bIns="45700" anchor="t" anchorCtr="0">
            <a:normAutofit/>
          </a:bodyPr>
          <a:lstStyle/>
          <a:p>
            <a:pPr marL="0" lvl="0" indent="0" algn="l" rtl="0">
              <a:spcBef>
                <a:spcPts val="360"/>
              </a:spcBef>
              <a:spcAft>
                <a:spcPts val="0"/>
              </a:spcAft>
              <a:buNone/>
            </a:pPr>
            <a:endParaRPr/>
          </a:p>
        </p:txBody>
      </p:sp>
      <p:pic>
        <p:nvPicPr>
          <p:cNvPr id="206" name="Google Shape;206;g26ee3ae31fa_0_25"/>
          <p:cNvPicPr preferRelativeResize="0"/>
          <p:nvPr/>
        </p:nvPicPr>
        <p:blipFill>
          <a:blip r:embed="rId3">
            <a:alphaModFix/>
          </a:blip>
          <a:stretch>
            <a:fillRect/>
          </a:stretch>
        </p:blipFill>
        <p:spPr>
          <a:xfrm>
            <a:off x="557100" y="762000"/>
            <a:ext cx="8129700" cy="39433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g26ee3ae31fa_1_0"/>
          <p:cNvSpPr txBox="1">
            <a:spLocks noGrp="1"/>
          </p:cNvSpPr>
          <p:nvPr>
            <p:ph type="title"/>
          </p:nvPr>
        </p:nvSpPr>
        <p:spPr>
          <a:xfrm>
            <a:off x="457200" y="176405"/>
            <a:ext cx="8229600" cy="176400"/>
          </a:xfrm>
          <a:prstGeom prst="rect">
            <a:avLst/>
          </a:prstGeom>
        </p:spPr>
        <p:txBody>
          <a:bodyPr spcFirstLastPara="1" wrap="square" lIns="0" tIns="45700" rIns="0" bIns="0" anchor="b" anchorCtr="0">
            <a:normAutofit fontScale="90000"/>
          </a:bodyPr>
          <a:lstStyle/>
          <a:p>
            <a:pPr marL="0" lvl="0" indent="0" algn="l" rtl="0">
              <a:spcBef>
                <a:spcPts val="0"/>
              </a:spcBef>
              <a:spcAft>
                <a:spcPts val="0"/>
              </a:spcAft>
              <a:buNone/>
            </a:pPr>
            <a:endParaRPr/>
          </a:p>
        </p:txBody>
      </p:sp>
      <p:sp>
        <p:nvSpPr>
          <p:cNvPr id="213" name="Google Shape;213;g26ee3ae31fa_1_0"/>
          <p:cNvSpPr txBox="1">
            <a:spLocks noGrp="1"/>
          </p:cNvSpPr>
          <p:nvPr>
            <p:ph type="body" idx="1"/>
          </p:nvPr>
        </p:nvSpPr>
        <p:spPr>
          <a:xfrm>
            <a:off x="457200" y="551273"/>
            <a:ext cx="8229600" cy="5773200"/>
          </a:xfrm>
          <a:prstGeom prst="rect">
            <a:avLst/>
          </a:prstGeom>
        </p:spPr>
        <p:txBody>
          <a:bodyPr spcFirstLastPara="1" wrap="square" lIns="91425" tIns="45700" rIns="91425" bIns="45700" anchor="t" anchorCtr="0">
            <a:normAutofit/>
          </a:bodyPr>
          <a:lstStyle/>
          <a:p>
            <a:pPr marL="0" lvl="0" indent="0" algn="l" rtl="0">
              <a:spcBef>
                <a:spcPts val="360"/>
              </a:spcBef>
              <a:spcAft>
                <a:spcPts val="0"/>
              </a:spcAft>
              <a:buNone/>
            </a:pPr>
            <a:endParaRPr/>
          </a:p>
        </p:txBody>
      </p:sp>
      <p:pic>
        <p:nvPicPr>
          <p:cNvPr id="214" name="Google Shape;214;g26ee3ae31fa_1_0"/>
          <p:cNvPicPr preferRelativeResize="0"/>
          <p:nvPr/>
        </p:nvPicPr>
        <p:blipFill>
          <a:blip r:embed="rId3">
            <a:alphaModFix/>
          </a:blip>
          <a:stretch>
            <a:fillRect/>
          </a:stretch>
        </p:blipFill>
        <p:spPr>
          <a:xfrm>
            <a:off x="1256925" y="141825"/>
            <a:ext cx="6483125" cy="76864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g26ee3ae31fa_1_6"/>
          <p:cNvSpPr txBox="1">
            <a:spLocks noGrp="1"/>
          </p:cNvSpPr>
          <p:nvPr>
            <p:ph type="title"/>
          </p:nvPr>
        </p:nvSpPr>
        <p:spPr>
          <a:xfrm>
            <a:off x="457200" y="6"/>
            <a:ext cx="8229600" cy="286800"/>
          </a:xfrm>
          <a:prstGeom prst="rect">
            <a:avLst/>
          </a:prstGeom>
        </p:spPr>
        <p:txBody>
          <a:bodyPr spcFirstLastPara="1" wrap="square" lIns="0" tIns="45700" rIns="0" bIns="0" anchor="b" anchorCtr="0">
            <a:normAutofit fontScale="90000"/>
          </a:bodyPr>
          <a:lstStyle/>
          <a:p>
            <a:pPr marL="0" lvl="0" indent="0" algn="l" rtl="0">
              <a:spcBef>
                <a:spcPts val="0"/>
              </a:spcBef>
              <a:spcAft>
                <a:spcPts val="0"/>
              </a:spcAft>
              <a:buNone/>
            </a:pPr>
            <a:endParaRPr/>
          </a:p>
        </p:txBody>
      </p:sp>
      <p:sp>
        <p:nvSpPr>
          <p:cNvPr id="221" name="Google Shape;221;g26ee3ae31fa_1_6"/>
          <p:cNvSpPr txBox="1">
            <a:spLocks noGrp="1"/>
          </p:cNvSpPr>
          <p:nvPr>
            <p:ph type="body" idx="1"/>
          </p:nvPr>
        </p:nvSpPr>
        <p:spPr>
          <a:xfrm>
            <a:off x="457200" y="286798"/>
            <a:ext cx="8229600" cy="6037800"/>
          </a:xfrm>
          <a:prstGeom prst="rect">
            <a:avLst/>
          </a:prstGeom>
        </p:spPr>
        <p:txBody>
          <a:bodyPr spcFirstLastPara="1" wrap="square" lIns="91425" tIns="45700" rIns="91425" bIns="45700" anchor="t" anchorCtr="0">
            <a:normAutofit/>
          </a:bodyPr>
          <a:lstStyle/>
          <a:p>
            <a:pPr marL="0" lvl="0" indent="0" algn="l" rtl="0">
              <a:spcBef>
                <a:spcPts val="360"/>
              </a:spcBef>
              <a:spcAft>
                <a:spcPts val="0"/>
              </a:spcAft>
              <a:buNone/>
            </a:pPr>
            <a:endParaRPr/>
          </a:p>
        </p:txBody>
      </p:sp>
      <p:pic>
        <p:nvPicPr>
          <p:cNvPr id="222" name="Google Shape;222;g26ee3ae31fa_1_6"/>
          <p:cNvPicPr preferRelativeResize="0"/>
          <p:nvPr/>
        </p:nvPicPr>
        <p:blipFill>
          <a:blip r:embed="rId3">
            <a:alphaModFix/>
          </a:blip>
          <a:stretch>
            <a:fillRect/>
          </a:stretch>
        </p:blipFill>
        <p:spPr>
          <a:xfrm>
            <a:off x="457199" y="113674"/>
            <a:ext cx="8229599" cy="663062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g26ee3ae31fa_1_12"/>
          <p:cNvSpPr txBox="1">
            <a:spLocks noGrp="1"/>
          </p:cNvSpPr>
          <p:nvPr>
            <p:ph type="title"/>
          </p:nvPr>
        </p:nvSpPr>
        <p:spPr>
          <a:xfrm>
            <a:off x="457200" y="5"/>
            <a:ext cx="8229600" cy="463200"/>
          </a:xfrm>
          <a:prstGeom prst="rect">
            <a:avLst/>
          </a:prstGeom>
        </p:spPr>
        <p:txBody>
          <a:bodyPr spcFirstLastPara="1" wrap="square" lIns="0" tIns="45700" rIns="0" bIns="0" anchor="b" anchorCtr="0">
            <a:normAutofit fontScale="90000"/>
          </a:bodyPr>
          <a:lstStyle/>
          <a:p>
            <a:pPr marL="0" lvl="0" indent="0" algn="l" rtl="0">
              <a:spcBef>
                <a:spcPts val="0"/>
              </a:spcBef>
              <a:spcAft>
                <a:spcPts val="0"/>
              </a:spcAft>
              <a:buNone/>
            </a:pPr>
            <a:endParaRPr/>
          </a:p>
        </p:txBody>
      </p:sp>
      <p:sp>
        <p:nvSpPr>
          <p:cNvPr id="229" name="Google Shape;229;g26ee3ae31fa_1_12"/>
          <p:cNvSpPr txBox="1">
            <a:spLocks noGrp="1"/>
          </p:cNvSpPr>
          <p:nvPr>
            <p:ph type="body" idx="1"/>
          </p:nvPr>
        </p:nvSpPr>
        <p:spPr>
          <a:xfrm>
            <a:off x="457200" y="463198"/>
            <a:ext cx="8229600" cy="5861400"/>
          </a:xfrm>
          <a:prstGeom prst="rect">
            <a:avLst/>
          </a:prstGeom>
        </p:spPr>
        <p:txBody>
          <a:bodyPr spcFirstLastPara="1" wrap="square" lIns="91425" tIns="45700" rIns="91425" bIns="45700" anchor="t" anchorCtr="0">
            <a:normAutofit/>
          </a:bodyPr>
          <a:lstStyle/>
          <a:p>
            <a:pPr marL="0" lvl="0" indent="0" algn="l" rtl="0">
              <a:spcBef>
                <a:spcPts val="360"/>
              </a:spcBef>
              <a:spcAft>
                <a:spcPts val="0"/>
              </a:spcAft>
              <a:buNone/>
            </a:pPr>
            <a:endParaRPr/>
          </a:p>
        </p:txBody>
      </p:sp>
      <p:pic>
        <p:nvPicPr>
          <p:cNvPr id="230" name="Google Shape;230;g26ee3ae31fa_1_12"/>
          <p:cNvPicPr preferRelativeResize="0"/>
          <p:nvPr/>
        </p:nvPicPr>
        <p:blipFill>
          <a:blip r:embed="rId3">
            <a:alphaModFix/>
          </a:blip>
          <a:stretch>
            <a:fillRect/>
          </a:stretch>
        </p:blipFill>
        <p:spPr>
          <a:xfrm>
            <a:off x="1347077" y="-1343025"/>
            <a:ext cx="6018100" cy="89051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g26ee3ae31fa_1_21"/>
          <p:cNvSpPr txBox="1">
            <a:spLocks noGrp="1"/>
          </p:cNvSpPr>
          <p:nvPr>
            <p:ph type="title"/>
          </p:nvPr>
        </p:nvSpPr>
        <p:spPr>
          <a:xfrm>
            <a:off x="457200" y="704088"/>
            <a:ext cx="8229600" cy="1143000"/>
          </a:xfrm>
          <a:prstGeom prst="rect">
            <a:avLst/>
          </a:prstGeom>
        </p:spPr>
        <p:txBody>
          <a:bodyPr spcFirstLastPara="1" wrap="square" lIns="0" tIns="45700" rIns="0" bIns="0" anchor="b" anchorCtr="0">
            <a:normAutofit/>
          </a:bodyPr>
          <a:lstStyle/>
          <a:p>
            <a:pPr marL="0" lvl="0" indent="0" algn="l" rtl="0">
              <a:spcBef>
                <a:spcPts val="0"/>
              </a:spcBef>
              <a:spcAft>
                <a:spcPts val="0"/>
              </a:spcAft>
              <a:buNone/>
            </a:pPr>
            <a:endParaRPr/>
          </a:p>
        </p:txBody>
      </p:sp>
      <p:sp>
        <p:nvSpPr>
          <p:cNvPr id="237" name="Google Shape;237;g26ee3ae31fa_1_21"/>
          <p:cNvSpPr txBox="1">
            <a:spLocks noGrp="1"/>
          </p:cNvSpPr>
          <p:nvPr>
            <p:ph type="body" idx="1"/>
          </p:nvPr>
        </p:nvSpPr>
        <p:spPr>
          <a:xfrm>
            <a:off x="457200" y="1935480"/>
            <a:ext cx="8229600" cy="4389000"/>
          </a:xfrm>
          <a:prstGeom prst="rect">
            <a:avLst/>
          </a:prstGeom>
        </p:spPr>
        <p:txBody>
          <a:bodyPr spcFirstLastPara="1" wrap="square" lIns="91425" tIns="45700" rIns="91425" bIns="45700" anchor="t" anchorCtr="0">
            <a:normAutofit/>
          </a:bodyPr>
          <a:lstStyle/>
          <a:p>
            <a:pPr marL="0" lvl="0" indent="0" algn="l" rtl="0">
              <a:spcBef>
                <a:spcPts val="360"/>
              </a:spcBef>
              <a:spcAft>
                <a:spcPts val="0"/>
              </a:spcAft>
              <a:buNone/>
            </a:pPr>
            <a:endParaRPr/>
          </a:p>
        </p:txBody>
      </p:sp>
      <p:pic>
        <p:nvPicPr>
          <p:cNvPr id="238" name="Google Shape;238;g26ee3ae31fa_1_21"/>
          <p:cNvPicPr preferRelativeResize="0"/>
          <p:nvPr/>
        </p:nvPicPr>
        <p:blipFill>
          <a:blip r:embed="rId3">
            <a:alphaModFix/>
          </a:blip>
          <a:stretch>
            <a:fillRect/>
          </a:stretch>
        </p:blipFill>
        <p:spPr>
          <a:xfrm>
            <a:off x="592700" y="793850"/>
            <a:ext cx="7897099" cy="33218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8"/>
          <p:cNvSpPr txBox="1">
            <a:spLocks noGrp="1"/>
          </p:cNvSpPr>
          <p:nvPr>
            <p:ph type="title"/>
          </p:nvPr>
        </p:nvSpPr>
        <p:spPr>
          <a:xfrm>
            <a:off x="457200" y="704088"/>
            <a:ext cx="8229600" cy="743712"/>
          </a:xfrm>
          <a:prstGeom prst="rect">
            <a:avLst/>
          </a:prstGeom>
          <a:noFill/>
          <a:ln>
            <a:noFill/>
          </a:ln>
        </p:spPr>
        <p:txBody>
          <a:bodyPr spcFirstLastPara="1" wrap="square" lIns="0" tIns="45700" rIns="0" bIns="0" anchor="b" anchorCtr="0">
            <a:normAutofit fontScale="90000"/>
          </a:bodyPr>
          <a:lstStyle/>
          <a:p>
            <a:pPr marL="0" lvl="0" indent="0" algn="l" rtl="0">
              <a:spcBef>
                <a:spcPts val="0"/>
              </a:spcBef>
              <a:spcAft>
                <a:spcPts val="0"/>
              </a:spcAft>
              <a:buClr>
                <a:schemeClr val="dk2"/>
              </a:buClr>
              <a:buSzPct val="100000"/>
              <a:buFont typeface="Calibri"/>
              <a:buNone/>
            </a:pPr>
            <a:r>
              <a:rPr lang="en-US"/>
              <a:t>Problems Depicting Monte Carlo Method</a:t>
            </a:r>
            <a:endParaRPr/>
          </a:p>
        </p:txBody>
      </p:sp>
      <p:sp>
        <p:nvSpPr>
          <p:cNvPr id="244" name="Google Shape;244;p8"/>
          <p:cNvSpPr txBox="1">
            <a:spLocks noGrp="1"/>
          </p:cNvSpPr>
          <p:nvPr>
            <p:ph type="body" idx="1"/>
          </p:nvPr>
        </p:nvSpPr>
        <p:spPr>
          <a:xfrm>
            <a:off x="457200" y="1371600"/>
            <a:ext cx="8229600" cy="495300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US"/>
              <a:t>Monte Carlo Simulation is that it is an approximate technique. </a:t>
            </a:r>
            <a:endParaRPr/>
          </a:p>
          <a:p>
            <a:pPr marL="274320" lvl="0" indent="-274320" algn="l" rtl="0">
              <a:spcBef>
                <a:spcPts val="520"/>
              </a:spcBef>
              <a:spcAft>
                <a:spcPts val="0"/>
              </a:spcAft>
              <a:buSzPts val="2470"/>
              <a:buChar char="⚫"/>
            </a:pPr>
            <a:r>
              <a:rPr lang="en-US"/>
              <a:t> Like most methods based on probability theory, Monte Carlo methods are data‐intensive.</a:t>
            </a:r>
            <a:endParaRPr/>
          </a:p>
          <a:p>
            <a:pPr marL="274320" lvl="0" indent="-274320" algn="l" rtl="0">
              <a:spcBef>
                <a:spcPts val="520"/>
              </a:spcBef>
              <a:spcAft>
                <a:spcPts val="0"/>
              </a:spcAft>
              <a:buSzPts val="2470"/>
              <a:buChar char="⚫"/>
            </a:pPr>
            <a:r>
              <a:rPr lang="en-US"/>
              <a:t>Monte Carlo methods cannot be used to conclude that the considered risks are no larger than a particular level.</a:t>
            </a:r>
            <a:endParaRPr/>
          </a:p>
          <a:p>
            <a:pPr marL="274320" lvl="0" indent="-117475" algn="l" rtl="0">
              <a:spcBef>
                <a:spcPts val="520"/>
              </a:spcBef>
              <a:spcAft>
                <a:spcPts val="0"/>
              </a:spcAft>
              <a:buSzPts val="2470"/>
              <a:buNone/>
            </a:pPr>
            <a:endParaRPr/>
          </a:p>
          <a:p>
            <a:pPr marL="274320" lvl="0" indent="-117475" algn="l" rtl="0">
              <a:spcBef>
                <a:spcPts val="520"/>
              </a:spcBef>
              <a:spcAft>
                <a:spcPts val="0"/>
              </a:spcAft>
              <a:buSzPts val="2470"/>
              <a:buNone/>
            </a:pP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9"/>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fontScale="90000"/>
          </a:bodyPr>
          <a:lstStyle/>
          <a:p>
            <a:pPr marL="0" lvl="0" indent="0" algn="l" rtl="0">
              <a:spcBef>
                <a:spcPts val="0"/>
              </a:spcBef>
              <a:spcAft>
                <a:spcPts val="0"/>
              </a:spcAft>
              <a:buClr>
                <a:schemeClr val="dk2"/>
              </a:buClr>
              <a:buSzPct val="100000"/>
              <a:buFont typeface="Calibri"/>
              <a:buNone/>
            </a:pPr>
            <a:r>
              <a:rPr lang="en-US"/>
              <a:t>Generating Random numbers in Calculator</a:t>
            </a:r>
            <a:endParaRPr/>
          </a:p>
        </p:txBody>
      </p:sp>
      <p:sp>
        <p:nvSpPr>
          <p:cNvPr id="250" name="Google Shape;250;p9"/>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US"/>
              <a:t>Shift Rand#=</a:t>
            </a:r>
            <a:endParaRPr/>
          </a:p>
          <a:p>
            <a:pPr marL="274320" lvl="0" indent="-274320" algn="l" rtl="0">
              <a:spcBef>
                <a:spcPts val="520"/>
              </a:spcBef>
              <a:spcAft>
                <a:spcPts val="0"/>
              </a:spcAft>
              <a:buSzPts val="2470"/>
              <a:buChar char="⚫"/>
            </a:pPr>
            <a:r>
              <a:rPr lang="en-US"/>
              <a:t>100 Shift Rand#=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10"/>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fontScale="90000"/>
          </a:bodyPr>
          <a:lstStyle/>
          <a:p>
            <a:pPr marL="0" lvl="0" indent="0" algn="l" rtl="0">
              <a:spcBef>
                <a:spcPts val="0"/>
              </a:spcBef>
              <a:spcAft>
                <a:spcPts val="0"/>
              </a:spcAft>
              <a:buClr>
                <a:schemeClr val="dk2"/>
              </a:buClr>
              <a:buSzPct val="100000"/>
              <a:buFont typeface="Calibri"/>
              <a:buNone/>
            </a:pPr>
            <a:r>
              <a:rPr lang="en-US"/>
              <a:t>Comparison of Simulation and Analytical Method:</a:t>
            </a:r>
            <a:endParaRPr/>
          </a:p>
        </p:txBody>
      </p:sp>
      <p:sp>
        <p:nvSpPr>
          <p:cNvPr id="256" name="Google Shape;256;p10"/>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fontScale="85000" lnSpcReduction="20000"/>
          </a:bodyPr>
          <a:lstStyle/>
          <a:p>
            <a:pPr marL="274320" lvl="0" indent="-274320" algn="l" rtl="0">
              <a:spcBef>
                <a:spcPts val="0"/>
              </a:spcBef>
              <a:spcAft>
                <a:spcPts val="0"/>
              </a:spcAft>
              <a:buSzPct val="95000"/>
              <a:buChar char="⚫"/>
            </a:pPr>
            <a:r>
              <a:rPr lang="en-US"/>
              <a:t>The main drawback of simulation is: -</a:t>
            </a:r>
            <a:endParaRPr/>
          </a:p>
          <a:p>
            <a:pPr marL="640080" lvl="1" indent="-246888" algn="l" rtl="0">
              <a:spcBef>
                <a:spcPts val="408"/>
              </a:spcBef>
              <a:spcAft>
                <a:spcPts val="0"/>
              </a:spcAft>
              <a:buSzPct val="85000"/>
              <a:buChar char="⚫"/>
            </a:pPr>
            <a:r>
              <a:rPr lang="en-US" b="1"/>
              <a:t>It gives specific solution rather than general solution</a:t>
            </a:r>
            <a:r>
              <a:rPr lang="en-US"/>
              <a:t>. For example, in the study of automobiles wheel, an analytical solution gives all the condition that can cause oscillation. But each execution of a simulation only tells whether a particular set of condition did or did not cause oscillation. To try to find all such condition required that the simulation be repeated under many different condition. </a:t>
            </a:r>
            <a:endParaRPr/>
          </a:p>
          <a:p>
            <a:pPr marL="640080" lvl="1" indent="-246888" algn="l" rtl="0">
              <a:spcBef>
                <a:spcPts val="408"/>
              </a:spcBef>
              <a:spcAft>
                <a:spcPts val="0"/>
              </a:spcAft>
              <a:buSzPct val="85000"/>
              <a:buChar char="⚫"/>
            </a:pPr>
            <a:r>
              <a:rPr lang="en-US" b="1"/>
              <a:t>The step by step nature of the simulation technique means that the amount of computation increases very rapidly as the amount of detail increases.</a:t>
            </a:r>
            <a:r>
              <a:rPr lang="en-US"/>
              <a:t> Coupled with the need to make many runs, the simulation model result in extensive amount of computing. </a:t>
            </a:r>
            <a:endParaRPr/>
          </a:p>
          <a:p>
            <a:pPr marL="640080" lvl="1" indent="-246888" algn="l" rtl="0">
              <a:spcBef>
                <a:spcPts val="408"/>
              </a:spcBef>
              <a:spcAft>
                <a:spcPts val="0"/>
              </a:spcAft>
              <a:buSzPct val="85000"/>
              <a:buChar char="⚫"/>
            </a:pPr>
            <a:r>
              <a:rPr lang="en-US" b="1"/>
              <a:t>Many simulation runs may be needed to find a maximum and yet leave undecided the question of whether it is a local or global maximum.</a:t>
            </a:r>
            <a:endParaRPr b="1"/>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11"/>
          <p:cNvSpPr txBox="1">
            <a:spLocks noGrp="1"/>
          </p:cNvSpPr>
          <p:nvPr>
            <p:ph type="title"/>
          </p:nvPr>
        </p:nvSpPr>
        <p:spPr>
          <a:xfrm>
            <a:off x="381000" y="304800"/>
            <a:ext cx="8229600" cy="1143000"/>
          </a:xfrm>
          <a:prstGeom prst="rect">
            <a:avLst/>
          </a:prstGeom>
          <a:noFill/>
          <a:ln>
            <a:noFill/>
          </a:ln>
        </p:spPr>
        <p:txBody>
          <a:bodyPr spcFirstLastPara="1" wrap="square" lIns="0" tIns="45700" rIns="0" bIns="0" anchor="b" anchorCtr="0">
            <a:normAutofit fontScale="90000"/>
          </a:bodyPr>
          <a:lstStyle/>
          <a:p>
            <a:pPr marL="0" lvl="0" indent="0" algn="l" rtl="0">
              <a:spcBef>
                <a:spcPts val="0"/>
              </a:spcBef>
              <a:spcAft>
                <a:spcPts val="0"/>
              </a:spcAft>
              <a:buClr>
                <a:schemeClr val="dk2"/>
              </a:buClr>
              <a:buSzPct val="100000"/>
              <a:buFont typeface="Calibri"/>
              <a:buNone/>
            </a:pPr>
            <a:r>
              <a:rPr lang="en-US"/>
              <a:t>Drawback of Analytical Technique</a:t>
            </a:r>
            <a:endParaRPr/>
          </a:p>
        </p:txBody>
      </p:sp>
      <p:sp>
        <p:nvSpPr>
          <p:cNvPr id="262" name="Google Shape;262;p11"/>
          <p:cNvSpPr txBox="1">
            <a:spLocks noGrp="1"/>
          </p:cNvSpPr>
          <p:nvPr>
            <p:ph type="body" idx="1"/>
          </p:nvPr>
        </p:nvSpPr>
        <p:spPr>
          <a:xfrm>
            <a:off x="457200" y="1524000"/>
            <a:ext cx="8229600" cy="472440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US"/>
              <a:t>The drawback of analytical techniques are:</a:t>
            </a:r>
            <a:endParaRPr/>
          </a:p>
          <a:p>
            <a:pPr marL="640080" lvl="1" indent="-246888" algn="l" rtl="0">
              <a:spcBef>
                <a:spcPts val="480"/>
              </a:spcBef>
              <a:spcAft>
                <a:spcPts val="0"/>
              </a:spcAft>
              <a:buSzPts val="2040"/>
              <a:buChar char="⚫"/>
            </a:pPr>
            <a:r>
              <a:rPr lang="en-US" b="1"/>
              <a:t>The range of problem that can be solve mathematically is limited. </a:t>
            </a:r>
            <a:r>
              <a:rPr lang="en-US"/>
              <a:t>Mathematical technique requires that the model be expressed in some particular format. For example, in the form of linear algebraic equation and continuous linear differential equation.</a:t>
            </a:r>
            <a:endParaRPr/>
          </a:p>
          <a:p>
            <a:pPr marL="640080" lvl="1" indent="-246888" algn="l" rtl="0">
              <a:spcBef>
                <a:spcPts val="480"/>
              </a:spcBef>
              <a:spcAft>
                <a:spcPts val="0"/>
              </a:spcAft>
              <a:buSzPts val="2040"/>
              <a:buChar char="⚫"/>
            </a:pPr>
            <a:r>
              <a:rPr lang="en-US" b="1"/>
              <a:t>There are many simple limitation on a system such as physical stock, finite time delays or non-linear forces which makes a soluble mathematical model insoluble</a:t>
            </a:r>
            <a:r>
              <a:rPr lang="en-US"/>
              <a:t>. </a:t>
            </a:r>
            <a:r>
              <a:rPr lang="en-US" b="1" i="1">
                <a:solidFill>
                  <a:srgbClr val="FF0000"/>
                </a:solidFill>
              </a:rPr>
              <a:t>But simulation removes this limitation.</a:t>
            </a:r>
            <a:endParaRPr b="1" i="1">
              <a:solidFill>
                <a:srgbClr val="FF0000"/>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12"/>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Progress of simulation study:-</a:t>
            </a:r>
            <a:endParaRPr/>
          </a:p>
        </p:txBody>
      </p:sp>
      <p:sp>
        <p:nvSpPr>
          <p:cNvPr id="268" name="Google Shape;268;p12"/>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fontScale="85000" lnSpcReduction="20000"/>
          </a:bodyPr>
          <a:lstStyle/>
          <a:p>
            <a:pPr marL="274320" lvl="0" indent="-274320" algn="l" rtl="0">
              <a:spcBef>
                <a:spcPts val="0"/>
              </a:spcBef>
              <a:spcAft>
                <a:spcPts val="0"/>
              </a:spcAft>
              <a:buSzPct val="95000"/>
              <a:buChar char="⚫"/>
            </a:pPr>
            <a:r>
              <a:rPr lang="en-US"/>
              <a:t>An initial state is to describe the problem to be solved in a concise manner so that there is a clear statement of what question are being asked and what measurements need to be taken in order to answer those question. </a:t>
            </a:r>
            <a:endParaRPr/>
          </a:p>
          <a:p>
            <a:pPr marL="274320" lvl="0" indent="-274320" algn="l" rtl="0">
              <a:spcBef>
                <a:spcPts val="442"/>
              </a:spcBef>
              <a:spcAft>
                <a:spcPts val="0"/>
              </a:spcAft>
              <a:buSzPct val="95000"/>
              <a:buChar char="⚫"/>
            </a:pPr>
            <a:r>
              <a:rPr lang="en-US"/>
              <a:t>Based on this problem definition a model must be defined. </a:t>
            </a:r>
            <a:endParaRPr/>
          </a:p>
          <a:p>
            <a:pPr marL="274320" lvl="0" indent="-274320" algn="l" rtl="0">
              <a:spcBef>
                <a:spcPts val="442"/>
              </a:spcBef>
              <a:spcAft>
                <a:spcPts val="0"/>
              </a:spcAft>
              <a:buSzPct val="95000"/>
              <a:buChar char="⚫"/>
            </a:pPr>
            <a:r>
              <a:rPr lang="en-US"/>
              <a:t>A possible solution is to explore to pass the model that can be solved analytically.</a:t>
            </a:r>
            <a:endParaRPr/>
          </a:p>
          <a:p>
            <a:pPr marL="274320" lvl="0" indent="-274320" algn="l" rtl="0">
              <a:spcBef>
                <a:spcPts val="442"/>
              </a:spcBef>
              <a:spcAft>
                <a:spcPts val="0"/>
              </a:spcAft>
              <a:buSzPct val="95000"/>
              <a:buChar char="⚫"/>
            </a:pPr>
            <a:r>
              <a:rPr lang="en-US"/>
              <a:t> The result will help to guide the simulation technique.</a:t>
            </a:r>
            <a:endParaRPr/>
          </a:p>
          <a:p>
            <a:pPr marL="274320" lvl="0" indent="-274320" algn="l" rtl="0">
              <a:spcBef>
                <a:spcPts val="442"/>
              </a:spcBef>
              <a:spcAft>
                <a:spcPts val="0"/>
              </a:spcAft>
              <a:buSzPct val="95000"/>
              <a:buChar char="⚫"/>
            </a:pPr>
            <a:r>
              <a:rPr lang="en-US"/>
              <a:t> When it is decided to simulate, we must plan the study by deciding upon the major parameters to be varied, the no. of cases to be conducted and order in which runs are to be made. </a:t>
            </a:r>
            <a:endParaRPr/>
          </a:p>
          <a:p>
            <a:pPr marL="274320" lvl="0" indent="-274320" algn="l" rtl="0">
              <a:spcBef>
                <a:spcPts val="442"/>
              </a:spcBef>
              <a:spcAft>
                <a:spcPts val="0"/>
              </a:spcAft>
              <a:buSzPct val="95000"/>
              <a:buChar char="⚫"/>
            </a:pPr>
            <a:r>
              <a:rPr lang="en-US"/>
              <a:t>Given that, the simulation is to be on a digital computer and its program must be written. The next stage is, executing a series of runs according to the study plan</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13"/>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endParaRPr/>
          </a:p>
        </p:txBody>
      </p:sp>
      <p:sp>
        <p:nvSpPr>
          <p:cNvPr id="274" name="Google Shape;274;p13"/>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fontScale="85000" lnSpcReduction="20000"/>
          </a:bodyPr>
          <a:lstStyle/>
          <a:p>
            <a:pPr marL="274320" lvl="0" indent="-274320" algn="l" rtl="0">
              <a:spcBef>
                <a:spcPts val="0"/>
              </a:spcBef>
              <a:spcAft>
                <a:spcPts val="0"/>
              </a:spcAft>
              <a:buSzPct val="95000"/>
              <a:buChar char="⚫"/>
            </a:pPr>
            <a:r>
              <a:rPr lang="en-US"/>
              <a:t>.The main value of the early runs in a simulation study is to get insight in to general behaviour of the system and to know which parameters are important for the system. </a:t>
            </a:r>
            <a:endParaRPr/>
          </a:p>
          <a:p>
            <a:pPr marL="274320" lvl="0" indent="-274320" algn="l" rtl="0">
              <a:spcBef>
                <a:spcPts val="442"/>
              </a:spcBef>
              <a:spcAft>
                <a:spcPts val="0"/>
              </a:spcAft>
              <a:buSzPct val="95000"/>
              <a:buChar char="⚫"/>
            </a:pPr>
            <a:r>
              <a:rPr lang="en-US"/>
              <a:t>This may lead to reassessment of the model then results are verified and if found reasonable, simulation stops. Given that, the simulation is to be on a digital computer and its program must be written. </a:t>
            </a:r>
            <a:endParaRPr/>
          </a:p>
          <a:p>
            <a:pPr marL="274320" lvl="0" indent="-274320" algn="l" rtl="0">
              <a:spcBef>
                <a:spcPts val="442"/>
              </a:spcBef>
              <a:spcAft>
                <a:spcPts val="0"/>
              </a:spcAft>
              <a:buSzPct val="95000"/>
              <a:buChar char="⚫"/>
            </a:pPr>
            <a:r>
              <a:rPr lang="en-US"/>
              <a:t>The next stage is, executing a series of runs according to the study plan. </a:t>
            </a:r>
            <a:endParaRPr/>
          </a:p>
          <a:p>
            <a:pPr marL="274320" lvl="0" indent="-274320" algn="l" rtl="0">
              <a:spcBef>
                <a:spcPts val="442"/>
              </a:spcBef>
              <a:spcAft>
                <a:spcPts val="0"/>
              </a:spcAft>
              <a:buSzPct val="95000"/>
              <a:buChar char="⚫"/>
            </a:pPr>
            <a:r>
              <a:rPr lang="en-US"/>
              <a:t>The main value of the early runs in a simulation study is to get insight in to general behaviour of the system and to know which parameters are important for the system. </a:t>
            </a:r>
            <a:endParaRPr/>
          </a:p>
          <a:p>
            <a:pPr marL="274320" lvl="0" indent="-274320" algn="l" rtl="0">
              <a:spcBef>
                <a:spcPts val="442"/>
              </a:spcBef>
              <a:spcAft>
                <a:spcPts val="0"/>
              </a:spcAft>
              <a:buSzPct val="95000"/>
              <a:buChar char="⚫"/>
            </a:pPr>
            <a:r>
              <a:rPr lang="en-US"/>
              <a:t>This may lead to reassessment of the model then results are verified and if found reasonable, simulation stops.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14"/>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endParaRPr/>
          </a:p>
        </p:txBody>
      </p:sp>
      <p:pic>
        <p:nvPicPr>
          <p:cNvPr id="280" name="Google Shape;280;p14" descr="steps.PNG"/>
          <p:cNvPicPr preferRelativeResize="0">
            <a:picLocks noGrp="1"/>
          </p:cNvPicPr>
          <p:nvPr>
            <p:ph type="body" idx="1"/>
          </p:nvPr>
        </p:nvPicPr>
        <p:blipFill rotWithShape="1">
          <a:blip r:embed="rId3">
            <a:alphaModFix/>
          </a:blip>
          <a:srcRect/>
          <a:stretch/>
        </p:blipFill>
        <p:spPr>
          <a:xfrm>
            <a:off x="1600200" y="0"/>
            <a:ext cx="5867400" cy="68580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15"/>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endParaRPr/>
          </a:p>
        </p:txBody>
      </p:sp>
      <p:sp>
        <p:nvSpPr>
          <p:cNvPr id="286" name="Google Shape;286;p15"/>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fontScale="92500"/>
          </a:bodyPr>
          <a:lstStyle/>
          <a:p>
            <a:pPr marL="274320" lvl="0" indent="-274320" algn="l" rtl="0">
              <a:spcBef>
                <a:spcPts val="0"/>
              </a:spcBef>
              <a:spcAft>
                <a:spcPts val="0"/>
              </a:spcAft>
              <a:buSzPct val="95000"/>
              <a:buChar char="⚫"/>
            </a:pPr>
            <a:r>
              <a:rPr lang="en-US"/>
              <a:t>An initial state to describe the problem to be solved in a concise manner so that there is a clear statement of what questions to be asked and what measurements needed to be taken answer these questions.</a:t>
            </a:r>
            <a:endParaRPr/>
          </a:p>
          <a:p>
            <a:pPr marL="640080" lvl="1" indent="-246888" algn="l" rtl="0">
              <a:spcBef>
                <a:spcPts val="444"/>
              </a:spcBef>
              <a:spcAft>
                <a:spcPts val="0"/>
              </a:spcAft>
              <a:buSzPct val="85000"/>
              <a:buChar char="⚫"/>
            </a:pPr>
            <a:r>
              <a:rPr lang="en-US"/>
              <a:t>Based on these problem definition a problem must be defines </a:t>
            </a:r>
            <a:endParaRPr/>
          </a:p>
          <a:p>
            <a:pPr marL="640080" lvl="1" indent="-246888" algn="l" rtl="0">
              <a:spcBef>
                <a:spcPts val="444"/>
              </a:spcBef>
              <a:spcAft>
                <a:spcPts val="0"/>
              </a:spcAft>
              <a:buSzPct val="85000"/>
              <a:buChar char="⚫"/>
            </a:pPr>
            <a:r>
              <a:rPr lang="en-US"/>
              <a:t>A possible part explore the cost of a model that can be solved analytically the results in guiding the simulation study. </a:t>
            </a:r>
            <a:endParaRPr/>
          </a:p>
          <a:p>
            <a:pPr marL="640080" lvl="1" indent="-246888" algn="l" rtl="0">
              <a:spcBef>
                <a:spcPts val="444"/>
              </a:spcBef>
              <a:spcAft>
                <a:spcPts val="0"/>
              </a:spcAft>
              <a:buSzPct val="85000"/>
              <a:buChar char="⚫"/>
            </a:pPr>
            <a:r>
              <a:rPr lang="en-US"/>
              <a:t>When it is decided to simulate we must plan the study by deciding upon the measure parameter to be varied the number of cases to be conducted and the order in which runs at to be made.</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16"/>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endParaRPr/>
          </a:p>
        </p:txBody>
      </p:sp>
      <p:sp>
        <p:nvSpPr>
          <p:cNvPr id="292" name="Google Shape;292;p16"/>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p>
            <a:pPr marL="640080" lvl="1" indent="-246888" algn="l" rtl="0">
              <a:spcBef>
                <a:spcPts val="0"/>
              </a:spcBef>
              <a:spcAft>
                <a:spcPts val="0"/>
              </a:spcAft>
              <a:buSzPts val="2040"/>
              <a:buChar char="⚫"/>
            </a:pPr>
            <a:r>
              <a:rPr lang="en-US"/>
              <a:t>Given that the simulation is to be on a digital computer a program must be written. The next stage is executing runs to be study plans. </a:t>
            </a:r>
            <a:endParaRPr/>
          </a:p>
          <a:p>
            <a:pPr marL="640080" lvl="1" indent="-246888" algn="l" rtl="0">
              <a:spcBef>
                <a:spcPts val="480"/>
              </a:spcBef>
              <a:spcAft>
                <a:spcPts val="0"/>
              </a:spcAft>
              <a:buSzPts val="2040"/>
              <a:buChar char="⚫"/>
            </a:pPr>
            <a:r>
              <a:rPr lang="en-US"/>
              <a:t>The main value of the early runs in a simulation study is to get inside into the general behaviour of the system and to know which Parameters are important for the system. </a:t>
            </a:r>
            <a:endParaRPr/>
          </a:p>
          <a:p>
            <a:pPr marL="640080" lvl="1" indent="-246888" algn="l" rtl="0">
              <a:spcBef>
                <a:spcPts val="480"/>
              </a:spcBef>
              <a:spcAft>
                <a:spcPts val="0"/>
              </a:spcAft>
              <a:buSzPts val="2040"/>
              <a:buChar char="⚫"/>
            </a:pPr>
            <a:r>
              <a:rPr lang="en-US"/>
              <a:t>This may lead to re-assessment of the model, when results are verified and it found reasonable the simulation will be stopped.</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17"/>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fontScale="90000"/>
          </a:bodyPr>
          <a:lstStyle/>
          <a:p>
            <a:pPr marL="0" lvl="0" indent="0" algn="l" rtl="0">
              <a:spcBef>
                <a:spcPts val="0"/>
              </a:spcBef>
              <a:spcAft>
                <a:spcPts val="0"/>
              </a:spcAft>
              <a:buClr>
                <a:schemeClr val="dk2"/>
              </a:buClr>
              <a:buSzPct val="100000"/>
              <a:buFont typeface="Calibri"/>
              <a:buNone/>
            </a:pPr>
            <a:r>
              <a:rPr lang="en-US"/>
              <a:t>Experimental Nature of Simulation</a:t>
            </a:r>
            <a:endParaRPr/>
          </a:p>
        </p:txBody>
      </p:sp>
      <p:sp>
        <p:nvSpPr>
          <p:cNvPr id="298" name="Google Shape;298;p17"/>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US"/>
              <a:t>Simulation is an experimental problem solving technique.</a:t>
            </a:r>
            <a:endParaRPr/>
          </a:p>
          <a:p>
            <a:pPr marL="274320" lvl="0" indent="-274320" algn="l" rtl="0">
              <a:spcBef>
                <a:spcPts val="520"/>
              </a:spcBef>
              <a:spcAft>
                <a:spcPts val="0"/>
              </a:spcAft>
              <a:buSzPts val="2470"/>
              <a:buChar char="⚫"/>
            </a:pPr>
            <a:r>
              <a:rPr lang="en-US"/>
              <a:t>Many simulation runs have to be made to understand the relationships involved in the system.</a:t>
            </a:r>
            <a:endParaRPr/>
          </a:p>
          <a:p>
            <a:pPr marL="274320" lvl="0" indent="-274320" algn="l" rtl="0">
              <a:spcBef>
                <a:spcPts val="520"/>
              </a:spcBef>
              <a:spcAft>
                <a:spcPts val="0"/>
              </a:spcAft>
              <a:buSzPts val="2470"/>
              <a:buChar char="⚫"/>
            </a:pPr>
            <a:r>
              <a:rPr lang="en-US"/>
              <a:t>Therefore, the use of simulation in a study must be planned as a series of experiments.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8">
                                            <p:txEl>
                                              <p:pRg st="0" end="0"/>
                                            </p:txEl>
                                          </p:spTgt>
                                        </p:tgtEl>
                                        <p:attrNameLst>
                                          <p:attrName>style.visibility</p:attrName>
                                        </p:attrNameLst>
                                      </p:cBhvr>
                                      <p:to>
                                        <p:strVal val="visible"/>
                                      </p:to>
                                    </p:set>
                                    <p:animEffect transition="in" filter="fade">
                                      <p:cBhvr>
                                        <p:cTn id="7" dur="1000"/>
                                        <p:tgtEl>
                                          <p:spTgt spid="29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8">
                                            <p:txEl>
                                              <p:pRg st="1" end="1"/>
                                            </p:txEl>
                                          </p:spTgt>
                                        </p:tgtEl>
                                        <p:attrNameLst>
                                          <p:attrName>style.visibility</p:attrName>
                                        </p:attrNameLst>
                                      </p:cBhvr>
                                      <p:to>
                                        <p:strVal val="visible"/>
                                      </p:to>
                                    </p:set>
                                    <p:animEffect transition="in" filter="fade">
                                      <p:cBhvr>
                                        <p:cTn id="12" dur="1000"/>
                                        <p:tgtEl>
                                          <p:spTgt spid="29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8">
                                            <p:txEl>
                                              <p:pRg st="2" end="2"/>
                                            </p:txEl>
                                          </p:spTgt>
                                        </p:tgtEl>
                                        <p:attrNameLst>
                                          <p:attrName>style.visibility</p:attrName>
                                        </p:attrNameLst>
                                      </p:cBhvr>
                                      <p:to>
                                        <p:strVal val="visible"/>
                                      </p:to>
                                    </p:set>
                                    <p:animEffect transition="in" filter="fade">
                                      <p:cBhvr>
                                        <p:cTn id="17" dur="1000"/>
                                        <p:tgtEl>
                                          <p:spTgt spid="29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18"/>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Types of System Simulation</a:t>
            </a:r>
            <a:endParaRPr/>
          </a:p>
        </p:txBody>
      </p:sp>
      <p:sp>
        <p:nvSpPr>
          <p:cNvPr id="304" name="Google Shape;304;p18"/>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US"/>
              <a:t>There are basically two types of system simulation and they are:</a:t>
            </a:r>
            <a:endParaRPr/>
          </a:p>
          <a:p>
            <a:pPr marL="640080" lvl="1" indent="-246888" algn="l" rtl="0">
              <a:spcBef>
                <a:spcPts val="480"/>
              </a:spcBef>
              <a:spcAft>
                <a:spcPts val="0"/>
              </a:spcAft>
              <a:buSzPts val="2040"/>
              <a:buChar char="⚫"/>
            </a:pPr>
            <a:r>
              <a:rPr lang="en-US"/>
              <a:t>Continuous System Simulation </a:t>
            </a:r>
            <a:endParaRPr/>
          </a:p>
          <a:p>
            <a:pPr marL="640080" lvl="1" indent="-246888" algn="l" rtl="0">
              <a:spcBef>
                <a:spcPts val="480"/>
              </a:spcBef>
              <a:spcAft>
                <a:spcPts val="0"/>
              </a:spcAft>
              <a:buSzPts val="2040"/>
              <a:buChar char="⚫"/>
            </a:pPr>
            <a:r>
              <a:rPr lang="en-US"/>
              <a:t>Discrete System Simulation</a:t>
            </a:r>
            <a:endParaRPr/>
          </a:p>
        </p:txBody>
      </p:sp>
      <p:pic>
        <p:nvPicPr>
          <p:cNvPr id="305" name="Google Shape;305;p18"/>
          <p:cNvPicPr preferRelativeResize="0"/>
          <p:nvPr/>
        </p:nvPicPr>
        <p:blipFill rotWithShape="1">
          <a:blip r:embed="rId3">
            <a:alphaModFix/>
          </a:blip>
          <a:srcRect/>
          <a:stretch/>
        </p:blipFill>
        <p:spPr>
          <a:xfrm>
            <a:off x="5943600" y="2819400"/>
            <a:ext cx="2330924" cy="2582742"/>
          </a:xfrm>
          <a:prstGeom prst="rect">
            <a:avLst/>
          </a:prstGeom>
          <a:noFill/>
          <a:ln>
            <a:noFill/>
          </a:ln>
        </p:spPr>
      </p:pic>
      <p:pic>
        <p:nvPicPr>
          <p:cNvPr id="306" name="Google Shape;306;p18"/>
          <p:cNvPicPr preferRelativeResize="0"/>
          <p:nvPr/>
        </p:nvPicPr>
        <p:blipFill rotWithShape="1">
          <a:blip r:embed="rId4">
            <a:alphaModFix/>
          </a:blip>
          <a:srcRect/>
          <a:stretch/>
        </p:blipFill>
        <p:spPr>
          <a:xfrm>
            <a:off x="762000" y="4104240"/>
            <a:ext cx="3810000" cy="21431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4">
                                            <p:txEl>
                                              <p:pRg st="0" end="0"/>
                                            </p:txEl>
                                          </p:spTgt>
                                        </p:tgtEl>
                                        <p:attrNameLst>
                                          <p:attrName>style.visibility</p:attrName>
                                        </p:attrNameLst>
                                      </p:cBhvr>
                                      <p:to>
                                        <p:strVal val="visible"/>
                                      </p:to>
                                    </p:set>
                                    <p:animEffect transition="in" filter="fade">
                                      <p:cBhvr>
                                        <p:cTn id="7" dur="1000"/>
                                        <p:tgtEl>
                                          <p:spTgt spid="30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4">
                                            <p:txEl>
                                              <p:pRg st="1" end="1"/>
                                            </p:txEl>
                                          </p:spTgt>
                                        </p:tgtEl>
                                        <p:attrNameLst>
                                          <p:attrName>style.visibility</p:attrName>
                                        </p:attrNameLst>
                                      </p:cBhvr>
                                      <p:to>
                                        <p:strVal val="visible"/>
                                      </p:to>
                                    </p:set>
                                    <p:animEffect transition="in" filter="fade">
                                      <p:cBhvr>
                                        <p:cTn id="12" dur="1000"/>
                                        <p:tgtEl>
                                          <p:spTgt spid="30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4">
                                            <p:txEl>
                                              <p:pRg st="2" end="2"/>
                                            </p:txEl>
                                          </p:spTgt>
                                        </p:tgtEl>
                                        <p:attrNameLst>
                                          <p:attrName>style.visibility</p:attrName>
                                        </p:attrNameLst>
                                      </p:cBhvr>
                                      <p:to>
                                        <p:strVal val="visible"/>
                                      </p:to>
                                    </p:set>
                                    <p:animEffect transition="in" filter="fade">
                                      <p:cBhvr>
                                        <p:cTn id="17" dur="1000"/>
                                        <p:tgtEl>
                                          <p:spTgt spid="30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05"/>
                                        </p:tgtEl>
                                        <p:attrNameLst>
                                          <p:attrName>style.visibility</p:attrName>
                                        </p:attrNameLst>
                                      </p:cBhvr>
                                      <p:to>
                                        <p:strVal val="visible"/>
                                      </p:to>
                                    </p:set>
                                    <p:animEffect transition="in" filter="fade">
                                      <p:cBhvr>
                                        <p:cTn id="22" dur="1000"/>
                                        <p:tgtEl>
                                          <p:spTgt spid="30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06"/>
                                        </p:tgtEl>
                                        <p:attrNameLst>
                                          <p:attrName>style.visibility</p:attrName>
                                        </p:attrNameLst>
                                      </p:cBhvr>
                                      <p:to>
                                        <p:strVal val="visible"/>
                                      </p:to>
                                    </p:set>
                                    <p:animEffect transition="in" filter="fade">
                                      <p:cBhvr>
                                        <p:cTn id="27" dur="1000"/>
                                        <p:tgtEl>
                                          <p:spTgt spid="3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19"/>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Distributed Lag Model</a:t>
            </a:r>
            <a:endParaRPr/>
          </a:p>
        </p:txBody>
      </p:sp>
      <p:sp>
        <p:nvSpPr>
          <p:cNvPr id="312" name="Google Shape;312;p19"/>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lnSpcReduction="10000"/>
          </a:bodyPr>
          <a:lstStyle/>
          <a:p>
            <a:pPr marL="274320" lvl="0" indent="-274320" algn="l" rtl="0">
              <a:spcBef>
                <a:spcPts val="0"/>
              </a:spcBef>
              <a:spcAft>
                <a:spcPts val="0"/>
              </a:spcAft>
              <a:buSzPts val="2470"/>
              <a:buChar char="⚫"/>
            </a:pPr>
            <a:r>
              <a:rPr lang="en-US"/>
              <a:t>In statistics and econometrics, a </a:t>
            </a:r>
            <a:r>
              <a:rPr lang="en-US" b="1"/>
              <a:t>distributed lag model</a:t>
            </a:r>
            <a:r>
              <a:rPr lang="en-US"/>
              <a:t> is a model for time series data in which a regression equation is used to predict current values of a dependent variable based on both the current values of an explanatory variable and the lagged (past period) values of this explanatory variable.</a:t>
            </a:r>
            <a:endParaRPr/>
          </a:p>
          <a:p>
            <a:pPr marL="274320" lvl="0" indent="-274320" algn="l" rtl="0">
              <a:spcBef>
                <a:spcPts val="520"/>
              </a:spcBef>
              <a:spcAft>
                <a:spcPts val="0"/>
              </a:spcAft>
              <a:buSzPts val="2470"/>
              <a:buChar char="⚫"/>
            </a:pPr>
            <a:r>
              <a:rPr lang="en-US"/>
              <a:t>Those models which have the properties of changing only at fixed interval of time and basing current values of the variables on other current values and values that occurred in previous intervals are called Distributed Lag Model.</a:t>
            </a:r>
            <a:endParaRPr/>
          </a:p>
          <a:p>
            <a:pPr marL="274320" lvl="0" indent="-117475" algn="l" rtl="0">
              <a:spcBef>
                <a:spcPts val="520"/>
              </a:spcBef>
              <a:spcAft>
                <a:spcPts val="0"/>
              </a:spcAft>
              <a:buSzPts val="2470"/>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2">
                                            <p:txEl>
                                              <p:pRg st="0" end="0"/>
                                            </p:txEl>
                                          </p:spTgt>
                                        </p:tgtEl>
                                        <p:attrNameLst>
                                          <p:attrName>style.visibility</p:attrName>
                                        </p:attrNameLst>
                                      </p:cBhvr>
                                      <p:to>
                                        <p:strVal val="visible"/>
                                      </p:to>
                                    </p:set>
                                    <p:animEffect transition="in" filter="fade">
                                      <p:cBhvr>
                                        <p:cTn id="7" dur="1000"/>
                                        <p:tgtEl>
                                          <p:spTgt spid="3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12">
                                            <p:txEl>
                                              <p:pRg st="1" end="1"/>
                                            </p:txEl>
                                          </p:spTgt>
                                        </p:tgtEl>
                                        <p:attrNameLst>
                                          <p:attrName>style.visibility</p:attrName>
                                        </p:attrNameLst>
                                      </p:cBhvr>
                                      <p:to>
                                        <p:strVal val="visible"/>
                                      </p:to>
                                    </p:set>
                                    <p:animEffect transition="in" filter="fade">
                                      <p:cBhvr>
                                        <p:cTn id="12" dur="1000"/>
                                        <p:tgtEl>
                                          <p:spTgt spid="31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12">
                                            <p:txEl>
                                              <p:pRg st="2" end="2"/>
                                            </p:txEl>
                                          </p:spTgt>
                                        </p:tgtEl>
                                        <p:attrNameLst>
                                          <p:attrName>style.visibility</p:attrName>
                                        </p:attrNameLst>
                                      </p:cBhvr>
                                      <p:to>
                                        <p:strVal val="visible"/>
                                      </p:to>
                                    </p:set>
                                    <p:animEffect transition="in" filter="fade">
                                      <p:cBhvr>
                                        <p:cTn id="17" dur="1000"/>
                                        <p:tgtEl>
                                          <p:spTgt spid="31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20"/>
          <p:cNvSpPr txBox="1">
            <a:spLocks noGrp="1"/>
          </p:cNvSpPr>
          <p:nvPr>
            <p:ph type="title"/>
          </p:nvPr>
        </p:nvSpPr>
        <p:spPr>
          <a:xfrm>
            <a:off x="457200" y="304800"/>
            <a:ext cx="8229600" cy="8382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Distributed Lag Model</a:t>
            </a:r>
            <a:endParaRPr/>
          </a:p>
        </p:txBody>
      </p:sp>
      <p:sp>
        <p:nvSpPr>
          <p:cNvPr id="318" name="Google Shape;318;p20"/>
          <p:cNvSpPr txBox="1">
            <a:spLocks noGrp="1"/>
          </p:cNvSpPr>
          <p:nvPr>
            <p:ph type="body" idx="1"/>
          </p:nvPr>
        </p:nvSpPr>
        <p:spPr>
          <a:xfrm>
            <a:off x="457200" y="1066800"/>
            <a:ext cx="8229600" cy="5257800"/>
          </a:xfrm>
          <a:prstGeom prst="rect">
            <a:avLst/>
          </a:prstGeom>
          <a:noFill/>
          <a:ln>
            <a:noFill/>
          </a:ln>
        </p:spPr>
        <p:txBody>
          <a:bodyPr spcFirstLastPara="1" wrap="square" lIns="91425" tIns="45700" rIns="91425" bIns="45700" anchor="t" anchorCtr="0">
            <a:normAutofit fontScale="77500" lnSpcReduction="20000"/>
          </a:bodyPr>
          <a:lstStyle/>
          <a:p>
            <a:pPr marL="274320" lvl="0" indent="-274320" algn="l" rtl="0">
              <a:spcBef>
                <a:spcPts val="0"/>
              </a:spcBef>
              <a:spcAft>
                <a:spcPts val="0"/>
              </a:spcAft>
              <a:buSzPct val="95000"/>
              <a:buChar char="⚫"/>
            </a:pPr>
            <a:r>
              <a:rPr lang="en-US"/>
              <a:t>As an example, consider the following simple mathematical model of the national economy.</a:t>
            </a:r>
            <a:endParaRPr/>
          </a:p>
          <a:p>
            <a:pPr marL="640080" lvl="1" indent="-246888" algn="l" rtl="0">
              <a:spcBef>
                <a:spcPts val="336"/>
              </a:spcBef>
              <a:spcAft>
                <a:spcPts val="0"/>
              </a:spcAft>
              <a:buSzPct val="85000"/>
              <a:buChar char="⚫"/>
            </a:pPr>
            <a:r>
              <a:rPr lang="en-US"/>
              <a:t>C=20+0.7(Y-T)…………………….i</a:t>
            </a:r>
            <a:endParaRPr/>
          </a:p>
          <a:p>
            <a:pPr marL="640080" lvl="1" indent="-246888" algn="l" rtl="0">
              <a:spcBef>
                <a:spcPts val="336"/>
              </a:spcBef>
              <a:spcAft>
                <a:spcPts val="0"/>
              </a:spcAft>
              <a:buSzPct val="85000"/>
              <a:buChar char="⚫"/>
            </a:pPr>
            <a:r>
              <a:rPr lang="en-US"/>
              <a:t>I=2+0.1Y……………………………….ii</a:t>
            </a:r>
            <a:endParaRPr/>
          </a:p>
          <a:p>
            <a:pPr marL="640080" lvl="1" indent="-246888" algn="l" rtl="0">
              <a:spcBef>
                <a:spcPts val="336"/>
              </a:spcBef>
              <a:spcAft>
                <a:spcPts val="0"/>
              </a:spcAft>
              <a:buSzPct val="85000"/>
              <a:buChar char="⚫"/>
            </a:pPr>
            <a:r>
              <a:rPr lang="en-US"/>
              <a:t>T=0.2Y………………………………….iii</a:t>
            </a:r>
            <a:endParaRPr/>
          </a:p>
          <a:p>
            <a:pPr marL="640080" lvl="1" indent="-246888" algn="l" rtl="0">
              <a:spcBef>
                <a:spcPts val="336"/>
              </a:spcBef>
              <a:spcAft>
                <a:spcPts val="0"/>
              </a:spcAft>
              <a:buSzPct val="85000"/>
              <a:buChar char="⚫"/>
            </a:pPr>
            <a:r>
              <a:rPr lang="en-US"/>
              <a:t>Y=C+I+G………………………………iv</a:t>
            </a:r>
            <a:endParaRPr/>
          </a:p>
          <a:p>
            <a:pPr marL="393192" lvl="1" indent="0" algn="l" rtl="0">
              <a:spcBef>
                <a:spcPts val="336"/>
              </a:spcBef>
              <a:spcAft>
                <a:spcPts val="0"/>
              </a:spcAft>
              <a:buSzPct val="85000"/>
              <a:buNone/>
            </a:pPr>
            <a:r>
              <a:rPr lang="en-US"/>
              <a:t>	where</a:t>
            </a:r>
            <a:endParaRPr/>
          </a:p>
          <a:p>
            <a:pPr marL="393192" lvl="1" indent="0" algn="l" rtl="0">
              <a:spcBef>
                <a:spcPts val="336"/>
              </a:spcBef>
              <a:spcAft>
                <a:spcPts val="0"/>
              </a:spcAft>
              <a:buSzPct val="85000"/>
              <a:buNone/>
            </a:pPr>
            <a:r>
              <a:rPr lang="en-US"/>
              <a:t>	C be the Consumption</a:t>
            </a:r>
            <a:endParaRPr/>
          </a:p>
          <a:p>
            <a:pPr marL="393192" lvl="1" indent="0" algn="l" rtl="0">
              <a:spcBef>
                <a:spcPts val="336"/>
              </a:spcBef>
              <a:spcAft>
                <a:spcPts val="0"/>
              </a:spcAft>
              <a:buSzPct val="85000"/>
              <a:buNone/>
            </a:pPr>
            <a:r>
              <a:rPr lang="en-US"/>
              <a:t>	I be the Investment</a:t>
            </a:r>
            <a:endParaRPr/>
          </a:p>
          <a:p>
            <a:pPr marL="393192" lvl="1" indent="0" algn="l" rtl="0">
              <a:spcBef>
                <a:spcPts val="336"/>
              </a:spcBef>
              <a:spcAft>
                <a:spcPts val="0"/>
              </a:spcAft>
              <a:buSzPct val="85000"/>
              <a:buNone/>
            </a:pPr>
            <a:r>
              <a:rPr lang="en-US"/>
              <a:t>	T be the Taxes</a:t>
            </a:r>
            <a:endParaRPr/>
          </a:p>
          <a:p>
            <a:pPr marL="393192" lvl="1" indent="0" algn="l" rtl="0">
              <a:spcBef>
                <a:spcPts val="336"/>
              </a:spcBef>
              <a:spcAft>
                <a:spcPts val="0"/>
              </a:spcAft>
              <a:buSzPct val="85000"/>
              <a:buNone/>
            </a:pPr>
            <a:r>
              <a:rPr lang="en-US"/>
              <a:t>	G be the government expenditure</a:t>
            </a:r>
            <a:endParaRPr/>
          </a:p>
          <a:p>
            <a:pPr marL="393192" lvl="1" indent="0" algn="l" rtl="0">
              <a:spcBef>
                <a:spcPts val="336"/>
              </a:spcBef>
              <a:spcAft>
                <a:spcPts val="0"/>
              </a:spcAft>
              <a:buSzPct val="85000"/>
              <a:buNone/>
            </a:pPr>
            <a:r>
              <a:rPr lang="en-US"/>
              <a:t>	Y be the national income</a:t>
            </a:r>
            <a:endParaRPr/>
          </a:p>
          <a:p>
            <a:pPr marL="393192" lvl="1" indent="0" algn="l" rtl="0">
              <a:spcBef>
                <a:spcPts val="336"/>
              </a:spcBef>
              <a:spcAft>
                <a:spcPts val="0"/>
              </a:spcAft>
              <a:buSzPct val="85000"/>
              <a:buNone/>
            </a:pPr>
            <a:r>
              <a:rPr lang="en-US"/>
              <a:t>This is a static model and can be made dynamic by lagging all the variable as follows:</a:t>
            </a:r>
            <a:endParaRPr/>
          </a:p>
          <a:p>
            <a:pPr marL="393192" lvl="1" indent="0" algn="l" rtl="0">
              <a:spcBef>
                <a:spcPts val="336"/>
              </a:spcBef>
              <a:spcAft>
                <a:spcPts val="0"/>
              </a:spcAft>
              <a:buSzPct val="85000"/>
              <a:buNone/>
            </a:pPr>
            <a:r>
              <a:rPr lang="en-US"/>
              <a:t>	 I=2+0.1Y-1</a:t>
            </a:r>
            <a:endParaRPr/>
          </a:p>
          <a:p>
            <a:pPr marL="393192" lvl="1" indent="0" algn="l" rtl="0">
              <a:spcBef>
                <a:spcPts val="336"/>
              </a:spcBef>
              <a:spcAft>
                <a:spcPts val="0"/>
              </a:spcAft>
              <a:buSzPct val="85000"/>
              <a:buNone/>
            </a:pPr>
            <a:r>
              <a:rPr lang="en-US"/>
              <a:t>	 T=0.2Y-1</a:t>
            </a:r>
            <a:endParaRPr/>
          </a:p>
          <a:p>
            <a:pPr marL="393192" lvl="1" indent="0" algn="l" rtl="0">
              <a:spcBef>
                <a:spcPts val="336"/>
              </a:spcBef>
              <a:spcAft>
                <a:spcPts val="0"/>
              </a:spcAft>
              <a:buSzPct val="85000"/>
              <a:buNone/>
            </a:pPr>
            <a:r>
              <a:rPr lang="en-US"/>
              <a:t>	 Y=C-1+I-1+G-1</a:t>
            </a:r>
            <a:endParaRPr/>
          </a:p>
          <a:p>
            <a:pPr marL="393192" lvl="1" indent="0" algn="l" rtl="0">
              <a:spcBef>
                <a:spcPts val="336"/>
              </a:spcBef>
              <a:spcAft>
                <a:spcPts val="0"/>
              </a:spcAft>
              <a:buSzPct val="85000"/>
              <a:buNone/>
            </a:pPr>
            <a:r>
              <a:rPr lang="en-US"/>
              <a:t>	 C=20+0.7(Y-1-T-1)	</a:t>
            </a:r>
            <a:endParaRPr/>
          </a:p>
          <a:p>
            <a:pPr marL="393192" lvl="1" indent="0" algn="l" rtl="0">
              <a:spcBef>
                <a:spcPts val="336"/>
              </a:spcBef>
              <a:spcAft>
                <a:spcPts val="0"/>
              </a:spcAft>
              <a:buSzPct val="85000"/>
              <a:buNone/>
            </a:pPr>
            <a:r>
              <a:rPr lang="en-US"/>
              <a:t>	</a:t>
            </a:r>
            <a:endParaRPr/>
          </a:p>
          <a:p>
            <a:pPr marL="393192" lvl="1" indent="0" algn="l" rtl="0">
              <a:spcBef>
                <a:spcPts val="336"/>
              </a:spcBef>
              <a:spcAft>
                <a:spcPts val="0"/>
              </a:spcAft>
              <a:buSzPct val="85000"/>
              <a:buNone/>
            </a:pPr>
            <a:endParaRPr/>
          </a:p>
          <a:p>
            <a:pPr marL="393192" lvl="1" indent="0" algn="l" rtl="0">
              <a:spcBef>
                <a:spcPts val="336"/>
              </a:spcBef>
              <a:spcAft>
                <a:spcPts val="0"/>
              </a:spcAft>
              <a:buSzPct val="85000"/>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8">
                                            <p:txEl>
                                              <p:pRg st="0" end="0"/>
                                            </p:txEl>
                                          </p:spTgt>
                                        </p:tgtEl>
                                        <p:attrNameLst>
                                          <p:attrName>style.visibility</p:attrName>
                                        </p:attrNameLst>
                                      </p:cBhvr>
                                      <p:to>
                                        <p:strVal val="visible"/>
                                      </p:to>
                                    </p:set>
                                    <p:animEffect transition="in" filter="fade">
                                      <p:cBhvr>
                                        <p:cTn id="7" dur="1000"/>
                                        <p:tgtEl>
                                          <p:spTgt spid="3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18">
                                            <p:txEl>
                                              <p:pRg st="1" end="1"/>
                                            </p:txEl>
                                          </p:spTgt>
                                        </p:tgtEl>
                                        <p:attrNameLst>
                                          <p:attrName>style.visibility</p:attrName>
                                        </p:attrNameLst>
                                      </p:cBhvr>
                                      <p:to>
                                        <p:strVal val="visible"/>
                                      </p:to>
                                    </p:set>
                                    <p:animEffect transition="in" filter="fade">
                                      <p:cBhvr>
                                        <p:cTn id="12" dur="1000"/>
                                        <p:tgtEl>
                                          <p:spTgt spid="31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18">
                                            <p:txEl>
                                              <p:pRg st="2" end="2"/>
                                            </p:txEl>
                                          </p:spTgt>
                                        </p:tgtEl>
                                        <p:attrNameLst>
                                          <p:attrName>style.visibility</p:attrName>
                                        </p:attrNameLst>
                                      </p:cBhvr>
                                      <p:to>
                                        <p:strVal val="visible"/>
                                      </p:to>
                                    </p:set>
                                    <p:animEffect transition="in" filter="fade">
                                      <p:cBhvr>
                                        <p:cTn id="17" dur="1000"/>
                                        <p:tgtEl>
                                          <p:spTgt spid="31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8">
                                            <p:txEl>
                                              <p:pRg st="3" end="3"/>
                                            </p:txEl>
                                          </p:spTgt>
                                        </p:tgtEl>
                                        <p:attrNameLst>
                                          <p:attrName>style.visibility</p:attrName>
                                        </p:attrNameLst>
                                      </p:cBhvr>
                                      <p:to>
                                        <p:strVal val="visible"/>
                                      </p:to>
                                    </p:set>
                                    <p:animEffect transition="in" filter="fade">
                                      <p:cBhvr>
                                        <p:cTn id="22" dur="1000"/>
                                        <p:tgtEl>
                                          <p:spTgt spid="31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18">
                                            <p:txEl>
                                              <p:pRg st="4" end="4"/>
                                            </p:txEl>
                                          </p:spTgt>
                                        </p:tgtEl>
                                        <p:attrNameLst>
                                          <p:attrName>style.visibility</p:attrName>
                                        </p:attrNameLst>
                                      </p:cBhvr>
                                      <p:to>
                                        <p:strVal val="visible"/>
                                      </p:to>
                                    </p:set>
                                    <p:animEffect transition="in" filter="fade">
                                      <p:cBhvr>
                                        <p:cTn id="27" dur="1000"/>
                                        <p:tgtEl>
                                          <p:spTgt spid="31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18">
                                            <p:txEl>
                                              <p:pRg st="5" end="5"/>
                                            </p:txEl>
                                          </p:spTgt>
                                        </p:tgtEl>
                                        <p:attrNameLst>
                                          <p:attrName>style.visibility</p:attrName>
                                        </p:attrNameLst>
                                      </p:cBhvr>
                                      <p:to>
                                        <p:strVal val="visible"/>
                                      </p:to>
                                    </p:set>
                                    <p:animEffect transition="in" filter="fade">
                                      <p:cBhvr>
                                        <p:cTn id="32" dur="1000"/>
                                        <p:tgtEl>
                                          <p:spTgt spid="31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18">
                                            <p:txEl>
                                              <p:pRg st="6" end="6"/>
                                            </p:txEl>
                                          </p:spTgt>
                                        </p:tgtEl>
                                        <p:attrNameLst>
                                          <p:attrName>style.visibility</p:attrName>
                                        </p:attrNameLst>
                                      </p:cBhvr>
                                      <p:to>
                                        <p:strVal val="visible"/>
                                      </p:to>
                                    </p:set>
                                    <p:animEffect transition="in" filter="fade">
                                      <p:cBhvr>
                                        <p:cTn id="37" dur="1000"/>
                                        <p:tgtEl>
                                          <p:spTgt spid="318">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18">
                                            <p:txEl>
                                              <p:pRg st="7" end="7"/>
                                            </p:txEl>
                                          </p:spTgt>
                                        </p:tgtEl>
                                        <p:attrNameLst>
                                          <p:attrName>style.visibility</p:attrName>
                                        </p:attrNameLst>
                                      </p:cBhvr>
                                      <p:to>
                                        <p:strVal val="visible"/>
                                      </p:to>
                                    </p:set>
                                    <p:animEffect transition="in" filter="fade">
                                      <p:cBhvr>
                                        <p:cTn id="42" dur="1000"/>
                                        <p:tgtEl>
                                          <p:spTgt spid="318">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18">
                                            <p:txEl>
                                              <p:pRg st="8" end="8"/>
                                            </p:txEl>
                                          </p:spTgt>
                                        </p:tgtEl>
                                        <p:attrNameLst>
                                          <p:attrName>style.visibility</p:attrName>
                                        </p:attrNameLst>
                                      </p:cBhvr>
                                      <p:to>
                                        <p:strVal val="visible"/>
                                      </p:to>
                                    </p:set>
                                    <p:animEffect transition="in" filter="fade">
                                      <p:cBhvr>
                                        <p:cTn id="47" dur="1000"/>
                                        <p:tgtEl>
                                          <p:spTgt spid="318">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18">
                                            <p:txEl>
                                              <p:pRg st="9" end="9"/>
                                            </p:txEl>
                                          </p:spTgt>
                                        </p:tgtEl>
                                        <p:attrNameLst>
                                          <p:attrName>style.visibility</p:attrName>
                                        </p:attrNameLst>
                                      </p:cBhvr>
                                      <p:to>
                                        <p:strVal val="visible"/>
                                      </p:to>
                                    </p:set>
                                    <p:animEffect transition="in" filter="fade">
                                      <p:cBhvr>
                                        <p:cTn id="52" dur="1000"/>
                                        <p:tgtEl>
                                          <p:spTgt spid="318">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18">
                                            <p:txEl>
                                              <p:pRg st="10" end="10"/>
                                            </p:txEl>
                                          </p:spTgt>
                                        </p:tgtEl>
                                        <p:attrNameLst>
                                          <p:attrName>style.visibility</p:attrName>
                                        </p:attrNameLst>
                                      </p:cBhvr>
                                      <p:to>
                                        <p:strVal val="visible"/>
                                      </p:to>
                                    </p:set>
                                    <p:animEffect transition="in" filter="fade">
                                      <p:cBhvr>
                                        <p:cTn id="57" dur="1000"/>
                                        <p:tgtEl>
                                          <p:spTgt spid="318">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318">
                                            <p:txEl>
                                              <p:pRg st="11" end="11"/>
                                            </p:txEl>
                                          </p:spTgt>
                                        </p:tgtEl>
                                        <p:attrNameLst>
                                          <p:attrName>style.visibility</p:attrName>
                                        </p:attrNameLst>
                                      </p:cBhvr>
                                      <p:to>
                                        <p:strVal val="visible"/>
                                      </p:to>
                                    </p:set>
                                    <p:animEffect transition="in" filter="fade">
                                      <p:cBhvr>
                                        <p:cTn id="62" dur="1000"/>
                                        <p:tgtEl>
                                          <p:spTgt spid="318">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318">
                                            <p:txEl>
                                              <p:pRg st="12" end="12"/>
                                            </p:txEl>
                                          </p:spTgt>
                                        </p:tgtEl>
                                        <p:attrNameLst>
                                          <p:attrName>style.visibility</p:attrName>
                                        </p:attrNameLst>
                                      </p:cBhvr>
                                      <p:to>
                                        <p:strVal val="visible"/>
                                      </p:to>
                                    </p:set>
                                    <p:animEffect transition="in" filter="fade">
                                      <p:cBhvr>
                                        <p:cTn id="67" dur="1000"/>
                                        <p:tgtEl>
                                          <p:spTgt spid="318">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318">
                                            <p:txEl>
                                              <p:pRg st="13" end="13"/>
                                            </p:txEl>
                                          </p:spTgt>
                                        </p:tgtEl>
                                        <p:attrNameLst>
                                          <p:attrName>style.visibility</p:attrName>
                                        </p:attrNameLst>
                                      </p:cBhvr>
                                      <p:to>
                                        <p:strVal val="visible"/>
                                      </p:to>
                                    </p:set>
                                    <p:animEffect transition="in" filter="fade">
                                      <p:cBhvr>
                                        <p:cTn id="72" dur="1000"/>
                                        <p:tgtEl>
                                          <p:spTgt spid="318">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318">
                                            <p:txEl>
                                              <p:pRg st="14" end="14"/>
                                            </p:txEl>
                                          </p:spTgt>
                                        </p:tgtEl>
                                        <p:attrNameLst>
                                          <p:attrName>style.visibility</p:attrName>
                                        </p:attrNameLst>
                                      </p:cBhvr>
                                      <p:to>
                                        <p:strVal val="visible"/>
                                      </p:to>
                                    </p:set>
                                    <p:animEffect transition="in" filter="fade">
                                      <p:cBhvr>
                                        <p:cTn id="77" dur="1000"/>
                                        <p:tgtEl>
                                          <p:spTgt spid="318">
                                            <p:txEl>
                                              <p:pRg st="14" end="14"/>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318">
                                            <p:txEl>
                                              <p:pRg st="15" end="15"/>
                                            </p:txEl>
                                          </p:spTgt>
                                        </p:tgtEl>
                                        <p:attrNameLst>
                                          <p:attrName>style.visibility</p:attrName>
                                        </p:attrNameLst>
                                      </p:cBhvr>
                                      <p:to>
                                        <p:strVal val="visible"/>
                                      </p:to>
                                    </p:set>
                                    <p:animEffect transition="in" filter="fade">
                                      <p:cBhvr>
                                        <p:cTn id="82" dur="1000"/>
                                        <p:tgtEl>
                                          <p:spTgt spid="318">
                                            <p:txEl>
                                              <p:pRg st="15" end="15"/>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318">
                                            <p:txEl>
                                              <p:pRg st="16" end="16"/>
                                            </p:txEl>
                                          </p:spTgt>
                                        </p:tgtEl>
                                        <p:attrNameLst>
                                          <p:attrName>style.visibility</p:attrName>
                                        </p:attrNameLst>
                                      </p:cBhvr>
                                      <p:to>
                                        <p:strVal val="visible"/>
                                      </p:to>
                                    </p:set>
                                    <p:animEffect transition="in" filter="fade">
                                      <p:cBhvr>
                                        <p:cTn id="87" dur="1000"/>
                                        <p:tgtEl>
                                          <p:spTgt spid="318">
                                            <p:txEl>
                                              <p:pRg st="16" end="16"/>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318">
                                            <p:txEl>
                                              <p:pRg st="17" end="17"/>
                                            </p:txEl>
                                          </p:spTgt>
                                        </p:tgtEl>
                                        <p:attrNameLst>
                                          <p:attrName>style.visibility</p:attrName>
                                        </p:attrNameLst>
                                      </p:cBhvr>
                                      <p:to>
                                        <p:strVal val="visible"/>
                                      </p:to>
                                    </p:set>
                                    <p:animEffect transition="in" filter="fade">
                                      <p:cBhvr>
                                        <p:cTn id="92" dur="1000"/>
                                        <p:tgtEl>
                                          <p:spTgt spid="318">
                                            <p:txEl>
                                              <p:pRg st="17" end="17"/>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nodeType="clickEffect">
                                  <p:stCondLst>
                                    <p:cond delay="0"/>
                                  </p:stCondLst>
                                  <p:childTnLst>
                                    <p:set>
                                      <p:cBhvr>
                                        <p:cTn id="96" dur="1" fill="hold">
                                          <p:stCondLst>
                                            <p:cond delay="0"/>
                                          </p:stCondLst>
                                        </p:cTn>
                                        <p:tgtEl>
                                          <p:spTgt spid="318">
                                            <p:txEl>
                                              <p:pRg st="18" end="18"/>
                                            </p:txEl>
                                          </p:spTgt>
                                        </p:tgtEl>
                                        <p:attrNameLst>
                                          <p:attrName>style.visibility</p:attrName>
                                        </p:attrNameLst>
                                      </p:cBhvr>
                                      <p:to>
                                        <p:strVal val="visible"/>
                                      </p:to>
                                    </p:set>
                                    <p:animEffect transition="in" filter="fade">
                                      <p:cBhvr>
                                        <p:cTn id="97" dur="1000"/>
                                        <p:tgtEl>
                                          <p:spTgt spid="318">
                                            <p:txEl>
                                              <p:pRg st="18" end="1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21"/>
          <p:cNvSpPr txBox="1">
            <a:spLocks noGrp="1"/>
          </p:cNvSpPr>
          <p:nvPr>
            <p:ph type="title"/>
          </p:nvPr>
        </p:nvSpPr>
        <p:spPr>
          <a:xfrm>
            <a:off x="457200" y="304800"/>
            <a:ext cx="8229600" cy="762000"/>
          </a:xfrm>
          <a:prstGeom prst="rect">
            <a:avLst/>
          </a:prstGeom>
          <a:noFill/>
          <a:ln>
            <a:noFill/>
          </a:ln>
        </p:spPr>
        <p:txBody>
          <a:bodyPr spcFirstLastPara="1" wrap="square" lIns="0" tIns="45700" rIns="0" bIns="0" anchor="b" anchorCtr="0">
            <a:normAutofit fontScale="90000"/>
          </a:bodyPr>
          <a:lstStyle/>
          <a:p>
            <a:pPr marL="0" lvl="0" indent="0" algn="l" rtl="0">
              <a:spcBef>
                <a:spcPts val="0"/>
              </a:spcBef>
              <a:spcAft>
                <a:spcPts val="0"/>
              </a:spcAft>
              <a:buClr>
                <a:schemeClr val="dk2"/>
              </a:buClr>
              <a:buSzPct val="100000"/>
              <a:buFont typeface="Calibri"/>
              <a:buNone/>
            </a:pPr>
            <a:r>
              <a:rPr lang="en-US"/>
              <a:t>Cobweb Model</a:t>
            </a:r>
            <a:endParaRPr/>
          </a:p>
        </p:txBody>
      </p:sp>
      <p:sp>
        <p:nvSpPr>
          <p:cNvPr id="324" name="Google Shape;324;p21"/>
          <p:cNvSpPr txBox="1">
            <a:spLocks noGrp="1"/>
          </p:cNvSpPr>
          <p:nvPr>
            <p:ph type="body" idx="1"/>
          </p:nvPr>
        </p:nvSpPr>
        <p:spPr>
          <a:xfrm>
            <a:off x="457200" y="1143000"/>
            <a:ext cx="8229600" cy="518160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US"/>
              <a:t>The </a:t>
            </a:r>
            <a:r>
              <a:rPr lang="en-US" b="1"/>
              <a:t>cobweb model</a:t>
            </a:r>
            <a:r>
              <a:rPr lang="en-US"/>
              <a:t> or </a:t>
            </a:r>
            <a:r>
              <a:rPr lang="en-US" b="1"/>
              <a:t>cobweb theory</a:t>
            </a:r>
            <a:r>
              <a:rPr lang="en-US"/>
              <a:t> is an economic model that explains why prices might be subject to periodic fluctuations in certain types of markets.</a:t>
            </a:r>
            <a:endParaRPr/>
          </a:p>
          <a:p>
            <a:pPr marL="274320" lvl="0" indent="-274320" algn="l" rtl="0">
              <a:spcBef>
                <a:spcPts val="520"/>
              </a:spcBef>
              <a:spcAft>
                <a:spcPts val="0"/>
              </a:spcAft>
              <a:buSzPts val="2470"/>
              <a:buChar char="⚫"/>
            </a:pPr>
            <a:r>
              <a:rPr lang="en-US"/>
              <a:t>It describes cyclical supply and demand in a market where the amount produced must be chosen before prices are observed. </a:t>
            </a:r>
            <a:endParaRPr/>
          </a:p>
          <a:p>
            <a:pPr marL="274320" lvl="0" indent="-274320" algn="l" rtl="0">
              <a:spcBef>
                <a:spcPts val="520"/>
              </a:spcBef>
              <a:spcAft>
                <a:spcPts val="0"/>
              </a:spcAft>
              <a:buSzPts val="2470"/>
              <a:buChar char="⚫"/>
            </a:pPr>
            <a:r>
              <a:rPr lang="en-US"/>
              <a:t>Producers' expectations about prices are assumed to be based on observations of previous prices.</a:t>
            </a:r>
            <a:endParaRPr/>
          </a:p>
          <a:p>
            <a:pPr marL="274320" lvl="0" indent="-117475" algn="l" rtl="0">
              <a:spcBef>
                <a:spcPts val="520"/>
              </a:spcBef>
              <a:spcAft>
                <a:spcPts val="0"/>
              </a:spcAft>
              <a:buSzPts val="2470"/>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24">
                                            <p:txEl>
                                              <p:pRg st="0" end="0"/>
                                            </p:txEl>
                                          </p:spTgt>
                                        </p:tgtEl>
                                        <p:attrNameLst>
                                          <p:attrName>style.visibility</p:attrName>
                                        </p:attrNameLst>
                                      </p:cBhvr>
                                      <p:to>
                                        <p:strVal val="visible"/>
                                      </p:to>
                                    </p:set>
                                    <p:animEffect transition="in" filter="fade">
                                      <p:cBhvr>
                                        <p:cTn id="7" dur="1000"/>
                                        <p:tgtEl>
                                          <p:spTgt spid="32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24">
                                            <p:txEl>
                                              <p:pRg st="1" end="1"/>
                                            </p:txEl>
                                          </p:spTgt>
                                        </p:tgtEl>
                                        <p:attrNameLst>
                                          <p:attrName>style.visibility</p:attrName>
                                        </p:attrNameLst>
                                      </p:cBhvr>
                                      <p:to>
                                        <p:strVal val="visible"/>
                                      </p:to>
                                    </p:set>
                                    <p:animEffect transition="in" filter="fade">
                                      <p:cBhvr>
                                        <p:cTn id="12" dur="1000"/>
                                        <p:tgtEl>
                                          <p:spTgt spid="32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24">
                                            <p:txEl>
                                              <p:pRg st="2" end="2"/>
                                            </p:txEl>
                                          </p:spTgt>
                                        </p:tgtEl>
                                        <p:attrNameLst>
                                          <p:attrName>style.visibility</p:attrName>
                                        </p:attrNameLst>
                                      </p:cBhvr>
                                      <p:to>
                                        <p:strVal val="visible"/>
                                      </p:to>
                                    </p:set>
                                    <p:animEffect transition="in" filter="fade">
                                      <p:cBhvr>
                                        <p:cTn id="17" dur="1000"/>
                                        <p:tgtEl>
                                          <p:spTgt spid="32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4">
                                            <p:txEl>
                                              <p:pRg st="3" end="3"/>
                                            </p:txEl>
                                          </p:spTgt>
                                        </p:tgtEl>
                                        <p:attrNameLst>
                                          <p:attrName>style.visibility</p:attrName>
                                        </p:attrNameLst>
                                      </p:cBhvr>
                                      <p:to>
                                        <p:strVal val="visible"/>
                                      </p:to>
                                    </p:set>
                                    <p:animEffect transition="in" filter="fade">
                                      <p:cBhvr>
                                        <p:cTn id="22" dur="1000"/>
                                        <p:tgtEl>
                                          <p:spTgt spid="32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22"/>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endParaRPr/>
          </a:p>
        </p:txBody>
      </p:sp>
      <p:sp>
        <p:nvSpPr>
          <p:cNvPr id="330" name="Google Shape;330;p22"/>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fontScale="92500" lnSpcReduction="20000"/>
          </a:bodyPr>
          <a:lstStyle/>
          <a:p>
            <a:pPr marL="274320" lvl="0" indent="-274320" algn="l" rtl="0">
              <a:spcBef>
                <a:spcPts val="0"/>
              </a:spcBef>
              <a:spcAft>
                <a:spcPts val="0"/>
              </a:spcAft>
              <a:buSzPct val="95000"/>
              <a:buChar char="⚫"/>
            </a:pPr>
            <a:r>
              <a:rPr lang="en-US"/>
              <a:t>Suppose for example that as a result of unexpectedly bad weather, farmers go to market with an unusually small crop of strawberries. </a:t>
            </a:r>
            <a:endParaRPr/>
          </a:p>
          <a:p>
            <a:pPr marL="274320" lvl="0" indent="-274320" algn="l" rtl="0">
              <a:spcBef>
                <a:spcPts val="481"/>
              </a:spcBef>
              <a:spcAft>
                <a:spcPts val="0"/>
              </a:spcAft>
              <a:buSzPct val="95000"/>
              <a:buChar char="⚫"/>
            </a:pPr>
            <a:r>
              <a:rPr lang="en-US"/>
              <a:t>This shortage, equivalent to a leftward shift in the market's supply curve, results in high prices.</a:t>
            </a:r>
            <a:endParaRPr/>
          </a:p>
          <a:p>
            <a:pPr marL="274320" lvl="0" indent="-274320" algn="l" rtl="0">
              <a:spcBef>
                <a:spcPts val="481"/>
              </a:spcBef>
              <a:spcAft>
                <a:spcPts val="0"/>
              </a:spcAft>
              <a:buSzPct val="95000"/>
              <a:buChar char="⚫"/>
            </a:pPr>
            <a:r>
              <a:rPr lang="en-US"/>
              <a:t> If farmers expect these high price conditions to continue, then in the following year, they will raise their production of strawberries relative to other crops. </a:t>
            </a:r>
            <a:endParaRPr/>
          </a:p>
          <a:p>
            <a:pPr marL="274320" lvl="0" indent="-274320" algn="l" rtl="0">
              <a:spcBef>
                <a:spcPts val="481"/>
              </a:spcBef>
              <a:spcAft>
                <a:spcPts val="0"/>
              </a:spcAft>
              <a:buSzPct val="95000"/>
              <a:buChar char="⚫"/>
            </a:pPr>
            <a:r>
              <a:rPr lang="en-US"/>
              <a:t>Therefore, when they go to market the supply will be high, resulting in low prices. </a:t>
            </a:r>
            <a:endParaRPr/>
          </a:p>
          <a:p>
            <a:pPr marL="274320" lvl="0" indent="-274320" algn="l" rtl="0">
              <a:spcBef>
                <a:spcPts val="481"/>
              </a:spcBef>
              <a:spcAft>
                <a:spcPts val="0"/>
              </a:spcAft>
              <a:buSzPct val="95000"/>
              <a:buChar char="⚫"/>
            </a:pPr>
            <a:r>
              <a:rPr lang="en-US"/>
              <a:t>If they then expect low prices to continue, they will decrease their production of strawberries for the next year, resulting in high prices again.</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0">
                                            <p:txEl>
                                              <p:pRg st="0" end="0"/>
                                            </p:txEl>
                                          </p:spTgt>
                                        </p:tgtEl>
                                        <p:attrNameLst>
                                          <p:attrName>style.visibility</p:attrName>
                                        </p:attrNameLst>
                                      </p:cBhvr>
                                      <p:to>
                                        <p:strVal val="visible"/>
                                      </p:to>
                                    </p:set>
                                    <p:animEffect transition="in" filter="fade">
                                      <p:cBhvr>
                                        <p:cTn id="7" dur="1000"/>
                                        <p:tgtEl>
                                          <p:spTgt spid="3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30">
                                            <p:txEl>
                                              <p:pRg st="1" end="1"/>
                                            </p:txEl>
                                          </p:spTgt>
                                        </p:tgtEl>
                                        <p:attrNameLst>
                                          <p:attrName>style.visibility</p:attrName>
                                        </p:attrNameLst>
                                      </p:cBhvr>
                                      <p:to>
                                        <p:strVal val="visible"/>
                                      </p:to>
                                    </p:set>
                                    <p:animEffect transition="in" filter="fade">
                                      <p:cBhvr>
                                        <p:cTn id="12" dur="1000"/>
                                        <p:tgtEl>
                                          <p:spTgt spid="33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30">
                                            <p:txEl>
                                              <p:pRg st="2" end="2"/>
                                            </p:txEl>
                                          </p:spTgt>
                                        </p:tgtEl>
                                        <p:attrNameLst>
                                          <p:attrName>style.visibility</p:attrName>
                                        </p:attrNameLst>
                                      </p:cBhvr>
                                      <p:to>
                                        <p:strVal val="visible"/>
                                      </p:to>
                                    </p:set>
                                    <p:animEffect transition="in" filter="fade">
                                      <p:cBhvr>
                                        <p:cTn id="17" dur="1000"/>
                                        <p:tgtEl>
                                          <p:spTgt spid="33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30">
                                            <p:txEl>
                                              <p:pRg st="3" end="3"/>
                                            </p:txEl>
                                          </p:spTgt>
                                        </p:tgtEl>
                                        <p:attrNameLst>
                                          <p:attrName>style.visibility</p:attrName>
                                        </p:attrNameLst>
                                      </p:cBhvr>
                                      <p:to>
                                        <p:strVal val="visible"/>
                                      </p:to>
                                    </p:set>
                                    <p:animEffect transition="in" filter="fade">
                                      <p:cBhvr>
                                        <p:cTn id="22" dur="1000"/>
                                        <p:tgtEl>
                                          <p:spTgt spid="33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30">
                                            <p:txEl>
                                              <p:pRg st="4" end="4"/>
                                            </p:txEl>
                                          </p:spTgt>
                                        </p:tgtEl>
                                        <p:attrNameLst>
                                          <p:attrName>style.visibility</p:attrName>
                                        </p:attrNameLst>
                                      </p:cBhvr>
                                      <p:to>
                                        <p:strVal val="visible"/>
                                      </p:to>
                                    </p:set>
                                    <p:animEffect transition="in" filter="fade">
                                      <p:cBhvr>
                                        <p:cTn id="27" dur="1000"/>
                                        <p:tgtEl>
                                          <p:spTgt spid="33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23"/>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endParaRPr/>
          </a:p>
        </p:txBody>
      </p:sp>
      <p:pic>
        <p:nvPicPr>
          <p:cNvPr id="336" name="Google Shape;336;p23"/>
          <p:cNvPicPr preferRelativeResize="0">
            <a:picLocks noGrp="1"/>
          </p:cNvPicPr>
          <p:nvPr>
            <p:ph type="body" idx="1"/>
          </p:nvPr>
        </p:nvPicPr>
        <p:blipFill rotWithShape="1">
          <a:blip r:embed="rId3">
            <a:alphaModFix/>
          </a:blip>
          <a:srcRect/>
          <a:stretch/>
        </p:blipFill>
        <p:spPr>
          <a:xfrm>
            <a:off x="2377281" y="1935163"/>
            <a:ext cx="4389437" cy="4389437"/>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g2cf3a27bc01_0_0"/>
          <p:cNvSpPr txBox="1">
            <a:spLocks noGrp="1"/>
          </p:cNvSpPr>
          <p:nvPr>
            <p:ph type="title"/>
          </p:nvPr>
        </p:nvSpPr>
        <p:spPr>
          <a:xfrm>
            <a:off x="457200" y="278600"/>
            <a:ext cx="8229600" cy="900000"/>
          </a:xfrm>
          <a:prstGeom prst="rect">
            <a:avLst/>
          </a:prstGeom>
        </p:spPr>
        <p:txBody>
          <a:bodyPr spcFirstLastPara="1" wrap="square" lIns="0" tIns="45700" rIns="0" bIns="0" anchor="b" anchorCtr="0">
            <a:normAutofit fontScale="90000"/>
          </a:bodyPr>
          <a:lstStyle/>
          <a:p>
            <a:pPr marL="0" lvl="0" indent="0" algn="l" rtl="0">
              <a:spcBef>
                <a:spcPts val="0"/>
              </a:spcBef>
              <a:spcAft>
                <a:spcPts val="0"/>
              </a:spcAft>
              <a:buNone/>
            </a:pPr>
            <a:r>
              <a:rPr lang="en-US"/>
              <a:t>Draw a cbweb model for the following fmarket</a:t>
            </a:r>
            <a:endParaRPr/>
          </a:p>
        </p:txBody>
      </p:sp>
      <p:sp>
        <p:nvSpPr>
          <p:cNvPr id="343" name="Google Shape;343;g2cf3a27bc01_0_0"/>
          <p:cNvSpPr txBox="1">
            <a:spLocks noGrp="1"/>
          </p:cNvSpPr>
          <p:nvPr>
            <p:ph type="body" idx="1"/>
          </p:nvPr>
        </p:nvSpPr>
        <p:spPr>
          <a:xfrm>
            <a:off x="457200" y="1178599"/>
            <a:ext cx="8229600" cy="5145900"/>
          </a:xfrm>
          <a:prstGeom prst="rect">
            <a:avLst/>
          </a:prstGeom>
        </p:spPr>
        <p:txBody>
          <a:bodyPr spcFirstLastPara="1" wrap="square" lIns="91425" tIns="45700" rIns="91425" bIns="45700" anchor="t" anchorCtr="0">
            <a:normAutofit fontScale="55000" lnSpcReduction="20000"/>
          </a:bodyPr>
          <a:lstStyle/>
          <a:p>
            <a:pPr marL="0" lvl="0" indent="0" algn="l" rtl="0">
              <a:spcBef>
                <a:spcPts val="360"/>
              </a:spcBef>
              <a:spcAft>
                <a:spcPts val="0"/>
              </a:spcAft>
              <a:buNone/>
            </a:pPr>
            <a:r>
              <a:rPr lang="en-US"/>
              <a:t>D=12.4-1.2P</a:t>
            </a:r>
            <a:endParaRPr/>
          </a:p>
          <a:p>
            <a:pPr marL="0" lvl="0" indent="0" algn="l" rtl="0">
              <a:spcBef>
                <a:spcPts val="360"/>
              </a:spcBef>
              <a:spcAft>
                <a:spcPts val="0"/>
              </a:spcAft>
              <a:buNone/>
            </a:pPr>
            <a:r>
              <a:rPr lang="en-US"/>
              <a:t>S=1.0+0.9P</a:t>
            </a:r>
            <a:r>
              <a:rPr lang="en-US" sz="2800" baseline="-25000"/>
              <a:t>-1</a:t>
            </a:r>
            <a:endParaRPr sz="2800" baseline="-25000"/>
          </a:p>
          <a:p>
            <a:pPr marL="0" lvl="0" indent="0" algn="l" rtl="0">
              <a:spcBef>
                <a:spcPts val="360"/>
              </a:spcBef>
              <a:spcAft>
                <a:spcPts val="0"/>
              </a:spcAft>
              <a:buNone/>
            </a:pPr>
            <a:r>
              <a:rPr lang="en-US" sz="2800"/>
              <a:t>P</a:t>
            </a:r>
            <a:r>
              <a:rPr lang="en-US" sz="2800" baseline="-25000"/>
              <a:t>0</a:t>
            </a:r>
            <a:r>
              <a:rPr lang="en-US" sz="2800"/>
              <a:t>=1</a:t>
            </a:r>
            <a:endParaRPr sz="2800"/>
          </a:p>
          <a:p>
            <a:pPr marL="0" lvl="0" indent="0" algn="l" rtl="0">
              <a:spcBef>
                <a:spcPts val="360"/>
              </a:spcBef>
              <a:spcAft>
                <a:spcPts val="0"/>
              </a:spcAft>
              <a:buNone/>
            </a:pPr>
            <a:r>
              <a:rPr lang="en-US" sz="2800"/>
              <a:t>Solution:</a:t>
            </a:r>
            <a:endParaRPr sz="2800"/>
          </a:p>
          <a:p>
            <a:pPr marL="0" lvl="0" indent="0" algn="l" rtl="0">
              <a:spcBef>
                <a:spcPts val="360"/>
              </a:spcBef>
              <a:spcAft>
                <a:spcPts val="0"/>
              </a:spcAft>
              <a:buNone/>
            </a:pPr>
            <a:r>
              <a:rPr lang="en-US" sz="2800"/>
              <a:t>S=D</a:t>
            </a:r>
            <a:endParaRPr sz="2800"/>
          </a:p>
          <a:p>
            <a:pPr marL="0" lvl="0" indent="0" algn="l" rtl="0">
              <a:spcBef>
                <a:spcPts val="360"/>
              </a:spcBef>
              <a:spcAft>
                <a:spcPts val="0"/>
              </a:spcAft>
              <a:buNone/>
            </a:pPr>
            <a:r>
              <a:rPr lang="en-US" sz="2800"/>
              <a:t>i.e. 12.4-1.2P=1.0+0.9</a:t>
            </a:r>
            <a:r>
              <a:rPr lang="en-US"/>
              <a:t>P</a:t>
            </a:r>
            <a:r>
              <a:rPr lang="en-US" sz="2800" baseline="-25000"/>
              <a:t>-1</a:t>
            </a:r>
            <a:endParaRPr sz="2800" baseline="-25000"/>
          </a:p>
          <a:p>
            <a:pPr marL="0" lvl="0" indent="0" algn="l" rtl="0">
              <a:spcBef>
                <a:spcPts val="360"/>
              </a:spcBef>
              <a:spcAft>
                <a:spcPts val="0"/>
              </a:spcAft>
              <a:buNone/>
            </a:pPr>
            <a:r>
              <a:rPr lang="en-US" sz="2800"/>
              <a:t>Above equation can be written as </a:t>
            </a:r>
            <a:endParaRPr sz="2800"/>
          </a:p>
          <a:p>
            <a:pPr marL="0" lvl="0" indent="0" algn="l" rtl="0">
              <a:spcBef>
                <a:spcPts val="360"/>
              </a:spcBef>
              <a:spcAft>
                <a:spcPts val="0"/>
              </a:spcAft>
              <a:buNone/>
            </a:pPr>
            <a:r>
              <a:rPr lang="en-US" sz="2800"/>
              <a:t>12.4-1.2P</a:t>
            </a:r>
            <a:r>
              <a:rPr lang="en-US" sz="2800" baseline="-25000"/>
              <a:t>1</a:t>
            </a:r>
            <a:r>
              <a:rPr lang="en-US" sz="2800"/>
              <a:t>=1.0+0.9</a:t>
            </a:r>
            <a:r>
              <a:rPr lang="en-US"/>
              <a:t>P</a:t>
            </a:r>
            <a:r>
              <a:rPr lang="en-US" sz="2800" baseline="-25000"/>
              <a:t>0</a:t>
            </a:r>
            <a:endParaRPr sz="2800" baseline="-25000"/>
          </a:p>
          <a:p>
            <a:pPr marL="0" lvl="0" indent="0" algn="l" rtl="0">
              <a:spcBef>
                <a:spcPts val="360"/>
              </a:spcBef>
              <a:spcAft>
                <a:spcPts val="0"/>
              </a:spcAft>
              <a:buNone/>
            </a:pPr>
            <a:r>
              <a:rPr lang="en-US" sz="2800"/>
              <a:t>Now, given </a:t>
            </a:r>
            <a:r>
              <a:rPr lang="en-US"/>
              <a:t>P</a:t>
            </a:r>
            <a:r>
              <a:rPr lang="en-US" sz="2800" baseline="-25000"/>
              <a:t>0</a:t>
            </a:r>
            <a:r>
              <a:rPr lang="en-US" sz="2800"/>
              <a:t>=1</a:t>
            </a:r>
            <a:endParaRPr sz="2800"/>
          </a:p>
          <a:p>
            <a:pPr marL="0" lvl="0" indent="0" algn="l" rtl="0">
              <a:spcBef>
                <a:spcPts val="360"/>
              </a:spcBef>
              <a:spcAft>
                <a:spcPts val="0"/>
              </a:spcAft>
              <a:buNone/>
            </a:pPr>
            <a:r>
              <a:rPr lang="en-US" sz="2800"/>
              <a:t>i.e. 12.4-1.2P</a:t>
            </a:r>
            <a:r>
              <a:rPr lang="en-US" sz="2800" baseline="-25000"/>
              <a:t>1</a:t>
            </a:r>
            <a:r>
              <a:rPr lang="en-US" sz="2800"/>
              <a:t>=1.0+0.9</a:t>
            </a:r>
            <a:r>
              <a:rPr lang="en-US"/>
              <a:t>*1</a:t>
            </a:r>
            <a:endParaRPr/>
          </a:p>
          <a:p>
            <a:pPr marL="0" lvl="0" indent="0" algn="l" rtl="0">
              <a:spcBef>
                <a:spcPts val="360"/>
              </a:spcBef>
              <a:spcAft>
                <a:spcPts val="0"/>
              </a:spcAft>
              <a:buNone/>
            </a:pPr>
            <a:r>
              <a:rPr lang="en-US"/>
              <a:t>	12.4-1.9=1.2P</a:t>
            </a:r>
            <a:r>
              <a:rPr lang="en-US" baseline="-25000"/>
              <a:t>1</a:t>
            </a:r>
            <a:endParaRPr baseline="-25000"/>
          </a:p>
          <a:p>
            <a:pPr marL="0" lvl="0" indent="0" algn="l" rtl="0">
              <a:spcBef>
                <a:spcPts val="360"/>
              </a:spcBef>
              <a:spcAft>
                <a:spcPts val="0"/>
              </a:spcAft>
              <a:buNone/>
            </a:pPr>
            <a:r>
              <a:rPr lang="en-US"/>
              <a:t>	P</a:t>
            </a:r>
            <a:r>
              <a:rPr lang="en-US" baseline="-25000"/>
              <a:t>1</a:t>
            </a:r>
            <a:r>
              <a:rPr lang="en-US"/>
              <a:t>=8.75</a:t>
            </a:r>
            <a:endParaRPr/>
          </a:p>
          <a:p>
            <a:pPr marL="0" lvl="0" indent="0" algn="l" rtl="0">
              <a:spcBef>
                <a:spcPts val="360"/>
              </a:spcBef>
              <a:spcAft>
                <a:spcPts val="0"/>
              </a:spcAft>
              <a:buNone/>
            </a:pPr>
            <a:r>
              <a:rPr lang="en-US"/>
              <a:t>Again,</a:t>
            </a:r>
            <a:endParaRPr/>
          </a:p>
          <a:p>
            <a:pPr marL="0" lvl="0" indent="0" algn="l" rtl="0">
              <a:spcBef>
                <a:spcPts val="360"/>
              </a:spcBef>
              <a:spcAft>
                <a:spcPts val="0"/>
              </a:spcAft>
              <a:buNone/>
            </a:pPr>
            <a:r>
              <a:rPr lang="en-US"/>
              <a:t>	</a:t>
            </a:r>
            <a:r>
              <a:rPr lang="en-US" sz="2800"/>
              <a:t>12.4-1.2P</a:t>
            </a:r>
            <a:r>
              <a:rPr lang="en-US" sz="2800" baseline="-25000"/>
              <a:t>2</a:t>
            </a:r>
            <a:r>
              <a:rPr lang="en-US" sz="2800"/>
              <a:t>=1.0+0.9</a:t>
            </a:r>
            <a:r>
              <a:rPr lang="en-US"/>
              <a:t>P</a:t>
            </a:r>
            <a:r>
              <a:rPr lang="en-US" sz="2800" baseline="-25000"/>
              <a:t>1</a:t>
            </a:r>
            <a:endParaRPr sz="2800" baseline="-25000"/>
          </a:p>
          <a:p>
            <a:pPr marL="0" lvl="0" indent="0" algn="l" rtl="0">
              <a:spcBef>
                <a:spcPts val="360"/>
              </a:spcBef>
              <a:spcAft>
                <a:spcPts val="0"/>
              </a:spcAft>
              <a:buNone/>
            </a:pPr>
            <a:r>
              <a:rPr lang="en-US" sz="2800" baseline="-25000"/>
              <a:t>	</a:t>
            </a:r>
            <a:r>
              <a:rPr lang="en-US" sz="2800"/>
              <a:t>12.4-1.2P</a:t>
            </a:r>
            <a:r>
              <a:rPr lang="en-US" sz="2800" baseline="-25000"/>
              <a:t>2</a:t>
            </a:r>
            <a:r>
              <a:rPr lang="en-US" sz="2800"/>
              <a:t>=1.0+0.9</a:t>
            </a:r>
            <a:r>
              <a:rPr lang="en-US"/>
              <a:t>*8.75</a:t>
            </a:r>
            <a:endParaRPr/>
          </a:p>
          <a:p>
            <a:pPr marL="0" lvl="0" indent="0" algn="l" rtl="0">
              <a:spcBef>
                <a:spcPts val="360"/>
              </a:spcBef>
              <a:spcAft>
                <a:spcPts val="0"/>
              </a:spcAft>
              <a:buNone/>
            </a:pPr>
            <a:r>
              <a:rPr lang="en-US"/>
              <a:t>	1.2</a:t>
            </a:r>
            <a:r>
              <a:rPr lang="en-US" sz="2800"/>
              <a:t>P</a:t>
            </a:r>
            <a:r>
              <a:rPr lang="en-US" sz="2800" baseline="-25000"/>
              <a:t>2</a:t>
            </a:r>
            <a:r>
              <a:rPr lang="en-US" sz="2800"/>
              <a:t>=3.525</a:t>
            </a:r>
            <a:endParaRPr sz="2800"/>
          </a:p>
          <a:p>
            <a:pPr marL="0" lvl="0" indent="0" algn="l" rtl="0">
              <a:spcBef>
                <a:spcPts val="360"/>
              </a:spcBef>
              <a:spcAft>
                <a:spcPts val="0"/>
              </a:spcAft>
              <a:buNone/>
            </a:pPr>
            <a:r>
              <a:rPr lang="en-US" sz="2800"/>
              <a:t>	P</a:t>
            </a:r>
            <a:r>
              <a:rPr lang="en-US" sz="2800" baseline="-25000"/>
              <a:t>2</a:t>
            </a:r>
            <a:r>
              <a:rPr lang="en-US" sz="2800"/>
              <a:t>=2.93</a:t>
            </a:r>
            <a:endParaRPr sz="2800"/>
          </a:p>
          <a:p>
            <a:pPr marL="0" lvl="0" indent="0" algn="l" rtl="0">
              <a:spcBef>
                <a:spcPts val="360"/>
              </a:spcBef>
              <a:spcAft>
                <a:spcPts val="0"/>
              </a:spcAft>
              <a:buNone/>
            </a:pPr>
            <a:r>
              <a:rPr lang="en-US" sz="2800"/>
              <a:t>Again,</a:t>
            </a:r>
            <a:endParaRPr sz="2800"/>
          </a:p>
          <a:p>
            <a:pPr marL="0" lvl="0" indent="0" algn="l" rtl="0">
              <a:spcBef>
                <a:spcPts val="360"/>
              </a:spcBef>
              <a:spcAft>
                <a:spcPts val="0"/>
              </a:spcAft>
              <a:buNone/>
            </a:pPr>
            <a:r>
              <a:rPr lang="en-US" sz="2800"/>
              <a:t>	12.4-1.2P</a:t>
            </a:r>
            <a:r>
              <a:rPr lang="en-US" sz="2800" baseline="-25000"/>
              <a:t>3</a:t>
            </a:r>
            <a:r>
              <a:rPr lang="en-US" sz="2800"/>
              <a:t>=1.0+0.9</a:t>
            </a:r>
            <a:r>
              <a:rPr lang="en-US"/>
              <a:t>P</a:t>
            </a:r>
            <a:r>
              <a:rPr lang="en-US" sz="2800" baseline="-25000"/>
              <a:t>2</a:t>
            </a:r>
            <a:endParaRPr sz="2800" baseline="-25000"/>
          </a:p>
          <a:p>
            <a:pPr marL="0" lvl="0" indent="0" algn="l" rtl="0">
              <a:spcBef>
                <a:spcPts val="360"/>
              </a:spcBef>
              <a:spcAft>
                <a:spcPts val="0"/>
              </a:spcAft>
              <a:buNone/>
            </a:pPr>
            <a:r>
              <a:rPr lang="en-US" sz="2800" baseline="-25000"/>
              <a:t>	</a:t>
            </a:r>
            <a:r>
              <a:rPr lang="en-US" sz="2800"/>
              <a:t>12.4-1.2P</a:t>
            </a:r>
            <a:r>
              <a:rPr lang="en-US" sz="2800" baseline="-25000"/>
              <a:t>3</a:t>
            </a:r>
            <a:r>
              <a:rPr lang="en-US" sz="2800"/>
              <a:t>=1.0+0.9</a:t>
            </a:r>
            <a:r>
              <a:rPr lang="en-US"/>
              <a:t>*2.93</a:t>
            </a:r>
            <a:endParaRPr/>
          </a:p>
          <a:p>
            <a:pPr marL="0" lvl="0" indent="0" algn="l" rtl="0">
              <a:spcBef>
                <a:spcPts val="360"/>
              </a:spcBef>
              <a:spcAft>
                <a:spcPts val="0"/>
              </a:spcAft>
              <a:buNone/>
            </a:pPr>
            <a:r>
              <a:rPr lang="en-US"/>
              <a:t>	</a:t>
            </a:r>
            <a:r>
              <a:rPr lang="en-US" sz="2800"/>
              <a:t>P</a:t>
            </a:r>
            <a:r>
              <a:rPr lang="en-US" sz="2800" baseline="-25000"/>
              <a:t>3</a:t>
            </a:r>
            <a:r>
              <a:rPr lang="en-US" sz="2800"/>
              <a:t>=7.30</a:t>
            </a:r>
            <a:endParaRPr sz="2800"/>
          </a:p>
          <a:p>
            <a:pPr marL="0" lvl="0" indent="0" algn="l" rtl="0">
              <a:spcBef>
                <a:spcPts val="360"/>
              </a:spcBef>
              <a:spcAft>
                <a:spcPts val="0"/>
              </a:spcAft>
              <a:buNone/>
            </a:pP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g2cf3a27bc01_0_6"/>
          <p:cNvSpPr txBox="1">
            <a:spLocks noGrp="1"/>
          </p:cNvSpPr>
          <p:nvPr>
            <p:ph type="title"/>
          </p:nvPr>
        </p:nvSpPr>
        <p:spPr>
          <a:xfrm>
            <a:off x="457200" y="60056"/>
            <a:ext cx="8229600" cy="190500"/>
          </a:xfrm>
          <a:prstGeom prst="rect">
            <a:avLst/>
          </a:prstGeom>
        </p:spPr>
        <p:txBody>
          <a:bodyPr spcFirstLastPara="1" wrap="square" lIns="0" tIns="45700" rIns="0" bIns="0" anchor="b" anchorCtr="0">
            <a:normAutofit fontScale="90000"/>
          </a:bodyPr>
          <a:lstStyle/>
          <a:p>
            <a:pPr marL="0" lvl="0" indent="0" algn="l" rtl="0">
              <a:spcBef>
                <a:spcPts val="0"/>
              </a:spcBef>
              <a:spcAft>
                <a:spcPts val="0"/>
              </a:spcAft>
              <a:buNone/>
            </a:pPr>
            <a:endParaRPr/>
          </a:p>
        </p:txBody>
      </p:sp>
      <p:sp>
        <p:nvSpPr>
          <p:cNvPr id="350" name="Google Shape;350;g2cf3a27bc01_0_6"/>
          <p:cNvSpPr txBox="1">
            <a:spLocks noGrp="1"/>
          </p:cNvSpPr>
          <p:nvPr>
            <p:ph type="body" idx="1"/>
          </p:nvPr>
        </p:nvSpPr>
        <p:spPr>
          <a:xfrm>
            <a:off x="457200" y="2320075"/>
            <a:ext cx="8229600" cy="4004400"/>
          </a:xfrm>
          <a:prstGeom prst="rect">
            <a:avLst/>
          </a:prstGeom>
        </p:spPr>
        <p:txBody>
          <a:bodyPr spcFirstLastPara="1" wrap="square" lIns="91425" tIns="45700" rIns="91425" bIns="45700" anchor="t" anchorCtr="0">
            <a:normAutofit fontScale="62500" lnSpcReduction="20000"/>
          </a:bodyPr>
          <a:lstStyle/>
          <a:p>
            <a:pPr marL="0" lvl="0" indent="0" algn="l" rtl="0">
              <a:spcBef>
                <a:spcPts val="360"/>
              </a:spcBef>
              <a:spcAft>
                <a:spcPts val="0"/>
              </a:spcAft>
              <a:buNone/>
            </a:pPr>
            <a:r>
              <a:rPr lang="en-US"/>
              <a:t>Again,</a:t>
            </a:r>
            <a:endParaRPr/>
          </a:p>
          <a:p>
            <a:pPr marL="0" lvl="0" indent="457200" algn="l" rtl="0">
              <a:spcBef>
                <a:spcPts val="360"/>
              </a:spcBef>
              <a:spcAft>
                <a:spcPts val="0"/>
              </a:spcAft>
              <a:buNone/>
            </a:pPr>
            <a:r>
              <a:rPr lang="en-US" sz="2800"/>
              <a:t>12.4-1.2P</a:t>
            </a:r>
            <a:r>
              <a:rPr lang="en-US" sz="2800" baseline="-25000"/>
              <a:t>4</a:t>
            </a:r>
            <a:r>
              <a:rPr lang="en-US" sz="2800"/>
              <a:t>=1.0+0.9</a:t>
            </a:r>
            <a:r>
              <a:rPr lang="en-US"/>
              <a:t>P</a:t>
            </a:r>
            <a:r>
              <a:rPr lang="en-US" sz="2800" baseline="-25000"/>
              <a:t>3</a:t>
            </a:r>
            <a:endParaRPr sz="2800" baseline="-25000"/>
          </a:p>
          <a:p>
            <a:pPr marL="0" lvl="0" indent="457200" algn="l" rtl="0">
              <a:spcBef>
                <a:spcPts val="360"/>
              </a:spcBef>
              <a:spcAft>
                <a:spcPts val="0"/>
              </a:spcAft>
              <a:buNone/>
            </a:pPr>
            <a:r>
              <a:rPr lang="en-US" sz="2800"/>
              <a:t>12.4-1.2P</a:t>
            </a:r>
            <a:r>
              <a:rPr lang="en-US" sz="2800" baseline="-25000"/>
              <a:t>4</a:t>
            </a:r>
            <a:r>
              <a:rPr lang="en-US" sz="2800"/>
              <a:t>=1.0+0.9</a:t>
            </a:r>
            <a:r>
              <a:rPr lang="en-US"/>
              <a:t>*7.30</a:t>
            </a:r>
            <a:endParaRPr/>
          </a:p>
          <a:p>
            <a:pPr marL="0" lvl="0" indent="457200" algn="l" rtl="0">
              <a:spcBef>
                <a:spcPts val="360"/>
              </a:spcBef>
              <a:spcAft>
                <a:spcPts val="0"/>
              </a:spcAft>
              <a:buNone/>
            </a:pPr>
            <a:r>
              <a:rPr lang="en-US" sz="2800"/>
              <a:t>P</a:t>
            </a:r>
            <a:r>
              <a:rPr lang="en-US" sz="2800" baseline="-25000"/>
              <a:t>4</a:t>
            </a:r>
            <a:r>
              <a:rPr lang="en-US" sz="2800"/>
              <a:t>=4.025</a:t>
            </a:r>
            <a:endParaRPr sz="2800"/>
          </a:p>
          <a:p>
            <a:pPr marL="0" lvl="0" indent="0" algn="l" rtl="0">
              <a:spcBef>
                <a:spcPts val="360"/>
              </a:spcBef>
              <a:spcAft>
                <a:spcPts val="0"/>
              </a:spcAft>
              <a:buNone/>
            </a:pPr>
            <a:r>
              <a:rPr lang="en-US" sz="2800"/>
              <a:t>Again,</a:t>
            </a:r>
            <a:endParaRPr sz="2800"/>
          </a:p>
          <a:p>
            <a:pPr marL="0" lvl="0" indent="457200" algn="l" rtl="0">
              <a:spcBef>
                <a:spcPts val="360"/>
              </a:spcBef>
              <a:spcAft>
                <a:spcPts val="0"/>
              </a:spcAft>
              <a:buNone/>
            </a:pPr>
            <a:r>
              <a:rPr lang="en-US" sz="2800"/>
              <a:t>12.4-1.2P</a:t>
            </a:r>
            <a:r>
              <a:rPr lang="en-US" sz="2800" baseline="-25000"/>
              <a:t>5</a:t>
            </a:r>
            <a:r>
              <a:rPr lang="en-US" sz="2800"/>
              <a:t>=1.0+0.9</a:t>
            </a:r>
            <a:r>
              <a:rPr lang="en-US"/>
              <a:t>P</a:t>
            </a:r>
            <a:r>
              <a:rPr lang="en-US" sz="2800" baseline="-25000"/>
              <a:t>4</a:t>
            </a:r>
            <a:endParaRPr sz="2800" baseline="-25000"/>
          </a:p>
          <a:p>
            <a:pPr marL="0" lvl="0" indent="457200" algn="l" rtl="0">
              <a:spcBef>
                <a:spcPts val="360"/>
              </a:spcBef>
              <a:spcAft>
                <a:spcPts val="0"/>
              </a:spcAft>
              <a:buNone/>
            </a:pPr>
            <a:r>
              <a:rPr lang="en-US" sz="2800"/>
              <a:t>12.4-1.2P</a:t>
            </a:r>
            <a:r>
              <a:rPr lang="en-US" sz="2800" baseline="-25000"/>
              <a:t>5</a:t>
            </a:r>
            <a:r>
              <a:rPr lang="en-US" sz="2800"/>
              <a:t>=1.0+0.9</a:t>
            </a:r>
            <a:r>
              <a:rPr lang="en-US"/>
              <a:t>*4.025</a:t>
            </a:r>
            <a:endParaRPr sz="2800" baseline="-25000"/>
          </a:p>
          <a:p>
            <a:pPr marL="0" lvl="0" indent="457200" algn="l" rtl="0">
              <a:spcBef>
                <a:spcPts val="360"/>
              </a:spcBef>
              <a:spcAft>
                <a:spcPts val="0"/>
              </a:spcAft>
              <a:buNone/>
            </a:pPr>
            <a:r>
              <a:rPr lang="en-US" sz="2800"/>
              <a:t>1.2P</a:t>
            </a:r>
            <a:r>
              <a:rPr lang="en-US" sz="2800" baseline="-25000"/>
              <a:t>5</a:t>
            </a:r>
            <a:r>
              <a:rPr lang="en-US" sz="2800"/>
              <a:t>=7.77</a:t>
            </a:r>
            <a:endParaRPr sz="2800"/>
          </a:p>
          <a:p>
            <a:pPr marL="0" lvl="0" indent="457200" algn="l" rtl="0">
              <a:spcBef>
                <a:spcPts val="360"/>
              </a:spcBef>
              <a:spcAft>
                <a:spcPts val="0"/>
              </a:spcAft>
              <a:buNone/>
            </a:pPr>
            <a:r>
              <a:rPr lang="en-US" sz="2800"/>
              <a:t>P</a:t>
            </a:r>
            <a:r>
              <a:rPr lang="en-US" sz="2800" baseline="-25000"/>
              <a:t>5</a:t>
            </a:r>
            <a:r>
              <a:rPr lang="en-US" sz="2800"/>
              <a:t>=6.48</a:t>
            </a:r>
            <a:endParaRPr sz="2800"/>
          </a:p>
          <a:p>
            <a:pPr marL="0" lvl="0" indent="0" algn="l" rtl="0">
              <a:spcBef>
                <a:spcPts val="360"/>
              </a:spcBef>
              <a:spcAft>
                <a:spcPts val="0"/>
              </a:spcAft>
              <a:buNone/>
            </a:pPr>
            <a:r>
              <a:rPr lang="en-US" sz="2800"/>
              <a:t>Again,</a:t>
            </a:r>
            <a:endParaRPr sz="2800"/>
          </a:p>
          <a:p>
            <a:pPr marL="0" lvl="0" indent="457200" algn="l" rtl="0">
              <a:spcBef>
                <a:spcPts val="360"/>
              </a:spcBef>
              <a:spcAft>
                <a:spcPts val="0"/>
              </a:spcAft>
              <a:buNone/>
            </a:pPr>
            <a:r>
              <a:rPr lang="en-US" sz="2800"/>
              <a:t>12.4-1.2P</a:t>
            </a:r>
            <a:r>
              <a:rPr lang="en-US" sz="2800" baseline="-25000"/>
              <a:t>6</a:t>
            </a:r>
            <a:r>
              <a:rPr lang="en-US" sz="2800"/>
              <a:t>=1.0+0.9</a:t>
            </a:r>
            <a:r>
              <a:rPr lang="en-US"/>
              <a:t>P</a:t>
            </a:r>
            <a:r>
              <a:rPr lang="en-US" sz="2800" baseline="-25000"/>
              <a:t>5</a:t>
            </a:r>
            <a:endParaRPr sz="2800" baseline="-25000"/>
          </a:p>
          <a:p>
            <a:pPr marL="0" lvl="0" indent="457200" algn="l" rtl="0">
              <a:spcBef>
                <a:spcPts val="360"/>
              </a:spcBef>
              <a:spcAft>
                <a:spcPts val="0"/>
              </a:spcAft>
              <a:buNone/>
            </a:pPr>
            <a:r>
              <a:rPr lang="en-US" sz="2800"/>
              <a:t>12.4-1.2P</a:t>
            </a:r>
            <a:r>
              <a:rPr lang="en-US" sz="2800" baseline="-25000"/>
              <a:t>6</a:t>
            </a:r>
            <a:r>
              <a:rPr lang="en-US" sz="2800"/>
              <a:t>=1.0+0.9</a:t>
            </a:r>
            <a:r>
              <a:rPr lang="en-US"/>
              <a:t>*6.48</a:t>
            </a:r>
            <a:endParaRPr/>
          </a:p>
          <a:p>
            <a:pPr marL="0" lvl="0" indent="457200" algn="l" rtl="0">
              <a:spcBef>
                <a:spcPts val="360"/>
              </a:spcBef>
              <a:spcAft>
                <a:spcPts val="0"/>
              </a:spcAft>
              <a:buNone/>
            </a:pPr>
            <a:r>
              <a:rPr lang="en-US" sz="2800"/>
              <a:t>1.2P</a:t>
            </a:r>
            <a:r>
              <a:rPr lang="en-US" sz="2800" baseline="-25000"/>
              <a:t>6</a:t>
            </a:r>
            <a:r>
              <a:rPr lang="en-US" sz="2800"/>
              <a:t>=5.56</a:t>
            </a:r>
            <a:endParaRPr sz="2800"/>
          </a:p>
          <a:p>
            <a:pPr marL="0" lvl="0" indent="457200" algn="l" rtl="0">
              <a:spcBef>
                <a:spcPts val="360"/>
              </a:spcBef>
              <a:spcAft>
                <a:spcPts val="0"/>
              </a:spcAft>
              <a:buNone/>
            </a:pPr>
            <a:r>
              <a:rPr lang="en-US" sz="2800"/>
              <a:t>P</a:t>
            </a:r>
            <a:r>
              <a:rPr lang="en-US" sz="2800" baseline="-25000"/>
              <a:t>6</a:t>
            </a:r>
            <a:r>
              <a:rPr lang="en-US" sz="2800"/>
              <a:t>=4.64</a:t>
            </a:r>
            <a:endParaRPr sz="2800"/>
          </a:p>
          <a:p>
            <a:pPr marL="0" lvl="0" indent="0" algn="l" rtl="0">
              <a:spcBef>
                <a:spcPts val="360"/>
              </a:spcBef>
              <a:spcAft>
                <a:spcPts val="0"/>
              </a:spcAft>
              <a:buNone/>
            </a:pPr>
            <a:endParaRPr sz="2800"/>
          </a:p>
          <a:p>
            <a:pPr marL="0" lvl="0" indent="0" algn="l" rtl="0">
              <a:spcBef>
                <a:spcPts val="360"/>
              </a:spcBef>
              <a:spcAft>
                <a:spcPts val="0"/>
              </a:spcAft>
              <a:buNone/>
            </a:pPr>
            <a:endParaRPr sz="2800"/>
          </a:p>
          <a:p>
            <a:pPr marL="0" lvl="0" indent="0" algn="l" rtl="0">
              <a:spcBef>
                <a:spcPts val="360"/>
              </a:spcBef>
              <a:spcAft>
                <a:spcPts val="0"/>
              </a:spcAft>
              <a:buNone/>
            </a:pPr>
            <a:endParaRPr sz="2800" baseline="-25000"/>
          </a:p>
          <a:p>
            <a:pPr marL="0" lvl="0" indent="0" algn="l" rtl="0">
              <a:spcBef>
                <a:spcPts val="360"/>
              </a:spcBef>
              <a:spcAft>
                <a:spcPts val="0"/>
              </a:spcAft>
              <a:buNone/>
            </a:pP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g2cf3a27bc01_0_12"/>
          <p:cNvSpPr txBox="1">
            <a:spLocks noGrp="1"/>
          </p:cNvSpPr>
          <p:nvPr>
            <p:ph type="title"/>
          </p:nvPr>
        </p:nvSpPr>
        <p:spPr>
          <a:xfrm>
            <a:off x="457200" y="704088"/>
            <a:ext cx="8229600" cy="1143000"/>
          </a:xfrm>
          <a:prstGeom prst="rect">
            <a:avLst/>
          </a:prstGeom>
        </p:spPr>
        <p:txBody>
          <a:bodyPr spcFirstLastPara="1" wrap="square" lIns="0" tIns="45700" rIns="0" bIns="0" anchor="b" anchorCtr="0">
            <a:normAutofit/>
          </a:bodyPr>
          <a:lstStyle/>
          <a:p>
            <a:pPr marL="0" lvl="0" indent="0" algn="l" rtl="0">
              <a:spcBef>
                <a:spcPts val="0"/>
              </a:spcBef>
              <a:spcAft>
                <a:spcPts val="0"/>
              </a:spcAft>
              <a:buNone/>
            </a:pPr>
            <a:r>
              <a:rPr lang="en-US"/>
              <a:t>Price Fluctuation </a:t>
            </a:r>
            <a:endParaRPr/>
          </a:p>
        </p:txBody>
      </p:sp>
      <p:sp>
        <p:nvSpPr>
          <p:cNvPr id="357" name="Google Shape;357;g2cf3a27bc01_0_12"/>
          <p:cNvSpPr txBox="1">
            <a:spLocks noGrp="1"/>
          </p:cNvSpPr>
          <p:nvPr>
            <p:ph type="body" idx="1"/>
          </p:nvPr>
        </p:nvSpPr>
        <p:spPr>
          <a:xfrm>
            <a:off x="457200" y="1935480"/>
            <a:ext cx="8229600" cy="4389000"/>
          </a:xfrm>
          <a:prstGeom prst="rect">
            <a:avLst/>
          </a:prstGeom>
        </p:spPr>
        <p:txBody>
          <a:bodyPr spcFirstLastPara="1" wrap="square" lIns="91425" tIns="45700" rIns="91425" bIns="45700" anchor="t" anchorCtr="0">
            <a:normAutofit/>
          </a:bodyPr>
          <a:lstStyle/>
          <a:p>
            <a:pPr marL="0" lvl="0" indent="0" algn="l" rtl="0">
              <a:spcBef>
                <a:spcPts val="360"/>
              </a:spcBef>
              <a:spcAft>
                <a:spcPts val="0"/>
              </a:spcAft>
              <a:buNone/>
            </a:pPr>
            <a:endParaRPr/>
          </a:p>
        </p:txBody>
      </p:sp>
      <p:pic>
        <p:nvPicPr>
          <p:cNvPr id="358" name="Google Shape;358;g2cf3a27bc01_0_12"/>
          <p:cNvPicPr preferRelativeResize="0"/>
          <p:nvPr/>
        </p:nvPicPr>
        <p:blipFill>
          <a:blip r:embed="rId3">
            <a:alphaModFix/>
          </a:blip>
          <a:stretch>
            <a:fillRect/>
          </a:stretch>
        </p:blipFill>
        <p:spPr>
          <a:xfrm>
            <a:off x="791850" y="1935475"/>
            <a:ext cx="7894949" cy="5173251"/>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g2cf3a27bc01_0_18"/>
          <p:cNvSpPr txBox="1">
            <a:spLocks noGrp="1"/>
          </p:cNvSpPr>
          <p:nvPr>
            <p:ph type="title"/>
          </p:nvPr>
        </p:nvSpPr>
        <p:spPr>
          <a:xfrm>
            <a:off x="457200" y="704088"/>
            <a:ext cx="8229600" cy="1143000"/>
          </a:xfrm>
          <a:prstGeom prst="rect">
            <a:avLst/>
          </a:prstGeom>
        </p:spPr>
        <p:txBody>
          <a:bodyPr spcFirstLastPara="1" wrap="square" lIns="0" tIns="45700" rIns="0" bIns="0" anchor="b" anchorCtr="0">
            <a:normAutofit/>
          </a:bodyPr>
          <a:lstStyle/>
          <a:p>
            <a:pPr marL="0" lvl="0" indent="0" algn="l" rtl="0">
              <a:spcBef>
                <a:spcPts val="0"/>
              </a:spcBef>
              <a:spcAft>
                <a:spcPts val="0"/>
              </a:spcAft>
              <a:buNone/>
            </a:pPr>
            <a:r>
              <a:rPr lang="en-US"/>
              <a:t>Cobweb Model</a:t>
            </a:r>
            <a:endParaRPr/>
          </a:p>
        </p:txBody>
      </p:sp>
      <p:sp>
        <p:nvSpPr>
          <p:cNvPr id="365" name="Google Shape;365;g2cf3a27bc01_0_18"/>
          <p:cNvSpPr txBox="1">
            <a:spLocks noGrp="1"/>
          </p:cNvSpPr>
          <p:nvPr>
            <p:ph type="body" idx="1"/>
          </p:nvPr>
        </p:nvSpPr>
        <p:spPr>
          <a:xfrm>
            <a:off x="457200" y="1935480"/>
            <a:ext cx="8229600" cy="4389000"/>
          </a:xfrm>
          <a:prstGeom prst="rect">
            <a:avLst/>
          </a:prstGeom>
        </p:spPr>
        <p:txBody>
          <a:bodyPr spcFirstLastPara="1" wrap="square" lIns="91425" tIns="45700" rIns="91425" bIns="45700" anchor="t" anchorCtr="0">
            <a:normAutofit/>
          </a:bodyPr>
          <a:lstStyle/>
          <a:p>
            <a:pPr marL="0" lvl="0" indent="0" algn="l" rtl="0">
              <a:spcBef>
                <a:spcPts val="360"/>
              </a:spcBef>
              <a:spcAft>
                <a:spcPts val="0"/>
              </a:spcAft>
              <a:buNone/>
            </a:pPr>
            <a:endParaRPr/>
          </a:p>
        </p:txBody>
      </p:sp>
      <p:pic>
        <p:nvPicPr>
          <p:cNvPr id="366" name="Google Shape;366;g2cf3a27bc01_0_18"/>
          <p:cNvPicPr preferRelativeResize="0"/>
          <p:nvPr/>
        </p:nvPicPr>
        <p:blipFill>
          <a:blip r:embed="rId3">
            <a:alphaModFix/>
          </a:blip>
          <a:stretch>
            <a:fillRect/>
          </a:stretch>
        </p:blipFill>
        <p:spPr>
          <a:xfrm>
            <a:off x="1122825" y="2078450"/>
            <a:ext cx="5628951" cy="5595999"/>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24"/>
          <p:cNvSpPr txBox="1">
            <a:spLocks noGrp="1"/>
          </p:cNvSpPr>
          <p:nvPr>
            <p:ph type="title"/>
          </p:nvPr>
        </p:nvSpPr>
        <p:spPr>
          <a:xfrm>
            <a:off x="457200" y="304800"/>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Time advancement Mechanism</a:t>
            </a:r>
            <a:endParaRPr/>
          </a:p>
        </p:txBody>
      </p:sp>
      <p:sp>
        <p:nvSpPr>
          <p:cNvPr id="372" name="Google Shape;372;p24"/>
          <p:cNvSpPr txBox="1">
            <a:spLocks noGrp="1"/>
          </p:cNvSpPr>
          <p:nvPr>
            <p:ph type="body" idx="1"/>
          </p:nvPr>
        </p:nvSpPr>
        <p:spPr>
          <a:xfrm>
            <a:off x="457200" y="1447800"/>
            <a:ext cx="8229600" cy="487680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US"/>
              <a:t>Time in system simulation can be represented in advanced using following two commonly used techniques:</a:t>
            </a:r>
            <a:endParaRPr/>
          </a:p>
          <a:p>
            <a:pPr marL="640080" lvl="1" indent="-246888" algn="l" rtl="0">
              <a:spcBef>
                <a:spcPts val="480"/>
              </a:spcBef>
              <a:spcAft>
                <a:spcPts val="0"/>
              </a:spcAft>
              <a:buSzPts val="2040"/>
              <a:buChar char="⚫"/>
            </a:pPr>
            <a:r>
              <a:rPr lang="en-US"/>
              <a:t>Fixed Interval Time</a:t>
            </a:r>
            <a:endParaRPr/>
          </a:p>
          <a:p>
            <a:pPr marL="640080" lvl="1" indent="-246888" algn="l" rtl="0">
              <a:spcBef>
                <a:spcPts val="480"/>
              </a:spcBef>
              <a:spcAft>
                <a:spcPts val="0"/>
              </a:spcAft>
              <a:buSzPts val="2040"/>
              <a:buNone/>
            </a:pPr>
            <a:endParaRPr/>
          </a:p>
          <a:p>
            <a:pPr marL="640080" lvl="1" indent="-246888" algn="l" rtl="0">
              <a:spcBef>
                <a:spcPts val="480"/>
              </a:spcBef>
              <a:spcAft>
                <a:spcPts val="0"/>
              </a:spcAft>
              <a:buSzPts val="2040"/>
              <a:buChar char="⚫"/>
            </a:pPr>
            <a:r>
              <a:rPr lang="en-US"/>
              <a:t>Event Occurring Time</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25"/>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US" sz="1200">
                <a:solidFill>
                  <a:schemeClr val="folHlink"/>
                </a:solidFill>
                <a:latin typeface="Times New Roman"/>
                <a:ea typeface="Times New Roman"/>
                <a:cs typeface="Times New Roman"/>
                <a:sym typeface="Times New Roman"/>
              </a:rPr>
              <a:t>40</a:t>
            </a:fld>
            <a:endParaRPr sz="1200">
              <a:solidFill>
                <a:schemeClr val="folHlink"/>
              </a:solidFill>
              <a:latin typeface="Times New Roman"/>
              <a:ea typeface="Times New Roman"/>
              <a:cs typeface="Times New Roman"/>
              <a:sym typeface="Times New Roman"/>
            </a:endParaRPr>
          </a:p>
        </p:txBody>
      </p:sp>
      <p:sp>
        <p:nvSpPr>
          <p:cNvPr id="379" name="Google Shape;379;p25"/>
          <p:cNvSpPr/>
          <p:nvPr/>
        </p:nvSpPr>
        <p:spPr>
          <a:xfrm>
            <a:off x="685800" y="1219200"/>
            <a:ext cx="7848600" cy="76200"/>
          </a:xfrm>
          <a:prstGeom prst="rect">
            <a:avLst/>
          </a:prstGeom>
          <a:solidFill>
            <a:srgbClr val="66CC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rgbClr val="CCFFFF"/>
              </a:solidFill>
              <a:latin typeface="Constantia"/>
              <a:ea typeface="Constantia"/>
              <a:cs typeface="Constantia"/>
              <a:sym typeface="Constantia"/>
            </a:endParaRPr>
          </a:p>
        </p:txBody>
      </p:sp>
      <p:sp>
        <p:nvSpPr>
          <p:cNvPr id="380" name="Google Shape;380;p25"/>
          <p:cNvSpPr/>
          <p:nvPr/>
        </p:nvSpPr>
        <p:spPr>
          <a:xfrm>
            <a:off x="609600" y="609600"/>
            <a:ext cx="7848600" cy="48895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600" b="1">
                <a:solidFill>
                  <a:schemeClr val="accent2"/>
                </a:solidFill>
                <a:latin typeface="Arial"/>
                <a:ea typeface="Arial"/>
                <a:cs typeface="Arial"/>
                <a:sym typeface="Arial"/>
              </a:rPr>
              <a:t>Definition of a queueing system</a:t>
            </a:r>
            <a:endParaRPr/>
          </a:p>
        </p:txBody>
      </p:sp>
      <p:pic>
        <p:nvPicPr>
          <p:cNvPr id="381" name="Google Shape;381;p25"/>
          <p:cNvPicPr preferRelativeResize="0"/>
          <p:nvPr/>
        </p:nvPicPr>
        <p:blipFill rotWithShape="1">
          <a:blip r:embed="rId3">
            <a:alphaModFix/>
          </a:blip>
          <a:srcRect/>
          <a:stretch/>
        </p:blipFill>
        <p:spPr>
          <a:xfrm>
            <a:off x="2411413" y="1916113"/>
            <a:ext cx="4000500" cy="1009650"/>
          </a:xfrm>
          <a:prstGeom prst="rect">
            <a:avLst/>
          </a:prstGeom>
          <a:noFill/>
          <a:ln>
            <a:noFill/>
          </a:ln>
        </p:spPr>
      </p:pic>
      <p:cxnSp>
        <p:nvCxnSpPr>
          <p:cNvPr id="382" name="Google Shape;382;p25"/>
          <p:cNvCxnSpPr/>
          <p:nvPr/>
        </p:nvCxnSpPr>
        <p:spPr>
          <a:xfrm>
            <a:off x="1258888" y="2205038"/>
            <a:ext cx="1152525" cy="1587"/>
          </a:xfrm>
          <a:prstGeom prst="straightConnector1">
            <a:avLst/>
          </a:prstGeom>
          <a:noFill/>
          <a:ln w="9525" cap="flat" cmpd="sng">
            <a:solidFill>
              <a:schemeClr val="dk1"/>
            </a:solidFill>
            <a:prstDash val="solid"/>
            <a:round/>
            <a:headEnd type="none" w="med" len="med"/>
            <a:tailEnd type="triangle" w="med" len="med"/>
          </a:ln>
        </p:spPr>
      </p:cxnSp>
      <p:cxnSp>
        <p:nvCxnSpPr>
          <p:cNvPr id="383" name="Google Shape;383;p25"/>
          <p:cNvCxnSpPr/>
          <p:nvPr/>
        </p:nvCxnSpPr>
        <p:spPr>
          <a:xfrm>
            <a:off x="6372225" y="2205038"/>
            <a:ext cx="1152525" cy="1587"/>
          </a:xfrm>
          <a:prstGeom prst="straightConnector1">
            <a:avLst/>
          </a:prstGeom>
          <a:noFill/>
          <a:ln w="9525" cap="flat" cmpd="sng">
            <a:solidFill>
              <a:schemeClr val="dk1"/>
            </a:solidFill>
            <a:prstDash val="solid"/>
            <a:round/>
            <a:headEnd type="none" w="med" len="med"/>
            <a:tailEnd type="triangle" w="med" len="med"/>
          </a:ln>
        </p:spPr>
      </p:cxnSp>
      <p:sp>
        <p:nvSpPr>
          <p:cNvPr id="384" name="Google Shape;384;p25"/>
          <p:cNvSpPr txBox="1"/>
          <p:nvPr/>
        </p:nvSpPr>
        <p:spPr>
          <a:xfrm>
            <a:off x="755650" y="1628775"/>
            <a:ext cx="1439863" cy="6461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Times New Roman"/>
                <a:ea typeface="Times New Roman"/>
                <a:cs typeface="Times New Roman"/>
                <a:sym typeface="Times New Roman"/>
              </a:rPr>
              <a:t>Customer arrivals</a:t>
            </a:r>
            <a:endParaRPr/>
          </a:p>
        </p:txBody>
      </p:sp>
      <p:sp>
        <p:nvSpPr>
          <p:cNvPr id="385" name="Google Shape;385;p25"/>
          <p:cNvSpPr txBox="1"/>
          <p:nvPr/>
        </p:nvSpPr>
        <p:spPr>
          <a:xfrm>
            <a:off x="1979613" y="2924175"/>
            <a:ext cx="2447925" cy="647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Times New Roman"/>
                <a:ea typeface="Times New Roman"/>
                <a:cs typeface="Times New Roman"/>
                <a:sym typeface="Times New Roman"/>
              </a:rPr>
              <a:t>Departure of impatient customers</a:t>
            </a:r>
            <a:endParaRPr sz="1800" b="1">
              <a:solidFill>
                <a:schemeClr val="dk1"/>
              </a:solidFill>
              <a:latin typeface="Times New Roman"/>
              <a:ea typeface="Times New Roman"/>
              <a:cs typeface="Times New Roman"/>
              <a:sym typeface="Times New Roman"/>
            </a:endParaRPr>
          </a:p>
        </p:txBody>
      </p:sp>
      <p:sp>
        <p:nvSpPr>
          <p:cNvPr id="386" name="Google Shape;386;p25"/>
          <p:cNvSpPr txBox="1"/>
          <p:nvPr/>
        </p:nvSpPr>
        <p:spPr>
          <a:xfrm>
            <a:off x="6588125" y="1484313"/>
            <a:ext cx="1944688" cy="64611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Times New Roman"/>
                <a:ea typeface="Times New Roman"/>
                <a:cs typeface="Times New Roman"/>
                <a:sym typeface="Times New Roman"/>
              </a:rPr>
              <a:t>Departure of served customers</a:t>
            </a:r>
            <a:endParaRPr sz="1800" b="1">
              <a:solidFill>
                <a:schemeClr val="dk1"/>
              </a:solidFill>
              <a:latin typeface="Times New Roman"/>
              <a:ea typeface="Times New Roman"/>
              <a:cs typeface="Times New Roman"/>
              <a:sym typeface="Times New Roman"/>
            </a:endParaRPr>
          </a:p>
        </p:txBody>
      </p:sp>
      <p:sp>
        <p:nvSpPr>
          <p:cNvPr id="387" name="Google Shape;387;p25"/>
          <p:cNvSpPr/>
          <p:nvPr/>
        </p:nvSpPr>
        <p:spPr>
          <a:xfrm>
            <a:off x="684213" y="3933825"/>
            <a:ext cx="7991475" cy="1814513"/>
          </a:xfrm>
          <a:prstGeom prst="rect">
            <a:avLst/>
          </a:prstGeom>
          <a:noFill/>
          <a:ln>
            <a:noFill/>
          </a:ln>
        </p:spPr>
        <p:txBody>
          <a:bodyPr spcFirstLastPara="1" wrap="square" lIns="91425" tIns="45700" rIns="91425" bIns="45700" anchor="t" anchorCtr="0">
            <a:spAutoFit/>
          </a:bodyPr>
          <a:lstStyle/>
          <a:p>
            <a:pPr marL="355600" marR="0" lvl="0" indent="-355600" algn="l" rtl="0">
              <a:spcBef>
                <a:spcPts val="0"/>
              </a:spcBef>
              <a:spcAft>
                <a:spcPts val="0"/>
              </a:spcAft>
              <a:buClr>
                <a:schemeClr val="dk1"/>
              </a:buClr>
              <a:buSzPts val="1800"/>
              <a:buFont typeface="Arial"/>
              <a:buChar char="•"/>
            </a:pPr>
            <a:r>
              <a:rPr lang="en-US" sz="1800">
                <a:solidFill>
                  <a:schemeClr val="dk1"/>
                </a:solidFill>
                <a:latin typeface="Constantia"/>
                <a:ea typeface="Constantia"/>
                <a:cs typeface="Constantia"/>
                <a:sym typeface="Constantia"/>
              </a:rPr>
              <a:t>A queueing system can be described as follows:</a:t>
            </a:r>
            <a:endParaRPr/>
          </a:p>
          <a:p>
            <a:pPr marL="723900" marR="0" lvl="0" indent="0" algn="l" rtl="0">
              <a:spcBef>
                <a:spcPts val="0"/>
              </a:spcBef>
              <a:spcAft>
                <a:spcPts val="0"/>
              </a:spcAft>
              <a:buNone/>
            </a:pPr>
            <a:r>
              <a:rPr lang="en-US" sz="2000">
                <a:solidFill>
                  <a:srgbClr val="FF0000"/>
                </a:solidFill>
                <a:latin typeface="Constantia"/>
                <a:ea typeface="Constantia"/>
                <a:cs typeface="Constantia"/>
                <a:sym typeface="Constantia"/>
              </a:rPr>
              <a:t>"customers arrive for a given service, wait if the service cannot start immediately and leave after being served"</a:t>
            </a:r>
            <a:endParaRPr/>
          </a:p>
          <a:p>
            <a:pPr marL="0" marR="0" lvl="0" indent="0" algn="l" rtl="0">
              <a:spcBef>
                <a:spcPts val="0"/>
              </a:spcBef>
              <a:spcAft>
                <a:spcPts val="0"/>
              </a:spcAft>
              <a:buNone/>
            </a:pPr>
            <a:endParaRPr sz="1800">
              <a:solidFill>
                <a:schemeClr val="dk1"/>
              </a:solidFill>
              <a:latin typeface="Constantia"/>
              <a:ea typeface="Constantia"/>
              <a:cs typeface="Constantia"/>
              <a:sym typeface="Constantia"/>
            </a:endParaRPr>
          </a:p>
          <a:p>
            <a:pPr marL="355600" marR="0" lvl="0" indent="-355600" algn="l" rtl="0">
              <a:spcBef>
                <a:spcPts val="0"/>
              </a:spcBef>
              <a:spcAft>
                <a:spcPts val="0"/>
              </a:spcAft>
              <a:buClr>
                <a:schemeClr val="dk1"/>
              </a:buClr>
              <a:buSzPts val="1800"/>
              <a:buFont typeface="Arial"/>
              <a:buChar char="•"/>
            </a:pPr>
            <a:r>
              <a:rPr lang="en-US" sz="1800">
                <a:solidFill>
                  <a:schemeClr val="dk1"/>
                </a:solidFill>
                <a:latin typeface="Constantia"/>
                <a:ea typeface="Constantia"/>
                <a:cs typeface="Constantia"/>
                <a:sym typeface="Constantia"/>
              </a:rPr>
              <a:t>The term "customer" can be men, products, machines, ...</a:t>
            </a:r>
            <a:endParaRPr/>
          </a:p>
        </p:txBody>
      </p:sp>
      <p:pic>
        <p:nvPicPr>
          <p:cNvPr id="388" name="Google Shape;388;p25"/>
          <p:cNvPicPr preferRelativeResize="0"/>
          <p:nvPr/>
        </p:nvPicPr>
        <p:blipFill rotWithShape="1">
          <a:blip r:embed="rId4">
            <a:alphaModFix/>
          </a:blip>
          <a:srcRect/>
          <a:stretch/>
        </p:blipFill>
        <p:spPr>
          <a:xfrm>
            <a:off x="5715000" y="2691765"/>
            <a:ext cx="2960688" cy="1350814"/>
          </a:xfrm>
          <a:prstGeom prst="rect">
            <a:avLst/>
          </a:prstGeom>
          <a:noFill/>
          <a:ln>
            <a:noFill/>
          </a:ln>
        </p:spPr>
      </p:pic>
      <p:pic>
        <p:nvPicPr>
          <p:cNvPr id="389" name="Google Shape;389;p25"/>
          <p:cNvPicPr preferRelativeResize="0"/>
          <p:nvPr/>
        </p:nvPicPr>
        <p:blipFill rotWithShape="1">
          <a:blip r:embed="rId5">
            <a:alphaModFix/>
          </a:blip>
          <a:srcRect/>
          <a:stretch/>
        </p:blipFill>
        <p:spPr>
          <a:xfrm>
            <a:off x="-1" y="2938599"/>
            <a:ext cx="5490287" cy="384320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87"/>
                                        </p:tgtEl>
                                        <p:attrNameLst>
                                          <p:attrName>style.visibility</p:attrName>
                                        </p:attrNameLst>
                                      </p:cBhvr>
                                      <p:to>
                                        <p:strVal val="visible"/>
                                      </p:to>
                                    </p:set>
                                    <p:animEffect transition="in" filter="fade">
                                      <p:cBhvr>
                                        <p:cTn id="7" dur="1000"/>
                                        <p:tgtEl>
                                          <p:spTgt spid="38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88"/>
                                        </p:tgtEl>
                                        <p:attrNameLst>
                                          <p:attrName>style.visibility</p:attrName>
                                        </p:attrNameLst>
                                      </p:cBhvr>
                                      <p:to>
                                        <p:strVal val="visible"/>
                                      </p:to>
                                    </p:set>
                                    <p:animEffect transition="in" filter="fade">
                                      <p:cBhvr>
                                        <p:cTn id="12" dur="1000"/>
                                        <p:tgtEl>
                                          <p:spTgt spid="38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89"/>
                                        </p:tgtEl>
                                        <p:attrNameLst>
                                          <p:attrName>style.visibility</p:attrName>
                                        </p:attrNameLst>
                                      </p:cBhvr>
                                      <p:to>
                                        <p:strVal val="visible"/>
                                      </p:to>
                                    </p:set>
                                    <p:animEffect transition="in" filter="fade">
                                      <p:cBhvr>
                                        <p:cTn id="17" dur="1000"/>
                                        <p:tgtEl>
                                          <p:spTgt spid="3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4" name="Google Shape;394;p26"/>
          <p:cNvSpPr txBox="1">
            <a:spLocks noGrp="1"/>
          </p:cNvSpPr>
          <p:nvPr>
            <p:ph type="title"/>
          </p:nvPr>
        </p:nvSpPr>
        <p:spPr>
          <a:xfrm>
            <a:off x="457200" y="457200"/>
            <a:ext cx="8229600" cy="515112"/>
          </a:xfrm>
          <a:prstGeom prst="rect">
            <a:avLst/>
          </a:prstGeom>
          <a:noFill/>
          <a:ln>
            <a:noFill/>
          </a:ln>
        </p:spPr>
        <p:txBody>
          <a:bodyPr spcFirstLastPara="1" wrap="square" lIns="0" tIns="45700" rIns="0" bIns="0" anchor="b" anchorCtr="0">
            <a:normAutofit fontScale="90000"/>
          </a:bodyPr>
          <a:lstStyle/>
          <a:p>
            <a:pPr marL="0" lvl="0" indent="0" algn="l" rtl="0">
              <a:spcBef>
                <a:spcPts val="0"/>
              </a:spcBef>
              <a:spcAft>
                <a:spcPts val="0"/>
              </a:spcAft>
              <a:buClr>
                <a:schemeClr val="dk2"/>
              </a:buClr>
              <a:buSzPct val="100000"/>
              <a:buFont typeface="Calibri"/>
              <a:buNone/>
            </a:pPr>
            <a:r>
              <a:rPr lang="en-US"/>
              <a:t>Examples</a:t>
            </a:r>
            <a:endParaRPr/>
          </a:p>
        </p:txBody>
      </p:sp>
      <p:pic>
        <p:nvPicPr>
          <p:cNvPr id="395" name="Google Shape;395;p26"/>
          <p:cNvPicPr preferRelativeResize="0">
            <a:picLocks noGrp="1"/>
          </p:cNvPicPr>
          <p:nvPr>
            <p:ph type="body" idx="1"/>
          </p:nvPr>
        </p:nvPicPr>
        <p:blipFill rotWithShape="1">
          <a:blip r:embed="rId3">
            <a:alphaModFix/>
          </a:blip>
          <a:srcRect/>
          <a:stretch/>
        </p:blipFill>
        <p:spPr>
          <a:xfrm>
            <a:off x="510654" y="1043782"/>
            <a:ext cx="7566546" cy="52808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95"/>
                                        </p:tgtEl>
                                        <p:attrNameLst>
                                          <p:attrName>style.visibility</p:attrName>
                                        </p:attrNameLst>
                                      </p:cBhvr>
                                      <p:to>
                                        <p:strVal val="visible"/>
                                      </p:to>
                                    </p:set>
                                    <p:animEffect transition="in" filter="fade">
                                      <p:cBhvr>
                                        <p:cTn id="7" dur="1000"/>
                                        <p:tgtEl>
                                          <p:spTgt spid="3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sp>
        <p:nvSpPr>
          <p:cNvPr id="401" name="Google Shape;401;p27"/>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US" sz="1200">
                <a:solidFill>
                  <a:schemeClr val="folHlink"/>
                </a:solidFill>
                <a:latin typeface="Times New Roman"/>
                <a:ea typeface="Times New Roman"/>
                <a:cs typeface="Times New Roman"/>
                <a:sym typeface="Times New Roman"/>
              </a:rPr>
              <a:t>42</a:t>
            </a:fld>
            <a:endParaRPr sz="1200">
              <a:solidFill>
                <a:schemeClr val="folHlink"/>
              </a:solidFill>
              <a:latin typeface="Times New Roman"/>
              <a:ea typeface="Times New Roman"/>
              <a:cs typeface="Times New Roman"/>
              <a:sym typeface="Times New Roman"/>
            </a:endParaRPr>
          </a:p>
        </p:txBody>
      </p:sp>
      <p:sp>
        <p:nvSpPr>
          <p:cNvPr id="402" name="Google Shape;402;p27"/>
          <p:cNvSpPr/>
          <p:nvPr/>
        </p:nvSpPr>
        <p:spPr>
          <a:xfrm>
            <a:off x="685800" y="1219200"/>
            <a:ext cx="7848600" cy="76200"/>
          </a:xfrm>
          <a:prstGeom prst="rect">
            <a:avLst/>
          </a:prstGeom>
          <a:solidFill>
            <a:srgbClr val="66CC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rgbClr val="CCFFFF"/>
              </a:solidFill>
              <a:latin typeface="Constantia"/>
              <a:ea typeface="Constantia"/>
              <a:cs typeface="Constantia"/>
              <a:sym typeface="Constantia"/>
            </a:endParaRPr>
          </a:p>
        </p:txBody>
      </p:sp>
      <p:sp>
        <p:nvSpPr>
          <p:cNvPr id="403" name="Google Shape;403;p27"/>
          <p:cNvSpPr/>
          <p:nvPr/>
        </p:nvSpPr>
        <p:spPr>
          <a:xfrm>
            <a:off x="609600" y="304800"/>
            <a:ext cx="7848600"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a:solidFill>
                  <a:schemeClr val="accent2"/>
                </a:solidFill>
                <a:latin typeface="Arial"/>
                <a:ea typeface="Arial"/>
                <a:cs typeface="Arial"/>
                <a:sym typeface="Arial"/>
              </a:rPr>
              <a:t>History of queueing theory </a:t>
            </a:r>
            <a:endParaRPr/>
          </a:p>
        </p:txBody>
      </p:sp>
      <p:sp>
        <p:nvSpPr>
          <p:cNvPr id="404" name="Google Shape;404;p27"/>
          <p:cNvSpPr/>
          <p:nvPr/>
        </p:nvSpPr>
        <p:spPr>
          <a:xfrm>
            <a:off x="533400" y="1600200"/>
            <a:ext cx="8229600" cy="4724400"/>
          </a:xfrm>
          <a:prstGeom prst="rect">
            <a:avLst/>
          </a:prstGeom>
          <a:noFill/>
          <a:ln>
            <a:noFill/>
          </a:ln>
        </p:spPr>
        <p:txBody>
          <a:bodyPr spcFirstLastPara="1" wrap="square" lIns="91425" tIns="45700" rIns="91425" bIns="45700" anchor="t" anchorCtr="0">
            <a:noAutofit/>
          </a:bodyPr>
          <a:lstStyle/>
          <a:p>
            <a:pPr marL="355600" marR="0" lvl="0" indent="-355600" algn="l" rtl="0">
              <a:spcBef>
                <a:spcPts val="0"/>
              </a:spcBef>
              <a:spcAft>
                <a:spcPts val="0"/>
              </a:spcAft>
              <a:buClr>
                <a:schemeClr val="dk1"/>
              </a:buClr>
              <a:buSzPts val="2400"/>
              <a:buFont typeface="Arial"/>
              <a:buChar char="•"/>
            </a:pPr>
            <a:r>
              <a:rPr lang="en-US" sz="2400">
                <a:solidFill>
                  <a:schemeClr val="dk1"/>
                </a:solidFill>
                <a:latin typeface="Constantia"/>
                <a:ea typeface="Constantia"/>
                <a:cs typeface="Constantia"/>
                <a:sym typeface="Constantia"/>
              </a:rPr>
              <a:t>The theory of queueing systems was developed to provide models for forecasting behaviors of systems subject to random demand.</a:t>
            </a:r>
            <a:endParaRPr/>
          </a:p>
          <a:p>
            <a:pPr marL="355600" marR="0" lvl="0" indent="-355600" algn="l" rtl="0">
              <a:spcBef>
                <a:spcPts val="1200"/>
              </a:spcBef>
              <a:spcAft>
                <a:spcPts val="0"/>
              </a:spcAft>
              <a:buClr>
                <a:schemeClr val="dk1"/>
              </a:buClr>
              <a:buSzPts val="2400"/>
              <a:buFont typeface="Arial"/>
              <a:buChar char="•"/>
            </a:pPr>
            <a:r>
              <a:rPr lang="en-US" sz="2400">
                <a:solidFill>
                  <a:schemeClr val="dk1"/>
                </a:solidFill>
                <a:latin typeface="Constantia"/>
                <a:ea typeface="Constantia"/>
                <a:cs typeface="Constantia"/>
                <a:sym typeface="Constantia"/>
              </a:rPr>
              <a:t>The first problems addressed concerned congestion of telephone traffic (Erlang, "the theory of probabilities and telephone conversations ", 1909)</a:t>
            </a:r>
            <a:endParaRPr/>
          </a:p>
          <a:p>
            <a:pPr marL="355600" marR="0" lvl="0" indent="-355600" algn="l" rtl="0">
              <a:spcBef>
                <a:spcPts val="1200"/>
              </a:spcBef>
              <a:spcAft>
                <a:spcPts val="0"/>
              </a:spcAft>
              <a:buClr>
                <a:schemeClr val="dk1"/>
              </a:buClr>
              <a:buSzPts val="2400"/>
              <a:buFont typeface="Arial"/>
              <a:buChar char="•"/>
            </a:pPr>
            <a:r>
              <a:rPr lang="en-US" sz="2400">
                <a:solidFill>
                  <a:schemeClr val="dk1"/>
                </a:solidFill>
                <a:latin typeface="Constantia"/>
                <a:ea typeface="Constantia"/>
                <a:cs typeface="Constantia"/>
                <a:sym typeface="Constantia"/>
              </a:rPr>
              <a:t>Erlang observed that a telephone system can be modeled by Poisson customer arrivals and exponentially distributed service times</a:t>
            </a:r>
            <a:endParaRPr/>
          </a:p>
          <a:p>
            <a:pPr marL="355600" marR="0" lvl="0" indent="-355600" algn="l" rtl="0">
              <a:spcBef>
                <a:spcPts val="1200"/>
              </a:spcBef>
              <a:spcAft>
                <a:spcPts val="0"/>
              </a:spcAft>
              <a:buClr>
                <a:schemeClr val="dk1"/>
              </a:buClr>
              <a:buSzPts val="2400"/>
              <a:buFont typeface="Arial"/>
              <a:buChar char="•"/>
            </a:pPr>
            <a:r>
              <a:rPr lang="en-US" sz="2400">
                <a:solidFill>
                  <a:schemeClr val="dk1"/>
                </a:solidFill>
                <a:latin typeface="Constantia"/>
                <a:ea typeface="Constantia"/>
                <a:cs typeface="Constantia"/>
                <a:sym typeface="Constantia"/>
              </a:rPr>
              <a:t>Molina, Pollaczek, Kolmogorov, Khintchine, Palm, Crommelin followed the track</a:t>
            </a:r>
            <a:endParaRPr sz="3600">
              <a:solidFill>
                <a:schemeClr val="dk1"/>
              </a:solidFill>
              <a:latin typeface="Constantia"/>
              <a:ea typeface="Constantia"/>
              <a:cs typeface="Constantia"/>
              <a:sym typeface="Constanti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4">
                                            <p:txEl>
                                              <p:pRg st="0" end="0"/>
                                            </p:txEl>
                                          </p:spTgt>
                                        </p:tgtEl>
                                        <p:attrNameLst>
                                          <p:attrName>style.visibility</p:attrName>
                                        </p:attrNameLst>
                                      </p:cBhvr>
                                      <p:to>
                                        <p:strVal val="visible"/>
                                      </p:to>
                                    </p:set>
                                    <p:animEffect transition="in" filter="fade">
                                      <p:cBhvr>
                                        <p:cTn id="7" dur="1000"/>
                                        <p:tgtEl>
                                          <p:spTgt spid="40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4">
                                            <p:txEl>
                                              <p:pRg st="1" end="1"/>
                                            </p:txEl>
                                          </p:spTgt>
                                        </p:tgtEl>
                                        <p:attrNameLst>
                                          <p:attrName>style.visibility</p:attrName>
                                        </p:attrNameLst>
                                      </p:cBhvr>
                                      <p:to>
                                        <p:strVal val="visible"/>
                                      </p:to>
                                    </p:set>
                                    <p:animEffect transition="in" filter="fade">
                                      <p:cBhvr>
                                        <p:cTn id="12" dur="1000"/>
                                        <p:tgtEl>
                                          <p:spTgt spid="40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04">
                                            <p:txEl>
                                              <p:pRg st="2" end="2"/>
                                            </p:txEl>
                                          </p:spTgt>
                                        </p:tgtEl>
                                        <p:attrNameLst>
                                          <p:attrName>style.visibility</p:attrName>
                                        </p:attrNameLst>
                                      </p:cBhvr>
                                      <p:to>
                                        <p:strVal val="visible"/>
                                      </p:to>
                                    </p:set>
                                    <p:animEffect transition="in" filter="fade">
                                      <p:cBhvr>
                                        <p:cTn id="17" dur="1000"/>
                                        <p:tgtEl>
                                          <p:spTgt spid="40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04">
                                            <p:txEl>
                                              <p:pRg st="3" end="3"/>
                                            </p:txEl>
                                          </p:spTgt>
                                        </p:tgtEl>
                                        <p:attrNameLst>
                                          <p:attrName>style.visibility</p:attrName>
                                        </p:attrNameLst>
                                      </p:cBhvr>
                                      <p:to>
                                        <p:strVal val="visible"/>
                                      </p:to>
                                    </p:set>
                                    <p:animEffect transition="in" filter="fade">
                                      <p:cBhvr>
                                        <p:cTn id="22" dur="1000"/>
                                        <p:tgtEl>
                                          <p:spTgt spid="40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Google Shape;410;p28"/>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US" sz="1200">
                <a:solidFill>
                  <a:schemeClr val="folHlink"/>
                </a:solidFill>
                <a:latin typeface="Times New Roman"/>
                <a:ea typeface="Times New Roman"/>
                <a:cs typeface="Times New Roman"/>
                <a:sym typeface="Times New Roman"/>
              </a:rPr>
              <a:t>43</a:t>
            </a:fld>
            <a:endParaRPr sz="1200">
              <a:solidFill>
                <a:schemeClr val="folHlink"/>
              </a:solidFill>
              <a:latin typeface="Times New Roman"/>
              <a:ea typeface="Times New Roman"/>
              <a:cs typeface="Times New Roman"/>
              <a:sym typeface="Times New Roman"/>
            </a:endParaRPr>
          </a:p>
        </p:txBody>
      </p:sp>
      <p:sp>
        <p:nvSpPr>
          <p:cNvPr id="411" name="Google Shape;411;p28"/>
          <p:cNvSpPr/>
          <p:nvPr/>
        </p:nvSpPr>
        <p:spPr>
          <a:xfrm>
            <a:off x="685800" y="1219200"/>
            <a:ext cx="7848600" cy="76200"/>
          </a:xfrm>
          <a:prstGeom prst="rect">
            <a:avLst/>
          </a:prstGeom>
          <a:solidFill>
            <a:srgbClr val="66CC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rgbClr val="CCFFFF"/>
              </a:solidFill>
              <a:latin typeface="Constantia"/>
              <a:ea typeface="Constantia"/>
              <a:cs typeface="Constantia"/>
              <a:sym typeface="Constantia"/>
            </a:endParaRPr>
          </a:p>
        </p:txBody>
      </p:sp>
      <p:sp>
        <p:nvSpPr>
          <p:cNvPr id="412" name="Google Shape;412;p28"/>
          <p:cNvSpPr/>
          <p:nvPr/>
        </p:nvSpPr>
        <p:spPr>
          <a:xfrm>
            <a:off x="609600" y="609600"/>
            <a:ext cx="7848600" cy="48895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600" b="1">
                <a:solidFill>
                  <a:schemeClr val="accent2"/>
                </a:solidFill>
                <a:latin typeface="Arial"/>
                <a:ea typeface="Arial"/>
                <a:cs typeface="Arial"/>
                <a:sym typeface="Arial"/>
              </a:rPr>
              <a:t>Interests of queueing systems </a:t>
            </a:r>
            <a:endParaRPr/>
          </a:p>
        </p:txBody>
      </p:sp>
      <p:sp>
        <p:nvSpPr>
          <p:cNvPr id="413" name="Google Shape;413;p28"/>
          <p:cNvSpPr/>
          <p:nvPr/>
        </p:nvSpPr>
        <p:spPr>
          <a:xfrm>
            <a:off x="533400" y="1600200"/>
            <a:ext cx="8229600" cy="4724400"/>
          </a:xfrm>
          <a:prstGeom prst="rect">
            <a:avLst/>
          </a:prstGeom>
          <a:noFill/>
          <a:ln>
            <a:noFill/>
          </a:ln>
        </p:spPr>
        <p:txBody>
          <a:bodyPr spcFirstLastPara="1" wrap="square" lIns="91425" tIns="45700" rIns="91425" bIns="45700" anchor="t" anchorCtr="0">
            <a:noAutofit/>
          </a:bodyPr>
          <a:lstStyle/>
          <a:p>
            <a:pPr marL="355600" marR="0" lvl="0" indent="-355600" algn="l" rtl="0">
              <a:spcBef>
                <a:spcPts val="0"/>
              </a:spcBef>
              <a:spcAft>
                <a:spcPts val="0"/>
              </a:spcAft>
              <a:buNone/>
            </a:pPr>
            <a:r>
              <a:rPr lang="en-US" sz="1800">
                <a:solidFill>
                  <a:schemeClr val="dk1"/>
                </a:solidFill>
                <a:latin typeface="Constantia"/>
                <a:ea typeface="Constantia"/>
                <a:cs typeface="Constantia"/>
                <a:sym typeface="Constantia"/>
              </a:rPr>
              <a:t>Queueing theory found numerous applications in:</a:t>
            </a:r>
            <a:endParaRPr/>
          </a:p>
          <a:p>
            <a:pPr marL="355600" marR="0" lvl="0" indent="-241300" algn="l" rtl="0">
              <a:spcBef>
                <a:spcPts val="1200"/>
              </a:spcBef>
              <a:spcAft>
                <a:spcPts val="0"/>
              </a:spcAft>
              <a:buClr>
                <a:schemeClr val="dk1"/>
              </a:buClr>
              <a:buSzPts val="1800"/>
              <a:buFont typeface="Arial"/>
              <a:buNone/>
            </a:pPr>
            <a:endParaRPr sz="1800">
              <a:solidFill>
                <a:schemeClr val="dk1"/>
              </a:solidFill>
              <a:latin typeface="Constantia"/>
              <a:ea typeface="Constantia"/>
              <a:cs typeface="Constantia"/>
              <a:sym typeface="Constantia"/>
            </a:endParaRPr>
          </a:p>
          <a:p>
            <a:pPr marL="355600" marR="0" lvl="0" indent="-355600" algn="l" rtl="0">
              <a:spcBef>
                <a:spcPts val="1200"/>
              </a:spcBef>
              <a:spcAft>
                <a:spcPts val="0"/>
              </a:spcAft>
              <a:buNone/>
            </a:pPr>
            <a:r>
              <a:rPr lang="en-US" sz="1800">
                <a:solidFill>
                  <a:schemeClr val="dk1"/>
                </a:solidFill>
                <a:latin typeface="Constantia"/>
                <a:ea typeface="Constantia"/>
                <a:cs typeface="Constantia"/>
                <a:sym typeface="Constantia"/>
              </a:rPr>
              <a:t>– Trafic control (communication networks, air traffic, …)</a:t>
            </a:r>
            <a:endParaRPr/>
          </a:p>
          <a:p>
            <a:pPr marL="355600" marR="0" lvl="0" indent="-355600" algn="l" rtl="0">
              <a:spcBef>
                <a:spcPts val="1200"/>
              </a:spcBef>
              <a:spcAft>
                <a:spcPts val="0"/>
              </a:spcAft>
              <a:buNone/>
            </a:pPr>
            <a:r>
              <a:rPr lang="en-US" sz="1800">
                <a:solidFill>
                  <a:schemeClr val="dk1"/>
                </a:solidFill>
                <a:latin typeface="Constantia"/>
                <a:ea typeface="Constantia"/>
                <a:cs typeface="Constantia"/>
                <a:sym typeface="Constantia"/>
              </a:rPr>
              <a:t>– Planing (manufacturing systems, computer programmes, …)</a:t>
            </a:r>
            <a:endParaRPr/>
          </a:p>
          <a:p>
            <a:pPr marL="355600" marR="0" lvl="0" indent="-355600" algn="l" rtl="0">
              <a:spcBef>
                <a:spcPts val="1200"/>
              </a:spcBef>
              <a:spcAft>
                <a:spcPts val="0"/>
              </a:spcAft>
              <a:buNone/>
            </a:pPr>
            <a:r>
              <a:rPr lang="en-US" sz="1800">
                <a:solidFill>
                  <a:schemeClr val="dk1"/>
                </a:solidFill>
                <a:latin typeface="Constantia"/>
                <a:ea typeface="Constantia"/>
                <a:cs typeface="Constantia"/>
                <a:sym typeface="Constantia"/>
              </a:rPr>
              <a:t>– Facility dimensioning (factories, ...) </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13"/>
                                        </p:tgtEl>
                                        <p:attrNameLst>
                                          <p:attrName>style.visibility</p:attrName>
                                        </p:attrNameLst>
                                      </p:cBhvr>
                                      <p:to>
                                        <p:strVal val="visible"/>
                                      </p:to>
                                    </p:set>
                                    <p:animEffect transition="in" filter="fade">
                                      <p:cBhvr>
                                        <p:cTn id="7" dur="1000"/>
                                        <p:tgtEl>
                                          <p:spTgt spid="4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29"/>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US" sz="1200">
                <a:solidFill>
                  <a:schemeClr val="folHlink"/>
                </a:solidFill>
                <a:latin typeface="Times New Roman"/>
                <a:ea typeface="Times New Roman"/>
                <a:cs typeface="Times New Roman"/>
                <a:sym typeface="Times New Roman"/>
              </a:rPr>
              <a:t>44</a:t>
            </a:fld>
            <a:endParaRPr sz="1200">
              <a:solidFill>
                <a:schemeClr val="folHlink"/>
              </a:solidFill>
              <a:latin typeface="Times New Roman"/>
              <a:ea typeface="Times New Roman"/>
              <a:cs typeface="Times New Roman"/>
              <a:sym typeface="Times New Roman"/>
            </a:endParaRPr>
          </a:p>
        </p:txBody>
      </p:sp>
      <p:sp>
        <p:nvSpPr>
          <p:cNvPr id="420" name="Google Shape;420;p29"/>
          <p:cNvSpPr/>
          <p:nvPr/>
        </p:nvSpPr>
        <p:spPr>
          <a:xfrm>
            <a:off x="685800" y="1219200"/>
            <a:ext cx="7848600" cy="76200"/>
          </a:xfrm>
          <a:prstGeom prst="rect">
            <a:avLst/>
          </a:prstGeom>
          <a:solidFill>
            <a:srgbClr val="66CC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rgbClr val="CCFFFF"/>
              </a:solidFill>
              <a:latin typeface="Constantia"/>
              <a:ea typeface="Constantia"/>
              <a:cs typeface="Constantia"/>
              <a:sym typeface="Constantia"/>
            </a:endParaRPr>
          </a:p>
        </p:txBody>
      </p:sp>
      <p:sp>
        <p:nvSpPr>
          <p:cNvPr id="421" name="Google Shape;421;p29"/>
          <p:cNvSpPr/>
          <p:nvPr/>
        </p:nvSpPr>
        <p:spPr>
          <a:xfrm>
            <a:off x="609600" y="609600"/>
            <a:ext cx="7848600" cy="48895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600" b="1">
                <a:solidFill>
                  <a:schemeClr val="accent2"/>
                </a:solidFill>
                <a:latin typeface="Arial"/>
                <a:ea typeface="Arial"/>
                <a:cs typeface="Arial"/>
                <a:sym typeface="Arial"/>
              </a:rPr>
              <a:t>Characteristics of simple queueing systems</a:t>
            </a:r>
            <a:endParaRPr/>
          </a:p>
        </p:txBody>
      </p:sp>
      <p:sp>
        <p:nvSpPr>
          <p:cNvPr id="422" name="Google Shape;422;p29"/>
          <p:cNvSpPr/>
          <p:nvPr/>
        </p:nvSpPr>
        <p:spPr>
          <a:xfrm>
            <a:off x="533400" y="1484313"/>
            <a:ext cx="8229600" cy="484028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a:solidFill>
                  <a:schemeClr val="dk1"/>
                </a:solidFill>
                <a:latin typeface="Constantia"/>
                <a:ea typeface="Constantia"/>
                <a:cs typeface="Constantia"/>
                <a:sym typeface="Constantia"/>
              </a:rPr>
              <a:t>Queueing systems can be characterized with several criteria:</a:t>
            </a:r>
            <a:endParaRPr/>
          </a:p>
          <a:p>
            <a:pPr marL="0" marR="0" lvl="0" indent="0" algn="l" rtl="0">
              <a:spcBef>
                <a:spcPts val="0"/>
              </a:spcBef>
              <a:spcAft>
                <a:spcPts val="0"/>
              </a:spcAft>
              <a:buNone/>
            </a:pPr>
            <a:endParaRPr sz="2800">
              <a:solidFill>
                <a:schemeClr val="dk1"/>
              </a:solidFill>
              <a:latin typeface="Constantia"/>
              <a:ea typeface="Constantia"/>
              <a:cs typeface="Constantia"/>
              <a:sym typeface="Constantia"/>
            </a:endParaRPr>
          </a:p>
          <a:p>
            <a:pPr marL="355600" marR="0" lvl="0" indent="-355600" algn="l" rtl="0">
              <a:spcBef>
                <a:spcPts val="0"/>
              </a:spcBef>
              <a:spcAft>
                <a:spcPts val="0"/>
              </a:spcAft>
              <a:buClr>
                <a:schemeClr val="dk1"/>
              </a:buClr>
              <a:buSzPts val="2800"/>
              <a:buFont typeface="Arial"/>
              <a:buChar char="•"/>
            </a:pPr>
            <a:r>
              <a:rPr lang="en-US" sz="2800">
                <a:solidFill>
                  <a:schemeClr val="dk1"/>
                </a:solidFill>
                <a:latin typeface="Constantia"/>
                <a:ea typeface="Constantia"/>
                <a:cs typeface="Constantia"/>
                <a:sym typeface="Constantia"/>
              </a:rPr>
              <a:t>Customer arrival processes</a:t>
            </a:r>
            <a:endParaRPr sz="2800">
              <a:solidFill>
                <a:schemeClr val="dk1"/>
              </a:solidFill>
              <a:latin typeface="Constantia"/>
              <a:ea typeface="Constantia"/>
              <a:cs typeface="Constantia"/>
              <a:sym typeface="Constantia"/>
            </a:endParaRPr>
          </a:p>
          <a:p>
            <a:pPr marL="355600" marR="0" lvl="0" indent="-355600" algn="l" rtl="0">
              <a:spcBef>
                <a:spcPts val="0"/>
              </a:spcBef>
              <a:spcAft>
                <a:spcPts val="0"/>
              </a:spcAft>
              <a:buClr>
                <a:schemeClr val="dk1"/>
              </a:buClr>
              <a:buSzPts val="2800"/>
              <a:buFont typeface="Arial"/>
              <a:buChar char="•"/>
            </a:pPr>
            <a:r>
              <a:rPr lang="en-US" sz="2800">
                <a:solidFill>
                  <a:schemeClr val="dk1"/>
                </a:solidFill>
                <a:latin typeface="Constantia"/>
                <a:ea typeface="Constantia"/>
                <a:cs typeface="Constantia"/>
                <a:sym typeface="Constantia"/>
              </a:rPr>
              <a:t>Service time</a:t>
            </a:r>
            <a:endParaRPr/>
          </a:p>
          <a:p>
            <a:pPr marL="355600" marR="0" lvl="0" indent="-355600" algn="l" rtl="0">
              <a:spcBef>
                <a:spcPts val="0"/>
              </a:spcBef>
              <a:spcAft>
                <a:spcPts val="0"/>
              </a:spcAft>
              <a:buClr>
                <a:schemeClr val="dk1"/>
              </a:buClr>
              <a:buSzPts val="2800"/>
              <a:buFont typeface="Arial"/>
              <a:buChar char="•"/>
            </a:pPr>
            <a:r>
              <a:rPr lang="en-US" sz="2800">
                <a:solidFill>
                  <a:schemeClr val="dk1"/>
                </a:solidFill>
                <a:latin typeface="Constantia"/>
                <a:ea typeface="Constantia"/>
                <a:cs typeface="Constantia"/>
                <a:sym typeface="Constantia"/>
              </a:rPr>
              <a:t>Service discipline</a:t>
            </a:r>
            <a:endParaRPr/>
          </a:p>
          <a:p>
            <a:pPr marL="355600" marR="0" lvl="0" indent="-355600" algn="l" rtl="0">
              <a:spcBef>
                <a:spcPts val="0"/>
              </a:spcBef>
              <a:spcAft>
                <a:spcPts val="0"/>
              </a:spcAft>
              <a:buClr>
                <a:schemeClr val="dk1"/>
              </a:buClr>
              <a:buSzPts val="2800"/>
              <a:buFont typeface="Arial"/>
              <a:buChar char="•"/>
            </a:pPr>
            <a:r>
              <a:rPr lang="en-US" sz="2800">
                <a:solidFill>
                  <a:schemeClr val="dk1"/>
                </a:solidFill>
                <a:latin typeface="Constantia"/>
                <a:ea typeface="Constantia"/>
                <a:cs typeface="Constantia"/>
                <a:sym typeface="Constantia"/>
              </a:rPr>
              <a:t>Service capacity</a:t>
            </a:r>
            <a:endParaRPr sz="2800">
              <a:solidFill>
                <a:schemeClr val="dk1"/>
              </a:solidFill>
              <a:latin typeface="Constantia"/>
              <a:ea typeface="Constantia"/>
              <a:cs typeface="Constantia"/>
              <a:sym typeface="Constantia"/>
            </a:endParaRPr>
          </a:p>
          <a:p>
            <a:pPr marL="355600" marR="0" lvl="0" indent="-355600" algn="l" rtl="0">
              <a:spcBef>
                <a:spcPts val="0"/>
              </a:spcBef>
              <a:spcAft>
                <a:spcPts val="0"/>
              </a:spcAft>
              <a:buClr>
                <a:schemeClr val="dk1"/>
              </a:buClr>
              <a:buSzPts val="2800"/>
              <a:buFont typeface="Arial"/>
              <a:buChar char="•"/>
            </a:pPr>
            <a:r>
              <a:rPr lang="en-US" sz="2800">
                <a:solidFill>
                  <a:schemeClr val="dk1"/>
                </a:solidFill>
                <a:latin typeface="Constantia"/>
                <a:ea typeface="Constantia"/>
                <a:cs typeface="Constantia"/>
                <a:sym typeface="Constantia"/>
              </a:rPr>
              <a:t>Number of service stages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22">
                                            <p:txEl>
                                              <p:pRg st="0" end="0"/>
                                            </p:txEl>
                                          </p:spTgt>
                                        </p:tgtEl>
                                        <p:attrNameLst>
                                          <p:attrName>style.visibility</p:attrName>
                                        </p:attrNameLst>
                                      </p:cBhvr>
                                      <p:to>
                                        <p:strVal val="visible"/>
                                      </p:to>
                                    </p:set>
                                    <p:animEffect transition="in" filter="fade">
                                      <p:cBhvr>
                                        <p:cTn id="7" dur="1000"/>
                                        <p:tgtEl>
                                          <p:spTgt spid="42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22">
                                            <p:txEl>
                                              <p:pRg st="1" end="1"/>
                                            </p:txEl>
                                          </p:spTgt>
                                        </p:tgtEl>
                                        <p:attrNameLst>
                                          <p:attrName>style.visibility</p:attrName>
                                        </p:attrNameLst>
                                      </p:cBhvr>
                                      <p:to>
                                        <p:strVal val="visible"/>
                                      </p:to>
                                    </p:set>
                                    <p:animEffect transition="in" filter="fade">
                                      <p:cBhvr>
                                        <p:cTn id="12" dur="1000"/>
                                        <p:tgtEl>
                                          <p:spTgt spid="42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22">
                                            <p:txEl>
                                              <p:pRg st="2" end="2"/>
                                            </p:txEl>
                                          </p:spTgt>
                                        </p:tgtEl>
                                        <p:attrNameLst>
                                          <p:attrName>style.visibility</p:attrName>
                                        </p:attrNameLst>
                                      </p:cBhvr>
                                      <p:to>
                                        <p:strVal val="visible"/>
                                      </p:to>
                                    </p:set>
                                    <p:animEffect transition="in" filter="fade">
                                      <p:cBhvr>
                                        <p:cTn id="17" dur="1000"/>
                                        <p:tgtEl>
                                          <p:spTgt spid="42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22">
                                            <p:txEl>
                                              <p:pRg st="3" end="3"/>
                                            </p:txEl>
                                          </p:spTgt>
                                        </p:tgtEl>
                                        <p:attrNameLst>
                                          <p:attrName>style.visibility</p:attrName>
                                        </p:attrNameLst>
                                      </p:cBhvr>
                                      <p:to>
                                        <p:strVal val="visible"/>
                                      </p:to>
                                    </p:set>
                                    <p:animEffect transition="in" filter="fade">
                                      <p:cBhvr>
                                        <p:cTn id="22" dur="1000"/>
                                        <p:tgtEl>
                                          <p:spTgt spid="42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22">
                                            <p:txEl>
                                              <p:pRg st="4" end="4"/>
                                            </p:txEl>
                                          </p:spTgt>
                                        </p:tgtEl>
                                        <p:attrNameLst>
                                          <p:attrName>style.visibility</p:attrName>
                                        </p:attrNameLst>
                                      </p:cBhvr>
                                      <p:to>
                                        <p:strVal val="visible"/>
                                      </p:to>
                                    </p:set>
                                    <p:animEffect transition="in" filter="fade">
                                      <p:cBhvr>
                                        <p:cTn id="27" dur="1000"/>
                                        <p:tgtEl>
                                          <p:spTgt spid="42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22">
                                            <p:txEl>
                                              <p:pRg st="5" end="5"/>
                                            </p:txEl>
                                          </p:spTgt>
                                        </p:tgtEl>
                                        <p:attrNameLst>
                                          <p:attrName>style.visibility</p:attrName>
                                        </p:attrNameLst>
                                      </p:cBhvr>
                                      <p:to>
                                        <p:strVal val="visible"/>
                                      </p:to>
                                    </p:set>
                                    <p:animEffect transition="in" filter="fade">
                                      <p:cBhvr>
                                        <p:cTn id="32" dur="1000"/>
                                        <p:tgtEl>
                                          <p:spTgt spid="42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22">
                                            <p:txEl>
                                              <p:pRg st="6" end="6"/>
                                            </p:txEl>
                                          </p:spTgt>
                                        </p:tgtEl>
                                        <p:attrNameLst>
                                          <p:attrName>style.visibility</p:attrName>
                                        </p:attrNameLst>
                                      </p:cBhvr>
                                      <p:to>
                                        <p:strVal val="visible"/>
                                      </p:to>
                                    </p:set>
                                    <p:animEffect transition="in" filter="fade">
                                      <p:cBhvr>
                                        <p:cTn id="37" dur="1000"/>
                                        <p:tgtEl>
                                          <p:spTgt spid="42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27"/>
        <p:cNvGrpSpPr/>
        <p:nvPr/>
      </p:nvGrpSpPr>
      <p:grpSpPr>
        <a:xfrm>
          <a:off x="0" y="0"/>
          <a:ext cx="0" cy="0"/>
          <a:chOff x="0" y="0"/>
          <a:chExt cx="0" cy="0"/>
        </a:xfrm>
      </p:grpSpPr>
      <p:sp>
        <p:nvSpPr>
          <p:cNvPr id="428" name="Google Shape;428;p30"/>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US" sz="1200">
                <a:solidFill>
                  <a:schemeClr val="folHlink"/>
                </a:solidFill>
                <a:latin typeface="Times New Roman"/>
                <a:ea typeface="Times New Roman"/>
                <a:cs typeface="Times New Roman"/>
                <a:sym typeface="Times New Roman"/>
              </a:rPr>
              <a:t>45</a:t>
            </a:fld>
            <a:endParaRPr sz="1200">
              <a:solidFill>
                <a:schemeClr val="folHlink"/>
              </a:solidFill>
              <a:latin typeface="Times New Roman"/>
              <a:ea typeface="Times New Roman"/>
              <a:cs typeface="Times New Roman"/>
              <a:sym typeface="Times New Roman"/>
            </a:endParaRPr>
          </a:p>
        </p:txBody>
      </p:sp>
      <p:sp>
        <p:nvSpPr>
          <p:cNvPr id="429" name="Google Shape;429;p30"/>
          <p:cNvSpPr/>
          <p:nvPr/>
        </p:nvSpPr>
        <p:spPr>
          <a:xfrm>
            <a:off x="685800" y="1219200"/>
            <a:ext cx="7848600" cy="76200"/>
          </a:xfrm>
          <a:prstGeom prst="rect">
            <a:avLst/>
          </a:prstGeom>
          <a:solidFill>
            <a:srgbClr val="66CC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rgbClr val="CCFFFF"/>
              </a:solidFill>
              <a:latin typeface="Constantia"/>
              <a:ea typeface="Constantia"/>
              <a:cs typeface="Constantia"/>
              <a:sym typeface="Constantia"/>
            </a:endParaRPr>
          </a:p>
        </p:txBody>
      </p:sp>
      <p:sp>
        <p:nvSpPr>
          <p:cNvPr id="430" name="Google Shape;430;p30"/>
          <p:cNvSpPr/>
          <p:nvPr/>
        </p:nvSpPr>
        <p:spPr>
          <a:xfrm>
            <a:off x="609600" y="609600"/>
            <a:ext cx="7848600" cy="48895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600" b="1">
                <a:solidFill>
                  <a:schemeClr val="accent2"/>
                </a:solidFill>
                <a:latin typeface="Arial"/>
                <a:ea typeface="Arial"/>
                <a:cs typeface="Arial"/>
                <a:sym typeface="Arial"/>
              </a:rPr>
              <a:t>Notation of Kendall</a:t>
            </a:r>
            <a:endParaRPr/>
          </a:p>
        </p:txBody>
      </p:sp>
      <p:sp>
        <p:nvSpPr>
          <p:cNvPr id="431" name="Google Shape;431;p30"/>
          <p:cNvSpPr/>
          <p:nvPr/>
        </p:nvSpPr>
        <p:spPr>
          <a:xfrm>
            <a:off x="533400" y="1484313"/>
            <a:ext cx="8229600" cy="484028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Constantia"/>
                <a:ea typeface="Constantia"/>
                <a:cs typeface="Constantia"/>
                <a:sym typeface="Constantia"/>
              </a:rPr>
              <a:t>The following is a standard notation system of queuing systems</a:t>
            </a:r>
            <a:endParaRPr/>
          </a:p>
          <a:p>
            <a:pPr marL="355600" marR="0" lvl="0" indent="-355600" algn="l" rtl="0">
              <a:spcBef>
                <a:spcPts val="0"/>
              </a:spcBef>
              <a:spcAft>
                <a:spcPts val="0"/>
              </a:spcAft>
              <a:buNone/>
            </a:pPr>
            <a:endParaRPr sz="1800">
              <a:solidFill>
                <a:schemeClr val="dk1"/>
              </a:solidFill>
              <a:latin typeface="Constantia"/>
              <a:ea typeface="Constantia"/>
              <a:cs typeface="Constantia"/>
              <a:sym typeface="Constantia"/>
            </a:endParaRPr>
          </a:p>
          <a:p>
            <a:pPr marL="0" marR="0" lvl="0" indent="0" algn="l" rtl="0">
              <a:spcBef>
                <a:spcPts val="0"/>
              </a:spcBef>
              <a:spcAft>
                <a:spcPts val="0"/>
              </a:spcAft>
              <a:buNone/>
            </a:pPr>
            <a:r>
              <a:rPr lang="en-US" sz="1800">
                <a:solidFill>
                  <a:schemeClr val="dk1"/>
                </a:solidFill>
                <a:latin typeface="Constantia"/>
                <a:ea typeface="Constantia"/>
                <a:cs typeface="Constantia"/>
                <a:sym typeface="Constantia"/>
              </a:rPr>
              <a:t>T/X/C/K/P/Z with</a:t>
            </a:r>
            <a:endParaRPr/>
          </a:p>
          <a:p>
            <a:pPr marL="0" marR="0" lvl="0" indent="0" algn="l" rtl="0">
              <a:spcBef>
                <a:spcPts val="0"/>
              </a:spcBef>
              <a:spcAft>
                <a:spcPts val="0"/>
              </a:spcAft>
              <a:buNone/>
            </a:pPr>
            <a:endParaRPr sz="1800">
              <a:solidFill>
                <a:schemeClr val="dk1"/>
              </a:solidFill>
              <a:latin typeface="Constantia"/>
              <a:ea typeface="Constantia"/>
              <a:cs typeface="Constantia"/>
              <a:sym typeface="Constantia"/>
            </a:endParaRPr>
          </a:p>
          <a:p>
            <a:pPr marL="444500" marR="0" lvl="0" indent="0" algn="l" rtl="0">
              <a:spcBef>
                <a:spcPts val="0"/>
              </a:spcBef>
              <a:spcAft>
                <a:spcPts val="0"/>
              </a:spcAft>
              <a:buNone/>
            </a:pPr>
            <a:r>
              <a:rPr lang="en-US" sz="1800">
                <a:solidFill>
                  <a:schemeClr val="dk1"/>
                </a:solidFill>
                <a:latin typeface="Constantia"/>
                <a:ea typeface="Constantia"/>
                <a:cs typeface="Constantia"/>
                <a:sym typeface="Constantia"/>
              </a:rPr>
              <a:t>– T: probability distribution of inter-arrival times</a:t>
            </a:r>
            <a:endParaRPr/>
          </a:p>
          <a:p>
            <a:pPr marL="444500" marR="0" lvl="0" indent="0" algn="l" rtl="0">
              <a:spcBef>
                <a:spcPts val="0"/>
              </a:spcBef>
              <a:spcAft>
                <a:spcPts val="0"/>
              </a:spcAft>
              <a:buNone/>
            </a:pPr>
            <a:r>
              <a:rPr lang="en-US" sz="1800">
                <a:solidFill>
                  <a:schemeClr val="dk1"/>
                </a:solidFill>
                <a:latin typeface="Constantia"/>
                <a:ea typeface="Constantia"/>
                <a:cs typeface="Constantia"/>
                <a:sym typeface="Constantia"/>
              </a:rPr>
              <a:t>– X: probability distribution of service times</a:t>
            </a:r>
            <a:endParaRPr/>
          </a:p>
          <a:p>
            <a:pPr marL="444500" marR="0" lvl="0" indent="0" algn="l" rtl="0">
              <a:spcBef>
                <a:spcPts val="0"/>
              </a:spcBef>
              <a:spcAft>
                <a:spcPts val="0"/>
              </a:spcAft>
              <a:buNone/>
            </a:pPr>
            <a:r>
              <a:rPr lang="en-US" sz="1800">
                <a:solidFill>
                  <a:schemeClr val="dk1"/>
                </a:solidFill>
                <a:latin typeface="Constantia"/>
                <a:ea typeface="Constantia"/>
                <a:cs typeface="Constantia"/>
                <a:sym typeface="Constantia"/>
              </a:rPr>
              <a:t>– C: Number of servers</a:t>
            </a:r>
            <a:endParaRPr/>
          </a:p>
          <a:p>
            <a:pPr marL="444500" marR="0" lvl="0" indent="0" algn="l" rtl="0">
              <a:spcBef>
                <a:spcPts val="0"/>
              </a:spcBef>
              <a:spcAft>
                <a:spcPts val="0"/>
              </a:spcAft>
              <a:buNone/>
            </a:pPr>
            <a:r>
              <a:rPr lang="en-US" sz="1800">
                <a:solidFill>
                  <a:schemeClr val="dk1"/>
                </a:solidFill>
                <a:latin typeface="Constantia"/>
                <a:ea typeface="Constantia"/>
                <a:cs typeface="Constantia"/>
                <a:sym typeface="Constantia"/>
              </a:rPr>
              <a:t>– K: Queue capacity</a:t>
            </a:r>
            <a:endParaRPr/>
          </a:p>
          <a:p>
            <a:pPr marL="444500" marR="0" lvl="0" indent="0" algn="l" rtl="0">
              <a:spcBef>
                <a:spcPts val="0"/>
              </a:spcBef>
              <a:spcAft>
                <a:spcPts val="0"/>
              </a:spcAft>
              <a:buNone/>
            </a:pPr>
            <a:r>
              <a:rPr lang="en-US" sz="1800">
                <a:solidFill>
                  <a:schemeClr val="dk1"/>
                </a:solidFill>
                <a:latin typeface="Constantia"/>
                <a:ea typeface="Constantia"/>
                <a:cs typeface="Constantia"/>
                <a:sym typeface="Constantia"/>
              </a:rPr>
              <a:t>– P: Size of the population</a:t>
            </a:r>
            <a:endParaRPr/>
          </a:p>
          <a:p>
            <a:pPr marL="444500" marR="0" lvl="0" indent="0" algn="l" rtl="0">
              <a:spcBef>
                <a:spcPts val="0"/>
              </a:spcBef>
              <a:spcAft>
                <a:spcPts val="0"/>
              </a:spcAft>
              <a:buNone/>
            </a:pPr>
            <a:r>
              <a:rPr lang="en-US" sz="1800">
                <a:solidFill>
                  <a:schemeClr val="dk1"/>
                </a:solidFill>
                <a:latin typeface="Constantia"/>
                <a:ea typeface="Constantia"/>
                <a:cs typeface="Constantia"/>
                <a:sym typeface="Constantia"/>
              </a:rPr>
              <a:t>– Z: service discipline</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31">
                                            <p:txEl>
                                              <p:pRg st="0" end="0"/>
                                            </p:txEl>
                                          </p:spTgt>
                                        </p:tgtEl>
                                        <p:attrNameLst>
                                          <p:attrName>style.visibility</p:attrName>
                                        </p:attrNameLst>
                                      </p:cBhvr>
                                      <p:to>
                                        <p:strVal val="visible"/>
                                      </p:to>
                                    </p:set>
                                    <p:animEffect transition="in" filter="fade">
                                      <p:cBhvr>
                                        <p:cTn id="7" dur="1000"/>
                                        <p:tgtEl>
                                          <p:spTgt spid="4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31">
                                            <p:txEl>
                                              <p:pRg st="1" end="1"/>
                                            </p:txEl>
                                          </p:spTgt>
                                        </p:tgtEl>
                                        <p:attrNameLst>
                                          <p:attrName>style.visibility</p:attrName>
                                        </p:attrNameLst>
                                      </p:cBhvr>
                                      <p:to>
                                        <p:strVal val="visible"/>
                                      </p:to>
                                    </p:set>
                                    <p:animEffect transition="in" filter="fade">
                                      <p:cBhvr>
                                        <p:cTn id="12" dur="1000"/>
                                        <p:tgtEl>
                                          <p:spTgt spid="43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31">
                                            <p:txEl>
                                              <p:pRg st="2" end="2"/>
                                            </p:txEl>
                                          </p:spTgt>
                                        </p:tgtEl>
                                        <p:attrNameLst>
                                          <p:attrName>style.visibility</p:attrName>
                                        </p:attrNameLst>
                                      </p:cBhvr>
                                      <p:to>
                                        <p:strVal val="visible"/>
                                      </p:to>
                                    </p:set>
                                    <p:animEffect transition="in" filter="fade">
                                      <p:cBhvr>
                                        <p:cTn id="17" dur="1000"/>
                                        <p:tgtEl>
                                          <p:spTgt spid="43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31">
                                            <p:txEl>
                                              <p:pRg st="3" end="3"/>
                                            </p:txEl>
                                          </p:spTgt>
                                        </p:tgtEl>
                                        <p:attrNameLst>
                                          <p:attrName>style.visibility</p:attrName>
                                        </p:attrNameLst>
                                      </p:cBhvr>
                                      <p:to>
                                        <p:strVal val="visible"/>
                                      </p:to>
                                    </p:set>
                                    <p:animEffect transition="in" filter="fade">
                                      <p:cBhvr>
                                        <p:cTn id="22" dur="1000"/>
                                        <p:tgtEl>
                                          <p:spTgt spid="43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31">
                                            <p:txEl>
                                              <p:pRg st="4" end="4"/>
                                            </p:txEl>
                                          </p:spTgt>
                                        </p:tgtEl>
                                        <p:attrNameLst>
                                          <p:attrName>style.visibility</p:attrName>
                                        </p:attrNameLst>
                                      </p:cBhvr>
                                      <p:to>
                                        <p:strVal val="visible"/>
                                      </p:to>
                                    </p:set>
                                    <p:animEffect transition="in" filter="fade">
                                      <p:cBhvr>
                                        <p:cTn id="27" dur="1000"/>
                                        <p:tgtEl>
                                          <p:spTgt spid="43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31">
                                            <p:txEl>
                                              <p:pRg st="5" end="5"/>
                                            </p:txEl>
                                          </p:spTgt>
                                        </p:tgtEl>
                                        <p:attrNameLst>
                                          <p:attrName>style.visibility</p:attrName>
                                        </p:attrNameLst>
                                      </p:cBhvr>
                                      <p:to>
                                        <p:strVal val="visible"/>
                                      </p:to>
                                    </p:set>
                                    <p:animEffect transition="in" filter="fade">
                                      <p:cBhvr>
                                        <p:cTn id="32" dur="1000"/>
                                        <p:tgtEl>
                                          <p:spTgt spid="43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31">
                                            <p:txEl>
                                              <p:pRg st="6" end="6"/>
                                            </p:txEl>
                                          </p:spTgt>
                                        </p:tgtEl>
                                        <p:attrNameLst>
                                          <p:attrName>style.visibility</p:attrName>
                                        </p:attrNameLst>
                                      </p:cBhvr>
                                      <p:to>
                                        <p:strVal val="visible"/>
                                      </p:to>
                                    </p:set>
                                    <p:animEffect transition="in" filter="fade">
                                      <p:cBhvr>
                                        <p:cTn id="37" dur="1000"/>
                                        <p:tgtEl>
                                          <p:spTgt spid="43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31">
                                            <p:txEl>
                                              <p:pRg st="7" end="7"/>
                                            </p:txEl>
                                          </p:spTgt>
                                        </p:tgtEl>
                                        <p:attrNameLst>
                                          <p:attrName>style.visibility</p:attrName>
                                        </p:attrNameLst>
                                      </p:cBhvr>
                                      <p:to>
                                        <p:strVal val="visible"/>
                                      </p:to>
                                    </p:set>
                                    <p:animEffect transition="in" filter="fade">
                                      <p:cBhvr>
                                        <p:cTn id="42" dur="1000"/>
                                        <p:tgtEl>
                                          <p:spTgt spid="431">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31">
                                            <p:txEl>
                                              <p:pRg st="8" end="8"/>
                                            </p:txEl>
                                          </p:spTgt>
                                        </p:tgtEl>
                                        <p:attrNameLst>
                                          <p:attrName>style.visibility</p:attrName>
                                        </p:attrNameLst>
                                      </p:cBhvr>
                                      <p:to>
                                        <p:strVal val="visible"/>
                                      </p:to>
                                    </p:set>
                                    <p:animEffect transition="in" filter="fade">
                                      <p:cBhvr>
                                        <p:cTn id="47" dur="1000"/>
                                        <p:tgtEl>
                                          <p:spTgt spid="431">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431">
                                            <p:txEl>
                                              <p:pRg st="9" end="9"/>
                                            </p:txEl>
                                          </p:spTgt>
                                        </p:tgtEl>
                                        <p:attrNameLst>
                                          <p:attrName>style.visibility</p:attrName>
                                        </p:attrNameLst>
                                      </p:cBhvr>
                                      <p:to>
                                        <p:strVal val="visible"/>
                                      </p:to>
                                    </p:set>
                                    <p:animEffect transition="in" filter="fade">
                                      <p:cBhvr>
                                        <p:cTn id="52" dur="1000"/>
                                        <p:tgtEl>
                                          <p:spTgt spid="431">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36"/>
        <p:cNvGrpSpPr/>
        <p:nvPr/>
      </p:nvGrpSpPr>
      <p:grpSpPr>
        <a:xfrm>
          <a:off x="0" y="0"/>
          <a:ext cx="0" cy="0"/>
          <a:chOff x="0" y="0"/>
          <a:chExt cx="0" cy="0"/>
        </a:xfrm>
      </p:grpSpPr>
      <p:sp>
        <p:nvSpPr>
          <p:cNvPr id="437" name="Google Shape;437;p31"/>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US" sz="1200">
                <a:solidFill>
                  <a:schemeClr val="folHlink"/>
                </a:solidFill>
                <a:latin typeface="Times New Roman"/>
                <a:ea typeface="Times New Roman"/>
                <a:cs typeface="Times New Roman"/>
                <a:sym typeface="Times New Roman"/>
              </a:rPr>
              <a:t>46</a:t>
            </a:fld>
            <a:endParaRPr sz="1200">
              <a:solidFill>
                <a:schemeClr val="folHlink"/>
              </a:solidFill>
              <a:latin typeface="Times New Roman"/>
              <a:ea typeface="Times New Roman"/>
              <a:cs typeface="Times New Roman"/>
              <a:sym typeface="Times New Roman"/>
            </a:endParaRPr>
          </a:p>
        </p:txBody>
      </p:sp>
      <p:sp>
        <p:nvSpPr>
          <p:cNvPr id="438" name="Google Shape;438;p31"/>
          <p:cNvSpPr/>
          <p:nvPr/>
        </p:nvSpPr>
        <p:spPr>
          <a:xfrm>
            <a:off x="685800" y="1219200"/>
            <a:ext cx="7848600" cy="76200"/>
          </a:xfrm>
          <a:prstGeom prst="rect">
            <a:avLst/>
          </a:prstGeom>
          <a:solidFill>
            <a:srgbClr val="66CC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rgbClr val="CCFFFF"/>
              </a:solidFill>
              <a:latin typeface="Constantia"/>
              <a:ea typeface="Constantia"/>
              <a:cs typeface="Constantia"/>
              <a:sym typeface="Constantia"/>
            </a:endParaRPr>
          </a:p>
        </p:txBody>
      </p:sp>
      <p:sp>
        <p:nvSpPr>
          <p:cNvPr id="439" name="Google Shape;439;p31"/>
          <p:cNvSpPr/>
          <p:nvPr/>
        </p:nvSpPr>
        <p:spPr>
          <a:xfrm>
            <a:off x="611188" y="188913"/>
            <a:ext cx="7848600" cy="95408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a:solidFill>
                  <a:srgbClr val="0000CC"/>
                </a:solidFill>
                <a:latin typeface="Constantia"/>
                <a:ea typeface="Constantia"/>
                <a:cs typeface="Constantia"/>
                <a:sym typeface="Constantia"/>
              </a:rPr>
              <a:t>Customer arrival process</a:t>
            </a:r>
            <a:endParaRPr/>
          </a:p>
          <a:p>
            <a:pPr marL="0" marR="0" lvl="0" indent="0" algn="ctr" rtl="0">
              <a:spcBef>
                <a:spcPts val="0"/>
              </a:spcBef>
              <a:spcAft>
                <a:spcPts val="0"/>
              </a:spcAft>
              <a:buNone/>
            </a:pPr>
            <a:r>
              <a:rPr lang="en-US" sz="2800" b="1">
                <a:solidFill>
                  <a:srgbClr val="FF0000"/>
                </a:solidFill>
                <a:latin typeface="Constantia"/>
                <a:ea typeface="Constantia"/>
                <a:cs typeface="Constantia"/>
                <a:sym typeface="Constantia"/>
              </a:rPr>
              <a:t>T</a:t>
            </a:r>
            <a:r>
              <a:rPr lang="en-US" sz="2800">
                <a:solidFill>
                  <a:srgbClr val="0000CC"/>
                </a:solidFill>
                <a:latin typeface="Constantia"/>
                <a:ea typeface="Constantia"/>
                <a:cs typeface="Constantia"/>
                <a:sym typeface="Constantia"/>
              </a:rPr>
              <a:t>/X/C/K/P/Z</a:t>
            </a:r>
            <a:endParaRPr sz="2600">
              <a:solidFill>
                <a:srgbClr val="0000CC"/>
              </a:solidFill>
              <a:latin typeface="Arial"/>
              <a:ea typeface="Arial"/>
              <a:cs typeface="Arial"/>
              <a:sym typeface="Arial"/>
            </a:endParaRPr>
          </a:p>
        </p:txBody>
      </p:sp>
      <p:sp>
        <p:nvSpPr>
          <p:cNvPr id="440" name="Google Shape;440;p31"/>
          <p:cNvSpPr/>
          <p:nvPr/>
        </p:nvSpPr>
        <p:spPr>
          <a:xfrm>
            <a:off x="533400" y="2492375"/>
            <a:ext cx="8229600" cy="3832225"/>
          </a:xfrm>
          <a:prstGeom prst="rect">
            <a:avLst/>
          </a:prstGeom>
          <a:noFill/>
          <a:ln>
            <a:noFill/>
          </a:ln>
        </p:spPr>
        <p:txBody>
          <a:bodyPr spcFirstLastPara="1" wrap="square" lIns="91425" tIns="45700" rIns="91425" bIns="45700" anchor="t" anchorCtr="0">
            <a:noAutofit/>
          </a:bodyPr>
          <a:lstStyle/>
          <a:p>
            <a:pPr marL="0" marR="0" lvl="0" indent="-127000" algn="l" rtl="0">
              <a:spcBef>
                <a:spcPts val="0"/>
              </a:spcBef>
              <a:spcAft>
                <a:spcPts val="0"/>
              </a:spcAft>
              <a:buClr>
                <a:schemeClr val="dk1"/>
              </a:buClr>
              <a:buSzPts val="2000"/>
              <a:buFont typeface="Arial"/>
              <a:buChar char="•"/>
            </a:pPr>
            <a:r>
              <a:rPr lang="en-US" sz="2000">
                <a:solidFill>
                  <a:schemeClr val="dk1"/>
                </a:solidFill>
                <a:latin typeface="Constantia"/>
                <a:ea typeface="Constantia"/>
                <a:cs typeface="Constantia"/>
                <a:sym typeface="Constantia"/>
              </a:rPr>
              <a:t> T can take the following values:</a:t>
            </a:r>
            <a:endParaRPr/>
          </a:p>
          <a:p>
            <a:pPr marL="0" marR="0" lvl="0" indent="0" algn="l" rtl="0">
              <a:spcBef>
                <a:spcPts val="0"/>
              </a:spcBef>
              <a:spcAft>
                <a:spcPts val="0"/>
              </a:spcAft>
              <a:buNone/>
            </a:pPr>
            <a:r>
              <a:rPr lang="en-US" sz="2000">
                <a:solidFill>
                  <a:srgbClr val="0000CC"/>
                </a:solidFill>
                <a:latin typeface="Constantia"/>
                <a:ea typeface="Constantia"/>
                <a:cs typeface="Constantia"/>
                <a:sym typeface="Constantia"/>
              </a:rPr>
              <a:t>– M : markovian (i.e. exponential)</a:t>
            </a:r>
            <a:endParaRPr/>
          </a:p>
          <a:p>
            <a:pPr marL="0" marR="0" lvl="0" indent="0" algn="l" rtl="0">
              <a:spcBef>
                <a:spcPts val="0"/>
              </a:spcBef>
              <a:spcAft>
                <a:spcPts val="0"/>
              </a:spcAft>
              <a:buNone/>
            </a:pPr>
            <a:r>
              <a:rPr lang="en-US" sz="2000">
                <a:solidFill>
                  <a:srgbClr val="0000CC"/>
                </a:solidFill>
                <a:latin typeface="Constantia"/>
                <a:ea typeface="Constantia"/>
                <a:cs typeface="Constantia"/>
                <a:sym typeface="Constantia"/>
              </a:rPr>
              <a:t>– G : general distribution</a:t>
            </a:r>
            <a:endParaRPr/>
          </a:p>
          <a:p>
            <a:pPr marL="0" marR="0" lvl="0" indent="0" algn="l" rtl="0">
              <a:spcBef>
                <a:spcPts val="0"/>
              </a:spcBef>
              <a:spcAft>
                <a:spcPts val="0"/>
              </a:spcAft>
              <a:buNone/>
            </a:pPr>
            <a:r>
              <a:rPr lang="en-US" sz="2000">
                <a:solidFill>
                  <a:srgbClr val="0000CC"/>
                </a:solidFill>
                <a:latin typeface="Constantia"/>
                <a:ea typeface="Constantia"/>
                <a:cs typeface="Constantia"/>
                <a:sym typeface="Constantia"/>
              </a:rPr>
              <a:t>– D : deterministic</a:t>
            </a:r>
            <a:endParaRPr/>
          </a:p>
          <a:p>
            <a:pPr marL="0" marR="0" lvl="0" indent="0" algn="l" rtl="0">
              <a:spcBef>
                <a:spcPts val="0"/>
              </a:spcBef>
              <a:spcAft>
                <a:spcPts val="0"/>
              </a:spcAft>
              <a:buNone/>
            </a:pPr>
            <a:r>
              <a:rPr lang="en-US" sz="2000">
                <a:solidFill>
                  <a:srgbClr val="0000CC"/>
                </a:solidFill>
                <a:latin typeface="Constantia"/>
                <a:ea typeface="Constantia"/>
                <a:cs typeface="Constantia"/>
                <a:sym typeface="Constantia"/>
              </a:rPr>
              <a:t>– Ek : Erlang distribution</a:t>
            </a:r>
            <a:endParaRPr/>
          </a:p>
          <a:p>
            <a:pPr marL="0" marR="0" lvl="0" indent="0" algn="l" rtl="0">
              <a:spcBef>
                <a:spcPts val="0"/>
              </a:spcBef>
              <a:spcAft>
                <a:spcPts val="0"/>
              </a:spcAft>
              <a:buNone/>
            </a:pPr>
            <a:r>
              <a:rPr lang="en-US" sz="2000">
                <a:solidFill>
                  <a:srgbClr val="0000CC"/>
                </a:solidFill>
                <a:latin typeface="Constantia"/>
                <a:ea typeface="Constantia"/>
                <a:cs typeface="Constantia"/>
                <a:sym typeface="Constantia"/>
              </a:rPr>
              <a:t>– …</a:t>
            </a:r>
            <a:endParaRPr/>
          </a:p>
          <a:p>
            <a:pPr marL="0" marR="0" lvl="0" indent="0" algn="l" rtl="0">
              <a:spcBef>
                <a:spcPts val="0"/>
              </a:spcBef>
              <a:spcAft>
                <a:spcPts val="0"/>
              </a:spcAft>
              <a:buNone/>
            </a:pPr>
            <a:endParaRPr sz="2000">
              <a:solidFill>
                <a:schemeClr val="dk1"/>
              </a:solidFill>
              <a:latin typeface="Constantia"/>
              <a:ea typeface="Constantia"/>
              <a:cs typeface="Constantia"/>
              <a:sym typeface="Constantia"/>
            </a:endParaRPr>
          </a:p>
          <a:p>
            <a:pPr marL="0" marR="0" lvl="0" indent="0" algn="l" rtl="0">
              <a:spcBef>
                <a:spcPts val="0"/>
              </a:spcBef>
              <a:spcAft>
                <a:spcPts val="0"/>
              </a:spcAft>
              <a:buNone/>
            </a:pPr>
            <a:r>
              <a:rPr lang="en-US" sz="2000">
                <a:solidFill>
                  <a:schemeClr val="dk1"/>
                </a:solidFill>
                <a:latin typeface="Constantia"/>
                <a:ea typeface="Constantia"/>
                <a:cs typeface="Constantia"/>
                <a:sym typeface="Constantia"/>
              </a:rPr>
              <a:t>• If the arrivals are grouped in lots, we use the notation T[X] where X is the random variable indicating the number of customers at each arrival epoch</a:t>
            </a:r>
            <a:endParaRPr/>
          </a:p>
          <a:p>
            <a:pPr marL="0" marR="0" lvl="0" indent="0" algn="l" rtl="0">
              <a:spcBef>
                <a:spcPts val="0"/>
              </a:spcBef>
              <a:spcAft>
                <a:spcPts val="0"/>
              </a:spcAft>
              <a:buNone/>
            </a:pPr>
            <a:r>
              <a:rPr lang="en-US" sz="2000">
                <a:solidFill>
                  <a:srgbClr val="0000CC"/>
                </a:solidFill>
                <a:latin typeface="Constantia"/>
                <a:ea typeface="Constantia"/>
                <a:cs typeface="Constantia"/>
                <a:sym typeface="Constantia"/>
              </a:rPr>
              <a:t>– P{X=k} = P{k customers arrive at the same time}</a:t>
            </a:r>
            <a:endParaRPr/>
          </a:p>
          <a:p>
            <a:pPr marL="0" marR="0" lvl="0" indent="0" algn="l" rtl="0">
              <a:spcBef>
                <a:spcPts val="0"/>
              </a:spcBef>
              <a:spcAft>
                <a:spcPts val="0"/>
              </a:spcAft>
              <a:buNone/>
            </a:pPr>
            <a:endParaRPr sz="2000">
              <a:solidFill>
                <a:schemeClr val="dk1"/>
              </a:solidFill>
              <a:latin typeface="Constantia"/>
              <a:ea typeface="Constantia"/>
              <a:cs typeface="Constantia"/>
              <a:sym typeface="Constantia"/>
            </a:endParaRPr>
          </a:p>
          <a:p>
            <a:pPr marL="0" marR="0" lvl="0" indent="0" algn="l" rtl="0">
              <a:spcBef>
                <a:spcPts val="0"/>
              </a:spcBef>
              <a:spcAft>
                <a:spcPts val="0"/>
              </a:spcAft>
              <a:buNone/>
            </a:pPr>
            <a:r>
              <a:rPr lang="en-US" sz="2000">
                <a:solidFill>
                  <a:schemeClr val="dk1"/>
                </a:solidFill>
                <a:latin typeface="Constantia"/>
                <a:ea typeface="Constantia"/>
                <a:cs typeface="Constantia"/>
                <a:sym typeface="Constantia"/>
              </a:rPr>
              <a:t>• Some arriving customers can leave if the queue is too long</a:t>
            </a:r>
            <a:endParaRPr/>
          </a:p>
        </p:txBody>
      </p:sp>
      <p:pic>
        <p:nvPicPr>
          <p:cNvPr id="441" name="Google Shape;441;p31"/>
          <p:cNvPicPr preferRelativeResize="0"/>
          <p:nvPr/>
        </p:nvPicPr>
        <p:blipFill rotWithShape="1">
          <a:blip r:embed="rId3">
            <a:alphaModFix/>
          </a:blip>
          <a:srcRect/>
          <a:stretch/>
        </p:blipFill>
        <p:spPr>
          <a:xfrm>
            <a:off x="1619250" y="1412875"/>
            <a:ext cx="6602413" cy="93662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7" name="Google Shape;447;p32"/>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US" sz="1200">
                <a:solidFill>
                  <a:schemeClr val="folHlink"/>
                </a:solidFill>
                <a:latin typeface="Times New Roman"/>
                <a:ea typeface="Times New Roman"/>
                <a:cs typeface="Times New Roman"/>
                <a:sym typeface="Times New Roman"/>
              </a:rPr>
              <a:t>47</a:t>
            </a:fld>
            <a:endParaRPr sz="1200">
              <a:solidFill>
                <a:schemeClr val="folHlink"/>
              </a:solidFill>
              <a:latin typeface="Times New Roman"/>
              <a:ea typeface="Times New Roman"/>
              <a:cs typeface="Times New Roman"/>
              <a:sym typeface="Times New Roman"/>
            </a:endParaRPr>
          </a:p>
        </p:txBody>
      </p:sp>
      <p:sp>
        <p:nvSpPr>
          <p:cNvPr id="448" name="Google Shape;448;p32"/>
          <p:cNvSpPr/>
          <p:nvPr/>
        </p:nvSpPr>
        <p:spPr>
          <a:xfrm>
            <a:off x="685800" y="1219200"/>
            <a:ext cx="7848600" cy="76200"/>
          </a:xfrm>
          <a:prstGeom prst="rect">
            <a:avLst/>
          </a:prstGeom>
          <a:solidFill>
            <a:srgbClr val="66CC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rgbClr val="CCFFFF"/>
              </a:solidFill>
              <a:latin typeface="Constantia"/>
              <a:ea typeface="Constantia"/>
              <a:cs typeface="Constantia"/>
              <a:sym typeface="Constantia"/>
            </a:endParaRPr>
          </a:p>
        </p:txBody>
      </p:sp>
      <p:sp>
        <p:nvSpPr>
          <p:cNvPr id="449" name="Google Shape;449;p32"/>
          <p:cNvSpPr/>
          <p:nvPr/>
        </p:nvSpPr>
        <p:spPr>
          <a:xfrm>
            <a:off x="611188" y="188913"/>
            <a:ext cx="7848600" cy="95408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a:solidFill>
                  <a:srgbClr val="0000CC"/>
                </a:solidFill>
                <a:latin typeface="Constantia"/>
                <a:ea typeface="Constantia"/>
                <a:cs typeface="Constantia"/>
                <a:sym typeface="Constantia"/>
              </a:rPr>
              <a:t>Service times</a:t>
            </a:r>
            <a:endParaRPr/>
          </a:p>
          <a:p>
            <a:pPr marL="0" marR="0" lvl="0" indent="0" algn="ctr" rtl="0">
              <a:spcBef>
                <a:spcPts val="0"/>
              </a:spcBef>
              <a:spcAft>
                <a:spcPts val="0"/>
              </a:spcAft>
              <a:buNone/>
            </a:pPr>
            <a:r>
              <a:rPr lang="en-US" sz="2800">
                <a:solidFill>
                  <a:srgbClr val="0000CC"/>
                </a:solidFill>
                <a:latin typeface="Constantia"/>
                <a:ea typeface="Constantia"/>
                <a:cs typeface="Constantia"/>
                <a:sym typeface="Constantia"/>
              </a:rPr>
              <a:t>T/</a:t>
            </a:r>
            <a:r>
              <a:rPr lang="en-US" sz="2800" b="1">
                <a:solidFill>
                  <a:srgbClr val="FF0000"/>
                </a:solidFill>
                <a:latin typeface="Constantia"/>
                <a:ea typeface="Constantia"/>
                <a:cs typeface="Constantia"/>
                <a:sym typeface="Constantia"/>
              </a:rPr>
              <a:t>X</a:t>
            </a:r>
            <a:r>
              <a:rPr lang="en-US" sz="2800">
                <a:solidFill>
                  <a:srgbClr val="0000CC"/>
                </a:solidFill>
                <a:latin typeface="Constantia"/>
                <a:ea typeface="Constantia"/>
                <a:cs typeface="Constantia"/>
                <a:sym typeface="Constantia"/>
              </a:rPr>
              <a:t>/C/K/P/Z</a:t>
            </a:r>
            <a:endParaRPr sz="2600">
              <a:solidFill>
                <a:srgbClr val="0000CC"/>
              </a:solidFill>
              <a:latin typeface="Arial"/>
              <a:ea typeface="Arial"/>
              <a:cs typeface="Arial"/>
              <a:sym typeface="Arial"/>
            </a:endParaRPr>
          </a:p>
        </p:txBody>
      </p:sp>
      <p:sp>
        <p:nvSpPr>
          <p:cNvPr id="450" name="Google Shape;450;p32"/>
          <p:cNvSpPr/>
          <p:nvPr/>
        </p:nvSpPr>
        <p:spPr>
          <a:xfrm>
            <a:off x="533400" y="1484313"/>
            <a:ext cx="8229600" cy="2232025"/>
          </a:xfrm>
          <a:prstGeom prst="rect">
            <a:avLst/>
          </a:prstGeom>
          <a:noFill/>
          <a:ln>
            <a:noFill/>
          </a:ln>
        </p:spPr>
        <p:txBody>
          <a:bodyPr spcFirstLastPara="1" wrap="square" lIns="91425" tIns="45700" rIns="91425" bIns="45700" anchor="t" anchorCtr="0">
            <a:noAutofit/>
          </a:bodyPr>
          <a:lstStyle/>
          <a:p>
            <a:pPr marL="0" marR="0" lvl="0" indent="-127000" algn="l" rtl="0">
              <a:spcBef>
                <a:spcPts val="0"/>
              </a:spcBef>
              <a:spcAft>
                <a:spcPts val="0"/>
              </a:spcAft>
              <a:buClr>
                <a:schemeClr val="dk1"/>
              </a:buClr>
              <a:buSzPts val="2000"/>
              <a:buFont typeface="Arial"/>
              <a:buChar char="•"/>
            </a:pPr>
            <a:r>
              <a:rPr lang="en-US" sz="2000">
                <a:solidFill>
                  <a:schemeClr val="dk1"/>
                </a:solidFill>
                <a:latin typeface="Constantia"/>
                <a:ea typeface="Constantia"/>
                <a:cs typeface="Constantia"/>
                <a:sym typeface="Constantia"/>
              </a:rPr>
              <a:t> X can take the following values:</a:t>
            </a:r>
            <a:endParaRPr/>
          </a:p>
          <a:p>
            <a:pPr marL="0" marR="0" lvl="0" indent="0" algn="l" rtl="0">
              <a:spcBef>
                <a:spcPts val="0"/>
              </a:spcBef>
              <a:spcAft>
                <a:spcPts val="0"/>
              </a:spcAft>
              <a:buNone/>
            </a:pPr>
            <a:r>
              <a:rPr lang="en-US" sz="2000">
                <a:solidFill>
                  <a:srgbClr val="0000CC"/>
                </a:solidFill>
                <a:latin typeface="Constantia"/>
                <a:ea typeface="Constantia"/>
                <a:cs typeface="Constantia"/>
                <a:sym typeface="Constantia"/>
              </a:rPr>
              <a:t>– M : markovian (i.e. exponential)</a:t>
            </a:r>
            <a:endParaRPr/>
          </a:p>
          <a:p>
            <a:pPr marL="0" marR="0" lvl="0" indent="0" algn="l" rtl="0">
              <a:spcBef>
                <a:spcPts val="0"/>
              </a:spcBef>
              <a:spcAft>
                <a:spcPts val="0"/>
              </a:spcAft>
              <a:buNone/>
            </a:pPr>
            <a:r>
              <a:rPr lang="en-US" sz="2000">
                <a:solidFill>
                  <a:srgbClr val="0000CC"/>
                </a:solidFill>
                <a:latin typeface="Constantia"/>
                <a:ea typeface="Constantia"/>
                <a:cs typeface="Constantia"/>
                <a:sym typeface="Constantia"/>
              </a:rPr>
              <a:t>– G : general distribution</a:t>
            </a:r>
            <a:endParaRPr/>
          </a:p>
          <a:p>
            <a:pPr marL="0" marR="0" lvl="0" indent="0" algn="l" rtl="0">
              <a:spcBef>
                <a:spcPts val="0"/>
              </a:spcBef>
              <a:spcAft>
                <a:spcPts val="0"/>
              </a:spcAft>
              <a:buNone/>
            </a:pPr>
            <a:r>
              <a:rPr lang="en-US" sz="2000">
                <a:solidFill>
                  <a:srgbClr val="0000CC"/>
                </a:solidFill>
                <a:latin typeface="Constantia"/>
                <a:ea typeface="Constantia"/>
                <a:cs typeface="Constantia"/>
                <a:sym typeface="Constantia"/>
              </a:rPr>
              <a:t>– D : deterministic</a:t>
            </a:r>
            <a:endParaRPr sz="2000">
              <a:solidFill>
                <a:srgbClr val="0000CC"/>
              </a:solidFill>
              <a:latin typeface="Constantia"/>
              <a:ea typeface="Constantia"/>
              <a:cs typeface="Constantia"/>
              <a:sym typeface="Constantia"/>
            </a:endParaRPr>
          </a:p>
          <a:p>
            <a:pPr marL="0" marR="0" lvl="0" indent="0" algn="l" rtl="0">
              <a:spcBef>
                <a:spcPts val="0"/>
              </a:spcBef>
              <a:spcAft>
                <a:spcPts val="0"/>
              </a:spcAft>
              <a:buNone/>
            </a:pPr>
            <a:r>
              <a:rPr lang="en-US" sz="2000">
                <a:solidFill>
                  <a:srgbClr val="0000CC"/>
                </a:solidFill>
                <a:latin typeface="Constantia"/>
                <a:ea typeface="Constantia"/>
                <a:cs typeface="Constantia"/>
                <a:sym typeface="Constantia"/>
              </a:rPr>
              <a:t>– Ek : Erlang distribution</a:t>
            </a:r>
            <a:endParaRPr/>
          </a:p>
          <a:p>
            <a:pPr marL="0" marR="0" lvl="0" indent="0" algn="l" rtl="0">
              <a:spcBef>
                <a:spcPts val="0"/>
              </a:spcBef>
              <a:spcAft>
                <a:spcPts val="0"/>
              </a:spcAft>
              <a:buNone/>
            </a:pPr>
            <a:r>
              <a:rPr lang="en-US" sz="2000">
                <a:solidFill>
                  <a:srgbClr val="0000CC"/>
                </a:solidFill>
                <a:latin typeface="Constantia"/>
                <a:ea typeface="Constantia"/>
                <a:cs typeface="Constantia"/>
                <a:sym typeface="Constantia"/>
              </a:rPr>
              <a:t>– …</a:t>
            </a:r>
            <a:endParaRPr/>
          </a:p>
          <a:p>
            <a:pPr marL="0" marR="0" lvl="0" indent="0" algn="l" rtl="0">
              <a:spcBef>
                <a:spcPts val="0"/>
              </a:spcBef>
              <a:spcAft>
                <a:spcPts val="0"/>
              </a:spcAft>
              <a:buNone/>
            </a:pPr>
            <a:endParaRPr sz="2000">
              <a:solidFill>
                <a:schemeClr val="dk1"/>
              </a:solidFill>
              <a:latin typeface="Constantia"/>
              <a:ea typeface="Constantia"/>
              <a:cs typeface="Constantia"/>
              <a:sym typeface="Constantia"/>
            </a:endParaRPr>
          </a:p>
        </p:txBody>
      </p:sp>
      <p:pic>
        <p:nvPicPr>
          <p:cNvPr id="451" name="Google Shape;451;p32"/>
          <p:cNvPicPr preferRelativeResize="0"/>
          <p:nvPr/>
        </p:nvPicPr>
        <p:blipFill rotWithShape="1">
          <a:blip r:embed="rId3">
            <a:alphaModFix/>
          </a:blip>
          <a:srcRect/>
          <a:stretch/>
        </p:blipFill>
        <p:spPr>
          <a:xfrm>
            <a:off x="1547813" y="4365625"/>
            <a:ext cx="5857875" cy="1150938"/>
          </a:xfrm>
          <a:prstGeom prst="rect">
            <a:avLst/>
          </a:prstGeom>
          <a:noFill/>
          <a:ln>
            <a:noFill/>
          </a:ln>
        </p:spPr>
      </p:pic>
      <p:sp>
        <p:nvSpPr>
          <p:cNvPr id="452" name="Google Shape;452;p32"/>
          <p:cNvSpPr txBox="1"/>
          <p:nvPr/>
        </p:nvSpPr>
        <p:spPr>
          <a:xfrm>
            <a:off x="1979613" y="5516563"/>
            <a:ext cx="5545137" cy="4000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dk1"/>
                </a:solidFill>
                <a:latin typeface="Times New Roman"/>
                <a:ea typeface="Times New Roman"/>
                <a:cs typeface="Times New Roman"/>
                <a:sym typeface="Times New Roman"/>
              </a:rPr>
              <a:t>Erlang distribution E</a:t>
            </a:r>
            <a:r>
              <a:rPr lang="en-US" sz="2000" b="1" baseline="-25000">
                <a:solidFill>
                  <a:schemeClr val="dk1"/>
                </a:solidFill>
                <a:latin typeface="Times New Roman"/>
                <a:ea typeface="Times New Roman"/>
                <a:cs typeface="Times New Roman"/>
                <a:sym typeface="Times New Roman"/>
              </a:rPr>
              <a:t>k</a:t>
            </a:r>
            <a:r>
              <a:rPr lang="en-US" sz="2000" b="1">
                <a:solidFill>
                  <a:schemeClr val="dk1"/>
                </a:solidFill>
                <a:latin typeface="Times New Roman"/>
                <a:ea typeface="Times New Roman"/>
                <a:cs typeface="Times New Roman"/>
                <a:sym typeface="Times New Roman"/>
              </a:rPr>
              <a:t> with parameter </a:t>
            </a:r>
            <a:r>
              <a:rPr lang="en-US" sz="2000" b="1">
                <a:solidFill>
                  <a:schemeClr val="dk1"/>
                </a:solidFill>
                <a:latin typeface="Noto Sans Symbols"/>
                <a:ea typeface="Noto Sans Symbols"/>
                <a:cs typeface="Noto Sans Symbols"/>
                <a:sym typeface="Noto Sans Symbols"/>
              </a:rPr>
              <a:t>μ</a:t>
            </a:r>
            <a:endParaRPr/>
          </a:p>
        </p:txBody>
      </p:sp>
      <p:sp>
        <p:nvSpPr>
          <p:cNvPr id="453" name="Google Shape;453;p32"/>
          <p:cNvSpPr txBox="1"/>
          <p:nvPr/>
        </p:nvSpPr>
        <p:spPr>
          <a:xfrm>
            <a:off x="2484438" y="3933825"/>
            <a:ext cx="4248150" cy="4000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dk1"/>
                </a:solidFill>
                <a:latin typeface="Times New Roman"/>
                <a:ea typeface="Times New Roman"/>
                <a:cs typeface="Times New Roman"/>
                <a:sym typeface="Times New Roman"/>
              </a:rPr>
              <a:t>k exponential servers with parameter </a:t>
            </a:r>
            <a:r>
              <a:rPr lang="en-US" sz="2000">
                <a:solidFill>
                  <a:schemeClr val="dk1"/>
                </a:solidFill>
                <a:latin typeface="Noto Sans Symbols"/>
                <a:ea typeface="Noto Sans Symbols"/>
                <a:cs typeface="Noto Sans Symbols"/>
                <a:sym typeface="Noto Sans Symbols"/>
              </a:rPr>
              <a:t>μ</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50"/>
                                        </p:tgtEl>
                                        <p:attrNameLst>
                                          <p:attrName>style.visibility</p:attrName>
                                        </p:attrNameLst>
                                      </p:cBhvr>
                                      <p:to>
                                        <p:strVal val="visible"/>
                                      </p:to>
                                    </p:set>
                                    <p:animEffect transition="in" filter="fade">
                                      <p:cBhvr>
                                        <p:cTn id="7" dur="1000"/>
                                        <p:tgtEl>
                                          <p:spTgt spid="45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53"/>
                                        </p:tgtEl>
                                        <p:attrNameLst>
                                          <p:attrName>style.visibility</p:attrName>
                                        </p:attrNameLst>
                                      </p:cBhvr>
                                      <p:to>
                                        <p:strVal val="visible"/>
                                      </p:to>
                                    </p:set>
                                    <p:animEffect transition="in" filter="fade">
                                      <p:cBhvr>
                                        <p:cTn id="12" dur="1000"/>
                                        <p:tgtEl>
                                          <p:spTgt spid="45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1"/>
                                        </p:tgtEl>
                                        <p:attrNameLst>
                                          <p:attrName>style.visibility</p:attrName>
                                        </p:attrNameLst>
                                      </p:cBhvr>
                                      <p:to>
                                        <p:strVal val="visible"/>
                                      </p:to>
                                    </p:set>
                                    <p:animEffect transition="in" filter="fade">
                                      <p:cBhvr>
                                        <p:cTn id="17" dur="1000"/>
                                        <p:tgtEl>
                                          <p:spTgt spid="45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52"/>
                                        </p:tgtEl>
                                        <p:attrNameLst>
                                          <p:attrName>style.visibility</p:attrName>
                                        </p:attrNameLst>
                                      </p:cBhvr>
                                      <p:to>
                                        <p:strVal val="visible"/>
                                      </p:to>
                                    </p:set>
                                    <p:animEffect transition="in" filter="fade">
                                      <p:cBhvr>
                                        <p:cTn id="22" dur="1000"/>
                                        <p:tgtEl>
                                          <p:spTgt spid="4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59" name="Google Shape;459;p33"/>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US" sz="1200">
                <a:solidFill>
                  <a:schemeClr val="folHlink"/>
                </a:solidFill>
                <a:latin typeface="Times New Roman"/>
                <a:ea typeface="Times New Roman"/>
                <a:cs typeface="Times New Roman"/>
                <a:sym typeface="Times New Roman"/>
              </a:rPr>
              <a:t>48</a:t>
            </a:fld>
            <a:endParaRPr sz="1200">
              <a:solidFill>
                <a:schemeClr val="folHlink"/>
              </a:solidFill>
              <a:latin typeface="Times New Roman"/>
              <a:ea typeface="Times New Roman"/>
              <a:cs typeface="Times New Roman"/>
              <a:sym typeface="Times New Roman"/>
            </a:endParaRPr>
          </a:p>
        </p:txBody>
      </p:sp>
      <p:sp>
        <p:nvSpPr>
          <p:cNvPr id="460" name="Google Shape;460;p33"/>
          <p:cNvSpPr/>
          <p:nvPr/>
        </p:nvSpPr>
        <p:spPr>
          <a:xfrm>
            <a:off x="685800" y="1219200"/>
            <a:ext cx="7848600" cy="76200"/>
          </a:xfrm>
          <a:prstGeom prst="rect">
            <a:avLst/>
          </a:prstGeom>
          <a:solidFill>
            <a:srgbClr val="66CC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rgbClr val="CCFFFF"/>
              </a:solidFill>
              <a:latin typeface="Constantia"/>
              <a:ea typeface="Constantia"/>
              <a:cs typeface="Constantia"/>
              <a:sym typeface="Constantia"/>
            </a:endParaRPr>
          </a:p>
        </p:txBody>
      </p:sp>
      <p:sp>
        <p:nvSpPr>
          <p:cNvPr id="461" name="Google Shape;461;p33"/>
          <p:cNvSpPr/>
          <p:nvPr/>
        </p:nvSpPr>
        <p:spPr>
          <a:xfrm>
            <a:off x="611188" y="188913"/>
            <a:ext cx="7848600" cy="95408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a:solidFill>
                  <a:srgbClr val="0000CC"/>
                </a:solidFill>
                <a:latin typeface="Constantia"/>
                <a:ea typeface="Constantia"/>
                <a:cs typeface="Constantia"/>
                <a:sym typeface="Constantia"/>
              </a:rPr>
              <a:t>Number of servers</a:t>
            </a:r>
            <a:endParaRPr/>
          </a:p>
          <a:p>
            <a:pPr marL="0" marR="0" lvl="0" indent="0" algn="ctr" rtl="0">
              <a:spcBef>
                <a:spcPts val="0"/>
              </a:spcBef>
              <a:spcAft>
                <a:spcPts val="0"/>
              </a:spcAft>
              <a:buNone/>
            </a:pPr>
            <a:r>
              <a:rPr lang="en-US" sz="2800">
                <a:solidFill>
                  <a:srgbClr val="0000CC"/>
                </a:solidFill>
                <a:latin typeface="Constantia"/>
                <a:ea typeface="Constantia"/>
                <a:cs typeface="Constantia"/>
                <a:sym typeface="Constantia"/>
              </a:rPr>
              <a:t>T/X/</a:t>
            </a:r>
            <a:r>
              <a:rPr lang="en-US" sz="2800" b="1">
                <a:solidFill>
                  <a:srgbClr val="FF0000"/>
                </a:solidFill>
                <a:latin typeface="Constantia"/>
                <a:ea typeface="Constantia"/>
                <a:cs typeface="Constantia"/>
                <a:sym typeface="Constantia"/>
              </a:rPr>
              <a:t>C</a:t>
            </a:r>
            <a:r>
              <a:rPr lang="en-US" sz="2800">
                <a:solidFill>
                  <a:srgbClr val="0000CC"/>
                </a:solidFill>
                <a:latin typeface="Constantia"/>
                <a:ea typeface="Constantia"/>
                <a:cs typeface="Constantia"/>
                <a:sym typeface="Constantia"/>
              </a:rPr>
              <a:t>/K/P/Z</a:t>
            </a:r>
            <a:endParaRPr sz="2600">
              <a:solidFill>
                <a:srgbClr val="0000CC"/>
              </a:solidFill>
              <a:latin typeface="Arial"/>
              <a:ea typeface="Arial"/>
              <a:cs typeface="Arial"/>
              <a:sym typeface="Arial"/>
            </a:endParaRPr>
          </a:p>
        </p:txBody>
      </p:sp>
      <p:sp>
        <p:nvSpPr>
          <p:cNvPr id="462" name="Google Shape;462;p33"/>
          <p:cNvSpPr/>
          <p:nvPr/>
        </p:nvSpPr>
        <p:spPr>
          <a:xfrm>
            <a:off x="533400" y="1484313"/>
            <a:ext cx="8229600" cy="22320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Constantia"/>
                <a:ea typeface="Constantia"/>
                <a:cs typeface="Constantia"/>
                <a:sym typeface="Constantia"/>
              </a:rPr>
              <a:t>In simple queueing systems, servers are identical</a:t>
            </a:r>
            <a:endParaRPr sz="2000">
              <a:solidFill>
                <a:schemeClr val="dk1"/>
              </a:solidFill>
              <a:latin typeface="Constantia"/>
              <a:ea typeface="Constantia"/>
              <a:cs typeface="Constantia"/>
              <a:sym typeface="Constantia"/>
            </a:endParaRPr>
          </a:p>
        </p:txBody>
      </p:sp>
      <p:pic>
        <p:nvPicPr>
          <p:cNvPr id="463" name="Google Shape;463;p33"/>
          <p:cNvPicPr preferRelativeResize="0"/>
          <p:nvPr/>
        </p:nvPicPr>
        <p:blipFill rotWithShape="1">
          <a:blip r:embed="rId3">
            <a:alphaModFix/>
          </a:blip>
          <a:srcRect/>
          <a:stretch/>
        </p:blipFill>
        <p:spPr>
          <a:xfrm>
            <a:off x="611188" y="3716338"/>
            <a:ext cx="3314700" cy="2162175"/>
          </a:xfrm>
          <a:prstGeom prst="rect">
            <a:avLst/>
          </a:prstGeom>
          <a:noFill/>
          <a:ln>
            <a:noFill/>
          </a:ln>
        </p:spPr>
      </p:pic>
      <p:pic>
        <p:nvPicPr>
          <p:cNvPr id="464" name="Google Shape;464;p33"/>
          <p:cNvPicPr preferRelativeResize="0"/>
          <p:nvPr/>
        </p:nvPicPr>
        <p:blipFill rotWithShape="1">
          <a:blip r:embed="rId4">
            <a:alphaModFix/>
          </a:blip>
          <a:srcRect/>
          <a:stretch/>
        </p:blipFill>
        <p:spPr>
          <a:xfrm>
            <a:off x="4643438" y="3644900"/>
            <a:ext cx="2933700" cy="22002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62"/>
                                        </p:tgtEl>
                                        <p:attrNameLst>
                                          <p:attrName>style.visibility</p:attrName>
                                        </p:attrNameLst>
                                      </p:cBhvr>
                                      <p:to>
                                        <p:strVal val="visible"/>
                                      </p:to>
                                    </p:set>
                                    <p:animEffect transition="in" filter="fade">
                                      <p:cBhvr>
                                        <p:cTn id="7" dur="1000"/>
                                        <p:tgtEl>
                                          <p:spTgt spid="46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63"/>
                                        </p:tgtEl>
                                        <p:attrNameLst>
                                          <p:attrName>style.visibility</p:attrName>
                                        </p:attrNameLst>
                                      </p:cBhvr>
                                      <p:to>
                                        <p:strVal val="visible"/>
                                      </p:to>
                                    </p:set>
                                    <p:animEffect transition="in" filter="fade">
                                      <p:cBhvr>
                                        <p:cTn id="12" dur="1000"/>
                                        <p:tgtEl>
                                          <p:spTgt spid="4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sp>
        <p:nvSpPr>
          <p:cNvPr id="470" name="Google Shape;470;p34"/>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US" sz="1200">
                <a:solidFill>
                  <a:schemeClr val="folHlink"/>
                </a:solidFill>
                <a:latin typeface="Times New Roman"/>
                <a:ea typeface="Times New Roman"/>
                <a:cs typeface="Times New Roman"/>
                <a:sym typeface="Times New Roman"/>
              </a:rPr>
              <a:t>49</a:t>
            </a:fld>
            <a:endParaRPr sz="1200">
              <a:solidFill>
                <a:schemeClr val="folHlink"/>
              </a:solidFill>
              <a:latin typeface="Times New Roman"/>
              <a:ea typeface="Times New Roman"/>
              <a:cs typeface="Times New Roman"/>
              <a:sym typeface="Times New Roman"/>
            </a:endParaRPr>
          </a:p>
        </p:txBody>
      </p:sp>
      <p:sp>
        <p:nvSpPr>
          <p:cNvPr id="471" name="Google Shape;471;p34"/>
          <p:cNvSpPr/>
          <p:nvPr/>
        </p:nvSpPr>
        <p:spPr>
          <a:xfrm>
            <a:off x="685800" y="1219200"/>
            <a:ext cx="7848600" cy="76200"/>
          </a:xfrm>
          <a:prstGeom prst="rect">
            <a:avLst/>
          </a:prstGeom>
          <a:solidFill>
            <a:srgbClr val="66CC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rgbClr val="CCFFFF"/>
              </a:solidFill>
              <a:latin typeface="Constantia"/>
              <a:ea typeface="Constantia"/>
              <a:cs typeface="Constantia"/>
              <a:sym typeface="Constantia"/>
            </a:endParaRPr>
          </a:p>
        </p:txBody>
      </p:sp>
      <p:sp>
        <p:nvSpPr>
          <p:cNvPr id="472" name="Google Shape;472;p34"/>
          <p:cNvSpPr/>
          <p:nvPr/>
        </p:nvSpPr>
        <p:spPr>
          <a:xfrm>
            <a:off x="611188" y="188913"/>
            <a:ext cx="7848600" cy="95408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a:solidFill>
                  <a:srgbClr val="0000CC"/>
                </a:solidFill>
                <a:latin typeface="Constantia"/>
                <a:ea typeface="Constantia"/>
                <a:cs typeface="Constantia"/>
                <a:sym typeface="Constantia"/>
              </a:rPr>
              <a:t>Queue capacity</a:t>
            </a:r>
            <a:endParaRPr/>
          </a:p>
          <a:p>
            <a:pPr marL="0" marR="0" lvl="0" indent="0" algn="ctr" rtl="0">
              <a:spcBef>
                <a:spcPts val="0"/>
              </a:spcBef>
              <a:spcAft>
                <a:spcPts val="0"/>
              </a:spcAft>
              <a:buNone/>
            </a:pPr>
            <a:r>
              <a:rPr lang="en-US" sz="2800">
                <a:solidFill>
                  <a:srgbClr val="0000CC"/>
                </a:solidFill>
                <a:latin typeface="Constantia"/>
                <a:ea typeface="Constantia"/>
                <a:cs typeface="Constantia"/>
                <a:sym typeface="Constantia"/>
              </a:rPr>
              <a:t>T/X/C/</a:t>
            </a:r>
            <a:r>
              <a:rPr lang="en-US" sz="2800" b="1">
                <a:solidFill>
                  <a:srgbClr val="FF0000"/>
                </a:solidFill>
                <a:latin typeface="Constantia"/>
                <a:ea typeface="Constantia"/>
                <a:cs typeface="Constantia"/>
                <a:sym typeface="Constantia"/>
              </a:rPr>
              <a:t>K</a:t>
            </a:r>
            <a:r>
              <a:rPr lang="en-US" sz="2800">
                <a:solidFill>
                  <a:srgbClr val="0000CC"/>
                </a:solidFill>
                <a:latin typeface="Constantia"/>
                <a:ea typeface="Constantia"/>
                <a:cs typeface="Constantia"/>
                <a:sym typeface="Constantia"/>
              </a:rPr>
              <a:t>/P/Z</a:t>
            </a:r>
            <a:endParaRPr sz="2600">
              <a:solidFill>
                <a:srgbClr val="0000CC"/>
              </a:solidFill>
              <a:latin typeface="Arial"/>
              <a:ea typeface="Arial"/>
              <a:cs typeface="Arial"/>
              <a:sym typeface="Arial"/>
            </a:endParaRPr>
          </a:p>
        </p:txBody>
      </p:sp>
      <p:sp>
        <p:nvSpPr>
          <p:cNvPr id="473" name="Google Shape;473;p34"/>
          <p:cNvSpPr/>
          <p:nvPr/>
        </p:nvSpPr>
        <p:spPr>
          <a:xfrm>
            <a:off x="533400" y="1484313"/>
            <a:ext cx="8229600" cy="22320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onstantia"/>
              <a:ea typeface="Constantia"/>
              <a:cs typeface="Constantia"/>
              <a:sym typeface="Constantia"/>
            </a:endParaRPr>
          </a:p>
        </p:txBody>
      </p:sp>
      <p:grpSp>
        <p:nvGrpSpPr>
          <p:cNvPr id="474" name="Google Shape;474;p34"/>
          <p:cNvGrpSpPr/>
          <p:nvPr/>
        </p:nvGrpSpPr>
        <p:grpSpPr>
          <a:xfrm>
            <a:off x="2916238" y="3971925"/>
            <a:ext cx="1819275" cy="1230313"/>
            <a:chOff x="2915816" y="3971156"/>
            <a:chExt cx="1819275" cy="1231007"/>
          </a:xfrm>
        </p:grpSpPr>
        <p:pic>
          <p:nvPicPr>
            <p:cNvPr id="475" name="Google Shape;475;p34"/>
            <p:cNvPicPr preferRelativeResize="0"/>
            <p:nvPr/>
          </p:nvPicPr>
          <p:blipFill rotWithShape="1">
            <a:blip r:embed="rId3">
              <a:alphaModFix/>
            </a:blip>
            <a:srcRect/>
            <a:stretch/>
          </p:blipFill>
          <p:spPr>
            <a:xfrm>
              <a:off x="2915816" y="4221088"/>
              <a:ext cx="1819275" cy="981075"/>
            </a:xfrm>
            <a:prstGeom prst="rect">
              <a:avLst/>
            </a:prstGeom>
            <a:noFill/>
            <a:ln>
              <a:noFill/>
            </a:ln>
          </p:spPr>
        </p:pic>
        <p:cxnSp>
          <p:nvCxnSpPr>
            <p:cNvPr id="476" name="Google Shape;476;p34"/>
            <p:cNvCxnSpPr/>
            <p:nvPr/>
          </p:nvCxnSpPr>
          <p:spPr>
            <a:xfrm rot="-5400000">
              <a:off x="2962424" y="4115172"/>
              <a:ext cx="576064" cy="288032"/>
            </a:xfrm>
            <a:prstGeom prst="straightConnector1">
              <a:avLst/>
            </a:prstGeom>
            <a:noFill/>
            <a:ln w="9525" cap="flat" cmpd="sng">
              <a:solidFill>
                <a:schemeClr val="dk1"/>
              </a:solidFill>
              <a:prstDash val="solid"/>
              <a:round/>
              <a:headEnd type="none" w="med" len="med"/>
              <a:tailEnd type="triangle" w="med" len="med"/>
            </a:ln>
          </p:spPr>
        </p:cxnSp>
      </p:grpSp>
      <p:sp>
        <p:nvSpPr>
          <p:cNvPr id="477" name="Google Shape;477;p34"/>
          <p:cNvSpPr txBox="1"/>
          <p:nvPr/>
        </p:nvSpPr>
        <p:spPr>
          <a:xfrm>
            <a:off x="900113" y="3573463"/>
            <a:ext cx="2447925" cy="70802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dk1"/>
                </a:solidFill>
                <a:latin typeface="Times New Roman"/>
                <a:ea typeface="Times New Roman"/>
                <a:cs typeface="Times New Roman"/>
                <a:sym typeface="Times New Roman"/>
              </a:rPr>
              <a:t>Loss of customers if the queue is full</a:t>
            </a:r>
            <a:endParaRPr/>
          </a:p>
        </p:txBody>
      </p:sp>
      <p:sp>
        <p:nvSpPr>
          <p:cNvPr id="478" name="Google Shape;478;p34"/>
          <p:cNvSpPr txBox="1"/>
          <p:nvPr/>
        </p:nvSpPr>
        <p:spPr>
          <a:xfrm>
            <a:off x="3203575" y="5157788"/>
            <a:ext cx="1512888" cy="4000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dk1"/>
                </a:solidFill>
                <a:latin typeface="Times New Roman"/>
                <a:ea typeface="Times New Roman"/>
                <a:cs typeface="Times New Roman"/>
                <a:sym typeface="Times New Roman"/>
              </a:rPr>
              <a:t>Capacity K</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83"/>
        <p:cNvGrpSpPr/>
        <p:nvPr/>
      </p:nvGrpSpPr>
      <p:grpSpPr>
        <a:xfrm>
          <a:off x="0" y="0"/>
          <a:ext cx="0" cy="0"/>
          <a:chOff x="0" y="0"/>
          <a:chExt cx="0" cy="0"/>
        </a:xfrm>
      </p:grpSpPr>
      <p:sp>
        <p:nvSpPr>
          <p:cNvPr id="484" name="Google Shape;484;p35"/>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US" sz="1200">
                <a:solidFill>
                  <a:schemeClr val="folHlink"/>
                </a:solidFill>
                <a:latin typeface="Times New Roman"/>
                <a:ea typeface="Times New Roman"/>
                <a:cs typeface="Times New Roman"/>
                <a:sym typeface="Times New Roman"/>
              </a:rPr>
              <a:t>50</a:t>
            </a:fld>
            <a:endParaRPr sz="1200">
              <a:solidFill>
                <a:schemeClr val="folHlink"/>
              </a:solidFill>
              <a:latin typeface="Times New Roman"/>
              <a:ea typeface="Times New Roman"/>
              <a:cs typeface="Times New Roman"/>
              <a:sym typeface="Times New Roman"/>
            </a:endParaRPr>
          </a:p>
        </p:txBody>
      </p:sp>
      <p:sp>
        <p:nvSpPr>
          <p:cNvPr id="485" name="Google Shape;485;p35"/>
          <p:cNvSpPr/>
          <p:nvPr/>
        </p:nvSpPr>
        <p:spPr>
          <a:xfrm>
            <a:off x="685800" y="1219200"/>
            <a:ext cx="7848600" cy="76200"/>
          </a:xfrm>
          <a:prstGeom prst="rect">
            <a:avLst/>
          </a:prstGeom>
          <a:solidFill>
            <a:srgbClr val="66CC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rgbClr val="CCFFFF"/>
              </a:solidFill>
              <a:latin typeface="Constantia"/>
              <a:ea typeface="Constantia"/>
              <a:cs typeface="Constantia"/>
              <a:sym typeface="Constantia"/>
            </a:endParaRPr>
          </a:p>
        </p:txBody>
      </p:sp>
      <p:sp>
        <p:nvSpPr>
          <p:cNvPr id="486" name="Google Shape;486;p35"/>
          <p:cNvSpPr/>
          <p:nvPr/>
        </p:nvSpPr>
        <p:spPr>
          <a:xfrm>
            <a:off x="611188" y="188913"/>
            <a:ext cx="7848600" cy="95408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a:solidFill>
                  <a:srgbClr val="0000CC"/>
                </a:solidFill>
                <a:latin typeface="Constantia"/>
                <a:ea typeface="Constantia"/>
                <a:cs typeface="Constantia"/>
                <a:sym typeface="Constantia"/>
              </a:rPr>
              <a:t>Size of the population</a:t>
            </a:r>
            <a:endParaRPr/>
          </a:p>
          <a:p>
            <a:pPr marL="0" marR="0" lvl="0" indent="0" algn="ctr" rtl="0">
              <a:spcBef>
                <a:spcPts val="0"/>
              </a:spcBef>
              <a:spcAft>
                <a:spcPts val="0"/>
              </a:spcAft>
              <a:buNone/>
            </a:pPr>
            <a:r>
              <a:rPr lang="en-US" sz="2800">
                <a:solidFill>
                  <a:srgbClr val="0000CC"/>
                </a:solidFill>
                <a:latin typeface="Constantia"/>
                <a:ea typeface="Constantia"/>
                <a:cs typeface="Constantia"/>
                <a:sym typeface="Constantia"/>
              </a:rPr>
              <a:t>T/X/C/K/</a:t>
            </a:r>
            <a:r>
              <a:rPr lang="en-US" sz="2800" b="1">
                <a:solidFill>
                  <a:srgbClr val="FF0000"/>
                </a:solidFill>
                <a:latin typeface="Constantia"/>
                <a:ea typeface="Constantia"/>
                <a:cs typeface="Constantia"/>
                <a:sym typeface="Constantia"/>
              </a:rPr>
              <a:t>P</a:t>
            </a:r>
            <a:r>
              <a:rPr lang="en-US" sz="2800">
                <a:solidFill>
                  <a:srgbClr val="0000CC"/>
                </a:solidFill>
                <a:latin typeface="Constantia"/>
                <a:ea typeface="Constantia"/>
                <a:cs typeface="Constantia"/>
                <a:sym typeface="Constantia"/>
              </a:rPr>
              <a:t>/Z</a:t>
            </a:r>
            <a:endParaRPr sz="2600">
              <a:solidFill>
                <a:srgbClr val="0000CC"/>
              </a:solidFill>
              <a:latin typeface="Arial"/>
              <a:ea typeface="Arial"/>
              <a:cs typeface="Arial"/>
              <a:sym typeface="Arial"/>
            </a:endParaRPr>
          </a:p>
        </p:txBody>
      </p:sp>
      <p:sp>
        <p:nvSpPr>
          <p:cNvPr id="487" name="Google Shape;487;p35"/>
          <p:cNvSpPr/>
          <p:nvPr/>
        </p:nvSpPr>
        <p:spPr>
          <a:xfrm>
            <a:off x="533400" y="1484313"/>
            <a:ext cx="8229600" cy="22320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a:solidFill>
                  <a:schemeClr val="dk1"/>
                </a:solidFill>
                <a:latin typeface="Constantia"/>
                <a:ea typeface="Constantia"/>
                <a:cs typeface="Constantia"/>
                <a:sym typeface="Constantia"/>
              </a:rPr>
              <a:t>The size of the population can be either finite or infinite</a:t>
            </a:r>
            <a:endParaRPr sz="2800">
              <a:solidFill>
                <a:schemeClr val="dk1"/>
              </a:solidFill>
              <a:latin typeface="Constantia"/>
              <a:ea typeface="Constantia"/>
              <a:cs typeface="Constantia"/>
              <a:sym typeface="Constantia"/>
            </a:endParaRPr>
          </a:p>
          <a:p>
            <a:pPr marL="0" marR="0" lvl="0" indent="0" algn="l" rtl="0">
              <a:spcBef>
                <a:spcPts val="0"/>
              </a:spcBef>
              <a:spcAft>
                <a:spcPts val="0"/>
              </a:spcAft>
              <a:buNone/>
            </a:pPr>
            <a:endParaRPr sz="2800">
              <a:solidFill>
                <a:schemeClr val="dk1"/>
              </a:solidFill>
              <a:latin typeface="Constantia"/>
              <a:ea typeface="Constantia"/>
              <a:cs typeface="Constantia"/>
              <a:sym typeface="Constantia"/>
            </a:endParaRPr>
          </a:p>
          <a:p>
            <a:pPr marL="0" marR="0" lvl="0" indent="0" algn="l" rtl="0">
              <a:spcBef>
                <a:spcPts val="0"/>
              </a:spcBef>
              <a:spcAft>
                <a:spcPts val="0"/>
              </a:spcAft>
              <a:buNone/>
            </a:pPr>
            <a:r>
              <a:rPr lang="en-US" sz="2800">
                <a:solidFill>
                  <a:schemeClr val="dk1"/>
                </a:solidFill>
                <a:latin typeface="Constantia"/>
                <a:ea typeface="Constantia"/>
                <a:cs typeface="Constantia"/>
                <a:sym typeface="Constantia"/>
              </a:rPr>
              <a:t>For a finite population, the customer arrival rate is a function of the number of customers in the system: </a:t>
            </a:r>
            <a:r>
              <a:rPr lang="en-US" sz="2800" b="1">
                <a:solidFill>
                  <a:srgbClr val="0000CC"/>
                </a:solidFill>
                <a:latin typeface="Noto Sans Symbols"/>
                <a:ea typeface="Noto Sans Symbols"/>
                <a:cs typeface="Noto Sans Symbols"/>
                <a:sym typeface="Noto Sans Symbols"/>
              </a:rPr>
              <a:t>λ</a:t>
            </a:r>
            <a:r>
              <a:rPr lang="en-US" sz="2800" b="1">
                <a:solidFill>
                  <a:srgbClr val="0000CC"/>
                </a:solidFill>
                <a:latin typeface="Constantia"/>
                <a:ea typeface="Constantia"/>
                <a:cs typeface="Constantia"/>
                <a:sym typeface="Constantia"/>
              </a:rPr>
              <a:t>(n)</a:t>
            </a:r>
            <a:r>
              <a:rPr lang="en-US" sz="2800">
                <a:solidFill>
                  <a:schemeClr val="dk1"/>
                </a:solidFill>
                <a:latin typeface="Constantia"/>
                <a:ea typeface="Constantia"/>
                <a:cs typeface="Constantia"/>
                <a:sym typeface="Constantia"/>
              </a:rPr>
              <a:t>.</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87">
                                            <p:txEl>
                                              <p:pRg st="0" end="0"/>
                                            </p:txEl>
                                          </p:spTgt>
                                        </p:tgtEl>
                                        <p:attrNameLst>
                                          <p:attrName>style.visibility</p:attrName>
                                        </p:attrNameLst>
                                      </p:cBhvr>
                                      <p:to>
                                        <p:strVal val="visible"/>
                                      </p:to>
                                    </p:set>
                                    <p:animEffect transition="in" filter="fade">
                                      <p:cBhvr>
                                        <p:cTn id="7" dur="1000"/>
                                        <p:tgtEl>
                                          <p:spTgt spid="48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87">
                                            <p:txEl>
                                              <p:pRg st="1" end="1"/>
                                            </p:txEl>
                                          </p:spTgt>
                                        </p:tgtEl>
                                        <p:attrNameLst>
                                          <p:attrName>style.visibility</p:attrName>
                                        </p:attrNameLst>
                                      </p:cBhvr>
                                      <p:to>
                                        <p:strVal val="visible"/>
                                      </p:to>
                                    </p:set>
                                    <p:animEffect transition="in" filter="fade">
                                      <p:cBhvr>
                                        <p:cTn id="12" dur="1000"/>
                                        <p:tgtEl>
                                          <p:spTgt spid="48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87">
                                            <p:txEl>
                                              <p:pRg st="2" end="2"/>
                                            </p:txEl>
                                          </p:spTgt>
                                        </p:tgtEl>
                                        <p:attrNameLst>
                                          <p:attrName>style.visibility</p:attrName>
                                        </p:attrNameLst>
                                      </p:cBhvr>
                                      <p:to>
                                        <p:strVal val="visible"/>
                                      </p:to>
                                    </p:set>
                                    <p:animEffect transition="in" filter="fade">
                                      <p:cBhvr>
                                        <p:cTn id="17" dur="1000"/>
                                        <p:tgtEl>
                                          <p:spTgt spid="48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sp>
        <p:nvSpPr>
          <p:cNvPr id="493" name="Google Shape;493;p36"/>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US" sz="1200">
                <a:solidFill>
                  <a:schemeClr val="folHlink"/>
                </a:solidFill>
                <a:latin typeface="Times New Roman"/>
                <a:ea typeface="Times New Roman"/>
                <a:cs typeface="Times New Roman"/>
                <a:sym typeface="Times New Roman"/>
              </a:rPr>
              <a:t>51</a:t>
            </a:fld>
            <a:endParaRPr sz="1200">
              <a:solidFill>
                <a:schemeClr val="folHlink"/>
              </a:solidFill>
              <a:latin typeface="Times New Roman"/>
              <a:ea typeface="Times New Roman"/>
              <a:cs typeface="Times New Roman"/>
              <a:sym typeface="Times New Roman"/>
            </a:endParaRPr>
          </a:p>
        </p:txBody>
      </p:sp>
      <p:sp>
        <p:nvSpPr>
          <p:cNvPr id="494" name="Google Shape;494;p36"/>
          <p:cNvSpPr/>
          <p:nvPr/>
        </p:nvSpPr>
        <p:spPr>
          <a:xfrm>
            <a:off x="685800" y="1219200"/>
            <a:ext cx="7848600" cy="76200"/>
          </a:xfrm>
          <a:prstGeom prst="rect">
            <a:avLst/>
          </a:prstGeom>
          <a:solidFill>
            <a:srgbClr val="66CC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rgbClr val="CCFFFF"/>
              </a:solidFill>
              <a:latin typeface="Constantia"/>
              <a:ea typeface="Constantia"/>
              <a:cs typeface="Constantia"/>
              <a:sym typeface="Constantia"/>
            </a:endParaRPr>
          </a:p>
        </p:txBody>
      </p:sp>
      <p:sp>
        <p:nvSpPr>
          <p:cNvPr id="495" name="Google Shape;495;p36"/>
          <p:cNvSpPr/>
          <p:nvPr/>
        </p:nvSpPr>
        <p:spPr>
          <a:xfrm>
            <a:off x="611188" y="188913"/>
            <a:ext cx="7848600" cy="95408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a:solidFill>
                  <a:srgbClr val="0000CC"/>
                </a:solidFill>
                <a:latin typeface="Constantia"/>
                <a:ea typeface="Constantia"/>
                <a:cs typeface="Constantia"/>
                <a:sym typeface="Constantia"/>
              </a:rPr>
              <a:t>Service discipline</a:t>
            </a:r>
            <a:endParaRPr/>
          </a:p>
          <a:p>
            <a:pPr marL="0" marR="0" lvl="0" indent="0" algn="ctr" rtl="0">
              <a:spcBef>
                <a:spcPts val="0"/>
              </a:spcBef>
              <a:spcAft>
                <a:spcPts val="0"/>
              </a:spcAft>
              <a:buNone/>
            </a:pPr>
            <a:r>
              <a:rPr lang="en-US" sz="2800">
                <a:solidFill>
                  <a:srgbClr val="0000CC"/>
                </a:solidFill>
                <a:latin typeface="Constantia"/>
                <a:ea typeface="Constantia"/>
                <a:cs typeface="Constantia"/>
                <a:sym typeface="Constantia"/>
              </a:rPr>
              <a:t>T/X/C/K/P/</a:t>
            </a:r>
            <a:r>
              <a:rPr lang="en-US" sz="2800" b="1">
                <a:solidFill>
                  <a:srgbClr val="FF0000"/>
                </a:solidFill>
                <a:latin typeface="Constantia"/>
                <a:ea typeface="Constantia"/>
                <a:cs typeface="Constantia"/>
                <a:sym typeface="Constantia"/>
              </a:rPr>
              <a:t>Z</a:t>
            </a:r>
            <a:endParaRPr sz="2600" b="1">
              <a:solidFill>
                <a:srgbClr val="FF0000"/>
              </a:solidFill>
              <a:latin typeface="Arial"/>
              <a:ea typeface="Arial"/>
              <a:cs typeface="Arial"/>
              <a:sym typeface="Arial"/>
            </a:endParaRPr>
          </a:p>
        </p:txBody>
      </p:sp>
      <p:sp>
        <p:nvSpPr>
          <p:cNvPr id="496" name="Google Shape;496;p36"/>
          <p:cNvSpPr/>
          <p:nvPr/>
        </p:nvSpPr>
        <p:spPr>
          <a:xfrm>
            <a:off x="533400" y="1484313"/>
            <a:ext cx="8229600" cy="482441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Constantia"/>
                <a:ea typeface="Constantia"/>
                <a:cs typeface="Constantia"/>
                <a:sym typeface="Constantia"/>
              </a:rPr>
              <a:t>Z can take the following values:</a:t>
            </a:r>
            <a:endParaRPr/>
          </a:p>
          <a:p>
            <a:pPr marL="355600" marR="0" lvl="0" indent="-355600" algn="l" rtl="0">
              <a:spcBef>
                <a:spcPts val="1200"/>
              </a:spcBef>
              <a:spcAft>
                <a:spcPts val="0"/>
              </a:spcAft>
              <a:buClr>
                <a:schemeClr val="dk1"/>
              </a:buClr>
              <a:buSzPts val="2000"/>
              <a:buFont typeface="Arial"/>
              <a:buChar char="•"/>
            </a:pPr>
            <a:r>
              <a:rPr lang="en-US" sz="2000">
                <a:solidFill>
                  <a:schemeClr val="dk1"/>
                </a:solidFill>
                <a:latin typeface="Constantia"/>
                <a:ea typeface="Constantia"/>
                <a:cs typeface="Constantia"/>
                <a:sym typeface="Constantia"/>
              </a:rPr>
              <a:t>FCFS or FIFO : First Come First Served</a:t>
            </a:r>
            <a:endParaRPr/>
          </a:p>
          <a:p>
            <a:pPr marL="355600" marR="0" lvl="0" indent="-355600" algn="l" rtl="0">
              <a:spcBef>
                <a:spcPts val="1200"/>
              </a:spcBef>
              <a:spcAft>
                <a:spcPts val="0"/>
              </a:spcAft>
              <a:buClr>
                <a:schemeClr val="dk1"/>
              </a:buClr>
              <a:buSzPts val="2000"/>
              <a:buFont typeface="Arial"/>
              <a:buChar char="•"/>
            </a:pPr>
            <a:r>
              <a:rPr lang="en-US" sz="2000">
                <a:solidFill>
                  <a:schemeClr val="dk1"/>
                </a:solidFill>
                <a:latin typeface="Constantia"/>
                <a:ea typeface="Constantia"/>
                <a:cs typeface="Constantia"/>
                <a:sym typeface="Constantia"/>
              </a:rPr>
              <a:t>LCFS or LIFO : Last Come First Served</a:t>
            </a:r>
            <a:endParaRPr/>
          </a:p>
          <a:p>
            <a:pPr marL="355600" marR="0" lvl="0" indent="-355600" algn="l" rtl="0">
              <a:spcBef>
                <a:spcPts val="1200"/>
              </a:spcBef>
              <a:spcAft>
                <a:spcPts val="0"/>
              </a:spcAft>
              <a:buClr>
                <a:schemeClr val="dk1"/>
              </a:buClr>
              <a:buSzPts val="2000"/>
              <a:buFont typeface="Arial"/>
              <a:buChar char="•"/>
            </a:pPr>
            <a:r>
              <a:rPr lang="en-US" sz="2000">
                <a:solidFill>
                  <a:schemeClr val="dk1"/>
                </a:solidFill>
                <a:latin typeface="Constantia"/>
                <a:ea typeface="Constantia"/>
                <a:cs typeface="Constantia"/>
                <a:sym typeface="Constantia"/>
              </a:rPr>
              <a:t>RANDOM : service in random order</a:t>
            </a:r>
            <a:endParaRPr/>
          </a:p>
          <a:p>
            <a:pPr marL="355600" marR="0" lvl="0" indent="-355600" algn="l" rtl="0">
              <a:spcBef>
                <a:spcPts val="1200"/>
              </a:spcBef>
              <a:spcAft>
                <a:spcPts val="0"/>
              </a:spcAft>
              <a:buClr>
                <a:schemeClr val="dk1"/>
              </a:buClr>
              <a:buSzPts val="2000"/>
              <a:buFont typeface="Arial"/>
              <a:buChar char="•"/>
            </a:pPr>
            <a:r>
              <a:rPr lang="en-US" sz="2000">
                <a:solidFill>
                  <a:schemeClr val="dk1"/>
                </a:solidFill>
                <a:latin typeface="Constantia"/>
                <a:ea typeface="Constantia"/>
                <a:cs typeface="Constantia"/>
                <a:sym typeface="Constantia"/>
              </a:rPr>
              <a:t>HL (Hold On Line) : when an important customer arrives, it takes the head of the queue</a:t>
            </a:r>
            <a:endParaRPr/>
          </a:p>
          <a:p>
            <a:pPr marL="355600" marR="0" lvl="0" indent="-355600" algn="l" rtl="0">
              <a:spcBef>
                <a:spcPts val="1200"/>
              </a:spcBef>
              <a:spcAft>
                <a:spcPts val="0"/>
              </a:spcAft>
              <a:buClr>
                <a:schemeClr val="dk1"/>
              </a:buClr>
              <a:buSzPts val="2000"/>
              <a:buFont typeface="Arial"/>
              <a:buChar char="•"/>
            </a:pPr>
            <a:r>
              <a:rPr lang="en-US" sz="2000">
                <a:solidFill>
                  <a:schemeClr val="dk1"/>
                </a:solidFill>
                <a:latin typeface="Constantia"/>
                <a:ea typeface="Constantia"/>
                <a:cs typeface="Constantia"/>
                <a:sym typeface="Constantia"/>
              </a:rPr>
              <a:t>PR ( Preemption) : when an important customer arrives, it is served immediately and the customer under service returns to the queue</a:t>
            </a:r>
            <a:endParaRPr/>
          </a:p>
          <a:p>
            <a:pPr marL="355600" marR="0" lvl="0" indent="-355600" algn="l" rtl="0">
              <a:spcBef>
                <a:spcPts val="1200"/>
              </a:spcBef>
              <a:spcAft>
                <a:spcPts val="0"/>
              </a:spcAft>
              <a:buClr>
                <a:schemeClr val="dk1"/>
              </a:buClr>
              <a:buSzPts val="2000"/>
              <a:buFont typeface="Arial"/>
              <a:buChar char="•"/>
            </a:pPr>
            <a:r>
              <a:rPr lang="en-US" sz="2000">
                <a:solidFill>
                  <a:schemeClr val="dk1"/>
                </a:solidFill>
                <a:latin typeface="Constantia"/>
                <a:ea typeface="Constantia"/>
                <a:cs typeface="Constantia"/>
                <a:sym typeface="Constantia"/>
              </a:rPr>
              <a:t>PS (Processor Sharing) : All customers are served simultaneously with service rate inversely proportional to the number of customers</a:t>
            </a:r>
            <a:endParaRPr/>
          </a:p>
          <a:p>
            <a:pPr marL="355600" marR="0" lvl="0" indent="-355600" algn="l" rtl="0">
              <a:spcBef>
                <a:spcPts val="1200"/>
              </a:spcBef>
              <a:spcAft>
                <a:spcPts val="0"/>
              </a:spcAft>
              <a:buClr>
                <a:schemeClr val="dk1"/>
              </a:buClr>
              <a:buSzPts val="2000"/>
              <a:buFont typeface="Arial"/>
              <a:buChar char="•"/>
            </a:pPr>
            <a:r>
              <a:rPr lang="en-US" sz="2000">
                <a:solidFill>
                  <a:schemeClr val="dk1"/>
                </a:solidFill>
                <a:latin typeface="Constantia"/>
                <a:ea typeface="Constantia"/>
                <a:cs typeface="Constantia"/>
                <a:sym typeface="Constantia"/>
              </a:rPr>
              <a:t>GD (General Discipline)</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96">
                                            <p:txEl>
                                              <p:pRg st="0" end="0"/>
                                            </p:txEl>
                                          </p:spTgt>
                                        </p:tgtEl>
                                        <p:attrNameLst>
                                          <p:attrName>style.visibility</p:attrName>
                                        </p:attrNameLst>
                                      </p:cBhvr>
                                      <p:to>
                                        <p:strVal val="visible"/>
                                      </p:to>
                                    </p:set>
                                    <p:animEffect transition="in" filter="fade">
                                      <p:cBhvr>
                                        <p:cTn id="7" dur="1000"/>
                                        <p:tgtEl>
                                          <p:spTgt spid="49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96">
                                            <p:txEl>
                                              <p:pRg st="1" end="1"/>
                                            </p:txEl>
                                          </p:spTgt>
                                        </p:tgtEl>
                                        <p:attrNameLst>
                                          <p:attrName>style.visibility</p:attrName>
                                        </p:attrNameLst>
                                      </p:cBhvr>
                                      <p:to>
                                        <p:strVal val="visible"/>
                                      </p:to>
                                    </p:set>
                                    <p:animEffect transition="in" filter="fade">
                                      <p:cBhvr>
                                        <p:cTn id="12" dur="1000"/>
                                        <p:tgtEl>
                                          <p:spTgt spid="49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96">
                                            <p:txEl>
                                              <p:pRg st="2" end="2"/>
                                            </p:txEl>
                                          </p:spTgt>
                                        </p:tgtEl>
                                        <p:attrNameLst>
                                          <p:attrName>style.visibility</p:attrName>
                                        </p:attrNameLst>
                                      </p:cBhvr>
                                      <p:to>
                                        <p:strVal val="visible"/>
                                      </p:to>
                                    </p:set>
                                    <p:animEffect transition="in" filter="fade">
                                      <p:cBhvr>
                                        <p:cTn id="17" dur="1000"/>
                                        <p:tgtEl>
                                          <p:spTgt spid="49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96">
                                            <p:txEl>
                                              <p:pRg st="3" end="3"/>
                                            </p:txEl>
                                          </p:spTgt>
                                        </p:tgtEl>
                                        <p:attrNameLst>
                                          <p:attrName>style.visibility</p:attrName>
                                        </p:attrNameLst>
                                      </p:cBhvr>
                                      <p:to>
                                        <p:strVal val="visible"/>
                                      </p:to>
                                    </p:set>
                                    <p:animEffect transition="in" filter="fade">
                                      <p:cBhvr>
                                        <p:cTn id="22" dur="1000"/>
                                        <p:tgtEl>
                                          <p:spTgt spid="49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96">
                                            <p:txEl>
                                              <p:pRg st="4" end="4"/>
                                            </p:txEl>
                                          </p:spTgt>
                                        </p:tgtEl>
                                        <p:attrNameLst>
                                          <p:attrName>style.visibility</p:attrName>
                                        </p:attrNameLst>
                                      </p:cBhvr>
                                      <p:to>
                                        <p:strVal val="visible"/>
                                      </p:to>
                                    </p:set>
                                    <p:animEffect transition="in" filter="fade">
                                      <p:cBhvr>
                                        <p:cTn id="27" dur="1000"/>
                                        <p:tgtEl>
                                          <p:spTgt spid="49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96">
                                            <p:txEl>
                                              <p:pRg st="5" end="5"/>
                                            </p:txEl>
                                          </p:spTgt>
                                        </p:tgtEl>
                                        <p:attrNameLst>
                                          <p:attrName>style.visibility</p:attrName>
                                        </p:attrNameLst>
                                      </p:cBhvr>
                                      <p:to>
                                        <p:strVal val="visible"/>
                                      </p:to>
                                    </p:set>
                                    <p:animEffect transition="in" filter="fade">
                                      <p:cBhvr>
                                        <p:cTn id="32" dur="1000"/>
                                        <p:tgtEl>
                                          <p:spTgt spid="49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96">
                                            <p:txEl>
                                              <p:pRg st="6" end="6"/>
                                            </p:txEl>
                                          </p:spTgt>
                                        </p:tgtEl>
                                        <p:attrNameLst>
                                          <p:attrName>style.visibility</p:attrName>
                                        </p:attrNameLst>
                                      </p:cBhvr>
                                      <p:to>
                                        <p:strVal val="visible"/>
                                      </p:to>
                                    </p:set>
                                    <p:animEffect transition="in" filter="fade">
                                      <p:cBhvr>
                                        <p:cTn id="37" dur="1000"/>
                                        <p:tgtEl>
                                          <p:spTgt spid="496">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96">
                                            <p:txEl>
                                              <p:pRg st="7" end="7"/>
                                            </p:txEl>
                                          </p:spTgt>
                                        </p:tgtEl>
                                        <p:attrNameLst>
                                          <p:attrName>style.visibility</p:attrName>
                                        </p:attrNameLst>
                                      </p:cBhvr>
                                      <p:to>
                                        <p:strVal val="visible"/>
                                      </p:to>
                                    </p:set>
                                    <p:animEffect transition="in" filter="fade">
                                      <p:cBhvr>
                                        <p:cTn id="42" dur="1000"/>
                                        <p:tgtEl>
                                          <p:spTgt spid="49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01"/>
        <p:cNvGrpSpPr/>
        <p:nvPr/>
      </p:nvGrpSpPr>
      <p:grpSpPr>
        <a:xfrm>
          <a:off x="0" y="0"/>
          <a:ext cx="0" cy="0"/>
          <a:chOff x="0" y="0"/>
          <a:chExt cx="0" cy="0"/>
        </a:xfrm>
      </p:grpSpPr>
      <p:sp>
        <p:nvSpPr>
          <p:cNvPr id="502" name="Google Shape;502;p37"/>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US" sz="1200">
                <a:solidFill>
                  <a:schemeClr val="folHlink"/>
                </a:solidFill>
                <a:latin typeface="Times New Roman"/>
                <a:ea typeface="Times New Roman"/>
                <a:cs typeface="Times New Roman"/>
                <a:sym typeface="Times New Roman"/>
              </a:rPr>
              <a:t>52</a:t>
            </a:fld>
            <a:endParaRPr sz="1200">
              <a:solidFill>
                <a:schemeClr val="folHlink"/>
              </a:solidFill>
              <a:latin typeface="Times New Roman"/>
              <a:ea typeface="Times New Roman"/>
              <a:cs typeface="Times New Roman"/>
              <a:sym typeface="Times New Roman"/>
            </a:endParaRPr>
          </a:p>
        </p:txBody>
      </p:sp>
      <p:sp>
        <p:nvSpPr>
          <p:cNvPr id="503" name="Google Shape;503;p37"/>
          <p:cNvSpPr/>
          <p:nvPr/>
        </p:nvSpPr>
        <p:spPr>
          <a:xfrm>
            <a:off x="685800" y="1219200"/>
            <a:ext cx="7848600" cy="76200"/>
          </a:xfrm>
          <a:prstGeom prst="rect">
            <a:avLst/>
          </a:prstGeom>
          <a:solidFill>
            <a:srgbClr val="66CC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rgbClr val="CCFFFF"/>
              </a:solidFill>
              <a:latin typeface="Constantia"/>
              <a:ea typeface="Constantia"/>
              <a:cs typeface="Constantia"/>
              <a:sym typeface="Constantia"/>
            </a:endParaRPr>
          </a:p>
        </p:txBody>
      </p:sp>
      <p:sp>
        <p:nvSpPr>
          <p:cNvPr id="504" name="Google Shape;504;p37"/>
          <p:cNvSpPr/>
          <p:nvPr/>
        </p:nvSpPr>
        <p:spPr>
          <a:xfrm>
            <a:off x="609600" y="609600"/>
            <a:ext cx="7848600" cy="48895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600" b="1">
                <a:solidFill>
                  <a:schemeClr val="accent2"/>
                </a:solidFill>
                <a:latin typeface="Arial"/>
                <a:ea typeface="Arial"/>
                <a:cs typeface="Arial"/>
                <a:sym typeface="Arial"/>
              </a:rPr>
              <a:t>The concept of customer classes</a:t>
            </a:r>
            <a:endParaRPr/>
          </a:p>
        </p:txBody>
      </p:sp>
      <p:sp>
        <p:nvSpPr>
          <p:cNvPr id="505" name="Google Shape;505;p37"/>
          <p:cNvSpPr txBox="1"/>
          <p:nvPr/>
        </p:nvSpPr>
        <p:spPr>
          <a:xfrm>
            <a:off x="684213" y="2781300"/>
            <a:ext cx="7775575" cy="36623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onstantia"/>
                <a:ea typeface="Constantia"/>
                <a:cs typeface="Constantia"/>
                <a:sym typeface="Constantia"/>
              </a:rPr>
              <a:t>A queueing system can serve several classes of customers characterized by:</a:t>
            </a:r>
            <a:endParaRPr/>
          </a:p>
          <a:p>
            <a:pPr marL="355600" marR="0" lvl="0" indent="-355600" algn="l" rtl="0">
              <a:spcBef>
                <a:spcPts val="1200"/>
              </a:spcBef>
              <a:spcAft>
                <a:spcPts val="0"/>
              </a:spcAft>
              <a:buClr>
                <a:schemeClr val="dk1"/>
              </a:buClr>
              <a:buSzPts val="1800"/>
              <a:buFont typeface="Arial"/>
              <a:buChar char="•"/>
            </a:pPr>
            <a:r>
              <a:rPr lang="en-US" sz="1800">
                <a:solidFill>
                  <a:schemeClr val="dk1"/>
                </a:solidFill>
                <a:latin typeface="Constantia"/>
                <a:ea typeface="Constantia"/>
                <a:cs typeface="Constantia"/>
                <a:sym typeface="Constantia"/>
              </a:rPr>
              <a:t>different arrival processes</a:t>
            </a:r>
            <a:endParaRPr sz="1800">
              <a:solidFill>
                <a:schemeClr val="dk1"/>
              </a:solidFill>
              <a:latin typeface="Constantia"/>
              <a:ea typeface="Constantia"/>
              <a:cs typeface="Constantia"/>
              <a:sym typeface="Constantia"/>
            </a:endParaRPr>
          </a:p>
          <a:p>
            <a:pPr marL="355600" marR="0" lvl="0" indent="-355600" algn="l" rtl="0">
              <a:spcBef>
                <a:spcPts val="1200"/>
              </a:spcBef>
              <a:spcAft>
                <a:spcPts val="0"/>
              </a:spcAft>
              <a:buClr>
                <a:schemeClr val="dk1"/>
              </a:buClr>
              <a:buSzPts val="1800"/>
              <a:buFont typeface="Arial"/>
              <a:buChar char="•"/>
            </a:pPr>
            <a:r>
              <a:rPr lang="en-US" sz="1800">
                <a:solidFill>
                  <a:schemeClr val="dk1"/>
                </a:solidFill>
                <a:latin typeface="Constantia"/>
                <a:ea typeface="Constantia"/>
                <a:cs typeface="Constantia"/>
                <a:sym typeface="Constantia"/>
              </a:rPr>
              <a:t>different service times</a:t>
            </a:r>
            <a:endParaRPr/>
          </a:p>
          <a:p>
            <a:pPr marL="355600" marR="0" lvl="0" indent="-355600" algn="l" rtl="0">
              <a:spcBef>
                <a:spcPts val="1200"/>
              </a:spcBef>
              <a:spcAft>
                <a:spcPts val="0"/>
              </a:spcAft>
              <a:buClr>
                <a:schemeClr val="dk1"/>
              </a:buClr>
              <a:buSzPts val="1800"/>
              <a:buFont typeface="Arial"/>
              <a:buChar char="•"/>
            </a:pPr>
            <a:r>
              <a:rPr lang="en-US" sz="1800">
                <a:solidFill>
                  <a:schemeClr val="dk1"/>
                </a:solidFill>
                <a:latin typeface="Constantia"/>
                <a:ea typeface="Constantia"/>
                <a:cs typeface="Constantia"/>
                <a:sym typeface="Constantia"/>
              </a:rPr>
              <a:t>different costs</a:t>
            </a:r>
            <a:endParaRPr sz="1800">
              <a:solidFill>
                <a:schemeClr val="dk1"/>
              </a:solidFill>
              <a:latin typeface="Constantia"/>
              <a:ea typeface="Constantia"/>
              <a:cs typeface="Constantia"/>
              <a:sym typeface="Constantia"/>
            </a:endParaRPr>
          </a:p>
          <a:p>
            <a:pPr marL="355600" marR="0" lvl="0" indent="-355600" algn="l" rtl="0">
              <a:spcBef>
                <a:spcPts val="1200"/>
              </a:spcBef>
              <a:spcAft>
                <a:spcPts val="0"/>
              </a:spcAft>
              <a:buClr>
                <a:schemeClr val="dk1"/>
              </a:buClr>
              <a:buSzPts val="1800"/>
              <a:buFont typeface="Arial"/>
              <a:buChar char="•"/>
            </a:pPr>
            <a:r>
              <a:rPr lang="en-US" sz="1800">
                <a:solidFill>
                  <a:schemeClr val="dk1"/>
                </a:solidFill>
                <a:latin typeface="Constantia"/>
                <a:ea typeface="Constantia"/>
                <a:cs typeface="Constantia"/>
                <a:sym typeface="Constantia"/>
              </a:rPr>
              <a:t>service priority according to their class (preemption or no for example)</a:t>
            </a:r>
            <a:endParaRPr/>
          </a:p>
          <a:p>
            <a:pPr marL="0" marR="0" lvl="0" indent="0" algn="l" rtl="0">
              <a:spcBef>
                <a:spcPts val="0"/>
              </a:spcBef>
              <a:spcAft>
                <a:spcPts val="0"/>
              </a:spcAft>
              <a:buNone/>
            </a:pPr>
            <a:endParaRPr sz="1800">
              <a:solidFill>
                <a:schemeClr val="dk1"/>
              </a:solidFill>
              <a:latin typeface="Constantia"/>
              <a:ea typeface="Constantia"/>
              <a:cs typeface="Constantia"/>
              <a:sym typeface="Constantia"/>
            </a:endParaRPr>
          </a:p>
        </p:txBody>
      </p:sp>
      <p:pic>
        <p:nvPicPr>
          <p:cNvPr id="506" name="Google Shape;506;p37"/>
          <p:cNvPicPr preferRelativeResize="0"/>
          <p:nvPr/>
        </p:nvPicPr>
        <p:blipFill rotWithShape="1">
          <a:blip r:embed="rId3">
            <a:alphaModFix/>
          </a:blip>
          <a:srcRect/>
          <a:stretch/>
        </p:blipFill>
        <p:spPr>
          <a:xfrm>
            <a:off x="1979613" y="1484313"/>
            <a:ext cx="3887787" cy="10826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06"/>
                                        </p:tgtEl>
                                        <p:attrNameLst>
                                          <p:attrName>style.visibility</p:attrName>
                                        </p:attrNameLst>
                                      </p:cBhvr>
                                      <p:to>
                                        <p:strVal val="visible"/>
                                      </p:to>
                                    </p:set>
                                    <p:animEffect transition="in" filter="fade">
                                      <p:cBhvr>
                                        <p:cTn id="7" dur="1000"/>
                                        <p:tgtEl>
                                          <p:spTgt spid="50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05">
                                            <p:txEl>
                                              <p:pRg st="0" end="0"/>
                                            </p:txEl>
                                          </p:spTgt>
                                        </p:tgtEl>
                                        <p:attrNameLst>
                                          <p:attrName>style.visibility</p:attrName>
                                        </p:attrNameLst>
                                      </p:cBhvr>
                                      <p:to>
                                        <p:strVal val="visible"/>
                                      </p:to>
                                    </p:set>
                                    <p:animEffect transition="in" filter="fade">
                                      <p:cBhvr>
                                        <p:cTn id="12" dur="1000"/>
                                        <p:tgtEl>
                                          <p:spTgt spid="50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05">
                                            <p:txEl>
                                              <p:pRg st="1" end="1"/>
                                            </p:txEl>
                                          </p:spTgt>
                                        </p:tgtEl>
                                        <p:attrNameLst>
                                          <p:attrName>style.visibility</p:attrName>
                                        </p:attrNameLst>
                                      </p:cBhvr>
                                      <p:to>
                                        <p:strVal val="visible"/>
                                      </p:to>
                                    </p:set>
                                    <p:animEffect transition="in" filter="fade">
                                      <p:cBhvr>
                                        <p:cTn id="17" dur="1000"/>
                                        <p:tgtEl>
                                          <p:spTgt spid="50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5">
                                            <p:txEl>
                                              <p:pRg st="2" end="2"/>
                                            </p:txEl>
                                          </p:spTgt>
                                        </p:tgtEl>
                                        <p:attrNameLst>
                                          <p:attrName>style.visibility</p:attrName>
                                        </p:attrNameLst>
                                      </p:cBhvr>
                                      <p:to>
                                        <p:strVal val="visible"/>
                                      </p:to>
                                    </p:set>
                                    <p:animEffect transition="in" filter="fade">
                                      <p:cBhvr>
                                        <p:cTn id="22" dur="1000"/>
                                        <p:tgtEl>
                                          <p:spTgt spid="50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05">
                                            <p:txEl>
                                              <p:pRg st="3" end="3"/>
                                            </p:txEl>
                                          </p:spTgt>
                                        </p:tgtEl>
                                        <p:attrNameLst>
                                          <p:attrName>style.visibility</p:attrName>
                                        </p:attrNameLst>
                                      </p:cBhvr>
                                      <p:to>
                                        <p:strVal val="visible"/>
                                      </p:to>
                                    </p:set>
                                    <p:animEffect transition="in" filter="fade">
                                      <p:cBhvr>
                                        <p:cTn id="27" dur="1000"/>
                                        <p:tgtEl>
                                          <p:spTgt spid="505">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05">
                                            <p:txEl>
                                              <p:pRg st="4" end="4"/>
                                            </p:txEl>
                                          </p:spTgt>
                                        </p:tgtEl>
                                        <p:attrNameLst>
                                          <p:attrName>style.visibility</p:attrName>
                                        </p:attrNameLst>
                                      </p:cBhvr>
                                      <p:to>
                                        <p:strVal val="visible"/>
                                      </p:to>
                                    </p:set>
                                    <p:animEffect transition="in" filter="fade">
                                      <p:cBhvr>
                                        <p:cTn id="32" dur="1000"/>
                                        <p:tgtEl>
                                          <p:spTgt spid="505">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05">
                                            <p:txEl>
                                              <p:pRg st="5" end="5"/>
                                            </p:txEl>
                                          </p:spTgt>
                                        </p:tgtEl>
                                        <p:attrNameLst>
                                          <p:attrName>style.visibility</p:attrName>
                                        </p:attrNameLst>
                                      </p:cBhvr>
                                      <p:to>
                                        <p:strVal val="visible"/>
                                      </p:to>
                                    </p:set>
                                    <p:animEffect transition="in" filter="fade">
                                      <p:cBhvr>
                                        <p:cTn id="37" dur="1000"/>
                                        <p:tgtEl>
                                          <p:spTgt spid="50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511"/>
        <p:cNvGrpSpPr/>
        <p:nvPr/>
      </p:nvGrpSpPr>
      <p:grpSpPr>
        <a:xfrm>
          <a:off x="0" y="0"/>
          <a:ext cx="0" cy="0"/>
          <a:chOff x="0" y="0"/>
          <a:chExt cx="0" cy="0"/>
        </a:xfrm>
      </p:grpSpPr>
      <p:sp>
        <p:nvSpPr>
          <p:cNvPr id="512" name="Google Shape;512;p38"/>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US" sz="1200">
                <a:solidFill>
                  <a:schemeClr val="folHlink"/>
                </a:solidFill>
                <a:latin typeface="Times New Roman"/>
                <a:ea typeface="Times New Roman"/>
                <a:cs typeface="Times New Roman"/>
                <a:sym typeface="Times New Roman"/>
              </a:rPr>
              <a:t>53</a:t>
            </a:fld>
            <a:endParaRPr sz="1200">
              <a:solidFill>
                <a:schemeClr val="folHlink"/>
              </a:solidFill>
              <a:latin typeface="Times New Roman"/>
              <a:ea typeface="Times New Roman"/>
              <a:cs typeface="Times New Roman"/>
              <a:sym typeface="Times New Roman"/>
            </a:endParaRPr>
          </a:p>
        </p:txBody>
      </p:sp>
      <p:sp>
        <p:nvSpPr>
          <p:cNvPr id="513" name="Google Shape;513;p38"/>
          <p:cNvSpPr/>
          <p:nvPr/>
        </p:nvSpPr>
        <p:spPr>
          <a:xfrm>
            <a:off x="685800" y="1219200"/>
            <a:ext cx="7848600" cy="76200"/>
          </a:xfrm>
          <a:prstGeom prst="rect">
            <a:avLst/>
          </a:prstGeom>
          <a:solidFill>
            <a:srgbClr val="66CC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rgbClr val="CCFFFF"/>
              </a:solidFill>
              <a:latin typeface="Constantia"/>
              <a:ea typeface="Constantia"/>
              <a:cs typeface="Constantia"/>
              <a:sym typeface="Constantia"/>
            </a:endParaRPr>
          </a:p>
        </p:txBody>
      </p:sp>
      <p:sp>
        <p:nvSpPr>
          <p:cNvPr id="514" name="Google Shape;514;p38"/>
          <p:cNvSpPr/>
          <p:nvPr/>
        </p:nvSpPr>
        <p:spPr>
          <a:xfrm>
            <a:off x="609600" y="609600"/>
            <a:ext cx="7848600" cy="48895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600" b="1">
                <a:solidFill>
                  <a:schemeClr val="accent2"/>
                </a:solidFill>
                <a:latin typeface="Arial"/>
                <a:ea typeface="Arial"/>
                <a:cs typeface="Arial"/>
                <a:sym typeface="Arial"/>
              </a:rPr>
              <a:t>Simplified notation </a:t>
            </a:r>
            <a:endParaRPr/>
          </a:p>
        </p:txBody>
      </p:sp>
      <p:sp>
        <p:nvSpPr>
          <p:cNvPr id="515" name="Google Shape;515;p38"/>
          <p:cNvSpPr txBox="1"/>
          <p:nvPr/>
        </p:nvSpPr>
        <p:spPr>
          <a:xfrm>
            <a:off x="755650" y="1484313"/>
            <a:ext cx="7777163" cy="175432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onstantia"/>
                <a:ea typeface="Constantia"/>
                <a:cs typeface="Constantia"/>
                <a:sym typeface="Constantia"/>
              </a:rPr>
              <a:t>We will use the simplified notation T/X/C when we consider a queue where:</a:t>
            </a:r>
            <a:endParaRPr/>
          </a:p>
          <a:p>
            <a:pPr marL="812800" marR="0" lvl="1" indent="-355600" algn="l" rtl="0">
              <a:spcBef>
                <a:spcPts val="0"/>
              </a:spcBef>
              <a:spcAft>
                <a:spcPts val="0"/>
              </a:spcAft>
              <a:buClr>
                <a:srgbClr val="0000CC"/>
              </a:buClr>
              <a:buSzPts val="1800"/>
              <a:buFont typeface="Arial"/>
              <a:buChar char="•"/>
            </a:pPr>
            <a:r>
              <a:rPr lang="en-US" sz="1800" b="0" i="0" u="none" strike="noStrike" cap="none">
                <a:solidFill>
                  <a:srgbClr val="0000CC"/>
                </a:solidFill>
                <a:latin typeface="Constantia"/>
                <a:ea typeface="Constantia"/>
                <a:cs typeface="Constantia"/>
                <a:sym typeface="Constantia"/>
              </a:rPr>
              <a:t>The capacity is infinite</a:t>
            </a:r>
            <a:endParaRPr sz="1800" b="0" i="0" u="none" strike="noStrike" cap="none">
              <a:solidFill>
                <a:srgbClr val="0000CC"/>
              </a:solidFill>
              <a:latin typeface="Constantia"/>
              <a:ea typeface="Constantia"/>
              <a:cs typeface="Constantia"/>
              <a:sym typeface="Constantia"/>
            </a:endParaRPr>
          </a:p>
          <a:p>
            <a:pPr marL="812800" marR="0" lvl="1" indent="-355600" algn="l" rtl="0">
              <a:spcBef>
                <a:spcPts val="0"/>
              </a:spcBef>
              <a:spcAft>
                <a:spcPts val="0"/>
              </a:spcAft>
              <a:buClr>
                <a:srgbClr val="0000CC"/>
              </a:buClr>
              <a:buSzPts val="1800"/>
              <a:buFont typeface="Arial"/>
              <a:buChar char="•"/>
            </a:pPr>
            <a:r>
              <a:rPr lang="en-US" sz="1800" b="0" i="0" u="none" strike="noStrike" cap="none">
                <a:solidFill>
                  <a:srgbClr val="0000CC"/>
                </a:solidFill>
                <a:latin typeface="Constantia"/>
                <a:ea typeface="Constantia"/>
                <a:cs typeface="Constantia"/>
                <a:sym typeface="Constantia"/>
              </a:rPr>
              <a:t>The size of the population is infinite</a:t>
            </a:r>
            <a:endParaRPr sz="1800" b="0" i="0" u="none" strike="noStrike" cap="none">
              <a:solidFill>
                <a:srgbClr val="0000CC"/>
              </a:solidFill>
              <a:latin typeface="Constantia"/>
              <a:ea typeface="Constantia"/>
              <a:cs typeface="Constantia"/>
              <a:sym typeface="Constantia"/>
            </a:endParaRPr>
          </a:p>
          <a:p>
            <a:pPr marL="812800" marR="0" lvl="1" indent="-355600" algn="l" rtl="0">
              <a:spcBef>
                <a:spcPts val="0"/>
              </a:spcBef>
              <a:spcAft>
                <a:spcPts val="0"/>
              </a:spcAft>
              <a:buClr>
                <a:srgbClr val="0000CC"/>
              </a:buClr>
              <a:buSzPts val="1800"/>
              <a:buFont typeface="Arial"/>
              <a:buChar char="•"/>
            </a:pPr>
            <a:r>
              <a:rPr lang="en-US" sz="1800" b="0" i="0" u="none" strike="noStrike" cap="none">
                <a:solidFill>
                  <a:srgbClr val="0000CC"/>
                </a:solidFill>
                <a:latin typeface="Constantia"/>
                <a:ea typeface="Constantia"/>
                <a:cs typeface="Constantia"/>
                <a:sym typeface="Constantia"/>
              </a:rPr>
              <a:t>The service discipline is FIFO</a:t>
            </a:r>
            <a:endParaRPr/>
          </a:p>
          <a:p>
            <a:pPr marL="0" marR="0" lvl="0" indent="0" algn="l" rtl="0">
              <a:spcBef>
                <a:spcPts val="0"/>
              </a:spcBef>
              <a:spcAft>
                <a:spcPts val="0"/>
              </a:spcAft>
              <a:buNone/>
            </a:pPr>
            <a:endParaRPr sz="1800">
              <a:solidFill>
                <a:schemeClr val="dk1"/>
              </a:solidFill>
              <a:latin typeface="Constantia"/>
              <a:ea typeface="Constantia"/>
              <a:cs typeface="Constantia"/>
              <a:sym typeface="Constantia"/>
            </a:endParaRPr>
          </a:p>
          <a:p>
            <a:pPr marL="0" marR="0" lvl="0" indent="0" algn="l" rtl="0">
              <a:spcBef>
                <a:spcPts val="0"/>
              </a:spcBef>
              <a:spcAft>
                <a:spcPts val="0"/>
              </a:spcAft>
              <a:buNone/>
            </a:pPr>
            <a:r>
              <a:rPr lang="en-US" sz="1800">
                <a:solidFill>
                  <a:schemeClr val="dk1"/>
                </a:solidFill>
                <a:latin typeface="Constantia"/>
                <a:ea typeface="Constantia"/>
                <a:cs typeface="Constantia"/>
                <a:sym typeface="Constantia"/>
              </a:rPr>
              <a:t>• Hence T/X/C = T/X/C/∞/∞/FIFO</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15">
                                            <p:txEl>
                                              <p:pRg st="0" end="0"/>
                                            </p:txEl>
                                          </p:spTgt>
                                        </p:tgtEl>
                                        <p:attrNameLst>
                                          <p:attrName>style.visibility</p:attrName>
                                        </p:attrNameLst>
                                      </p:cBhvr>
                                      <p:to>
                                        <p:strVal val="visible"/>
                                      </p:to>
                                    </p:set>
                                    <p:animEffect transition="in" filter="fade">
                                      <p:cBhvr>
                                        <p:cTn id="7" dur="1000"/>
                                        <p:tgtEl>
                                          <p:spTgt spid="5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15">
                                            <p:txEl>
                                              <p:pRg st="1" end="1"/>
                                            </p:txEl>
                                          </p:spTgt>
                                        </p:tgtEl>
                                        <p:attrNameLst>
                                          <p:attrName>style.visibility</p:attrName>
                                        </p:attrNameLst>
                                      </p:cBhvr>
                                      <p:to>
                                        <p:strVal val="visible"/>
                                      </p:to>
                                    </p:set>
                                    <p:animEffect transition="in" filter="fade">
                                      <p:cBhvr>
                                        <p:cTn id="12" dur="1000"/>
                                        <p:tgtEl>
                                          <p:spTgt spid="51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15">
                                            <p:txEl>
                                              <p:pRg st="2" end="2"/>
                                            </p:txEl>
                                          </p:spTgt>
                                        </p:tgtEl>
                                        <p:attrNameLst>
                                          <p:attrName>style.visibility</p:attrName>
                                        </p:attrNameLst>
                                      </p:cBhvr>
                                      <p:to>
                                        <p:strVal val="visible"/>
                                      </p:to>
                                    </p:set>
                                    <p:animEffect transition="in" filter="fade">
                                      <p:cBhvr>
                                        <p:cTn id="17" dur="1000"/>
                                        <p:tgtEl>
                                          <p:spTgt spid="51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15">
                                            <p:txEl>
                                              <p:pRg st="3" end="3"/>
                                            </p:txEl>
                                          </p:spTgt>
                                        </p:tgtEl>
                                        <p:attrNameLst>
                                          <p:attrName>style.visibility</p:attrName>
                                        </p:attrNameLst>
                                      </p:cBhvr>
                                      <p:to>
                                        <p:strVal val="visible"/>
                                      </p:to>
                                    </p:set>
                                    <p:animEffect transition="in" filter="fade">
                                      <p:cBhvr>
                                        <p:cTn id="22" dur="1000"/>
                                        <p:tgtEl>
                                          <p:spTgt spid="51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15">
                                            <p:txEl>
                                              <p:pRg st="4" end="4"/>
                                            </p:txEl>
                                          </p:spTgt>
                                        </p:tgtEl>
                                        <p:attrNameLst>
                                          <p:attrName>style.visibility</p:attrName>
                                        </p:attrNameLst>
                                      </p:cBhvr>
                                      <p:to>
                                        <p:strVal val="visible"/>
                                      </p:to>
                                    </p:set>
                                    <p:animEffect transition="in" filter="fade">
                                      <p:cBhvr>
                                        <p:cTn id="27" dur="1000"/>
                                        <p:tgtEl>
                                          <p:spTgt spid="51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15">
                                            <p:txEl>
                                              <p:pRg st="5" end="5"/>
                                            </p:txEl>
                                          </p:spTgt>
                                        </p:tgtEl>
                                        <p:attrNameLst>
                                          <p:attrName>style.visibility</p:attrName>
                                        </p:attrNameLst>
                                      </p:cBhvr>
                                      <p:to>
                                        <p:strVal val="visible"/>
                                      </p:to>
                                    </p:set>
                                    <p:animEffect transition="in" filter="fade">
                                      <p:cBhvr>
                                        <p:cTn id="32" dur="1000"/>
                                        <p:tgtEl>
                                          <p:spTgt spid="51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520"/>
        <p:cNvGrpSpPr/>
        <p:nvPr/>
      </p:nvGrpSpPr>
      <p:grpSpPr>
        <a:xfrm>
          <a:off x="0" y="0"/>
          <a:ext cx="0" cy="0"/>
          <a:chOff x="0" y="0"/>
          <a:chExt cx="0" cy="0"/>
        </a:xfrm>
      </p:grpSpPr>
      <p:sp>
        <p:nvSpPr>
          <p:cNvPr id="521" name="Google Shape;521;p39"/>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US" sz="1200">
                <a:solidFill>
                  <a:schemeClr val="folHlink"/>
                </a:solidFill>
                <a:latin typeface="Times New Roman"/>
                <a:ea typeface="Times New Roman"/>
                <a:cs typeface="Times New Roman"/>
                <a:sym typeface="Times New Roman"/>
              </a:rPr>
              <a:t>54</a:t>
            </a:fld>
            <a:endParaRPr sz="1200">
              <a:solidFill>
                <a:schemeClr val="folHlink"/>
              </a:solidFill>
              <a:latin typeface="Times New Roman"/>
              <a:ea typeface="Times New Roman"/>
              <a:cs typeface="Times New Roman"/>
              <a:sym typeface="Times New Roman"/>
            </a:endParaRPr>
          </a:p>
        </p:txBody>
      </p:sp>
      <p:sp>
        <p:nvSpPr>
          <p:cNvPr id="522" name="Google Shape;522;p39"/>
          <p:cNvSpPr/>
          <p:nvPr/>
        </p:nvSpPr>
        <p:spPr>
          <a:xfrm>
            <a:off x="609600" y="609600"/>
            <a:ext cx="7848600"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a:solidFill>
                  <a:schemeClr val="dk1"/>
                </a:solidFill>
                <a:latin typeface="Constantia"/>
                <a:ea typeface="Constantia"/>
                <a:cs typeface="Constantia"/>
                <a:sym typeface="Constantia"/>
              </a:rPr>
              <a:t>Single stage queueing systems</a:t>
            </a:r>
            <a:endParaRPr sz="2800" b="1">
              <a:solidFill>
                <a:schemeClr val="dk1"/>
              </a:solidFill>
              <a:latin typeface="Constantia"/>
              <a:ea typeface="Constantia"/>
              <a:cs typeface="Constantia"/>
              <a:sym typeface="Constantia"/>
            </a:endParaRPr>
          </a:p>
          <a:p>
            <a:pPr marL="0" marR="0" lvl="0" indent="0" algn="ctr" rtl="0">
              <a:spcBef>
                <a:spcPts val="0"/>
              </a:spcBef>
              <a:spcAft>
                <a:spcPts val="0"/>
              </a:spcAft>
              <a:buNone/>
            </a:pPr>
            <a:r>
              <a:rPr lang="en-US" sz="2600" b="1">
                <a:solidFill>
                  <a:schemeClr val="accent2"/>
                </a:solidFill>
                <a:latin typeface="Arial"/>
                <a:ea typeface="Arial"/>
                <a:cs typeface="Arial"/>
                <a:sym typeface="Arial"/>
              </a:rPr>
              <a:t>M/M/1 queue</a:t>
            </a:r>
            <a:endParaRPr/>
          </a:p>
        </p:txBody>
      </p:sp>
      <p:pic>
        <p:nvPicPr>
          <p:cNvPr id="523" name="Google Shape;523;p39"/>
          <p:cNvPicPr preferRelativeResize="0"/>
          <p:nvPr/>
        </p:nvPicPr>
        <p:blipFill rotWithShape="1">
          <a:blip r:embed="rId3">
            <a:alphaModFix/>
          </a:blip>
          <a:srcRect/>
          <a:stretch/>
        </p:blipFill>
        <p:spPr>
          <a:xfrm>
            <a:off x="2484438" y="2433638"/>
            <a:ext cx="3038475" cy="1419225"/>
          </a:xfrm>
          <a:prstGeom prst="rect">
            <a:avLst/>
          </a:prstGeom>
          <a:noFill/>
          <a:ln>
            <a:noFill/>
          </a:ln>
        </p:spPr>
      </p:pic>
      <p:sp>
        <p:nvSpPr>
          <p:cNvPr id="524" name="Google Shape;524;p39"/>
          <p:cNvSpPr txBox="1"/>
          <p:nvPr/>
        </p:nvSpPr>
        <p:spPr>
          <a:xfrm>
            <a:off x="3419475" y="1773238"/>
            <a:ext cx="3240088" cy="70802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dk1"/>
                </a:solidFill>
                <a:latin typeface="Times New Roman"/>
                <a:ea typeface="Times New Roman"/>
                <a:cs typeface="Times New Roman"/>
                <a:sym typeface="Times New Roman"/>
              </a:rPr>
              <a:t>N(t) : number of customers in the system</a:t>
            </a:r>
            <a:endParaRPr/>
          </a:p>
        </p:txBody>
      </p:sp>
      <p:sp>
        <p:nvSpPr>
          <p:cNvPr id="525" name="Google Shape;525;p39"/>
          <p:cNvSpPr txBox="1"/>
          <p:nvPr/>
        </p:nvSpPr>
        <p:spPr>
          <a:xfrm>
            <a:off x="4356100" y="3873500"/>
            <a:ext cx="2879725" cy="70802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dk1"/>
                </a:solidFill>
                <a:latin typeface="Times New Roman"/>
                <a:ea typeface="Times New Roman"/>
                <a:cs typeface="Times New Roman"/>
                <a:sym typeface="Times New Roman"/>
              </a:rPr>
              <a:t>Exponentially distributed service tim</a:t>
            </a:r>
            <a:endParaRPr/>
          </a:p>
        </p:txBody>
      </p:sp>
      <p:sp>
        <p:nvSpPr>
          <p:cNvPr id="526" name="Google Shape;526;p39"/>
          <p:cNvSpPr txBox="1"/>
          <p:nvPr/>
        </p:nvSpPr>
        <p:spPr>
          <a:xfrm>
            <a:off x="1403350" y="3081338"/>
            <a:ext cx="1512888" cy="1016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dk1"/>
                </a:solidFill>
                <a:latin typeface="Noto Sans Symbols"/>
                <a:ea typeface="Noto Sans Symbols"/>
                <a:cs typeface="Noto Sans Symbols"/>
                <a:sym typeface="Noto Sans Symbols"/>
              </a:rPr>
              <a:t>λ</a:t>
            </a:r>
            <a:endParaRPr/>
          </a:p>
          <a:p>
            <a:pPr marL="0" marR="0" lvl="0" indent="0" algn="l" rtl="0">
              <a:spcBef>
                <a:spcPts val="0"/>
              </a:spcBef>
              <a:spcAft>
                <a:spcPts val="0"/>
              </a:spcAft>
              <a:buNone/>
            </a:pPr>
            <a:r>
              <a:rPr lang="en-US" sz="2000" b="1">
                <a:solidFill>
                  <a:schemeClr val="dk1"/>
                </a:solidFill>
                <a:latin typeface="Times New Roman"/>
                <a:ea typeface="Times New Roman"/>
                <a:cs typeface="Times New Roman"/>
                <a:sym typeface="Times New Roman"/>
              </a:rPr>
              <a:t>Poisson arrivals</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531"/>
        <p:cNvGrpSpPr/>
        <p:nvPr/>
      </p:nvGrpSpPr>
      <p:grpSpPr>
        <a:xfrm>
          <a:off x="0" y="0"/>
          <a:ext cx="0" cy="0"/>
          <a:chOff x="0" y="0"/>
          <a:chExt cx="0" cy="0"/>
        </a:xfrm>
      </p:grpSpPr>
      <p:sp>
        <p:nvSpPr>
          <p:cNvPr id="532" name="Google Shape;532;p40"/>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US" sz="1200">
                <a:solidFill>
                  <a:schemeClr val="folHlink"/>
                </a:solidFill>
                <a:latin typeface="Times New Roman"/>
                <a:ea typeface="Times New Roman"/>
                <a:cs typeface="Times New Roman"/>
                <a:sym typeface="Times New Roman"/>
              </a:rPr>
              <a:t>55</a:t>
            </a:fld>
            <a:endParaRPr sz="1200">
              <a:solidFill>
                <a:schemeClr val="folHlink"/>
              </a:solidFill>
              <a:latin typeface="Times New Roman"/>
              <a:ea typeface="Times New Roman"/>
              <a:cs typeface="Times New Roman"/>
              <a:sym typeface="Times New Roman"/>
            </a:endParaRPr>
          </a:p>
        </p:txBody>
      </p:sp>
      <p:sp>
        <p:nvSpPr>
          <p:cNvPr id="533" name="Google Shape;533;p40"/>
          <p:cNvSpPr/>
          <p:nvPr/>
        </p:nvSpPr>
        <p:spPr>
          <a:xfrm>
            <a:off x="685800" y="1371600"/>
            <a:ext cx="7848600" cy="76200"/>
          </a:xfrm>
          <a:prstGeom prst="rect">
            <a:avLst/>
          </a:prstGeom>
          <a:solidFill>
            <a:srgbClr val="66CC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rgbClr val="CCFFFF"/>
              </a:solidFill>
              <a:latin typeface="Constantia"/>
              <a:ea typeface="Constantia"/>
              <a:cs typeface="Constantia"/>
              <a:sym typeface="Constantia"/>
            </a:endParaRPr>
          </a:p>
        </p:txBody>
      </p:sp>
      <p:sp>
        <p:nvSpPr>
          <p:cNvPr id="534" name="Google Shape;534;p40"/>
          <p:cNvSpPr/>
          <p:nvPr/>
        </p:nvSpPr>
        <p:spPr>
          <a:xfrm>
            <a:off x="609600" y="476250"/>
            <a:ext cx="7848600" cy="49244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600" b="1">
                <a:solidFill>
                  <a:schemeClr val="accent2"/>
                </a:solidFill>
                <a:latin typeface="Arial"/>
                <a:ea typeface="Arial"/>
                <a:cs typeface="Arial"/>
                <a:sym typeface="Arial"/>
              </a:rPr>
              <a:t>Performance measures of M/M/1 queue</a:t>
            </a:r>
            <a:endParaRPr sz="2600" b="1">
              <a:solidFill>
                <a:schemeClr val="accent2"/>
              </a:solidFill>
              <a:latin typeface="Arial"/>
              <a:ea typeface="Arial"/>
              <a:cs typeface="Arial"/>
              <a:sym typeface="Arial"/>
            </a:endParaRPr>
          </a:p>
        </p:txBody>
      </p:sp>
      <p:sp>
        <p:nvSpPr>
          <p:cNvPr id="535" name="Google Shape;535;p40"/>
          <p:cNvSpPr/>
          <p:nvPr/>
        </p:nvSpPr>
        <p:spPr>
          <a:xfrm>
            <a:off x="323850" y="1773238"/>
            <a:ext cx="8569325" cy="327782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800">
                <a:solidFill>
                  <a:schemeClr val="dk1"/>
                </a:solidFill>
                <a:latin typeface="Constantia"/>
                <a:ea typeface="Constantia"/>
                <a:cs typeface="Constantia"/>
                <a:sym typeface="Constantia"/>
              </a:rPr>
              <a:t>Ls 	= Number of customers in the queue = </a:t>
            </a:r>
            <a:r>
              <a:rPr lang="en-US" sz="1800">
                <a:solidFill>
                  <a:schemeClr val="dk1"/>
                </a:solidFill>
                <a:latin typeface="Noto Sans Symbols"/>
                <a:ea typeface="Noto Sans Symbols"/>
                <a:cs typeface="Noto Sans Symbols"/>
                <a:sym typeface="Noto Sans Symbols"/>
              </a:rPr>
              <a:t>ρ/(1−ρ</a:t>
            </a:r>
            <a:r>
              <a:rPr lang="en-US" sz="1800">
                <a:solidFill>
                  <a:schemeClr val="dk1"/>
                </a:solidFill>
                <a:latin typeface="Constantia"/>
                <a:ea typeface="Constantia"/>
                <a:cs typeface="Constantia"/>
                <a:sym typeface="Constantia"/>
              </a:rPr>
              <a:t>) = </a:t>
            </a:r>
            <a:r>
              <a:rPr lang="en-US" sz="1800">
                <a:solidFill>
                  <a:schemeClr val="dk1"/>
                </a:solidFill>
                <a:latin typeface="Noto Sans Symbols"/>
                <a:ea typeface="Noto Sans Symbols"/>
                <a:cs typeface="Noto Sans Symbols"/>
                <a:sym typeface="Noto Sans Symbols"/>
              </a:rPr>
              <a:t>λ</a:t>
            </a:r>
            <a:r>
              <a:rPr lang="en-US" sz="1800">
                <a:solidFill>
                  <a:schemeClr val="dk1"/>
                </a:solidFill>
                <a:latin typeface="Constantia"/>
                <a:ea typeface="Constantia"/>
                <a:cs typeface="Constantia"/>
                <a:sym typeface="Constantia"/>
              </a:rPr>
              <a:t>/(</a:t>
            </a:r>
            <a:r>
              <a:rPr lang="en-US" sz="1800">
                <a:solidFill>
                  <a:schemeClr val="dk1"/>
                </a:solidFill>
                <a:latin typeface="Noto Sans Symbols"/>
                <a:ea typeface="Noto Sans Symbols"/>
                <a:cs typeface="Noto Sans Symbols"/>
                <a:sym typeface="Noto Sans Symbols"/>
              </a:rPr>
              <a:t>μ−λ</a:t>
            </a:r>
            <a:r>
              <a:rPr lang="en-US" sz="1800">
                <a:solidFill>
                  <a:schemeClr val="dk1"/>
                </a:solidFill>
                <a:latin typeface="Constantia"/>
                <a:ea typeface="Constantia"/>
                <a:cs typeface="Constantia"/>
                <a:sym typeface="Constantia"/>
              </a:rPr>
              <a:t>)</a:t>
            </a:r>
            <a:endParaRPr/>
          </a:p>
          <a:p>
            <a:pPr marL="0" marR="0" lvl="0" indent="0" algn="just" rtl="0">
              <a:spcBef>
                <a:spcPts val="900"/>
              </a:spcBef>
              <a:spcAft>
                <a:spcPts val="0"/>
              </a:spcAft>
              <a:buNone/>
            </a:pPr>
            <a:r>
              <a:rPr lang="en-US" sz="1800">
                <a:solidFill>
                  <a:schemeClr val="dk1"/>
                </a:solidFill>
                <a:latin typeface="Constantia"/>
                <a:ea typeface="Constantia"/>
                <a:cs typeface="Constantia"/>
                <a:sym typeface="Constantia"/>
              </a:rPr>
              <a:t>Ws	= Sojourn (temporary)  time in the system =</a:t>
            </a:r>
            <a:r>
              <a:rPr lang="en-US" sz="1800">
                <a:solidFill>
                  <a:schemeClr val="dk1"/>
                </a:solidFill>
                <a:latin typeface="Noto Sans Symbols"/>
                <a:ea typeface="Noto Sans Symbols"/>
                <a:cs typeface="Noto Sans Symbols"/>
                <a:sym typeface="Noto Sans Symbols"/>
              </a:rPr>
              <a:t> 1/(1−ρ</a:t>
            </a:r>
            <a:r>
              <a:rPr lang="en-US" sz="1800">
                <a:solidFill>
                  <a:schemeClr val="dk1"/>
                </a:solidFill>
                <a:latin typeface="Constantia"/>
                <a:ea typeface="Constantia"/>
                <a:cs typeface="Constantia"/>
                <a:sym typeface="Constantia"/>
              </a:rPr>
              <a:t>)</a:t>
            </a:r>
            <a:r>
              <a:rPr lang="en-US" sz="1800">
                <a:solidFill>
                  <a:schemeClr val="dk1"/>
                </a:solidFill>
                <a:latin typeface="Noto Sans Symbols"/>
                <a:ea typeface="Noto Sans Symbols"/>
                <a:cs typeface="Noto Sans Symbols"/>
                <a:sym typeface="Noto Sans Symbols"/>
              </a:rPr>
              <a:t>μ</a:t>
            </a:r>
            <a:r>
              <a:rPr lang="en-US" sz="1800">
                <a:solidFill>
                  <a:schemeClr val="dk1"/>
                </a:solidFill>
                <a:latin typeface="Constantia"/>
                <a:ea typeface="Constantia"/>
                <a:cs typeface="Constantia"/>
                <a:sym typeface="Constantia"/>
              </a:rPr>
              <a:t> = 1/(</a:t>
            </a:r>
            <a:r>
              <a:rPr lang="en-US" sz="1800">
                <a:solidFill>
                  <a:schemeClr val="dk1"/>
                </a:solidFill>
                <a:latin typeface="Noto Sans Symbols"/>
                <a:ea typeface="Noto Sans Symbols"/>
                <a:cs typeface="Noto Sans Symbols"/>
                <a:sym typeface="Noto Sans Symbols"/>
              </a:rPr>
              <a:t>μ−λ</a:t>
            </a:r>
            <a:r>
              <a:rPr lang="en-US" sz="1800">
                <a:solidFill>
                  <a:schemeClr val="dk1"/>
                </a:solidFill>
                <a:latin typeface="Constantia"/>
                <a:ea typeface="Constantia"/>
                <a:cs typeface="Constantia"/>
                <a:sym typeface="Constantia"/>
              </a:rPr>
              <a:t>)</a:t>
            </a:r>
            <a:endParaRPr/>
          </a:p>
          <a:p>
            <a:pPr marL="0" marR="0" lvl="0" indent="0" algn="just" rtl="0">
              <a:spcBef>
                <a:spcPts val="900"/>
              </a:spcBef>
              <a:spcAft>
                <a:spcPts val="0"/>
              </a:spcAft>
              <a:buNone/>
            </a:pPr>
            <a:r>
              <a:rPr lang="en-US" sz="1800">
                <a:solidFill>
                  <a:schemeClr val="dk1"/>
                </a:solidFill>
                <a:latin typeface="Constantia"/>
                <a:ea typeface="Constantia"/>
                <a:cs typeface="Constantia"/>
                <a:sym typeface="Constantia"/>
              </a:rPr>
              <a:t>Lq	= queue length = </a:t>
            </a:r>
            <a:r>
              <a:rPr lang="en-US" sz="1800">
                <a:solidFill>
                  <a:schemeClr val="dk1"/>
                </a:solidFill>
                <a:latin typeface="Noto Sans Symbols"/>
                <a:ea typeface="Noto Sans Symbols"/>
                <a:cs typeface="Noto Sans Symbols"/>
                <a:sym typeface="Noto Sans Symbols"/>
              </a:rPr>
              <a:t>λ</a:t>
            </a:r>
            <a:r>
              <a:rPr lang="en-US" sz="1800" baseline="30000">
                <a:solidFill>
                  <a:schemeClr val="dk1"/>
                </a:solidFill>
                <a:latin typeface="Constantia"/>
                <a:ea typeface="Constantia"/>
                <a:cs typeface="Constantia"/>
                <a:sym typeface="Constantia"/>
              </a:rPr>
              <a:t>2</a:t>
            </a:r>
            <a:r>
              <a:rPr lang="en-US" sz="1800">
                <a:solidFill>
                  <a:schemeClr val="dk1"/>
                </a:solidFill>
                <a:latin typeface="Constantia"/>
                <a:ea typeface="Constantia"/>
                <a:cs typeface="Constantia"/>
                <a:sym typeface="Constantia"/>
              </a:rPr>
              <a:t>/(</a:t>
            </a:r>
            <a:r>
              <a:rPr lang="en-US" sz="1800">
                <a:solidFill>
                  <a:schemeClr val="dk1"/>
                </a:solidFill>
                <a:latin typeface="Noto Sans Symbols"/>
                <a:ea typeface="Noto Sans Symbols"/>
                <a:cs typeface="Noto Sans Symbols"/>
                <a:sym typeface="Noto Sans Symbols"/>
              </a:rPr>
              <a:t>μ−λ</a:t>
            </a:r>
            <a:r>
              <a:rPr lang="en-US" sz="1800">
                <a:solidFill>
                  <a:schemeClr val="dk1"/>
                </a:solidFill>
                <a:latin typeface="Constantia"/>
                <a:ea typeface="Constantia"/>
                <a:cs typeface="Constantia"/>
                <a:sym typeface="Constantia"/>
              </a:rPr>
              <a:t>)</a:t>
            </a:r>
            <a:r>
              <a:rPr lang="en-US" sz="1800">
                <a:solidFill>
                  <a:schemeClr val="dk1"/>
                </a:solidFill>
                <a:latin typeface="Noto Sans Symbols"/>
                <a:ea typeface="Noto Sans Symbols"/>
                <a:cs typeface="Noto Sans Symbols"/>
                <a:sym typeface="Noto Sans Symbols"/>
              </a:rPr>
              <a:t>μ = </a:t>
            </a:r>
            <a:r>
              <a:rPr lang="en-US" sz="1800">
                <a:solidFill>
                  <a:schemeClr val="dk1"/>
                </a:solidFill>
                <a:latin typeface="Constantia"/>
                <a:ea typeface="Constantia"/>
                <a:cs typeface="Constantia"/>
                <a:sym typeface="Constantia"/>
              </a:rPr>
              <a:t>Ls</a:t>
            </a:r>
            <a:r>
              <a:rPr lang="en-US" sz="1800">
                <a:solidFill>
                  <a:schemeClr val="dk1"/>
                </a:solidFill>
                <a:latin typeface="Noto Sans Symbols"/>
                <a:ea typeface="Noto Sans Symbols"/>
                <a:cs typeface="Noto Sans Symbols"/>
                <a:sym typeface="Noto Sans Symbols"/>
              </a:rPr>
              <a:t> − ρ</a:t>
            </a:r>
            <a:endParaRPr sz="1800">
              <a:solidFill>
                <a:schemeClr val="dk1"/>
              </a:solidFill>
              <a:latin typeface="Constantia"/>
              <a:ea typeface="Constantia"/>
              <a:cs typeface="Constantia"/>
              <a:sym typeface="Constantia"/>
            </a:endParaRPr>
          </a:p>
          <a:p>
            <a:pPr marL="0" marR="0" lvl="0" indent="0" algn="just" rtl="0">
              <a:spcBef>
                <a:spcPts val="900"/>
              </a:spcBef>
              <a:spcAft>
                <a:spcPts val="0"/>
              </a:spcAft>
              <a:buNone/>
            </a:pPr>
            <a:r>
              <a:rPr lang="en-US" sz="1800">
                <a:solidFill>
                  <a:schemeClr val="dk1"/>
                </a:solidFill>
                <a:latin typeface="Constantia"/>
                <a:ea typeface="Constantia"/>
                <a:cs typeface="Constantia"/>
                <a:sym typeface="Constantia"/>
              </a:rPr>
              <a:t>Wq	= average waiting time in the queue =  </a:t>
            </a:r>
            <a:r>
              <a:rPr lang="en-US" sz="1800">
                <a:solidFill>
                  <a:schemeClr val="dk1"/>
                </a:solidFill>
                <a:latin typeface="Noto Sans Symbols"/>
                <a:ea typeface="Noto Sans Symbols"/>
                <a:cs typeface="Noto Sans Symbols"/>
                <a:sym typeface="Noto Sans Symbols"/>
              </a:rPr>
              <a:t>λ</a:t>
            </a:r>
            <a:r>
              <a:rPr lang="en-US" sz="1800">
                <a:solidFill>
                  <a:schemeClr val="dk1"/>
                </a:solidFill>
                <a:latin typeface="Constantia"/>
                <a:ea typeface="Constantia"/>
                <a:cs typeface="Constantia"/>
                <a:sym typeface="Constantia"/>
              </a:rPr>
              <a:t>/(</a:t>
            </a:r>
            <a:r>
              <a:rPr lang="en-US" sz="1800">
                <a:solidFill>
                  <a:schemeClr val="dk1"/>
                </a:solidFill>
                <a:latin typeface="Noto Sans Symbols"/>
                <a:ea typeface="Noto Sans Symbols"/>
                <a:cs typeface="Noto Sans Symbols"/>
                <a:sym typeface="Noto Sans Symbols"/>
              </a:rPr>
              <a:t>μ−λ</a:t>
            </a:r>
            <a:r>
              <a:rPr lang="en-US" sz="1800">
                <a:solidFill>
                  <a:schemeClr val="dk1"/>
                </a:solidFill>
                <a:latin typeface="Constantia"/>
                <a:ea typeface="Constantia"/>
                <a:cs typeface="Constantia"/>
                <a:sym typeface="Constantia"/>
              </a:rPr>
              <a:t>)</a:t>
            </a:r>
            <a:r>
              <a:rPr lang="en-US" sz="1800">
                <a:solidFill>
                  <a:schemeClr val="dk1"/>
                </a:solidFill>
                <a:latin typeface="Noto Sans Symbols"/>
                <a:ea typeface="Noto Sans Symbols"/>
                <a:cs typeface="Noto Sans Symbols"/>
                <a:sym typeface="Noto Sans Symbols"/>
              </a:rPr>
              <a:t>μ = </a:t>
            </a:r>
            <a:r>
              <a:rPr lang="en-US" sz="1800">
                <a:solidFill>
                  <a:schemeClr val="dk1"/>
                </a:solidFill>
                <a:latin typeface="Constantia"/>
                <a:ea typeface="Constantia"/>
                <a:cs typeface="Constantia"/>
                <a:sym typeface="Constantia"/>
              </a:rPr>
              <a:t>Ws</a:t>
            </a:r>
            <a:r>
              <a:rPr lang="en-US" sz="1800">
                <a:solidFill>
                  <a:schemeClr val="dk1"/>
                </a:solidFill>
                <a:latin typeface="Noto Sans Symbols"/>
                <a:ea typeface="Noto Sans Symbols"/>
                <a:cs typeface="Noto Sans Symbols"/>
                <a:sym typeface="Noto Sans Symbols"/>
              </a:rPr>
              <a:t> − 1/μ</a:t>
            </a:r>
            <a:endParaRPr sz="1800">
              <a:solidFill>
                <a:schemeClr val="dk1"/>
              </a:solidFill>
              <a:latin typeface="Constantia"/>
              <a:ea typeface="Constantia"/>
              <a:cs typeface="Constantia"/>
              <a:sym typeface="Constantia"/>
            </a:endParaRPr>
          </a:p>
          <a:p>
            <a:pPr marL="0" marR="0" lvl="0" indent="0" algn="just" rtl="0">
              <a:spcBef>
                <a:spcPts val="900"/>
              </a:spcBef>
              <a:spcAft>
                <a:spcPts val="0"/>
              </a:spcAft>
              <a:buNone/>
            </a:pPr>
            <a:r>
              <a:rPr lang="en-US" sz="1800">
                <a:solidFill>
                  <a:schemeClr val="dk1"/>
                </a:solidFill>
                <a:latin typeface="Noto Sans Symbols"/>
                <a:ea typeface="Noto Sans Symbols"/>
                <a:cs typeface="Noto Sans Symbols"/>
                <a:sym typeface="Noto Sans Symbols"/>
              </a:rPr>
              <a:t>ΤΗ 	</a:t>
            </a:r>
            <a:r>
              <a:rPr lang="en-US" sz="1800">
                <a:solidFill>
                  <a:schemeClr val="dk1"/>
                </a:solidFill>
                <a:latin typeface="Constantia"/>
                <a:ea typeface="Constantia"/>
                <a:cs typeface="Constantia"/>
                <a:sym typeface="Constantia"/>
              </a:rPr>
              <a:t>= departure rate =  </a:t>
            </a:r>
            <a:r>
              <a:rPr lang="en-US" sz="1800">
                <a:solidFill>
                  <a:schemeClr val="dk1"/>
                </a:solidFill>
                <a:latin typeface="Noto Sans Symbols"/>
                <a:ea typeface="Noto Sans Symbols"/>
                <a:cs typeface="Noto Sans Symbols"/>
                <a:sym typeface="Noto Sans Symbols"/>
              </a:rPr>
              <a:t>λ</a:t>
            </a:r>
            <a:endParaRPr sz="1800">
              <a:solidFill>
                <a:schemeClr val="dk1"/>
              </a:solidFill>
              <a:latin typeface="Constantia"/>
              <a:ea typeface="Constantia"/>
              <a:cs typeface="Constantia"/>
              <a:sym typeface="Constantia"/>
            </a:endParaRPr>
          </a:p>
          <a:p>
            <a:pPr marL="0" marR="0" lvl="0" indent="0" algn="just" rtl="0">
              <a:spcBef>
                <a:spcPts val="900"/>
              </a:spcBef>
              <a:spcAft>
                <a:spcPts val="0"/>
              </a:spcAft>
              <a:buNone/>
            </a:pPr>
            <a:r>
              <a:rPr lang="en-US" sz="1800">
                <a:solidFill>
                  <a:schemeClr val="dk1"/>
                </a:solidFill>
                <a:latin typeface="Constantia"/>
                <a:ea typeface="Constantia"/>
                <a:cs typeface="Constantia"/>
                <a:sym typeface="Constantia"/>
              </a:rPr>
              <a:t>Server utilization ratio = </a:t>
            </a:r>
            <a:r>
              <a:rPr lang="en-US" sz="1800">
                <a:solidFill>
                  <a:schemeClr val="dk1"/>
                </a:solidFill>
                <a:latin typeface="Noto Sans Symbols"/>
                <a:ea typeface="Noto Sans Symbols"/>
                <a:cs typeface="Noto Sans Symbols"/>
                <a:sym typeface="Noto Sans Symbols"/>
              </a:rPr>
              <a:t>ρ</a:t>
            </a:r>
            <a:endParaRPr/>
          </a:p>
          <a:p>
            <a:pPr marL="0" marR="0" lvl="0" indent="0" algn="just" rtl="0">
              <a:spcBef>
                <a:spcPts val="900"/>
              </a:spcBef>
              <a:spcAft>
                <a:spcPts val="0"/>
              </a:spcAft>
              <a:buNone/>
            </a:pPr>
            <a:r>
              <a:rPr lang="en-US" sz="1800">
                <a:solidFill>
                  <a:schemeClr val="dk1"/>
                </a:solidFill>
                <a:latin typeface="Constantia"/>
                <a:ea typeface="Constantia"/>
                <a:cs typeface="Constantia"/>
                <a:sym typeface="Constantia"/>
              </a:rPr>
              <a:t>Server idle ratio =  P</a:t>
            </a:r>
            <a:r>
              <a:rPr lang="en-US" sz="1800" baseline="-25000">
                <a:solidFill>
                  <a:schemeClr val="dk1"/>
                </a:solidFill>
                <a:latin typeface="Constantia"/>
                <a:ea typeface="Constantia"/>
                <a:cs typeface="Constantia"/>
                <a:sym typeface="Constantia"/>
              </a:rPr>
              <a:t>0</a:t>
            </a:r>
            <a:r>
              <a:rPr lang="en-US" sz="1800">
                <a:solidFill>
                  <a:schemeClr val="dk1"/>
                </a:solidFill>
                <a:latin typeface="Constantia"/>
                <a:ea typeface="Constantia"/>
                <a:cs typeface="Constantia"/>
                <a:sym typeface="Constantia"/>
              </a:rPr>
              <a:t> = 1 - </a:t>
            </a:r>
            <a:r>
              <a:rPr lang="en-US" sz="1800">
                <a:solidFill>
                  <a:schemeClr val="dk1"/>
                </a:solidFill>
                <a:latin typeface="Noto Sans Symbols"/>
                <a:ea typeface="Noto Sans Symbols"/>
                <a:cs typeface="Noto Sans Symbols"/>
                <a:sym typeface="Noto Sans Symbols"/>
              </a:rPr>
              <a:t>ρ</a:t>
            </a:r>
            <a:endParaRPr sz="1800">
              <a:solidFill>
                <a:schemeClr val="dk1"/>
              </a:solidFill>
              <a:latin typeface="Constantia"/>
              <a:ea typeface="Constantia"/>
              <a:cs typeface="Constantia"/>
              <a:sym typeface="Constantia"/>
            </a:endParaRPr>
          </a:p>
          <a:p>
            <a:pPr marL="0" marR="0" lvl="0" indent="0" algn="just" rtl="0">
              <a:spcBef>
                <a:spcPts val="900"/>
              </a:spcBef>
              <a:spcAft>
                <a:spcPts val="0"/>
              </a:spcAft>
              <a:buNone/>
            </a:pPr>
            <a:r>
              <a:rPr lang="en-US" sz="1800">
                <a:solidFill>
                  <a:schemeClr val="dk1"/>
                </a:solidFill>
                <a:latin typeface="Constantia"/>
                <a:ea typeface="Constantia"/>
                <a:cs typeface="Constantia"/>
                <a:sym typeface="Constantia"/>
              </a:rPr>
              <a:t>P{n &gt; k} = Probability of more than k customers = </a:t>
            </a:r>
            <a:r>
              <a:rPr lang="en-US" sz="1800">
                <a:solidFill>
                  <a:schemeClr val="dk1"/>
                </a:solidFill>
                <a:latin typeface="Noto Sans Symbols"/>
                <a:ea typeface="Noto Sans Symbols"/>
                <a:cs typeface="Noto Sans Symbols"/>
                <a:sym typeface="Noto Sans Symbols"/>
              </a:rPr>
              <a:t>ρ</a:t>
            </a:r>
            <a:r>
              <a:rPr lang="en-US" sz="1800" baseline="30000">
                <a:solidFill>
                  <a:schemeClr val="dk1"/>
                </a:solidFill>
                <a:latin typeface="Constantia"/>
                <a:ea typeface="Constantia"/>
                <a:cs typeface="Constantia"/>
                <a:sym typeface="Constantia"/>
              </a:rPr>
              <a:t>k+1</a:t>
            </a:r>
            <a:endParaRPr sz="1800">
              <a:solidFill>
                <a:schemeClr val="dk1"/>
              </a:solidFill>
              <a:latin typeface="Constantia"/>
              <a:ea typeface="Constantia"/>
              <a:cs typeface="Constantia"/>
              <a:sym typeface="Constanti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35">
                                            <p:txEl>
                                              <p:pRg st="0" end="0"/>
                                            </p:txEl>
                                          </p:spTgt>
                                        </p:tgtEl>
                                        <p:attrNameLst>
                                          <p:attrName>style.visibility</p:attrName>
                                        </p:attrNameLst>
                                      </p:cBhvr>
                                      <p:to>
                                        <p:strVal val="visible"/>
                                      </p:to>
                                    </p:set>
                                    <p:animEffect transition="in" filter="fade">
                                      <p:cBhvr>
                                        <p:cTn id="7" dur="1000"/>
                                        <p:tgtEl>
                                          <p:spTgt spid="5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35">
                                            <p:txEl>
                                              <p:pRg st="1" end="1"/>
                                            </p:txEl>
                                          </p:spTgt>
                                        </p:tgtEl>
                                        <p:attrNameLst>
                                          <p:attrName>style.visibility</p:attrName>
                                        </p:attrNameLst>
                                      </p:cBhvr>
                                      <p:to>
                                        <p:strVal val="visible"/>
                                      </p:to>
                                    </p:set>
                                    <p:animEffect transition="in" filter="fade">
                                      <p:cBhvr>
                                        <p:cTn id="12" dur="1000"/>
                                        <p:tgtEl>
                                          <p:spTgt spid="53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35">
                                            <p:txEl>
                                              <p:pRg st="2" end="2"/>
                                            </p:txEl>
                                          </p:spTgt>
                                        </p:tgtEl>
                                        <p:attrNameLst>
                                          <p:attrName>style.visibility</p:attrName>
                                        </p:attrNameLst>
                                      </p:cBhvr>
                                      <p:to>
                                        <p:strVal val="visible"/>
                                      </p:to>
                                    </p:set>
                                    <p:animEffect transition="in" filter="fade">
                                      <p:cBhvr>
                                        <p:cTn id="17" dur="1000"/>
                                        <p:tgtEl>
                                          <p:spTgt spid="53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35">
                                            <p:txEl>
                                              <p:pRg st="3" end="3"/>
                                            </p:txEl>
                                          </p:spTgt>
                                        </p:tgtEl>
                                        <p:attrNameLst>
                                          <p:attrName>style.visibility</p:attrName>
                                        </p:attrNameLst>
                                      </p:cBhvr>
                                      <p:to>
                                        <p:strVal val="visible"/>
                                      </p:to>
                                    </p:set>
                                    <p:animEffect transition="in" filter="fade">
                                      <p:cBhvr>
                                        <p:cTn id="22" dur="1000"/>
                                        <p:tgtEl>
                                          <p:spTgt spid="53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35">
                                            <p:txEl>
                                              <p:pRg st="4" end="4"/>
                                            </p:txEl>
                                          </p:spTgt>
                                        </p:tgtEl>
                                        <p:attrNameLst>
                                          <p:attrName>style.visibility</p:attrName>
                                        </p:attrNameLst>
                                      </p:cBhvr>
                                      <p:to>
                                        <p:strVal val="visible"/>
                                      </p:to>
                                    </p:set>
                                    <p:animEffect transition="in" filter="fade">
                                      <p:cBhvr>
                                        <p:cTn id="27" dur="1000"/>
                                        <p:tgtEl>
                                          <p:spTgt spid="53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35">
                                            <p:txEl>
                                              <p:pRg st="5" end="5"/>
                                            </p:txEl>
                                          </p:spTgt>
                                        </p:tgtEl>
                                        <p:attrNameLst>
                                          <p:attrName>style.visibility</p:attrName>
                                        </p:attrNameLst>
                                      </p:cBhvr>
                                      <p:to>
                                        <p:strVal val="visible"/>
                                      </p:to>
                                    </p:set>
                                    <p:animEffect transition="in" filter="fade">
                                      <p:cBhvr>
                                        <p:cTn id="32" dur="1000"/>
                                        <p:tgtEl>
                                          <p:spTgt spid="53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35">
                                            <p:txEl>
                                              <p:pRg st="6" end="6"/>
                                            </p:txEl>
                                          </p:spTgt>
                                        </p:tgtEl>
                                        <p:attrNameLst>
                                          <p:attrName>style.visibility</p:attrName>
                                        </p:attrNameLst>
                                      </p:cBhvr>
                                      <p:to>
                                        <p:strVal val="visible"/>
                                      </p:to>
                                    </p:set>
                                    <p:animEffect transition="in" filter="fade">
                                      <p:cBhvr>
                                        <p:cTn id="37" dur="1000"/>
                                        <p:tgtEl>
                                          <p:spTgt spid="53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35">
                                            <p:txEl>
                                              <p:pRg st="7" end="7"/>
                                            </p:txEl>
                                          </p:spTgt>
                                        </p:tgtEl>
                                        <p:attrNameLst>
                                          <p:attrName>style.visibility</p:attrName>
                                        </p:attrNameLst>
                                      </p:cBhvr>
                                      <p:to>
                                        <p:strVal val="visible"/>
                                      </p:to>
                                    </p:set>
                                    <p:animEffect transition="in" filter="fade">
                                      <p:cBhvr>
                                        <p:cTn id="42" dur="1000"/>
                                        <p:tgtEl>
                                          <p:spTgt spid="53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sp>
        <p:nvSpPr>
          <p:cNvPr id="541" name="Google Shape;541;p41"/>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US" sz="1200">
                <a:solidFill>
                  <a:schemeClr val="folHlink"/>
                </a:solidFill>
                <a:latin typeface="Times New Roman"/>
                <a:ea typeface="Times New Roman"/>
                <a:cs typeface="Times New Roman"/>
                <a:sym typeface="Times New Roman"/>
              </a:rPr>
              <a:t>56</a:t>
            </a:fld>
            <a:endParaRPr sz="1200">
              <a:solidFill>
                <a:schemeClr val="folHlink"/>
              </a:solidFill>
              <a:latin typeface="Times New Roman"/>
              <a:ea typeface="Times New Roman"/>
              <a:cs typeface="Times New Roman"/>
              <a:sym typeface="Times New Roman"/>
            </a:endParaRPr>
          </a:p>
        </p:txBody>
      </p:sp>
      <p:sp>
        <p:nvSpPr>
          <p:cNvPr id="542" name="Google Shape;542;p41"/>
          <p:cNvSpPr txBox="1"/>
          <p:nvPr/>
        </p:nvSpPr>
        <p:spPr>
          <a:xfrm>
            <a:off x="3511550" y="227013"/>
            <a:ext cx="2327275" cy="522287"/>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2800" b="1">
                <a:solidFill>
                  <a:srgbClr val="0000CC"/>
                </a:solidFill>
                <a:latin typeface="Constantia"/>
                <a:ea typeface="Constantia"/>
                <a:cs typeface="Constantia"/>
                <a:sym typeface="Constantia"/>
              </a:rPr>
              <a:t>M/M/C queue</a:t>
            </a:r>
            <a:endParaRPr sz="2800" b="1">
              <a:solidFill>
                <a:srgbClr val="0000CC"/>
              </a:solidFill>
              <a:latin typeface="Constantia"/>
              <a:ea typeface="Constantia"/>
              <a:cs typeface="Constantia"/>
              <a:sym typeface="Constantia"/>
            </a:endParaRPr>
          </a:p>
        </p:txBody>
      </p:sp>
      <p:sp>
        <p:nvSpPr>
          <p:cNvPr id="543" name="Google Shape;543;p41"/>
          <p:cNvSpPr/>
          <p:nvPr/>
        </p:nvSpPr>
        <p:spPr>
          <a:xfrm>
            <a:off x="685800" y="838200"/>
            <a:ext cx="7848600" cy="76200"/>
          </a:xfrm>
          <a:prstGeom prst="rect">
            <a:avLst/>
          </a:prstGeom>
          <a:solidFill>
            <a:srgbClr val="66CC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CCFFFF"/>
              </a:solidFill>
              <a:latin typeface="Constantia"/>
              <a:ea typeface="Constantia"/>
              <a:cs typeface="Constantia"/>
              <a:sym typeface="Constantia"/>
            </a:endParaRPr>
          </a:p>
        </p:txBody>
      </p:sp>
      <p:sp>
        <p:nvSpPr>
          <p:cNvPr id="544" name="Google Shape;544;p41"/>
          <p:cNvSpPr txBox="1"/>
          <p:nvPr/>
        </p:nvSpPr>
        <p:spPr>
          <a:xfrm>
            <a:off x="539750" y="3429000"/>
            <a:ext cx="8077200" cy="249237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800">
                <a:solidFill>
                  <a:schemeClr val="dk1"/>
                </a:solidFill>
                <a:latin typeface="Constantia"/>
                <a:ea typeface="Constantia"/>
                <a:cs typeface="Constantia"/>
                <a:sym typeface="Constantia"/>
              </a:rPr>
              <a:t>N(t) is a </a:t>
            </a:r>
            <a:r>
              <a:rPr lang="en-US" sz="1800" b="1">
                <a:solidFill>
                  <a:schemeClr val="dk1"/>
                </a:solidFill>
                <a:latin typeface="Constantia"/>
                <a:ea typeface="Constantia"/>
                <a:cs typeface="Constantia"/>
                <a:sym typeface="Constantia"/>
              </a:rPr>
              <a:t>birth and death process</a:t>
            </a:r>
            <a:r>
              <a:rPr lang="en-US" sz="1800">
                <a:solidFill>
                  <a:schemeClr val="dk1"/>
                </a:solidFill>
                <a:latin typeface="Constantia"/>
                <a:ea typeface="Constantia"/>
                <a:cs typeface="Constantia"/>
                <a:sym typeface="Constantia"/>
              </a:rPr>
              <a:t> with</a:t>
            </a:r>
            <a:endParaRPr sz="1800">
              <a:solidFill>
                <a:schemeClr val="dk1"/>
              </a:solidFill>
              <a:latin typeface="Constantia"/>
              <a:ea typeface="Constantia"/>
              <a:cs typeface="Constantia"/>
              <a:sym typeface="Constantia"/>
            </a:endParaRPr>
          </a:p>
          <a:p>
            <a:pPr marL="571500" marR="0" lvl="1" indent="-190500" algn="just" rtl="0">
              <a:spcBef>
                <a:spcPts val="900"/>
              </a:spcBef>
              <a:spcAft>
                <a:spcPts val="0"/>
              </a:spcAft>
              <a:buClr>
                <a:schemeClr val="dk1"/>
              </a:buClr>
              <a:buSzPts val="1800"/>
              <a:buFont typeface="Constantia"/>
              <a:buChar char="•"/>
            </a:pPr>
            <a:r>
              <a:rPr lang="en-US" sz="1800" b="1" i="0" u="none" strike="noStrike" cap="none">
                <a:solidFill>
                  <a:schemeClr val="dk1"/>
                </a:solidFill>
                <a:latin typeface="Constantia"/>
                <a:ea typeface="Constantia"/>
                <a:cs typeface="Constantia"/>
                <a:sym typeface="Constantia"/>
              </a:rPr>
              <a:t>The birth rate </a:t>
            </a:r>
            <a:r>
              <a:rPr lang="en-US" sz="1800" b="0" i="0" u="none" strike="noStrike" cap="none">
                <a:solidFill>
                  <a:schemeClr val="dk1"/>
                </a:solidFill>
                <a:latin typeface="Noto Sans Symbols"/>
                <a:ea typeface="Noto Sans Symbols"/>
                <a:cs typeface="Noto Sans Symbols"/>
                <a:sym typeface="Noto Sans Symbols"/>
              </a:rPr>
              <a:t>λ</a:t>
            </a:r>
            <a:r>
              <a:rPr lang="en-US" sz="1800" b="0" i="0" u="none" strike="noStrike" cap="none">
                <a:solidFill>
                  <a:schemeClr val="dk1"/>
                </a:solidFill>
                <a:latin typeface="Constantia"/>
                <a:ea typeface="Constantia"/>
                <a:cs typeface="Constantia"/>
                <a:sym typeface="Constantia"/>
              </a:rPr>
              <a:t>.</a:t>
            </a:r>
            <a:endParaRPr/>
          </a:p>
          <a:p>
            <a:pPr marL="571500" marR="0" lvl="1" indent="-190500" algn="just" rtl="0">
              <a:spcBef>
                <a:spcPts val="900"/>
              </a:spcBef>
              <a:spcAft>
                <a:spcPts val="0"/>
              </a:spcAft>
              <a:buClr>
                <a:schemeClr val="dk1"/>
              </a:buClr>
              <a:buSzPts val="1800"/>
              <a:buFont typeface="Constantia"/>
              <a:buChar char="•"/>
            </a:pPr>
            <a:r>
              <a:rPr lang="en-US" sz="1800" b="1" i="0" u="none" strike="noStrike" cap="none">
                <a:solidFill>
                  <a:schemeClr val="dk1"/>
                </a:solidFill>
                <a:latin typeface="Constantia"/>
                <a:ea typeface="Constantia"/>
                <a:cs typeface="Constantia"/>
                <a:sym typeface="Constantia"/>
              </a:rPr>
              <a:t>The deadth rate </a:t>
            </a:r>
            <a:r>
              <a:rPr lang="en-US" sz="1800" b="0" i="0" u="none" strike="noStrike" cap="none">
                <a:solidFill>
                  <a:schemeClr val="dk1"/>
                </a:solidFill>
                <a:latin typeface="Constantia"/>
                <a:ea typeface="Constantia"/>
                <a:cs typeface="Constantia"/>
                <a:sym typeface="Constantia"/>
              </a:rPr>
              <a:t>is not constant and is equal to N(t)</a:t>
            </a:r>
            <a:r>
              <a:rPr lang="en-US" sz="1800" b="0" i="0" u="none" strike="noStrike" cap="none">
                <a:solidFill>
                  <a:schemeClr val="dk1"/>
                </a:solidFill>
                <a:latin typeface="Noto Sans Symbols"/>
                <a:ea typeface="Noto Sans Symbols"/>
                <a:cs typeface="Noto Sans Symbols"/>
                <a:sym typeface="Noto Sans Symbols"/>
              </a:rPr>
              <a:t>μ</a:t>
            </a:r>
            <a:r>
              <a:rPr lang="en-US" sz="1800" b="0" i="0" u="none" strike="noStrike" cap="none">
                <a:solidFill>
                  <a:schemeClr val="dk1"/>
                </a:solidFill>
                <a:latin typeface="Constantia"/>
                <a:ea typeface="Constantia"/>
                <a:cs typeface="Constantia"/>
                <a:sym typeface="Constantia"/>
              </a:rPr>
              <a:t> if N(t) ≤ C and C</a:t>
            </a:r>
            <a:r>
              <a:rPr lang="en-US" sz="1800" b="0" i="0" u="none" strike="noStrike" cap="none">
                <a:solidFill>
                  <a:schemeClr val="dk1"/>
                </a:solidFill>
                <a:latin typeface="Noto Sans Symbols"/>
                <a:ea typeface="Noto Sans Symbols"/>
                <a:cs typeface="Noto Sans Symbols"/>
                <a:sym typeface="Noto Sans Symbols"/>
              </a:rPr>
              <a:t>μ</a:t>
            </a:r>
            <a:r>
              <a:rPr lang="en-US" sz="1800" b="0" i="0" u="none" strike="noStrike" cap="none">
                <a:solidFill>
                  <a:schemeClr val="dk1"/>
                </a:solidFill>
                <a:latin typeface="Constantia"/>
                <a:ea typeface="Constantia"/>
                <a:cs typeface="Constantia"/>
                <a:sym typeface="Constantia"/>
              </a:rPr>
              <a:t> if N(t) &gt; C.</a:t>
            </a:r>
            <a:endParaRPr/>
          </a:p>
          <a:p>
            <a:pPr marL="0" marR="0" lvl="0" indent="0" algn="just" rtl="0">
              <a:spcBef>
                <a:spcPts val="900"/>
              </a:spcBef>
              <a:spcAft>
                <a:spcPts val="0"/>
              </a:spcAft>
              <a:buNone/>
            </a:pPr>
            <a:r>
              <a:rPr lang="en-US" sz="1800" b="1">
                <a:solidFill>
                  <a:schemeClr val="dk1"/>
                </a:solidFill>
                <a:latin typeface="Constantia"/>
                <a:ea typeface="Constantia"/>
                <a:cs typeface="Constantia"/>
                <a:sym typeface="Constantia"/>
              </a:rPr>
              <a:t>Stability condition </a:t>
            </a:r>
            <a:r>
              <a:rPr lang="en-US" sz="1800">
                <a:solidFill>
                  <a:schemeClr val="dk1"/>
                </a:solidFill>
                <a:latin typeface="Constantia"/>
                <a:ea typeface="Constantia"/>
                <a:cs typeface="Constantia"/>
                <a:sym typeface="Constantia"/>
              </a:rPr>
              <a:t>:  </a:t>
            </a:r>
            <a:r>
              <a:rPr lang="en-US" sz="1800">
                <a:solidFill>
                  <a:schemeClr val="dk1"/>
                </a:solidFill>
                <a:latin typeface="Noto Sans Symbols"/>
                <a:ea typeface="Noto Sans Symbols"/>
                <a:cs typeface="Noto Sans Symbols"/>
                <a:sym typeface="Noto Sans Symbols"/>
              </a:rPr>
              <a:t>λ</a:t>
            </a:r>
            <a:r>
              <a:rPr lang="en-US" sz="1800">
                <a:solidFill>
                  <a:schemeClr val="dk1"/>
                </a:solidFill>
                <a:latin typeface="Constantia"/>
                <a:ea typeface="Constantia"/>
                <a:cs typeface="Constantia"/>
                <a:sym typeface="Constantia"/>
              </a:rPr>
              <a:t>&lt; c</a:t>
            </a:r>
            <a:r>
              <a:rPr lang="en-US" sz="1800">
                <a:solidFill>
                  <a:schemeClr val="dk1"/>
                </a:solidFill>
                <a:latin typeface="Noto Sans Symbols"/>
                <a:ea typeface="Noto Sans Symbols"/>
                <a:cs typeface="Noto Sans Symbols"/>
                <a:sym typeface="Noto Sans Symbols"/>
              </a:rPr>
              <a:t>μ</a:t>
            </a:r>
            <a:r>
              <a:rPr lang="en-US" sz="1800">
                <a:solidFill>
                  <a:schemeClr val="dk1"/>
                </a:solidFill>
                <a:latin typeface="Constantia"/>
                <a:ea typeface="Constantia"/>
                <a:cs typeface="Constantia"/>
                <a:sym typeface="Constantia"/>
              </a:rPr>
              <a:t>.</a:t>
            </a:r>
            <a:endParaRPr/>
          </a:p>
        </p:txBody>
      </p:sp>
      <p:sp>
        <p:nvSpPr>
          <p:cNvPr id="545" name="Google Shape;545;p41"/>
          <p:cNvSpPr/>
          <p:nvPr/>
        </p:nvSpPr>
        <p:spPr>
          <a:xfrm>
            <a:off x="2105025" y="2738438"/>
            <a:ext cx="9144000" cy="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onstantia"/>
              <a:ea typeface="Constantia"/>
              <a:cs typeface="Constantia"/>
              <a:sym typeface="Constantia"/>
            </a:endParaRPr>
          </a:p>
        </p:txBody>
      </p:sp>
      <p:pic>
        <p:nvPicPr>
          <p:cNvPr id="546" name="Google Shape;546;p41"/>
          <p:cNvPicPr preferRelativeResize="0"/>
          <p:nvPr/>
        </p:nvPicPr>
        <p:blipFill rotWithShape="1">
          <a:blip r:embed="rId3">
            <a:alphaModFix/>
          </a:blip>
          <a:srcRect/>
          <a:stretch/>
        </p:blipFill>
        <p:spPr>
          <a:xfrm>
            <a:off x="2268538" y="981075"/>
            <a:ext cx="3314700" cy="2162175"/>
          </a:xfrm>
          <a:prstGeom prst="rect">
            <a:avLst/>
          </a:prstGeom>
          <a:noFill/>
          <a:ln>
            <a:noFill/>
          </a:ln>
        </p:spPr>
      </p:pic>
      <p:sp>
        <p:nvSpPr>
          <p:cNvPr id="547" name="Google Shape;547;p41"/>
          <p:cNvSpPr txBox="1"/>
          <p:nvPr/>
        </p:nvSpPr>
        <p:spPr>
          <a:xfrm>
            <a:off x="4643438" y="2349500"/>
            <a:ext cx="3241675" cy="70802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dk1"/>
                </a:solidFill>
                <a:latin typeface="Times New Roman"/>
                <a:ea typeface="Times New Roman"/>
                <a:cs typeface="Times New Roman"/>
                <a:sym typeface="Times New Roman"/>
              </a:rPr>
              <a:t>N(t) : number of customers in the system</a:t>
            </a:r>
            <a:endParaRPr/>
          </a:p>
        </p:txBody>
      </p:sp>
      <p:sp>
        <p:nvSpPr>
          <p:cNvPr id="548" name="Google Shape;548;p41"/>
          <p:cNvSpPr txBox="1"/>
          <p:nvPr/>
        </p:nvSpPr>
        <p:spPr>
          <a:xfrm>
            <a:off x="4572000" y="1052513"/>
            <a:ext cx="3313113" cy="70802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dk1"/>
                </a:solidFill>
                <a:latin typeface="Times New Roman"/>
                <a:ea typeface="Times New Roman"/>
                <a:cs typeface="Times New Roman"/>
                <a:sym typeface="Times New Roman"/>
              </a:rPr>
              <a:t>Exponentially distributed service tim</a:t>
            </a:r>
            <a:endParaRPr/>
          </a:p>
        </p:txBody>
      </p:sp>
      <p:sp>
        <p:nvSpPr>
          <p:cNvPr id="549" name="Google Shape;549;p41"/>
          <p:cNvSpPr txBox="1"/>
          <p:nvPr/>
        </p:nvSpPr>
        <p:spPr>
          <a:xfrm>
            <a:off x="1763713" y="1916113"/>
            <a:ext cx="1512887" cy="1016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dk1"/>
                </a:solidFill>
                <a:latin typeface="Noto Sans Symbols"/>
                <a:ea typeface="Noto Sans Symbols"/>
                <a:cs typeface="Noto Sans Symbols"/>
                <a:sym typeface="Noto Sans Symbols"/>
              </a:rPr>
              <a:t>λ</a:t>
            </a:r>
            <a:endParaRPr/>
          </a:p>
          <a:p>
            <a:pPr marL="0" marR="0" lvl="0" indent="0" algn="l" rtl="0">
              <a:spcBef>
                <a:spcPts val="0"/>
              </a:spcBef>
              <a:spcAft>
                <a:spcPts val="0"/>
              </a:spcAft>
              <a:buNone/>
            </a:pPr>
            <a:r>
              <a:rPr lang="en-US" sz="2000" b="1">
                <a:solidFill>
                  <a:schemeClr val="dk1"/>
                </a:solidFill>
                <a:latin typeface="Times New Roman"/>
                <a:ea typeface="Times New Roman"/>
                <a:cs typeface="Times New Roman"/>
                <a:sym typeface="Times New Roman"/>
              </a:rPr>
              <a:t>Poisson arrivals</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554"/>
        <p:cNvGrpSpPr/>
        <p:nvPr/>
      </p:nvGrpSpPr>
      <p:grpSpPr>
        <a:xfrm>
          <a:off x="0" y="0"/>
          <a:ext cx="0" cy="0"/>
          <a:chOff x="0" y="0"/>
          <a:chExt cx="0" cy="0"/>
        </a:xfrm>
      </p:grpSpPr>
      <p:sp>
        <p:nvSpPr>
          <p:cNvPr id="555" name="Google Shape;555;p42"/>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US" sz="1200">
                <a:solidFill>
                  <a:schemeClr val="folHlink"/>
                </a:solidFill>
                <a:latin typeface="Times New Roman"/>
                <a:ea typeface="Times New Roman"/>
                <a:cs typeface="Times New Roman"/>
                <a:sym typeface="Times New Roman"/>
              </a:rPr>
              <a:t>57</a:t>
            </a:fld>
            <a:endParaRPr sz="1200">
              <a:solidFill>
                <a:schemeClr val="folHlink"/>
              </a:solidFill>
              <a:latin typeface="Times New Roman"/>
              <a:ea typeface="Times New Roman"/>
              <a:cs typeface="Times New Roman"/>
              <a:sym typeface="Times New Roman"/>
            </a:endParaRPr>
          </a:p>
        </p:txBody>
      </p:sp>
      <p:sp>
        <p:nvSpPr>
          <p:cNvPr id="556" name="Google Shape;556;p42"/>
          <p:cNvSpPr txBox="1"/>
          <p:nvPr/>
        </p:nvSpPr>
        <p:spPr>
          <a:xfrm>
            <a:off x="1560513" y="227013"/>
            <a:ext cx="6229350" cy="522287"/>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2800" b="1">
                <a:solidFill>
                  <a:srgbClr val="0000CC"/>
                </a:solidFill>
                <a:latin typeface="Constantia"/>
                <a:ea typeface="Constantia"/>
                <a:cs typeface="Constantia"/>
                <a:sym typeface="Constantia"/>
              </a:rPr>
              <a:t>Performance mesures of M/M/C queue </a:t>
            </a:r>
            <a:endParaRPr sz="2800" b="1">
              <a:solidFill>
                <a:srgbClr val="0000CC"/>
              </a:solidFill>
              <a:latin typeface="Constantia"/>
              <a:ea typeface="Constantia"/>
              <a:cs typeface="Constantia"/>
              <a:sym typeface="Constantia"/>
            </a:endParaRPr>
          </a:p>
        </p:txBody>
      </p:sp>
      <p:sp>
        <p:nvSpPr>
          <p:cNvPr id="557" name="Google Shape;557;p42"/>
          <p:cNvSpPr/>
          <p:nvPr/>
        </p:nvSpPr>
        <p:spPr>
          <a:xfrm>
            <a:off x="685800" y="838200"/>
            <a:ext cx="7848600" cy="76200"/>
          </a:xfrm>
          <a:prstGeom prst="rect">
            <a:avLst/>
          </a:prstGeom>
          <a:solidFill>
            <a:srgbClr val="66CC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CCFFFF"/>
              </a:solidFill>
              <a:latin typeface="Constantia"/>
              <a:ea typeface="Constantia"/>
              <a:cs typeface="Constantia"/>
              <a:sym typeface="Constantia"/>
            </a:endParaRPr>
          </a:p>
        </p:txBody>
      </p:sp>
      <p:sp>
        <p:nvSpPr>
          <p:cNvPr id="558" name="Google Shape;558;p42"/>
          <p:cNvSpPr/>
          <p:nvPr/>
        </p:nvSpPr>
        <p:spPr>
          <a:xfrm>
            <a:off x="1519238" y="2209800"/>
            <a:ext cx="9144000" cy="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onstantia"/>
              <a:ea typeface="Constantia"/>
              <a:cs typeface="Constantia"/>
              <a:sym typeface="Constantia"/>
            </a:endParaRPr>
          </a:p>
        </p:txBody>
      </p:sp>
      <p:graphicFrame>
        <p:nvGraphicFramePr>
          <p:cNvPr id="559" name="Google Shape;559;p42"/>
          <p:cNvGraphicFramePr/>
          <p:nvPr/>
        </p:nvGraphicFramePr>
        <p:xfrm>
          <a:off x="2371725" y="3233738"/>
          <a:ext cx="1503363" cy="784225"/>
        </p:xfrm>
        <a:graphic>
          <a:graphicData uri="http://schemas.openxmlformats.org/presentationml/2006/ole">
            <mc:AlternateContent xmlns:mc="http://schemas.openxmlformats.org/markup-compatibility/2006">
              <mc:Choice xmlns:v="urn:schemas-microsoft-com:vml" Requires="v">
                <p:oleObj spid="_x0000_s1029" r:id="rId4" imgW="1503363" imgH="784225" progId="">
                  <p:embed/>
                </p:oleObj>
              </mc:Choice>
              <mc:Fallback>
                <p:oleObj r:id="rId4" imgW="1503363" imgH="784225" progId="">
                  <p:embed/>
                  <p:pic>
                    <p:nvPicPr>
                      <p:cNvPr id="559" name="Google Shape;559;p42"/>
                      <p:cNvPicPr preferRelativeResize="0"/>
                      <p:nvPr/>
                    </p:nvPicPr>
                    <p:blipFill rotWithShape="1">
                      <a:blip r:embed="rId5">
                        <a:alphaModFix/>
                      </a:blip>
                      <a:srcRect/>
                      <a:stretch/>
                    </p:blipFill>
                    <p:spPr>
                      <a:xfrm>
                        <a:off x="2371725" y="3233738"/>
                        <a:ext cx="1503363" cy="784225"/>
                      </a:xfrm>
                      <a:prstGeom prst="rect">
                        <a:avLst/>
                      </a:prstGeom>
                      <a:noFill/>
                      <a:ln>
                        <a:noFill/>
                      </a:ln>
                    </p:spPr>
                  </p:pic>
                </p:oleObj>
              </mc:Fallback>
            </mc:AlternateContent>
          </a:graphicData>
        </a:graphic>
      </p:graphicFrame>
      <p:sp>
        <p:nvSpPr>
          <p:cNvPr id="560" name="Google Shape;560;p42"/>
          <p:cNvSpPr txBox="1"/>
          <p:nvPr/>
        </p:nvSpPr>
        <p:spPr>
          <a:xfrm>
            <a:off x="762000" y="1066800"/>
            <a:ext cx="7620000" cy="558482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800">
                <a:solidFill>
                  <a:schemeClr val="dk1"/>
                </a:solidFill>
                <a:latin typeface="Times New Roman"/>
                <a:ea typeface="Times New Roman"/>
                <a:cs typeface="Times New Roman"/>
                <a:sym typeface="Times New Roman"/>
              </a:rPr>
              <a:t>Ls 	= Number of customers in the system</a:t>
            </a:r>
            <a:endParaRPr/>
          </a:p>
          <a:p>
            <a:pPr marL="0" marR="0" lvl="0" indent="0" algn="just" rtl="0">
              <a:spcBef>
                <a:spcPts val="0"/>
              </a:spcBef>
              <a:spcAft>
                <a:spcPts val="0"/>
              </a:spcAft>
              <a:buNone/>
            </a:pPr>
            <a:r>
              <a:rPr lang="en-US" sz="1800">
                <a:solidFill>
                  <a:schemeClr val="dk1"/>
                </a:solidFill>
                <a:latin typeface="Times New Roman"/>
                <a:ea typeface="Times New Roman"/>
                <a:cs typeface="Times New Roman"/>
                <a:sym typeface="Times New Roman"/>
              </a:rPr>
              <a:t>	= Lq + </a:t>
            </a:r>
            <a:r>
              <a:rPr lang="en-US" sz="1800">
                <a:solidFill>
                  <a:schemeClr val="dk1"/>
                </a:solidFill>
                <a:latin typeface="Noto Sans Symbols"/>
                <a:ea typeface="Noto Sans Symbols"/>
                <a:cs typeface="Noto Sans Symbols"/>
                <a:sym typeface="Noto Sans Symbols"/>
              </a:rPr>
              <a:t>ρ</a:t>
            </a:r>
            <a:endParaRPr/>
          </a:p>
          <a:p>
            <a:pPr marL="0" marR="0" lvl="0" indent="0" algn="just" rtl="0">
              <a:spcBef>
                <a:spcPts val="0"/>
              </a:spcBef>
              <a:spcAft>
                <a:spcPts val="0"/>
              </a:spcAft>
              <a:buNone/>
            </a:pPr>
            <a:endParaRPr sz="180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r>
              <a:rPr lang="en-US" sz="1800">
                <a:solidFill>
                  <a:schemeClr val="dk1"/>
                </a:solidFill>
                <a:latin typeface="Times New Roman"/>
                <a:ea typeface="Times New Roman"/>
                <a:cs typeface="Times New Roman"/>
                <a:sym typeface="Times New Roman"/>
              </a:rPr>
              <a:t>Ws	= Sojourn time in the system</a:t>
            </a:r>
            <a:endParaRPr/>
          </a:p>
          <a:p>
            <a:pPr marL="0" marR="0" lvl="0" indent="0" algn="just" rtl="0">
              <a:spcBef>
                <a:spcPts val="0"/>
              </a:spcBef>
              <a:spcAft>
                <a:spcPts val="0"/>
              </a:spcAft>
              <a:buNone/>
            </a:pPr>
            <a:r>
              <a:rPr lang="en-US" sz="1800">
                <a:solidFill>
                  <a:schemeClr val="dk1"/>
                </a:solidFill>
                <a:latin typeface="Times New Roman"/>
                <a:ea typeface="Times New Roman"/>
                <a:cs typeface="Times New Roman"/>
                <a:sym typeface="Times New Roman"/>
              </a:rPr>
              <a:t>	= Wq + 1/</a:t>
            </a:r>
            <a:r>
              <a:rPr lang="en-US" sz="1800">
                <a:solidFill>
                  <a:schemeClr val="dk1"/>
                </a:solidFill>
                <a:latin typeface="Noto Sans Symbols"/>
                <a:ea typeface="Noto Sans Symbols"/>
                <a:cs typeface="Noto Sans Symbols"/>
                <a:sym typeface="Noto Sans Symbols"/>
              </a:rPr>
              <a:t>μ</a:t>
            </a:r>
            <a:endParaRPr/>
          </a:p>
          <a:p>
            <a:pPr marL="0" marR="0" lvl="0" indent="0" algn="just" rtl="0">
              <a:spcBef>
                <a:spcPts val="0"/>
              </a:spcBef>
              <a:spcAft>
                <a:spcPts val="0"/>
              </a:spcAft>
              <a:buNone/>
            </a:pPr>
            <a:endParaRPr sz="180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r>
              <a:rPr lang="en-US" sz="1800">
                <a:solidFill>
                  <a:schemeClr val="dk1"/>
                </a:solidFill>
                <a:latin typeface="Times New Roman"/>
                <a:ea typeface="Times New Roman"/>
                <a:cs typeface="Times New Roman"/>
                <a:sym typeface="Times New Roman"/>
              </a:rPr>
              <a:t>Lq	= Average queue length</a:t>
            </a:r>
            <a:endParaRPr/>
          </a:p>
          <a:p>
            <a:pPr marL="0" marR="0" lvl="0" indent="0" algn="just" rtl="0">
              <a:spcBef>
                <a:spcPts val="0"/>
              </a:spcBef>
              <a:spcAft>
                <a:spcPts val="0"/>
              </a:spcAft>
              <a:buNone/>
            </a:pPr>
            <a:r>
              <a:rPr lang="en-US" sz="1800">
                <a:solidFill>
                  <a:schemeClr val="dk1"/>
                </a:solidFill>
                <a:latin typeface="Times New Roman"/>
                <a:ea typeface="Times New Roman"/>
                <a:cs typeface="Times New Roman"/>
                <a:sym typeface="Times New Roman"/>
              </a:rPr>
              <a:t>	= </a:t>
            </a:r>
            <a:endParaRPr/>
          </a:p>
          <a:p>
            <a:pPr marL="0" marR="0" lvl="0" indent="0" algn="just" rtl="0">
              <a:spcBef>
                <a:spcPts val="0"/>
              </a:spcBef>
              <a:spcAft>
                <a:spcPts val="0"/>
              </a:spcAft>
              <a:buNone/>
            </a:pPr>
            <a:endParaRPr sz="180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sz="180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sz="180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r>
              <a:rPr lang="en-US" sz="1800">
                <a:solidFill>
                  <a:schemeClr val="dk1"/>
                </a:solidFill>
                <a:latin typeface="Times New Roman"/>
                <a:ea typeface="Times New Roman"/>
                <a:cs typeface="Times New Roman"/>
                <a:sym typeface="Times New Roman"/>
              </a:rPr>
              <a:t>Wq	= Average waiting time</a:t>
            </a:r>
            <a:endParaRPr/>
          </a:p>
          <a:p>
            <a:pPr marL="0" marR="0" lvl="0" indent="0" algn="just" rtl="0">
              <a:spcBef>
                <a:spcPts val="0"/>
              </a:spcBef>
              <a:spcAft>
                <a:spcPts val="0"/>
              </a:spcAft>
              <a:buNone/>
            </a:pPr>
            <a:r>
              <a:rPr lang="en-US" sz="1800">
                <a:solidFill>
                  <a:schemeClr val="dk1"/>
                </a:solidFill>
                <a:latin typeface="Times New Roman"/>
                <a:ea typeface="Times New Roman"/>
                <a:cs typeface="Times New Roman"/>
                <a:sym typeface="Times New Roman"/>
              </a:rPr>
              <a:t>	= Lq / </a:t>
            </a:r>
            <a:r>
              <a:rPr lang="en-US" sz="1800">
                <a:solidFill>
                  <a:schemeClr val="dk1"/>
                </a:solidFill>
                <a:latin typeface="Noto Sans Symbols"/>
                <a:ea typeface="Noto Sans Symbols"/>
                <a:cs typeface="Noto Sans Symbols"/>
                <a:sym typeface="Noto Sans Symbols"/>
              </a:rPr>
              <a:t>λ</a:t>
            </a:r>
            <a:endParaRPr/>
          </a:p>
          <a:p>
            <a:pPr marL="0" marR="0" lvl="0" indent="0" algn="just" rtl="0">
              <a:spcBef>
                <a:spcPts val="0"/>
              </a:spcBef>
              <a:spcAft>
                <a:spcPts val="0"/>
              </a:spcAft>
              <a:buNone/>
            </a:pPr>
            <a:endParaRPr sz="1800">
              <a:solidFill>
                <a:schemeClr val="dk1"/>
              </a:solidFill>
              <a:latin typeface="Times New Roman"/>
              <a:ea typeface="Times New Roman"/>
              <a:cs typeface="Times New Roman"/>
              <a:sym typeface="Times New Roman"/>
            </a:endParaRPr>
          </a:p>
          <a:p>
            <a:pPr marL="0" marR="0" lvl="0" indent="-114300" algn="just" rtl="0">
              <a:spcBef>
                <a:spcPts val="0"/>
              </a:spcBef>
              <a:spcAft>
                <a:spcPts val="0"/>
              </a:spcAft>
              <a:buClr>
                <a:schemeClr val="dk1"/>
              </a:buClr>
              <a:buSzPts val="1800"/>
              <a:buFont typeface="Noto Sans Symbols"/>
              <a:buChar char="π"/>
            </a:pPr>
            <a:r>
              <a:rPr lang="en-US" sz="1800">
                <a:solidFill>
                  <a:schemeClr val="dk1"/>
                </a:solidFill>
                <a:latin typeface="Noto Sans Symbols"/>
                <a:ea typeface="Noto Sans Symbols"/>
                <a:cs typeface="Noto Sans Symbols"/>
                <a:sym typeface="Noto Sans Symbols"/>
              </a:rPr>
              <a:t>	</a:t>
            </a:r>
            <a:r>
              <a:rPr lang="en-US" sz="1800">
                <a:solidFill>
                  <a:schemeClr val="dk1"/>
                </a:solidFill>
                <a:latin typeface="Times New Roman"/>
                <a:ea typeface="Times New Roman"/>
                <a:cs typeface="Times New Roman"/>
                <a:sym typeface="Times New Roman"/>
              </a:rPr>
              <a:t>= Average number of busy server, </a:t>
            </a:r>
            <a:r>
              <a:rPr lang="en-US" sz="1800">
                <a:solidFill>
                  <a:schemeClr val="dk1"/>
                </a:solidFill>
                <a:latin typeface="Noto Sans Symbols"/>
                <a:ea typeface="Noto Sans Symbols"/>
                <a:cs typeface="Noto Sans Symbols"/>
                <a:sym typeface="Noto Sans Symbols"/>
              </a:rPr>
              <a:t>π </a:t>
            </a:r>
            <a:r>
              <a:rPr lang="en-US" sz="1800">
                <a:solidFill>
                  <a:schemeClr val="dk1"/>
                </a:solidFill>
                <a:latin typeface="Times New Roman"/>
                <a:ea typeface="Times New Roman"/>
                <a:cs typeface="Times New Roman"/>
                <a:sym typeface="Times New Roman"/>
              </a:rPr>
              <a:t>=  </a:t>
            </a:r>
            <a:r>
              <a:rPr lang="en-US" sz="1800">
                <a:solidFill>
                  <a:schemeClr val="dk1"/>
                </a:solidFill>
                <a:latin typeface="Noto Sans Symbols"/>
                <a:ea typeface="Noto Sans Symbols"/>
                <a:cs typeface="Noto Sans Symbols"/>
                <a:sym typeface="Noto Sans Symbols"/>
              </a:rPr>
              <a:t>ρ </a:t>
            </a:r>
            <a:endParaRPr/>
          </a:p>
          <a:p>
            <a:pPr marL="0" marR="0" lvl="0" indent="0" algn="just" rtl="0">
              <a:spcBef>
                <a:spcPts val="0"/>
              </a:spcBef>
              <a:spcAft>
                <a:spcPts val="0"/>
              </a:spcAft>
              <a:buClr>
                <a:schemeClr val="dk1"/>
              </a:buClr>
              <a:buSzPts val="1800"/>
              <a:buFont typeface="Noto Sans Symbols"/>
              <a:buNone/>
            </a:pPr>
            <a:endParaRPr sz="180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Clr>
                <a:schemeClr val="dk1"/>
              </a:buClr>
              <a:buSzPts val="1800"/>
              <a:buFont typeface="Noto Sans Symbols"/>
              <a:buNone/>
            </a:pPr>
            <a:r>
              <a:rPr lang="en-US" sz="1800">
                <a:solidFill>
                  <a:schemeClr val="dk1"/>
                </a:solidFill>
                <a:latin typeface="Times New Roman"/>
                <a:ea typeface="Times New Roman"/>
                <a:cs typeface="Times New Roman"/>
                <a:sym typeface="Times New Roman"/>
              </a:rPr>
              <a:t>U	= Waiting probability</a:t>
            </a:r>
            <a:endParaRPr/>
          </a:p>
          <a:p>
            <a:pPr marL="0" marR="0" lvl="0" indent="0" algn="just" rtl="0">
              <a:spcBef>
                <a:spcPts val="0"/>
              </a:spcBef>
              <a:spcAft>
                <a:spcPts val="0"/>
              </a:spcAft>
              <a:buClr>
                <a:schemeClr val="dk1"/>
              </a:buClr>
              <a:buSzPts val="1800"/>
              <a:buFont typeface="Noto Sans Symbols"/>
              <a:buNone/>
            </a:pPr>
            <a:r>
              <a:rPr lang="en-US" sz="1800">
                <a:solidFill>
                  <a:schemeClr val="dk1"/>
                </a:solidFill>
                <a:latin typeface="Times New Roman"/>
                <a:ea typeface="Times New Roman"/>
                <a:cs typeface="Times New Roman"/>
                <a:sym typeface="Times New Roman"/>
              </a:rPr>
              <a:t>	= </a:t>
            </a:r>
            <a:r>
              <a:rPr lang="en-US" sz="1800">
                <a:solidFill>
                  <a:schemeClr val="dk1"/>
                </a:solidFill>
                <a:latin typeface="Noto Sans Symbols"/>
                <a:ea typeface="Noto Sans Symbols"/>
                <a:cs typeface="Noto Sans Symbols"/>
                <a:sym typeface="Noto Sans Symbols"/>
              </a:rPr>
              <a:t>π</a:t>
            </a:r>
            <a:r>
              <a:rPr lang="en-US" sz="1800" baseline="-25000">
                <a:solidFill>
                  <a:schemeClr val="dk1"/>
                </a:solidFill>
                <a:latin typeface="Times New Roman"/>
                <a:ea typeface="Times New Roman"/>
                <a:cs typeface="Times New Roman"/>
                <a:sym typeface="Times New Roman"/>
              </a:rPr>
              <a:t>C</a:t>
            </a:r>
            <a:r>
              <a:rPr lang="en-US" sz="1800">
                <a:solidFill>
                  <a:schemeClr val="dk1"/>
                </a:solidFill>
                <a:latin typeface="Times New Roman"/>
                <a:ea typeface="Times New Roman"/>
                <a:cs typeface="Times New Roman"/>
                <a:sym typeface="Times New Roman"/>
              </a:rPr>
              <a:t> + </a:t>
            </a:r>
            <a:r>
              <a:rPr lang="en-US" sz="1800">
                <a:solidFill>
                  <a:schemeClr val="dk1"/>
                </a:solidFill>
                <a:latin typeface="Noto Sans Symbols"/>
                <a:ea typeface="Noto Sans Symbols"/>
                <a:cs typeface="Noto Sans Symbols"/>
                <a:sym typeface="Noto Sans Symbols"/>
              </a:rPr>
              <a:t>π</a:t>
            </a:r>
            <a:r>
              <a:rPr lang="en-US" sz="1800" baseline="-25000">
                <a:solidFill>
                  <a:schemeClr val="dk1"/>
                </a:solidFill>
                <a:latin typeface="Times New Roman"/>
                <a:ea typeface="Times New Roman"/>
                <a:cs typeface="Times New Roman"/>
                <a:sym typeface="Times New Roman"/>
              </a:rPr>
              <a:t>C+1</a:t>
            </a:r>
            <a:r>
              <a:rPr lang="en-US" sz="1800">
                <a:solidFill>
                  <a:schemeClr val="dk1"/>
                </a:solidFill>
                <a:latin typeface="Times New Roman"/>
                <a:ea typeface="Times New Roman"/>
                <a:cs typeface="Times New Roman"/>
                <a:sym typeface="Times New Roman"/>
              </a:rPr>
              <a:t> + ...</a:t>
            </a:r>
            <a:endParaRPr/>
          </a:p>
          <a:p>
            <a:pPr marL="0" marR="0" lvl="0" indent="0" algn="just" rtl="0">
              <a:spcBef>
                <a:spcPts val="0"/>
              </a:spcBef>
              <a:spcAft>
                <a:spcPts val="0"/>
              </a:spcAft>
              <a:buClr>
                <a:schemeClr val="dk1"/>
              </a:buClr>
              <a:buSzPts val="1800"/>
              <a:buFont typeface="Noto Sans Symbols"/>
              <a:buNone/>
            </a:pPr>
            <a:r>
              <a:rPr lang="en-US" sz="1800">
                <a:solidFill>
                  <a:schemeClr val="dk1"/>
                </a:solidFill>
                <a:latin typeface="Times New Roman"/>
                <a:ea typeface="Times New Roman"/>
                <a:cs typeface="Times New Roman"/>
                <a:sym typeface="Times New Roman"/>
              </a:rPr>
              <a:t>	= </a:t>
            </a:r>
            <a:r>
              <a:rPr lang="en-US" sz="1800">
                <a:solidFill>
                  <a:schemeClr val="dk1"/>
                </a:solidFill>
                <a:latin typeface="Noto Sans Symbols"/>
                <a:ea typeface="Noto Sans Symbols"/>
                <a:cs typeface="Noto Sans Symbols"/>
                <a:sym typeface="Noto Sans Symbols"/>
              </a:rPr>
              <a:t>π</a:t>
            </a:r>
            <a:r>
              <a:rPr lang="en-US" sz="1800" baseline="-25000">
                <a:solidFill>
                  <a:schemeClr val="dk1"/>
                </a:solidFill>
                <a:latin typeface="Times New Roman"/>
                <a:ea typeface="Times New Roman"/>
                <a:cs typeface="Times New Roman"/>
                <a:sym typeface="Times New Roman"/>
              </a:rPr>
              <a:t>C</a:t>
            </a:r>
            <a:r>
              <a:rPr lang="en-US" sz="1800">
                <a:solidFill>
                  <a:schemeClr val="dk1"/>
                </a:solidFill>
                <a:latin typeface="Times New Roman"/>
                <a:ea typeface="Times New Roman"/>
                <a:cs typeface="Times New Roman"/>
                <a:sym typeface="Times New Roman"/>
              </a:rPr>
              <a:t>/(1-</a:t>
            </a:r>
            <a:r>
              <a:rPr lang="en-US" sz="1800">
                <a:solidFill>
                  <a:schemeClr val="dk1"/>
                </a:solidFill>
                <a:latin typeface="Noto Sans Symbols"/>
                <a:ea typeface="Noto Sans Symbols"/>
                <a:cs typeface="Noto Sans Symbols"/>
                <a:sym typeface="Noto Sans Symbols"/>
              </a:rPr>
              <a:t>ρ</a:t>
            </a:r>
            <a:r>
              <a:rPr lang="en-US" sz="1800">
                <a:solidFill>
                  <a:schemeClr val="dk1"/>
                </a:solidFill>
                <a:latin typeface="Times New Roman"/>
                <a:ea typeface="Times New Roman"/>
                <a:cs typeface="Times New Roman"/>
                <a:sym typeface="Times New Roman"/>
              </a:rPr>
              <a:t>/C)</a:t>
            </a:r>
            <a:r>
              <a:rPr lang="en-US" sz="1800">
                <a:solidFill>
                  <a:schemeClr val="dk1"/>
                </a:solidFill>
                <a:latin typeface="Noto Sans Symbols"/>
                <a:ea typeface="Noto Sans Symbols"/>
                <a:cs typeface="Noto Sans Symbols"/>
                <a:sym typeface="Noto Sans Symbols"/>
              </a:rPr>
              <a:t> </a:t>
            </a:r>
            <a:endParaRPr sz="180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sz="1800">
              <a:solidFill>
                <a:schemeClr val="dk1"/>
              </a:solidFill>
              <a:latin typeface="Noto Sans Symbols"/>
              <a:ea typeface="Noto Sans Symbols"/>
              <a:cs typeface="Noto Sans Symbols"/>
              <a:sym typeface="Noto Sans Symbol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60">
                                            <p:txEl>
                                              <p:pRg st="0" end="0"/>
                                            </p:txEl>
                                          </p:spTgt>
                                        </p:tgtEl>
                                        <p:attrNameLst>
                                          <p:attrName>style.visibility</p:attrName>
                                        </p:attrNameLst>
                                      </p:cBhvr>
                                      <p:to>
                                        <p:strVal val="visible"/>
                                      </p:to>
                                    </p:set>
                                    <p:animEffect transition="in" filter="fade">
                                      <p:cBhvr>
                                        <p:cTn id="7" dur="1000"/>
                                        <p:tgtEl>
                                          <p:spTgt spid="56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60">
                                            <p:txEl>
                                              <p:pRg st="1" end="1"/>
                                            </p:txEl>
                                          </p:spTgt>
                                        </p:tgtEl>
                                        <p:attrNameLst>
                                          <p:attrName>style.visibility</p:attrName>
                                        </p:attrNameLst>
                                      </p:cBhvr>
                                      <p:to>
                                        <p:strVal val="visible"/>
                                      </p:to>
                                    </p:set>
                                    <p:animEffect transition="in" filter="fade">
                                      <p:cBhvr>
                                        <p:cTn id="12" dur="1000"/>
                                        <p:tgtEl>
                                          <p:spTgt spid="56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60">
                                            <p:txEl>
                                              <p:pRg st="2" end="2"/>
                                            </p:txEl>
                                          </p:spTgt>
                                        </p:tgtEl>
                                        <p:attrNameLst>
                                          <p:attrName>style.visibility</p:attrName>
                                        </p:attrNameLst>
                                      </p:cBhvr>
                                      <p:to>
                                        <p:strVal val="visible"/>
                                      </p:to>
                                    </p:set>
                                    <p:animEffect transition="in" filter="fade">
                                      <p:cBhvr>
                                        <p:cTn id="17" dur="1000"/>
                                        <p:tgtEl>
                                          <p:spTgt spid="56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60">
                                            <p:txEl>
                                              <p:pRg st="3" end="3"/>
                                            </p:txEl>
                                          </p:spTgt>
                                        </p:tgtEl>
                                        <p:attrNameLst>
                                          <p:attrName>style.visibility</p:attrName>
                                        </p:attrNameLst>
                                      </p:cBhvr>
                                      <p:to>
                                        <p:strVal val="visible"/>
                                      </p:to>
                                    </p:set>
                                    <p:animEffect transition="in" filter="fade">
                                      <p:cBhvr>
                                        <p:cTn id="22" dur="1000"/>
                                        <p:tgtEl>
                                          <p:spTgt spid="56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60">
                                            <p:txEl>
                                              <p:pRg st="4" end="4"/>
                                            </p:txEl>
                                          </p:spTgt>
                                        </p:tgtEl>
                                        <p:attrNameLst>
                                          <p:attrName>style.visibility</p:attrName>
                                        </p:attrNameLst>
                                      </p:cBhvr>
                                      <p:to>
                                        <p:strVal val="visible"/>
                                      </p:to>
                                    </p:set>
                                    <p:animEffect transition="in" filter="fade">
                                      <p:cBhvr>
                                        <p:cTn id="27" dur="1000"/>
                                        <p:tgtEl>
                                          <p:spTgt spid="560">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60">
                                            <p:txEl>
                                              <p:pRg st="5" end="5"/>
                                            </p:txEl>
                                          </p:spTgt>
                                        </p:tgtEl>
                                        <p:attrNameLst>
                                          <p:attrName>style.visibility</p:attrName>
                                        </p:attrNameLst>
                                      </p:cBhvr>
                                      <p:to>
                                        <p:strVal val="visible"/>
                                      </p:to>
                                    </p:set>
                                    <p:animEffect transition="in" filter="fade">
                                      <p:cBhvr>
                                        <p:cTn id="32" dur="1000"/>
                                        <p:tgtEl>
                                          <p:spTgt spid="560">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60">
                                            <p:txEl>
                                              <p:pRg st="6" end="6"/>
                                            </p:txEl>
                                          </p:spTgt>
                                        </p:tgtEl>
                                        <p:attrNameLst>
                                          <p:attrName>style.visibility</p:attrName>
                                        </p:attrNameLst>
                                      </p:cBhvr>
                                      <p:to>
                                        <p:strVal val="visible"/>
                                      </p:to>
                                    </p:set>
                                    <p:animEffect transition="in" filter="fade">
                                      <p:cBhvr>
                                        <p:cTn id="37" dur="1000"/>
                                        <p:tgtEl>
                                          <p:spTgt spid="560">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60">
                                            <p:txEl>
                                              <p:pRg st="7" end="7"/>
                                            </p:txEl>
                                          </p:spTgt>
                                        </p:tgtEl>
                                        <p:attrNameLst>
                                          <p:attrName>style.visibility</p:attrName>
                                        </p:attrNameLst>
                                      </p:cBhvr>
                                      <p:to>
                                        <p:strVal val="visible"/>
                                      </p:to>
                                    </p:set>
                                    <p:animEffect transition="in" filter="fade">
                                      <p:cBhvr>
                                        <p:cTn id="42" dur="1000"/>
                                        <p:tgtEl>
                                          <p:spTgt spid="560">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560">
                                            <p:txEl>
                                              <p:pRg st="8" end="8"/>
                                            </p:txEl>
                                          </p:spTgt>
                                        </p:tgtEl>
                                        <p:attrNameLst>
                                          <p:attrName>style.visibility</p:attrName>
                                        </p:attrNameLst>
                                      </p:cBhvr>
                                      <p:to>
                                        <p:strVal val="visible"/>
                                      </p:to>
                                    </p:set>
                                    <p:animEffect transition="in" filter="fade">
                                      <p:cBhvr>
                                        <p:cTn id="47" dur="1000"/>
                                        <p:tgtEl>
                                          <p:spTgt spid="560">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560">
                                            <p:txEl>
                                              <p:pRg st="9" end="9"/>
                                            </p:txEl>
                                          </p:spTgt>
                                        </p:tgtEl>
                                        <p:attrNameLst>
                                          <p:attrName>style.visibility</p:attrName>
                                        </p:attrNameLst>
                                      </p:cBhvr>
                                      <p:to>
                                        <p:strVal val="visible"/>
                                      </p:to>
                                    </p:set>
                                    <p:animEffect transition="in" filter="fade">
                                      <p:cBhvr>
                                        <p:cTn id="52" dur="1000"/>
                                        <p:tgtEl>
                                          <p:spTgt spid="560">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560">
                                            <p:txEl>
                                              <p:pRg st="10" end="10"/>
                                            </p:txEl>
                                          </p:spTgt>
                                        </p:tgtEl>
                                        <p:attrNameLst>
                                          <p:attrName>style.visibility</p:attrName>
                                        </p:attrNameLst>
                                      </p:cBhvr>
                                      <p:to>
                                        <p:strVal val="visible"/>
                                      </p:to>
                                    </p:set>
                                    <p:animEffect transition="in" filter="fade">
                                      <p:cBhvr>
                                        <p:cTn id="57" dur="1000"/>
                                        <p:tgtEl>
                                          <p:spTgt spid="560">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560">
                                            <p:txEl>
                                              <p:pRg st="11" end="11"/>
                                            </p:txEl>
                                          </p:spTgt>
                                        </p:tgtEl>
                                        <p:attrNameLst>
                                          <p:attrName>style.visibility</p:attrName>
                                        </p:attrNameLst>
                                      </p:cBhvr>
                                      <p:to>
                                        <p:strVal val="visible"/>
                                      </p:to>
                                    </p:set>
                                    <p:animEffect transition="in" filter="fade">
                                      <p:cBhvr>
                                        <p:cTn id="62" dur="1000"/>
                                        <p:tgtEl>
                                          <p:spTgt spid="560">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560">
                                            <p:txEl>
                                              <p:pRg st="12" end="12"/>
                                            </p:txEl>
                                          </p:spTgt>
                                        </p:tgtEl>
                                        <p:attrNameLst>
                                          <p:attrName>style.visibility</p:attrName>
                                        </p:attrNameLst>
                                      </p:cBhvr>
                                      <p:to>
                                        <p:strVal val="visible"/>
                                      </p:to>
                                    </p:set>
                                    <p:animEffect transition="in" filter="fade">
                                      <p:cBhvr>
                                        <p:cTn id="67" dur="1000"/>
                                        <p:tgtEl>
                                          <p:spTgt spid="560">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560">
                                            <p:txEl>
                                              <p:pRg st="13" end="13"/>
                                            </p:txEl>
                                          </p:spTgt>
                                        </p:tgtEl>
                                        <p:attrNameLst>
                                          <p:attrName>style.visibility</p:attrName>
                                        </p:attrNameLst>
                                      </p:cBhvr>
                                      <p:to>
                                        <p:strVal val="visible"/>
                                      </p:to>
                                    </p:set>
                                    <p:animEffect transition="in" filter="fade">
                                      <p:cBhvr>
                                        <p:cTn id="72" dur="1000"/>
                                        <p:tgtEl>
                                          <p:spTgt spid="560">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560">
                                            <p:txEl>
                                              <p:pRg st="14" end="14"/>
                                            </p:txEl>
                                          </p:spTgt>
                                        </p:tgtEl>
                                        <p:attrNameLst>
                                          <p:attrName>style.visibility</p:attrName>
                                        </p:attrNameLst>
                                      </p:cBhvr>
                                      <p:to>
                                        <p:strVal val="visible"/>
                                      </p:to>
                                    </p:set>
                                    <p:animEffect transition="in" filter="fade">
                                      <p:cBhvr>
                                        <p:cTn id="77" dur="1000"/>
                                        <p:tgtEl>
                                          <p:spTgt spid="560">
                                            <p:txEl>
                                              <p:pRg st="14" end="14"/>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560">
                                            <p:txEl>
                                              <p:pRg st="15" end="15"/>
                                            </p:txEl>
                                          </p:spTgt>
                                        </p:tgtEl>
                                        <p:attrNameLst>
                                          <p:attrName>style.visibility</p:attrName>
                                        </p:attrNameLst>
                                      </p:cBhvr>
                                      <p:to>
                                        <p:strVal val="visible"/>
                                      </p:to>
                                    </p:set>
                                    <p:animEffect transition="in" filter="fade">
                                      <p:cBhvr>
                                        <p:cTn id="82" dur="1000"/>
                                        <p:tgtEl>
                                          <p:spTgt spid="560">
                                            <p:txEl>
                                              <p:pRg st="15" end="15"/>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560">
                                            <p:txEl>
                                              <p:pRg st="16" end="16"/>
                                            </p:txEl>
                                          </p:spTgt>
                                        </p:tgtEl>
                                        <p:attrNameLst>
                                          <p:attrName>style.visibility</p:attrName>
                                        </p:attrNameLst>
                                      </p:cBhvr>
                                      <p:to>
                                        <p:strVal val="visible"/>
                                      </p:to>
                                    </p:set>
                                    <p:animEffect transition="in" filter="fade">
                                      <p:cBhvr>
                                        <p:cTn id="87" dur="1000"/>
                                        <p:tgtEl>
                                          <p:spTgt spid="560">
                                            <p:txEl>
                                              <p:pRg st="16" end="16"/>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560">
                                            <p:txEl>
                                              <p:pRg st="17" end="17"/>
                                            </p:txEl>
                                          </p:spTgt>
                                        </p:tgtEl>
                                        <p:attrNameLst>
                                          <p:attrName>style.visibility</p:attrName>
                                        </p:attrNameLst>
                                      </p:cBhvr>
                                      <p:to>
                                        <p:strVal val="visible"/>
                                      </p:to>
                                    </p:set>
                                    <p:animEffect transition="in" filter="fade">
                                      <p:cBhvr>
                                        <p:cTn id="92" dur="1000"/>
                                        <p:tgtEl>
                                          <p:spTgt spid="560">
                                            <p:txEl>
                                              <p:pRg st="17" end="17"/>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nodeType="clickEffect">
                                  <p:stCondLst>
                                    <p:cond delay="0"/>
                                  </p:stCondLst>
                                  <p:childTnLst>
                                    <p:set>
                                      <p:cBhvr>
                                        <p:cTn id="96" dur="1" fill="hold">
                                          <p:stCondLst>
                                            <p:cond delay="0"/>
                                          </p:stCondLst>
                                        </p:cTn>
                                        <p:tgtEl>
                                          <p:spTgt spid="560">
                                            <p:txEl>
                                              <p:pRg st="18" end="18"/>
                                            </p:txEl>
                                          </p:spTgt>
                                        </p:tgtEl>
                                        <p:attrNameLst>
                                          <p:attrName>style.visibility</p:attrName>
                                        </p:attrNameLst>
                                      </p:cBhvr>
                                      <p:to>
                                        <p:strVal val="visible"/>
                                      </p:to>
                                    </p:set>
                                    <p:animEffect transition="in" filter="fade">
                                      <p:cBhvr>
                                        <p:cTn id="97" dur="1000"/>
                                        <p:tgtEl>
                                          <p:spTgt spid="560">
                                            <p:txEl>
                                              <p:pRg st="18" end="18"/>
                                            </p:txEl>
                                          </p:spTgt>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nodeType="clickEffect">
                                  <p:stCondLst>
                                    <p:cond delay="0"/>
                                  </p:stCondLst>
                                  <p:childTnLst>
                                    <p:set>
                                      <p:cBhvr>
                                        <p:cTn id="101" dur="1" fill="hold">
                                          <p:stCondLst>
                                            <p:cond delay="0"/>
                                          </p:stCondLst>
                                        </p:cTn>
                                        <p:tgtEl>
                                          <p:spTgt spid="560">
                                            <p:txEl>
                                              <p:pRg st="19" end="19"/>
                                            </p:txEl>
                                          </p:spTgt>
                                        </p:tgtEl>
                                        <p:attrNameLst>
                                          <p:attrName>style.visibility</p:attrName>
                                        </p:attrNameLst>
                                      </p:cBhvr>
                                      <p:to>
                                        <p:strVal val="visible"/>
                                      </p:to>
                                    </p:set>
                                    <p:animEffect transition="in" filter="fade">
                                      <p:cBhvr>
                                        <p:cTn id="102" dur="1000"/>
                                        <p:tgtEl>
                                          <p:spTgt spid="560">
                                            <p:txEl>
                                              <p:pRg st="19" end="1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sp>
        <p:nvSpPr>
          <p:cNvPr id="565" name="Google Shape;565;p43"/>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Continuous System Simulation</a:t>
            </a:r>
            <a:endParaRPr/>
          </a:p>
        </p:txBody>
      </p:sp>
      <p:sp>
        <p:nvSpPr>
          <p:cNvPr id="566" name="Google Shape;566;p43"/>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US"/>
              <a:t>“A Continuous system is one in which the predominant activities of the system cause smooth changes in the attributes of the system entities”.</a:t>
            </a:r>
            <a:endParaRPr/>
          </a:p>
          <a:p>
            <a:pPr marL="274320" lvl="0" indent="-274320" algn="l" rtl="0">
              <a:spcBef>
                <a:spcPts val="520"/>
              </a:spcBef>
              <a:spcAft>
                <a:spcPts val="0"/>
              </a:spcAft>
              <a:buSzPts val="2470"/>
              <a:buChar char="⚫"/>
            </a:pPr>
            <a:r>
              <a:rPr lang="en-US"/>
              <a:t> When a system is modelled mathematically the variable of the model represents the attributes.</a:t>
            </a:r>
            <a:endParaRPr/>
          </a:p>
          <a:p>
            <a:pPr marL="274320" lvl="0" indent="-274320" algn="l" rtl="0">
              <a:spcBef>
                <a:spcPts val="520"/>
              </a:spcBef>
              <a:spcAft>
                <a:spcPts val="0"/>
              </a:spcAft>
              <a:buSzPts val="2470"/>
              <a:buChar char="⚫"/>
            </a:pPr>
            <a:r>
              <a:rPr lang="en-US"/>
              <a:t>In Continuous system the relationship describes rates at which attributes changes, so changes that the model consists of differentiation equation. </a:t>
            </a:r>
            <a:endParaRPr/>
          </a:p>
          <a:p>
            <a:pPr marL="274320" lvl="0" indent="-274320" algn="l" rtl="0">
              <a:spcBef>
                <a:spcPts val="520"/>
              </a:spcBef>
              <a:spcAft>
                <a:spcPts val="0"/>
              </a:spcAft>
              <a:buSzPts val="2470"/>
              <a:buChar char="⚫"/>
            </a:pPr>
            <a:r>
              <a:rPr lang="en-US"/>
              <a:t>For Example wheel suspension system of an Automobile.</a:t>
            </a:r>
            <a:endParaRPr/>
          </a:p>
        </p:txBody>
      </p:sp>
      <p:sp>
        <p:nvSpPr>
          <p:cNvPr id="567" name="Google Shape;567;p43"/>
          <p:cNvSpPr txBox="1"/>
          <p:nvPr/>
        </p:nvSpPr>
        <p:spPr>
          <a:xfrm>
            <a:off x="8610600" y="1598023"/>
            <a:ext cx="2057400"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onstantia"/>
                <a:ea typeface="Constantia"/>
                <a:cs typeface="Constantia"/>
                <a:sym typeface="Constantia"/>
              </a:rPr>
              <a:t>Predominant-present as the strongest or main element.</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571"/>
        <p:cNvGrpSpPr/>
        <p:nvPr/>
      </p:nvGrpSpPr>
      <p:grpSpPr>
        <a:xfrm>
          <a:off x="0" y="0"/>
          <a:ext cx="0" cy="0"/>
          <a:chOff x="0" y="0"/>
          <a:chExt cx="0" cy="0"/>
        </a:xfrm>
      </p:grpSpPr>
      <p:sp>
        <p:nvSpPr>
          <p:cNvPr id="572" name="Google Shape;572;p44"/>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fontScale="90000"/>
          </a:bodyPr>
          <a:lstStyle/>
          <a:p>
            <a:pPr marL="0" lvl="0" indent="0" algn="ctr" rtl="0">
              <a:spcBef>
                <a:spcPts val="0"/>
              </a:spcBef>
              <a:spcAft>
                <a:spcPts val="0"/>
              </a:spcAft>
              <a:buClr>
                <a:schemeClr val="dk2"/>
              </a:buClr>
              <a:buSzPct val="100000"/>
              <a:buFont typeface="Calibri"/>
              <a:buNone/>
            </a:pPr>
            <a:r>
              <a:rPr lang="en-US"/>
              <a:t>Automobile Wheel Suspension System</a:t>
            </a:r>
            <a:endParaRPr/>
          </a:p>
        </p:txBody>
      </p:sp>
      <p:pic>
        <p:nvPicPr>
          <p:cNvPr id="573" name="Google Shape;573;p44" descr="autosheel.PNG"/>
          <p:cNvPicPr preferRelativeResize="0">
            <a:picLocks noGrp="1"/>
          </p:cNvPicPr>
          <p:nvPr>
            <p:ph type="body" idx="1"/>
          </p:nvPr>
        </p:nvPicPr>
        <p:blipFill rotWithShape="1">
          <a:blip r:embed="rId3">
            <a:alphaModFix/>
          </a:blip>
          <a:srcRect/>
          <a:stretch/>
        </p:blipFill>
        <p:spPr>
          <a:xfrm>
            <a:off x="1524000" y="2152995"/>
            <a:ext cx="5943600" cy="3854929"/>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577"/>
        <p:cNvGrpSpPr/>
        <p:nvPr/>
      </p:nvGrpSpPr>
      <p:grpSpPr>
        <a:xfrm>
          <a:off x="0" y="0"/>
          <a:ext cx="0" cy="0"/>
          <a:chOff x="0" y="0"/>
          <a:chExt cx="0" cy="0"/>
        </a:xfrm>
      </p:grpSpPr>
      <p:sp>
        <p:nvSpPr>
          <p:cNvPr id="578" name="Google Shape;578;p45"/>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fontScale="90000"/>
          </a:bodyPr>
          <a:lstStyle/>
          <a:p>
            <a:pPr marL="0" lvl="0" indent="0" algn="l" rtl="0">
              <a:spcBef>
                <a:spcPts val="0"/>
              </a:spcBef>
              <a:spcAft>
                <a:spcPts val="0"/>
              </a:spcAft>
              <a:buClr>
                <a:schemeClr val="dk2"/>
              </a:buClr>
              <a:buSzPct val="100000"/>
              <a:buFont typeface="Calibri"/>
              <a:buNone/>
            </a:pPr>
            <a:r>
              <a:rPr lang="en-US"/>
              <a:t>Automobile Wheel Suspension System..</a:t>
            </a:r>
            <a:endParaRPr/>
          </a:p>
        </p:txBody>
      </p:sp>
      <p:sp>
        <p:nvSpPr>
          <p:cNvPr id="579" name="Google Shape;579;p45"/>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US"/>
              <a:t>This system represents the suspension of an automobile wheel when the automobile body is assured to be immobile in a vertical direction.</a:t>
            </a:r>
            <a:endParaRPr/>
          </a:p>
          <a:p>
            <a:pPr marL="274320" lvl="0" indent="-274320" algn="l" rtl="0">
              <a:spcBef>
                <a:spcPts val="520"/>
              </a:spcBef>
              <a:spcAft>
                <a:spcPts val="0"/>
              </a:spcAft>
              <a:buSzPts val="2470"/>
              <a:buChar char="⚫"/>
            </a:pPr>
            <a:r>
              <a:rPr lang="en-US"/>
              <a:t> The figure represents a mass ‘M’ which is subject to an applied force F(t) varying with time.</a:t>
            </a:r>
            <a:endParaRPr/>
          </a:p>
          <a:p>
            <a:pPr marL="274320" lvl="0" indent="-274320" algn="l" rtl="0">
              <a:spcBef>
                <a:spcPts val="520"/>
              </a:spcBef>
              <a:spcAft>
                <a:spcPts val="0"/>
              </a:spcAft>
              <a:buSzPts val="2470"/>
              <a:buChar char="⚫"/>
            </a:pPr>
            <a:r>
              <a:rPr lang="en-US"/>
              <a:t> A spring whose force is proportional to its extension or contraction given by ‘K’ and a shock absorber which exerts a damping force ‘D’ proportional to velocity of the mass.</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583"/>
        <p:cNvGrpSpPr/>
        <p:nvPr/>
      </p:nvGrpSpPr>
      <p:grpSpPr>
        <a:xfrm>
          <a:off x="0" y="0"/>
          <a:ext cx="0" cy="0"/>
          <a:chOff x="0" y="0"/>
          <a:chExt cx="0" cy="0"/>
        </a:xfrm>
      </p:grpSpPr>
      <p:sp>
        <p:nvSpPr>
          <p:cNvPr id="584" name="Google Shape;584;p46"/>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fontScale="90000"/>
          </a:bodyPr>
          <a:lstStyle/>
          <a:p>
            <a:pPr marL="0" lvl="0" indent="0" algn="l" rtl="0">
              <a:spcBef>
                <a:spcPts val="0"/>
              </a:spcBef>
              <a:spcAft>
                <a:spcPts val="0"/>
              </a:spcAft>
              <a:buClr>
                <a:schemeClr val="dk2"/>
              </a:buClr>
              <a:buSzPct val="100000"/>
              <a:buFont typeface="Calibri"/>
              <a:buNone/>
            </a:pPr>
            <a:r>
              <a:rPr lang="en-US"/>
              <a:t>Automobile Wheel Suspension System..</a:t>
            </a:r>
            <a:endParaRPr/>
          </a:p>
        </p:txBody>
      </p:sp>
      <p:sp>
        <p:nvSpPr>
          <p:cNvPr id="585" name="Google Shape;585;p46"/>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US"/>
              <a:t>If we pick a point of the wheel as a reference point from which to measure the vertical displacement of the wheel, the variable ‘x’ represents the displacement of the point taking ‘x’ to be positive for an upward movement. </a:t>
            </a:r>
            <a:endParaRPr/>
          </a:p>
          <a:p>
            <a:pPr marL="274320" lvl="0" indent="-274320" algn="l" rtl="0">
              <a:spcBef>
                <a:spcPts val="520"/>
              </a:spcBef>
              <a:spcAft>
                <a:spcPts val="0"/>
              </a:spcAft>
              <a:buSzPts val="2470"/>
              <a:buChar char="⚫"/>
            </a:pPr>
            <a:r>
              <a:rPr lang="en-US"/>
              <a:t>The velocity of the wheel in the vertical direction is the rate of change of displacement which is first differential.</a:t>
            </a:r>
            <a:endParaRPr/>
          </a:p>
          <a:p>
            <a:pPr marL="274320" lvl="0" indent="-117475" algn="l" rtl="0">
              <a:spcBef>
                <a:spcPts val="520"/>
              </a:spcBef>
              <a:spcAft>
                <a:spcPts val="0"/>
              </a:spcAft>
              <a:buSzPts val="2470"/>
              <a:buNone/>
            </a:pPr>
            <a:endParaRPr/>
          </a:p>
        </p:txBody>
      </p:sp>
      <p:pic>
        <p:nvPicPr>
          <p:cNvPr id="586" name="Google Shape;586;p46" descr="11.PNG"/>
          <p:cNvPicPr preferRelativeResize="0"/>
          <p:nvPr/>
        </p:nvPicPr>
        <p:blipFill rotWithShape="1">
          <a:blip r:embed="rId3">
            <a:alphaModFix/>
          </a:blip>
          <a:srcRect/>
          <a:stretch/>
        </p:blipFill>
        <p:spPr>
          <a:xfrm>
            <a:off x="609600" y="5105400"/>
            <a:ext cx="2133600" cy="897081"/>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590"/>
        <p:cNvGrpSpPr/>
        <p:nvPr/>
      </p:nvGrpSpPr>
      <p:grpSpPr>
        <a:xfrm>
          <a:off x="0" y="0"/>
          <a:ext cx="0" cy="0"/>
          <a:chOff x="0" y="0"/>
          <a:chExt cx="0" cy="0"/>
        </a:xfrm>
      </p:grpSpPr>
      <p:sp>
        <p:nvSpPr>
          <p:cNvPr id="591" name="Google Shape;591;p47"/>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fontScale="90000"/>
          </a:bodyPr>
          <a:lstStyle/>
          <a:p>
            <a:pPr marL="0" lvl="0" indent="0" algn="l" rtl="0">
              <a:spcBef>
                <a:spcPts val="0"/>
              </a:spcBef>
              <a:spcAft>
                <a:spcPts val="0"/>
              </a:spcAft>
              <a:buClr>
                <a:schemeClr val="dk2"/>
              </a:buClr>
              <a:buSzPct val="100000"/>
              <a:buFont typeface="Calibri"/>
              <a:buNone/>
            </a:pPr>
            <a:r>
              <a:rPr lang="en-US"/>
              <a:t>Automobile Wheel Suspension System</a:t>
            </a:r>
            <a:endParaRPr/>
          </a:p>
        </p:txBody>
      </p:sp>
      <p:sp>
        <p:nvSpPr>
          <p:cNvPr id="592" name="Google Shape;592;p47"/>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US"/>
              <a:t>The acceleration of wheel in the vertical direction is the rate of change of velocity which is second differential</a:t>
            </a:r>
            <a:endParaRPr/>
          </a:p>
          <a:p>
            <a:pPr marL="274320" lvl="0" indent="-117475" algn="l" rtl="0">
              <a:spcBef>
                <a:spcPts val="520"/>
              </a:spcBef>
              <a:spcAft>
                <a:spcPts val="0"/>
              </a:spcAft>
              <a:buSzPts val="2470"/>
              <a:buNone/>
            </a:pPr>
            <a:endParaRPr/>
          </a:p>
          <a:p>
            <a:pPr marL="274320" lvl="0" indent="-117475" algn="l" rtl="0">
              <a:spcBef>
                <a:spcPts val="520"/>
              </a:spcBef>
              <a:spcAft>
                <a:spcPts val="0"/>
              </a:spcAft>
              <a:buSzPts val="2470"/>
              <a:buNone/>
            </a:pPr>
            <a:endParaRPr/>
          </a:p>
          <a:p>
            <a:pPr marL="274320" lvl="0" indent="-274320" algn="l" rtl="0">
              <a:spcBef>
                <a:spcPts val="520"/>
              </a:spcBef>
              <a:spcAft>
                <a:spcPts val="0"/>
              </a:spcAft>
              <a:buSzPts val="2470"/>
              <a:buChar char="⚫"/>
            </a:pPr>
            <a:r>
              <a:rPr lang="en-US"/>
              <a:t>for mass ‘M’ and applied force KF (t).The equation of motion in the absence of any other forces should be</a:t>
            </a:r>
            <a:endParaRPr/>
          </a:p>
          <a:p>
            <a:pPr marL="274320" lvl="0" indent="-117475" algn="l" rtl="0">
              <a:spcBef>
                <a:spcPts val="520"/>
              </a:spcBef>
              <a:spcAft>
                <a:spcPts val="0"/>
              </a:spcAft>
              <a:buSzPts val="2470"/>
              <a:buNone/>
            </a:pPr>
            <a:endParaRPr/>
          </a:p>
        </p:txBody>
      </p:sp>
      <p:pic>
        <p:nvPicPr>
          <p:cNvPr id="593" name="Google Shape;593;p47" descr="22.PNG"/>
          <p:cNvPicPr preferRelativeResize="0"/>
          <p:nvPr/>
        </p:nvPicPr>
        <p:blipFill rotWithShape="1">
          <a:blip r:embed="rId3">
            <a:alphaModFix/>
          </a:blip>
          <a:srcRect/>
          <a:stretch/>
        </p:blipFill>
        <p:spPr>
          <a:xfrm>
            <a:off x="1447800" y="3124200"/>
            <a:ext cx="1143000" cy="797994"/>
          </a:xfrm>
          <a:prstGeom prst="rect">
            <a:avLst/>
          </a:prstGeom>
          <a:noFill/>
          <a:ln>
            <a:noFill/>
          </a:ln>
        </p:spPr>
      </p:pic>
      <p:pic>
        <p:nvPicPr>
          <p:cNvPr id="594" name="Google Shape;594;p47" descr="33.PNG"/>
          <p:cNvPicPr preferRelativeResize="0"/>
          <p:nvPr/>
        </p:nvPicPr>
        <p:blipFill rotWithShape="1">
          <a:blip r:embed="rId4">
            <a:alphaModFix/>
          </a:blip>
          <a:srcRect/>
          <a:stretch/>
        </p:blipFill>
        <p:spPr>
          <a:xfrm>
            <a:off x="1371599" y="5105400"/>
            <a:ext cx="6108407" cy="685800"/>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598"/>
        <p:cNvGrpSpPr/>
        <p:nvPr/>
      </p:nvGrpSpPr>
      <p:grpSpPr>
        <a:xfrm>
          <a:off x="0" y="0"/>
          <a:ext cx="0" cy="0"/>
          <a:chOff x="0" y="0"/>
          <a:chExt cx="0" cy="0"/>
        </a:xfrm>
      </p:grpSpPr>
      <p:sp>
        <p:nvSpPr>
          <p:cNvPr id="599" name="Google Shape;599;p48"/>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fontScale="90000"/>
          </a:bodyPr>
          <a:lstStyle/>
          <a:p>
            <a:pPr marL="0" lvl="0" indent="0" algn="l" rtl="0">
              <a:spcBef>
                <a:spcPts val="0"/>
              </a:spcBef>
              <a:spcAft>
                <a:spcPts val="0"/>
              </a:spcAft>
              <a:buClr>
                <a:schemeClr val="dk2"/>
              </a:buClr>
              <a:buSzPct val="100000"/>
              <a:buFont typeface="Calibri"/>
              <a:buNone/>
            </a:pPr>
            <a:r>
              <a:rPr lang="en-US"/>
              <a:t>Automobile Wheel Suspension System..</a:t>
            </a:r>
            <a:endParaRPr/>
          </a:p>
        </p:txBody>
      </p:sp>
      <p:sp>
        <p:nvSpPr>
          <p:cNvPr id="600" name="Google Shape;600;p48"/>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lnSpcReduction="10000"/>
          </a:bodyPr>
          <a:lstStyle/>
          <a:p>
            <a:pPr marL="274320" lvl="0" indent="-274320" algn="l" rtl="0">
              <a:spcBef>
                <a:spcPts val="0"/>
              </a:spcBef>
              <a:spcAft>
                <a:spcPts val="0"/>
              </a:spcAft>
              <a:buSzPts val="2470"/>
              <a:buChar char="⚫"/>
            </a:pPr>
            <a:r>
              <a:rPr lang="en-US"/>
              <a:t>But the shock absorber exerts a resisting force that depends on the velocity of wheel. This force is represented by Dx, where ‘D’ is the measure of viscosity of the shock absorber. </a:t>
            </a:r>
            <a:endParaRPr/>
          </a:p>
          <a:p>
            <a:pPr marL="274320" lvl="0" indent="-274320" algn="l" rtl="0">
              <a:spcBef>
                <a:spcPts val="520"/>
              </a:spcBef>
              <a:spcAft>
                <a:spcPts val="0"/>
              </a:spcAft>
              <a:buSzPts val="2470"/>
              <a:buChar char="⚫"/>
            </a:pPr>
            <a:r>
              <a:rPr lang="en-US"/>
              <a:t>The spring also exerts a resisting force which depends on the extend to which it has been compressed, represented by K(x), where ‘K’ is a constant defining a stiffness of the spring.</a:t>
            </a:r>
            <a:endParaRPr/>
          </a:p>
          <a:p>
            <a:pPr marL="274320" lvl="0" indent="-274320" algn="l" rtl="0">
              <a:spcBef>
                <a:spcPts val="520"/>
              </a:spcBef>
              <a:spcAft>
                <a:spcPts val="0"/>
              </a:spcAft>
              <a:buSzPts val="2470"/>
              <a:buChar char="⚫"/>
            </a:pPr>
            <a:r>
              <a:rPr lang="en-US"/>
              <a:t> Since both these forces oppose the motion of wheel they are to be subtracted from the applied force to given following equation.</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604"/>
        <p:cNvGrpSpPr/>
        <p:nvPr/>
      </p:nvGrpSpPr>
      <p:grpSpPr>
        <a:xfrm>
          <a:off x="0" y="0"/>
          <a:ext cx="0" cy="0"/>
          <a:chOff x="0" y="0"/>
          <a:chExt cx="0" cy="0"/>
        </a:xfrm>
      </p:grpSpPr>
      <p:sp>
        <p:nvSpPr>
          <p:cNvPr id="605" name="Google Shape;605;p49"/>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fontScale="90000"/>
          </a:bodyPr>
          <a:lstStyle/>
          <a:p>
            <a:pPr marL="0" lvl="0" indent="0" algn="l" rtl="0">
              <a:spcBef>
                <a:spcPts val="0"/>
              </a:spcBef>
              <a:spcAft>
                <a:spcPts val="0"/>
              </a:spcAft>
              <a:buClr>
                <a:schemeClr val="dk2"/>
              </a:buClr>
              <a:buSzPct val="100000"/>
              <a:buFont typeface="Calibri"/>
              <a:buNone/>
            </a:pPr>
            <a:r>
              <a:rPr lang="en-US"/>
              <a:t>Automobile Wheel Suspension System..</a:t>
            </a:r>
            <a:endParaRPr/>
          </a:p>
        </p:txBody>
      </p:sp>
      <p:pic>
        <p:nvPicPr>
          <p:cNvPr id="606" name="Google Shape;606;p49" descr="44.PNG"/>
          <p:cNvPicPr preferRelativeResize="0">
            <a:picLocks noGrp="1"/>
          </p:cNvPicPr>
          <p:nvPr>
            <p:ph type="body" idx="1"/>
          </p:nvPr>
        </p:nvPicPr>
        <p:blipFill rotWithShape="1">
          <a:blip r:embed="rId3">
            <a:alphaModFix/>
          </a:blip>
          <a:srcRect/>
          <a:stretch/>
        </p:blipFill>
        <p:spPr>
          <a:xfrm>
            <a:off x="762000" y="1981200"/>
            <a:ext cx="5921510" cy="1066800"/>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610"/>
        <p:cNvGrpSpPr/>
        <p:nvPr/>
      </p:nvGrpSpPr>
      <p:grpSpPr>
        <a:xfrm>
          <a:off x="0" y="0"/>
          <a:ext cx="0" cy="0"/>
          <a:chOff x="0" y="0"/>
          <a:chExt cx="0" cy="0"/>
        </a:xfrm>
      </p:grpSpPr>
      <p:sp>
        <p:nvSpPr>
          <p:cNvPr id="611" name="Google Shape;611;p50"/>
          <p:cNvSpPr txBox="1">
            <a:spLocks noGrp="1"/>
          </p:cNvSpPr>
          <p:nvPr>
            <p:ph type="title"/>
          </p:nvPr>
        </p:nvSpPr>
        <p:spPr>
          <a:xfrm>
            <a:off x="381000" y="152400"/>
            <a:ext cx="8229600" cy="228600"/>
          </a:xfrm>
          <a:prstGeom prst="rect">
            <a:avLst/>
          </a:prstGeom>
          <a:noFill/>
          <a:ln>
            <a:noFill/>
          </a:ln>
        </p:spPr>
        <p:txBody>
          <a:bodyPr spcFirstLastPara="1" wrap="square" lIns="0" tIns="45700" rIns="0" bIns="0" anchor="b" anchorCtr="0">
            <a:normAutofit fontScale="90000"/>
          </a:bodyPr>
          <a:lstStyle/>
          <a:p>
            <a:pPr marL="0" lvl="0" indent="0" algn="l" rtl="0">
              <a:spcBef>
                <a:spcPts val="0"/>
              </a:spcBef>
              <a:spcAft>
                <a:spcPts val="0"/>
              </a:spcAft>
              <a:buClr>
                <a:schemeClr val="dk2"/>
              </a:buClr>
              <a:buSzPct val="100000"/>
              <a:buFont typeface="Calibri"/>
              <a:buNone/>
            </a:pPr>
            <a:endParaRPr/>
          </a:p>
        </p:txBody>
      </p:sp>
      <p:pic>
        <p:nvPicPr>
          <p:cNvPr id="612" name="Google Shape;612;p50"/>
          <p:cNvPicPr preferRelativeResize="0">
            <a:picLocks noGrp="1"/>
          </p:cNvPicPr>
          <p:nvPr>
            <p:ph type="body" idx="1"/>
          </p:nvPr>
        </p:nvPicPr>
        <p:blipFill rotWithShape="1">
          <a:blip r:embed="rId3">
            <a:alphaModFix/>
          </a:blip>
          <a:srcRect/>
          <a:stretch/>
        </p:blipFill>
        <p:spPr>
          <a:xfrm>
            <a:off x="304800" y="320804"/>
            <a:ext cx="8479199" cy="6079996"/>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616"/>
        <p:cNvGrpSpPr/>
        <p:nvPr/>
      </p:nvGrpSpPr>
      <p:grpSpPr>
        <a:xfrm>
          <a:off x="0" y="0"/>
          <a:ext cx="0" cy="0"/>
          <a:chOff x="0" y="0"/>
          <a:chExt cx="0" cy="0"/>
        </a:xfrm>
      </p:grpSpPr>
      <p:sp>
        <p:nvSpPr>
          <p:cNvPr id="617" name="Google Shape;617;p51"/>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endParaRPr/>
          </a:p>
        </p:txBody>
      </p:sp>
      <p:pic>
        <p:nvPicPr>
          <p:cNvPr id="618" name="Google Shape;618;p51"/>
          <p:cNvPicPr preferRelativeResize="0">
            <a:picLocks noGrp="1"/>
          </p:cNvPicPr>
          <p:nvPr>
            <p:ph type="body" idx="1"/>
          </p:nvPr>
        </p:nvPicPr>
        <p:blipFill rotWithShape="1">
          <a:blip r:embed="rId3">
            <a:alphaModFix/>
          </a:blip>
          <a:srcRect/>
          <a:stretch/>
        </p:blipFill>
        <p:spPr>
          <a:xfrm>
            <a:off x="228600" y="838200"/>
            <a:ext cx="8458200" cy="5791200"/>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622"/>
        <p:cNvGrpSpPr/>
        <p:nvPr/>
      </p:nvGrpSpPr>
      <p:grpSpPr>
        <a:xfrm>
          <a:off x="0" y="0"/>
          <a:ext cx="0" cy="0"/>
          <a:chOff x="0" y="0"/>
          <a:chExt cx="0" cy="0"/>
        </a:xfrm>
      </p:grpSpPr>
      <p:sp>
        <p:nvSpPr>
          <p:cNvPr id="623" name="Google Shape;623;p52"/>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b="1"/>
              <a:t>Analog Computer</a:t>
            </a:r>
            <a:endParaRPr/>
          </a:p>
        </p:txBody>
      </p:sp>
      <p:sp>
        <p:nvSpPr>
          <p:cNvPr id="624" name="Google Shape;624;p52"/>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fontScale="92500"/>
          </a:bodyPr>
          <a:lstStyle/>
          <a:p>
            <a:pPr marL="274320" lvl="0" indent="-274320" algn="l" rtl="0">
              <a:spcBef>
                <a:spcPts val="0"/>
              </a:spcBef>
              <a:spcAft>
                <a:spcPts val="0"/>
              </a:spcAft>
              <a:buSzPts val="2470"/>
              <a:buChar char="⚫"/>
            </a:pPr>
            <a:r>
              <a:rPr lang="en-US"/>
              <a:t>An </a:t>
            </a:r>
            <a:r>
              <a:rPr lang="en-US" b="1"/>
              <a:t>analog computer</a:t>
            </a:r>
            <a:r>
              <a:rPr lang="en-US"/>
              <a:t> or </a:t>
            </a:r>
            <a:r>
              <a:rPr lang="en-US" b="1"/>
              <a:t>analogue computer</a:t>
            </a:r>
            <a:r>
              <a:rPr lang="en-US"/>
              <a:t> is a form of computer that uses the continuously changeable aspects of physical phenomena such as electrical, mechanical, or hydraulic quantities to model the problem being solved.</a:t>
            </a:r>
            <a:endParaRPr/>
          </a:p>
          <a:p>
            <a:pPr marL="274320" lvl="0" indent="-274320" algn="l" rtl="0">
              <a:spcBef>
                <a:spcPts val="520"/>
              </a:spcBef>
              <a:spcAft>
                <a:spcPts val="0"/>
              </a:spcAft>
              <a:buSzPts val="2470"/>
              <a:buChar char="⚫"/>
            </a:pPr>
            <a:r>
              <a:rPr lang="en-US"/>
              <a:t>As an analog computer does not use discrete values, but rather continuous values, processes cannot be reliably repeated with exact equivalence, as they can with Turing machines. Unlike digital signal processing, analog computers do not suffer from the quantization noise, but are limited by analog noise.</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628"/>
        <p:cNvGrpSpPr/>
        <p:nvPr/>
      </p:nvGrpSpPr>
      <p:grpSpPr>
        <a:xfrm>
          <a:off x="0" y="0"/>
          <a:ext cx="0" cy="0"/>
          <a:chOff x="0" y="0"/>
          <a:chExt cx="0" cy="0"/>
        </a:xfrm>
      </p:grpSpPr>
      <p:sp>
        <p:nvSpPr>
          <p:cNvPr id="629" name="Google Shape;629;p53"/>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Analog computers</a:t>
            </a:r>
            <a:endParaRPr/>
          </a:p>
        </p:txBody>
      </p:sp>
      <p:pic>
        <p:nvPicPr>
          <p:cNvPr id="630" name="Google Shape;630;p53"/>
          <p:cNvPicPr preferRelativeResize="0">
            <a:picLocks noGrp="1"/>
          </p:cNvPicPr>
          <p:nvPr>
            <p:ph type="body" idx="1"/>
          </p:nvPr>
        </p:nvPicPr>
        <p:blipFill rotWithShape="1">
          <a:blip r:embed="rId3">
            <a:alphaModFix/>
          </a:blip>
          <a:srcRect/>
          <a:stretch/>
        </p:blipFill>
        <p:spPr>
          <a:xfrm>
            <a:off x="152400" y="2286000"/>
            <a:ext cx="4015856" cy="2558143"/>
          </a:xfrm>
          <a:prstGeom prst="rect">
            <a:avLst/>
          </a:prstGeom>
          <a:noFill/>
          <a:ln>
            <a:noFill/>
          </a:ln>
        </p:spPr>
      </p:pic>
      <p:pic>
        <p:nvPicPr>
          <p:cNvPr id="631" name="Google Shape;631;p53"/>
          <p:cNvPicPr preferRelativeResize="0"/>
          <p:nvPr/>
        </p:nvPicPr>
        <p:blipFill rotWithShape="1">
          <a:blip r:embed="rId4">
            <a:alphaModFix/>
          </a:blip>
          <a:srcRect/>
          <a:stretch/>
        </p:blipFill>
        <p:spPr>
          <a:xfrm>
            <a:off x="4419600" y="3276600"/>
            <a:ext cx="4018767" cy="2667000"/>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635"/>
        <p:cNvGrpSpPr/>
        <p:nvPr/>
      </p:nvGrpSpPr>
      <p:grpSpPr>
        <a:xfrm>
          <a:off x="0" y="0"/>
          <a:ext cx="0" cy="0"/>
          <a:chOff x="0" y="0"/>
          <a:chExt cx="0" cy="0"/>
        </a:xfrm>
      </p:grpSpPr>
      <p:sp>
        <p:nvSpPr>
          <p:cNvPr id="636" name="Google Shape;636;p54"/>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b="1"/>
              <a:t>Analog Computer..</a:t>
            </a:r>
            <a:endParaRPr/>
          </a:p>
        </p:txBody>
      </p:sp>
      <p:sp>
        <p:nvSpPr>
          <p:cNvPr id="637" name="Google Shape;637;p54"/>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lnSpcReduction="10000"/>
          </a:bodyPr>
          <a:lstStyle/>
          <a:p>
            <a:pPr marL="274320" lvl="0" indent="-274320" algn="l" rtl="0">
              <a:spcBef>
                <a:spcPts val="0"/>
              </a:spcBef>
              <a:spcAft>
                <a:spcPts val="0"/>
              </a:spcAft>
              <a:buSzPts val="2470"/>
              <a:buChar char="⚫"/>
            </a:pPr>
            <a:r>
              <a:rPr lang="en-US"/>
              <a:t>Key mechanical components might include rotating shafts for carrying data within the computer, miter gear differentials  disc/ball/roller integrators, cams (2-D and 3-D), mechanical resolvers and multipliers, and torque servos.</a:t>
            </a:r>
            <a:endParaRPr/>
          </a:p>
          <a:p>
            <a:pPr marL="274320" lvl="0" indent="-274320" algn="l" rtl="0">
              <a:spcBef>
                <a:spcPts val="520"/>
              </a:spcBef>
              <a:spcAft>
                <a:spcPts val="0"/>
              </a:spcAft>
              <a:buSzPts val="2470"/>
              <a:buChar char="⚫"/>
            </a:pPr>
            <a:r>
              <a:rPr lang="en-US"/>
              <a:t>Key electrical/electronic components might include:</a:t>
            </a:r>
            <a:endParaRPr/>
          </a:p>
          <a:p>
            <a:pPr marL="640080" lvl="1" indent="-246888" algn="l" rtl="0">
              <a:spcBef>
                <a:spcPts val="480"/>
              </a:spcBef>
              <a:spcAft>
                <a:spcPts val="0"/>
              </a:spcAft>
              <a:buSzPts val="2040"/>
              <a:buChar char="⚫"/>
            </a:pPr>
            <a:r>
              <a:rPr lang="en-US"/>
              <a:t>Precision resistors and capacitors</a:t>
            </a:r>
            <a:endParaRPr/>
          </a:p>
          <a:p>
            <a:pPr marL="640080" lvl="1" indent="-246888" algn="l" rtl="0">
              <a:spcBef>
                <a:spcPts val="480"/>
              </a:spcBef>
              <a:spcAft>
                <a:spcPts val="0"/>
              </a:spcAft>
              <a:buSzPts val="2040"/>
              <a:buChar char="⚫"/>
            </a:pPr>
            <a:r>
              <a:rPr lang="en-US"/>
              <a:t>operational amplifiers</a:t>
            </a:r>
            <a:endParaRPr/>
          </a:p>
          <a:p>
            <a:pPr marL="640080" lvl="1" indent="-246888" algn="l" rtl="0">
              <a:spcBef>
                <a:spcPts val="480"/>
              </a:spcBef>
              <a:spcAft>
                <a:spcPts val="0"/>
              </a:spcAft>
              <a:buSzPts val="2040"/>
              <a:buChar char="⚫"/>
            </a:pPr>
            <a:r>
              <a:rPr lang="en-US"/>
              <a:t>Multipliers</a:t>
            </a:r>
            <a:endParaRPr/>
          </a:p>
          <a:p>
            <a:pPr marL="640080" lvl="1" indent="-246888" algn="l" rtl="0">
              <a:spcBef>
                <a:spcPts val="480"/>
              </a:spcBef>
              <a:spcAft>
                <a:spcPts val="0"/>
              </a:spcAft>
              <a:buSzPts val="2040"/>
              <a:buChar char="⚫"/>
            </a:pPr>
            <a:r>
              <a:rPr lang="en-US"/>
              <a:t>potentiometers</a:t>
            </a:r>
            <a:endParaRPr/>
          </a:p>
          <a:p>
            <a:pPr marL="640080" lvl="1" indent="-246888" algn="l" rtl="0">
              <a:spcBef>
                <a:spcPts val="480"/>
              </a:spcBef>
              <a:spcAft>
                <a:spcPts val="0"/>
              </a:spcAft>
              <a:buSzPts val="2040"/>
              <a:buChar char="⚫"/>
            </a:pPr>
            <a:r>
              <a:rPr lang="en-US"/>
              <a:t>fixed-function generators</a:t>
            </a:r>
            <a:endParaRPr/>
          </a:p>
          <a:p>
            <a:pPr marL="274320" lvl="0" indent="-117475" algn="l" rtl="0">
              <a:spcBef>
                <a:spcPts val="520"/>
              </a:spcBef>
              <a:spcAft>
                <a:spcPts val="0"/>
              </a:spcAft>
              <a:buSzPts val="2470"/>
              <a:buNone/>
            </a:pPr>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641"/>
        <p:cNvGrpSpPr/>
        <p:nvPr/>
      </p:nvGrpSpPr>
      <p:grpSpPr>
        <a:xfrm>
          <a:off x="0" y="0"/>
          <a:ext cx="0" cy="0"/>
          <a:chOff x="0" y="0"/>
          <a:chExt cx="0" cy="0"/>
        </a:xfrm>
      </p:grpSpPr>
      <p:sp>
        <p:nvSpPr>
          <p:cNvPr id="642" name="Google Shape;642;p55"/>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b="1"/>
              <a:t>Analog Computer</a:t>
            </a:r>
            <a:endParaRPr/>
          </a:p>
        </p:txBody>
      </p:sp>
      <p:sp>
        <p:nvSpPr>
          <p:cNvPr id="643" name="Google Shape;643;p55"/>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US"/>
              <a:t>The core mathematical operations used in an electric analog computer are:</a:t>
            </a:r>
            <a:endParaRPr/>
          </a:p>
          <a:p>
            <a:pPr marL="640080" lvl="1" indent="-246888" algn="l" rtl="0">
              <a:spcBef>
                <a:spcPts val="480"/>
              </a:spcBef>
              <a:spcAft>
                <a:spcPts val="0"/>
              </a:spcAft>
              <a:buSzPts val="2040"/>
              <a:buChar char="⚫"/>
            </a:pPr>
            <a:r>
              <a:rPr lang="en-US"/>
              <a:t>addition</a:t>
            </a:r>
            <a:endParaRPr/>
          </a:p>
          <a:p>
            <a:pPr marL="640080" lvl="1" indent="-246888" algn="l" rtl="0">
              <a:spcBef>
                <a:spcPts val="480"/>
              </a:spcBef>
              <a:spcAft>
                <a:spcPts val="0"/>
              </a:spcAft>
              <a:buSzPts val="2040"/>
              <a:buChar char="⚫"/>
            </a:pPr>
            <a:r>
              <a:rPr lang="en-US"/>
              <a:t>integration with respect to time</a:t>
            </a:r>
            <a:endParaRPr/>
          </a:p>
          <a:p>
            <a:pPr marL="640080" lvl="1" indent="-246888" algn="l" rtl="0">
              <a:spcBef>
                <a:spcPts val="480"/>
              </a:spcBef>
              <a:spcAft>
                <a:spcPts val="0"/>
              </a:spcAft>
              <a:buSzPts val="2040"/>
              <a:buChar char="⚫"/>
            </a:pPr>
            <a:r>
              <a:rPr lang="en-US"/>
              <a:t>inversion</a:t>
            </a:r>
            <a:endParaRPr/>
          </a:p>
          <a:p>
            <a:pPr marL="640080" lvl="1" indent="-246888" algn="l" rtl="0">
              <a:spcBef>
                <a:spcPts val="480"/>
              </a:spcBef>
              <a:spcAft>
                <a:spcPts val="0"/>
              </a:spcAft>
              <a:buSzPts val="2040"/>
              <a:buChar char="⚫"/>
            </a:pPr>
            <a:r>
              <a:rPr lang="en-US"/>
              <a:t>multiplication</a:t>
            </a:r>
            <a:endParaRPr/>
          </a:p>
          <a:p>
            <a:pPr marL="640080" lvl="1" indent="-246888" algn="l" rtl="0">
              <a:spcBef>
                <a:spcPts val="480"/>
              </a:spcBef>
              <a:spcAft>
                <a:spcPts val="0"/>
              </a:spcAft>
              <a:buSzPts val="2040"/>
              <a:buChar char="⚫"/>
            </a:pPr>
            <a:r>
              <a:rPr lang="en-US"/>
              <a:t>exponentiation</a:t>
            </a:r>
            <a:endParaRPr/>
          </a:p>
          <a:p>
            <a:pPr marL="640080" lvl="1" indent="-246888" algn="l" rtl="0">
              <a:spcBef>
                <a:spcPts val="480"/>
              </a:spcBef>
              <a:spcAft>
                <a:spcPts val="0"/>
              </a:spcAft>
              <a:buSzPts val="2040"/>
              <a:buChar char="⚫"/>
            </a:pPr>
            <a:r>
              <a:rPr lang="en-US"/>
              <a:t>logarithm</a:t>
            </a:r>
            <a:endParaRPr/>
          </a:p>
          <a:p>
            <a:pPr marL="640080" lvl="1" indent="-246888" algn="l" rtl="0">
              <a:spcBef>
                <a:spcPts val="480"/>
              </a:spcBef>
              <a:spcAft>
                <a:spcPts val="0"/>
              </a:spcAft>
              <a:buSzPts val="2040"/>
              <a:buChar char="⚫"/>
            </a:pPr>
            <a:r>
              <a:rPr lang="en-US"/>
              <a:t>division</a:t>
            </a:r>
            <a:endParaRPr/>
          </a:p>
          <a:p>
            <a:pPr marL="274320" lvl="0" indent="-117475" algn="l" rtl="0">
              <a:spcBef>
                <a:spcPts val="520"/>
              </a:spcBef>
              <a:spcAft>
                <a:spcPts val="0"/>
              </a:spcAft>
              <a:buSzPts val="2470"/>
              <a:buNone/>
            </a:pPr>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647"/>
        <p:cNvGrpSpPr/>
        <p:nvPr/>
      </p:nvGrpSpPr>
      <p:grpSpPr>
        <a:xfrm>
          <a:off x="0" y="0"/>
          <a:ext cx="0" cy="0"/>
          <a:chOff x="0" y="0"/>
          <a:chExt cx="0" cy="0"/>
        </a:xfrm>
      </p:grpSpPr>
      <p:sp>
        <p:nvSpPr>
          <p:cNvPr id="648" name="Google Shape;648;p56"/>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Analog Methods</a:t>
            </a:r>
            <a:endParaRPr/>
          </a:p>
        </p:txBody>
      </p:sp>
      <p:sp>
        <p:nvSpPr>
          <p:cNvPr id="649" name="Google Shape;649;p56"/>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US"/>
              <a:t>It is the method by which analog computers are designed.</a:t>
            </a:r>
            <a:endParaRPr/>
          </a:p>
          <a:p>
            <a:pPr marL="274320" lvl="0" indent="-274320" algn="l" rtl="0">
              <a:spcBef>
                <a:spcPts val="520"/>
              </a:spcBef>
              <a:spcAft>
                <a:spcPts val="0"/>
              </a:spcAft>
              <a:buSzPts val="2470"/>
              <a:buChar char="⚫"/>
            </a:pPr>
            <a:r>
              <a:rPr lang="en-US"/>
              <a:t>Example:</a:t>
            </a:r>
            <a:endParaRPr/>
          </a:p>
          <a:p>
            <a:pPr marL="640080" lvl="1" indent="-246888" algn="l" rtl="0">
              <a:spcBef>
                <a:spcPts val="480"/>
              </a:spcBef>
              <a:spcAft>
                <a:spcPts val="0"/>
              </a:spcAft>
              <a:buSzPts val="2040"/>
              <a:buChar char="⚫"/>
            </a:pPr>
            <a:r>
              <a:rPr lang="en-US"/>
              <a:t>The equation of automobile wheel is </a:t>
            </a:r>
            <a:endParaRPr/>
          </a:p>
          <a:p>
            <a:pPr marL="274320" lvl="0" indent="-274320" algn="l" rtl="0">
              <a:spcBef>
                <a:spcPts val="520"/>
              </a:spcBef>
              <a:spcAft>
                <a:spcPts val="0"/>
              </a:spcAft>
              <a:buSzPts val="2470"/>
              <a:buNone/>
            </a:pPr>
            <a:r>
              <a:rPr lang="en-US"/>
              <a:t>                                                  </a:t>
            </a:r>
            <a:endParaRPr/>
          </a:p>
          <a:p>
            <a:pPr marL="274320" lvl="0" indent="-274320" algn="l" rtl="0">
              <a:spcBef>
                <a:spcPts val="640"/>
              </a:spcBef>
              <a:spcAft>
                <a:spcPts val="0"/>
              </a:spcAft>
              <a:buSzPts val="2470"/>
              <a:buChar char="⚫"/>
            </a:pPr>
            <a:r>
              <a:rPr lang="en-US"/>
              <a:t>                                                  ………………..(</a:t>
            </a:r>
            <a:r>
              <a:rPr lang="en-US" sz="3200"/>
              <a:t>1)</a:t>
            </a:r>
            <a:endParaRPr/>
          </a:p>
        </p:txBody>
      </p:sp>
      <p:pic>
        <p:nvPicPr>
          <p:cNvPr id="650" name="Google Shape;650;p56" descr="eq0.PNG"/>
          <p:cNvPicPr preferRelativeResize="0"/>
          <p:nvPr/>
        </p:nvPicPr>
        <p:blipFill rotWithShape="1">
          <a:blip r:embed="rId3">
            <a:alphaModFix/>
          </a:blip>
          <a:srcRect/>
          <a:stretch/>
        </p:blipFill>
        <p:spPr>
          <a:xfrm>
            <a:off x="914400" y="3886200"/>
            <a:ext cx="4244748" cy="1295400"/>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654"/>
        <p:cNvGrpSpPr/>
        <p:nvPr/>
      </p:nvGrpSpPr>
      <p:grpSpPr>
        <a:xfrm>
          <a:off x="0" y="0"/>
          <a:ext cx="0" cy="0"/>
          <a:chOff x="0" y="0"/>
          <a:chExt cx="0" cy="0"/>
        </a:xfrm>
      </p:grpSpPr>
      <p:sp>
        <p:nvSpPr>
          <p:cNvPr id="655" name="Google Shape;655;p57"/>
          <p:cNvSpPr txBox="1">
            <a:spLocks noGrp="1"/>
          </p:cNvSpPr>
          <p:nvPr>
            <p:ph type="title"/>
          </p:nvPr>
        </p:nvSpPr>
        <p:spPr>
          <a:xfrm>
            <a:off x="457200" y="457200"/>
            <a:ext cx="8229600" cy="990600"/>
          </a:xfrm>
          <a:prstGeom prst="rect">
            <a:avLst/>
          </a:prstGeom>
          <a:noFill/>
          <a:ln>
            <a:noFill/>
          </a:ln>
        </p:spPr>
        <p:txBody>
          <a:bodyPr spcFirstLastPara="1" wrap="square" lIns="0" tIns="45700" rIns="0" bIns="0" anchor="b" anchorCtr="0">
            <a:noAutofit/>
          </a:bodyPr>
          <a:lstStyle/>
          <a:p>
            <a:pPr marL="0" lvl="0" indent="0" algn="l" rtl="0">
              <a:spcBef>
                <a:spcPts val="0"/>
              </a:spcBef>
              <a:spcAft>
                <a:spcPts val="0"/>
              </a:spcAft>
              <a:buClr>
                <a:schemeClr val="dk2"/>
              </a:buClr>
              <a:buSzPts val="4000"/>
              <a:buFont typeface="Calibri"/>
              <a:buNone/>
            </a:pPr>
            <a:r>
              <a:rPr lang="en-US" sz="4000"/>
              <a:t>Analog Design for automobile wheel</a:t>
            </a:r>
            <a:endParaRPr sz="4000"/>
          </a:p>
        </p:txBody>
      </p:sp>
      <p:sp>
        <p:nvSpPr>
          <p:cNvPr id="656" name="Google Shape;656;p57"/>
          <p:cNvSpPr txBox="1">
            <a:spLocks noGrp="1"/>
          </p:cNvSpPr>
          <p:nvPr>
            <p:ph type="body" idx="1"/>
          </p:nvPr>
        </p:nvSpPr>
        <p:spPr>
          <a:xfrm>
            <a:off x="457200" y="1752600"/>
            <a:ext cx="8229600" cy="4572000"/>
          </a:xfrm>
          <a:prstGeom prst="rect">
            <a:avLst/>
          </a:prstGeom>
          <a:noFill/>
          <a:ln>
            <a:noFill/>
          </a:ln>
        </p:spPr>
        <p:txBody>
          <a:bodyPr spcFirstLastPara="1" wrap="square" lIns="91425" tIns="45700" rIns="91425" bIns="45700" anchor="t" anchorCtr="0">
            <a:normAutofit/>
          </a:bodyPr>
          <a:lstStyle/>
          <a:p>
            <a:pPr marL="274320" lvl="0" indent="-117475" algn="l" rtl="0">
              <a:spcBef>
                <a:spcPts val="0"/>
              </a:spcBef>
              <a:spcAft>
                <a:spcPts val="0"/>
              </a:spcAft>
              <a:buSzPts val="2470"/>
              <a:buNone/>
            </a:pPr>
            <a:endParaRPr/>
          </a:p>
          <a:p>
            <a:pPr marL="274320" lvl="0" indent="-117475" algn="l" rtl="0">
              <a:spcBef>
                <a:spcPts val="520"/>
              </a:spcBef>
              <a:spcAft>
                <a:spcPts val="0"/>
              </a:spcAft>
              <a:buSzPts val="2470"/>
              <a:buNone/>
            </a:pPr>
            <a:endParaRPr/>
          </a:p>
        </p:txBody>
      </p:sp>
      <p:pic>
        <p:nvPicPr>
          <p:cNvPr id="657" name="Google Shape;657;p57" descr="analog1.PNG"/>
          <p:cNvPicPr preferRelativeResize="0"/>
          <p:nvPr/>
        </p:nvPicPr>
        <p:blipFill rotWithShape="1">
          <a:blip r:embed="rId3">
            <a:alphaModFix/>
          </a:blip>
          <a:srcRect/>
          <a:stretch/>
        </p:blipFill>
        <p:spPr>
          <a:xfrm>
            <a:off x="762000" y="3124199"/>
            <a:ext cx="8131628" cy="3325033"/>
          </a:xfrm>
          <a:prstGeom prst="rect">
            <a:avLst/>
          </a:prstGeom>
          <a:noFill/>
          <a:ln>
            <a:noFill/>
          </a:ln>
        </p:spPr>
      </p:pic>
      <p:pic>
        <p:nvPicPr>
          <p:cNvPr id="658" name="Google Shape;658;p57" descr="eq0.PNG"/>
          <p:cNvPicPr preferRelativeResize="0"/>
          <p:nvPr/>
        </p:nvPicPr>
        <p:blipFill rotWithShape="1">
          <a:blip r:embed="rId4">
            <a:alphaModFix/>
          </a:blip>
          <a:srcRect/>
          <a:stretch/>
        </p:blipFill>
        <p:spPr>
          <a:xfrm>
            <a:off x="762000" y="1752600"/>
            <a:ext cx="3496163" cy="1066949"/>
          </a:xfrm>
          <a:prstGeom prst="rect">
            <a:avLst/>
          </a:prstGeom>
          <a:noFill/>
          <a:ln>
            <a:noFill/>
          </a:ln>
        </p:spPr>
      </p:pic>
      <p:pic>
        <p:nvPicPr>
          <p:cNvPr id="659" name="Google Shape;659;p57" descr="44.PNG"/>
          <p:cNvPicPr preferRelativeResize="0"/>
          <p:nvPr/>
        </p:nvPicPr>
        <p:blipFill rotWithShape="1">
          <a:blip r:embed="rId5">
            <a:alphaModFix/>
          </a:blip>
          <a:srcRect/>
          <a:stretch/>
        </p:blipFill>
        <p:spPr>
          <a:xfrm>
            <a:off x="762000" y="1981200"/>
            <a:ext cx="5921510" cy="1066800"/>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663"/>
        <p:cNvGrpSpPr/>
        <p:nvPr/>
      </p:nvGrpSpPr>
      <p:grpSpPr>
        <a:xfrm>
          <a:off x="0" y="0"/>
          <a:ext cx="0" cy="0"/>
          <a:chOff x="0" y="0"/>
          <a:chExt cx="0" cy="0"/>
        </a:xfrm>
      </p:grpSpPr>
      <p:sp>
        <p:nvSpPr>
          <p:cNvPr id="664" name="Google Shape;664;p58"/>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Analog Design for Human Liver</a:t>
            </a:r>
            <a:endParaRPr/>
          </a:p>
        </p:txBody>
      </p:sp>
      <p:sp>
        <p:nvSpPr>
          <p:cNvPr id="665" name="Google Shape;665;p58"/>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US"/>
              <a:t>The equations for human liver are</a:t>
            </a:r>
            <a:endParaRPr/>
          </a:p>
          <a:p>
            <a:pPr marL="640080" lvl="1" indent="-117348" algn="l" rtl="0">
              <a:spcBef>
                <a:spcPts val="480"/>
              </a:spcBef>
              <a:spcAft>
                <a:spcPts val="0"/>
              </a:spcAft>
              <a:buSzPts val="2040"/>
              <a:buNone/>
            </a:pPr>
            <a:endParaRPr/>
          </a:p>
        </p:txBody>
      </p:sp>
      <p:pic>
        <p:nvPicPr>
          <p:cNvPr id="666" name="Google Shape;666;p58" descr="eq1.PNG"/>
          <p:cNvPicPr preferRelativeResize="0"/>
          <p:nvPr/>
        </p:nvPicPr>
        <p:blipFill rotWithShape="1">
          <a:blip r:embed="rId3">
            <a:alphaModFix/>
          </a:blip>
          <a:srcRect/>
          <a:stretch/>
        </p:blipFill>
        <p:spPr>
          <a:xfrm>
            <a:off x="1219200" y="2514600"/>
            <a:ext cx="2600688" cy="752580"/>
          </a:xfrm>
          <a:prstGeom prst="rect">
            <a:avLst/>
          </a:prstGeom>
          <a:noFill/>
          <a:ln>
            <a:noFill/>
          </a:ln>
        </p:spPr>
      </p:pic>
      <p:pic>
        <p:nvPicPr>
          <p:cNvPr id="667" name="Google Shape;667;p58" descr="eq2.PNG"/>
          <p:cNvPicPr preferRelativeResize="0"/>
          <p:nvPr/>
        </p:nvPicPr>
        <p:blipFill rotWithShape="1">
          <a:blip r:embed="rId4">
            <a:alphaModFix/>
          </a:blip>
          <a:srcRect/>
          <a:stretch/>
        </p:blipFill>
        <p:spPr>
          <a:xfrm>
            <a:off x="990600" y="3429000"/>
            <a:ext cx="3572374" cy="676369"/>
          </a:xfrm>
          <a:prstGeom prst="rect">
            <a:avLst/>
          </a:prstGeom>
          <a:noFill/>
          <a:ln>
            <a:noFill/>
          </a:ln>
        </p:spPr>
      </p:pic>
      <p:pic>
        <p:nvPicPr>
          <p:cNvPr id="668" name="Google Shape;668;p58" descr="eq3.PNG"/>
          <p:cNvPicPr preferRelativeResize="0"/>
          <p:nvPr/>
        </p:nvPicPr>
        <p:blipFill rotWithShape="1">
          <a:blip r:embed="rId5">
            <a:alphaModFix/>
          </a:blip>
          <a:srcRect/>
          <a:stretch/>
        </p:blipFill>
        <p:spPr>
          <a:xfrm>
            <a:off x="1295400" y="4343400"/>
            <a:ext cx="1676634" cy="685896"/>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672"/>
        <p:cNvGrpSpPr/>
        <p:nvPr/>
      </p:nvGrpSpPr>
      <p:grpSpPr>
        <a:xfrm>
          <a:off x="0" y="0"/>
          <a:ext cx="0" cy="0"/>
          <a:chOff x="0" y="0"/>
          <a:chExt cx="0" cy="0"/>
        </a:xfrm>
      </p:grpSpPr>
      <p:sp>
        <p:nvSpPr>
          <p:cNvPr id="673" name="Google Shape;673;p59"/>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endParaRPr/>
          </a:p>
        </p:txBody>
      </p:sp>
      <p:pic>
        <p:nvPicPr>
          <p:cNvPr id="674" name="Google Shape;674;p59" descr="analog2.PNG"/>
          <p:cNvPicPr preferRelativeResize="0">
            <a:picLocks noGrp="1"/>
          </p:cNvPicPr>
          <p:nvPr>
            <p:ph type="body" idx="1"/>
          </p:nvPr>
        </p:nvPicPr>
        <p:blipFill rotWithShape="1">
          <a:blip r:embed="rId3">
            <a:alphaModFix/>
          </a:blip>
          <a:srcRect/>
          <a:stretch/>
        </p:blipFill>
        <p:spPr>
          <a:xfrm>
            <a:off x="838200" y="1371601"/>
            <a:ext cx="7467600" cy="4953000"/>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678"/>
        <p:cNvGrpSpPr/>
        <p:nvPr/>
      </p:nvGrpSpPr>
      <p:grpSpPr>
        <a:xfrm>
          <a:off x="0" y="0"/>
          <a:ext cx="0" cy="0"/>
          <a:chOff x="0" y="0"/>
          <a:chExt cx="0" cy="0"/>
        </a:xfrm>
      </p:grpSpPr>
      <p:sp>
        <p:nvSpPr>
          <p:cNvPr id="679" name="Google Shape;679;p60"/>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Hybrid Computers</a:t>
            </a:r>
            <a:endParaRPr/>
          </a:p>
        </p:txBody>
      </p:sp>
      <p:sp>
        <p:nvSpPr>
          <p:cNvPr id="680" name="Google Shape;680;p60"/>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fontScale="92500" lnSpcReduction="20000"/>
          </a:bodyPr>
          <a:lstStyle/>
          <a:p>
            <a:pPr marL="274320" lvl="0" indent="-274320" algn="l" rtl="0">
              <a:spcBef>
                <a:spcPts val="0"/>
              </a:spcBef>
              <a:spcAft>
                <a:spcPts val="0"/>
              </a:spcAft>
              <a:buSzPct val="95000"/>
              <a:buChar char="⚫"/>
            </a:pPr>
            <a:r>
              <a:rPr lang="en-US" b="1"/>
              <a:t>Hybrid computers</a:t>
            </a:r>
            <a:r>
              <a:rPr lang="en-US"/>
              <a:t> are computers that exhibit features of analog computers and digital computers. </a:t>
            </a:r>
            <a:endParaRPr/>
          </a:p>
          <a:p>
            <a:pPr marL="274320" lvl="0" indent="-274320" algn="l" rtl="0">
              <a:spcBef>
                <a:spcPts val="481"/>
              </a:spcBef>
              <a:spcAft>
                <a:spcPts val="0"/>
              </a:spcAft>
              <a:buSzPct val="95000"/>
              <a:buChar char="⚫"/>
            </a:pPr>
            <a:r>
              <a:rPr lang="en-US"/>
              <a:t>The digital component normally serves as the controller and provides logical and numerical operations, while the analog component often serves as a solver of differential equations and other mathematically complex equations.</a:t>
            </a:r>
            <a:endParaRPr/>
          </a:p>
          <a:p>
            <a:pPr marL="274320" lvl="0" indent="-274320" algn="l" rtl="0">
              <a:spcBef>
                <a:spcPts val="481"/>
              </a:spcBef>
              <a:spcAft>
                <a:spcPts val="0"/>
              </a:spcAft>
              <a:buSzPct val="95000"/>
              <a:buChar char="⚫"/>
            </a:pPr>
            <a:r>
              <a:rPr lang="en-US"/>
              <a:t>The first desktop hybrid computing system was the Hycomp 250, released by Packard Bell in 1961.</a:t>
            </a:r>
            <a:endParaRPr baseline="30000"/>
          </a:p>
          <a:p>
            <a:pPr marL="274320" lvl="0" indent="-274320" algn="l" rtl="0">
              <a:spcBef>
                <a:spcPts val="481"/>
              </a:spcBef>
              <a:spcAft>
                <a:spcPts val="0"/>
              </a:spcAft>
              <a:buSzPct val="95000"/>
              <a:buChar char="⚫"/>
            </a:pPr>
            <a:r>
              <a:rPr lang="en-US"/>
              <a:t>Another early example was the HYDAC 2400, an integrated hybrid computer released by EAI in 1963.</a:t>
            </a:r>
            <a:endParaRPr baseline="30000"/>
          </a:p>
          <a:p>
            <a:pPr marL="274320" lvl="0" indent="-274320" algn="l" rtl="0">
              <a:spcBef>
                <a:spcPts val="481"/>
              </a:spcBef>
              <a:spcAft>
                <a:spcPts val="0"/>
              </a:spcAft>
              <a:buSzPct val="95000"/>
              <a:buChar char="⚫"/>
            </a:pPr>
            <a:r>
              <a:rPr lang="en-US"/>
              <a:t>Late in the 20th century, hybrids dwindled with the increasing capabilities of digital computers including digital signal processors.</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684"/>
        <p:cNvGrpSpPr/>
        <p:nvPr/>
      </p:nvGrpSpPr>
      <p:grpSpPr>
        <a:xfrm>
          <a:off x="0" y="0"/>
          <a:ext cx="0" cy="0"/>
          <a:chOff x="0" y="0"/>
          <a:chExt cx="0" cy="0"/>
        </a:xfrm>
      </p:grpSpPr>
      <p:sp>
        <p:nvSpPr>
          <p:cNvPr id="685" name="Google Shape;685;p61"/>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endParaRPr/>
          </a:p>
        </p:txBody>
      </p:sp>
      <p:pic>
        <p:nvPicPr>
          <p:cNvPr id="686" name="Google Shape;686;p61"/>
          <p:cNvPicPr preferRelativeResize="0">
            <a:picLocks noGrp="1"/>
          </p:cNvPicPr>
          <p:nvPr>
            <p:ph type="body" idx="1"/>
          </p:nvPr>
        </p:nvPicPr>
        <p:blipFill rotWithShape="1">
          <a:blip r:embed="rId3">
            <a:alphaModFix/>
          </a:blip>
          <a:srcRect/>
          <a:stretch/>
        </p:blipFill>
        <p:spPr>
          <a:xfrm>
            <a:off x="546644" y="762000"/>
            <a:ext cx="7911556" cy="5344255"/>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690"/>
        <p:cNvGrpSpPr/>
        <p:nvPr/>
      </p:nvGrpSpPr>
      <p:grpSpPr>
        <a:xfrm>
          <a:off x="0" y="0"/>
          <a:ext cx="0" cy="0"/>
          <a:chOff x="0" y="0"/>
          <a:chExt cx="0" cy="0"/>
        </a:xfrm>
      </p:grpSpPr>
      <p:sp>
        <p:nvSpPr>
          <p:cNvPr id="691" name="Google Shape;691;p62"/>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Digital Analog Simulator</a:t>
            </a:r>
            <a:endParaRPr/>
          </a:p>
        </p:txBody>
      </p:sp>
      <p:sp>
        <p:nvSpPr>
          <p:cNvPr id="692" name="Google Shape;692;p62"/>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fontScale="70000" lnSpcReduction="20000"/>
          </a:bodyPr>
          <a:lstStyle/>
          <a:p>
            <a:pPr marL="274320" lvl="0" indent="-274320" algn="l" rtl="0">
              <a:spcBef>
                <a:spcPts val="0"/>
              </a:spcBef>
              <a:spcAft>
                <a:spcPts val="0"/>
              </a:spcAft>
              <a:buSzPct val="95000"/>
              <a:buChar char="⚫"/>
            </a:pPr>
            <a:r>
              <a:rPr lang="en-US"/>
              <a:t>Digital Analog Simulation (DAS) is a computer software which makes a digital computer operate much like an analog computer.</a:t>
            </a:r>
            <a:endParaRPr/>
          </a:p>
          <a:p>
            <a:pPr marL="274320" lvl="0" indent="-274320" algn="l" rtl="0">
              <a:spcBef>
                <a:spcPts val="364"/>
              </a:spcBef>
              <a:spcAft>
                <a:spcPts val="0"/>
              </a:spcAft>
              <a:buSzPct val="95000"/>
              <a:buChar char="⚫"/>
            </a:pPr>
            <a:r>
              <a:rPr lang="en-US"/>
              <a:t>The application of the technique to programming an IBM 7090 computer is described.</a:t>
            </a:r>
            <a:endParaRPr/>
          </a:p>
          <a:p>
            <a:pPr marL="274320" lvl="0" indent="-274320" algn="l" rtl="0">
              <a:spcBef>
                <a:spcPts val="364"/>
              </a:spcBef>
              <a:spcAft>
                <a:spcPts val="0"/>
              </a:spcAft>
              <a:buSzPct val="95000"/>
              <a:buChar char="⚫"/>
            </a:pPr>
            <a:r>
              <a:rPr lang="en-US"/>
              <a:t>Although it is not intended primarily as an analog computer simulator, the similarity of DAS programming to analog programming is readily apparent.</a:t>
            </a:r>
            <a:endParaRPr/>
          </a:p>
          <a:p>
            <a:pPr marL="274320" lvl="0" indent="-274320" algn="l" rtl="0">
              <a:spcBef>
                <a:spcPts val="364"/>
              </a:spcBef>
              <a:spcAft>
                <a:spcPts val="0"/>
              </a:spcAft>
              <a:buSzPct val="95000"/>
              <a:buChar char="⚫"/>
            </a:pPr>
            <a:r>
              <a:rPr lang="en-US"/>
              <a:t>DAS combines remarkable ease and speed of programming with reasonably high computing speed. </a:t>
            </a:r>
            <a:endParaRPr/>
          </a:p>
          <a:p>
            <a:pPr marL="274320" lvl="0" indent="-274320" algn="l" rtl="0">
              <a:spcBef>
                <a:spcPts val="364"/>
              </a:spcBef>
              <a:spcAft>
                <a:spcPts val="0"/>
              </a:spcAft>
              <a:buSzPct val="95000"/>
              <a:buChar char="⚫"/>
            </a:pPr>
            <a:r>
              <a:rPr lang="en-US"/>
              <a:t>The DAS input language is designed to permit a simple and concise description of an analog-style block diagram of the problem to be solved. </a:t>
            </a:r>
            <a:endParaRPr/>
          </a:p>
          <a:p>
            <a:pPr marL="274320" lvl="0" indent="-274320" algn="l" rtl="0">
              <a:spcBef>
                <a:spcPts val="364"/>
              </a:spcBef>
              <a:spcAft>
                <a:spcPts val="0"/>
              </a:spcAft>
              <a:buSzPct val="95000"/>
              <a:buChar char="⚫"/>
            </a:pPr>
            <a:r>
              <a:rPr lang="en-US"/>
              <a:t>The blocks in the diagram are restricted to summers, integrators, multipliers, limiters, relays and other "components" for which 'macro-instructions appear in the DAS compiler. </a:t>
            </a:r>
            <a:endParaRPr/>
          </a:p>
          <a:p>
            <a:pPr marL="274320" lvl="0" indent="-274320" algn="l" rtl="0">
              <a:spcBef>
                <a:spcPts val="364"/>
              </a:spcBef>
              <a:spcAft>
                <a:spcPts val="0"/>
              </a:spcAft>
              <a:buSzPct val="95000"/>
              <a:buChar char="⚫"/>
            </a:pPr>
            <a:r>
              <a:rPr lang="en-US"/>
              <a:t>The construction of a DAS block diagram is more straight-forward than an analog computer block diagram because there is virtually no restriction on the number of available components, and because no amplitude scaling is required. </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696"/>
        <p:cNvGrpSpPr/>
        <p:nvPr/>
      </p:nvGrpSpPr>
      <p:grpSpPr>
        <a:xfrm>
          <a:off x="0" y="0"/>
          <a:ext cx="0" cy="0"/>
          <a:chOff x="0" y="0"/>
          <a:chExt cx="0" cy="0"/>
        </a:xfrm>
      </p:grpSpPr>
      <p:sp>
        <p:nvSpPr>
          <p:cNvPr id="697" name="Google Shape;697;p63"/>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endParaRPr/>
          </a:p>
        </p:txBody>
      </p:sp>
      <p:pic>
        <p:nvPicPr>
          <p:cNvPr id="698" name="Google Shape;698;p63"/>
          <p:cNvPicPr preferRelativeResize="0">
            <a:picLocks noGrp="1"/>
          </p:cNvPicPr>
          <p:nvPr>
            <p:ph type="body" idx="1"/>
          </p:nvPr>
        </p:nvPicPr>
        <p:blipFill rotWithShape="1">
          <a:blip r:embed="rId3">
            <a:alphaModFix/>
          </a:blip>
          <a:srcRect/>
          <a:stretch/>
        </p:blipFill>
        <p:spPr>
          <a:xfrm>
            <a:off x="381000" y="690562"/>
            <a:ext cx="8305800" cy="5629275"/>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702"/>
        <p:cNvGrpSpPr/>
        <p:nvPr/>
      </p:nvGrpSpPr>
      <p:grpSpPr>
        <a:xfrm>
          <a:off x="0" y="0"/>
          <a:ext cx="0" cy="0"/>
          <a:chOff x="0" y="0"/>
          <a:chExt cx="0" cy="0"/>
        </a:xfrm>
      </p:grpSpPr>
      <p:sp>
        <p:nvSpPr>
          <p:cNvPr id="703" name="Google Shape;703;p64"/>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fontScale="90000"/>
          </a:bodyPr>
          <a:lstStyle/>
          <a:p>
            <a:pPr marL="0" lvl="0" indent="0" algn="l" rtl="0">
              <a:spcBef>
                <a:spcPts val="0"/>
              </a:spcBef>
              <a:spcAft>
                <a:spcPts val="0"/>
              </a:spcAft>
              <a:buClr>
                <a:schemeClr val="dk2"/>
              </a:buClr>
              <a:buSzPct val="100000"/>
              <a:buFont typeface="Calibri"/>
              <a:buNone/>
            </a:pPr>
            <a:r>
              <a:rPr lang="en-US"/>
              <a:t>Continuous System Simulation Language</a:t>
            </a:r>
            <a:endParaRPr/>
          </a:p>
        </p:txBody>
      </p:sp>
      <p:sp>
        <p:nvSpPr>
          <p:cNvPr id="704" name="Google Shape;704;p64"/>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US"/>
              <a:t>Continuous System Simulation Languages are high level languages which facilitates  modeling and simulation of the system characterized by ordinary and partial differential equation.</a:t>
            </a:r>
            <a:endParaRPr/>
          </a:p>
          <a:p>
            <a:pPr marL="274320" lvl="0" indent="-274320" algn="l" rtl="0">
              <a:spcBef>
                <a:spcPts val="520"/>
              </a:spcBef>
              <a:spcAft>
                <a:spcPts val="0"/>
              </a:spcAft>
              <a:buSzPts val="2470"/>
              <a:buChar char="⚫"/>
            </a:pPr>
            <a:r>
              <a:rPr lang="en-US"/>
              <a:t>Examples</a:t>
            </a:r>
            <a:endParaRPr/>
          </a:p>
          <a:p>
            <a:pPr marL="914400" lvl="2" indent="-246887" algn="l" rtl="0">
              <a:spcBef>
                <a:spcPts val="420"/>
              </a:spcBef>
              <a:spcAft>
                <a:spcPts val="0"/>
              </a:spcAft>
              <a:buSzPts val="1470"/>
              <a:buChar char="⚫"/>
            </a:pPr>
            <a:r>
              <a:rPr lang="en-US"/>
              <a:t>Continuous System Simulation Program (CSMP)</a:t>
            </a:r>
            <a:endParaRPr/>
          </a:p>
          <a:p>
            <a:pPr marL="914400" lvl="2" indent="-246887" algn="l" rtl="0">
              <a:spcBef>
                <a:spcPts val="420"/>
              </a:spcBef>
              <a:spcAft>
                <a:spcPts val="0"/>
              </a:spcAft>
              <a:buSzPts val="1470"/>
              <a:buChar char="⚫"/>
            </a:pPr>
            <a:r>
              <a:rPr lang="en-US"/>
              <a:t>Partial Equation Differential Language (PEDL)</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708"/>
        <p:cNvGrpSpPr/>
        <p:nvPr/>
      </p:nvGrpSpPr>
      <p:grpSpPr>
        <a:xfrm>
          <a:off x="0" y="0"/>
          <a:ext cx="0" cy="0"/>
          <a:chOff x="0" y="0"/>
          <a:chExt cx="0" cy="0"/>
        </a:xfrm>
      </p:grpSpPr>
      <p:sp>
        <p:nvSpPr>
          <p:cNvPr id="709" name="Google Shape;709;p65"/>
          <p:cNvSpPr txBox="1">
            <a:spLocks noGrp="1"/>
          </p:cNvSpPr>
          <p:nvPr>
            <p:ph type="title"/>
          </p:nvPr>
        </p:nvSpPr>
        <p:spPr>
          <a:xfrm>
            <a:off x="381000" y="152400"/>
            <a:ext cx="8229600" cy="1143000"/>
          </a:xfrm>
          <a:prstGeom prst="rect">
            <a:avLst/>
          </a:prstGeom>
          <a:noFill/>
          <a:ln>
            <a:noFill/>
          </a:ln>
        </p:spPr>
        <p:txBody>
          <a:bodyPr spcFirstLastPara="1" wrap="square" lIns="0" tIns="45700" rIns="0" bIns="0" anchor="b" anchorCtr="0">
            <a:noAutofit/>
          </a:bodyPr>
          <a:lstStyle/>
          <a:p>
            <a:pPr marL="0" lvl="0" indent="0" algn="l" rtl="0">
              <a:spcBef>
                <a:spcPts val="0"/>
              </a:spcBef>
              <a:spcAft>
                <a:spcPts val="0"/>
              </a:spcAft>
              <a:buClr>
                <a:schemeClr val="dk2"/>
              </a:buClr>
              <a:buSzPts val="2800"/>
              <a:buFont typeface="Calibri"/>
              <a:buNone/>
            </a:pPr>
            <a:r>
              <a:rPr lang="en-US" sz="2800"/>
              <a:t>CSMPIII PROGRAM OF WHEEL SUSPENSION SYSTEM OF AN AUTOMOBILE</a:t>
            </a:r>
            <a:endParaRPr sz="2800"/>
          </a:p>
        </p:txBody>
      </p:sp>
      <p:pic>
        <p:nvPicPr>
          <p:cNvPr id="710" name="Google Shape;710;p65" descr="csmp1.PNG"/>
          <p:cNvPicPr preferRelativeResize="0">
            <a:picLocks noGrp="1"/>
          </p:cNvPicPr>
          <p:nvPr>
            <p:ph type="body" idx="1"/>
          </p:nvPr>
        </p:nvPicPr>
        <p:blipFill rotWithShape="1">
          <a:blip r:embed="rId3">
            <a:alphaModFix/>
          </a:blip>
          <a:srcRect/>
          <a:stretch/>
        </p:blipFill>
        <p:spPr>
          <a:xfrm>
            <a:off x="1981200" y="1353611"/>
            <a:ext cx="5181599" cy="5351989"/>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714"/>
        <p:cNvGrpSpPr/>
        <p:nvPr/>
      </p:nvGrpSpPr>
      <p:grpSpPr>
        <a:xfrm>
          <a:off x="0" y="0"/>
          <a:ext cx="0" cy="0"/>
          <a:chOff x="0" y="0"/>
          <a:chExt cx="0" cy="0"/>
        </a:xfrm>
      </p:grpSpPr>
      <p:sp>
        <p:nvSpPr>
          <p:cNvPr id="715" name="Google Shape;715;p66"/>
          <p:cNvSpPr txBox="1">
            <a:spLocks noGrp="1"/>
          </p:cNvSpPr>
          <p:nvPr>
            <p:ph type="title"/>
          </p:nvPr>
        </p:nvSpPr>
        <p:spPr>
          <a:xfrm>
            <a:off x="457200" y="228600"/>
            <a:ext cx="8229600" cy="990600"/>
          </a:xfrm>
          <a:prstGeom prst="rect">
            <a:avLst/>
          </a:prstGeom>
          <a:noFill/>
          <a:ln>
            <a:noFill/>
          </a:ln>
        </p:spPr>
        <p:txBody>
          <a:bodyPr spcFirstLastPara="1" wrap="square" lIns="0" tIns="45700" rIns="0" bIns="0" anchor="b" anchorCtr="0">
            <a:normAutofit fontScale="90000"/>
          </a:bodyPr>
          <a:lstStyle/>
          <a:p>
            <a:pPr marL="0" lvl="0" indent="0" algn="l" rtl="0">
              <a:spcBef>
                <a:spcPts val="0"/>
              </a:spcBef>
              <a:spcAft>
                <a:spcPts val="0"/>
              </a:spcAft>
              <a:buClr>
                <a:schemeClr val="dk2"/>
              </a:buClr>
              <a:buSzPct val="100000"/>
              <a:buFont typeface="Calibri"/>
              <a:buNone/>
            </a:pPr>
            <a:r>
              <a:rPr lang="en-US"/>
              <a:t>Continuous System Simulation Language (CSSL)</a:t>
            </a:r>
            <a:endParaRPr/>
          </a:p>
        </p:txBody>
      </p:sp>
      <p:sp>
        <p:nvSpPr>
          <p:cNvPr id="716" name="Google Shape;716;p66"/>
          <p:cNvSpPr txBox="1">
            <a:spLocks noGrp="1"/>
          </p:cNvSpPr>
          <p:nvPr>
            <p:ph type="body" idx="1"/>
          </p:nvPr>
        </p:nvSpPr>
        <p:spPr>
          <a:xfrm>
            <a:off x="457200" y="1295400"/>
            <a:ext cx="8229600" cy="5029200"/>
          </a:xfrm>
          <a:prstGeom prst="rect">
            <a:avLst/>
          </a:prstGeom>
          <a:noFill/>
          <a:ln>
            <a:noFill/>
          </a:ln>
        </p:spPr>
        <p:txBody>
          <a:bodyPr spcFirstLastPara="1" wrap="square" lIns="91425" tIns="45700" rIns="91425" bIns="45700" anchor="t" anchorCtr="0">
            <a:normAutofit fontScale="77500" lnSpcReduction="20000"/>
          </a:bodyPr>
          <a:lstStyle/>
          <a:p>
            <a:pPr marL="274320" lvl="0" indent="-274320" algn="l" rtl="0">
              <a:spcBef>
                <a:spcPts val="0"/>
              </a:spcBef>
              <a:spcAft>
                <a:spcPts val="0"/>
              </a:spcAft>
              <a:buSzPct val="95000"/>
              <a:buChar char="⚫"/>
            </a:pPr>
            <a:r>
              <a:rPr lang="en-US" b="1">
                <a:solidFill>
                  <a:srgbClr val="0C0C0C"/>
                </a:solidFill>
              </a:rPr>
              <a:t>CSMP III, or Continuous System Modeling Program IlI</a:t>
            </a:r>
            <a:r>
              <a:rPr lang="en-US">
                <a:solidFill>
                  <a:srgbClr val="0C0C0C"/>
                </a:solidFill>
              </a:rPr>
              <a:t> is an early scientific computer software designed for modeling and solving differential equations numerically. </a:t>
            </a:r>
            <a:endParaRPr>
              <a:solidFill>
                <a:srgbClr val="0C0C0C"/>
              </a:solidFill>
            </a:endParaRPr>
          </a:p>
          <a:p>
            <a:pPr marL="274320" lvl="0" indent="-274320" algn="l" rtl="0">
              <a:spcBef>
                <a:spcPts val="403"/>
              </a:spcBef>
              <a:spcAft>
                <a:spcPts val="0"/>
              </a:spcAft>
              <a:buSzPct val="95000"/>
              <a:buChar char="⚫"/>
            </a:pPr>
            <a:r>
              <a:rPr lang="en-US"/>
              <a:t>This enables real-world systems to be simulated and tested with a computer.</a:t>
            </a:r>
            <a:endParaRPr/>
          </a:p>
          <a:p>
            <a:pPr marL="274320" lvl="0" indent="-274320" algn="l" rtl="0">
              <a:spcBef>
                <a:spcPts val="403"/>
              </a:spcBef>
              <a:spcAft>
                <a:spcPts val="0"/>
              </a:spcAft>
              <a:buSzPct val="95000"/>
              <a:buChar char="⚫"/>
            </a:pPr>
            <a:r>
              <a:rPr lang="en-US"/>
              <a:t>They use statement type of input for digital computer and allow a problem to program directly from an equation of mathematical model.</a:t>
            </a:r>
            <a:endParaRPr/>
          </a:p>
          <a:p>
            <a:pPr marL="274320" lvl="0" indent="-274320" algn="l" rtl="0">
              <a:spcBef>
                <a:spcPts val="403"/>
              </a:spcBef>
              <a:spcAft>
                <a:spcPts val="0"/>
              </a:spcAft>
              <a:buSzPct val="95000"/>
              <a:buChar char="⚫"/>
            </a:pPr>
            <a:r>
              <a:rPr lang="en-US"/>
              <a:t>CSMP III It consists of three types of statement</a:t>
            </a:r>
            <a:endParaRPr/>
          </a:p>
          <a:p>
            <a:pPr marL="640080" lvl="1" indent="-246888" algn="l" rtl="0">
              <a:spcBef>
                <a:spcPts val="372"/>
              </a:spcBef>
              <a:spcAft>
                <a:spcPts val="0"/>
              </a:spcAft>
              <a:buSzPct val="85000"/>
              <a:buChar char="⚫"/>
            </a:pPr>
            <a:r>
              <a:rPr lang="en-US"/>
              <a:t> </a:t>
            </a:r>
            <a:r>
              <a:rPr lang="en-US" b="1"/>
              <a:t>1. Structural Statement </a:t>
            </a:r>
            <a:endParaRPr/>
          </a:p>
          <a:p>
            <a:pPr marL="640080" lvl="1" indent="-246888" algn="l" rtl="0">
              <a:spcBef>
                <a:spcPts val="372"/>
              </a:spcBef>
              <a:spcAft>
                <a:spcPts val="0"/>
              </a:spcAft>
              <a:buSzPct val="85000"/>
              <a:buChar char="⚫"/>
            </a:pPr>
            <a:r>
              <a:rPr lang="en-US" b="1"/>
              <a:t>2.  Data Statement </a:t>
            </a:r>
            <a:endParaRPr/>
          </a:p>
          <a:p>
            <a:pPr marL="640080" lvl="1" indent="-246888" algn="l" rtl="0">
              <a:spcBef>
                <a:spcPts val="372"/>
              </a:spcBef>
              <a:spcAft>
                <a:spcPts val="0"/>
              </a:spcAft>
              <a:buSzPct val="85000"/>
              <a:buChar char="⚫"/>
            </a:pPr>
            <a:r>
              <a:rPr lang="en-US" b="1"/>
              <a:t>3. Control Statement </a:t>
            </a:r>
            <a:endParaRPr/>
          </a:p>
          <a:p>
            <a:pPr marL="274320" lvl="0" indent="-274320" algn="l" rtl="0">
              <a:spcBef>
                <a:spcPts val="403"/>
              </a:spcBef>
              <a:spcAft>
                <a:spcPts val="0"/>
              </a:spcAft>
              <a:buSzPct val="95000"/>
              <a:buChar char="⚫"/>
            </a:pPr>
            <a:r>
              <a:rPr lang="en-US" b="1"/>
              <a:t>Structural Statement </a:t>
            </a:r>
            <a:r>
              <a:rPr lang="en-US"/>
              <a:t>It defines the model; it consists of FORTAN like statement and functional blocks.</a:t>
            </a:r>
            <a:endParaRPr/>
          </a:p>
          <a:p>
            <a:pPr marL="274320" lvl="0" indent="-274320" algn="l" rtl="0">
              <a:spcBef>
                <a:spcPts val="403"/>
              </a:spcBef>
              <a:spcAft>
                <a:spcPts val="0"/>
              </a:spcAft>
              <a:buSzPct val="95000"/>
              <a:buChar char="⚫"/>
            </a:pPr>
            <a:r>
              <a:rPr lang="en-US"/>
              <a:t> </a:t>
            </a:r>
            <a:r>
              <a:rPr lang="en-US" b="1"/>
              <a:t>Data Statement </a:t>
            </a:r>
            <a:r>
              <a:rPr lang="en-US"/>
              <a:t>They assign numerical value to parameters, constraints and initial conditions. </a:t>
            </a:r>
            <a:endParaRPr/>
          </a:p>
          <a:p>
            <a:pPr marL="274320" lvl="0" indent="-274320" algn="l" rtl="0">
              <a:spcBef>
                <a:spcPts val="403"/>
              </a:spcBef>
              <a:spcAft>
                <a:spcPts val="0"/>
              </a:spcAft>
              <a:buSzPct val="95000"/>
              <a:buChar char="⚫"/>
            </a:pPr>
            <a:r>
              <a:rPr lang="en-US" b="1"/>
              <a:t>Control Statement </a:t>
            </a:r>
            <a:r>
              <a:rPr lang="en-US"/>
              <a:t>They specify option’s in assembly an execution of the program &amp; the choice of output. </a:t>
            </a:r>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720"/>
        <p:cNvGrpSpPr/>
        <p:nvPr/>
      </p:nvGrpSpPr>
      <p:grpSpPr>
        <a:xfrm>
          <a:off x="0" y="0"/>
          <a:ext cx="0" cy="0"/>
          <a:chOff x="0" y="0"/>
          <a:chExt cx="0" cy="0"/>
        </a:xfrm>
      </p:grpSpPr>
      <p:sp>
        <p:nvSpPr>
          <p:cNvPr id="721" name="Google Shape;721;p67"/>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endParaRPr/>
          </a:p>
        </p:txBody>
      </p:sp>
      <p:sp>
        <p:nvSpPr>
          <p:cNvPr id="722" name="Google Shape;722;p67"/>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p>
            <a:pPr marL="514350" lvl="0" indent="-514350" algn="l" rtl="0">
              <a:spcBef>
                <a:spcPts val="0"/>
              </a:spcBef>
              <a:spcAft>
                <a:spcPts val="0"/>
              </a:spcAft>
              <a:buSzPts val="2470"/>
              <a:buAutoNum type="arabicPeriod"/>
            </a:pPr>
            <a:r>
              <a:rPr lang="en-US" b="1"/>
              <a:t>Structural statement</a:t>
            </a:r>
            <a:r>
              <a:rPr lang="en-US"/>
              <a:t>,</a:t>
            </a:r>
            <a:endParaRPr/>
          </a:p>
          <a:p>
            <a:pPr marL="0" lvl="0" indent="0" algn="l" rtl="0">
              <a:spcBef>
                <a:spcPts val="520"/>
              </a:spcBef>
              <a:spcAft>
                <a:spcPts val="0"/>
              </a:spcAft>
              <a:buSzPts val="2470"/>
              <a:buNone/>
            </a:pPr>
            <a:r>
              <a:rPr lang="en-US"/>
              <a:t>	X = (6.0*Y)/W+ (Z-2.0) **2.0</a:t>
            </a:r>
            <a:endParaRPr/>
          </a:p>
          <a:p>
            <a:pPr marL="640080" lvl="1" indent="-246888" algn="l" rtl="0">
              <a:spcBef>
                <a:spcPts val="480"/>
              </a:spcBef>
              <a:spcAft>
                <a:spcPts val="0"/>
              </a:spcAft>
              <a:buSzPts val="2040"/>
              <a:buChar char="⚫"/>
            </a:pPr>
            <a:r>
              <a:rPr lang="en-US" b="1"/>
              <a:t>Functional blocks </a:t>
            </a:r>
            <a:r>
              <a:rPr lang="en-US"/>
              <a:t>There are various functional block’s. 1. INTEGRATOR</a:t>
            </a:r>
            <a:endParaRPr/>
          </a:p>
          <a:p>
            <a:pPr marL="274320" lvl="0" indent="-117475" algn="l" rtl="0">
              <a:spcBef>
                <a:spcPts val="520"/>
              </a:spcBef>
              <a:spcAft>
                <a:spcPts val="0"/>
              </a:spcAft>
              <a:buSzPts val="2470"/>
              <a:buNone/>
            </a:pPr>
            <a:endParaRPr/>
          </a:p>
        </p:txBody>
      </p:sp>
      <p:pic>
        <p:nvPicPr>
          <p:cNvPr id="723" name="Google Shape;723;p67" descr="ing.PNG"/>
          <p:cNvPicPr preferRelativeResize="0"/>
          <p:nvPr/>
        </p:nvPicPr>
        <p:blipFill rotWithShape="1">
          <a:blip r:embed="rId3">
            <a:alphaModFix/>
          </a:blip>
          <a:srcRect/>
          <a:stretch/>
        </p:blipFill>
        <p:spPr>
          <a:xfrm>
            <a:off x="2362200" y="3809999"/>
            <a:ext cx="3048000" cy="2110155"/>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727"/>
        <p:cNvGrpSpPr/>
        <p:nvPr/>
      </p:nvGrpSpPr>
      <p:grpSpPr>
        <a:xfrm>
          <a:off x="0" y="0"/>
          <a:ext cx="0" cy="0"/>
          <a:chOff x="0" y="0"/>
          <a:chExt cx="0" cy="0"/>
        </a:xfrm>
      </p:grpSpPr>
      <p:sp>
        <p:nvSpPr>
          <p:cNvPr id="728" name="Google Shape;728;p68"/>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endParaRPr/>
          </a:p>
        </p:txBody>
      </p:sp>
      <p:sp>
        <p:nvSpPr>
          <p:cNvPr id="729" name="Google Shape;729;p68"/>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p>
            <a:pPr marL="640080" lvl="1" indent="-246888" algn="l" rtl="0">
              <a:spcBef>
                <a:spcPts val="0"/>
              </a:spcBef>
              <a:spcAft>
                <a:spcPts val="0"/>
              </a:spcAft>
              <a:buSzPts val="2040"/>
              <a:buChar char="⚫"/>
            </a:pPr>
            <a:r>
              <a:rPr lang="en-US" b="1"/>
              <a:t>2. LIMITOR </a:t>
            </a:r>
            <a:r>
              <a:rPr lang="en-US"/>
              <a:t>It is used to limit a function within some range.</a:t>
            </a:r>
            <a:endParaRPr/>
          </a:p>
          <a:p>
            <a:pPr marL="274320" lvl="0" indent="-117475" algn="l" rtl="0">
              <a:spcBef>
                <a:spcPts val="520"/>
              </a:spcBef>
              <a:spcAft>
                <a:spcPts val="0"/>
              </a:spcAft>
              <a:buSzPts val="2470"/>
              <a:buNone/>
            </a:pPr>
            <a:endParaRPr/>
          </a:p>
          <a:p>
            <a:pPr marL="274320" lvl="0" indent="-117475" algn="l" rtl="0">
              <a:spcBef>
                <a:spcPts val="520"/>
              </a:spcBef>
              <a:spcAft>
                <a:spcPts val="0"/>
              </a:spcAft>
              <a:buSzPts val="2470"/>
              <a:buNone/>
            </a:pPr>
            <a:endParaRPr/>
          </a:p>
        </p:txBody>
      </p:sp>
      <p:pic>
        <p:nvPicPr>
          <p:cNvPr id="730" name="Google Shape;730;p68" descr="lim.PNG"/>
          <p:cNvPicPr preferRelativeResize="0"/>
          <p:nvPr/>
        </p:nvPicPr>
        <p:blipFill rotWithShape="1">
          <a:blip r:embed="rId3">
            <a:alphaModFix/>
          </a:blip>
          <a:srcRect/>
          <a:stretch/>
        </p:blipFill>
        <p:spPr>
          <a:xfrm>
            <a:off x="1143000" y="2839092"/>
            <a:ext cx="7001704" cy="3371607"/>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734"/>
        <p:cNvGrpSpPr/>
        <p:nvPr/>
      </p:nvGrpSpPr>
      <p:grpSpPr>
        <a:xfrm>
          <a:off x="0" y="0"/>
          <a:ext cx="0" cy="0"/>
          <a:chOff x="0" y="0"/>
          <a:chExt cx="0" cy="0"/>
        </a:xfrm>
      </p:grpSpPr>
      <p:sp>
        <p:nvSpPr>
          <p:cNvPr id="735" name="Google Shape;735;p69"/>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endParaRPr/>
          </a:p>
        </p:txBody>
      </p:sp>
      <p:sp>
        <p:nvSpPr>
          <p:cNvPr id="736" name="Google Shape;736;p69"/>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p>
            <a:pPr marL="640080" lvl="1" indent="-246888" algn="l" rtl="0">
              <a:spcBef>
                <a:spcPts val="0"/>
              </a:spcBef>
              <a:spcAft>
                <a:spcPts val="0"/>
              </a:spcAft>
              <a:buSzPts val="2040"/>
              <a:buChar char="⚫"/>
            </a:pPr>
            <a:r>
              <a:rPr lang="en-US" b="1"/>
              <a:t>3. STEP FUNCTION</a:t>
            </a:r>
            <a:endParaRPr/>
          </a:p>
          <a:p>
            <a:pPr marL="914400" lvl="2" indent="-246887" algn="l" rtl="0">
              <a:spcBef>
                <a:spcPts val="420"/>
              </a:spcBef>
              <a:spcAft>
                <a:spcPts val="0"/>
              </a:spcAft>
              <a:buSzPts val="1470"/>
              <a:buChar char="⚫"/>
            </a:pPr>
            <a:r>
              <a:rPr lang="en-US"/>
              <a:t>Y=STEP (P) </a:t>
            </a:r>
            <a:endParaRPr/>
          </a:p>
          <a:p>
            <a:pPr marL="914400" lvl="2" indent="-246887" algn="l" rtl="0">
              <a:spcBef>
                <a:spcPts val="420"/>
              </a:spcBef>
              <a:spcAft>
                <a:spcPts val="0"/>
              </a:spcAft>
              <a:buSzPts val="1470"/>
              <a:buChar char="⚫"/>
            </a:pPr>
            <a:r>
              <a:rPr lang="en-US"/>
              <a:t>Y= Y=SIN(X)</a:t>
            </a:r>
            <a:endParaRPr/>
          </a:p>
          <a:p>
            <a:pPr marL="914400" lvl="2" indent="-246887" algn="l" rtl="0">
              <a:spcBef>
                <a:spcPts val="420"/>
              </a:spcBef>
              <a:spcAft>
                <a:spcPts val="0"/>
              </a:spcAft>
              <a:buSzPts val="1470"/>
              <a:buChar char="⚫"/>
            </a:pPr>
            <a:r>
              <a:rPr lang="en-US"/>
              <a:t>Y=ABS(X)</a:t>
            </a:r>
            <a:endParaRPr/>
          </a:p>
          <a:p>
            <a:pPr marL="274320" lvl="0" indent="-117475" algn="l" rtl="0">
              <a:spcBef>
                <a:spcPts val="520"/>
              </a:spcBef>
              <a:spcAft>
                <a:spcPts val="0"/>
              </a:spcAft>
              <a:buSzPts val="2470"/>
              <a:buNone/>
            </a:pPr>
            <a:endParaRPr/>
          </a:p>
        </p:txBody>
      </p:sp>
      <p:pic>
        <p:nvPicPr>
          <p:cNvPr id="737" name="Google Shape;737;p69" descr="step.PNG"/>
          <p:cNvPicPr preferRelativeResize="0"/>
          <p:nvPr/>
        </p:nvPicPr>
        <p:blipFill rotWithShape="1">
          <a:blip r:embed="rId3">
            <a:alphaModFix/>
          </a:blip>
          <a:srcRect/>
          <a:stretch/>
        </p:blipFill>
        <p:spPr>
          <a:xfrm>
            <a:off x="4572000" y="3581400"/>
            <a:ext cx="3872092" cy="2562202"/>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741"/>
        <p:cNvGrpSpPr/>
        <p:nvPr/>
      </p:nvGrpSpPr>
      <p:grpSpPr>
        <a:xfrm>
          <a:off x="0" y="0"/>
          <a:ext cx="0" cy="0"/>
          <a:chOff x="0" y="0"/>
          <a:chExt cx="0" cy="0"/>
        </a:xfrm>
      </p:grpSpPr>
      <p:sp>
        <p:nvSpPr>
          <p:cNvPr id="742" name="Google Shape;742;p70"/>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endParaRPr/>
          </a:p>
        </p:txBody>
      </p:sp>
      <p:sp>
        <p:nvSpPr>
          <p:cNvPr id="743" name="Google Shape;743;p70"/>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p>
            <a:pPr marL="393192" lvl="1" indent="0" algn="l" rtl="0">
              <a:spcBef>
                <a:spcPts val="0"/>
              </a:spcBef>
              <a:spcAft>
                <a:spcPts val="0"/>
              </a:spcAft>
              <a:buSzPts val="2040"/>
              <a:buNone/>
            </a:pPr>
            <a:r>
              <a:rPr lang="en-US" b="1"/>
              <a:t>2. DATA STATEMENT IN CSMP-III</a:t>
            </a:r>
            <a:endParaRPr/>
          </a:p>
          <a:p>
            <a:pPr marL="914400" lvl="2" indent="-246887" algn="l" rtl="0">
              <a:spcBef>
                <a:spcPts val="420"/>
              </a:spcBef>
              <a:spcAft>
                <a:spcPts val="0"/>
              </a:spcAft>
              <a:buSzPts val="1470"/>
              <a:buChar char="⚫"/>
            </a:pPr>
            <a:r>
              <a:rPr lang="en-US"/>
              <a:t>It can be used to set the initial values of the integration function. </a:t>
            </a:r>
            <a:endParaRPr/>
          </a:p>
          <a:p>
            <a:pPr marL="914400" lvl="2" indent="-246887" algn="l" rtl="0">
              <a:spcBef>
                <a:spcPts val="420"/>
              </a:spcBef>
              <a:spcAft>
                <a:spcPts val="0"/>
              </a:spcAft>
              <a:buSzPts val="1470"/>
              <a:buChar char="⚫"/>
            </a:pPr>
            <a:r>
              <a:rPr lang="en-US"/>
              <a:t>CONST A=0.5 </a:t>
            </a:r>
            <a:endParaRPr/>
          </a:p>
          <a:p>
            <a:pPr marL="914400" lvl="2" indent="-246887" algn="l" rtl="0">
              <a:spcBef>
                <a:spcPts val="420"/>
              </a:spcBef>
              <a:spcAft>
                <a:spcPts val="0"/>
              </a:spcAft>
              <a:buSzPts val="1470"/>
              <a:buChar char="⚫"/>
            </a:pPr>
            <a:r>
              <a:rPr lang="en-US"/>
              <a:t>PARAM It is used to specify a series of values in a parameter. </a:t>
            </a:r>
            <a:endParaRPr/>
          </a:p>
          <a:p>
            <a:pPr marL="914400" lvl="2" indent="-246887" algn="l" rtl="0">
              <a:spcBef>
                <a:spcPts val="420"/>
              </a:spcBef>
              <a:spcAft>
                <a:spcPts val="0"/>
              </a:spcAft>
              <a:buSzPts val="1470"/>
              <a:buChar char="⚫"/>
            </a:pPr>
            <a:r>
              <a:rPr lang="en-US"/>
              <a:t>PARAM D= (0.25, 0.50, 0.75, 1.0)</a:t>
            </a:r>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747"/>
        <p:cNvGrpSpPr/>
        <p:nvPr/>
      </p:nvGrpSpPr>
      <p:grpSpPr>
        <a:xfrm>
          <a:off x="0" y="0"/>
          <a:ext cx="0" cy="0"/>
          <a:chOff x="0" y="0"/>
          <a:chExt cx="0" cy="0"/>
        </a:xfrm>
      </p:grpSpPr>
      <p:sp>
        <p:nvSpPr>
          <p:cNvPr id="748" name="Google Shape;748;p71"/>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endParaRPr/>
          </a:p>
        </p:txBody>
      </p:sp>
      <p:sp>
        <p:nvSpPr>
          <p:cNvPr id="749" name="Google Shape;749;p71"/>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fontScale="92500" lnSpcReduction="10000"/>
          </a:bodyPr>
          <a:lstStyle/>
          <a:p>
            <a:pPr marL="274320" lvl="0" indent="-274320" algn="l" rtl="0">
              <a:spcBef>
                <a:spcPts val="0"/>
              </a:spcBef>
              <a:spcAft>
                <a:spcPts val="0"/>
              </a:spcAft>
              <a:buSzPct val="95000"/>
              <a:buChar char="⚫"/>
            </a:pPr>
            <a:r>
              <a:rPr lang="en-US" b="1" dirty="0"/>
              <a:t>3. CONTROL STATEMENT </a:t>
            </a:r>
            <a:endParaRPr dirty="0"/>
          </a:p>
          <a:p>
            <a:pPr marL="914400" lvl="2" indent="-246910" algn="l" rtl="0">
              <a:spcBef>
                <a:spcPts val="388"/>
              </a:spcBef>
              <a:spcAft>
                <a:spcPts val="0"/>
              </a:spcAft>
              <a:buSzPct val="70000"/>
              <a:buChar char="⚫"/>
            </a:pPr>
            <a:r>
              <a:rPr lang="en-US" dirty="0"/>
              <a:t>TIMER It is used to specify certain time interval.</a:t>
            </a:r>
            <a:endParaRPr dirty="0"/>
          </a:p>
          <a:p>
            <a:pPr marL="274320" lvl="0" indent="-274320" algn="l" rtl="0">
              <a:spcBef>
                <a:spcPts val="481"/>
              </a:spcBef>
              <a:spcAft>
                <a:spcPts val="0"/>
              </a:spcAft>
              <a:buSzPct val="95000"/>
              <a:buChar char="⚫"/>
            </a:pPr>
            <a:r>
              <a:rPr lang="en-US" dirty="0"/>
              <a:t> Ex:- </a:t>
            </a:r>
            <a:endParaRPr dirty="0"/>
          </a:p>
          <a:p>
            <a:pPr marL="640080" lvl="1" indent="-246888" algn="l" rtl="0">
              <a:spcBef>
                <a:spcPts val="444"/>
              </a:spcBef>
              <a:spcAft>
                <a:spcPts val="0"/>
              </a:spcAft>
              <a:buSzPct val="85000"/>
              <a:buChar char="⚫"/>
            </a:pPr>
            <a:r>
              <a:rPr lang="en-US" dirty="0"/>
              <a:t>TIMER DELT = 0.05 (Integration interval)</a:t>
            </a:r>
            <a:endParaRPr dirty="0"/>
          </a:p>
          <a:p>
            <a:pPr marL="640080" lvl="1" indent="-246888" algn="l" rtl="0">
              <a:spcBef>
                <a:spcPts val="444"/>
              </a:spcBef>
              <a:spcAft>
                <a:spcPts val="0"/>
              </a:spcAft>
              <a:buSzPct val="85000"/>
              <a:buChar char="⚫"/>
            </a:pPr>
            <a:r>
              <a:rPr lang="en-US" dirty="0"/>
              <a:t>FINTIM = 1.5 (Finish time) </a:t>
            </a:r>
            <a:endParaRPr dirty="0"/>
          </a:p>
          <a:p>
            <a:pPr marL="640080" lvl="1" indent="-246888" algn="l" rtl="0">
              <a:spcBef>
                <a:spcPts val="444"/>
              </a:spcBef>
              <a:spcAft>
                <a:spcPts val="0"/>
              </a:spcAft>
              <a:buSzPct val="85000"/>
              <a:buChar char="⚫"/>
            </a:pPr>
            <a:r>
              <a:rPr lang="en-US" dirty="0" smtClean="0"/>
              <a:t>PREDEL </a:t>
            </a:r>
            <a:r>
              <a:rPr lang="en-US" dirty="0"/>
              <a:t>= 0.1 (Interval at which to print result) OUTDEL = 0.1 (Interval at which to print-plot)</a:t>
            </a:r>
            <a:endParaRPr dirty="0"/>
          </a:p>
          <a:p>
            <a:pPr marL="640080" lvl="1" indent="-246888" algn="l" rtl="0">
              <a:spcBef>
                <a:spcPts val="444"/>
              </a:spcBef>
              <a:spcAft>
                <a:spcPts val="0"/>
              </a:spcAft>
              <a:buSzPct val="85000"/>
              <a:buChar char="⚫"/>
            </a:pPr>
            <a:r>
              <a:rPr lang="en-US" dirty="0"/>
              <a:t>If printed or print-plot output is required, control statement with the word PRINT and PRTLT are follows by the names of variable. </a:t>
            </a:r>
            <a:endParaRPr dirty="0"/>
          </a:p>
          <a:p>
            <a:pPr marL="640080" lvl="1" indent="-246888" algn="l" rtl="0">
              <a:spcBef>
                <a:spcPts val="444"/>
              </a:spcBef>
              <a:spcAft>
                <a:spcPts val="0"/>
              </a:spcAft>
              <a:buSzPct val="85000"/>
              <a:buChar char="⚫"/>
            </a:pPr>
            <a:r>
              <a:rPr lang="en-US" dirty="0"/>
              <a:t>TITLE, LABLE is used to put heading on the printed and PRTLT output.</a:t>
            </a:r>
            <a:endParaRPr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753"/>
        <p:cNvGrpSpPr/>
        <p:nvPr/>
      </p:nvGrpSpPr>
      <p:grpSpPr>
        <a:xfrm>
          <a:off x="0" y="0"/>
          <a:ext cx="0" cy="0"/>
          <a:chOff x="0" y="0"/>
          <a:chExt cx="0" cy="0"/>
        </a:xfrm>
      </p:grpSpPr>
      <p:sp>
        <p:nvSpPr>
          <p:cNvPr id="754" name="Google Shape;754;p72"/>
          <p:cNvSpPr txBox="1">
            <a:spLocks noGrp="1"/>
          </p:cNvSpPr>
          <p:nvPr>
            <p:ph type="title"/>
          </p:nvPr>
        </p:nvSpPr>
        <p:spPr>
          <a:xfrm>
            <a:off x="457200" y="152400"/>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endParaRPr/>
          </a:p>
        </p:txBody>
      </p:sp>
      <p:pic>
        <p:nvPicPr>
          <p:cNvPr id="755" name="Google Shape;755;p72"/>
          <p:cNvPicPr preferRelativeResize="0">
            <a:picLocks noGrp="1"/>
          </p:cNvPicPr>
          <p:nvPr>
            <p:ph type="body" idx="1"/>
          </p:nvPr>
        </p:nvPicPr>
        <p:blipFill rotWithShape="1">
          <a:blip r:embed="rId3">
            <a:alphaModFix/>
          </a:blip>
          <a:srcRect/>
          <a:stretch/>
        </p:blipFill>
        <p:spPr>
          <a:xfrm>
            <a:off x="1066800" y="509215"/>
            <a:ext cx="6096000" cy="6296811"/>
          </a:xfrm>
          <a:prstGeom prst="rect">
            <a:avLst/>
          </a:prstGeom>
          <a:noFill/>
          <a:ln>
            <a:noFill/>
          </a:ln>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759"/>
        <p:cNvGrpSpPr/>
        <p:nvPr/>
      </p:nvGrpSpPr>
      <p:grpSpPr>
        <a:xfrm>
          <a:off x="0" y="0"/>
          <a:ext cx="0" cy="0"/>
          <a:chOff x="0" y="0"/>
          <a:chExt cx="0" cy="0"/>
        </a:xfrm>
      </p:grpSpPr>
      <p:sp>
        <p:nvSpPr>
          <p:cNvPr id="760" name="Google Shape;760;p73"/>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Feedback System</a:t>
            </a:r>
            <a:endParaRPr/>
          </a:p>
        </p:txBody>
      </p:sp>
      <p:sp>
        <p:nvSpPr>
          <p:cNvPr id="761" name="Google Shape;761;p73"/>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US" b="1"/>
              <a:t>Feedback</a:t>
            </a:r>
            <a:r>
              <a:rPr lang="en-US"/>
              <a:t> occurs when outputs of a system are routed back as inputs as part of a chain of cause-and-effect that forms a circuit or loop.</a:t>
            </a:r>
            <a:endParaRPr baseline="30000"/>
          </a:p>
          <a:p>
            <a:pPr marL="274320" lvl="0" indent="-274320" algn="l" rtl="0">
              <a:spcBef>
                <a:spcPts val="520"/>
              </a:spcBef>
              <a:spcAft>
                <a:spcPts val="0"/>
              </a:spcAft>
              <a:buSzPts val="2470"/>
              <a:buChar char="⚫"/>
            </a:pPr>
            <a:r>
              <a:rPr lang="en-US"/>
              <a:t> The system can then be said to </a:t>
            </a:r>
            <a:r>
              <a:rPr lang="en-US" i="1"/>
              <a:t>feed back</a:t>
            </a:r>
            <a:r>
              <a:rPr lang="en-US"/>
              <a:t> into itself.</a:t>
            </a:r>
            <a:endParaRPr/>
          </a:p>
          <a:p>
            <a:pPr marL="274320" lvl="0" indent="-117475" algn="l" rtl="0">
              <a:spcBef>
                <a:spcPts val="520"/>
              </a:spcBef>
              <a:spcAft>
                <a:spcPts val="0"/>
              </a:spcAft>
              <a:buSzPts val="2470"/>
              <a:buNone/>
            </a:pPr>
            <a:endParaRPr/>
          </a:p>
          <a:p>
            <a:pPr marL="274320" lvl="0" indent="-117475" algn="l" rtl="0">
              <a:spcBef>
                <a:spcPts val="520"/>
              </a:spcBef>
              <a:spcAft>
                <a:spcPts val="0"/>
              </a:spcAft>
              <a:buSzPts val="2470"/>
              <a:buNone/>
            </a:pPr>
            <a:endParaRPr/>
          </a:p>
          <a:p>
            <a:pPr marL="274320" lvl="0" indent="-117475" algn="l" rtl="0">
              <a:spcBef>
                <a:spcPts val="520"/>
              </a:spcBef>
              <a:spcAft>
                <a:spcPts val="0"/>
              </a:spcAft>
              <a:buSzPts val="2470"/>
              <a:buNone/>
            </a:pPr>
            <a:endParaRPr/>
          </a:p>
          <a:p>
            <a:pPr marL="274320" lvl="0" indent="-117475" algn="l" rtl="0">
              <a:spcBef>
                <a:spcPts val="520"/>
              </a:spcBef>
              <a:spcAft>
                <a:spcPts val="0"/>
              </a:spcAft>
              <a:buSzPts val="2470"/>
              <a:buNone/>
            </a:pPr>
            <a:endParaRPr/>
          </a:p>
          <a:p>
            <a:pPr marL="0" lvl="0" indent="0" algn="ctr" rtl="0">
              <a:spcBef>
                <a:spcPts val="520"/>
              </a:spcBef>
              <a:spcAft>
                <a:spcPts val="0"/>
              </a:spcAft>
              <a:buSzPts val="2470"/>
              <a:buNone/>
            </a:pPr>
            <a:r>
              <a:rPr lang="en-US"/>
              <a:t>Figure: Feedback System</a:t>
            </a:r>
            <a:endParaRPr/>
          </a:p>
        </p:txBody>
      </p:sp>
      <p:pic>
        <p:nvPicPr>
          <p:cNvPr id="762" name="Google Shape;762;p73"/>
          <p:cNvPicPr preferRelativeResize="0"/>
          <p:nvPr/>
        </p:nvPicPr>
        <p:blipFill rotWithShape="1">
          <a:blip r:embed="rId3">
            <a:alphaModFix/>
          </a:blip>
          <a:srcRect/>
          <a:stretch/>
        </p:blipFill>
        <p:spPr>
          <a:xfrm>
            <a:off x="2590800" y="3955869"/>
            <a:ext cx="3505200" cy="1447799"/>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766"/>
        <p:cNvGrpSpPr/>
        <p:nvPr/>
      </p:nvGrpSpPr>
      <p:grpSpPr>
        <a:xfrm>
          <a:off x="0" y="0"/>
          <a:ext cx="0" cy="0"/>
          <a:chOff x="0" y="0"/>
          <a:chExt cx="0" cy="0"/>
        </a:xfrm>
      </p:grpSpPr>
      <p:sp>
        <p:nvSpPr>
          <p:cNvPr id="767" name="Google Shape;767;p74"/>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endParaRPr/>
          </a:p>
        </p:txBody>
      </p:sp>
      <p:pic>
        <p:nvPicPr>
          <p:cNvPr id="768" name="Google Shape;768;p74"/>
          <p:cNvPicPr preferRelativeResize="0">
            <a:picLocks noGrp="1"/>
          </p:cNvPicPr>
          <p:nvPr>
            <p:ph type="body" idx="1"/>
          </p:nvPr>
        </p:nvPicPr>
        <p:blipFill rotWithShape="1">
          <a:blip r:embed="rId3">
            <a:alphaModFix/>
          </a:blip>
          <a:srcRect/>
          <a:stretch/>
        </p:blipFill>
        <p:spPr>
          <a:xfrm>
            <a:off x="636567" y="763962"/>
            <a:ext cx="8126433" cy="4951038"/>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772"/>
        <p:cNvGrpSpPr/>
        <p:nvPr/>
      </p:nvGrpSpPr>
      <p:grpSpPr>
        <a:xfrm>
          <a:off x="0" y="0"/>
          <a:ext cx="0" cy="0"/>
          <a:chOff x="0" y="0"/>
          <a:chExt cx="0" cy="0"/>
        </a:xfrm>
      </p:grpSpPr>
      <p:sp>
        <p:nvSpPr>
          <p:cNvPr id="773" name="Google Shape;773;p75"/>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Interactive System</a:t>
            </a:r>
            <a:endParaRPr/>
          </a:p>
        </p:txBody>
      </p:sp>
      <p:sp>
        <p:nvSpPr>
          <p:cNvPr id="774" name="Google Shape;774;p75"/>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fontScale="85000" lnSpcReduction="20000"/>
          </a:bodyPr>
          <a:lstStyle/>
          <a:p>
            <a:pPr marL="274320" lvl="0" indent="-274320" algn="l" rtl="0">
              <a:spcBef>
                <a:spcPts val="0"/>
              </a:spcBef>
              <a:spcAft>
                <a:spcPts val="0"/>
              </a:spcAft>
              <a:buSzPct val="95000"/>
              <a:buChar char="⚫"/>
            </a:pPr>
            <a:r>
              <a:rPr lang="en-US"/>
              <a:t>Interactive systems are computer systems characterized by significant amounts of interaction between humans and the computer.</a:t>
            </a:r>
            <a:endParaRPr/>
          </a:p>
          <a:p>
            <a:pPr marL="274320" lvl="0" indent="-274320" algn="l" rtl="0">
              <a:spcBef>
                <a:spcPts val="442"/>
              </a:spcBef>
              <a:spcAft>
                <a:spcPts val="0"/>
              </a:spcAft>
              <a:buSzPct val="95000"/>
              <a:buChar char="⚫"/>
            </a:pPr>
            <a:r>
              <a:rPr lang="en-US"/>
              <a:t>It is a computer device made up by a CPU and peripherals, whose functioning requires a constant interaction with the user.</a:t>
            </a:r>
            <a:endParaRPr/>
          </a:p>
          <a:p>
            <a:pPr marL="274320" lvl="0" indent="-274320" algn="l" rtl="0">
              <a:spcBef>
                <a:spcPts val="442"/>
              </a:spcBef>
              <a:spcAft>
                <a:spcPts val="0"/>
              </a:spcAft>
              <a:buSzPct val="95000"/>
              <a:buChar char="⚫"/>
            </a:pPr>
            <a:r>
              <a:rPr lang="en-US"/>
              <a:t>Most users have grown up using Macintosh or Windows computer operating systems, which are prime examples of graphical interactive systems.</a:t>
            </a:r>
            <a:endParaRPr/>
          </a:p>
          <a:p>
            <a:pPr marL="274320" lvl="0" indent="-274320" algn="l" rtl="0">
              <a:spcBef>
                <a:spcPts val="442"/>
              </a:spcBef>
              <a:spcAft>
                <a:spcPts val="0"/>
              </a:spcAft>
              <a:buSzPct val="95000"/>
              <a:buChar char="⚫"/>
            </a:pPr>
            <a:r>
              <a:rPr lang="en-US"/>
              <a:t>Editors, CAD-CAM (Computer Aided Design-Computer Aided Manufacture) systems, and data entry systems are all computer systems involving a high degree of human-computer interaction.</a:t>
            </a:r>
            <a:endParaRPr/>
          </a:p>
          <a:p>
            <a:pPr marL="274320" lvl="0" indent="-274320" algn="l" rtl="0">
              <a:spcBef>
                <a:spcPts val="442"/>
              </a:spcBef>
              <a:spcAft>
                <a:spcPts val="0"/>
              </a:spcAft>
              <a:buSzPct val="95000"/>
              <a:buChar char="⚫"/>
            </a:pPr>
            <a:r>
              <a:rPr lang="en-US"/>
              <a:t>Games and simulations are interactive systems. </a:t>
            </a:r>
            <a:endParaRPr/>
          </a:p>
          <a:p>
            <a:pPr marL="274320" lvl="0" indent="-274320" algn="l" rtl="0">
              <a:spcBef>
                <a:spcPts val="442"/>
              </a:spcBef>
              <a:spcAft>
                <a:spcPts val="0"/>
              </a:spcAft>
              <a:buSzPct val="95000"/>
              <a:buChar char="⚫"/>
            </a:pPr>
            <a:r>
              <a:rPr lang="en-US"/>
              <a:t>Web browsers and Integrated Development Environments (IDEs) are also examples of very complex interactive systems.</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778"/>
        <p:cNvGrpSpPr/>
        <p:nvPr/>
      </p:nvGrpSpPr>
      <p:grpSpPr>
        <a:xfrm>
          <a:off x="0" y="0"/>
          <a:ext cx="0" cy="0"/>
          <a:chOff x="0" y="0"/>
          <a:chExt cx="0" cy="0"/>
        </a:xfrm>
      </p:grpSpPr>
      <p:sp>
        <p:nvSpPr>
          <p:cNvPr id="779" name="Google Shape;779;p76"/>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endParaRPr/>
          </a:p>
        </p:txBody>
      </p:sp>
      <p:pic>
        <p:nvPicPr>
          <p:cNvPr id="780" name="Google Shape;780;p76"/>
          <p:cNvPicPr preferRelativeResize="0">
            <a:picLocks noGrp="1"/>
          </p:cNvPicPr>
          <p:nvPr>
            <p:ph type="body" idx="1"/>
          </p:nvPr>
        </p:nvPicPr>
        <p:blipFill rotWithShape="1">
          <a:blip r:embed="rId3">
            <a:alphaModFix/>
          </a:blip>
          <a:srcRect/>
          <a:stretch/>
        </p:blipFill>
        <p:spPr>
          <a:xfrm>
            <a:off x="533400" y="762000"/>
            <a:ext cx="3429000" cy="2745932"/>
          </a:xfrm>
          <a:prstGeom prst="rect">
            <a:avLst/>
          </a:prstGeom>
          <a:noFill/>
          <a:ln>
            <a:noFill/>
          </a:ln>
        </p:spPr>
      </p:pic>
      <p:pic>
        <p:nvPicPr>
          <p:cNvPr id="781" name="Google Shape;781;p76"/>
          <p:cNvPicPr preferRelativeResize="0"/>
          <p:nvPr/>
        </p:nvPicPr>
        <p:blipFill rotWithShape="1">
          <a:blip r:embed="rId4">
            <a:alphaModFix/>
          </a:blip>
          <a:srcRect/>
          <a:stretch/>
        </p:blipFill>
        <p:spPr>
          <a:xfrm>
            <a:off x="5257800" y="3429000"/>
            <a:ext cx="2990000" cy="2921000"/>
          </a:xfrm>
          <a:prstGeom prst="rect">
            <a:avLst/>
          </a:prstGeom>
          <a:noFill/>
          <a:ln>
            <a:noFill/>
          </a:ln>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785"/>
        <p:cNvGrpSpPr/>
        <p:nvPr/>
      </p:nvGrpSpPr>
      <p:grpSpPr>
        <a:xfrm>
          <a:off x="0" y="0"/>
          <a:ext cx="0" cy="0"/>
          <a:chOff x="0" y="0"/>
          <a:chExt cx="0" cy="0"/>
        </a:xfrm>
      </p:grpSpPr>
      <p:sp>
        <p:nvSpPr>
          <p:cNvPr id="786" name="Google Shape;786;p77"/>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Real Time Simulation </a:t>
            </a:r>
            <a:endParaRPr/>
          </a:p>
        </p:txBody>
      </p:sp>
      <p:sp>
        <p:nvSpPr>
          <p:cNvPr id="787" name="Google Shape;787;p77"/>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fontScale="77500" lnSpcReduction="20000"/>
          </a:bodyPr>
          <a:lstStyle/>
          <a:p>
            <a:pPr marL="274320" lvl="0" indent="-274320" algn="l" rtl="0">
              <a:spcBef>
                <a:spcPts val="0"/>
              </a:spcBef>
              <a:spcAft>
                <a:spcPts val="0"/>
              </a:spcAft>
              <a:buSzPct val="95000"/>
              <a:buChar char="⚫"/>
            </a:pPr>
            <a:r>
              <a:rPr lang="en-US" b="1"/>
              <a:t>Real-time simulation</a:t>
            </a:r>
            <a:r>
              <a:rPr lang="en-US"/>
              <a:t> refers to a computer model of a physical system that can execute at the same rate as actual "wall clock" time.</a:t>
            </a:r>
            <a:endParaRPr/>
          </a:p>
          <a:p>
            <a:pPr marL="274320" lvl="0" indent="-274320" algn="l" rtl="0">
              <a:spcBef>
                <a:spcPts val="403"/>
              </a:spcBef>
              <a:spcAft>
                <a:spcPts val="0"/>
              </a:spcAft>
              <a:buSzPct val="95000"/>
              <a:buChar char="⚫"/>
            </a:pPr>
            <a:r>
              <a:rPr lang="en-US"/>
              <a:t> In other words, the computer model runs at the same rate as the actual physical system. For example, if a tank takes 10 minutes to fill in the real-world, the simulation would take 10 minutes as well.</a:t>
            </a:r>
            <a:endParaRPr/>
          </a:p>
          <a:p>
            <a:pPr marL="274320" lvl="0" indent="-274320" algn="l" rtl="0">
              <a:spcBef>
                <a:spcPts val="403"/>
              </a:spcBef>
              <a:spcAft>
                <a:spcPts val="0"/>
              </a:spcAft>
              <a:buSzPct val="95000"/>
              <a:buChar char="⚫"/>
            </a:pPr>
            <a:r>
              <a:rPr lang="en-US"/>
              <a:t>Real-time simulation occurs commonly in computer gaming, but also is important in the industrial market for operator training and off-line controller tuning.</a:t>
            </a:r>
            <a:endParaRPr baseline="30000"/>
          </a:p>
          <a:p>
            <a:pPr marL="274320" lvl="0" indent="-274320" algn="l" rtl="0">
              <a:spcBef>
                <a:spcPts val="403"/>
              </a:spcBef>
              <a:spcAft>
                <a:spcPts val="0"/>
              </a:spcAft>
              <a:buSzPct val="95000"/>
              <a:buChar char="⚫"/>
            </a:pPr>
            <a:r>
              <a:rPr lang="en-US"/>
              <a:t>Computer languages like LabVIEW, VisSim and Simulink allow quick creation of such real-time simulations and have connections to industrial displays and Programmable Logic Controllers .</a:t>
            </a:r>
            <a:endParaRPr/>
          </a:p>
          <a:p>
            <a:pPr marL="274320" lvl="0" indent="-274320" algn="l" rtl="0">
              <a:spcBef>
                <a:spcPts val="403"/>
              </a:spcBef>
              <a:spcAft>
                <a:spcPts val="0"/>
              </a:spcAft>
              <a:buSzPct val="95000"/>
              <a:buChar char="⚫"/>
            </a:pPr>
            <a:r>
              <a:rPr lang="en-US"/>
              <a:t>Several real-time simulator are available on the market like xPC Target and RT-LAB for mechatronic systems and using Simulink, eFPGAsim and eDRIVEsim for power electronic simulation and eMEGAsim, HYPERSIM and RTDS for power grid real-time.</a:t>
            </a:r>
            <a:endParaRPr/>
          </a:p>
          <a:p>
            <a:pPr marL="274320" lvl="0" indent="-152765" algn="l" rtl="0">
              <a:spcBef>
                <a:spcPts val="403"/>
              </a:spcBef>
              <a:spcAft>
                <a:spcPts val="0"/>
              </a:spcAft>
              <a:buSzPct val="95000"/>
              <a:buNone/>
            </a:pPr>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791"/>
        <p:cNvGrpSpPr/>
        <p:nvPr/>
      </p:nvGrpSpPr>
      <p:grpSpPr>
        <a:xfrm>
          <a:off x="0" y="0"/>
          <a:ext cx="0" cy="0"/>
          <a:chOff x="0" y="0"/>
          <a:chExt cx="0" cy="0"/>
        </a:xfrm>
      </p:grpSpPr>
      <p:sp>
        <p:nvSpPr>
          <p:cNvPr id="792" name="Google Shape;792;p78"/>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endParaRPr/>
          </a:p>
        </p:txBody>
      </p:sp>
      <p:pic>
        <p:nvPicPr>
          <p:cNvPr id="793" name="Google Shape;793;p78"/>
          <p:cNvPicPr preferRelativeResize="0">
            <a:picLocks noGrp="1"/>
          </p:cNvPicPr>
          <p:nvPr>
            <p:ph type="body" idx="1"/>
          </p:nvPr>
        </p:nvPicPr>
        <p:blipFill rotWithShape="1">
          <a:blip r:embed="rId3">
            <a:alphaModFix/>
          </a:blip>
          <a:srcRect/>
          <a:stretch/>
        </p:blipFill>
        <p:spPr>
          <a:xfrm>
            <a:off x="5105400" y="3810000"/>
            <a:ext cx="3886200" cy="2847902"/>
          </a:xfrm>
          <a:prstGeom prst="rect">
            <a:avLst/>
          </a:prstGeom>
          <a:noFill/>
          <a:ln>
            <a:noFill/>
          </a:ln>
        </p:spPr>
      </p:pic>
      <p:pic>
        <p:nvPicPr>
          <p:cNvPr id="794" name="Google Shape;794;p78"/>
          <p:cNvPicPr preferRelativeResize="0"/>
          <p:nvPr/>
        </p:nvPicPr>
        <p:blipFill rotWithShape="1">
          <a:blip r:embed="rId4">
            <a:alphaModFix/>
          </a:blip>
          <a:srcRect/>
          <a:stretch/>
        </p:blipFill>
        <p:spPr>
          <a:xfrm>
            <a:off x="-152400" y="10886"/>
            <a:ext cx="4791075" cy="4038600"/>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798"/>
        <p:cNvGrpSpPr/>
        <p:nvPr/>
      </p:nvGrpSpPr>
      <p:grpSpPr>
        <a:xfrm>
          <a:off x="0" y="0"/>
          <a:ext cx="0" cy="0"/>
          <a:chOff x="0" y="0"/>
          <a:chExt cx="0" cy="0"/>
        </a:xfrm>
      </p:grpSpPr>
      <p:sp>
        <p:nvSpPr>
          <p:cNvPr id="799" name="Google Shape;799;p79"/>
          <p:cNvSpPr txBox="1">
            <a:spLocks noGrp="1"/>
          </p:cNvSpPr>
          <p:nvPr>
            <p:ph type="title"/>
          </p:nvPr>
        </p:nvSpPr>
        <p:spPr>
          <a:xfrm>
            <a:off x="457200" y="533400"/>
            <a:ext cx="8229600" cy="1752600"/>
          </a:xfrm>
          <a:prstGeom prst="rect">
            <a:avLst/>
          </a:prstGeom>
          <a:noFill/>
          <a:ln>
            <a:noFill/>
          </a:ln>
        </p:spPr>
        <p:txBody>
          <a:bodyPr spcFirstLastPara="1" wrap="square" lIns="0" tIns="45700" rIns="0" bIns="0" anchor="b" anchorCtr="0">
            <a:normAutofit fontScale="90000"/>
          </a:bodyPr>
          <a:lstStyle/>
          <a:p>
            <a:pPr marL="0" lvl="0" indent="0" algn="l" rtl="0">
              <a:spcBef>
                <a:spcPts val="0"/>
              </a:spcBef>
              <a:spcAft>
                <a:spcPts val="0"/>
              </a:spcAft>
              <a:buClr>
                <a:schemeClr val="dk2"/>
              </a:buClr>
              <a:buSzPct val="100000"/>
              <a:buFont typeface="Calibri"/>
              <a:buNone/>
            </a:pPr>
            <a:r>
              <a:rPr lang="en-US"/>
              <a:t/>
            </a:r>
            <a:br>
              <a:rPr lang="en-US"/>
            </a:br>
            <a:r>
              <a:rPr lang="en-US"/>
              <a:t/>
            </a:r>
            <a:br>
              <a:rPr lang="en-US"/>
            </a:br>
            <a:r>
              <a:rPr lang="en-US"/>
              <a:t/>
            </a:r>
            <a:br>
              <a:rPr lang="en-US"/>
            </a:br>
            <a:r>
              <a:rPr lang="en-US"/>
              <a:t/>
            </a:r>
            <a:br>
              <a:rPr lang="en-US"/>
            </a:br>
            <a:r>
              <a:rPr lang="en-US"/>
              <a:t/>
            </a:r>
            <a:br>
              <a:rPr lang="en-US"/>
            </a:br>
            <a:r>
              <a:rPr lang="en-US"/>
              <a:t/>
            </a:r>
            <a:br>
              <a:rPr lang="en-US"/>
            </a:br>
            <a:r>
              <a:rPr lang="en-US"/>
              <a:t/>
            </a:r>
            <a:br>
              <a:rPr lang="en-US"/>
            </a:br>
            <a:r>
              <a:rPr lang="en-US"/>
              <a:t/>
            </a:r>
            <a:br>
              <a:rPr lang="en-US"/>
            </a:br>
            <a:r>
              <a:rPr lang="en-US"/>
              <a:t/>
            </a:r>
            <a:br>
              <a:rPr lang="en-US"/>
            </a:br>
            <a:r>
              <a:rPr lang="en-US"/>
              <a:t/>
            </a:r>
            <a:br>
              <a:rPr lang="en-US"/>
            </a:br>
            <a:r>
              <a:rPr lang="en-US"/>
              <a:t/>
            </a:r>
            <a:br>
              <a:rPr lang="en-US"/>
            </a:br>
            <a:r>
              <a:rPr lang="en-US"/>
              <a:t/>
            </a:r>
            <a:br>
              <a:rPr lang="en-US"/>
            </a:br>
            <a:r>
              <a:rPr lang="en-US"/>
              <a:t/>
            </a:r>
            <a:br>
              <a:rPr lang="en-US"/>
            </a:br>
            <a:r>
              <a:rPr lang="en-US"/>
              <a:t/>
            </a:r>
            <a:br>
              <a:rPr lang="en-US"/>
            </a:br>
            <a:r>
              <a:rPr lang="en-US"/>
              <a:t/>
            </a:r>
            <a:br>
              <a:rPr lang="en-US"/>
            </a:br>
            <a:r>
              <a:rPr lang="en-US"/>
              <a:t/>
            </a:r>
            <a:br>
              <a:rPr lang="en-US"/>
            </a:br>
            <a:r>
              <a:rPr lang="en-US"/>
              <a:t/>
            </a:r>
            <a:br>
              <a:rPr lang="en-US"/>
            </a:br>
            <a:r>
              <a:rPr lang="en-US"/>
              <a:t/>
            </a:r>
            <a:br>
              <a:rPr lang="en-US"/>
            </a:br>
            <a:r>
              <a:rPr lang="en-US"/>
              <a:t/>
            </a:r>
            <a:br>
              <a:rPr lang="en-US"/>
            </a:br>
            <a:r>
              <a:rPr lang="en-US"/>
              <a:t/>
            </a:r>
            <a:br>
              <a:rPr lang="en-US"/>
            </a:br>
            <a:r>
              <a:rPr lang="en-US"/>
              <a:t/>
            </a:r>
            <a:br>
              <a:rPr lang="en-US"/>
            </a:br>
            <a:r>
              <a:rPr lang="en-US"/>
              <a:t/>
            </a:r>
            <a:br>
              <a:rPr lang="en-US"/>
            </a:br>
            <a:r>
              <a:rPr lang="en-US"/>
              <a:t/>
            </a:r>
            <a:br>
              <a:rPr lang="en-US"/>
            </a:br>
            <a:r>
              <a:rPr lang="en-US"/>
              <a:t/>
            </a:r>
            <a:br>
              <a:rPr lang="en-US"/>
            </a:br>
            <a:r>
              <a:rPr lang="en-US"/>
              <a:t/>
            </a:r>
            <a:br>
              <a:rPr lang="en-US"/>
            </a:br>
            <a:r>
              <a:rPr lang="en-US"/>
              <a:t>Predator Prey Model</a:t>
            </a:r>
            <a:br>
              <a:rPr lang="en-US"/>
            </a:br>
            <a:r>
              <a:rPr lang="en-US"/>
              <a:t>Lotka–Volterra equations</a:t>
            </a:r>
            <a:br>
              <a:rPr lang="en-US"/>
            </a:br>
            <a:endParaRPr/>
          </a:p>
        </p:txBody>
      </p:sp>
      <p:sp>
        <p:nvSpPr>
          <p:cNvPr id="800" name="Google Shape;800;p79"/>
          <p:cNvSpPr txBox="1">
            <a:spLocks noGrp="1"/>
          </p:cNvSpPr>
          <p:nvPr>
            <p:ph type="body" idx="1"/>
          </p:nvPr>
        </p:nvSpPr>
        <p:spPr>
          <a:xfrm>
            <a:off x="457200" y="1752600"/>
            <a:ext cx="8229600" cy="472440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US"/>
              <a:t>The </a:t>
            </a:r>
            <a:r>
              <a:rPr lang="en-US" b="1"/>
              <a:t>Lotka–Volterra equations</a:t>
            </a:r>
            <a:r>
              <a:rPr lang="en-US"/>
              <a:t>, also known as the </a:t>
            </a:r>
            <a:r>
              <a:rPr lang="en-US" b="1"/>
              <a:t>predator–prey equations</a:t>
            </a:r>
            <a:r>
              <a:rPr lang="en-US"/>
              <a:t>, are a pair of first-order, nonlinear, differential equations frequently used to describe the dynamics of biological systems in which two species interact, one as a predator and the other as prey. </a:t>
            </a:r>
            <a:endParaRPr/>
          </a:p>
          <a:p>
            <a:pPr marL="640080" lvl="1" indent="-117348" algn="l" rtl="0">
              <a:spcBef>
                <a:spcPts val="480"/>
              </a:spcBef>
              <a:spcAft>
                <a:spcPts val="0"/>
              </a:spcAft>
              <a:buSzPts val="2040"/>
              <a:buNone/>
            </a:pPr>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804"/>
        <p:cNvGrpSpPr/>
        <p:nvPr/>
      </p:nvGrpSpPr>
      <p:grpSpPr>
        <a:xfrm>
          <a:off x="0" y="0"/>
          <a:ext cx="0" cy="0"/>
          <a:chOff x="0" y="0"/>
          <a:chExt cx="0" cy="0"/>
        </a:xfrm>
      </p:grpSpPr>
      <p:sp>
        <p:nvSpPr>
          <p:cNvPr id="805" name="Google Shape;805;p80"/>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endParaRPr/>
          </a:p>
        </p:txBody>
      </p:sp>
      <p:sp>
        <p:nvSpPr>
          <p:cNvPr id="806" name="Google Shape;806;p80"/>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US"/>
              <a:t>The populations change through time according to the pair of equations:</a:t>
            </a:r>
            <a:endParaRPr/>
          </a:p>
          <a:p>
            <a:pPr marL="274320" lvl="0" indent="-117475" algn="l" rtl="0">
              <a:spcBef>
                <a:spcPts val="520"/>
              </a:spcBef>
              <a:spcAft>
                <a:spcPts val="0"/>
              </a:spcAft>
              <a:buSzPts val="2470"/>
              <a:buNone/>
            </a:pPr>
            <a:endParaRPr/>
          </a:p>
        </p:txBody>
      </p:sp>
      <p:pic>
        <p:nvPicPr>
          <p:cNvPr id="807" name="Google Shape;807;p80"/>
          <p:cNvPicPr preferRelativeResize="0"/>
          <p:nvPr/>
        </p:nvPicPr>
        <p:blipFill rotWithShape="1">
          <a:blip r:embed="rId3">
            <a:alphaModFix/>
          </a:blip>
          <a:srcRect/>
          <a:stretch/>
        </p:blipFill>
        <p:spPr>
          <a:xfrm>
            <a:off x="761863" y="3001736"/>
            <a:ext cx="7620137" cy="3703864"/>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811"/>
        <p:cNvGrpSpPr/>
        <p:nvPr/>
      </p:nvGrpSpPr>
      <p:grpSpPr>
        <a:xfrm>
          <a:off x="0" y="0"/>
          <a:ext cx="0" cy="0"/>
          <a:chOff x="0" y="0"/>
          <a:chExt cx="0" cy="0"/>
        </a:xfrm>
      </p:grpSpPr>
      <p:sp>
        <p:nvSpPr>
          <p:cNvPr id="812" name="Google Shape;812;p81"/>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endParaRPr/>
          </a:p>
        </p:txBody>
      </p:sp>
      <p:pic>
        <p:nvPicPr>
          <p:cNvPr id="813" name="Google Shape;813;p81"/>
          <p:cNvPicPr preferRelativeResize="0">
            <a:picLocks noGrp="1"/>
          </p:cNvPicPr>
          <p:nvPr>
            <p:ph type="body" idx="1"/>
          </p:nvPr>
        </p:nvPicPr>
        <p:blipFill rotWithShape="1">
          <a:blip r:embed="rId3">
            <a:alphaModFix/>
          </a:blip>
          <a:srcRect/>
          <a:stretch/>
        </p:blipFill>
        <p:spPr>
          <a:xfrm>
            <a:off x="457200" y="1537557"/>
            <a:ext cx="7620000" cy="4800601"/>
          </a:xfrm>
          <a:prstGeom prst="rect">
            <a:avLst/>
          </a:prstGeom>
          <a:noFill/>
          <a:ln>
            <a:noFill/>
          </a:ln>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817"/>
        <p:cNvGrpSpPr/>
        <p:nvPr/>
      </p:nvGrpSpPr>
      <p:grpSpPr>
        <a:xfrm>
          <a:off x="0" y="0"/>
          <a:ext cx="0" cy="0"/>
          <a:chOff x="0" y="0"/>
          <a:chExt cx="0" cy="0"/>
        </a:xfrm>
      </p:grpSpPr>
      <p:sp>
        <p:nvSpPr>
          <p:cNvPr id="818" name="Google Shape;818;p82"/>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endParaRPr/>
          </a:p>
        </p:txBody>
      </p:sp>
      <p:pic>
        <p:nvPicPr>
          <p:cNvPr id="819" name="Google Shape;819;p82"/>
          <p:cNvPicPr preferRelativeResize="0">
            <a:picLocks noGrp="1"/>
          </p:cNvPicPr>
          <p:nvPr>
            <p:ph type="body" idx="1"/>
          </p:nvPr>
        </p:nvPicPr>
        <p:blipFill rotWithShape="1">
          <a:blip r:embed="rId3">
            <a:alphaModFix/>
          </a:blip>
          <a:srcRect/>
          <a:stretch/>
        </p:blipFill>
        <p:spPr>
          <a:xfrm>
            <a:off x="395546" y="609601"/>
            <a:ext cx="7300654" cy="6153630"/>
          </a:xfrm>
          <a:prstGeom prst="rect">
            <a:avLst/>
          </a:prstGeom>
          <a:noFill/>
          <a:ln>
            <a:noFill/>
          </a:ln>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823"/>
        <p:cNvGrpSpPr/>
        <p:nvPr/>
      </p:nvGrpSpPr>
      <p:grpSpPr>
        <a:xfrm>
          <a:off x="0" y="0"/>
          <a:ext cx="0" cy="0"/>
          <a:chOff x="0" y="0"/>
          <a:chExt cx="0" cy="0"/>
        </a:xfrm>
      </p:grpSpPr>
      <p:sp>
        <p:nvSpPr>
          <p:cNvPr id="824" name="Google Shape;824;p83"/>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endParaRPr/>
          </a:p>
        </p:txBody>
      </p:sp>
      <p:pic>
        <p:nvPicPr>
          <p:cNvPr id="825" name="Google Shape;825;p83"/>
          <p:cNvPicPr preferRelativeResize="0">
            <a:picLocks noGrp="1"/>
          </p:cNvPicPr>
          <p:nvPr>
            <p:ph type="body" idx="1"/>
          </p:nvPr>
        </p:nvPicPr>
        <p:blipFill rotWithShape="1">
          <a:blip r:embed="rId3">
            <a:alphaModFix/>
          </a:blip>
          <a:srcRect/>
          <a:stretch/>
        </p:blipFill>
        <p:spPr>
          <a:xfrm>
            <a:off x="9379" y="838200"/>
            <a:ext cx="8685046" cy="5714999"/>
          </a:xfrm>
          <a:prstGeom prst="rect">
            <a:avLst/>
          </a:prstGeom>
          <a:noFill/>
          <a:ln>
            <a:noFill/>
          </a:ln>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829"/>
        <p:cNvGrpSpPr/>
        <p:nvPr/>
      </p:nvGrpSpPr>
      <p:grpSpPr>
        <a:xfrm>
          <a:off x="0" y="0"/>
          <a:ext cx="0" cy="0"/>
          <a:chOff x="0" y="0"/>
          <a:chExt cx="0" cy="0"/>
        </a:xfrm>
      </p:grpSpPr>
      <p:sp>
        <p:nvSpPr>
          <p:cNvPr id="830" name="Google Shape;830;p84"/>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Assignment</a:t>
            </a:r>
            <a:endParaRPr/>
          </a:p>
        </p:txBody>
      </p:sp>
      <p:sp>
        <p:nvSpPr>
          <p:cNvPr id="831" name="Google Shape;831;p84"/>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fontScale="92500" lnSpcReduction="20000"/>
          </a:bodyPr>
          <a:lstStyle/>
          <a:p>
            <a:pPr marL="274320" lvl="0" indent="-274320" algn="l" rtl="0">
              <a:spcBef>
                <a:spcPts val="0"/>
              </a:spcBef>
              <a:spcAft>
                <a:spcPts val="0"/>
              </a:spcAft>
              <a:buSzPct val="95000"/>
              <a:buChar char="⚫"/>
            </a:pPr>
            <a:r>
              <a:rPr lang="en-US"/>
              <a:t>What is System Simulation? Explain with suitable example.</a:t>
            </a:r>
            <a:endParaRPr/>
          </a:p>
          <a:p>
            <a:pPr marL="274320" lvl="0" indent="-274320" algn="l" rtl="0">
              <a:spcBef>
                <a:spcPts val="481"/>
              </a:spcBef>
              <a:spcAft>
                <a:spcPts val="0"/>
              </a:spcAft>
              <a:buSzPct val="95000"/>
              <a:buChar char="⚫"/>
            </a:pPr>
            <a:r>
              <a:rPr lang="en-US"/>
              <a:t>Why is Monte Carlo method used? What are the advantages and disadvantages of it?</a:t>
            </a:r>
            <a:endParaRPr/>
          </a:p>
          <a:p>
            <a:pPr marL="274320" lvl="0" indent="-274320" algn="l" rtl="0">
              <a:spcBef>
                <a:spcPts val="481"/>
              </a:spcBef>
              <a:spcAft>
                <a:spcPts val="0"/>
              </a:spcAft>
              <a:buSzPct val="95000"/>
              <a:buChar char="⚫"/>
            </a:pPr>
            <a:r>
              <a:rPr lang="en-US"/>
              <a:t>Estimate the value of pi using Monte Carlo method. Also calculate the error percentage.</a:t>
            </a:r>
            <a:endParaRPr/>
          </a:p>
          <a:p>
            <a:pPr marL="274320" lvl="0" indent="-274320" algn="l" rtl="0">
              <a:spcBef>
                <a:spcPts val="481"/>
              </a:spcBef>
              <a:spcAft>
                <a:spcPts val="0"/>
              </a:spcAft>
              <a:buSzPct val="95000"/>
              <a:buChar char="⚫"/>
            </a:pPr>
            <a:r>
              <a:rPr lang="en-US"/>
              <a:t>Estimate the integral of x2 from 0 to 5 using Monte Carlo method.</a:t>
            </a:r>
            <a:endParaRPr/>
          </a:p>
          <a:p>
            <a:pPr marL="274320" lvl="0" indent="-274320" algn="l" rtl="0">
              <a:spcBef>
                <a:spcPts val="481"/>
              </a:spcBef>
              <a:spcAft>
                <a:spcPts val="0"/>
              </a:spcAft>
              <a:buSzPct val="95000"/>
              <a:buChar char="⚫"/>
            </a:pPr>
            <a:r>
              <a:rPr lang="en-US"/>
              <a:t> Estimate the integral of sin x from 0 t0 180 using Monte Carlo method.</a:t>
            </a:r>
            <a:endParaRPr/>
          </a:p>
          <a:p>
            <a:pPr marL="274320" lvl="0" indent="-274320" algn="l" rtl="0">
              <a:spcBef>
                <a:spcPts val="481"/>
              </a:spcBef>
              <a:spcAft>
                <a:spcPts val="0"/>
              </a:spcAft>
              <a:buSzPct val="95000"/>
              <a:buChar char="⚫"/>
            </a:pPr>
            <a:r>
              <a:rPr lang="en-US"/>
              <a:t>Compare Simulation with Analytical method.</a:t>
            </a:r>
            <a:endParaRPr/>
          </a:p>
          <a:p>
            <a:pPr marL="274320" lvl="0" indent="-274320" algn="l" rtl="0">
              <a:spcBef>
                <a:spcPts val="481"/>
              </a:spcBef>
              <a:spcAft>
                <a:spcPts val="0"/>
              </a:spcAft>
              <a:buSzPct val="95000"/>
              <a:buChar char="⚫"/>
            </a:pPr>
            <a:r>
              <a:rPr lang="en-US"/>
              <a:t>What are the problems of Analytical method.</a:t>
            </a:r>
            <a:endParaRPr/>
          </a:p>
          <a:p>
            <a:pPr marL="274320" lvl="0" indent="-274320" algn="l" rtl="0">
              <a:spcBef>
                <a:spcPts val="481"/>
              </a:spcBef>
              <a:spcAft>
                <a:spcPts val="0"/>
              </a:spcAft>
              <a:buSzPct val="95000"/>
              <a:buChar char="⚫"/>
            </a:pPr>
            <a:r>
              <a:rPr lang="en-US"/>
              <a:t>Explain about the steps involved in simulation study.</a:t>
            </a:r>
            <a:endParaRPr/>
          </a:p>
          <a:p>
            <a:pPr marL="274320" lvl="0" indent="-129238" algn="l" rtl="0">
              <a:spcBef>
                <a:spcPts val="481"/>
              </a:spcBef>
              <a:spcAft>
                <a:spcPts val="0"/>
              </a:spcAft>
              <a:buSzPct val="95000"/>
              <a:buNone/>
            </a:pPr>
            <a:endParaRPr/>
          </a:p>
          <a:p>
            <a:pPr marL="274320" lvl="0" indent="-129238" algn="l" rtl="0">
              <a:spcBef>
                <a:spcPts val="481"/>
              </a:spcBef>
              <a:spcAft>
                <a:spcPts val="0"/>
              </a:spcAft>
              <a:buSzPct val="95000"/>
              <a:buNone/>
            </a:pPr>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835"/>
        <p:cNvGrpSpPr/>
        <p:nvPr/>
      </p:nvGrpSpPr>
      <p:grpSpPr>
        <a:xfrm>
          <a:off x="0" y="0"/>
          <a:ext cx="0" cy="0"/>
          <a:chOff x="0" y="0"/>
          <a:chExt cx="0" cy="0"/>
        </a:xfrm>
      </p:grpSpPr>
      <p:sp>
        <p:nvSpPr>
          <p:cNvPr id="836" name="Google Shape;836;p85"/>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Assignment..</a:t>
            </a:r>
            <a:endParaRPr/>
          </a:p>
        </p:txBody>
      </p:sp>
      <p:sp>
        <p:nvSpPr>
          <p:cNvPr id="837" name="Google Shape;837;p85"/>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fontScale="77500" lnSpcReduction="20000"/>
          </a:bodyPr>
          <a:lstStyle/>
          <a:p>
            <a:pPr marL="274320" lvl="0" indent="-274320" algn="l" rtl="0">
              <a:spcBef>
                <a:spcPts val="0"/>
              </a:spcBef>
              <a:spcAft>
                <a:spcPts val="0"/>
              </a:spcAft>
              <a:buSzPct val="95000"/>
              <a:buChar char="⚫"/>
            </a:pPr>
            <a:r>
              <a:rPr lang="en-US"/>
              <a:t>What is Cobweb model and Distributed lag model? Explain with necessary example.</a:t>
            </a:r>
            <a:endParaRPr/>
          </a:p>
          <a:p>
            <a:pPr marL="274320" lvl="0" indent="-274320" algn="l" rtl="0">
              <a:spcBef>
                <a:spcPts val="403"/>
              </a:spcBef>
              <a:spcAft>
                <a:spcPts val="0"/>
              </a:spcAft>
              <a:buSzPct val="95000"/>
              <a:buChar char="⚫"/>
            </a:pPr>
            <a:r>
              <a:rPr lang="en-US"/>
              <a:t>What is queuing system? What are the measures of queuing system.</a:t>
            </a:r>
            <a:endParaRPr/>
          </a:p>
          <a:p>
            <a:pPr marL="274320" lvl="0" indent="-274320" algn="l" rtl="0">
              <a:spcBef>
                <a:spcPts val="403"/>
              </a:spcBef>
              <a:spcAft>
                <a:spcPts val="0"/>
              </a:spcAft>
              <a:buSzPct val="95000"/>
              <a:buChar char="⚫"/>
            </a:pPr>
            <a:r>
              <a:rPr lang="en-US"/>
              <a:t>Explain about M/M/1 queuing model with suitable example.</a:t>
            </a:r>
            <a:endParaRPr/>
          </a:p>
          <a:p>
            <a:pPr marL="274320" lvl="0" indent="-274320" algn="l" rtl="0">
              <a:spcBef>
                <a:spcPts val="403"/>
              </a:spcBef>
              <a:spcAft>
                <a:spcPts val="0"/>
              </a:spcAft>
              <a:buSzPct val="95000"/>
              <a:buChar char="⚫"/>
            </a:pPr>
            <a:r>
              <a:rPr lang="en-US"/>
              <a:t>Why are differential equation  and partial differential equation important in simulation?</a:t>
            </a:r>
            <a:endParaRPr/>
          </a:p>
          <a:p>
            <a:pPr marL="274320" lvl="0" indent="-274320" algn="l" rtl="0">
              <a:spcBef>
                <a:spcPts val="403"/>
              </a:spcBef>
              <a:spcAft>
                <a:spcPts val="0"/>
              </a:spcAft>
              <a:buSzPct val="95000"/>
              <a:buChar char="⚫"/>
            </a:pPr>
            <a:r>
              <a:rPr lang="en-US"/>
              <a:t>What is feedback system? Explain with neat block diagram.</a:t>
            </a:r>
            <a:endParaRPr/>
          </a:p>
          <a:p>
            <a:pPr marL="274320" lvl="0" indent="-274320" algn="l" rtl="0">
              <a:spcBef>
                <a:spcPts val="403"/>
              </a:spcBef>
              <a:spcAft>
                <a:spcPts val="0"/>
              </a:spcAft>
              <a:buSzPct val="95000"/>
              <a:buChar char="⚫"/>
            </a:pPr>
            <a:r>
              <a:rPr lang="en-US"/>
              <a:t>What is interactive system? Explain with example.</a:t>
            </a:r>
            <a:endParaRPr/>
          </a:p>
          <a:p>
            <a:pPr marL="274320" lvl="0" indent="-274320" algn="l" rtl="0">
              <a:spcBef>
                <a:spcPts val="403"/>
              </a:spcBef>
              <a:spcAft>
                <a:spcPts val="0"/>
              </a:spcAft>
              <a:buSzPct val="95000"/>
              <a:buChar char="⚫"/>
            </a:pPr>
            <a:r>
              <a:rPr lang="en-US"/>
              <a:t>What is real time simulation and discuss its significance in real life.</a:t>
            </a:r>
            <a:endParaRPr/>
          </a:p>
          <a:p>
            <a:pPr marL="274320" lvl="0" indent="-274320" algn="l" rtl="0">
              <a:spcBef>
                <a:spcPts val="403"/>
              </a:spcBef>
              <a:spcAft>
                <a:spcPts val="0"/>
              </a:spcAft>
              <a:buSzPct val="95000"/>
              <a:buChar char="⚫"/>
            </a:pPr>
            <a:r>
              <a:rPr lang="en-US"/>
              <a:t>What is analog method? Design analog computer for automobile wheel.</a:t>
            </a:r>
            <a:endParaRPr/>
          </a:p>
          <a:p>
            <a:pPr marL="274320" lvl="0" indent="-274320" algn="l" rtl="0">
              <a:spcBef>
                <a:spcPts val="403"/>
              </a:spcBef>
              <a:spcAft>
                <a:spcPts val="0"/>
              </a:spcAft>
              <a:buSzPct val="95000"/>
              <a:buChar char="⚫"/>
            </a:pPr>
            <a:r>
              <a:rPr lang="en-US"/>
              <a:t>Design analog computer for human liver.</a:t>
            </a:r>
            <a:endParaRPr/>
          </a:p>
          <a:p>
            <a:pPr marL="274320" lvl="0" indent="-274320" algn="l" rtl="0">
              <a:spcBef>
                <a:spcPts val="403"/>
              </a:spcBef>
              <a:spcAft>
                <a:spcPts val="0"/>
              </a:spcAft>
              <a:buSzPct val="95000"/>
              <a:buChar char="⚫"/>
            </a:pPr>
            <a:r>
              <a:rPr lang="en-US"/>
              <a:t>Explain about Predator Pray model with suitable example.</a:t>
            </a:r>
            <a:endParaRPr/>
          </a:p>
          <a:p>
            <a:pPr marL="274320" lvl="0" indent="-152765" algn="l" rtl="0">
              <a:spcBef>
                <a:spcPts val="403"/>
              </a:spcBef>
              <a:spcAft>
                <a:spcPts val="0"/>
              </a:spcAft>
              <a:buSzPct val="95000"/>
              <a:buNone/>
            </a:pPr>
            <a:endParaRPr/>
          </a:p>
        </p:txBody>
      </p:sp>
    </p:spTree>
  </p:cSld>
  <p:clrMapOvr>
    <a:masterClrMapping/>
  </p:clrMapOvr>
</p:sld>
</file>

<file path=ppt/theme/theme1.xml><?xml version="1.0" encoding="utf-8"?>
<a:theme xmlns:a="http://schemas.openxmlformats.org/drawingml/2006/main" name="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348</TotalTime>
  <Words>3550</Words>
  <Application>Microsoft Office PowerPoint</Application>
  <PresentationFormat>On-screen Show (4:3)</PresentationFormat>
  <Paragraphs>530</Paragraphs>
  <Slides>100</Slides>
  <Notes>100</Notes>
  <HiddenSlides>0</HiddenSlides>
  <MMClips>0</MMClips>
  <ScaleCrop>false</ScaleCrop>
  <HeadingPairs>
    <vt:vector size="8" baseType="variant">
      <vt:variant>
        <vt:lpstr>Fonts Used</vt:lpstr>
      </vt:variant>
      <vt:variant>
        <vt:i4>5</vt:i4>
      </vt:variant>
      <vt:variant>
        <vt:lpstr>Theme</vt:lpstr>
      </vt:variant>
      <vt:variant>
        <vt:i4>2</vt:i4>
      </vt:variant>
      <vt:variant>
        <vt:lpstr>Embedded OLE Servers</vt:lpstr>
      </vt:variant>
      <vt:variant>
        <vt:i4>0</vt:i4>
      </vt:variant>
      <vt:variant>
        <vt:lpstr>Slide Titles</vt:lpstr>
      </vt:variant>
      <vt:variant>
        <vt:i4>100</vt:i4>
      </vt:variant>
    </vt:vector>
  </HeadingPairs>
  <TitlesOfParts>
    <vt:vector size="107" baseType="lpstr">
      <vt:lpstr>Constantia</vt:lpstr>
      <vt:lpstr>Times New Roman</vt:lpstr>
      <vt:lpstr>Arial</vt:lpstr>
      <vt:lpstr>Calibri</vt:lpstr>
      <vt:lpstr>Noto Sans Symbols</vt:lpstr>
      <vt:lpstr>Flow</vt:lpstr>
      <vt:lpstr>Flow</vt:lpstr>
      <vt:lpstr>Chapter 2 System Simulation Chapter 3 Continuous System</vt:lpstr>
      <vt:lpstr>System Simulation</vt:lpstr>
      <vt:lpstr>Monte Carlo Method</vt:lpstr>
      <vt:lpstr>PowerPoint Presentation</vt:lpstr>
      <vt:lpstr>PowerPoint Presentation</vt:lpstr>
      <vt:lpstr>Computational Technique</vt:lpstr>
      <vt:lpstr>PowerPoint Presentation</vt:lpstr>
      <vt:lpstr>Estimating the value of pi using Monte Carlo method. Also calculate the error percentage.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Problems Depicting Monte Carlo Method</vt:lpstr>
      <vt:lpstr>Generating Random numbers in Calculator</vt:lpstr>
      <vt:lpstr>Comparison of Simulation and Analytical Method:</vt:lpstr>
      <vt:lpstr>Drawback of Analytical Technique</vt:lpstr>
      <vt:lpstr>Progress of simulation study:-</vt:lpstr>
      <vt:lpstr>PowerPoint Presentation</vt:lpstr>
      <vt:lpstr>PowerPoint Presentation</vt:lpstr>
      <vt:lpstr>PowerPoint Presentation</vt:lpstr>
      <vt:lpstr>PowerPoint Presentation</vt:lpstr>
      <vt:lpstr>Experimental Nature of Simulation</vt:lpstr>
      <vt:lpstr>Types of System Simulation</vt:lpstr>
      <vt:lpstr>Distributed Lag Model</vt:lpstr>
      <vt:lpstr>Distributed Lag Model</vt:lpstr>
      <vt:lpstr>Cobweb Model</vt:lpstr>
      <vt:lpstr>PowerPoint Presentation</vt:lpstr>
      <vt:lpstr>PowerPoint Presentation</vt:lpstr>
      <vt:lpstr>Draw a cbweb model for the following fmarket</vt:lpstr>
      <vt:lpstr>PowerPoint Presentation</vt:lpstr>
      <vt:lpstr>Price Fluctuation </vt:lpstr>
      <vt:lpstr>Cobweb Model</vt:lpstr>
      <vt:lpstr>Time advancement Mechanism</vt:lpstr>
      <vt:lpstr>PowerPoint Presentation</vt:lpstr>
      <vt:lpstr>Examples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Continuous System Simulation</vt:lpstr>
      <vt:lpstr>Automobile Wheel Suspension System</vt:lpstr>
      <vt:lpstr>Automobile Wheel Suspension System..</vt:lpstr>
      <vt:lpstr>Automobile Wheel Suspension System..</vt:lpstr>
      <vt:lpstr>Automobile Wheel Suspension System</vt:lpstr>
      <vt:lpstr>Automobile Wheel Suspension System..</vt:lpstr>
      <vt:lpstr>Automobile Wheel Suspension System..</vt:lpstr>
      <vt:lpstr>PowerPoint Presentation</vt:lpstr>
      <vt:lpstr>PowerPoint Presentation</vt:lpstr>
      <vt:lpstr>Analog Computer</vt:lpstr>
      <vt:lpstr>Analog computers</vt:lpstr>
      <vt:lpstr>Analog Computer..</vt:lpstr>
      <vt:lpstr>Analog Computer</vt:lpstr>
      <vt:lpstr>Analog Methods</vt:lpstr>
      <vt:lpstr>Analog Design for automobile wheel</vt:lpstr>
      <vt:lpstr>Analog Design for Human Liver</vt:lpstr>
      <vt:lpstr>PowerPoint Presentation</vt:lpstr>
      <vt:lpstr>Hybrid Computers</vt:lpstr>
      <vt:lpstr>PowerPoint Presentation</vt:lpstr>
      <vt:lpstr>Digital Analog Simulator</vt:lpstr>
      <vt:lpstr>PowerPoint Presentation</vt:lpstr>
      <vt:lpstr>Continuous System Simulation Language</vt:lpstr>
      <vt:lpstr>CSMPIII PROGRAM OF WHEEL SUSPENSION SYSTEM OF AN AUTOMOBILE</vt:lpstr>
      <vt:lpstr>Continuous System Simulation Language (CSSL)</vt:lpstr>
      <vt:lpstr>PowerPoint Presentation</vt:lpstr>
      <vt:lpstr>PowerPoint Presentation</vt:lpstr>
      <vt:lpstr>PowerPoint Presentation</vt:lpstr>
      <vt:lpstr>PowerPoint Presentation</vt:lpstr>
      <vt:lpstr>PowerPoint Presentation</vt:lpstr>
      <vt:lpstr>PowerPoint Presentation</vt:lpstr>
      <vt:lpstr>Feedback System</vt:lpstr>
      <vt:lpstr>PowerPoint Presentation</vt:lpstr>
      <vt:lpstr>Interactive System</vt:lpstr>
      <vt:lpstr>PowerPoint Presentation</vt:lpstr>
      <vt:lpstr>Real Time Simulation </vt:lpstr>
      <vt:lpstr>PowerPoint Presentation</vt:lpstr>
      <vt:lpstr>                         Predator Prey Model Lotka–Volterra equations </vt:lpstr>
      <vt:lpstr>PowerPoint Presentation</vt:lpstr>
      <vt:lpstr>PowerPoint Presentation</vt:lpstr>
      <vt:lpstr>PowerPoint Presentation</vt:lpstr>
      <vt:lpstr>PowerPoint Presentation</vt:lpstr>
      <vt:lpstr>Assignment</vt:lpstr>
      <vt:lpstr>Assignment..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System Simulation Chapter 3 Continuous System</dc:title>
  <dc:creator>usre</dc:creator>
  <cp:lastModifiedBy>USER</cp:lastModifiedBy>
  <cp:revision>3</cp:revision>
  <dcterms:created xsi:type="dcterms:W3CDTF">2017-07-09T05:39:12Z</dcterms:created>
  <dcterms:modified xsi:type="dcterms:W3CDTF">2026-06-04T08:24:21Z</dcterms:modified>
</cp:coreProperties>
</file>