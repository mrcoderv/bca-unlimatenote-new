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7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Lst>
  <p:sldSz cx="9144000" cy="6858000" type="screen4x3"/>
  <p:notesSz cx="6858000" cy="9144000"/>
  <p:embeddedFontLst>
    <p:embeddedFont>
      <p:font typeface="Constantia" panose="02030602050306030303" pitchFamily="18" charset="0"/>
      <p:regular r:id="rId76"/>
      <p:bold r:id="rId77"/>
      <p:italic r:id="rId78"/>
      <p:boldItalic r:id="rId79"/>
    </p:embeddedFont>
    <p:embeddedFont>
      <p:font typeface="Calibri" panose="020F0502020204030204" pitchFamily="34" charset="0"/>
      <p:regular r:id="rId80"/>
      <p:bold r:id="rId81"/>
      <p:italic r:id="rId82"/>
      <p:boldItalic r:id="rId8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4" roundtripDataSignature="AMtx7mieGz/i3aZBakvpL3lT1+OmaJu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6A69674-CAEE-40E1-9C74-C6E6D2C80455}">
  <a:tblStyle styleId="{86A69674-CAEE-40E1-9C74-C6E6D2C80455}" styleName="Table_0">
    <a:wholeTbl>
      <a:tcTxStyle b="off" i="off">
        <a:font>
          <a:latin typeface="Constantia"/>
          <a:ea typeface="Constantia"/>
          <a:cs typeface="Constantia"/>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BF5"/>
          </a:solidFill>
        </a:fill>
      </a:tcStyle>
    </a:wholeTbl>
    <a:band1H>
      <a:tcTxStyle/>
      <a:tcStyle>
        <a:tcBdr/>
        <a:fill>
          <a:solidFill>
            <a:srgbClr val="CAD4EA"/>
          </a:solidFill>
        </a:fill>
      </a:tcStyle>
    </a:band1H>
    <a:band2H>
      <a:tcTxStyle/>
      <a:tcStyle>
        <a:tcBdr/>
      </a:tcStyle>
    </a:band2H>
    <a:band1V>
      <a:tcTxStyle/>
      <a:tcStyle>
        <a:tcBdr/>
        <a:fill>
          <a:solidFill>
            <a:srgbClr val="CAD4EA"/>
          </a:solidFill>
        </a:fill>
      </a:tcStyle>
    </a:band1V>
    <a:band2V>
      <a:tcTxStyle/>
      <a:tcStyle>
        <a:tcBdr/>
      </a:tcStyle>
    </a:band2V>
    <a:lastCol>
      <a:tcTxStyle b="on" i="off">
        <a:font>
          <a:latin typeface="Constantia"/>
          <a:ea typeface="Constantia"/>
          <a:cs typeface="Constantia"/>
        </a:font>
        <a:schemeClr val="lt1"/>
      </a:tcTxStyle>
      <a:tcStyle>
        <a:tcBdr/>
        <a:fill>
          <a:solidFill>
            <a:schemeClr val="accent1"/>
          </a:solidFill>
        </a:fill>
      </a:tcStyle>
    </a:lastCol>
    <a:firstCol>
      <a:tcTxStyle b="on" i="off">
        <a:font>
          <a:latin typeface="Constantia"/>
          <a:ea typeface="Constantia"/>
          <a:cs typeface="Constantia"/>
        </a:font>
        <a:schemeClr val="lt1"/>
      </a:tcTxStyle>
      <a:tcStyle>
        <a:tcBdr/>
        <a:fill>
          <a:solidFill>
            <a:schemeClr val="accent1"/>
          </a:solidFill>
        </a:fill>
      </a:tcStyle>
    </a:firstCol>
    <a:lastRow>
      <a:tcTxStyle b="on" i="off">
        <a:font>
          <a:latin typeface="Constantia"/>
          <a:ea typeface="Constantia"/>
          <a:cs typeface="Constantia"/>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onstantia"/>
          <a:ea typeface="Constantia"/>
          <a:cs typeface="Constantia"/>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1416" y="7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customschemas.google.com/relationships/presentationmetadata" Target="meta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font" Target="fonts/font4.fntdata"/><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font" Target="fonts/font2.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font" Target="fonts/font5.fntdata"/><Relationship Id="rId85"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notesMaster" Target="notesMasters/notesMaster1.xml"/><Relationship Id="rId83" Type="http://schemas.openxmlformats.org/officeDocument/2006/relationships/font" Target="fonts/font8.fntdata"/><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1.fntdata"/><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theme" Target="theme/theme1.xml"/><Relationship Id="rId61" Type="http://schemas.openxmlformats.org/officeDocument/2006/relationships/slide" Target="slides/slide59.xml"/><Relationship Id="rId82" Type="http://schemas.openxmlformats.org/officeDocument/2006/relationships/font" Target="fonts/font7.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overlay val="1"/>
    </c:title>
    <c:autoTitleDeleted val="0"/>
    <c:plotArea>
      <c:layout/>
      <c:pieChart>
        <c:varyColors val="1"/>
        <c:ser>
          <c:idx val="0"/>
          <c:order val="0"/>
          <c:tx>
            <c:strRef>
              <c:f>Sheet1!$B$1</c:f>
              <c:strCache>
                <c:ptCount val="1"/>
                <c:pt idx="0">
                  <c:v>Evaluation </c:v>
                </c:pt>
              </c:strCache>
            </c:strRef>
          </c:tx>
          <c:cat>
            <c:strRef>
              <c:f>Sheet1!$A$2:$A$16</c:f>
              <c:strCache>
                <c:ptCount val="9"/>
                <c:pt idx="0">
                  <c:v>UT</c:v>
                </c:pt>
                <c:pt idx="1">
                  <c:v>Assessment</c:v>
                </c:pt>
                <c:pt idx="2">
                  <c:v>Assignment </c:v>
                </c:pt>
                <c:pt idx="3">
                  <c:v>Class performance </c:v>
                </c:pt>
                <c:pt idx="4">
                  <c:v>Attendance </c:v>
                </c:pt>
                <c:pt idx="5">
                  <c:v>Lab report</c:v>
                </c:pt>
                <c:pt idx="6">
                  <c:v>Lab attendance</c:v>
                </c:pt>
                <c:pt idx="7">
                  <c:v>Lab exam</c:v>
                </c:pt>
                <c:pt idx="8">
                  <c:v>Lab performance</c:v>
                </c:pt>
              </c:strCache>
            </c:strRef>
          </c:cat>
          <c:val>
            <c:numRef>
              <c:f>Sheet1!$B$2:$B$16</c:f>
              <c:numCache>
                <c:formatCode>General</c:formatCode>
                <c:ptCount val="15"/>
                <c:pt idx="0">
                  <c:v>12</c:v>
                </c:pt>
                <c:pt idx="1">
                  <c:v>24</c:v>
                </c:pt>
                <c:pt idx="2">
                  <c:v>10</c:v>
                </c:pt>
                <c:pt idx="3">
                  <c:v>8</c:v>
                </c:pt>
                <c:pt idx="4">
                  <c:v>6</c:v>
                </c:pt>
                <c:pt idx="5">
                  <c:v>8</c:v>
                </c:pt>
                <c:pt idx="6">
                  <c:v>6</c:v>
                </c:pt>
                <c:pt idx="7">
                  <c:v>20</c:v>
                </c:pt>
                <c:pt idx="8">
                  <c:v>6</c:v>
                </c:pt>
              </c:numCache>
            </c:numRef>
          </c:val>
          <c:extLst>
            <c:ext xmlns:c16="http://schemas.microsoft.com/office/drawing/2014/chart" uri="{C3380CC4-5D6E-409C-BE32-E72D297353CC}">
              <c16:uniqueId val="{00000000-C813-4FEB-A7E7-1FDF9F8D4BEB}"/>
            </c:ext>
          </c:extLst>
        </c:ser>
        <c:ser>
          <c:idx val="1"/>
          <c:order val="1"/>
          <c:cat>
            <c:strRef>
              <c:f>Sheet1!$A$2:$A$16</c:f>
              <c:strCache>
                <c:ptCount val="9"/>
                <c:pt idx="0">
                  <c:v>UT</c:v>
                </c:pt>
                <c:pt idx="1">
                  <c:v>Assessment</c:v>
                </c:pt>
                <c:pt idx="2">
                  <c:v>Assignment </c:v>
                </c:pt>
                <c:pt idx="3">
                  <c:v>Class performance </c:v>
                </c:pt>
                <c:pt idx="4">
                  <c:v>Attendance </c:v>
                </c:pt>
                <c:pt idx="5">
                  <c:v>Lab report</c:v>
                </c:pt>
                <c:pt idx="6">
                  <c:v>Lab attendance</c:v>
                </c:pt>
                <c:pt idx="7">
                  <c:v>Lab exam</c:v>
                </c:pt>
                <c:pt idx="8">
                  <c:v>Lab performance</c:v>
                </c:pt>
              </c:strCache>
            </c:strRef>
          </c:cat>
          <c:val>
            <c:numRef>
              <c:f>Sheet1!$C$2:$C$16</c:f>
              <c:numCache>
                <c:formatCode>General</c:formatCode>
                <c:ptCount val="15"/>
              </c:numCache>
            </c:numRef>
          </c:val>
          <c:extLst>
            <c:ext xmlns:c16="http://schemas.microsoft.com/office/drawing/2014/chart" uri="{C3380CC4-5D6E-409C-BE32-E72D297353CC}">
              <c16:uniqueId val="{00000001-C813-4FEB-A7E7-1FDF9F8D4BEB}"/>
            </c:ext>
          </c:extLst>
        </c:ser>
        <c:dLbls>
          <c:showLegendKey val="0"/>
          <c:showVal val="0"/>
          <c:showCatName val="0"/>
          <c:showSerName val="0"/>
          <c:showPercent val="0"/>
          <c:showBubbleSize val="0"/>
          <c:showLeaderLines val="1"/>
        </c:dLbls>
        <c:firstSliceAng val="0"/>
      </c:pieChart>
    </c:plotArea>
    <c:legend>
      <c:legendPos val="r"/>
      <c:layout>
        <c:manualLayout>
          <c:xMode val="edge"/>
          <c:yMode val="edge"/>
          <c:x val="0.64166666666666672"/>
          <c:y val="0.10909379748584103"/>
          <c:w val="0.34166666666666873"/>
          <c:h val="0.89053322282083169"/>
        </c:manualLayout>
      </c:layout>
      <c:overlay val="1"/>
    </c:legend>
    <c:plotVisOnly val="1"/>
    <c:dispBlanksAs val="zero"/>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35" name="Google Shape;235;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0" name="Google Shape;260;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 name="Google Shape;361;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0" name="Google Shape;390;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7" name="Google Shape;397;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3" name="Google Shape;403;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9" name="Google Shape;409;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5" name="Google Shape;415;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2" name="Google Shape;422;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5" name="Google Shape;435;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1" name="Google Shape;441;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8" name="Google Shape;448;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4" name="Google Shape;454;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7" name="Google Shape;467;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3" name="Google Shape;473;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0" name="Google Shape;480;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8" name="Google Shape;488;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5" name="Google Shape;495;p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96" name="Google Shape;496;p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1" name="Google Shape;511;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0" name="Google Shape;520;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0" name="Google Shape;540;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6" name="Google Shape;546;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2" name="Google Shape;552;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9" name="Google Shape;559;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6" name="Google Shape;566;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3" name="Google Shape;573;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0" name="Google Shape;580;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6" name="Google Shape;586;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2" name="Google Shape;592;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8" name="Google Shape;598;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4" name="Google Shape;604;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0" name="Google Shape;610;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rgbClr val="439FD7"/>
            </a:gs>
            <a:gs pos="25000">
              <a:srgbClr val="4397CA"/>
            </a:gs>
            <a:gs pos="100000">
              <a:srgbClr val="00466A"/>
            </a:gs>
          </a:gsLst>
          <a:path path="circle">
            <a:fillToRect l="50000" t="50000" r="50000" b="50000"/>
          </a:path>
          <a:tileRect/>
        </a:gradFill>
        <a:effectLst/>
      </p:bgPr>
    </p:bg>
    <p:spTree>
      <p:nvGrpSpPr>
        <p:cNvPr id="1" name="Shape 20"/>
        <p:cNvGrpSpPr/>
        <p:nvPr/>
      </p:nvGrpSpPr>
      <p:grpSpPr>
        <a:xfrm>
          <a:off x="0" y="0"/>
          <a:ext cx="0" cy="0"/>
          <a:chOff x="0" y="0"/>
          <a:chExt cx="0" cy="0"/>
        </a:xfrm>
      </p:grpSpPr>
      <p:sp>
        <p:nvSpPr>
          <p:cNvPr id="21" name="Google Shape;21;p76"/>
          <p:cNvSpPr txBox="1">
            <a:spLocks noGrp="1"/>
          </p:cNvSpPr>
          <p:nvPr>
            <p:ph type="ctrTitle"/>
          </p:nvPr>
        </p:nvSpPr>
        <p:spPr>
          <a:xfrm>
            <a:off x="533400" y="1371600"/>
            <a:ext cx="7851648" cy="1828800"/>
          </a:xfrm>
          <a:prstGeom prst="rect">
            <a:avLst/>
          </a:prstGeom>
          <a:noFill/>
          <a:ln>
            <a:noFill/>
          </a:ln>
        </p:spPr>
        <p:txBody>
          <a:bodyPr spcFirstLastPara="1" wrap="square" lIns="0" tIns="0" rIns="18275" bIns="0" anchor="b" anchorCtr="0">
            <a:normAutofit/>
          </a:bodyPr>
          <a:lstStyle>
            <a:lvl1pPr lvl="0" algn="r">
              <a:spcBef>
                <a:spcPts val="0"/>
              </a:spcBef>
              <a:spcAft>
                <a:spcPts val="0"/>
              </a:spcAft>
              <a:buClr>
                <a:srgbClr val="4CE0EA"/>
              </a:buClr>
              <a:buSzPts val="5600"/>
              <a:buFont typeface="Calibri"/>
              <a:buNone/>
              <a:defRPr sz="5600" b="1">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76"/>
          <p:cNvSpPr txBox="1">
            <a:spLocks noGrp="1"/>
          </p:cNvSpPr>
          <p:nvPr>
            <p:ph type="subTitle" idx="1"/>
          </p:nvPr>
        </p:nvSpPr>
        <p:spPr>
          <a:xfrm>
            <a:off x="533400" y="3228536"/>
            <a:ext cx="7854696" cy="1752600"/>
          </a:xfrm>
          <a:prstGeom prst="rect">
            <a:avLst/>
          </a:prstGeom>
          <a:noFill/>
          <a:ln>
            <a:noFill/>
          </a:ln>
        </p:spPr>
        <p:txBody>
          <a:bodyPr spcFirstLastPara="1" wrap="square" lIns="0" tIns="45700" rIns="18275" bIns="45700" anchor="t" anchorCtr="0">
            <a:normAutofit/>
          </a:bodyPr>
          <a:lstStyle>
            <a:lvl1pPr marR="45720" lvl="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a:endParaRPr/>
          </a:p>
        </p:txBody>
      </p:sp>
      <p:sp>
        <p:nvSpPr>
          <p:cNvPr id="23" name="Google Shape;23;p76"/>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76"/>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76"/>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7"/>
        <p:cNvGrpSpPr/>
        <p:nvPr/>
      </p:nvGrpSpPr>
      <p:grpSpPr>
        <a:xfrm>
          <a:off x="0" y="0"/>
          <a:ext cx="0" cy="0"/>
          <a:chOff x="0" y="0"/>
          <a:chExt cx="0" cy="0"/>
        </a:xfrm>
      </p:grpSpPr>
      <p:sp>
        <p:nvSpPr>
          <p:cNvPr id="38" name="Google Shape;38;p77"/>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77"/>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lvl1pPr marL="457200" lvl="0" indent="-337185" algn="l">
              <a:spcBef>
                <a:spcPts val="360"/>
              </a:spcBef>
              <a:spcAft>
                <a:spcPts val="0"/>
              </a:spcAft>
              <a:buSzPts val="1710"/>
              <a:buChar char="⚫"/>
              <a:defRPr/>
            </a:lvl1pPr>
            <a:lvl2pPr marL="914400" lvl="1" indent="-325755" algn="l">
              <a:spcBef>
                <a:spcPts val="360"/>
              </a:spcBef>
              <a:spcAft>
                <a:spcPts val="0"/>
              </a:spcAft>
              <a:buSzPts val="1530"/>
              <a:buChar char="⚫"/>
              <a:defRPr/>
            </a:lvl2pPr>
            <a:lvl3pPr marL="1371600" lvl="2" indent="-308610" algn="l">
              <a:spcBef>
                <a:spcPts val="360"/>
              </a:spcBef>
              <a:spcAft>
                <a:spcPts val="0"/>
              </a:spcAft>
              <a:buSzPts val="1260"/>
              <a:buChar char="⚫"/>
              <a:defRPr/>
            </a:lvl3pPr>
            <a:lvl4pPr marL="1828800" lvl="3" indent="-302894" algn="l">
              <a:spcBef>
                <a:spcPts val="360"/>
              </a:spcBef>
              <a:spcAft>
                <a:spcPts val="0"/>
              </a:spcAft>
              <a:buSzPts val="1170"/>
              <a:buChar char="⚫"/>
              <a:defRPr/>
            </a:lvl4pPr>
            <a:lvl5pPr marL="2286000" lvl="4" indent="-302895" algn="l">
              <a:spcBef>
                <a:spcPts val="360"/>
              </a:spcBef>
              <a:spcAft>
                <a:spcPts val="0"/>
              </a:spcAft>
              <a:buSzPts val="1170"/>
              <a:buChar char="⚫"/>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0" name="Google Shape;40;p77"/>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77"/>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77"/>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rgbClr val="439FD7"/>
            </a:gs>
            <a:gs pos="25000">
              <a:srgbClr val="4397CA"/>
            </a:gs>
            <a:gs pos="100000">
              <a:srgbClr val="00466A"/>
            </a:gs>
          </a:gsLst>
          <a:path path="circle">
            <a:fillToRect l="50000" t="50000" r="50000" b="50000"/>
          </a:path>
          <a:tileRect/>
        </a:gradFill>
        <a:effectLst/>
      </p:bgPr>
    </p:bg>
    <p:spTree>
      <p:nvGrpSpPr>
        <p:cNvPr id="1" name="Shape 43"/>
        <p:cNvGrpSpPr/>
        <p:nvPr/>
      </p:nvGrpSpPr>
      <p:grpSpPr>
        <a:xfrm>
          <a:off x="0" y="0"/>
          <a:ext cx="0" cy="0"/>
          <a:chOff x="0" y="0"/>
          <a:chExt cx="0" cy="0"/>
        </a:xfrm>
      </p:grpSpPr>
      <p:sp>
        <p:nvSpPr>
          <p:cNvPr id="44" name="Google Shape;44;p75"/>
          <p:cNvSpPr txBox="1">
            <a:spLocks noGrp="1"/>
          </p:cNvSpPr>
          <p:nvPr>
            <p:ph type="ctrTitle"/>
          </p:nvPr>
        </p:nvSpPr>
        <p:spPr>
          <a:xfrm>
            <a:off x="533400" y="1371600"/>
            <a:ext cx="7851648" cy="1828800"/>
          </a:xfrm>
          <a:prstGeom prst="rect">
            <a:avLst/>
          </a:prstGeom>
          <a:noFill/>
          <a:ln>
            <a:noFill/>
          </a:ln>
        </p:spPr>
        <p:txBody>
          <a:bodyPr spcFirstLastPara="1" wrap="square" lIns="0" tIns="0" rIns="18275" bIns="0" anchor="b" anchorCtr="0">
            <a:normAutofit/>
          </a:bodyPr>
          <a:lstStyle>
            <a:lvl1pPr lvl="0" algn="r">
              <a:spcBef>
                <a:spcPts val="0"/>
              </a:spcBef>
              <a:spcAft>
                <a:spcPts val="0"/>
              </a:spcAft>
              <a:buClr>
                <a:srgbClr val="4CE0EA"/>
              </a:buClr>
              <a:buSzPts val="5600"/>
              <a:buFont typeface="Calibri"/>
              <a:buNone/>
              <a:defRPr sz="5600" b="1">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75"/>
          <p:cNvSpPr txBox="1">
            <a:spLocks noGrp="1"/>
          </p:cNvSpPr>
          <p:nvPr>
            <p:ph type="subTitle" idx="1"/>
          </p:nvPr>
        </p:nvSpPr>
        <p:spPr>
          <a:xfrm>
            <a:off x="533400" y="3228536"/>
            <a:ext cx="7854696" cy="1752600"/>
          </a:xfrm>
          <a:prstGeom prst="rect">
            <a:avLst/>
          </a:prstGeom>
          <a:noFill/>
          <a:ln>
            <a:noFill/>
          </a:ln>
        </p:spPr>
        <p:txBody>
          <a:bodyPr spcFirstLastPara="1" wrap="square" lIns="0" tIns="45700" rIns="18275" bIns="45700" anchor="t" anchorCtr="0">
            <a:normAutofit/>
          </a:bodyPr>
          <a:lstStyle>
            <a:lvl1pPr marR="45720" lvl="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a:endParaRPr/>
          </a:p>
        </p:txBody>
      </p:sp>
      <p:sp>
        <p:nvSpPr>
          <p:cNvPr id="46" name="Google Shape;46;p75"/>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5"/>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5"/>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rgbClr val="439FD7"/>
            </a:gs>
            <a:gs pos="25000">
              <a:srgbClr val="4397CA"/>
            </a:gs>
            <a:gs pos="100000">
              <a:srgbClr val="00466A"/>
            </a:gs>
          </a:gsLst>
          <a:path path="circle">
            <a:fillToRect l="50000" t="50000" r="50000" b="50000"/>
          </a:path>
          <a:tileRect/>
        </a:gradFill>
        <a:effectLst/>
      </p:bgPr>
    </p:bg>
    <p:spTree>
      <p:nvGrpSpPr>
        <p:cNvPr id="1" name="Shape 49"/>
        <p:cNvGrpSpPr/>
        <p:nvPr/>
      </p:nvGrpSpPr>
      <p:grpSpPr>
        <a:xfrm>
          <a:off x="0" y="0"/>
          <a:ext cx="0" cy="0"/>
          <a:chOff x="0" y="0"/>
          <a:chExt cx="0" cy="0"/>
        </a:xfrm>
      </p:grpSpPr>
      <p:sp>
        <p:nvSpPr>
          <p:cNvPr id="50" name="Google Shape;50;p78"/>
          <p:cNvSpPr txBox="1">
            <a:spLocks noGrp="1"/>
          </p:cNvSpPr>
          <p:nvPr>
            <p:ph type="title"/>
          </p:nvPr>
        </p:nvSpPr>
        <p:spPr>
          <a:xfrm>
            <a:off x="530352" y="1316736"/>
            <a:ext cx="7772400" cy="1362456"/>
          </a:xfrm>
          <a:prstGeom prst="rect">
            <a:avLst/>
          </a:prstGeom>
          <a:noFill/>
          <a:ln>
            <a:noFill/>
          </a:ln>
        </p:spPr>
        <p:txBody>
          <a:bodyPr spcFirstLastPara="1" wrap="square" lIns="0" tIns="0" rIns="0" bIns="0" anchor="b" anchorCtr="0">
            <a:noAutofit/>
          </a:bodyPr>
          <a:lstStyle>
            <a:lvl1pPr lvl="0" algn="l">
              <a:spcBef>
                <a:spcPts val="0"/>
              </a:spcBef>
              <a:spcAft>
                <a:spcPts val="0"/>
              </a:spcAft>
              <a:buClr>
                <a:srgbClr val="4AE3AC"/>
              </a:buClr>
              <a:buSzPts val="5600"/>
              <a:buFont typeface="Calibri"/>
              <a:buNone/>
              <a:defRPr sz="5600" b="1"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8"/>
          <p:cNvSpPr txBox="1">
            <a:spLocks noGrp="1"/>
          </p:cNvSpPr>
          <p:nvPr>
            <p:ph type="body" idx="1"/>
          </p:nvPr>
        </p:nvSpPr>
        <p:spPr>
          <a:xfrm>
            <a:off x="530352" y="2704664"/>
            <a:ext cx="7772400" cy="1509712"/>
          </a:xfrm>
          <a:prstGeom prst="rect">
            <a:avLst/>
          </a:prstGeom>
          <a:noFill/>
          <a:ln>
            <a:noFill/>
          </a:ln>
        </p:spPr>
        <p:txBody>
          <a:bodyPr spcFirstLastPara="1" wrap="square" lIns="45700" tIns="45700" rIns="45700" bIns="45700" anchor="t" anchorCtr="0">
            <a:normAutofit/>
          </a:bodyPr>
          <a:lstStyle>
            <a:lvl1pPr marL="457200" lvl="0" indent="-228600" algn="l">
              <a:spcBef>
                <a:spcPts val="440"/>
              </a:spcBef>
              <a:spcAft>
                <a:spcPts val="0"/>
              </a:spcAft>
              <a:buSzPts val="2090"/>
              <a:buNone/>
              <a:defRPr sz="2200">
                <a:solidFill>
                  <a:schemeClr val="lt1"/>
                </a:solidFill>
              </a:defRPr>
            </a:lvl1pPr>
            <a:lvl2pPr marL="914400" lvl="1" indent="-228600" algn="l">
              <a:spcBef>
                <a:spcPts val="360"/>
              </a:spcBef>
              <a:spcAft>
                <a:spcPts val="0"/>
              </a:spcAft>
              <a:buSzPts val="1530"/>
              <a:buNone/>
              <a:defRPr sz="1800">
                <a:solidFill>
                  <a:schemeClr val="lt1"/>
                </a:solidFill>
              </a:defRPr>
            </a:lvl2pPr>
            <a:lvl3pPr marL="1371600" lvl="2" indent="-228600" algn="l">
              <a:spcBef>
                <a:spcPts val="320"/>
              </a:spcBef>
              <a:spcAft>
                <a:spcPts val="0"/>
              </a:spcAft>
              <a:buSzPts val="1120"/>
              <a:buNone/>
              <a:defRPr sz="1600">
                <a:solidFill>
                  <a:schemeClr val="lt1"/>
                </a:solidFill>
              </a:defRPr>
            </a:lvl3pPr>
            <a:lvl4pPr marL="1828800" lvl="3" indent="-228600" algn="l">
              <a:spcBef>
                <a:spcPts val="280"/>
              </a:spcBef>
              <a:spcAft>
                <a:spcPts val="0"/>
              </a:spcAft>
              <a:buSzPts val="910"/>
              <a:buNone/>
              <a:defRPr sz="1400">
                <a:solidFill>
                  <a:schemeClr val="lt1"/>
                </a:solidFill>
              </a:defRPr>
            </a:lvl4pPr>
            <a:lvl5pPr marL="2286000" lvl="4" indent="-228600" algn="l">
              <a:spcBef>
                <a:spcPts val="280"/>
              </a:spcBef>
              <a:spcAft>
                <a:spcPts val="0"/>
              </a:spcAft>
              <a:buSzPts val="910"/>
              <a:buNone/>
              <a:defRPr sz="1400">
                <a:solidFill>
                  <a:schemeClr val="lt1"/>
                </a:solidFill>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52" name="Google Shape;52;p78"/>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8"/>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8"/>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5"/>
        <p:cNvGrpSpPr/>
        <p:nvPr/>
      </p:nvGrpSpPr>
      <p:grpSpPr>
        <a:xfrm>
          <a:off x="0" y="0"/>
          <a:ext cx="0" cy="0"/>
          <a:chOff x="0" y="0"/>
          <a:chExt cx="0" cy="0"/>
        </a:xfrm>
      </p:grpSpPr>
      <p:sp>
        <p:nvSpPr>
          <p:cNvPr id="56" name="Google Shape;56;p79"/>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79"/>
          <p:cNvSpPr txBox="1">
            <a:spLocks noGrp="1"/>
          </p:cNvSpPr>
          <p:nvPr>
            <p:ph type="body" idx="1"/>
          </p:nvPr>
        </p:nvSpPr>
        <p:spPr>
          <a:xfrm>
            <a:off x="457200" y="1920085"/>
            <a:ext cx="4038600" cy="4434840"/>
          </a:xfrm>
          <a:prstGeom prst="rect">
            <a:avLst/>
          </a:prstGeom>
          <a:noFill/>
          <a:ln>
            <a:noFill/>
          </a:ln>
        </p:spPr>
        <p:txBody>
          <a:bodyPr spcFirstLastPara="1" wrap="square" lIns="91425" tIns="45700" rIns="91425" bIns="45700" anchor="t" anchorCtr="0">
            <a:normAutofit/>
          </a:bodyPr>
          <a:lstStyle>
            <a:lvl1pPr marL="457200" lvl="0" indent="-385445" algn="l">
              <a:spcBef>
                <a:spcPts val="520"/>
              </a:spcBef>
              <a:spcAft>
                <a:spcPts val="0"/>
              </a:spcAft>
              <a:buSzPts val="2470"/>
              <a:buChar char="⚫"/>
              <a:defRPr sz="2600"/>
            </a:lvl1pPr>
            <a:lvl2pPr marL="914400" lvl="1" indent="-358140" algn="l">
              <a:spcBef>
                <a:spcPts val="480"/>
              </a:spcBef>
              <a:spcAft>
                <a:spcPts val="0"/>
              </a:spcAft>
              <a:buSzPts val="2040"/>
              <a:buChar char="⚫"/>
              <a:defRPr sz="2400"/>
            </a:lvl2pPr>
            <a:lvl3pPr marL="1371600" lvl="2" indent="-317500" algn="l">
              <a:spcBef>
                <a:spcPts val="400"/>
              </a:spcBef>
              <a:spcAft>
                <a:spcPts val="0"/>
              </a:spcAft>
              <a:buSzPts val="1400"/>
              <a:buChar char="⚫"/>
              <a:defRPr sz="2000"/>
            </a:lvl3pPr>
            <a:lvl4pPr marL="1828800" lvl="3" indent="-302894" algn="l">
              <a:spcBef>
                <a:spcPts val="360"/>
              </a:spcBef>
              <a:spcAft>
                <a:spcPts val="0"/>
              </a:spcAft>
              <a:buSzPts val="1170"/>
              <a:buChar char="⚫"/>
              <a:defRPr sz="1800"/>
            </a:lvl4pPr>
            <a:lvl5pPr marL="2286000" lvl="4" indent="-302895" algn="l">
              <a:spcBef>
                <a:spcPts val="360"/>
              </a:spcBef>
              <a:spcAft>
                <a:spcPts val="0"/>
              </a:spcAft>
              <a:buSzPts val="1170"/>
              <a:buChar char="⚫"/>
              <a:defRPr sz="18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58" name="Google Shape;58;p79"/>
          <p:cNvSpPr txBox="1">
            <a:spLocks noGrp="1"/>
          </p:cNvSpPr>
          <p:nvPr>
            <p:ph type="body" idx="2"/>
          </p:nvPr>
        </p:nvSpPr>
        <p:spPr>
          <a:xfrm>
            <a:off x="4648200" y="1920085"/>
            <a:ext cx="4038600" cy="4434840"/>
          </a:xfrm>
          <a:prstGeom prst="rect">
            <a:avLst/>
          </a:prstGeom>
          <a:noFill/>
          <a:ln>
            <a:noFill/>
          </a:ln>
        </p:spPr>
        <p:txBody>
          <a:bodyPr spcFirstLastPara="1" wrap="square" lIns="91425" tIns="45700" rIns="91425" bIns="45700" anchor="t" anchorCtr="0">
            <a:normAutofit/>
          </a:bodyPr>
          <a:lstStyle>
            <a:lvl1pPr marL="457200" lvl="0" indent="-385445" algn="l">
              <a:spcBef>
                <a:spcPts val="520"/>
              </a:spcBef>
              <a:spcAft>
                <a:spcPts val="0"/>
              </a:spcAft>
              <a:buSzPts val="2470"/>
              <a:buChar char="⚫"/>
              <a:defRPr sz="2600"/>
            </a:lvl1pPr>
            <a:lvl2pPr marL="914400" lvl="1" indent="-358140" algn="l">
              <a:spcBef>
                <a:spcPts val="480"/>
              </a:spcBef>
              <a:spcAft>
                <a:spcPts val="0"/>
              </a:spcAft>
              <a:buSzPts val="2040"/>
              <a:buChar char="⚫"/>
              <a:defRPr sz="2400"/>
            </a:lvl2pPr>
            <a:lvl3pPr marL="1371600" lvl="2" indent="-317500" algn="l">
              <a:spcBef>
                <a:spcPts val="400"/>
              </a:spcBef>
              <a:spcAft>
                <a:spcPts val="0"/>
              </a:spcAft>
              <a:buSzPts val="1400"/>
              <a:buChar char="⚫"/>
              <a:defRPr sz="2000"/>
            </a:lvl3pPr>
            <a:lvl4pPr marL="1828800" lvl="3" indent="-302894" algn="l">
              <a:spcBef>
                <a:spcPts val="360"/>
              </a:spcBef>
              <a:spcAft>
                <a:spcPts val="0"/>
              </a:spcAft>
              <a:buSzPts val="1170"/>
              <a:buChar char="⚫"/>
              <a:defRPr sz="1800"/>
            </a:lvl4pPr>
            <a:lvl5pPr marL="2286000" lvl="4" indent="-302895" algn="l">
              <a:spcBef>
                <a:spcPts val="360"/>
              </a:spcBef>
              <a:spcAft>
                <a:spcPts val="0"/>
              </a:spcAft>
              <a:buSzPts val="1170"/>
              <a:buChar char="⚫"/>
              <a:defRPr sz="18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59" name="Google Shape;59;p79"/>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9"/>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79"/>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2"/>
        <p:cNvGrpSpPr/>
        <p:nvPr/>
      </p:nvGrpSpPr>
      <p:grpSpPr>
        <a:xfrm>
          <a:off x="0" y="0"/>
          <a:ext cx="0" cy="0"/>
          <a:chOff x="0" y="0"/>
          <a:chExt cx="0" cy="0"/>
        </a:xfrm>
      </p:grpSpPr>
      <p:sp>
        <p:nvSpPr>
          <p:cNvPr id="63" name="Google Shape;63;p80"/>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80"/>
          <p:cNvSpPr txBox="1">
            <a:spLocks noGrp="1"/>
          </p:cNvSpPr>
          <p:nvPr>
            <p:ph type="body" idx="1"/>
          </p:nvPr>
        </p:nvSpPr>
        <p:spPr>
          <a:xfrm>
            <a:off x="457200" y="1855248"/>
            <a:ext cx="4040188" cy="659352"/>
          </a:xfrm>
          <a:prstGeom prst="rect">
            <a:avLst/>
          </a:prstGeom>
          <a:noFill/>
          <a:ln>
            <a:noFill/>
          </a:ln>
        </p:spPr>
        <p:txBody>
          <a:bodyPr spcFirstLastPara="1" wrap="square" lIns="45700" tIns="0" rIns="45700" bIns="0" anchor="ctr" anchorCtr="0">
            <a:noAutofit/>
          </a:bodyPr>
          <a:lstStyle>
            <a:lvl1pPr marL="457200" lvl="0" indent="-228600" algn="l">
              <a:spcBef>
                <a:spcPts val="480"/>
              </a:spcBef>
              <a:spcAft>
                <a:spcPts val="0"/>
              </a:spcAft>
              <a:buSzPts val="2280"/>
              <a:buNone/>
              <a:defRPr sz="2400" b="1" cap="none">
                <a:solidFill>
                  <a:schemeClr val="dk2"/>
                </a:solidFill>
              </a:defRPr>
            </a:lvl1pPr>
            <a:lvl2pPr marL="914400" lvl="1" indent="-228600" algn="l">
              <a:spcBef>
                <a:spcPts val="400"/>
              </a:spcBef>
              <a:spcAft>
                <a:spcPts val="0"/>
              </a:spcAft>
              <a:buSzPts val="1700"/>
              <a:buNone/>
              <a:defRPr sz="2000" b="1"/>
            </a:lvl2pPr>
            <a:lvl3pPr marL="1371600" lvl="2" indent="-228600" algn="l">
              <a:spcBef>
                <a:spcPts val="360"/>
              </a:spcBef>
              <a:spcAft>
                <a:spcPts val="0"/>
              </a:spcAft>
              <a:buSzPts val="1260"/>
              <a:buNone/>
              <a:defRPr sz="1800" b="1"/>
            </a:lvl3pPr>
            <a:lvl4pPr marL="1828800" lvl="3" indent="-228600" algn="l">
              <a:spcBef>
                <a:spcPts val="320"/>
              </a:spcBef>
              <a:spcAft>
                <a:spcPts val="0"/>
              </a:spcAft>
              <a:buSzPts val="1040"/>
              <a:buNone/>
              <a:defRPr sz="1600" b="1"/>
            </a:lvl4pPr>
            <a:lvl5pPr marL="2286000" lvl="4" indent="-228600" algn="l">
              <a:spcBef>
                <a:spcPts val="320"/>
              </a:spcBef>
              <a:spcAft>
                <a:spcPts val="0"/>
              </a:spcAft>
              <a:buSzPts val="1040"/>
              <a:buNone/>
              <a:defRPr sz="1600" b="1"/>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5" name="Google Shape;65;p80"/>
          <p:cNvSpPr txBox="1">
            <a:spLocks noGrp="1"/>
          </p:cNvSpPr>
          <p:nvPr>
            <p:ph type="body" idx="2"/>
          </p:nvPr>
        </p:nvSpPr>
        <p:spPr>
          <a:xfrm>
            <a:off x="4645025" y="1859757"/>
            <a:ext cx="4041775" cy="654843"/>
          </a:xfrm>
          <a:prstGeom prst="rect">
            <a:avLst/>
          </a:prstGeom>
          <a:noFill/>
          <a:ln>
            <a:noFill/>
          </a:ln>
        </p:spPr>
        <p:txBody>
          <a:bodyPr spcFirstLastPara="1" wrap="square" lIns="45700" tIns="0" rIns="45700" bIns="0" anchor="ctr" anchorCtr="0">
            <a:normAutofit/>
          </a:bodyPr>
          <a:lstStyle>
            <a:lvl1pPr marL="457200" lvl="0" indent="-228600" algn="l">
              <a:spcBef>
                <a:spcPts val="480"/>
              </a:spcBef>
              <a:spcAft>
                <a:spcPts val="0"/>
              </a:spcAft>
              <a:buSzPts val="2280"/>
              <a:buNone/>
              <a:defRPr sz="2400" b="1" cap="none">
                <a:solidFill>
                  <a:schemeClr val="dk2"/>
                </a:solidFill>
              </a:defRPr>
            </a:lvl1pPr>
            <a:lvl2pPr marL="914400" lvl="1" indent="-228600" algn="l">
              <a:spcBef>
                <a:spcPts val="400"/>
              </a:spcBef>
              <a:spcAft>
                <a:spcPts val="0"/>
              </a:spcAft>
              <a:buSzPts val="1700"/>
              <a:buNone/>
              <a:defRPr sz="2000" b="1"/>
            </a:lvl2pPr>
            <a:lvl3pPr marL="1371600" lvl="2" indent="-228600" algn="l">
              <a:spcBef>
                <a:spcPts val="360"/>
              </a:spcBef>
              <a:spcAft>
                <a:spcPts val="0"/>
              </a:spcAft>
              <a:buSzPts val="1260"/>
              <a:buNone/>
              <a:defRPr sz="1800" b="1"/>
            </a:lvl3pPr>
            <a:lvl4pPr marL="1828800" lvl="3" indent="-228600" algn="l">
              <a:spcBef>
                <a:spcPts val="320"/>
              </a:spcBef>
              <a:spcAft>
                <a:spcPts val="0"/>
              </a:spcAft>
              <a:buSzPts val="1040"/>
              <a:buNone/>
              <a:defRPr sz="1600" b="1"/>
            </a:lvl4pPr>
            <a:lvl5pPr marL="2286000" lvl="4" indent="-228600" algn="l">
              <a:spcBef>
                <a:spcPts val="320"/>
              </a:spcBef>
              <a:spcAft>
                <a:spcPts val="0"/>
              </a:spcAft>
              <a:buSzPts val="1040"/>
              <a:buNone/>
              <a:defRPr sz="1600" b="1"/>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6" name="Google Shape;66;p80"/>
          <p:cNvSpPr txBox="1">
            <a:spLocks noGrp="1"/>
          </p:cNvSpPr>
          <p:nvPr>
            <p:ph type="body" idx="3"/>
          </p:nvPr>
        </p:nvSpPr>
        <p:spPr>
          <a:xfrm>
            <a:off x="457200" y="2514600"/>
            <a:ext cx="4040188" cy="3845720"/>
          </a:xfrm>
          <a:prstGeom prst="rect">
            <a:avLst/>
          </a:prstGeom>
          <a:noFill/>
          <a:ln>
            <a:noFill/>
          </a:ln>
        </p:spPr>
        <p:txBody>
          <a:bodyPr spcFirstLastPara="1" wrap="square" lIns="91425" tIns="0" rIns="91425" bIns="45700" anchor="t" anchorCtr="0">
            <a:normAutofit/>
          </a:bodyPr>
          <a:lstStyle>
            <a:lvl1pPr marL="457200" lvl="0" indent="-361315" algn="l">
              <a:spcBef>
                <a:spcPts val="440"/>
              </a:spcBef>
              <a:spcAft>
                <a:spcPts val="0"/>
              </a:spcAft>
              <a:buSzPts val="2090"/>
              <a:buChar char="⚫"/>
              <a:defRPr sz="2200"/>
            </a:lvl1pPr>
            <a:lvl2pPr marL="914400" lvl="1" indent="-336550" algn="l">
              <a:spcBef>
                <a:spcPts val="400"/>
              </a:spcBef>
              <a:spcAft>
                <a:spcPts val="0"/>
              </a:spcAft>
              <a:buSzPts val="1700"/>
              <a:buChar char="⚫"/>
              <a:defRPr sz="2000"/>
            </a:lvl2pPr>
            <a:lvl3pPr marL="1371600" lvl="2" indent="-308610" algn="l">
              <a:spcBef>
                <a:spcPts val="360"/>
              </a:spcBef>
              <a:spcAft>
                <a:spcPts val="0"/>
              </a:spcAft>
              <a:buSzPts val="1260"/>
              <a:buChar char="⚫"/>
              <a:defRPr sz="1800"/>
            </a:lvl3pPr>
            <a:lvl4pPr marL="1828800" lvl="3" indent="-294639" algn="l">
              <a:spcBef>
                <a:spcPts val="320"/>
              </a:spcBef>
              <a:spcAft>
                <a:spcPts val="0"/>
              </a:spcAft>
              <a:buSzPts val="1040"/>
              <a:buChar char="⚫"/>
              <a:defRPr sz="1600"/>
            </a:lvl4pPr>
            <a:lvl5pPr marL="2286000" lvl="4" indent="-294639" algn="l">
              <a:spcBef>
                <a:spcPts val="320"/>
              </a:spcBef>
              <a:spcAft>
                <a:spcPts val="0"/>
              </a:spcAft>
              <a:buSzPts val="1040"/>
              <a:buChar char="⚫"/>
              <a:defRPr sz="16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7" name="Google Shape;67;p80"/>
          <p:cNvSpPr txBox="1">
            <a:spLocks noGrp="1"/>
          </p:cNvSpPr>
          <p:nvPr>
            <p:ph type="body" idx="4"/>
          </p:nvPr>
        </p:nvSpPr>
        <p:spPr>
          <a:xfrm>
            <a:off x="4645025" y="2514600"/>
            <a:ext cx="4041775" cy="3845720"/>
          </a:xfrm>
          <a:prstGeom prst="rect">
            <a:avLst/>
          </a:prstGeom>
          <a:noFill/>
          <a:ln>
            <a:noFill/>
          </a:ln>
        </p:spPr>
        <p:txBody>
          <a:bodyPr spcFirstLastPara="1" wrap="square" lIns="91425" tIns="0" rIns="91425" bIns="45700" anchor="t" anchorCtr="0">
            <a:normAutofit/>
          </a:bodyPr>
          <a:lstStyle>
            <a:lvl1pPr marL="457200" lvl="0" indent="-361315" algn="l">
              <a:spcBef>
                <a:spcPts val="440"/>
              </a:spcBef>
              <a:spcAft>
                <a:spcPts val="0"/>
              </a:spcAft>
              <a:buSzPts val="2090"/>
              <a:buChar char="⚫"/>
              <a:defRPr sz="2200"/>
            </a:lvl1pPr>
            <a:lvl2pPr marL="914400" lvl="1" indent="-336550" algn="l">
              <a:spcBef>
                <a:spcPts val="400"/>
              </a:spcBef>
              <a:spcAft>
                <a:spcPts val="0"/>
              </a:spcAft>
              <a:buSzPts val="1700"/>
              <a:buChar char="⚫"/>
              <a:defRPr sz="2000"/>
            </a:lvl2pPr>
            <a:lvl3pPr marL="1371600" lvl="2" indent="-308610" algn="l">
              <a:spcBef>
                <a:spcPts val="360"/>
              </a:spcBef>
              <a:spcAft>
                <a:spcPts val="0"/>
              </a:spcAft>
              <a:buSzPts val="1260"/>
              <a:buChar char="⚫"/>
              <a:defRPr sz="1800"/>
            </a:lvl3pPr>
            <a:lvl4pPr marL="1828800" lvl="3" indent="-294639" algn="l">
              <a:spcBef>
                <a:spcPts val="320"/>
              </a:spcBef>
              <a:spcAft>
                <a:spcPts val="0"/>
              </a:spcAft>
              <a:buSzPts val="1040"/>
              <a:buChar char="⚫"/>
              <a:defRPr sz="1600"/>
            </a:lvl4pPr>
            <a:lvl5pPr marL="2286000" lvl="4" indent="-294639" algn="l">
              <a:spcBef>
                <a:spcPts val="320"/>
              </a:spcBef>
              <a:spcAft>
                <a:spcPts val="0"/>
              </a:spcAft>
              <a:buSzPts val="1040"/>
              <a:buChar char="⚫"/>
              <a:defRPr sz="16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8" name="Google Shape;68;p80"/>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80"/>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80"/>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1"/>
        <p:cNvGrpSpPr/>
        <p:nvPr/>
      </p:nvGrpSpPr>
      <p:grpSpPr>
        <a:xfrm>
          <a:off x="0" y="0"/>
          <a:ext cx="0" cy="0"/>
          <a:chOff x="0" y="0"/>
          <a:chExt cx="0" cy="0"/>
        </a:xfrm>
      </p:grpSpPr>
      <p:sp>
        <p:nvSpPr>
          <p:cNvPr id="72" name="Google Shape;72;p81"/>
          <p:cNvSpPr txBox="1">
            <a:spLocks noGrp="1"/>
          </p:cNvSpPr>
          <p:nvPr>
            <p:ph type="title"/>
          </p:nvPr>
        </p:nvSpPr>
        <p:spPr>
          <a:xfrm>
            <a:off x="457200" y="704088"/>
            <a:ext cx="83058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5000"/>
              <a:buFont typeface="Calibri"/>
              <a:buNone/>
              <a:defRPr sz="5000" b="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81"/>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81"/>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81"/>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6"/>
        <p:cNvGrpSpPr/>
        <p:nvPr/>
      </p:nvGrpSpPr>
      <p:grpSpPr>
        <a:xfrm>
          <a:off x="0" y="0"/>
          <a:ext cx="0" cy="0"/>
          <a:chOff x="0" y="0"/>
          <a:chExt cx="0" cy="0"/>
        </a:xfrm>
      </p:grpSpPr>
      <p:sp>
        <p:nvSpPr>
          <p:cNvPr id="77" name="Google Shape;77;p82"/>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82"/>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82"/>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0"/>
        <p:cNvGrpSpPr/>
        <p:nvPr/>
      </p:nvGrpSpPr>
      <p:grpSpPr>
        <a:xfrm>
          <a:off x="0" y="0"/>
          <a:ext cx="0" cy="0"/>
          <a:chOff x="0" y="0"/>
          <a:chExt cx="0" cy="0"/>
        </a:xfrm>
      </p:grpSpPr>
      <p:sp>
        <p:nvSpPr>
          <p:cNvPr id="81" name="Google Shape;81;p83"/>
          <p:cNvSpPr txBox="1">
            <a:spLocks noGrp="1"/>
          </p:cNvSpPr>
          <p:nvPr>
            <p:ph type="title"/>
          </p:nvPr>
        </p:nvSpPr>
        <p:spPr>
          <a:xfrm>
            <a:off x="685800" y="514352"/>
            <a:ext cx="2743200" cy="1162050"/>
          </a:xfrm>
          <a:prstGeom prst="rect">
            <a:avLst/>
          </a:prstGeom>
          <a:noFill/>
          <a:ln>
            <a:noFill/>
          </a:ln>
        </p:spPr>
        <p:txBody>
          <a:bodyPr spcFirstLastPara="1" wrap="square" lIns="0" tIns="45700" rIns="0" bIns="0" anchor="b" anchorCtr="0">
            <a:noAutofit/>
          </a:bodyPr>
          <a:lstStyle>
            <a:lvl1pPr lvl="0" algn="l">
              <a:spcBef>
                <a:spcPts val="0"/>
              </a:spcBef>
              <a:spcAft>
                <a:spcPts val="0"/>
              </a:spcAft>
              <a:buClr>
                <a:schemeClr val="dk2"/>
              </a:buClr>
              <a:buSzPts val="2600"/>
              <a:buFont typeface="Calibri"/>
              <a:buNone/>
              <a:defRPr sz="2600" b="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83"/>
          <p:cNvSpPr txBox="1">
            <a:spLocks noGrp="1"/>
          </p:cNvSpPr>
          <p:nvPr>
            <p:ph type="body" idx="1"/>
          </p:nvPr>
        </p:nvSpPr>
        <p:spPr>
          <a:xfrm>
            <a:off x="685800" y="1676400"/>
            <a:ext cx="2743200" cy="4572000"/>
          </a:xfrm>
          <a:prstGeom prst="rect">
            <a:avLst/>
          </a:prstGeom>
          <a:noFill/>
          <a:ln>
            <a:noFill/>
          </a:ln>
        </p:spPr>
        <p:txBody>
          <a:bodyPr spcFirstLastPara="1" wrap="square" lIns="18275" tIns="45700" rIns="18275" bIns="45700" anchor="t" anchorCtr="0">
            <a:normAutofit/>
          </a:bodyPr>
          <a:lstStyle>
            <a:lvl1pPr marL="457200" lvl="0" indent="-228600" algn="l">
              <a:spcBef>
                <a:spcPts val="280"/>
              </a:spcBef>
              <a:spcAft>
                <a:spcPts val="0"/>
              </a:spcAft>
              <a:buSzPts val="1330"/>
              <a:buNone/>
              <a:defRPr sz="1400"/>
            </a:lvl1pPr>
            <a:lvl2pPr marL="914400" lvl="1" indent="-228600" algn="l">
              <a:spcBef>
                <a:spcPts val="240"/>
              </a:spcBef>
              <a:spcAft>
                <a:spcPts val="0"/>
              </a:spcAft>
              <a:buSzPts val="1020"/>
              <a:buNone/>
              <a:defRPr sz="1200"/>
            </a:lvl2pPr>
            <a:lvl3pPr marL="1371600" lvl="2" indent="-228600" algn="l">
              <a:spcBef>
                <a:spcPts val="200"/>
              </a:spcBef>
              <a:spcAft>
                <a:spcPts val="0"/>
              </a:spcAft>
              <a:buSzPts val="700"/>
              <a:buNone/>
              <a:defRPr sz="1000"/>
            </a:lvl3pPr>
            <a:lvl4pPr marL="1828800" lvl="3" indent="-228600" algn="l">
              <a:spcBef>
                <a:spcPts val="180"/>
              </a:spcBef>
              <a:spcAft>
                <a:spcPts val="0"/>
              </a:spcAft>
              <a:buSzPts val="585"/>
              <a:buNone/>
              <a:defRPr sz="900"/>
            </a:lvl4pPr>
            <a:lvl5pPr marL="2286000" lvl="4" indent="-228600" algn="l">
              <a:spcBef>
                <a:spcPts val="180"/>
              </a:spcBef>
              <a:spcAft>
                <a:spcPts val="0"/>
              </a:spcAft>
              <a:buSzPts val="585"/>
              <a:buNone/>
              <a:defRPr sz="9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3" name="Google Shape;83;p83"/>
          <p:cNvSpPr txBox="1">
            <a:spLocks noGrp="1"/>
          </p:cNvSpPr>
          <p:nvPr>
            <p:ph type="body" idx="2"/>
          </p:nvPr>
        </p:nvSpPr>
        <p:spPr>
          <a:xfrm>
            <a:off x="3575050" y="1676400"/>
            <a:ext cx="5111750" cy="4572000"/>
          </a:xfrm>
          <a:prstGeom prst="rect">
            <a:avLst/>
          </a:prstGeom>
          <a:noFill/>
          <a:ln>
            <a:noFill/>
          </a:ln>
        </p:spPr>
        <p:txBody>
          <a:bodyPr spcFirstLastPara="1" wrap="square" lIns="91425" tIns="0" rIns="91425" bIns="45700" anchor="t" anchorCtr="0">
            <a:normAutofit/>
          </a:bodyPr>
          <a:lstStyle>
            <a:lvl1pPr marL="457200" lvl="0" indent="-397510" algn="l">
              <a:spcBef>
                <a:spcPts val="560"/>
              </a:spcBef>
              <a:spcAft>
                <a:spcPts val="0"/>
              </a:spcAft>
              <a:buSzPts val="2660"/>
              <a:buChar char="⚫"/>
              <a:defRPr sz="2800"/>
            </a:lvl1pPr>
            <a:lvl2pPr marL="914400" lvl="1" indent="-368935" algn="l">
              <a:spcBef>
                <a:spcPts val="520"/>
              </a:spcBef>
              <a:spcAft>
                <a:spcPts val="0"/>
              </a:spcAft>
              <a:buSzPts val="2210"/>
              <a:buChar char="⚫"/>
              <a:defRPr sz="2600"/>
            </a:lvl2pPr>
            <a:lvl3pPr marL="1371600" lvl="2" indent="-335280" algn="l">
              <a:spcBef>
                <a:spcPts val="480"/>
              </a:spcBef>
              <a:spcAft>
                <a:spcPts val="0"/>
              </a:spcAft>
              <a:buSzPts val="1680"/>
              <a:buChar char="⚫"/>
              <a:defRPr sz="2400"/>
            </a:lvl3pPr>
            <a:lvl4pPr marL="1828800" lvl="3" indent="-311150" algn="l">
              <a:spcBef>
                <a:spcPts val="400"/>
              </a:spcBef>
              <a:spcAft>
                <a:spcPts val="0"/>
              </a:spcAft>
              <a:buSzPts val="1300"/>
              <a:buChar char="⚫"/>
              <a:defRPr sz="2000"/>
            </a:lvl4pPr>
            <a:lvl5pPr marL="2286000" lvl="4" indent="-302895" algn="l">
              <a:spcBef>
                <a:spcPts val="360"/>
              </a:spcBef>
              <a:spcAft>
                <a:spcPts val="0"/>
              </a:spcAft>
              <a:buSzPts val="1170"/>
              <a:buChar char="⚫"/>
              <a:defRPr sz="18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4" name="Google Shape;84;p83"/>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83"/>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83"/>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87"/>
        <p:cNvGrpSpPr/>
        <p:nvPr/>
      </p:nvGrpSpPr>
      <p:grpSpPr>
        <a:xfrm>
          <a:off x="0" y="0"/>
          <a:ext cx="0" cy="0"/>
          <a:chOff x="0" y="0"/>
          <a:chExt cx="0" cy="0"/>
        </a:xfrm>
      </p:grpSpPr>
      <p:sp>
        <p:nvSpPr>
          <p:cNvPr id="88" name="Google Shape;88;p84"/>
          <p:cNvSpPr/>
          <p:nvPr/>
        </p:nvSpPr>
        <p:spPr>
          <a:xfrm rot="-10380000" flipH="1">
            <a:off x="3165753" y="1108077"/>
            <a:ext cx="5257800" cy="4114800"/>
          </a:xfrm>
          <a:prstGeom prst="snipRoundRect">
            <a:avLst>
              <a:gd name="adj1" fmla="val 0"/>
              <a:gd name="adj2" fmla="val 3646"/>
            </a:avLst>
          </a:prstGeom>
          <a:solidFill>
            <a:srgbClr val="FFFFFF"/>
          </a:solidFill>
          <a:ln w="9525" cap="rnd" cmpd="sng">
            <a:solidFill>
              <a:srgbClr val="C0C0C0"/>
            </a:solidFill>
            <a:prstDash val="solid"/>
            <a:round/>
            <a:headEnd type="none" w="sm" len="sm"/>
            <a:tailEnd type="none" w="sm" len="sm"/>
          </a:ln>
          <a:effectLst>
            <a:outerShdw blurRad="63500" dist="38500" dir="7500000" sx="98500" sy="100080" kx="100000" algn="tl"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onstantia"/>
              <a:ea typeface="Constantia"/>
              <a:cs typeface="Constantia"/>
              <a:sym typeface="Constantia"/>
            </a:endParaRPr>
          </a:p>
        </p:txBody>
      </p:sp>
      <p:sp>
        <p:nvSpPr>
          <p:cNvPr id="89" name="Google Shape;89;p84"/>
          <p:cNvSpPr/>
          <p:nvPr/>
        </p:nvSpPr>
        <p:spPr>
          <a:xfrm rot="-10380000" flipH="1">
            <a:off x="8004134" y="5359769"/>
            <a:ext cx="155448" cy="155448"/>
          </a:xfrm>
          <a:prstGeom prst="rtTriangle">
            <a:avLst/>
          </a:prstGeom>
          <a:solidFill>
            <a:srgbClr val="FFFFFF"/>
          </a:solidFill>
          <a:ln w="12700" cap="flat" cmpd="sng">
            <a:solidFill>
              <a:srgbClr val="FFFFFF"/>
            </a:solidFill>
            <a:prstDash val="solid"/>
            <a:bevel/>
            <a:headEnd type="none" w="sm" len="sm"/>
            <a:tailEnd type="none" w="sm" len="sm"/>
          </a:ln>
          <a:effectLst>
            <a:outerShdw blurRad="19685" dist="6350" dir="12900000" algn="tl" rotWithShape="0">
              <a:srgbClr val="000000">
                <a:alpha val="46666"/>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onstantia"/>
              <a:ea typeface="Constantia"/>
              <a:cs typeface="Constantia"/>
              <a:sym typeface="Constantia"/>
            </a:endParaRPr>
          </a:p>
        </p:txBody>
      </p:sp>
      <p:sp>
        <p:nvSpPr>
          <p:cNvPr id="90" name="Google Shape;90;p84"/>
          <p:cNvSpPr txBox="1">
            <a:spLocks noGrp="1"/>
          </p:cNvSpPr>
          <p:nvPr>
            <p:ph type="title"/>
          </p:nvPr>
        </p:nvSpPr>
        <p:spPr>
          <a:xfrm>
            <a:off x="609600" y="1176996"/>
            <a:ext cx="2212848" cy="1582621"/>
          </a:xfrm>
          <a:prstGeom prst="rect">
            <a:avLst/>
          </a:prstGeom>
          <a:noFill/>
          <a:ln>
            <a:noFill/>
          </a:ln>
        </p:spPr>
        <p:txBody>
          <a:bodyPr spcFirstLastPara="1" wrap="square" lIns="45700" tIns="45700" rIns="45700" bIns="45700" anchor="b" anchorCtr="0">
            <a:normAutofit/>
          </a:bodyPr>
          <a:lstStyle>
            <a:lvl1pPr lvl="0" algn="l">
              <a:spcBef>
                <a:spcPts val="0"/>
              </a:spcBef>
              <a:spcAft>
                <a:spcPts val="0"/>
              </a:spcAft>
              <a:buClr>
                <a:schemeClr val="dk2"/>
              </a:buClr>
              <a:buSzPts val="2000"/>
              <a:buFont typeface="Calibri"/>
              <a:buNone/>
              <a:defRPr sz="2000" b="1">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84"/>
          <p:cNvSpPr txBox="1">
            <a:spLocks noGrp="1"/>
          </p:cNvSpPr>
          <p:nvPr>
            <p:ph type="body" idx="1"/>
          </p:nvPr>
        </p:nvSpPr>
        <p:spPr>
          <a:xfrm>
            <a:off x="609600" y="2828785"/>
            <a:ext cx="2209800" cy="2179320"/>
          </a:xfrm>
          <a:prstGeom prst="rect">
            <a:avLst/>
          </a:prstGeom>
          <a:noFill/>
          <a:ln>
            <a:noFill/>
          </a:ln>
        </p:spPr>
        <p:txBody>
          <a:bodyPr spcFirstLastPara="1" wrap="square" lIns="64000" tIns="45700" rIns="45700" bIns="45700" anchor="t" anchorCtr="0">
            <a:normAutofit/>
          </a:bodyPr>
          <a:lstStyle>
            <a:lvl1pPr marL="457200" lvl="0" indent="-228600" algn="l">
              <a:spcBef>
                <a:spcPts val="250"/>
              </a:spcBef>
              <a:spcAft>
                <a:spcPts val="0"/>
              </a:spcAft>
              <a:buSzPts val="1235"/>
              <a:buFont typeface="Constantia"/>
              <a:buNone/>
              <a:defRPr sz="1300"/>
            </a:lvl1pPr>
            <a:lvl2pPr marL="914400" lvl="1" indent="-293369" algn="l">
              <a:spcBef>
                <a:spcPts val="240"/>
              </a:spcBef>
              <a:spcAft>
                <a:spcPts val="0"/>
              </a:spcAft>
              <a:buSzPts val="1020"/>
              <a:buChar char="⚫"/>
              <a:defRPr sz="1200"/>
            </a:lvl2pPr>
            <a:lvl3pPr marL="1371600" lvl="2" indent="-273050" algn="l">
              <a:spcBef>
                <a:spcPts val="200"/>
              </a:spcBef>
              <a:spcAft>
                <a:spcPts val="0"/>
              </a:spcAft>
              <a:buSzPts val="700"/>
              <a:buChar char="⚫"/>
              <a:defRPr sz="1000"/>
            </a:lvl3pPr>
            <a:lvl4pPr marL="1828800" lvl="3" indent="-265747" algn="l">
              <a:spcBef>
                <a:spcPts val="180"/>
              </a:spcBef>
              <a:spcAft>
                <a:spcPts val="0"/>
              </a:spcAft>
              <a:buSzPts val="585"/>
              <a:buChar char="⚫"/>
              <a:defRPr sz="900"/>
            </a:lvl4pPr>
            <a:lvl5pPr marL="2286000" lvl="4" indent="-265747" algn="l">
              <a:spcBef>
                <a:spcPts val="180"/>
              </a:spcBef>
              <a:spcAft>
                <a:spcPts val="0"/>
              </a:spcAft>
              <a:buSzPts val="585"/>
              <a:buChar char="⚫"/>
              <a:defRPr sz="900"/>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92" name="Google Shape;92;p84"/>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84"/>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84"/>
          <p:cNvSpPr txBox="1">
            <a:spLocks noGrp="1"/>
          </p:cNvSpPr>
          <p:nvPr>
            <p:ph type="sldNum" idx="12"/>
          </p:nvPr>
        </p:nvSpPr>
        <p:spPr>
          <a:xfrm>
            <a:off x="8077200" y="6356350"/>
            <a:ext cx="6096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5" name="Google Shape;95;p84"/>
          <p:cNvSpPr>
            <a:spLocks noGrp="1"/>
          </p:cNvSpPr>
          <p:nvPr>
            <p:ph type="pic" idx="2"/>
          </p:nvPr>
        </p:nvSpPr>
        <p:spPr>
          <a:xfrm rot="420000">
            <a:off x="3485793" y="1199517"/>
            <a:ext cx="4617720" cy="3931920"/>
          </a:xfrm>
          <a:prstGeom prst="rect">
            <a:avLst/>
          </a:prstGeom>
          <a:solidFill>
            <a:schemeClr val="lt2"/>
          </a:solidFill>
          <a:ln w="9525" cap="rnd" cmpd="sng">
            <a:solidFill>
              <a:srgbClr val="C0C0C0"/>
            </a:solidFill>
            <a:prstDash val="solid"/>
            <a:round/>
            <a:headEnd type="none" w="sm" len="sm"/>
            <a:tailEnd type="none" w="sm" len="sm"/>
          </a:ln>
        </p:spPr>
      </p:sp>
      <p:sp>
        <p:nvSpPr>
          <p:cNvPr id="96" name="Google Shape;96;p84"/>
          <p:cNvSpPr/>
          <p:nvPr/>
        </p:nvSpPr>
        <p:spPr>
          <a:xfrm rot="10800000" flipH="1">
            <a:off x="-9525" y="5816600"/>
            <a:ext cx="9163050" cy="1041400"/>
          </a:xfrm>
          <a:custGeom>
            <a:avLst/>
            <a:gdLst/>
            <a:ahLst/>
            <a:cxnLst/>
            <a:rect l="l" t="t" r="r" b="b"/>
            <a:pathLst>
              <a:path w="5772" h="656"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
        <p:nvSpPr>
          <p:cNvPr id="97" name="Google Shape;97;p84"/>
          <p:cNvSpPr/>
          <p:nvPr/>
        </p:nvSpPr>
        <p:spPr>
          <a:xfrm rot="10800000" flipH="1">
            <a:off x="4381500" y="6219825"/>
            <a:ext cx="4762500" cy="638175"/>
          </a:xfrm>
          <a:custGeom>
            <a:avLst/>
            <a:gdLst/>
            <a:ahLst/>
            <a:cxnLst/>
            <a:rect l="l" t="t" r="r" b="b"/>
            <a:pathLst>
              <a:path w="3000" h="595"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8"/>
        <p:cNvGrpSpPr/>
        <p:nvPr/>
      </p:nvGrpSpPr>
      <p:grpSpPr>
        <a:xfrm>
          <a:off x="0" y="0"/>
          <a:ext cx="0" cy="0"/>
          <a:chOff x="0" y="0"/>
          <a:chExt cx="0" cy="0"/>
        </a:xfrm>
      </p:grpSpPr>
      <p:sp>
        <p:nvSpPr>
          <p:cNvPr id="99" name="Google Shape;99;p8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85"/>
          <p:cNvSpPr txBox="1">
            <a:spLocks noGrp="1"/>
          </p:cNvSpPr>
          <p:nvPr>
            <p:ph type="body" idx="1"/>
          </p:nvPr>
        </p:nvSpPr>
        <p:spPr>
          <a:xfrm rot="5400000">
            <a:off x="2377440" y="15240"/>
            <a:ext cx="4389120" cy="8229600"/>
          </a:xfrm>
          <a:prstGeom prst="rect">
            <a:avLst/>
          </a:prstGeom>
          <a:noFill/>
          <a:ln>
            <a:noFill/>
          </a:ln>
        </p:spPr>
        <p:txBody>
          <a:bodyPr spcFirstLastPara="1" wrap="square" lIns="91425" tIns="45700" rIns="91425" bIns="45700" anchor="t" anchorCtr="0">
            <a:normAutofit/>
          </a:bodyPr>
          <a:lstStyle>
            <a:lvl1pPr marL="457200" lvl="0" indent="-337185" algn="l">
              <a:spcBef>
                <a:spcPts val="360"/>
              </a:spcBef>
              <a:spcAft>
                <a:spcPts val="0"/>
              </a:spcAft>
              <a:buSzPts val="1710"/>
              <a:buChar char="⚫"/>
              <a:defRPr/>
            </a:lvl1pPr>
            <a:lvl2pPr marL="914400" lvl="1" indent="-325755" algn="l">
              <a:spcBef>
                <a:spcPts val="360"/>
              </a:spcBef>
              <a:spcAft>
                <a:spcPts val="0"/>
              </a:spcAft>
              <a:buSzPts val="1530"/>
              <a:buChar char="⚫"/>
              <a:defRPr/>
            </a:lvl2pPr>
            <a:lvl3pPr marL="1371600" lvl="2" indent="-308610" algn="l">
              <a:spcBef>
                <a:spcPts val="360"/>
              </a:spcBef>
              <a:spcAft>
                <a:spcPts val="0"/>
              </a:spcAft>
              <a:buSzPts val="1260"/>
              <a:buChar char="⚫"/>
              <a:defRPr/>
            </a:lvl3pPr>
            <a:lvl4pPr marL="1828800" lvl="3" indent="-302894" algn="l">
              <a:spcBef>
                <a:spcPts val="360"/>
              </a:spcBef>
              <a:spcAft>
                <a:spcPts val="0"/>
              </a:spcAft>
              <a:buSzPts val="1170"/>
              <a:buChar char="⚫"/>
              <a:defRPr/>
            </a:lvl4pPr>
            <a:lvl5pPr marL="2286000" lvl="4" indent="-302895" algn="l">
              <a:spcBef>
                <a:spcPts val="360"/>
              </a:spcBef>
              <a:spcAft>
                <a:spcPts val="0"/>
              </a:spcAft>
              <a:buSzPts val="1170"/>
              <a:buChar char="⚫"/>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01" name="Google Shape;101;p85"/>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85"/>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85"/>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4"/>
        <p:cNvGrpSpPr/>
        <p:nvPr/>
      </p:nvGrpSpPr>
      <p:grpSpPr>
        <a:xfrm>
          <a:off x="0" y="0"/>
          <a:ext cx="0" cy="0"/>
          <a:chOff x="0" y="0"/>
          <a:chExt cx="0" cy="0"/>
        </a:xfrm>
      </p:grpSpPr>
      <p:sp>
        <p:nvSpPr>
          <p:cNvPr id="105" name="Google Shape;105;p86"/>
          <p:cNvSpPr txBox="1">
            <a:spLocks noGrp="1"/>
          </p:cNvSpPr>
          <p:nvPr>
            <p:ph type="title"/>
          </p:nvPr>
        </p:nvSpPr>
        <p:spPr>
          <a:xfrm rot="5400000">
            <a:off x="5052219" y="2491582"/>
            <a:ext cx="5211763" cy="2057400"/>
          </a:xfrm>
          <a:prstGeom prst="rect">
            <a:avLst/>
          </a:prstGeom>
          <a:noFill/>
          <a:ln>
            <a:noFill/>
          </a:ln>
        </p:spPr>
        <p:txBody>
          <a:bodyPr spcFirstLastPara="1" wrap="square" lIns="0" tIns="45700" rIns="0" bIns="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86"/>
          <p:cNvSpPr txBox="1">
            <a:spLocks noGrp="1"/>
          </p:cNvSpPr>
          <p:nvPr>
            <p:ph type="body" idx="1"/>
          </p:nvPr>
        </p:nvSpPr>
        <p:spPr>
          <a:xfrm rot="5400000">
            <a:off x="861219" y="510382"/>
            <a:ext cx="5211763" cy="6019800"/>
          </a:xfrm>
          <a:prstGeom prst="rect">
            <a:avLst/>
          </a:prstGeom>
          <a:noFill/>
          <a:ln>
            <a:noFill/>
          </a:ln>
        </p:spPr>
        <p:txBody>
          <a:bodyPr spcFirstLastPara="1" wrap="square" lIns="91425" tIns="45700" rIns="91425" bIns="45700" anchor="t" anchorCtr="0">
            <a:normAutofit/>
          </a:bodyPr>
          <a:lstStyle>
            <a:lvl1pPr marL="457200" lvl="0" indent="-337185" algn="l">
              <a:spcBef>
                <a:spcPts val="360"/>
              </a:spcBef>
              <a:spcAft>
                <a:spcPts val="0"/>
              </a:spcAft>
              <a:buSzPts val="1710"/>
              <a:buChar char="⚫"/>
              <a:defRPr/>
            </a:lvl1pPr>
            <a:lvl2pPr marL="914400" lvl="1" indent="-325755" algn="l">
              <a:spcBef>
                <a:spcPts val="360"/>
              </a:spcBef>
              <a:spcAft>
                <a:spcPts val="0"/>
              </a:spcAft>
              <a:buSzPts val="1530"/>
              <a:buChar char="⚫"/>
              <a:defRPr/>
            </a:lvl2pPr>
            <a:lvl3pPr marL="1371600" lvl="2" indent="-308610" algn="l">
              <a:spcBef>
                <a:spcPts val="360"/>
              </a:spcBef>
              <a:spcAft>
                <a:spcPts val="0"/>
              </a:spcAft>
              <a:buSzPts val="1260"/>
              <a:buChar char="⚫"/>
              <a:defRPr/>
            </a:lvl3pPr>
            <a:lvl4pPr marL="1828800" lvl="3" indent="-302894" algn="l">
              <a:spcBef>
                <a:spcPts val="360"/>
              </a:spcBef>
              <a:spcAft>
                <a:spcPts val="0"/>
              </a:spcAft>
              <a:buSzPts val="1170"/>
              <a:buChar char="⚫"/>
              <a:defRPr/>
            </a:lvl4pPr>
            <a:lvl5pPr marL="2286000" lvl="4" indent="-302895" algn="l">
              <a:spcBef>
                <a:spcPts val="360"/>
              </a:spcBef>
              <a:spcAft>
                <a:spcPts val="0"/>
              </a:spcAft>
              <a:buSzPts val="1170"/>
              <a:buChar char="⚫"/>
              <a:defRPr/>
            </a:lvl5pPr>
            <a:lvl6pPr marL="2743200" lvl="5" indent="-320039" algn="l">
              <a:spcBef>
                <a:spcPts val="360"/>
              </a:spcBef>
              <a:spcAft>
                <a:spcPts val="0"/>
              </a:spcAft>
              <a:buSzPts val="1440"/>
              <a:buChar char="⚫"/>
              <a:defRPr/>
            </a:lvl6pPr>
            <a:lvl7pPr marL="3200400" lvl="6" indent="-320039" algn="l">
              <a:spcBef>
                <a:spcPts val="360"/>
              </a:spcBef>
              <a:spcAft>
                <a:spcPts val="0"/>
              </a:spcAft>
              <a:buSzPts val="144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07" name="Google Shape;107;p86"/>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86"/>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86"/>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2.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3">
            <a:alphaModFix/>
          </a:blip>
          <a:tile tx="0" ty="0" sx="65000" sy="65000" flip="none" algn="tl"/>
        </a:blipFill>
        <a:effectLst/>
      </p:bgPr>
    </p:bg>
    <p:spTree>
      <p:nvGrpSpPr>
        <p:cNvPr id="1" name="Shape 9"/>
        <p:cNvGrpSpPr/>
        <p:nvPr/>
      </p:nvGrpSpPr>
      <p:grpSpPr>
        <a:xfrm>
          <a:off x="0" y="0"/>
          <a:ext cx="0" cy="0"/>
          <a:chOff x="0" y="0"/>
          <a:chExt cx="0" cy="0"/>
        </a:xfrm>
      </p:grpSpPr>
      <p:sp>
        <p:nvSpPr>
          <p:cNvPr id="10" name="Google Shape;10;p74"/>
          <p:cNvSpPr/>
          <p:nvPr/>
        </p:nvSpPr>
        <p:spPr>
          <a:xfrm>
            <a:off x="-9525" y="-7144"/>
            <a:ext cx="9163050" cy="1041400"/>
          </a:xfrm>
          <a:custGeom>
            <a:avLst/>
            <a:gdLst/>
            <a:ahLst/>
            <a:cxnLst/>
            <a:rect l="l" t="t" r="r" b="b"/>
            <a:pathLst>
              <a:path w="5772" h="656"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onstantia"/>
              <a:ea typeface="Constantia"/>
              <a:cs typeface="Constantia"/>
              <a:sym typeface="Constantia"/>
            </a:endParaRPr>
          </a:p>
        </p:txBody>
      </p:sp>
      <p:sp>
        <p:nvSpPr>
          <p:cNvPr id="11" name="Google Shape;11;p74"/>
          <p:cNvSpPr/>
          <p:nvPr/>
        </p:nvSpPr>
        <p:spPr>
          <a:xfrm>
            <a:off x="4381500" y="-7144"/>
            <a:ext cx="4762500" cy="638175"/>
          </a:xfrm>
          <a:custGeom>
            <a:avLst/>
            <a:gdLst/>
            <a:ahLst/>
            <a:cxnLst/>
            <a:rect l="l" t="t" r="r" b="b"/>
            <a:pathLst>
              <a:path w="3000" h="595"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onstantia"/>
              <a:ea typeface="Constantia"/>
              <a:cs typeface="Constantia"/>
              <a:sym typeface="Constantia"/>
            </a:endParaRPr>
          </a:p>
        </p:txBody>
      </p:sp>
      <p:sp>
        <p:nvSpPr>
          <p:cNvPr id="12" name="Google Shape;12;p7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marR="0" lvl="0" algn="l" rtl="0">
              <a:spcBef>
                <a:spcPts val="0"/>
              </a:spcBef>
              <a:spcAft>
                <a:spcPts val="0"/>
              </a:spcAft>
              <a:buClr>
                <a:schemeClr val="lt2"/>
              </a:buClr>
              <a:buSzPts val="5000"/>
              <a:buFont typeface="Calibri"/>
              <a:buNone/>
              <a:defRPr sz="5000" b="0" i="0" u="none" strike="noStrike" cap="non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74"/>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lvl1pPr marL="457200" marR="0" lvl="0" indent="-385445" algn="l" rtl="0">
              <a:spcBef>
                <a:spcPts val="520"/>
              </a:spcBef>
              <a:spcAft>
                <a:spcPts val="0"/>
              </a:spcAft>
              <a:buClr>
                <a:schemeClr val="accent3"/>
              </a:buClr>
              <a:buSzPts val="2470"/>
              <a:buFont typeface="Noto Sans Symbols"/>
              <a:buChar char="⚫"/>
              <a:defRPr sz="2600" b="0" i="0" u="none" strike="noStrike" cap="none">
                <a:solidFill>
                  <a:schemeClr val="lt1"/>
                </a:solidFill>
                <a:latin typeface="Constantia"/>
                <a:ea typeface="Constantia"/>
                <a:cs typeface="Constantia"/>
                <a:sym typeface="Constantia"/>
              </a:defRPr>
            </a:lvl1pPr>
            <a:lvl2pPr marL="914400" marR="0" lvl="1" indent="-358140" algn="l" rtl="0">
              <a:spcBef>
                <a:spcPts val="480"/>
              </a:spcBef>
              <a:spcAft>
                <a:spcPts val="0"/>
              </a:spcAft>
              <a:buClr>
                <a:schemeClr val="accent1"/>
              </a:buClr>
              <a:buSzPts val="2040"/>
              <a:buFont typeface="Noto Sans Symbols"/>
              <a:buChar char="⚫"/>
              <a:defRPr sz="2400" b="0" i="0" u="none" strike="noStrike" cap="none">
                <a:solidFill>
                  <a:schemeClr val="lt1"/>
                </a:solidFill>
                <a:latin typeface="Constantia"/>
                <a:ea typeface="Constantia"/>
                <a:cs typeface="Constantia"/>
                <a:sym typeface="Constantia"/>
              </a:defRPr>
            </a:lvl2pPr>
            <a:lvl3pPr marL="1371600" marR="0" lvl="2" indent="-321944" algn="l" rtl="0">
              <a:spcBef>
                <a:spcPts val="420"/>
              </a:spcBef>
              <a:spcAft>
                <a:spcPts val="0"/>
              </a:spcAft>
              <a:buClr>
                <a:schemeClr val="accent2"/>
              </a:buClr>
              <a:buSzPts val="1470"/>
              <a:buFont typeface="Noto Sans Symbols"/>
              <a:buChar char="⚫"/>
              <a:defRPr sz="2100" b="0" i="0" u="none" strike="noStrike" cap="none">
                <a:solidFill>
                  <a:schemeClr val="lt1"/>
                </a:solidFill>
                <a:latin typeface="Constantia"/>
                <a:ea typeface="Constantia"/>
                <a:cs typeface="Constantia"/>
                <a:sym typeface="Constantia"/>
              </a:defRPr>
            </a:lvl3pPr>
            <a:lvl4pPr marL="1828800" marR="0" lvl="3" indent="-311150" algn="l" rtl="0">
              <a:spcBef>
                <a:spcPts val="400"/>
              </a:spcBef>
              <a:spcAft>
                <a:spcPts val="0"/>
              </a:spcAft>
              <a:buClr>
                <a:schemeClr val="accent3"/>
              </a:buClr>
              <a:buSzPts val="1300"/>
              <a:buFont typeface="Noto Sans Symbols"/>
              <a:buChar char="⚫"/>
              <a:defRPr sz="2000" b="0" i="0" u="none" strike="noStrike" cap="none">
                <a:solidFill>
                  <a:schemeClr val="lt1"/>
                </a:solidFill>
                <a:latin typeface="Constantia"/>
                <a:ea typeface="Constantia"/>
                <a:cs typeface="Constantia"/>
                <a:sym typeface="Constantia"/>
              </a:defRPr>
            </a:lvl4pPr>
            <a:lvl5pPr marL="2286000" marR="0" lvl="4" indent="-311150" algn="l" rtl="0">
              <a:spcBef>
                <a:spcPts val="400"/>
              </a:spcBef>
              <a:spcAft>
                <a:spcPts val="0"/>
              </a:spcAft>
              <a:buClr>
                <a:schemeClr val="accent4"/>
              </a:buClr>
              <a:buSzPts val="1300"/>
              <a:buFont typeface="Noto Sans Symbols"/>
              <a:buChar char="⚫"/>
              <a:defRPr sz="2000" b="0" i="0" u="none" strike="noStrike" cap="none">
                <a:solidFill>
                  <a:schemeClr val="lt1"/>
                </a:solidFill>
                <a:latin typeface="Constantia"/>
                <a:ea typeface="Constantia"/>
                <a:cs typeface="Constantia"/>
                <a:sym typeface="Constantia"/>
              </a:defRPr>
            </a:lvl5pPr>
            <a:lvl6pPr marL="2743200" marR="0" lvl="5" indent="-320039" algn="l" rtl="0">
              <a:spcBef>
                <a:spcPts val="360"/>
              </a:spcBef>
              <a:spcAft>
                <a:spcPts val="0"/>
              </a:spcAft>
              <a:buClr>
                <a:schemeClr val="accent5"/>
              </a:buClr>
              <a:buSzPts val="1440"/>
              <a:buFont typeface="Noto Sans Symbols"/>
              <a:buChar char="⚫"/>
              <a:defRPr sz="1800" b="0" i="0" u="none" strike="noStrike" cap="none">
                <a:solidFill>
                  <a:schemeClr val="lt1"/>
                </a:solidFill>
                <a:latin typeface="Constantia"/>
                <a:ea typeface="Constantia"/>
                <a:cs typeface="Constantia"/>
                <a:sym typeface="Constantia"/>
              </a:defRPr>
            </a:lvl6pPr>
            <a:lvl7pPr marL="3200400" marR="0" lvl="6" indent="-309879" algn="l" rtl="0">
              <a:spcBef>
                <a:spcPts val="320"/>
              </a:spcBef>
              <a:spcAft>
                <a:spcPts val="0"/>
              </a:spcAft>
              <a:buClr>
                <a:schemeClr val="accent6"/>
              </a:buClr>
              <a:buSzPts val="1280"/>
              <a:buFont typeface="Noto Sans Symbols"/>
              <a:buChar char="⚫"/>
              <a:defRPr sz="1600" b="0" i="0" u="none" strike="noStrike" cap="none">
                <a:solidFill>
                  <a:schemeClr val="lt1"/>
                </a:solidFill>
                <a:latin typeface="Constantia"/>
                <a:ea typeface="Constantia"/>
                <a:cs typeface="Constantia"/>
                <a:sym typeface="Constantia"/>
              </a:defRPr>
            </a:lvl7pPr>
            <a:lvl8pPr marL="3657600" marR="0" lvl="7" indent="-330200" algn="l" rtl="0">
              <a:spcBef>
                <a:spcPts val="320"/>
              </a:spcBef>
              <a:spcAft>
                <a:spcPts val="0"/>
              </a:spcAft>
              <a:buClr>
                <a:schemeClr val="lt2"/>
              </a:buClr>
              <a:buSzPts val="1600"/>
              <a:buFont typeface="Constantia"/>
              <a:buChar char="•"/>
              <a:defRPr sz="1600" b="0" i="0" u="none" strike="noStrike" cap="none">
                <a:solidFill>
                  <a:schemeClr val="lt1"/>
                </a:solidFill>
                <a:latin typeface="Constantia"/>
                <a:ea typeface="Constantia"/>
                <a:cs typeface="Constantia"/>
                <a:sym typeface="Constantia"/>
              </a:defRPr>
            </a:lvl8pPr>
            <a:lvl9pPr marL="4114800" marR="0" lvl="8" indent="-317500" algn="l" rtl="0">
              <a:spcBef>
                <a:spcPts val="280"/>
              </a:spcBef>
              <a:spcAft>
                <a:spcPts val="0"/>
              </a:spcAft>
              <a:buClr>
                <a:schemeClr val="lt2"/>
              </a:buClr>
              <a:buSzPts val="1400"/>
              <a:buFont typeface="Constantia"/>
              <a:buChar char="•"/>
              <a:defRPr sz="1400" b="0" i="0" u="none" strike="noStrike" cap="none">
                <a:solidFill>
                  <a:schemeClr val="lt1"/>
                </a:solidFill>
                <a:latin typeface="Constantia"/>
                <a:ea typeface="Constantia"/>
                <a:cs typeface="Constantia"/>
                <a:sym typeface="Constantia"/>
              </a:defRPr>
            </a:lvl9pPr>
          </a:lstStyle>
          <a:p>
            <a:endParaRPr/>
          </a:p>
        </p:txBody>
      </p:sp>
      <p:sp>
        <p:nvSpPr>
          <p:cNvPr id="14" name="Google Shape;14;p74"/>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200" b="0" i="0" u="none" strike="noStrike" cap="none">
                <a:solidFill>
                  <a:srgbClr val="D0E9ED"/>
                </a:solidFill>
                <a:latin typeface="Constantia"/>
                <a:ea typeface="Constantia"/>
                <a:cs typeface="Constantia"/>
                <a:sym typeface="Constantia"/>
              </a:defRPr>
            </a:lvl1pPr>
            <a:lvl2pPr marR="0" lvl="1"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2pPr>
            <a:lvl3pPr marR="0" lvl="2"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3pPr>
            <a:lvl4pPr marR="0" lvl="3"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4pPr>
            <a:lvl5pPr marR="0" lvl="4"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5pPr>
            <a:lvl6pPr marR="0" lvl="5"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6pPr>
            <a:lvl7pPr marR="0" lvl="6"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7pPr>
            <a:lvl8pPr marR="0" lvl="7"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8pPr>
            <a:lvl9pPr marR="0" lvl="8"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9pPr>
          </a:lstStyle>
          <a:p>
            <a:endParaRPr/>
          </a:p>
        </p:txBody>
      </p:sp>
      <p:sp>
        <p:nvSpPr>
          <p:cNvPr id="15" name="Google Shape;15;p74"/>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200" b="0" i="0" u="none" strike="noStrike" cap="none">
                <a:solidFill>
                  <a:srgbClr val="D0E9ED"/>
                </a:solidFill>
                <a:latin typeface="Constantia"/>
                <a:ea typeface="Constantia"/>
                <a:cs typeface="Constantia"/>
                <a:sym typeface="Constantia"/>
              </a:defRPr>
            </a:lvl1pPr>
            <a:lvl2pPr marR="0" lvl="1"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2pPr>
            <a:lvl3pPr marR="0" lvl="2"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3pPr>
            <a:lvl4pPr marR="0" lvl="3"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4pPr>
            <a:lvl5pPr marR="0" lvl="4"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5pPr>
            <a:lvl6pPr marR="0" lvl="5"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6pPr>
            <a:lvl7pPr marR="0" lvl="6"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7pPr>
            <a:lvl8pPr marR="0" lvl="7"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8pPr>
            <a:lvl9pPr marR="0" lvl="8" algn="l" rtl="0">
              <a:spcBef>
                <a:spcPts val="0"/>
              </a:spcBef>
              <a:spcAft>
                <a:spcPts val="0"/>
              </a:spcAft>
              <a:buSzPts val="1400"/>
              <a:buNone/>
              <a:defRPr sz="1800" b="0" i="0" u="none" strike="noStrike" cap="none">
                <a:solidFill>
                  <a:schemeClr val="lt1"/>
                </a:solidFill>
                <a:latin typeface="Constantia"/>
                <a:ea typeface="Constantia"/>
                <a:cs typeface="Constantia"/>
                <a:sym typeface="Constantia"/>
              </a:defRPr>
            </a:lvl9pPr>
          </a:lstStyle>
          <a:p>
            <a:endParaRPr/>
          </a:p>
        </p:txBody>
      </p:sp>
      <p:sp>
        <p:nvSpPr>
          <p:cNvPr id="16" name="Google Shape;16;p74"/>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1200" b="0" i="0" u="none" strike="noStrike" cap="none">
                <a:solidFill>
                  <a:srgbClr val="D0E9ED"/>
                </a:solidFill>
                <a:latin typeface="Constantia"/>
                <a:ea typeface="Constantia"/>
                <a:cs typeface="Constantia"/>
                <a:sym typeface="Constantia"/>
              </a:defRPr>
            </a:lvl1pPr>
            <a:lvl2pPr marL="0" marR="0" lvl="1" indent="0" algn="r" rtl="0">
              <a:spcBef>
                <a:spcPts val="0"/>
              </a:spcBef>
              <a:buNone/>
              <a:defRPr sz="1200" b="0" i="0" u="none" strike="noStrike" cap="none">
                <a:solidFill>
                  <a:srgbClr val="D0E9ED"/>
                </a:solidFill>
                <a:latin typeface="Constantia"/>
                <a:ea typeface="Constantia"/>
                <a:cs typeface="Constantia"/>
                <a:sym typeface="Constantia"/>
              </a:defRPr>
            </a:lvl2pPr>
            <a:lvl3pPr marL="0" marR="0" lvl="2" indent="0" algn="r" rtl="0">
              <a:spcBef>
                <a:spcPts val="0"/>
              </a:spcBef>
              <a:buNone/>
              <a:defRPr sz="1200" b="0" i="0" u="none" strike="noStrike" cap="none">
                <a:solidFill>
                  <a:srgbClr val="D0E9ED"/>
                </a:solidFill>
                <a:latin typeface="Constantia"/>
                <a:ea typeface="Constantia"/>
                <a:cs typeface="Constantia"/>
                <a:sym typeface="Constantia"/>
              </a:defRPr>
            </a:lvl3pPr>
            <a:lvl4pPr marL="0" marR="0" lvl="3" indent="0" algn="r" rtl="0">
              <a:spcBef>
                <a:spcPts val="0"/>
              </a:spcBef>
              <a:buNone/>
              <a:defRPr sz="1200" b="0" i="0" u="none" strike="noStrike" cap="none">
                <a:solidFill>
                  <a:srgbClr val="D0E9ED"/>
                </a:solidFill>
                <a:latin typeface="Constantia"/>
                <a:ea typeface="Constantia"/>
                <a:cs typeface="Constantia"/>
                <a:sym typeface="Constantia"/>
              </a:defRPr>
            </a:lvl4pPr>
            <a:lvl5pPr marL="0" marR="0" lvl="4" indent="0" algn="r" rtl="0">
              <a:spcBef>
                <a:spcPts val="0"/>
              </a:spcBef>
              <a:buNone/>
              <a:defRPr sz="1200" b="0" i="0" u="none" strike="noStrike" cap="none">
                <a:solidFill>
                  <a:srgbClr val="D0E9ED"/>
                </a:solidFill>
                <a:latin typeface="Constantia"/>
                <a:ea typeface="Constantia"/>
                <a:cs typeface="Constantia"/>
                <a:sym typeface="Constantia"/>
              </a:defRPr>
            </a:lvl5pPr>
            <a:lvl6pPr marL="0" marR="0" lvl="5" indent="0" algn="r" rtl="0">
              <a:spcBef>
                <a:spcPts val="0"/>
              </a:spcBef>
              <a:buNone/>
              <a:defRPr sz="1200" b="0" i="0" u="none" strike="noStrike" cap="none">
                <a:solidFill>
                  <a:srgbClr val="D0E9ED"/>
                </a:solidFill>
                <a:latin typeface="Constantia"/>
                <a:ea typeface="Constantia"/>
                <a:cs typeface="Constantia"/>
                <a:sym typeface="Constantia"/>
              </a:defRPr>
            </a:lvl6pPr>
            <a:lvl7pPr marL="0" marR="0" lvl="6" indent="0" algn="r" rtl="0">
              <a:spcBef>
                <a:spcPts val="0"/>
              </a:spcBef>
              <a:buNone/>
              <a:defRPr sz="1200" b="0" i="0" u="none" strike="noStrike" cap="none">
                <a:solidFill>
                  <a:srgbClr val="D0E9ED"/>
                </a:solidFill>
                <a:latin typeface="Constantia"/>
                <a:ea typeface="Constantia"/>
                <a:cs typeface="Constantia"/>
                <a:sym typeface="Constantia"/>
              </a:defRPr>
            </a:lvl7pPr>
            <a:lvl8pPr marL="0" marR="0" lvl="7" indent="0" algn="r" rtl="0">
              <a:spcBef>
                <a:spcPts val="0"/>
              </a:spcBef>
              <a:buNone/>
              <a:defRPr sz="1200" b="0" i="0" u="none" strike="noStrike" cap="none">
                <a:solidFill>
                  <a:srgbClr val="D0E9ED"/>
                </a:solidFill>
                <a:latin typeface="Constantia"/>
                <a:ea typeface="Constantia"/>
                <a:cs typeface="Constantia"/>
                <a:sym typeface="Constantia"/>
              </a:defRPr>
            </a:lvl8pPr>
            <a:lvl9pPr marL="0" marR="0" lvl="8" indent="0" algn="r" rtl="0">
              <a:spcBef>
                <a:spcPts val="0"/>
              </a:spcBef>
              <a:buNone/>
              <a:defRPr sz="1200" b="0" i="0" u="none" strike="noStrike" cap="none">
                <a:solidFill>
                  <a:srgbClr val="D0E9ED"/>
                </a:solidFill>
                <a:latin typeface="Constantia"/>
                <a:ea typeface="Constantia"/>
                <a:cs typeface="Constantia"/>
                <a:sym typeface="Constantia"/>
              </a:defRPr>
            </a:lvl9pPr>
          </a:lstStyle>
          <a:p>
            <a:pPr marL="0" lvl="0" indent="0" algn="r" rtl="0">
              <a:spcBef>
                <a:spcPts val="0"/>
              </a:spcBef>
              <a:spcAft>
                <a:spcPts val="0"/>
              </a:spcAft>
              <a:buNone/>
            </a:pPr>
            <a:fld id="{00000000-1234-1234-1234-123412341234}" type="slidenum">
              <a:rPr lang="en-US"/>
              <a:t>‹#›</a:t>
            </a:fld>
            <a:endParaRPr/>
          </a:p>
        </p:txBody>
      </p:sp>
      <p:grpSp>
        <p:nvGrpSpPr>
          <p:cNvPr id="17" name="Google Shape;17;p74"/>
          <p:cNvGrpSpPr/>
          <p:nvPr/>
        </p:nvGrpSpPr>
        <p:grpSpPr>
          <a:xfrm>
            <a:off x="-29294" y="-16113"/>
            <a:ext cx="9198255" cy="1086266"/>
            <a:chOff x="-29322" y="-1971"/>
            <a:chExt cx="9198255" cy="1086266"/>
          </a:xfrm>
        </p:grpSpPr>
        <p:sp>
          <p:nvSpPr>
            <p:cNvPr id="18" name="Google Shape;18;p74"/>
            <p:cNvSpPr/>
            <p:nvPr/>
          </p:nvSpPr>
          <p:spPr>
            <a:xfrm rot="-164308">
              <a:off x="-19045" y="216550"/>
              <a:ext cx="9163050" cy="649224"/>
            </a:xfrm>
            <a:custGeom>
              <a:avLst/>
              <a:gdLst/>
              <a:ahLst/>
              <a:cxnLst/>
              <a:rect l="l" t="t" r="r" b="b"/>
              <a:pathLst>
                <a:path w="5772" h="1055" extrusionOk="0">
                  <a:moveTo>
                    <a:pt x="0" y="966"/>
                  </a:moveTo>
                  <a:cubicBezTo>
                    <a:pt x="282" y="738"/>
                    <a:pt x="923" y="275"/>
                    <a:pt x="1608" y="282"/>
                  </a:cubicBezTo>
                  <a:cubicBezTo>
                    <a:pt x="2293" y="289"/>
                    <a:pt x="3416" y="1055"/>
                    <a:pt x="4110" y="1008"/>
                  </a:cubicBezTo>
                  <a:cubicBezTo>
                    <a:pt x="4804" y="961"/>
                    <a:pt x="5426" y="210"/>
                    <a:pt x="5772" y="0"/>
                  </a:cubicBezTo>
                </a:path>
              </a:pathLst>
            </a:custGeom>
            <a:noFill/>
            <a:ln w="10775" cap="flat" cmpd="sng">
              <a:solidFill>
                <a:srgbClr val="09B6B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nstantia"/>
                <a:ea typeface="Constantia"/>
                <a:cs typeface="Constantia"/>
                <a:sym typeface="Constantia"/>
              </a:endParaRPr>
            </a:p>
          </p:txBody>
        </p:sp>
        <p:sp>
          <p:nvSpPr>
            <p:cNvPr id="19" name="Google Shape;19;p74"/>
            <p:cNvSpPr/>
            <p:nvPr/>
          </p:nvSpPr>
          <p:spPr>
            <a:xfrm rot="-164308">
              <a:off x="-14309" y="290003"/>
              <a:ext cx="9175812" cy="530352"/>
            </a:xfrm>
            <a:custGeom>
              <a:avLst/>
              <a:gdLst/>
              <a:ahLst/>
              <a:cxnLst/>
              <a:rect l="l" t="t" r="r" b="b"/>
              <a:pathLst>
                <a:path w="5766" h="854" extrusionOk="0">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onstantia"/>
                <a:ea typeface="Constantia"/>
                <a:cs typeface="Constantia"/>
                <a:sym typeface="Constantia"/>
              </a:endParaRPr>
            </a:p>
          </p:txBody>
        </p:sp>
      </p:gr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3">
            <a:alphaModFix/>
          </a:blip>
          <a:tile tx="0" ty="0" sx="65000" sy="65000" flip="none" algn="tl"/>
        </a:blipFill>
        <a:effectLst/>
      </p:bgPr>
    </p:bg>
    <p:spTree>
      <p:nvGrpSpPr>
        <p:cNvPr id="1" name="Shape 26"/>
        <p:cNvGrpSpPr/>
        <p:nvPr/>
      </p:nvGrpSpPr>
      <p:grpSpPr>
        <a:xfrm>
          <a:off x="0" y="0"/>
          <a:ext cx="0" cy="0"/>
          <a:chOff x="0" y="0"/>
          <a:chExt cx="0" cy="0"/>
        </a:xfrm>
      </p:grpSpPr>
      <p:sp>
        <p:nvSpPr>
          <p:cNvPr id="27" name="Google Shape;27;p73"/>
          <p:cNvSpPr/>
          <p:nvPr/>
        </p:nvSpPr>
        <p:spPr>
          <a:xfrm>
            <a:off x="-9525" y="-7144"/>
            <a:ext cx="9163050" cy="1041400"/>
          </a:xfrm>
          <a:custGeom>
            <a:avLst/>
            <a:gdLst/>
            <a:ahLst/>
            <a:cxnLst/>
            <a:rect l="l" t="t" r="r" b="b"/>
            <a:pathLst>
              <a:path w="5772" h="656" extrusionOk="0">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
        <p:nvSpPr>
          <p:cNvPr id="28" name="Google Shape;28;p73"/>
          <p:cNvSpPr/>
          <p:nvPr/>
        </p:nvSpPr>
        <p:spPr>
          <a:xfrm>
            <a:off x="4381500" y="-7144"/>
            <a:ext cx="4762500" cy="638175"/>
          </a:xfrm>
          <a:custGeom>
            <a:avLst/>
            <a:gdLst/>
            <a:ahLst/>
            <a:cxnLst/>
            <a:rect l="l" t="t" r="r" b="b"/>
            <a:pathLst>
              <a:path w="3000" h="595" extrusionOk="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
        <p:nvSpPr>
          <p:cNvPr id="29" name="Google Shape;29;p73"/>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lvl1pPr marR="0" lvl="0" algn="l" rtl="0">
              <a:spcBef>
                <a:spcPts val="0"/>
              </a:spcBef>
              <a:spcAft>
                <a:spcPts val="0"/>
              </a:spcAft>
              <a:buClr>
                <a:schemeClr val="dk2"/>
              </a:buClr>
              <a:buSzPts val="5000"/>
              <a:buFont typeface="Calibri"/>
              <a:buNone/>
              <a:defRPr sz="5000" b="0" i="0" u="none" strike="noStrike" cap="non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0" name="Google Shape;30;p73"/>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lvl1pPr marL="457200" marR="0" lvl="0" indent="-385445" algn="l" rtl="0">
              <a:spcBef>
                <a:spcPts val="520"/>
              </a:spcBef>
              <a:spcAft>
                <a:spcPts val="0"/>
              </a:spcAft>
              <a:buClr>
                <a:schemeClr val="accent3"/>
              </a:buClr>
              <a:buSzPts val="2470"/>
              <a:buFont typeface="Noto Sans Symbols"/>
              <a:buChar char="⚫"/>
              <a:defRPr sz="2600" b="0" i="0" u="none" strike="noStrike" cap="none">
                <a:solidFill>
                  <a:schemeClr val="dk1"/>
                </a:solidFill>
                <a:latin typeface="Constantia"/>
                <a:ea typeface="Constantia"/>
                <a:cs typeface="Constantia"/>
                <a:sym typeface="Constantia"/>
              </a:defRPr>
            </a:lvl1pPr>
            <a:lvl2pPr marL="914400" marR="0" lvl="1" indent="-358140" algn="l" rtl="0">
              <a:spcBef>
                <a:spcPts val="480"/>
              </a:spcBef>
              <a:spcAft>
                <a:spcPts val="0"/>
              </a:spcAft>
              <a:buClr>
                <a:schemeClr val="accent1"/>
              </a:buClr>
              <a:buSzPts val="2040"/>
              <a:buFont typeface="Noto Sans Symbols"/>
              <a:buChar char="⚫"/>
              <a:defRPr sz="2400" b="0" i="0" u="none" strike="noStrike" cap="none">
                <a:solidFill>
                  <a:schemeClr val="dk1"/>
                </a:solidFill>
                <a:latin typeface="Constantia"/>
                <a:ea typeface="Constantia"/>
                <a:cs typeface="Constantia"/>
                <a:sym typeface="Constantia"/>
              </a:defRPr>
            </a:lvl2pPr>
            <a:lvl3pPr marL="1371600" marR="0" lvl="2" indent="-321944" algn="l" rtl="0">
              <a:spcBef>
                <a:spcPts val="420"/>
              </a:spcBef>
              <a:spcAft>
                <a:spcPts val="0"/>
              </a:spcAft>
              <a:buClr>
                <a:schemeClr val="accent2"/>
              </a:buClr>
              <a:buSzPts val="1470"/>
              <a:buFont typeface="Noto Sans Symbols"/>
              <a:buChar char="⚫"/>
              <a:defRPr sz="2100" b="0" i="0" u="none" strike="noStrike" cap="none">
                <a:solidFill>
                  <a:schemeClr val="dk1"/>
                </a:solidFill>
                <a:latin typeface="Constantia"/>
                <a:ea typeface="Constantia"/>
                <a:cs typeface="Constantia"/>
                <a:sym typeface="Constantia"/>
              </a:defRPr>
            </a:lvl3pPr>
            <a:lvl4pPr marL="1828800" marR="0" lvl="3" indent="-311150" algn="l" rtl="0">
              <a:spcBef>
                <a:spcPts val="400"/>
              </a:spcBef>
              <a:spcAft>
                <a:spcPts val="0"/>
              </a:spcAft>
              <a:buClr>
                <a:schemeClr val="accent3"/>
              </a:buClr>
              <a:buSzPts val="1300"/>
              <a:buFont typeface="Noto Sans Symbols"/>
              <a:buChar char="⚫"/>
              <a:defRPr sz="2000" b="0" i="0" u="none" strike="noStrike" cap="none">
                <a:solidFill>
                  <a:schemeClr val="dk1"/>
                </a:solidFill>
                <a:latin typeface="Constantia"/>
                <a:ea typeface="Constantia"/>
                <a:cs typeface="Constantia"/>
                <a:sym typeface="Constantia"/>
              </a:defRPr>
            </a:lvl4pPr>
            <a:lvl5pPr marL="2286000" marR="0" lvl="4" indent="-311150" algn="l" rtl="0">
              <a:spcBef>
                <a:spcPts val="400"/>
              </a:spcBef>
              <a:spcAft>
                <a:spcPts val="0"/>
              </a:spcAft>
              <a:buClr>
                <a:schemeClr val="accent4"/>
              </a:buClr>
              <a:buSzPts val="1300"/>
              <a:buFont typeface="Noto Sans Symbols"/>
              <a:buChar char="⚫"/>
              <a:defRPr sz="2000" b="0" i="0" u="none" strike="noStrike" cap="none">
                <a:solidFill>
                  <a:schemeClr val="dk1"/>
                </a:solidFill>
                <a:latin typeface="Constantia"/>
                <a:ea typeface="Constantia"/>
                <a:cs typeface="Constantia"/>
                <a:sym typeface="Constantia"/>
              </a:defRPr>
            </a:lvl5pPr>
            <a:lvl6pPr marL="2743200" marR="0" lvl="5" indent="-320039" algn="l" rtl="0">
              <a:spcBef>
                <a:spcPts val="360"/>
              </a:spcBef>
              <a:spcAft>
                <a:spcPts val="0"/>
              </a:spcAft>
              <a:buClr>
                <a:schemeClr val="accent5"/>
              </a:buClr>
              <a:buSzPts val="1440"/>
              <a:buFont typeface="Noto Sans Symbols"/>
              <a:buChar char="⚫"/>
              <a:defRPr sz="1800" b="0" i="0" u="none" strike="noStrike" cap="none">
                <a:solidFill>
                  <a:schemeClr val="dk1"/>
                </a:solidFill>
                <a:latin typeface="Constantia"/>
                <a:ea typeface="Constantia"/>
                <a:cs typeface="Constantia"/>
                <a:sym typeface="Constantia"/>
              </a:defRPr>
            </a:lvl6pPr>
            <a:lvl7pPr marL="3200400" marR="0" lvl="6" indent="-309879" algn="l" rtl="0">
              <a:spcBef>
                <a:spcPts val="320"/>
              </a:spcBef>
              <a:spcAft>
                <a:spcPts val="0"/>
              </a:spcAft>
              <a:buClr>
                <a:schemeClr val="accent6"/>
              </a:buClr>
              <a:buSzPts val="1280"/>
              <a:buFont typeface="Noto Sans Symbols"/>
              <a:buChar char="⚫"/>
              <a:defRPr sz="1600" b="0" i="0" u="none" strike="noStrike" cap="none">
                <a:solidFill>
                  <a:schemeClr val="dk1"/>
                </a:solidFill>
                <a:latin typeface="Constantia"/>
                <a:ea typeface="Constantia"/>
                <a:cs typeface="Constantia"/>
                <a:sym typeface="Constantia"/>
              </a:defRPr>
            </a:lvl7pPr>
            <a:lvl8pPr marL="3657600" marR="0" lvl="7" indent="-330200" algn="l" rtl="0">
              <a:spcBef>
                <a:spcPts val="320"/>
              </a:spcBef>
              <a:spcAft>
                <a:spcPts val="0"/>
              </a:spcAft>
              <a:buClr>
                <a:schemeClr val="dk2"/>
              </a:buClr>
              <a:buSzPts val="1600"/>
              <a:buFont typeface="Constantia"/>
              <a:buChar char="•"/>
              <a:defRPr sz="1600" b="0" i="0" u="none" strike="noStrike" cap="none">
                <a:solidFill>
                  <a:schemeClr val="dk1"/>
                </a:solidFill>
                <a:latin typeface="Constantia"/>
                <a:ea typeface="Constantia"/>
                <a:cs typeface="Constantia"/>
                <a:sym typeface="Constantia"/>
              </a:defRPr>
            </a:lvl8pPr>
            <a:lvl9pPr marL="4114800" marR="0" lvl="8" indent="-317500" algn="l" rtl="0">
              <a:spcBef>
                <a:spcPts val="280"/>
              </a:spcBef>
              <a:spcAft>
                <a:spcPts val="0"/>
              </a:spcAft>
              <a:buClr>
                <a:schemeClr val="dk2"/>
              </a:buClr>
              <a:buSzPts val="1400"/>
              <a:buFont typeface="Constantia"/>
              <a:buChar char="•"/>
              <a:defRPr sz="1400" b="0" i="0" u="none" strike="noStrike" cap="none">
                <a:solidFill>
                  <a:schemeClr val="dk1"/>
                </a:solidFill>
                <a:latin typeface="Constantia"/>
                <a:ea typeface="Constantia"/>
                <a:cs typeface="Constantia"/>
                <a:sym typeface="Constantia"/>
              </a:defRPr>
            </a:lvl9pPr>
          </a:lstStyle>
          <a:p>
            <a:endParaRPr/>
          </a:p>
        </p:txBody>
      </p:sp>
      <p:sp>
        <p:nvSpPr>
          <p:cNvPr id="31" name="Google Shape;31;p73"/>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200">
                <a:solidFill>
                  <a:srgbClr val="035C75"/>
                </a:solidFill>
                <a:latin typeface="Constantia"/>
                <a:ea typeface="Constantia"/>
                <a:cs typeface="Constantia"/>
                <a:sym typeface="Constantia"/>
              </a:defRPr>
            </a:lvl1pPr>
            <a:lvl2pPr marR="0" lvl="1"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2pPr>
            <a:lvl3pPr marR="0" lvl="2"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3pPr>
            <a:lvl4pPr marR="0" lvl="3"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4pPr>
            <a:lvl5pPr marR="0" lvl="4"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5pPr>
            <a:lvl6pPr marR="0" lvl="5"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6pPr>
            <a:lvl7pPr marR="0" lvl="6"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7pPr>
            <a:lvl8pPr marR="0" lvl="7"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8pPr>
            <a:lvl9pPr marR="0" lvl="8"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9pPr>
          </a:lstStyle>
          <a:p>
            <a:endParaRPr/>
          </a:p>
        </p:txBody>
      </p:sp>
      <p:sp>
        <p:nvSpPr>
          <p:cNvPr id="32" name="Google Shape;32;p73"/>
          <p:cNvSpPr txBox="1">
            <a:spLocks noGrp="1"/>
          </p:cNvSpPr>
          <p:nvPr>
            <p:ph type="ftr" idx="11"/>
          </p:nvPr>
        </p:nvSpPr>
        <p:spPr>
          <a:xfrm>
            <a:off x="2667000" y="6356350"/>
            <a:ext cx="3352800" cy="365125"/>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400"/>
              <a:buNone/>
              <a:defRPr sz="1200">
                <a:solidFill>
                  <a:srgbClr val="035C75"/>
                </a:solidFill>
                <a:latin typeface="Constantia"/>
                <a:ea typeface="Constantia"/>
                <a:cs typeface="Constantia"/>
                <a:sym typeface="Constantia"/>
              </a:defRPr>
            </a:lvl1pPr>
            <a:lvl2pPr marR="0" lvl="1"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2pPr>
            <a:lvl3pPr marR="0" lvl="2"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3pPr>
            <a:lvl4pPr marR="0" lvl="3"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4pPr>
            <a:lvl5pPr marR="0" lvl="4"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5pPr>
            <a:lvl6pPr marR="0" lvl="5"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6pPr>
            <a:lvl7pPr marR="0" lvl="6"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7pPr>
            <a:lvl8pPr marR="0" lvl="7"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8pPr>
            <a:lvl9pPr marR="0" lvl="8" algn="l" rtl="0">
              <a:spcBef>
                <a:spcPts val="0"/>
              </a:spcBef>
              <a:spcAft>
                <a:spcPts val="0"/>
              </a:spcAft>
              <a:buSzPts val="1400"/>
              <a:buNone/>
              <a:defRPr sz="1800" b="0" i="0" u="none" strike="noStrike" cap="none">
                <a:solidFill>
                  <a:schemeClr val="dk1"/>
                </a:solidFill>
                <a:latin typeface="Constantia"/>
                <a:ea typeface="Constantia"/>
                <a:cs typeface="Constantia"/>
                <a:sym typeface="Constantia"/>
              </a:defRPr>
            </a:lvl9pPr>
          </a:lstStyle>
          <a:p>
            <a:endParaRPr/>
          </a:p>
        </p:txBody>
      </p:sp>
      <p:sp>
        <p:nvSpPr>
          <p:cNvPr id="33" name="Google Shape;33;p73"/>
          <p:cNvSpPr txBox="1">
            <a:spLocks noGrp="1"/>
          </p:cNvSpPr>
          <p:nvPr>
            <p:ph type="sldNum" idx="12"/>
          </p:nvPr>
        </p:nvSpPr>
        <p:spPr>
          <a:xfrm>
            <a:off x="7924800" y="6356350"/>
            <a:ext cx="762000" cy="365125"/>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1200" b="0" u="none">
                <a:solidFill>
                  <a:srgbClr val="035C75"/>
                </a:solidFill>
                <a:latin typeface="Constantia"/>
                <a:ea typeface="Constantia"/>
                <a:cs typeface="Constantia"/>
                <a:sym typeface="Constantia"/>
              </a:defRPr>
            </a:lvl1pPr>
            <a:lvl2pPr marL="0" marR="0" lvl="1" indent="0" algn="r" rtl="0">
              <a:spcBef>
                <a:spcPts val="0"/>
              </a:spcBef>
              <a:buNone/>
              <a:defRPr sz="1200" b="0" u="none">
                <a:solidFill>
                  <a:srgbClr val="035C75"/>
                </a:solidFill>
                <a:latin typeface="Constantia"/>
                <a:ea typeface="Constantia"/>
                <a:cs typeface="Constantia"/>
                <a:sym typeface="Constantia"/>
              </a:defRPr>
            </a:lvl2pPr>
            <a:lvl3pPr marL="0" marR="0" lvl="2" indent="0" algn="r" rtl="0">
              <a:spcBef>
                <a:spcPts val="0"/>
              </a:spcBef>
              <a:buNone/>
              <a:defRPr sz="1200" b="0" u="none">
                <a:solidFill>
                  <a:srgbClr val="035C75"/>
                </a:solidFill>
                <a:latin typeface="Constantia"/>
                <a:ea typeface="Constantia"/>
                <a:cs typeface="Constantia"/>
                <a:sym typeface="Constantia"/>
              </a:defRPr>
            </a:lvl3pPr>
            <a:lvl4pPr marL="0" marR="0" lvl="3" indent="0" algn="r" rtl="0">
              <a:spcBef>
                <a:spcPts val="0"/>
              </a:spcBef>
              <a:buNone/>
              <a:defRPr sz="1200" b="0" u="none">
                <a:solidFill>
                  <a:srgbClr val="035C75"/>
                </a:solidFill>
                <a:latin typeface="Constantia"/>
                <a:ea typeface="Constantia"/>
                <a:cs typeface="Constantia"/>
                <a:sym typeface="Constantia"/>
              </a:defRPr>
            </a:lvl4pPr>
            <a:lvl5pPr marL="0" marR="0" lvl="4" indent="0" algn="r" rtl="0">
              <a:spcBef>
                <a:spcPts val="0"/>
              </a:spcBef>
              <a:buNone/>
              <a:defRPr sz="1200" b="0" u="none">
                <a:solidFill>
                  <a:srgbClr val="035C75"/>
                </a:solidFill>
                <a:latin typeface="Constantia"/>
                <a:ea typeface="Constantia"/>
                <a:cs typeface="Constantia"/>
                <a:sym typeface="Constantia"/>
              </a:defRPr>
            </a:lvl5pPr>
            <a:lvl6pPr marL="0" marR="0" lvl="5" indent="0" algn="r" rtl="0">
              <a:spcBef>
                <a:spcPts val="0"/>
              </a:spcBef>
              <a:buNone/>
              <a:defRPr sz="1200" b="0" u="none">
                <a:solidFill>
                  <a:srgbClr val="035C75"/>
                </a:solidFill>
                <a:latin typeface="Constantia"/>
                <a:ea typeface="Constantia"/>
                <a:cs typeface="Constantia"/>
                <a:sym typeface="Constantia"/>
              </a:defRPr>
            </a:lvl6pPr>
            <a:lvl7pPr marL="0" marR="0" lvl="6" indent="0" algn="r" rtl="0">
              <a:spcBef>
                <a:spcPts val="0"/>
              </a:spcBef>
              <a:buNone/>
              <a:defRPr sz="1200" b="0" u="none">
                <a:solidFill>
                  <a:srgbClr val="035C75"/>
                </a:solidFill>
                <a:latin typeface="Constantia"/>
                <a:ea typeface="Constantia"/>
                <a:cs typeface="Constantia"/>
                <a:sym typeface="Constantia"/>
              </a:defRPr>
            </a:lvl7pPr>
            <a:lvl8pPr marL="0" marR="0" lvl="7" indent="0" algn="r" rtl="0">
              <a:spcBef>
                <a:spcPts val="0"/>
              </a:spcBef>
              <a:buNone/>
              <a:defRPr sz="1200" b="0" u="none">
                <a:solidFill>
                  <a:srgbClr val="035C75"/>
                </a:solidFill>
                <a:latin typeface="Constantia"/>
                <a:ea typeface="Constantia"/>
                <a:cs typeface="Constantia"/>
                <a:sym typeface="Constantia"/>
              </a:defRPr>
            </a:lvl8pPr>
            <a:lvl9pPr marL="0" marR="0" lvl="8" indent="0" algn="r" rtl="0">
              <a:spcBef>
                <a:spcPts val="0"/>
              </a:spcBef>
              <a:buNone/>
              <a:defRPr sz="1200" b="0" u="none">
                <a:solidFill>
                  <a:srgbClr val="035C75"/>
                </a:solidFill>
                <a:latin typeface="Constantia"/>
                <a:ea typeface="Constantia"/>
                <a:cs typeface="Constantia"/>
                <a:sym typeface="Constantia"/>
              </a:defRPr>
            </a:lvl9pPr>
          </a:lstStyle>
          <a:p>
            <a:pPr marL="0" lvl="0" indent="0" algn="r" rtl="0">
              <a:spcBef>
                <a:spcPts val="0"/>
              </a:spcBef>
              <a:spcAft>
                <a:spcPts val="0"/>
              </a:spcAft>
              <a:buNone/>
            </a:pPr>
            <a:fld id="{00000000-1234-1234-1234-123412341234}" type="slidenum">
              <a:rPr lang="en-US"/>
              <a:t>‹#›</a:t>
            </a:fld>
            <a:endParaRPr/>
          </a:p>
        </p:txBody>
      </p:sp>
      <p:grpSp>
        <p:nvGrpSpPr>
          <p:cNvPr id="34" name="Google Shape;34;p73"/>
          <p:cNvGrpSpPr/>
          <p:nvPr/>
        </p:nvGrpSpPr>
        <p:grpSpPr>
          <a:xfrm>
            <a:off x="-29294" y="-16113"/>
            <a:ext cx="9198255" cy="1086266"/>
            <a:chOff x="-29322" y="-1971"/>
            <a:chExt cx="9198255" cy="1086266"/>
          </a:xfrm>
        </p:grpSpPr>
        <p:sp>
          <p:nvSpPr>
            <p:cNvPr id="35" name="Google Shape;35;p73"/>
            <p:cNvSpPr/>
            <p:nvPr/>
          </p:nvSpPr>
          <p:spPr>
            <a:xfrm rot="-164308">
              <a:off x="-19045" y="216550"/>
              <a:ext cx="9163050" cy="649224"/>
            </a:xfrm>
            <a:custGeom>
              <a:avLst/>
              <a:gdLst/>
              <a:ahLst/>
              <a:cxnLst/>
              <a:rect l="l" t="t" r="r" b="b"/>
              <a:pathLst>
                <a:path w="5772" h="1055" extrusionOk="0">
                  <a:moveTo>
                    <a:pt x="0" y="966"/>
                  </a:moveTo>
                  <a:cubicBezTo>
                    <a:pt x="282" y="738"/>
                    <a:pt x="923" y="275"/>
                    <a:pt x="1608" y="282"/>
                  </a:cubicBezTo>
                  <a:cubicBezTo>
                    <a:pt x="2293" y="289"/>
                    <a:pt x="3416" y="1055"/>
                    <a:pt x="4110" y="1008"/>
                  </a:cubicBezTo>
                  <a:cubicBezTo>
                    <a:pt x="4804" y="961"/>
                    <a:pt x="5426" y="210"/>
                    <a:pt x="5772" y="0"/>
                  </a:cubicBezTo>
                </a:path>
              </a:pathLst>
            </a:custGeom>
            <a:noFill/>
            <a:ln w="10775" cap="flat" cmpd="sng">
              <a:solidFill>
                <a:srgbClr val="09B6BE"/>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sp>
          <p:nvSpPr>
            <p:cNvPr id="36" name="Google Shape;36;p73"/>
            <p:cNvSpPr/>
            <p:nvPr/>
          </p:nvSpPr>
          <p:spPr>
            <a:xfrm rot="-164308">
              <a:off x="-14309" y="290003"/>
              <a:ext cx="9175812" cy="530352"/>
            </a:xfrm>
            <a:custGeom>
              <a:avLst/>
              <a:gdLst/>
              <a:ahLst/>
              <a:cxnLst/>
              <a:rect l="l" t="t" r="r" b="b"/>
              <a:pathLst>
                <a:path w="5766" h="854" extrusionOk="0">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onstantia"/>
                <a:ea typeface="Constantia"/>
                <a:cs typeface="Constantia"/>
                <a:sym typeface="Constantia"/>
              </a:endParaRPr>
            </a:p>
          </p:txBody>
        </p:sp>
      </p:gr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about:blank"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2.jpg"/><Relationship Id="rId13" Type="http://schemas.openxmlformats.org/officeDocument/2006/relationships/image" Target="../media/image17.jpg"/><Relationship Id="rId3" Type="http://schemas.openxmlformats.org/officeDocument/2006/relationships/image" Target="../media/image7.jpg"/><Relationship Id="rId7" Type="http://schemas.openxmlformats.org/officeDocument/2006/relationships/image" Target="../media/image11.png"/><Relationship Id="rId12"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0.jpg"/><Relationship Id="rId11" Type="http://schemas.openxmlformats.org/officeDocument/2006/relationships/image" Target="../media/image15.jpg"/><Relationship Id="rId5" Type="http://schemas.openxmlformats.org/officeDocument/2006/relationships/image" Target="../media/image9.jpg"/><Relationship Id="rId15" Type="http://schemas.openxmlformats.org/officeDocument/2006/relationships/image" Target="../media/image19.jpg"/><Relationship Id="rId10" Type="http://schemas.openxmlformats.org/officeDocument/2006/relationships/image" Target="../media/image14.jpg"/><Relationship Id="rId4" Type="http://schemas.openxmlformats.org/officeDocument/2006/relationships/image" Target="../media/image8.jpg"/><Relationship Id="rId9" Type="http://schemas.openxmlformats.org/officeDocument/2006/relationships/image" Target="../media/image13.gif"/><Relationship Id="rId14" Type="http://schemas.openxmlformats.org/officeDocument/2006/relationships/image" Target="../media/image18.jp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jp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6.jp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43.jpg"/><Relationship Id="rId5" Type="http://schemas.openxmlformats.org/officeDocument/2006/relationships/image" Target="../media/image42.jp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image" Target="../media/image44.gif"/><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5.gif"/></Relationships>
</file>

<file path=ppt/slides/_rels/slide30.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63.jpg"/></Relationships>
</file>

<file path=ppt/slides/_rels/slide55.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68.jpg"/><Relationship Id="rId4" Type="http://schemas.openxmlformats.org/officeDocument/2006/relationships/image" Target="../media/image67.jpg"/></Relationships>
</file>

<file path=ppt/slides/_rels/slide58.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71.jpg"/><Relationship Id="rId4" Type="http://schemas.openxmlformats.org/officeDocument/2006/relationships/image" Target="../media/image70.jpg"/></Relationships>
</file>

<file path=ppt/slides/_rels/slide59.xml.rels><?xml version="1.0" encoding="UTF-8" standalone="yes"?>
<Relationships xmlns="http://schemas.openxmlformats.org/package/2006/relationships"><Relationship Id="rId3" Type="http://schemas.openxmlformats.org/officeDocument/2006/relationships/image" Target="../media/image72.gif"/><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74.gif"/><Relationship Id="rId4" Type="http://schemas.openxmlformats.org/officeDocument/2006/relationships/image" Target="../media/image73.jpg"/></Relationships>
</file>

<file path=ppt/slides/_rels/slide60.xml.rels><?xml version="1.0" encoding="UTF-8" standalone="yes"?>
<Relationships xmlns="http://schemas.openxmlformats.org/package/2006/relationships"><Relationship Id="rId3" Type="http://schemas.openxmlformats.org/officeDocument/2006/relationships/image" Target="../media/image75.png"/><Relationship Id="rId7" Type="http://schemas.openxmlformats.org/officeDocument/2006/relationships/image" Target="../media/image79.jp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78.jpg"/><Relationship Id="rId5" Type="http://schemas.openxmlformats.org/officeDocument/2006/relationships/image" Target="../media/image77.jpg"/><Relationship Id="rId4" Type="http://schemas.openxmlformats.org/officeDocument/2006/relationships/image" Target="../media/image76.jp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81.jp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81.jp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82.jp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83.jp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
          <p:cNvSpPr txBox="1">
            <a:spLocks noGrp="1"/>
          </p:cNvSpPr>
          <p:nvPr>
            <p:ph type="ctrTitle"/>
          </p:nvPr>
        </p:nvSpPr>
        <p:spPr>
          <a:xfrm>
            <a:off x="533400" y="2286000"/>
            <a:ext cx="8077200" cy="1828800"/>
          </a:xfrm>
          <a:prstGeom prst="rect">
            <a:avLst/>
          </a:prstGeom>
          <a:noFill/>
          <a:ln>
            <a:noFill/>
          </a:ln>
        </p:spPr>
        <p:txBody>
          <a:bodyPr spcFirstLastPara="1" wrap="square" lIns="0" tIns="0" rIns="18275" bIns="0" anchor="b" anchorCtr="0">
            <a:normAutofit fontScale="90000"/>
          </a:bodyPr>
          <a:lstStyle/>
          <a:p>
            <a:pPr marL="0" lvl="0" indent="0" algn="ctr" rtl="0">
              <a:spcBef>
                <a:spcPts val="0"/>
              </a:spcBef>
              <a:spcAft>
                <a:spcPts val="0"/>
              </a:spcAft>
              <a:buClr>
                <a:srgbClr val="4CE0EA"/>
              </a:buClr>
              <a:buSzPct val="100000"/>
              <a:buFont typeface="Calibri"/>
              <a:buNone/>
            </a:pPr>
            <a:r>
              <a:rPr lang="en-US"/>
              <a:t/>
            </a:r>
            <a:br>
              <a:rPr lang="en-US"/>
            </a:br>
            <a:r>
              <a:rPr lang="en-US"/>
              <a:t/>
            </a:r>
            <a:br>
              <a:rPr lang="en-US"/>
            </a:br>
            <a:r>
              <a:rPr lang="en-US"/>
              <a:t/>
            </a:r>
            <a:br>
              <a:rPr lang="en-US"/>
            </a:br>
            <a:r>
              <a:rPr lang="en-US"/>
              <a:t/>
            </a:r>
            <a:br>
              <a:rPr lang="en-US"/>
            </a:br>
            <a:r>
              <a:rPr lang="en-US"/>
              <a:t/>
            </a:r>
            <a:br>
              <a:rPr lang="en-US"/>
            </a:br>
            <a:r>
              <a:rPr lang="en-US" sz="6700"/>
              <a:t>Evaluation and Course Introduction</a:t>
            </a:r>
            <a:br>
              <a:rPr lang="en-US" sz="6700"/>
            </a:br>
            <a:r>
              <a:rPr lang="en-US"/>
              <a:t/>
            </a:r>
            <a:br>
              <a:rPr lang="en-US"/>
            </a:br>
            <a:r>
              <a:rPr lang="en-US"/>
              <a:t>On</a:t>
            </a:r>
            <a:br>
              <a:rPr lang="en-US"/>
            </a:br>
            <a:r>
              <a:rPr lang="en-US" sz="6000"/>
              <a:t>Simulation and Modeling</a:t>
            </a:r>
            <a:endParaRPr/>
          </a:p>
        </p:txBody>
      </p:sp>
      <p:sp>
        <p:nvSpPr>
          <p:cNvPr id="115" name="Google Shape;115;p1"/>
          <p:cNvSpPr txBox="1">
            <a:spLocks noGrp="1"/>
          </p:cNvSpPr>
          <p:nvPr>
            <p:ph type="subTitle" idx="1"/>
          </p:nvPr>
        </p:nvSpPr>
        <p:spPr>
          <a:xfrm>
            <a:off x="533400" y="4191000"/>
            <a:ext cx="7854696" cy="1828800"/>
          </a:xfrm>
          <a:prstGeom prst="rect">
            <a:avLst/>
          </a:prstGeom>
          <a:noFill/>
          <a:ln>
            <a:noFill/>
          </a:ln>
        </p:spPr>
        <p:txBody>
          <a:bodyPr spcFirstLastPara="1" wrap="square" lIns="0" tIns="45700" rIns="18275" bIns="45700" anchor="t" anchorCtr="0">
            <a:normAutofit/>
          </a:bodyPr>
          <a:lstStyle/>
          <a:p>
            <a:pPr marL="0" lvl="0" indent="0" algn="r" rtl="0">
              <a:spcBef>
                <a:spcPts val="520"/>
              </a:spcBef>
              <a:spcAft>
                <a:spcPts val="0"/>
              </a:spcAft>
              <a:buSzPts val="2470"/>
              <a:buNone/>
            </a:pPr>
            <a:r>
              <a:rPr lang="en-US" dirty="0" smtClean="0"/>
              <a:t>Department </a:t>
            </a:r>
            <a:r>
              <a:rPr lang="en-US" dirty="0"/>
              <a:t>of Computer Science and Engineering</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
          <p:cNvSpPr txBox="1">
            <a:spLocks noGrp="1"/>
          </p:cNvSpPr>
          <p:nvPr>
            <p:ph type="title"/>
          </p:nvPr>
        </p:nvSpPr>
        <p:spPr>
          <a:xfrm>
            <a:off x="457200" y="704088"/>
            <a:ext cx="8229600" cy="819912"/>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Evaluation </a:t>
            </a:r>
            <a:endParaRPr/>
          </a:p>
        </p:txBody>
      </p:sp>
      <p:sp>
        <p:nvSpPr>
          <p:cNvPr id="121" name="Google Shape;121;p2"/>
          <p:cNvSpPr txBox="1">
            <a:spLocks noGrp="1"/>
          </p:cNvSpPr>
          <p:nvPr>
            <p:ph type="body" idx="1"/>
          </p:nvPr>
        </p:nvSpPr>
        <p:spPr>
          <a:xfrm>
            <a:off x="457200" y="1524000"/>
            <a:ext cx="8229600" cy="48006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Internal Evaluation-50</a:t>
            </a:r>
            <a:endParaRPr/>
          </a:p>
          <a:p>
            <a:pPr marL="640080" lvl="1" indent="-246888" algn="l" rtl="0">
              <a:spcBef>
                <a:spcPts val="480"/>
              </a:spcBef>
              <a:spcAft>
                <a:spcPts val="0"/>
              </a:spcAft>
              <a:buSzPts val="2040"/>
              <a:buChar char="⚫"/>
            </a:pPr>
            <a:r>
              <a:rPr lang="en-US"/>
              <a:t>Theory -30</a:t>
            </a:r>
            <a:endParaRPr/>
          </a:p>
          <a:p>
            <a:pPr marL="914400" lvl="2" indent="-246887" algn="l" rtl="0">
              <a:spcBef>
                <a:spcPts val="420"/>
              </a:spcBef>
              <a:spcAft>
                <a:spcPts val="0"/>
              </a:spcAft>
              <a:buSzPts val="1470"/>
              <a:buChar char="⚫"/>
            </a:pPr>
            <a:r>
              <a:rPr lang="en-US"/>
              <a:t>UT -6</a:t>
            </a:r>
            <a:endParaRPr/>
          </a:p>
          <a:p>
            <a:pPr marL="914400" lvl="2" indent="-246887" algn="l" rtl="0">
              <a:spcBef>
                <a:spcPts val="420"/>
              </a:spcBef>
              <a:spcAft>
                <a:spcPts val="0"/>
              </a:spcAft>
              <a:buSzPts val="1470"/>
              <a:buChar char="⚫"/>
            </a:pPr>
            <a:r>
              <a:rPr lang="en-US"/>
              <a:t>Assessment -12</a:t>
            </a:r>
            <a:endParaRPr/>
          </a:p>
          <a:p>
            <a:pPr marL="914400" lvl="2" indent="-246887" algn="l" rtl="0">
              <a:spcBef>
                <a:spcPts val="420"/>
              </a:spcBef>
              <a:spcAft>
                <a:spcPts val="0"/>
              </a:spcAft>
              <a:buSzPts val="1470"/>
              <a:buChar char="⚫"/>
            </a:pPr>
            <a:r>
              <a:rPr lang="en-US"/>
              <a:t>Assignment-5</a:t>
            </a:r>
            <a:endParaRPr/>
          </a:p>
          <a:p>
            <a:pPr marL="914400" lvl="2" indent="-246887" algn="l" rtl="0">
              <a:spcBef>
                <a:spcPts val="420"/>
              </a:spcBef>
              <a:spcAft>
                <a:spcPts val="0"/>
              </a:spcAft>
              <a:buSzPts val="1470"/>
              <a:buChar char="⚫"/>
            </a:pPr>
            <a:r>
              <a:rPr lang="en-US"/>
              <a:t>Class performance-4</a:t>
            </a:r>
            <a:endParaRPr/>
          </a:p>
          <a:p>
            <a:pPr marL="914400" lvl="2" indent="-246887" algn="l" rtl="0">
              <a:spcBef>
                <a:spcPts val="420"/>
              </a:spcBef>
              <a:spcAft>
                <a:spcPts val="0"/>
              </a:spcAft>
              <a:buSzPts val="1470"/>
              <a:buChar char="⚫"/>
            </a:pPr>
            <a:r>
              <a:rPr lang="en-US"/>
              <a:t>Attendance-3</a:t>
            </a:r>
            <a:endParaRPr/>
          </a:p>
          <a:p>
            <a:pPr marL="640080" lvl="1" indent="-246888" algn="l" rtl="0">
              <a:spcBef>
                <a:spcPts val="480"/>
              </a:spcBef>
              <a:spcAft>
                <a:spcPts val="0"/>
              </a:spcAft>
              <a:buSzPts val="2040"/>
              <a:buChar char="⚫"/>
            </a:pPr>
            <a:r>
              <a:rPr lang="en-US"/>
              <a:t>Practical -20</a:t>
            </a:r>
            <a:endParaRPr/>
          </a:p>
          <a:p>
            <a:pPr marL="914400" lvl="2" indent="-246887" algn="l" rtl="0">
              <a:spcBef>
                <a:spcPts val="420"/>
              </a:spcBef>
              <a:spcAft>
                <a:spcPts val="0"/>
              </a:spcAft>
              <a:buSzPts val="1470"/>
              <a:buChar char="⚫"/>
            </a:pPr>
            <a:r>
              <a:rPr lang="en-US"/>
              <a:t>Lab report-4</a:t>
            </a:r>
            <a:endParaRPr/>
          </a:p>
          <a:p>
            <a:pPr marL="914400" lvl="2" indent="-246887" algn="l" rtl="0">
              <a:spcBef>
                <a:spcPts val="420"/>
              </a:spcBef>
              <a:spcAft>
                <a:spcPts val="0"/>
              </a:spcAft>
              <a:buSzPts val="1470"/>
              <a:buChar char="⚫"/>
            </a:pPr>
            <a:r>
              <a:rPr lang="en-US"/>
              <a:t>Lab attendance-3</a:t>
            </a:r>
            <a:endParaRPr/>
          </a:p>
          <a:p>
            <a:pPr marL="914400" lvl="2" indent="-246887" algn="l" rtl="0">
              <a:spcBef>
                <a:spcPts val="420"/>
              </a:spcBef>
              <a:spcAft>
                <a:spcPts val="0"/>
              </a:spcAft>
              <a:buSzPts val="1470"/>
              <a:buChar char="⚫"/>
            </a:pPr>
            <a:r>
              <a:rPr lang="en-US"/>
              <a:t>Lab exam/Lab project-10</a:t>
            </a:r>
            <a:endParaRPr/>
          </a:p>
          <a:p>
            <a:pPr marL="914400" lvl="2" indent="-246887" algn="l" rtl="0">
              <a:spcBef>
                <a:spcPts val="420"/>
              </a:spcBef>
              <a:spcAft>
                <a:spcPts val="0"/>
              </a:spcAft>
              <a:buSzPts val="1470"/>
              <a:buChar char="⚫"/>
            </a:pPr>
            <a:r>
              <a:rPr lang="en-US"/>
              <a:t>Lab performance-3</a:t>
            </a:r>
            <a:endParaRPr/>
          </a:p>
        </p:txBody>
      </p:sp>
      <p:graphicFrame>
        <p:nvGraphicFramePr>
          <p:cNvPr id="122" name="Google Shape;122;p2"/>
          <p:cNvGraphicFramePr/>
          <p:nvPr/>
        </p:nvGraphicFramePr>
        <p:xfrm>
          <a:off x="4191000" y="381000"/>
          <a:ext cx="4572000" cy="58674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1">
                                            <p:txEl>
                                              <p:pRg st="0" end="0"/>
                                            </p:txEl>
                                          </p:spTgt>
                                        </p:tgtEl>
                                        <p:attrNameLst>
                                          <p:attrName>style.visibility</p:attrName>
                                        </p:attrNameLst>
                                      </p:cBhvr>
                                      <p:to>
                                        <p:strVal val="visible"/>
                                      </p:to>
                                    </p:set>
                                    <p:animEffect transition="in" filter="fade">
                                      <p:cBhvr>
                                        <p:cTn id="7" dur="500"/>
                                        <p:tgtEl>
                                          <p:spTgt spid="1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1">
                                            <p:txEl>
                                              <p:pRg st="1" end="1"/>
                                            </p:txEl>
                                          </p:spTgt>
                                        </p:tgtEl>
                                        <p:attrNameLst>
                                          <p:attrName>style.visibility</p:attrName>
                                        </p:attrNameLst>
                                      </p:cBhvr>
                                      <p:to>
                                        <p:strVal val="visible"/>
                                      </p:to>
                                    </p:set>
                                    <p:animEffect transition="in" filter="fade">
                                      <p:cBhvr>
                                        <p:cTn id="12" dur="500"/>
                                        <p:tgtEl>
                                          <p:spTgt spid="1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1">
                                            <p:txEl>
                                              <p:pRg st="2" end="2"/>
                                            </p:txEl>
                                          </p:spTgt>
                                        </p:tgtEl>
                                        <p:attrNameLst>
                                          <p:attrName>style.visibility</p:attrName>
                                        </p:attrNameLst>
                                      </p:cBhvr>
                                      <p:to>
                                        <p:strVal val="visible"/>
                                      </p:to>
                                    </p:set>
                                    <p:animEffect transition="in" filter="fade">
                                      <p:cBhvr>
                                        <p:cTn id="17" dur="500"/>
                                        <p:tgtEl>
                                          <p:spTgt spid="12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1">
                                            <p:txEl>
                                              <p:pRg st="3" end="3"/>
                                            </p:txEl>
                                          </p:spTgt>
                                        </p:tgtEl>
                                        <p:attrNameLst>
                                          <p:attrName>style.visibility</p:attrName>
                                        </p:attrNameLst>
                                      </p:cBhvr>
                                      <p:to>
                                        <p:strVal val="visible"/>
                                      </p:to>
                                    </p:set>
                                    <p:animEffect transition="in" filter="fade">
                                      <p:cBhvr>
                                        <p:cTn id="22" dur="500"/>
                                        <p:tgtEl>
                                          <p:spTgt spid="1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1">
                                            <p:txEl>
                                              <p:pRg st="4" end="4"/>
                                            </p:txEl>
                                          </p:spTgt>
                                        </p:tgtEl>
                                        <p:attrNameLst>
                                          <p:attrName>style.visibility</p:attrName>
                                        </p:attrNameLst>
                                      </p:cBhvr>
                                      <p:to>
                                        <p:strVal val="visible"/>
                                      </p:to>
                                    </p:set>
                                    <p:animEffect transition="in" filter="fade">
                                      <p:cBhvr>
                                        <p:cTn id="27" dur="500"/>
                                        <p:tgtEl>
                                          <p:spTgt spid="12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1">
                                            <p:txEl>
                                              <p:pRg st="5" end="5"/>
                                            </p:txEl>
                                          </p:spTgt>
                                        </p:tgtEl>
                                        <p:attrNameLst>
                                          <p:attrName>style.visibility</p:attrName>
                                        </p:attrNameLst>
                                      </p:cBhvr>
                                      <p:to>
                                        <p:strVal val="visible"/>
                                      </p:to>
                                    </p:set>
                                    <p:animEffect transition="in" filter="fade">
                                      <p:cBhvr>
                                        <p:cTn id="32" dur="500"/>
                                        <p:tgtEl>
                                          <p:spTgt spid="12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1">
                                            <p:txEl>
                                              <p:pRg st="6" end="6"/>
                                            </p:txEl>
                                          </p:spTgt>
                                        </p:tgtEl>
                                        <p:attrNameLst>
                                          <p:attrName>style.visibility</p:attrName>
                                        </p:attrNameLst>
                                      </p:cBhvr>
                                      <p:to>
                                        <p:strVal val="visible"/>
                                      </p:to>
                                    </p:set>
                                    <p:animEffect transition="in" filter="fade">
                                      <p:cBhvr>
                                        <p:cTn id="37" dur="500"/>
                                        <p:tgtEl>
                                          <p:spTgt spid="12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1">
                                            <p:txEl>
                                              <p:pRg st="7" end="7"/>
                                            </p:txEl>
                                          </p:spTgt>
                                        </p:tgtEl>
                                        <p:attrNameLst>
                                          <p:attrName>style.visibility</p:attrName>
                                        </p:attrNameLst>
                                      </p:cBhvr>
                                      <p:to>
                                        <p:strVal val="visible"/>
                                      </p:to>
                                    </p:set>
                                    <p:animEffect transition="in" filter="fade">
                                      <p:cBhvr>
                                        <p:cTn id="42" dur="500"/>
                                        <p:tgtEl>
                                          <p:spTgt spid="12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1">
                                            <p:txEl>
                                              <p:pRg st="8" end="8"/>
                                            </p:txEl>
                                          </p:spTgt>
                                        </p:tgtEl>
                                        <p:attrNameLst>
                                          <p:attrName>style.visibility</p:attrName>
                                        </p:attrNameLst>
                                      </p:cBhvr>
                                      <p:to>
                                        <p:strVal val="visible"/>
                                      </p:to>
                                    </p:set>
                                    <p:animEffect transition="in" filter="fade">
                                      <p:cBhvr>
                                        <p:cTn id="47" dur="500"/>
                                        <p:tgtEl>
                                          <p:spTgt spid="12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21">
                                            <p:txEl>
                                              <p:pRg st="9" end="9"/>
                                            </p:txEl>
                                          </p:spTgt>
                                        </p:tgtEl>
                                        <p:attrNameLst>
                                          <p:attrName>style.visibility</p:attrName>
                                        </p:attrNameLst>
                                      </p:cBhvr>
                                      <p:to>
                                        <p:strVal val="visible"/>
                                      </p:to>
                                    </p:set>
                                    <p:animEffect transition="in" filter="fade">
                                      <p:cBhvr>
                                        <p:cTn id="52" dur="500"/>
                                        <p:tgtEl>
                                          <p:spTgt spid="12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21">
                                            <p:txEl>
                                              <p:pRg st="10" end="10"/>
                                            </p:txEl>
                                          </p:spTgt>
                                        </p:tgtEl>
                                        <p:attrNameLst>
                                          <p:attrName>style.visibility</p:attrName>
                                        </p:attrNameLst>
                                      </p:cBhvr>
                                      <p:to>
                                        <p:strVal val="visible"/>
                                      </p:to>
                                    </p:set>
                                    <p:animEffect transition="in" filter="fade">
                                      <p:cBhvr>
                                        <p:cTn id="57" dur="500"/>
                                        <p:tgtEl>
                                          <p:spTgt spid="12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21">
                                            <p:txEl>
                                              <p:pRg st="11" end="11"/>
                                            </p:txEl>
                                          </p:spTgt>
                                        </p:tgtEl>
                                        <p:attrNameLst>
                                          <p:attrName>style.visibility</p:attrName>
                                        </p:attrNameLst>
                                      </p:cBhvr>
                                      <p:to>
                                        <p:strVal val="visible"/>
                                      </p:to>
                                    </p:set>
                                    <p:animEffect transition="in" filter="fade">
                                      <p:cBhvr>
                                        <p:cTn id="62" dur="500"/>
                                        <p:tgtEl>
                                          <p:spTgt spid="121">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22"/>
                                        </p:tgtEl>
                                        <p:attrNameLst>
                                          <p:attrName>style.visibility</p:attrName>
                                        </p:attrNameLst>
                                      </p:cBhvr>
                                      <p:to>
                                        <p:strVal val="visible"/>
                                      </p:to>
                                    </p:set>
                                    <p:animEffect transition="in" filter="fade">
                                      <p:cBhvr>
                                        <p:cTn id="67" dur="500"/>
                                        <p:tgtEl>
                                          <p:spTgt spid="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3"/>
          <p:cNvSpPr txBox="1">
            <a:spLocks noGrp="1"/>
          </p:cNvSpPr>
          <p:nvPr>
            <p:ph type="title"/>
          </p:nvPr>
        </p:nvSpPr>
        <p:spPr>
          <a:xfrm>
            <a:off x="457200" y="304800"/>
            <a:ext cx="8229600" cy="10668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b="1"/>
              <a:t>Simulation and Modeling (3-1-3)</a:t>
            </a:r>
            <a:r>
              <a:rPr lang="en-US"/>
              <a:t/>
            </a:r>
            <a:br>
              <a:rPr lang="en-US"/>
            </a:br>
            <a:endParaRPr/>
          </a:p>
        </p:txBody>
      </p:sp>
      <p:sp>
        <p:nvSpPr>
          <p:cNvPr id="128" name="Google Shape;128;p3"/>
          <p:cNvSpPr txBox="1">
            <a:spLocks noGrp="1"/>
          </p:cNvSpPr>
          <p:nvPr>
            <p:ph type="body" idx="1"/>
          </p:nvPr>
        </p:nvSpPr>
        <p:spPr>
          <a:xfrm>
            <a:off x="457200" y="1066800"/>
            <a:ext cx="8229600" cy="5257800"/>
          </a:xfrm>
          <a:prstGeom prst="rect">
            <a:avLst/>
          </a:prstGeom>
          <a:noFill/>
          <a:ln>
            <a:noFill/>
          </a:ln>
        </p:spPr>
        <p:txBody>
          <a:bodyPr spcFirstLastPara="1" wrap="square" lIns="91425" tIns="45700" rIns="91425" bIns="45700" anchor="t" anchorCtr="0">
            <a:normAutofit lnSpcReduction="10000"/>
          </a:bodyPr>
          <a:lstStyle/>
          <a:p>
            <a:pPr marL="274320" lvl="0" indent="-274320" algn="l" rtl="0">
              <a:spcBef>
                <a:spcPts val="0"/>
              </a:spcBef>
              <a:spcAft>
                <a:spcPts val="0"/>
              </a:spcAft>
              <a:buSzPts val="2470"/>
              <a:buChar char="⚫"/>
            </a:pPr>
            <a:r>
              <a:rPr lang="en-US" b="1"/>
              <a:t>Course Introduction</a:t>
            </a:r>
            <a:endParaRPr/>
          </a:p>
          <a:p>
            <a:pPr marL="548640" lvl="2" indent="-274320" algn="l" rtl="0">
              <a:spcBef>
                <a:spcPts val="420"/>
              </a:spcBef>
              <a:spcAft>
                <a:spcPts val="0"/>
              </a:spcAft>
              <a:buClr>
                <a:schemeClr val="accent3"/>
              </a:buClr>
              <a:buSzPts val="1995"/>
              <a:buChar char="⚫"/>
            </a:pPr>
            <a:r>
              <a:rPr lang="en-US"/>
              <a:t>In general, this course will introduce the basic concept of modelling and simulation that are extensively used by engineers to innovate new products, evaluate designs and simulate the possible impacts of alternative approaches.</a:t>
            </a:r>
            <a:endParaRPr b="1"/>
          </a:p>
          <a:p>
            <a:pPr marL="274320" lvl="0" indent="-274320" algn="l" rtl="0">
              <a:spcBef>
                <a:spcPts val="520"/>
              </a:spcBef>
              <a:spcAft>
                <a:spcPts val="0"/>
              </a:spcAft>
              <a:buSzPts val="2470"/>
              <a:buChar char="⚫"/>
            </a:pPr>
            <a:r>
              <a:rPr lang="en-US" b="1"/>
              <a:t>Prerequisites</a:t>
            </a:r>
            <a:endParaRPr/>
          </a:p>
          <a:p>
            <a:pPr marL="548640" lvl="2" indent="-274320" algn="l" rtl="0">
              <a:spcBef>
                <a:spcPts val="420"/>
              </a:spcBef>
              <a:spcAft>
                <a:spcPts val="0"/>
              </a:spcAft>
              <a:buClr>
                <a:schemeClr val="accent3"/>
              </a:buClr>
              <a:buSzPts val="1995"/>
              <a:buChar char="⚫"/>
            </a:pPr>
            <a:r>
              <a:rPr lang="en-US"/>
              <a:t>Basic knowledge of numerical mathematics, probability and statistics, and basics of programming</a:t>
            </a:r>
            <a:r>
              <a:rPr lang="en-US" b="1"/>
              <a:t> (C or C++ or C# or Java)</a:t>
            </a:r>
            <a:endParaRPr/>
          </a:p>
          <a:p>
            <a:pPr marL="274320" lvl="0" indent="-274320" algn="l" rtl="0">
              <a:spcBef>
                <a:spcPts val="520"/>
              </a:spcBef>
              <a:spcAft>
                <a:spcPts val="0"/>
              </a:spcAft>
              <a:buSzPts val="2470"/>
              <a:buChar char="⚫"/>
            </a:pPr>
            <a:r>
              <a:rPr lang="en-US" b="1"/>
              <a:t>Course Objective</a:t>
            </a:r>
            <a:endParaRPr/>
          </a:p>
          <a:p>
            <a:pPr marL="640080" lvl="1" indent="-246888" algn="l" rtl="0">
              <a:spcBef>
                <a:spcPts val="480"/>
              </a:spcBef>
              <a:spcAft>
                <a:spcPts val="0"/>
              </a:spcAft>
              <a:buSzPts val="2040"/>
              <a:buChar char="⚫"/>
            </a:pPr>
            <a:r>
              <a:rPr lang="en-US"/>
              <a:t>To introduce the details of modeling and simulation technologies to the students.</a:t>
            </a:r>
            <a:endParaRPr/>
          </a:p>
          <a:p>
            <a:pPr marL="640080" lvl="1" indent="-246888" algn="l" rtl="0">
              <a:spcBef>
                <a:spcPts val="480"/>
              </a:spcBef>
              <a:spcAft>
                <a:spcPts val="0"/>
              </a:spcAft>
              <a:buSzPts val="2040"/>
              <a:buChar char="⚫"/>
            </a:pPr>
            <a:r>
              <a:rPr lang="en-US"/>
              <a:t>To provide the knowledge of discrete and continuous system, generation of random variables, analysis of simulation output and simulation languages.</a:t>
            </a:r>
            <a:endParaRPr b="1"/>
          </a:p>
          <a:p>
            <a:pPr marL="274320" lvl="0" indent="-274320" algn="l" rtl="0">
              <a:spcBef>
                <a:spcPts val="520"/>
              </a:spcBef>
              <a:spcAft>
                <a:spcPts val="0"/>
              </a:spcAft>
              <a:buSzPts val="2470"/>
              <a:buNone/>
            </a:pPr>
            <a:endParaRPr b="1"/>
          </a:p>
          <a:p>
            <a:pPr marL="274320" lvl="0" indent="-117475" algn="l" rtl="0">
              <a:spcBef>
                <a:spcPts val="520"/>
              </a:spcBef>
              <a:spcAft>
                <a:spcPts val="0"/>
              </a:spcAft>
              <a:buSzPts val="2470"/>
              <a:buNone/>
            </a:pPr>
            <a:endParaRPr b="1"/>
          </a:p>
          <a:p>
            <a:pPr marL="274320" lvl="0" indent="-117475" algn="l" rtl="0">
              <a:spcBef>
                <a:spcPts val="520"/>
              </a:spcBef>
              <a:spcAft>
                <a:spcPts val="0"/>
              </a:spcAft>
              <a:buSzPts val="2470"/>
              <a:buNone/>
            </a:pPr>
            <a:endParaRPr b="1"/>
          </a:p>
          <a:p>
            <a:pPr marL="274320" lvl="0" indent="-274320" algn="l" rtl="0">
              <a:spcBef>
                <a:spcPts val="520"/>
              </a:spcBef>
              <a:spcAft>
                <a:spcPts val="0"/>
              </a:spcAft>
              <a:buSzPts val="2470"/>
              <a:buNone/>
            </a:pPr>
            <a:endParaRPr b="1"/>
          </a:p>
          <a:p>
            <a:pPr marL="274320" lvl="0" indent="-117475" algn="l" rtl="0">
              <a:spcBef>
                <a:spcPts val="520"/>
              </a:spcBef>
              <a:spcAft>
                <a:spcPts val="0"/>
              </a:spcAft>
              <a:buSzPts val="2470"/>
              <a:buNone/>
            </a:pPr>
            <a:endParaRPr b="1"/>
          </a:p>
          <a:p>
            <a:pPr marL="274320" lvl="0" indent="-117475" algn="l" rtl="0">
              <a:spcBef>
                <a:spcPts val="520"/>
              </a:spcBef>
              <a:spcAft>
                <a:spcPts val="0"/>
              </a:spcAft>
              <a:buSzPts val="2470"/>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8">
                                            <p:txEl>
                                              <p:pRg st="0" end="0"/>
                                            </p:txEl>
                                          </p:spTgt>
                                        </p:tgtEl>
                                        <p:attrNameLst>
                                          <p:attrName>style.visibility</p:attrName>
                                        </p:attrNameLst>
                                      </p:cBhvr>
                                      <p:to>
                                        <p:strVal val="visible"/>
                                      </p:to>
                                    </p:set>
                                    <p:animEffect transition="in" filter="fade">
                                      <p:cBhvr>
                                        <p:cTn id="7" dur="500"/>
                                        <p:tgtEl>
                                          <p:spTgt spid="1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8">
                                            <p:txEl>
                                              <p:pRg st="1" end="1"/>
                                            </p:txEl>
                                          </p:spTgt>
                                        </p:tgtEl>
                                        <p:attrNameLst>
                                          <p:attrName>style.visibility</p:attrName>
                                        </p:attrNameLst>
                                      </p:cBhvr>
                                      <p:to>
                                        <p:strVal val="visible"/>
                                      </p:to>
                                    </p:set>
                                    <p:animEffect transition="in" filter="fade">
                                      <p:cBhvr>
                                        <p:cTn id="12" dur="500"/>
                                        <p:tgtEl>
                                          <p:spTgt spid="12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8">
                                            <p:txEl>
                                              <p:pRg st="2" end="2"/>
                                            </p:txEl>
                                          </p:spTgt>
                                        </p:tgtEl>
                                        <p:attrNameLst>
                                          <p:attrName>style.visibility</p:attrName>
                                        </p:attrNameLst>
                                      </p:cBhvr>
                                      <p:to>
                                        <p:strVal val="visible"/>
                                      </p:to>
                                    </p:set>
                                    <p:animEffect transition="in" filter="fade">
                                      <p:cBhvr>
                                        <p:cTn id="17" dur="500"/>
                                        <p:tgtEl>
                                          <p:spTgt spid="12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8">
                                            <p:txEl>
                                              <p:pRg st="3" end="3"/>
                                            </p:txEl>
                                          </p:spTgt>
                                        </p:tgtEl>
                                        <p:attrNameLst>
                                          <p:attrName>style.visibility</p:attrName>
                                        </p:attrNameLst>
                                      </p:cBhvr>
                                      <p:to>
                                        <p:strVal val="visible"/>
                                      </p:to>
                                    </p:set>
                                    <p:animEffect transition="in" filter="fade">
                                      <p:cBhvr>
                                        <p:cTn id="22" dur="500"/>
                                        <p:tgtEl>
                                          <p:spTgt spid="12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8">
                                            <p:txEl>
                                              <p:pRg st="4" end="4"/>
                                            </p:txEl>
                                          </p:spTgt>
                                        </p:tgtEl>
                                        <p:attrNameLst>
                                          <p:attrName>style.visibility</p:attrName>
                                        </p:attrNameLst>
                                      </p:cBhvr>
                                      <p:to>
                                        <p:strVal val="visible"/>
                                      </p:to>
                                    </p:set>
                                    <p:animEffect transition="in" filter="fade">
                                      <p:cBhvr>
                                        <p:cTn id="27" dur="500"/>
                                        <p:tgtEl>
                                          <p:spTgt spid="12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8">
                                            <p:txEl>
                                              <p:pRg st="5" end="5"/>
                                            </p:txEl>
                                          </p:spTgt>
                                        </p:tgtEl>
                                        <p:attrNameLst>
                                          <p:attrName>style.visibility</p:attrName>
                                        </p:attrNameLst>
                                      </p:cBhvr>
                                      <p:to>
                                        <p:strVal val="visible"/>
                                      </p:to>
                                    </p:set>
                                    <p:animEffect transition="in" filter="fade">
                                      <p:cBhvr>
                                        <p:cTn id="32" dur="500"/>
                                        <p:tgtEl>
                                          <p:spTgt spid="12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8">
                                            <p:txEl>
                                              <p:pRg st="6" end="6"/>
                                            </p:txEl>
                                          </p:spTgt>
                                        </p:tgtEl>
                                        <p:attrNameLst>
                                          <p:attrName>style.visibility</p:attrName>
                                        </p:attrNameLst>
                                      </p:cBhvr>
                                      <p:to>
                                        <p:strVal val="visible"/>
                                      </p:to>
                                    </p:set>
                                    <p:animEffect transition="in" filter="fade">
                                      <p:cBhvr>
                                        <p:cTn id="37" dur="500"/>
                                        <p:tgtEl>
                                          <p:spTgt spid="12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8">
                                            <p:txEl>
                                              <p:pRg st="7" end="7"/>
                                            </p:txEl>
                                          </p:spTgt>
                                        </p:tgtEl>
                                        <p:attrNameLst>
                                          <p:attrName>style.visibility</p:attrName>
                                        </p:attrNameLst>
                                      </p:cBhvr>
                                      <p:to>
                                        <p:strVal val="visible"/>
                                      </p:to>
                                    </p:set>
                                    <p:animEffect transition="in" filter="fade">
                                      <p:cBhvr>
                                        <p:cTn id="42" dur="500"/>
                                        <p:tgtEl>
                                          <p:spTgt spid="12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8">
                                            <p:txEl>
                                              <p:pRg st="8" end="8"/>
                                            </p:txEl>
                                          </p:spTgt>
                                        </p:tgtEl>
                                        <p:attrNameLst>
                                          <p:attrName>style.visibility</p:attrName>
                                        </p:attrNameLst>
                                      </p:cBhvr>
                                      <p:to>
                                        <p:strVal val="visible"/>
                                      </p:to>
                                    </p:set>
                                    <p:animEffect transition="in" filter="fade">
                                      <p:cBhvr>
                                        <p:cTn id="47" dur="500"/>
                                        <p:tgtEl>
                                          <p:spTgt spid="12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28">
                                            <p:txEl>
                                              <p:pRg st="9" end="9"/>
                                            </p:txEl>
                                          </p:spTgt>
                                        </p:tgtEl>
                                        <p:attrNameLst>
                                          <p:attrName>style.visibility</p:attrName>
                                        </p:attrNameLst>
                                      </p:cBhvr>
                                      <p:to>
                                        <p:strVal val="visible"/>
                                      </p:to>
                                    </p:set>
                                    <p:animEffect transition="in" filter="fade">
                                      <p:cBhvr>
                                        <p:cTn id="52" dur="500"/>
                                        <p:tgtEl>
                                          <p:spTgt spid="12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28">
                                            <p:txEl>
                                              <p:pRg st="10" end="10"/>
                                            </p:txEl>
                                          </p:spTgt>
                                        </p:tgtEl>
                                        <p:attrNameLst>
                                          <p:attrName>style.visibility</p:attrName>
                                        </p:attrNameLst>
                                      </p:cBhvr>
                                      <p:to>
                                        <p:strVal val="visible"/>
                                      </p:to>
                                    </p:set>
                                    <p:animEffect transition="in" filter="fade">
                                      <p:cBhvr>
                                        <p:cTn id="57" dur="500"/>
                                        <p:tgtEl>
                                          <p:spTgt spid="128">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28">
                                            <p:txEl>
                                              <p:pRg st="11" end="11"/>
                                            </p:txEl>
                                          </p:spTgt>
                                        </p:tgtEl>
                                        <p:attrNameLst>
                                          <p:attrName>style.visibility</p:attrName>
                                        </p:attrNameLst>
                                      </p:cBhvr>
                                      <p:to>
                                        <p:strVal val="visible"/>
                                      </p:to>
                                    </p:set>
                                    <p:animEffect transition="in" filter="fade">
                                      <p:cBhvr>
                                        <p:cTn id="62" dur="500"/>
                                        <p:tgtEl>
                                          <p:spTgt spid="128">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28">
                                            <p:txEl>
                                              <p:pRg st="12" end="12"/>
                                            </p:txEl>
                                          </p:spTgt>
                                        </p:tgtEl>
                                        <p:attrNameLst>
                                          <p:attrName>style.visibility</p:attrName>
                                        </p:attrNameLst>
                                      </p:cBhvr>
                                      <p:to>
                                        <p:strVal val="visible"/>
                                      </p:to>
                                    </p:set>
                                    <p:animEffect transition="in" filter="fade">
                                      <p:cBhvr>
                                        <p:cTn id="67" dur="500"/>
                                        <p:tgtEl>
                                          <p:spTgt spid="128">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4"/>
          <p:cNvSpPr txBox="1">
            <a:spLocks noGrp="1"/>
          </p:cNvSpPr>
          <p:nvPr>
            <p:ph type="title"/>
          </p:nvPr>
        </p:nvSpPr>
        <p:spPr>
          <a:xfrm>
            <a:off x="457200" y="0"/>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b="1"/>
              <a:t>Simulation and Modeling (3-1-3)</a:t>
            </a:r>
            <a:endParaRPr/>
          </a:p>
        </p:txBody>
      </p:sp>
      <p:sp>
        <p:nvSpPr>
          <p:cNvPr id="134" name="Google Shape;134;p4"/>
          <p:cNvSpPr txBox="1">
            <a:spLocks noGrp="1"/>
          </p:cNvSpPr>
          <p:nvPr>
            <p:ph type="body" idx="1"/>
          </p:nvPr>
        </p:nvSpPr>
        <p:spPr>
          <a:xfrm>
            <a:off x="457200" y="1295400"/>
            <a:ext cx="8229600" cy="5029200"/>
          </a:xfrm>
          <a:prstGeom prst="rect">
            <a:avLst/>
          </a:prstGeom>
          <a:noFill/>
          <a:ln>
            <a:noFill/>
          </a:ln>
        </p:spPr>
        <p:txBody>
          <a:bodyPr spcFirstLastPara="1" wrap="square" lIns="91425" tIns="45700" rIns="91425" bIns="45700" anchor="t" anchorCtr="0">
            <a:normAutofit fontScale="92500" lnSpcReduction="20000"/>
          </a:bodyPr>
          <a:lstStyle/>
          <a:p>
            <a:pPr marL="274320" lvl="0" indent="-274320" algn="l" rtl="0">
              <a:spcBef>
                <a:spcPts val="0"/>
              </a:spcBef>
              <a:spcAft>
                <a:spcPts val="0"/>
              </a:spcAft>
              <a:buSzPct val="95000"/>
              <a:buChar char="⚫"/>
            </a:pPr>
            <a:r>
              <a:rPr lang="en-US" b="1"/>
              <a:t>Major Assignments: Descriptions</a:t>
            </a:r>
            <a:endParaRPr/>
          </a:p>
          <a:p>
            <a:pPr marL="640080" lvl="1" indent="-246888" algn="l" rtl="0">
              <a:spcBef>
                <a:spcPts val="444"/>
              </a:spcBef>
              <a:spcAft>
                <a:spcPts val="0"/>
              </a:spcAft>
              <a:buSzPct val="85000"/>
              <a:buChar char="⚫"/>
            </a:pPr>
            <a:r>
              <a:rPr lang="en-US"/>
              <a:t>Upon the completion of each chapters assignment related to that chapter will be provided to the students with submission date.</a:t>
            </a:r>
            <a:endParaRPr/>
          </a:p>
          <a:p>
            <a:pPr marL="640080" lvl="1" indent="-246888" algn="l" rtl="0">
              <a:spcBef>
                <a:spcPts val="444"/>
              </a:spcBef>
              <a:spcAft>
                <a:spcPts val="0"/>
              </a:spcAft>
              <a:buSzPct val="85000"/>
              <a:buChar char="⚫"/>
            </a:pPr>
            <a:r>
              <a:rPr lang="en-US"/>
              <a:t>Paper related to Modelling and Simulation Basics will be provided for critical writing</a:t>
            </a:r>
            <a:endParaRPr b="1"/>
          </a:p>
          <a:p>
            <a:pPr marL="640080" lvl="1" indent="-246888" algn="l" rtl="0">
              <a:spcBef>
                <a:spcPts val="444"/>
              </a:spcBef>
              <a:spcAft>
                <a:spcPts val="0"/>
              </a:spcAft>
              <a:buSzPct val="85000"/>
              <a:buChar char="⚫"/>
            </a:pPr>
            <a:r>
              <a:rPr lang="en-US"/>
              <a:t>Selected topics related to computer simulation will to assigned to the group (three members each as formed by instructor) for oral presentation</a:t>
            </a:r>
            <a:endParaRPr b="1"/>
          </a:p>
          <a:p>
            <a:pPr marL="274320" lvl="0" indent="-274320" algn="l" rtl="0">
              <a:spcBef>
                <a:spcPts val="481"/>
              </a:spcBef>
              <a:spcAft>
                <a:spcPts val="0"/>
              </a:spcAft>
              <a:buSzPct val="95000"/>
              <a:buChar char="⚫"/>
            </a:pPr>
            <a:r>
              <a:rPr lang="en-US" b="1"/>
              <a:t>Class Participation </a:t>
            </a:r>
            <a:endParaRPr/>
          </a:p>
          <a:p>
            <a:pPr marL="640080" lvl="1" indent="-246888" algn="l" rtl="0">
              <a:spcBef>
                <a:spcPts val="444"/>
              </a:spcBef>
              <a:spcAft>
                <a:spcPts val="0"/>
              </a:spcAft>
              <a:buSzPct val="85000"/>
              <a:buChar char="⚫"/>
            </a:pPr>
            <a:r>
              <a:rPr lang="en-US"/>
              <a:t>Expected to make a summary of given journals.</a:t>
            </a:r>
            <a:endParaRPr/>
          </a:p>
          <a:p>
            <a:pPr marL="640080" lvl="1" indent="-246888" algn="l" rtl="0">
              <a:spcBef>
                <a:spcPts val="444"/>
              </a:spcBef>
              <a:spcAft>
                <a:spcPts val="0"/>
              </a:spcAft>
              <a:buSzPct val="85000"/>
              <a:buChar char="⚫"/>
            </a:pPr>
            <a:r>
              <a:rPr lang="en-US"/>
              <a:t>Expected to solve all the assignments provided in class.</a:t>
            </a:r>
            <a:endParaRPr/>
          </a:p>
          <a:p>
            <a:pPr marL="640080" lvl="1" indent="-246888" algn="l" rtl="0">
              <a:spcBef>
                <a:spcPts val="444"/>
              </a:spcBef>
              <a:spcAft>
                <a:spcPts val="0"/>
              </a:spcAft>
              <a:buSzPct val="85000"/>
              <a:buChar char="⚫"/>
            </a:pPr>
            <a:r>
              <a:rPr lang="en-US"/>
              <a:t>Expected to make critical comments on given journals.</a:t>
            </a:r>
            <a:endParaRPr/>
          </a:p>
          <a:p>
            <a:pPr marL="640080" lvl="1" indent="-246888" algn="l" rtl="0">
              <a:spcBef>
                <a:spcPts val="444"/>
              </a:spcBef>
              <a:spcAft>
                <a:spcPts val="0"/>
              </a:spcAft>
              <a:buSzPct val="85000"/>
              <a:buChar char="⚫"/>
            </a:pPr>
            <a:r>
              <a:rPr lang="en-US"/>
              <a:t>Expected to make an oral presentation on selected topics given by instructor.</a:t>
            </a:r>
            <a:endParaRPr/>
          </a:p>
          <a:p>
            <a:pPr marL="640080" lvl="1" indent="-127063" algn="l" rtl="0">
              <a:spcBef>
                <a:spcPts val="444"/>
              </a:spcBef>
              <a:spcAft>
                <a:spcPts val="0"/>
              </a:spcAft>
              <a:buSzPct val="85000"/>
              <a:buNone/>
            </a:pPr>
            <a:endParaRPr b="1"/>
          </a:p>
          <a:p>
            <a:pPr marL="274320" lvl="0" indent="-129238" algn="l" rtl="0">
              <a:spcBef>
                <a:spcPts val="481"/>
              </a:spcBef>
              <a:spcAft>
                <a:spcPts val="0"/>
              </a:spcAft>
              <a:buSzPct val="95000"/>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4">
                                            <p:txEl>
                                              <p:pRg st="0" end="0"/>
                                            </p:txEl>
                                          </p:spTgt>
                                        </p:tgtEl>
                                        <p:attrNameLst>
                                          <p:attrName>style.visibility</p:attrName>
                                        </p:attrNameLst>
                                      </p:cBhvr>
                                      <p:to>
                                        <p:strVal val="visible"/>
                                      </p:to>
                                    </p:set>
                                    <p:animEffect transition="in" filter="fade">
                                      <p:cBhvr>
                                        <p:cTn id="7" dur="500"/>
                                        <p:tgtEl>
                                          <p:spTgt spid="1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4">
                                            <p:txEl>
                                              <p:pRg st="1" end="1"/>
                                            </p:txEl>
                                          </p:spTgt>
                                        </p:tgtEl>
                                        <p:attrNameLst>
                                          <p:attrName>style.visibility</p:attrName>
                                        </p:attrNameLst>
                                      </p:cBhvr>
                                      <p:to>
                                        <p:strVal val="visible"/>
                                      </p:to>
                                    </p:set>
                                    <p:animEffect transition="in" filter="fade">
                                      <p:cBhvr>
                                        <p:cTn id="12" dur="500"/>
                                        <p:tgtEl>
                                          <p:spTgt spid="13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4">
                                            <p:txEl>
                                              <p:pRg st="2" end="2"/>
                                            </p:txEl>
                                          </p:spTgt>
                                        </p:tgtEl>
                                        <p:attrNameLst>
                                          <p:attrName>style.visibility</p:attrName>
                                        </p:attrNameLst>
                                      </p:cBhvr>
                                      <p:to>
                                        <p:strVal val="visible"/>
                                      </p:to>
                                    </p:set>
                                    <p:animEffect transition="in" filter="fade">
                                      <p:cBhvr>
                                        <p:cTn id="17" dur="500"/>
                                        <p:tgtEl>
                                          <p:spTgt spid="13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4">
                                            <p:txEl>
                                              <p:pRg st="3" end="3"/>
                                            </p:txEl>
                                          </p:spTgt>
                                        </p:tgtEl>
                                        <p:attrNameLst>
                                          <p:attrName>style.visibility</p:attrName>
                                        </p:attrNameLst>
                                      </p:cBhvr>
                                      <p:to>
                                        <p:strVal val="visible"/>
                                      </p:to>
                                    </p:set>
                                    <p:animEffect transition="in" filter="fade">
                                      <p:cBhvr>
                                        <p:cTn id="22" dur="500"/>
                                        <p:tgtEl>
                                          <p:spTgt spid="13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4">
                                            <p:txEl>
                                              <p:pRg st="4" end="4"/>
                                            </p:txEl>
                                          </p:spTgt>
                                        </p:tgtEl>
                                        <p:attrNameLst>
                                          <p:attrName>style.visibility</p:attrName>
                                        </p:attrNameLst>
                                      </p:cBhvr>
                                      <p:to>
                                        <p:strVal val="visible"/>
                                      </p:to>
                                    </p:set>
                                    <p:animEffect transition="in" filter="fade">
                                      <p:cBhvr>
                                        <p:cTn id="27" dur="500"/>
                                        <p:tgtEl>
                                          <p:spTgt spid="13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4">
                                            <p:txEl>
                                              <p:pRg st="5" end="5"/>
                                            </p:txEl>
                                          </p:spTgt>
                                        </p:tgtEl>
                                        <p:attrNameLst>
                                          <p:attrName>style.visibility</p:attrName>
                                        </p:attrNameLst>
                                      </p:cBhvr>
                                      <p:to>
                                        <p:strVal val="visible"/>
                                      </p:to>
                                    </p:set>
                                    <p:animEffect transition="in" filter="fade">
                                      <p:cBhvr>
                                        <p:cTn id="32" dur="500"/>
                                        <p:tgtEl>
                                          <p:spTgt spid="13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4">
                                            <p:txEl>
                                              <p:pRg st="6" end="6"/>
                                            </p:txEl>
                                          </p:spTgt>
                                        </p:tgtEl>
                                        <p:attrNameLst>
                                          <p:attrName>style.visibility</p:attrName>
                                        </p:attrNameLst>
                                      </p:cBhvr>
                                      <p:to>
                                        <p:strVal val="visible"/>
                                      </p:to>
                                    </p:set>
                                    <p:animEffect transition="in" filter="fade">
                                      <p:cBhvr>
                                        <p:cTn id="37" dur="500"/>
                                        <p:tgtEl>
                                          <p:spTgt spid="13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4">
                                            <p:txEl>
                                              <p:pRg st="7" end="7"/>
                                            </p:txEl>
                                          </p:spTgt>
                                        </p:tgtEl>
                                        <p:attrNameLst>
                                          <p:attrName>style.visibility</p:attrName>
                                        </p:attrNameLst>
                                      </p:cBhvr>
                                      <p:to>
                                        <p:strVal val="visible"/>
                                      </p:to>
                                    </p:set>
                                    <p:animEffect transition="in" filter="fade">
                                      <p:cBhvr>
                                        <p:cTn id="42" dur="500"/>
                                        <p:tgtEl>
                                          <p:spTgt spid="13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34">
                                            <p:txEl>
                                              <p:pRg st="8" end="8"/>
                                            </p:txEl>
                                          </p:spTgt>
                                        </p:tgtEl>
                                        <p:attrNameLst>
                                          <p:attrName>style.visibility</p:attrName>
                                        </p:attrNameLst>
                                      </p:cBhvr>
                                      <p:to>
                                        <p:strVal val="visible"/>
                                      </p:to>
                                    </p:set>
                                    <p:animEffect transition="in" filter="fade">
                                      <p:cBhvr>
                                        <p:cTn id="47" dur="500"/>
                                        <p:tgtEl>
                                          <p:spTgt spid="13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34">
                                            <p:txEl>
                                              <p:pRg st="9" end="9"/>
                                            </p:txEl>
                                          </p:spTgt>
                                        </p:tgtEl>
                                        <p:attrNameLst>
                                          <p:attrName>style.visibility</p:attrName>
                                        </p:attrNameLst>
                                      </p:cBhvr>
                                      <p:to>
                                        <p:strVal val="visible"/>
                                      </p:to>
                                    </p:set>
                                    <p:animEffect transition="in" filter="fade">
                                      <p:cBhvr>
                                        <p:cTn id="52" dur="500"/>
                                        <p:tgtEl>
                                          <p:spTgt spid="13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34">
                                            <p:txEl>
                                              <p:pRg st="10" end="10"/>
                                            </p:txEl>
                                          </p:spTgt>
                                        </p:tgtEl>
                                        <p:attrNameLst>
                                          <p:attrName>style.visibility</p:attrName>
                                        </p:attrNameLst>
                                      </p:cBhvr>
                                      <p:to>
                                        <p:strVal val="visible"/>
                                      </p:to>
                                    </p:set>
                                    <p:animEffect transition="in" filter="fade">
                                      <p:cBhvr>
                                        <p:cTn id="57" dur="500"/>
                                        <p:tgtEl>
                                          <p:spTgt spid="13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5"/>
          <p:cNvSpPr txBox="1">
            <a:spLocks noGrp="1"/>
          </p:cNvSpPr>
          <p:nvPr>
            <p:ph type="title"/>
          </p:nvPr>
        </p:nvSpPr>
        <p:spPr>
          <a:xfrm>
            <a:off x="457200" y="0"/>
            <a:ext cx="8229600" cy="9144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Syllabus</a:t>
            </a:r>
            <a:endParaRPr/>
          </a:p>
        </p:txBody>
      </p:sp>
      <p:sp>
        <p:nvSpPr>
          <p:cNvPr id="140" name="Google Shape;140;p5"/>
          <p:cNvSpPr txBox="1">
            <a:spLocks noGrp="1"/>
          </p:cNvSpPr>
          <p:nvPr>
            <p:ph type="body" idx="1"/>
          </p:nvPr>
        </p:nvSpPr>
        <p:spPr>
          <a:xfrm>
            <a:off x="457200" y="838200"/>
            <a:ext cx="8229600" cy="54864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660"/>
              <a:buNone/>
            </a:pPr>
            <a:r>
              <a:rPr lang="en-US" sz="2800"/>
              <a:t> </a:t>
            </a:r>
            <a:endParaRPr sz="2800"/>
          </a:p>
          <a:p>
            <a:pPr marL="274320" lvl="0" indent="-274320" algn="l" rtl="0">
              <a:spcBef>
                <a:spcPts val="560"/>
              </a:spcBef>
              <a:spcAft>
                <a:spcPts val="0"/>
              </a:spcAft>
              <a:buSzPts val="2660"/>
              <a:buNone/>
            </a:pPr>
            <a:r>
              <a:rPr lang="en-US" sz="2800" u="sng">
                <a:solidFill>
                  <a:schemeClr val="hlink"/>
                </a:solidFill>
                <a:hlinkClick r:id="rId3"/>
              </a:rPr>
              <a:t>Sim n Mod PPT\SimulationnModeling Review final.docx</a:t>
            </a:r>
            <a:endParaRPr sz="2800"/>
          </a:p>
          <a:p>
            <a:pPr marL="274320" lvl="0" indent="-117475" algn="l" rtl="0">
              <a:spcBef>
                <a:spcPts val="520"/>
              </a:spcBef>
              <a:spcAft>
                <a:spcPts val="0"/>
              </a:spcAft>
              <a:buSzPts val="2470"/>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6"/>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Text Books and References</a:t>
            </a:r>
            <a:endParaRPr/>
          </a:p>
        </p:txBody>
      </p:sp>
      <p:sp>
        <p:nvSpPr>
          <p:cNvPr id="146" name="Google Shape;146;p6"/>
          <p:cNvSpPr txBox="1">
            <a:spLocks noGrp="1"/>
          </p:cNvSpPr>
          <p:nvPr>
            <p:ph type="body" idx="1"/>
          </p:nvPr>
        </p:nvSpPr>
        <p:spPr>
          <a:xfrm>
            <a:off x="457200" y="1935480"/>
            <a:ext cx="7086600" cy="4389120"/>
          </a:xfrm>
          <a:prstGeom prst="rect">
            <a:avLst/>
          </a:prstGeom>
          <a:noFill/>
          <a:ln>
            <a:noFill/>
          </a:ln>
        </p:spPr>
        <p:txBody>
          <a:bodyPr spcFirstLastPara="1" wrap="square" lIns="91425" tIns="45700" rIns="91425" bIns="45700" anchor="t" anchorCtr="0">
            <a:normAutofit fontScale="92500" lnSpcReduction="10000"/>
          </a:bodyPr>
          <a:lstStyle/>
          <a:p>
            <a:pPr marL="274320" lvl="0" indent="-274320" algn="l" rtl="0">
              <a:spcBef>
                <a:spcPts val="0"/>
              </a:spcBef>
              <a:spcAft>
                <a:spcPts val="0"/>
              </a:spcAft>
              <a:buSzPct val="95000"/>
              <a:buChar char="⚫"/>
            </a:pPr>
            <a:r>
              <a:rPr lang="en-US" b="1"/>
              <a:t>Text Books:</a:t>
            </a:r>
            <a:endParaRPr/>
          </a:p>
          <a:p>
            <a:pPr marL="640080" lvl="1" indent="-246888" algn="l" rtl="0">
              <a:spcBef>
                <a:spcPts val="444"/>
              </a:spcBef>
              <a:spcAft>
                <a:spcPts val="0"/>
              </a:spcAft>
              <a:buSzPct val="85000"/>
              <a:buChar char="⚫"/>
            </a:pPr>
            <a:r>
              <a:rPr lang="en-US"/>
              <a:t>1. G. Gorden, System Simulation, Prentice Hall of India.</a:t>
            </a:r>
            <a:endParaRPr/>
          </a:p>
          <a:p>
            <a:pPr marL="640080" lvl="1" indent="-246888" algn="l" rtl="0">
              <a:spcBef>
                <a:spcPts val="444"/>
              </a:spcBef>
              <a:spcAft>
                <a:spcPts val="0"/>
              </a:spcAft>
              <a:buSzPct val="85000"/>
              <a:buChar char="⚫"/>
            </a:pPr>
            <a:r>
              <a:rPr lang="en-US"/>
              <a:t>2. A.M. Law and WD. Kelton. Simulation Modeling and Analysi.r, McGraw Hill. 1991</a:t>
            </a:r>
            <a:endParaRPr/>
          </a:p>
          <a:p>
            <a:pPr marL="274320" lvl="0" indent="-274320" algn="l" rtl="0">
              <a:spcBef>
                <a:spcPts val="481"/>
              </a:spcBef>
              <a:spcAft>
                <a:spcPts val="0"/>
              </a:spcAft>
              <a:buSzPct val="95000"/>
              <a:buChar char="⚫"/>
            </a:pPr>
            <a:r>
              <a:rPr lang="en-US" b="1"/>
              <a:t>References:</a:t>
            </a:r>
            <a:endParaRPr/>
          </a:p>
          <a:p>
            <a:pPr marL="640080" lvl="1" indent="-246888" algn="l" rtl="0">
              <a:spcBef>
                <a:spcPts val="444"/>
              </a:spcBef>
              <a:spcAft>
                <a:spcPts val="0"/>
              </a:spcAft>
              <a:buSzPct val="85000"/>
              <a:buChar char="⚫"/>
            </a:pPr>
            <a:r>
              <a:rPr lang="en-US"/>
              <a:t>1. JA. Spriest and G.C. Vansteenkiste, Computer—Aided Modeling and Simulation, Academic Press.</a:t>
            </a:r>
            <a:endParaRPr/>
          </a:p>
          <a:p>
            <a:pPr marL="640080" lvl="1" indent="-246888" algn="l" rtl="0">
              <a:spcBef>
                <a:spcPts val="444"/>
              </a:spcBef>
              <a:spcAft>
                <a:spcPts val="0"/>
              </a:spcAft>
              <a:buSzPct val="85000"/>
              <a:buChar char="⚫"/>
            </a:pPr>
            <a:r>
              <a:rPr lang="en-US"/>
              <a:t>2. AM Law and R.F. Parry, Simulation: A Problem-solving approach, Addison, Wesley Publishing Company.</a:t>
            </a:r>
            <a:endParaRPr/>
          </a:p>
          <a:p>
            <a:pPr marL="640080" lvl="1" indent="-246888" algn="l" rtl="0">
              <a:spcBef>
                <a:spcPts val="444"/>
              </a:spcBef>
              <a:spcAft>
                <a:spcPts val="0"/>
              </a:spcAft>
              <a:buSzPct val="85000"/>
              <a:buChar char="⚫"/>
            </a:pPr>
            <a:r>
              <a:rPr lang="en-US"/>
              <a:t>3. Narsingh Deo, “System Simulation with Digital Computer”</a:t>
            </a:r>
            <a:endParaRPr/>
          </a:p>
          <a:p>
            <a:pPr marL="274320" lvl="0" indent="-129238" algn="l" rtl="0">
              <a:spcBef>
                <a:spcPts val="481"/>
              </a:spcBef>
              <a:spcAft>
                <a:spcPts val="0"/>
              </a:spcAft>
              <a:buSzPct val="95000"/>
              <a:buNone/>
            </a:pPr>
            <a:endParaRPr/>
          </a:p>
        </p:txBody>
      </p:sp>
      <p:pic>
        <p:nvPicPr>
          <p:cNvPr id="147" name="Google Shape;147;p6" descr="system-simulation-original-imadda6bhqrpneve.jpeg"/>
          <p:cNvPicPr preferRelativeResize="0"/>
          <p:nvPr/>
        </p:nvPicPr>
        <p:blipFill rotWithShape="1">
          <a:blip r:embed="rId3">
            <a:alphaModFix/>
          </a:blip>
          <a:srcRect/>
          <a:stretch/>
        </p:blipFill>
        <p:spPr>
          <a:xfrm>
            <a:off x="7543800" y="914400"/>
            <a:ext cx="1600200" cy="2113280"/>
          </a:xfrm>
          <a:prstGeom prst="rect">
            <a:avLst/>
          </a:prstGeom>
          <a:noFill/>
          <a:ln>
            <a:noFill/>
          </a:ln>
        </p:spPr>
      </p:pic>
      <p:pic>
        <p:nvPicPr>
          <p:cNvPr id="148" name="Google Shape;148;p6" descr="41LXbwbu4fL._SX342_BO1,204,203,200_.jpg"/>
          <p:cNvPicPr preferRelativeResize="0"/>
          <p:nvPr/>
        </p:nvPicPr>
        <p:blipFill rotWithShape="1">
          <a:blip r:embed="rId4">
            <a:alphaModFix/>
          </a:blip>
          <a:srcRect/>
          <a:stretch/>
        </p:blipFill>
        <p:spPr>
          <a:xfrm>
            <a:off x="7620001" y="4114800"/>
            <a:ext cx="1523999" cy="2210686"/>
          </a:xfrm>
          <a:prstGeom prst="rect">
            <a:avLst/>
          </a:prstGeom>
          <a:noFill/>
          <a:ln>
            <a:noFill/>
          </a:ln>
        </p:spPr>
      </p:pic>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6">
                                            <p:txEl>
                                              <p:pRg st="0" end="0"/>
                                            </p:txEl>
                                          </p:spTgt>
                                        </p:tgtEl>
                                        <p:attrNameLst>
                                          <p:attrName>style.visibility</p:attrName>
                                        </p:attrNameLst>
                                      </p:cBhvr>
                                      <p:to>
                                        <p:strVal val="visible"/>
                                      </p:to>
                                    </p:set>
                                    <p:animEffect transition="in" filter="fade">
                                      <p:cBhvr>
                                        <p:cTn id="7" dur="500"/>
                                        <p:tgtEl>
                                          <p:spTgt spid="1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6">
                                            <p:txEl>
                                              <p:pRg st="1" end="1"/>
                                            </p:txEl>
                                          </p:spTgt>
                                        </p:tgtEl>
                                        <p:attrNameLst>
                                          <p:attrName>style.visibility</p:attrName>
                                        </p:attrNameLst>
                                      </p:cBhvr>
                                      <p:to>
                                        <p:strVal val="visible"/>
                                      </p:to>
                                    </p:set>
                                    <p:animEffect transition="in" filter="fade">
                                      <p:cBhvr>
                                        <p:cTn id="12" dur="500"/>
                                        <p:tgtEl>
                                          <p:spTgt spid="14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6">
                                            <p:txEl>
                                              <p:pRg st="2" end="2"/>
                                            </p:txEl>
                                          </p:spTgt>
                                        </p:tgtEl>
                                        <p:attrNameLst>
                                          <p:attrName>style.visibility</p:attrName>
                                        </p:attrNameLst>
                                      </p:cBhvr>
                                      <p:to>
                                        <p:strVal val="visible"/>
                                      </p:to>
                                    </p:set>
                                    <p:animEffect transition="in" filter="fade">
                                      <p:cBhvr>
                                        <p:cTn id="17" dur="500"/>
                                        <p:tgtEl>
                                          <p:spTgt spid="14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6">
                                            <p:txEl>
                                              <p:pRg st="3" end="3"/>
                                            </p:txEl>
                                          </p:spTgt>
                                        </p:tgtEl>
                                        <p:attrNameLst>
                                          <p:attrName>style.visibility</p:attrName>
                                        </p:attrNameLst>
                                      </p:cBhvr>
                                      <p:to>
                                        <p:strVal val="visible"/>
                                      </p:to>
                                    </p:set>
                                    <p:animEffect transition="in" filter="fade">
                                      <p:cBhvr>
                                        <p:cTn id="22" dur="500"/>
                                        <p:tgtEl>
                                          <p:spTgt spid="14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6">
                                            <p:txEl>
                                              <p:pRg st="4" end="4"/>
                                            </p:txEl>
                                          </p:spTgt>
                                        </p:tgtEl>
                                        <p:attrNameLst>
                                          <p:attrName>style.visibility</p:attrName>
                                        </p:attrNameLst>
                                      </p:cBhvr>
                                      <p:to>
                                        <p:strVal val="visible"/>
                                      </p:to>
                                    </p:set>
                                    <p:animEffect transition="in" filter="fade">
                                      <p:cBhvr>
                                        <p:cTn id="27" dur="500"/>
                                        <p:tgtEl>
                                          <p:spTgt spid="14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6">
                                            <p:txEl>
                                              <p:pRg st="5" end="5"/>
                                            </p:txEl>
                                          </p:spTgt>
                                        </p:tgtEl>
                                        <p:attrNameLst>
                                          <p:attrName>style.visibility</p:attrName>
                                        </p:attrNameLst>
                                      </p:cBhvr>
                                      <p:to>
                                        <p:strVal val="visible"/>
                                      </p:to>
                                    </p:set>
                                    <p:animEffect transition="in" filter="fade">
                                      <p:cBhvr>
                                        <p:cTn id="32" dur="500"/>
                                        <p:tgtEl>
                                          <p:spTgt spid="14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6">
                                            <p:txEl>
                                              <p:pRg st="6" end="6"/>
                                            </p:txEl>
                                          </p:spTgt>
                                        </p:tgtEl>
                                        <p:attrNameLst>
                                          <p:attrName>style.visibility</p:attrName>
                                        </p:attrNameLst>
                                      </p:cBhvr>
                                      <p:to>
                                        <p:strVal val="visible"/>
                                      </p:to>
                                    </p:set>
                                    <p:animEffect transition="in" filter="fade">
                                      <p:cBhvr>
                                        <p:cTn id="37" dur="500"/>
                                        <p:tgtEl>
                                          <p:spTgt spid="14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46">
                                            <p:txEl>
                                              <p:pRg st="7" end="7"/>
                                            </p:txEl>
                                          </p:spTgt>
                                        </p:tgtEl>
                                        <p:attrNameLst>
                                          <p:attrName>style.visibility</p:attrName>
                                        </p:attrNameLst>
                                      </p:cBhvr>
                                      <p:to>
                                        <p:strVal val="visible"/>
                                      </p:to>
                                    </p:set>
                                    <p:animEffect transition="in" filter="fade">
                                      <p:cBhvr>
                                        <p:cTn id="42" dur="500"/>
                                        <p:tgtEl>
                                          <p:spTgt spid="14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47"/>
                                        </p:tgtEl>
                                        <p:attrNameLst>
                                          <p:attrName>style.visibility</p:attrName>
                                        </p:attrNameLst>
                                      </p:cBhvr>
                                      <p:to>
                                        <p:strVal val="visible"/>
                                      </p:to>
                                    </p:set>
                                    <p:animEffect transition="in" filter="fade">
                                      <p:cBhvr>
                                        <p:cTn id="47" dur="500"/>
                                        <p:tgtEl>
                                          <p:spTgt spid="14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48"/>
                                        </p:tgtEl>
                                        <p:attrNameLst>
                                          <p:attrName>style.visibility</p:attrName>
                                        </p:attrNameLst>
                                      </p:cBhvr>
                                      <p:to>
                                        <p:strVal val="visible"/>
                                      </p:to>
                                    </p:set>
                                    <p:animEffect transition="in" filter="fade">
                                      <p:cBhvr>
                                        <p:cTn id="52" dur="2000"/>
                                        <p:tgtEl>
                                          <p:spTgt spid="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7"/>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154" name="Google Shape;154;p7" descr="running_thumb[1].png"/>
          <p:cNvPicPr preferRelativeResize="0">
            <a:picLocks noGrp="1"/>
          </p:cNvPicPr>
          <p:nvPr>
            <p:ph type="body" idx="1"/>
          </p:nvPr>
        </p:nvPicPr>
        <p:blipFill rotWithShape="1">
          <a:blip r:embed="rId3">
            <a:alphaModFix/>
          </a:blip>
          <a:srcRect/>
          <a:stretch/>
        </p:blipFill>
        <p:spPr>
          <a:xfrm>
            <a:off x="1828800" y="807938"/>
            <a:ext cx="5638800" cy="562268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8"/>
          <p:cNvSpPr txBox="1">
            <a:spLocks noGrp="1"/>
          </p:cNvSpPr>
          <p:nvPr>
            <p:ph type="ctrTitle"/>
          </p:nvPr>
        </p:nvSpPr>
        <p:spPr>
          <a:xfrm>
            <a:off x="533400" y="1371600"/>
            <a:ext cx="8077200" cy="1828800"/>
          </a:xfrm>
          <a:prstGeom prst="rect">
            <a:avLst/>
          </a:prstGeom>
          <a:noFill/>
          <a:ln>
            <a:noFill/>
          </a:ln>
        </p:spPr>
        <p:txBody>
          <a:bodyPr spcFirstLastPara="1" wrap="square" lIns="0" tIns="0" rIns="18275" bIns="0" anchor="b" anchorCtr="0">
            <a:normAutofit fontScale="90000"/>
          </a:bodyPr>
          <a:lstStyle/>
          <a:p>
            <a:pPr marL="0" lvl="0" indent="0" algn="ctr" rtl="0">
              <a:spcBef>
                <a:spcPts val="0"/>
              </a:spcBef>
              <a:spcAft>
                <a:spcPts val="0"/>
              </a:spcAft>
              <a:buClr>
                <a:srgbClr val="4CE0EA"/>
              </a:buClr>
              <a:buSzPct val="100000"/>
              <a:buFont typeface="Calibri"/>
              <a:buNone/>
            </a:pPr>
            <a:r>
              <a:rPr lang="en-US"/>
              <a:t/>
            </a:r>
            <a:br>
              <a:rPr lang="en-US"/>
            </a:br>
            <a:r>
              <a:rPr lang="en-US" sz="6700"/>
              <a:t>Chapter 1</a:t>
            </a:r>
            <a:r>
              <a:rPr lang="en-US"/>
              <a:t/>
            </a:r>
            <a:br>
              <a:rPr lang="en-US"/>
            </a:br>
            <a:r>
              <a:rPr lang="en-US"/>
              <a:t/>
            </a:r>
            <a:br>
              <a:rPr lang="en-US"/>
            </a:br>
            <a:r>
              <a:rPr lang="en-US" sz="6000"/>
              <a:t>Introduction to Modeling and Simulation</a:t>
            </a:r>
            <a:endParaRPr/>
          </a:p>
        </p:txBody>
      </p:sp>
      <p:sp>
        <p:nvSpPr>
          <p:cNvPr id="160" name="Google Shape;160;p8"/>
          <p:cNvSpPr txBox="1">
            <a:spLocks noGrp="1"/>
          </p:cNvSpPr>
          <p:nvPr>
            <p:ph type="subTitle" idx="1"/>
          </p:nvPr>
        </p:nvSpPr>
        <p:spPr>
          <a:xfrm>
            <a:off x="533400" y="4191000"/>
            <a:ext cx="7854696" cy="1828800"/>
          </a:xfrm>
          <a:prstGeom prst="rect">
            <a:avLst/>
          </a:prstGeom>
          <a:noFill/>
          <a:ln>
            <a:noFill/>
          </a:ln>
        </p:spPr>
        <p:txBody>
          <a:bodyPr spcFirstLastPara="1" wrap="square" lIns="0" tIns="45700" rIns="18275" bIns="45700" anchor="t" anchorCtr="0">
            <a:normAutofit/>
          </a:bodyPr>
          <a:lstStyle/>
          <a:p>
            <a:pPr marL="0" lvl="0" indent="0" algn="r" rtl="0">
              <a:spcBef>
                <a:spcPts val="0"/>
              </a:spcBef>
              <a:spcAft>
                <a:spcPts val="0"/>
              </a:spcAft>
              <a:buSzPts val="2470"/>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9"/>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166" name="Google Shape;166;p9" descr="whatissytem.jpg"/>
          <p:cNvPicPr preferRelativeResize="0">
            <a:picLocks noGrp="1"/>
          </p:cNvPicPr>
          <p:nvPr>
            <p:ph type="body" idx="1"/>
          </p:nvPr>
        </p:nvPicPr>
        <p:blipFill rotWithShape="1">
          <a:blip r:embed="rId3">
            <a:alphaModFix/>
          </a:blip>
          <a:srcRect/>
          <a:stretch/>
        </p:blipFill>
        <p:spPr>
          <a:xfrm>
            <a:off x="1676400" y="685800"/>
            <a:ext cx="5196681" cy="519668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6"/>
                                        </p:tgtEl>
                                        <p:attrNameLst>
                                          <p:attrName>style.visibility</p:attrName>
                                        </p:attrNameLst>
                                      </p:cBhvr>
                                      <p:to>
                                        <p:strVal val="visible"/>
                                      </p:to>
                                    </p:set>
                                    <p:animEffect transition="in" filter="fade">
                                      <p:cBhvr>
                                        <p:cTn id="7" dur="500"/>
                                        <p:tgtEl>
                                          <p:spTgt spid="1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0"/>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172" name="Google Shape;172;p10" descr="embedded-systems-design_2_orig.jpg"/>
          <p:cNvPicPr preferRelativeResize="0">
            <a:picLocks noGrp="1"/>
          </p:cNvPicPr>
          <p:nvPr>
            <p:ph type="body" idx="1"/>
          </p:nvPr>
        </p:nvPicPr>
        <p:blipFill rotWithShape="1">
          <a:blip r:embed="rId3">
            <a:alphaModFix/>
          </a:blip>
          <a:srcRect/>
          <a:stretch/>
        </p:blipFill>
        <p:spPr>
          <a:xfrm>
            <a:off x="457200" y="1251625"/>
            <a:ext cx="2174876" cy="1110575"/>
          </a:xfrm>
          <a:prstGeom prst="rect">
            <a:avLst/>
          </a:prstGeom>
          <a:noFill/>
          <a:ln>
            <a:noFill/>
          </a:ln>
        </p:spPr>
      </p:pic>
      <p:pic>
        <p:nvPicPr>
          <p:cNvPr id="173" name="Google Shape;173;p10" descr="sys6.jpg"/>
          <p:cNvPicPr preferRelativeResize="0"/>
          <p:nvPr/>
        </p:nvPicPr>
        <p:blipFill rotWithShape="1">
          <a:blip r:embed="rId4">
            <a:alphaModFix/>
          </a:blip>
          <a:srcRect/>
          <a:stretch/>
        </p:blipFill>
        <p:spPr>
          <a:xfrm>
            <a:off x="7086600" y="4876800"/>
            <a:ext cx="1676400" cy="1513022"/>
          </a:xfrm>
          <a:prstGeom prst="rect">
            <a:avLst/>
          </a:prstGeom>
          <a:noFill/>
          <a:ln>
            <a:noFill/>
          </a:ln>
        </p:spPr>
      </p:pic>
      <p:pic>
        <p:nvPicPr>
          <p:cNvPr id="174" name="Google Shape;174;p10" descr="sys3.jpg"/>
          <p:cNvPicPr preferRelativeResize="0"/>
          <p:nvPr/>
        </p:nvPicPr>
        <p:blipFill rotWithShape="1">
          <a:blip r:embed="rId5">
            <a:alphaModFix/>
          </a:blip>
          <a:srcRect/>
          <a:stretch/>
        </p:blipFill>
        <p:spPr>
          <a:xfrm>
            <a:off x="3809999" y="2960076"/>
            <a:ext cx="2124075" cy="1307123"/>
          </a:xfrm>
          <a:prstGeom prst="rect">
            <a:avLst/>
          </a:prstGeom>
          <a:noFill/>
          <a:ln>
            <a:noFill/>
          </a:ln>
        </p:spPr>
      </p:pic>
      <p:pic>
        <p:nvPicPr>
          <p:cNvPr id="175" name="Google Shape;175;p10" descr="sys1.jpg"/>
          <p:cNvPicPr preferRelativeResize="0"/>
          <p:nvPr/>
        </p:nvPicPr>
        <p:blipFill rotWithShape="1">
          <a:blip r:embed="rId6">
            <a:alphaModFix/>
          </a:blip>
          <a:srcRect/>
          <a:stretch/>
        </p:blipFill>
        <p:spPr>
          <a:xfrm>
            <a:off x="6705600" y="990600"/>
            <a:ext cx="1857375" cy="1391238"/>
          </a:xfrm>
          <a:prstGeom prst="rect">
            <a:avLst/>
          </a:prstGeom>
          <a:noFill/>
          <a:ln>
            <a:noFill/>
          </a:ln>
        </p:spPr>
      </p:pic>
      <p:pic>
        <p:nvPicPr>
          <p:cNvPr id="176" name="Google Shape;176;p10" descr="sys4.png"/>
          <p:cNvPicPr preferRelativeResize="0"/>
          <p:nvPr/>
        </p:nvPicPr>
        <p:blipFill rotWithShape="1">
          <a:blip r:embed="rId7">
            <a:alphaModFix/>
          </a:blip>
          <a:srcRect/>
          <a:stretch/>
        </p:blipFill>
        <p:spPr>
          <a:xfrm>
            <a:off x="685801" y="5029200"/>
            <a:ext cx="2141796" cy="1257300"/>
          </a:xfrm>
          <a:prstGeom prst="rect">
            <a:avLst/>
          </a:prstGeom>
          <a:noFill/>
          <a:ln>
            <a:noFill/>
          </a:ln>
        </p:spPr>
      </p:pic>
      <p:pic>
        <p:nvPicPr>
          <p:cNvPr id="177" name="Google Shape;177;p10" descr="sys5.jpg"/>
          <p:cNvPicPr preferRelativeResize="0"/>
          <p:nvPr/>
        </p:nvPicPr>
        <p:blipFill rotWithShape="1">
          <a:blip r:embed="rId8">
            <a:alphaModFix/>
          </a:blip>
          <a:srcRect/>
          <a:stretch/>
        </p:blipFill>
        <p:spPr>
          <a:xfrm>
            <a:off x="6934200" y="2971800"/>
            <a:ext cx="1849249" cy="1152525"/>
          </a:xfrm>
          <a:prstGeom prst="rect">
            <a:avLst/>
          </a:prstGeom>
          <a:noFill/>
          <a:ln>
            <a:noFill/>
          </a:ln>
        </p:spPr>
      </p:pic>
      <p:pic>
        <p:nvPicPr>
          <p:cNvPr id="178" name="Google Shape;178;p10" descr="gallery-1477592023-df-tech-saw-2-nasa.gif"/>
          <p:cNvPicPr preferRelativeResize="0"/>
          <p:nvPr/>
        </p:nvPicPr>
        <p:blipFill rotWithShape="1">
          <a:blip r:embed="rId9">
            <a:alphaModFix/>
          </a:blip>
          <a:srcRect/>
          <a:stretch/>
        </p:blipFill>
        <p:spPr>
          <a:xfrm>
            <a:off x="457200" y="3124200"/>
            <a:ext cx="2450412" cy="1295400"/>
          </a:xfrm>
          <a:prstGeom prst="rect">
            <a:avLst/>
          </a:prstGeom>
          <a:noFill/>
          <a:ln>
            <a:noFill/>
          </a:ln>
        </p:spPr>
      </p:pic>
      <p:pic>
        <p:nvPicPr>
          <p:cNvPr id="179" name="Google Shape;179;p10" descr="mis.jpg"/>
          <p:cNvPicPr preferRelativeResize="0"/>
          <p:nvPr/>
        </p:nvPicPr>
        <p:blipFill rotWithShape="1">
          <a:blip r:embed="rId10">
            <a:alphaModFix/>
          </a:blip>
          <a:srcRect/>
          <a:stretch/>
        </p:blipFill>
        <p:spPr>
          <a:xfrm>
            <a:off x="3962400" y="914400"/>
            <a:ext cx="1524000" cy="1352550"/>
          </a:xfrm>
          <a:prstGeom prst="rect">
            <a:avLst/>
          </a:prstGeom>
          <a:noFill/>
          <a:ln>
            <a:noFill/>
          </a:ln>
        </p:spPr>
      </p:pic>
      <p:pic>
        <p:nvPicPr>
          <p:cNvPr id="180" name="Google Shape;180;p10" descr="sys6.jpg"/>
          <p:cNvPicPr preferRelativeResize="0"/>
          <p:nvPr/>
        </p:nvPicPr>
        <p:blipFill rotWithShape="1">
          <a:blip r:embed="rId11">
            <a:alphaModFix/>
          </a:blip>
          <a:srcRect/>
          <a:stretch/>
        </p:blipFill>
        <p:spPr>
          <a:xfrm>
            <a:off x="3962400" y="4876800"/>
            <a:ext cx="1972690" cy="1524000"/>
          </a:xfrm>
          <a:prstGeom prst="rect">
            <a:avLst/>
          </a:prstGeom>
          <a:noFill/>
          <a:ln>
            <a:noFill/>
          </a:ln>
        </p:spPr>
      </p:pic>
      <p:pic>
        <p:nvPicPr>
          <p:cNvPr id="181" name="Google Shape;181;p10" descr="images (3).jpg"/>
          <p:cNvPicPr preferRelativeResize="0"/>
          <p:nvPr/>
        </p:nvPicPr>
        <p:blipFill rotWithShape="1">
          <a:blip r:embed="rId12">
            <a:alphaModFix/>
          </a:blip>
          <a:srcRect/>
          <a:stretch/>
        </p:blipFill>
        <p:spPr>
          <a:xfrm>
            <a:off x="1524000" y="1828800"/>
            <a:ext cx="2609850" cy="1752600"/>
          </a:xfrm>
          <a:prstGeom prst="rect">
            <a:avLst/>
          </a:prstGeom>
          <a:noFill/>
          <a:ln>
            <a:noFill/>
          </a:ln>
        </p:spPr>
      </p:pic>
      <p:pic>
        <p:nvPicPr>
          <p:cNvPr id="182" name="Google Shape;182;p10" descr="images.jpg"/>
          <p:cNvPicPr preferRelativeResize="0"/>
          <p:nvPr/>
        </p:nvPicPr>
        <p:blipFill rotWithShape="1">
          <a:blip r:embed="rId13">
            <a:alphaModFix/>
          </a:blip>
          <a:srcRect/>
          <a:stretch/>
        </p:blipFill>
        <p:spPr>
          <a:xfrm>
            <a:off x="4876801" y="1600201"/>
            <a:ext cx="2561492" cy="1447800"/>
          </a:xfrm>
          <a:prstGeom prst="rect">
            <a:avLst/>
          </a:prstGeom>
          <a:noFill/>
          <a:ln>
            <a:noFill/>
          </a:ln>
        </p:spPr>
      </p:pic>
      <p:pic>
        <p:nvPicPr>
          <p:cNvPr id="183" name="Google Shape;183;p10" descr="images (2).jpg"/>
          <p:cNvPicPr preferRelativeResize="0"/>
          <p:nvPr/>
        </p:nvPicPr>
        <p:blipFill rotWithShape="1">
          <a:blip r:embed="rId14">
            <a:alphaModFix/>
          </a:blip>
          <a:srcRect/>
          <a:stretch/>
        </p:blipFill>
        <p:spPr>
          <a:xfrm>
            <a:off x="5943600" y="4267200"/>
            <a:ext cx="1277086" cy="1704975"/>
          </a:xfrm>
          <a:prstGeom prst="rect">
            <a:avLst/>
          </a:prstGeom>
          <a:noFill/>
          <a:ln>
            <a:noFill/>
          </a:ln>
        </p:spPr>
      </p:pic>
      <p:pic>
        <p:nvPicPr>
          <p:cNvPr id="184" name="Google Shape;184;p10" descr="images (1).jpg"/>
          <p:cNvPicPr preferRelativeResize="0"/>
          <p:nvPr/>
        </p:nvPicPr>
        <p:blipFill rotWithShape="1">
          <a:blip r:embed="rId15">
            <a:alphaModFix/>
          </a:blip>
          <a:srcRect/>
          <a:stretch/>
        </p:blipFill>
        <p:spPr>
          <a:xfrm>
            <a:off x="1828800" y="3962400"/>
            <a:ext cx="2438400" cy="114485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2"/>
                                        </p:tgtEl>
                                        <p:attrNameLst>
                                          <p:attrName>style.visibility</p:attrName>
                                        </p:attrNameLst>
                                      </p:cBhvr>
                                      <p:to>
                                        <p:strVal val="visible"/>
                                      </p:to>
                                    </p:set>
                                    <p:animEffect transition="in" filter="fade">
                                      <p:cBhvr>
                                        <p:cTn id="7" dur="500"/>
                                        <p:tgtEl>
                                          <p:spTgt spid="17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3"/>
                                        </p:tgtEl>
                                        <p:attrNameLst>
                                          <p:attrName>style.visibility</p:attrName>
                                        </p:attrNameLst>
                                      </p:cBhvr>
                                      <p:to>
                                        <p:strVal val="visible"/>
                                      </p:to>
                                    </p:set>
                                    <p:animEffect transition="in" filter="fade">
                                      <p:cBhvr>
                                        <p:cTn id="12" dur="500"/>
                                        <p:tgtEl>
                                          <p:spTgt spid="17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4"/>
                                        </p:tgtEl>
                                        <p:attrNameLst>
                                          <p:attrName>style.visibility</p:attrName>
                                        </p:attrNameLst>
                                      </p:cBhvr>
                                      <p:to>
                                        <p:strVal val="visible"/>
                                      </p:to>
                                    </p:set>
                                    <p:animEffect transition="in" filter="fade">
                                      <p:cBhvr>
                                        <p:cTn id="17" dur="500"/>
                                        <p:tgtEl>
                                          <p:spTgt spid="17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5"/>
                                        </p:tgtEl>
                                        <p:attrNameLst>
                                          <p:attrName>style.visibility</p:attrName>
                                        </p:attrNameLst>
                                      </p:cBhvr>
                                      <p:to>
                                        <p:strVal val="visible"/>
                                      </p:to>
                                    </p:set>
                                    <p:animEffect transition="in" filter="fade">
                                      <p:cBhvr>
                                        <p:cTn id="22" dur="500"/>
                                        <p:tgtEl>
                                          <p:spTgt spid="17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6"/>
                                        </p:tgtEl>
                                        <p:attrNameLst>
                                          <p:attrName>style.visibility</p:attrName>
                                        </p:attrNameLst>
                                      </p:cBhvr>
                                      <p:to>
                                        <p:strVal val="visible"/>
                                      </p:to>
                                    </p:set>
                                    <p:animEffect transition="in" filter="fade">
                                      <p:cBhvr>
                                        <p:cTn id="27" dur="500"/>
                                        <p:tgtEl>
                                          <p:spTgt spid="17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7"/>
                                        </p:tgtEl>
                                        <p:attrNameLst>
                                          <p:attrName>style.visibility</p:attrName>
                                        </p:attrNameLst>
                                      </p:cBhvr>
                                      <p:to>
                                        <p:strVal val="visible"/>
                                      </p:to>
                                    </p:set>
                                    <p:animEffect transition="in" filter="fade">
                                      <p:cBhvr>
                                        <p:cTn id="32" dur="500"/>
                                        <p:tgtEl>
                                          <p:spTgt spid="17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9"/>
                                        </p:tgtEl>
                                        <p:attrNameLst>
                                          <p:attrName>style.visibility</p:attrName>
                                        </p:attrNameLst>
                                      </p:cBhvr>
                                      <p:to>
                                        <p:strVal val="visible"/>
                                      </p:to>
                                    </p:set>
                                    <p:animEffect transition="in" filter="fade">
                                      <p:cBhvr>
                                        <p:cTn id="37" dur="500"/>
                                        <p:tgtEl>
                                          <p:spTgt spid="17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80"/>
                                        </p:tgtEl>
                                        <p:attrNameLst>
                                          <p:attrName>style.visibility</p:attrName>
                                        </p:attrNameLst>
                                      </p:cBhvr>
                                      <p:to>
                                        <p:strVal val="visible"/>
                                      </p:to>
                                    </p:set>
                                    <p:animEffect transition="in" filter="fade">
                                      <p:cBhvr>
                                        <p:cTn id="42" dur="500"/>
                                        <p:tgtEl>
                                          <p:spTgt spid="18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81"/>
                                        </p:tgtEl>
                                        <p:attrNameLst>
                                          <p:attrName>style.visibility</p:attrName>
                                        </p:attrNameLst>
                                      </p:cBhvr>
                                      <p:to>
                                        <p:strVal val="visible"/>
                                      </p:to>
                                    </p:set>
                                    <p:animEffect transition="in" filter="fade">
                                      <p:cBhvr>
                                        <p:cTn id="47" dur="500"/>
                                        <p:tgtEl>
                                          <p:spTgt spid="18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82"/>
                                        </p:tgtEl>
                                        <p:attrNameLst>
                                          <p:attrName>style.visibility</p:attrName>
                                        </p:attrNameLst>
                                      </p:cBhvr>
                                      <p:to>
                                        <p:strVal val="visible"/>
                                      </p:to>
                                    </p:set>
                                    <p:animEffect transition="in" filter="fade">
                                      <p:cBhvr>
                                        <p:cTn id="52" dur="500"/>
                                        <p:tgtEl>
                                          <p:spTgt spid="18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83"/>
                                        </p:tgtEl>
                                        <p:attrNameLst>
                                          <p:attrName>style.visibility</p:attrName>
                                        </p:attrNameLst>
                                      </p:cBhvr>
                                      <p:to>
                                        <p:strVal val="visible"/>
                                      </p:to>
                                    </p:set>
                                    <p:animEffect transition="in" filter="fade">
                                      <p:cBhvr>
                                        <p:cTn id="57" dur="500"/>
                                        <p:tgtEl>
                                          <p:spTgt spid="18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84"/>
                                        </p:tgtEl>
                                        <p:attrNameLst>
                                          <p:attrName>style.visibility</p:attrName>
                                        </p:attrNameLst>
                                      </p:cBhvr>
                                      <p:to>
                                        <p:strVal val="visible"/>
                                      </p:to>
                                    </p:set>
                                    <p:animEffect transition="in" filter="fade">
                                      <p:cBhvr>
                                        <p:cTn id="62" dur="500"/>
                                        <p:tgtEl>
                                          <p:spTgt spid="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1"/>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1.1 System Concept</a:t>
            </a:r>
            <a:endParaRPr/>
          </a:p>
        </p:txBody>
      </p:sp>
      <p:sp>
        <p:nvSpPr>
          <p:cNvPr id="190" name="Google Shape;190;p11"/>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It is very difficult to define system that covers all the aspects of  the system.</a:t>
            </a:r>
            <a:endParaRPr/>
          </a:p>
          <a:p>
            <a:pPr marL="274320" lvl="0" indent="-274320" algn="l" rtl="0">
              <a:spcBef>
                <a:spcPts val="520"/>
              </a:spcBef>
              <a:spcAft>
                <a:spcPts val="0"/>
              </a:spcAft>
              <a:buSzPts val="2470"/>
              <a:buChar char="⚫"/>
            </a:pPr>
            <a:r>
              <a:rPr lang="en-US"/>
              <a:t>A broader definition of a system is, “Any object which has some action to perform and is dependent on number of objects called entities, is a system”</a:t>
            </a:r>
            <a:endParaRPr/>
          </a:p>
          <a:p>
            <a:pPr marL="274320" lvl="0" indent="-274320" algn="l" rtl="0">
              <a:spcBef>
                <a:spcPts val="520"/>
              </a:spcBef>
              <a:spcAft>
                <a:spcPts val="0"/>
              </a:spcAft>
              <a:buSzPts val="2470"/>
              <a:buChar char="⚫"/>
            </a:pPr>
            <a:r>
              <a:rPr lang="en-US"/>
              <a:t>Examples:</a:t>
            </a:r>
            <a:endParaRPr/>
          </a:p>
          <a:p>
            <a:pPr marL="274320" lvl="0" indent="-117475" algn="l" rtl="0">
              <a:spcBef>
                <a:spcPts val="520"/>
              </a:spcBef>
              <a:spcAft>
                <a:spcPts val="0"/>
              </a:spcAft>
              <a:buSzPts val="2470"/>
              <a:buNone/>
            </a:pPr>
            <a:endParaRPr/>
          </a:p>
        </p:txBody>
      </p:sp>
      <p:pic>
        <p:nvPicPr>
          <p:cNvPr id="191" name="Google Shape;191;p11" descr="college.PNG"/>
          <p:cNvPicPr preferRelativeResize="0"/>
          <p:nvPr/>
        </p:nvPicPr>
        <p:blipFill rotWithShape="1">
          <a:blip r:embed="rId3">
            <a:alphaModFix/>
          </a:blip>
          <a:srcRect/>
          <a:stretch/>
        </p:blipFill>
        <p:spPr>
          <a:xfrm>
            <a:off x="2819400" y="4191000"/>
            <a:ext cx="5506219" cy="228628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0">
                                            <p:txEl>
                                              <p:pRg st="0" end="0"/>
                                            </p:txEl>
                                          </p:spTgt>
                                        </p:tgtEl>
                                        <p:attrNameLst>
                                          <p:attrName>style.visibility</p:attrName>
                                        </p:attrNameLst>
                                      </p:cBhvr>
                                      <p:to>
                                        <p:strVal val="visible"/>
                                      </p:to>
                                    </p:set>
                                    <p:animEffect transition="in" filter="fade">
                                      <p:cBhvr>
                                        <p:cTn id="7" dur="500"/>
                                        <p:tgtEl>
                                          <p:spTgt spid="1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0">
                                            <p:txEl>
                                              <p:pRg st="1" end="1"/>
                                            </p:txEl>
                                          </p:spTgt>
                                        </p:tgtEl>
                                        <p:attrNameLst>
                                          <p:attrName>style.visibility</p:attrName>
                                        </p:attrNameLst>
                                      </p:cBhvr>
                                      <p:to>
                                        <p:strVal val="visible"/>
                                      </p:to>
                                    </p:set>
                                    <p:animEffect transition="in" filter="fade">
                                      <p:cBhvr>
                                        <p:cTn id="12" dur="500"/>
                                        <p:tgtEl>
                                          <p:spTgt spid="19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0">
                                            <p:txEl>
                                              <p:pRg st="2" end="2"/>
                                            </p:txEl>
                                          </p:spTgt>
                                        </p:tgtEl>
                                        <p:attrNameLst>
                                          <p:attrName>style.visibility</p:attrName>
                                        </p:attrNameLst>
                                      </p:cBhvr>
                                      <p:to>
                                        <p:strVal val="visible"/>
                                      </p:to>
                                    </p:set>
                                    <p:animEffect transition="in" filter="fade">
                                      <p:cBhvr>
                                        <p:cTn id="17" dur="500"/>
                                        <p:tgtEl>
                                          <p:spTgt spid="19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0">
                                            <p:txEl>
                                              <p:pRg st="3" end="3"/>
                                            </p:txEl>
                                          </p:spTgt>
                                        </p:tgtEl>
                                        <p:attrNameLst>
                                          <p:attrName>style.visibility</p:attrName>
                                        </p:attrNameLst>
                                      </p:cBhvr>
                                      <p:to>
                                        <p:strVal val="visible"/>
                                      </p:to>
                                    </p:set>
                                    <p:animEffect transition="in" filter="fade">
                                      <p:cBhvr>
                                        <p:cTn id="22" dur="500"/>
                                        <p:tgtEl>
                                          <p:spTgt spid="19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1"/>
                                        </p:tgtEl>
                                        <p:attrNameLst>
                                          <p:attrName>style.visibility</p:attrName>
                                        </p:attrNameLst>
                                      </p:cBhvr>
                                      <p:to>
                                        <p:strVal val="visible"/>
                                      </p:to>
                                    </p:set>
                                    <p:animEffect transition="in" filter="fade">
                                      <p:cBhvr>
                                        <p:cTn id="27" dur="500"/>
                                        <p:tgtEl>
                                          <p:spTgt spid="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2"/>
          <p:cNvSpPr txBox="1">
            <a:spLocks noGrp="1"/>
          </p:cNvSpPr>
          <p:nvPr>
            <p:ph type="title"/>
          </p:nvPr>
        </p:nvSpPr>
        <p:spPr>
          <a:xfrm>
            <a:off x="457200" y="228600"/>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                              search</a:t>
            </a:r>
            <a:endParaRPr/>
          </a:p>
        </p:txBody>
      </p:sp>
      <p:pic>
        <p:nvPicPr>
          <p:cNvPr id="197" name="Google Shape;197;p12"/>
          <p:cNvPicPr preferRelativeResize="0">
            <a:picLocks noGrp="1"/>
          </p:cNvPicPr>
          <p:nvPr>
            <p:ph type="body" idx="1"/>
          </p:nvPr>
        </p:nvPicPr>
        <p:blipFill rotWithShape="1">
          <a:blip r:embed="rId3">
            <a:alphaModFix/>
          </a:blip>
          <a:srcRect/>
          <a:stretch/>
        </p:blipFill>
        <p:spPr>
          <a:xfrm>
            <a:off x="533400" y="1371600"/>
            <a:ext cx="8175296" cy="4876800"/>
          </a:xfrm>
          <a:prstGeom prst="rect">
            <a:avLst/>
          </a:prstGeom>
          <a:noFill/>
          <a:ln>
            <a:noFill/>
          </a:ln>
        </p:spPr>
      </p:pic>
      <p:pic>
        <p:nvPicPr>
          <p:cNvPr id="198" name="Google Shape;198;p12" descr="goo.png"/>
          <p:cNvPicPr preferRelativeResize="0"/>
          <p:nvPr/>
        </p:nvPicPr>
        <p:blipFill rotWithShape="1">
          <a:blip r:embed="rId4">
            <a:alphaModFix/>
          </a:blip>
          <a:srcRect/>
          <a:stretch/>
        </p:blipFill>
        <p:spPr>
          <a:xfrm>
            <a:off x="457200" y="228600"/>
            <a:ext cx="4114800" cy="12382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7"/>
                                        </p:tgtEl>
                                        <p:attrNameLst>
                                          <p:attrName>style.visibility</p:attrName>
                                        </p:attrNameLst>
                                      </p:cBhvr>
                                      <p:to>
                                        <p:strVal val="visible"/>
                                      </p:to>
                                    </p:set>
                                    <p:animEffect transition="in" filter="fade">
                                      <p:cBhvr>
                                        <p:cTn id="7" dur="500"/>
                                        <p:tgtEl>
                                          <p:spTgt spid="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3"/>
          <p:cNvSpPr txBox="1">
            <a:spLocks noGrp="1"/>
          </p:cNvSpPr>
          <p:nvPr>
            <p:ph type="title"/>
          </p:nvPr>
        </p:nvSpPr>
        <p:spPr>
          <a:xfrm>
            <a:off x="457200" y="152400"/>
            <a:ext cx="8229600" cy="9906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Google Images</a:t>
            </a:r>
            <a:endParaRPr/>
          </a:p>
        </p:txBody>
      </p:sp>
      <p:pic>
        <p:nvPicPr>
          <p:cNvPr id="204" name="Google Shape;204;p13" descr="s1.jpg"/>
          <p:cNvPicPr preferRelativeResize="0">
            <a:picLocks noGrp="1"/>
          </p:cNvPicPr>
          <p:nvPr>
            <p:ph type="body" idx="1"/>
          </p:nvPr>
        </p:nvPicPr>
        <p:blipFill rotWithShape="1">
          <a:blip r:embed="rId3">
            <a:alphaModFix/>
          </a:blip>
          <a:srcRect/>
          <a:stretch/>
        </p:blipFill>
        <p:spPr>
          <a:xfrm>
            <a:off x="431276" y="1524000"/>
            <a:ext cx="3458852" cy="2590800"/>
          </a:xfrm>
          <a:prstGeom prst="rect">
            <a:avLst/>
          </a:prstGeom>
          <a:noFill/>
          <a:ln>
            <a:noFill/>
          </a:ln>
        </p:spPr>
      </p:pic>
      <p:pic>
        <p:nvPicPr>
          <p:cNvPr id="205" name="Google Shape;205;p13" descr="s2.jpg"/>
          <p:cNvPicPr preferRelativeResize="0"/>
          <p:nvPr/>
        </p:nvPicPr>
        <p:blipFill rotWithShape="1">
          <a:blip r:embed="rId4">
            <a:alphaModFix/>
          </a:blip>
          <a:srcRect/>
          <a:stretch/>
        </p:blipFill>
        <p:spPr>
          <a:xfrm>
            <a:off x="4876799" y="1676400"/>
            <a:ext cx="3488177" cy="2446930"/>
          </a:xfrm>
          <a:prstGeom prst="rect">
            <a:avLst/>
          </a:prstGeom>
          <a:noFill/>
          <a:ln>
            <a:noFill/>
          </a:ln>
        </p:spPr>
      </p:pic>
      <p:pic>
        <p:nvPicPr>
          <p:cNvPr id="206" name="Google Shape;206;p13" descr="s3.png"/>
          <p:cNvPicPr preferRelativeResize="0"/>
          <p:nvPr/>
        </p:nvPicPr>
        <p:blipFill rotWithShape="1">
          <a:blip r:embed="rId5">
            <a:alphaModFix/>
          </a:blip>
          <a:srcRect/>
          <a:stretch/>
        </p:blipFill>
        <p:spPr>
          <a:xfrm>
            <a:off x="2895600" y="4114799"/>
            <a:ext cx="3733800" cy="264302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                         video</a:t>
            </a:r>
            <a:endParaRPr/>
          </a:p>
        </p:txBody>
      </p:sp>
      <p:pic>
        <p:nvPicPr>
          <p:cNvPr id="212" name="Google Shape;212;p14" descr="you.png"/>
          <p:cNvPicPr preferRelativeResize="0">
            <a:picLocks noGrp="1"/>
          </p:cNvPicPr>
          <p:nvPr>
            <p:ph type="body" idx="1"/>
          </p:nvPr>
        </p:nvPicPr>
        <p:blipFill rotWithShape="1">
          <a:blip r:embed="rId3">
            <a:alphaModFix/>
          </a:blip>
          <a:srcRect/>
          <a:stretch/>
        </p:blipFill>
        <p:spPr>
          <a:xfrm>
            <a:off x="533400" y="609600"/>
            <a:ext cx="3305175" cy="1381125"/>
          </a:xfrm>
          <a:prstGeom prst="rect">
            <a:avLst/>
          </a:prstGeom>
          <a:noFill/>
          <a:ln>
            <a:noFill/>
          </a:ln>
        </p:spPr>
      </p:pic>
      <p:pic>
        <p:nvPicPr>
          <p:cNvPr id="213" name="Google Shape;213;p14"/>
          <p:cNvPicPr preferRelativeResize="0"/>
          <p:nvPr/>
        </p:nvPicPr>
        <p:blipFill rotWithShape="1">
          <a:blip r:embed="rId4">
            <a:alphaModFix/>
          </a:blip>
          <a:srcRect/>
          <a:stretch/>
        </p:blipFill>
        <p:spPr>
          <a:xfrm>
            <a:off x="990600" y="2057399"/>
            <a:ext cx="7467600" cy="421558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3"/>
                                        </p:tgtEl>
                                        <p:attrNameLst>
                                          <p:attrName>style.visibility</p:attrName>
                                        </p:attrNameLst>
                                      </p:cBhvr>
                                      <p:to>
                                        <p:strVal val="visible"/>
                                      </p:to>
                                    </p:set>
                                    <p:animEffect transition="in" filter="fade">
                                      <p:cBhvr>
                                        <p:cTn id="7" dur="500"/>
                                        <p:tgtEl>
                                          <p:spTgt spid="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System cont..</a:t>
            </a:r>
            <a:endParaRPr/>
          </a:p>
        </p:txBody>
      </p:sp>
      <p:sp>
        <p:nvSpPr>
          <p:cNvPr id="219" name="Google Shape;219;p15"/>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85000" lnSpcReduction="20000"/>
          </a:bodyPr>
          <a:lstStyle/>
          <a:p>
            <a:pPr marL="274320" lvl="0" indent="-274320" algn="l" rtl="0">
              <a:spcBef>
                <a:spcPts val="0"/>
              </a:spcBef>
              <a:spcAft>
                <a:spcPts val="0"/>
              </a:spcAft>
              <a:buSzPct val="95000"/>
              <a:buChar char="⚫"/>
            </a:pPr>
            <a:r>
              <a:rPr lang="en-US"/>
              <a:t>In other words-A set of detailed methods, procedures and routines created to carry out a specific activity, perform a duty, or solve a problem.</a:t>
            </a:r>
            <a:endParaRPr/>
          </a:p>
          <a:p>
            <a:pPr marL="274320" lvl="0" indent="-141001" algn="l" rtl="0">
              <a:spcBef>
                <a:spcPts val="442"/>
              </a:spcBef>
              <a:spcAft>
                <a:spcPts val="0"/>
              </a:spcAft>
              <a:buSzPct val="95000"/>
              <a:buNone/>
            </a:pPr>
            <a:endParaRPr/>
          </a:p>
          <a:p>
            <a:pPr marL="274320" lvl="0" indent="-274320" algn="l" rtl="0">
              <a:spcBef>
                <a:spcPts val="442"/>
              </a:spcBef>
              <a:spcAft>
                <a:spcPts val="0"/>
              </a:spcAft>
              <a:buSzPct val="95000"/>
              <a:buChar char="⚫"/>
            </a:pPr>
            <a:r>
              <a:rPr lang="en-US"/>
              <a:t>A system is defined as an aggregation or assemblage of objects joined in some regular interaction or interdependence  to achieve system’s objectives.</a:t>
            </a:r>
            <a:endParaRPr/>
          </a:p>
          <a:p>
            <a:pPr marL="274320" lvl="0" indent="-274320" algn="l" rtl="0">
              <a:spcBef>
                <a:spcPts val="442"/>
              </a:spcBef>
              <a:spcAft>
                <a:spcPts val="0"/>
              </a:spcAft>
              <a:buSzPct val="95000"/>
              <a:buChar char="⚫"/>
            </a:pPr>
            <a:r>
              <a:rPr lang="en-US"/>
              <a:t>Systems are of two types :-</a:t>
            </a:r>
            <a:endParaRPr/>
          </a:p>
          <a:p>
            <a:pPr marL="274320" lvl="0" indent="-274320" algn="l" rtl="0">
              <a:spcBef>
                <a:spcPts val="442"/>
              </a:spcBef>
              <a:spcAft>
                <a:spcPts val="0"/>
              </a:spcAft>
              <a:buSzPct val="95000"/>
              <a:buNone/>
            </a:pPr>
            <a:r>
              <a:rPr lang="en-US"/>
              <a:t>		</a:t>
            </a:r>
            <a:r>
              <a:rPr lang="en-US" b="1"/>
              <a:t>• Static System</a:t>
            </a:r>
            <a:endParaRPr/>
          </a:p>
          <a:p>
            <a:pPr marL="274320" lvl="0" indent="-274320" algn="l" rtl="0">
              <a:spcBef>
                <a:spcPts val="442"/>
              </a:spcBef>
              <a:spcAft>
                <a:spcPts val="0"/>
              </a:spcAft>
              <a:buSzPct val="95000"/>
              <a:buNone/>
            </a:pPr>
            <a:r>
              <a:rPr lang="en-US" b="1"/>
              <a:t> 		• Dynamic System </a:t>
            </a:r>
            <a:endParaRPr/>
          </a:p>
          <a:p>
            <a:pPr marL="274320" lvl="0" indent="-274320" algn="l" rtl="0">
              <a:spcBef>
                <a:spcPts val="442"/>
              </a:spcBef>
              <a:spcAft>
                <a:spcPts val="0"/>
              </a:spcAft>
              <a:buSzPct val="95000"/>
              <a:buChar char="⚫"/>
            </a:pPr>
            <a:r>
              <a:rPr lang="en-US"/>
              <a:t>In static systems there are no changes over time where as in dynamic systems the interactions cause changes over time. </a:t>
            </a:r>
            <a:br>
              <a:rPr lang="en-US"/>
            </a:br>
            <a:r>
              <a:rPr lang="en-US"/>
              <a:t/>
            </a:r>
            <a:br>
              <a:rPr lang="en-US"/>
            </a:b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9">
                                            <p:txEl>
                                              <p:pRg st="0" end="0"/>
                                            </p:txEl>
                                          </p:spTgt>
                                        </p:tgtEl>
                                        <p:attrNameLst>
                                          <p:attrName>style.visibility</p:attrName>
                                        </p:attrNameLst>
                                      </p:cBhvr>
                                      <p:to>
                                        <p:strVal val="visible"/>
                                      </p:to>
                                    </p:set>
                                    <p:animEffect transition="in" filter="fade">
                                      <p:cBhvr>
                                        <p:cTn id="7" dur="500"/>
                                        <p:tgtEl>
                                          <p:spTgt spid="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9">
                                            <p:txEl>
                                              <p:pRg st="1" end="1"/>
                                            </p:txEl>
                                          </p:spTgt>
                                        </p:tgtEl>
                                        <p:attrNameLst>
                                          <p:attrName>style.visibility</p:attrName>
                                        </p:attrNameLst>
                                      </p:cBhvr>
                                      <p:to>
                                        <p:strVal val="visible"/>
                                      </p:to>
                                    </p:set>
                                    <p:animEffect transition="in" filter="fade">
                                      <p:cBhvr>
                                        <p:cTn id="12" dur="500"/>
                                        <p:tgtEl>
                                          <p:spTgt spid="2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9">
                                            <p:txEl>
                                              <p:pRg st="2" end="2"/>
                                            </p:txEl>
                                          </p:spTgt>
                                        </p:tgtEl>
                                        <p:attrNameLst>
                                          <p:attrName>style.visibility</p:attrName>
                                        </p:attrNameLst>
                                      </p:cBhvr>
                                      <p:to>
                                        <p:strVal val="visible"/>
                                      </p:to>
                                    </p:set>
                                    <p:animEffect transition="in" filter="fade">
                                      <p:cBhvr>
                                        <p:cTn id="17" dur="500"/>
                                        <p:tgtEl>
                                          <p:spTgt spid="2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9">
                                            <p:txEl>
                                              <p:pRg st="3" end="3"/>
                                            </p:txEl>
                                          </p:spTgt>
                                        </p:tgtEl>
                                        <p:attrNameLst>
                                          <p:attrName>style.visibility</p:attrName>
                                        </p:attrNameLst>
                                      </p:cBhvr>
                                      <p:to>
                                        <p:strVal val="visible"/>
                                      </p:to>
                                    </p:set>
                                    <p:animEffect transition="in" filter="fade">
                                      <p:cBhvr>
                                        <p:cTn id="22" dur="500"/>
                                        <p:tgtEl>
                                          <p:spTgt spid="2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9">
                                            <p:txEl>
                                              <p:pRg st="4" end="4"/>
                                            </p:txEl>
                                          </p:spTgt>
                                        </p:tgtEl>
                                        <p:attrNameLst>
                                          <p:attrName>style.visibility</p:attrName>
                                        </p:attrNameLst>
                                      </p:cBhvr>
                                      <p:to>
                                        <p:strVal val="visible"/>
                                      </p:to>
                                    </p:set>
                                    <p:animEffect transition="in" filter="fade">
                                      <p:cBhvr>
                                        <p:cTn id="27" dur="500"/>
                                        <p:tgtEl>
                                          <p:spTgt spid="2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9">
                                            <p:txEl>
                                              <p:pRg st="5" end="5"/>
                                            </p:txEl>
                                          </p:spTgt>
                                        </p:tgtEl>
                                        <p:attrNameLst>
                                          <p:attrName>style.visibility</p:attrName>
                                        </p:attrNameLst>
                                      </p:cBhvr>
                                      <p:to>
                                        <p:strVal val="visible"/>
                                      </p:to>
                                    </p:set>
                                    <p:animEffect transition="in" filter="fade">
                                      <p:cBhvr>
                                        <p:cTn id="32" dur="500"/>
                                        <p:tgtEl>
                                          <p:spTgt spid="21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19">
                                            <p:txEl>
                                              <p:pRg st="6" end="6"/>
                                            </p:txEl>
                                          </p:spTgt>
                                        </p:tgtEl>
                                        <p:attrNameLst>
                                          <p:attrName>style.visibility</p:attrName>
                                        </p:attrNameLst>
                                      </p:cBhvr>
                                      <p:to>
                                        <p:strVal val="visible"/>
                                      </p:to>
                                    </p:set>
                                    <p:animEffect transition="in" filter="fade">
                                      <p:cBhvr>
                                        <p:cTn id="37" dur="500"/>
                                        <p:tgtEl>
                                          <p:spTgt spid="2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6"/>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An Aircraft System</a:t>
            </a:r>
            <a:endParaRPr/>
          </a:p>
        </p:txBody>
      </p:sp>
      <p:pic>
        <p:nvPicPr>
          <p:cNvPr id="225" name="Google Shape;225;p16" descr="aircraft.PNG"/>
          <p:cNvPicPr preferRelativeResize="0">
            <a:picLocks noGrp="1"/>
          </p:cNvPicPr>
          <p:nvPr>
            <p:ph type="body" idx="1"/>
          </p:nvPr>
        </p:nvPicPr>
        <p:blipFill rotWithShape="1">
          <a:blip r:embed="rId3">
            <a:alphaModFix/>
          </a:blip>
          <a:srcRect/>
          <a:stretch/>
        </p:blipFill>
        <p:spPr>
          <a:xfrm>
            <a:off x="1447800" y="2819400"/>
            <a:ext cx="7101260" cy="2819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
                                        </p:tgtEl>
                                        <p:attrNameLst>
                                          <p:attrName>style.visibility</p:attrName>
                                        </p:attrNameLst>
                                      </p:cBhvr>
                                      <p:to>
                                        <p:strVal val="visible"/>
                                      </p:to>
                                    </p:set>
                                    <p:animEffect transition="in" filter="fade">
                                      <p:cBhvr>
                                        <p:cTn id="7" dur="500"/>
                                        <p:tgtEl>
                                          <p:spTgt spid="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7"/>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TRON </a:t>
            </a:r>
            <a:endParaRPr/>
          </a:p>
        </p:txBody>
      </p:sp>
      <p:pic>
        <p:nvPicPr>
          <p:cNvPr id="231" name="Google Shape;231;p17" descr="tron-banner.jpg"/>
          <p:cNvPicPr preferRelativeResize="0">
            <a:picLocks noGrp="1"/>
          </p:cNvPicPr>
          <p:nvPr>
            <p:ph type="body" idx="1"/>
          </p:nvPr>
        </p:nvPicPr>
        <p:blipFill rotWithShape="1">
          <a:blip r:embed="rId3">
            <a:alphaModFix/>
          </a:blip>
          <a:srcRect/>
          <a:stretch/>
        </p:blipFill>
        <p:spPr>
          <a:xfrm>
            <a:off x="457200" y="1904999"/>
            <a:ext cx="8229600" cy="242178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8"/>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An Aircraft System cont...</a:t>
            </a:r>
            <a:endParaRPr/>
          </a:p>
        </p:txBody>
      </p:sp>
      <p:sp>
        <p:nvSpPr>
          <p:cNvPr id="238" name="Google Shape;238;p18"/>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Consider an aircraft flying under the control of an autopilot. </a:t>
            </a:r>
            <a:endParaRPr/>
          </a:p>
          <a:p>
            <a:pPr marL="274320" lvl="0" indent="-274320" algn="l" rtl="0">
              <a:spcBef>
                <a:spcPts val="520"/>
              </a:spcBef>
              <a:spcAft>
                <a:spcPts val="0"/>
              </a:spcAft>
              <a:buSzPts val="2470"/>
              <a:buChar char="⚫"/>
            </a:pPr>
            <a:r>
              <a:rPr lang="en-US"/>
              <a:t>A gyroscope in the autopilot detects the difference between the actual heading and desired heading.</a:t>
            </a:r>
            <a:endParaRPr/>
          </a:p>
          <a:p>
            <a:pPr marL="274320" lvl="0" indent="-274320" algn="l" rtl="0">
              <a:spcBef>
                <a:spcPts val="520"/>
              </a:spcBef>
              <a:spcAft>
                <a:spcPts val="0"/>
              </a:spcAft>
              <a:buSzPts val="2470"/>
              <a:buChar char="⚫"/>
            </a:pPr>
            <a:r>
              <a:rPr lang="en-US"/>
              <a:t>It sends a signal to move the control surfaces. </a:t>
            </a:r>
            <a:endParaRPr/>
          </a:p>
          <a:p>
            <a:pPr marL="274320" lvl="0" indent="-274320" algn="l" rtl="0">
              <a:spcBef>
                <a:spcPts val="520"/>
              </a:spcBef>
              <a:spcAft>
                <a:spcPts val="0"/>
              </a:spcAft>
              <a:buSzPts val="2470"/>
              <a:buChar char="⚫"/>
            </a:pPr>
            <a:r>
              <a:rPr lang="en-US"/>
              <a:t>In response to the control surface movement the airframe steer towards the desired heading to the desired destination.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8">
                                            <p:txEl>
                                              <p:pRg st="0" end="0"/>
                                            </p:txEl>
                                          </p:spTgt>
                                        </p:tgtEl>
                                        <p:attrNameLst>
                                          <p:attrName>style.visibility</p:attrName>
                                        </p:attrNameLst>
                                      </p:cBhvr>
                                      <p:to>
                                        <p:strVal val="visible"/>
                                      </p:to>
                                    </p:set>
                                    <p:animEffect transition="in" filter="fade">
                                      <p:cBhvr>
                                        <p:cTn id="7" dur="500"/>
                                        <p:tgtEl>
                                          <p:spTgt spid="2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8">
                                            <p:txEl>
                                              <p:pRg st="1" end="1"/>
                                            </p:txEl>
                                          </p:spTgt>
                                        </p:tgtEl>
                                        <p:attrNameLst>
                                          <p:attrName>style.visibility</p:attrName>
                                        </p:attrNameLst>
                                      </p:cBhvr>
                                      <p:to>
                                        <p:strVal val="visible"/>
                                      </p:to>
                                    </p:set>
                                    <p:animEffect transition="in" filter="fade">
                                      <p:cBhvr>
                                        <p:cTn id="12" dur="500"/>
                                        <p:tgtEl>
                                          <p:spTgt spid="23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8">
                                            <p:txEl>
                                              <p:pRg st="2" end="2"/>
                                            </p:txEl>
                                          </p:spTgt>
                                        </p:tgtEl>
                                        <p:attrNameLst>
                                          <p:attrName>style.visibility</p:attrName>
                                        </p:attrNameLst>
                                      </p:cBhvr>
                                      <p:to>
                                        <p:strVal val="visible"/>
                                      </p:to>
                                    </p:set>
                                    <p:animEffect transition="in" filter="fade">
                                      <p:cBhvr>
                                        <p:cTn id="17" dur="500"/>
                                        <p:tgtEl>
                                          <p:spTgt spid="23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8">
                                            <p:txEl>
                                              <p:pRg st="3" end="3"/>
                                            </p:txEl>
                                          </p:spTgt>
                                        </p:tgtEl>
                                        <p:attrNameLst>
                                          <p:attrName>style.visibility</p:attrName>
                                        </p:attrNameLst>
                                      </p:cBhvr>
                                      <p:to>
                                        <p:strVal val="visible"/>
                                      </p:to>
                                    </p:set>
                                    <p:animEffect transition="in" filter="fade">
                                      <p:cBhvr>
                                        <p:cTn id="22" dur="500"/>
                                        <p:tgtEl>
                                          <p:spTgt spid="23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9"/>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A factory System</a:t>
            </a:r>
            <a:endParaRPr/>
          </a:p>
        </p:txBody>
      </p:sp>
      <p:pic>
        <p:nvPicPr>
          <p:cNvPr id="244" name="Google Shape;244;p19" descr="factory.PNG"/>
          <p:cNvPicPr preferRelativeResize="0">
            <a:picLocks noGrp="1"/>
          </p:cNvPicPr>
          <p:nvPr>
            <p:ph type="body" idx="1"/>
          </p:nvPr>
        </p:nvPicPr>
        <p:blipFill rotWithShape="1">
          <a:blip r:embed="rId3">
            <a:alphaModFix/>
          </a:blip>
          <a:srcRect/>
          <a:stretch/>
        </p:blipFill>
        <p:spPr>
          <a:xfrm>
            <a:off x="609600" y="2209800"/>
            <a:ext cx="7224038" cy="259174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4"/>
                                        </p:tgtEl>
                                        <p:attrNameLst>
                                          <p:attrName>style.visibility</p:attrName>
                                        </p:attrNameLst>
                                      </p:cBhvr>
                                      <p:to>
                                        <p:strVal val="visible"/>
                                      </p:to>
                                    </p:set>
                                    <p:animEffect transition="in" filter="fade">
                                      <p:cBhvr>
                                        <p:cTn id="7" dur="500"/>
                                        <p:tgtEl>
                                          <p:spTgt spid="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0"/>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A factory System…</a:t>
            </a:r>
            <a:endParaRPr/>
          </a:p>
        </p:txBody>
      </p:sp>
      <p:sp>
        <p:nvSpPr>
          <p:cNvPr id="250" name="Google Shape;250;p20"/>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Consider a factory that make assembles parts for a product.</a:t>
            </a:r>
            <a:endParaRPr/>
          </a:p>
          <a:p>
            <a:pPr marL="274320" lvl="0" indent="-274320" algn="l" rtl="0">
              <a:spcBef>
                <a:spcPts val="520"/>
              </a:spcBef>
              <a:spcAft>
                <a:spcPts val="0"/>
              </a:spcAft>
              <a:buSzPts val="2470"/>
              <a:buChar char="⚫"/>
            </a:pPr>
            <a:r>
              <a:rPr lang="en-US"/>
              <a:t> Two major components of the factory system are the fabrication department that makes the part &amp; the assembly department that produces the product.</a:t>
            </a:r>
            <a:endParaRPr/>
          </a:p>
          <a:p>
            <a:pPr marL="274320" lvl="0" indent="-274320" algn="l" rtl="0">
              <a:spcBef>
                <a:spcPts val="520"/>
              </a:spcBef>
              <a:spcAft>
                <a:spcPts val="0"/>
              </a:spcAft>
              <a:buSzPts val="2470"/>
              <a:buChar char="⚫"/>
            </a:pPr>
            <a:r>
              <a:rPr lang="en-US"/>
              <a:t> A purchasing department maintains &amp; a shipping department dispatches the finished product. </a:t>
            </a:r>
            <a:endParaRPr/>
          </a:p>
          <a:p>
            <a:pPr marL="274320" lvl="0" indent="-274320" algn="l" rtl="0">
              <a:spcBef>
                <a:spcPts val="520"/>
              </a:spcBef>
              <a:spcAft>
                <a:spcPts val="0"/>
              </a:spcAft>
              <a:buSzPts val="2470"/>
              <a:buChar char="⚫"/>
            </a:pPr>
            <a:r>
              <a:rPr lang="en-US"/>
              <a:t>A production control department receives order &amp; assigns work to the other department. </a:t>
            </a:r>
            <a:endParaRPr/>
          </a:p>
        </p:txBody>
      </p:sp>
      <p:pic>
        <p:nvPicPr>
          <p:cNvPr id="251" name="Google Shape;251;p20" descr="factory.jpg"/>
          <p:cNvPicPr preferRelativeResize="0"/>
          <p:nvPr/>
        </p:nvPicPr>
        <p:blipFill rotWithShape="1">
          <a:blip r:embed="rId3">
            <a:alphaModFix/>
          </a:blip>
          <a:srcRect/>
          <a:stretch/>
        </p:blipFill>
        <p:spPr>
          <a:xfrm>
            <a:off x="6324600" y="48065"/>
            <a:ext cx="2590800" cy="193313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0">
                                            <p:txEl>
                                              <p:pRg st="0" end="0"/>
                                            </p:txEl>
                                          </p:spTgt>
                                        </p:tgtEl>
                                        <p:attrNameLst>
                                          <p:attrName>style.visibility</p:attrName>
                                        </p:attrNameLst>
                                      </p:cBhvr>
                                      <p:to>
                                        <p:strVal val="visible"/>
                                      </p:to>
                                    </p:set>
                                    <p:animEffect transition="in" filter="fade">
                                      <p:cBhvr>
                                        <p:cTn id="7" dur="500"/>
                                        <p:tgtEl>
                                          <p:spTgt spid="2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0">
                                            <p:txEl>
                                              <p:pRg st="1" end="1"/>
                                            </p:txEl>
                                          </p:spTgt>
                                        </p:tgtEl>
                                        <p:attrNameLst>
                                          <p:attrName>style.visibility</p:attrName>
                                        </p:attrNameLst>
                                      </p:cBhvr>
                                      <p:to>
                                        <p:strVal val="visible"/>
                                      </p:to>
                                    </p:set>
                                    <p:animEffect transition="in" filter="fade">
                                      <p:cBhvr>
                                        <p:cTn id="12" dur="500"/>
                                        <p:tgtEl>
                                          <p:spTgt spid="2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0">
                                            <p:txEl>
                                              <p:pRg st="2" end="2"/>
                                            </p:txEl>
                                          </p:spTgt>
                                        </p:tgtEl>
                                        <p:attrNameLst>
                                          <p:attrName>style.visibility</p:attrName>
                                        </p:attrNameLst>
                                      </p:cBhvr>
                                      <p:to>
                                        <p:strVal val="visible"/>
                                      </p:to>
                                    </p:set>
                                    <p:animEffect transition="in" filter="fade">
                                      <p:cBhvr>
                                        <p:cTn id="17" dur="500"/>
                                        <p:tgtEl>
                                          <p:spTgt spid="25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0">
                                            <p:txEl>
                                              <p:pRg st="3" end="3"/>
                                            </p:txEl>
                                          </p:spTgt>
                                        </p:tgtEl>
                                        <p:attrNameLst>
                                          <p:attrName>style.visibility</p:attrName>
                                        </p:attrNameLst>
                                      </p:cBhvr>
                                      <p:to>
                                        <p:strVal val="visible"/>
                                      </p:to>
                                    </p:set>
                                    <p:animEffect transition="in" filter="fade">
                                      <p:cBhvr>
                                        <p:cTn id="22" dur="500"/>
                                        <p:tgtEl>
                                          <p:spTgt spid="25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Solar System-Assignment</a:t>
            </a:r>
            <a:endParaRPr/>
          </a:p>
        </p:txBody>
      </p:sp>
      <p:pic>
        <p:nvPicPr>
          <p:cNvPr id="257" name="Google Shape;257;p21" descr="solar-planetary-system-animation-2.gif"/>
          <p:cNvPicPr preferRelativeResize="0">
            <a:picLocks noGrp="1"/>
          </p:cNvPicPr>
          <p:nvPr>
            <p:ph type="body" idx="1"/>
          </p:nvPr>
        </p:nvPicPr>
        <p:blipFill rotWithShape="1">
          <a:blip r:embed="rId3">
            <a:alphaModFix/>
          </a:blip>
          <a:srcRect/>
          <a:stretch/>
        </p:blipFill>
        <p:spPr>
          <a:xfrm>
            <a:off x="990600" y="1879854"/>
            <a:ext cx="7162800" cy="497814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7"/>
                                        </p:tgtEl>
                                        <p:attrNameLst>
                                          <p:attrName>style.visibility</p:attrName>
                                        </p:attrNameLst>
                                      </p:cBhvr>
                                      <p:to>
                                        <p:strVal val="visible"/>
                                      </p:to>
                                    </p:set>
                                    <p:animEffect transition="in" filter="fade">
                                      <p:cBhvr>
                                        <p:cTn id="7" dur="500"/>
                                        <p:tgtEl>
                                          <p:spTgt spid="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Components of a system</a:t>
            </a:r>
            <a:endParaRPr/>
          </a:p>
        </p:txBody>
      </p:sp>
      <p:sp>
        <p:nvSpPr>
          <p:cNvPr id="263" name="Google Shape;263;p22"/>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Three basic components are:-</a:t>
            </a:r>
            <a:endParaRPr/>
          </a:p>
          <a:p>
            <a:pPr marL="914400" lvl="2" indent="-246887" algn="l" rtl="0">
              <a:spcBef>
                <a:spcPts val="420"/>
              </a:spcBef>
              <a:spcAft>
                <a:spcPts val="0"/>
              </a:spcAft>
              <a:buSzPts val="1470"/>
              <a:buNone/>
            </a:pPr>
            <a:r>
              <a:rPr lang="en-US"/>
              <a:t>• </a:t>
            </a:r>
            <a:r>
              <a:rPr lang="en-US" b="1"/>
              <a:t>Entity </a:t>
            </a:r>
            <a:endParaRPr/>
          </a:p>
          <a:p>
            <a:pPr marL="914400" lvl="2" indent="-246887" algn="l" rtl="0">
              <a:spcBef>
                <a:spcPts val="420"/>
              </a:spcBef>
              <a:spcAft>
                <a:spcPts val="0"/>
              </a:spcAft>
              <a:buSzPts val="1470"/>
              <a:buNone/>
            </a:pPr>
            <a:r>
              <a:rPr lang="en-US" b="1"/>
              <a:t>• Attributes </a:t>
            </a:r>
            <a:endParaRPr/>
          </a:p>
          <a:p>
            <a:pPr marL="914400" lvl="2" indent="-246887" algn="l" rtl="0">
              <a:spcBef>
                <a:spcPts val="420"/>
              </a:spcBef>
              <a:spcAft>
                <a:spcPts val="0"/>
              </a:spcAft>
              <a:buSzPts val="1470"/>
              <a:buNone/>
            </a:pPr>
            <a:r>
              <a:rPr lang="en-US" b="1"/>
              <a:t>• Activities </a:t>
            </a:r>
            <a:endParaRPr/>
          </a:p>
          <a:p>
            <a:pPr marL="914400" lvl="2" indent="-246887" algn="l" rtl="0">
              <a:spcBef>
                <a:spcPts val="420"/>
              </a:spcBef>
              <a:spcAft>
                <a:spcPts val="0"/>
              </a:spcAft>
              <a:buSzPts val="1470"/>
              <a:buNone/>
            </a:pPr>
            <a:endParaRPr/>
          </a:p>
          <a:p>
            <a:pPr marL="274320" lvl="0" indent="-274320" algn="l" rtl="0">
              <a:spcBef>
                <a:spcPts val="520"/>
              </a:spcBef>
              <a:spcAft>
                <a:spcPts val="0"/>
              </a:spcAft>
              <a:buSzPts val="2470"/>
              <a:buChar char="⚫"/>
            </a:pPr>
            <a:r>
              <a:rPr lang="en-US" b="1"/>
              <a:t>Entity: - </a:t>
            </a:r>
            <a:r>
              <a:rPr lang="en-US"/>
              <a:t>It is used to denote an object of interest in a system. </a:t>
            </a:r>
            <a:endParaRPr/>
          </a:p>
          <a:p>
            <a:pPr marL="274320" lvl="0" indent="-274320" algn="l" rtl="0">
              <a:spcBef>
                <a:spcPts val="520"/>
              </a:spcBef>
              <a:spcAft>
                <a:spcPts val="0"/>
              </a:spcAft>
              <a:buSzPts val="2470"/>
              <a:buChar char="⚫"/>
            </a:pPr>
            <a:r>
              <a:rPr lang="en-US" b="1"/>
              <a:t>Attribute: - </a:t>
            </a:r>
            <a:r>
              <a:rPr lang="en-US"/>
              <a:t>It denotes a property of an entity. </a:t>
            </a:r>
            <a:endParaRPr/>
          </a:p>
          <a:p>
            <a:pPr marL="274320" lvl="0" indent="-274320" algn="l" rtl="0">
              <a:spcBef>
                <a:spcPts val="520"/>
              </a:spcBef>
              <a:spcAft>
                <a:spcPts val="0"/>
              </a:spcAft>
              <a:buSzPts val="2470"/>
              <a:buChar char="⚫"/>
            </a:pPr>
            <a:r>
              <a:rPr lang="en-US" b="1"/>
              <a:t>Activity:-</a:t>
            </a:r>
            <a:r>
              <a:rPr lang="en-US"/>
              <a:t>Any process that causes changes in the system is called as an activity. </a:t>
            </a:r>
            <a:endParaRPr/>
          </a:p>
        </p:txBody>
      </p:sp>
      <p:pic>
        <p:nvPicPr>
          <p:cNvPr id="264" name="Google Shape;264;p22" descr="com.jpg"/>
          <p:cNvPicPr preferRelativeResize="0"/>
          <p:nvPr/>
        </p:nvPicPr>
        <p:blipFill rotWithShape="1">
          <a:blip r:embed="rId3">
            <a:alphaModFix/>
          </a:blip>
          <a:srcRect/>
          <a:stretch/>
        </p:blipFill>
        <p:spPr>
          <a:xfrm>
            <a:off x="6890327" y="838200"/>
            <a:ext cx="2253673" cy="1219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3">
                                            <p:txEl>
                                              <p:pRg st="0" end="0"/>
                                            </p:txEl>
                                          </p:spTgt>
                                        </p:tgtEl>
                                        <p:attrNameLst>
                                          <p:attrName>style.visibility</p:attrName>
                                        </p:attrNameLst>
                                      </p:cBhvr>
                                      <p:to>
                                        <p:strVal val="visible"/>
                                      </p:to>
                                    </p:set>
                                    <p:animEffect transition="in" filter="fade">
                                      <p:cBhvr>
                                        <p:cTn id="7" dur="500"/>
                                        <p:tgtEl>
                                          <p:spTgt spid="2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3">
                                            <p:txEl>
                                              <p:pRg st="1" end="1"/>
                                            </p:txEl>
                                          </p:spTgt>
                                        </p:tgtEl>
                                        <p:attrNameLst>
                                          <p:attrName>style.visibility</p:attrName>
                                        </p:attrNameLst>
                                      </p:cBhvr>
                                      <p:to>
                                        <p:strVal val="visible"/>
                                      </p:to>
                                    </p:set>
                                    <p:animEffect transition="in" filter="fade">
                                      <p:cBhvr>
                                        <p:cTn id="12" dur="500"/>
                                        <p:tgtEl>
                                          <p:spTgt spid="2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3">
                                            <p:txEl>
                                              <p:pRg st="2" end="2"/>
                                            </p:txEl>
                                          </p:spTgt>
                                        </p:tgtEl>
                                        <p:attrNameLst>
                                          <p:attrName>style.visibility</p:attrName>
                                        </p:attrNameLst>
                                      </p:cBhvr>
                                      <p:to>
                                        <p:strVal val="visible"/>
                                      </p:to>
                                    </p:set>
                                    <p:animEffect transition="in" filter="fade">
                                      <p:cBhvr>
                                        <p:cTn id="17" dur="500"/>
                                        <p:tgtEl>
                                          <p:spTgt spid="2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3">
                                            <p:txEl>
                                              <p:pRg st="3" end="3"/>
                                            </p:txEl>
                                          </p:spTgt>
                                        </p:tgtEl>
                                        <p:attrNameLst>
                                          <p:attrName>style.visibility</p:attrName>
                                        </p:attrNameLst>
                                      </p:cBhvr>
                                      <p:to>
                                        <p:strVal val="visible"/>
                                      </p:to>
                                    </p:set>
                                    <p:animEffect transition="in" filter="fade">
                                      <p:cBhvr>
                                        <p:cTn id="22" dur="500"/>
                                        <p:tgtEl>
                                          <p:spTgt spid="2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3">
                                            <p:txEl>
                                              <p:pRg st="4" end="4"/>
                                            </p:txEl>
                                          </p:spTgt>
                                        </p:tgtEl>
                                        <p:attrNameLst>
                                          <p:attrName>style.visibility</p:attrName>
                                        </p:attrNameLst>
                                      </p:cBhvr>
                                      <p:to>
                                        <p:strVal val="visible"/>
                                      </p:to>
                                    </p:set>
                                    <p:animEffect transition="in" filter="fade">
                                      <p:cBhvr>
                                        <p:cTn id="27" dur="500"/>
                                        <p:tgtEl>
                                          <p:spTgt spid="26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3">
                                            <p:txEl>
                                              <p:pRg st="5" end="5"/>
                                            </p:txEl>
                                          </p:spTgt>
                                        </p:tgtEl>
                                        <p:attrNameLst>
                                          <p:attrName>style.visibility</p:attrName>
                                        </p:attrNameLst>
                                      </p:cBhvr>
                                      <p:to>
                                        <p:strVal val="visible"/>
                                      </p:to>
                                    </p:set>
                                    <p:animEffect transition="in" filter="fade">
                                      <p:cBhvr>
                                        <p:cTn id="32" dur="500"/>
                                        <p:tgtEl>
                                          <p:spTgt spid="26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3">
                                            <p:txEl>
                                              <p:pRg st="6" end="6"/>
                                            </p:txEl>
                                          </p:spTgt>
                                        </p:tgtEl>
                                        <p:attrNameLst>
                                          <p:attrName>style.visibility</p:attrName>
                                        </p:attrNameLst>
                                      </p:cBhvr>
                                      <p:to>
                                        <p:strVal val="visible"/>
                                      </p:to>
                                    </p:set>
                                    <p:animEffect transition="in" filter="fade">
                                      <p:cBhvr>
                                        <p:cTn id="37" dur="500"/>
                                        <p:tgtEl>
                                          <p:spTgt spid="26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63">
                                            <p:txEl>
                                              <p:pRg st="7" end="7"/>
                                            </p:txEl>
                                          </p:spTgt>
                                        </p:tgtEl>
                                        <p:attrNameLst>
                                          <p:attrName>style.visibility</p:attrName>
                                        </p:attrNameLst>
                                      </p:cBhvr>
                                      <p:to>
                                        <p:strVal val="visible"/>
                                      </p:to>
                                    </p:set>
                                    <p:animEffect transition="in" filter="fade">
                                      <p:cBhvr>
                                        <p:cTn id="42" dur="500"/>
                                        <p:tgtEl>
                                          <p:spTgt spid="26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3"/>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Components of a system cont..</a:t>
            </a:r>
            <a:endParaRPr/>
          </a:p>
        </p:txBody>
      </p:sp>
      <p:sp>
        <p:nvSpPr>
          <p:cNvPr id="270" name="Google Shape;270;p23"/>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Example:- </a:t>
            </a:r>
            <a:endParaRPr/>
          </a:p>
          <a:p>
            <a:pPr marL="274320" lvl="0" indent="-274320" algn="l" rtl="0">
              <a:spcBef>
                <a:spcPts val="520"/>
              </a:spcBef>
              <a:spcAft>
                <a:spcPts val="0"/>
              </a:spcAft>
              <a:buSzPts val="2470"/>
              <a:buChar char="⚫"/>
            </a:pPr>
            <a:r>
              <a:rPr lang="en-US"/>
              <a:t>In the factory system the entities are the department, orders, parts and products.</a:t>
            </a:r>
            <a:endParaRPr/>
          </a:p>
          <a:p>
            <a:pPr marL="274320" lvl="0" indent="-274320" algn="l" rtl="0">
              <a:spcBef>
                <a:spcPts val="520"/>
              </a:spcBef>
              <a:spcAft>
                <a:spcPts val="0"/>
              </a:spcAft>
              <a:buSzPts val="2470"/>
              <a:buChar char="⚫"/>
            </a:pPr>
            <a:r>
              <a:rPr lang="en-US"/>
              <a:t>Attributes are such factors as the quantities for each order, type of part or number of machines in a department.</a:t>
            </a:r>
            <a:endParaRPr/>
          </a:p>
          <a:p>
            <a:pPr marL="274320" lvl="0" indent="-274320" algn="l" rtl="0">
              <a:spcBef>
                <a:spcPts val="520"/>
              </a:spcBef>
              <a:spcAft>
                <a:spcPts val="0"/>
              </a:spcAft>
              <a:buSzPts val="2470"/>
              <a:buChar char="⚫"/>
            </a:pPr>
            <a:r>
              <a:rPr lang="en-US"/>
              <a:t>The activities are the manufacturing process of the departments.</a:t>
            </a:r>
            <a:endParaRPr/>
          </a:p>
          <a:p>
            <a:pPr marL="274320" lvl="0" indent="-117475" algn="l" rtl="0">
              <a:spcBef>
                <a:spcPts val="520"/>
              </a:spcBef>
              <a:spcAft>
                <a:spcPts val="0"/>
              </a:spcAft>
              <a:buSzPts val="2470"/>
              <a:buNone/>
            </a:pPr>
            <a:endParaRPr/>
          </a:p>
        </p:txBody>
      </p:sp>
      <p:pic>
        <p:nvPicPr>
          <p:cNvPr id="271" name="Google Shape;271;p23" descr="product.jpg"/>
          <p:cNvPicPr preferRelativeResize="0"/>
          <p:nvPr/>
        </p:nvPicPr>
        <p:blipFill rotWithShape="1">
          <a:blip r:embed="rId3">
            <a:alphaModFix/>
          </a:blip>
          <a:srcRect/>
          <a:stretch/>
        </p:blipFill>
        <p:spPr>
          <a:xfrm>
            <a:off x="6858000" y="1752600"/>
            <a:ext cx="2032000" cy="1219200"/>
          </a:xfrm>
          <a:prstGeom prst="rect">
            <a:avLst/>
          </a:prstGeom>
          <a:noFill/>
          <a:ln>
            <a:noFill/>
          </a:ln>
        </p:spPr>
      </p:pic>
      <p:pic>
        <p:nvPicPr>
          <p:cNvPr id="272" name="Google Shape;272;p23" descr="quan.png"/>
          <p:cNvPicPr preferRelativeResize="0"/>
          <p:nvPr/>
        </p:nvPicPr>
        <p:blipFill rotWithShape="1">
          <a:blip r:embed="rId4">
            <a:alphaModFix/>
          </a:blip>
          <a:srcRect/>
          <a:stretch/>
        </p:blipFill>
        <p:spPr>
          <a:xfrm>
            <a:off x="6705600" y="3124200"/>
            <a:ext cx="2133600" cy="1275159"/>
          </a:xfrm>
          <a:prstGeom prst="rect">
            <a:avLst/>
          </a:prstGeom>
          <a:noFill/>
          <a:ln>
            <a:noFill/>
          </a:ln>
        </p:spPr>
      </p:pic>
      <p:pic>
        <p:nvPicPr>
          <p:cNvPr id="273" name="Google Shape;273;p23" descr="manufac.jpg"/>
          <p:cNvPicPr preferRelativeResize="0"/>
          <p:nvPr/>
        </p:nvPicPr>
        <p:blipFill rotWithShape="1">
          <a:blip r:embed="rId5">
            <a:alphaModFix/>
          </a:blip>
          <a:srcRect/>
          <a:stretch/>
        </p:blipFill>
        <p:spPr>
          <a:xfrm>
            <a:off x="6248400" y="4856480"/>
            <a:ext cx="2724150" cy="173538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0">
                                            <p:txEl>
                                              <p:pRg st="0" end="0"/>
                                            </p:txEl>
                                          </p:spTgt>
                                        </p:tgtEl>
                                        <p:attrNameLst>
                                          <p:attrName>style.visibility</p:attrName>
                                        </p:attrNameLst>
                                      </p:cBhvr>
                                      <p:to>
                                        <p:strVal val="visible"/>
                                      </p:to>
                                    </p:set>
                                    <p:animEffect transition="in" filter="fade">
                                      <p:cBhvr>
                                        <p:cTn id="7" dur="500"/>
                                        <p:tgtEl>
                                          <p:spTgt spid="2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0">
                                            <p:txEl>
                                              <p:pRg st="1" end="1"/>
                                            </p:txEl>
                                          </p:spTgt>
                                        </p:tgtEl>
                                        <p:attrNameLst>
                                          <p:attrName>style.visibility</p:attrName>
                                        </p:attrNameLst>
                                      </p:cBhvr>
                                      <p:to>
                                        <p:strVal val="visible"/>
                                      </p:to>
                                    </p:set>
                                    <p:animEffect transition="in" filter="fade">
                                      <p:cBhvr>
                                        <p:cTn id="12" dur="500"/>
                                        <p:tgtEl>
                                          <p:spTgt spid="27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0">
                                            <p:txEl>
                                              <p:pRg st="2" end="2"/>
                                            </p:txEl>
                                          </p:spTgt>
                                        </p:tgtEl>
                                        <p:attrNameLst>
                                          <p:attrName>style.visibility</p:attrName>
                                        </p:attrNameLst>
                                      </p:cBhvr>
                                      <p:to>
                                        <p:strVal val="visible"/>
                                      </p:to>
                                    </p:set>
                                    <p:animEffect transition="in" filter="fade">
                                      <p:cBhvr>
                                        <p:cTn id="17" dur="500"/>
                                        <p:tgtEl>
                                          <p:spTgt spid="27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0">
                                            <p:txEl>
                                              <p:pRg st="3" end="3"/>
                                            </p:txEl>
                                          </p:spTgt>
                                        </p:tgtEl>
                                        <p:attrNameLst>
                                          <p:attrName>style.visibility</p:attrName>
                                        </p:attrNameLst>
                                      </p:cBhvr>
                                      <p:to>
                                        <p:strVal val="visible"/>
                                      </p:to>
                                    </p:set>
                                    <p:animEffect transition="in" filter="fade">
                                      <p:cBhvr>
                                        <p:cTn id="22" dur="500"/>
                                        <p:tgtEl>
                                          <p:spTgt spid="27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0">
                                            <p:txEl>
                                              <p:pRg st="4" end="4"/>
                                            </p:txEl>
                                          </p:spTgt>
                                        </p:tgtEl>
                                        <p:attrNameLst>
                                          <p:attrName>style.visibility</p:attrName>
                                        </p:attrNameLst>
                                      </p:cBhvr>
                                      <p:to>
                                        <p:strVal val="visible"/>
                                      </p:to>
                                    </p:set>
                                    <p:animEffect transition="in" filter="fade">
                                      <p:cBhvr>
                                        <p:cTn id="27" dur="500"/>
                                        <p:tgtEl>
                                          <p:spTgt spid="27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1"/>
                                        </p:tgtEl>
                                        <p:attrNameLst>
                                          <p:attrName>style.visibility</p:attrName>
                                        </p:attrNameLst>
                                      </p:cBhvr>
                                      <p:to>
                                        <p:strVal val="visible"/>
                                      </p:to>
                                    </p:set>
                                    <p:animEffect transition="in" filter="fade">
                                      <p:cBhvr>
                                        <p:cTn id="32" dur="500"/>
                                        <p:tgtEl>
                                          <p:spTgt spid="27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2"/>
                                        </p:tgtEl>
                                        <p:attrNameLst>
                                          <p:attrName>style.visibility</p:attrName>
                                        </p:attrNameLst>
                                      </p:cBhvr>
                                      <p:to>
                                        <p:strVal val="visible"/>
                                      </p:to>
                                    </p:set>
                                    <p:animEffect transition="in" filter="fade">
                                      <p:cBhvr>
                                        <p:cTn id="37" dur="500"/>
                                        <p:tgtEl>
                                          <p:spTgt spid="27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73"/>
                                        </p:tgtEl>
                                        <p:attrNameLst>
                                          <p:attrName>style.visibility</p:attrName>
                                        </p:attrNameLst>
                                      </p:cBhvr>
                                      <p:to>
                                        <p:strVal val="visible"/>
                                      </p:to>
                                    </p:set>
                                    <p:animEffect transition="in" filter="fade">
                                      <p:cBhvr>
                                        <p:cTn id="42" dur="500"/>
                                        <p:tgtEl>
                                          <p:spTgt spid="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State of the system</a:t>
            </a:r>
            <a:endParaRPr/>
          </a:p>
        </p:txBody>
      </p:sp>
      <p:sp>
        <p:nvSpPr>
          <p:cNvPr id="279" name="Google Shape;279;p24"/>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b="1"/>
              <a:t>State</a:t>
            </a:r>
            <a:r>
              <a:rPr lang="en-US"/>
              <a:t> is used to mean a description of all the entities, attributes and activities as they exist at one point of time. </a:t>
            </a:r>
            <a:endParaRPr/>
          </a:p>
          <a:p>
            <a:pPr marL="274320" lvl="0" indent="-274320" algn="l" rtl="0">
              <a:spcBef>
                <a:spcPts val="520"/>
              </a:spcBef>
              <a:spcAft>
                <a:spcPts val="0"/>
              </a:spcAft>
              <a:buSzPts val="2470"/>
              <a:buChar char="⚫"/>
            </a:pPr>
            <a:r>
              <a:rPr lang="en-US" b="1"/>
              <a:t>Progress:-</a:t>
            </a:r>
            <a:r>
              <a:rPr lang="en-US"/>
              <a:t>The progress of the system is studied by the system following a change in the state of the system.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9">
                                            <p:txEl>
                                              <p:pRg st="0" end="0"/>
                                            </p:txEl>
                                          </p:spTgt>
                                        </p:tgtEl>
                                        <p:attrNameLst>
                                          <p:attrName>style.visibility</p:attrName>
                                        </p:attrNameLst>
                                      </p:cBhvr>
                                      <p:to>
                                        <p:strVal val="visible"/>
                                      </p:to>
                                    </p:set>
                                    <p:animEffect transition="in" filter="fade">
                                      <p:cBhvr>
                                        <p:cTn id="7" dur="500"/>
                                        <p:tgtEl>
                                          <p:spTgt spid="2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9">
                                            <p:txEl>
                                              <p:pRg st="1" end="1"/>
                                            </p:txEl>
                                          </p:spTgt>
                                        </p:tgtEl>
                                        <p:attrNameLst>
                                          <p:attrName>style.visibility</p:attrName>
                                        </p:attrNameLst>
                                      </p:cBhvr>
                                      <p:to>
                                        <p:strVal val="visible"/>
                                      </p:to>
                                    </p:set>
                                    <p:animEffect transition="in" filter="fade">
                                      <p:cBhvr>
                                        <p:cTn id="12" dur="500"/>
                                        <p:tgtEl>
                                          <p:spTgt spid="27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25000"/>
              <a:buFont typeface="Calibri"/>
              <a:buNone/>
            </a:pPr>
            <a:r>
              <a:rPr lang="en-US"/>
              <a:t>Class Assignment</a:t>
            </a:r>
            <a:br>
              <a:rPr lang="en-US"/>
            </a:br>
            <a:r>
              <a:rPr lang="en-US" sz="4000"/>
              <a:t>Name any three systems with entities, attributes and activities</a:t>
            </a:r>
            <a:endParaRPr sz="4000"/>
          </a:p>
        </p:txBody>
      </p:sp>
      <p:graphicFrame>
        <p:nvGraphicFramePr>
          <p:cNvPr id="285" name="Google Shape;285;p25"/>
          <p:cNvGraphicFramePr/>
          <p:nvPr/>
        </p:nvGraphicFramePr>
        <p:xfrm>
          <a:off x="685800" y="2362200"/>
          <a:ext cx="3000000" cy="3000000"/>
        </p:xfrm>
        <a:graphic>
          <a:graphicData uri="http://schemas.openxmlformats.org/drawingml/2006/table">
            <a:tbl>
              <a:tblPr firstRow="1" bandRow="1">
                <a:noFill/>
                <a:tableStyleId>{86A69674-CAEE-40E1-9C74-C6E6D2C80455}</a:tableStyleId>
              </a:tblPr>
              <a:tblGrid>
                <a:gridCol w="1645925">
                  <a:extLst>
                    <a:ext uri="{9D8B030D-6E8A-4147-A177-3AD203B41FA5}">
                      <a16:colId xmlns:a16="http://schemas.microsoft.com/office/drawing/2014/main" val="20000"/>
                    </a:ext>
                  </a:extLst>
                </a:gridCol>
                <a:gridCol w="1645925">
                  <a:extLst>
                    <a:ext uri="{9D8B030D-6E8A-4147-A177-3AD203B41FA5}">
                      <a16:colId xmlns:a16="http://schemas.microsoft.com/office/drawing/2014/main" val="20001"/>
                    </a:ext>
                  </a:extLst>
                </a:gridCol>
                <a:gridCol w="1645925">
                  <a:extLst>
                    <a:ext uri="{9D8B030D-6E8A-4147-A177-3AD203B41FA5}">
                      <a16:colId xmlns:a16="http://schemas.microsoft.com/office/drawing/2014/main" val="20002"/>
                    </a:ext>
                  </a:extLst>
                </a:gridCol>
                <a:gridCol w="1645925">
                  <a:extLst>
                    <a:ext uri="{9D8B030D-6E8A-4147-A177-3AD203B41FA5}">
                      <a16:colId xmlns:a16="http://schemas.microsoft.com/office/drawing/2014/main" val="20003"/>
                    </a:ext>
                  </a:extLst>
                </a:gridCol>
              </a:tblGrid>
              <a:tr h="370850">
                <a:tc>
                  <a:txBody>
                    <a:bodyPr/>
                    <a:lstStyle/>
                    <a:p>
                      <a:pPr marL="0" marR="0" lvl="0" indent="0" algn="l" rtl="0">
                        <a:spcBef>
                          <a:spcPts val="0"/>
                        </a:spcBef>
                        <a:spcAft>
                          <a:spcPts val="0"/>
                        </a:spcAft>
                        <a:buNone/>
                      </a:pPr>
                      <a:r>
                        <a:rPr lang="en-US" sz="1800" u="none" strike="noStrike" cap="none"/>
                        <a:t>System Name</a:t>
                      </a:r>
                      <a:endParaRPr sz="1800"/>
                    </a:p>
                  </a:txBody>
                  <a:tcPr marL="91450" marR="91450" marT="45725" marB="45725"/>
                </a:tc>
                <a:tc>
                  <a:txBody>
                    <a:bodyPr/>
                    <a:lstStyle/>
                    <a:p>
                      <a:pPr marL="0" marR="0" lvl="0" indent="0" algn="l" rtl="0">
                        <a:spcBef>
                          <a:spcPts val="0"/>
                        </a:spcBef>
                        <a:spcAft>
                          <a:spcPts val="0"/>
                        </a:spcAft>
                        <a:buNone/>
                      </a:pPr>
                      <a:r>
                        <a:rPr lang="en-US" sz="1800"/>
                        <a:t>Entities</a:t>
                      </a:r>
                      <a:endParaRPr sz="1800"/>
                    </a:p>
                  </a:txBody>
                  <a:tcPr marL="91450" marR="91450" marT="45725" marB="45725"/>
                </a:tc>
                <a:tc>
                  <a:txBody>
                    <a:bodyPr/>
                    <a:lstStyle/>
                    <a:p>
                      <a:pPr marL="0" marR="0" lvl="0" indent="0" algn="l" rtl="0">
                        <a:spcBef>
                          <a:spcPts val="0"/>
                        </a:spcBef>
                        <a:spcAft>
                          <a:spcPts val="0"/>
                        </a:spcAft>
                        <a:buNone/>
                      </a:pPr>
                      <a:r>
                        <a:rPr lang="en-US" sz="1800"/>
                        <a:t>Attributes</a:t>
                      </a:r>
                      <a:endParaRPr sz="1800"/>
                    </a:p>
                  </a:txBody>
                  <a:tcPr marL="91450" marR="91450" marT="45725" marB="45725"/>
                </a:tc>
                <a:tc>
                  <a:txBody>
                    <a:bodyPr/>
                    <a:lstStyle/>
                    <a:p>
                      <a:pPr marL="0" marR="0" lvl="0" indent="0" algn="l" rtl="0">
                        <a:spcBef>
                          <a:spcPts val="0"/>
                        </a:spcBef>
                        <a:spcAft>
                          <a:spcPts val="0"/>
                        </a:spcAft>
                        <a:buNone/>
                      </a:pPr>
                      <a:r>
                        <a:rPr lang="en-US" sz="1800"/>
                        <a:t>Activities</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a:t>
                      </a:r>
                      <a:endParaRPr sz="1800"/>
                    </a:p>
                  </a:txBody>
                  <a:tcPr marL="91450" marR="91450" marT="45725" marB="45725"/>
                </a:tc>
                <a:tc>
                  <a:txBody>
                    <a:bodyPr/>
                    <a:lstStyle/>
                    <a:p>
                      <a:pPr marL="0" marR="0" lvl="0" indent="0" algn="l" rtl="0">
                        <a:spcBef>
                          <a:spcPts val="0"/>
                        </a:spcBef>
                        <a:spcAft>
                          <a:spcPts val="0"/>
                        </a:spcAft>
                        <a:buNone/>
                      </a:pPr>
                      <a:r>
                        <a:rPr lang="en-US" sz="1800"/>
                        <a:t>…….    ……  …..</a:t>
                      </a:r>
                      <a:endParaRPr sz="1800"/>
                    </a:p>
                  </a:txBody>
                  <a:tcPr marL="91450" marR="91450" marT="45725" marB="45725"/>
                </a:tc>
                <a:tc>
                  <a:txBody>
                    <a:bodyPr/>
                    <a:lstStyle/>
                    <a:p>
                      <a:pPr marL="0" marR="0" lvl="0" indent="0" algn="l" rtl="0">
                        <a:spcBef>
                          <a:spcPts val="0"/>
                        </a:spcBef>
                        <a:spcAft>
                          <a:spcPts val="0"/>
                        </a:spcAft>
                        <a:buNone/>
                      </a:pPr>
                      <a:r>
                        <a:rPr lang="en-US" sz="1800"/>
                        <a:t>…….  ……..  …….</a:t>
                      </a:r>
                      <a:endParaRPr sz="1800"/>
                    </a:p>
                  </a:txBody>
                  <a:tcPr marL="91450" marR="91450" marT="45725" marB="45725"/>
                </a:tc>
                <a:tc>
                  <a:txBody>
                    <a:bodyPr/>
                    <a:lstStyle/>
                    <a:p>
                      <a:pPr marL="0" marR="0" lvl="0" indent="0" algn="l" rtl="0">
                        <a:spcBef>
                          <a:spcPts val="0"/>
                        </a:spcBef>
                        <a:spcAft>
                          <a:spcPts val="0"/>
                        </a:spcAft>
                        <a:buNone/>
                      </a:pPr>
                      <a:r>
                        <a:rPr lang="en-US" sz="1800"/>
                        <a:t>……  ……..  ……..</a:t>
                      </a:r>
                      <a:endParaRPr sz="1800"/>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286" name="Google Shape;286;p25"/>
          <p:cNvGraphicFramePr/>
          <p:nvPr/>
        </p:nvGraphicFramePr>
        <p:xfrm>
          <a:off x="762000" y="3657600"/>
          <a:ext cx="3000000" cy="3000000"/>
        </p:xfrm>
        <a:graphic>
          <a:graphicData uri="http://schemas.openxmlformats.org/drawingml/2006/table">
            <a:tbl>
              <a:tblPr firstRow="1" bandRow="1">
                <a:noFill/>
                <a:tableStyleId>{86A69674-CAEE-40E1-9C74-C6E6D2C80455}</a:tableStyleId>
              </a:tblPr>
              <a:tblGrid>
                <a:gridCol w="1645925">
                  <a:extLst>
                    <a:ext uri="{9D8B030D-6E8A-4147-A177-3AD203B41FA5}">
                      <a16:colId xmlns:a16="http://schemas.microsoft.com/office/drawing/2014/main" val="20000"/>
                    </a:ext>
                  </a:extLst>
                </a:gridCol>
                <a:gridCol w="1645925">
                  <a:extLst>
                    <a:ext uri="{9D8B030D-6E8A-4147-A177-3AD203B41FA5}">
                      <a16:colId xmlns:a16="http://schemas.microsoft.com/office/drawing/2014/main" val="20001"/>
                    </a:ext>
                  </a:extLst>
                </a:gridCol>
                <a:gridCol w="1645925">
                  <a:extLst>
                    <a:ext uri="{9D8B030D-6E8A-4147-A177-3AD203B41FA5}">
                      <a16:colId xmlns:a16="http://schemas.microsoft.com/office/drawing/2014/main" val="20002"/>
                    </a:ext>
                  </a:extLst>
                </a:gridCol>
                <a:gridCol w="1645925">
                  <a:extLst>
                    <a:ext uri="{9D8B030D-6E8A-4147-A177-3AD203B41FA5}">
                      <a16:colId xmlns:a16="http://schemas.microsoft.com/office/drawing/2014/main" val="20003"/>
                    </a:ext>
                  </a:extLst>
                </a:gridCol>
              </a:tblGrid>
              <a:tr h="370850">
                <a:tc>
                  <a:txBody>
                    <a:bodyPr/>
                    <a:lstStyle/>
                    <a:p>
                      <a:pPr marL="0" marR="0" lvl="0" indent="0" algn="l" rtl="0">
                        <a:spcBef>
                          <a:spcPts val="0"/>
                        </a:spcBef>
                        <a:spcAft>
                          <a:spcPts val="0"/>
                        </a:spcAft>
                        <a:buNone/>
                      </a:pPr>
                      <a:r>
                        <a:rPr lang="en-US" sz="1800"/>
                        <a:t>System Name</a:t>
                      </a:r>
                      <a:endParaRPr sz="1800"/>
                    </a:p>
                  </a:txBody>
                  <a:tcPr marL="91450" marR="91450" marT="45725" marB="45725"/>
                </a:tc>
                <a:tc>
                  <a:txBody>
                    <a:bodyPr/>
                    <a:lstStyle/>
                    <a:p>
                      <a:pPr marL="0" marR="0" lvl="0" indent="0" algn="l" rtl="0">
                        <a:spcBef>
                          <a:spcPts val="0"/>
                        </a:spcBef>
                        <a:spcAft>
                          <a:spcPts val="0"/>
                        </a:spcAft>
                        <a:buNone/>
                      </a:pPr>
                      <a:r>
                        <a:rPr lang="en-US" sz="1800"/>
                        <a:t>Entities</a:t>
                      </a:r>
                      <a:endParaRPr sz="1800"/>
                    </a:p>
                  </a:txBody>
                  <a:tcPr marL="91450" marR="91450" marT="45725" marB="45725"/>
                </a:tc>
                <a:tc>
                  <a:txBody>
                    <a:bodyPr/>
                    <a:lstStyle/>
                    <a:p>
                      <a:pPr marL="0" marR="0" lvl="0" indent="0" algn="l" rtl="0">
                        <a:spcBef>
                          <a:spcPts val="0"/>
                        </a:spcBef>
                        <a:spcAft>
                          <a:spcPts val="0"/>
                        </a:spcAft>
                        <a:buNone/>
                      </a:pPr>
                      <a:r>
                        <a:rPr lang="en-US" sz="1800"/>
                        <a:t>Attributes</a:t>
                      </a:r>
                      <a:endParaRPr sz="1800"/>
                    </a:p>
                  </a:txBody>
                  <a:tcPr marL="91450" marR="91450" marT="45725" marB="45725"/>
                </a:tc>
                <a:tc>
                  <a:txBody>
                    <a:bodyPr/>
                    <a:lstStyle/>
                    <a:p>
                      <a:pPr marL="0" marR="0" lvl="0" indent="0" algn="l" rtl="0">
                        <a:spcBef>
                          <a:spcPts val="0"/>
                        </a:spcBef>
                        <a:spcAft>
                          <a:spcPts val="0"/>
                        </a:spcAft>
                        <a:buNone/>
                      </a:pPr>
                      <a:r>
                        <a:rPr lang="en-US" sz="1800"/>
                        <a:t>Activities</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a:t>
                      </a:r>
                      <a:endParaRPr sz="1800"/>
                    </a:p>
                  </a:txBody>
                  <a:tcPr marL="91450" marR="91450" marT="45725" marB="45725"/>
                </a:tc>
                <a:tc>
                  <a:txBody>
                    <a:bodyPr/>
                    <a:lstStyle/>
                    <a:p>
                      <a:pPr marL="0" marR="0" lvl="0" indent="0" algn="l" rtl="0">
                        <a:spcBef>
                          <a:spcPts val="0"/>
                        </a:spcBef>
                        <a:spcAft>
                          <a:spcPts val="0"/>
                        </a:spcAft>
                        <a:buNone/>
                      </a:pPr>
                      <a:r>
                        <a:rPr lang="en-US" sz="1800"/>
                        <a:t>…….    ……  …..</a:t>
                      </a:r>
                      <a:endParaRPr sz="1800"/>
                    </a:p>
                  </a:txBody>
                  <a:tcPr marL="91450" marR="91450" marT="45725" marB="45725"/>
                </a:tc>
                <a:tc>
                  <a:txBody>
                    <a:bodyPr/>
                    <a:lstStyle/>
                    <a:p>
                      <a:pPr marL="0" marR="0" lvl="0" indent="0" algn="l" rtl="0">
                        <a:spcBef>
                          <a:spcPts val="0"/>
                        </a:spcBef>
                        <a:spcAft>
                          <a:spcPts val="0"/>
                        </a:spcAft>
                        <a:buNone/>
                      </a:pPr>
                      <a:r>
                        <a:rPr lang="en-US" sz="1800"/>
                        <a:t>…….  ……..  …….</a:t>
                      </a:r>
                      <a:endParaRPr sz="1800"/>
                    </a:p>
                  </a:txBody>
                  <a:tcPr marL="91450" marR="91450" marT="45725" marB="45725"/>
                </a:tc>
                <a:tc>
                  <a:txBody>
                    <a:bodyPr/>
                    <a:lstStyle/>
                    <a:p>
                      <a:pPr marL="0" marR="0" lvl="0" indent="0" algn="l" rtl="0">
                        <a:spcBef>
                          <a:spcPts val="0"/>
                        </a:spcBef>
                        <a:spcAft>
                          <a:spcPts val="0"/>
                        </a:spcAft>
                        <a:buNone/>
                      </a:pPr>
                      <a:r>
                        <a:rPr lang="en-US" sz="1800"/>
                        <a:t>……  ……..  ……..</a:t>
                      </a:r>
                      <a:endParaRPr sz="1800"/>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287" name="Google Shape;287;p25"/>
          <p:cNvGraphicFramePr/>
          <p:nvPr/>
        </p:nvGraphicFramePr>
        <p:xfrm>
          <a:off x="838200" y="5029200"/>
          <a:ext cx="3000000" cy="3000000"/>
        </p:xfrm>
        <a:graphic>
          <a:graphicData uri="http://schemas.openxmlformats.org/drawingml/2006/table">
            <a:tbl>
              <a:tblPr firstRow="1" bandRow="1">
                <a:noFill/>
                <a:tableStyleId>{86A69674-CAEE-40E1-9C74-C6E6D2C80455}</a:tableStyleId>
              </a:tblPr>
              <a:tblGrid>
                <a:gridCol w="1645925">
                  <a:extLst>
                    <a:ext uri="{9D8B030D-6E8A-4147-A177-3AD203B41FA5}">
                      <a16:colId xmlns:a16="http://schemas.microsoft.com/office/drawing/2014/main" val="20000"/>
                    </a:ext>
                  </a:extLst>
                </a:gridCol>
                <a:gridCol w="1645925">
                  <a:extLst>
                    <a:ext uri="{9D8B030D-6E8A-4147-A177-3AD203B41FA5}">
                      <a16:colId xmlns:a16="http://schemas.microsoft.com/office/drawing/2014/main" val="20001"/>
                    </a:ext>
                  </a:extLst>
                </a:gridCol>
                <a:gridCol w="1645925">
                  <a:extLst>
                    <a:ext uri="{9D8B030D-6E8A-4147-A177-3AD203B41FA5}">
                      <a16:colId xmlns:a16="http://schemas.microsoft.com/office/drawing/2014/main" val="20002"/>
                    </a:ext>
                  </a:extLst>
                </a:gridCol>
                <a:gridCol w="1645925">
                  <a:extLst>
                    <a:ext uri="{9D8B030D-6E8A-4147-A177-3AD203B41FA5}">
                      <a16:colId xmlns:a16="http://schemas.microsoft.com/office/drawing/2014/main" val="20003"/>
                    </a:ext>
                  </a:extLst>
                </a:gridCol>
              </a:tblGrid>
              <a:tr h="370850">
                <a:tc>
                  <a:txBody>
                    <a:bodyPr/>
                    <a:lstStyle/>
                    <a:p>
                      <a:pPr marL="0" marR="0" lvl="0" indent="0" algn="l" rtl="0">
                        <a:spcBef>
                          <a:spcPts val="0"/>
                        </a:spcBef>
                        <a:spcAft>
                          <a:spcPts val="0"/>
                        </a:spcAft>
                        <a:buNone/>
                      </a:pPr>
                      <a:r>
                        <a:rPr lang="en-US" sz="1800"/>
                        <a:t>System Name</a:t>
                      </a:r>
                      <a:endParaRPr sz="1800"/>
                    </a:p>
                  </a:txBody>
                  <a:tcPr marL="91450" marR="91450" marT="45725" marB="45725"/>
                </a:tc>
                <a:tc>
                  <a:txBody>
                    <a:bodyPr/>
                    <a:lstStyle/>
                    <a:p>
                      <a:pPr marL="0" marR="0" lvl="0" indent="0" algn="l" rtl="0">
                        <a:spcBef>
                          <a:spcPts val="0"/>
                        </a:spcBef>
                        <a:spcAft>
                          <a:spcPts val="0"/>
                        </a:spcAft>
                        <a:buNone/>
                      </a:pPr>
                      <a:r>
                        <a:rPr lang="en-US" sz="1800"/>
                        <a:t>Entities</a:t>
                      </a:r>
                      <a:endParaRPr sz="1800"/>
                    </a:p>
                  </a:txBody>
                  <a:tcPr marL="91450" marR="91450" marT="45725" marB="45725"/>
                </a:tc>
                <a:tc>
                  <a:txBody>
                    <a:bodyPr/>
                    <a:lstStyle/>
                    <a:p>
                      <a:pPr marL="0" marR="0" lvl="0" indent="0" algn="l" rtl="0">
                        <a:spcBef>
                          <a:spcPts val="0"/>
                        </a:spcBef>
                        <a:spcAft>
                          <a:spcPts val="0"/>
                        </a:spcAft>
                        <a:buNone/>
                      </a:pPr>
                      <a:r>
                        <a:rPr lang="en-US" sz="1800"/>
                        <a:t>Attributes</a:t>
                      </a:r>
                      <a:endParaRPr sz="1800"/>
                    </a:p>
                  </a:txBody>
                  <a:tcPr marL="91450" marR="91450" marT="45725" marB="45725"/>
                </a:tc>
                <a:tc>
                  <a:txBody>
                    <a:bodyPr/>
                    <a:lstStyle/>
                    <a:p>
                      <a:pPr marL="0" marR="0" lvl="0" indent="0" algn="l" rtl="0">
                        <a:spcBef>
                          <a:spcPts val="0"/>
                        </a:spcBef>
                        <a:spcAft>
                          <a:spcPts val="0"/>
                        </a:spcAft>
                        <a:buNone/>
                      </a:pPr>
                      <a:r>
                        <a:rPr lang="en-US" sz="1800"/>
                        <a:t>Activities</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a:t>
                      </a:r>
                      <a:endParaRPr sz="1800"/>
                    </a:p>
                  </a:txBody>
                  <a:tcPr marL="91450" marR="91450" marT="45725" marB="45725"/>
                </a:tc>
                <a:tc>
                  <a:txBody>
                    <a:bodyPr/>
                    <a:lstStyle/>
                    <a:p>
                      <a:pPr marL="0" marR="0" lvl="0" indent="0" algn="l" rtl="0">
                        <a:spcBef>
                          <a:spcPts val="0"/>
                        </a:spcBef>
                        <a:spcAft>
                          <a:spcPts val="0"/>
                        </a:spcAft>
                        <a:buNone/>
                      </a:pPr>
                      <a:r>
                        <a:rPr lang="en-US" sz="1800"/>
                        <a:t>…….    ……  …..</a:t>
                      </a:r>
                      <a:endParaRPr sz="1800"/>
                    </a:p>
                  </a:txBody>
                  <a:tcPr marL="91450" marR="91450" marT="45725" marB="45725"/>
                </a:tc>
                <a:tc>
                  <a:txBody>
                    <a:bodyPr/>
                    <a:lstStyle/>
                    <a:p>
                      <a:pPr marL="0" marR="0" lvl="0" indent="0" algn="l" rtl="0">
                        <a:spcBef>
                          <a:spcPts val="0"/>
                        </a:spcBef>
                        <a:spcAft>
                          <a:spcPts val="0"/>
                        </a:spcAft>
                        <a:buNone/>
                      </a:pPr>
                      <a:r>
                        <a:rPr lang="en-US" sz="1800"/>
                        <a:t>…….  ……..  …….</a:t>
                      </a:r>
                      <a:endParaRPr sz="1800"/>
                    </a:p>
                  </a:txBody>
                  <a:tcPr marL="91450" marR="91450" marT="45725" marB="45725"/>
                </a:tc>
                <a:tc>
                  <a:txBody>
                    <a:bodyPr/>
                    <a:lstStyle/>
                    <a:p>
                      <a:pPr marL="0" marR="0" lvl="0" indent="0" algn="l" rtl="0">
                        <a:spcBef>
                          <a:spcPts val="0"/>
                        </a:spcBef>
                        <a:spcAft>
                          <a:spcPts val="0"/>
                        </a:spcAft>
                        <a:buNone/>
                      </a:pPr>
                      <a:r>
                        <a:rPr lang="en-US" sz="1800"/>
                        <a:t>……  ……..  ……..</a:t>
                      </a:r>
                      <a:endParaRPr sz="1800"/>
                    </a:p>
                  </a:txBody>
                  <a:tcPr marL="91450" marR="91450" marT="45725" marB="45725"/>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4"/>
                                        </p:tgtEl>
                                        <p:attrNameLst>
                                          <p:attrName>style.visibility</p:attrName>
                                        </p:attrNameLst>
                                      </p:cBhvr>
                                      <p:to>
                                        <p:strVal val="visible"/>
                                      </p:to>
                                    </p:set>
                                    <p:animEffect transition="in" filter="fade">
                                      <p:cBhvr>
                                        <p:cTn id="7" dur="500"/>
                                        <p:tgtEl>
                                          <p:spTgt spid="28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5"/>
                                        </p:tgtEl>
                                        <p:attrNameLst>
                                          <p:attrName>style.visibility</p:attrName>
                                        </p:attrNameLst>
                                      </p:cBhvr>
                                      <p:to>
                                        <p:strVal val="visible"/>
                                      </p:to>
                                    </p:set>
                                    <p:animEffect transition="in" filter="fade">
                                      <p:cBhvr>
                                        <p:cTn id="12" dur="500"/>
                                        <p:tgtEl>
                                          <p:spTgt spid="28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6"/>
                                        </p:tgtEl>
                                        <p:attrNameLst>
                                          <p:attrName>style.visibility</p:attrName>
                                        </p:attrNameLst>
                                      </p:cBhvr>
                                      <p:to>
                                        <p:strVal val="visible"/>
                                      </p:to>
                                    </p:set>
                                    <p:animEffect transition="in" filter="fade">
                                      <p:cBhvr>
                                        <p:cTn id="17" dur="500"/>
                                        <p:tgtEl>
                                          <p:spTgt spid="28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7"/>
                                        </p:tgtEl>
                                        <p:attrNameLst>
                                          <p:attrName>style.visibility</p:attrName>
                                        </p:attrNameLst>
                                      </p:cBhvr>
                                      <p:to>
                                        <p:strVal val="visible"/>
                                      </p:to>
                                    </p:set>
                                    <p:animEffect transition="in" filter="fade">
                                      <p:cBhvr>
                                        <p:cTn id="22" dur="500"/>
                                        <p:tgtEl>
                                          <p:spTgt spid="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26"/>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System Environment</a:t>
            </a:r>
            <a:endParaRPr/>
          </a:p>
        </p:txBody>
      </p:sp>
      <p:sp>
        <p:nvSpPr>
          <p:cNvPr id="293" name="Google Shape;293;p26"/>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92500" lnSpcReduction="10000"/>
          </a:bodyPr>
          <a:lstStyle/>
          <a:p>
            <a:pPr marL="274320" lvl="0" indent="-274320" algn="l" rtl="0">
              <a:spcBef>
                <a:spcPts val="0"/>
              </a:spcBef>
              <a:spcAft>
                <a:spcPts val="0"/>
              </a:spcAft>
              <a:buSzPct val="95000"/>
              <a:buChar char="⚫"/>
            </a:pPr>
            <a:r>
              <a:rPr lang="en-US"/>
              <a:t>A system is often affected by changes occurring outside the system. </a:t>
            </a:r>
            <a:endParaRPr/>
          </a:p>
          <a:p>
            <a:pPr marL="274320" lvl="0" indent="-274320" algn="l" rtl="0">
              <a:spcBef>
                <a:spcPts val="481"/>
              </a:spcBef>
              <a:spcAft>
                <a:spcPts val="0"/>
              </a:spcAft>
              <a:buSzPct val="95000"/>
              <a:buChar char="⚫"/>
            </a:pPr>
            <a:r>
              <a:rPr lang="en-US"/>
              <a:t>Such changes occurring outside the system are said to occur in the system environment.</a:t>
            </a:r>
            <a:endParaRPr/>
          </a:p>
          <a:p>
            <a:pPr marL="274320" lvl="0" indent="-274320" algn="l" rtl="0">
              <a:spcBef>
                <a:spcPts val="481"/>
              </a:spcBef>
              <a:spcAft>
                <a:spcPts val="0"/>
              </a:spcAft>
              <a:buSzPct val="95000"/>
              <a:buChar char="⚫"/>
            </a:pPr>
            <a:r>
              <a:rPr lang="en-US"/>
              <a:t> An important step in modeling system is to decide upon the boundary between the system and its environment. </a:t>
            </a:r>
            <a:endParaRPr/>
          </a:p>
          <a:p>
            <a:pPr marL="274320" lvl="0" indent="-274320" algn="l" rtl="0">
              <a:spcBef>
                <a:spcPts val="481"/>
              </a:spcBef>
              <a:spcAft>
                <a:spcPts val="0"/>
              </a:spcAft>
              <a:buSzPct val="95000"/>
              <a:buChar char="⚫"/>
            </a:pPr>
            <a:r>
              <a:rPr lang="en-US"/>
              <a:t>The term </a:t>
            </a:r>
            <a:r>
              <a:rPr lang="en-US" b="1"/>
              <a:t>endogenous</a:t>
            </a:r>
            <a:r>
              <a:rPr lang="en-US"/>
              <a:t> is used to describe activities occurring within the system. Example: sports, cultural functions in a university system. </a:t>
            </a:r>
            <a:endParaRPr/>
          </a:p>
          <a:p>
            <a:pPr marL="274320" lvl="0" indent="-274320" algn="l" rtl="0">
              <a:spcBef>
                <a:spcPts val="481"/>
              </a:spcBef>
              <a:spcAft>
                <a:spcPts val="0"/>
              </a:spcAft>
              <a:buSzPct val="95000"/>
              <a:buChar char="⚫"/>
            </a:pPr>
            <a:r>
              <a:rPr lang="en-US"/>
              <a:t>The term </a:t>
            </a:r>
            <a:r>
              <a:rPr lang="en-US" b="1"/>
              <a:t>exogenous</a:t>
            </a:r>
            <a:r>
              <a:rPr lang="en-US"/>
              <a:t> is used to describe the activities in the environment that affect the system. Example: strikes in a university system</a:t>
            </a:r>
            <a:endParaRPr/>
          </a:p>
        </p:txBody>
      </p:sp>
      <p:pic>
        <p:nvPicPr>
          <p:cNvPr id="294" name="Google Shape;294;p26" descr="slide_3.jpg"/>
          <p:cNvPicPr preferRelativeResize="0"/>
          <p:nvPr/>
        </p:nvPicPr>
        <p:blipFill rotWithShape="1">
          <a:blip r:embed="rId3">
            <a:alphaModFix/>
          </a:blip>
          <a:srcRect/>
          <a:stretch/>
        </p:blipFill>
        <p:spPr>
          <a:xfrm>
            <a:off x="3048000" y="2590800"/>
            <a:ext cx="6096000" cy="4267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3">
                                            <p:txEl>
                                              <p:pRg st="0" end="0"/>
                                            </p:txEl>
                                          </p:spTgt>
                                        </p:tgtEl>
                                        <p:attrNameLst>
                                          <p:attrName>style.visibility</p:attrName>
                                        </p:attrNameLst>
                                      </p:cBhvr>
                                      <p:to>
                                        <p:strVal val="visible"/>
                                      </p:to>
                                    </p:set>
                                    <p:animEffect transition="in" filter="fade">
                                      <p:cBhvr>
                                        <p:cTn id="7" dur="500"/>
                                        <p:tgtEl>
                                          <p:spTgt spid="29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3">
                                            <p:txEl>
                                              <p:pRg st="1" end="1"/>
                                            </p:txEl>
                                          </p:spTgt>
                                        </p:tgtEl>
                                        <p:attrNameLst>
                                          <p:attrName>style.visibility</p:attrName>
                                        </p:attrNameLst>
                                      </p:cBhvr>
                                      <p:to>
                                        <p:strVal val="visible"/>
                                      </p:to>
                                    </p:set>
                                    <p:animEffect transition="in" filter="fade">
                                      <p:cBhvr>
                                        <p:cTn id="12" dur="500"/>
                                        <p:tgtEl>
                                          <p:spTgt spid="29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3">
                                            <p:txEl>
                                              <p:pRg st="2" end="2"/>
                                            </p:txEl>
                                          </p:spTgt>
                                        </p:tgtEl>
                                        <p:attrNameLst>
                                          <p:attrName>style.visibility</p:attrName>
                                        </p:attrNameLst>
                                      </p:cBhvr>
                                      <p:to>
                                        <p:strVal val="visible"/>
                                      </p:to>
                                    </p:set>
                                    <p:animEffect transition="in" filter="fade">
                                      <p:cBhvr>
                                        <p:cTn id="17" dur="500"/>
                                        <p:tgtEl>
                                          <p:spTgt spid="29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3">
                                            <p:txEl>
                                              <p:pRg st="3" end="3"/>
                                            </p:txEl>
                                          </p:spTgt>
                                        </p:tgtEl>
                                        <p:attrNameLst>
                                          <p:attrName>style.visibility</p:attrName>
                                        </p:attrNameLst>
                                      </p:cBhvr>
                                      <p:to>
                                        <p:strVal val="visible"/>
                                      </p:to>
                                    </p:set>
                                    <p:animEffect transition="in" filter="fade">
                                      <p:cBhvr>
                                        <p:cTn id="22" dur="500"/>
                                        <p:tgtEl>
                                          <p:spTgt spid="29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93">
                                            <p:txEl>
                                              <p:pRg st="4" end="4"/>
                                            </p:txEl>
                                          </p:spTgt>
                                        </p:tgtEl>
                                        <p:attrNameLst>
                                          <p:attrName>style.visibility</p:attrName>
                                        </p:attrNameLst>
                                      </p:cBhvr>
                                      <p:to>
                                        <p:strVal val="visible"/>
                                      </p:to>
                                    </p:set>
                                    <p:animEffect transition="in" filter="fade">
                                      <p:cBhvr>
                                        <p:cTn id="27" dur="500"/>
                                        <p:tgtEl>
                                          <p:spTgt spid="29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4"/>
                                        </p:tgtEl>
                                        <p:attrNameLst>
                                          <p:attrName>style.visibility</p:attrName>
                                        </p:attrNameLst>
                                      </p:cBhvr>
                                      <p:to>
                                        <p:strVal val="visible"/>
                                      </p:to>
                                    </p:set>
                                    <p:animEffect transition="in" filter="fade">
                                      <p:cBhvr>
                                        <p:cTn id="32" dur="500"/>
                                        <p:tgtEl>
                                          <p:spTgt spid="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27"/>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Open and Closed System</a:t>
            </a:r>
            <a:endParaRPr/>
          </a:p>
        </p:txBody>
      </p:sp>
      <p:sp>
        <p:nvSpPr>
          <p:cNvPr id="300" name="Google Shape;300;p27"/>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Based on these activities a system may be classified as open or closed system. </a:t>
            </a:r>
            <a:endParaRPr/>
          </a:p>
          <a:p>
            <a:pPr marL="274320" lvl="0" indent="-274320" algn="l" rtl="0">
              <a:spcBef>
                <a:spcPts val="520"/>
              </a:spcBef>
              <a:spcAft>
                <a:spcPts val="0"/>
              </a:spcAft>
              <a:buSzPts val="2470"/>
              <a:buChar char="⚫"/>
            </a:pPr>
            <a:r>
              <a:rPr lang="en-US"/>
              <a:t>A system for which there is no exogenous activity is said to be a </a:t>
            </a:r>
            <a:r>
              <a:rPr lang="en-US" b="1"/>
              <a:t>closed system. </a:t>
            </a:r>
            <a:endParaRPr/>
          </a:p>
          <a:p>
            <a:pPr marL="274320" lvl="0" indent="-117475" algn="l" rtl="0">
              <a:spcBef>
                <a:spcPts val="520"/>
              </a:spcBef>
              <a:spcAft>
                <a:spcPts val="0"/>
              </a:spcAft>
              <a:buSzPts val="2470"/>
              <a:buNone/>
            </a:pPr>
            <a:endParaRPr b="1"/>
          </a:p>
          <a:p>
            <a:pPr marL="274320" lvl="0" indent="-117475" algn="l" rtl="0">
              <a:spcBef>
                <a:spcPts val="520"/>
              </a:spcBef>
              <a:spcAft>
                <a:spcPts val="0"/>
              </a:spcAft>
              <a:buSzPts val="2470"/>
              <a:buNone/>
            </a:pPr>
            <a:endParaRPr b="1"/>
          </a:p>
          <a:p>
            <a:pPr marL="274320" lvl="0" indent="-274320" algn="l" rtl="0">
              <a:spcBef>
                <a:spcPts val="520"/>
              </a:spcBef>
              <a:spcAft>
                <a:spcPts val="0"/>
              </a:spcAft>
              <a:buSzPts val="2470"/>
              <a:buChar char="⚫"/>
            </a:pPr>
            <a:r>
              <a:rPr lang="en-US"/>
              <a:t>A system that has exogenous activities is called as an </a:t>
            </a:r>
            <a:r>
              <a:rPr lang="en-US" b="1"/>
              <a:t>open system.</a:t>
            </a:r>
            <a:endParaRPr b="1"/>
          </a:p>
        </p:txBody>
      </p:sp>
      <p:pic>
        <p:nvPicPr>
          <p:cNvPr id="301" name="Google Shape;301;p27" descr="closed.png"/>
          <p:cNvPicPr preferRelativeResize="0"/>
          <p:nvPr/>
        </p:nvPicPr>
        <p:blipFill rotWithShape="1">
          <a:blip r:embed="rId3">
            <a:alphaModFix/>
          </a:blip>
          <a:srcRect/>
          <a:stretch/>
        </p:blipFill>
        <p:spPr>
          <a:xfrm>
            <a:off x="6189689" y="2438400"/>
            <a:ext cx="2954311" cy="2047875"/>
          </a:xfrm>
          <a:prstGeom prst="rect">
            <a:avLst/>
          </a:prstGeom>
          <a:noFill/>
          <a:ln>
            <a:noFill/>
          </a:ln>
        </p:spPr>
      </p:pic>
      <p:pic>
        <p:nvPicPr>
          <p:cNvPr id="302" name="Google Shape;302;p27" descr="open.png"/>
          <p:cNvPicPr preferRelativeResize="0"/>
          <p:nvPr/>
        </p:nvPicPr>
        <p:blipFill rotWithShape="1">
          <a:blip r:embed="rId4">
            <a:alphaModFix/>
          </a:blip>
          <a:srcRect/>
          <a:stretch/>
        </p:blipFill>
        <p:spPr>
          <a:xfrm>
            <a:off x="3276600" y="4953000"/>
            <a:ext cx="2400300" cy="1905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0">
                                            <p:txEl>
                                              <p:pRg st="0" end="0"/>
                                            </p:txEl>
                                          </p:spTgt>
                                        </p:tgtEl>
                                        <p:attrNameLst>
                                          <p:attrName>style.visibility</p:attrName>
                                        </p:attrNameLst>
                                      </p:cBhvr>
                                      <p:to>
                                        <p:strVal val="visible"/>
                                      </p:to>
                                    </p:set>
                                    <p:animEffect transition="in" filter="fade">
                                      <p:cBhvr>
                                        <p:cTn id="7" dur="500"/>
                                        <p:tgtEl>
                                          <p:spTgt spid="3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0">
                                            <p:txEl>
                                              <p:pRg st="1" end="1"/>
                                            </p:txEl>
                                          </p:spTgt>
                                        </p:tgtEl>
                                        <p:attrNameLst>
                                          <p:attrName>style.visibility</p:attrName>
                                        </p:attrNameLst>
                                      </p:cBhvr>
                                      <p:to>
                                        <p:strVal val="visible"/>
                                      </p:to>
                                    </p:set>
                                    <p:animEffect transition="in" filter="fade">
                                      <p:cBhvr>
                                        <p:cTn id="12" dur="500"/>
                                        <p:tgtEl>
                                          <p:spTgt spid="30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0">
                                            <p:txEl>
                                              <p:pRg st="2" end="2"/>
                                            </p:txEl>
                                          </p:spTgt>
                                        </p:tgtEl>
                                        <p:attrNameLst>
                                          <p:attrName>style.visibility</p:attrName>
                                        </p:attrNameLst>
                                      </p:cBhvr>
                                      <p:to>
                                        <p:strVal val="visible"/>
                                      </p:to>
                                    </p:set>
                                    <p:animEffect transition="in" filter="fade">
                                      <p:cBhvr>
                                        <p:cTn id="17" dur="500"/>
                                        <p:tgtEl>
                                          <p:spTgt spid="30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0">
                                            <p:txEl>
                                              <p:pRg st="3" end="3"/>
                                            </p:txEl>
                                          </p:spTgt>
                                        </p:tgtEl>
                                        <p:attrNameLst>
                                          <p:attrName>style.visibility</p:attrName>
                                        </p:attrNameLst>
                                      </p:cBhvr>
                                      <p:to>
                                        <p:strVal val="visible"/>
                                      </p:to>
                                    </p:set>
                                    <p:animEffect transition="in" filter="fade">
                                      <p:cBhvr>
                                        <p:cTn id="22" dur="500"/>
                                        <p:tgtEl>
                                          <p:spTgt spid="30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0">
                                            <p:txEl>
                                              <p:pRg st="4" end="4"/>
                                            </p:txEl>
                                          </p:spTgt>
                                        </p:tgtEl>
                                        <p:attrNameLst>
                                          <p:attrName>style.visibility</p:attrName>
                                        </p:attrNameLst>
                                      </p:cBhvr>
                                      <p:to>
                                        <p:strVal val="visible"/>
                                      </p:to>
                                    </p:set>
                                    <p:animEffect transition="in" filter="fade">
                                      <p:cBhvr>
                                        <p:cTn id="27" dur="500"/>
                                        <p:tgtEl>
                                          <p:spTgt spid="30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1"/>
                                        </p:tgtEl>
                                        <p:attrNameLst>
                                          <p:attrName>style.visibility</p:attrName>
                                        </p:attrNameLst>
                                      </p:cBhvr>
                                      <p:to>
                                        <p:strVal val="visible"/>
                                      </p:to>
                                    </p:set>
                                    <p:animEffect transition="in" filter="fade">
                                      <p:cBhvr>
                                        <p:cTn id="32" dur="500"/>
                                        <p:tgtEl>
                                          <p:spTgt spid="30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2"/>
                                        </p:tgtEl>
                                        <p:attrNameLst>
                                          <p:attrName>style.visibility</p:attrName>
                                        </p:attrNameLst>
                                      </p:cBhvr>
                                      <p:to>
                                        <p:strVal val="visible"/>
                                      </p:to>
                                    </p:set>
                                    <p:animEffect transition="in" filter="fade">
                                      <p:cBhvr>
                                        <p:cTn id="37" dur="500"/>
                                        <p:tgtEl>
                                          <p:spTgt spid="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8"/>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Deterministic vs.Stochastic Activities</a:t>
            </a:r>
            <a:endParaRPr/>
          </a:p>
        </p:txBody>
      </p:sp>
      <p:sp>
        <p:nvSpPr>
          <p:cNvPr id="308" name="Google Shape;308;p28"/>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92500" lnSpcReduction="10000"/>
          </a:bodyPr>
          <a:lstStyle/>
          <a:p>
            <a:pPr marL="274320" lvl="0" indent="-274320" algn="l" rtl="0">
              <a:spcBef>
                <a:spcPts val="0"/>
              </a:spcBef>
              <a:spcAft>
                <a:spcPts val="0"/>
              </a:spcAft>
              <a:buSzPct val="95000"/>
              <a:buChar char="⚫"/>
            </a:pPr>
            <a:r>
              <a:rPr lang="en-US"/>
              <a:t>Depending on the manner on which they can be described activities can be classified as </a:t>
            </a:r>
            <a:endParaRPr/>
          </a:p>
          <a:p>
            <a:pPr marL="640080" lvl="1" indent="-246888" algn="l" rtl="0">
              <a:spcBef>
                <a:spcPts val="444"/>
              </a:spcBef>
              <a:spcAft>
                <a:spcPts val="0"/>
              </a:spcAft>
              <a:buSzPct val="85000"/>
              <a:buChar char="⚫"/>
            </a:pPr>
            <a:r>
              <a:rPr lang="en-US" b="1"/>
              <a:t>deterministic </a:t>
            </a:r>
            <a:endParaRPr/>
          </a:p>
          <a:p>
            <a:pPr marL="640080" lvl="1" indent="-246888" algn="l" rtl="0">
              <a:spcBef>
                <a:spcPts val="444"/>
              </a:spcBef>
              <a:spcAft>
                <a:spcPts val="0"/>
              </a:spcAft>
              <a:buSzPct val="85000"/>
              <a:buChar char="⚫"/>
            </a:pPr>
            <a:r>
              <a:rPr lang="en-US" b="1"/>
              <a:t>stochastic. </a:t>
            </a:r>
            <a:endParaRPr/>
          </a:p>
          <a:p>
            <a:pPr marL="274320" lvl="0" indent="-274320" algn="l" rtl="0">
              <a:spcBef>
                <a:spcPts val="481"/>
              </a:spcBef>
              <a:spcAft>
                <a:spcPts val="0"/>
              </a:spcAft>
              <a:buSzPct val="95000"/>
              <a:buChar char="⚫"/>
            </a:pPr>
            <a:r>
              <a:rPr lang="en-US" b="1"/>
              <a:t>Deterministic</a:t>
            </a:r>
            <a:r>
              <a:rPr lang="en-US"/>
              <a:t> An activity is said to be deterministic where the outcome of an activity can be described completely in term of its input, </a:t>
            </a:r>
            <a:endParaRPr/>
          </a:p>
          <a:p>
            <a:pPr marL="274320" lvl="0" indent="-274320" algn="l" rtl="0">
              <a:spcBef>
                <a:spcPts val="481"/>
              </a:spcBef>
              <a:spcAft>
                <a:spcPts val="0"/>
              </a:spcAft>
              <a:buSzPct val="95000"/>
              <a:buChar char="⚫"/>
            </a:pPr>
            <a:r>
              <a:rPr lang="en-US"/>
              <a:t>Example: AND, OR, NOT operations. </a:t>
            </a:r>
            <a:endParaRPr/>
          </a:p>
          <a:p>
            <a:pPr marL="274320" lvl="0" indent="-274320" algn="l" rtl="0">
              <a:spcBef>
                <a:spcPts val="481"/>
              </a:spcBef>
              <a:spcAft>
                <a:spcPts val="0"/>
              </a:spcAft>
              <a:buSzPct val="95000"/>
              <a:buChar char="⚫"/>
            </a:pPr>
            <a:r>
              <a:rPr lang="en-US" b="1"/>
              <a:t>Stochastic </a:t>
            </a:r>
            <a:r>
              <a:rPr lang="en-US"/>
              <a:t>An activity is said to be stochastic where the effects of the activity vary randomly over various possible outcomes. </a:t>
            </a:r>
            <a:endParaRPr/>
          </a:p>
          <a:p>
            <a:pPr marL="274320" lvl="0" indent="-274320" algn="l" rtl="0">
              <a:spcBef>
                <a:spcPts val="481"/>
              </a:spcBef>
              <a:spcAft>
                <a:spcPts val="0"/>
              </a:spcAft>
              <a:buSzPct val="95000"/>
              <a:buChar char="⚫"/>
            </a:pPr>
            <a:r>
              <a:rPr lang="en-US"/>
              <a:t>Example: Throwing a dice or tossing a coin.</a:t>
            </a:r>
            <a:endParaRPr/>
          </a:p>
        </p:txBody>
      </p:sp>
      <p:pic>
        <p:nvPicPr>
          <p:cNvPr id="309" name="Google Shape;309;p28" descr="and.png"/>
          <p:cNvPicPr preferRelativeResize="0"/>
          <p:nvPr/>
        </p:nvPicPr>
        <p:blipFill rotWithShape="1">
          <a:blip r:embed="rId3">
            <a:alphaModFix/>
          </a:blip>
          <a:srcRect/>
          <a:stretch/>
        </p:blipFill>
        <p:spPr>
          <a:xfrm>
            <a:off x="5257800" y="3200400"/>
            <a:ext cx="1669787" cy="1029424"/>
          </a:xfrm>
          <a:prstGeom prst="rect">
            <a:avLst/>
          </a:prstGeom>
          <a:noFill/>
          <a:ln>
            <a:noFill/>
          </a:ln>
        </p:spPr>
      </p:pic>
      <p:pic>
        <p:nvPicPr>
          <p:cNvPr id="310" name="Google Shape;310;p28" descr="OR_ANSI.svg.png"/>
          <p:cNvPicPr preferRelativeResize="0"/>
          <p:nvPr/>
        </p:nvPicPr>
        <p:blipFill rotWithShape="1">
          <a:blip r:embed="rId4">
            <a:alphaModFix/>
          </a:blip>
          <a:srcRect/>
          <a:stretch/>
        </p:blipFill>
        <p:spPr>
          <a:xfrm>
            <a:off x="6858000" y="3810000"/>
            <a:ext cx="1752600" cy="876300"/>
          </a:xfrm>
          <a:prstGeom prst="rect">
            <a:avLst/>
          </a:prstGeom>
          <a:noFill/>
          <a:ln>
            <a:noFill/>
          </a:ln>
        </p:spPr>
      </p:pic>
      <p:pic>
        <p:nvPicPr>
          <p:cNvPr id="311" name="Google Shape;311;p28" descr="dice.jpg"/>
          <p:cNvPicPr preferRelativeResize="0"/>
          <p:nvPr/>
        </p:nvPicPr>
        <p:blipFill rotWithShape="1">
          <a:blip r:embed="rId5">
            <a:alphaModFix/>
          </a:blip>
          <a:srcRect/>
          <a:stretch/>
        </p:blipFill>
        <p:spPr>
          <a:xfrm>
            <a:off x="7124700" y="5410200"/>
            <a:ext cx="2019300" cy="1447800"/>
          </a:xfrm>
          <a:prstGeom prst="rect">
            <a:avLst/>
          </a:prstGeom>
          <a:noFill/>
          <a:ln>
            <a:noFill/>
          </a:ln>
        </p:spPr>
      </p:pic>
      <p:pic>
        <p:nvPicPr>
          <p:cNvPr id="312" name="Google Shape;312;p28" descr="coin.jpg"/>
          <p:cNvPicPr preferRelativeResize="0"/>
          <p:nvPr/>
        </p:nvPicPr>
        <p:blipFill rotWithShape="1">
          <a:blip r:embed="rId6">
            <a:alphaModFix/>
          </a:blip>
          <a:srcRect/>
          <a:stretch/>
        </p:blipFill>
        <p:spPr>
          <a:xfrm>
            <a:off x="4343400" y="5486400"/>
            <a:ext cx="2058203" cy="1371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8">
                                            <p:txEl>
                                              <p:pRg st="0" end="0"/>
                                            </p:txEl>
                                          </p:spTgt>
                                        </p:tgtEl>
                                        <p:attrNameLst>
                                          <p:attrName>style.visibility</p:attrName>
                                        </p:attrNameLst>
                                      </p:cBhvr>
                                      <p:to>
                                        <p:strVal val="visible"/>
                                      </p:to>
                                    </p:set>
                                    <p:animEffect transition="in" filter="fade">
                                      <p:cBhvr>
                                        <p:cTn id="7" dur="500"/>
                                        <p:tgtEl>
                                          <p:spTgt spid="30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8">
                                            <p:txEl>
                                              <p:pRg st="1" end="1"/>
                                            </p:txEl>
                                          </p:spTgt>
                                        </p:tgtEl>
                                        <p:attrNameLst>
                                          <p:attrName>style.visibility</p:attrName>
                                        </p:attrNameLst>
                                      </p:cBhvr>
                                      <p:to>
                                        <p:strVal val="visible"/>
                                      </p:to>
                                    </p:set>
                                    <p:animEffect transition="in" filter="fade">
                                      <p:cBhvr>
                                        <p:cTn id="12" dur="500"/>
                                        <p:tgtEl>
                                          <p:spTgt spid="30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8">
                                            <p:txEl>
                                              <p:pRg st="2" end="2"/>
                                            </p:txEl>
                                          </p:spTgt>
                                        </p:tgtEl>
                                        <p:attrNameLst>
                                          <p:attrName>style.visibility</p:attrName>
                                        </p:attrNameLst>
                                      </p:cBhvr>
                                      <p:to>
                                        <p:strVal val="visible"/>
                                      </p:to>
                                    </p:set>
                                    <p:animEffect transition="in" filter="fade">
                                      <p:cBhvr>
                                        <p:cTn id="17" dur="500"/>
                                        <p:tgtEl>
                                          <p:spTgt spid="30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8">
                                            <p:txEl>
                                              <p:pRg st="3" end="3"/>
                                            </p:txEl>
                                          </p:spTgt>
                                        </p:tgtEl>
                                        <p:attrNameLst>
                                          <p:attrName>style.visibility</p:attrName>
                                        </p:attrNameLst>
                                      </p:cBhvr>
                                      <p:to>
                                        <p:strVal val="visible"/>
                                      </p:to>
                                    </p:set>
                                    <p:animEffect transition="in" filter="fade">
                                      <p:cBhvr>
                                        <p:cTn id="22" dur="500"/>
                                        <p:tgtEl>
                                          <p:spTgt spid="30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8">
                                            <p:txEl>
                                              <p:pRg st="4" end="4"/>
                                            </p:txEl>
                                          </p:spTgt>
                                        </p:tgtEl>
                                        <p:attrNameLst>
                                          <p:attrName>style.visibility</p:attrName>
                                        </p:attrNameLst>
                                      </p:cBhvr>
                                      <p:to>
                                        <p:strVal val="visible"/>
                                      </p:to>
                                    </p:set>
                                    <p:animEffect transition="in" filter="fade">
                                      <p:cBhvr>
                                        <p:cTn id="27" dur="500"/>
                                        <p:tgtEl>
                                          <p:spTgt spid="30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8">
                                            <p:txEl>
                                              <p:pRg st="5" end="5"/>
                                            </p:txEl>
                                          </p:spTgt>
                                        </p:tgtEl>
                                        <p:attrNameLst>
                                          <p:attrName>style.visibility</p:attrName>
                                        </p:attrNameLst>
                                      </p:cBhvr>
                                      <p:to>
                                        <p:strVal val="visible"/>
                                      </p:to>
                                    </p:set>
                                    <p:animEffect transition="in" filter="fade">
                                      <p:cBhvr>
                                        <p:cTn id="32" dur="500"/>
                                        <p:tgtEl>
                                          <p:spTgt spid="30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8">
                                            <p:txEl>
                                              <p:pRg st="6" end="6"/>
                                            </p:txEl>
                                          </p:spTgt>
                                        </p:tgtEl>
                                        <p:attrNameLst>
                                          <p:attrName>style.visibility</p:attrName>
                                        </p:attrNameLst>
                                      </p:cBhvr>
                                      <p:to>
                                        <p:strVal val="visible"/>
                                      </p:to>
                                    </p:set>
                                    <p:animEffect transition="in" filter="fade">
                                      <p:cBhvr>
                                        <p:cTn id="37" dur="500"/>
                                        <p:tgtEl>
                                          <p:spTgt spid="30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9"/>
                                        </p:tgtEl>
                                        <p:attrNameLst>
                                          <p:attrName>style.visibility</p:attrName>
                                        </p:attrNameLst>
                                      </p:cBhvr>
                                      <p:to>
                                        <p:strVal val="visible"/>
                                      </p:to>
                                    </p:set>
                                    <p:animEffect transition="in" filter="fade">
                                      <p:cBhvr>
                                        <p:cTn id="42" dur="500"/>
                                        <p:tgtEl>
                                          <p:spTgt spid="30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10"/>
                                        </p:tgtEl>
                                        <p:attrNameLst>
                                          <p:attrName>style.visibility</p:attrName>
                                        </p:attrNameLst>
                                      </p:cBhvr>
                                      <p:to>
                                        <p:strVal val="visible"/>
                                      </p:to>
                                    </p:set>
                                    <p:animEffect transition="in" filter="fade">
                                      <p:cBhvr>
                                        <p:cTn id="47" dur="500"/>
                                        <p:tgtEl>
                                          <p:spTgt spid="31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11"/>
                                        </p:tgtEl>
                                        <p:attrNameLst>
                                          <p:attrName>style.visibility</p:attrName>
                                        </p:attrNameLst>
                                      </p:cBhvr>
                                      <p:to>
                                        <p:strVal val="visible"/>
                                      </p:to>
                                    </p:set>
                                    <p:animEffect transition="in" filter="fade">
                                      <p:cBhvr>
                                        <p:cTn id="52" dur="500"/>
                                        <p:tgtEl>
                                          <p:spTgt spid="31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12"/>
                                        </p:tgtEl>
                                        <p:attrNameLst>
                                          <p:attrName>style.visibility</p:attrName>
                                        </p:attrNameLst>
                                      </p:cBhvr>
                                      <p:to>
                                        <p:strVal val="visible"/>
                                      </p:to>
                                    </p:set>
                                    <p:animEffect transition="in" filter="fade">
                                      <p:cBhvr>
                                        <p:cTn id="57" dur="500"/>
                                        <p:tgtEl>
                                          <p:spTgt spid="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29"/>
          <p:cNvSpPr txBox="1">
            <a:spLocks noGrp="1"/>
          </p:cNvSpPr>
          <p:nvPr>
            <p:ph type="title"/>
          </p:nvPr>
        </p:nvSpPr>
        <p:spPr>
          <a:xfrm>
            <a:off x="457200" y="0"/>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Continuous vs. Discrete system</a:t>
            </a:r>
            <a:endParaRPr/>
          </a:p>
        </p:txBody>
      </p:sp>
      <p:sp>
        <p:nvSpPr>
          <p:cNvPr id="318" name="Google Shape;318;p29"/>
          <p:cNvSpPr txBox="1">
            <a:spLocks noGrp="1"/>
          </p:cNvSpPr>
          <p:nvPr>
            <p:ph type="body" idx="1"/>
          </p:nvPr>
        </p:nvSpPr>
        <p:spPr>
          <a:xfrm>
            <a:off x="457200" y="1219200"/>
            <a:ext cx="8229600" cy="51054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b="1"/>
              <a:t>Continuous system</a:t>
            </a:r>
            <a:endParaRPr/>
          </a:p>
          <a:p>
            <a:pPr marL="640080" lvl="1" indent="-246888" algn="l" rtl="0">
              <a:spcBef>
                <a:spcPts val="480"/>
              </a:spcBef>
              <a:spcAft>
                <a:spcPts val="0"/>
              </a:spcAft>
              <a:buSzPts val="2040"/>
              <a:buChar char="⚫"/>
            </a:pPr>
            <a:r>
              <a:rPr lang="en-US"/>
              <a:t>Systems in which the changes are predominantly smooth are called continuous system. </a:t>
            </a:r>
            <a:endParaRPr/>
          </a:p>
          <a:p>
            <a:pPr marL="914400" lvl="2" indent="-246887" algn="l" rtl="0">
              <a:spcBef>
                <a:spcPts val="420"/>
              </a:spcBef>
              <a:spcAft>
                <a:spcPts val="0"/>
              </a:spcAft>
              <a:buSzPts val="1470"/>
              <a:buNone/>
            </a:pPr>
            <a:r>
              <a:rPr lang="en-US"/>
              <a:t>Example: The movement of the aircraft occurs smoothly so aircraft system is a continuous system. </a:t>
            </a:r>
            <a:endParaRPr/>
          </a:p>
          <a:p>
            <a:pPr marL="274320" lvl="0" indent="-274320" algn="l" rtl="0">
              <a:spcBef>
                <a:spcPts val="520"/>
              </a:spcBef>
              <a:spcAft>
                <a:spcPts val="0"/>
              </a:spcAft>
              <a:buSzPts val="2470"/>
              <a:buChar char="⚫"/>
            </a:pPr>
            <a:r>
              <a:rPr lang="en-US" b="1"/>
              <a:t>Discrete system </a:t>
            </a:r>
            <a:endParaRPr/>
          </a:p>
          <a:p>
            <a:pPr marL="640080" lvl="1" indent="-246888" algn="l" rtl="0">
              <a:spcBef>
                <a:spcPts val="480"/>
              </a:spcBef>
              <a:spcAft>
                <a:spcPts val="0"/>
              </a:spcAft>
              <a:buSzPts val="2040"/>
              <a:buChar char="⚫"/>
            </a:pPr>
            <a:r>
              <a:rPr lang="en-US"/>
              <a:t>Systems in which the changes are predominantly discontinuous are called discrete system.</a:t>
            </a:r>
            <a:endParaRPr/>
          </a:p>
          <a:p>
            <a:pPr marL="914400" lvl="2" indent="-246887" algn="l" rtl="0">
              <a:spcBef>
                <a:spcPts val="420"/>
              </a:spcBef>
              <a:spcAft>
                <a:spcPts val="0"/>
              </a:spcAft>
              <a:buSzPts val="1470"/>
              <a:buChar char="⚫"/>
            </a:pPr>
            <a:r>
              <a:rPr lang="en-US"/>
              <a:t> Example: Changes in the factory occur discontinuously so factory system is a discrete system.</a:t>
            </a:r>
            <a:endParaRPr/>
          </a:p>
        </p:txBody>
      </p:sp>
      <p:pic>
        <p:nvPicPr>
          <p:cNvPr id="319" name="Google Shape;319;p29" descr="airplane_flying_the_skies_md_wm.gif"/>
          <p:cNvPicPr preferRelativeResize="0"/>
          <p:nvPr/>
        </p:nvPicPr>
        <p:blipFill rotWithShape="1">
          <a:blip r:embed="rId3">
            <a:alphaModFix/>
          </a:blip>
          <a:srcRect/>
          <a:stretch/>
        </p:blipFill>
        <p:spPr>
          <a:xfrm>
            <a:off x="6172200" y="152400"/>
            <a:ext cx="2971800" cy="2514600"/>
          </a:xfrm>
          <a:prstGeom prst="rect">
            <a:avLst/>
          </a:prstGeom>
          <a:noFill/>
          <a:ln>
            <a:noFill/>
          </a:ln>
        </p:spPr>
      </p:pic>
      <p:pic>
        <p:nvPicPr>
          <p:cNvPr id="320" name="Google Shape;320;p29" descr="fac.gif"/>
          <p:cNvPicPr preferRelativeResize="0"/>
          <p:nvPr/>
        </p:nvPicPr>
        <p:blipFill rotWithShape="1">
          <a:blip r:embed="rId4">
            <a:alphaModFix/>
          </a:blip>
          <a:srcRect/>
          <a:stretch/>
        </p:blipFill>
        <p:spPr>
          <a:xfrm>
            <a:off x="4724400" y="4374185"/>
            <a:ext cx="4419600" cy="248381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8">
                                            <p:txEl>
                                              <p:pRg st="0" end="0"/>
                                            </p:txEl>
                                          </p:spTgt>
                                        </p:tgtEl>
                                        <p:attrNameLst>
                                          <p:attrName>style.visibility</p:attrName>
                                        </p:attrNameLst>
                                      </p:cBhvr>
                                      <p:to>
                                        <p:strVal val="visible"/>
                                      </p:to>
                                    </p:set>
                                    <p:animEffect transition="in" filter="fade">
                                      <p:cBhvr>
                                        <p:cTn id="7" dur="500"/>
                                        <p:tgtEl>
                                          <p:spTgt spid="3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8">
                                            <p:txEl>
                                              <p:pRg st="1" end="1"/>
                                            </p:txEl>
                                          </p:spTgt>
                                        </p:tgtEl>
                                        <p:attrNameLst>
                                          <p:attrName>style.visibility</p:attrName>
                                        </p:attrNameLst>
                                      </p:cBhvr>
                                      <p:to>
                                        <p:strVal val="visible"/>
                                      </p:to>
                                    </p:set>
                                    <p:animEffect transition="in" filter="fade">
                                      <p:cBhvr>
                                        <p:cTn id="12" dur="500"/>
                                        <p:tgtEl>
                                          <p:spTgt spid="3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8">
                                            <p:txEl>
                                              <p:pRg st="2" end="2"/>
                                            </p:txEl>
                                          </p:spTgt>
                                        </p:tgtEl>
                                        <p:attrNameLst>
                                          <p:attrName>style.visibility</p:attrName>
                                        </p:attrNameLst>
                                      </p:cBhvr>
                                      <p:to>
                                        <p:strVal val="visible"/>
                                      </p:to>
                                    </p:set>
                                    <p:animEffect transition="in" filter="fade">
                                      <p:cBhvr>
                                        <p:cTn id="17" dur="500"/>
                                        <p:tgtEl>
                                          <p:spTgt spid="3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8">
                                            <p:txEl>
                                              <p:pRg st="3" end="3"/>
                                            </p:txEl>
                                          </p:spTgt>
                                        </p:tgtEl>
                                        <p:attrNameLst>
                                          <p:attrName>style.visibility</p:attrName>
                                        </p:attrNameLst>
                                      </p:cBhvr>
                                      <p:to>
                                        <p:strVal val="visible"/>
                                      </p:to>
                                    </p:set>
                                    <p:animEffect transition="in" filter="fade">
                                      <p:cBhvr>
                                        <p:cTn id="22" dur="500"/>
                                        <p:tgtEl>
                                          <p:spTgt spid="3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8">
                                            <p:txEl>
                                              <p:pRg st="4" end="4"/>
                                            </p:txEl>
                                          </p:spTgt>
                                        </p:tgtEl>
                                        <p:attrNameLst>
                                          <p:attrName>style.visibility</p:attrName>
                                        </p:attrNameLst>
                                      </p:cBhvr>
                                      <p:to>
                                        <p:strVal val="visible"/>
                                      </p:to>
                                    </p:set>
                                    <p:animEffect transition="in" filter="fade">
                                      <p:cBhvr>
                                        <p:cTn id="27" dur="500"/>
                                        <p:tgtEl>
                                          <p:spTgt spid="31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8">
                                            <p:txEl>
                                              <p:pRg st="5" end="5"/>
                                            </p:txEl>
                                          </p:spTgt>
                                        </p:tgtEl>
                                        <p:attrNameLst>
                                          <p:attrName>style.visibility</p:attrName>
                                        </p:attrNameLst>
                                      </p:cBhvr>
                                      <p:to>
                                        <p:strVal val="visible"/>
                                      </p:to>
                                    </p:set>
                                    <p:animEffect transition="in" filter="fade">
                                      <p:cBhvr>
                                        <p:cTn id="32" dur="500"/>
                                        <p:tgtEl>
                                          <p:spTgt spid="31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19"/>
                                        </p:tgtEl>
                                        <p:attrNameLst>
                                          <p:attrName>style.visibility</p:attrName>
                                        </p:attrNameLst>
                                      </p:cBhvr>
                                      <p:to>
                                        <p:strVal val="visible"/>
                                      </p:to>
                                    </p:set>
                                    <p:animEffect transition="in" filter="fade">
                                      <p:cBhvr>
                                        <p:cTn id="37" dur="500"/>
                                        <p:tgtEl>
                                          <p:spTgt spid="3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20"/>
                                        </p:tgtEl>
                                        <p:attrNameLst>
                                          <p:attrName>style.visibility</p:attrName>
                                        </p:attrNameLst>
                                      </p:cBhvr>
                                      <p:to>
                                        <p:strVal val="visible"/>
                                      </p:to>
                                    </p:set>
                                    <p:animEffect transition="in" filter="fade">
                                      <p:cBhvr>
                                        <p:cTn id="42" dur="500"/>
                                        <p:tgtEl>
                                          <p:spTgt spid="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0"/>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System Modeling</a:t>
            </a:r>
            <a:endParaRPr/>
          </a:p>
        </p:txBody>
      </p:sp>
      <p:sp>
        <p:nvSpPr>
          <p:cNvPr id="326" name="Google Shape;326;p30"/>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92500" lnSpcReduction="20000"/>
          </a:bodyPr>
          <a:lstStyle/>
          <a:p>
            <a:pPr marL="274320" lvl="0" indent="-274320" algn="l" rtl="0">
              <a:spcBef>
                <a:spcPts val="0"/>
              </a:spcBef>
              <a:spcAft>
                <a:spcPts val="0"/>
              </a:spcAft>
              <a:buSzPct val="95000"/>
              <a:buChar char="⚫"/>
            </a:pPr>
            <a:r>
              <a:rPr lang="en-US" b="1"/>
              <a:t>Model</a:t>
            </a:r>
            <a:endParaRPr/>
          </a:p>
          <a:p>
            <a:pPr marL="274320" lvl="0" indent="-274320" algn="l" rtl="0">
              <a:spcBef>
                <a:spcPts val="481"/>
              </a:spcBef>
              <a:spcAft>
                <a:spcPts val="0"/>
              </a:spcAft>
              <a:buSzPct val="95000"/>
              <a:buChar char="⚫"/>
            </a:pPr>
            <a:r>
              <a:rPr lang="en-US"/>
              <a:t>The </a:t>
            </a:r>
            <a:r>
              <a:rPr lang="en-US" b="1"/>
              <a:t>model</a:t>
            </a:r>
            <a:r>
              <a:rPr lang="en-US"/>
              <a:t> is defined as the body of information about a system gathered for the purpose of studying the system. </a:t>
            </a:r>
            <a:endParaRPr/>
          </a:p>
          <a:p>
            <a:pPr marL="274320" lvl="0" indent="-274320" algn="l" rtl="0">
              <a:spcBef>
                <a:spcPts val="481"/>
              </a:spcBef>
              <a:spcAft>
                <a:spcPts val="0"/>
              </a:spcAft>
              <a:buSzPct val="95000"/>
              <a:buChar char="⚫"/>
            </a:pPr>
            <a:r>
              <a:rPr lang="en-US"/>
              <a:t>The tasks of deriving a system model are divided into two subtasks. They are</a:t>
            </a:r>
            <a:endParaRPr/>
          </a:p>
          <a:p>
            <a:pPr marL="640080" lvl="1" indent="-246888" algn="l" rtl="0">
              <a:spcBef>
                <a:spcPts val="444"/>
              </a:spcBef>
              <a:spcAft>
                <a:spcPts val="0"/>
              </a:spcAft>
              <a:buSzPct val="85000"/>
              <a:buChar char="⚫"/>
            </a:pPr>
            <a:r>
              <a:rPr lang="en-US" b="1"/>
              <a:t> 1. Establishing the model structure </a:t>
            </a:r>
            <a:endParaRPr/>
          </a:p>
          <a:p>
            <a:pPr marL="640080" lvl="1" indent="-246888" algn="l" rtl="0">
              <a:spcBef>
                <a:spcPts val="444"/>
              </a:spcBef>
              <a:spcAft>
                <a:spcPts val="0"/>
              </a:spcAft>
              <a:buSzPct val="85000"/>
              <a:buChar char="⚫"/>
            </a:pPr>
            <a:r>
              <a:rPr lang="en-US" b="1"/>
              <a:t>2. Supplying the data</a:t>
            </a:r>
            <a:endParaRPr/>
          </a:p>
          <a:p>
            <a:pPr marL="274320" lvl="0" indent="-274320" algn="l" rtl="0">
              <a:spcBef>
                <a:spcPts val="481"/>
              </a:spcBef>
              <a:spcAft>
                <a:spcPts val="0"/>
              </a:spcAft>
              <a:buSzPct val="95000"/>
              <a:buChar char="⚫"/>
            </a:pPr>
            <a:r>
              <a:rPr lang="en-US"/>
              <a:t> </a:t>
            </a:r>
            <a:r>
              <a:rPr lang="en-US" b="1"/>
              <a:t>Establishing the model structure :</a:t>
            </a:r>
            <a:r>
              <a:rPr lang="en-US"/>
              <a:t>It determines the system boundary and identifies the entities, attributes and activities of the system. </a:t>
            </a:r>
            <a:endParaRPr/>
          </a:p>
          <a:p>
            <a:pPr marL="274320" lvl="0" indent="-274320" algn="l" rtl="0">
              <a:spcBef>
                <a:spcPts val="481"/>
              </a:spcBef>
              <a:spcAft>
                <a:spcPts val="0"/>
              </a:spcAft>
              <a:buSzPct val="95000"/>
              <a:buChar char="⚫"/>
            </a:pPr>
            <a:r>
              <a:rPr lang="en-US" b="1"/>
              <a:t>Supplying the data :</a:t>
            </a:r>
            <a:r>
              <a:rPr lang="en-US"/>
              <a:t>The data provides the values that the attributes can have and define the relationships involved in the activities.</a:t>
            </a:r>
            <a:endParaRPr/>
          </a:p>
        </p:txBody>
      </p:sp>
      <p:pic>
        <p:nvPicPr>
          <p:cNvPr id="327" name="Google Shape;327;p30" descr="model.jpg"/>
          <p:cNvPicPr preferRelativeResize="0"/>
          <p:nvPr/>
        </p:nvPicPr>
        <p:blipFill rotWithShape="1">
          <a:blip r:embed="rId3">
            <a:alphaModFix/>
          </a:blip>
          <a:srcRect/>
          <a:stretch/>
        </p:blipFill>
        <p:spPr>
          <a:xfrm>
            <a:off x="6553200" y="0"/>
            <a:ext cx="2590800" cy="188421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6">
                                            <p:txEl>
                                              <p:pRg st="0" end="0"/>
                                            </p:txEl>
                                          </p:spTgt>
                                        </p:tgtEl>
                                        <p:attrNameLst>
                                          <p:attrName>style.visibility</p:attrName>
                                        </p:attrNameLst>
                                      </p:cBhvr>
                                      <p:to>
                                        <p:strVal val="visible"/>
                                      </p:to>
                                    </p:set>
                                    <p:animEffect transition="in" filter="fade">
                                      <p:cBhvr>
                                        <p:cTn id="7" dur="500"/>
                                        <p:tgtEl>
                                          <p:spTgt spid="3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6">
                                            <p:txEl>
                                              <p:pRg st="1" end="1"/>
                                            </p:txEl>
                                          </p:spTgt>
                                        </p:tgtEl>
                                        <p:attrNameLst>
                                          <p:attrName>style.visibility</p:attrName>
                                        </p:attrNameLst>
                                      </p:cBhvr>
                                      <p:to>
                                        <p:strVal val="visible"/>
                                      </p:to>
                                    </p:set>
                                    <p:animEffect transition="in" filter="fade">
                                      <p:cBhvr>
                                        <p:cTn id="12" dur="500"/>
                                        <p:tgtEl>
                                          <p:spTgt spid="3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6">
                                            <p:txEl>
                                              <p:pRg st="2" end="2"/>
                                            </p:txEl>
                                          </p:spTgt>
                                        </p:tgtEl>
                                        <p:attrNameLst>
                                          <p:attrName>style.visibility</p:attrName>
                                        </p:attrNameLst>
                                      </p:cBhvr>
                                      <p:to>
                                        <p:strVal val="visible"/>
                                      </p:to>
                                    </p:set>
                                    <p:animEffect transition="in" filter="fade">
                                      <p:cBhvr>
                                        <p:cTn id="17" dur="500"/>
                                        <p:tgtEl>
                                          <p:spTgt spid="3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6">
                                            <p:txEl>
                                              <p:pRg st="3" end="3"/>
                                            </p:txEl>
                                          </p:spTgt>
                                        </p:tgtEl>
                                        <p:attrNameLst>
                                          <p:attrName>style.visibility</p:attrName>
                                        </p:attrNameLst>
                                      </p:cBhvr>
                                      <p:to>
                                        <p:strVal val="visible"/>
                                      </p:to>
                                    </p:set>
                                    <p:animEffect transition="in" filter="fade">
                                      <p:cBhvr>
                                        <p:cTn id="22" dur="500"/>
                                        <p:tgtEl>
                                          <p:spTgt spid="3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6">
                                            <p:txEl>
                                              <p:pRg st="4" end="4"/>
                                            </p:txEl>
                                          </p:spTgt>
                                        </p:tgtEl>
                                        <p:attrNameLst>
                                          <p:attrName>style.visibility</p:attrName>
                                        </p:attrNameLst>
                                      </p:cBhvr>
                                      <p:to>
                                        <p:strVal val="visible"/>
                                      </p:to>
                                    </p:set>
                                    <p:animEffect transition="in" filter="fade">
                                      <p:cBhvr>
                                        <p:cTn id="27" dur="500"/>
                                        <p:tgtEl>
                                          <p:spTgt spid="32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26">
                                            <p:txEl>
                                              <p:pRg st="5" end="5"/>
                                            </p:txEl>
                                          </p:spTgt>
                                        </p:tgtEl>
                                        <p:attrNameLst>
                                          <p:attrName>style.visibility</p:attrName>
                                        </p:attrNameLst>
                                      </p:cBhvr>
                                      <p:to>
                                        <p:strVal val="visible"/>
                                      </p:to>
                                    </p:set>
                                    <p:animEffect transition="in" filter="fade">
                                      <p:cBhvr>
                                        <p:cTn id="32" dur="500"/>
                                        <p:tgtEl>
                                          <p:spTgt spid="32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26">
                                            <p:txEl>
                                              <p:pRg st="6" end="6"/>
                                            </p:txEl>
                                          </p:spTgt>
                                        </p:tgtEl>
                                        <p:attrNameLst>
                                          <p:attrName>style.visibility</p:attrName>
                                        </p:attrNameLst>
                                      </p:cBhvr>
                                      <p:to>
                                        <p:strVal val="visible"/>
                                      </p:to>
                                    </p:set>
                                    <p:animEffect transition="in" filter="fade">
                                      <p:cBhvr>
                                        <p:cTn id="37" dur="500"/>
                                        <p:tgtEl>
                                          <p:spTgt spid="32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27"/>
                                        </p:tgtEl>
                                        <p:attrNameLst>
                                          <p:attrName>style.visibility</p:attrName>
                                        </p:attrNameLst>
                                      </p:cBhvr>
                                      <p:to>
                                        <p:strVal val="visible"/>
                                      </p:to>
                                    </p:set>
                                    <p:animEffect transition="in" filter="fade">
                                      <p:cBhvr>
                                        <p:cTn id="42" dur="500"/>
                                        <p:tgtEl>
                                          <p:spTgt spid="3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31"/>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Types of Model</a:t>
            </a:r>
            <a:endParaRPr/>
          </a:p>
        </p:txBody>
      </p:sp>
      <p:pic>
        <p:nvPicPr>
          <p:cNvPr id="333" name="Google Shape;333;p31" descr="modelsty.PNG"/>
          <p:cNvPicPr preferRelativeResize="0">
            <a:picLocks noGrp="1"/>
          </p:cNvPicPr>
          <p:nvPr>
            <p:ph type="body" idx="1"/>
          </p:nvPr>
        </p:nvPicPr>
        <p:blipFill rotWithShape="1">
          <a:blip r:embed="rId3">
            <a:alphaModFix/>
          </a:blip>
          <a:srcRect/>
          <a:stretch/>
        </p:blipFill>
        <p:spPr>
          <a:xfrm>
            <a:off x="1143000" y="1682947"/>
            <a:ext cx="6781800" cy="483949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3"/>
                                        </p:tgtEl>
                                        <p:attrNameLst>
                                          <p:attrName>style.visibility</p:attrName>
                                        </p:attrNameLst>
                                      </p:cBhvr>
                                      <p:to>
                                        <p:strVal val="visible"/>
                                      </p:to>
                                    </p:set>
                                    <p:animEffect transition="in" filter="fade">
                                      <p:cBhvr>
                                        <p:cTn id="7" dur="500"/>
                                        <p:tgtEl>
                                          <p:spTgt spid="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Types of Model..</a:t>
            </a:r>
            <a:endParaRPr/>
          </a:p>
        </p:txBody>
      </p:sp>
      <p:sp>
        <p:nvSpPr>
          <p:cNvPr id="339" name="Google Shape;339;p32"/>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Models are broadly classified into </a:t>
            </a:r>
            <a:endParaRPr/>
          </a:p>
          <a:p>
            <a:pPr marL="640080" lvl="1" indent="-246888" algn="l" rtl="0">
              <a:spcBef>
                <a:spcPts val="480"/>
              </a:spcBef>
              <a:spcAft>
                <a:spcPts val="0"/>
              </a:spcAft>
              <a:buSzPts val="2040"/>
              <a:buChar char="⚫"/>
            </a:pPr>
            <a:r>
              <a:rPr lang="en-US"/>
              <a:t>1. physical models </a:t>
            </a:r>
            <a:endParaRPr/>
          </a:p>
          <a:p>
            <a:pPr marL="640080" lvl="1" indent="-246888" algn="l" rtl="0">
              <a:spcBef>
                <a:spcPts val="480"/>
              </a:spcBef>
              <a:spcAft>
                <a:spcPts val="0"/>
              </a:spcAft>
              <a:buSzPts val="2040"/>
              <a:buChar char="⚫"/>
            </a:pPr>
            <a:r>
              <a:rPr lang="en-US"/>
              <a:t>2. mathematical models.</a:t>
            </a:r>
            <a:endParaRPr/>
          </a:p>
          <a:p>
            <a:pPr marL="274320" lvl="0" indent="-274320" algn="l" rtl="0">
              <a:spcBef>
                <a:spcPts val="520"/>
              </a:spcBef>
              <a:spcAft>
                <a:spcPts val="0"/>
              </a:spcAft>
              <a:buSzPts val="2470"/>
              <a:buChar char="⚫"/>
            </a:pPr>
            <a:r>
              <a:rPr lang="en-US" b="1"/>
              <a:t>Physical models: </a:t>
            </a:r>
            <a:endParaRPr/>
          </a:p>
          <a:p>
            <a:pPr marL="640080" lvl="1" indent="-246888" algn="l" rtl="0">
              <a:spcBef>
                <a:spcPts val="480"/>
              </a:spcBef>
              <a:spcAft>
                <a:spcPts val="0"/>
              </a:spcAft>
              <a:buSzPts val="2040"/>
              <a:buChar char="⚫"/>
            </a:pPr>
            <a:r>
              <a:rPr lang="en-US"/>
              <a:t>Physical models are based on some analogy between such systems as mechanical and electrical or electrical or hydraulic. </a:t>
            </a:r>
            <a:endParaRPr/>
          </a:p>
          <a:p>
            <a:pPr marL="640080" lvl="1" indent="-246888" algn="l" rtl="0">
              <a:spcBef>
                <a:spcPts val="480"/>
              </a:spcBef>
              <a:spcAft>
                <a:spcPts val="0"/>
              </a:spcAft>
              <a:buSzPts val="2040"/>
              <a:buChar char="⚫"/>
            </a:pPr>
            <a:r>
              <a:rPr lang="en-US"/>
              <a:t>They deal with physical measurement such as length of wings, measurement of voltage, measurement of diameter of wheel and so on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9">
                                            <p:txEl>
                                              <p:pRg st="0" end="0"/>
                                            </p:txEl>
                                          </p:spTgt>
                                        </p:tgtEl>
                                        <p:attrNameLst>
                                          <p:attrName>style.visibility</p:attrName>
                                        </p:attrNameLst>
                                      </p:cBhvr>
                                      <p:to>
                                        <p:strVal val="visible"/>
                                      </p:to>
                                    </p:set>
                                    <p:animEffect transition="in" filter="fade">
                                      <p:cBhvr>
                                        <p:cTn id="7" dur="500"/>
                                        <p:tgtEl>
                                          <p:spTgt spid="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9">
                                            <p:txEl>
                                              <p:pRg st="1" end="1"/>
                                            </p:txEl>
                                          </p:spTgt>
                                        </p:tgtEl>
                                        <p:attrNameLst>
                                          <p:attrName>style.visibility</p:attrName>
                                        </p:attrNameLst>
                                      </p:cBhvr>
                                      <p:to>
                                        <p:strVal val="visible"/>
                                      </p:to>
                                    </p:set>
                                    <p:animEffect transition="in" filter="fade">
                                      <p:cBhvr>
                                        <p:cTn id="12" dur="500"/>
                                        <p:tgtEl>
                                          <p:spTgt spid="3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9">
                                            <p:txEl>
                                              <p:pRg st="2" end="2"/>
                                            </p:txEl>
                                          </p:spTgt>
                                        </p:tgtEl>
                                        <p:attrNameLst>
                                          <p:attrName>style.visibility</p:attrName>
                                        </p:attrNameLst>
                                      </p:cBhvr>
                                      <p:to>
                                        <p:strVal val="visible"/>
                                      </p:to>
                                    </p:set>
                                    <p:animEffect transition="in" filter="fade">
                                      <p:cBhvr>
                                        <p:cTn id="17" dur="500"/>
                                        <p:tgtEl>
                                          <p:spTgt spid="3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9">
                                            <p:txEl>
                                              <p:pRg st="3" end="3"/>
                                            </p:txEl>
                                          </p:spTgt>
                                        </p:tgtEl>
                                        <p:attrNameLst>
                                          <p:attrName>style.visibility</p:attrName>
                                        </p:attrNameLst>
                                      </p:cBhvr>
                                      <p:to>
                                        <p:strVal val="visible"/>
                                      </p:to>
                                    </p:set>
                                    <p:animEffect transition="in" filter="fade">
                                      <p:cBhvr>
                                        <p:cTn id="22" dur="500"/>
                                        <p:tgtEl>
                                          <p:spTgt spid="3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9">
                                            <p:txEl>
                                              <p:pRg st="4" end="4"/>
                                            </p:txEl>
                                          </p:spTgt>
                                        </p:tgtEl>
                                        <p:attrNameLst>
                                          <p:attrName>style.visibility</p:attrName>
                                        </p:attrNameLst>
                                      </p:cBhvr>
                                      <p:to>
                                        <p:strVal val="visible"/>
                                      </p:to>
                                    </p:set>
                                    <p:animEffect transition="in" filter="fade">
                                      <p:cBhvr>
                                        <p:cTn id="27" dur="500"/>
                                        <p:tgtEl>
                                          <p:spTgt spid="33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39">
                                            <p:txEl>
                                              <p:pRg st="5" end="5"/>
                                            </p:txEl>
                                          </p:spTgt>
                                        </p:tgtEl>
                                        <p:attrNameLst>
                                          <p:attrName>style.visibility</p:attrName>
                                        </p:attrNameLst>
                                      </p:cBhvr>
                                      <p:to>
                                        <p:strVal val="visible"/>
                                      </p:to>
                                    </p:set>
                                    <p:animEffect transition="in" filter="fade">
                                      <p:cBhvr>
                                        <p:cTn id="32" dur="500"/>
                                        <p:tgtEl>
                                          <p:spTgt spid="3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3"/>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Types of Model…</a:t>
            </a:r>
            <a:endParaRPr/>
          </a:p>
        </p:txBody>
      </p:sp>
      <p:sp>
        <p:nvSpPr>
          <p:cNvPr id="345" name="Google Shape;345;p33"/>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92500" lnSpcReduction="10000"/>
          </a:bodyPr>
          <a:lstStyle/>
          <a:p>
            <a:pPr marL="274320" lvl="0" indent="-274320" algn="l" rtl="0">
              <a:spcBef>
                <a:spcPts val="0"/>
              </a:spcBef>
              <a:spcAft>
                <a:spcPts val="0"/>
              </a:spcAft>
              <a:buSzPct val="95000"/>
              <a:buChar char="⚫"/>
            </a:pPr>
            <a:r>
              <a:rPr lang="en-US" b="1"/>
              <a:t>Mathematical models: </a:t>
            </a:r>
            <a:endParaRPr/>
          </a:p>
          <a:p>
            <a:pPr marL="274320" lvl="0" indent="-274320" algn="l" rtl="0">
              <a:spcBef>
                <a:spcPts val="481"/>
              </a:spcBef>
              <a:spcAft>
                <a:spcPts val="0"/>
              </a:spcAft>
              <a:buSzPct val="95000"/>
              <a:buChar char="⚫"/>
            </a:pPr>
            <a:r>
              <a:rPr lang="en-US"/>
              <a:t>The mathematical model use symbolic notations and mathematical equations to represent a system. </a:t>
            </a:r>
            <a:endParaRPr/>
          </a:p>
          <a:p>
            <a:pPr marL="274320" lvl="0" indent="-274320" algn="l" rtl="0">
              <a:spcBef>
                <a:spcPts val="481"/>
              </a:spcBef>
              <a:spcAft>
                <a:spcPts val="0"/>
              </a:spcAft>
              <a:buSzPct val="95000"/>
              <a:buChar char="⚫"/>
            </a:pPr>
            <a:r>
              <a:rPr lang="en-US"/>
              <a:t>The system attributes are represented by variables and the activities that represented by mathematical functions that interrelate the variables. </a:t>
            </a:r>
            <a:endParaRPr/>
          </a:p>
          <a:p>
            <a:pPr marL="274320" lvl="0" indent="-274320" algn="l" rtl="0">
              <a:spcBef>
                <a:spcPts val="481"/>
              </a:spcBef>
              <a:spcAft>
                <a:spcPts val="0"/>
              </a:spcAft>
              <a:buSzPct val="95000"/>
              <a:buChar char="⚫"/>
            </a:pPr>
            <a:r>
              <a:rPr lang="en-US"/>
              <a:t>A second distinction is between static models and dynamic models. </a:t>
            </a:r>
            <a:endParaRPr/>
          </a:p>
          <a:p>
            <a:pPr marL="274320" lvl="0" indent="-274320" algn="l" rtl="0">
              <a:spcBef>
                <a:spcPts val="481"/>
              </a:spcBef>
              <a:spcAft>
                <a:spcPts val="0"/>
              </a:spcAft>
              <a:buSzPct val="95000"/>
              <a:buChar char="⚫"/>
            </a:pPr>
            <a:r>
              <a:rPr lang="en-US"/>
              <a:t>Static models can only show the values that system attributes take where the system is in balanced.</a:t>
            </a:r>
            <a:endParaRPr/>
          </a:p>
          <a:p>
            <a:pPr marL="274320" lvl="0" indent="-274320" algn="l" rtl="0">
              <a:spcBef>
                <a:spcPts val="481"/>
              </a:spcBef>
              <a:spcAft>
                <a:spcPts val="0"/>
              </a:spcAft>
              <a:buSzPct val="95000"/>
              <a:buChar char="⚫"/>
            </a:pPr>
            <a:r>
              <a:rPr lang="en-US"/>
              <a:t> Dynamic models follow the changes over time that result from system activities.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5">
                                            <p:txEl>
                                              <p:pRg st="0" end="0"/>
                                            </p:txEl>
                                          </p:spTgt>
                                        </p:tgtEl>
                                        <p:attrNameLst>
                                          <p:attrName>style.visibility</p:attrName>
                                        </p:attrNameLst>
                                      </p:cBhvr>
                                      <p:to>
                                        <p:strVal val="visible"/>
                                      </p:to>
                                    </p:set>
                                    <p:animEffect transition="in" filter="fade">
                                      <p:cBhvr>
                                        <p:cTn id="7" dur="500"/>
                                        <p:tgtEl>
                                          <p:spTgt spid="3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5">
                                            <p:txEl>
                                              <p:pRg st="1" end="1"/>
                                            </p:txEl>
                                          </p:spTgt>
                                        </p:tgtEl>
                                        <p:attrNameLst>
                                          <p:attrName>style.visibility</p:attrName>
                                        </p:attrNameLst>
                                      </p:cBhvr>
                                      <p:to>
                                        <p:strVal val="visible"/>
                                      </p:to>
                                    </p:set>
                                    <p:animEffect transition="in" filter="fade">
                                      <p:cBhvr>
                                        <p:cTn id="12" dur="500"/>
                                        <p:tgtEl>
                                          <p:spTgt spid="34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5">
                                            <p:txEl>
                                              <p:pRg st="2" end="2"/>
                                            </p:txEl>
                                          </p:spTgt>
                                        </p:tgtEl>
                                        <p:attrNameLst>
                                          <p:attrName>style.visibility</p:attrName>
                                        </p:attrNameLst>
                                      </p:cBhvr>
                                      <p:to>
                                        <p:strVal val="visible"/>
                                      </p:to>
                                    </p:set>
                                    <p:animEffect transition="in" filter="fade">
                                      <p:cBhvr>
                                        <p:cTn id="17" dur="500"/>
                                        <p:tgtEl>
                                          <p:spTgt spid="34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5">
                                            <p:txEl>
                                              <p:pRg st="3" end="3"/>
                                            </p:txEl>
                                          </p:spTgt>
                                        </p:tgtEl>
                                        <p:attrNameLst>
                                          <p:attrName>style.visibility</p:attrName>
                                        </p:attrNameLst>
                                      </p:cBhvr>
                                      <p:to>
                                        <p:strVal val="visible"/>
                                      </p:to>
                                    </p:set>
                                    <p:animEffect transition="in" filter="fade">
                                      <p:cBhvr>
                                        <p:cTn id="22" dur="500"/>
                                        <p:tgtEl>
                                          <p:spTgt spid="34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5">
                                            <p:txEl>
                                              <p:pRg st="4" end="4"/>
                                            </p:txEl>
                                          </p:spTgt>
                                        </p:tgtEl>
                                        <p:attrNameLst>
                                          <p:attrName>style.visibility</p:attrName>
                                        </p:attrNameLst>
                                      </p:cBhvr>
                                      <p:to>
                                        <p:strVal val="visible"/>
                                      </p:to>
                                    </p:set>
                                    <p:animEffect transition="in" filter="fade">
                                      <p:cBhvr>
                                        <p:cTn id="27" dur="500"/>
                                        <p:tgtEl>
                                          <p:spTgt spid="34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5">
                                            <p:txEl>
                                              <p:pRg st="5" end="5"/>
                                            </p:txEl>
                                          </p:spTgt>
                                        </p:tgtEl>
                                        <p:attrNameLst>
                                          <p:attrName>style.visibility</p:attrName>
                                        </p:attrNameLst>
                                      </p:cBhvr>
                                      <p:to>
                                        <p:strVal val="visible"/>
                                      </p:to>
                                    </p:set>
                                    <p:animEffect transition="in" filter="fade">
                                      <p:cBhvr>
                                        <p:cTn id="32" dur="500"/>
                                        <p:tgtEl>
                                          <p:spTgt spid="34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3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Types of Model..</a:t>
            </a:r>
            <a:endParaRPr/>
          </a:p>
        </p:txBody>
      </p:sp>
      <p:sp>
        <p:nvSpPr>
          <p:cNvPr id="351" name="Google Shape;351;p34"/>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In case of mathematical model the third distinction is a technique by which the model is solved that is actual values are assigned to system attributes. </a:t>
            </a:r>
            <a:endParaRPr/>
          </a:p>
          <a:p>
            <a:pPr marL="274320" lvl="0" indent="-274320" algn="l" rtl="0">
              <a:spcBef>
                <a:spcPts val="520"/>
              </a:spcBef>
              <a:spcAft>
                <a:spcPts val="0"/>
              </a:spcAft>
              <a:buSzPts val="2470"/>
              <a:buChar char="⚫"/>
            </a:pPr>
            <a:r>
              <a:rPr lang="en-US"/>
              <a:t>A distinction is made between analytical and numerical method.</a:t>
            </a:r>
            <a:endParaRPr/>
          </a:p>
          <a:p>
            <a:pPr marL="274320" lvl="0" indent="-274320" algn="l" rtl="0">
              <a:spcBef>
                <a:spcPts val="520"/>
              </a:spcBef>
              <a:spcAft>
                <a:spcPts val="0"/>
              </a:spcAft>
              <a:buSzPts val="2470"/>
              <a:buChar char="⚫"/>
            </a:pPr>
            <a:r>
              <a:rPr lang="en-US"/>
              <a:t> Applying analytical techniques means using the deductive reasoning of mathematical theory to solve a model. </a:t>
            </a:r>
            <a:endParaRPr/>
          </a:p>
          <a:p>
            <a:pPr marL="274320" lvl="0" indent="-274320" algn="l" rtl="0">
              <a:spcBef>
                <a:spcPts val="520"/>
              </a:spcBef>
              <a:spcAft>
                <a:spcPts val="0"/>
              </a:spcAft>
              <a:buSzPts val="2470"/>
              <a:buChar char="⚫"/>
            </a:pPr>
            <a:r>
              <a:rPr lang="en-US"/>
              <a:t>Any assignment of numerical values that uses mathematical tables involves numerical method</a:t>
            </a:r>
            <a:endParaRPr/>
          </a:p>
          <a:p>
            <a:pPr marL="274320" lvl="0" indent="-117475" algn="l" rtl="0">
              <a:spcBef>
                <a:spcPts val="520"/>
              </a:spcBef>
              <a:spcAft>
                <a:spcPts val="0"/>
              </a:spcAft>
              <a:buSzPts val="2470"/>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1">
                                            <p:txEl>
                                              <p:pRg st="0" end="0"/>
                                            </p:txEl>
                                          </p:spTgt>
                                        </p:tgtEl>
                                        <p:attrNameLst>
                                          <p:attrName>style.visibility</p:attrName>
                                        </p:attrNameLst>
                                      </p:cBhvr>
                                      <p:to>
                                        <p:strVal val="visible"/>
                                      </p:to>
                                    </p:set>
                                    <p:animEffect transition="in" filter="fade">
                                      <p:cBhvr>
                                        <p:cTn id="7" dur="500"/>
                                        <p:tgtEl>
                                          <p:spTgt spid="3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1">
                                            <p:txEl>
                                              <p:pRg st="1" end="1"/>
                                            </p:txEl>
                                          </p:spTgt>
                                        </p:tgtEl>
                                        <p:attrNameLst>
                                          <p:attrName>style.visibility</p:attrName>
                                        </p:attrNameLst>
                                      </p:cBhvr>
                                      <p:to>
                                        <p:strVal val="visible"/>
                                      </p:to>
                                    </p:set>
                                    <p:animEffect transition="in" filter="fade">
                                      <p:cBhvr>
                                        <p:cTn id="12" dur="500"/>
                                        <p:tgtEl>
                                          <p:spTgt spid="3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1">
                                            <p:txEl>
                                              <p:pRg st="2" end="2"/>
                                            </p:txEl>
                                          </p:spTgt>
                                        </p:tgtEl>
                                        <p:attrNameLst>
                                          <p:attrName>style.visibility</p:attrName>
                                        </p:attrNameLst>
                                      </p:cBhvr>
                                      <p:to>
                                        <p:strVal val="visible"/>
                                      </p:to>
                                    </p:set>
                                    <p:animEffect transition="in" filter="fade">
                                      <p:cBhvr>
                                        <p:cTn id="17" dur="500"/>
                                        <p:tgtEl>
                                          <p:spTgt spid="3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51">
                                            <p:txEl>
                                              <p:pRg st="3" end="3"/>
                                            </p:txEl>
                                          </p:spTgt>
                                        </p:tgtEl>
                                        <p:attrNameLst>
                                          <p:attrName>style.visibility</p:attrName>
                                        </p:attrNameLst>
                                      </p:cBhvr>
                                      <p:to>
                                        <p:strVal val="visible"/>
                                      </p:to>
                                    </p:set>
                                    <p:animEffect transition="in" filter="fade">
                                      <p:cBhvr>
                                        <p:cTn id="22" dur="500"/>
                                        <p:tgtEl>
                                          <p:spTgt spid="35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1">
                                            <p:txEl>
                                              <p:pRg st="4" end="4"/>
                                            </p:txEl>
                                          </p:spTgt>
                                        </p:tgtEl>
                                        <p:attrNameLst>
                                          <p:attrName>style.visibility</p:attrName>
                                        </p:attrNameLst>
                                      </p:cBhvr>
                                      <p:to>
                                        <p:strVal val="visible"/>
                                      </p:to>
                                    </p:set>
                                    <p:animEffect transition="in" filter="fade">
                                      <p:cBhvr>
                                        <p:cTn id="27" dur="500"/>
                                        <p:tgtEl>
                                          <p:spTgt spid="3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Types of Model..</a:t>
            </a:r>
            <a:endParaRPr/>
          </a:p>
        </p:txBody>
      </p:sp>
      <p:sp>
        <p:nvSpPr>
          <p:cNvPr id="357" name="Google Shape;357;p35"/>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b="1"/>
              <a:t>Static physical models:</a:t>
            </a:r>
            <a:r>
              <a:rPr lang="en-US"/>
              <a:t> They are used in ship buildings, modeling of DNA molecules, Wind Tunnels and designing air craft or ship. </a:t>
            </a:r>
            <a:endParaRPr/>
          </a:p>
          <a:p>
            <a:pPr marL="274320" lvl="0" indent="-274320" algn="l" rtl="0">
              <a:spcBef>
                <a:spcPts val="520"/>
              </a:spcBef>
              <a:spcAft>
                <a:spcPts val="0"/>
              </a:spcAft>
              <a:buSzPts val="2470"/>
              <a:buChar char="⚫"/>
            </a:pPr>
            <a:r>
              <a:rPr lang="en-US"/>
              <a:t>Example: Scale models. </a:t>
            </a:r>
            <a:endParaRPr/>
          </a:p>
        </p:txBody>
      </p:sp>
      <p:pic>
        <p:nvPicPr>
          <p:cNvPr id="358" name="Google Shape;358;p35" descr="static.jpg"/>
          <p:cNvPicPr preferRelativeResize="0"/>
          <p:nvPr/>
        </p:nvPicPr>
        <p:blipFill rotWithShape="1">
          <a:blip r:embed="rId3">
            <a:alphaModFix/>
          </a:blip>
          <a:srcRect/>
          <a:stretch/>
        </p:blipFill>
        <p:spPr>
          <a:xfrm>
            <a:off x="6324600" y="4343400"/>
            <a:ext cx="2819400" cy="21145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7">
                                            <p:txEl>
                                              <p:pRg st="0" end="0"/>
                                            </p:txEl>
                                          </p:spTgt>
                                        </p:tgtEl>
                                        <p:attrNameLst>
                                          <p:attrName>style.visibility</p:attrName>
                                        </p:attrNameLst>
                                      </p:cBhvr>
                                      <p:to>
                                        <p:strVal val="visible"/>
                                      </p:to>
                                    </p:set>
                                    <p:animEffect transition="in" filter="fade">
                                      <p:cBhvr>
                                        <p:cTn id="7" dur="500"/>
                                        <p:tgtEl>
                                          <p:spTgt spid="35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7">
                                            <p:txEl>
                                              <p:pRg st="1" end="1"/>
                                            </p:txEl>
                                          </p:spTgt>
                                        </p:tgtEl>
                                        <p:attrNameLst>
                                          <p:attrName>style.visibility</p:attrName>
                                        </p:attrNameLst>
                                      </p:cBhvr>
                                      <p:to>
                                        <p:strVal val="visible"/>
                                      </p:to>
                                    </p:set>
                                    <p:animEffect transition="in" filter="fade">
                                      <p:cBhvr>
                                        <p:cTn id="12" dur="500"/>
                                        <p:tgtEl>
                                          <p:spTgt spid="35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8"/>
                                        </p:tgtEl>
                                        <p:attrNameLst>
                                          <p:attrName>style.visibility</p:attrName>
                                        </p:attrNameLst>
                                      </p:cBhvr>
                                      <p:to>
                                        <p:strVal val="visible"/>
                                      </p:to>
                                    </p:set>
                                    <p:animEffect transition="in" filter="fade">
                                      <p:cBhvr>
                                        <p:cTn id="17" dur="500"/>
                                        <p:tgtEl>
                                          <p:spTgt spid="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6"/>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Types of Model..</a:t>
            </a:r>
            <a:endParaRPr/>
          </a:p>
        </p:txBody>
      </p:sp>
      <p:sp>
        <p:nvSpPr>
          <p:cNvPr id="364" name="Google Shape;364;p36"/>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b="1"/>
              <a:t>Dynamic Physical models: </a:t>
            </a:r>
            <a:r>
              <a:rPr lang="en-US"/>
              <a:t>They rely upon an analogy between the system being studied and some other system of a different nature. </a:t>
            </a: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p:txBody>
      </p:sp>
      <p:pic>
        <p:nvPicPr>
          <p:cNvPr id="365" name="Google Shape;365;p36" descr="mechanical system.PNG"/>
          <p:cNvPicPr preferRelativeResize="0"/>
          <p:nvPr/>
        </p:nvPicPr>
        <p:blipFill rotWithShape="1">
          <a:blip r:embed="rId3">
            <a:alphaModFix/>
          </a:blip>
          <a:srcRect/>
          <a:stretch/>
        </p:blipFill>
        <p:spPr>
          <a:xfrm>
            <a:off x="1219200" y="3157384"/>
            <a:ext cx="5486400" cy="309716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4">
                                            <p:txEl>
                                              <p:pRg st="0" end="0"/>
                                            </p:txEl>
                                          </p:spTgt>
                                        </p:tgtEl>
                                        <p:attrNameLst>
                                          <p:attrName>style.visibility</p:attrName>
                                        </p:attrNameLst>
                                      </p:cBhvr>
                                      <p:to>
                                        <p:strVal val="visible"/>
                                      </p:to>
                                    </p:set>
                                    <p:animEffect transition="in" filter="fade">
                                      <p:cBhvr>
                                        <p:cTn id="7" dur="500"/>
                                        <p:tgtEl>
                                          <p:spTgt spid="36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4">
                                            <p:txEl>
                                              <p:pRg st="1" end="1"/>
                                            </p:txEl>
                                          </p:spTgt>
                                        </p:tgtEl>
                                        <p:attrNameLst>
                                          <p:attrName>style.visibility</p:attrName>
                                        </p:attrNameLst>
                                      </p:cBhvr>
                                      <p:to>
                                        <p:strVal val="visible"/>
                                      </p:to>
                                    </p:set>
                                    <p:animEffect transition="in" filter="fade">
                                      <p:cBhvr>
                                        <p:cTn id="12" dur="500"/>
                                        <p:tgtEl>
                                          <p:spTgt spid="36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4">
                                            <p:txEl>
                                              <p:pRg st="2" end="2"/>
                                            </p:txEl>
                                          </p:spTgt>
                                        </p:tgtEl>
                                        <p:attrNameLst>
                                          <p:attrName>style.visibility</p:attrName>
                                        </p:attrNameLst>
                                      </p:cBhvr>
                                      <p:to>
                                        <p:strVal val="visible"/>
                                      </p:to>
                                    </p:set>
                                    <p:animEffect transition="in" filter="fade">
                                      <p:cBhvr>
                                        <p:cTn id="17" dur="500"/>
                                        <p:tgtEl>
                                          <p:spTgt spid="36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65"/>
                                        </p:tgtEl>
                                        <p:attrNameLst>
                                          <p:attrName>style.visibility</p:attrName>
                                        </p:attrNameLst>
                                      </p:cBhvr>
                                      <p:to>
                                        <p:strVal val="visible"/>
                                      </p:to>
                                    </p:set>
                                    <p:animEffect transition="in" filter="fade">
                                      <p:cBhvr>
                                        <p:cTn id="22" dur="500"/>
                                        <p:tgtEl>
                                          <p:spTgt spid="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37"/>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371" name="Google Shape;371;p37"/>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Extension and contraction and shock absorber that absorbs the damping force proportional to the velocity of the mass. The motion of the system can be represented by the following differential equation. </a:t>
            </a:r>
            <a:endParaRPr/>
          </a:p>
          <a:p>
            <a:pPr marL="274320" lvl="0" indent="-117475" algn="l" rtl="0">
              <a:spcBef>
                <a:spcPts val="520"/>
              </a:spcBef>
              <a:spcAft>
                <a:spcPts val="0"/>
              </a:spcAft>
              <a:buSzPts val="2470"/>
              <a:buNone/>
            </a:pPr>
            <a:endParaRPr/>
          </a:p>
        </p:txBody>
      </p:sp>
      <p:pic>
        <p:nvPicPr>
          <p:cNvPr id="372" name="Google Shape;372;p37" descr="diffeq.PNG"/>
          <p:cNvPicPr preferRelativeResize="0"/>
          <p:nvPr/>
        </p:nvPicPr>
        <p:blipFill rotWithShape="1">
          <a:blip r:embed="rId3">
            <a:alphaModFix/>
          </a:blip>
          <a:srcRect/>
          <a:stretch/>
        </p:blipFill>
        <p:spPr>
          <a:xfrm>
            <a:off x="1676400" y="3810000"/>
            <a:ext cx="5359400" cy="1148443"/>
          </a:xfrm>
          <a:prstGeom prst="rect">
            <a:avLst/>
          </a:prstGeom>
          <a:noFill/>
          <a:ln>
            <a:noFill/>
          </a:ln>
        </p:spPr>
      </p:pic>
      <p:pic>
        <p:nvPicPr>
          <p:cNvPr id="373" name="Google Shape;373;p37" descr="diff2.PNG"/>
          <p:cNvPicPr preferRelativeResize="0"/>
          <p:nvPr/>
        </p:nvPicPr>
        <p:blipFill rotWithShape="1">
          <a:blip r:embed="rId4">
            <a:alphaModFix/>
          </a:blip>
          <a:srcRect/>
          <a:stretch/>
        </p:blipFill>
        <p:spPr>
          <a:xfrm>
            <a:off x="1905000" y="5105400"/>
            <a:ext cx="6887821" cy="838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1">
                                            <p:txEl>
                                              <p:pRg st="0" end="0"/>
                                            </p:txEl>
                                          </p:spTgt>
                                        </p:tgtEl>
                                        <p:attrNameLst>
                                          <p:attrName>style.visibility</p:attrName>
                                        </p:attrNameLst>
                                      </p:cBhvr>
                                      <p:to>
                                        <p:strVal val="visible"/>
                                      </p:to>
                                    </p:set>
                                    <p:animEffect transition="in" filter="fade">
                                      <p:cBhvr>
                                        <p:cTn id="7" dur="500"/>
                                        <p:tgtEl>
                                          <p:spTgt spid="3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1">
                                            <p:txEl>
                                              <p:pRg st="1" end="1"/>
                                            </p:txEl>
                                          </p:spTgt>
                                        </p:tgtEl>
                                        <p:attrNameLst>
                                          <p:attrName>style.visibility</p:attrName>
                                        </p:attrNameLst>
                                      </p:cBhvr>
                                      <p:to>
                                        <p:strVal val="visible"/>
                                      </p:to>
                                    </p:set>
                                    <p:animEffect transition="in" filter="fade">
                                      <p:cBhvr>
                                        <p:cTn id="12" dur="500"/>
                                        <p:tgtEl>
                                          <p:spTgt spid="3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2"/>
                                        </p:tgtEl>
                                        <p:attrNameLst>
                                          <p:attrName>style.visibility</p:attrName>
                                        </p:attrNameLst>
                                      </p:cBhvr>
                                      <p:to>
                                        <p:strVal val="visible"/>
                                      </p:to>
                                    </p:set>
                                    <p:animEffect transition="in" filter="fade">
                                      <p:cBhvr>
                                        <p:cTn id="17" dur="500"/>
                                        <p:tgtEl>
                                          <p:spTgt spid="37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3"/>
                                        </p:tgtEl>
                                        <p:attrNameLst>
                                          <p:attrName>style.visibility</p:attrName>
                                        </p:attrNameLst>
                                      </p:cBhvr>
                                      <p:to>
                                        <p:strVal val="visible"/>
                                      </p:to>
                                    </p:set>
                                    <p:animEffect transition="in" filter="fade">
                                      <p:cBhvr>
                                        <p:cTn id="22" dur="500"/>
                                        <p:tgtEl>
                                          <p:spTgt spid="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38"/>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Types of Model..</a:t>
            </a:r>
            <a:endParaRPr/>
          </a:p>
        </p:txBody>
      </p:sp>
      <p:sp>
        <p:nvSpPr>
          <p:cNvPr id="379" name="Google Shape;379;p38"/>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92500" lnSpcReduction="10000"/>
          </a:bodyPr>
          <a:lstStyle/>
          <a:p>
            <a:pPr marL="274320" lvl="0" indent="-274320" algn="l" rtl="0">
              <a:spcBef>
                <a:spcPts val="0"/>
              </a:spcBef>
              <a:spcAft>
                <a:spcPts val="0"/>
              </a:spcAft>
              <a:buSzPct val="95000"/>
              <a:buChar char="⚫"/>
            </a:pPr>
            <a:r>
              <a:rPr lang="en-US"/>
              <a:t>Where, </a:t>
            </a:r>
            <a:endParaRPr/>
          </a:p>
          <a:p>
            <a:pPr marL="640080" lvl="1" indent="-246888" algn="l" rtl="0">
              <a:spcBef>
                <a:spcPts val="444"/>
              </a:spcBef>
              <a:spcAft>
                <a:spcPts val="0"/>
              </a:spcAft>
              <a:buSzPct val="85000"/>
              <a:buChar char="⚫"/>
            </a:pPr>
            <a:r>
              <a:rPr lang="en-US"/>
              <a:t>M = Mass </a:t>
            </a:r>
            <a:endParaRPr/>
          </a:p>
          <a:p>
            <a:pPr marL="640080" lvl="1" indent="-246888" algn="l" rtl="0">
              <a:spcBef>
                <a:spcPts val="444"/>
              </a:spcBef>
              <a:spcAft>
                <a:spcPts val="0"/>
              </a:spcAft>
              <a:buSzPct val="85000"/>
              <a:buChar char="⚫"/>
            </a:pPr>
            <a:r>
              <a:rPr lang="en-US"/>
              <a:t>D = Damping factor of shock absorber</a:t>
            </a:r>
            <a:endParaRPr/>
          </a:p>
          <a:p>
            <a:pPr marL="640080" lvl="1" indent="-246888" algn="l" rtl="0">
              <a:spcBef>
                <a:spcPts val="444"/>
              </a:spcBef>
              <a:spcAft>
                <a:spcPts val="0"/>
              </a:spcAft>
              <a:buSzPct val="85000"/>
              <a:buChar char="⚫"/>
            </a:pPr>
            <a:r>
              <a:rPr lang="en-US"/>
              <a:t> K = Stiffness constant of spring</a:t>
            </a:r>
            <a:endParaRPr/>
          </a:p>
          <a:p>
            <a:pPr marL="640080" lvl="1" indent="-246888" algn="l" rtl="0">
              <a:spcBef>
                <a:spcPts val="444"/>
              </a:spcBef>
              <a:spcAft>
                <a:spcPts val="0"/>
              </a:spcAft>
              <a:buSzPct val="85000"/>
              <a:buChar char="⚫"/>
            </a:pPr>
            <a:r>
              <a:rPr lang="en-US"/>
              <a:t> x = Displacement of mass</a:t>
            </a:r>
            <a:endParaRPr/>
          </a:p>
          <a:p>
            <a:pPr marL="640080" lvl="1" indent="-246888" algn="l" rtl="0">
              <a:spcBef>
                <a:spcPts val="444"/>
              </a:spcBef>
              <a:spcAft>
                <a:spcPts val="0"/>
              </a:spcAft>
              <a:buSzPct val="85000"/>
              <a:buChar char="⚫"/>
            </a:pPr>
            <a:r>
              <a:rPr lang="en-US"/>
              <a:t> F (t) = Applied force</a:t>
            </a:r>
            <a:endParaRPr/>
          </a:p>
          <a:p>
            <a:pPr marL="640080" lvl="1" indent="-246888" algn="l" rtl="0">
              <a:spcBef>
                <a:spcPts val="444"/>
              </a:spcBef>
              <a:spcAft>
                <a:spcPts val="0"/>
              </a:spcAft>
              <a:buSzPct val="85000"/>
              <a:buNone/>
            </a:pPr>
            <a:r>
              <a:rPr lang="en-US"/>
              <a:t> The 2nd figure represents an electrical circuit with a resistance “R” and inductance “L” and capacitance “C” connected in series with a voltage source that varies in time according to the function E (t).</a:t>
            </a:r>
            <a:endParaRPr/>
          </a:p>
          <a:p>
            <a:pPr marL="640080" lvl="1" indent="-246888" algn="l" rtl="0">
              <a:spcBef>
                <a:spcPts val="444"/>
              </a:spcBef>
              <a:spcAft>
                <a:spcPts val="0"/>
              </a:spcAft>
              <a:buSzPct val="85000"/>
              <a:buNone/>
            </a:pPr>
            <a:r>
              <a:rPr lang="en-US"/>
              <a:t> Let “q” be the charge on the capacitance. This system can be represented by the following equation-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9">
                                            <p:txEl>
                                              <p:pRg st="0" end="0"/>
                                            </p:txEl>
                                          </p:spTgt>
                                        </p:tgtEl>
                                        <p:attrNameLst>
                                          <p:attrName>style.visibility</p:attrName>
                                        </p:attrNameLst>
                                      </p:cBhvr>
                                      <p:to>
                                        <p:strVal val="visible"/>
                                      </p:to>
                                    </p:set>
                                    <p:animEffect transition="in" filter="fade">
                                      <p:cBhvr>
                                        <p:cTn id="7" dur="500"/>
                                        <p:tgtEl>
                                          <p:spTgt spid="3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9">
                                            <p:txEl>
                                              <p:pRg st="1" end="1"/>
                                            </p:txEl>
                                          </p:spTgt>
                                        </p:tgtEl>
                                        <p:attrNameLst>
                                          <p:attrName>style.visibility</p:attrName>
                                        </p:attrNameLst>
                                      </p:cBhvr>
                                      <p:to>
                                        <p:strVal val="visible"/>
                                      </p:to>
                                    </p:set>
                                    <p:animEffect transition="in" filter="fade">
                                      <p:cBhvr>
                                        <p:cTn id="12" dur="500"/>
                                        <p:tgtEl>
                                          <p:spTgt spid="3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9">
                                            <p:txEl>
                                              <p:pRg st="2" end="2"/>
                                            </p:txEl>
                                          </p:spTgt>
                                        </p:tgtEl>
                                        <p:attrNameLst>
                                          <p:attrName>style.visibility</p:attrName>
                                        </p:attrNameLst>
                                      </p:cBhvr>
                                      <p:to>
                                        <p:strVal val="visible"/>
                                      </p:to>
                                    </p:set>
                                    <p:animEffect transition="in" filter="fade">
                                      <p:cBhvr>
                                        <p:cTn id="17" dur="500"/>
                                        <p:tgtEl>
                                          <p:spTgt spid="3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9">
                                            <p:txEl>
                                              <p:pRg st="3" end="3"/>
                                            </p:txEl>
                                          </p:spTgt>
                                        </p:tgtEl>
                                        <p:attrNameLst>
                                          <p:attrName>style.visibility</p:attrName>
                                        </p:attrNameLst>
                                      </p:cBhvr>
                                      <p:to>
                                        <p:strVal val="visible"/>
                                      </p:to>
                                    </p:set>
                                    <p:animEffect transition="in" filter="fade">
                                      <p:cBhvr>
                                        <p:cTn id="22" dur="500"/>
                                        <p:tgtEl>
                                          <p:spTgt spid="3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9">
                                            <p:txEl>
                                              <p:pRg st="4" end="4"/>
                                            </p:txEl>
                                          </p:spTgt>
                                        </p:tgtEl>
                                        <p:attrNameLst>
                                          <p:attrName>style.visibility</p:attrName>
                                        </p:attrNameLst>
                                      </p:cBhvr>
                                      <p:to>
                                        <p:strVal val="visible"/>
                                      </p:to>
                                    </p:set>
                                    <p:animEffect transition="in" filter="fade">
                                      <p:cBhvr>
                                        <p:cTn id="27" dur="500"/>
                                        <p:tgtEl>
                                          <p:spTgt spid="37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9">
                                            <p:txEl>
                                              <p:pRg st="5" end="5"/>
                                            </p:txEl>
                                          </p:spTgt>
                                        </p:tgtEl>
                                        <p:attrNameLst>
                                          <p:attrName>style.visibility</p:attrName>
                                        </p:attrNameLst>
                                      </p:cBhvr>
                                      <p:to>
                                        <p:strVal val="visible"/>
                                      </p:to>
                                    </p:set>
                                    <p:animEffect transition="in" filter="fade">
                                      <p:cBhvr>
                                        <p:cTn id="32" dur="500"/>
                                        <p:tgtEl>
                                          <p:spTgt spid="37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79">
                                            <p:txEl>
                                              <p:pRg st="6" end="6"/>
                                            </p:txEl>
                                          </p:spTgt>
                                        </p:tgtEl>
                                        <p:attrNameLst>
                                          <p:attrName>style.visibility</p:attrName>
                                        </p:attrNameLst>
                                      </p:cBhvr>
                                      <p:to>
                                        <p:strVal val="visible"/>
                                      </p:to>
                                    </p:set>
                                    <p:animEffect transition="in" filter="fade">
                                      <p:cBhvr>
                                        <p:cTn id="37" dur="500"/>
                                        <p:tgtEl>
                                          <p:spTgt spid="37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79">
                                            <p:txEl>
                                              <p:pRg st="7" end="7"/>
                                            </p:txEl>
                                          </p:spTgt>
                                        </p:tgtEl>
                                        <p:attrNameLst>
                                          <p:attrName>style.visibility</p:attrName>
                                        </p:attrNameLst>
                                      </p:cBhvr>
                                      <p:to>
                                        <p:strVal val="visible"/>
                                      </p:to>
                                    </p:set>
                                    <p:animEffect transition="in" filter="fade">
                                      <p:cBhvr>
                                        <p:cTn id="42" dur="500"/>
                                        <p:tgtEl>
                                          <p:spTgt spid="37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39"/>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Types of Model..</a:t>
            </a:r>
            <a:endParaRPr/>
          </a:p>
        </p:txBody>
      </p:sp>
      <p:pic>
        <p:nvPicPr>
          <p:cNvPr id="385" name="Google Shape;385;p39" descr="diff3.PNG"/>
          <p:cNvPicPr preferRelativeResize="0">
            <a:picLocks noGrp="1"/>
          </p:cNvPicPr>
          <p:nvPr>
            <p:ph type="body" idx="1"/>
          </p:nvPr>
        </p:nvPicPr>
        <p:blipFill rotWithShape="1">
          <a:blip r:embed="rId3">
            <a:alphaModFix/>
          </a:blip>
          <a:srcRect/>
          <a:stretch/>
        </p:blipFill>
        <p:spPr>
          <a:xfrm>
            <a:off x="829264" y="2214167"/>
            <a:ext cx="6866936" cy="2404388"/>
          </a:xfrm>
          <a:prstGeom prst="rect">
            <a:avLst/>
          </a:prstGeom>
          <a:noFill/>
          <a:ln>
            <a:noFill/>
          </a:ln>
        </p:spPr>
      </p:pic>
      <p:sp>
        <p:nvSpPr>
          <p:cNvPr id="386" name="Google Shape;386;p39"/>
          <p:cNvSpPr/>
          <p:nvPr/>
        </p:nvSpPr>
        <p:spPr>
          <a:xfrm>
            <a:off x="914400" y="4549676"/>
            <a:ext cx="7239000"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nstantia"/>
                <a:ea typeface="Constantia"/>
                <a:cs typeface="Constantia"/>
                <a:sym typeface="Constantia"/>
              </a:rPr>
              <a:t>Where,</a:t>
            </a:r>
            <a:endParaRPr/>
          </a:p>
          <a:p>
            <a:pPr marL="0" marR="0" lvl="0" indent="0" algn="l" rtl="0">
              <a:spcBef>
                <a:spcPts val="0"/>
              </a:spcBef>
              <a:spcAft>
                <a:spcPts val="0"/>
              </a:spcAft>
              <a:buNone/>
            </a:pPr>
            <a:r>
              <a:rPr lang="en-US" sz="1800">
                <a:solidFill>
                  <a:schemeClr val="dk1"/>
                </a:solidFill>
                <a:latin typeface="Constantia"/>
                <a:ea typeface="Constantia"/>
                <a:cs typeface="Constantia"/>
                <a:sym typeface="Constantia"/>
              </a:rPr>
              <a:t> L = Inductance</a:t>
            </a:r>
            <a:endParaRPr/>
          </a:p>
          <a:p>
            <a:pPr marL="0" marR="0" lvl="0" indent="0" algn="l" rtl="0">
              <a:spcBef>
                <a:spcPts val="0"/>
              </a:spcBef>
              <a:spcAft>
                <a:spcPts val="0"/>
              </a:spcAft>
              <a:buNone/>
            </a:pPr>
            <a:r>
              <a:rPr lang="en-US" sz="1800">
                <a:solidFill>
                  <a:schemeClr val="dk1"/>
                </a:solidFill>
                <a:latin typeface="Constantia"/>
                <a:ea typeface="Constantia"/>
                <a:cs typeface="Constantia"/>
                <a:sym typeface="Constantia"/>
              </a:rPr>
              <a:t> R = Resistance </a:t>
            </a:r>
            <a:endParaRPr/>
          </a:p>
          <a:p>
            <a:pPr marL="0" marR="0" lvl="0" indent="0" algn="l" rtl="0">
              <a:spcBef>
                <a:spcPts val="0"/>
              </a:spcBef>
              <a:spcAft>
                <a:spcPts val="0"/>
              </a:spcAft>
              <a:buNone/>
            </a:pPr>
            <a:r>
              <a:rPr lang="en-US" sz="1800">
                <a:solidFill>
                  <a:schemeClr val="dk1"/>
                </a:solidFill>
                <a:latin typeface="Constantia"/>
                <a:ea typeface="Constantia"/>
                <a:cs typeface="Constantia"/>
                <a:sym typeface="Constantia"/>
              </a:rPr>
              <a:t>q = Charge on Capacitance</a:t>
            </a:r>
            <a:endParaRPr/>
          </a:p>
          <a:p>
            <a:pPr marL="0" marR="0" lvl="0" indent="0" algn="l" rtl="0">
              <a:spcBef>
                <a:spcPts val="0"/>
              </a:spcBef>
              <a:spcAft>
                <a:spcPts val="0"/>
              </a:spcAft>
              <a:buNone/>
            </a:pPr>
            <a:r>
              <a:rPr lang="en-US" sz="1800">
                <a:solidFill>
                  <a:schemeClr val="dk1"/>
                </a:solidFill>
                <a:latin typeface="Constantia"/>
                <a:ea typeface="Constantia"/>
                <a:cs typeface="Constantia"/>
                <a:sym typeface="Constantia"/>
              </a:rPr>
              <a:t> C = Capacitance </a:t>
            </a:r>
            <a:endParaRPr/>
          </a:p>
          <a:p>
            <a:pPr marL="0" marR="0" lvl="0" indent="0" algn="l" rtl="0">
              <a:spcBef>
                <a:spcPts val="0"/>
              </a:spcBef>
              <a:spcAft>
                <a:spcPts val="0"/>
              </a:spcAft>
              <a:buNone/>
            </a:pPr>
            <a:r>
              <a:rPr lang="en-US" sz="1800">
                <a:solidFill>
                  <a:schemeClr val="dk1"/>
                </a:solidFill>
                <a:latin typeface="Constantia"/>
                <a:ea typeface="Constantia"/>
                <a:cs typeface="Constantia"/>
                <a:sym typeface="Constantia"/>
              </a:rPr>
              <a:t>E (t) = Function on voltage source that varies with time</a:t>
            </a:r>
            <a:endParaRPr sz="1800">
              <a:solidFill>
                <a:schemeClr val="dk1"/>
              </a:solidFill>
              <a:latin typeface="Constantia"/>
              <a:ea typeface="Constantia"/>
              <a:cs typeface="Constantia"/>
              <a:sym typeface="Constantia"/>
            </a:endParaRPr>
          </a:p>
        </p:txBody>
      </p:sp>
      <p:pic>
        <p:nvPicPr>
          <p:cNvPr id="387" name="Google Shape;387;p39" descr="RLC.png"/>
          <p:cNvPicPr preferRelativeResize="0"/>
          <p:nvPr/>
        </p:nvPicPr>
        <p:blipFill rotWithShape="1">
          <a:blip r:embed="rId4">
            <a:alphaModFix/>
          </a:blip>
          <a:srcRect/>
          <a:stretch/>
        </p:blipFill>
        <p:spPr>
          <a:xfrm>
            <a:off x="4800600" y="838200"/>
            <a:ext cx="3686703" cy="2209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5"/>
                                        </p:tgtEl>
                                        <p:attrNameLst>
                                          <p:attrName>style.visibility</p:attrName>
                                        </p:attrNameLst>
                                      </p:cBhvr>
                                      <p:to>
                                        <p:strVal val="visible"/>
                                      </p:to>
                                    </p:set>
                                    <p:animEffect transition="in" filter="fade">
                                      <p:cBhvr>
                                        <p:cTn id="7" dur="500"/>
                                        <p:tgtEl>
                                          <p:spTgt spid="38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6"/>
                                        </p:tgtEl>
                                        <p:attrNameLst>
                                          <p:attrName>style.visibility</p:attrName>
                                        </p:attrNameLst>
                                      </p:cBhvr>
                                      <p:to>
                                        <p:strVal val="visible"/>
                                      </p:to>
                                    </p:set>
                                    <p:animEffect transition="in" filter="fade">
                                      <p:cBhvr>
                                        <p:cTn id="12" dur="500"/>
                                        <p:tgtEl>
                                          <p:spTgt spid="38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7"/>
                                        </p:tgtEl>
                                        <p:attrNameLst>
                                          <p:attrName>style.visibility</p:attrName>
                                        </p:attrNameLst>
                                      </p:cBhvr>
                                      <p:to>
                                        <p:strVal val="visible"/>
                                      </p:to>
                                    </p:set>
                                    <p:animEffect transition="in" filter="fade">
                                      <p:cBhvr>
                                        <p:cTn id="17" dur="500"/>
                                        <p:tgtEl>
                                          <p:spTgt spid="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40"/>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Types of Model..</a:t>
            </a:r>
            <a:endParaRPr/>
          </a:p>
        </p:txBody>
      </p:sp>
      <p:sp>
        <p:nvSpPr>
          <p:cNvPr id="393" name="Google Shape;393;p40"/>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By comparing two equation of mechanical system and electrical system which are similar to each other given below.</a:t>
            </a:r>
            <a:endParaRPr/>
          </a:p>
          <a:p>
            <a:pPr marL="274320" lvl="0" indent="-117475" algn="l" rtl="0">
              <a:spcBef>
                <a:spcPts val="520"/>
              </a:spcBef>
              <a:spcAft>
                <a:spcPts val="0"/>
              </a:spcAft>
              <a:buSzPts val="2470"/>
              <a:buNone/>
            </a:pPr>
            <a:endParaRPr/>
          </a:p>
        </p:txBody>
      </p:sp>
      <p:pic>
        <p:nvPicPr>
          <p:cNvPr id="394" name="Google Shape;394;p40" descr="table.PNG"/>
          <p:cNvPicPr preferRelativeResize="0"/>
          <p:nvPr/>
        </p:nvPicPr>
        <p:blipFill rotWithShape="1">
          <a:blip r:embed="rId3">
            <a:alphaModFix/>
          </a:blip>
          <a:srcRect/>
          <a:stretch/>
        </p:blipFill>
        <p:spPr>
          <a:xfrm>
            <a:off x="685800" y="3200400"/>
            <a:ext cx="7772400" cy="361348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3">
                                            <p:txEl>
                                              <p:pRg st="0" end="0"/>
                                            </p:txEl>
                                          </p:spTgt>
                                        </p:tgtEl>
                                        <p:attrNameLst>
                                          <p:attrName>style.visibility</p:attrName>
                                        </p:attrNameLst>
                                      </p:cBhvr>
                                      <p:to>
                                        <p:strVal val="visible"/>
                                      </p:to>
                                    </p:set>
                                    <p:animEffect transition="in" filter="fade">
                                      <p:cBhvr>
                                        <p:cTn id="7" dur="500"/>
                                        <p:tgtEl>
                                          <p:spTgt spid="39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93">
                                            <p:txEl>
                                              <p:pRg st="1" end="1"/>
                                            </p:txEl>
                                          </p:spTgt>
                                        </p:tgtEl>
                                        <p:attrNameLst>
                                          <p:attrName>style.visibility</p:attrName>
                                        </p:attrNameLst>
                                      </p:cBhvr>
                                      <p:to>
                                        <p:strVal val="visible"/>
                                      </p:to>
                                    </p:set>
                                    <p:animEffect transition="in" filter="fade">
                                      <p:cBhvr>
                                        <p:cTn id="12" dur="500"/>
                                        <p:tgtEl>
                                          <p:spTgt spid="39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4"/>
                                        </p:tgtEl>
                                        <p:attrNameLst>
                                          <p:attrName>style.visibility</p:attrName>
                                        </p:attrNameLst>
                                      </p:cBhvr>
                                      <p:to>
                                        <p:strVal val="visible"/>
                                      </p:to>
                                    </p:set>
                                    <p:animEffect transition="in" filter="fade">
                                      <p:cBhvr>
                                        <p:cTn id="17" dur="500"/>
                                        <p:tgtEl>
                                          <p:spTgt spid="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41"/>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Types of Model..</a:t>
            </a:r>
            <a:endParaRPr/>
          </a:p>
        </p:txBody>
      </p:sp>
      <p:sp>
        <p:nvSpPr>
          <p:cNvPr id="400" name="Google Shape;400;p41"/>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Both the systems are analogues of each other and the performance of either can be studied with the other. </a:t>
            </a:r>
            <a:endParaRPr/>
          </a:p>
          <a:p>
            <a:pPr marL="274320" lvl="0" indent="-274320" algn="l" rtl="0">
              <a:spcBef>
                <a:spcPts val="520"/>
              </a:spcBef>
              <a:spcAft>
                <a:spcPts val="0"/>
              </a:spcAft>
              <a:buSzPts val="2470"/>
              <a:buChar char="⚫"/>
            </a:pPr>
            <a:r>
              <a:rPr lang="en-US"/>
              <a:t>It is similar to modify the electrical system than to change the mechanical system.</a:t>
            </a:r>
            <a:endParaRPr/>
          </a:p>
          <a:p>
            <a:pPr marL="274320" lvl="0" indent="-274320" algn="l" rtl="0">
              <a:spcBef>
                <a:spcPts val="520"/>
              </a:spcBef>
              <a:spcAft>
                <a:spcPts val="0"/>
              </a:spcAft>
              <a:buSzPts val="2470"/>
              <a:buChar char="⚫"/>
            </a:pPr>
            <a:r>
              <a:rPr lang="en-US"/>
              <a:t> Example: Two credit what effect a change in the shock absorber will have on the performance of the car.</a:t>
            </a:r>
            <a:endParaRPr/>
          </a:p>
          <a:p>
            <a:pPr marL="274320" lvl="0" indent="-274320" algn="l" rtl="0">
              <a:spcBef>
                <a:spcPts val="520"/>
              </a:spcBef>
              <a:spcAft>
                <a:spcPts val="0"/>
              </a:spcAft>
              <a:buSzPts val="2470"/>
              <a:buChar char="⚫"/>
            </a:pPr>
            <a:r>
              <a:rPr lang="en-US"/>
              <a:t> It will only necessary to change value of resistance in the electrical circuit and observe the effect on the way the voltage varies.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0">
                                            <p:txEl>
                                              <p:pRg st="0" end="0"/>
                                            </p:txEl>
                                          </p:spTgt>
                                        </p:tgtEl>
                                        <p:attrNameLst>
                                          <p:attrName>style.visibility</p:attrName>
                                        </p:attrNameLst>
                                      </p:cBhvr>
                                      <p:to>
                                        <p:strVal val="visible"/>
                                      </p:to>
                                    </p:set>
                                    <p:animEffect transition="in" filter="fade">
                                      <p:cBhvr>
                                        <p:cTn id="7" dur="500"/>
                                        <p:tgtEl>
                                          <p:spTgt spid="4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0">
                                            <p:txEl>
                                              <p:pRg st="1" end="1"/>
                                            </p:txEl>
                                          </p:spTgt>
                                        </p:tgtEl>
                                        <p:attrNameLst>
                                          <p:attrName>style.visibility</p:attrName>
                                        </p:attrNameLst>
                                      </p:cBhvr>
                                      <p:to>
                                        <p:strVal val="visible"/>
                                      </p:to>
                                    </p:set>
                                    <p:animEffect transition="in" filter="fade">
                                      <p:cBhvr>
                                        <p:cTn id="12" dur="500"/>
                                        <p:tgtEl>
                                          <p:spTgt spid="40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00">
                                            <p:txEl>
                                              <p:pRg st="2" end="2"/>
                                            </p:txEl>
                                          </p:spTgt>
                                        </p:tgtEl>
                                        <p:attrNameLst>
                                          <p:attrName>style.visibility</p:attrName>
                                        </p:attrNameLst>
                                      </p:cBhvr>
                                      <p:to>
                                        <p:strVal val="visible"/>
                                      </p:to>
                                    </p:set>
                                    <p:animEffect transition="in" filter="fade">
                                      <p:cBhvr>
                                        <p:cTn id="17" dur="500"/>
                                        <p:tgtEl>
                                          <p:spTgt spid="40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00">
                                            <p:txEl>
                                              <p:pRg st="3" end="3"/>
                                            </p:txEl>
                                          </p:spTgt>
                                        </p:tgtEl>
                                        <p:attrNameLst>
                                          <p:attrName>style.visibility</p:attrName>
                                        </p:attrNameLst>
                                      </p:cBhvr>
                                      <p:to>
                                        <p:strVal val="visible"/>
                                      </p:to>
                                    </p:set>
                                    <p:animEffect transition="in" filter="fade">
                                      <p:cBhvr>
                                        <p:cTn id="22" dur="500"/>
                                        <p:tgtEl>
                                          <p:spTgt spid="40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4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Types of Model..</a:t>
            </a:r>
            <a:endParaRPr/>
          </a:p>
        </p:txBody>
      </p:sp>
      <p:sp>
        <p:nvSpPr>
          <p:cNvPr id="406" name="Google Shape;406;p42"/>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b="1"/>
              <a:t>Static Mathematical Models: </a:t>
            </a:r>
            <a:r>
              <a:rPr lang="en-US"/>
              <a:t>A static model gives the relationship between the system attributes when the system is in equilibrium. </a:t>
            </a:r>
            <a:endParaRPr/>
          </a:p>
          <a:p>
            <a:pPr marL="274320" lvl="0" indent="-274320" algn="l" rtl="0">
              <a:spcBef>
                <a:spcPts val="520"/>
              </a:spcBef>
              <a:spcAft>
                <a:spcPts val="0"/>
              </a:spcAft>
              <a:buSzPts val="2470"/>
              <a:buChar char="⚫"/>
            </a:pPr>
            <a:r>
              <a:rPr lang="en-US"/>
              <a:t>Example: In marketing a commodity there is a balance between the supply and demand for the commodity. Both factor depend upon price.</a:t>
            </a:r>
            <a:endParaRPr/>
          </a:p>
          <a:p>
            <a:pPr marL="274320" lvl="0" indent="-274320" algn="l" rtl="0">
              <a:spcBef>
                <a:spcPts val="520"/>
              </a:spcBef>
              <a:spcAft>
                <a:spcPts val="0"/>
              </a:spcAft>
              <a:buSzPts val="2470"/>
              <a:buChar char="⚫"/>
            </a:pPr>
            <a:r>
              <a:rPr lang="en-US"/>
              <a:t> The demand for a commodity will be low when the price is high and it will increase as the price drops.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6">
                                            <p:txEl>
                                              <p:pRg st="0" end="0"/>
                                            </p:txEl>
                                          </p:spTgt>
                                        </p:tgtEl>
                                        <p:attrNameLst>
                                          <p:attrName>style.visibility</p:attrName>
                                        </p:attrNameLst>
                                      </p:cBhvr>
                                      <p:to>
                                        <p:strVal val="visible"/>
                                      </p:to>
                                    </p:set>
                                    <p:animEffect transition="in" filter="fade">
                                      <p:cBhvr>
                                        <p:cTn id="7" dur="500"/>
                                        <p:tgtEl>
                                          <p:spTgt spid="4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6">
                                            <p:txEl>
                                              <p:pRg st="1" end="1"/>
                                            </p:txEl>
                                          </p:spTgt>
                                        </p:tgtEl>
                                        <p:attrNameLst>
                                          <p:attrName>style.visibility</p:attrName>
                                        </p:attrNameLst>
                                      </p:cBhvr>
                                      <p:to>
                                        <p:strVal val="visible"/>
                                      </p:to>
                                    </p:set>
                                    <p:animEffect transition="in" filter="fade">
                                      <p:cBhvr>
                                        <p:cTn id="12" dur="500"/>
                                        <p:tgtEl>
                                          <p:spTgt spid="40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06">
                                            <p:txEl>
                                              <p:pRg st="2" end="2"/>
                                            </p:txEl>
                                          </p:spTgt>
                                        </p:tgtEl>
                                        <p:attrNameLst>
                                          <p:attrName>style.visibility</p:attrName>
                                        </p:attrNameLst>
                                      </p:cBhvr>
                                      <p:to>
                                        <p:strVal val="visible"/>
                                      </p:to>
                                    </p:set>
                                    <p:animEffect transition="in" filter="fade">
                                      <p:cBhvr>
                                        <p:cTn id="17" dur="500"/>
                                        <p:tgtEl>
                                          <p:spTgt spid="40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43"/>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Types of Model..</a:t>
            </a:r>
            <a:endParaRPr/>
          </a:p>
        </p:txBody>
      </p:sp>
      <p:pic>
        <p:nvPicPr>
          <p:cNvPr id="412" name="Google Shape;412;p43" descr="demandsupply1.PNG"/>
          <p:cNvPicPr preferRelativeResize="0">
            <a:picLocks noGrp="1"/>
          </p:cNvPicPr>
          <p:nvPr>
            <p:ph type="body" idx="1"/>
          </p:nvPr>
        </p:nvPicPr>
        <p:blipFill rotWithShape="1">
          <a:blip r:embed="rId3">
            <a:alphaModFix/>
          </a:blip>
          <a:srcRect/>
          <a:stretch/>
        </p:blipFill>
        <p:spPr>
          <a:xfrm>
            <a:off x="1566443" y="2515168"/>
            <a:ext cx="6011114" cy="32294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2"/>
                                        </p:tgtEl>
                                        <p:attrNameLst>
                                          <p:attrName>style.visibility</p:attrName>
                                        </p:attrNameLst>
                                      </p:cBhvr>
                                      <p:to>
                                        <p:strVal val="visible"/>
                                      </p:to>
                                    </p:set>
                                    <p:animEffect transition="in" filter="fade">
                                      <p:cBhvr>
                                        <p:cTn id="7" dur="500"/>
                                        <p:tgtEl>
                                          <p:spTgt spid="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44"/>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Types of Model..</a:t>
            </a:r>
            <a:endParaRPr/>
          </a:p>
        </p:txBody>
      </p:sp>
      <p:sp>
        <p:nvSpPr>
          <p:cNvPr id="418" name="Google Shape;418;p44"/>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85000" lnSpcReduction="20000"/>
          </a:bodyPr>
          <a:lstStyle/>
          <a:p>
            <a:pPr marL="393192" lvl="1" indent="0" algn="l" rtl="0">
              <a:spcBef>
                <a:spcPts val="0"/>
              </a:spcBef>
              <a:spcAft>
                <a:spcPts val="0"/>
              </a:spcAft>
              <a:buSzPct val="85000"/>
              <a:buNone/>
            </a:pPr>
            <a:r>
              <a:rPr lang="en-US" dirty="0"/>
              <a:t>Demand is given by </a:t>
            </a:r>
            <a:endParaRPr dirty="0"/>
          </a:p>
          <a:p>
            <a:pPr marL="393192" lvl="1" indent="0" algn="l" rtl="0">
              <a:spcBef>
                <a:spcPts val="408"/>
              </a:spcBef>
              <a:spcAft>
                <a:spcPts val="0"/>
              </a:spcAft>
              <a:buSzPct val="85000"/>
              <a:buNone/>
            </a:pPr>
            <a:r>
              <a:rPr lang="en-US" dirty="0"/>
              <a:t>	Q = a - </a:t>
            </a:r>
            <a:r>
              <a:rPr lang="en-US" dirty="0" err="1"/>
              <a:t>bp</a:t>
            </a:r>
            <a:r>
              <a:rPr lang="en-US" dirty="0"/>
              <a:t> </a:t>
            </a:r>
            <a:endParaRPr dirty="0"/>
          </a:p>
          <a:p>
            <a:pPr marL="393192" lvl="1" indent="0" algn="l" rtl="0">
              <a:spcBef>
                <a:spcPts val="408"/>
              </a:spcBef>
              <a:spcAft>
                <a:spcPts val="0"/>
              </a:spcAft>
              <a:buSzPct val="85000"/>
              <a:buNone/>
            </a:pPr>
            <a:r>
              <a:rPr lang="en-US" dirty="0"/>
              <a:t>Supply is given by </a:t>
            </a:r>
            <a:endParaRPr dirty="0"/>
          </a:p>
          <a:p>
            <a:pPr marL="393192" lvl="1" indent="0" algn="l" rtl="0">
              <a:spcBef>
                <a:spcPts val="408"/>
              </a:spcBef>
              <a:spcAft>
                <a:spcPts val="0"/>
              </a:spcAft>
              <a:buSzPct val="85000"/>
              <a:buNone/>
            </a:pPr>
            <a:r>
              <a:rPr lang="en-US" dirty="0"/>
              <a:t>	S = c + </a:t>
            </a:r>
            <a:r>
              <a:rPr lang="en-US" dirty="0" err="1"/>
              <a:t>dp</a:t>
            </a:r>
            <a:r>
              <a:rPr lang="en-US" dirty="0"/>
              <a:t> </a:t>
            </a:r>
            <a:endParaRPr dirty="0"/>
          </a:p>
          <a:p>
            <a:pPr marL="274320" lvl="0" indent="-274320" algn="l" rtl="0">
              <a:spcBef>
                <a:spcPts val="442"/>
              </a:spcBef>
              <a:spcAft>
                <a:spcPts val="0"/>
              </a:spcAft>
              <a:buSzPct val="95000"/>
              <a:buChar char="⚫"/>
            </a:pPr>
            <a:r>
              <a:rPr lang="en-US" dirty="0"/>
              <a:t>At Stable point</a:t>
            </a:r>
            <a:endParaRPr dirty="0"/>
          </a:p>
          <a:p>
            <a:pPr marL="640080" lvl="1" indent="-246888" algn="l" rtl="0">
              <a:spcBef>
                <a:spcPts val="408"/>
              </a:spcBef>
              <a:spcAft>
                <a:spcPts val="0"/>
              </a:spcAft>
              <a:buSzPct val="85000"/>
              <a:buChar char="⚫"/>
            </a:pPr>
            <a:r>
              <a:rPr lang="en-US" dirty="0"/>
              <a:t>S = Q (Equilibrium) </a:t>
            </a:r>
            <a:endParaRPr dirty="0"/>
          </a:p>
          <a:p>
            <a:pPr marL="274320" lvl="0" indent="-274320" algn="l" rtl="0">
              <a:spcBef>
                <a:spcPts val="442"/>
              </a:spcBef>
              <a:spcAft>
                <a:spcPts val="0"/>
              </a:spcAft>
              <a:buSzPct val="95000"/>
              <a:buChar char="⚫"/>
            </a:pPr>
            <a:r>
              <a:rPr lang="en-US" dirty="0"/>
              <a:t>Where </a:t>
            </a:r>
            <a:endParaRPr dirty="0"/>
          </a:p>
          <a:p>
            <a:pPr marL="640080" lvl="1" indent="-246888" algn="l" rtl="0">
              <a:spcBef>
                <a:spcPts val="408"/>
              </a:spcBef>
              <a:spcAft>
                <a:spcPts val="0"/>
              </a:spcAft>
              <a:buSzPct val="85000"/>
              <a:buChar char="⚫"/>
            </a:pPr>
            <a:r>
              <a:rPr lang="en-US" dirty="0"/>
              <a:t>Q = Demand </a:t>
            </a:r>
            <a:endParaRPr dirty="0"/>
          </a:p>
          <a:p>
            <a:pPr marL="640080" lvl="1" indent="-246888" algn="l" rtl="0">
              <a:spcBef>
                <a:spcPts val="408"/>
              </a:spcBef>
              <a:spcAft>
                <a:spcPts val="0"/>
              </a:spcAft>
              <a:buSzPct val="85000"/>
              <a:buChar char="⚫"/>
            </a:pPr>
            <a:r>
              <a:rPr lang="en-US" dirty="0"/>
              <a:t>p = Price </a:t>
            </a:r>
            <a:endParaRPr dirty="0"/>
          </a:p>
          <a:p>
            <a:pPr marL="640080" lvl="1" indent="-246888" algn="l" rtl="0">
              <a:spcBef>
                <a:spcPts val="408"/>
              </a:spcBef>
              <a:spcAft>
                <a:spcPts val="0"/>
              </a:spcAft>
              <a:buSzPct val="85000"/>
              <a:buChar char="⚫"/>
            </a:pPr>
            <a:r>
              <a:rPr lang="en-US" dirty="0"/>
              <a:t>S = Supply </a:t>
            </a:r>
            <a:endParaRPr dirty="0"/>
          </a:p>
          <a:p>
            <a:pPr marL="640080" lvl="1" indent="-246888" algn="l" rtl="0">
              <a:spcBef>
                <a:spcPts val="408"/>
              </a:spcBef>
              <a:spcAft>
                <a:spcPts val="0"/>
              </a:spcAft>
              <a:buSzPct val="85000"/>
              <a:buChar char="⚫"/>
            </a:pPr>
            <a:r>
              <a:rPr lang="en-US" dirty="0"/>
              <a:t>a, b, c, d are constants.</a:t>
            </a:r>
            <a:endParaRPr dirty="0"/>
          </a:p>
          <a:p>
            <a:pPr marL="393192" lvl="1" indent="0" algn="l" rtl="0">
              <a:spcBef>
                <a:spcPts val="408"/>
              </a:spcBef>
              <a:spcAft>
                <a:spcPts val="0"/>
              </a:spcAft>
              <a:buSzPct val="85000"/>
              <a:buNone/>
            </a:pPr>
            <a:r>
              <a:rPr lang="en-US" dirty="0"/>
              <a:t>At stable point</a:t>
            </a:r>
            <a:endParaRPr dirty="0"/>
          </a:p>
          <a:p>
            <a:pPr marL="393192" lvl="1" indent="0" algn="l" rtl="0">
              <a:spcBef>
                <a:spcPts val="408"/>
              </a:spcBef>
              <a:spcAft>
                <a:spcPts val="0"/>
              </a:spcAft>
              <a:buSzPct val="85000"/>
              <a:buNone/>
            </a:pPr>
            <a:r>
              <a:rPr lang="en-US" dirty="0"/>
              <a:t>c + </a:t>
            </a:r>
            <a:r>
              <a:rPr lang="en-US" dirty="0" err="1"/>
              <a:t>dp</a:t>
            </a:r>
            <a:r>
              <a:rPr lang="en-US" dirty="0"/>
              <a:t> = a – </a:t>
            </a:r>
            <a:r>
              <a:rPr lang="en-US" dirty="0" err="1"/>
              <a:t>bp</a:t>
            </a:r>
            <a:r>
              <a:rPr lang="en-US" dirty="0"/>
              <a:t>=&gt; (b + </a:t>
            </a:r>
            <a:r>
              <a:rPr lang="en-US" dirty="0" smtClean="0"/>
              <a:t>d) p </a:t>
            </a:r>
            <a:r>
              <a:rPr lang="en-US" dirty="0"/>
              <a:t>= a – c</a:t>
            </a:r>
            <a:endParaRPr dirty="0"/>
          </a:p>
          <a:p>
            <a:pPr marL="274320" lvl="0" indent="-274320" algn="l" rtl="0">
              <a:spcBef>
                <a:spcPts val="442"/>
              </a:spcBef>
              <a:spcAft>
                <a:spcPts val="0"/>
              </a:spcAft>
              <a:buSzPct val="95000"/>
              <a:buChar char="⚫"/>
            </a:pPr>
            <a:r>
              <a:rPr lang="en-US" dirty="0"/>
              <a:t>(Equilibrium price where demand = supply)</a:t>
            </a:r>
            <a:endParaRPr dirty="0"/>
          </a:p>
        </p:txBody>
      </p:sp>
      <p:pic>
        <p:nvPicPr>
          <p:cNvPr id="419" name="Google Shape;419;p44" descr="price.PNG"/>
          <p:cNvPicPr preferRelativeResize="0"/>
          <p:nvPr/>
        </p:nvPicPr>
        <p:blipFill rotWithShape="1">
          <a:blip r:embed="rId3">
            <a:alphaModFix/>
          </a:blip>
          <a:srcRect/>
          <a:stretch/>
        </p:blipFill>
        <p:spPr>
          <a:xfrm>
            <a:off x="7162800" y="5791200"/>
            <a:ext cx="1981200" cy="1066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8">
                                            <p:txEl>
                                              <p:pRg st="0" end="0"/>
                                            </p:txEl>
                                          </p:spTgt>
                                        </p:tgtEl>
                                        <p:attrNameLst>
                                          <p:attrName>style.visibility</p:attrName>
                                        </p:attrNameLst>
                                      </p:cBhvr>
                                      <p:to>
                                        <p:strVal val="visible"/>
                                      </p:to>
                                    </p:set>
                                    <p:animEffect transition="in" filter="fade">
                                      <p:cBhvr>
                                        <p:cTn id="7" dur="500"/>
                                        <p:tgtEl>
                                          <p:spTgt spid="4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18">
                                            <p:txEl>
                                              <p:pRg st="1" end="1"/>
                                            </p:txEl>
                                          </p:spTgt>
                                        </p:tgtEl>
                                        <p:attrNameLst>
                                          <p:attrName>style.visibility</p:attrName>
                                        </p:attrNameLst>
                                      </p:cBhvr>
                                      <p:to>
                                        <p:strVal val="visible"/>
                                      </p:to>
                                    </p:set>
                                    <p:animEffect transition="in" filter="fade">
                                      <p:cBhvr>
                                        <p:cTn id="12" dur="500"/>
                                        <p:tgtEl>
                                          <p:spTgt spid="4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18">
                                            <p:txEl>
                                              <p:pRg st="2" end="2"/>
                                            </p:txEl>
                                          </p:spTgt>
                                        </p:tgtEl>
                                        <p:attrNameLst>
                                          <p:attrName>style.visibility</p:attrName>
                                        </p:attrNameLst>
                                      </p:cBhvr>
                                      <p:to>
                                        <p:strVal val="visible"/>
                                      </p:to>
                                    </p:set>
                                    <p:animEffect transition="in" filter="fade">
                                      <p:cBhvr>
                                        <p:cTn id="17" dur="500"/>
                                        <p:tgtEl>
                                          <p:spTgt spid="4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18">
                                            <p:txEl>
                                              <p:pRg st="3" end="3"/>
                                            </p:txEl>
                                          </p:spTgt>
                                        </p:tgtEl>
                                        <p:attrNameLst>
                                          <p:attrName>style.visibility</p:attrName>
                                        </p:attrNameLst>
                                      </p:cBhvr>
                                      <p:to>
                                        <p:strVal val="visible"/>
                                      </p:to>
                                    </p:set>
                                    <p:animEffect transition="in" filter="fade">
                                      <p:cBhvr>
                                        <p:cTn id="22" dur="500"/>
                                        <p:tgtEl>
                                          <p:spTgt spid="4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18">
                                            <p:txEl>
                                              <p:pRg st="4" end="4"/>
                                            </p:txEl>
                                          </p:spTgt>
                                        </p:tgtEl>
                                        <p:attrNameLst>
                                          <p:attrName>style.visibility</p:attrName>
                                        </p:attrNameLst>
                                      </p:cBhvr>
                                      <p:to>
                                        <p:strVal val="visible"/>
                                      </p:to>
                                    </p:set>
                                    <p:animEffect transition="in" filter="fade">
                                      <p:cBhvr>
                                        <p:cTn id="27" dur="500"/>
                                        <p:tgtEl>
                                          <p:spTgt spid="41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18">
                                            <p:txEl>
                                              <p:pRg st="5" end="5"/>
                                            </p:txEl>
                                          </p:spTgt>
                                        </p:tgtEl>
                                        <p:attrNameLst>
                                          <p:attrName>style.visibility</p:attrName>
                                        </p:attrNameLst>
                                      </p:cBhvr>
                                      <p:to>
                                        <p:strVal val="visible"/>
                                      </p:to>
                                    </p:set>
                                    <p:animEffect transition="in" filter="fade">
                                      <p:cBhvr>
                                        <p:cTn id="32" dur="500"/>
                                        <p:tgtEl>
                                          <p:spTgt spid="41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18">
                                            <p:txEl>
                                              <p:pRg st="6" end="6"/>
                                            </p:txEl>
                                          </p:spTgt>
                                        </p:tgtEl>
                                        <p:attrNameLst>
                                          <p:attrName>style.visibility</p:attrName>
                                        </p:attrNameLst>
                                      </p:cBhvr>
                                      <p:to>
                                        <p:strVal val="visible"/>
                                      </p:to>
                                    </p:set>
                                    <p:animEffect transition="in" filter="fade">
                                      <p:cBhvr>
                                        <p:cTn id="37" dur="500"/>
                                        <p:tgtEl>
                                          <p:spTgt spid="41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18">
                                            <p:txEl>
                                              <p:pRg st="7" end="7"/>
                                            </p:txEl>
                                          </p:spTgt>
                                        </p:tgtEl>
                                        <p:attrNameLst>
                                          <p:attrName>style.visibility</p:attrName>
                                        </p:attrNameLst>
                                      </p:cBhvr>
                                      <p:to>
                                        <p:strVal val="visible"/>
                                      </p:to>
                                    </p:set>
                                    <p:animEffect transition="in" filter="fade">
                                      <p:cBhvr>
                                        <p:cTn id="42" dur="500"/>
                                        <p:tgtEl>
                                          <p:spTgt spid="41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18">
                                            <p:txEl>
                                              <p:pRg st="8" end="8"/>
                                            </p:txEl>
                                          </p:spTgt>
                                        </p:tgtEl>
                                        <p:attrNameLst>
                                          <p:attrName>style.visibility</p:attrName>
                                        </p:attrNameLst>
                                      </p:cBhvr>
                                      <p:to>
                                        <p:strVal val="visible"/>
                                      </p:to>
                                    </p:set>
                                    <p:animEffect transition="in" filter="fade">
                                      <p:cBhvr>
                                        <p:cTn id="47" dur="500"/>
                                        <p:tgtEl>
                                          <p:spTgt spid="41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18">
                                            <p:txEl>
                                              <p:pRg st="9" end="9"/>
                                            </p:txEl>
                                          </p:spTgt>
                                        </p:tgtEl>
                                        <p:attrNameLst>
                                          <p:attrName>style.visibility</p:attrName>
                                        </p:attrNameLst>
                                      </p:cBhvr>
                                      <p:to>
                                        <p:strVal val="visible"/>
                                      </p:to>
                                    </p:set>
                                    <p:animEffect transition="in" filter="fade">
                                      <p:cBhvr>
                                        <p:cTn id="52" dur="500"/>
                                        <p:tgtEl>
                                          <p:spTgt spid="41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18">
                                            <p:txEl>
                                              <p:pRg st="10" end="10"/>
                                            </p:txEl>
                                          </p:spTgt>
                                        </p:tgtEl>
                                        <p:attrNameLst>
                                          <p:attrName>style.visibility</p:attrName>
                                        </p:attrNameLst>
                                      </p:cBhvr>
                                      <p:to>
                                        <p:strVal val="visible"/>
                                      </p:to>
                                    </p:set>
                                    <p:animEffect transition="in" filter="fade">
                                      <p:cBhvr>
                                        <p:cTn id="57" dur="500"/>
                                        <p:tgtEl>
                                          <p:spTgt spid="418">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18">
                                            <p:txEl>
                                              <p:pRg st="11" end="11"/>
                                            </p:txEl>
                                          </p:spTgt>
                                        </p:tgtEl>
                                        <p:attrNameLst>
                                          <p:attrName>style.visibility</p:attrName>
                                        </p:attrNameLst>
                                      </p:cBhvr>
                                      <p:to>
                                        <p:strVal val="visible"/>
                                      </p:to>
                                    </p:set>
                                    <p:animEffect transition="in" filter="fade">
                                      <p:cBhvr>
                                        <p:cTn id="62" dur="500"/>
                                        <p:tgtEl>
                                          <p:spTgt spid="418">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18">
                                            <p:txEl>
                                              <p:pRg st="12" end="12"/>
                                            </p:txEl>
                                          </p:spTgt>
                                        </p:tgtEl>
                                        <p:attrNameLst>
                                          <p:attrName>style.visibility</p:attrName>
                                        </p:attrNameLst>
                                      </p:cBhvr>
                                      <p:to>
                                        <p:strVal val="visible"/>
                                      </p:to>
                                    </p:set>
                                    <p:animEffect transition="in" filter="fade">
                                      <p:cBhvr>
                                        <p:cTn id="67" dur="500"/>
                                        <p:tgtEl>
                                          <p:spTgt spid="418">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18">
                                            <p:txEl>
                                              <p:pRg st="13" end="13"/>
                                            </p:txEl>
                                          </p:spTgt>
                                        </p:tgtEl>
                                        <p:attrNameLst>
                                          <p:attrName>style.visibility</p:attrName>
                                        </p:attrNameLst>
                                      </p:cBhvr>
                                      <p:to>
                                        <p:strVal val="visible"/>
                                      </p:to>
                                    </p:set>
                                    <p:animEffect transition="in" filter="fade">
                                      <p:cBhvr>
                                        <p:cTn id="72" dur="500"/>
                                        <p:tgtEl>
                                          <p:spTgt spid="418">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4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Assignment</a:t>
            </a:r>
            <a:endParaRPr/>
          </a:p>
        </p:txBody>
      </p:sp>
      <p:sp>
        <p:nvSpPr>
          <p:cNvPr id="425" name="Google Shape;425;p45"/>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Find the stable price when a=600, b=3000, c=-100 and d=2000.</a:t>
            </a:r>
            <a:endParaRPr/>
          </a:p>
          <a:p>
            <a:pPr marL="274320" lvl="0" indent="-274320" algn="l" rtl="0">
              <a:spcBef>
                <a:spcPts val="520"/>
              </a:spcBef>
              <a:spcAft>
                <a:spcPts val="0"/>
              </a:spcAft>
              <a:buSzPts val="2470"/>
              <a:buChar char="⚫"/>
            </a:pPr>
            <a:r>
              <a:rPr lang="en-US"/>
              <a:t>Also find the supply and demand at that point.</a:t>
            </a:r>
            <a:endParaRPr/>
          </a:p>
          <a:p>
            <a:pPr marL="274320" lvl="0" indent="-117475" algn="l" rtl="0">
              <a:spcBef>
                <a:spcPts val="520"/>
              </a:spcBef>
              <a:spcAft>
                <a:spcPts val="0"/>
              </a:spcAft>
              <a:buSzPts val="2470"/>
              <a:buNone/>
            </a:pPr>
            <a:endParaRPr/>
          </a:p>
          <a:p>
            <a:pPr marL="274320" lvl="0" indent="-274320" algn="l" rtl="0">
              <a:spcBef>
                <a:spcPts val="520"/>
              </a:spcBef>
              <a:spcAft>
                <a:spcPts val="0"/>
              </a:spcAft>
              <a:buSzPts val="2470"/>
              <a:buChar char="⚫"/>
            </a:pPr>
            <a:r>
              <a:rPr lang="en-US"/>
              <a:t>Ans [0.14, 180]</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5">
                                            <p:txEl>
                                              <p:pRg st="0" end="0"/>
                                            </p:txEl>
                                          </p:spTgt>
                                        </p:tgtEl>
                                        <p:attrNameLst>
                                          <p:attrName>style.visibility</p:attrName>
                                        </p:attrNameLst>
                                      </p:cBhvr>
                                      <p:to>
                                        <p:strVal val="visible"/>
                                      </p:to>
                                    </p:set>
                                    <p:animEffect transition="in" filter="fade">
                                      <p:cBhvr>
                                        <p:cTn id="7" dur="1000"/>
                                        <p:tgtEl>
                                          <p:spTgt spid="4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25">
                                            <p:txEl>
                                              <p:pRg st="1" end="1"/>
                                            </p:txEl>
                                          </p:spTgt>
                                        </p:tgtEl>
                                        <p:attrNameLst>
                                          <p:attrName>style.visibility</p:attrName>
                                        </p:attrNameLst>
                                      </p:cBhvr>
                                      <p:to>
                                        <p:strVal val="visible"/>
                                      </p:to>
                                    </p:set>
                                    <p:animEffect transition="in" filter="fade">
                                      <p:cBhvr>
                                        <p:cTn id="12" dur="1000"/>
                                        <p:tgtEl>
                                          <p:spTgt spid="42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25">
                                            <p:txEl>
                                              <p:pRg st="2" end="2"/>
                                            </p:txEl>
                                          </p:spTgt>
                                        </p:tgtEl>
                                        <p:attrNameLst>
                                          <p:attrName>style.visibility</p:attrName>
                                        </p:attrNameLst>
                                      </p:cBhvr>
                                      <p:to>
                                        <p:strVal val="visible"/>
                                      </p:to>
                                    </p:set>
                                    <p:animEffect transition="in" filter="fade">
                                      <p:cBhvr>
                                        <p:cTn id="17" dur="1000"/>
                                        <p:tgtEl>
                                          <p:spTgt spid="42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25">
                                            <p:txEl>
                                              <p:pRg st="3" end="3"/>
                                            </p:txEl>
                                          </p:spTgt>
                                        </p:tgtEl>
                                        <p:attrNameLst>
                                          <p:attrName>style.visibility</p:attrName>
                                        </p:attrNameLst>
                                      </p:cBhvr>
                                      <p:to>
                                        <p:strVal val="visible"/>
                                      </p:to>
                                    </p:set>
                                    <p:animEffect transition="in" filter="fade">
                                      <p:cBhvr>
                                        <p:cTn id="22" dur="1000"/>
                                        <p:tgtEl>
                                          <p:spTgt spid="42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46"/>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Types of Model..</a:t>
            </a:r>
            <a:endParaRPr/>
          </a:p>
        </p:txBody>
      </p:sp>
      <p:sp>
        <p:nvSpPr>
          <p:cNvPr id="431" name="Google Shape;431;p46"/>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b="1"/>
              <a:t>Dynamic Mathematical Model: </a:t>
            </a:r>
            <a:r>
              <a:rPr lang="en-US"/>
              <a:t>It allows the changes of system attributes to be derived as a function of time. This derivation may be made with analytical solution or with a numerical computation depending upon the complexity of the model. </a:t>
            </a: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a:p>
            <a:pPr marL="274320" lvl="0" indent="-274320" algn="l" rtl="0">
              <a:spcBef>
                <a:spcPts val="520"/>
              </a:spcBef>
              <a:spcAft>
                <a:spcPts val="0"/>
              </a:spcAft>
              <a:buSzPts val="2470"/>
              <a:buChar char="⚫"/>
            </a:pPr>
            <a:r>
              <a:rPr lang="en-US"/>
              <a:t>This an equation of a wheel suspension of a vehicle.</a:t>
            </a:r>
            <a:endParaRPr/>
          </a:p>
          <a:p>
            <a:pPr marL="274320" lvl="0" indent="-117475" algn="l" rtl="0">
              <a:spcBef>
                <a:spcPts val="520"/>
              </a:spcBef>
              <a:spcAft>
                <a:spcPts val="0"/>
              </a:spcAft>
              <a:buSzPts val="2470"/>
              <a:buNone/>
            </a:pPr>
            <a:endParaRPr/>
          </a:p>
        </p:txBody>
      </p:sp>
      <p:pic>
        <p:nvPicPr>
          <p:cNvPr id="432" name="Google Shape;432;p46" descr="careq.PNG"/>
          <p:cNvPicPr preferRelativeResize="0"/>
          <p:nvPr/>
        </p:nvPicPr>
        <p:blipFill rotWithShape="1">
          <a:blip r:embed="rId3">
            <a:alphaModFix/>
          </a:blip>
          <a:srcRect/>
          <a:stretch/>
        </p:blipFill>
        <p:spPr>
          <a:xfrm>
            <a:off x="1142999" y="4191000"/>
            <a:ext cx="3893577" cy="685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1">
                                            <p:txEl>
                                              <p:pRg st="0" end="0"/>
                                            </p:txEl>
                                          </p:spTgt>
                                        </p:tgtEl>
                                        <p:attrNameLst>
                                          <p:attrName>style.visibility</p:attrName>
                                        </p:attrNameLst>
                                      </p:cBhvr>
                                      <p:to>
                                        <p:strVal val="visible"/>
                                      </p:to>
                                    </p:set>
                                    <p:animEffect transition="in" filter="fade">
                                      <p:cBhvr>
                                        <p:cTn id="7" dur="500"/>
                                        <p:tgtEl>
                                          <p:spTgt spid="4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1">
                                            <p:txEl>
                                              <p:pRg st="1" end="1"/>
                                            </p:txEl>
                                          </p:spTgt>
                                        </p:tgtEl>
                                        <p:attrNameLst>
                                          <p:attrName>style.visibility</p:attrName>
                                        </p:attrNameLst>
                                      </p:cBhvr>
                                      <p:to>
                                        <p:strVal val="visible"/>
                                      </p:to>
                                    </p:set>
                                    <p:animEffect transition="in" filter="fade">
                                      <p:cBhvr>
                                        <p:cTn id="12" dur="500"/>
                                        <p:tgtEl>
                                          <p:spTgt spid="4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31">
                                            <p:txEl>
                                              <p:pRg st="2" end="2"/>
                                            </p:txEl>
                                          </p:spTgt>
                                        </p:tgtEl>
                                        <p:attrNameLst>
                                          <p:attrName>style.visibility</p:attrName>
                                        </p:attrNameLst>
                                      </p:cBhvr>
                                      <p:to>
                                        <p:strVal val="visible"/>
                                      </p:to>
                                    </p:set>
                                    <p:animEffect transition="in" filter="fade">
                                      <p:cBhvr>
                                        <p:cTn id="17" dur="500"/>
                                        <p:tgtEl>
                                          <p:spTgt spid="4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31">
                                            <p:txEl>
                                              <p:pRg st="3" end="3"/>
                                            </p:txEl>
                                          </p:spTgt>
                                        </p:tgtEl>
                                        <p:attrNameLst>
                                          <p:attrName>style.visibility</p:attrName>
                                        </p:attrNameLst>
                                      </p:cBhvr>
                                      <p:to>
                                        <p:strVal val="visible"/>
                                      </p:to>
                                    </p:set>
                                    <p:animEffect transition="in" filter="fade">
                                      <p:cBhvr>
                                        <p:cTn id="22" dur="500"/>
                                        <p:tgtEl>
                                          <p:spTgt spid="4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31">
                                            <p:txEl>
                                              <p:pRg st="4" end="4"/>
                                            </p:txEl>
                                          </p:spTgt>
                                        </p:tgtEl>
                                        <p:attrNameLst>
                                          <p:attrName>style.visibility</p:attrName>
                                        </p:attrNameLst>
                                      </p:cBhvr>
                                      <p:to>
                                        <p:strVal val="visible"/>
                                      </p:to>
                                    </p:set>
                                    <p:animEffect transition="in" filter="fade">
                                      <p:cBhvr>
                                        <p:cTn id="27" dur="500"/>
                                        <p:tgtEl>
                                          <p:spTgt spid="4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32"/>
                                        </p:tgtEl>
                                        <p:attrNameLst>
                                          <p:attrName>style.visibility</p:attrName>
                                        </p:attrNameLst>
                                      </p:cBhvr>
                                      <p:to>
                                        <p:strVal val="visible"/>
                                      </p:to>
                                    </p:set>
                                    <p:animEffect transition="in" filter="fade">
                                      <p:cBhvr>
                                        <p:cTn id="32" dur="500"/>
                                        <p:tgtEl>
                                          <p:spTgt spid="4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47"/>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Types of Model..</a:t>
            </a:r>
            <a:endParaRPr/>
          </a:p>
        </p:txBody>
      </p:sp>
      <p:sp>
        <p:nvSpPr>
          <p:cNvPr id="438" name="Google Shape;438;p47"/>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A dynamic mathematical model allows the changes of system attributes to be derived as a function of time. </a:t>
            </a:r>
            <a:endParaRPr/>
          </a:p>
          <a:p>
            <a:pPr marL="274320" lvl="0" indent="-274320" algn="l" rtl="0">
              <a:spcBef>
                <a:spcPts val="520"/>
              </a:spcBef>
              <a:spcAft>
                <a:spcPts val="0"/>
              </a:spcAft>
              <a:buSzPts val="2470"/>
              <a:buChar char="⚫"/>
            </a:pPr>
            <a:r>
              <a:rPr lang="en-US"/>
              <a:t>The derivation may be made with an analytical solution or with a numerical computation depending upon the with a numerical computation, depending upon the complexity of the model. </a:t>
            </a:r>
            <a:endParaRPr/>
          </a:p>
          <a:p>
            <a:pPr marL="274320" lvl="0" indent="-274320" algn="l" rtl="0">
              <a:spcBef>
                <a:spcPts val="520"/>
              </a:spcBef>
              <a:spcAft>
                <a:spcPts val="0"/>
              </a:spcAft>
              <a:buSzPts val="2470"/>
              <a:buChar char="⚫"/>
            </a:pPr>
            <a:r>
              <a:rPr lang="en-US"/>
              <a:t>The equation that was derived to describe the behavior of a car wheel is an example of a dynamic mathematical model; in this case, an equation that can be solved analytically</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48"/>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Types of Model..</a:t>
            </a:r>
            <a:endParaRPr/>
          </a:p>
        </p:txBody>
      </p:sp>
      <p:sp>
        <p:nvSpPr>
          <p:cNvPr id="444" name="Google Shape;444;p48"/>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92500" lnSpcReduction="10000"/>
          </a:bodyPr>
          <a:lstStyle/>
          <a:p>
            <a:pPr marL="274320" lvl="0" indent="-274320" algn="l" rtl="0">
              <a:spcBef>
                <a:spcPts val="0"/>
              </a:spcBef>
              <a:spcAft>
                <a:spcPts val="0"/>
              </a:spcAft>
              <a:buSzPct val="95000"/>
              <a:buChar char="⚫"/>
            </a:pPr>
            <a:r>
              <a:rPr lang="en-US"/>
              <a:t>It is customary to write the equation in the form</a:t>
            </a:r>
            <a:endParaRPr/>
          </a:p>
          <a:p>
            <a:pPr marL="274320" lvl="0" indent="-129238" algn="l" rtl="0">
              <a:spcBef>
                <a:spcPts val="481"/>
              </a:spcBef>
              <a:spcAft>
                <a:spcPts val="0"/>
              </a:spcAft>
              <a:buSzPct val="95000"/>
              <a:buNone/>
            </a:pPr>
            <a:endParaRPr/>
          </a:p>
          <a:p>
            <a:pPr marL="274320" lvl="0" indent="-129238" algn="l" rtl="0">
              <a:spcBef>
                <a:spcPts val="481"/>
              </a:spcBef>
              <a:spcAft>
                <a:spcPts val="0"/>
              </a:spcAft>
              <a:buSzPct val="95000"/>
              <a:buNone/>
            </a:pPr>
            <a:endParaRPr/>
          </a:p>
          <a:p>
            <a:pPr marL="274320" lvl="0" indent="-274320" algn="l" rtl="0">
              <a:spcBef>
                <a:spcPts val="481"/>
              </a:spcBef>
              <a:spcAft>
                <a:spcPts val="0"/>
              </a:spcAft>
              <a:buSzPct val="95000"/>
              <a:buChar char="⚫"/>
            </a:pPr>
            <a:r>
              <a:rPr lang="en-US"/>
              <a:t>Where 2 ζ ω =D/M and ω 2=K/M </a:t>
            </a:r>
            <a:endParaRPr/>
          </a:p>
          <a:p>
            <a:pPr marL="274320" lvl="0" indent="-274320" algn="l" rtl="0">
              <a:spcBef>
                <a:spcPts val="481"/>
              </a:spcBef>
              <a:spcAft>
                <a:spcPts val="0"/>
              </a:spcAft>
              <a:buSzPct val="95000"/>
              <a:buChar char="⚫"/>
            </a:pPr>
            <a:r>
              <a:rPr lang="en-US"/>
              <a:t>Expressed in this form, solutions can be given in terms of the variable ω t. </a:t>
            </a:r>
            <a:endParaRPr/>
          </a:p>
          <a:p>
            <a:pPr marL="274320" lvl="0" indent="-274320" algn="l" rtl="0">
              <a:spcBef>
                <a:spcPts val="481"/>
              </a:spcBef>
              <a:spcAft>
                <a:spcPts val="0"/>
              </a:spcAft>
              <a:buSzPct val="95000"/>
              <a:buChar char="⚫"/>
            </a:pPr>
            <a:r>
              <a:rPr lang="en-US"/>
              <a:t>Figure below shows how x varies in response to a steady force applied at time t = 0 as would occur, for instance, if a load were suddenly placed on the automobile.</a:t>
            </a:r>
            <a:endParaRPr/>
          </a:p>
          <a:p>
            <a:pPr marL="274320" lvl="0" indent="-274320" algn="l" rtl="0">
              <a:spcBef>
                <a:spcPts val="481"/>
              </a:spcBef>
              <a:spcAft>
                <a:spcPts val="0"/>
              </a:spcAft>
              <a:buSzPct val="95000"/>
              <a:buChar char="⚫"/>
            </a:pPr>
            <a:r>
              <a:rPr lang="en-US"/>
              <a:t> Solutions are shown for several values of ζ , and it can be seen that when ζ is less than 1, the motion is oscillatory </a:t>
            </a:r>
            <a:endParaRPr/>
          </a:p>
          <a:p>
            <a:pPr marL="640080" lvl="1" indent="-127063" algn="l" rtl="0">
              <a:spcBef>
                <a:spcPts val="444"/>
              </a:spcBef>
              <a:spcAft>
                <a:spcPts val="0"/>
              </a:spcAft>
              <a:buSzPct val="85000"/>
              <a:buNone/>
            </a:pPr>
            <a:endParaRPr/>
          </a:p>
        </p:txBody>
      </p:sp>
      <p:pic>
        <p:nvPicPr>
          <p:cNvPr id="445" name="Google Shape;445;p48"/>
          <p:cNvPicPr preferRelativeResize="0"/>
          <p:nvPr/>
        </p:nvPicPr>
        <p:blipFill>
          <a:blip r:embed="rId3">
            <a:alphaModFix/>
          </a:blip>
          <a:stretch>
            <a:fillRect/>
          </a:stretch>
        </p:blipFill>
        <p:spPr>
          <a:xfrm>
            <a:off x="1852325" y="2397900"/>
            <a:ext cx="3792826" cy="6139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49"/>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Types of Model..</a:t>
            </a:r>
            <a:endParaRPr/>
          </a:p>
        </p:txBody>
      </p:sp>
      <p:pic>
        <p:nvPicPr>
          <p:cNvPr id="451" name="Google Shape;451;p49" descr="dmm2.PNG"/>
          <p:cNvPicPr preferRelativeResize="0">
            <a:picLocks noGrp="1"/>
          </p:cNvPicPr>
          <p:nvPr>
            <p:ph type="body" idx="1"/>
          </p:nvPr>
        </p:nvPicPr>
        <p:blipFill rotWithShape="1">
          <a:blip r:embed="rId3">
            <a:alphaModFix/>
          </a:blip>
          <a:srcRect/>
          <a:stretch/>
        </p:blipFill>
        <p:spPr>
          <a:xfrm>
            <a:off x="984479" y="1752601"/>
            <a:ext cx="7473721" cy="476232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50"/>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Types of Model..</a:t>
            </a:r>
            <a:endParaRPr/>
          </a:p>
        </p:txBody>
      </p:sp>
      <p:sp>
        <p:nvSpPr>
          <p:cNvPr id="457" name="Google Shape;457;p50"/>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92500"/>
          </a:bodyPr>
          <a:lstStyle/>
          <a:p>
            <a:pPr marL="274320" lvl="0" indent="-274320" algn="l" rtl="0">
              <a:spcBef>
                <a:spcPts val="0"/>
              </a:spcBef>
              <a:spcAft>
                <a:spcPts val="0"/>
              </a:spcAft>
              <a:buSzPts val="2470"/>
              <a:buChar char="⚫"/>
            </a:pPr>
            <a:r>
              <a:rPr lang="en-US"/>
              <a:t>The factor ζ is called the damping ratio and, when the motion is oscillatory the frequency of oscillation is determined from the oscillatory, the frequency of oscillation is determined from the formula.</a:t>
            </a:r>
            <a:endParaRPr/>
          </a:p>
          <a:p>
            <a:pPr marL="274320" lvl="0" indent="-117475" algn="l" rtl="0">
              <a:spcBef>
                <a:spcPts val="520"/>
              </a:spcBef>
              <a:spcAft>
                <a:spcPts val="0"/>
              </a:spcAft>
              <a:buSzPts val="2470"/>
              <a:buNone/>
            </a:pPr>
            <a:endParaRPr/>
          </a:p>
          <a:p>
            <a:pPr marL="274320" lvl="0" indent="-117475" algn="l" rtl="0">
              <a:spcBef>
                <a:spcPts val="520"/>
              </a:spcBef>
              <a:spcAft>
                <a:spcPts val="0"/>
              </a:spcAft>
              <a:buSzPts val="2470"/>
              <a:buNone/>
            </a:pPr>
            <a:endParaRPr/>
          </a:p>
          <a:p>
            <a:pPr marL="1737360" lvl="5" indent="-210312" algn="l" rtl="0">
              <a:spcBef>
                <a:spcPts val="360"/>
              </a:spcBef>
              <a:spcAft>
                <a:spcPts val="0"/>
              </a:spcAft>
              <a:buSzPts val="1440"/>
              <a:buChar char="⚫"/>
            </a:pPr>
            <a:r>
              <a:rPr lang="en-US"/>
              <a:t>where f is the number of cycles per second.</a:t>
            </a:r>
            <a:endParaRPr/>
          </a:p>
          <a:p>
            <a:pPr marL="274320" lvl="0" indent="-274320" algn="l" rtl="0">
              <a:spcBef>
                <a:spcPts val="520"/>
              </a:spcBef>
              <a:spcAft>
                <a:spcPts val="0"/>
              </a:spcAft>
              <a:buSzPts val="2470"/>
              <a:buChar char="⚫"/>
            </a:pPr>
            <a:r>
              <a:rPr lang="en-US"/>
              <a:t>Suppose a case is selected is representing a satisfactory frequency and damping. The relationship given above between ζ , ω ,M, k and D show how to select the spring and shock absorber to get that type of motion </a:t>
            </a:r>
            <a:endParaRPr/>
          </a:p>
          <a:p>
            <a:pPr marL="274320" lvl="0" indent="-117475" algn="l" rtl="0">
              <a:spcBef>
                <a:spcPts val="520"/>
              </a:spcBef>
              <a:spcAft>
                <a:spcPts val="0"/>
              </a:spcAft>
              <a:buSzPts val="2470"/>
              <a:buNone/>
            </a:pPr>
            <a:endParaRPr/>
          </a:p>
          <a:p>
            <a:pPr marL="274320" lvl="0" indent="-274320" algn="l" rtl="0">
              <a:spcBef>
                <a:spcPts val="520"/>
              </a:spcBef>
              <a:spcAft>
                <a:spcPts val="0"/>
              </a:spcAft>
              <a:buSzPts val="2470"/>
              <a:buNone/>
            </a:pPr>
            <a:endParaRPr/>
          </a:p>
          <a:p>
            <a:pPr marL="640080" lvl="1" indent="-117348" algn="l" rtl="0">
              <a:spcBef>
                <a:spcPts val="480"/>
              </a:spcBef>
              <a:spcAft>
                <a:spcPts val="0"/>
              </a:spcAft>
              <a:buSzPts val="2040"/>
              <a:buNone/>
            </a:pPr>
            <a:endParaRPr/>
          </a:p>
          <a:p>
            <a:pPr marL="640080" lvl="1" indent="-246888" algn="l" rtl="0">
              <a:spcBef>
                <a:spcPts val="480"/>
              </a:spcBef>
              <a:spcAft>
                <a:spcPts val="0"/>
              </a:spcAft>
              <a:buSzPts val="2040"/>
              <a:buNone/>
            </a:pPr>
            <a:endParaRPr/>
          </a:p>
        </p:txBody>
      </p:sp>
      <p:pic>
        <p:nvPicPr>
          <p:cNvPr id="458" name="Google Shape;458;p50" descr="dmm3.PNG"/>
          <p:cNvPicPr preferRelativeResize="0"/>
          <p:nvPr/>
        </p:nvPicPr>
        <p:blipFill rotWithShape="1">
          <a:blip r:embed="rId3">
            <a:alphaModFix/>
          </a:blip>
          <a:srcRect/>
          <a:stretch/>
        </p:blipFill>
        <p:spPr>
          <a:xfrm>
            <a:off x="2209800" y="3429000"/>
            <a:ext cx="1629002" cy="67636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51"/>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Types of Model..</a:t>
            </a:r>
            <a:endParaRPr/>
          </a:p>
        </p:txBody>
      </p:sp>
      <p:sp>
        <p:nvSpPr>
          <p:cNvPr id="464" name="Google Shape;464;p51"/>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For example the condition for the motion to that type of motion. For example the condition for the motion to occur without oscillation requires that ζ ≥1. </a:t>
            </a:r>
            <a:endParaRPr/>
          </a:p>
          <a:p>
            <a:pPr marL="274320" lvl="0" indent="-274320" algn="l" rtl="0">
              <a:spcBef>
                <a:spcPts val="520"/>
              </a:spcBef>
              <a:spcAft>
                <a:spcPts val="0"/>
              </a:spcAft>
              <a:buSzPts val="2470"/>
              <a:buChar char="⚫"/>
            </a:pPr>
            <a:r>
              <a:rPr lang="en-US"/>
              <a:t>It can be deduced from the definition of that the condition requires that D *D≥4MK.</a:t>
            </a:r>
            <a:endParaRPr/>
          </a:p>
          <a:p>
            <a:pPr marL="274320" lvl="0" indent="-117475" algn="l" rtl="0">
              <a:spcBef>
                <a:spcPts val="520"/>
              </a:spcBef>
              <a:spcAft>
                <a:spcPts val="0"/>
              </a:spcAft>
              <a:buSzPts val="2470"/>
              <a:buNone/>
            </a:pP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5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Principles used in modeling [BARA]</a:t>
            </a:r>
            <a:endParaRPr/>
          </a:p>
        </p:txBody>
      </p:sp>
      <p:sp>
        <p:nvSpPr>
          <p:cNvPr id="470" name="Google Shape;470;p52"/>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The guiding principle of modeling are:</a:t>
            </a:r>
            <a:endParaRPr/>
          </a:p>
          <a:p>
            <a:pPr marL="640080" lvl="1" indent="-246888" algn="l" rtl="0">
              <a:spcBef>
                <a:spcPts val="480"/>
              </a:spcBef>
              <a:spcAft>
                <a:spcPts val="0"/>
              </a:spcAft>
              <a:buSzPts val="2040"/>
              <a:buChar char="⚫"/>
            </a:pPr>
            <a:r>
              <a:rPr lang="en-US" b="1"/>
              <a:t>a. Block Building </a:t>
            </a:r>
            <a:endParaRPr/>
          </a:p>
          <a:p>
            <a:pPr marL="640080" lvl="1" indent="-246888" algn="l" rtl="0">
              <a:spcBef>
                <a:spcPts val="480"/>
              </a:spcBef>
              <a:spcAft>
                <a:spcPts val="0"/>
              </a:spcAft>
              <a:buSzPts val="2040"/>
              <a:buChar char="⚫"/>
            </a:pPr>
            <a:r>
              <a:rPr lang="en-US" b="1"/>
              <a:t>b. Relevance </a:t>
            </a:r>
            <a:endParaRPr/>
          </a:p>
          <a:p>
            <a:pPr marL="640080" lvl="1" indent="-246888" algn="l" rtl="0">
              <a:spcBef>
                <a:spcPts val="480"/>
              </a:spcBef>
              <a:spcAft>
                <a:spcPts val="0"/>
              </a:spcAft>
              <a:buSzPts val="2040"/>
              <a:buChar char="⚫"/>
            </a:pPr>
            <a:r>
              <a:rPr lang="en-US" b="1"/>
              <a:t>c. Accuracy </a:t>
            </a:r>
            <a:endParaRPr/>
          </a:p>
          <a:p>
            <a:pPr marL="640080" lvl="1" indent="-246888" algn="l" rtl="0">
              <a:spcBef>
                <a:spcPts val="480"/>
              </a:spcBef>
              <a:spcAft>
                <a:spcPts val="0"/>
              </a:spcAft>
              <a:buSzPts val="2040"/>
              <a:buChar char="⚫"/>
            </a:pPr>
            <a:r>
              <a:rPr lang="en-US" b="1"/>
              <a:t>d. Aggregation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53"/>
          <p:cNvSpPr txBox="1">
            <a:spLocks noGrp="1"/>
          </p:cNvSpPr>
          <p:nvPr>
            <p:ph type="title"/>
          </p:nvPr>
        </p:nvSpPr>
        <p:spPr>
          <a:xfrm>
            <a:off x="457200" y="228600"/>
            <a:ext cx="8229600" cy="8382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Principles used in modeling</a:t>
            </a:r>
            <a:endParaRPr/>
          </a:p>
        </p:txBody>
      </p:sp>
      <p:sp>
        <p:nvSpPr>
          <p:cNvPr id="476" name="Google Shape;476;p53"/>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92500" lnSpcReduction="20000"/>
          </a:bodyPr>
          <a:lstStyle/>
          <a:p>
            <a:pPr marL="274320" lvl="1" indent="-274320" algn="l" rtl="0">
              <a:spcBef>
                <a:spcPts val="0"/>
              </a:spcBef>
              <a:spcAft>
                <a:spcPts val="0"/>
              </a:spcAft>
              <a:buClr>
                <a:schemeClr val="accent3"/>
              </a:buClr>
              <a:buSzPct val="95000"/>
              <a:buNone/>
            </a:pPr>
            <a:r>
              <a:rPr lang="en-US" b="1" u="sng"/>
              <a:t>a. Block Building: </a:t>
            </a:r>
            <a:endParaRPr/>
          </a:p>
          <a:p>
            <a:pPr marL="274320" lvl="1" indent="-274320" algn="l" rtl="0">
              <a:spcBef>
                <a:spcPts val="444"/>
              </a:spcBef>
              <a:spcAft>
                <a:spcPts val="0"/>
              </a:spcAft>
              <a:buClr>
                <a:schemeClr val="accent3"/>
              </a:buClr>
              <a:buSzPct val="95000"/>
              <a:buChar char="⚫"/>
            </a:pPr>
            <a:r>
              <a:rPr lang="en-US"/>
              <a:t>The description of the system should be organized in a series of block. </a:t>
            </a:r>
            <a:endParaRPr/>
          </a:p>
          <a:p>
            <a:pPr marL="274320" lvl="1" indent="-274320" algn="l" rtl="0">
              <a:spcBef>
                <a:spcPts val="444"/>
              </a:spcBef>
              <a:spcAft>
                <a:spcPts val="0"/>
              </a:spcAft>
              <a:buClr>
                <a:schemeClr val="accent3"/>
              </a:buClr>
              <a:buSzPct val="95000"/>
              <a:buChar char="⚫"/>
            </a:pPr>
            <a:r>
              <a:rPr lang="en-US"/>
              <a:t>The aim is to simplify the specification of the interaction with in a system. </a:t>
            </a:r>
            <a:endParaRPr/>
          </a:p>
          <a:p>
            <a:pPr marL="274320" lvl="1" indent="-274320" algn="l" rtl="0">
              <a:spcBef>
                <a:spcPts val="444"/>
              </a:spcBef>
              <a:spcAft>
                <a:spcPts val="0"/>
              </a:spcAft>
              <a:buClr>
                <a:schemeClr val="accent3"/>
              </a:buClr>
              <a:buSzPct val="95000"/>
              <a:buChar char="⚫"/>
            </a:pPr>
            <a:r>
              <a:rPr lang="en-US"/>
              <a:t>Each block describes a part of the system that depends upon the few input variables and results in few output variables. </a:t>
            </a:r>
            <a:endParaRPr/>
          </a:p>
          <a:p>
            <a:pPr marL="274320" lvl="1" indent="-274320" algn="l" rtl="0">
              <a:spcBef>
                <a:spcPts val="444"/>
              </a:spcBef>
              <a:spcAft>
                <a:spcPts val="0"/>
              </a:spcAft>
              <a:buClr>
                <a:schemeClr val="accent3"/>
              </a:buClr>
              <a:buSzPct val="95000"/>
              <a:buChar char="⚫"/>
            </a:pPr>
            <a:r>
              <a:rPr lang="en-US"/>
              <a:t>The system as a whole can be described in terms of interconnection between the blocks and can be represented graphically as a simple block diagram. </a:t>
            </a:r>
            <a:endParaRPr/>
          </a:p>
          <a:p>
            <a:pPr marL="274320" lvl="1" indent="-274320" algn="l" rtl="0">
              <a:spcBef>
                <a:spcPts val="444"/>
              </a:spcBef>
              <a:spcAft>
                <a:spcPts val="0"/>
              </a:spcAft>
              <a:buClr>
                <a:schemeClr val="accent3"/>
              </a:buClr>
              <a:buSzPct val="95000"/>
              <a:buChar char="⚫"/>
            </a:pPr>
            <a:r>
              <a:rPr lang="en-US"/>
              <a:t>Example: The description of a factory is an example of a block diagram where each department has been treated as a separate block where the inputs and outputs being the work passed from department to department.</a:t>
            </a:r>
            <a:endParaRPr/>
          </a:p>
          <a:p>
            <a:pPr marL="274320" lvl="0" indent="-129238" algn="l" rtl="0">
              <a:spcBef>
                <a:spcPts val="481"/>
              </a:spcBef>
              <a:spcAft>
                <a:spcPts val="0"/>
              </a:spcAft>
              <a:buSzPct val="95000"/>
              <a:buNone/>
            </a:pPr>
            <a:endParaRPr/>
          </a:p>
        </p:txBody>
      </p:sp>
      <p:pic>
        <p:nvPicPr>
          <p:cNvPr id="477" name="Google Shape;477;p53" descr="block.jpg"/>
          <p:cNvPicPr preferRelativeResize="0"/>
          <p:nvPr/>
        </p:nvPicPr>
        <p:blipFill rotWithShape="1">
          <a:blip r:embed="rId3">
            <a:alphaModFix/>
          </a:blip>
          <a:srcRect/>
          <a:stretch/>
        </p:blipFill>
        <p:spPr>
          <a:xfrm>
            <a:off x="5410199" y="990600"/>
            <a:ext cx="3673929" cy="2057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6">
                                            <p:txEl>
                                              <p:pRg st="0" end="0"/>
                                            </p:txEl>
                                          </p:spTgt>
                                        </p:tgtEl>
                                        <p:attrNameLst>
                                          <p:attrName>style.visibility</p:attrName>
                                        </p:attrNameLst>
                                      </p:cBhvr>
                                      <p:to>
                                        <p:strVal val="visible"/>
                                      </p:to>
                                    </p:set>
                                    <p:animEffect transition="in" filter="fade">
                                      <p:cBhvr>
                                        <p:cTn id="7" dur="500"/>
                                        <p:tgtEl>
                                          <p:spTgt spid="47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6">
                                            <p:txEl>
                                              <p:pRg st="1" end="1"/>
                                            </p:txEl>
                                          </p:spTgt>
                                        </p:tgtEl>
                                        <p:attrNameLst>
                                          <p:attrName>style.visibility</p:attrName>
                                        </p:attrNameLst>
                                      </p:cBhvr>
                                      <p:to>
                                        <p:strVal val="visible"/>
                                      </p:to>
                                    </p:set>
                                    <p:animEffect transition="in" filter="fade">
                                      <p:cBhvr>
                                        <p:cTn id="12" dur="500"/>
                                        <p:tgtEl>
                                          <p:spTgt spid="47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6">
                                            <p:txEl>
                                              <p:pRg st="2" end="2"/>
                                            </p:txEl>
                                          </p:spTgt>
                                        </p:tgtEl>
                                        <p:attrNameLst>
                                          <p:attrName>style.visibility</p:attrName>
                                        </p:attrNameLst>
                                      </p:cBhvr>
                                      <p:to>
                                        <p:strVal val="visible"/>
                                      </p:to>
                                    </p:set>
                                    <p:animEffect transition="in" filter="fade">
                                      <p:cBhvr>
                                        <p:cTn id="17" dur="500"/>
                                        <p:tgtEl>
                                          <p:spTgt spid="47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6">
                                            <p:txEl>
                                              <p:pRg st="3" end="3"/>
                                            </p:txEl>
                                          </p:spTgt>
                                        </p:tgtEl>
                                        <p:attrNameLst>
                                          <p:attrName>style.visibility</p:attrName>
                                        </p:attrNameLst>
                                      </p:cBhvr>
                                      <p:to>
                                        <p:strVal val="visible"/>
                                      </p:to>
                                    </p:set>
                                    <p:animEffect transition="in" filter="fade">
                                      <p:cBhvr>
                                        <p:cTn id="22" dur="500"/>
                                        <p:tgtEl>
                                          <p:spTgt spid="47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76">
                                            <p:txEl>
                                              <p:pRg st="4" end="4"/>
                                            </p:txEl>
                                          </p:spTgt>
                                        </p:tgtEl>
                                        <p:attrNameLst>
                                          <p:attrName>style.visibility</p:attrName>
                                        </p:attrNameLst>
                                      </p:cBhvr>
                                      <p:to>
                                        <p:strVal val="visible"/>
                                      </p:to>
                                    </p:set>
                                    <p:animEffect transition="in" filter="fade">
                                      <p:cBhvr>
                                        <p:cTn id="27" dur="500"/>
                                        <p:tgtEl>
                                          <p:spTgt spid="47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76">
                                            <p:txEl>
                                              <p:pRg st="5" end="5"/>
                                            </p:txEl>
                                          </p:spTgt>
                                        </p:tgtEl>
                                        <p:attrNameLst>
                                          <p:attrName>style.visibility</p:attrName>
                                        </p:attrNameLst>
                                      </p:cBhvr>
                                      <p:to>
                                        <p:strVal val="visible"/>
                                      </p:to>
                                    </p:set>
                                    <p:animEffect transition="in" filter="fade">
                                      <p:cBhvr>
                                        <p:cTn id="32" dur="500"/>
                                        <p:tgtEl>
                                          <p:spTgt spid="47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76">
                                            <p:txEl>
                                              <p:pRg st="6" end="6"/>
                                            </p:txEl>
                                          </p:spTgt>
                                        </p:tgtEl>
                                        <p:attrNameLst>
                                          <p:attrName>style.visibility</p:attrName>
                                        </p:attrNameLst>
                                      </p:cBhvr>
                                      <p:to>
                                        <p:strVal val="visible"/>
                                      </p:to>
                                    </p:set>
                                    <p:animEffect transition="in" filter="fade">
                                      <p:cBhvr>
                                        <p:cTn id="37" dur="500"/>
                                        <p:tgtEl>
                                          <p:spTgt spid="47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77"/>
                                        </p:tgtEl>
                                        <p:attrNameLst>
                                          <p:attrName>style.visibility</p:attrName>
                                        </p:attrNameLst>
                                      </p:cBhvr>
                                      <p:to>
                                        <p:strVal val="visible"/>
                                      </p:to>
                                    </p:set>
                                    <p:animEffect transition="in" filter="fade">
                                      <p:cBhvr>
                                        <p:cTn id="42" dur="500"/>
                                        <p:tgtEl>
                                          <p:spTgt spid="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54"/>
          <p:cNvSpPr txBox="1">
            <a:spLocks noGrp="1"/>
          </p:cNvSpPr>
          <p:nvPr>
            <p:ph type="title"/>
          </p:nvPr>
        </p:nvSpPr>
        <p:spPr>
          <a:xfrm>
            <a:off x="457200" y="0"/>
            <a:ext cx="8229600" cy="10668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Principles used in modeling..</a:t>
            </a:r>
            <a:endParaRPr/>
          </a:p>
        </p:txBody>
      </p:sp>
      <p:sp>
        <p:nvSpPr>
          <p:cNvPr id="483" name="Google Shape;483;p54"/>
          <p:cNvSpPr txBox="1">
            <a:spLocks noGrp="1"/>
          </p:cNvSpPr>
          <p:nvPr>
            <p:ph type="body" idx="1"/>
          </p:nvPr>
        </p:nvSpPr>
        <p:spPr>
          <a:xfrm>
            <a:off x="457200" y="990600"/>
            <a:ext cx="8229600" cy="53340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None/>
            </a:pPr>
            <a:r>
              <a:rPr lang="en-US" b="1" u="sng"/>
              <a:t>b. Relevance: </a:t>
            </a:r>
            <a:endParaRPr/>
          </a:p>
          <a:p>
            <a:pPr marL="274320" lvl="0" indent="-274320" algn="l" rtl="0">
              <a:spcBef>
                <a:spcPts val="520"/>
              </a:spcBef>
              <a:spcAft>
                <a:spcPts val="0"/>
              </a:spcAft>
              <a:buSzPts val="2470"/>
              <a:buChar char="⚫"/>
            </a:pPr>
            <a:r>
              <a:rPr lang="en-US"/>
              <a:t>The model should only include those aspects of the system that are relevant to the study of the objective.</a:t>
            </a:r>
            <a:endParaRPr/>
          </a:p>
          <a:p>
            <a:pPr marL="274320" lvl="0" indent="-274320" algn="l" rtl="0">
              <a:spcBef>
                <a:spcPts val="520"/>
              </a:spcBef>
              <a:spcAft>
                <a:spcPts val="0"/>
              </a:spcAft>
              <a:buSzPts val="2470"/>
              <a:buChar char="⚫"/>
            </a:pPr>
            <a:r>
              <a:rPr lang="en-US"/>
              <a:t> A relevant information should be excluded because it increases the complexity of the model and causes more work in solving the model. </a:t>
            </a:r>
            <a:endParaRPr/>
          </a:p>
          <a:p>
            <a:pPr marL="274320" lvl="0" indent="-274320" algn="l" rtl="0">
              <a:spcBef>
                <a:spcPts val="520"/>
              </a:spcBef>
              <a:spcAft>
                <a:spcPts val="0"/>
              </a:spcAft>
              <a:buSzPts val="2470"/>
              <a:buNone/>
            </a:pPr>
            <a:endParaRPr/>
          </a:p>
          <a:p>
            <a:pPr marL="274320" lvl="0" indent="-274320" algn="l" rtl="0">
              <a:spcBef>
                <a:spcPts val="520"/>
              </a:spcBef>
              <a:spcAft>
                <a:spcPts val="0"/>
              </a:spcAft>
              <a:buSzPts val="2470"/>
              <a:buNone/>
            </a:pPr>
            <a:endParaRPr/>
          </a:p>
          <a:p>
            <a:pPr marL="274320" lvl="0" indent="-274320" algn="l" rtl="0">
              <a:spcBef>
                <a:spcPts val="520"/>
              </a:spcBef>
              <a:spcAft>
                <a:spcPts val="0"/>
              </a:spcAft>
              <a:buSzPts val="2470"/>
              <a:buNone/>
            </a:pPr>
            <a:r>
              <a:rPr lang="en-US" b="1" u="sng"/>
              <a:t>c. Accuracy: </a:t>
            </a:r>
            <a:endParaRPr/>
          </a:p>
          <a:p>
            <a:pPr marL="274320" lvl="0" indent="-274320" algn="l" rtl="0">
              <a:spcBef>
                <a:spcPts val="520"/>
              </a:spcBef>
              <a:spcAft>
                <a:spcPts val="0"/>
              </a:spcAft>
              <a:buSzPts val="2470"/>
              <a:buNone/>
            </a:pPr>
            <a:r>
              <a:rPr lang="en-US"/>
              <a:t>The accuracy of the information gathered for the model should be considered. </a:t>
            </a:r>
            <a:endParaRPr/>
          </a:p>
        </p:txBody>
      </p:sp>
      <p:pic>
        <p:nvPicPr>
          <p:cNvPr id="484" name="Google Shape;484;p54" descr="rel.jpg"/>
          <p:cNvPicPr preferRelativeResize="0"/>
          <p:nvPr/>
        </p:nvPicPr>
        <p:blipFill rotWithShape="1">
          <a:blip r:embed="rId3">
            <a:alphaModFix/>
          </a:blip>
          <a:srcRect/>
          <a:stretch/>
        </p:blipFill>
        <p:spPr>
          <a:xfrm>
            <a:off x="6324600" y="3124200"/>
            <a:ext cx="2476500" cy="1838325"/>
          </a:xfrm>
          <a:prstGeom prst="rect">
            <a:avLst/>
          </a:prstGeom>
          <a:noFill/>
          <a:ln>
            <a:noFill/>
          </a:ln>
        </p:spPr>
      </p:pic>
      <p:pic>
        <p:nvPicPr>
          <p:cNvPr id="485" name="Google Shape;485;p54" descr="acc.jpg"/>
          <p:cNvPicPr preferRelativeResize="0"/>
          <p:nvPr/>
        </p:nvPicPr>
        <p:blipFill rotWithShape="1">
          <a:blip r:embed="rId4">
            <a:alphaModFix/>
          </a:blip>
          <a:srcRect/>
          <a:stretch/>
        </p:blipFill>
        <p:spPr>
          <a:xfrm>
            <a:off x="6858000" y="5486400"/>
            <a:ext cx="1831157" cy="1371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4"/>
                                        </p:tgtEl>
                                        <p:attrNameLst>
                                          <p:attrName>style.visibility</p:attrName>
                                        </p:attrNameLst>
                                      </p:cBhvr>
                                      <p:to>
                                        <p:strVal val="visible"/>
                                      </p:to>
                                    </p:set>
                                    <p:animEffect transition="in" filter="fade">
                                      <p:cBhvr>
                                        <p:cTn id="7" dur="500"/>
                                        <p:tgtEl>
                                          <p:spTgt spid="48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5"/>
                                        </p:tgtEl>
                                        <p:attrNameLst>
                                          <p:attrName>style.visibility</p:attrName>
                                        </p:attrNameLst>
                                      </p:cBhvr>
                                      <p:to>
                                        <p:strVal val="visible"/>
                                      </p:to>
                                    </p:set>
                                    <p:animEffect transition="in" filter="fade">
                                      <p:cBhvr>
                                        <p:cTn id="12" dur="500"/>
                                        <p:tgtEl>
                                          <p:spTgt spid="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55"/>
          <p:cNvSpPr txBox="1">
            <a:spLocks noGrp="1"/>
          </p:cNvSpPr>
          <p:nvPr>
            <p:ph type="title"/>
          </p:nvPr>
        </p:nvSpPr>
        <p:spPr>
          <a:xfrm>
            <a:off x="457200" y="228600"/>
            <a:ext cx="8229600" cy="762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Principles used in modeling..</a:t>
            </a:r>
            <a:endParaRPr/>
          </a:p>
        </p:txBody>
      </p:sp>
      <p:sp>
        <p:nvSpPr>
          <p:cNvPr id="491" name="Google Shape;491;p55"/>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None/>
            </a:pPr>
            <a:r>
              <a:rPr lang="en-US" b="1" u="sng"/>
              <a:t>d. Aggregation:</a:t>
            </a:r>
            <a:endParaRPr/>
          </a:p>
          <a:p>
            <a:pPr marL="274320" lvl="0" indent="-274320" algn="l" rtl="0">
              <a:spcBef>
                <a:spcPts val="520"/>
              </a:spcBef>
              <a:spcAft>
                <a:spcPts val="0"/>
              </a:spcAft>
              <a:buSzPts val="2470"/>
              <a:buChar char="⚫"/>
            </a:pPr>
            <a:r>
              <a:rPr lang="en-US"/>
              <a:t> It is the extent to which the number of individual entities can be grouped together into larger entities. </a:t>
            </a:r>
            <a:endParaRPr/>
          </a:p>
          <a:p>
            <a:pPr marL="274320" lvl="0" indent="-274320" algn="l" rtl="0">
              <a:spcBef>
                <a:spcPts val="520"/>
              </a:spcBef>
              <a:spcAft>
                <a:spcPts val="0"/>
              </a:spcAft>
              <a:buSzPts val="2470"/>
              <a:buChar char="⚫"/>
            </a:pPr>
            <a:r>
              <a:rPr lang="en-US"/>
              <a:t>In some studies it may be necessary to construct artificial entities through the process of aggregation.</a:t>
            </a:r>
            <a:endParaRPr/>
          </a:p>
          <a:p>
            <a:pPr marL="274320" lvl="0" indent="-274320" algn="l" rtl="0">
              <a:spcBef>
                <a:spcPts val="520"/>
              </a:spcBef>
              <a:spcAft>
                <a:spcPts val="0"/>
              </a:spcAft>
              <a:buSzPts val="2470"/>
              <a:buChar char="⚫"/>
            </a:pPr>
            <a:r>
              <a:rPr lang="en-US"/>
              <a:t>Example: An economic or social studies usually treats a population as a number of social classes and conduct the study as each social class as a distinct entity. </a:t>
            </a:r>
            <a:endParaRPr/>
          </a:p>
        </p:txBody>
      </p:sp>
      <p:pic>
        <p:nvPicPr>
          <p:cNvPr id="492" name="Google Shape;492;p55" descr="aggre.jpg"/>
          <p:cNvPicPr preferRelativeResize="0"/>
          <p:nvPr/>
        </p:nvPicPr>
        <p:blipFill rotWithShape="1">
          <a:blip r:embed="rId3">
            <a:alphaModFix/>
          </a:blip>
          <a:srcRect/>
          <a:stretch/>
        </p:blipFill>
        <p:spPr>
          <a:xfrm>
            <a:off x="5791200" y="914400"/>
            <a:ext cx="2943225" cy="15525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2"/>
                                        </p:tgtEl>
                                        <p:attrNameLst>
                                          <p:attrName>style.visibility</p:attrName>
                                        </p:attrNameLst>
                                      </p:cBhvr>
                                      <p:to>
                                        <p:strVal val="visible"/>
                                      </p:to>
                                    </p:set>
                                    <p:animEffect transition="in" filter="fade">
                                      <p:cBhvr>
                                        <p:cTn id="7" dur="500"/>
                                        <p:tgtEl>
                                          <p:spTgt spid="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56"/>
          <p:cNvSpPr txBox="1">
            <a:spLocks noGrp="1"/>
          </p:cNvSpPr>
          <p:nvPr>
            <p:ph type="title"/>
          </p:nvPr>
        </p:nvSpPr>
        <p:spPr>
          <a:xfrm>
            <a:off x="457200" y="228600"/>
            <a:ext cx="8229600" cy="9906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Principles used in modeling…</a:t>
            </a:r>
            <a:endParaRPr/>
          </a:p>
        </p:txBody>
      </p:sp>
      <p:pic>
        <p:nvPicPr>
          <p:cNvPr id="499" name="Google Shape;499;p56" descr="aggre.PNG"/>
          <p:cNvPicPr preferRelativeResize="0">
            <a:picLocks noGrp="1"/>
          </p:cNvPicPr>
          <p:nvPr>
            <p:ph type="body" idx="1"/>
          </p:nvPr>
        </p:nvPicPr>
        <p:blipFill rotWithShape="1">
          <a:blip r:embed="rId3">
            <a:alphaModFix/>
          </a:blip>
          <a:srcRect/>
          <a:stretch/>
        </p:blipFill>
        <p:spPr>
          <a:xfrm>
            <a:off x="461852" y="1828800"/>
            <a:ext cx="8502022" cy="324418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9"/>
                                        </p:tgtEl>
                                        <p:attrNameLst>
                                          <p:attrName>style.visibility</p:attrName>
                                        </p:attrNameLst>
                                      </p:cBhvr>
                                      <p:to>
                                        <p:strVal val="visible"/>
                                      </p:to>
                                    </p:set>
                                    <p:animEffect transition="in" filter="fade">
                                      <p:cBhvr>
                                        <p:cTn id="7" dur="500"/>
                                        <p:tgtEl>
                                          <p:spTgt spid="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57"/>
          <p:cNvSpPr txBox="1">
            <a:spLocks noGrp="1"/>
          </p:cNvSpPr>
          <p:nvPr>
            <p:ph type="title"/>
          </p:nvPr>
        </p:nvSpPr>
        <p:spPr>
          <a:xfrm>
            <a:off x="457200" y="152400"/>
            <a:ext cx="8229600" cy="8382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Application Areas of Simulation </a:t>
            </a:r>
            <a:endParaRPr/>
          </a:p>
        </p:txBody>
      </p:sp>
      <p:sp>
        <p:nvSpPr>
          <p:cNvPr id="505" name="Google Shape;505;p57"/>
          <p:cNvSpPr txBox="1">
            <a:spLocks noGrp="1"/>
          </p:cNvSpPr>
          <p:nvPr>
            <p:ph type="body" idx="1"/>
          </p:nvPr>
        </p:nvSpPr>
        <p:spPr>
          <a:xfrm>
            <a:off x="457200" y="1143000"/>
            <a:ext cx="8229600" cy="5410200"/>
          </a:xfrm>
          <a:prstGeom prst="rect">
            <a:avLst/>
          </a:prstGeom>
          <a:noFill/>
          <a:ln>
            <a:noFill/>
          </a:ln>
        </p:spPr>
        <p:txBody>
          <a:bodyPr spcFirstLastPara="1" wrap="square" lIns="91425" tIns="45700" rIns="91425" bIns="45700" anchor="t" anchorCtr="0">
            <a:normAutofit lnSpcReduction="10000"/>
          </a:bodyPr>
          <a:lstStyle/>
          <a:p>
            <a:pPr marL="274320" lvl="0" indent="-274320" algn="l" rtl="0">
              <a:spcBef>
                <a:spcPts val="0"/>
              </a:spcBef>
              <a:spcAft>
                <a:spcPts val="0"/>
              </a:spcAft>
              <a:buSzPts val="2470"/>
              <a:buChar char="⚫"/>
            </a:pPr>
            <a:r>
              <a:rPr lang="en-US"/>
              <a:t>Simulation is an experimental technique.</a:t>
            </a:r>
            <a:endParaRPr/>
          </a:p>
          <a:p>
            <a:pPr marL="274320" lvl="0" indent="-274320" algn="l" rtl="0">
              <a:spcBef>
                <a:spcPts val="520"/>
              </a:spcBef>
              <a:spcAft>
                <a:spcPts val="0"/>
              </a:spcAft>
              <a:buSzPts val="2470"/>
              <a:buChar char="⚫"/>
            </a:pPr>
            <a:r>
              <a:rPr lang="en-US"/>
              <a:t> It is a fast and experimental method of doing an experiment under computer. </a:t>
            </a:r>
            <a:endParaRPr/>
          </a:p>
          <a:p>
            <a:pPr marL="274320" lvl="0" indent="-274320" algn="l" rtl="0">
              <a:spcBef>
                <a:spcPts val="520"/>
              </a:spcBef>
              <a:spcAft>
                <a:spcPts val="0"/>
              </a:spcAft>
              <a:buSzPts val="2470"/>
              <a:buChar char="⚫"/>
            </a:pPr>
            <a:r>
              <a:rPr lang="en-US"/>
              <a:t>There is no specific unifying theory of computer simulation and no principle guiding the formulation of simulation model. </a:t>
            </a:r>
            <a:endParaRPr/>
          </a:p>
          <a:p>
            <a:pPr marL="274320" lvl="0" indent="-274320" algn="l" rtl="0">
              <a:spcBef>
                <a:spcPts val="520"/>
              </a:spcBef>
              <a:spcAft>
                <a:spcPts val="0"/>
              </a:spcAft>
              <a:buSzPts val="2470"/>
              <a:buChar char="⚫"/>
            </a:pPr>
            <a:r>
              <a:rPr lang="en-US"/>
              <a:t>Simulation may be applied for system, there is difficult to predict like whether or public jam where the system itself is complex or the theory is not sufficiently regular.</a:t>
            </a:r>
            <a:endParaRPr/>
          </a:p>
          <a:p>
            <a:pPr marL="274320" lvl="0" indent="-274320" algn="l" rtl="0">
              <a:spcBef>
                <a:spcPts val="520"/>
              </a:spcBef>
              <a:spcAft>
                <a:spcPts val="0"/>
              </a:spcAft>
              <a:buSzPts val="2470"/>
              <a:buChar char="⚫"/>
            </a:pPr>
            <a:r>
              <a:rPr lang="en-US"/>
              <a:t>Simulation provides an alternative that is cheap and fast and fills the gap between exact analysis and physical intuition. </a:t>
            </a:r>
            <a:endParaRPr/>
          </a:p>
        </p:txBody>
      </p:sp>
      <p:pic>
        <p:nvPicPr>
          <p:cNvPr id="506" name="Google Shape;506;p57" descr="comp exp.jpg"/>
          <p:cNvPicPr preferRelativeResize="0"/>
          <p:nvPr/>
        </p:nvPicPr>
        <p:blipFill rotWithShape="1">
          <a:blip r:embed="rId3">
            <a:alphaModFix/>
          </a:blip>
          <a:srcRect/>
          <a:stretch/>
        </p:blipFill>
        <p:spPr>
          <a:xfrm>
            <a:off x="6705600" y="457201"/>
            <a:ext cx="2340103" cy="1246916"/>
          </a:xfrm>
          <a:prstGeom prst="rect">
            <a:avLst/>
          </a:prstGeom>
          <a:noFill/>
          <a:ln>
            <a:noFill/>
          </a:ln>
        </p:spPr>
      </p:pic>
      <p:pic>
        <p:nvPicPr>
          <p:cNvPr id="507" name="Google Shape;507;p57" descr="traffic.jpg"/>
          <p:cNvPicPr preferRelativeResize="0"/>
          <p:nvPr/>
        </p:nvPicPr>
        <p:blipFill rotWithShape="1">
          <a:blip r:embed="rId4">
            <a:alphaModFix/>
          </a:blip>
          <a:srcRect/>
          <a:stretch/>
        </p:blipFill>
        <p:spPr>
          <a:xfrm>
            <a:off x="6781800" y="3429000"/>
            <a:ext cx="2362200" cy="1328738"/>
          </a:xfrm>
          <a:prstGeom prst="rect">
            <a:avLst/>
          </a:prstGeom>
          <a:noFill/>
          <a:ln>
            <a:noFill/>
          </a:ln>
        </p:spPr>
      </p:pic>
      <p:pic>
        <p:nvPicPr>
          <p:cNvPr id="508" name="Google Shape;508;p57" descr="phy.jpg"/>
          <p:cNvPicPr preferRelativeResize="0"/>
          <p:nvPr/>
        </p:nvPicPr>
        <p:blipFill rotWithShape="1">
          <a:blip r:embed="rId5">
            <a:alphaModFix/>
          </a:blip>
          <a:srcRect/>
          <a:stretch/>
        </p:blipFill>
        <p:spPr>
          <a:xfrm>
            <a:off x="6774179" y="5376862"/>
            <a:ext cx="2369821" cy="148113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5">
                                            <p:txEl>
                                              <p:pRg st="0" end="0"/>
                                            </p:txEl>
                                          </p:spTgt>
                                        </p:tgtEl>
                                        <p:attrNameLst>
                                          <p:attrName>style.visibility</p:attrName>
                                        </p:attrNameLst>
                                      </p:cBhvr>
                                      <p:to>
                                        <p:strVal val="visible"/>
                                      </p:to>
                                    </p:set>
                                    <p:animEffect transition="in" filter="fade">
                                      <p:cBhvr>
                                        <p:cTn id="7" dur="500"/>
                                        <p:tgtEl>
                                          <p:spTgt spid="50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5">
                                            <p:txEl>
                                              <p:pRg st="1" end="1"/>
                                            </p:txEl>
                                          </p:spTgt>
                                        </p:tgtEl>
                                        <p:attrNameLst>
                                          <p:attrName>style.visibility</p:attrName>
                                        </p:attrNameLst>
                                      </p:cBhvr>
                                      <p:to>
                                        <p:strVal val="visible"/>
                                      </p:to>
                                    </p:set>
                                    <p:animEffect transition="in" filter="fade">
                                      <p:cBhvr>
                                        <p:cTn id="12" dur="500"/>
                                        <p:tgtEl>
                                          <p:spTgt spid="50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05">
                                            <p:txEl>
                                              <p:pRg st="2" end="2"/>
                                            </p:txEl>
                                          </p:spTgt>
                                        </p:tgtEl>
                                        <p:attrNameLst>
                                          <p:attrName>style.visibility</p:attrName>
                                        </p:attrNameLst>
                                      </p:cBhvr>
                                      <p:to>
                                        <p:strVal val="visible"/>
                                      </p:to>
                                    </p:set>
                                    <p:animEffect transition="in" filter="fade">
                                      <p:cBhvr>
                                        <p:cTn id="17" dur="500"/>
                                        <p:tgtEl>
                                          <p:spTgt spid="50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5">
                                            <p:txEl>
                                              <p:pRg st="3" end="3"/>
                                            </p:txEl>
                                          </p:spTgt>
                                        </p:tgtEl>
                                        <p:attrNameLst>
                                          <p:attrName>style.visibility</p:attrName>
                                        </p:attrNameLst>
                                      </p:cBhvr>
                                      <p:to>
                                        <p:strVal val="visible"/>
                                      </p:to>
                                    </p:set>
                                    <p:animEffect transition="in" filter="fade">
                                      <p:cBhvr>
                                        <p:cTn id="22" dur="500"/>
                                        <p:tgtEl>
                                          <p:spTgt spid="50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05">
                                            <p:txEl>
                                              <p:pRg st="4" end="4"/>
                                            </p:txEl>
                                          </p:spTgt>
                                        </p:tgtEl>
                                        <p:attrNameLst>
                                          <p:attrName>style.visibility</p:attrName>
                                        </p:attrNameLst>
                                      </p:cBhvr>
                                      <p:to>
                                        <p:strVal val="visible"/>
                                      </p:to>
                                    </p:set>
                                    <p:animEffect transition="in" filter="fade">
                                      <p:cBhvr>
                                        <p:cTn id="27" dur="500"/>
                                        <p:tgtEl>
                                          <p:spTgt spid="50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06"/>
                                        </p:tgtEl>
                                        <p:attrNameLst>
                                          <p:attrName>style.visibility</p:attrName>
                                        </p:attrNameLst>
                                      </p:cBhvr>
                                      <p:to>
                                        <p:strVal val="visible"/>
                                      </p:to>
                                    </p:set>
                                    <p:animEffect transition="in" filter="fade">
                                      <p:cBhvr>
                                        <p:cTn id="32" dur="500"/>
                                        <p:tgtEl>
                                          <p:spTgt spid="50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07"/>
                                        </p:tgtEl>
                                        <p:attrNameLst>
                                          <p:attrName>style.visibility</p:attrName>
                                        </p:attrNameLst>
                                      </p:cBhvr>
                                      <p:to>
                                        <p:strVal val="visible"/>
                                      </p:to>
                                    </p:set>
                                    <p:animEffect transition="in" filter="fade">
                                      <p:cBhvr>
                                        <p:cTn id="37" dur="500"/>
                                        <p:tgtEl>
                                          <p:spTgt spid="50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08"/>
                                        </p:tgtEl>
                                        <p:attrNameLst>
                                          <p:attrName>style.visibility</p:attrName>
                                        </p:attrNameLst>
                                      </p:cBhvr>
                                      <p:to>
                                        <p:strVal val="visible"/>
                                      </p:to>
                                    </p:set>
                                    <p:animEffect transition="in" filter="fade">
                                      <p:cBhvr>
                                        <p:cTn id="42" dur="500"/>
                                        <p:tgtEl>
                                          <p:spTgt spid="5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58"/>
          <p:cNvSpPr txBox="1">
            <a:spLocks noGrp="1"/>
          </p:cNvSpPr>
          <p:nvPr>
            <p:ph type="title"/>
          </p:nvPr>
        </p:nvSpPr>
        <p:spPr>
          <a:xfrm>
            <a:off x="457200" y="304800"/>
            <a:ext cx="8229600" cy="8382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Application Areas of Simulation </a:t>
            </a:r>
            <a:endParaRPr/>
          </a:p>
        </p:txBody>
      </p:sp>
      <p:sp>
        <p:nvSpPr>
          <p:cNvPr id="514" name="Google Shape;514;p58"/>
          <p:cNvSpPr txBox="1">
            <a:spLocks noGrp="1"/>
          </p:cNvSpPr>
          <p:nvPr>
            <p:ph type="body" idx="1"/>
          </p:nvPr>
        </p:nvSpPr>
        <p:spPr>
          <a:xfrm>
            <a:off x="457200" y="1295400"/>
            <a:ext cx="8229600" cy="5029200"/>
          </a:xfrm>
          <a:prstGeom prst="rect">
            <a:avLst/>
          </a:prstGeom>
          <a:noFill/>
          <a:ln>
            <a:noFill/>
          </a:ln>
        </p:spPr>
        <p:txBody>
          <a:bodyPr spcFirstLastPara="1" wrap="square" lIns="91425" tIns="45700" rIns="91425" bIns="45700" anchor="t" anchorCtr="0">
            <a:normAutofit fontScale="70000" lnSpcReduction="20000"/>
          </a:bodyPr>
          <a:lstStyle/>
          <a:p>
            <a:pPr marL="274320" lvl="0" indent="-274320" algn="l" rtl="0">
              <a:spcBef>
                <a:spcPts val="0"/>
              </a:spcBef>
              <a:spcAft>
                <a:spcPts val="0"/>
              </a:spcAft>
              <a:buSzPct val="95000"/>
              <a:buChar char="⚫"/>
            </a:pPr>
            <a:r>
              <a:rPr lang="en-US" b="1"/>
              <a:t>Simulation in Science and Engineering Research: </a:t>
            </a:r>
            <a:endParaRPr/>
          </a:p>
          <a:p>
            <a:pPr marL="274320" lvl="0" indent="-274320" algn="just" rtl="0">
              <a:spcBef>
                <a:spcPts val="364"/>
              </a:spcBef>
              <a:spcAft>
                <a:spcPts val="0"/>
              </a:spcAft>
              <a:buSzPct val="95000"/>
              <a:buChar char="⚫"/>
            </a:pPr>
            <a:r>
              <a:rPr lang="en-US"/>
              <a:t>Earlier most experiments were carried out physically in the laboratories. Millions were spent on physical models like network analyzers,  Aircraft flight, Simulators and expensive experiments. Today a majority of experiments are simulated in a simulator. Computer experiments are faster cheaper, easier and provide better inside into the system than laboratory experiments. </a:t>
            </a:r>
            <a:endParaRPr/>
          </a:p>
          <a:p>
            <a:pPr marL="274320" lvl="0" indent="-274320" algn="l" rtl="0">
              <a:spcBef>
                <a:spcPts val="364"/>
              </a:spcBef>
              <a:spcAft>
                <a:spcPts val="0"/>
              </a:spcAft>
              <a:buSzPct val="95000"/>
              <a:buChar char="⚫"/>
            </a:pPr>
            <a:r>
              <a:rPr lang="en-US" b="1"/>
              <a:t>Simulation in Soft science: </a:t>
            </a:r>
            <a:endParaRPr/>
          </a:p>
          <a:p>
            <a:pPr marL="274320" lvl="0" indent="-274320" algn="l" rtl="0">
              <a:spcBef>
                <a:spcPts val="364"/>
              </a:spcBef>
              <a:spcAft>
                <a:spcPts val="0"/>
              </a:spcAft>
              <a:buSzPct val="95000"/>
              <a:buNone/>
            </a:pPr>
            <a:r>
              <a:rPr lang="en-US"/>
              <a:t>	Simulation plays vital role in biology, sociology and economics, medicines etc., where experimenting could be very expensive dangerous or even impossible. In field such as Biology and economics, the problems are large involving thousands of variables and are complicated due to uncertainty. </a:t>
            </a:r>
            <a:endParaRPr/>
          </a:p>
          <a:p>
            <a:pPr marL="274320" lvl="0" indent="-164528" algn="l" rtl="0">
              <a:spcBef>
                <a:spcPts val="364"/>
              </a:spcBef>
              <a:spcAft>
                <a:spcPts val="0"/>
              </a:spcAft>
              <a:buSzPct val="95000"/>
              <a:buNone/>
            </a:pPr>
            <a:endParaRPr b="1"/>
          </a:p>
          <a:p>
            <a:pPr marL="274320" lvl="0" indent="-274320" algn="l" rtl="0">
              <a:spcBef>
                <a:spcPts val="364"/>
              </a:spcBef>
              <a:spcAft>
                <a:spcPts val="0"/>
              </a:spcAft>
              <a:buSzPct val="95000"/>
              <a:buChar char="⚫"/>
            </a:pPr>
            <a:r>
              <a:rPr lang="en-US" b="1"/>
              <a:t>Simulation for Business executive</a:t>
            </a:r>
            <a:r>
              <a:rPr lang="en-US"/>
              <a:t>: </a:t>
            </a:r>
            <a:endParaRPr/>
          </a:p>
          <a:p>
            <a:pPr marL="274320" lvl="0" indent="-274320" algn="l" rtl="0">
              <a:spcBef>
                <a:spcPts val="364"/>
              </a:spcBef>
              <a:spcAft>
                <a:spcPts val="0"/>
              </a:spcAft>
              <a:buSzPct val="95000"/>
              <a:buChar char="⚫"/>
            </a:pPr>
            <a:r>
              <a:rPr lang="en-US"/>
              <a:t>There are many problems faced by management that cannot be solved by standard operations research tools like linear and dynamic programming inventory and queuing. So a business executive has to make a decision best on his intuition and experiment. But with computer simulation he can make better and meaningful decisions. Simulation is widely used for inventory control, facility planning, production scheduling etc. </a:t>
            </a:r>
            <a:endParaRPr/>
          </a:p>
        </p:txBody>
      </p:sp>
      <p:pic>
        <p:nvPicPr>
          <p:cNvPr id="515" name="Google Shape;515;p58" descr="sim.jpg"/>
          <p:cNvPicPr preferRelativeResize="0"/>
          <p:nvPr/>
        </p:nvPicPr>
        <p:blipFill rotWithShape="1">
          <a:blip r:embed="rId3">
            <a:alphaModFix/>
          </a:blip>
          <a:srcRect/>
          <a:stretch/>
        </p:blipFill>
        <p:spPr>
          <a:xfrm>
            <a:off x="5715000" y="1524000"/>
            <a:ext cx="3057525" cy="1495425"/>
          </a:xfrm>
          <a:prstGeom prst="rect">
            <a:avLst/>
          </a:prstGeom>
          <a:noFill/>
          <a:ln>
            <a:noFill/>
          </a:ln>
        </p:spPr>
      </p:pic>
      <p:pic>
        <p:nvPicPr>
          <p:cNvPr id="516" name="Google Shape;516;p58" descr="download.jpg"/>
          <p:cNvPicPr preferRelativeResize="0"/>
          <p:nvPr/>
        </p:nvPicPr>
        <p:blipFill rotWithShape="1">
          <a:blip r:embed="rId4">
            <a:alphaModFix/>
          </a:blip>
          <a:srcRect/>
          <a:stretch/>
        </p:blipFill>
        <p:spPr>
          <a:xfrm>
            <a:off x="2514600" y="2286000"/>
            <a:ext cx="2009775" cy="2009775"/>
          </a:xfrm>
          <a:prstGeom prst="rect">
            <a:avLst/>
          </a:prstGeom>
          <a:noFill/>
          <a:ln>
            <a:noFill/>
          </a:ln>
        </p:spPr>
      </p:pic>
      <p:pic>
        <p:nvPicPr>
          <p:cNvPr id="517" name="Google Shape;517;p58" descr="be.jpg"/>
          <p:cNvPicPr preferRelativeResize="0"/>
          <p:nvPr/>
        </p:nvPicPr>
        <p:blipFill rotWithShape="1">
          <a:blip r:embed="rId5">
            <a:alphaModFix/>
          </a:blip>
          <a:srcRect/>
          <a:stretch/>
        </p:blipFill>
        <p:spPr>
          <a:xfrm>
            <a:off x="5105400" y="4495800"/>
            <a:ext cx="3840480" cy="1752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4">
                                            <p:txEl>
                                              <p:pRg st="0" end="0"/>
                                            </p:txEl>
                                          </p:spTgt>
                                        </p:tgtEl>
                                        <p:attrNameLst>
                                          <p:attrName>style.visibility</p:attrName>
                                        </p:attrNameLst>
                                      </p:cBhvr>
                                      <p:to>
                                        <p:strVal val="visible"/>
                                      </p:to>
                                    </p:set>
                                    <p:animEffect transition="in" filter="fade">
                                      <p:cBhvr>
                                        <p:cTn id="7" dur="500"/>
                                        <p:tgtEl>
                                          <p:spTgt spid="5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4">
                                            <p:txEl>
                                              <p:pRg st="1" end="1"/>
                                            </p:txEl>
                                          </p:spTgt>
                                        </p:tgtEl>
                                        <p:attrNameLst>
                                          <p:attrName>style.visibility</p:attrName>
                                        </p:attrNameLst>
                                      </p:cBhvr>
                                      <p:to>
                                        <p:strVal val="visible"/>
                                      </p:to>
                                    </p:set>
                                    <p:animEffect transition="in" filter="fade">
                                      <p:cBhvr>
                                        <p:cTn id="12" dur="500"/>
                                        <p:tgtEl>
                                          <p:spTgt spid="5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14">
                                            <p:txEl>
                                              <p:pRg st="2" end="2"/>
                                            </p:txEl>
                                          </p:spTgt>
                                        </p:tgtEl>
                                        <p:attrNameLst>
                                          <p:attrName>style.visibility</p:attrName>
                                        </p:attrNameLst>
                                      </p:cBhvr>
                                      <p:to>
                                        <p:strVal val="visible"/>
                                      </p:to>
                                    </p:set>
                                    <p:animEffect transition="in" filter="fade">
                                      <p:cBhvr>
                                        <p:cTn id="17" dur="500"/>
                                        <p:tgtEl>
                                          <p:spTgt spid="5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14">
                                            <p:txEl>
                                              <p:pRg st="3" end="3"/>
                                            </p:txEl>
                                          </p:spTgt>
                                        </p:tgtEl>
                                        <p:attrNameLst>
                                          <p:attrName>style.visibility</p:attrName>
                                        </p:attrNameLst>
                                      </p:cBhvr>
                                      <p:to>
                                        <p:strVal val="visible"/>
                                      </p:to>
                                    </p:set>
                                    <p:animEffect transition="in" filter="fade">
                                      <p:cBhvr>
                                        <p:cTn id="22" dur="500"/>
                                        <p:tgtEl>
                                          <p:spTgt spid="5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14">
                                            <p:txEl>
                                              <p:pRg st="4" end="4"/>
                                            </p:txEl>
                                          </p:spTgt>
                                        </p:tgtEl>
                                        <p:attrNameLst>
                                          <p:attrName>style.visibility</p:attrName>
                                        </p:attrNameLst>
                                      </p:cBhvr>
                                      <p:to>
                                        <p:strVal val="visible"/>
                                      </p:to>
                                    </p:set>
                                    <p:animEffect transition="in" filter="fade">
                                      <p:cBhvr>
                                        <p:cTn id="27" dur="500"/>
                                        <p:tgtEl>
                                          <p:spTgt spid="51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14">
                                            <p:txEl>
                                              <p:pRg st="5" end="5"/>
                                            </p:txEl>
                                          </p:spTgt>
                                        </p:tgtEl>
                                        <p:attrNameLst>
                                          <p:attrName>style.visibility</p:attrName>
                                        </p:attrNameLst>
                                      </p:cBhvr>
                                      <p:to>
                                        <p:strVal val="visible"/>
                                      </p:to>
                                    </p:set>
                                    <p:animEffect transition="in" filter="fade">
                                      <p:cBhvr>
                                        <p:cTn id="32" dur="500"/>
                                        <p:tgtEl>
                                          <p:spTgt spid="51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14">
                                            <p:txEl>
                                              <p:pRg st="6" end="6"/>
                                            </p:txEl>
                                          </p:spTgt>
                                        </p:tgtEl>
                                        <p:attrNameLst>
                                          <p:attrName>style.visibility</p:attrName>
                                        </p:attrNameLst>
                                      </p:cBhvr>
                                      <p:to>
                                        <p:strVal val="visible"/>
                                      </p:to>
                                    </p:set>
                                    <p:animEffect transition="in" filter="fade">
                                      <p:cBhvr>
                                        <p:cTn id="37" dur="500"/>
                                        <p:tgtEl>
                                          <p:spTgt spid="51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15"/>
                                        </p:tgtEl>
                                        <p:attrNameLst>
                                          <p:attrName>style.visibility</p:attrName>
                                        </p:attrNameLst>
                                      </p:cBhvr>
                                      <p:to>
                                        <p:strVal val="visible"/>
                                      </p:to>
                                    </p:set>
                                    <p:animEffect transition="in" filter="fade">
                                      <p:cBhvr>
                                        <p:cTn id="42" dur="500"/>
                                        <p:tgtEl>
                                          <p:spTgt spid="5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16"/>
                                        </p:tgtEl>
                                        <p:attrNameLst>
                                          <p:attrName>style.visibility</p:attrName>
                                        </p:attrNameLst>
                                      </p:cBhvr>
                                      <p:to>
                                        <p:strVal val="visible"/>
                                      </p:to>
                                    </p:set>
                                    <p:animEffect transition="in" filter="fade">
                                      <p:cBhvr>
                                        <p:cTn id="47" dur="500"/>
                                        <p:tgtEl>
                                          <p:spTgt spid="51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17"/>
                                        </p:tgtEl>
                                        <p:attrNameLst>
                                          <p:attrName>style.visibility</p:attrName>
                                        </p:attrNameLst>
                                      </p:cBhvr>
                                      <p:to>
                                        <p:strVal val="visible"/>
                                      </p:to>
                                    </p:set>
                                    <p:animEffect transition="in" filter="fade">
                                      <p:cBhvr>
                                        <p:cTn id="52" dur="500"/>
                                        <p:tgtEl>
                                          <p:spTgt spid="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59"/>
          <p:cNvSpPr txBox="1">
            <a:spLocks noGrp="1"/>
          </p:cNvSpPr>
          <p:nvPr>
            <p:ph type="title"/>
          </p:nvPr>
        </p:nvSpPr>
        <p:spPr>
          <a:xfrm>
            <a:off x="457200" y="704088"/>
            <a:ext cx="8229600" cy="667512"/>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b="1"/>
              <a:t>When to Simulate?</a:t>
            </a:r>
            <a:r>
              <a:rPr lang="en-US"/>
              <a:t/>
            </a:r>
            <a:br>
              <a:rPr lang="en-US"/>
            </a:br>
            <a:endParaRPr/>
          </a:p>
        </p:txBody>
      </p:sp>
      <p:sp>
        <p:nvSpPr>
          <p:cNvPr id="523" name="Google Shape;523;p59"/>
          <p:cNvSpPr txBox="1">
            <a:spLocks noGrp="1"/>
          </p:cNvSpPr>
          <p:nvPr>
            <p:ph type="body" idx="1"/>
          </p:nvPr>
        </p:nvSpPr>
        <p:spPr>
          <a:xfrm>
            <a:off x="457200" y="685800"/>
            <a:ext cx="8229600" cy="56388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Experiments are too expensive, too dangerous, or the system to be investigated does not yet exist. These are the main difficulties of experimentation with real systems.</a:t>
            </a:r>
            <a:endParaRPr/>
          </a:p>
          <a:p>
            <a:pPr marL="274320" lvl="0" indent="-274320" algn="l" rtl="0">
              <a:spcBef>
                <a:spcPts val="520"/>
              </a:spcBef>
              <a:spcAft>
                <a:spcPts val="0"/>
              </a:spcAft>
              <a:buSzPts val="2470"/>
              <a:buChar char="⚫"/>
            </a:pPr>
            <a:r>
              <a:rPr lang="en-US"/>
              <a:t>The time scale of the dynamics of the system is not compatible with that of the experimenter. For example, it takes millions of years to observe small changes in the development of the universe, whereas similar changes can be quickly observed in a computer simulation of the universe.</a:t>
            </a:r>
            <a:endParaRPr/>
          </a:p>
          <a:p>
            <a:pPr marL="274320" lvl="0" indent="-274320" algn="l" rtl="0">
              <a:spcBef>
                <a:spcPts val="520"/>
              </a:spcBef>
              <a:spcAft>
                <a:spcPts val="0"/>
              </a:spcAft>
              <a:buSzPts val="2470"/>
              <a:buChar char="⚫"/>
            </a:pPr>
            <a:r>
              <a:rPr lang="en-US"/>
              <a:t>Variables may be inaccessible. In a simulation all variables can be studied and controlled, even those that are inaccessible in the real system.</a:t>
            </a:r>
            <a:endParaRPr/>
          </a:p>
          <a:p>
            <a:pPr marL="274320" lvl="0" indent="-117475" algn="l" rtl="0">
              <a:spcBef>
                <a:spcPts val="520"/>
              </a:spcBef>
              <a:spcAft>
                <a:spcPts val="0"/>
              </a:spcAft>
              <a:buSzPts val="2470"/>
              <a:buNone/>
            </a:pPr>
            <a:endParaRPr/>
          </a:p>
        </p:txBody>
      </p:sp>
      <p:pic>
        <p:nvPicPr>
          <p:cNvPr id="524" name="Google Shape;524;p59" descr="nuclear explosion.gif"/>
          <p:cNvPicPr preferRelativeResize="0"/>
          <p:nvPr/>
        </p:nvPicPr>
        <p:blipFill rotWithShape="1">
          <a:blip r:embed="rId3">
            <a:alphaModFix/>
          </a:blip>
          <a:srcRect/>
          <a:stretch/>
        </p:blipFill>
        <p:spPr>
          <a:xfrm>
            <a:off x="6477000" y="457200"/>
            <a:ext cx="2381250" cy="1924050"/>
          </a:xfrm>
          <a:prstGeom prst="rect">
            <a:avLst/>
          </a:prstGeom>
          <a:noFill/>
          <a:ln>
            <a:noFill/>
          </a:ln>
        </p:spPr>
      </p:pic>
      <p:pic>
        <p:nvPicPr>
          <p:cNvPr id="525" name="Google Shape;525;p59" descr="Ne-ratez-pas-la-chute-de-la-goutte-de-poix.jpg"/>
          <p:cNvPicPr preferRelativeResize="0"/>
          <p:nvPr/>
        </p:nvPicPr>
        <p:blipFill rotWithShape="1">
          <a:blip r:embed="rId4">
            <a:alphaModFix/>
          </a:blip>
          <a:srcRect/>
          <a:stretch/>
        </p:blipFill>
        <p:spPr>
          <a:xfrm>
            <a:off x="3657600" y="2667000"/>
            <a:ext cx="2486025" cy="1838325"/>
          </a:xfrm>
          <a:prstGeom prst="rect">
            <a:avLst/>
          </a:prstGeom>
          <a:noFill/>
          <a:ln>
            <a:noFill/>
          </a:ln>
        </p:spPr>
      </p:pic>
      <p:pic>
        <p:nvPicPr>
          <p:cNvPr id="526" name="Google Shape;526;p59" descr="human.jpg"/>
          <p:cNvPicPr preferRelativeResize="0"/>
          <p:nvPr/>
        </p:nvPicPr>
        <p:blipFill rotWithShape="1">
          <a:blip r:embed="rId5">
            <a:alphaModFix/>
          </a:blip>
          <a:srcRect/>
          <a:stretch/>
        </p:blipFill>
        <p:spPr>
          <a:xfrm>
            <a:off x="304800" y="4648200"/>
            <a:ext cx="3347477" cy="20002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3">
                                            <p:txEl>
                                              <p:pRg st="0" end="0"/>
                                            </p:txEl>
                                          </p:spTgt>
                                        </p:tgtEl>
                                        <p:attrNameLst>
                                          <p:attrName>style.visibility</p:attrName>
                                        </p:attrNameLst>
                                      </p:cBhvr>
                                      <p:to>
                                        <p:strVal val="visible"/>
                                      </p:to>
                                    </p:set>
                                    <p:animEffect transition="in" filter="fade">
                                      <p:cBhvr>
                                        <p:cTn id="7" dur="500"/>
                                        <p:tgtEl>
                                          <p:spTgt spid="5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3">
                                            <p:txEl>
                                              <p:pRg st="1" end="1"/>
                                            </p:txEl>
                                          </p:spTgt>
                                        </p:tgtEl>
                                        <p:attrNameLst>
                                          <p:attrName>style.visibility</p:attrName>
                                        </p:attrNameLst>
                                      </p:cBhvr>
                                      <p:to>
                                        <p:strVal val="visible"/>
                                      </p:to>
                                    </p:set>
                                    <p:animEffect transition="in" filter="fade">
                                      <p:cBhvr>
                                        <p:cTn id="12" dur="500"/>
                                        <p:tgtEl>
                                          <p:spTgt spid="5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23">
                                            <p:txEl>
                                              <p:pRg st="2" end="2"/>
                                            </p:txEl>
                                          </p:spTgt>
                                        </p:tgtEl>
                                        <p:attrNameLst>
                                          <p:attrName>style.visibility</p:attrName>
                                        </p:attrNameLst>
                                      </p:cBhvr>
                                      <p:to>
                                        <p:strVal val="visible"/>
                                      </p:to>
                                    </p:set>
                                    <p:animEffect transition="in" filter="fade">
                                      <p:cBhvr>
                                        <p:cTn id="17" dur="500"/>
                                        <p:tgtEl>
                                          <p:spTgt spid="5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23">
                                            <p:txEl>
                                              <p:pRg st="3" end="3"/>
                                            </p:txEl>
                                          </p:spTgt>
                                        </p:tgtEl>
                                        <p:attrNameLst>
                                          <p:attrName>style.visibility</p:attrName>
                                        </p:attrNameLst>
                                      </p:cBhvr>
                                      <p:to>
                                        <p:strVal val="visible"/>
                                      </p:to>
                                    </p:set>
                                    <p:animEffect transition="in" filter="fade">
                                      <p:cBhvr>
                                        <p:cTn id="22" dur="500"/>
                                        <p:tgtEl>
                                          <p:spTgt spid="5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24"/>
                                        </p:tgtEl>
                                        <p:attrNameLst>
                                          <p:attrName>style.visibility</p:attrName>
                                        </p:attrNameLst>
                                      </p:cBhvr>
                                      <p:to>
                                        <p:strVal val="visible"/>
                                      </p:to>
                                    </p:set>
                                    <p:animEffect transition="in" filter="fade">
                                      <p:cBhvr>
                                        <p:cTn id="27" dur="500"/>
                                        <p:tgtEl>
                                          <p:spTgt spid="5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25"/>
                                        </p:tgtEl>
                                        <p:attrNameLst>
                                          <p:attrName>style.visibility</p:attrName>
                                        </p:attrNameLst>
                                      </p:cBhvr>
                                      <p:to>
                                        <p:strVal val="visible"/>
                                      </p:to>
                                    </p:set>
                                    <p:animEffect transition="in" filter="fade">
                                      <p:cBhvr>
                                        <p:cTn id="32" dur="500"/>
                                        <p:tgtEl>
                                          <p:spTgt spid="5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26"/>
                                        </p:tgtEl>
                                        <p:attrNameLst>
                                          <p:attrName>style.visibility</p:attrName>
                                        </p:attrNameLst>
                                      </p:cBhvr>
                                      <p:to>
                                        <p:strVal val="visible"/>
                                      </p:to>
                                    </p:set>
                                    <p:animEffect transition="in" filter="fade">
                                      <p:cBhvr>
                                        <p:cTn id="37" dur="500"/>
                                        <p:tgtEl>
                                          <p:spTgt spid="5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60"/>
          <p:cNvSpPr txBox="1">
            <a:spLocks noGrp="1"/>
          </p:cNvSpPr>
          <p:nvPr>
            <p:ph type="title"/>
          </p:nvPr>
        </p:nvSpPr>
        <p:spPr>
          <a:xfrm>
            <a:off x="457200" y="704088"/>
            <a:ext cx="8229600" cy="819912"/>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When Simulation is not Appropriate  </a:t>
            </a:r>
            <a:endParaRPr/>
          </a:p>
        </p:txBody>
      </p:sp>
      <p:sp>
        <p:nvSpPr>
          <p:cNvPr id="532" name="Google Shape;532;p60"/>
          <p:cNvSpPr txBox="1">
            <a:spLocks noGrp="1"/>
          </p:cNvSpPr>
          <p:nvPr>
            <p:ph type="body" idx="1"/>
          </p:nvPr>
        </p:nvSpPr>
        <p:spPr>
          <a:xfrm>
            <a:off x="457200" y="1524000"/>
            <a:ext cx="8229600" cy="48006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The problem is solvable by common sense.</a:t>
            </a:r>
            <a:endParaRPr/>
          </a:p>
          <a:p>
            <a:pPr marL="274320" lvl="0" indent="-274320" algn="l" rtl="0">
              <a:spcBef>
                <a:spcPts val="520"/>
              </a:spcBef>
              <a:spcAft>
                <a:spcPts val="0"/>
              </a:spcAft>
              <a:buSzPts val="2470"/>
              <a:buChar char="⚫"/>
            </a:pPr>
            <a:r>
              <a:rPr lang="en-US"/>
              <a:t>The problem can be solved mathematically.</a:t>
            </a:r>
            <a:endParaRPr/>
          </a:p>
          <a:p>
            <a:pPr marL="274320" lvl="0" indent="-274320" algn="l" rtl="0">
              <a:spcBef>
                <a:spcPts val="520"/>
              </a:spcBef>
              <a:spcAft>
                <a:spcPts val="0"/>
              </a:spcAft>
              <a:buSzPts val="2470"/>
              <a:buChar char="⚫"/>
            </a:pPr>
            <a:r>
              <a:rPr lang="en-US"/>
              <a:t>The direct experiments are easier.</a:t>
            </a:r>
            <a:endParaRPr/>
          </a:p>
          <a:p>
            <a:pPr marL="274320" lvl="0" indent="-274320" algn="l" rtl="0">
              <a:spcBef>
                <a:spcPts val="520"/>
              </a:spcBef>
              <a:spcAft>
                <a:spcPts val="0"/>
              </a:spcAft>
              <a:buSzPts val="2470"/>
              <a:buChar char="⚫"/>
            </a:pPr>
            <a:r>
              <a:rPr lang="en-US"/>
              <a:t>The cost for simulation exceeds the saving.</a:t>
            </a:r>
            <a:endParaRPr/>
          </a:p>
          <a:p>
            <a:pPr marL="274320" lvl="0" indent="-274320" algn="l" rtl="0">
              <a:spcBef>
                <a:spcPts val="520"/>
              </a:spcBef>
              <a:spcAft>
                <a:spcPts val="0"/>
              </a:spcAft>
              <a:buSzPts val="2470"/>
              <a:buChar char="⚫"/>
            </a:pPr>
            <a:r>
              <a:rPr lang="en-US"/>
              <a:t>The time for simulation is out of availability.</a:t>
            </a:r>
            <a:endParaRPr/>
          </a:p>
          <a:p>
            <a:pPr marL="274320" lvl="0" indent="-274320" algn="l" rtl="0">
              <a:spcBef>
                <a:spcPts val="520"/>
              </a:spcBef>
              <a:spcAft>
                <a:spcPts val="0"/>
              </a:spcAft>
              <a:buSzPts val="2470"/>
              <a:buChar char="⚫"/>
            </a:pPr>
            <a:r>
              <a:rPr lang="en-US"/>
              <a:t>The input data are not available.</a:t>
            </a:r>
            <a:endParaRPr/>
          </a:p>
          <a:p>
            <a:pPr marL="274320" lvl="0" indent="-274320" algn="l" rtl="0">
              <a:spcBef>
                <a:spcPts val="520"/>
              </a:spcBef>
              <a:spcAft>
                <a:spcPts val="0"/>
              </a:spcAft>
              <a:buSzPts val="2470"/>
              <a:buChar char="⚫"/>
            </a:pPr>
            <a:r>
              <a:rPr lang="en-US"/>
              <a:t>The simulation cannot be verified or validated.</a:t>
            </a:r>
            <a:endParaRPr/>
          </a:p>
          <a:p>
            <a:pPr marL="274320" lvl="0" indent="-274320" algn="l" rtl="0">
              <a:spcBef>
                <a:spcPts val="520"/>
              </a:spcBef>
              <a:spcAft>
                <a:spcPts val="0"/>
              </a:spcAft>
              <a:buSzPts val="2470"/>
              <a:buChar char="⚫"/>
            </a:pPr>
            <a:r>
              <a:rPr lang="en-US"/>
              <a:t>The system behavior is too complex or unknown. </a:t>
            </a:r>
            <a:r>
              <a:rPr lang="en-US" i="1"/>
              <a:t>e.g. </a:t>
            </a:r>
            <a:r>
              <a:rPr lang="en-US"/>
              <a:t>modeling of human behavior.</a:t>
            </a:r>
            <a:endParaRPr/>
          </a:p>
          <a:p>
            <a:pPr marL="274320" lvl="0" indent="-117475" algn="l" rtl="0">
              <a:spcBef>
                <a:spcPts val="520"/>
              </a:spcBef>
              <a:spcAft>
                <a:spcPts val="0"/>
              </a:spcAft>
              <a:buSzPts val="2470"/>
              <a:buNone/>
            </a:pPr>
            <a:endParaRPr/>
          </a:p>
        </p:txBody>
      </p:sp>
      <p:pic>
        <p:nvPicPr>
          <p:cNvPr id="533" name="Google Shape;533;p60" descr="sum.png"/>
          <p:cNvPicPr preferRelativeResize="0"/>
          <p:nvPr/>
        </p:nvPicPr>
        <p:blipFill rotWithShape="1">
          <a:blip r:embed="rId3">
            <a:alphaModFix/>
          </a:blip>
          <a:srcRect/>
          <a:stretch/>
        </p:blipFill>
        <p:spPr>
          <a:xfrm>
            <a:off x="6934200" y="1828800"/>
            <a:ext cx="895350" cy="895350"/>
          </a:xfrm>
          <a:prstGeom prst="rect">
            <a:avLst/>
          </a:prstGeom>
          <a:noFill/>
          <a:ln>
            <a:noFill/>
          </a:ln>
        </p:spPr>
      </p:pic>
      <p:pic>
        <p:nvPicPr>
          <p:cNvPr id="534" name="Google Shape;534;p60" descr="easy.jpg"/>
          <p:cNvPicPr preferRelativeResize="0"/>
          <p:nvPr/>
        </p:nvPicPr>
        <p:blipFill rotWithShape="1">
          <a:blip r:embed="rId4">
            <a:alphaModFix/>
          </a:blip>
          <a:srcRect/>
          <a:stretch/>
        </p:blipFill>
        <p:spPr>
          <a:xfrm>
            <a:off x="7010400" y="431482"/>
            <a:ext cx="1219200" cy="1139953"/>
          </a:xfrm>
          <a:prstGeom prst="rect">
            <a:avLst/>
          </a:prstGeom>
          <a:noFill/>
          <a:ln>
            <a:noFill/>
          </a:ln>
        </p:spPr>
      </p:pic>
      <p:pic>
        <p:nvPicPr>
          <p:cNvPr id="535" name="Google Shape;535;p60" descr="download (1).jpg"/>
          <p:cNvPicPr preferRelativeResize="0"/>
          <p:nvPr/>
        </p:nvPicPr>
        <p:blipFill rotWithShape="1">
          <a:blip r:embed="rId5">
            <a:alphaModFix/>
          </a:blip>
          <a:srcRect/>
          <a:stretch/>
        </p:blipFill>
        <p:spPr>
          <a:xfrm>
            <a:off x="7391400" y="2514600"/>
            <a:ext cx="1524000" cy="976228"/>
          </a:xfrm>
          <a:prstGeom prst="rect">
            <a:avLst/>
          </a:prstGeom>
          <a:noFill/>
          <a:ln>
            <a:noFill/>
          </a:ln>
        </p:spPr>
      </p:pic>
      <p:pic>
        <p:nvPicPr>
          <p:cNvPr id="536" name="Google Shape;536;p60" descr="download (2).jpg"/>
          <p:cNvPicPr preferRelativeResize="0"/>
          <p:nvPr/>
        </p:nvPicPr>
        <p:blipFill rotWithShape="1">
          <a:blip r:embed="rId6">
            <a:alphaModFix/>
          </a:blip>
          <a:srcRect/>
          <a:stretch/>
        </p:blipFill>
        <p:spPr>
          <a:xfrm>
            <a:off x="7000875" y="4724400"/>
            <a:ext cx="2143125" cy="2133600"/>
          </a:xfrm>
          <a:prstGeom prst="rect">
            <a:avLst/>
          </a:prstGeom>
          <a:noFill/>
          <a:ln>
            <a:noFill/>
          </a:ln>
        </p:spPr>
      </p:pic>
      <p:pic>
        <p:nvPicPr>
          <p:cNvPr id="537" name="Google Shape;537;p60" descr="download (3).jpg"/>
          <p:cNvPicPr preferRelativeResize="0"/>
          <p:nvPr/>
        </p:nvPicPr>
        <p:blipFill rotWithShape="1">
          <a:blip r:embed="rId7">
            <a:alphaModFix/>
          </a:blip>
          <a:srcRect/>
          <a:stretch/>
        </p:blipFill>
        <p:spPr>
          <a:xfrm>
            <a:off x="5105400" y="3200400"/>
            <a:ext cx="1952625" cy="18669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2">
                                            <p:txEl>
                                              <p:pRg st="0" end="0"/>
                                            </p:txEl>
                                          </p:spTgt>
                                        </p:tgtEl>
                                        <p:attrNameLst>
                                          <p:attrName>style.visibility</p:attrName>
                                        </p:attrNameLst>
                                      </p:cBhvr>
                                      <p:to>
                                        <p:strVal val="visible"/>
                                      </p:to>
                                    </p:set>
                                    <p:animEffect transition="in" filter="fade">
                                      <p:cBhvr>
                                        <p:cTn id="7" dur="500"/>
                                        <p:tgtEl>
                                          <p:spTgt spid="5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32">
                                            <p:txEl>
                                              <p:pRg st="1" end="1"/>
                                            </p:txEl>
                                          </p:spTgt>
                                        </p:tgtEl>
                                        <p:attrNameLst>
                                          <p:attrName>style.visibility</p:attrName>
                                        </p:attrNameLst>
                                      </p:cBhvr>
                                      <p:to>
                                        <p:strVal val="visible"/>
                                      </p:to>
                                    </p:set>
                                    <p:animEffect transition="in" filter="fade">
                                      <p:cBhvr>
                                        <p:cTn id="12" dur="500"/>
                                        <p:tgtEl>
                                          <p:spTgt spid="53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32">
                                            <p:txEl>
                                              <p:pRg st="2" end="2"/>
                                            </p:txEl>
                                          </p:spTgt>
                                        </p:tgtEl>
                                        <p:attrNameLst>
                                          <p:attrName>style.visibility</p:attrName>
                                        </p:attrNameLst>
                                      </p:cBhvr>
                                      <p:to>
                                        <p:strVal val="visible"/>
                                      </p:to>
                                    </p:set>
                                    <p:animEffect transition="in" filter="fade">
                                      <p:cBhvr>
                                        <p:cTn id="17" dur="500"/>
                                        <p:tgtEl>
                                          <p:spTgt spid="53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32">
                                            <p:txEl>
                                              <p:pRg st="3" end="3"/>
                                            </p:txEl>
                                          </p:spTgt>
                                        </p:tgtEl>
                                        <p:attrNameLst>
                                          <p:attrName>style.visibility</p:attrName>
                                        </p:attrNameLst>
                                      </p:cBhvr>
                                      <p:to>
                                        <p:strVal val="visible"/>
                                      </p:to>
                                    </p:set>
                                    <p:animEffect transition="in" filter="fade">
                                      <p:cBhvr>
                                        <p:cTn id="22" dur="500"/>
                                        <p:tgtEl>
                                          <p:spTgt spid="53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32">
                                            <p:txEl>
                                              <p:pRg st="4" end="4"/>
                                            </p:txEl>
                                          </p:spTgt>
                                        </p:tgtEl>
                                        <p:attrNameLst>
                                          <p:attrName>style.visibility</p:attrName>
                                        </p:attrNameLst>
                                      </p:cBhvr>
                                      <p:to>
                                        <p:strVal val="visible"/>
                                      </p:to>
                                    </p:set>
                                    <p:animEffect transition="in" filter="fade">
                                      <p:cBhvr>
                                        <p:cTn id="27" dur="500"/>
                                        <p:tgtEl>
                                          <p:spTgt spid="53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32">
                                            <p:txEl>
                                              <p:pRg st="5" end="5"/>
                                            </p:txEl>
                                          </p:spTgt>
                                        </p:tgtEl>
                                        <p:attrNameLst>
                                          <p:attrName>style.visibility</p:attrName>
                                        </p:attrNameLst>
                                      </p:cBhvr>
                                      <p:to>
                                        <p:strVal val="visible"/>
                                      </p:to>
                                    </p:set>
                                    <p:animEffect transition="in" filter="fade">
                                      <p:cBhvr>
                                        <p:cTn id="32" dur="500"/>
                                        <p:tgtEl>
                                          <p:spTgt spid="53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32">
                                            <p:txEl>
                                              <p:pRg st="6" end="6"/>
                                            </p:txEl>
                                          </p:spTgt>
                                        </p:tgtEl>
                                        <p:attrNameLst>
                                          <p:attrName>style.visibility</p:attrName>
                                        </p:attrNameLst>
                                      </p:cBhvr>
                                      <p:to>
                                        <p:strVal val="visible"/>
                                      </p:to>
                                    </p:set>
                                    <p:animEffect transition="in" filter="fade">
                                      <p:cBhvr>
                                        <p:cTn id="37" dur="500"/>
                                        <p:tgtEl>
                                          <p:spTgt spid="53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32">
                                            <p:txEl>
                                              <p:pRg st="7" end="7"/>
                                            </p:txEl>
                                          </p:spTgt>
                                        </p:tgtEl>
                                        <p:attrNameLst>
                                          <p:attrName>style.visibility</p:attrName>
                                        </p:attrNameLst>
                                      </p:cBhvr>
                                      <p:to>
                                        <p:strVal val="visible"/>
                                      </p:to>
                                    </p:set>
                                    <p:animEffect transition="in" filter="fade">
                                      <p:cBhvr>
                                        <p:cTn id="42" dur="500"/>
                                        <p:tgtEl>
                                          <p:spTgt spid="53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32">
                                            <p:txEl>
                                              <p:pRg st="8" end="8"/>
                                            </p:txEl>
                                          </p:spTgt>
                                        </p:tgtEl>
                                        <p:attrNameLst>
                                          <p:attrName>style.visibility</p:attrName>
                                        </p:attrNameLst>
                                      </p:cBhvr>
                                      <p:to>
                                        <p:strVal val="visible"/>
                                      </p:to>
                                    </p:set>
                                    <p:animEffect transition="in" filter="fade">
                                      <p:cBhvr>
                                        <p:cTn id="47" dur="500"/>
                                        <p:tgtEl>
                                          <p:spTgt spid="53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34"/>
                                        </p:tgtEl>
                                        <p:attrNameLst>
                                          <p:attrName>style.visibility</p:attrName>
                                        </p:attrNameLst>
                                      </p:cBhvr>
                                      <p:to>
                                        <p:strVal val="visible"/>
                                      </p:to>
                                    </p:set>
                                    <p:animEffect transition="in" filter="fade">
                                      <p:cBhvr>
                                        <p:cTn id="52" dur="500"/>
                                        <p:tgtEl>
                                          <p:spTgt spid="53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33"/>
                                        </p:tgtEl>
                                        <p:attrNameLst>
                                          <p:attrName>style.visibility</p:attrName>
                                        </p:attrNameLst>
                                      </p:cBhvr>
                                      <p:to>
                                        <p:strVal val="visible"/>
                                      </p:to>
                                    </p:set>
                                    <p:animEffect transition="in" filter="fade">
                                      <p:cBhvr>
                                        <p:cTn id="57" dur="500"/>
                                        <p:tgtEl>
                                          <p:spTgt spid="53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35"/>
                                        </p:tgtEl>
                                        <p:attrNameLst>
                                          <p:attrName>style.visibility</p:attrName>
                                        </p:attrNameLst>
                                      </p:cBhvr>
                                      <p:to>
                                        <p:strVal val="visible"/>
                                      </p:to>
                                    </p:set>
                                    <p:animEffect transition="in" filter="fade">
                                      <p:cBhvr>
                                        <p:cTn id="62" dur="500"/>
                                        <p:tgtEl>
                                          <p:spTgt spid="535"/>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536"/>
                                        </p:tgtEl>
                                        <p:attrNameLst>
                                          <p:attrName>style.visibility</p:attrName>
                                        </p:attrNameLst>
                                      </p:cBhvr>
                                      <p:to>
                                        <p:strVal val="visible"/>
                                      </p:to>
                                    </p:set>
                                    <p:animEffect transition="in" filter="fade">
                                      <p:cBhvr>
                                        <p:cTn id="67" dur="500"/>
                                        <p:tgtEl>
                                          <p:spTgt spid="53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537"/>
                                        </p:tgtEl>
                                        <p:attrNameLst>
                                          <p:attrName>style.visibility</p:attrName>
                                        </p:attrNameLst>
                                      </p:cBhvr>
                                      <p:to>
                                        <p:strVal val="visible"/>
                                      </p:to>
                                    </p:set>
                                    <p:animEffect transition="in" filter="fade">
                                      <p:cBhvr>
                                        <p:cTn id="72" dur="500"/>
                                        <p:tgtEl>
                                          <p:spTgt spid="5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61"/>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543" name="Google Shape;543;p61"/>
          <p:cNvSpPr txBox="1">
            <a:spLocks noGrp="1"/>
          </p:cNvSpPr>
          <p:nvPr>
            <p:ph type="body" idx="1"/>
          </p:nvPr>
        </p:nvSpPr>
        <p:spPr>
          <a:xfrm>
            <a:off x="457200" y="533400"/>
            <a:ext cx="8229600" cy="57912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660"/>
              <a:buChar char="⚫"/>
            </a:pPr>
            <a:r>
              <a:rPr lang="en-US" sz="2800"/>
              <a:t>Easy manipulation of models. Using simulation, it is easy to</a:t>
            </a:r>
            <a:r>
              <a:rPr lang="en-US" sz="2800" i="1"/>
              <a:t> </a:t>
            </a:r>
            <a:r>
              <a:rPr lang="en-US" sz="2800"/>
              <a:t>manipulate the parameters of a system model, even outside the feasible range of a particular physical system. </a:t>
            </a:r>
            <a:endParaRPr/>
          </a:p>
          <a:p>
            <a:pPr marL="274320" lvl="0" indent="-165735" algn="l" rtl="0">
              <a:spcBef>
                <a:spcPts val="360"/>
              </a:spcBef>
              <a:spcAft>
                <a:spcPts val="0"/>
              </a:spcAft>
              <a:buSzPts val="1710"/>
              <a:buNone/>
            </a:pPr>
            <a:endParaRPr sz="1800"/>
          </a:p>
          <a:p>
            <a:pPr marL="274320" lvl="0" indent="-274320" algn="l" rtl="0">
              <a:spcBef>
                <a:spcPts val="560"/>
              </a:spcBef>
              <a:spcAft>
                <a:spcPts val="0"/>
              </a:spcAft>
              <a:buSzPts val="2660"/>
              <a:buNone/>
            </a:pPr>
            <a:endParaRPr sz="2800"/>
          </a:p>
          <a:p>
            <a:pPr marL="274320" lvl="0" indent="-117475" algn="l" rtl="0">
              <a:spcBef>
                <a:spcPts val="520"/>
              </a:spcBef>
              <a:spcAft>
                <a:spcPts val="0"/>
              </a:spcAft>
              <a:buSzPts val="2470"/>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3">
                                            <p:txEl>
                                              <p:pRg st="0" end="0"/>
                                            </p:txEl>
                                          </p:spTgt>
                                        </p:tgtEl>
                                        <p:attrNameLst>
                                          <p:attrName>style.visibility</p:attrName>
                                        </p:attrNameLst>
                                      </p:cBhvr>
                                      <p:to>
                                        <p:strVal val="visible"/>
                                      </p:to>
                                    </p:set>
                                    <p:animEffect transition="in" filter="fade">
                                      <p:cBhvr>
                                        <p:cTn id="7" dur="500"/>
                                        <p:tgtEl>
                                          <p:spTgt spid="5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43">
                                            <p:txEl>
                                              <p:pRg st="1" end="1"/>
                                            </p:txEl>
                                          </p:spTgt>
                                        </p:tgtEl>
                                        <p:attrNameLst>
                                          <p:attrName>style.visibility</p:attrName>
                                        </p:attrNameLst>
                                      </p:cBhvr>
                                      <p:to>
                                        <p:strVal val="visible"/>
                                      </p:to>
                                    </p:set>
                                    <p:animEffect transition="in" filter="fade">
                                      <p:cBhvr>
                                        <p:cTn id="12" dur="500"/>
                                        <p:tgtEl>
                                          <p:spTgt spid="5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43">
                                            <p:txEl>
                                              <p:pRg st="2" end="2"/>
                                            </p:txEl>
                                          </p:spTgt>
                                        </p:tgtEl>
                                        <p:attrNameLst>
                                          <p:attrName>style.visibility</p:attrName>
                                        </p:attrNameLst>
                                      </p:cBhvr>
                                      <p:to>
                                        <p:strVal val="visible"/>
                                      </p:to>
                                    </p:set>
                                    <p:animEffect transition="in" filter="fade">
                                      <p:cBhvr>
                                        <p:cTn id="17" dur="500"/>
                                        <p:tgtEl>
                                          <p:spTgt spid="5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43">
                                            <p:txEl>
                                              <p:pRg st="3" end="3"/>
                                            </p:txEl>
                                          </p:spTgt>
                                        </p:tgtEl>
                                        <p:attrNameLst>
                                          <p:attrName>style.visibility</p:attrName>
                                        </p:attrNameLst>
                                      </p:cBhvr>
                                      <p:to>
                                        <p:strVal val="visible"/>
                                      </p:to>
                                    </p:set>
                                    <p:animEffect transition="in" filter="fade">
                                      <p:cBhvr>
                                        <p:cTn id="22" dur="500"/>
                                        <p:tgtEl>
                                          <p:spTgt spid="5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62"/>
          <p:cNvSpPr txBox="1">
            <a:spLocks noGrp="1"/>
          </p:cNvSpPr>
          <p:nvPr>
            <p:ph type="title"/>
          </p:nvPr>
        </p:nvSpPr>
        <p:spPr>
          <a:xfrm>
            <a:off x="457200" y="228600"/>
            <a:ext cx="8229600" cy="12954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Verification and Validation of Model</a:t>
            </a:r>
            <a:endParaRPr/>
          </a:p>
        </p:txBody>
      </p:sp>
      <p:sp>
        <p:nvSpPr>
          <p:cNvPr id="549" name="Google Shape;549;p62"/>
          <p:cNvSpPr txBox="1">
            <a:spLocks noGrp="1"/>
          </p:cNvSpPr>
          <p:nvPr>
            <p:ph type="body" idx="1"/>
          </p:nvPr>
        </p:nvSpPr>
        <p:spPr>
          <a:xfrm>
            <a:off x="457200" y="1524000"/>
            <a:ext cx="8229600" cy="48006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b="1"/>
              <a:t>Verification and validation of computer simulation models</a:t>
            </a:r>
            <a:r>
              <a:rPr lang="en-US"/>
              <a:t> is conducted during the development of a simulation model with the ultimate goal of producing an accurate and credible model.</a:t>
            </a:r>
            <a:endParaRPr/>
          </a:p>
          <a:p>
            <a:pPr marL="274320" lvl="0" indent="-274320" algn="l" rtl="0">
              <a:spcBef>
                <a:spcPts val="520"/>
              </a:spcBef>
              <a:spcAft>
                <a:spcPts val="0"/>
              </a:spcAft>
              <a:buSzPts val="2470"/>
              <a:buChar char="⚫"/>
            </a:pPr>
            <a:r>
              <a:rPr lang="en-US"/>
              <a:t>Simulation models are approximate imitations of real-world systems and they never exactly imitate the real-world system. Due to that, a model should be verified and validated to the degree needed for the models intended purpose or application</a:t>
            </a:r>
            <a:endParaRPr/>
          </a:p>
          <a:p>
            <a:pPr marL="274320" lvl="0" indent="-117475" algn="l" rtl="0">
              <a:spcBef>
                <a:spcPts val="520"/>
              </a:spcBef>
              <a:spcAft>
                <a:spcPts val="0"/>
              </a:spcAft>
              <a:buSzPts val="2470"/>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9">
                                            <p:txEl>
                                              <p:pRg st="0" end="0"/>
                                            </p:txEl>
                                          </p:spTgt>
                                        </p:tgtEl>
                                        <p:attrNameLst>
                                          <p:attrName>style.visibility</p:attrName>
                                        </p:attrNameLst>
                                      </p:cBhvr>
                                      <p:to>
                                        <p:strVal val="visible"/>
                                      </p:to>
                                    </p:set>
                                    <p:animEffect transition="in" filter="fade">
                                      <p:cBhvr>
                                        <p:cTn id="7" dur="500"/>
                                        <p:tgtEl>
                                          <p:spTgt spid="54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49">
                                            <p:txEl>
                                              <p:pRg st="1" end="1"/>
                                            </p:txEl>
                                          </p:spTgt>
                                        </p:tgtEl>
                                        <p:attrNameLst>
                                          <p:attrName>style.visibility</p:attrName>
                                        </p:attrNameLst>
                                      </p:cBhvr>
                                      <p:to>
                                        <p:strVal val="visible"/>
                                      </p:to>
                                    </p:set>
                                    <p:animEffect transition="in" filter="fade">
                                      <p:cBhvr>
                                        <p:cTn id="12" dur="500"/>
                                        <p:tgtEl>
                                          <p:spTgt spid="54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49">
                                            <p:txEl>
                                              <p:pRg st="2" end="2"/>
                                            </p:txEl>
                                          </p:spTgt>
                                        </p:tgtEl>
                                        <p:attrNameLst>
                                          <p:attrName>style.visibility</p:attrName>
                                        </p:attrNameLst>
                                      </p:cBhvr>
                                      <p:to>
                                        <p:strVal val="visible"/>
                                      </p:to>
                                    </p:set>
                                    <p:animEffect transition="in" filter="fade">
                                      <p:cBhvr>
                                        <p:cTn id="17" dur="500"/>
                                        <p:tgtEl>
                                          <p:spTgt spid="54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63"/>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Verification</a:t>
            </a:r>
            <a:br>
              <a:rPr lang="en-US"/>
            </a:br>
            <a:endParaRPr/>
          </a:p>
        </p:txBody>
      </p:sp>
      <p:sp>
        <p:nvSpPr>
          <p:cNvPr id="555" name="Google Shape;555;p63"/>
          <p:cNvSpPr txBox="1">
            <a:spLocks noGrp="1"/>
          </p:cNvSpPr>
          <p:nvPr>
            <p:ph type="body" idx="1"/>
          </p:nvPr>
        </p:nvSpPr>
        <p:spPr>
          <a:xfrm>
            <a:off x="457200" y="1143000"/>
            <a:ext cx="8229600" cy="5181600"/>
          </a:xfrm>
          <a:prstGeom prst="rect">
            <a:avLst/>
          </a:prstGeom>
          <a:noFill/>
          <a:ln>
            <a:noFill/>
          </a:ln>
        </p:spPr>
        <p:txBody>
          <a:bodyPr spcFirstLastPara="1" wrap="square" lIns="91425" tIns="45700" rIns="91425" bIns="45700" anchor="t" anchorCtr="0">
            <a:normAutofit lnSpcReduction="10000"/>
          </a:bodyPr>
          <a:lstStyle/>
          <a:p>
            <a:pPr marL="274320" lvl="0" indent="-274320" algn="l" rtl="0">
              <a:spcBef>
                <a:spcPts val="0"/>
              </a:spcBef>
              <a:spcAft>
                <a:spcPts val="0"/>
              </a:spcAft>
              <a:buSzPts val="2470"/>
              <a:buChar char="⚫"/>
            </a:pPr>
            <a:r>
              <a:rPr lang="en-US"/>
              <a:t>In the context of computer simulation, </a:t>
            </a:r>
            <a:r>
              <a:rPr lang="en-US" b="1"/>
              <a:t>verification</a:t>
            </a:r>
            <a:r>
              <a:rPr lang="en-US"/>
              <a:t> of a model is the process of confirming that it is correctly implemented with respect to the conceptual model (it matches specifications and assumptions deemed acceptable for the given purpose of application).</a:t>
            </a:r>
            <a:endParaRPr/>
          </a:p>
          <a:p>
            <a:pPr marL="274320" lvl="0" indent="-274320" algn="l" rtl="0">
              <a:spcBef>
                <a:spcPts val="520"/>
              </a:spcBef>
              <a:spcAft>
                <a:spcPts val="0"/>
              </a:spcAft>
              <a:buSzPts val="2470"/>
              <a:buChar char="⚫"/>
            </a:pPr>
            <a:r>
              <a:rPr lang="en-US"/>
              <a:t>During verification the model is tested to find and fix errors in the implementation of the model</a:t>
            </a:r>
            <a:endParaRPr/>
          </a:p>
          <a:p>
            <a:pPr marL="274320" lvl="0" indent="-274320" algn="l" rtl="0">
              <a:spcBef>
                <a:spcPts val="520"/>
              </a:spcBef>
              <a:spcAft>
                <a:spcPts val="0"/>
              </a:spcAft>
              <a:buSzPts val="2470"/>
              <a:buChar char="⚫"/>
            </a:pPr>
            <a:r>
              <a:rPr lang="en-US"/>
              <a:t>Various processes and techniques are used to assure the model matches specifications and assumptions with respect to the model concept.</a:t>
            </a:r>
            <a:endParaRPr/>
          </a:p>
          <a:p>
            <a:pPr marL="274320" lvl="0" indent="-274320" algn="l" rtl="0">
              <a:spcBef>
                <a:spcPts val="520"/>
              </a:spcBef>
              <a:spcAft>
                <a:spcPts val="0"/>
              </a:spcAft>
              <a:buSzPts val="2470"/>
              <a:buChar char="⚫"/>
            </a:pPr>
            <a:r>
              <a:rPr lang="en-US"/>
              <a:t>The objective of model verification is to ensure that the implementation of the model is correct.</a:t>
            </a:r>
            <a:endParaRPr/>
          </a:p>
          <a:p>
            <a:pPr marL="274320" lvl="0" indent="-117475" algn="l" rtl="0">
              <a:spcBef>
                <a:spcPts val="520"/>
              </a:spcBef>
              <a:spcAft>
                <a:spcPts val="0"/>
              </a:spcAft>
              <a:buSzPts val="2470"/>
              <a:buNone/>
            </a:pPr>
            <a:endParaRPr/>
          </a:p>
        </p:txBody>
      </p:sp>
      <p:pic>
        <p:nvPicPr>
          <p:cNvPr id="556" name="Google Shape;556;p63" descr="ver.jpg"/>
          <p:cNvPicPr preferRelativeResize="0"/>
          <p:nvPr/>
        </p:nvPicPr>
        <p:blipFill rotWithShape="1">
          <a:blip r:embed="rId3">
            <a:alphaModFix/>
          </a:blip>
          <a:srcRect/>
          <a:stretch/>
        </p:blipFill>
        <p:spPr>
          <a:xfrm>
            <a:off x="2895600" y="2286000"/>
            <a:ext cx="2143125" cy="21431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55">
                                            <p:txEl>
                                              <p:pRg st="0" end="0"/>
                                            </p:txEl>
                                          </p:spTgt>
                                        </p:tgtEl>
                                        <p:attrNameLst>
                                          <p:attrName>style.visibility</p:attrName>
                                        </p:attrNameLst>
                                      </p:cBhvr>
                                      <p:to>
                                        <p:strVal val="visible"/>
                                      </p:to>
                                    </p:set>
                                    <p:animEffect transition="in" filter="fade">
                                      <p:cBhvr>
                                        <p:cTn id="7" dur="500"/>
                                        <p:tgtEl>
                                          <p:spTgt spid="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55">
                                            <p:txEl>
                                              <p:pRg st="1" end="1"/>
                                            </p:txEl>
                                          </p:spTgt>
                                        </p:tgtEl>
                                        <p:attrNameLst>
                                          <p:attrName>style.visibility</p:attrName>
                                        </p:attrNameLst>
                                      </p:cBhvr>
                                      <p:to>
                                        <p:strVal val="visible"/>
                                      </p:to>
                                    </p:set>
                                    <p:animEffect transition="in" filter="fade">
                                      <p:cBhvr>
                                        <p:cTn id="12" dur="500"/>
                                        <p:tgtEl>
                                          <p:spTgt spid="5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55">
                                            <p:txEl>
                                              <p:pRg st="2" end="2"/>
                                            </p:txEl>
                                          </p:spTgt>
                                        </p:tgtEl>
                                        <p:attrNameLst>
                                          <p:attrName>style.visibility</p:attrName>
                                        </p:attrNameLst>
                                      </p:cBhvr>
                                      <p:to>
                                        <p:strVal val="visible"/>
                                      </p:to>
                                    </p:set>
                                    <p:animEffect transition="in" filter="fade">
                                      <p:cBhvr>
                                        <p:cTn id="17" dur="500"/>
                                        <p:tgtEl>
                                          <p:spTgt spid="5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55">
                                            <p:txEl>
                                              <p:pRg st="3" end="3"/>
                                            </p:txEl>
                                          </p:spTgt>
                                        </p:tgtEl>
                                        <p:attrNameLst>
                                          <p:attrName>style.visibility</p:attrName>
                                        </p:attrNameLst>
                                      </p:cBhvr>
                                      <p:to>
                                        <p:strVal val="visible"/>
                                      </p:to>
                                    </p:set>
                                    <p:animEffect transition="in" filter="fade">
                                      <p:cBhvr>
                                        <p:cTn id="22" dur="500"/>
                                        <p:tgtEl>
                                          <p:spTgt spid="55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5">
                                            <p:txEl>
                                              <p:pRg st="4" end="4"/>
                                            </p:txEl>
                                          </p:spTgt>
                                        </p:tgtEl>
                                        <p:attrNameLst>
                                          <p:attrName>style.visibility</p:attrName>
                                        </p:attrNameLst>
                                      </p:cBhvr>
                                      <p:to>
                                        <p:strVal val="visible"/>
                                      </p:to>
                                    </p:set>
                                    <p:animEffect transition="in" filter="fade">
                                      <p:cBhvr>
                                        <p:cTn id="27" dur="500"/>
                                        <p:tgtEl>
                                          <p:spTgt spid="55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56"/>
                                        </p:tgtEl>
                                        <p:attrNameLst>
                                          <p:attrName>style.visibility</p:attrName>
                                        </p:attrNameLst>
                                      </p:cBhvr>
                                      <p:to>
                                        <p:strVal val="visible"/>
                                      </p:to>
                                    </p:set>
                                    <p:animEffect transition="in" filter="fade">
                                      <p:cBhvr>
                                        <p:cTn id="32" dur="500"/>
                                        <p:tgtEl>
                                          <p:spTgt spid="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64"/>
          <p:cNvSpPr txBox="1">
            <a:spLocks noGrp="1"/>
          </p:cNvSpPr>
          <p:nvPr>
            <p:ph type="title"/>
          </p:nvPr>
        </p:nvSpPr>
        <p:spPr>
          <a:xfrm>
            <a:off x="457200" y="228600"/>
            <a:ext cx="8229600" cy="9906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Verification</a:t>
            </a:r>
            <a:endParaRPr/>
          </a:p>
        </p:txBody>
      </p:sp>
      <p:sp>
        <p:nvSpPr>
          <p:cNvPr id="562" name="Google Shape;562;p64"/>
          <p:cNvSpPr txBox="1">
            <a:spLocks noGrp="1"/>
          </p:cNvSpPr>
          <p:nvPr>
            <p:ph type="body" idx="1"/>
          </p:nvPr>
        </p:nvSpPr>
        <p:spPr>
          <a:xfrm>
            <a:off x="457200" y="1447800"/>
            <a:ext cx="8229600" cy="48768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There are many techniques that can be utilized to verify a model. Including, but not limited to, have the model checked by an expert, making logic flow diagrams that include each logically possible action, examining the model output for reasonableness under a variety of settings of the input parameters, and using an interactive debugger.</a:t>
            </a:r>
            <a:endParaRPr/>
          </a:p>
          <a:p>
            <a:pPr marL="274320" lvl="0" indent="-117475" algn="l" rtl="0">
              <a:spcBef>
                <a:spcPts val="520"/>
              </a:spcBef>
              <a:spcAft>
                <a:spcPts val="0"/>
              </a:spcAft>
              <a:buSzPts val="2470"/>
              <a:buNone/>
            </a:pPr>
            <a:endParaRPr/>
          </a:p>
        </p:txBody>
      </p:sp>
      <p:pic>
        <p:nvPicPr>
          <p:cNvPr id="563" name="Google Shape;563;p64" descr="ver.jpg"/>
          <p:cNvPicPr preferRelativeResize="0"/>
          <p:nvPr/>
        </p:nvPicPr>
        <p:blipFill rotWithShape="1">
          <a:blip r:embed="rId3">
            <a:alphaModFix/>
          </a:blip>
          <a:srcRect/>
          <a:stretch/>
        </p:blipFill>
        <p:spPr>
          <a:xfrm>
            <a:off x="6248400" y="4495800"/>
            <a:ext cx="2143125" cy="21431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2">
                                            <p:txEl>
                                              <p:pRg st="0" end="0"/>
                                            </p:txEl>
                                          </p:spTgt>
                                        </p:tgtEl>
                                        <p:attrNameLst>
                                          <p:attrName>style.visibility</p:attrName>
                                        </p:attrNameLst>
                                      </p:cBhvr>
                                      <p:to>
                                        <p:strVal val="visible"/>
                                      </p:to>
                                    </p:set>
                                    <p:animEffect transition="in" filter="fade">
                                      <p:cBhvr>
                                        <p:cTn id="7" dur="500"/>
                                        <p:tgtEl>
                                          <p:spTgt spid="5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62">
                                            <p:txEl>
                                              <p:pRg st="1" end="1"/>
                                            </p:txEl>
                                          </p:spTgt>
                                        </p:tgtEl>
                                        <p:attrNameLst>
                                          <p:attrName>style.visibility</p:attrName>
                                        </p:attrNameLst>
                                      </p:cBhvr>
                                      <p:to>
                                        <p:strVal val="visible"/>
                                      </p:to>
                                    </p:set>
                                    <p:animEffect transition="in" filter="fade">
                                      <p:cBhvr>
                                        <p:cTn id="12" dur="500"/>
                                        <p:tgtEl>
                                          <p:spTgt spid="56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63"/>
                                        </p:tgtEl>
                                        <p:attrNameLst>
                                          <p:attrName>style.visibility</p:attrName>
                                        </p:attrNameLst>
                                      </p:cBhvr>
                                      <p:to>
                                        <p:strVal val="visible"/>
                                      </p:to>
                                    </p:set>
                                    <p:animEffect transition="in" filter="fade">
                                      <p:cBhvr>
                                        <p:cTn id="17" dur="500"/>
                                        <p:tgtEl>
                                          <p:spTgt spid="5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65"/>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fontScale="90000"/>
          </a:bodyPr>
          <a:lstStyle/>
          <a:p>
            <a:pPr marL="0" lvl="0" indent="0" algn="l" rtl="0">
              <a:spcBef>
                <a:spcPts val="0"/>
              </a:spcBef>
              <a:spcAft>
                <a:spcPts val="0"/>
              </a:spcAft>
              <a:buClr>
                <a:schemeClr val="dk2"/>
              </a:buClr>
              <a:buSzPct val="100000"/>
              <a:buFont typeface="Calibri"/>
              <a:buNone/>
            </a:pPr>
            <a:r>
              <a:rPr lang="en-US"/>
              <a:t>Validation</a:t>
            </a:r>
            <a:br>
              <a:rPr lang="en-US"/>
            </a:br>
            <a:endParaRPr/>
          </a:p>
        </p:txBody>
      </p:sp>
      <p:sp>
        <p:nvSpPr>
          <p:cNvPr id="569" name="Google Shape;569;p65"/>
          <p:cNvSpPr txBox="1">
            <a:spLocks noGrp="1"/>
          </p:cNvSpPr>
          <p:nvPr>
            <p:ph type="body" idx="1"/>
          </p:nvPr>
        </p:nvSpPr>
        <p:spPr>
          <a:xfrm>
            <a:off x="457200" y="1066800"/>
            <a:ext cx="8229600" cy="5257800"/>
          </a:xfrm>
          <a:prstGeom prst="rect">
            <a:avLst/>
          </a:prstGeom>
          <a:noFill/>
          <a:ln>
            <a:noFill/>
          </a:ln>
        </p:spPr>
        <p:txBody>
          <a:bodyPr spcFirstLastPara="1" wrap="square" lIns="91425" tIns="45700" rIns="91425" bIns="45700" anchor="t" anchorCtr="0">
            <a:normAutofit fontScale="92500"/>
          </a:bodyPr>
          <a:lstStyle/>
          <a:p>
            <a:pPr marL="274320" lvl="0" indent="-274320" algn="l" rtl="0">
              <a:spcBef>
                <a:spcPts val="0"/>
              </a:spcBef>
              <a:spcAft>
                <a:spcPts val="0"/>
              </a:spcAft>
              <a:buSzPct val="95000"/>
              <a:buChar char="⚫"/>
            </a:pPr>
            <a:r>
              <a:rPr lang="en-US"/>
              <a:t>Validation checks the accuracy of the model's representation of the real system. </a:t>
            </a:r>
            <a:endParaRPr/>
          </a:p>
          <a:p>
            <a:pPr marL="274320" lvl="0" indent="-274320" algn="l" rtl="0">
              <a:spcBef>
                <a:spcPts val="481"/>
              </a:spcBef>
              <a:spcAft>
                <a:spcPts val="0"/>
              </a:spcAft>
              <a:buSzPct val="95000"/>
              <a:buChar char="⚫"/>
            </a:pPr>
            <a:r>
              <a:rPr lang="en-US"/>
              <a:t>Model validation is defined to mean "substantiation that a computerized model within its domain of applicability possesses a satisfactory range of accuracy consistent with the intended application of the model".</a:t>
            </a:r>
            <a:endParaRPr/>
          </a:p>
          <a:p>
            <a:pPr marL="274320" lvl="0" indent="-274320" algn="l" rtl="0">
              <a:spcBef>
                <a:spcPts val="481"/>
              </a:spcBef>
              <a:spcAft>
                <a:spcPts val="0"/>
              </a:spcAft>
              <a:buSzPct val="95000"/>
              <a:buChar char="⚫"/>
            </a:pPr>
            <a:r>
              <a:rPr lang="en-US"/>
              <a:t>There are many approaches that can be used to validate a computer model.</a:t>
            </a:r>
            <a:endParaRPr/>
          </a:p>
          <a:p>
            <a:pPr marL="274320" lvl="0" indent="-274320" algn="l" rtl="0">
              <a:spcBef>
                <a:spcPts val="481"/>
              </a:spcBef>
              <a:spcAft>
                <a:spcPts val="0"/>
              </a:spcAft>
              <a:buSzPct val="95000"/>
              <a:buChar char="⚫"/>
            </a:pPr>
            <a:r>
              <a:rPr lang="en-US"/>
              <a:t> The approaches range from subjective reviews to objective statistical tests. One approach that is commonly used is to have the model builders determine validity of the model through a series of tests</a:t>
            </a:r>
            <a:endParaRPr/>
          </a:p>
          <a:p>
            <a:pPr marL="274320" lvl="0" indent="-129238" algn="l" rtl="0">
              <a:spcBef>
                <a:spcPts val="481"/>
              </a:spcBef>
              <a:spcAft>
                <a:spcPts val="0"/>
              </a:spcAft>
              <a:buSzPct val="95000"/>
              <a:buNone/>
            </a:pPr>
            <a:endParaRPr/>
          </a:p>
        </p:txBody>
      </p:sp>
      <p:pic>
        <p:nvPicPr>
          <p:cNvPr id="570" name="Google Shape;570;p65" descr="val.jpg"/>
          <p:cNvPicPr preferRelativeResize="0"/>
          <p:nvPr/>
        </p:nvPicPr>
        <p:blipFill rotWithShape="1">
          <a:blip r:embed="rId3">
            <a:alphaModFix/>
          </a:blip>
          <a:srcRect/>
          <a:stretch/>
        </p:blipFill>
        <p:spPr>
          <a:xfrm>
            <a:off x="5105400" y="5334000"/>
            <a:ext cx="3486150" cy="13144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9">
                                            <p:txEl>
                                              <p:pRg st="0" end="0"/>
                                            </p:txEl>
                                          </p:spTgt>
                                        </p:tgtEl>
                                        <p:attrNameLst>
                                          <p:attrName>style.visibility</p:attrName>
                                        </p:attrNameLst>
                                      </p:cBhvr>
                                      <p:to>
                                        <p:strVal val="visible"/>
                                      </p:to>
                                    </p:set>
                                    <p:animEffect transition="in" filter="fade">
                                      <p:cBhvr>
                                        <p:cTn id="7" dur="500"/>
                                        <p:tgtEl>
                                          <p:spTgt spid="56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69">
                                            <p:txEl>
                                              <p:pRg st="1" end="1"/>
                                            </p:txEl>
                                          </p:spTgt>
                                        </p:tgtEl>
                                        <p:attrNameLst>
                                          <p:attrName>style.visibility</p:attrName>
                                        </p:attrNameLst>
                                      </p:cBhvr>
                                      <p:to>
                                        <p:strVal val="visible"/>
                                      </p:to>
                                    </p:set>
                                    <p:animEffect transition="in" filter="fade">
                                      <p:cBhvr>
                                        <p:cTn id="12" dur="500"/>
                                        <p:tgtEl>
                                          <p:spTgt spid="56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69">
                                            <p:txEl>
                                              <p:pRg st="2" end="2"/>
                                            </p:txEl>
                                          </p:spTgt>
                                        </p:tgtEl>
                                        <p:attrNameLst>
                                          <p:attrName>style.visibility</p:attrName>
                                        </p:attrNameLst>
                                      </p:cBhvr>
                                      <p:to>
                                        <p:strVal val="visible"/>
                                      </p:to>
                                    </p:set>
                                    <p:animEffect transition="in" filter="fade">
                                      <p:cBhvr>
                                        <p:cTn id="17" dur="500"/>
                                        <p:tgtEl>
                                          <p:spTgt spid="56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69">
                                            <p:txEl>
                                              <p:pRg st="3" end="3"/>
                                            </p:txEl>
                                          </p:spTgt>
                                        </p:tgtEl>
                                        <p:attrNameLst>
                                          <p:attrName>style.visibility</p:attrName>
                                        </p:attrNameLst>
                                      </p:cBhvr>
                                      <p:to>
                                        <p:strVal val="visible"/>
                                      </p:to>
                                    </p:set>
                                    <p:animEffect transition="in" filter="fade">
                                      <p:cBhvr>
                                        <p:cTn id="22" dur="500"/>
                                        <p:tgtEl>
                                          <p:spTgt spid="56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69">
                                            <p:txEl>
                                              <p:pRg st="4" end="4"/>
                                            </p:txEl>
                                          </p:spTgt>
                                        </p:tgtEl>
                                        <p:attrNameLst>
                                          <p:attrName>style.visibility</p:attrName>
                                        </p:attrNameLst>
                                      </p:cBhvr>
                                      <p:to>
                                        <p:strVal val="visible"/>
                                      </p:to>
                                    </p:set>
                                    <p:animEffect transition="in" filter="fade">
                                      <p:cBhvr>
                                        <p:cTn id="27" dur="500"/>
                                        <p:tgtEl>
                                          <p:spTgt spid="56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70"/>
                                        </p:tgtEl>
                                        <p:attrNameLst>
                                          <p:attrName>style.visibility</p:attrName>
                                        </p:attrNameLst>
                                      </p:cBhvr>
                                      <p:to>
                                        <p:strVal val="visible"/>
                                      </p:to>
                                    </p:set>
                                    <p:animEffect transition="in" filter="fade">
                                      <p:cBhvr>
                                        <p:cTn id="32" dur="500"/>
                                        <p:tgtEl>
                                          <p:spTgt spid="5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66"/>
          <p:cNvSpPr txBox="1">
            <a:spLocks noGrp="1"/>
          </p:cNvSpPr>
          <p:nvPr>
            <p:ph type="title"/>
          </p:nvPr>
        </p:nvSpPr>
        <p:spPr>
          <a:xfrm>
            <a:off x="457200" y="228600"/>
            <a:ext cx="8229600" cy="9906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Validation</a:t>
            </a:r>
            <a:endParaRPr/>
          </a:p>
        </p:txBody>
      </p:sp>
      <p:sp>
        <p:nvSpPr>
          <p:cNvPr id="576" name="Google Shape;576;p66"/>
          <p:cNvSpPr txBox="1">
            <a:spLocks noGrp="1"/>
          </p:cNvSpPr>
          <p:nvPr>
            <p:ph type="body" idx="1"/>
          </p:nvPr>
        </p:nvSpPr>
        <p:spPr>
          <a:xfrm>
            <a:off x="457200" y="1295400"/>
            <a:ext cx="8229600" cy="50292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t>Naylor and Finger [1967] formulated a three-step approach to model validation that has been widely followed:</a:t>
            </a:r>
            <a:endParaRPr/>
          </a:p>
          <a:p>
            <a:pPr marL="640080" lvl="1" indent="-246888" algn="l" rtl="0">
              <a:spcBef>
                <a:spcPts val="480"/>
              </a:spcBef>
              <a:spcAft>
                <a:spcPts val="0"/>
              </a:spcAft>
              <a:buSzPts val="2040"/>
              <a:buChar char="⚫"/>
            </a:pPr>
            <a:r>
              <a:rPr lang="en-US"/>
              <a:t>Step 1. Build a model that has high face validity.</a:t>
            </a:r>
            <a:endParaRPr/>
          </a:p>
          <a:p>
            <a:pPr marL="640080" lvl="1" indent="-246888" algn="l" rtl="0">
              <a:spcBef>
                <a:spcPts val="480"/>
              </a:spcBef>
              <a:spcAft>
                <a:spcPts val="0"/>
              </a:spcAft>
              <a:buSzPts val="2040"/>
              <a:buChar char="⚫"/>
            </a:pPr>
            <a:r>
              <a:rPr lang="en-US"/>
              <a:t>Step 2. Validate model assumptions.</a:t>
            </a:r>
            <a:endParaRPr/>
          </a:p>
          <a:p>
            <a:pPr marL="640080" lvl="1" indent="-246888" algn="l" rtl="0">
              <a:spcBef>
                <a:spcPts val="480"/>
              </a:spcBef>
              <a:spcAft>
                <a:spcPts val="0"/>
              </a:spcAft>
              <a:buSzPts val="2040"/>
              <a:buChar char="⚫"/>
            </a:pPr>
            <a:r>
              <a:rPr lang="en-US"/>
              <a:t>Step 3. Compare the model input-output transformations to corresponding input-output transformations for the real system.</a:t>
            </a:r>
            <a:endParaRPr/>
          </a:p>
          <a:p>
            <a:pPr marL="274320" lvl="0" indent="-117475" algn="l" rtl="0">
              <a:spcBef>
                <a:spcPts val="520"/>
              </a:spcBef>
              <a:spcAft>
                <a:spcPts val="0"/>
              </a:spcAft>
              <a:buSzPts val="2470"/>
              <a:buNone/>
            </a:pPr>
            <a:endParaRPr/>
          </a:p>
        </p:txBody>
      </p:sp>
      <p:pic>
        <p:nvPicPr>
          <p:cNvPr id="577" name="Google Shape;577;p66" descr="val.jpg"/>
          <p:cNvPicPr preferRelativeResize="0"/>
          <p:nvPr/>
        </p:nvPicPr>
        <p:blipFill rotWithShape="1">
          <a:blip r:embed="rId3">
            <a:alphaModFix/>
          </a:blip>
          <a:srcRect/>
          <a:stretch/>
        </p:blipFill>
        <p:spPr>
          <a:xfrm>
            <a:off x="5410200" y="4495800"/>
            <a:ext cx="3486150" cy="13144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76">
                                            <p:txEl>
                                              <p:pRg st="0" end="0"/>
                                            </p:txEl>
                                          </p:spTgt>
                                        </p:tgtEl>
                                        <p:attrNameLst>
                                          <p:attrName>style.visibility</p:attrName>
                                        </p:attrNameLst>
                                      </p:cBhvr>
                                      <p:to>
                                        <p:strVal val="visible"/>
                                      </p:to>
                                    </p:set>
                                    <p:animEffect transition="in" filter="fade">
                                      <p:cBhvr>
                                        <p:cTn id="7" dur="500"/>
                                        <p:tgtEl>
                                          <p:spTgt spid="57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76">
                                            <p:txEl>
                                              <p:pRg st="1" end="1"/>
                                            </p:txEl>
                                          </p:spTgt>
                                        </p:tgtEl>
                                        <p:attrNameLst>
                                          <p:attrName>style.visibility</p:attrName>
                                        </p:attrNameLst>
                                      </p:cBhvr>
                                      <p:to>
                                        <p:strVal val="visible"/>
                                      </p:to>
                                    </p:set>
                                    <p:animEffect transition="in" filter="fade">
                                      <p:cBhvr>
                                        <p:cTn id="12" dur="500"/>
                                        <p:tgtEl>
                                          <p:spTgt spid="57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76">
                                            <p:txEl>
                                              <p:pRg st="2" end="2"/>
                                            </p:txEl>
                                          </p:spTgt>
                                        </p:tgtEl>
                                        <p:attrNameLst>
                                          <p:attrName>style.visibility</p:attrName>
                                        </p:attrNameLst>
                                      </p:cBhvr>
                                      <p:to>
                                        <p:strVal val="visible"/>
                                      </p:to>
                                    </p:set>
                                    <p:animEffect transition="in" filter="fade">
                                      <p:cBhvr>
                                        <p:cTn id="17" dur="500"/>
                                        <p:tgtEl>
                                          <p:spTgt spid="57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76">
                                            <p:txEl>
                                              <p:pRg st="3" end="3"/>
                                            </p:txEl>
                                          </p:spTgt>
                                        </p:tgtEl>
                                        <p:attrNameLst>
                                          <p:attrName>style.visibility</p:attrName>
                                        </p:attrNameLst>
                                      </p:cBhvr>
                                      <p:to>
                                        <p:strVal val="visible"/>
                                      </p:to>
                                    </p:set>
                                    <p:animEffect transition="in" filter="fade">
                                      <p:cBhvr>
                                        <p:cTn id="22" dur="500"/>
                                        <p:tgtEl>
                                          <p:spTgt spid="57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76">
                                            <p:txEl>
                                              <p:pRg st="4" end="4"/>
                                            </p:txEl>
                                          </p:spTgt>
                                        </p:tgtEl>
                                        <p:attrNameLst>
                                          <p:attrName>style.visibility</p:attrName>
                                        </p:attrNameLst>
                                      </p:cBhvr>
                                      <p:to>
                                        <p:strVal val="visible"/>
                                      </p:to>
                                    </p:set>
                                    <p:animEffect transition="in" filter="fade">
                                      <p:cBhvr>
                                        <p:cTn id="27" dur="500"/>
                                        <p:tgtEl>
                                          <p:spTgt spid="57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77"/>
                                        </p:tgtEl>
                                        <p:attrNameLst>
                                          <p:attrName>style.visibility</p:attrName>
                                        </p:attrNameLst>
                                      </p:cBhvr>
                                      <p:to>
                                        <p:strVal val="visible"/>
                                      </p:to>
                                    </p:set>
                                    <p:animEffect transition="in" filter="fade">
                                      <p:cBhvr>
                                        <p:cTn id="32" dur="500"/>
                                        <p:tgtEl>
                                          <p:spTgt spid="5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67"/>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Calibration</a:t>
            </a:r>
            <a:endParaRPr/>
          </a:p>
        </p:txBody>
      </p:sp>
      <p:sp>
        <p:nvSpPr>
          <p:cNvPr id="583" name="Google Shape;583;p67"/>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470"/>
              <a:buChar char="⚫"/>
            </a:pPr>
            <a:r>
              <a:rPr lang="en-US">
                <a:solidFill>
                  <a:srgbClr val="0C0C0C"/>
                </a:solidFill>
              </a:rPr>
              <a:t>Calibration in measurement technology and metrology is the comparison of measurement values delivered by a device under test with those of a calibration standard of known accuracy. </a:t>
            </a:r>
            <a:endParaRPr>
              <a:solidFill>
                <a:srgbClr val="0C0C0C"/>
              </a:solidFill>
            </a:endParaRPr>
          </a:p>
          <a:p>
            <a:pPr marL="274320" lvl="0" indent="-274320" algn="just" rtl="0">
              <a:spcBef>
                <a:spcPts val="520"/>
              </a:spcBef>
              <a:spcAft>
                <a:spcPts val="0"/>
              </a:spcAft>
              <a:buSzPts val="2470"/>
              <a:buChar char="⚫"/>
            </a:pPr>
            <a:r>
              <a:rPr lang="en-US">
                <a:solidFill>
                  <a:srgbClr val="0C0C0C"/>
                </a:solidFill>
              </a:rPr>
              <a:t>Such a standard could be another measurement device of known accuracy, a device generating the quantity to be measured such as a voltage, or a physical artefact, such as a meter ruler.</a:t>
            </a:r>
            <a:endParaRPr/>
          </a:p>
          <a:p>
            <a:pPr marL="274320" lvl="0" indent="-117475" algn="just" rtl="0">
              <a:spcBef>
                <a:spcPts val="520"/>
              </a:spcBef>
              <a:spcAft>
                <a:spcPts val="0"/>
              </a:spcAft>
              <a:buSzPts val="2470"/>
              <a:buNone/>
            </a:pPr>
            <a:endParaRPr>
              <a:solidFill>
                <a:srgbClr val="0C0C0C"/>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68"/>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589" name="Google Shape;589;p68"/>
          <p:cNvPicPr preferRelativeResize="0">
            <a:picLocks noGrp="1"/>
          </p:cNvPicPr>
          <p:nvPr>
            <p:ph type="body" idx="1"/>
          </p:nvPr>
        </p:nvPicPr>
        <p:blipFill rotWithShape="1">
          <a:blip r:embed="rId3">
            <a:alphaModFix/>
          </a:blip>
          <a:srcRect/>
          <a:stretch/>
        </p:blipFill>
        <p:spPr>
          <a:xfrm>
            <a:off x="347192" y="838200"/>
            <a:ext cx="8211219" cy="48768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69"/>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pic>
        <p:nvPicPr>
          <p:cNvPr id="595" name="Google Shape;595;p69" descr="iterative process of calibration.jpg"/>
          <p:cNvPicPr preferRelativeResize="0">
            <a:picLocks noGrp="1"/>
          </p:cNvPicPr>
          <p:nvPr>
            <p:ph type="body" idx="1"/>
          </p:nvPr>
        </p:nvPicPr>
        <p:blipFill rotWithShape="1">
          <a:blip r:embed="rId3">
            <a:alphaModFix/>
          </a:blip>
          <a:srcRect/>
          <a:stretch/>
        </p:blipFill>
        <p:spPr>
          <a:xfrm>
            <a:off x="449960" y="387864"/>
            <a:ext cx="8160640" cy="5936738"/>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70"/>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r>
              <a:rPr lang="en-US"/>
              <a:t>Assignment 1</a:t>
            </a:r>
            <a:endParaRPr/>
          </a:p>
        </p:txBody>
      </p:sp>
      <p:sp>
        <p:nvSpPr>
          <p:cNvPr id="601" name="Google Shape;601;p70"/>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fontScale="85000" lnSpcReduction="20000"/>
          </a:bodyPr>
          <a:lstStyle/>
          <a:p>
            <a:pPr marL="274320" lvl="0" indent="-274320" algn="l" rtl="0">
              <a:spcBef>
                <a:spcPts val="0"/>
              </a:spcBef>
              <a:spcAft>
                <a:spcPts val="0"/>
              </a:spcAft>
              <a:buSzPct val="95000"/>
              <a:buChar char="⚫"/>
            </a:pPr>
            <a:r>
              <a:rPr lang="en-US" sz="2800"/>
              <a:t>What is System? What are the basic component s of system? Explain with suitable example.</a:t>
            </a:r>
            <a:endParaRPr/>
          </a:p>
          <a:p>
            <a:pPr marL="274320" lvl="0" indent="-274320" algn="l" rtl="0">
              <a:spcBef>
                <a:spcPts val="476"/>
              </a:spcBef>
              <a:spcAft>
                <a:spcPts val="0"/>
              </a:spcAft>
              <a:buSzPct val="95000"/>
              <a:buChar char="⚫"/>
            </a:pPr>
            <a:r>
              <a:rPr lang="en-US" sz="2800"/>
              <a:t>What is System Modeling? Explain with reference of supermarket model.</a:t>
            </a:r>
            <a:endParaRPr/>
          </a:p>
          <a:p>
            <a:pPr marL="274320" lvl="0" indent="-274320" algn="l" rtl="0">
              <a:spcBef>
                <a:spcPts val="476"/>
              </a:spcBef>
              <a:spcAft>
                <a:spcPts val="0"/>
              </a:spcAft>
              <a:buSzPct val="95000"/>
              <a:buChar char="⚫"/>
            </a:pPr>
            <a:r>
              <a:rPr lang="en-US" sz="2800"/>
              <a:t>What is model? What are the types of model? Explain.</a:t>
            </a:r>
            <a:endParaRPr/>
          </a:p>
          <a:p>
            <a:pPr marL="274320" lvl="0" indent="-274320" algn="l" rtl="0">
              <a:spcBef>
                <a:spcPts val="476"/>
              </a:spcBef>
              <a:spcAft>
                <a:spcPts val="0"/>
              </a:spcAft>
              <a:buSzPct val="95000"/>
              <a:buChar char="⚫"/>
            </a:pPr>
            <a:r>
              <a:rPr lang="en-US" sz="2800"/>
              <a:t>What are the principles used in modeling? Explain.</a:t>
            </a:r>
            <a:endParaRPr/>
          </a:p>
          <a:p>
            <a:pPr marL="274320" lvl="0" indent="-274320" algn="l" rtl="0">
              <a:spcBef>
                <a:spcPts val="476"/>
              </a:spcBef>
              <a:spcAft>
                <a:spcPts val="0"/>
              </a:spcAft>
              <a:buSzPct val="95000"/>
              <a:buChar char="⚫"/>
            </a:pPr>
            <a:r>
              <a:rPr lang="en-US" sz="2800"/>
              <a:t>Name three or four on the principal entities, attribute and activities to be considered if you were to simulate the operation of </a:t>
            </a:r>
            <a:endParaRPr/>
          </a:p>
          <a:p>
            <a:pPr marL="640080" lvl="1" indent="-246888" algn="l" rtl="0">
              <a:spcBef>
                <a:spcPts val="408"/>
              </a:spcBef>
              <a:spcAft>
                <a:spcPts val="0"/>
              </a:spcAft>
              <a:buSzPct val="85000"/>
              <a:buChar char="⚫"/>
            </a:pPr>
            <a:r>
              <a:rPr lang="en-US"/>
              <a:t>A gasoline filling</a:t>
            </a:r>
            <a:endParaRPr/>
          </a:p>
          <a:p>
            <a:pPr marL="640080" lvl="1" indent="-246888" algn="l" rtl="0">
              <a:spcBef>
                <a:spcPts val="408"/>
              </a:spcBef>
              <a:spcAft>
                <a:spcPts val="0"/>
              </a:spcAft>
              <a:buSzPct val="85000"/>
              <a:buChar char="⚫"/>
            </a:pPr>
            <a:r>
              <a:rPr lang="en-US"/>
              <a:t>Cafeteria</a:t>
            </a:r>
            <a:endParaRPr/>
          </a:p>
          <a:p>
            <a:pPr marL="640080" lvl="1" indent="-246888" algn="l" rtl="0">
              <a:spcBef>
                <a:spcPts val="408"/>
              </a:spcBef>
              <a:spcAft>
                <a:spcPts val="0"/>
              </a:spcAft>
              <a:buSzPct val="85000"/>
              <a:buChar char="⚫"/>
            </a:pPr>
            <a:r>
              <a:rPr lang="en-US"/>
              <a:t>Barber shop</a:t>
            </a:r>
            <a:endParaRPr/>
          </a:p>
          <a:p>
            <a:pPr marL="640080" lvl="1" indent="-246888" algn="l" rtl="0">
              <a:spcBef>
                <a:spcPts val="408"/>
              </a:spcBef>
              <a:spcAft>
                <a:spcPts val="0"/>
              </a:spcAft>
              <a:buSzPct val="85000"/>
              <a:buChar char="⚫"/>
            </a:pPr>
            <a:r>
              <a:rPr lang="en-US"/>
              <a:t>College</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71"/>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607" name="Google Shape;607;p71"/>
          <p:cNvSpPr txBox="1">
            <a:spLocks noGrp="1"/>
          </p:cNvSpPr>
          <p:nvPr>
            <p:ph type="body" idx="1"/>
          </p:nvPr>
        </p:nvSpPr>
        <p:spPr>
          <a:xfrm>
            <a:off x="457200" y="1828800"/>
            <a:ext cx="8229600" cy="4648200"/>
          </a:xfrm>
          <a:prstGeom prst="rect">
            <a:avLst/>
          </a:prstGeom>
          <a:noFill/>
          <a:ln>
            <a:noFill/>
          </a:ln>
        </p:spPr>
        <p:txBody>
          <a:bodyPr spcFirstLastPara="1" wrap="square" lIns="91425" tIns="45700" rIns="91425" bIns="45700" anchor="t" anchorCtr="0">
            <a:normAutofit fontScale="92500"/>
          </a:bodyPr>
          <a:lstStyle/>
          <a:p>
            <a:pPr marL="274320" lvl="0" indent="-274320" algn="l" rtl="0">
              <a:spcBef>
                <a:spcPts val="0"/>
              </a:spcBef>
              <a:spcAft>
                <a:spcPts val="0"/>
              </a:spcAft>
              <a:buSzPct val="95000"/>
              <a:buChar char="⚫"/>
            </a:pPr>
            <a:r>
              <a:rPr lang="en-US" sz="2400"/>
              <a:t>In an automobile wheel suspension system, it is found that the shock absorber damping force is not strictly proportional to the velocity of the wheel. There is an additional force component equal to D2 times the acceleration of the wheel. Find the new condition for ensuring the  wheel does not oscillate.</a:t>
            </a:r>
            <a:endParaRPr/>
          </a:p>
          <a:p>
            <a:pPr marL="274320" lvl="0" indent="-274320" algn="l" rtl="0">
              <a:spcBef>
                <a:spcPts val="444"/>
              </a:spcBef>
              <a:spcAft>
                <a:spcPts val="0"/>
              </a:spcAft>
              <a:buSzPct val="95000"/>
              <a:buChar char="⚫"/>
            </a:pPr>
            <a:r>
              <a:rPr lang="en-US" sz="2400"/>
              <a:t>Derive the condition for non-oscillatory condition of automobile wheel. Assume necessary variables and condition as required.</a:t>
            </a:r>
            <a:endParaRPr/>
          </a:p>
          <a:p>
            <a:pPr marL="274320" lvl="0" indent="-274320" algn="l" rtl="0">
              <a:spcBef>
                <a:spcPts val="444"/>
              </a:spcBef>
              <a:spcAft>
                <a:spcPts val="0"/>
              </a:spcAft>
              <a:buSzPct val="95000"/>
              <a:buChar char="⚫"/>
            </a:pPr>
            <a:r>
              <a:rPr lang="en-US" sz="2400"/>
              <a:t>In the aircraft system, suppose the control surface angle y is made to be A times the error signal. The response of the aircraft to the control surface is found to be I. Find the necessary conditions under which the aircraft motion is oscillatory. [Page no. 19, Qno. 1.6]</a:t>
            </a:r>
            <a:endParaRPr/>
          </a:p>
          <a:p>
            <a:pPr marL="274320" lvl="0" indent="-274320" algn="l" rtl="0">
              <a:spcBef>
                <a:spcPts val="444"/>
              </a:spcBef>
              <a:spcAft>
                <a:spcPts val="0"/>
              </a:spcAft>
              <a:buSzPct val="95000"/>
              <a:buNone/>
            </a:pPr>
            <a:endParaRPr sz="2400"/>
          </a:p>
          <a:p>
            <a:pPr marL="274320" lvl="0" indent="-129238" algn="l" rtl="0">
              <a:spcBef>
                <a:spcPts val="481"/>
              </a:spcBef>
              <a:spcAft>
                <a:spcPts val="0"/>
              </a:spcAft>
              <a:buSzPct val="95000"/>
              <a:buNone/>
            </a:pPr>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72"/>
          <p:cNvSpPr txBox="1">
            <a:spLocks noGrp="1"/>
          </p:cNvSpPr>
          <p:nvPr>
            <p:ph type="title"/>
          </p:nvPr>
        </p:nvSpPr>
        <p:spPr>
          <a:xfrm>
            <a:off x="457200" y="704088"/>
            <a:ext cx="8229600" cy="1143000"/>
          </a:xfrm>
          <a:prstGeom prst="rect">
            <a:avLst/>
          </a:prstGeom>
          <a:noFill/>
          <a:ln>
            <a:noFill/>
          </a:ln>
        </p:spPr>
        <p:txBody>
          <a:bodyPr spcFirstLastPara="1" wrap="square" lIns="0" tIns="45700" rIns="0" bIns="0" anchor="b" anchorCtr="0">
            <a:normAutofit/>
          </a:bodyPr>
          <a:lstStyle/>
          <a:p>
            <a:pPr marL="0" lvl="0" indent="0" algn="l" rtl="0">
              <a:spcBef>
                <a:spcPts val="0"/>
              </a:spcBef>
              <a:spcAft>
                <a:spcPts val="0"/>
              </a:spcAft>
              <a:buClr>
                <a:schemeClr val="dk2"/>
              </a:buClr>
              <a:buSzPts val="5000"/>
              <a:buFont typeface="Calibri"/>
              <a:buNone/>
            </a:pPr>
            <a:endParaRPr/>
          </a:p>
        </p:txBody>
      </p:sp>
      <p:sp>
        <p:nvSpPr>
          <p:cNvPr id="613" name="Google Shape;613;p72"/>
          <p:cNvSpPr txBox="1">
            <a:spLocks noGrp="1"/>
          </p:cNvSpPr>
          <p:nvPr>
            <p:ph type="body" idx="1"/>
          </p:nvPr>
        </p:nvSpPr>
        <p:spPr>
          <a:xfrm>
            <a:off x="457200" y="1935480"/>
            <a:ext cx="8229600" cy="4389120"/>
          </a:xfrm>
          <a:prstGeom prst="rect">
            <a:avLst/>
          </a:prstGeom>
          <a:noFill/>
          <a:ln>
            <a:noFill/>
          </a:ln>
        </p:spPr>
        <p:txBody>
          <a:bodyPr spcFirstLastPara="1" wrap="square" lIns="91425" tIns="45700" rIns="91425" bIns="45700" anchor="t" anchorCtr="0">
            <a:normAutofit lnSpcReduction="10000"/>
          </a:bodyPr>
          <a:lstStyle/>
          <a:p>
            <a:pPr marL="274320" lvl="0" indent="-274320" algn="l" rtl="0">
              <a:spcBef>
                <a:spcPts val="0"/>
              </a:spcBef>
              <a:spcAft>
                <a:spcPts val="0"/>
              </a:spcAft>
              <a:buSzPts val="2660"/>
              <a:buChar char="⚫"/>
            </a:pPr>
            <a:r>
              <a:rPr lang="en-US" sz="2800"/>
              <a:t>Suppose the automobile body in the suspension system example in not stationary. Consider the body to have a mass of M1 and assume that its motion is determined by the force of gravity and the reaction with the suspension system. Construct a model for the motions of the wheel and body.</a:t>
            </a:r>
            <a:endParaRPr/>
          </a:p>
          <a:p>
            <a:pPr marL="274320" lvl="0" indent="-274320" algn="l" rtl="0">
              <a:spcBef>
                <a:spcPts val="560"/>
              </a:spcBef>
              <a:spcAft>
                <a:spcPts val="0"/>
              </a:spcAft>
              <a:buSzPts val="2660"/>
              <a:buChar char="⚫"/>
            </a:pPr>
            <a:r>
              <a:rPr lang="en-US" sz="2800"/>
              <a:t>Why is verification and validation required in simulation? Explain with suitable example.</a:t>
            </a:r>
            <a:endParaRPr/>
          </a:p>
          <a:p>
            <a:pPr marL="274320" lvl="0" indent="-274320" algn="l" rtl="0">
              <a:spcBef>
                <a:spcPts val="560"/>
              </a:spcBef>
              <a:spcAft>
                <a:spcPts val="0"/>
              </a:spcAft>
              <a:buSzPts val="2660"/>
              <a:buChar char="⚫"/>
            </a:pPr>
            <a:r>
              <a:rPr lang="en-US" sz="2800"/>
              <a:t>What are the steps of validation? Explain</a:t>
            </a:r>
            <a:endParaRPr/>
          </a:p>
        </p:txBody>
      </p:sp>
    </p:spTree>
  </p:cSld>
  <p:clrMapOvr>
    <a:masterClrMapping/>
  </p:clrMapOvr>
</p:sld>
</file>

<file path=ppt/theme/theme1.xml><?xml version="1.0" encoding="utf-8"?>
<a:theme xmlns:a="http://schemas.openxmlformats.org/drawingml/2006/main"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3498</Words>
  <Application>Microsoft Office PowerPoint</Application>
  <PresentationFormat>On-screen Show (4:3)</PresentationFormat>
  <Paragraphs>356</Paragraphs>
  <Slides>72</Slides>
  <Notes>72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72</vt:i4>
      </vt:variant>
    </vt:vector>
  </HeadingPairs>
  <TitlesOfParts>
    <vt:vector size="78" baseType="lpstr">
      <vt:lpstr>Constantia</vt:lpstr>
      <vt:lpstr>Arial</vt:lpstr>
      <vt:lpstr>Calibri</vt:lpstr>
      <vt:lpstr>Noto Sans Symbols</vt:lpstr>
      <vt:lpstr>Flow</vt:lpstr>
      <vt:lpstr>Flow</vt:lpstr>
      <vt:lpstr>     Evaluation and Course Introduction  On Simulation and Modeling</vt:lpstr>
      <vt:lpstr>Evaluation </vt:lpstr>
      <vt:lpstr>Simulation and Modeling (3-1-3) </vt:lpstr>
      <vt:lpstr>Simulation and Modeling (3-1-3)</vt:lpstr>
      <vt:lpstr>Syllabus</vt:lpstr>
      <vt:lpstr>Text Books and References</vt:lpstr>
      <vt:lpstr>PowerPoint Presentation</vt:lpstr>
      <vt:lpstr> Chapter 1  Introduction to Modeling and Simulation</vt:lpstr>
      <vt:lpstr>PowerPoint Presentation</vt:lpstr>
      <vt:lpstr>PowerPoint Presentation</vt:lpstr>
      <vt:lpstr>1.1 System Concept</vt:lpstr>
      <vt:lpstr>                              search</vt:lpstr>
      <vt:lpstr>Google Images</vt:lpstr>
      <vt:lpstr>                         video</vt:lpstr>
      <vt:lpstr>System cont..</vt:lpstr>
      <vt:lpstr>An Aircraft System</vt:lpstr>
      <vt:lpstr>TRON </vt:lpstr>
      <vt:lpstr>An Aircraft System cont...</vt:lpstr>
      <vt:lpstr>A factory System</vt:lpstr>
      <vt:lpstr>A factory System…</vt:lpstr>
      <vt:lpstr>Solar System-Assignment</vt:lpstr>
      <vt:lpstr>Components of a system</vt:lpstr>
      <vt:lpstr>Components of a system cont..</vt:lpstr>
      <vt:lpstr>State of the system</vt:lpstr>
      <vt:lpstr>Class Assignment Name any three systems with entities, attributes and activities</vt:lpstr>
      <vt:lpstr>System Environment</vt:lpstr>
      <vt:lpstr>Open and Closed System</vt:lpstr>
      <vt:lpstr>Deterministic vs.Stochastic Activities</vt:lpstr>
      <vt:lpstr>Continuous vs. Discrete system</vt:lpstr>
      <vt:lpstr>System Modeling</vt:lpstr>
      <vt:lpstr>Types of Model</vt:lpstr>
      <vt:lpstr>Types of Model..</vt:lpstr>
      <vt:lpstr>Types of Model…</vt:lpstr>
      <vt:lpstr>Types of Model..</vt:lpstr>
      <vt:lpstr>Types of Model..</vt:lpstr>
      <vt:lpstr>Types of Model..</vt:lpstr>
      <vt:lpstr>PowerPoint Presentation</vt:lpstr>
      <vt:lpstr>Types of Model..</vt:lpstr>
      <vt:lpstr>Types of Model..</vt:lpstr>
      <vt:lpstr>Types of Model..</vt:lpstr>
      <vt:lpstr>Types of Model..</vt:lpstr>
      <vt:lpstr>Types of Model..</vt:lpstr>
      <vt:lpstr>Types of Model..</vt:lpstr>
      <vt:lpstr>Types of Model..</vt:lpstr>
      <vt:lpstr>Assignment</vt:lpstr>
      <vt:lpstr>Types of Model..</vt:lpstr>
      <vt:lpstr>Types of Model..</vt:lpstr>
      <vt:lpstr>Types of Model..</vt:lpstr>
      <vt:lpstr>Types of Model..</vt:lpstr>
      <vt:lpstr>Types of Model..</vt:lpstr>
      <vt:lpstr>Types of Model..</vt:lpstr>
      <vt:lpstr>Principles used in modeling [BARA]</vt:lpstr>
      <vt:lpstr>Principles used in modeling</vt:lpstr>
      <vt:lpstr>Principles used in modeling..</vt:lpstr>
      <vt:lpstr>Principles used in modeling..</vt:lpstr>
      <vt:lpstr>Principles used in modeling…</vt:lpstr>
      <vt:lpstr>Application Areas of Simulation </vt:lpstr>
      <vt:lpstr>Application Areas of Simulation </vt:lpstr>
      <vt:lpstr>When to Simulate? </vt:lpstr>
      <vt:lpstr>When Simulation is not Appropriate  </vt:lpstr>
      <vt:lpstr>PowerPoint Presentation</vt:lpstr>
      <vt:lpstr>Verification and Validation of Model</vt:lpstr>
      <vt:lpstr>Verification </vt:lpstr>
      <vt:lpstr>Verification</vt:lpstr>
      <vt:lpstr>Validation </vt:lpstr>
      <vt:lpstr>Validation</vt:lpstr>
      <vt:lpstr>Calibration</vt:lpstr>
      <vt:lpstr>PowerPoint Presentation</vt:lpstr>
      <vt:lpstr>PowerPoint Presentation</vt:lpstr>
      <vt:lpstr>Assignment 1</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Evaluation and Course Introduction  On Simulation and Modeling</dc:title>
  <dc:creator>usre</dc:creator>
  <cp:lastModifiedBy>USER</cp:lastModifiedBy>
  <cp:revision>3</cp:revision>
  <dcterms:created xsi:type="dcterms:W3CDTF">2017-07-09T04:33:15Z</dcterms:created>
  <dcterms:modified xsi:type="dcterms:W3CDTF">2026-05-05T06:08:51Z</dcterms:modified>
</cp:coreProperties>
</file>