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7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9144000" cy="6858000" type="screen4x3"/>
  <p:notesSz cx="6858000" cy="9144000"/>
  <p:embeddedFontLst>
    <p:embeddedFont>
      <p:font typeface="Calibri" panose="020F0502020204030204" pitchFamily="34" charset="0"/>
      <p:regular r:id="rId71"/>
      <p:bold r:id="rId72"/>
      <p:italic r:id="rId73"/>
      <p:boldItalic r:id="rId74"/>
    </p:embeddedFont>
    <p:embeddedFont>
      <p:font typeface="Constantia" panose="02030602050306030303" pitchFamily="18"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h+lGzPsMJx/GY2+LNcO/n6NEEyF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4.fntdata"/><Relationship Id="rId79" Type="http://customschemas.google.com/relationships/presentationmetadata" Target="meta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2.fntdata"/><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6.fntdata"/><Relationship Id="rId7" Type="http://schemas.openxmlformats.org/officeDocument/2006/relationships/slide" Target="slides/slide5.xml"/><Relationship Id="rId71"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 name="Google Shape;11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515efc1930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515efc1930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3515efc1930_0_4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515efc1930_0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515efc1930_0_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3515efc1930_0_5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515efc1930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515efc1930_0_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3515efc1930_0_6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4eff1ae5c9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34eff1ae5c9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g34eff1ae5c9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4f6c1e7900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4f6c1e7900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34f6c1e7900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4f6c1e7900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34f6c1e7900_0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g34f6c1e7900_0_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4f6c1e7900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4f6c1e7900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g34f6c1e7900_0_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4f6c1e7900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4f6c1e7900_0_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g34f6c1e7900_0_3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4f6c1e7900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4f6c1e7900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g34f6c1e7900_0_4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4f6c1e7900_0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4f6c1e7900_0_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34f6c1e7900_0_5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4f6c1e7900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4f6c1e7900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g34f6c1e7900_0_6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4f6c1e7900_0_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4f6c1e7900_0_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g34f6c1e7900_0_7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4f6c1e7900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4f6c1e7900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g34f6c1e7900_0_8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4f6c1e7900_0_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4f6c1e7900_0_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g34f6c1e7900_0_7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4f6c1e7900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f6c1e7900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g34f6c1e7900_0_9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57d837fb4c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57d837fb4c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g357d837fb4c_0_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20"/>
        <p:cNvGrpSpPr/>
        <p:nvPr/>
      </p:nvGrpSpPr>
      <p:grpSpPr>
        <a:xfrm>
          <a:off x="0" y="0"/>
          <a:ext cx="0" cy="0"/>
          <a:chOff x="0" y="0"/>
          <a:chExt cx="0" cy="0"/>
        </a:xfrm>
      </p:grpSpPr>
      <p:sp>
        <p:nvSpPr>
          <p:cNvPr id="21" name="Google Shape;21;p55"/>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55"/>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3" name="Google Shape;23;p5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
        <p:cNvGrpSpPr/>
        <p:nvPr/>
      </p:nvGrpSpPr>
      <p:grpSpPr>
        <a:xfrm>
          <a:off x="0" y="0"/>
          <a:ext cx="0" cy="0"/>
          <a:chOff x="0" y="0"/>
          <a:chExt cx="0" cy="0"/>
        </a:xfrm>
      </p:grpSpPr>
      <p:sp>
        <p:nvSpPr>
          <p:cNvPr id="38" name="Google Shape;38;p5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5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3"/>
        <p:cNvGrpSpPr/>
        <p:nvPr/>
      </p:nvGrpSpPr>
      <p:grpSpPr>
        <a:xfrm>
          <a:off x="0" y="0"/>
          <a:ext cx="0" cy="0"/>
          <a:chOff x="0" y="0"/>
          <a:chExt cx="0" cy="0"/>
        </a:xfrm>
      </p:grpSpPr>
      <p:sp>
        <p:nvSpPr>
          <p:cNvPr id="44" name="Google Shape;44;p54"/>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4"/>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6" name="Google Shape;46;p5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9"/>
        <p:cNvGrpSpPr/>
        <p:nvPr/>
      </p:nvGrpSpPr>
      <p:grpSpPr>
        <a:xfrm>
          <a:off x="0" y="0"/>
          <a:ext cx="0" cy="0"/>
          <a:chOff x="0" y="0"/>
          <a:chExt cx="0" cy="0"/>
        </a:xfrm>
      </p:grpSpPr>
      <p:sp>
        <p:nvSpPr>
          <p:cNvPr id="50" name="Google Shape;50;p57"/>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7"/>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2" name="Google Shape;52;p5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5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8"/>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8" name="Google Shape;58;p58"/>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9" name="Google Shape;59;p5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5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9"/>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5" name="Google Shape;65;p59"/>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6" name="Google Shape;66;p59"/>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7" name="Google Shape;67;p59"/>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8" name="Google Shape;68;p5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60"/>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6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6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62"/>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62"/>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3" name="Google Shape;83;p62"/>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4" name="Google Shape;84;p6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7"/>
        <p:cNvGrpSpPr/>
        <p:nvPr/>
      </p:nvGrpSpPr>
      <p:grpSpPr>
        <a:xfrm>
          <a:off x="0" y="0"/>
          <a:ext cx="0" cy="0"/>
          <a:chOff x="0" y="0"/>
          <a:chExt cx="0" cy="0"/>
        </a:xfrm>
      </p:grpSpPr>
      <p:sp>
        <p:nvSpPr>
          <p:cNvPr id="88" name="Google Shape;88;p63"/>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9" name="Google Shape;89;p63"/>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90" name="Google Shape;90;p63"/>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63"/>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6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6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63"/>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63"/>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96" name="Google Shape;96;p63"/>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97" name="Google Shape;97;p63"/>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6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64"/>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1" name="Google Shape;101;p6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6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65"/>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65"/>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7" name="Google Shape;107;p6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6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6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alphaModFix/>
          </a:blip>
          <a:tile tx="0" ty="0" sx="65000" sy="65000" flip="none" algn="tl"/>
        </a:blipFill>
        <a:effectLst/>
      </p:bgPr>
    </p:bg>
    <p:spTree>
      <p:nvGrpSpPr>
        <p:cNvPr id="1" name="Shape 9"/>
        <p:cNvGrpSpPr/>
        <p:nvPr/>
      </p:nvGrpSpPr>
      <p:grpSpPr>
        <a:xfrm>
          <a:off x="0" y="0"/>
          <a:ext cx="0" cy="0"/>
          <a:chOff x="0" y="0"/>
          <a:chExt cx="0" cy="0"/>
        </a:xfrm>
      </p:grpSpPr>
      <p:sp>
        <p:nvSpPr>
          <p:cNvPr id="10" name="Google Shape;10;p53"/>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1" name="Google Shape;11;p53"/>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2" name="Google Shape;12;p5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lt2"/>
              </a:buClr>
              <a:buSzPts val="5000"/>
              <a:buFont typeface="Calibri"/>
              <a:buNone/>
              <a:defRPr sz="50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5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lt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lt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lt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lt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lt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lt1"/>
                </a:solidFill>
                <a:latin typeface="Constantia"/>
                <a:ea typeface="Constantia"/>
                <a:cs typeface="Constantia"/>
                <a:sym typeface="Constantia"/>
              </a:defRPr>
            </a:lvl7pPr>
            <a:lvl8pPr marL="3657600" marR="0" lvl="7" indent="-330200" algn="l" rtl="0">
              <a:spcBef>
                <a:spcPts val="320"/>
              </a:spcBef>
              <a:spcAft>
                <a:spcPts val="0"/>
              </a:spcAft>
              <a:buClr>
                <a:schemeClr val="lt2"/>
              </a:buClr>
              <a:buSzPts val="1600"/>
              <a:buFont typeface="Constantia"/>
              <a:buChar char="•"/>
              <a:defRPr sz="1600" b="0" i="0" u="none" strike="noStrike" cap="none">
                <a:solidFill>
                  <a:schemeClr val="lt1"/>
                </a:solidFill>
                <a:latin typeface="Constantia"/>
                <a:ea typeface="Constantia"/>
                <a:cs typeface="Constantia"/>
                <a:sym typeface="Constantia"/>
              </a:defRPr>
            </a:lvl8pPr>
            <a:lvl9pPr marL="4114800" marR="0" lvl="8" indent="-317500" algn="l" rtl="0">
              <a:spcBef>
                <a:spcPts val="280"/>
              </a:spcBef>
              <a:spcAft>
                <a:spcPts val="0"/>
              </a:spcAft>
              <a:buClr>
                <a:schemeClr val="lt2"/>
              </a:buClr>
              <a:buSzPts val="1400"/>
              <a:buFont typeface="Constantia"/>
              <a:buChar char="•"/>
              <a:defRPr sz="1400" b="0" i="0" u="none" strike="noStrike" cap="none">
                <a:solidFill>
                  <a:schemeClr val="lt1"/>
                </a:solidFill>
                <a:latin typeface="Constantia"/>
                <a:ea typeface="Constantia"/>
                <a:cs typeface="Constantia"/>
                <a:sym typeface="Constantia"/>
              </a:defRPr>
            </a:lvl9pPr>
          </a:lstStyle>
          <a:p>
            <a:endParaRPr/>
          </a:p>
        </p:txBody>
      </p:sp>
      <p:sp>
        <p:nvSpPr>
          <p:cNvPr id="14" name="Google Shape;14;p5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5" name="Google Shape;15;p5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6" name="Google Shape;16;p5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D0E9ED"/>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D0E9ED"/>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D0E9ED"/>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D0E9ED"/>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D0E9ED"/>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D0E9ED"/>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D0E9ED"/>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D0E9ED"/>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D0E9ED"/>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17" name="Google Shape;17;p53"/>
          <p:cNvGrpSpPr/>
          <p:nvPr/>
        </p:nvGrpSpPr>
        <p:grpSpPr>
          <a:xfrm>
            <a:off x="-29294" y="-16113"/>
            <a:ext cx="9198255" cy="1086266"/>
            <a:chOff x="-29322" y="-1971"/>
            <a:chExt cx="9198255" cy="1086266"/>
          </a:xfrm>
        </p:grpSpPr>
        <p:sp>
          <p:nvSpPr>
            <p:cNvPr id="18" name="Google Shape;18;p53"/>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19" name="Google Shape;19;p53"/>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65000" sy="65000" flip="none" algn="tl"/>
        </a:blipFill>
        <a:effectLst/>
      </p:bgPr>
    </p:bg>
    <p:spTree>
      <p:nvGrpSpPr>
        <p:cNvPr id="1" name="Shape 26"/>
        <p:cNvGrpSpPr/>
        <p:nvPr/>
      </p:nvGrpSpPr>
      <p:grpSpPr>
        <a:xfrm>
          <a:off x="0" y="0"/>
          <a:ext cx="0" cy="0"/>
          <a:chOff x="0" y="0"/>
          <a:chExt cx="0" cy="0"/>
        </a:xfrm>
      </p:grpSpPr>
      <p:sp>
        <p:nvSpPr>
          <p:cNvPr id="27" name="Google Shape;27;p52"/>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8" name="Google Shape;28;p52"/>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9" name="Google Shape;29;p5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 name="Google Shape;30;p5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31" name="Google Shape;31;p5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2" name="Google Shape;32;p5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3" name="Google Shape;33;p5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u="none">
                <a:solidFill>
                  <a:srgbClr val="035C75"/>
                </a:solidFill>
                <a:latin typeface="Constantia"/>
                <a:ea typeface="Constantia"/>
                <a:cs typeface="Constantia"/>
                <a:sym typeface="Constantia"/>
              </a:defRPr>
            </a:lvl1pPr>
            <a:lvl2pPr marL="0" marR="0" lvl="1" indent="0" algn="r" rtl="0">
              <a:spcBef>
                <a:spcPts val="0"/>
              </a:spcBef>
              <a:buNone/>
              <a:defRPr sz="1200" b="0" u="none">
                <a:solidFill>
                  <a:srgbClr val="035C75"/>
                </a:solidFill>
                <a:latin typeface="Constantia"/>
                <a:ea typeface="Constantia"/>
                <a:cs typeface="Constantia"/>
                <a:sym typeface="Constantia"/>
              </a:defRPr>
            </a:lvl2pPr>
            <a:lvl3pPr marL="0" marR="0" lvl="2" indent="0" algn="r" rtl="0">
              <a:spcBef>
                <a:spcPts val="0"/>
              </a:spcBef>
              <a:buNone/>
              <a:defRPr sz="1200" b="0" u="none">
                <a:solidFill>
                  <a:srgbClr val="035C75"/>
                </a:solidFill>
                <a:latin typeface="Constantia"/>
                <a:ea typeface="Constantia"/>
                <a:cs typeface="Constantia"/>
                <a:sym typeface="Constantia"/>
              </a:defRPr>
            </a:lvl3pPr>
            <a:lvl4pPr marL="0" marR="0" lvl="3" indent="0" algn="r" rtl="0">
              <a:spcBef>
                <a:spcPts val="0"/>
              </a:spcBef>
              <a:buNone/>
              <a:defRPr sz="1200" b="0" u="none">
                <a:solidFill>
                  <a:srgbClr val="035C75"/>
                </a:solidFill>
                <a:latin typeface="Constantia"/>
                <a:ea typeface="Constantia"/>
                <a:cs typeface="Constantia"/>
                <a:sym typeface="Constantia"/>
              </a:defRPr>
            </a:lvl4pPr>
            <a:lvl5pPr marL="0" marR="0" lvl="4" indent="0" algn="r" rtl="0">
              <a:spcBef>
                <a:spcPts val="0"/>
              </a:spcBef>
              <a:buNone/>
              <a:defRPr sz="1200" b="0" u="none">
                <a:solidFill>
                  <a:srgbClr val="035C75"/>
                </a:solidFill>
                <a:latin typeface="Constantia"/>
                <a:ea typeface="Constantia"/>
                <a:cs typeface="Constantia"/>
                <a:sym typeface="Constantia"/>
              </a:defRPr>
            </a:lvl5pPr>
            <a:lvl6pPr marL="0" marR="0" lvl="5" indent="0" algn="r" rtl="0">
              <a:spcBef>
                <a:spcPts val="0"/>
              </a:spcBef>
              <a:buNone/>
              <a:defRPr sz="1200" b="0" u="none">
                <a:solidFill>
                  <a:srgbClr val="035C75"/>
                </a:solidFill>
                <a:latin typeface="Constantia"/>
                <a:ea typeface="Constantia"/>
                <a:cs typeface="Constantia"/>
                <a:sym typeface="Constantia"/>
              </a:defRPr>
            </a:lvl6pPr>
            <a:lvl7pPr marL="0" marR="0" lvl="6" indent="0" algn="r" rtl="0">
              <a:spcBef>
                <a:spcPts val="0"/>
              </a:spcBef>
              <a:buNone/>
              <a:defRPr sz="1200" b="0" u="none">
                <a:solidFill>
                  <a:srgbClr val="035C75"/>
                </a:solidFill>
                <a:latin typeface="Constantia"/>
                <a:ea typeface="Constantia"/>
                <a:cs typeface="Constantia"/>
                <a:sym typeface="Constantia"/>
              </a:defRPr>
            </a:lvl7pPr>
            <a:lvl8pPr marL="0" marR="0" lvl="7" indent="0" algn="r" rtl="0">
              <a:spcBef>
                <a:spcPts val="0"/>
              </a:spcBef>
              <a:buNone/>
              <a:defRPr sz="1200" b="0" u="none">
                <a:solidFill>
                  <a:srgbClr val="035C75"/>
                </a:solidFill>
                <a:latin typeface="Constantia"/>
                <a:ea typeface="Constantia"/>
                <a:cs typeface="Constantia"/>
                <a:sym typeface="Constantia"/>
              </a:defRPr>
            </a:lvl8pPr>
            <a:lvl9pPr marL="0" marR="0" lvl="8" indent="0" algn="r" rtl="0">
              <a:spcBef>
                <a:spcPts val="0"/>
              </a:spcBef>
              <a:buNone/>
              <a:defRPr sz="1200" b="0" u="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34" name="Google Shape;34;p52"/>
          <p:cNvGrpSpPr/>
          <p:nvPr/>
        </p:nvGrpSpPr>
        <p:grpSpPr>
          <a:xfrm>
            <a:off x="-29294" y="-16113"/>
            <a:ext cx="9198255" cy="1086266"/>
            <a:chOff x="-29322" y="-1971"/>
            <a:chExt cx="9198255" cy="1086266"/>
          </a:xfrm>
        </p:grpSpPr>
        <p:sp>
          <p:nvSpPr>
            <p:cNvPr id="35" name="Google Shape;35;p52"/>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36" name="Google Shape;36;p52"/>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4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5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drive.google.com/file/d/1_7r6JMCiOuo3ozd6gm4g3_si5xrOHdBK/view?usp=drive_link"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fontScale="90000"/>
          </a:bodyPr>
          <a:lstStyle/>
          <a:p>
            <a:pPr marL="0" lvl="0" indent="0" algn="r" rtl="0">
              <a:spcBef>
                <a:spcPts val="0"/>
              </a:spcBef>
              <a:spcAft>
                <a:spcPts val="0"/>
              </a:spcAft>
              <a:buClr>
                <a:srgbClr val="4CE0EA"/>
              </a:buClr>
              <a:buSzPct val="100000"/>
              <a:buFont typeface="Calibri"/>
              <a:buNone/>
            </a:pPr>
            <a:r>
              <a:rPr lang="en-US"/>
              <a:t>Chapter 5</a:t>
            </a:r>
            <a:br>
              <a:rPr lang="en-US"/>
            </a:br>
            <a:r>
              <a:rPr lang="en-US" u="sng"/>
              <a:t>Probability Concept and Random Number Generation</a:t>
            </a:r>
            <a:endParaRPr/>
          </a:p>
        </p:txBody>
      </p:sp>
      <p:sp>
        <p:nvSpPr>
          <p:cNvPr id="115" name="Google Shape;115;p1"/>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p>
            <a:pPr marL="0" marR="45720" lvl="0" indent="0" algn="r" rtl="0">
              <a:spcBef>
                <a:spcPts val="481"/>
              </a:spcBef>
              <a:spcAft>
                <a:spcPts val="0"/>
              </a:spcAft>
              <a:buSzPct val="95000"/>
              <a:buNone/>
            </a:pPr>
            <a:r>
              <a:rPr lang="en-US" smtClean="0"/>
              <a:t>Department </a:t>
            </a:r>
            <a:r>
              <a:rPr lang="en-US" dirty="0"/>
              <a:t>of Computer Science and Engineering</a:t>
            </a:r>
            <a:endParaRPr dirty="0"/>
          </a:p>
          <a:p>
            <a:pPr marL="0" marR="45720" lvl="0" indent="0" algn="r" rtl="0">
              <a:spcBef>
                <a:spcPts val="481"/>
              </a:spcBef>
              <a:spcAft>
                <a:spcPts val="0"/>
              </a:spcAft>
              <a:buSzPct val="95000"/>
              <a:buNone/>
            </a:pPr>
            <a:r>
              <a:rPr lang="en-US" dirty="0"/>
              <a:t>Nepal Engineering College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457200" y="304800"/>
            <a:ext cx="8229600" cy="959643"/>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u="sng"/>
              <a:t>Probability Concept</a:t>
            </a:r>
            <a:endParaRPr/>
          </a:p>
        </p:txBody>
      </p:sp>
      <p:sp>
        <p:nvSpPr>
          <p:cNvPr id="121" name="Google Shape;121;p2"/>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STOCHASTIC VARIABLES:</a:t>
            </a:r>
            <a:endParaRPr/>
          </a:p>
          <a:p>
            <a:pPr marL="640080" lvl="1" indent="-246888" algn="l" rtl="0">
              <a:spcBef>
                <a:spcPts val="480"/>
              </a:spcBef>
              <a:spcAft>
                <a:spcPts val="0"/>
              </a:spcAft>
              <a:buSzPts val="2040"/>
              <a:buChar char="⚫"/>
            </a:pPr>
            <a:r>
              <a:rPr lang="en-US"/>
              <a:t>The variable which is random in nature is called stochastic variables.</a:t>
            </a:r>
            <a:endParaRPr/>
          </a:p>
          <a:p>
            <a:pPr marL="274320" lvl="0" indent="-274320" algn="l" rtl="0">
              <a:spcBef>
                <a:spcPts val="520"/>
              </a:spcBef>
              <a:spcAft>
                <a:spcPts val="0"/>
              </a:spcAft>
              <a:buSzPts val="2470"/>
              <a:buChar char="⚫"/>
            </a:pPr>
            <a:r>
              <a:rPr lang="en-US" u="sng"/>
              <a:t>Ex:</a:t>
            </a:r>
            <a:r>
              <a:rPr lang="en-US"/>
              <a:t>  Tossing of a coin, Rolling of dice</a:t>
            </a:r>
            <a:endParaRPr/>
          </a:p>
          <a:p>
            <a:pPr marL="274320" lvl="0" indent="-274320" algn="l" rtl="0">
              <a:spcBef>
                <a:spcPts val="520"/>
              </a:spcBef>
              <a:spcAft>
                <a:spcPts val="0"/>
              </a:spcAft>
              <a:buSzPts val="2470"/>
              <a:buChar char="⚫"/>
            </a:pPr>
            <a:r>
              <a:rPr lang="en-US" b="1"/>
              <a:t>STOCHASTIC PROCESS</a:t>
            </a:r>
            <a:endParaRPr/>
          </a:p>
          <a:p>
            <a:pPr marL="640080" lvl="1" indent="-246888" algn="l" rtl="0">
              <a:spcBef>
                <a:spcPts val="480"/>
              </a:spcBef>
              <a:spcAft>
                <a:spcPts val="0"/>
              </a:spcAft>
              <a:buSzPts val="2040"/>
              <a:buChar char="⚫"/>
            </a:pPr>
            <a:r>
              <a:rPr lang="en-US"/>
              <a:t>A stochastic process is a method that generates random output.</a:t>
            </a:r>
            <a:endParaRPr/>
          </a:p>
          <a:p>
            <a:pPr marL="640080" lvl="1" indent="-246888" algn="l" rtl="0">
              <a:spcBef>
                <a:spcPts val="480"/>
              </a:spcBef>
              <a:spcAft>
                <a:spcPts val="0"/>
              </a:spcAft>
              <a:buSzPts val="2040"/>
              <a:buChar char="⚫"/>
            </a:pPr>
            <a:r>
              <a:rPr lang="en-US"/>
              <a:t>It is also defined as an order set of random variables.</a:t>
            </a:r>
            <a:endParaRPr/>
          </a:p>
          <a:p>
            <a:pPr marL="640080" lvl="1" indent="-246888" algn="l" rtl="0">
              <a:spcBef>
                <a:spcPts val="480"/>
              </a:spcBef>
              <a:spcAft>
                <a:spcPts val="0"/>
              </a:spcAft>
              <a:buSzPts val="2040"/>
              <a:buChar char="⚫"/>
            </a:pPr>
            <a:r>
              <a:rPr lang="en-US"/>
              <a:t>The ordering of a set usually being with respect to time.</a:t>
            </a:r>
            <a:endParaRPr/>
          </a:p>
          <a:p>
            <a:pPr marL="640080" lvl="1" indent="-246888" algn="l" rtl="0">
              <a:spcBef>
                <a:spcPts val="480"/>
              </a:spcBef>
              <a:spcAft>
                <a:spcPts val="0"/>
              </a:spcAft>
              <a:buSzPts val="2040"/>
              <a:buChar char="⚫"/>
            </a:pPr>
            <a:r>
              <a:rPr lang="en-US"/>
              <a:t>Stochastic activities are those activities where the output is random. </a:t>
            </a:r>
            <a:endParaRPr/>
          </a:p>
          <a:p>
            <a:pPr marL="274320" lvl="0" indent="-117475" algn="l" rtl="0">
              <a:spcBef>
                <a:spcPts val="520"/>
              </a:spcBef>
              <a:spcAft>
                <a:spcPts val="0"/>
              </a:spcAft>
              <a:buSzPts val="2470"/>
              <a:buNone/>
            </a:pPr>
            <a:endParaRPr/>
          </a:p>
        </p:txBody>
      </p:sp>
      <p:pic>
        <p:nvPicPr>
          <p:cNvPr id="122" name="Google Shape;122;p2"/>
          <p:cNvPicPr preferRelativeResize="0"/>
          <p:nvPr/>
        </p:nvPicPr>
        <p:blipFill rotWithShape="1">
          <a:blip r:embed="rId3">
            <a:alphaModFix/>
          </a:blip>
          <a:srcRect/>
          <a:stretch/>
        </p:blipFill>
        <p:spPr>
          <a:xfrm>
            <a:off x="6777446" y="152400"/>
            <a:ext cx="2224087" cy="22240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457200" y="228600"/>
            <a:ext cx="8229600" cy="9144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u="sng"/>
              <a:t>Probability Concept..</a:t>
            </a:r>
            <a:endParaRPr/>
          </a:p>
        </p:txBody>
      </p:sp>
      <p:sp>
        <p:nvSpPr>
          <p:cNvPr id="128" name="Google Shape;128;p3"/>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DISCRETE PROBABILITY FUNCTIONS </a:t>
            </a:r>
            <a:endParaRPr/>
          </a:p>
          <a:p>
            <a:pPr marL="640080" lvl="1" indent="-246888" algn="l" rtl="0">
              <a:spcBef>
                <a:spcPts val="480"/>
              </a:spcBef>
              <a:spcAft>
                <a:spcPts val="0"/>
              </a:spcAft>
              <a:buSzPts val="2040"/>
              <a:buChar char="⚫"/>
            </a:pPr>
            <a:r>
              <a:rPr lang="en-US"/>
              <a:t>It is represented by a probability mass function(PMF).If a stochastic variable can take I different values xi for (i=1,2,3,4,5,…….I)and the probability of the value xi being taken as P(xi) i.e. xi → P(xi) ,the set of numbers P(xi) is said to be PMF and </a:t>
            </a:r>
            <a:endParaRPr/>
          </a:p>
        </p:txBody>
      </p:sp>
      <p:pic>
        <p:nvPicPr>
          <p:cNvPr id="129" name="Google Shape;129;p3" descr="dpf.PNG"/>
          <p:cNvPicPr preferRelativeResize="0"/>
          <p:nvPr/>
        </p:nvPicPr>
        <p:blipFill rotWithShape="1">
          <a:blip r:embed="rId3">
            <a:alphaModFix/>
          </a:blip>
          <a:srcRect/>
          <a:stretch/>
        </p:blipFill>
        <p:spPr>
          <a:xfrm>
            <a:off x="1752600" y="4495800"/>
            <a:ext cx="3414886"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u="sng"/>
              <a:t>Probability Concept..</a:t>
            </a:r>
            <a:endParaRPr/>
          </a:p>
        </p:txBody>
      </p:sp>
      <p:sp>
        <p:nvSpPr>
          <p:cNvPr id="135" name="Google Shape;135;p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A cumulative distribution function is defined as a function that gives the probability of a random variable being less than or, equal to a given value. It can increased to a maximum of 1.</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136" name="Google Shape;136;p4"/>
          <p:cNvPicPr preferRelativeResize="0"/>
          <p:nvPr/>
        </p:nvPicPr>
        <p:blipFill rotWithShape="1">
          <a:blip r:embed="rId3">
            <a:alphaModFix/>
          </a:blip>
          <a:srcRect/>
          <a:stretch/>
        </p:blipFill>
        <p:spPr>
          <a:xfrm>
            <a:off x="4876800" y="3732688"/>
            <a:ext cx="4038600" cy="27120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Effect transition="in" filter="fade">
                                      <p:cBhvr>
                                        <p:cTn id="7" dur="500"/>
                                        <p:tgtEl>
                                          <p:spTgt spid="1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
                                            <p:txEl>
                                              <p:pRg st="1" end="1"/>
                                            </p:txEl>
                                          </p:spTgt>
                                        </p:tgtEl>
                                        <p:attrNameLst>
                                          <p:attrName>style.visibility</p:attrName>
                                        </p:attrNameLst>
                                      </p:cBhvr>
                                      <p:to>
                                        <p:strVal val="visible"/>
                                      </p:to>
                                    </p:set>
                                    <p:animEffect transition="in" filter="fade">
                                      <p:cBhvr>
                                        <p:cTn id="12" dur="500"/>
                                        <p:tgtEl>
                                          <p:spTgt spid="1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5">
                                            <p:txEl>
                                              <p:pRg st="2" end="2"/>
                                            </p:txEl>
                                          </p:spTgt>
                                        </p:tgtEl>
                                        <p:attrNameLst>
                                          <p:attrName>style.visibility</p:attrName>
                                        </p:attrNameLst>
                                      </p:cBhvr>
                                      <p:to>
                                        <p:strVal val="visible"/>
                                      </p:to>
                                    </p:set>
                                    <p:animEffect transition="in" filter="fade">
                                      <p:cBhvr>
                                        <p:cTn id="17" dur="500"/>
                                        <p:tgtEl>
                                          <p:spTgt spid="1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5">
                                            <p:txEl>
                                              <p:pRg st="3" end="3"/>
                                            </p:txEl>
                                          </p:spTgt>
                                        </p:tgtEl>
                                        <p:attrNameLst>
                                          <p:attrName>style.visibility</p:attrName>
                                        </p:attrNameLst>
                                      </p:cBhvr>
                                      <p:to>
                                        <p:strVal val="visible"/>
                                      </p:to>
                                    </p:set>
                                    <p:animEffect transition="in" filter="fade">
                                      <p:cBhvr>
                                        <p:cTn id="22" dur="500"/>
                                        <p:tgtEl>
                                          <p:spTgt spid="1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5">
                                            <p:txEl>
                                              <p:pRg st="4" end="4"/>
                                            </p:txEl>
                                          </p:spTgt>
                                        </p:tgtEl>
                                        <p:attrNameLst>
                                          <p:attrName>style.visibility</p:attrName>
                                        </p:attrNameLst>
                                      </p:cBhvr>
                                      <p:to>
                                        <p:strVal val="visible"/>
                                      </p:to>
                                    </p:set>
                                    <p:animEffect transition="in" filter="fade">
                                      <p:cBhvr>
                                        <p:cTn id="27" dur="500"/>
                                        <p:tgtEl>
                                          <p:spTgt spid="1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6"/>
                                        </p:tgtEl>
                                        <p:attrNameLst>
                                          <p:attrName>style.visibility</p:attrName>
                                        </p:attrNameLst>
                                      </p:cBhvr>
                                      <p:to>
                                        <p:strVal val="visible"/>
                                      </p:to>
                                    </p:set>
                                    <p:animEffect transition="in" filter="fade">
                                      <p:cBhvr>
                                        <p:cTn id="32"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42" name="Google Shape;142;p5" descr="ex.PNG"/>
          <p:cNvPicPr preferRelativeResize="0">
            <a:picLocks noGrp="1"/>
          </p:cNvPicPr>
          <p:nvPr>
            <p:ph type="body" idx="1"/>
          </p:nvPr>
        </p:nvPicPr>
        <p:blipFill rotWithShape="1">
          <a:blip r:embed="rId3">
            <a:alphaModFix/>
          </a:blip>
          <a:srcRect/>
          <a:stretch/>
        </p:blipFill>
        <p:spPr>
          <a:xfrm>
            <a:off x="433042" y="457200"/>
            <a:ext cx="8497784" cy="609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457200"/>
            <a:ext cx="8229600" cy="1905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GRAPHICAL REPRESENTATION OF PROBABILITY MASS FUNCTION</a:t>
            </a:r>
            <a:br>
              <a:rPr lang="en-US"/>
            </a:br>
            <a:endParaRPr/>
          </a:p>
        </p:txBody>
      </p:sp>
      <p:pic>
        <p:nvPicPr>
          <p:cNvPr id="148" name="Google Shape;148;p6" descr="mpf.PNG"/>
          <p:cNvPicPr preferRelativeResize="0">
            <a:picLocks noGrp="1"/>
          </p:cNvPicPr>
          <p:nvPr>
            <p:ph type="body" idx="1"/>
          </p:nvPr>
        </p:nvPicPr>
        <p:blipFill rotWithShape="1">
          <a:blip r:embed="rId3">
            <a:alphaModFix/>
          </a:blip>
          <a:srcRect/>
          <a:stretch/>
        </p:blipFill>
        <p:spPr>
          <a:xfrm>
            <a:off x="3429000" y="381000"/>
            <a:ext cx="5241056" cy="60458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7"/>
          <p:cNvSpPr txBox="1">
            <a:spLocks noGrp="1"/>
          </p:cNvSpPr>
          <p:nvPr>
            <p:ph type="title"/>
          </p:nvPr>
        </p:nvSpPr>
        <p:spPr>
          <a:xfrm>
            <a:off x="457200" y="704088"/>
            <a:ext cx="8229600" cy="8961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CONTINUOUS PROBABILITY FUNCTION</a:t>
            </a:r>
            <a:endParaRPr/>
          </a:p>
        </p:txBody>
      </p:sp>
      <p:pic>
        <p:nvPicPr>
          <p:cNvPr id="154" name="Google Shape;154;p7" descr="cpf.PNG"/>
          <p:cNvPicPr preferRelativeResize="0">
            <a:picLocks noGrp="1"/>
          </p:cNvPicPr>
          <p:nvPr>
            <p:ph type="body" idx="1"/>
          </p:nvPr>
        </p:nvPicPr>
        <p:blipFill rotWithShape="1">
          <a:blip r:embed="rId3">
            <a:alphaModFix/>
          </a:blip>
          <a:srcRect/>
          <a:stretch/>
        </p:blipFill>
        <p:spPr>
          <a:xfrm>
            <a:off x="208721" y="1600200"/>
            <a:ext cx="8875642" cy="342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457200" y="704088"/>
            <a:ext cx="8229600" cy="7437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Random number and its Properties </a:t>
            </a:r>
            <a:endParaRPr/>
          </a:p>
        </p:txBody>
      </p:sp>
      <p:sp>
        <p:nvSpPr>
          <p:cNvPr id="160" name="Google Shape;160;p8"/>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solidFill>
                  <a:srgbClr val="0C0C0C"/>
                </a:solidFill>
              </a:rPr>
              <a:t>A number generated for, or part of, a set exhibiting  statistical randomness.</a:t>
            </a:r>
            <a:endParaRPr/>
          </a:p>
          <a:p>
            <a:pPr marL="274320" lvl="0" indent="-274320" algn="l" rtl="0">
              <a:spcBef>
                <a:spcPts val="520"/>
              </a:spcBef>
              <a:spcAft>
                <a:spcPts val="0"/>
              </a:spcAft>
              <a:buSzPts val="2470"/>
              <a:buChar char="⚫"/>
            </a:pPr>
            <a:r>
              <a:rPr lang="en-US"/>
              <a:t>A random sequence is obtained from a stochastic process.</a:t>
            </a:r>
            <a:endParaRPr/>
          </a:p>
          <a:p>
            <a:pPr marL="274320" lvl="0" indent="-274320" algn="l" rtl="0">
              <a:spcBef>
                <a:spcPts val="520"/>
              </a:spcBef>
              <a:spcAft>
                <a:spcPts val="0"/>
              </a:spcAft>
              <a:buSzPts val="2470"/>
              <a:buChar char="⚫"/>
            </a:pPr>
            <a:r>
              <a:rPr lang="en-US"/>
              <a:t>Random numbers are numbers that occur in a sequence such that two conditions are met: </a:t>
            </a:r>
            <a:endParaRPr/>
          </a:p>
          <a:p>
            <a:pPr marL="640080" lvl="1" indent="-246888" algn="l" rtl="0">
              <a:spcBef>
                <a:spcPts val="480"/>
              </a:spcBef>
              <a:spcAft>
                <a:spcPts val="0"/>
              </a:spcAft>
              <a:buSzPts val="2040"/>
              <a:buChar char="⚫"/>
            </a:pPr>
            <a:r>
              <a:rPr lang="en-US"/>
              <a:t>(1) the values are uniformly distributed over a defined interval [0-1]-uniformity</a:t>
            </a:r>
            <a:endParaRPr/>
          </a:p>
          <a:p>
            <a:pPr marL="640080" lvl="1" indent="-246888" algn="l" rtl="0">
              <a:spcBef>
                <a:spcPts val="480"/>
              </a:spcBef>
              <a:spcAft>
                <a:spcPts val="0"/>
              </a:spcAft>
              <a:buSzPts val="2040"/>
              <a:buChar char="⚫"/>
            </a:pPr>
            <a:r>
              <a:rPr lang="en-US"/>
              <a:t>(2) it is impossible to predict future values based on past or present ones-independence</a:t>
            </a:r>
            <a:endParaRPr/>
          </a:p>
          <a:p>
            <a:pPr marL="393192" lvl="1" indent="0" algn="l" rtl="0">
              <a:spcBef>
                <a:spcPts val="480"/>
              </a:spcBef>
              <a:spcAft>
                <a:spcPts val="0"/>
              </a:spcAft>
              <a:buSzPts val="204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Computer generation of random numbers</a:t>
            </a:r>
            <a:endParaRPr/>
          </a:p>
        </p:txBody>
      </p:sp>
      <p:sp>
        <p:nvSpPr>
          <p:cNvPr id="166" name="Google Shape;166;p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There are different methods</a:t>
            </a:r>
            <a:endParaRPr/>
          </a:p>
          <a:p>
            <a:pPr marL="274320" lvl="0" indent="-274320" algn="l" rtl="0">
              <a:spcBef>
                <a:spcPts val="520"/>
              </a:spcBef>
              <a:spcAft>
                <a:spcPts val="0"/>
              </a:spcAft>
              <a:buSzPts val="2470"/>
              <a:buChar char="⚫"/>
            </a:pPr>
            <a:r>
              <a:rPr lang="en-US"/>
              <a:t> i) Congruence methods </a:t>
            </a:r>
            <a:endParaRPr/>
          </a:p>
          <a:p>
            <a:pPr marL="640080" lvl="1" indent="-246888" algn="l" rtl="0">
              <a:spcBef>
                <a:spcPts val="480"/>
              </a:spcBef>
              <a:spcAft>
                <a:spcPts val="0"/>
              </a:spcAft>
              <a:buSzPts val="2040"/>
              <a:buChar char="⚫"/>
            </a:pPr>
            <a:r>
              <a:rPr lang="en-US"/>
              <a:t>Linear congruence generation (LCG)</a:t>
            </a:r>
            <a:endParaRPr/>
          </a:p>
          <a:p>
            <a:pPr marL="640080" lvl="1" indent="-246888" algn="l" rtl="0">
              <a:spcBef>
                <a:spcPts val="480"/>
              </a:spcBef>
              <a:spcAft>
                <a:spcPts val="0"/>
              </a:spcAft>
              <a:buSzPts val="2040"/>
              <a:buChar char="⚫"/>
            </a:pPr>
            <a:r>
              <a:rPr lang="en-US"/>
              <a:t>Additive congruence generation </a:t>
            </a:r>
            <a:endParaRPr/>
          </a:p>
          <a:p>
            <a:pPr marL="640080" lvl="1" indent="-246888" algn="l" rtl="0">
              <a:spcBef>
                <a:spcPts val="480"/>
              </a:spcBef>
              <a:spcAft>
                <a:spcPts val="0"/>
              </a:spcAft>
              <a:buSzPts val="2040"/>
              <a:buChar char="⚫"/>
            </a:pPr>
            <a:r>
              <a:rPr lang="en-US"/>
              <a:t>Multiplicative congruence generation </a:t>
            </a:r>
            <a:endParaRPr/>
          </a:p>
          <a:p>
            <a:pPr marL="640080" lvl="1" indent="-246888" algn="l" rtl="0">
              <a:spcBef>
                <a:spcPts val="480"/>
              </a:spcBef>
              <a:spcAft>
                <a:spcPts val="0"/>
              </a:spcAft>
              <a:buSzPts val="2040"/>
              <a:buChar char="⚫"/>
            </a:pPr>
            <a:r>
              <a:rPr lang="en-US"/>
              <a:t>Mixed congruence generation </a:t>
            </a:r>
            <a:endParaRPr/>
          </a:p>
          <a:p>
            <a:pPr marL="274320" lvl="0" indent="-274320" algn="l" rtl="0">
              <a:spcBef>
                <a:spcPts val="520"/>
              </a:spcBef>
              <a:spcAft>
                <a:spcPts val="0"/>
              </a:spcAft>
              <a:buSzPts val="2470"/>
              <a:buChar char="⚫"/>
            </a:pPr>
            <a:r>
              <a:rPr lang="en-US"/>
              <a:t>ii) Mid-square method </a:t>
            </a:r>
            <a:endParaRPr/>
          </a:p>
          <a:p>
            <a:pPr marL="274320" lvl="0" indent="-274320" algn="l" rtl="0">
              <a:spcBef>
                <a:spcPts val="520"/>
              </a:spcBef>
              <a:spcAft>
                <a:spcPts val="0"/>
              </a:spcAft>
              <a:buSzPts val="2470"/>
              <a:buChar char="⚫"/>
            </a:pPr>
            <a:r>
              <a:rPr lang="en-US"/>
              <a:t>iii) Inverse transformation method </a:t>
            </a:r>
            <a:endParaRPr/>
          </a:p>
          <a:p>
            <a:pPr marL="274320" lvl="0" indent="-274320" algn="l" rtl="0">
              <a:spcBef>
                <a:spcPts val="520"/>
              </a:spcBef>
              <a:spcAft>
                <a:spcPts val="0"/>
              </a:spcAft>
              <a:buSzPts val="2470"/>
              <a:buChar char="⚫"/>
            </a:pPr>
            <a:r>
              <a:rPr lang="en-US"/>
              <a:t>iv) Rejection method </a:t>
            </a:r>
            <a:endParaRPr/>
          </a:p>
        </p:txBody>
      </p:sp>
      <p:cxnSp>
        <p:nvCxnSpPr>
          <p:cNvPr id="167" name="Google Shape;167;p9"/>
          <p:cNvCxnSpPr/>
          <p:nvPr/>
        </p:nvCxnSpPr>
        <p:spPr>
          <a:xfrm>
            <a:off x="838200" y="5410200"/>
            <a:ext cx="4876800" cy="0"/>
          </a:xfrm>
          <a:prstGeom prst="straightConnector1">
            <a:avLst/>
          </a:prstGeom>
          <a:noFill/>
          <a:ln w="9525" cap="flat" cmpd="sng">
            <a:solidFill>
              <a:schemeClr val="dk1"/>
            </a:solidFill>
            <a:prstDash val="solid"/>
            <a:round/>
            <a:headEnd type="none" w="sm" len="sm"/>
            <a:tailEnd type="none" w="sm" len="sm"/>
          </a:ln>
        </p:spPr>
      </p:cxnSp>
      <p:cxnSp>
        <p:nvCxnSpPr>
          <p:cNvPr id="168" name="Google Shape;168;p9"/>
          <p:cNvCxnSpPr/>
          <p:nvPr/>
        </p:nvCxnSpPr>
        <p:spPr>
          <a:xfrm>
            <a:off x="838200" y="5867400"/>
            <a:ext cx="2971800" cy="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Linear congruence generation </a:t>
            </a:r>
            <a:br>
              <a:rPr lang="en-US"/>
            </a:br>
            <a:endParaRPr/>
          </a:p>
        </p:txBody>
      </p:sp>
      <p:sp>
        <p:nvSpPr>
          <p:cNvPr id="174" name="Google Shape;174;p10"/>
          <p:cNvSpPr txBox="1">
            <a:spLocks noGrp="1"/>
          </p:cNvSpPr>
          <p:nvPr>
            <p:ph type="body" idx="1"/>
          </p:nvPr>
        </p:nvSpPr>
        <p:spPr>
          <a:xfrm>
            <a:off x="457200" y="1143000"/>
            <a:ext cx="8229600" cy="518160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It produces the sequence of integer x1, x2 - - - - - between 0 and m-1 by following recursive relationship </a:t>
            </a:r>
            <a:endParaRPr/>
          </a:p>
          <a:p>
            <a:pPr marL="274320" lvl="0" indent="-274320" algn="l" rtl="0">
              <a:spcBef>
                <a:spcPts val="481"/>
              </a:spcBef>
              <a:spcAft>
                <a:spcPts val="0"/>
              </a:spcAft>
              <a:buSzPct val="95000"/>
              <a:buChar char="⚫"/>
            </a:pPr>
            <a:r>
              <a:rPr lang="en-US"/>
              <a:t>xi+1= (axi+c) mod m ,i=0,1,2,.......... m-1</a:t>
            </a:r>
            <a:endParaRPr/>
          </a:p>
          <a:p>
            <a:pPr marL="640080" lvl="1" indent="-246888" algn="l" rtl="0">
              <a:spcBef>
                <a:spcPts val="444"/>
              </a:spcBef>
              <a:spcAft>
                <a:spcPts val="0"/>
              </a:spcAft>
              <a:buSzPct val="85000"/>
              <a:buChar char="⚫"/>
            </a:pPr>
            <a:r>
              <a:rPr lang="en-US"/>
              <a:t>The initial value x</a:t>
            </a:r>
            <a:r>
              <a:rPr lang="en-US" baseline="-25000"/>
              <a:t>0</a:t>
            </a:r>
            <a:r>
              <a:rPr lang="en-US"/>
              <a:t> is called the seed. </a:t>
            </a:r>
            <a:endParaRPr/>
          </a:p>
          <a:p>
            <a:pPr marL="640080" lvl="1" indent="-246888" algn="l" rtl="0">
              <a:spcBef>
                <a:spcPts val="444"/>
              </a:spcBef>
              <a:spcAft>
                <a:spcPts val="0"/>
              </a:spcAft>
              <a:buSzPct val="85000"/>
              <a:buChar char="⚫"/>
            </a:pPr>
            <a:r>
              <a:rPr lang="en-US"/>
              <a:t>a is called as multiplier, </a:t>
            </a:r>
            <a:endParaRPr/>
          </a:p>
          <a:p>
            <a:pPr marL="640080" lvl="1" indent="-246888" algn="l" rtl="0">
              <a:spcBef>
                <a:spcPts val="444"/>
              </a:spcBef>
              <a:spcAft>
                <a:spcPts val="0"/>
              </a:spcAft>
              <a:buSzPct val="85000"/>
              <a:buChar char="⚫"/>
            </a:pPr>
            <a:r>
              <a:rPr lang="en-US"/>
              <a:t>c is called increment</a:t>
            </a:r>
            <a:endParaRPr/>
          </a:p>
          <a:p>
            <a:pPr marL="640080" lvl="1" indent="-246888" algn="l" rtl="0">
              <a:spcBef>
                <a:spcPts val="444"/>
              </a:spcBef>
              <a:spcAft>
                <a:spcPts val="0"/>
              </a:spcAft>
              <a:buSzPct val="85000"/>
              <a:buChar char="⚫"/>
            </a:pPr>
            <a:r>
              <a:rPr lang="en-US"/>
              <a:t>m is modulus.</a:t>
            </a:r>
            <a:endParaRPr/>
          </a:p>
          <a:p>
            <a:pPr marL="274320" lvl="0" indent="-129238" algn="l" rtl="0">
              <a:spcBef>
                <a:spcPts val="481"/>
              </a:spcBef>
              <a:spcAft>
                <a:spcPts val="0"/>
              </a:spcAft>
              <a:buSzPct val="95000"/>
              <a:buNone/>
            </a:pPr>
            <a:endParaRPr/>
          </a:p>
          <a:p>
            <a:pPr marL="274320" lvl="0" indent="-274320" algn="l" rtl="0">
              <a:spcBef>
                <a:spcPts val="481"/>
              </a:spcBef>
              <a:spcAft>
                <a:spcPts val="0"/>
              </a:spcAft>
              <a:buSzPct val="95000"/>
              <a:buChar char="⚫"/>
            </a:pPr>
            <a:r>
              <a:rPr lang="en-US"/>
              <a:t>If c≠0 then the form is called mixed congruential generator.</a:t>
            </a:r>
            <a:endParaRPr/>
          </a:p>
          <a:p>
            <a:pPr marL="274320" lvl="0" indent="-274320" algn="l" rtl="0">
              <a:spcBef>
                <a:spcPts val="481"/>
              </a:spcBef>
              <a:spcAft>
                <a:spcPts val="0"/>
              </a:spcAft>
              <a:buSzPct val="95000"/>
              <a:buChar char="⚫"/>
            </a:pPr>
            <a:r>
              <a:rPr lang="en-US"/>
              <a:t>If c=0 , then the form is called multiplicative congruential generator.</a:t>
            </a:r>
            <a:endParaRPr/>
          </a:p>
          <a:p>
            <a:pPr marL="274320" lvl="0" indent="-274320" algn="l" rtl="0">
              <a:spcBef>
                <a:spcPts val="481"/>
              </a:spcBef>
              <a:spcAft>
                <a:spcPts val="0"/>
              </a:spcAft>
              <a:buSzPct val="95000"/>
              <a:buChar char="⚫"/>
            </a:pPr>
            <a:r>
              <a:rPr lang="en-US"/>
              <a:t>If a=1 , then the form is called additive congruential generator.</a:t>
            </a:r>
            <a:endParaRPr/>
          </a:p>
          <a:p>
            <a:pPr marL="274320" lvl="0" indent="-129238" algn="l" rtl="0">
              <a:spcBef>
                <a:spcPts val="481"/>
              </a:spcBef>
              <a:spcAft>
                <a:spcPts val="0"/>
              </a:spcAft>
              <a:buSzPct val="95000"/>
              <a:buNone/>
            </a:pPr>
            <a:endParaRPr/>
          </a:p>
          <a:p>
            <a:pPr marL="274320" lvl="0" indent="-129238" algn="l" rtl="0">
              <a:spcBef>
                <a:spcPts val="481"/>
              </a:spcBef>
              <a:spcAft>
                <a:spcPts val="0"/>
              </a:spcAft>
              <a:buSzPct val="950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500"/>
                                        <p:tgtEl>
                                          <p:spTgt spid="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xEl>
                                              <p:pRg st="1" end="1"/>
                                            </p:txEl>
                                          </p:spTgt>
                                        </p:tgtEl>
                                        <p:attrNameLst>
                                          <p:attrName>style.visibility</p:attrName>
                                        </p:attrNameLst>
                                      </p:cBhvr>
                                      <p:to>
                                        <p:strVal val="visible"/>
                                      </p:to>
                                    </p:set>
                                    <p:animEffect transition="in" filter="fade">
                                      <p:cBhvr>
                                        <p:cTn id="12" dur="500"/>
                                        <p:tgtEl>
                                          <p:spTgt spid="1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xEl>
                                              <p:pRg st="2" end="2"/>
                                            </p:txEl>
                                          </p:spTgt>
                                        </p:tgtEl>
                                        <p:attrNameLst>
                                          <p:attrName>style.visibility</p:attrName>
                                        </p:attrNameLst>
                                      </p:cBhvr>
                                      <p:to>
                                        <p:strVal val="visible"/>
                                      </p:to>
                                    </p:set>
                                    <p:animEffect transition="in" filter="fade">
                                      <p:cBhvr>
                                        <p:cTn id="17" dur="500"/>
                                        <p:tgtEl>
                                          <p:spTgt spid="1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
                                            <p:txEl>
                                              <p:pRg st="3" end="3"/>
                                            </p:txEl>
                                          </p:spTgt>
                                        </p:tgtEl>
                                        <p:attrNameLst>
                                          <p:attrName>style.visibility</p:attrName>
                                        </p:attrNameLst>
                                      </p:cBhvr>
                                      <p:to>
                                        <p:strVal val="visible"/>
                                      </p:to>
                                    </p:set>
                                    <p:animEffect transition="in" filter="fade">
                                      <p:cBhvr>
                                        <p:cTn id="22" dur="500"/>
                                        <p:tgtEl>
                                          <p:spTgt spid="1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4">
                                            <p:txEl>
                                              <p:pRg st="4" end="4"/>
                                            </p:txEl>
                                          </p:spTgt>
                                        </p:tgtEl>
                                        <p:attrNameLst>
                                          <p:attrName>style.visibility</p:attrName>
                                        </p:attrNameLst>
                                      </p:cBhvr>
                                      <p:to>
                                        <p:strVal val="visible"/>
                                      </p:to>
                                    </p:set>
                                    <p:animEffect transition="in" filter="fade">
                                      <p:cBhvr>
                                        <p:cTn id="27" dur="500"/>
                                        <p:tgtEl>
                                          <p:spTgt spid="1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4">
                                            <p:txEl>
                                              <p:pRg st="5" end="5"/>
                                            </p:txEl>
                                          </p:spTgt>
                                        </p:tgtEl>
                                        <p:attrNameLst>
                                          <p:attrName>style.visibility</p:attrName>
                                        </p:attrNameLst>
                                      </p:cBhvr>
                                      <p:to>
                                        <p:strVal val="visible"/>
                                      </p:to>
                                    </p:set>
                                    <p:animEffect transition="in" filter="fade">
                                      <p:cBhvr>
                                        <p:cTn id="32" dur="500"/>
                                        <p:tgtEl>
                                          <p:spTgt spid="1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4">
                                            <p:txEl>
                                              <p:pRg st="6" end="6"/>
                                            </p:txEl>
                                          </p:spTgt>
                                        </p:tgtEl>
                                        <p:attrNameLst>
                                          <p:attrName>style.visibility</p:attrName>
                                        </p:attrNameLst>
                                      </p:cBhvr>
                                      <p:to>
                                        <p:strVal val="visible"/>
                                      </p:to>
                                    </p:set>
                                    <p:animEffect transition="in" filter="fade">
                                      <p:cBhvr>
                                        <p:cTn id="37" dur="500"/>
                                        <p:tgtEl>
                                          <p:spTgt spid="1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4">
                                            <p:txEl>
                                              <p:pRg st="7" end="7"/>
                                            </p:txEl>
                                          </p:spTgt>
                                        </p:tgtEl>
                                        <p:attrNameLst>
                                          <p:attrName>style.visibility</p:attrName>
                                        </p:attrNameLst>
                                      </p:cBhvr>
                                      <p:to>
                                        <p:strVal val="visible"/>
                                      </p:to>
                                    </p:set>
                                    <p:animEffect transition="in" filter="fade">
                                      <p:cBhvr>
                                        <p:cTn id="42" dur="500"/>
                                        <p:tgtEl>
                                          <p:spTgt spid="1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4">
                                            <p:txEl>
                                              <p:pRg st="8" end="8"/>
                                            </p:txEl>
                                          </p:spTgt>
                                        </p:tgtEl>
                                        <p:attrNameLst>
                                          <p:attrName>style.visibility</p:attrName>
                                        </p:attrNameLst>
                                      </p:cBhvr>
                                      <p:to>
                                        <p:strVal val="visible"/>
                                      </p:to>
                                    </p:set>
                                    <p:animEffect transition="in" filter="fade">
                                      <p:cBhvr>
                                        <p:cTn id="47" dur="500"/>
                                        <p:tgtEl>
                                          <p:spTgt spid="17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4">
                                            <p:txEl>
                                              <p:pRg st="9" end="9"/>
                                            </p:txEl>
                                          </p:spTgt>
                                        </p:tgtEl>
                                        <p:attrNameLst>
                                          <p:attrName>style.visibility</p:attrName>
                                        </p:attrNameLst>
                                      </p:cBhvr>
                                      <p:to>
                                        <p:strVal val="visible"/>
                                      </p:to>
                                    </p:set>
                                    <p:animEffect transition="in" filter="fade">
                                      <p:cBhvr>
                                        <p:cTn id="52" dur="500"/>
                                        <p:tgtEl>
                                          <p:spTgt spid="17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74">
                                            <p:txEl>
                                              <p:pRg st="10" end="10"/>
                                            </p:txEl>
                                          </p:spTgt>
                                        </p:tgtEl>
                                        <p:attrNameLst>
                                          <p:attrName>style.visibility</p:attrName>
                                        </p:attrNameLst>
                                      </p:cBhvr>
                                      <p:to>
                                        <p:strVal val="visible"/>
                                      </p:to>
                                    </p:set>
                                    <p:animEffect transition="in" filter="fade">
                                      <p:cBhvr>
                                        <p:cTn id="57" dur="500"/>
                                        <p:tgtEl>
                                          <p:spTgt spid="17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74">
                                            <p:txEl>
                                              <p:pRg st="11" end="11"/>
                                            </p:txEl>
                                          </p:spTgt>
                                        </p:tgtEl>
                                        <p:attrNameLst>
                                          <p:attrName>style.visibility</p:attrName>
                                        </p:attrNameLst>
                                      </p:cBhvr>
                                      <p:to>
                                        <p:strVal val="visible"/>
                                      </p:to>
                                    </p:set>
                                    <p:animEffect transition="in" filter="fade">
                                      <p:cBhvr>
                                        <p:cTn id="62" dur="500"/>
                                        <p:tgtEl>
                                          <p:spTgt spid="17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title"/>
          </p:nvPr>
        </p:nvSpPr>
        <p:spPr>
          <a:xfrm>
            <a:off x="457200" y="152400"/>
            <a:ext cx="8229600" cy="9906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Linear congruence generation….</a:t>
            </a:r>
            <a:endParaRPr/>
          </a:p>
        </p:txBody>
      </p:sp>
      <p:sp>
        <p:nvSpPr>
          <p:cNvPr id="180" name="Google Shape;180;p11"/>
          <p:cNvSpPr txBox="1">
            <a:spLocks noGrp="1"/>
          </p:cNvSpPr>
          <p:nvPr>
            <p:ph type="body" idx="1"/>
          </p:nvPr>
        </p:nvSpPr>
        <p:spPr>
          <a:xfrm>
            <a:off x="457200" y="1143000"/>
            <a:ext cx="8229600" cy="5151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u="sng"/>
              <a:t>Examples:</a:t>
            </a:r>
            <a:endParaRPr/>
          </a:p>
          <a:p>
            <a:pPr marL="0" lvl="0" indent="0" algn="l" rtl="0">
              <a:spcBef>
                <a:spcPts val="481"/>
              </a:spcBef>
              <a:spcAft>
                <a:spcPts val="0"/>
              </a:spcAft>
              <a:buSzPct val="95000"/>
              <a:buNone/>
            </a:pPr>
            <a:r>
              <a:rPr lang="en-US" b="1"/>
              <a:t>Q1: Generate 4 digit random number by LCG with x</a:t>
            </a:r>
            <a:r>
              <a:rPr lang="en-US" b="1" baseline="-25000"/>
              <a:t>0</a:t>
            </a:r>
            <a:r>
              <a:rPr lang="en-US" b="1"/>
              <a:t>=21, a=34, c=7.</a:t>
            </a:r>
            <a:r>
              <a:rPr lang="en-US"/>
              <a:t> </a:t>
            </a:r>
            <a:endParaRPr/>
          </a:p>
          <a:p>
            <a:pPr marL="365760" lvl="1" indent="0" algn="l" rtl="0">
              <a:spcBef>
                <a:spcPts val="444"/>
              </a:spcBef>
              <a:spcAft>
                <a:spcPts val="0"/>
              </a:spcAft>
              <a:buSzPct val="85000"/>
              <a:buNone/>
            </a:pPr>
            <a:r>
              <a:rPr lang="en-US"/>
              <a:t>Ans: Given generating 4-digit random number </a:t>
            </a:r>
            <a:endParaRPr/>
          </a:p>
          <a:p>
            <a:pPr marL="365760" lvl="1" indent="0" algn="l" rtl="0">
              <a:spcBef>
                <a:spcPts val="444"/>
              </a:spcBef>
              <a:spcAft>
                <a:spcPts val="0"/>
              </a:spcAft>
              <a:buSzPct val="85000"/>
              <a:buNone/>
            </a:pPr>
            <a:r>
              <a:rPr lang="en-US"/>
              <a:t>i.e. m=10000 and </a:t>
            </a:r>
            <a:endParaRPr/>
          </a:p>
          <a:p>
            <a:pPr marL="365760" lvl="1" indent="0" algn="l" rtl="0">
              <a:spcBef>
                <a:spcPts val="444"/>
              </a:spcBef>
              <a:spcAft>
                <a:spcPts val="0"/>
              </a:spcAft>
              <a:buSzPct val="85000"/>
              <a:buNone/>
            </a:pPr>
            <a:r>
              <a:rPr lang="en-US"/>
              <a:t>X</a:t>
            </a:r>
            <a:r>
              <a:rPr lang="en-US" baseline="-25000"/>
              <a:t>0</a:t>
            </a:r>
            <a:r>
              <a:rPr lang="en-US"/>
              <a:t>=21, a=34, c=7.</a:t>
            </a:r>
            <a:endParaRPr/>
          </a:p>
          <a:p>
            <a:pPr marL="365760" lvl="1" indent="0" algn="l" rtl="0">
              <a:spcBef>
                <a:spcPts val="444"/>
              </a:spcBef>
              <a:spcAft>
                <a:spcPts val="0"/>
              </a:spcAft>
              <a:buSzPct val="85000"/>
              <a:buNone/>
            </a:pPr>
            <a:r>
              <a:rPr lang="en-US"/>
              <a:t> X</a:t>
            </a:r>
            <a:r>
              <a:rPr lang="en-US" baseline="-25000"/>
              <a:t>1</a:t>
            </a:r>
            <a:r>
              <a:rPr lang="en-US"/>
              <a:t>= (ax</a:t>
            </a:r>
            <a:r>
              <a:rPr lang="en-US" baseline="-25000"/>
              <a:t>0</a:t>
            </a:r>
            <a:r>
              <a:rPr lang="en-US"/>
              <a:t>+c) mod m=(34*21+7) mod 10000= 721 R</a:t>
            </a:r>
            <a:r>
              <a:rPr lang="en-US" baseline="-25000"/>
              <a:t>1</a:t>
            </a:r>
            <a:r>
              <a:rPr lang="en-US"/>
              <a:t>= X</a:t>
            </a:r>
            <a:r>
              <a:rPr lang="en-US" baseline="-25000"/>
              <a:t>1</a:t>
            </a:r>
            <a:r>
              <a:rPr lang="en-US"/>
              <a:t>/m =721/10000=0.0721</a:t>
            </a:r>
            <a:endParaRPr/>
          </a:p>
          <a:p>
            <a:pPr marL="365760" lvl="1" indent="0" algn="l" rtl="0">
              <a:spcBef>
                <a:spcPts val="444"/>
              </a:spcBef>
              <a:spcAft>
                <a:spcPts val="0"/>
              </a:spcAft>
              <a:buSzPct val="85000"/>
              <a:buNone/>
            </a:pPr>
            <a:r>
              <a:rPr lang="en-US"/>
              <a:t>X</a:t>
            </a:r>
            <a:r>
              <a:rPr lang="en-US" baseline="-25000"/>
              <a:t>2</a:t>
            </a:r>
            <a:r>
              <a:rPr lang="en-US"/>
              <a:t>= (ax</a:t>
            </a:r>
            <a:r>
              <a:rPr lang="en-US" baseline="-25000"/>
              <a:t>1</a:t>
            </a:r>
            <a:r>
              <a:rPr lang="en-US"/>
              <a:t>+c) mod m=(34*721+7) mod 10000=4521 R</a:t>
            </a:r>
            <a:r>
              <a:rPr lang="en-US" baseline="-25000"/>
              <a:t>2</a:t>
            </a:r>
            <a:r>
              <a:rPr lang="en-US"/>
              <a:t>= X</a:t>
            </a:r>
            <a:r>
              <a:rPr lang="en-US" baseline="-25000"/>
              <a:t>2</a:t>
            </a:r>
            <a:r>
              <a:rPr lang="en-US"/>
              <a:t>/m =4521/10000=0.4521</a:t>
            </a:r>
            <a:endParaRPr/>
          </a:p>
          <a:p>
            <a:pPr marL="365760" lvl="1" indent="0" algn="l" rtl="0">
              <a:spcBef>
                <a:spcPts val="444"/>
              </a:spcBef>
              <a:spcAft>
                <a:spcPts val="0"/>
              </a:spcAft>
              <a:buSzPct val="85000"/>
              <a:buNone/>
            </a:pPr>
            <a:r>
              <a:rPr lang="en-US"/>
              <a:t>X</a:t>
            </a:r>
            <a:r>
              <a:rPr lang="en-US" baseline="-25000"/>
              <a:t>3</a:t>
            </a:r>
            <a:r>
              <a:rPr lang="en-US"/>
              <a:t>= (ax</a:t>
            </a:r>
            <a:r>
              <a:rPr lang="en-US" baseline="-25000"/>
              <a:t>2</a:t>
            </a:r>
            <a:r>
              <a:rPr lang="en-US"/>
              <a:t>+c) mod m=(34*4521+7) mod 10000= 3721 R</a:t>
            </a:r>
            <a:r>
              <a:rPr lang="en-US" baseline="-25000"/>
              <a:t>3</a:t>
            </a:r>
            <a:r>
              <a:rPr lang="en-US"/>
              <a:t>= X</a:t>
            </a:r>
            <a:r>
              <a:rPr lang="en-US" baseline="-25000"/>
              <a:t>3</a:t>
            </a:r>
            <a:r>
              <a:rPr lang="en-US"/>
              <a:t>/m= 3721/10000=0.3721</a:t>
            </a:r>
            <a:endParaRPr/>
          </a:p>
          <a:p>
            <a:pPr marL="365760" lvl="1" indent="0" algn="l" rtl="0">
              <a:spcBef>
                <a:spcPts val="444"/>
              </a:spcBef>
              <a:spcAft>
                <a:spcPts val="0"/>
              </a:spcAft>
              <a:buSzPct val="85000"/>
              <a:buNone/>
            </a:pPr>
            <a:r>
              <a:rPr lang="en-US"/>
              <a:t>X</a:t>
            </a:r>
            <a:r>
              <a:rPr lang="en-US" baseline="-25000"/>
              <a:t>4</a:t>
            </a:r>
            <a:r>
              <a:rPr lang="en-US"/>
              <a:t>= (ax</a:t>
            </a:r>
            <a:r>
              <a:rPr lang="en-US" baseline="-25000"/>
              <a:t>3</a:t>
            </a:r>
            <a:r>
              <a:rPr lang="en-US"/>
              <a:t>+c) mod m=(34*3721+7) mod 10000=9311 R</a:t>
            </a:r>
            <a:r>
              <a:rPr lang="en-US" baseline="-25000"/>
              <a:t>4</a:t>
            </a:r>
            <a:r>
              <a:rPr lang="en-US"/>
              <a:t>= X</a:t>
            </a:r>
            <a:r>
              <a:rPr lang="en-US" baseline="-25000"/>
              <a:t>4</a:t>
            </a:r>
            <a:r>
              <a:rPr lang="en-US"/>
              <a:t>/m =9311/10000=0.9311</a:t>
            </a:r>
            <a:endParaRPr/>
          </a:p>
          <a:p>
            <a:pPr marL="365760" lvl="1" indent="0" algn="l" rtl="0">
              <a:spcBef>
                <a:spcPts val="444"/>
              </a:spcBef>
              <a:spcAft>
                <a:spcPts val="0"/>
              </a:spcAft>
              <a:buSzPct val="85000"/>
              <a:buNone/>
            </a:pPr>
            <a:r>
              <a:rPr lang="en-US"/>
              <a:t>X</a:t>
            </a:r>
            <a:r>
              <a:rPr lang="en-US" baseline="-25000"/>
              <a:t>5</a:t>
            </a:r>
            <a:r>
              <a:rPr lang="en-US"/>
              <a:t>= (ax</a:t>
            </a:r>
            <a:r>
              <a:rPr lang="en-US" baseline="-25000"/>
              <a:t>4</a:t>
            </a:r>
            <a:r>
              <a:rPr lang="en-US"/>
              <a:t>+c) mod m=(34*9311+7) mod 10000=6581 R</a:t>
            </a:r>
            <a:r>
              <a:rPr lang="en-US" baseline="-25000"/>
              <a:t>5</a:t>
            </a:r>
            <a:r>
              <a:rPr lang="en-US"/>
              <a:t>= X</a:t>
            </a:r>
            <a:r>
              <a:rPr lang="en-US" baseline="-25000"/>
              <a:t>5</a:t>
            </a:r>
            <a:r>
              <a:rPr lang="en-US"/>
              <a:t>/m =6581/10000=0.6581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animEffect transition="in" filter="fade">
                                      <p:cBhvr>
                                        <p:cTn id="7" dur="500"/>
                                        <p:tgtEl>
                                          <p:spTgt spid="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xEl>
                                              <p:pRg st="1" end="1"/>
                                            </p:txEl>
                                          </p:spTgt>
                                        </p:tgtEl>
                                        <p:attrNameLst>
                                          <p:attrName>style.visibility</p:attrName>
                                        </p:attrNameLst>
                                      </p:cBhvr>
                                      <p:to>
                                        <p:strVal val="visible"/>
                                      </p:to>
                                    </p:set>
                                    <p:animEffect transition="in" filter="fade">
                                      <p:cBhvr>
                                        <p:cTn id="12" dur="500"/>
                                        <p:tgtEl>
                                          <p:spTgt spid="1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
                                            <p:txEl>
                                              <p:pRg st="2" end="2"/>
                                            </p:txEl>
                                          </p:spTgt>
                                        </p:tgtEl>
                                        <p:attrNameLst>
                                          <p:attrName>style.visibility</p:attrName>
                                        </p:attrNameLst>
                                      </p:cBhvr>
                                      <p:to>
                                        <p:strVal val="visible"/>
                                      </p:to>
                                    </p:set>
                                    <p:animEffect transition="in" filter="fade">
                                      <p:cBhvr>
                                        <p:cTn id="17" dur="500"/>
                                        <p:tgtEl>
                                          <p:spTgt spid="1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0">
                                            <p:txEl>
                                              <p:pRg st="3" end="3"/>
                                            </p:txEl>
                                          </p:spTgt>
                                        </p:tgtEl>
                                        <p:attrNameLst>
                                          <p:attrName>style.visibility</p:attrName>
                                        </p:attrNameLst>
                                      </p:cBhvr>
                                      <p:to>
                                        <p:strVal val="visible"/>
                                      </p:to>
                                    </p:set>
                                    <p:animEffect transition="in" filter="fade">
                                      <p:cBhvr>
                                        <p:cTn id="22" dur="500"/>
                                        <p:tgtEl>
                                          <p:spTgt spid="18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0">
                                            <p:txEl>
                                              <p:pRg st="4" end="4"/>
                                            </p:txEl>
                                          </p:spTgt>
                                        </p:tgtEl>
                                        <p:attrNameLst>
                                          <p:attrName>style.visibility</p:attrName>
                                        </p:attrNameLst>
                                      </p:cBhvr>
                                      <p:to>
                                        <p:strVal val="visible"/>
                                      </p:to>
                                    </p:set>
                                    <p:animEffect transition="in" filter="fade">
                                      <p:cBhvr>
                                        <p:cTn id="27" dur="500"/>
                                        <p:tgtEl>
                                          <p:spTgt spid="18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0">
                                            <p:txEl>
                                              <p:pRg st="5" end="5"/>
                                            </p:txEl>
                                          </p:spTgt>
                                        </p:tgtEl>
                                        <p:attrNameLst>
                                          <p:attrName>style.visibility</p:attrName>
                                        </p:attrNameLst>
                                      </p:cBhvr>
                                      <p:to>
                                        <p:strVal val="visible"/>
                                      </p:to>
                                    </p:set>
                                    <p:animEffect transition="in" filter="fade">
                                      <p:cBhvr>
                                        <p:cTn id="32" dur="500"/>
                                        <p:tgtEl>
                                          <p:spTgt spid="18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0">
                                            <p:txEl>
                                              <p:pRg st="6" end="6"/>
                                            </p:txEl>
                                          </p:spTgt>
                                        </p:tgtEl>
                                        <p:attrNameLst>
                                          <p:attrName>style.visibility</p:attrName>
                                        </p:attrNameLst>
                                      </p:cBhvr>
                                      <p:to>
                                        <p:strVal val="visible"/>
                                      </p:to>
                                    </p:set>
                                    <p:animEffect transition="in" filter="fade">
                                      <p:cBhvr>
                                        <p:cTn id="37" dur="500"/>
                                        <p:tgtEl>
                                          <p:spTgt spid="18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0">
                                            <p:txEl>
                                              <p:pRg st="7" end="7"/>
                                            </p:txEl>
                                          </p:spTgt>
                                        </p:tgtEl>
                                        <p:attrNameLst>
                                          <p:attrName>style.visibility</p:attrName>
                                        </p:attrNameLst>
                                      </p:cBhvr>
                                      <p:to>
                                        <p:strVal val="visible"/>
                                      </p:to>
                                    </p:set>
                                    <p:animEffect transition="in" filter="fade">
                                      <p:cBhvr>
                                        <p:cTn id="42" dur="500"/>
                                        <p:tgtEl>
                                          <p:spTgt spid="18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0">
                                            <p:txEl>
                                              <p:pRg st="8" end="8"/>
                                            </p:txEl>
                                          </p:spTgt>
                                        </p:tgtEl>
                                        <p:attrNameLst>
                                          <p:attrName>style.visibility</p:attrName>
                                        </p:attrNameLst>
                                      </p:cBhvr>
                                      <p:to>
                                        <p:strVal val="visible"/>
                                      </p:to>
                                    </p:set>
                                    <p:animEffect transition="in" filter="fade">
                                      <p:cBhvr>
                                        <p:cTn id="47" dur="500"/>
                                        <p:tgtEl>
                                          <p:spTgt spid="18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0">
                                            <p:txEl>
                                              <p:pRg st="9" end="9"/>
                                            </p:txEl>
                                          </p:spTgt>
                                        </p:tgtEl>
                                        <p:attrNameLst>
                                          <p:attrName>style.visibility</p:attrName>
                                        </p:attrNameLst>
                                      </p:cBhvr>
                                      <p:to>
                                        <p:strVal val="visible"/>
                                      </p:to>
                                    </p:set>
                                    <p:animEffect transition="in" filter="fade">
                                      <p:cBhvr>
                                        <p:cTn id="52" dur="500"/>
                                        <p:tgtEl>
                                          <p:spTgt spid="18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186" name="Google Shape;186;p1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95000"/>
              <a:buChar char="⚫"/>
            </a:pPr>
            <a:r>
              <a:rPr lang="en-US" b="1"/>
              <a:t>Q2: Generate 5 random numbers using additive congruential method with X</a:t>
            </a:r>
            <a:r>
              <a:rPr lang="en-US" b="1" baseline="-25000"/>
              <a:t>0</a:t>
            </a:r>
            <a:r>
              <a:rPr lang="en-US" b="1"/>
              <a:t>=5, c=7, m=64.</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Ans:</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Here  a=1, x</a:t>
            </a:r>
            <a:r>
              <a:rPr lang="en-US" baseline="-25000"/>
              <a:t>0</a:t>
            </a:r>
            <a:r>
              <a:rPr lang="en-US"/>
              <a:t>=5, c=7, m=64</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X</a:t>
            </a:r>
            <a:r>
              <a:rPr lang="en-US" baseline="-25000"/>
              <a:t>1</a:t>
            </a:r>
            <a:r>
              <a:rPr lang="en-US"/>
              <a:t>= (ax</a:t>
            </a:r>
            <a:r>
              <a:rPr lang="en-US" baseline="-25000"/>
              <a:t>0</a:t>
            </a:r>
            <a:r>
              <a:rPr lang="en-US"/>
              <a:t>+c) mod m= (1*5+7) mod 64= 12</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R</a:t>
            </a:r>
            <a:r>
              <a:rPr lang="en-US" baseline="-25000"/>
              <a:t>1</a:t>
            </a:r>
            <a:r>
              <a:rPr lang="en-US"/>
              <a:t>= X</a:t>
            </a:r>
            <a:r>
              <a:rPr lang="en-US" baseline="-25000"/>
              <a:t>1</a:t>
            </a:r>
            <a:r>
              <a:rPr lang="en-US"/>
              <a:t>/m=12/64=0.1875</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X</a:t>
            </a:r>
            <a:r>
              <a:rPr lang="en-US" baseline="-25000"/>
              <a:t>2</a:t>
            </a:r>
            <a:r>
              <a:rPr lang="en-US"/>
              <a:t>= (ax</a:t>
            </a:r>
            <a:r>
              <a:rPr lang="en-US" baseline="-25000"/>
              <a:t>1</a:t>
            </a:r>
            <a:r>
              <a:rPr lang="en-US"/>
              <a:t>+c) mod m=(1*12+7) mod 64=19</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R</a:t>
            </a:r>
            <a:r>
              <a:rPr lang="en-US" baseline="-25000"/>
              <a:t>2</a:t>
            </a:r>
            <a:r>
              <a:rPr lang="en-US"/>
              <a:t>= X</a:t>
            </a:r>
            <a:r>
              <a:rPr lang="en-US" baseline="-25000"/>
              <a:t>2</a:t>
            </a:r>
            <a:r>
              <a:rPr lang="en-US"/>
              <a:t>/m= 19/64=0.2968</a:t>
            </a:r>
            <a:endParaRPr/>
          </a:p>
          <a:p>
            <a:pPr marL="274320" lvl="0" indent="-274320" algn="l" rtl="0">
              <a:spcBef>
                <a:spcPts val="364"/>
              </a:spcBef>
              <a:spcAft>
                <a:spcPts val="0"/>
              </a:spcAft>
              <a:buSzPct val="95000"/>
              <a:buChar char="⚫"/>
            </a:pPr>
            <a:r>
              <a:rPr lang="en-US"/>
              <a:t> </a:t>
            </a:r>
            <a:endParaRPr/>
          </a:p>
          <a:p>
            <a:pPr marL="274320" lvl="0" indent="-274320" algn="l" rtl="0">
              <a:spcBef>
                <a:spcPts val="364"/>
              </a:spcBef>
              <a:spcAft>
                <a:spcPts val="0"/>
              </a:spcAft>
              <a:buSzPct val="95000"/>
              <a:buChar char="⚫"/>
            </a:pPr>
            <a:r>
              <a:rPr lang="en-US"/>
              <a:t>X</a:t>
            </a:r>
            <a:r>
              <a:rPr lang="en-US" baseline="-25000"/>
              <a:t>3</a:t>
            </a:r>
            <a:r>
              <a:rPr lang="en-US"/>
              <a:t>= (ax</a:t>
            </a:r>
            <a:r>
              <a:rPr lang="en-US" baseline="-25000"/>
              <a:t>2</a:t>
            </a:r>
            <a:r>
              <a:rPr lang="en-US"/>
              <a:t>+c) mod m= (1*19+7) mod 64= 26</a:t>
            </a:r>
            <a:endParaRPr/>
          </a:p>
          <a:p>
            <a:pPr marL="274320" lvl="0" indent="-164528" algn="l" rtl="0">
              <a:spcBef>
                <a:spcPts val="364"/>
              </a:spcBef>
              <a:spcAft>
                <a:spcPts val="0"/>
              </a:spcAft>
              <a:buSzPct val="950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5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Effect transition="in" filter="fade">
                                      <p:cBhvr>
                                        <p:cTn id="12" dur="500"/>
                                        <p:tgtEl>
                                          <p:spTgt spid="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Effect transition="in" filter="fade">
                                      <p:cBhvr>
                                        <p:cTn id="17" dur="500"/>
                                        <p:tgtEl>
                                          <p:spTgt spid="1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6">
                                            <p:txEl>
                                              <p:pRg st="3" end="3"/>
                                            </p:txEl>
                                          </p:spTgt>
                                        </p:tgtEl>
                                        <p:attrNameLst>
                                          <p:attrName>style.visibility</p:attrName>
                                        </p:attrNameLst>
                                      </p:cBhvr>
                                      <p:to>
                                        <p:strVal val="visible"/>
                                      </p:to>
                                    </p:set>
                                    <p:animEffect transition="in" filter="fade">
                                      <p:cBhvr>
                                        <p:cTn id="22" dur="500"/>
                                        <p:tgtEl>
                                          <p:spTgt spid="1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6">
                                            <p:txEl>
                                              <p:pRg st="4" end="4"/>
                                            </p:txEl>
                                          </p:spTgt>
                                        </p:tgtEl>
                                        <p:attrNameLst>
                                          <p:attrName>style.visibility</p:attrName>
                                        </p:attrNameLst>
                                      </p:cBhvr>
                                      <p:to>
                                        <p:strVal val="visible"/>
                                      </p:to>
                                    </p:set>
                                    <p:animEffect transition="in" filter="fade">
                                      <p:cBhvr>
                                        <p:cTn id="27" dur="500"/>
                                        <p:tgtEl>
                                          <p:spTgt spid="1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6">
                                            <p:txEl>
                                              <p:pRg st="5" end="5"/>
                                            </p:txEl>
                                          </p:spTgt>
                                        </p:tgtEl>
                                        <p:attrNameLst>
                                          <p:attrName>style.visibility</p:attrName>
                                        </p:attrNameLst>
                                      </p:cBhvr>
                                      <p:to>
                                        <p:strVal val="visible"/>
                                      </p:to>
                                    </p:set>
                                    <p:animEffect transition="in" filter="fade">
                                      <p:cBhvr>
                                        <p:cTn id="32" dur="500"/>
                                        <p:tgtEl>
                                          <p:spTgt spid="1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6">
                                            <p:txEl>
                                              <p:pRg st="6" end="6"/>
                                            </p:txEl>
                                          </p:spTgt>
                                        </p:tgtEl>
                                        <p:attrNameLst>
                                          <p:attrName>style.visibility</p:attrName>
                                        </p:attrNameLst>
                                      </p:cBhvr>
                                      <p:to>
                                        <p:strVal val="visible"/>
                                      </p:to>
                                    </p:set>
                                    <p:animEffect transition="in" filter="fade">
                                      <p:cBhvr>
                                        <p:cTn id="37" dur="500"/>
                                        <p:tgtEl>
                                          <p:spTgt spid="1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6">
                                            <p:txEl>
                                              <p:pRg st="7" end="7"/>
                                            </p:txEl>
                                          </p:spTgt>
                                        </p:tgtEl>
                                        <p:attrNameLst>
                                          <p:attrName>style.visibility</p:attrName>
                                        </p:attrNameLst>
                                      </p:cBhvr>
                                      <p:to>
                                        <p:strVal val="visible"/>
                                      </p:to>
                                    </p:set>
                                    <p:animEffect transition="in" filter="fade">
                                      <p:cBhvr>
                                        <p:cTn id="42" dur="500"/>
                                        <p:tgtEl>
                                          <p:spTgt spid="18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6">
                                            <p:txEl>
                                              <p:pRg st="8" end="8"/>
                                            </p:txEl>
                                          </p:spTgt>
                                        </p:tgtEl>
                                        <p:attrNameLst>
                                          <p:attrName>style.visibility</p:attrName>
                                        </p:attrNameLst>
                                      </p:cBhvr>
                                      <p:to>
                                        <p:strVal val="visible"/>
                                      </p:to>
                                    </p:set>
                                    <p:animEffect transition="in" filter="fade">
                                      <p:cBhvr>
                                        <p:cTn id="47" dur="500"/>
                                        <p:tgtEl>
                                          <p:spTgt spid="18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6">
                                            <p:txEl>
                                              <p:pRg st="9" end="9"/>
                                            </p:txEl>
                                          </p:spTgt>
                                        </p:tgtEl>
                                        <p:attrNameLst>
                                          <p:attrName>style.visibility</p:attrName>
                                        </p:attrNameLst>
                                      </p:cBhvr>
                                      <p:to>
                                        <p:strVal val="visible"/>
                                      </p:to>
                                    </p:set>
                                    <p:animEffect transition="in" filter="fade">
                                      <p:cBhvr>
                                        <p:cTn id="52" dur="500"/>
                                        <p:tgtEl>
                                          <p:spTgt spid="18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6">
                                            <p:txEl>
                                              <p:pRg st="10" end="10"/>
                                            </p:txEl>
                                          </p:spTgt>
                                        </p:tgtEl>
                                        <p:attrNameLst>
                                          <p:attrName>style.visibility</p:attrName>
                                        </p:attrNameLst>
                                      </p:cBhvr>
                                      <p:to>
                                        <p:strVal val="visible"/>
                                      </p:to>
                                    </p:set>
                                    <p:animEffect transition="in" filter="fade">
                                      <p:cBhvr>
                                        <p:cTn id="57" dur="500"/>
                                        <p:tgtEl>
                                          <p:spTgt spid="18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6">
                                            <p:txEl>
                                              <p:pRg st="11" end="11"/>
                                            </p:txEl>
                                          </p:spTgt>
                                        </p:tgtEl>
                                        <p:attrNameLst>
                                          <p:attrName>style.visibility</p:attrName>
                                        </p:attrNameLst>
                                      </p:cBhvr>
                                      <p:to>
                                        <p:strVal val="visible"/>
                                      </p:to>
                                    </p:set>
                                    <p:animEffect transition="in" filter="fade">
                                      <p:cBhvr>
                                        <p:cTn id="62" dur="500"/>
                                        <p:tgtEl>
                                          <p:spTgt spid="18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6">
                                            <p:txEl>
                                              <p:pRg st="12" end="12"/>
                                            </p:txEl>
                                          </p:spTgt>
                                        </p:tgtEl>
                                        <p:attrNameLst>
                                          <p:attrName>style.visibility</p:attrName>
                                        </p:attrNameLst>
                                      </p:cBhvr>
                                      <p:to>
                                        <p:strVal val="visible"/>
                                      </p:to>
                                    </p:set>
                                    <p:animEffect transition="in" filter="fade">
                                      <p:cBhvr>
                                        <p:cTn id="67" dur="500"/>
                                        <p:tgtEl>
                                          <p:spTgt spid="18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86">
                                            <p:txEl>
                                              <p:pRg st="13" end="13"/>
                                            </p:txEl>
                                          </p:spTgt>
                                        </p:tgtEl>
                                        <p:attrNameLst>
                                          <p:attrName>style.visibility</p:attrName>
                                        </p:attrNameLst>
                                      </p:cBhvr>
                                      <p:to>
                                        <p:strVal val="visible"/>
                                      </p:to>
                                    </p:set>
                                    <p:animEffect transition="in" filter="fade">
                                      <p:cBhvr>
                                        <p:cTn id="72" dur="500"/>
                                        <p:tgtEl>
                                          <p:spTgt spid="18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86">
                                            <p:txEl>
                                              <p:pRg st="14" end="14"/>
                                            </p:txEl>
                                          </p:spTgt>
                                        </p:tgtEl>
                                        <p:attrNameLst>
                                          <p:attrName>style.visibility</p:attrName>
                                        </p:attrNameLst>
                                      </p:cBhvr>
                                      <p:to>
                                        <p:strVal val="visible"/>
                                      </p:to>
                                    </p:set>
                                    <p:animEffect transition="in" filter="fade">
                                      <p:cBhvr>
                                        <p:cTn id="77" dur="500"/>
                                        <p:tgtEl>
                                          <p:spTgt spid="186">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86">
                                            <p:txEl>
                                              <p:pRg st="15" end="15"/>
                                            </p:txEl>
                                          </p:spTgt>
                                        </p:tgtEl>
                                        <p:attrNameLst>
                                          <p:attrName>style.visibility</p:attrName>
                                        </p:attrNameLst>
                                      </p:cBhvr>
                                      <p:to>
                                        <p:strVal val="visible"/>
                                      </p:to>
                                    </p:set>
                                    <p:animEffect transition="in" filter="fade">
                                      <p:cBhvr>
                                        <p:cTn id="82" dur="500"/>
                                        <p:tgtEl>
                                          <p:spTgt spid="18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192" name="Google Shape;192;p1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R</a:t>
            </a:r>
            <a:r>
              <a:rPr lang="en-US" baseline="-25000"/>
              <a:t>3</a:t>
            </a:r>
            <a:r>
              <a:rPr lang="en-US"/>
              <a:t>= X</a:t>
            </a:r>
            <a:r>
              <a:rPr lang="en-US" baseline="-25000"/>
              <a:t>3</a:t>
            </a:r>
            <a:r>
              <a:rPr lang="en-US"/>
              <a:t>/m= 26/64= 0.4063</a:t>
            </a:r>
            <a:endParaRPr/>
          </a:p>
          <a:p>
            <a:pPr marL="274320" lvl="0" indent="-274320" algn="l" rtl="0">
              <a:spcBef>
                <a:spcPts val="520"/>
              </a:spcBef>
              <a:spcAft>
                <a:spcPts val="0"/>
              </a:spcAft>
              <a:buSzPts val="2470"/>
              <a:buChar char="⚫"/>
            </a:pPr>
            <a:r>
              <a:rPr lang="en-US"/>
              <a:t> </a:t>
            </a:r>
            <a:endParaRPr/>
          </a:p>
          <a:p>
            <a:pPr marL="274320" lvl="0" indent="-274320" algn="l" rtl="0">
              <a:spcBef>
                <a:spcPts val="520"/>
              </a:spcBef>
              <a:spcAft>
                <a:spcPts val="0"/>
              </a:spcAft>
              <a:buSzPts val="2470"/>
              <a:buChar char="⚫"/>
            </a:pPr>
            <a:r>
              <a:rPr lang="en-US"/>
              <a:t>X</a:t>
            </a:r>
            <a:r>
              <a:rPr lang="en-US" baseline="-25000"/>
              <a:t>4</a:t>
            </a:r>
            <a:r>
              <a:rPr lang="en-US"/>
              <a:t>= (ax</a:t>
            </a:r>
            <a:r>
              <a:rPr lang="en-US" baseline="-25000"/>
              <a:t>3</a:t>
            </a:r>
            <a:r>
              <a:rPr lang="en-US"/>
              <a:t>+c) mod m= (1*26 +7) mod 64=33</a:t>
            </a:r>
            <a:endParaRPr/>
          </a:p>
          <a:p>
            <a:pPr marL="274320" lvl="0" indent="-274320" algn="l" rtl="0">
              <a:spcBef>
                <a:spcPts val="520"/>
              </a:spcBef>
              <a:spcAft>
                <a:spcPts val="0"/>
              </a:spcAft>
              <a:buSzPts val="2470"/>
              <a:buChar char="⚫"/>
            </a:pPr>
            <a:r>
              <a:rPr lang="en-US"/>
              <a:t> </a:t>
            </a:r>
            <a:endParaRPr/>
          </a:p>
          <a:p>
            <a:pPr marL="274320" lvl="0" indent="-274320" algn="l" rtl="0">
              <a:spcBef>
                <a:spcPts val="520"/>
              </a:spcBef>
              <a:spcAft>
                <a:spcPts val="0"/>
              </a:spcAft>
              <a:buSzPts val="2470"/>
              <a:buChar char="⚫"/>
            </a:pPr>
            <a:r>
              <a:rPr lang="en-US"/>
              <a:t>R</a:t>
            </a:r>
            <a:r>
              <a:rPr lang="en-US" baseline="-25000"/>
              <a:t>4</a:t>
            </a:r>
            <a:r>
              <a:rPr lang="en-US"/>
              <a:t>= X</a:t>
            </a:r>
            <a:r>
              <a:rPr lang="en-US" baseline="-25000"/>
              <a:t>4</a:t>
            </a:r>
            <a:r>
              <a:rPr lang="en-US"/>
              <a:t>/m= 33/64= 0.5156</a:t>
            </a:r>
            <a:endParaRPr/>
          </a:p>
          <a:p>
            <a:pPr marL="274320" lvl="0" indent="-274320" algn="l" rtl="0">
              <a:spcBef>
                <a:spcPts val="520"/>
              </a:spcBef>
              <a:spcAft>
                <a:spcPts val="0"/>
              </a:spcAft>
              <a:buSzPts val="2470"/>
              <a:buChar char="⚫"/>
            </a:pPr>
            <a:r>
              <a:rPr lang="en-US"/>
              <a:t> </a:t>
            </a:r>
            <a:endParaRPr/>
          </a:p>
          <a:p>
            <a:pPr marL="274320" lvl="0" indent="-274320" algn="l" rtl="0">
              <a:spcBef>
                <a:spcPts val="520"/>
              </a:spcBef>
              <a:spcAft>
                <a:spcPts val="0"/>
              </a:spcAft>
              <a:buSzPts val="2470"/>
              <a:buChar char="⚫"/>
            </a:pPr>
            <a:r>
              <a:rPr lang="en-US"/>
              <a:t>X</a:t>
            </a:r>
            <a:r>
              <a:rPr lang="en-US" baseline="-25000"/>
              <a:t>5</a:t>
            </a:r>
            <a:r>
              <a:rPr lang="en-US"/>
              <a:t>= (ax</a:t>
            </a:r>
            <a:r>
              <a:rPr lang="en-US" baseline="-25000"/>
              <a:t>4</a:t>
            </a:r>
            <a:r>
              <a:rPr lang="en-US"/>
              <a:t>+c) mod m= (1*33+7) mod 64= 40</a:t>
            </a:r>
            <a:endParaRPr/>
          </a:p>
          <a:p>
            <a:pPr marL="274320" lvl="0" indent="-274320" algn="l" rtl="0">
              <a:spcBef>
                <a:spcPts val="520"/>
              </a:spcBef>
              <a:spcAft>
                <a:spcPts val="0"/>
              </a:spcAft>
              <a:buSzPts val="2470"/>
              <a:buChar char="⚫"/>
            </a:pPr>
            <a:r>
              <a:rPr lang="en-US"/>
              <a:t> </a:t>
            </a:r>
            <a:endParaRPr/>
          </a:p>
          <a:p>
            <a:pPr marL="274320" lvl="0" indent="-274320" algn="l" rtl="0">
              <a:spcBef>
                <a:spcPts val="520"/>
              </a:spcBef>
              <a:spcAft>
                <a:spcPts val="0"/>
              </a:spcAft>
              <a:buSzPts val="2470"/>
              <a:buChar char="⚫"/>
            </a:pPr>
            <a:r>
              <a:rPr lang="en-US"/>
              <a:t>R</a:t>
            </a:r>
            <a:r>
              <a:rPr lang="en-US" baseline="-25000"/>
              <a:t>5</a:t>
            </a:r>
            <a:r>
              <a:rPr lang="en-US"/>
              <a:t>= X</a:t>
            </a:r>
            <a:r>
              <a:rPr lang="en-US" baseline="-25000"/>
              <a:t>5</a:t>
            </a:r>
            <a:r>
              <a:rPr lang="en-US"/>
              <a:t>/m= 40/64= 0.625</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animEffect transition="in" filter="fade">
                                      <p:cBhvr>
                                        <p:cTn id="7" dur="500"/>
                                        <p:tgtEl>
                                          <p:spTgt spid="1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2">
                                            <p:txEl>
                                              <p:pRg st="1" end="1"/>
                                            </p:txEl>
                                          </p:spTgt>
                                        </p:tgtEl>
                                        <p:attrNameLst>
                                          <p:attrName>style.visibility</p:attrName>
                                        </p:attrNameLst>
                                      </p:cBhvr>
                                      <p:to>
                                        <p:strVal val="visible"/>
                                      </p:to>
                                    </p:set>
                                    <p:animEffect transition="in" filter="fade">
                                      <p:cBhvr>
                                        <p:cTn id="12" dur="500"/>
                                        <p:tgtEl>
                                          <p:spTgt spid="1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2">
                                            <p:txEl>
                                              <p:pRg st="2" end="2"/>
                                            </p:txEl>
                                          </p:spTgt>
                                        </p:tgtEl>
                                        <p:attrNameLst>
                                          <p:attrName>style.visibility</p:attrName>
                                        </p:attrNameLst>
                                      </p:cBhvr>
                                      <p:to>
                                        <p:strVal val="visible"/>
                                      </p:to>
                                    </p:set>
                                    <p:animEffect transition="in" filter="fade">
                                      <p:cBhvr>
                                        <p:cTn id="17" dur="500"/>
                                        <p:tgtEl>
                                          <p:spTgt spid="1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2">
                                            <p:txEl>
                                              <p:pRg st="3" end="3"/>
                                            </p:txEl>
                                          </p:spTgt>
                                        </p:tgtEl>
                                        <p:attrNameLst>
                                          <p:attrName>style.visibility</p:attrName>
                                        </p:attrNameLst>
                                      </p:cBhvr>
                                      <p:to>
                                        <p:strVal val="visible"/>
                                      </p:to>
                                    </p:set>
                                    <p:animEffect transition="in" filter="fade">
                                      <p:cBhvr>
                                        <p:cTn id="22" dur="500"/>
                                        <p:tgtEl>
                                          <p:spTgt spid="1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2">
                                            <p:txEl>
                                              <p:pRg st="4" end="4"/>
                                            </p:txEl>
                                          </p:spTgt>
                                        </p:tgtEl>
                                        <p:attrNameLst>
                                          <p:attrName>style.visibility</p:attrName>
                                        </p:attrNameLst>
                                      </p:cBhvr>
                                      <p:to>
                                        <p:strVal val="visible"/>
                                      </p:to>
                                    </p:set>
                                    <p:animEffect transition="in" filter="fade">
                                      <p:cBhvr>
                                        <p:cTn id="27" dur="500"/>
                                        <p:tgtEl>
                                          <p:spTgt spid="19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2">
                                            <p:txEl>
                                              <p:pRg st="5" end="5"/>
                                            </p:txEl>
                                          </p:spTgt>
                                        </p:tgtEl>
                                        <p:attrNameLst>
                                          <p:attrName>style.visibility</p:attrName>
                                        </p:attrNameLst>
                                      </p:cBhvr>
                                      <p:to>
                                        <p:strVal val="visible"/>
                                      </p:to>
                                    </p:set>
                                    <p:animEffect transition="in" filter="fade">
                                      <p:cBhvr>
                                        <p:cTn id="32" dur="500"/>
                                        <p:tgtEl>
                                          <p:spTgt spid="19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2">
                                            <p:txEl>
                                              <p:pRg st="6" end="6"/>
                                            </p:txEl>
                                          </p:spTgt>
                                        </p:tgtEl>
                                        <p:attrNameLst>
                                          <p:attrName>style.visibility</p:attrName>
                                        </p:attrNameLst>
                                      </p:cBhvr>
                                      <p:to>
                                        <p:strVal val="visible"/>
                                      </p:to>
                                    </p:set>
                                    <p:animEffect transition="in" filter="fade">
                                      <p:cBhvr>
                                        <p:cTn id="37" dur="500"/>
                                        <p:tgtEl>
                                          <p:spTgt spid="19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2">
                                            <p:txEl>
                                              <p:pRg st="7" end="7"/>
                                            </p:txEl>
                                          </p:spTgt>
                                        </p:tgtEl>
                                        <p:attrNameLst>
                                          <p:attrName>style.visibility</p:attrName>
                                        </p:attrNameLst>
                                      </p:cBhvr>
                                      <p:to>
                                        <p:strVal val="visible"/>
                                      </p:to>
                                    </p:set>
                                    <p:animEffect transition="in" filter="fade">
                                      <p:cBhvr>
                                        <p:cTn id="42" dur="500"/>
                                        <p:tgtEl>
                                          <p:spTgt spid="19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2">
                                            <p:txEl>
                                              <p:pRg st="8" end="8"/>
                                            </p:txEl>
                                          </p:spTgt>
                                        </p:tgtEl>
                                        <p:attrNameLst>
                                          <p:attrName>style.visibility</p:attrName>
                                        </p:attrNameLst>
                                      </p:cBhvr>
                                      <p:to>
                                        <p:strVal val="visible"/>
                                      </p:to>
                                    </p:set>
                                    <p:animEffect transition="in" filter="fade">
                                      <p:cBhvr>
                                        <p:cTn id="47" dur="500"/>
                                        <p:tgtEl>
                                          <p:spTgt spid="19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2">
                                            <p:txEl>
                                              <p:pRg st="9" end="9"/>
                                            </p:txEl>
                                          </p:spTgt>
                                        </p:tgtEl>
                                        <p:attrNameLst>
                                          <p:attrName>style.visibility</p:attrName>
                                        </p:attrNameLst>
                                      </p:cBhvr>
                                      <p:to>
                                        <p:strVal val="visible"/>
                                      </p:to>
                                    </p:set>
                                    <p:animEffect transition="in" filter="fade">
                                      <p:cBhvr>
                                        <p:cTn id="52" dur="500"/>
                                        <p:tgtEl>
                                          <p:spTgt spid="19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198" name="Google Shape;198;p14"/>
          <p:cNvSpPr txBox="1">
            <a:spLocks noGrp="1"/>
          </p:cNvSpPr>
          <p:nvPr>
            <p:ph type="body" idx="1"/>
          </p:nvPr>
        </p:nvSpPr>
        <p:spPr>
          <a:xfrm>
            <a:off x="457200" y="0"/>
            <a:ext cx="8229600" cy="685800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95000"/>
              <a:buChar char="⚫"/>
            </a:pPr>
            <a:r>
              <a:rPr lang="en-US" b="1"/>
              <a:t>Q3: Generate 5 random number using multiplicative congruential method with X</a:t>
            </a:r>
            <a:r>
              <a:rPr lang="en-US" b="1" baseline="-25000"/>
              <a:t>0</a:t>
            </a:r>
            <a:r>
              <a:rPr lang="en-US" b="1"/>
              <a:t>=63, a=19, m=100</a:t>
            </a:r>
            <a:r>
              <a:rPr lang="en-US"/>
              <a:t>.</a:t>
            </a:r>
            <a:endParaRPr/>
          </a:p>
          <a:p>
            <a:pPr marL="274320" lvl="0" indent="-274320" algn="l" rtl="0">
              <a:spcBef>
                <a:spcPts val="481"/>
              </a:spcBef>
              <a:spcAft>
                <a:spcPts val="0"/>
              </a:spcAft>
              <a:buSzPct val="95000"/>
              <a:buChar char="⚫"/>
            </a:pPr>
            <a:r>
              <a:rPr lang="en-US"/>
              <a:t>Ans: </a:t>
            </a:r>
            <a:endParaRPr/>
          </a:p>
          <a:p>
            <a:pPr marL="274320" lvl="0" indent="-274320" algn="l" rtl="0">
              <a:spcBef>
                <a:spcPts val="481"/>
              </a:spcBef>
              <a:spcAft>
                <a:spcPts val="0"/>
              </a:spcAft>
              <a:buSzPct val="95000"/>
              <a:buChar char="⚫"/>
            </a:pPr>
            <a:r>
              <a:rPr lang="en-US"/>
              <a:t>Given generating random numbers using multiplicative method i.e. c=0 and given X</a:t>
            </a:r>
            <a:r>
              <a:rPr lang="en-US" baseline="-25000"/>
              <a:t>0</a:t>
            </a:r>
            <a:r>
              <a:rPr lang="en-US"/>
              <a:t>=63,a=19 , m=100</a:t>
            </a:r>
            <a:endParaRPr/>
          </a:p>
          <a:p>
            <a:pPr marL="274320" lvl="0" indent="-274320" algn="l" rtl="0">
              <a:spcBef>
                <a:spcPts val="481"/>
              </a:spcBef>
              <a:spcAft>
                <a:spcPts val="0"/>
              </a:spcAft>
              <a:buSzPct val="95000"/>
              <a:buChar char="⚫"/>
            </a:pPr>
            <a:r>
              <a:rPr lang="en-US"/>
              <a:t>So X</a:t>
            </a:r>
            <a:r>
              <a:rPr lang="en-US" baseline="-25000"/>
              <a:t>1</a:t>
            </a:r>
            <a:r>
              <a:rPr lang="en-US"/>
              <a:t>= (ax</a:t>
            </a:r>
            <a:r>
              <a:rPr lang="en-US" baseline="-25000"/>
              <a:t>0</a:t>
            </a:r>
            <a:r>
              <a:rPr lang="en-US"/>
              <a:t>+c) mod m= (19*63+0) mod 100=97</a:t>
            </a:r>
            <a:endParaRPr/>
          </a:p>
          <a:p>
            <a:pPr marL="274320" lvl="0" indent="-274320" algn="l" rtl="0">
              <a:spcBef>
                <a:spcPts val="481"/>
              </a:spcBef>
              <a:spcAft>
                <a:spcPts val="0"/>
              </a:spcAft>
              <a:buSzPct val="95000"/>
              <a:buChar char="⚫"/>
            </a:pPr>
            <a:r>
              <a:rPr lang="en-US"/>
              <a:t>R</a:t>
            </a:r>
            <a:r>
              <a:rPr lang="en-US" baseline="-25000"/>
              <a:t>1</a:t>
            </a:r>
            <a:r>
              <a:rPr lang="en-US"/>
              <a:t>= X1/m=97/100=0.97 </a:t>
            </a:r>
            <a:endParaRPr/>
          </a:p>
          <a:p>
            <a:pPr marL="274320" lvl="0" indent="-274320" algn="l" rtl="0">
              <a:spcBef>
                <a:spcPts val="481"/>
              </a:spcBef>
              <a:spcAft>
                <a:spcPts val="0"/>
              </a:spcAft>
              <a:buSzPct val="95000"/>
              <a:buChar char="⚫"/>
            </a:pPr>
            <a:r>
              <a:rPr lang="en-US"/>
              <a:t>X</a:t>
            </a:r>
            <a:r>
              <a:rPr lang="en-US" baseline="-25000"/>
              <a:t>2</a:t>
            </a:r>
            <a:r>
              <a:rPr lang="en-US"/>
              <a:t>= (ax</a:t>
            </a:r>
            <a:r>
              <a:rPr lang="en-US" baseline="-25000"/>
              <a:t>1</a:t>
            </a:r>
            <a:r>
              <a:rPr lang="en-US"/>
              <a:t>+c) mod m=(19*63+0) mod 100=43</a:t>
            </a:r>
            <a:endParaRPr/>
          </a:p>
          <a:p>
            <a:pPr marL="274320" lvl="0" indent="-274320" algn="l" rtl="0">
              <a:spcBef>
                <a:spcPts val="481"/>
              </a:spcBef>
              <a:spcAft>
                <a:spcPts val="0"/>
              </a:spcAft>
              <a:buSzPct val="95000"/>
              <a:buChar char="⚫"/>
            </a:pPr>
            <a:r>
              <a:rPr lang="en-US"/>
              <a:t>R</a:t>
            </a:r>
            <a:r>
              <a:rPr lang="en-US" baseline="-25000"/>
              <a:t>2</a:t>
            </a:r>
            <a:r>
              <a:rPr lang="en-US"/>
              <a:t>= X</a:t>
            </a:r>
            <a:r>
              <a:rPr lang="en-US" baseline="-25000"/>
              <a:t>2</a:t>
            </a:r>
            <a:r>
              <a:rPr lang="en-US"/>
              <a:t>/m= 43/100=0.43</a:t>
            </a:r>
            <a:endParaRPr/>
          </a:p>
          <a:p>
            <a:pPr marL="274320" lvl="0" indent="-274320" algn="l" rtl="0">
              <a:spcBef>
                <a:spcPts val="481"/>
              </a:spcBef>
              <a:spcAft>
                <a:spcPts val="0"/>
              </a:spcAft>
              <a:buSzPct val="95000"/>
              <a:buChar char="⚫"/>
            </a:pPr>
            <a:r>
              <a:rPr lang="en-US"/>
              <a:t>X</a:t>
            </a:r>
            <a:r>
              <a:rPr lang="en-US" baseline="-25000"/>
              <a:t>3</a:t>
            </a:r>
            <a:r>
              <a:rPr lang="en-US"/>
              <a:t>= (ax</a:t>
            </a:r>
            <a:r>
              <a:rPr lang="en-US" baseline="-25000"/>
              <a:t>2</a:t>
            </a:r>
            <a:r>
              <a:rPr lang="en-US"/>
              <a:t>+c) mod m=(19*43+0) mod 100=17</a:t>
            </a:r>
            <a:endParaRPr/>
          </a:p>
          <a:p>
            <a:pPr marL="274320" lvl="0" indent="-274320" algn="l" rtl="0">
              <a:spcBef>
                <a:spcPts val="481"/>
              </a:spcBef>
              <a:spcAft>
                <a:spcPts val="0"/>
              </a:spcAft>
              <a:buSzPct val="95000"/>
              <a:buChar char="⚫"/>
            </a:pPr>
            <a:r>
              <a:rPr lang="en-US"/>
              <a:t>R</a:t>
            </a:r>
            <a:r>
              <a:rPr lang="en-US" baseline="-25000"/>
              <a:t>3</a:t>
            </a:r>
            <a:r>
              <a:rPr lang="en-US"/>
              <a:t>= X</a:t>
            </a:r>
            <a:r>
              <a:rPr lang="en-US" baseline="-25000"/>
              <a:t>3</a:t>
            </a:r>
            <a:r>
              <a:rPr lang="en-US"/>
              <a:t>/m=17/100=0.17</a:t>
            </a:r>
            <a:endParaRPr/>
          </a:p>
          <a:p>
            <a:pPr marL="274320" lvl="0" indent="-274320" algn="l" rtl="0">
              <a:spcBef>
                <a:spcPts val="481"/>
              </a:spcBef>
              <a:spcAft>
                <a:spcPts val="0"/>
              </a:spcAft>
              <a:buSzPct val="95000"/>
              <a:buChar char="⚫"/>
            </a:pPr>
            <a:r>
              <a:rPr lang="en-US"/>
              <a:t>X</a:t>
            </a:r>
            <a:r>
              <a:rPr lang="en-US" baseline="-25000"/>
              <a:t>4</a:t>
            </a:r>
            <a:r>
              <a:rPr lang="en-US"/>
              <a:t>= (ax</a:t>
            </a:r>
            <a:r>
              <a:rPr lang="en-US" baseline="-25000"/>
              <a:t>3</a:t>
            </a:r>
            <a:r>
              <a:rPr lang="en-US"/>
              <a:t>+c) mod m=(19*17+0) mod 100=23</a:t>
            </a:r>
            <a:endParaRPr/>
          </a:p>
          <a:p>
            <a:pPr marL="274320" lvl="0" indent="-274320" algn="l" rtl="0">
              <a:spcBef>
                <a:spcPts val="481"/>
              </a:spcBef>
              <a:spcAft>
                <a:spcPts val="0"/>
              </a:spcAft>
              <a:buSzPct val="95000"/>
              <a:buChar char="⚫"/>
            </a:pPr>
            <a:r>
              <a:rPr lang="en-US"/>
              <a:t>R</a:t>
            </a:r>
            <a:r>
              <a:rPr lang="en-US" baseline="-25000"/>
              <a:t>4</a:t>
            </a:r>
            <a:r>
              <a:rPr lang="en-US"/>
              <a:t>= X</a:t>
            </a:r>
            <a:r>
              <a:rPr lang="en-US" baseline="-25000"/>
              <a:t>4</a:t>
            </a:r>
            <a:r>
              <a:rPr lang="en-US"/>
              <a:t>/m= 23/100=0.23</a:t>
            </a:r>
            <a:endParaRPr/>
          </a:p>
          <a:p>
            <a:pPr marL="274320" lvl="0" indent="-274320" algn="l" rtl="0">
              <a:spcBef>
                <a:spcPts val="481"/>
              </a:spcBef>
              <a:spcAft>
                <a:spcPts val="0"/>
              </a:spcAft>
              <a:buSzPct val="95000"/>
              <a:buChar char="⚫"/>
            </a:pPr>
            <a:r>
              <a:rPr lang="en-US"/>
              <a:t>X</a:t>
            </a:r>
            <a:r>
              <a:rPr lang="en-US" baseline="-25000"/>
              <a:t>5</a:t>
            </a:r>
            <a:r>
              <a:rPr lang="en-US"/>
              <a:t>= (ax</a:t>
            </a:r>
            <a:r>
              <a:rPr lang="en-US" baseline="-25000"/>
              <a:t>0</a:t>
            </a:r>
            <a:r>
              <a:rPr lang="en-US"/>
              <a:t>+c) mod m==(19*23+0) mod 100=37</a:t>
            </a:r>
            <a:endParaRPr/>
          </a:p>
          <a:p>
            <a:pPr marL="274320" lvl="0" indent="-274320" algn="l" rtl="0">
              <a:spcBef>
                <a:spcPts val="481"/>
              </a:spcBef>
              <a:spcAft>
                <a:spcPts val="0"/>
              </a:spcAft>
              <a:buSzPct val="95000"/>
              <a:buChar char="⚫"/>
            </a:pPr>
            <a:r>
              <a:rPr lang="en-US"/>
              <a:t>R</a:t>
            </a:r>
            <a:r>
              <a:rPr lang="en-US" baseline="-25000"/>
              <a:t>5</a:t>
            </a:r>
            <a:r>
              <a:rPr lang="en-US"/>
              <a:t>= X</a:t>
            </a:r>
            <a:r>
              <a:rPr lang="en-US" baseline="-25000"/>
              <a:t>5</a:t>
            </a:r>
            <a:r>
              <a:rPr lang="en-US"/>
              <a:t>/m=37/100=0.37</a:t>
            </a:r>
            <a:endParaRPr/>
          </a:p>
          <a:p>
            <a:pPr marL="0" lvl="0" indent="0" algn="l" rtl="0">
              <a:spcBef>
                <a:spcPts val="481"/>
              </a:spcBef>
              <a:spcAft>
                <a:spcPts val="0"/>
              </a:spcAft>
              <a:buSzPct val="95000"/>
              <a:buNone/>
            </a:pPr>
            <a:endParaRPr/>
          </a:p>
          <a:p>
            <a:pPr marL="274320" lvl="0" indent="-129238" algn="l" rtl="0">
              <a:spcBef>
                <a:spcPts val="481"/>
              </a:spcBef>
              <a:spcAft>
                <a:spcPts val="0"/>
              </a:spcAft>
              <a:buSzPct val="950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animEffect transition="in" filter="fade">
                                      <p:cBhvr>
                                        <p:cTn id="7" dur="500"/>
                                        <p:tgtEl>
                                          <p:spTgt spid="1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8">
                                            <p:txEl>
                                              <p:pRg st="1" end="1"/>
                                            </p:txEl>
                                          </p:spTgt>
                                        </p:tgtEl>
                                        <p:attrNameLst>
                                          <p:attrName>style.visibility</p:attrName>
                                        </p:attrNameLst>
                                      </p:cBhvr>
                                      <p:to>
                                        <p:strVal val="visible"/>
                                      </p:to>
                                    </p:set>
                                    <p:animEffect transition="in" filter="fade">
                                      <p:cBhvr>
                                        <p:cTn id="12" dur="500"/>
                                        <p:tgtEl>
                                          <p:spTgt spid="1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8">
                                            <p:txEl>
                                              <p:pRg st="2" end="2"/>
                                            </p:txEl>
                                          </p:spTgt>
                                        </p:tgtEl>
                                        <p:attrNameLst>
                                          <p:attrName>style.visibility</p:attrName>
                                        </p:attrNameLst>
                                      </p:cBhvr>
                                      <p:to>
                                        <p:strVal val="visible"/>
                                      </p:to>
                                    </p:set>
                                    <p:animEffect transition="in" filter="fade">
                                      <p:cBhvr>
                                        <p:cTn id="17" dur="500"/>
                                        <p:tgtEl>
                                          <p:spTgt spid="1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8">
                                            <p:txEl>
                                              <p:pRg st="3" end="3"/>
                                            </p:txEl>
                                          </p:spTgt>
                                        </p:tgtEl>
                                        <p:attrNameLst>
                                          <p:attrName>style.visibility</p:attrName>
                                        </p:attrNameLst>
                                      </p:cBhvr>
                                      <p:to>
                                        <p:strVal val="visible"/>
                                      </p:to>
                                    </p:set>
                                    <p:animEffect transition="in" filter="fade">
                                      <p:cBhvr>
                                        <p:cTn id="22" dur="500"/>
                                        <p:tgtEl>
                                          <p:spTgt spid="1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8">
                                            <p:txEl>
                                              <p:pRg st="4" end="4"/>
                                            </p:txEl>
                                          </p:spTgt>
                                        </p:tgtEl>
                                        <p:attrNameLst>
                                          <p:attrName>style.visibility</p:attrName>
                                        </p:attrNameLst>
                                      </p:cBhvr>
                                      <p:to>
                                        <p:strVal val="visible"/>
                                      </p:to>
                                    </p:set>
                                    <p:animEffect transition="in" filter="fade">
                                      <p:cBhvr>
                                        <p:cTn id="27" dur="500"/>
                                        <p:tgtEl>
                                          <p:spTgt spid="1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8">
                                            <p:txEl>
                                              <p:pRg st="5" end="5"/>
                                            </p:txEl>
                                          </p:spTgt>
                                        </p:tgtEl>
                                        <p:attrNameLst>
                                          <p:attrName>style.visibility</p:attrName>
                                        </p:attrNameLst>
                                      </p:cBhvr>
                                      <p:to>
                                        <p:strVal val="visible"/>
                                      </p:to>
                                    </p:set>
                                    <p:animEffect transition="in" filter="fade">
                                      <p:cBhvr>
                                        <p:cTn id="32" dur="500"/>
                                        <p:tgtEl>
                                          <p:spTgt spid="1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8">
                                            <p:txEl>
                                              <p:pRg st="6" end="6"/>
                                            </p:txEl>
                                          </p:spTgt>
                                        </p:tgtEl>
                                        <p:attrNameLst>
                                          <p:attrName>style.visibility</p:attrName>
                                        </p:attrNameLst>
                                      </p:cBhvr>
                                      <p:to>
                                        <p:strVal val="visible"/>
                                      </p:to>
                                    </p:set>
                                    <p:animEffect transition="in" filter="fade">
                                      <p:cBhvr>
                                        <p:cTn id="37" dur="500"/>
                                        <p:tgtEl>
                                          <p:spTgt spid="19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8">
                                            <p:txEl>
                                              <p:pRg st="7" end="7"/>
                                            </p:txEl>
                                          </p:spTgt>
                                        </p:tgtEl>
                                        <p:attrNameLst>
                                          <p:attrName>style.visibility</p:attrName>
                                        </p:attrNameLst>
                                      </p:cBhvr>
                                      <p:to>
                                        <p:strVal val="visible"/>
                                      </p:to>
                                    </p:set>
                                    <p:animEffect transition="in" filter="fade">
                                      <p:cBhvr>
                                        <p:cTn id="42" dur="500"/>
                                        <p:tgtEl>
                                          <p:spTgt spid="19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8">
                                            <p:txEl>
                                              <p:pRg st="8" end="8"/>
                                            </p:txEl>
                                          </p:spTgt>
                                        </p:tgtEl>
                                        <p:attrNameLst>
                                          <p:attrName>style.visibility</p:attrName>
                                        </p:attrNameLst>
                                      </p:cBhvr>
                                      <p:to>
                                        <p:strVal val="visible"/>
                                      </p:to>
                                    </p:set>
                                    <p:animEffect transition="in" filter="fade">
                                      <p:cBhvr>
                                        <p:cTn id="47" dur="500"/>
                                        <p:tgtEl>
                                          <p:spTgt spid="19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8">
                                            <p:txEl>
                                              <p:pRg st="9" end="9"/>
                                            </p:txEl>
                                          </p:spTgt>
                                        </p:tgtEl>
                                        <p:attrNameLst>
                                          <p:attrName>style.visibility</p:attrName>
                                        </p:attrNameLst>
                                      </p:cBhvr>
                                      <p:to>
                                        <p:strVal val="visible"/>
                                      </p:to>
                                    </p:set>
                                    <p:animEffect transition="in" filter="fade">
                                      <p:cBhvr>
                                        <p:cTn id="52" dur="500"/>
                                        <p:tgtEl>
                                          <p:spTgt spid="19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98">
                                            <p:txEl>
                                              <p:pRg st="10" end="10"/>
                                            </p:txEl>
                                          </p:spTgt>
                                        </p:tgtEl>
                                        <p:attrNameLst>
                                          <p:attrName>style.visibility</p:attrName>
                                        </p:attrNameLst>
                                      </p:cBhvr>
                                      <p:to>
                                        <p:strVal val="visible"/>
                                      </p:to>
                                    </p:set>
                                    <p:animEffect transition="in" filter="fade">
                                      <p:cBhvr>
                                        <p:cTn id="57" dur="500"/>
                                        <p:tgtEl>
                                          <p:spTgt spid="19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8">
                                            <p:txEl>
                                              <p:pRg st="11" end="11"/>
                                            </p:txEl>
                                          </p:spTgt>
                                        </p:tgtEl>
                                        <p:attrNameLst>
                                          <p:attrName>style.visibility</p:attrName>
                                        </p:attrNameLst>
                                      </p:cBhvr>
                                      <p:to>
                                        <p:strVal val="visible"/>
                                      </p:to>
                                    </p:set>
                                    <p:animEffect transition="in" filter="fade">
                                      <p:cBhvr>
                                        <p:cTn id="62" dur="500"/>
                                        <p:tgtEl>
                                          <p:spTgt spid="19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98">
                                            <p:txEl>
                                              <p:pRg st="12" end="12"/>
                                            </p:txEl>
                                          </p:spTgt>
                                        </p:tgtEl>
                                        <p:attrNameLst>
                                          <p:attrName>style.visibility</p:attrName>
                                        </p:attrNameLst>
                                      </p:cBhvr>
                                      <p:to>
                                        <p:strVal val="visible"/>
                                      </p:to>
                                    </p:set>
                                    <p:animEffect transition="in" filter="fade">
                                      <p:cBhvr>
                                        <p:cTn id="67" dur="500"/>
                                        <p:tgtEl>
                                          <p:spTgt spid="19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8">
                                            <p:txEl>
                                              <p:pRg st="13" end="13"/>
                                            </p:txEl>
                                          </p:spTgt>
                                        </p:tgtEl>
                                        <p:attrNameLst>
                                          <p:attrName>style.visibility</p:attrName>
                                        </p:attrNameLst>
                                      </p:cBhvr>
                                      <p:to>
                                        <p:strVal val="visible"/>
                                      </p:to>
                                    </p:set>
                                    <p:animEffect transition="in" filter="fade">
                                      <p:cBhvr>
                                        <p:cTn id="72" dur="500"/>
                                        <p:tgtEl>
                                          <p:spTgt spid="19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98">
                                            <p:txEl>
                                              <p:pRg st="14" end="14"/>
                                            </p:txEl>
                                          </p:spTgt>
                                        </p:tgtEl>
                                        <p:attrNameLst>
                                          <p:attrName>style.visibility</p:attrName>
                                        </p:attrNameLst>
                                      </p:cBhvr>
                                      <p:to>
                                        <p:strVal val="visible"/>
                                      </p:to>
                                    </p:set>
                                    <p:animEffect transition="in" filter="fade">
                                      <p:cBhvr>
                                        <p:cTn id="77" dur="500"/>
                                        <p:tgtEl>
                                          <p:spTgt spid="19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04" name="Google Shape;204;p15"/>
          <p:cNvSpPr txBox="1">
            <a:spLocks noGrp="1"/>
          </p:cNvSpPr>
          <p:nvPr>
            <p:ph type="body" idx="1"/>
          </p:nvPr>
        </p:nvSpPr>
        <p:spPr>
          <a:xfrm>
            <a:off x="457200" y="762000"/>
            <a:ext cx="8229600" cy="5562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Q4: Use the mixed congruential method to generate a sequence of three 2-digit random number with X</a:t>
            </a:r>
            <a:r>
              <a:rPr lang="en-US" b="1" baseline="-25000"/>
              <a:t>0</a:t>
            </a:r>
            <a:r>
              <a:rPr lang="en-US" b="1"/>
              <a:t>=37, a=7, c=29</a:t>
            </a:r>
            <a:r>
              <a:rPr lang="en-US"/>
              <a:t> </a:t>
            </a:r>
            <a:endParaRPr/>
          </a:p>
          <a:p>
            <a:pPr marL="274320" lvl="0" indent="-274320" algn="l" rtl="0">
              <a:spcBef>
                <a:spcPts val="520"/>
              </a:spcBef>
              <a:spcAft>
                <a:spcPts val="0"/>
              </a:spcAft>
              <a:buSzPts val="2470"/>
              <a:buChar char="⚫"/>
            </a:pPr>
            <a:r>
              <a:rPr lang="en-US"/>
              <a:t>Ans:</a:t>
            </a:r>
            <a:endParaRPr/>
          </a:p>
          <a:p>
            <a:pPr marL="274320" lvl="0" indent="-274320" algn="l" rtl="0">
              <a:spcBef>
                <a:spcPts val="520"/>
              </a:spcBef>
              <a:spcAft>
                <a:spcPts val="0"/>
              </a:spcAft>
              <a:buSzPts val="2470"/>
              <a:buChar char="⚫"/>
            </a:pPr>
            <a:r>
              <a:rPr lang="en-US"/>
              <a:t>Given generating 2-digit random number so m=100 and given x</a:t>
            </a:r>
            <a:r>
              <a:rPr lang="en-US" baseline="-25000"/>
              <a:t>0</a:t>
            </a:r>
            <a:r>
              <a:rPr lang="en-US"/>
              <a:t>=37, a=7, c=29</a:t>
            </a:r>
            <a:endParaRPr/>
          </a:p>
          <a:p>
            <a:pPr marL="274320" lvl="0" indent="-274320" algn="l" rtl="0">
              <a:spcBef>
                <a:spcPts val="520"/>
              </a:spcBef>
              <a:spcAft>
                <a:spcPts val="0"/>
              </a:spcAft>
              <a:buSzPts val="2470"/>
              <a:buChar char="⚫"/>
            </a:pPr>
            <a:r>
              <a:rPr lang="en-US"/>
              <a:t>So X</a:t>
            </a:r>
            <a:r>
              <a:rPr lang="en-US" baseline="-25000"/>
              <a:t>1</a:t>
            </a:r>
            <a:r>
              <a:rPr lang="en-US"/>
              <a:t>= (ax</a:t>
            </a:r>
            <a:r>
              <a:rPr lang="en-US" baseline="-25000"/>
              <a:t>0</a:t>
            </a:r>
            <a:r>
              <a:rPr lang="en-US"/>
              <a:t>+c) mod m= (7*37+29) mod 100=88</a:t>
            </a:r>
            <a:endParaRPr/>
          </a:p>
          <a:p>
            <a:pPr marL="274320" lvl="0" indent="-274320" algn="l" rtl="0">
              <a:spcBef>
                <a:spcPts val="520"/>
              </a:spcBef>
              <a:spcAft>
                <a:spcPts val="0"/>
              </a:spcAft>
              <a:buSzPts val="2470"/>
              <a:buChar char="⚫"/>
            </a:pPr>
            <a:r>
              <a:rPr lang="en-US"/>
              <a:t>R</a:t>
            </a:r>
            <a:r>
              <a:rPr lang="en-US" baseline="-25000"/>
              <a:t>1</a:t>
            </a:r>
            <a:r>
              <a:rPr lang="en-US"/>
              <a:t>= X1/m=88/100=0.88</a:t>
            </a:r>
            <a:endParaRPr/>
          </a:p>
          <a:p>
            <a:pPr marL="274320" lvl="0" indent="-274320" algn="l" rtl="0">
              <a:spcBef>
                <a:spcPts val="520"/>
              </a:spcBef>
              <a:spcAft>
                <a:spcPts val="0"/>
              </a:spcAft>
              <a:buSzPts val="2470"/>
              <a:buChar char="⚫"/>
            </a:pPr>
            <a:r>
              <a:rPr lang="en-US"/>
              <a:t>X</a:t>
            </a:r>
            <a:r>
              <a:rPr lang="en-US" baseline="-25000"/>
              <a:t>2</a:t>
            </a:r>
            <a:r>
              <a:rPr lang="en-US"/>
              <a:t>= (ax</a:t>
            </a:r>
            <a:r>
              <a:rPr lang="en-US" baseline="-25000"/>
              <a:t>1</a:t>
            </a:r>
            <a:r>
              <a:rPr lang="en-US"/>
              <a:t>+c) mod m=(7*88+29) mod 100=45 </a:t>
            </a:r>
            <a:endParaRPr/>
          </a:p>
          <a:p>
            <a:pPr marL="274320" lvl="0" indent="-274320" algn="l" rtl="0">
              <a:spcBef>
                <a:spcPts val="520"/>
              </a:spcBef>
              <a:spcAft>
                <a:spcPts val="0"/>
              </a:spcAft>
              <a:buSzPts val="2470"/>
              <a:buChar char="⚫"/>
            </a:pPr>
            <a:r>
              <a:rPr lang="en-US"/>
              <a:t>R</a:t>
            </a:r>
            <a:r>
              <a:rPr lang="en-US" baseline="-25000"/>
              <a:t>2</a:t>
            </a:r>
            <a:r>
              <a:rPr lang="en-US"/>
              <a:t>= X</a:t>
            </a:r>
            <a:r>
              <a:rPr lang="en-US" baseline="-25000"/>
              <a:t>2</a:t>
            </a:r>
            <a:r>
              <a:rPr lang="en-US"/>
              <a:t>/m= 45/100=0.45</a:t>
            </a:r>
            <a:endParaRPr/>
          </a:p>
          <a:p>
            <a:pPr marL="274320" lvl="0" indent="-274320" algn="l" rtl="0">
              <a:spcBef>
                <a:spcPts val="520"/>
              </a:spcBef>
              <a:spcAft>
                <a:spcPts val="0"/>
              </a:spcAft>
              <a:buSzPts val="2470"/>
              <a:buChar char="⚫"/>
            </a:pPr>
            <a:r>
              <a:rPr lang="en-US"/>
              <a:t>X</a:t>
            </a:r>
            <a:r>
              <a:rPr lang="en-US" baseline="-25000"/>
              <a:t>3</a:t>
            </a:r>
            <a:r>
              <a:rPr lang="en-US"/>
              <a:t>= (ax</a:t>
            </a:r>
            <a:r>
              <a:rPr lang="en-US" baseline="-25000"/>
              <a:t>2</a:t>
            </a:r>
            <a:r>
              <a:rPr lang="en-US"/>
              <a:t>+c) mod m=(7*45+29) mod 100=44 </a:t>
            </a:r>
            <a:endParaRPr/>
          </a:p>
          <a:p>
            <a:pPr marL="274320" lvl="0" indent="-274320" algn="l" rtl="0">
              <a:spcBef>
                <a:spcPts val="520"/>
              </a:spcBef>
              <a:spcAft>
                <a:spcPts val="0"/>
              </a:spcAft>
              <a:buSzPts val="2470"/>
              <a:buChar char="⚫"/>
            </a:pPr>
            <a:r>
              <a:rPr lang="en-US"/>
              <a:t>R</a:t>
            </a:r>
            <a:r>
              <a:rPr lang="en-US" baseline="-25000"/>
              <a:t>3</a:t>
            </a:r>
            <a:r>
              <a:rPr lang="en-US"/>
              <a:t>= X</a:t>
            </a:r>
            <a:r>
              <a:rPr lang="en-US" baseline="-25000"/>
              <a:t>3</a:t>
            </a:r>
            <a:r>
              <a:rPr lang="en-US"/>
              <a:t>/m=44/100=0.44</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
                                            <p:txEl>
                                              <p:pRg st="0" end="0"/>
                                            </p:txEl>
                                          </p:spTgt>
                                        </p:tgtEl>
                                        <p:attrNameLst>
                                          <p:attrName>style.visibility</p:attrName>
                                        </p:attrNameLst>
                                      </p:cBhvr>
                                      <p:to>
                                        <p:strVal val="visible"/>
                                      </p:to>
                                    </p:set>
                                    <p:animEffect transition="in" filter="fade">
                                      <p:cBhvr>
                                        <p:cTn id="7" dur="500"/>
                                        <p:tgtEl>
                                          <p:spTgt spid="2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
                                            <p:txEl>
                                              <p:pRg st="1" end="1"/>
                                            </p:txEl>
                                          </p:spTgt>
                                        </p:tgtEl>
                                        <p:attrNameLst>
                                          <p:attrName>style.visibility</p:attrName>
                                        </p:attrNameLst>
                                      </p:cBhvr>
                                      <p:to>
                                        <p:strVal val="visible"/>
                                      </p:to>
                                    </p:set>
                                    <p:animEffect transition="in" filter="fade">
                                      <p:cBhvr>
                                        <p:cTn id="12" dur="500"/>
                                        <p:tgtEl>
                                          <p:spTgt spid="2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
                                            <p:txEl>
                                              <p:pRg st="2" end="2"/>
                                            </p:txEl>
                                          </p:spTgt>
                                        </p:tgtEl>
                                        <p:attrNameLst>
                                          <p:attrName>style.visibility</p:attrName>
                                        </p:attrNameLst>
                                      </p:cBhvr>
                                      <p:to>
                                        <p:strVal val="visible"/>
                                      </p:to>
                                    </p:set>
                                    <p:animEffect transition="in" filter="fade">
                                      <p:cBhvr>
                                        <p:cTn id="17" dur="500"/>
                                        <p:tgtEl>
                                          <p:spTgt spid="2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4">
                                            <p:txEl>
                                              <p:pRg st="3" end="3"/>
                                            </p:txEl>
                                          </p:spTgt>
                                        </p:tgtEl>
                                        <p:attrNameLst>
                                          <p:attrName>style.visibility</p:attrName>
                                        </p:attrNameLst>
                                      </p:cBhvr>
                                      <p:to>
                                        <p:strVal val="visible"/>
                                      </p:to>
                                    </p:set>
                                    <p:animEffect transition="in" filter="fade">
                                      <p:cBhvr>
                                        <p:cTn id="22" dur="500"/>
                                        <p:tgtEl>
                                          <p:spTgt spid="2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4">
                                            <p:txEl>
                                              <p:pRg st="4" end="4"/>
                                            </p:txEl>
                                          </p:spTgt>
                                        </p:tgtEl>
                                        <p:attrNameLst>
                                          <p:attrName>style.visibility</p:attrName>
                                        </p:attrNameLst>
                                      </p:cBhvr>
                                      <p:to>
                                        <p:strVal val="visible"/>
                                      </p:to>
                                    </p:set>
                                    <p:animEffect transition="in" filter="fade">
                                      <p:cBhvr>
                                        <p:cTn id="27" dur="500"/>
                                        <p:tgtEl>
                                          <p:spTgt spid="2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4">
                                            <p:txEl>
                                              <p:pRg st="5" end="5"/>
                                            </p:txEl>
                                          </p:spTgt>
                                        </p:tgtEl>
                                        <p:attrNameLst>
                                          <p:attrName>style.visibility</p:attrName>
                                        </p:attrNameLst>
                                      </p:cBhvr>
                                      <p:to>
                                        <p:strVal val="visible"/>
                                      </p:to>
                                    </p:set>
                                    <p:animEffect transition="in" filter="fade">
                                      <p:cBhvr>
                                        <p:cTn id="32" dur="500"/>
                                        <p:tgtEl>
                                          <p:spTgt spid="2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4">
                                            <p:txEl>
                                              <p:pRg st="6" end="6"/>
                                            </p:txEl>
                                          </p:spTgt>
                                        </p:tgtEl>
                                        <p:attrNameLst>
                                          <p:attrName>style.visibility</p:attrName>
                                        </p:attrNameLst>
                                      </p:cBhvr>
                                      <p:to>
                                        <p:strVal val="visible"/>
                                      </p:to>
                                    </p:set>
                                    <p:animEffect transition="in" filter="fade">
                                      <p:cBhvr>
                                        <p:cTn id="37" dur="500"/>
                                        <p:tgtEl>
                                          <p:spTgt spid="20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4">
                                            <p:txEl>
                                              <p:pRg st="7" end="7"/>
                                            </p:txEl>
                                          </p:spTgt>
                                        </p:tgtEl>
                                        <p:attrNameLst>
                                          <p:attrName>style.visibility</p:attrName>
                                        </p:attrNameLst>
                                      </p:cBhvr>
                                      <p:to>
                                        <p:strVal val="visible"/>
                                      </p:to>
                                    </p:set>
                                    <p:animEffect transition="in" filter="fade">
                                      <p:cBhvr>
                                        <p:cTn id="42" dur="500"/>
                                        <p:tgtEl>
                                          <p:spTgt spid="20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4">
                                            <p:txEl>
                                              <p:pRg st="8" end="8"/>
                                            </p:txEl>
                                          </p:spTgt>
                                        </p:tgtEl>
                                        <p:attrNameLst>
                                          <p:attrName>style.visibility</p:attrName>
                                        </p:attrNameLst>
                                      </p:cBhvr>
                                      <p:to>
                                        <p:strVal val="visible"/>
                                      </p:to>
                                    </p:set>
                                    <p:animEffect transition="in" filter="fade">
                                      <p:cBhvr>
                                        <p:cTn id="47" dur="500"/>
                                        <p:tgtEl>
                                          <p:spTgt spid="20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4">
                                            <p:txEl>
                                              <p:pRg st="9" end="9"/>
                                            </p:txEl>
                                          </p:spTgt>
                                        </p:tgtEl>
                                        <p:attrNameLst>
                                          <p:attrName>style.visibility</p:attrName>
                                        </p:attrNameLst>
                                      </p:cBhvr>
                                      <p:to>
                                        <p:strVal val="visible"/>
                                      </p:to>
                                    </p:set>
                                    <p:animEffect transition="in" filter="fade">
                                      <p:cBhvr>
                                        <p:cTn id="52" dur="500"/>
                                        <p:tgtEl>
                                          <p:spTgt spid="20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04">
                                            <p:txEl>
                                              <p:pRg st="10" end="10"/>
                                            </p:txEl>
                                          </p:spTgt>
                                        </p:tgtEl>
                                        <p:attrNameLst>
                                          <p:attrName>style.visibility</p:attrName>
                                        </p:attrNameLst>
                                      </p:cBhvr>
                                      <p:to>
                                        <p:strVal val="visible"/>
                                      </p:to>
                                    </p:set>
                                    <p:animEffect transition="in" filter="fade">
                                      <p:cBhvr>
                                        <p:cTn id="57" dur="500"/>
                                        <p:tgtEl>
                                          <p:spTgt spid="20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515efc1930_0_46"/>
          <p:cNvSpPr txBox="1">
            <a:spLocks noGrp="1"/>
          </p:cNvSpPr>
          <p:nvPr>
            <p:ph type="title"/>
          </p:nvPr>
        </p:nvSpPr>
        <p:spPr>
          <a:xfrm>
            <a:off x="457200" y="297177"/>
            <a:ext cx="8229600" cy="7620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r>
              <a:rPr lang="en-US"/>
              <a:t>Period of Random no. Generator</a:t>
            </a:r>
            <a:endParaRPr/>
          </a:p>
        </p:txBody>
      </p:sp>
      <p:sp>
        <p:nvSpPr>
          <p:cNvPr id="211" name="Google Shape;211;g3515efc1930_0_46"/>
          <p:cNvSpPr txBox="1">
            <a:spLocks noGrp="1"/>
          </p:cNvSpPr>
          <p:nvPr>
            <p:ph type="body" idx="1"/>
          </p:nvPr>
        </p:nvSpPr>
        <p:spPr>
          <a:xfrm>
            <a:off x="457200" y="1122675"/>
            <a:ext cx="8229600" cy="5201700"/>
          </a:xfrm>
          <a:prstGeom prst="rect">
            <a:avLst/>
          </a:prstGeom>
        </p:spPr>
        <p:txBody>
          <a:bodyPr spcFirstLastPara="1" wrap="square" lIns="91425" tIns="45700" rIns="91425" bIns="45700" anchor="t" anchorCtr="0">
            <a:normAutofit fontScale="92500"/>
          </a:bodyPr>
          <a:lstStyle/>
          <a:p>
            <a:pPr marL="457200" lvl="0" indent="-337185" algn="l" rtl="0">
              <a:spcBef>
                <a:spcPts val="360"/>
              </a:spcBef>
              <a:spcAft>
                <a:spcPts val="0"/>
              </a:spcAft>
              <a:buSzPts val="1710"/>
              <a:buChar char="⚫"/>
            </a:pPr>
            <a:r>
              <a:rPr lang="en-US" dirty="0"/>
              <a:t>The max period(P) is:  For m a power of 2, say m = </a:t>
            </a:r>
            <a:r>
              <a:rPr lang="en-US" dirty="0" smtClean="0"/>
              <a:t>2^b</a:t>
            </a:r>
            <a:r>
              <a:rPr lang="en-US" dirty="0"/>
              <a:t>, and c ≠ 0, the longest possible period is P = m = </a:t>
            </a:r>
            <a:r>
              <a:rPr lang="en-US" dirty="0" smtClean="0"/>
              <a:t>2^b </a:t>
            </a:r>
            <a:r>
              <a:rPr lang="en-US" dirty="0"/>
              <a:t>, which is achieved provided that c is relatively prime to m (that is, the greatest common factor of c and m is 1), and a = 1 + 4k, where k is an integer.  </a:t>
            </a:r>
            <a:endParaRPr dirty="0"/>
          </a:p>
          <a:p>
            <a:pPr marL="457200" lvl="0" indent="-337185" algn="l" rtl="0">
              <a:spcBef>
                <a:spcPts val="0"/>
              </a:spcBef>
              <a:spcAft>
                <a:spcPts val="0"/>
              </a:spcAft>
              <a:buSzPts val="1710"/>
              <a:buChar char="⚫"/>
            </a:pPr>
            <a:r>
              <a:rPr lang="en-US" dirty="0"/>
              <a:t>For m a power of 2, say m </a:t>
            </a:r>
            <a:r>
              <a:rPr lang="en-US"/>
              <a:t>= </a:t>
            </a:r>
            <a:r>
              <a:rPr lang="en-US" smtClean="0"/>
              <a:t>2^b</a:t>
            </a:r>
            <a:r>
              <a:rPr lang="en-US" dirty="0"/>
              <a:t>, and c = 0, the longest possible period is P = m / 4 </a:t>
            </a:r>
            <a:r>
              <a:rPr lang="en-US"/>
              <a:t>= </a:t>
            </a:r>
            <a:r>
              <a:rPr lang="en-US" smtClean="0"/>
              <a:t>2^b-2 </a:t>
            </a:r>
            <a:r>
              <a:rPr lang="en-US" dirty="0"/>
              <a:t>, which is achieved provided that the seed X0 is odd and the multiplier, a, is given by a = 3 + 8k or a = 5 + 8k, for some k = 0, 1,... </a:t>
            </a:r>
            <a:endParaRPr dirty="0"/>
          </a:p>
          <a:p>
            <a:pPr marL="457200" lvl="0" indent="-337185" algn="l" rtl="0">
              <a:spcBef>
                <a:spcPts val="0"/>
              </a:spcBef>
              <a:spcAft>
                <a:spcPts val="0"/>
              </a:spcAft>
              <a:buSzPts val="1710"/>
              <a:buChar char="⚫"/>
            </a:pPr>
            <a:r>
              <a:rPr lang="en-US" dirty="0"/>
              <a:t>For m a prime number and c = 0, the longest possible period is P = m - 1, which is achieved provided that the multiplier, a, has the property that the smallest integer k such that </a:t>
            </a:r>
            <a:r>
              <a:rPr lang="en-US" dirty="0" err="1"/>
              <a:t>ak</a:t>
            </a:r>
            <a:r>
              <a:rPr lang="en-US" dirty="0"/>
              <a:t> - 1 is divisible by m is k = m - 1, </a:t>
            </a: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515efc1930_0_54"/>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Exercise</a:t>
            </a:r>
            <a:endParaRPr/>
          </a:p>
        </p:txBody>
      </p:sp>
      <p:sp>
        <p:nvSpPr>
          <p:cNvPr id="218" name="Google Shape;218;g3515efc1930_0_54"/>
          <p:cNvSpPr txBox="1">
            <a:spLocks noGrp="1"/>
          </p:cNvSpPr>
          <p:nvPr>
            <p:ph type="body" idx="1"/>
          </p:nvPr>
        </p:nvSpPr>
        <p:spPr>
          <a:xfrm>
            <a:off x="457200" y="1935480"/>
            <a:ext cx="8229600" cy="43890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dirty="0"/>
              <a:t>Using the multiplicative congruential method, find the period of the generator for a = 13, m = </a:t>
            </a:r>
            <a:r>
              <a:rPr lang="en-US" dirty="0" smtClean="0"/>
              <a:t>64, </a:t>
            </a:r>
            <a:r>
              <a:rPr lang="en-US" dirty="0"/>
              <a:t>and X0 = 1, 2, 3, and 4. The solution is given in next slide. When the seed is 1 and 3, the sequence has period 16. However, a period of length eight is achieved when the seed is 2 and a period of length four occurs when the seed is 4.</a:t>
            </a:r>
            <a:endParaRP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515efc1930_0_61"/>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225" name="Google Shape;225;g3515efc1930_0_61"/>
          <p:cNvSpPr txBox="1">
            <a:spLocks noGrp="1"/>
          </p:cNvSpPr>
          <p:nvPr>
            <p:ph type="body" idx="1"/>
          </p:nvPr>
        </p:nvSpPr>
        <p:spPr>
          <a:xfrm>
            <a:off x="457200" y="500375"/>
            <a:ext cx="8229600" cy="58242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26" name="Google Shape;226;g3515efc1930_0_61" title="Random1.PNG"/>
          <p:cNvPicPr preferRelativeResize="0"/>
          <p:nvPr/>
        </p:nvPicPr>
        <p:blipFill>
          <a:blip r:embed="rId3">
            <a:alphaModFix/>
          </a:blip>
          <a:stretch>
            <a:fillRect/>
          </a:stretch>
        </p:blipFill>
        <p:spPr>
          <a:xfrm>
            <a:off x="743825" y="241650"/>
            <a:ext cx="7942974" cy="5374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6"/>
          <p:cNvSpPr txBox="1">
            <a:spLocks noGrp="1"/>
          </p:cNvSpPr>
          <p:nvPr>
            <p:ph type="title"/>
          </p:nvPr>
        </p:nvSpPr>
        <p:spPr>
          <a:xfrm>
            <a:off x="457200" y="4572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MID-SQUARE METHOD</a:t>
            </a:r>
            <a:endParaRPr/>
          </a:p>
        </p:txBody>
      </p:sp>
      <p:sp>
        <p:nvSpPr>
          <p:cNvPr id="232" name="Google Shape;232;p16"/>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a:bodyPr>
          <a:lstStyle/>
          <a:p>
            <a:pPr marL="274320" lvl="0" indent="-117475" algn="l" rtl="0">
              <a:spcBef>
                <a:spcPts val="0"/>
              </a:spcBef>
              <a:spcAft>
                <a:spcPts val="0"/>
              </a:spcAft>
              <a:buSzPts val="2470"/>
              <a:buNone/>
            </a:pPr>
            <a:endParaRPr/>
          </a:p>
          <a:p>
            <a:pPr marL="274320" lvl="0" indent="-274320" algn="l" rtl="0">
              <a:spcBef>
                <a:spcPts val="520"/>
              </a:spcBef>
              <a:spcAft>
                <a:spcPts val="0"/>
              </a:spcAft>
              <a:buSzPts val="2470"/>
              <a:buChar char="⚫"/>
            </a:pPr>
            <a:r>
              <a:rPr lang="en-US"/>
              <a:t>This method was proposed by Von Neumann and metropolis.</a:t>
            </a:r>
            <a:endParaRPr/>
          </a:p>
          <a:p>
            <a:pPr marL="274320" lvl="0" indent="-274320" algn="l" rtl="0">
              <a:spcBef>
                <a:spcPts val="520"/>
              </a:spcBef>
              <a:spcAft>
                <a:spcPts val="0"/>
              </a:spcAft>
              <a:buSzPts val="2470"/>
              <a:buChar char="⚫"/>
            </a:pPr>
            <a:r>
              <a:rPr lang="en-US"/>
              <a:t>The technique starts with an initial no. or seed. </a:t>
            </a:r>
            <a:endParaRPr/>
          </a:p>
          <a:p>
            <a:pPr marL="274320" lvl="0" indent="-274320" algn="l" rtl="0">
              <a:spcBef>
                <a:spcPts val="520"/>
              </a:spcBef>
              <a:spcAft>
                <a:spcPts val="0"/>
              </a:spcAft>
              <a:buSzPts val="2470"/>
              <a:buChar char="⚫"/>
            </a:pPr>
            <a:r>
              <a:rPr lang="en-US"/>
              <a:t>This number is squared and the middle digit of the square becomes the random number after placement of the decimal. </a:t>
            </a:r>
            <a:endParaRPr/>
          </a:p>
          <a:p>
            <a:pPr marL="274320" lvl="0" indent="-274320" algn="l" rtl="0">
              <a:spcBef>
                <a:spcPts val="520"/>
              </a:spcBef>
              <a:spcAft>
                <a:spcPts val="0"/>
              </a:spcAft>
              <a:buSzPts val="2470"/>
              <a:buChar char="⚫"/>
            </a:pPr>
            <a:r>
              <a:rPr lang="en-US"/>
              <a:t>Again the middle digits are squared to generate the second random number and so on.</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38" name="Google Shape;238;p17"/>
          <p:cNvSpPr txBox="1">
            <a:spLocks noGrp="1"/>
          </p:cNvSpPr>
          <p:nvPr>
            <p:ph type="body" idx="1"/>
          </p:nvPr>
        </p:nvSpPr>
        <p:spPr>
          <a:xfrm>
            <a:off x="457200" y="990600"/>
            <a:ext cx="8229600" cy="533400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u="sng"/>
              <a:t>Example:</a:t>
            </a:r>
            <a:endParaRPr/>
          </a:p>
          <a:p>
            <a:pPr marL="274320" lvl="0" indent="-274320" algn="l" rtl="0">
              <a:spcBef>
                <a:spcPts val="403"/>
              </a:spcBef>
              <a:spcAft>
                <a:spcPts val="0"/>
              </a:spcAft>
              <a:buSzPct val="95000"/>
              <a:buChar char="⚫"/>
            </a:pPr>
            <a:r>
              <a:rPr lang="en-US"/>
              <a:t> </a:t>
            </a:r>
            <a:endParaRPr/>
          </a:p>
          <a:p>
            <a:pPr marL="365760" lvl="1" indent="0" algn="l" rtl="0">
              <a:spcBef>
                <a:spcPts val="372"/>
              </a:spcBef>
              <a:spcAft>
                <a:spcPts val="0"/>
              </a:spcAft>
              <a:buSzPct val="85000"/>
              <a:buNone/>
            </a:pPr>
            <a:r>
              <a:rPr lang="en-US"/>
              <a:t>X</a:t>
            </a:r>
            <a:r>
              <a:rPr lang="en-US" baseline="-25000"/>
              <a:t>0</a:t>
            </a:r>
            <a:r>
              <a:rPr lang="en-US"/>
              <a:t>= 5497</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(X</a:t>
            </a:r>
            <a:r>
              <a:rPr lang="en-US" baseline="-25000"/>
              <a:t>0</a:t>
            </a:r>
            <a:r>
              <a:rPr lang="en-US"/>
              <a:t>)</a:t>
            </a:r>
            <a:r>
              <a:rPr lang="en-US" baseline="30000"/>
              <a:t>2</a:t>
            </a:r>
            <a:r>
              <a:rPr lang="en-US"/>
              <a:t>= (5497)</a:t>
            </a:r>
            <a:r>
              <a:rPr lang="en-US" baseline="30000"/>
              <a:t>2</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a:t>
            </a:r>
            <a:r>
              <a:rPr lang="en-US" strike="sngStrike"/>
              <a:t>30</a:t>
            </a:r>
            <a:r>
              <a:rPr lang="en-US" u="sng"/>
              <a:t>2170</a:t>
            </a:r>
            <a:r>
              <a:rPr lang="en-US" strike="sngStrike"/>
              <a:t>09</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X</a:t>
            </a:r>
            <a:r>
              <a:rPr lang="en-US" baseline="-25000"/>
              <a:t>1</a:t>
            </a:r>
            <a:r>
              <a:rPr lang="en-US"/>
              <a:t>=2170</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R</a:t>
            </a:r>
            <a:r>
              <a:rPr lang="en-US" baseline="-25000"/>
              <a:t>1</a:t>
            </a:r>
            <a:r>
              <a:rPr lang="en-US"/>
              <a:t>= X</a:t>
            </a:r>
            <a:r>
              <a:rPr lang="en-US" baseline="-25000"/>
              <a:t>1</a:t>
            </a:r>
            <a:r>
              <a:rPr lang="en-US"/>
              <a:t>/m= 2170/10</a:t>
            </a:r>
            <a:r>
              <a:rPr lang="en-US" baseline="30000"/>
              <a:t>4</a:t>
            </a:r>
            <a:r>
              <a:rPr lang="en-US"/>
              <a:t>= 0.2170</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(X</a:t>
            </a:r>
            <a:r>
              <a:rPr lang="en-US" baseline="-25000"/>
              <a:t>1</a:t>
            </a:r>
            <a:r>
              <a:rPr lang="en-US"/>
              <a:t>)</a:t>
            </a:r>
            <a:r>
              <a:rPr lang="en-US" baseline="30000"/>
              <a:t>2</a:t>
            </a:r>
            <a:r>
              <a:rPr lang="en-US"/>
              <a:t>= (2170)</a:t>
            </a:r>
            <a:r>
              <a:rPr lang="en-US" baseline="30000"/>
              <a:t>2</a:t>
            </a:r>
            <a:r>
              <a:rPr lang="en-US"/>
              <a:t> = </a:t>
            </a:r>
            <a:r>
              <a:rPr lang="en-US" strike="sngStrike"/>
              <a:t>04</a:t>
            </a:r>
            <a:r>
              <a:rPr lang="en-US" u="sng"/>
              <a:t>7089</a:t>
            </a:r>
            <a:r>
              <a:rPr lang="en-US" strike="sngStrike"/>
              <a:t>00</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X</a:t>
            </a:r>
            <a:r>
              <a:rPr lang="en-US" baseline="-25000"/>
              <a:t>2</a:t>
            </a:r>
            <a:r>
              <a:rPr lang="en-US"/>
              <a:t>= 7089</a:t>
            </a:r>
            <a:endParaRPr/>
          </a:p>
          <a:p>
            <a:pPr marL="365760" lvl="1" indent="0" algn="l" rtl="0">
              <a:spcBef>
                <a:spcPts val="372"/>
              </a:spcBef>
              <a:spcAft>
                <a:spcPts val="0"/>
              </a:spcAft>
              <a:buSzPct val="85000"/>
              <a:buNone/>
            </a:pPr>
            <a:r>
              <a:rPr lang="en-US"/>
              <a:t> </a:t>
            </a:r>
            <a:endParaRPr/>
          </a:p>
          <a:p>
            <a:pPr marL="365760" lvl="1" indent="0" algn="l" rtl="0">
              <a:spcBef>
                <a:spcPts val="372"/>
              </a:spcBef>
              <a:spcAft>
                <a:spcPts val="0"/>
              </a:spcAft>
              <a:buSzPct val="85000"/>
              <a:buNone/>
            </a:pPr>
            <a:r>
              <a:rPr lang="en-US"/>
              <a:t>R</a:t>
            </a:r>
            <a:r>
              <a:rPr lang="en-US" baseline="-25000"/>
              <a:t>2</a:t>
            </a:r>
            <a:r>
              <a:rPr lang="en-US"/>
              <a:t>= X</a:t>
            </a:r>
            <a:r>
              <a:rPr lang="en-US" baseline="-25000"/>
              <a:t>2</a:t>
            </a:r>
            <a:r>
              <a:rPr lang="en-US"/>
              <a:t>/m= 0.7089</a:t>
            </a:r>
            <a:endParaRPr/>
          </a:p>
          <a:p>
            <a:pPr marL="365760" lvl="1" indent="0" algn="l" rtl="0">
              <a:spcBef>
                <a:spcPts val="372"/>
              </a:spcBef>
              <a:spcAft>
                <a:spcPts val="0"/>
              </a:spcAft>
              <a:buSzPct val="85000"/>
              <a:buNone/>
            </a:pPr>
            <a:r>
              <a:rPr lang="en-US"/>
              <a:t> </a:t>
            </a:r>
            <a:endParaRPr/>
          </a:p>
          <a:p>
            <a:pPr marL="274320" lvl="0" indent="-152765" algn="l" rtl="0">
              <a:spcBef>
                <a:spcPts val="403"/>
              </a:spcBef>
              <a:spcAft>
                <a:spcPts val="0"/>
              </a:spcAft>
              <a:buSzPct val="950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44" name="Google Shape;244;p1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u="sng"/>
              <a:t>Drawbacks:</a:t>
            </a:r>
            <a:endParaRPr/>
          </a:p>
          <a:p>
            <a:pPr marL="640080" lvl="1" indent="-246888" algn="l" rtl="0">
              <a:spcBef>
                <a:spcPts val="480"/>
              </a:spcBef>
              <a:spcAft>
                <a:spcPts val="0"/>
              </a:spcAft>
              <a:buSzPts val="2040"/>
              <a:buChar char="⚫"/>
            </a:pPr>
            <a:r>
              <a:rPr lang="en-US"/>
              <a:t>Zeros are repeated in further numbers generated.</a:t>
            </a:r>
            <a:endParaRPr/>
          </a:p>
          <a:p>
            <a:pPr marL="640080" lvl="1" indent="-246888" algn="l" rtl="0">
              <a:spcBef>
                <a:spcPts val="480"/>
              </a:spcBef>
              <a:spcAft>
                <a:spcPts val="0"/>
              </a:spcAft>
              <a:buSzPts val="2040"/>
              <a:buChar char="⚫"/>
            </a:pPr>
            <a:r>
              <a:rPr lang="en-US"/>
              <a:t>It starts degenerating for multiples of 10, 100,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u="sng"/>
              <a:t>TESTS FOR RANDOM NUMBERS</a:t>
            </a:r>
            <a:r>
              <a:rPr lang="en-US"/>
              <a:t/>
            </a:r>
            <a:br>
              <a:rPr lang="en-US"/>
            </a:br>
            <a:endParaRPr/>
          </a:p>
        </p:txBody>
      </p:sp>
      <p:sp>
        <p:nvSpPr>
          <p:cNvPr id="250" name="Google Shape;250;p1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Properties of random number</a:t>
            </a:r>
            <a:endParaRPr/>
          </a:p>
          <a:p>
            <a:pPr marL="914400" lvl="2" indent="-246887" algn="l" rtl="0">
              <a:spcBef>
                <a:spcPts val="420"/>
              </a:spcBef>
              <a:spcAft>
                <a:spcPts val="0"/>
              </a:spcAft>
              <a:buSzPts val="1470"/>
              <a:buChar char="⚫"/>
            </a:pPr>
            <a:r>
              <a:rPr lang="en-US"/>
              <a:t>Uniformity</a:t>
            </a:r>
            <a:endParaRPr/>
          </a:p>
          <a:p>
            <a:pPr marL="914400" lvl="2" indent="-246887" algn="l" rtl="0">
              <a:spcBef>
                <a:spcPts val="420"/>
              </a:spcBef>
              <a:spcAft>
                <a:spcPts val="0"/>
              </a:spcAft>
              <a:buSzPts val="1470"/>
              <a:buChar char="⚫"/>
            </a:pPr>
            <a:r>
              <a:rPr lang="en-US"/>
              <a:t>Independence</a:t>
            </a:r>
            <a:endParaRPr/>
          </a:p>
          <a:p>
            <a:pPr marL="274320" lvl="0" indent="-274320" algn="l" rtl="0">
              <a:spcBef>
                <a:spcPts val="520"/>
              </a:spcBef>
              <a:spcAft>
                <a:spcPts val="0"/>
              </a:spcAft>
              <a:buSzPts val="2470"/>
              <a:buChar char="⚫"/>
            </a:pPr>
            <a:r>
              <a:rPr lang="en-US" b="1" u="sng"/>
              <a:t>UNIFORMITY:</a:t>
            </a:r>
            <a:endParaRPr/>
          </a:p>
          <a:p>
            <a:pPr marL="640080" lvl="1" indent="-246888" algn="l" rtl="0">
              <a:spcBef>
                <a:spcPts val="480"/>
              </a:spcBef>
              <a:spcAft>
                <a:spcPts val="0"/>
              </a:spcAft>
              <a:buSzPts val="2040"/>
              <a:buChar char="⚫"/>
            </a:pPr>
            <a:r>
              <a:rPr lang="en-US" b="1" i="1"/>
              <a:t>Frequency Test:</a:t>
            </a:r>
            <a:endParaRPr/>
          </a:p>
          <a:p>
            <a:pPr marL="640080" lvl="1" indent="-246888" algn="l" rtl="0">
              <a:spcBef>
                <a:spcPts val="480"/>
              </a:spcBef>
              <a:spcAft>
                <a:spcPts val="0"/>
              </a:spcAft>
              <a:buSzPts val="2040"/>
              <a:buChar char="⚫"/>
            </a:pPr>
            <a:r>
              <a:rPr lang="en-US"/>
              <a:t>It uses Kolmogorov-Smirnov or the Chi-square test to compare the distribution of the set of numbers generated to a uniform distribution.</a:t>
            </a:r>
            <a:endParaRPr/>
          </a:p>
          <a:p>
            <a:pPr marL="274320" lvl="0" indent="-274320" algn="l" rtl="0">
              <a:spcBef>
                <a:spcPts val="520"/>
              </a:spcBef>
              <a:spcAft>
                <a:spcPts val="0"/>
              </a:spcAft>
              <a:buSzPts val="2470"/>
              <a:buChar char="⚫"/>
            </a:pPr>
            <a:r>
              <a:rPr lang="en-US" b="1" u="sng"/>
              <a:t>INDEPENDENCE:</a:t>
            </a:r>
            <a:endParaRPr/>
          </a:p>
          <a:p>
            <a:pPr marL="640080" lvl="1" indent="-246888" algn="l" rtl="0">
              <a:spcBef>
                <a:spcPts val="480"/>
              </a:spcBef>
              <a:spcAft>
                <a:spcPts val="0"/>
              </a:spcAft>
              <a:buSzPts val="2040"/>
              <a:buChar char="⚫"/>
            </a:pPr>
            <a:r>
              <a:rPr lang="en-US" b="1" i="1"/>
              <a:t>Auto-co-relation test:</a:t>
            </a:r>
            <a:endParaRPr/>
          </a:p>
          <a:p>
            <a:pPr marL="274320" lvl="0" indent="-117475" algn="l" rtl="0">
              <a:spcBef>
                <a:spcPts val="520"/>
              </a:spcBef>
              <a:spcAft>
                <a:spcPts val="0"/>
              </a:spcAft>
              <a:buSzPts val="247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56" name="Google Shape;256;p20"/>
          <p:cNvSpPr txBox="1">
            <a:spLocks noGrp="1"/>
          </p:cNvSpPr>
          <p:nvPr>
            <p:ph type="body" idx="1"/>
          </p:nvPr>
        </p:nvSpPr>
        <p:spPr>
          <a:xfrm>
            <a:off x="457200" y="228600"/>
            <a:ext cx="8229600" cy="609600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a:t>It tests the co-relation between numbers and compares the sample co-relation to the expected co-relation that should be 0.</a:t>
            </a:r>
            <a:endParaRPr/>
          </a:p>
          <a:p>
            <a:pPr marL="274320" lvl="0" indent="-274320" algn="l" rtl="0">
              <a:spcBef>
                <a:spcPts val="481"/>
              </a:spcBef>
              <a:spcAft>
                <a:spcPts val="0"/>
              </a:spcAft>
              <a:buSzPct val="95000"/>
              <a:buChar char="⚫"/>
            </a:pPr>
            <a:r>
              <a:rPr lang="en-US"/>
              <a:t>There are some more tests for independence-</a:t>
            </a:r>
            <a:endParaRPr/>
          </a:p>
          <a:p>
            <a:pPr marL="640080" lvl="1" indent="-246888" algn="l" rtl="0">
              <a:spcBef>
                <a:spcPts val="444"/>
              </a:spcBef>
              <a:spcAft>
                <a:spcPts val="0"/>
              </a:spcAft>
              <a:buSzPct val="85000"/>
              <a:buChar char="⚫"/>
            </a:pPr>
            <a:r>
              <a:rPr lang="en-US"/>
              <a:t>Run test</a:t>
            </a:r>
            <a:endParaRPr/>
          </a:p>
          <a:p>
            <a:pPr marL="640080" lvl="1" indent="-246888" algn="l" rtl="0">
              <a:spcBef>
                <a:spcPts val="444"/>
              </a:spcBef>
              <a:spcAft>
                <a:spcPts val="0"/>
              </a:spcAft>
              <a:buSzPct val="85000"/>
              <a:buChar char="⚫"/>
            </a:pPr>
            <a:r>
              <a:rPr lang="en-US"/>
              <a:t>Gap test</a:t>
            </a:r>
            <a:endParaRPr/>
          </a:p>
          <a:p>
            <a:pPr marL="274320" lvl="0" indent="-274320" algn="l" rtl="0">
              <a:spcBef>
                <a:spcPts val="481"/>
              </a:spcBef>
              <a:spcAft>
                <a:spcPts val="0"/>
              </a:spcAft>
              <a:buSzPct val="95000"/>
              <a:buNone/>
            </a:pPr>
            <a:r>
              <a:rPr lang="en-US"/>
              <a:t> </a:t>
            </a:r>
            <a:endParaRPr/>
          </a:p>
          <a:p>
            <a:pPr marL="274320" lvl="0" indent="-274320" algn="l" rtl="0">
              <a:spcBef>
                <a:spcPts val="481"/>
              </a:spcBef>
              <a:spcAft>
                <a:spcPts val="0"/>
              </a:spcAft>
              <a:buSzPct val="95000"/>
              <a:buChar char="⚫"/>
            </a:pPr>
            <a:r>
              <a:rPr lang="en-US"/>
              <a:t>The testing for uniformity of the hypothesis are:</a:t>
            </a:r>
            <a:endParaRPr/>
          </a:p>
          <a:p>
            <a:pPr marL="640080" lvl="1" indent="-246888" algn="l" rtl="0">
              <a:spcBef>
                <a:spcPts val="444"/>
              </a:spcBef>
              <a:spcAft>
                <a:spcPts val="0"/>
              </a:spcAft>
              <a:buSzPct val="85000"/>
              <a:buChar char="⚫"/>
            </a:pPr>
            <a:r>
              <a:rPr lang="en-US"/>
              <a:t>H</a:t>
            </a:r>
            <a:r>
              <a:rPr lang="en-US" baseline="-25000"/>
              <a:t>0</a:t>
            </a:r>
            <a:r>
              <a:rPr lang="en-US"/>
              <a:t>: Ri~U[0,1] called null hypothesis.</a:t>
            </a:r>
            <a:endParaRPr/>
          </a:p>
          <a:p>
            <a:pPr marL="274320" lvl="0" indent="-274320" algn="l" rtl="0">
              <a:spcBef>
                <a:spcPts val="481"/>
              </a:spcBef>
              <a:spcAft>
                <a:spcPts val="0"/>
              </a:spcAft>
              <a:buSzPct val="95000"/>
              <a:buChar char="⚫"/>
            </a:pPr>
            <a:r>
              <a:rPr lang="en-US"/>
              <a:t>The null hypothesis H0 reads that the random number distributed in between [0,1]</a:t>
            </a:r>
            <a:endParaRPr/>
          </a:p>
          <a:p>
            <a:pPr marL="640080" lvl="1" indent="-246888" algn="l" rtl="0">
              <a:spcBef>
                <a:spcPts val="444"/>
              </a:spcBef>
              <a:spcAft>
                <a:spcPts val="0"/>
              </a:spcAft>
              <a:buSzPct val="85000"/>
              <a:buChar char="⚫"/>
            </a:pPr>
            <a:r>
              <a:rPr lang="en-US"/>
              <a:t>H</a:t>
            </a:r>
            <a:r>
              <a:rPr lang="en-US" baseline="-25000"/>
              <a:t>1</a:t>
            </a:r>
            <a:r>
              <a:rPr lang="en-US"/>
              <a:t>:Ri </a:t>
            </a:r>
            <a:r>
              <a:rPr lang="en-US" b="1"/>
              <a:t>not</a:t>
            </a:r>
            <a:r>
              <a:rPr lang="en-US"/>
              <a:t>U[0,1]</a:t>
            </a:r>
            <a:endParaRPr/>
          </a:p>
          <a:p>
            <a:pPr marL="274320" lvl="0" indent="-274320" algn="l" rtl="0">
              <a:spcBef>
                <a:spcPts val="481"/>
              </a:spcBef>
              <a:spcAft>
                <a:spcPts val="0"/>
              </a:spcAft>
              <a:buSzPct val="95000"/>
              <a:buChar char="⚫"/>
            </a:pPr>
            <a:r>
              <a:rPr lang="en-US"/>
              <a:t>Failure to reject the null hypothesis means that evidence of non-uniformity has not been detected by this test.</a:t>
            </a:r>
            <a:endParaRPr/>
          </a:p>
          <a:p>
            <a:pPr marL="274320" lvl="0" indent="-274320" algn="l" rtl="0">
              <a:spcBef>
                <a:spcPts val="481"/>
              </a:spcBef>
              <a:spcAft>
                <a:spcPts val="0"/>
              </a:spcAft>
              <a:buSzPct val="95000"/>
              <a:buChar char="⚫"/>
            </a:pPr>
            <a:r>
              <a:rPr lang="en-US"/>
              <a:t>In test for independence the hypothesis are-</a:t>
            </a:r>
            <a:endParaRPr/>
          </a:p>
          <a:p>
            <a:pPr marL="640080" lvl="1" indent="-246888" algn="l" rtl="0">
              <a:spcBef>
                <a:spcPts val="444"/>
              </a:spcBef>
              <a:spcAft>
                <a:spcPts val="0"/>
              </a:spcAft>
              <a:buSzPct val="85000"/>
              <a:buChar char="⚫"/>
            </a:pPr>
            <a:r>
              <a:rPr lang="en-US"/>
              <a:t>H0:Ri~independent</a:t>
            </a:r>
            <a:endParaRPr/>
          </a:p>
          <a:p>
            <a:pPr marL="640080" lvl="1" indent="-246888" algn="l" rtl="0">
              <a:spcBef>
                <a:spcPts val="444"/>
              </a:spcBef>
              <a:spcAft>
                <a:spcPts val="0"/>
              </a:spcAft>
              <a:buSzPct val="85000"/>
              <a:buChar char="⚫"/>
            </a:pPr>
            <a:r>
              <a:rPr lang="en-US"/>
              <a:t>H</a:t>
            </a:r>
            <a:r>
              <a:rPr lang="en-US" baseline="-25000"/>
              <a:t>1</a:t>
            </a:r>
            <a:r>
              <a:rPr lang="en-US"/>
              <a:t>:Ri  independent rejected</a:t>
            </a:r>
            <a:endParaRPr/>
          </a:p>
          <a:p>
            <a:pPr marL="0" lvl="0" indent="0" algn="l" rtl="0">
              <a:spcBef>
                <a:spcPts val="481"/>
              </a:spcBef>
              <a:spcAft>
                <a:spcPts val="0"/>
              </a:spcAft>
              <a:buSzPct val="95000"/>
              <a:buNone/>
            </a:pPr>
            <a:endParaRPr/>
          </a:p>
          <a:p>
            <a:pPr marL="274320" lvl="0" indent="-129238" algn="l" rtl="0">
              <a:spcBef>
                <a:spcPts val="481"/>
              </a:spcBef>
              <a:spcAft>
                <a:spcPts val="0"/>
              </a:spcAft>
              <a:buSzPct val="95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u="sng"/>
              <a:t>KOLMOGOROV SMIRNOV</a:t>
            </a:r>
            <a:r>
              <a:rPr lang="en-US"/>
              <a:t/>
            </a:r>
            <a:br>
              <a:rPr lang="en-US"/>
            </a:br>
            <a:endParaRPr/>
          </a:p>
        </p:txBody>
      </p:sp>
      <p:sp>
        <p:nvSpPr>
          <p:cNvPr id="262" name="Google Shape;262;p21"/>
          <p:cNvSpPr txBox="1">
            <a:spLocks noGrp="1"/>
          </p:cNvSpPr>
          <p:nvPr>
            <p:ph type="body" idx="1"/>
          </p:nvPr>
        </p:nvSpPr>
        <p:spPr>
          <a:xfrm>
            <a:off x="457200" y="1219200"/>
            <a:ext cx="8229600" cy="5105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470"/>
              <a:buNone/>
            </a:pPr>
            <a:endParaRPr/>
          </a:p>
          <a:p>
            <a:pPr marL="274320" lvl="0" indent="-274320" algn="l" rtl="0">
              <a:spcBef>
                <a:spcPts val="520"/>
              </a:spcBef>
              <a:spcAft>
                <a:spcPts val="0"/>
              </a:spcAft>
              <a:buSzPts val="2470"/>
              <a:buChar char="⚫"/>
            </a:pPr>
            <a:r>
              <a:rPr lang="en-US"/>
              <a:t>This test compares the continuous cdf F(x) of the uniform distribution with the empirical cdf S</a:t>
            </a:r>
            <a:r>
              <a:rPr lang="en-US" baseline="-25000"/>
              <a:t>N</a:t>
            </a:r>
            <a:r>
              <a:rPr lang="en-US"/>
              <a:t>(x) of the sample of N observation.</a:t>
            </a:r>
            <a:endParaRPr/>
          </a:p>
          <a:p>
            <a:pPr marL="274320" lvl="0" indent="-274320" algn="l" rtl="0">
              <a:spcBef>
                <a:spcPts val="520"/>
              </a:spcBef>
              <a:spcAft>
                <a:spcPts val="0"/>
              </a:spcAft>
              <a:buSzPts val="2470"/>
              <a:buChar char="⚫"/>
            </a:pPr>
            <a:r>
              <a:rPr lang="en-US"/>
              <a:t>By definition,</a:t>
            </a:r>
            <a:endParaRPr/>
          </a:p>
          <a:p>
            <a:pPr marL="640080" lvl="1" indent="-246888" algn="l" rtl="0">
              <a:spcBef>
                <a:spcPts val="480"/>
              </a:spcBef>
              <a:spcAft>
                <a:spcPts val="0"/>
              </a:spcAft>
              <a:buSzPts val="2040"/>
              <a:buChar char="⚫"/>
            </a:pPr>
            <a:r>
              <a:rPr lang="en-US"/>
              <a:t>F(x)=x, 0&lt;=x&lt;=1</a:t>
            </a:r>
            <a:endParaRPr/>
          </a:p>
          <a:p>
            <a:pPr marL="274320" lvl="0" indent="-274320" algn="l" rtl="0">
              <a:spcBef>
                <a:spcPts val="520"/>
              </a:spcBef>
              <a:spcAft>
                <a:spcPts val="0"/>
              </a:spcAft>
              <a:buSzPts val="2470"/>
              <a:buChar char="⚫"/>
            </a:pPr>
            <a:r>
              <a:rPr lang="en-US"/>
              <a:t>If the sample from the random number generator is-</a:t>
            </a:r>
            <a:endParaRPr/>
          </a:p>
          <a:p>
            <a:pPr marL="640080" lvl="1" indent="-246888" algn="l" rtl="0">
              <a:spcBef>
                <a:spcPts val="480"/>
              </a:spcBef>
              <a:spcAft>
                <a:spcPts val="0"/>
              </a:spcAft>
              <a:buSzPts val="2040"/>
              <a:buChar char="⚫"/>
            </a:pPr>
            <a:r>
              <a:rPr lang="en-US"/>
              <a:t>R</a:t>
            </a:r>
            <a:r>
              <a:rPr lang="en-US" baseline="-25000"/>
              <a:t>1</a:t>
            </a:r>
            <a:r>
              <a:rPr lang="en-US"/>
              <a:t>,R</a:t>
            </a:r>
            <a:r>
              <a:rPr lang="en-US" baseline="-25000"/>
              <a:t>2</a:t>
            </a:r>
            <a:r>
              <a:rPr lang="en-US"/>
              <a:t>,R</a:t>
            </a:r>
            <a:r>
              <a:rPr lang="en-US" baseline="-25000"/>
              <a:t>3</a:t>
            </a:r>
            <a:r>
              <a:rPr lang="en-US"/>
              <a:t>……R</a:t>
            </a:r>
            <a:r>
              <a:rPr lang="en-US" baseline="-25000"/>
              <a:t>N</a:t>
            </a:r>
            <a:endParaRPr/>
          </a:p>
          <a:p>
            <a:pPr marL="274320" lvl="0" indent="-274320" algn="l" rtl="0">
              <a:spcBef>
                <a:spcPts val="520"/>
              </a:spcBef>
              <a:spcAft>
                <a:spcPts val="0"/>
              </a:spcAft>
              <a:buSzPts val="2470"/>
              <a:buChar char="⚫"/>
            </a:pPr>
            <a:r>
              <a:rPr lang="en-US"/>
              <a:t>S</a:t>
            </a:r>
            <a:r>
              <a:rPr lang="en-US" baseline="-25000"/>
              <a:t>N</a:t>
            </a:r>
            <a:r>
              <a:rPr lang="en-US"/>
              <a:t>(n)=no. of R</a:t>
            </a:r>
            <a:r>
              <a:rPr lang="en-US" baseline="-25000"/>
              <a:t>1,</a:t>
            </a:r>
            <a:r>
              <a:rPr lang="en-US"/>
              <a:t>R</a:t>
            </a:r>
            <a:r>
              <a:rPr lang="en-US" baseline="-25000"/>
              <a:t>2,……</a:t>
            </a:r>
            <a:r>
              <a:rPr lang="en-US"/>
              <a:t>	R</a:t>
            </a:r>
            <a:r>
              <a:rPr lang="en-US" baseline="-25000"/>
              <a:t>N</a:t>
            </a:r>
            <a:r>
              <a:rPr lang="en-US"/>
              <a:t> which are &lt;=x</a:t>
            </a:r>
            <a:endParaRPr/>
          </a:p>
          <a:p>
            <a:pPr marL="274320" lvl="0" indent="-274320" algn="l" rtl="0">
              <a:spcBef>
                <a:spcPts val="520"/>
              </a:spcBef>
              <a:spcAft>
                <a:spcPts val="0"/>
              </a:spcAft>
              <a:buSzPts val="2470"/>
              <a:buChar char="⚫"/>
            </a:pPr>
            <a:r>
              <a:rPr lang="en-US"/>
              <a:t>This test is based on the statistical D=max | f(x)=S</a:t>
            </a:r>
            <a:r>
              <a:rPr lang="en-US" baseline="-25000"/>
              <a:t>N</a:t>
            </a:r>
            <a:r>
              <a:rPr lang="en-US"/>
              <a:t>(x) |</a:t>
            </a:r>
            <a:endParaRPr/>
          </a:p>
          <a:p>
            <a:pPr marL="274320" lvl="0" indent="-117475" algn="l" rtl="0">
              <a:spcBef>
                <a:spcPts val="520"/>
              </a:spcBef>
              <a:spcAft>
                <a:spcPts val="0"/>
              </a:spcAft>
              <a:buSzPts val="247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KOLMOGOROV SMIRNOV</a:t>
            </a:r>
            <a:endParaRPr/>
          </a:p>
        </p:txBody>
      </p:sp>
      <p:sp>
        <p:nvSpPr>
          <p:cNvPr id="268" name="Google Shape;268;p2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u="sng"/>
              <a:t>Step-1</a:t>
            </a:r>
            <a:endParaRPr/>
          </a:p>
          <a:p>
            <a:pPr marL="274320" lvl="0" indent="-274320" algn="l" rtl="0">
              <a:spcBef>
                <a:spcPts val="520"/>
              </a:spcBef>
              <a:spcAft>
                <a:spcPts val="0"/>
              </a:spcAft>
              <a:buSzPts val="2470"/>
              <a:buChar char="⚫"/>
            </a:pPr>
            <a:r>
              <a:rPr lang="en-US"/>
              <a:t>Rank the data from smallest to largest. Let R</a:t>
            </a:r>
            <a:r>
              <a:rPr lang="en-US" baseline="-25000"/>
              <a:t>i</a:t>
            </a:r>
            <a:r>
              <a:rPr lang="en-US"/>
              <a:t> denotes the smallest i</a:t>
            </a:r>
            <a:r>
              <a:rPr lang="en-US" baseline="30000"/>
              <a:t>th</a:t>
            </a:r>
            <a:r>
              <a:rPr lang="en-US"/>
              <a:t> observation-</a:t>
            </a:r>
            <a:endParaRPr/>
          </a:p>
          <a:p>
            <a:pPr marL="914400" lvl="2" indent="-246887" algn="l" rtl="0">
              <a:spcBef>
                <a:spcPts val="420"/>
              </a:spcBef>
              <a:spcAft>
                <a:spcPts val="0"/>
              </a:spcAft>
              <a:buSzPts val="1470"/>
              <a:buChar char="⚫"/>
            </a:pPr>
            <a:r>
              <a:rPr lang="en-US"/>
              <a:t>R</a:t>
            </a:r>
            <a:r>
              <a:rPr lang="en-US" baseline="-25000"/>
              <a:t>(1)</a:t>
            </a:r>
            <a:r>
              <a:rPr lang="en-US"/>
              <a:t>&lt;=R</a:t>
            </a:r>
            <a:r>
              <a:rPr lang="en-US" baseline="-25000"/>
              <a:t>(2)</a:t>
            </a:r>
            <a:r>
              <a:rPr lang="en-US"/>
              <a:t>&lt;=……&lt;=R</a:t>
            </a:r>
            <a:r>
              <a:rPr lang="en-US" baseline="-25000"/>
              <a:t>(N)</a:t>
            </a:r>
            <a:endParaRPr/>
          </a:p>
          <a:p>
            <a:pPr marL="274320" lvl="0" indent="-274320" algn="l" rtl="0">
              <a:spcBef>
                <a:spcPts val="520"/>
              </a:spcBef>
              <a:spcAft>
                <a:spcPts val="0"/>
              </a:spcAft>
              <a:buSzPts val="2470"/>
              <a:buChar char="⚫"/>
            </a:pPr>
            <a:r>
              <a:rPr lang="en-US" b="1" u="sng"/>
              <a:t>Step-2</a:t>
            </a:r>
            <a:endParaRPr/>
          </a:p>
          <a:p>
            <a:pPr marL="640080" lvl="1" indent="-246888" algn="l" rtl="0">
              <a:spcBef>
                <a:spcPts val="480"/>
              </a:spcBef>
              <a:spcAft>
                <a:spcPts val="0"/>
              </a:spcAft>
              <a:buSzPts val="2040"/>
              <a:buChar char="⚫"/>
            </a:pPr>
            <a:r>
              <a:rPr lang="en-US"/>
              <a:t>Compute –</a:t>
            </a:r>
            <a:endParaRPr/>
          </a:p>
          <a:p>
            <a:pPr marL="640080" lvl="1" indent="-246888" algn="l" rtl="0">
              <a:spcBef>
                <a:spcPts val="480"/>
              </a:spcBef>
              <a:spcAft>
                <a:spcPts val="0"/>
              </a:spcAft>
              <a:buSzPts val="2040"/>
              <a:buChar char="⚫"/>
            </a:pPr>
            <a:r>
              <a:rPr lang="en-US"/>
              <a:t>D</a:t>
            </a:r>
            <a:r>
              <a:rPr lang="en-US" baseline="30000"/>
              <a:t>+</a:t>
            </a:r>
            <a:r>
              <a:rPr lang="en-US"/>
              <a:t>=max</a:t>
            </a:r>
            <a:r>
              <a:rPr lang="en-US" baseline="-25000"/>
              <a:t>1&lt;=i&lt;N</a:t>
            </a:r>
            <a:r>
              <a:rPr lang="en-US"/>
              <a:t> {i/N-R</a:t>
            </a:r>
            <a:r>
              <a:rPr lang="en-US" baseline="-25000"/>
              <a:t>(i)</a:t>
            </a:r>
            <a:r>
              <a:rPr lang="en-US"/>
              <a:t>} </a:t>
            </a:r>
            <a:endParaRPr/>
          </a:p>
          <a:p>
            <a:pPr marL="640080" lvl="1" indent="-246888" algn="l" rtl="0">
              <a:spcBef>
                <a:spcPts val="480"/>
              </a:spcBef>
              <a:spcAft>
                <a:spcPts val="0"/>
              </a:spcAft>
              <a:buSzPts val="2040"/>
              <a:buChar char="⚫"/>
            </a:pPr>
            <a:r>
              <a:rPr lang="en-US"/>
              <a:t>D</a:t>
            </a:r>
            <a:r>
              <a:rPr lang="en-US" baseline="30000"/>
              <a:t>-</a:t>
            </a:r>
            <a:r>
              <a:rPr lang="en-US"/>
              <a:t>=max</a:t>
            </a:r>
            <a:r>
              <a:rPr lang="en-US" baseline="-25000"/>
              <a:t>1&lt;=i&lt;N</a:t>
            </a:r>
            <a:r>
              <a:rPr lang="en-US"/>
              <a:t> {R</a:t>
            </a:r>
            <a:r>
              <a:rPr lang="en-US" baseline="-25000"/>
              <a:t>i</a:t>
            </a:r>
            <a:r>
              <a:rPr lang="en-US"/>
              <a:t>-(i-1)/N}</a:t>
            </a:r>
            <a:endParaRPr/>
          </a:p>
          <a:p>
            <a:pPr marL="274320" lvl="0" indent="-274320" algn="l" rtl="0">
              <a:spcBef>
                <a:spcPts val="520"/>
              </a:spcBef>
              <a:spcAft>
                <a:spcPts val="0"/>
              </a:spcAft>
              <a:buSzPts val="247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KOLMOGOROV SMIRNOV</a:t>
            </a:r>
            <a:endParaRPr/>
          </a:p>
        </p:txBody>
      </p:sp>
      <p:sp>
        <p:nvSpPr>
          <p:cNvPr id="274" name="Google Shape;274;p23"/>
          <p:cNvSpPr txBox="1">
            <a:spLocks noGrp="1"/>
          </p:cNvSpPr>
          <p:nvPr>
            <p:ph type="body" idx="1"/>
          </p:nvPr>
        </p:nvSpPr>
        <p:spPr>
          <a:xfrm>
            <a:off x="457200" y="1905000"/>
            <a:ext cx="8229600" cy="441960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95000"/>
              <a:buChar char="⚫"/>
            </a:pPr>
            <a:r>
              <a:rPr lang="en-US" b="1" u="sng"/>
              <a:t>Step-3</a:t>
            </a:r>
            <a:endParaRPr/>
          </a:p>
          <a:p>
            <a:pPr marL="640080" lvl="1" indent="-246888" algn="l" rtl="0">
              <a:spcBef>
                <a:spcPts val="444"/>
              </a:spcBef>
              <a:spcAft>
                <a:spcPts val="0"/>
              </a:spcAft>
              <a:buSzPct val="85000"/>
              <a:buChar char="⚫"/>
            </a:pPr>
            <a:r>
              <a:rPr lang="en-US"/>
              <a:t>Compute D=max(D</a:t>
            </a:r>
            <a:r>
              <a:rPr lang="en-US" baseline="30000"/>
              <a:t>+</a:t>
            </a:r>
            <a:r>
              <a:rPr lang="en-US"/>
              <a:t>,D</a:t>
            </a:r>
            <a:r>
              <a:rPr lang="en-US" baseline="30000"/>
              <a:t>-</a:t>
            </a:r>
            <a:r>
              <a:rPr lang="en-US"/>
              <a:t>}</a:t>
            </a:r>
            <a:endParaRPr/>
          </a:p>
          <a:p>
            <a:pPr marL="274320" lvl="0" indent="-274320" algn="l" rtl="0">
              <a:spcBef>
                <a:spcPts val="481"/>
              </a:spcBef>
              <a:spcAft>
                <a:spcPts val="0"/>
              </a:spcAft>
              <a:buSzPct val="95000"/>
              <a:buChar char="⚫"/>
            </a:pPr>
            <a:r>
              <a:rPr lang="en-US" b="1" u="sng"/>
              <a:t>Step-4</a:t>
            </a:r>
            <a:endParaRPr/>
          </a:p>
          <a:p>
            <a:pPr marL="640080" lvl="1" indent="-246888" algn="l" rtl="0">
              <a:spcBef>
                <a:spcPts val="444"/>
              </a:spcBef>
              <a:spcAft>
                <a:spcPts val="0"/>
              </a:spcAft>
              <a:buSzPct val="85000"/>
              <a:buChar char="⚫"/>
            </a:pPr>
            <a:r>
              <a:rPr lang="en-US"/>
              <a:t>Locate in table the critical value Dα for the specified significant table ‘ α’ &amp; the given sample size ‘N’.</a:t>
            </a:r>
            <a:endParaRPr/>
          </a:p>
          <a:p>
            <a:pPr marL="274320" lvl="0" indent="-274320" algn="l" rtl="0">
              <a:spcBef>
                <a:spcPts val="481"/>
              </a:spcBef>
              <a:spcAft>
                <a:spcPts val="0"/>
              </a:spcAft>
              <a:buSzPct val="95000"/>
              <a:buChar char="⚫"/>
            </a:pPr>
            <a:r>
              <a:rPr lang="en-US" b="1" u="sng"/>
              <a:t>Step-5</a:t>
            </a:r>
            <a:endParaRPr/>
          </a:p>
          <a:p>
            <a:pPr marL="640080" lvl="1" indent="-246888" algn="l" rtl="0">
              <a:spcBef>
                <a:spcPts val="444"/>
              </a:spcBef>
              <a:spcAft>
                <a:spcPts val="0"/>
              </a:spcAft>
              <a:buSzPct val="85000"/>
              <a:buChar char="⚫"/>
            </a:pPr>
            <a:r>
              <a:rPr lang="en-US"/>
              <a:t>If the sample statistic (D) &gt; the critical value (D</a:t>
            </a:r>
            <a:r>
              <a:rPr lang="en-US" baseline="-25000"/>
              <a:t>α</a:t>
            </a:r>
            <a:r>
              <a:rPr lang="en-US"/>
              <a:t>) the null hypothesis that the data are sample from a uniform distribution is rejected.</a:t>
            </a:r>
            <a:endParaRPr/>
          </a:p>
          <a:p>
            <a:pPr marL="640080" lvl="1" indent="-246888" algn="l" rtl="0">
              <a:spcBef>
                <a:spcPts val="444"/>
              </a:spcBef>
              <a:spcAft>
                <a:spcPts val="0"/>
              </a:spcAft>
              <a:buSzPct val="85000"/>
              <a:buChar char="⚫"/>
            </a:pPr>
            <a:r>
              <a:rPr lang="en-US"/>
              <a:t>If D&lt;= D</a:t>
            </a:r>
            <a:r>
              <a:rPr lang="en-US" baseline="-25000"/>
              <a:t>α</a:t>
            </a:r>
            <a:r>
              <a:rPr lang="en-US"/>
              <a:t> conclude that no difference has been detected between the true distribution &amp; the uniform distribution.</a:t>
            </a:r>
            <a:endParaRPr/>
          </a:p>
          <a:p>
            <a:pPr marL="274320" lvl="0" indent="-129238" algn="l" rtl="0">
              <a:spcBef>
                <a:spcPts val="481"/>
              </a:spcBef>
              <a:spcAft>
                <a:spcPts val="0"/>
              </a:spcAft>
              <a:buSzPct val="950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KOLMOGOROV SMIRNOV</a:t>
            </a:r>
            <a:endParaRPr/>
          </a:p>
        </p:txBody>
      </p:sp>
      <p:sp>
        <p:nvSpPr>
          <p:cNvPr id="280" name="Google Shape;280;p2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For each test a table of significance ‘ α’ is tested. This table is the probability of rejecting the null hypothesis , when the null hypothesis is true.</a:t>
            </a:r>
            <a:endParaRPr/>
          </a:p>
          <a:p>
            <a:pPr marL="274320" lvl="0" indent="-274320" algn="l" rtl="0">
              <a:spcBef>
                <a:spcPts val="520"/>
              </a:spcBef>
              <a:spcAft>
                <a:spcPts val="0"/>
              </a:spcAft>
              <a:buSzPts val="2470"/>
              <a:buChar char="⚫"/>
            </a:pPr>
            <a:r>
              <a:rPr lang="en-US"/>
              <a:t>The decision marker sets the value of ‘ α’ for any tests frequently α=0.01 or 0.05.</a:t>
            </a:r>
            <a:endParaRPr/>
          </a:p>
          <a:p>
            <a:pPr marL="274320" lvl="0" indent="-117475" algn="l" rtl="0">
              <a:spcBef>
                <a:spcPts val="520"/>
              </a:spcBef>
              <a:spcAft>
                <a:spcPts val="0"/>
              </a:spcAft>
              <a:buSzPts val="247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286" name="Google Shape;286;p25" descr="kol.PNG"/>
          <p:cNvPicPr preferRelativeResize="0">
            <a:picLocks noGrp="1"/>
          </p:cNvPicPr>
          <p:nvPr>
            <p:ph type="body" idx="1"/>
          </p:nvPr>
        </p:nvPicPr>
        <p:blipFill rotWithShape="1">
          <a:blip r:embed="rId3">
            <a:alphaModFix/>
          </a:blip>
          <a:srcRect/>
          <a:stretch/>
        </p:blipFill>
        <p:spPr>
          <a:xfrm>
            <a:off x="457200" y="685800"/>
            <a:ext cx="8586397" cy="5257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292" name="Google Shape;292;p26"/>
          <p:cNvSpPr txBox="1">
            <a:spLocks noGrp="1"/>
          </p:cNvSpPr>
          <p:nvPr>
            <p:ph type="body" idx="1"/>
          </p:nvPr>
        </p:nvSpPr>
        <p:spPr>
          <a:xfrm>
            <a:off x="457200" y="0"/>
            <a:ext cx="8229600" cy="6324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u="sng"/>
              <a:t>Step-1</a:t>
            </a:r>
            <a:endParaRPr/>
          </a:p>
          <a:p>
            <a:pPr marL="274320" lvl="0" indent="-274320" algn="l" rtl="0">
              <a:spcBef>
                <a:spcPts val="520"/>
              </a:spcBef>
              <a:spcAft>
                <a:spcPts val="0"/>
              </a:spcAft>
              <a:buSzPts val="2470"/>
              <a:buChar char="⚫"/>
            </a:pPr>
            <a:r>
              <a:rPr lang="en-US"/>
              <a:t>D</a:t>
            </a:r>
            <a:r>
              <a:rPr lang="en-US" baseline="30000"/>
              <a:t>+</a:t>
            </a:r>
            <a:r>
              <a:rPr lang="en-US"/>
              <a:t>=0.26</a:t>
            </a:r>
            <a:endParaRPr/>
          </a:p>
          <a:p>
            <a:pPr marL="274320" lvl="0" indent="-274320" algn="l" rtl="0">
              <a:spcBef>
                <a:spcPts val="520"/>
              </a:spcBef>
              <a:spcAft>
                <a:spcPts val="0"/>
              </a:spcAft>
              <a:buSzPts val="2470"/>
              <a:buChar char="⚫"/>
            </a:pPr>
            <a:r>
              <a:rPr lang="en-US" b="1" u="sng"/>
              <a:t>Step-2</a:t>
            </a:r>
            <a:endParaRPr/>
          </a:p>
          <a:p>
            <a:pPr marL="274320" lvl="0" indent="-274320" algn="l" rtl="0">
              <a:spcBef>
                <a:spcPts val="520"/>
              </a:spcBef>
              <a:spcAft>
                <a:spcPts val="0"/>
              </a:spcAft>
              <a:buSzPts val="2470"/>
              <a:buChar char="⚫"/>
            </a:pPr>
            <a:r>
              <a:rPr lang="en-US"/>
              <a:t>D</a:t>
            </a:r>
            <a:r>
              <a:rPr lang="en-US" baseline="30000"/>
              <a:t>-</a:t>
            </a:r>
            <a:r>
              <a:rPr lang="en-US"/>
              <a:t>=0.21</a:t>
            </a:r>
            <a:endParaRPr/>
          </a:p>
          <a:p>
            <a:pPr marL="274320" lvl="0" indent="-274320" algn="l" rtl="0">
              <a:spcBef>
                <a:spcPts val="520"/>
              </a:spcBef>
              <a:spcAft>
                <a:spcPts val="0"/>
              </a:spcAft>
              <a:buSzPts val="2470"/>
              <a:buChar char="⚫"/>
            </a:pPr>
            <a:r>
              <a:rPr lang="en-US" b="1" u="sng"/>
              <a:t>Step-3</a:t>
            </a:r>
            <a:endParaRPr/>
          </a:p>
          <a:p>
            <a:pPr marL="274320" lvl="0" indent="-274320" algn="l" rtl="0">
              <a:spcBef>
                <a:spcPts val="520"/>
              </a:spcBef>
              <a:spcAft>
                <a:spcPts val="0"/>
              </a:spcAft>
              <a:buSzPts val="2470"/>
              <a:buChar char="⚫"/>
            </a:pPr>
            <a:r>
              <a:rPr lang="en-US"/>
              <a:t>D=max(0.26,0.21)=0.26</a:t>
            </a:r>
            <a:endParaRPr/>
          </a:p>
          <a:p>
            <a:pPr marL="274320" lvl="0" indent="-274320" algn="l" rtl="0">
              <a:spcBef>
                <a:spcPts val="520"/>
              </a:spcBef>
              <a:spcAft>
                <a:spcPts val="0"/>
              </a:spcAft>
              <a:buSzPts val="2470"/>
              <a:buChar char="⚫"/>
            </a:pPr>
            <a:r>
              <a:rPr lang="en-US" b="1" u="sng"/>
              <a:t>Step-4</a:t>
            </a:r>
            <a:endParaRPr/>
          </a:p>
          <a:p>
            <a:pPr marL="274320" lvl="0" indent="-274320" algn="l" rtl="0">
              <a:spcBef>
                <a:spcPts val="520"/>
              </a:spcBef>
              <a:spcAft>
                <a:spcPts val="0"/>
              </a:spcAft>
              <a:buSzPts val="2470"/>
              <a:buChar char="⚫"/>
            </a:pPr>
            <a:r>
              <a:rPr lang="en-US"/>
              <a:t>α=0.05 , N=5</a:t>
            </a:r>
            <a:endParaRPr/>
          </a:p>
          <a:p>
            <a:pPr marL="274320" lvl="0" indent="-274320" algn="l" rtl="0">
              <a:spcBef>
                <a:spcPts val="520"/>
              </a:spcBef>
              <a:spcAft>
                <a:spcPts val="0"/>
              </a:spcAft>
              <a:buSzPts val="2470"/>
              <a:buChar char="⚫"/>
            </a:pPr>
            <a:r>
              <a:rPr lang="en-US"/>
              <a:t>D α=0.565</a:t>
            </a:r>
            <a:endParaRPr/>
          </a:p>
          <a:p>
            <a:pPr marL="274320" lvl="0" indent="-274320" algn="l" rtl="0">
              <a:spcBef>
                <a:spcPts val="520"/>
              </a:spcBef>
              <a:spcAft>
                <a:spcPts val="0"/>
              </a:spcAft>
              <a:buSzPts val="2470"/>
              <a:buChar char="⚫"/>
            </a:pPr>
            <a:r>
              <a:rPr lang="en-US" b="1" u="sng"/>
              <a:t>Step-5</a:t>
            </a:r>
            <a:endParaRPr/>
          </a:p>
          <a:p>
            <a:pPr marL="274320" lvl="0" indent="-274320" algn="l" rtl="0">
              <a:spcBef>
                <a:spcPts val="520"/>
              </a:spcBef>
              <a:spcAft>
                <a:spcPts val="0"/>
              </a:spcAft>
              <a:buSzPts val="2470"/>
              <a:buChar char="⚫"/>
            </a:pPr>
            <a:r>
              <a:rPr lang="en-US"/>
              <a:t>As D&lt;D α, the sequence of random no. is uniformly distributed &amp; the null hypothesis is not rejected.</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Kolmogorov Smirnov Table</a:t>
            </a:r>
            <a:endParaRPr/>
          </a:p>
        </p:txBody>
      </p:sp>
      <p:pic>
        <p:nvPicPr>
          <p:cNvPr id="298" name="Google Shape;298;p27"/>
          <p:cNvPicPr preferRelativeResize="0">
            <a:picLocks noGrp="1"/>
          </p:cNvPicPr>
          <p:nvPr>
            <p:ph type="body" idx="1"/>
          </p:nvPr>
        </p:nvPicPr>
        <p:blipFill rotWithShape="1">
          <a:blip r:embed="rId3">
            <a:alphaModFix/>
          </a:blip>
          <a:srcRect/>
          <a:stretch/>
        </p:blipFill>
        <p:spPr>
          <a:xfrm>
            <a:off x="589642" y="1976741"/>
            <a:ext cx="7964715" cy="430628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8"/>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Chi-Square Test</a:t>
            </a:r>
            <a:endParaRPr/>
          </a:p>
        </p:txBody>
      </p:sp>
      <p:sp>
        <p:nvSpPr>
          <p:cNvPr id="304" name="Google Shape;304;p28"/>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The test uses the sample statistics</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914400" lvl="2" indent="-246887" algn="l" rtl="0">
              <a:spcBef>
                <a:spcPts val="420"/>
              </a:spcBef>
              <a:spcAft>
                <a:spcPts val="0"/>
              </a:spcAft>
              <a:buSzPts val="1470"/>
              <a:buChar char="⚫"/>
            </a:pPr>
            <a:r>
              <a:rPr lang="en-US"/>
              <a:t>Where, Oi = The observed number in the ith class </a:t>
            </a:r>
            <a:endParaRPr/>
          </a:p>
          <a:p>
            <a:pPr marL="914400" lvl="2" indent="-246887" algn="l" rtl="0">
              <a:spcBef>
                <a:spcPts val="420"/>
              </a:spcBef>
              <a:spcAft>
                <a:spcPts val="0"/>
              </a:spcAft>
              <a:buSzPts val="1470"/>
              <a:buChar char="⚫"/>
            </a:pPr>
            <a:r>
              <a:rPr lang="en-US"/>
              <a:t>Ei = Expected number in the ith class </a:t>
            </a:r>
            <a:endParaRPr/>
          </a:p>
          <a:p>
            <a:pPr marL="914400" lvl="2" indent="-246887" algn="l" rtl="0">
              <a:spcBef>
                <a:spcPts val="420"/>
              </a:spcBef>
              <a:spcAft>
                <a:spcPts val="0"/>
              </a:spcAft>
              <a:buSzPts val="1470"/>
              <a:buChar char="⚫"/>
            </a:pPr>
            <a:r>
              <a:rPr lang="en-US"/>
              <a:t>n = Number of classes </a:t>
            </a:r>
            <a:endParaRPr/>
          </a:p>
          <a:p>
            <a:pPr marL="393192" lvl="1" indent="0" algn="l" rtl="0">
              <a:spcBef>
                <a:spcPts val="480"/>
              </a:spcBef>
              <a:spcAft>
                <a:spcPts val="0"/>
              </a:spcAft>
              <a:buSzPts val="2040"/>
              <a:buNone/>
            </a:pPr>
            <a:r>
              <a:rPr lang="en-US"/>
              <a:t>For uniform distribution Ei is given by,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914400" lvl="2" indent="-246887" algn="l" rtl="0">
              <a:spcBef>
                <a:spcPts val="420"/>
              </a:spcBef>
              <a:spcAft>
                <a:spcPts val="0"/>
              </a:spcAft>
              <a:buSzPts val="1470"/>
              <a:buChar char="⚫"/>
            </a:pPr>
            <a:r>
              <a:rPr lang="en-US"/>
              <a:t>Where, N = Number of Observation</a:t>
            </a:r>
            <a:endParaRPr/>
          </a:p>
          <a:p>
            <a:pPr marL="914400" lvl="2" indent="-246887" algn="l" rtl="0">
              <a:spcBef>
                <a:spcPts val="420"/>
              </a:spcBef>
              <a:spcAft>
                <a:spcPts val="0"/>
              </a:spcAft>
              <a:buSzPts val="1470"/>
              <a:buChar char="⚫"/>
            </a:pPr>
            <a:r>
              <a:rPr lang="en-US"/>
              <a:t> n = classes </a:t>
            </a:r>
            <a:endParaRPr/>
          </a:p>
          <a:p>
            <a:pPr marL="914400" lvl="2" indent="-246887" algn="l" rtl="0">
              <a:spcBef>
                <a:spcPts val="420"/>
              </a:spcBef>
              <a:spcAft>
                <a:spcPts val="0"/>
              </a:spcAft>
              <a:buSzPts val="1470"/>
              <a:buChar char="⚫"/>
            </a:pPr>
            <a:r>
              <a:rPr lang="en-US"/>
              <a:t>It is generally done when N≥0.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305" name="Google Shape;305;p28" descr="chi1.PNG"/>
          <p:cNvPicPr preferRelativeResize="0"/>
          <p:nvPr/>
        </p:nvPicPr>
        <p:blipFill rotWithShape="1">
          <a:blip r:embed="rId3">
            <a:alphaModFix/>
          </a:blip>
          <a:srcRect/>
          <a:stretch/>
        </p:blipFill>
        <p:spPr>
          <a:xfrm>
            <a:off x="1562100" y="1994265"/>
            <a:ext cx="2971800" cy="838200"/>
          </a:xfrm>
          <a:prstGeom prst="rect">
            <a:avLst/>
          </a:prstGeom>
          <a:noFill/>
          <a:ln>
            <a:noFill/>
          </a:ln>
        </p:spPr>
      </p:pic>
      <p:pic>
        <p:nvPicPr>
          <p:cNvPr id="306" name="Google Shape;306;p28" descr="chi2.PNG"/>
          <p:cNvPicPr preferRelativeResize="0"/>
          <p:nvPr/>
        </p:nvPicPr>
        <p:blipFill rotWithShape="1">
          <a:blip r:embed="rId4">
            <a:alphaModFix/>
          </a:blip>
          <a:srcRect/>
          <a:stretch/>
        </p:blipFill>
        <p:spPr>
          <a:xfrm>
            <a:off x="1816100" y="4239152"/>
            <a:ext cx="1590050" cy="687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500"/>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xEl>
                                              <p:pRg st="1" end="1"/>
                                            </p:txEl>
                                          </p:spTgt>
                                        </p:tgtEl>
                                        <p:attrNameLst>
                                          <p:attrName>style.visibility</p:attrName>
                                        </p:attrNameLst>
                                      </p:cBhvr>
                                      <p:to>
                                        <p:strVal val="visible"/>
                                      </p:to>
                                    </p:set>
                                    <p:animEffect transition="in" filter="fade">
                                      <p:cBhvr>
                                        <p:cTn id="12" dur="500"/>
                                        <p:tgtEl>
                                          <p:spTgt spid="3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xEl>
                                              <p:pRg st="2" end="2"/>
                                            </p:txEl>
                                          </p:spTgt>
                                        </p:tgtEl>
                                        <p:attrNameLst>
                                          <p:attrName>style.visibility</p:attrName>
                                        </p:attrNameLst>
                                      </p:cBhvr>
                                      <p:to>
                                        <p:strVal val="visible"/>
                                      </p:to>
                                    </p:set>
                                    <p:animEffect transition="in" filter="fade">
                                      <p:cBhvr>
                                        <p:cTn id="17" dur="500"/>
                                        <p:tgtEl>
                                          <p:spTgt spid="3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4">
                                            <p:txEl>
                                              <p:pRg st="3" end="3"/>
                                            </p:txEl>
                                          </p:spTgt>
                                        </p:tgtEl>
                                        <p:attrNameLst>
                                          <p:attrName>style.visibility</p:attrName>
                                        </p:attrNameLst>
                                      </p:cBhvr>
                                      <p:to>
                                        <p:strVal val="visible"/>
                                      </p:to>
                                    </p:set>
                                    <p:animEffect transition="in" filter="fade">
                                      <p:cBhvr>
                                        <p:cTn id="22" dur="500"/>
                                        <p:tgtEl>
                                          <p:spTgt spid="3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4">
                                            <p:txEl>
                                              <p:pRg st="4" end="4"/>
                                            </p:txEl>
                                          </p:spTgt>
                                        </p:tgtEl>
                                        <p:attrNameLst>
                                          <p:attrName>style.visibility</p:attrName>
                                        </p:attrNameLst>
                                      </p:cBhvr>
                                      <p:to>
                                        <p:strVal val="visible"/>
                                      </p:to>
                                    </p:set>
                                    <p:animEffect transition="in" filter="fade">
                                      <p:cBhvr>
                                        <p:cTn id="27" dur="500"/>
                                        <p:tgtEl>
                                          <p:spTgt spid="3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4">
                                            <p:txEl>
                                              <p:pRg st="5" end="5"/>
                                            </p:txEl>
                                          </p:spTgt>
                                        </p:tgtEl>
                                        <p:attrNameLst>
                                          <p:attrName>style.visibility</p:attrName>
                                        </p:attrNameLst>
                                      </p:cBhvr>
                                      <p:to>
                                        <p:strVal val="visible"/>
                                      </p:to>
                                    </p:set>
                                    <p:animEffect transition="in" filter="fade">
                                      <p:cBhvr>
                                        <p:cTn id="32" dur="500"/>
                                        <p:tgtEl>
                                          <p:spTgt spid="3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4">
                                            <p:txEl>
                                              <p:pRg st="6" end="6"/>
                                            </p:txEl>
                                          </p:spTgt>
                                        </p:tgtEl>
                                        <p:attrNameLst>
                                          <p:attrName>style.visibility</p:attrName>
                                        </p:attrNameLst>
                                      </p:cBhvr>
                                      <p:to>
                                        <p:strVal val="visible"/>
                                      </p:to>
                                    </p:set>
                                    <p:animEffect transition="in" filter="fade">
                                      <p:cBhvr>
                                        <p:cTn id="37" dur="500"/>
                                        <p:tgtEl>
                                          <p:spTgt spid="30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4">
                                            <p:txEl>
                                              <p:pRg st="7" end="7"/>
                                            </p:txEl>
                                          </p:spTgt>
                                        </p:tgtEl>
                                        <p:attrNameLst>
                                          <p:attrName>style.visibility</p:attrName>
                                        </p:attrNameLst>
                                      </p:cBhvr>
                                      <p:to>
                                        <p:strVal val="visible"/>
                                      </p:to>
                                    </p:set>
                                    <p:animEffect transition="in" filter="fade">
                                      <p:cBhvr>
                                        <p:cTn id="42" dur="500"/>
                                        <p:tgtEl>
                                          <p:spTgt spid="30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4">
                                            <p:txEl>
                                              <p:pRg st="8" end="8"/>
                                            </p:txEl>
                                          </p:spTgt>
                                        </p:tgtEl>
                                        <p:attrNameLst>
                                          <p:attrName>style.visibility</p:attrName>
                                        </p:attrNameLst>
                                      </p:cBhvr>
                                      <p:to>
                                        <p:strVal val="visible"/>
                                      </p:to>
                                    </p:set>
                                    <p:animEffect transition="in" filter="fade">
                                      <p:cBhvr>
                                        <p:cTn id="47" dur="500"/>
                                        <p:tgtEl>
                                          <p:spTgt spid="30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4">
                                            <p:txEl>
                                              <p:pRg st="9" end="9"/>
                                            </p:txEl>
                                          </p:spTgt>
                                        </p:tgtEl>
                                        <p:attrNameLst>
                                          <p:attrName>style.visibility</p:attrName>
                                        </p:attrNameLst>
                                      </p:cBhvr>
                                      <p:to>
                                        <p:strVal val="visible"/>
                                      </p:to>
                                    </p:set>
                                    <p:animEffect transition="in" filter="fade">
                                      <p:cBhvr>
                                        <p:cTn id="52" dur="500"/>
                                        <p:tgtEl>
                                          <p:spTgt spid="30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4">
                                            <p:txEl>
                                              <p:pRg st="10" end="10"/>
                                            </p:txEl>
                                          </p:spTgt>
                                        </p:tgtEl>
                                        <p:attrNameLst>
                                          <p:attrName>style.visibility</p:attrName>
                                        </p:attrNameLst>
                                      </p:cBhvr>
                                      <p:to>
                                        <p:strVal val="visible"/>
                                      </p:to>
                                    </p:set>
                                    <p:animEffect transition="in" filter="fade">
                                      <p:cBhvr>
                                        <p:cTn id="57" dur="500"/>
                                        <p:tgtEl>
                                          <p:spTgt spid="30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4">
                                            <p:txEl>
                                              <p:pRg st="11" end="11"/>
                                            </p:txEl>
                                          </p:spTgt>
                                        </p:tgtEl>
                                        <p:attrNameLst>
                                          <p:attrName>style.visibility</p:attrName>
                                        </p:attrNameLst>
                                      </p:cBhvr>
                                      <p:to>
                                        <p:strVal val="visible"/>
                                      </p:to>
                                    </p:set>
                                    <p:animEffect transition="in" filter="fade">
                                      <p:cBhvr>
                                        <p:cTn id="62" dur="500"/>
                                        <p:tgtEl>
                                          <p:spTgt spid="30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04">
                                            <p:txEl>
                                              <p:pRg st="12" end="12"/>
                                            </p:txEl>
                                          </p:spTgt>
                                        </p:tgtEl>
                                        <p:attrNameLst>
                                          <p:attrName>style.visibility</p:attrName>
                                        </p:attrNameLst>
                                      </p:cBhvr>
                                      <p:to>
                                        <p:strVal val="visible"/>
                                      </p:to>
                                    </p:set>
                                    <p:animEffect transition="in" filter="fade">
                                      <p:cBhvr>
                                        <p:cTn id="67" dur="500"/>
                                        <p:tgtEl>
                                          <p:spTgt spid="30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04">
                                            <p:txEl>
                                              <p:pRg st="13" end="13"/>
                                            </p:txEl>
                                          </p:spTgt>
                                        </p:tgtEl>
                                        <p:attrNameLst>
                                          <p:attrName>style.visibility</p:attrName>
                                        </p:attrNameLst>
                                      </p:cBhvr>
                                      <p:to>
                                        <p:strVal val="visible"/>
                                      </p:to>
                                    </p:set>
                                    <p:animEffect transition="in" filter="fade">
                                      <p:cBhvr>
                                        <p:cTn id="72" dur="500"/>
                                        <p:tgtEl>
                                          <p:spTgt spid="30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05"/>
                                        </p:tgtEl>
                                        <p:attrNameLst>
                                          <p:attrName>style.visibility</p:attrName>
                                        </p:attrNameLst>
                                      </p:cBhvr>
                                      <p:to>
                                        <p:strVal val="visible"/>
                                      </p:to>
                                    </p:set>
                                    <p:animEffect transition="in" filter="fade">
                                      <p:cBhvr>
                                        <p:cTn id="77" dur="500"/>
                                        <p:tgtEl>
                                          <p:spTgt spid="30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06"/>
                                        </p:tgtEl>
                                        <p:attrNameLst>
                                          <p:attrName>style.visibility</p:attrName>
                                        </p:attrNameLst>
                                      </p:cBhvr>
                                      <p:to>
                                        <p:strVal val="visible"/>
                                      </p:to>
                                    </p:set>
                                    <p:animEffect transition="in" filter="fade">
                                      <p:cBhvr>
                                        <p:cTn id="82" dur="5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Chi-Square Test</a:t>
            </a:r>
            <a:endParaRPr/>
          </a:p>
        </p:txBody>
      </p:sp>
      <p:sp>
        <p:nvSpPr>
          <p:cNvPr id="312" name="Google Shape;312;p2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Q: Test the following number for uniformity by Chi-square test. 0.15, 0.22, 0.11, 0.25, 0.09, 0.01, 0.28, 0.07, 0.13, 0.03 with 5% level  of significance.</a:t>
            </a:r>
            <a:endParaRPr/>
          </a:p>
          <a:p>
            <a:pPr marL="274320" lvl="0" indent="-274320" algn="l" rtl="0">
              <a:spcBef>
                <a:spcPts val="520"/>
              </a:spcBef>
              <a:spcAft>
                <a:spcPts val="0"/>
              </a:spcAft>
              <a:buSzPts val="2470"/>
              <a:buChar char="⚫"/>
            </a:pPr>
            <a:r>
              <a:rPr lang="en-US"/>
              <a:t>A: Here, N = 10 n = 10 </a:t>
            </a:r>
            <a:endParaRPr/>
          </a:p>
          <a:p>
            <a:pPr marL="274320" lvl="0" indent="-226059" algn="l" rtl="0">
              <a:spcBef>
                <a:spcPts val="520"/>
              </a:spcBef>
              <a:spcAft>
                <a:spcPts val="0"/>
              </a:spcAft>
              <a:buSzPts val="1710"/>
              <a:buChar char="⚫"/>
            </a:pPr>
            <a:r>
              <a:rPr lang="en-US"/>
              <a:t>Let us set the hypothesis </a:t>
            </a:r>
            <a:endParaRPr/>
          </a:p>
          <a:p>
            <a:pPr marL="274320" lvl="0" indent="-226059" algn="l" rtl="0">
              <a:spcBef>
                <a:spcPts val="520"/>
              </a:spcBef>
              <a:spcAft>
                <a:spcPts val="0"/>
              </a:spcAft>
              <a:buSzPts val="1710"/>
              <a:buChar char="⚫"/>
            </a:pPr>
            <a:r>
              <a:rPr lang="en-US"/>
              <a:t>H0:Ri~U[0,1]</a:t>
            </a:r>
            <a:endParaRPr/>
          </a:p>
          <a:p>
            <a:pPr marL="274320" lvl="0" indent="-226059" algn="l" rtl="0">
              <a:spcBef>
                <a:spcPts val="520"/>
              </a:spcBef>
              <a:spcAft>
                <a:spcPts val="0"/>
              </a:spcAft>
              <a:buSzPts val="1710"/>
              <a:buChar char="⚫"/>
            </a:pPr>
            <a:r>
              <a:rPr lang="en-US"/>
              <a:t>H1:Ri not ~U[0,1]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18" name="Google Shape;318;p30"/>
          <p:cNvPicPr preferRelativeResize="0">
            <a:picLocks noGrp="1"/>
          </p:cNvPicPr>
          <p:nvPr>
            <p:ph type="body" idx="1"/>
          </p:nvPr>
        </p:nvPicPr>
        <p:blipFill rotWithShape="1">
          <a:blip r:embed="rId3">
            <a:alphaModFix/>
          </a:blip>
          <a:srcRect/>
          <a:stretch/>
        </p:blipFill>
        <p:spPr>
          <a:xfrm>
            <a:off x="391886" y="2743200"/>
            <a:ext cx="8142514" cy="3886200"/>
          </a:xfrm>
          <a:prstGeom prst="rect">
            <a:avLst/>
          </a:prstGeom>
          <a:noFill/>
          <a:ln>
            <a:noFill/>
          </a:ln>
        </p:spPr>
      </p:pic>
      <p:pic>
        <p:nvPicPr>
          <p:cNvPr id="319" name="Google Shape;319;p30"/>
          <p:cNvPicPr preferRelativeResize="0"/>
          <p:nvPr/>
        </p:nvPicPr>
        <p:blipFill rotWithShape="1">
          <a:blip r:embed="rId4">
            <a:alphaModFix/>
          </a:blip>
          <a:srcRect/>
          <a:stretch/>
        </p:blipFill>
        <p:spPr>
          <a:xfrm>
            <a:off x="304800" y="0"/>
            <a:ext cx="7924800" cy="2867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25" name="Google Shape;325;p31" descr="ques.jpg"/>
          <p:cNvPicPr preferRelativeResize="0">
            <a:picLocks noGrp="1"/>
          </p:cNvPicPr>
          <p:nvPr>
            <p:ph type="body" idx="1"/>
          </p:nvPr>
        </p:nvPicPr>
        <p:blipFill rotWithShape="1">
          <a:blip r:embed="rId3">
            <a:alphaModFix/>
          </a:blip>
          <a:srcRect/>
          <a:stretch/>
        </p:blipFill>
        <p:spPr>
          <a:xfrm>
            <a:off x="228601" y="685800"/>
            <a:ext cx="8857956" cy="1329716"/>
          </a:xfrm>
          <a:prstGeom prst="rect">
            <a:avLst/>
          </a:prstGeom>
          <a:noFill/>
          <a:ln>
            <a:noFill/>
          </a:ln>
        </p:spPr>
      </p:pic>
      <p:pic>
        <p:nvPicPr>
          <p:cNvPr id="326" name="Google Shape;326;p31" descr="ques.jpg"/>
          <p:cNvPicPr preferRelativeResize="0"/>
          <p:nvPr/>
        </p:nvPicPr>
        <p:blipFill rotWithShape="1">
          <a:blip r:embed="rId4">
            <a:alphaModFix/>
          </a:blip>
          <a:srcRect/>
          <a:stretch/>
        </p:blipFill>
        <p:spPr>
          <a:xfrm>
            <a:off x="381000" y="2209800"/>
            <a:ext cx="8202064" cy="412674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32" name="Google Shape;332;p32" descr="ta.jpg"/>
          <p:cNvPicPr preferRelativeResize="0">
            <a:picLocks noGrp="1"/>
          </p:cNvPicPr>
          <p:nvPr>
            <p:ph type="body" idx="1"/>
          </p:nvPr>
        </p:nvPicPr>
        <p:blipFill rotWithShape="1">
          <a:blip r:embed="rId3">
            <a:alphaModFix/>
          </a:blip>
          <a:srcRect/>
          <a:stretch/>
        </p:blipFill>
        <p:spPr>
          <a:xfrm>
            <a:off x="228600" y="761999"/>
            <a:ext cx="8401894" cy="575784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38" name="Google Shape;338;p33"/>
          <p:cNvPicPr preferRelativeResize="0">
            <a:picLocks noGrp="1"/>
          </p:cNvPicPr>
          <p:nvPr>
            <p:ph type="body" idx="1"/>
          </p:nvPr>
        </p:nvPicPr>
        <p:blipFill rotWithShape="1">
          <a:blip r:embed="rId3">
            <a:alphaModFix/>
          </a:blip>
          <a:srcRect/>
          <a:stretch/>
        </p:blipFill>
        <p:spPr>
          <a:xfrm>
            <a:off x="685800" y="170674"/>
            <a:ext cx="8055000" cy="604756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4"/>
          <p:cNvSpPr txBox="1">
            <a:spLocks noGrp="1"/>
          </p:cNvSpPr>
          <p:nvPr>
            <p:ph type="title"/>
          </p:nvPr>
        </p:nvSpPr>
        <p:spPr>
          <a:xfrm>
            <a:off x="457200" y="704088"/>
            <a:ext cx="8229600" cy="14295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
            </a:r>
            <a:br>
              <a:rPr lang="en-US" b="1" u="sng"/>
            </a:br>
            <a:r>
              <a:rPr lang="en-US" b="1" u="sng"/>
              <a:t>Run Test (Test for independence)</a:t>
            </a:r>
            <a:r>
              <a:rPr lang="en-US"/>
              <a:t/>
            </a:r>
            <a:br>
              <a:rPr lang="en-US"/>
            </a:br>
            <a:r>
              <a:rPr lang="en-US"/>
              <a:t> </a:t>
            </a:r>
            <a:br>
              <a:rPr lang="en-US"/>
            </a:br>
            <a:endParaRPr/>
          </a:p>
        </p:txBody>
      </p:sp>
      <p:sp>
        <p:nvSpPr>
          <p:cNvPr id="344" name="Google Shape;344;p34"/>
          <p:cNvSpPr txBox="1">
            <a:spLocks noGrp="1"/>
          </p:cNvSpPr>
          <p:nvPr>
            <p:ph type="body" idx="1"/>
          </p:nvPr>
        </p:nvSpPr>
        <p:spPr>
          <a:xfrm>
            <a:off x="457200" y="457200"/>
            <a:ext cx="8229600" cy="5867400"/>
          </a:xfrm>
          <a:prstGeom prst="rect">
            <a:avLst/>
          </a:prstGeom>
          <a:noFill/>
          <a:ln>
            <a:noFill/>
          </a:ln>
        </p:spPr>
        <p:txBody>
          <a:bodyPr spcFirstLastPara="1" wrap="square" lIns="91425" tIns="45700" rIns="91425" bIns="45700" anchor="t" anchorCtr="0">
            <a:normAutofit fontScale="85000" lnSpcReduction="20000"/>
          </a:bodyPr>
          <a:lstStyle/>
          <a:p>
            <a:pPr marL="274320" lvl="0" indent="-141001" algn="l" rtl="0">
              <a:spcBef>
                <a:spcPts val="0"/>
              </a:spcBef>
              <a:spcAft>
                <a:spcPts val="0"/>
              </a:spcAft>
              <a:buSzPct val="95000"/>
              <a:buNone/>
            </a:pPr>
            <a:endParaRPr/>
          </a:p>
          <a:p>
            <a:pPr marL="274320" lvl="0" indent="-274320" algn="l" rtl="0">
              <a:spcBef>
                <a:spcPts val="442"/>
              </a:spcBef>
              <a:spcAft>
                <a:spcPts val="0"/>
              </a:spcAft>
              <a:buSzPct val="95000"/>
              <a:buChar char="⚫"/>
            </a:pPr>
            <a:r>
              <a:rPr lang="en-US"/>
              <a:t>This test examines the arrangement of numbers in a sequence to test the hypothesis of independence.</a:t>
            </a:r>
            <a:endParaRPr/>
          </a:p>
          <a:p>
            <a:pPr marL="274320" lvl="0" indent="-274320" algn="l" rtl="0">
              <a:spcBef>
                <a:spcPts val="442"/>
              </a:spcBef>
              <a:spcAft>
                <a:spcPts val="0"/>
              </a:spcAft>
              <a:buSzPct val="95000"/>
              <a:buChar char="⚫"/>
            </a:pPr>
            <a:r>
              <a:rPr lang="en-US" b="1"/>
              <a:t>Run:</a:t>
            </a:r>
            <a:endParaRPr/>
          </a:p>
          <a:p>
            <a:pPr marL="640080" lvl="1" indent="-246888" algn="l" rtl="0">
              <a:spcBef>
                <a:spcPts val="408"/>
              </a:spcBef>
              <a:spcAft>
                <a:spcPts val="0"/>
              </a:spcAft>
              <a:buSzPct val="85000"/>
              <a:buChar char="⚫"/>
            </a:pPr>
            <a:r>
              <a:rPr lang="en-US"/>
              <a:t>Run is defined as a succession of similar events proceeded &amp; followed by a different event.</a:t>
            </a:r>
            <a:endParaRPr u="sng"/>
          </a:p>
          <a:p>
            <a:pPr marL="640080" lvl="1" indent="-246888" algn="l" rtl="0">
              <a:spcBef>
                <a:spcPts val="408"/>
              </a:spcBef>
              <a:spcAft>
                <a:spcPts val="0"/>
              </a:spcAft>
              <a:buSzPct val="85000"/>
              <a:buChar char="⚫"/>
            </a:pPr>
            <a:r>
              <a:rPr lang="en-US">
                <a:solidFill>
                  <a:srgbClr val="FF0000"/>
                </a:solidFill>
              </a:rPr>
              <a:t>H </a:t>
            </a:r>
            <a:r>
              <a:rPr lang="en-US">
                <a:solidFill>
                  <a:srgbClr val="00B050"/>
                </a:solidFill>
              </a:rPr>
              <a:t>T T</a:t>
            </a:r>
            <a:r>
              <a:rPr lang="en-US"/>
              <a:t> </a:t>
            </a:r>
            <a:r>
              <a:rPr lang="en-US">
                <a:solidFill>
                  <a:srgbClr val="FF0000"/>
                </a:solidFill>
              </a:rPr>
              <a:t>H H</a:t>
            </a:r>
            <a:r>
              <a:rPr lang="en-US"/>
              <a:t> </a:t>
            </a:r>
            <a:r>
              <a:rPr lang="en-US">
                <a:solidFill>
                  <a:srgbClr val="00B050"/>
                </a:solidFill>
              </a:rPr>
              <a:t>T TT </a:t>
            </a:r>
            <a:r>
              <a:rPr lang="en-US">
                <a:solidFill>
                  <a:srgbClr val="FF0000"/>
                </a:solidFill>
              </a:rPr>
              <a:t>H</a:t>
            </a:r>
            <a:r>
              <a:rPr lang="en-US"/>
              <a:t> </a:t>
            </a:r>
            <a:r>
              <a:rPr lang="en-US">
                <a:solidFill>
                  <a:srgbClr val="00B050"/>
                </a:solidFill>
              </a:rPr>
              <a:t>T</a:t>
            </a:r>
            <a:r>
              <a:rPr lang="en-US"/>
              <a:t> </a:t>
            </a:r>
            <a:endParaRPr/>
          </a:p>
          <a:p>
            <a:pPr marL="640080" lvl="1" indent="-246888" algn="l" rtl="0">
              <a:spcBef>
                <a:spcPts val="408"/>
              </a:spcBef>
              <a:spcAft>
                <a:spcPts val="0"/>
              </a:spcAft>
              <a:buSzPct val="85000"/>
              <a:buChar char="⚫"/>
            </a:pPr>
            <a:r>
              <a:rPr lang="en-US"/>
              <a:t>1	 2      3	   4     5   6</a:t>
            </a:r>
            <a:endParaRPr/>
          </a:p>
          <a:p>
            <a:pPr marL="274320" lvl="0" indent="-141001" algn="l" rtl="0">
              <a:spcBef>
                <a:spcPts val="442"/>
              </a:spcBef>
              <a:spcAft>
                <a:spcPts val="0"/>
              </a:spcAft>
              <a:buSzPct val="95000"/>
              <a:buNone/>
            </a:pPr>
            <a:endParaRPr/>
          </a:p>
          <a:p>
            <a:pPr marL="640080" lvl="1" indent="-246888" algn="l" rtl="0">
              <a:spcBef>
                <a:spcPts val="408"/>
              </a:spcBef>
              <a:spcAft>
                <a:spcPts val="0"/>
              </a:spcAft>
              <a:buSzPct val="85000"/>
              <a:buChar char="⚫"/>
            </a:pPr>
            <a:r>
              <a:rPr lang="en-US"/>
              <a:t>Total run=6</a:t>
            </a:r>
            <a:endParaRPr/>
          </a:p>
          <a:p>
            <a:pPr marL="274320" lvl="0" indent="-141001" algn="l" rtl="0">
              <a:spcBef>
                <a:spcPts val="442"/>
              </a:spcBef>
              <a:spcAft>
                <a:spcPts val="0"/>
              </a:spcAft>
              <a:buSzPct val="95000"/>
              <a:buNone/>
            </a:pPr>
            <a:endParaRPr/>
          </a:p>
          <a:p>
            <a:pPr marL="274320" lvl="0" indent="-274320" algn="l" rtl="0">
              <a:spcBef>
                <a:spcPts val="442"/>
              </a:spcBef>
              <a:spcAft>
                <a:spcPts val="0"/>
              </a:spcAft>
              <a:buSzPct val="95000"/>
              <a:buChar char="⚫"/>
            </a:pPr>
            <a:r>
              <a:rPr lang="en-US" b="1" u="sng"/>
              <a:t>Length of run:</a:t>
            </a:r>
            <a:endParaRPr/>
          </a:p>
          <a:p>
            <a:pPr marL="274320" lvl="0" indent="-141001" algn="l" rtl="0">
              <a:spcBef>
                <a:spcPts val="442"/>
              </a:spcBef>
              <a:spcAft>
                <a:spcPts val="0"/>
              </a:spcAft>
              <a:buSzPct val="95000"/>
              <a:buNone/>
            </a:pPr>
            <a:endParaRPr/>
          </a:p>
          <a:p>
            <a:pPr marL="640080" lvl="1" indent="-246888" algn="l" rtl="0">
              <a:spcBef>
                <a:spcPts val="408"/>
              </a:spcBef>
              <a:spcAft>
                <a:spcPts val="0"/>
              </a:spcAft>
              <a:buSzPct val="85000"/>
              <a:buChar char="⚫"/>
            </a:pPr>
            <a:r>
              <a:rPr lang="en-US"/>
              <a:t>Length of the run is the no. of the event occur in the event.</a:t>
            </a:r>
            <a:endParaRPr/>
          </a:p>
          <a:p>
            <a:pPr marL="274320" lvl="0" indent="-141001" algn="l" rtl="0">
              <a:spcBef>
                <a:spcPts val="442"/>
              </a:spcBef>
              <a:spcAft>
                <a:spcPts val="0"/>
              </a:spcAft>
              <a:buSzPct val="95000"/>
              <a:buNone/>
            </a:pPr>
            <a:endParaRPr/>
          </a:p>
          <a:p>
            <a:pPr marL="640080" lvl="1" indent="-246888" algn="l" rtl="0">
              <a:spcBef>
                <a:spcPts val="408"/>
              </a:spcBef>
              <a:spcAft>
                <a:spcPts val="0"/>
              </a:spcAft>
              <a:buSzPct val="85000"/>
              <a:buChar char="⚫"/>
            </a:pPr>
            <a:r>
              <a:rPr lang="en-US" u="sng"/>
              <a:t>HTTHHTTTHT</a:t>
            </a:r>
            <a:endParaRPr/>
          </a:p>
          <a:p>
            <a:pPr marL="274320" lvl="0" indent="-141001" algn="l" rtl="0">
              <a:spcBef>
                <a:spcPts val="442"/>
              </a:spcBef>
              <a:spcAft>
                <a:spcPts val="0"/>
              </a:spcAft>
              <a:buSzPct val="95000"/>
              <a:buNone/>
            </a:pPr>
            <a:endParaRPr/>
          </a:p>
          <a:p>
            <a:pPr marL="640080" lvl="1" indent="-246888" algn="l" rtl="0">
              <a:spcBef>
                <a:spcPts val="408"/>
              </a:spcBef>
              <a:spcAft>
                <a:spcPts val="0"/>
              </a:spcAft>
              <a:buSzPct val="85000"/>
              <a:buChar char="⚫"/>
            </a:pPr>
            <a:r>
              <a:rPr lang="en-US"/>
              <a:t>1  2 2 3 1 1</a:t>
            </a:r>
            <a:endParaRPr/>
          </a:p>
          <a:p>
            <a:pPr marL="274320" lvl="0" indent="-141001" algn="l" rtl="0">
              <a:spcBef>
                <a:spcPts val="442"/>
              </a:spcBef>
              <a:spcAft>
                <a:spcPts val="0"/>
              </a:spcAft>
              <a:buSzPct val="950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Run Test cont..</a:t>
            </a:r>
            <a:endParaRPr/>
          </a:p>
        </p:txBody>
      </p:sp>
      <p:sp>
        <p:nvSpPr>
          <p:cNvPr id="350" name="Google Shape;350;p3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u="sng"/>
              <a:t>UP RUN:</a:t>
            </a:r>
            <a:endParaRPr/>
          </a:p>
          <a:p>
            <a:pPr marL="640080" lvl="1" indent="-246888" algn="l" rtl="0">
              <a:spcBef>
                <a:spcPts val="480"/>
              </a:spcBef>
              <a:spcAft>
                <a:spcPts val="0"/>
              </a:spcAft>
              <a:buSzPts val="2040"/>
              <a:buChar char="⚫"/>
            </a:pPr>
            <a:r>
              <a:rPr lang="en-US"/>
              <a:t>An up run is a sequence of number each of which is succeeded by a larger number- 0.07 0.12 0.53 0.85 0.92</a:t>
            </a:r>
            <a:endParaRPr/>
          </a:p>
          <a:p>
            <a:pPr marL="274320" lvl="0" indent="-274320" algn="l" rtl="0">
              <a:spcBef>
                <a:spcPts val="520"/>
              </a:spcBef>
              <a:spcAft>
                <a:spcPts val="0"/>
              </a:spcAft>
              <a:buSzPts val="2470"/>
              <a:buChar char="⚫"/>
            </a:pPr>
            <a:r>
              <a:rPr lang="en-US" b="1" u="sng"/>
              <a:t>Down Run:</a:t>
            </a:r>
            <a:endParaRPr/>
          </a:p>
          <a:p>
            <a:pPr marL="640080" lvl="1" indent="-246888" algn="l" rtl="0">
              <a:spcBef>
                <a:spcPts val="480"/>
              </a:spcBef>
              <a:spcAft>
                <a:spcPts val="0"/>
              </a:spcAft>
              <a:buSzPts val="2040"/>
              <a:buChar char="⚫"/>
            </a:pPr>
            <a:r>
              <a:rPr lang="en-US"/>
              <a:t>A down run is a sequence of numbers each of which is succeeded by a smaller no.</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0">
                                            <p:txEl>
                                              <p:pRg st="0" end="0"/>
                                            </p:txEl>
                                          </p:spTgt>
                                        </p:tgtEl>
                                        <p:attrNameLst>
                                          <p:attrName>style.visibility</p:attrName>
                                        </p:attrNameLst>
                                      </p:cBhvr>
                                      <p:to>
                                        <p:strVal val="visible"/>
                                      </p:to>
                                    </p:set>
                                    <p:animEffect transition="in" filter="fade">
                                      <p:cBhvr>
                                        <p:cTn id="7" dur="500"/>
                                        <p:tgtEl>
                                          <p:spTgt spid="3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0">
                                            <p:txEl>
                                              <p:pRg st="1" end="1"/>
                                            </p:txEl>
                                          </p:spTgt>
                                        </p:tgtEl>
                                        <p:attrNameLst>
                                          <p:attrName>style.visibility</p:attrName>
                                        </p:attrNameLst>
                                      </p:cBhvr>
                                      <p:to>
                                        <p:strVal val="visible"/>
                                      </p:to>
                                    </p:set>
                                    <p:animEffect transition="in" filter="fade">
                                      <p:cBhvr>
                                        <p:cTn id="12" dur="500"/>
                                        <p:tgtEl>
                                          <p:spTgt spid="3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0">
                                            <p:txEl>
                                              <p:pRg st="2" end="2"/>
                                            </p:txEl>
                                          </p:spTgt>
                                        </p:tgtEl>
                                        <p:attrNameLst>
                                          <p:attrName>style.visibility</p:attrName>
                                        </p:attrNameLst>
                                      </p:cBhvr>
                                      <p:to>
                                        <p:strVal val="visible"/>
                                      </p:to>
                                    </p:set>
                                    <p:animEffect transition="in" filter="fade">
                                      <p:cBhvr>
                                        <p:cTn id="17" dur="500"/>
                                        <p:tgtEl>
                                          <p:spTgt spid="3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0">
                                            <p:txEl>
                                              <p:pRg st="3" end="3"/>
                                            </p:txEl>
                                          </p:spTgt>
                                        </p:tgtEl>
                                        <p:attrNameLst>
                                          <p:attrName>style.visibility</p:attrName>
                                        </p:attrNameLst>
                                      </p:cBhvr>
                                      <p:to>
                                        <p:strVal val="visible"/>
                                      </p:to>
                                    </p:set>
                                    <p:animEffect transition="in" filter="fade">
                                      <p:cBhvr>
                                        <p:cTn id="22" dur="500"/>
                                        <p:tgtEl>
                                          <p:spTgt spid="3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0">
                                            <p:txEl>
                                              <p:pRg st="4" end="4"/>
                                            </p:txEl>
                                          </p:spTgt>
                                        </p:tgtEl>
                                        <p:attrNameLst>
                                          <p:attrName>style.visibility</p:attrName>
                                        </p:attrNameLst>
                                      </p:cBhvr>
                                      <p:to>
                                        <p:strVal val="visible"/>
                                      </p:to>
                                    </p:set>
                                    <p:animEffect transition="in" filter="fade">
                                      <p:cBhvr>
                                        <p:cTn id="27" dur="500"/>
                                        <p:tgtEl>
                                          <p:spTgt spid="35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0">
                                            <p:txEl>
                                              <p:pRg st="5" end="5"/>
                                            </p:txEl>
                                          </p:spTgt>
                                        </p:tgtEl>
                                        <p:attrNameLst>
                                          <p:attrName>style.visibility</p:attrName>
                                        </p:attrNameLst>
                                      </p:cBhvr>
                                      <p:to>
                                        <p:strVal val="visible"/>
                                      </p:to>
                                    </p:set>
                                    <p:animEffect transition="in" filter="fade">
                                      <p:cBhvr>
                                        <p:cTn id="32" dur="500"/>
                                        <p:tgtEl>
                                          <p:spTgt spid="35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6"/>
          <p:cNvSpPr txBox="1">
            <a:spLocks noGrp="1"/>
          </p:cNvSpPr>
          <p:nvPr>
            <p:ph type="title"/>
          </p:nvPr>
        </p:nvSpPr>
        <p:spPr>
          <a:xfrm>
            <a:off x="457200" y="22860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Run Test</a:t>
            </a:r>
            <a:endParaRPr/>
          </a:p>
        </p:txBody>
      </p:sp>
      <p:sp>
        <p:nvSpPr>
          <p:cNvPr id="356" name="Google Shape;356;p36"/>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SzPct val="95000"/>
              <a:buNone/>
            </a:pPr>
            <a:endParaRPr sz="3400"/>
          </a:p>
          <a:p>
            <a:pPr marL="274320" lvl="0" indent="-274320" algn="l" rtl="0">
              <a:spcBef>
                <a:spcPts val="578"/>
              </a:spcBef>
              <a:spcAft>
                <a:spcPts val="0"/>
              </a:spcAft>
              <a:buSzPct val="95000"/>
              <a:buNone/>
            </a:pPr>
            <a:r>
              <a:rPr lang="en-US" sz="3400"/>
              <a:t>If ‘a’ is the total no. of runs in a truly random sequence the mean &amp; variance of ‘a’ is given by-</a:t>
            </a:r>
            <a:endParaRPr/>
          </a:p>
          <a:p>
            <a:pPr marL="274320" lvl="0" indent="-274320" algn="l" rtl="0">
              <a:spcBef>
                <a:spcPts val="578"/>
              </a:spcBef>
              <a:spcAft>
                <a:spcPts val="0"/>
              </a:spcAft>
              <a:buSzPct val="95000"/>
              <a:buNone/>
            </a:pPr>
            <a:endParaRPr sz="3400"/>
          </a:p>
          <a:p>
            <a:pPr marL="274320" lvl="0" indent="-274320" algn="l" rtl="0">
              <a:spcBef>
                <a:spcPts val="578"/>
              </a:spcBef>
              <a:spcAft>
                <a:spcPts val="0"/>
              </a:spcAft>
              <a:buSzPct val="95000"/>
              <a:buNone/>
            </a:pPr>
            <a:r>
              <a:rPr lang="en-US" sz="3400" b="1" u="sng"/>
              <a:t>Mean</a:t>
            </a:r>
            <a:endParaRPr sz="3400"/>
          </a:p>
          <a:p>
            <a:pPr marL="640080" lvl="1" indent="-246888" algn="l" rtl="0">
              <a:spcBef>
                <a:spcPts val="544"/>
              </a:spcBef>
              <a:spcAft>
                <a:spcPts val="0"/>
              </a:spcAft>
              <a:buSzPct val="85000"/>
              <a:buNone/>
            </a:pPr>
            <a:r>
              <a:rPr lang="en-US" sz="3200"/>
              <a:t>µ </a:t>
            </a:r>
            <a:r>
              <a:rPr lang="en-US" sz="3200" baseline="-25000"/>
              <a:t>a</a:t>
            </a:r>
            <a:r>
              <a:rPr lang="en-US" sz="3200"/>
              <a:t>=(2N-1)/3</a:t>
            </a:r>
            <a:endParaRPr/>
          </a:p>
          <a:p>
            <a:pPr marL="274320" lvl="0" indent="-274320" algn="l" rtl="0">
              <a:spcBef>
                <a:spcPts val="578"/>
              </a:spcBef>
              <a:spcAft>
                <a:spcPts val="0"/>
              </a:spcAft>
              <a:buSzPct val="95000"/>
              <a:buNone/>
            </a:pPr>
            <a:endParaRPr sz="3400"/>
          </a:p>
          <a:p>
            <a:pPr marL="274320" lvl="0" indent="-274320" algn="l" rtl="0">
              <a:spcBef>
                <a:spcPts val="578"/>
              </a:spcBef>
              <a:spcAft>
                <a:spcPts val="0"/>
              </a:spcAft>
              <a:buSzPct val="95000"/>
              <a:buNone/>
            </a:pPr>
            <a:r>
              <a:rPr lang="en-US" sz="3400" b="1" u="sng"/>
              <a:t>Variance</a:t>
            </a:r>
            <a:endParaRPr sz="3400"/>
          </a:p>
          <a:p>
            <a:pPr marL="274320" lvl="0" indent="-274320" algn="l" rtl="0">
              <a:spcBef>
                <a:spcPts val="578"/>
              </a:spcBef>
              <a:spcAft>
                <a:spcPts val="0"/>
              </a:spcAft>
              <a:buSzPct val="95000"/>
              <a:buNone/>
            </a:pPr>
            <a:r>
              <a:rPr lang="en-US" sz="3400"/>
              <a:t>	σ</a:t>
            </a:r>
            <a:r>
              <a:rPr lang="en-US" sz="3400" baseline="-25000"/>
              <a:t>a</a:t>
            </a:r>
            <a:r>
              <a:rPr lang="en-US" sz="3400" baseline="30000"/>
              <a:t>2</a:t>
            </a:r>
            <a:r>
              <a:rPr lang="en-US" sz="3400"/>
              <a:t>=(16N-29)/90</a:t>
            </a:r>
            <a:endParaRPr/>
          </a:p>
          <a:p>
            <a:pPr marL="274320" lvl="0" indent="-274320" algn="l" rtl="0">
              <a:spcBef>
                <a:spcPts val="578"/>
              </a:spcBef>
              <a:spcAft>
                <a:spcPts val="0"/>
              </a:spcAft>
              <a:buSzPct val="95000"/>
              <a:buNone/>
            </a:pPr>
            <a:r>
              <a:rPr lang="en-US" sz="3400"/>
              <a:t>	=&gt;</a:t>
            </a:r>
            <a:r>
              <a:rPr lang="en-US" sz="3400" b="1"/>
              <a:t>j</a:t>
            </a:r>
            <a:r>
              <a:rPr lang="en-US" sz="3400" b="1" strike="sngStrike"/>
              <a:t>16l</a:t>
            </a:r>
            <a:r>
              <a:rPr lang="en-US" sz="3400"/>
              <a:t>	</a:t>
            </a:r>
            <a:r>
              <a:rPr lang="en-US" sz="3400" b="1" strike="sngStrike"/>
              <a:t>29/90</a:t>
            </a:r>
            <a:endParaRPr sz="3400"/>
          </a:p>
          <a:p>
            <a:pPr marL="0" lvl="0" indent="0" algn="l" rtl="0">
              <a:spcBef>
                <a:spcPts val="578"/>
              </a:spcBef>
              <a:spcAft>
                <a:spcPts val="0"/>
              </a:spcAft>
              <a:buSzPct val="95000"/>
              <a:buNone/>
            </a:pPr>
            <a:r>
              <a:rPr lang="en-US" sz="3400"/>
              <a:t> </a:t>
            </a:r>
            <a:endParaRPr/>
          </a:p>
          <a:p>
            <a:pPr marL="274320" lvl="0" indent="-99980" algn="l" rtl="0">
              <a:spcBef>
                <a:spcPts val="578"/>
              </a:spcBef>
              <a:spcAft>
                <a:spcPts val="0"/>
              </a:spcAft>
              <a:buSzPct val="95000"/>
              <a:buNone/>
            </a:pPr>
            <a:endParaRPr sz="3400"/>
          </a:p>
          <a:p>
            <a:pPr marL="274320" lvl="0" indent="-141001" algn="l" rtl="0">
              <a:spcBef>
                <a:spcPts val="442"/>
              </a:spcBef>
              <a:spcAft>
                <a:spcPts val="0"/>
              </a:spcAft>
              <a:buSzPct val="950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7"/>
          <p:cNvSpPr txBox="1">
            <a:spLocks noGrp="1"/>
          </p:cNvSpPr>
          <p:nvPr>
            <p:ph type="title"/>
          </p:nvPr>
        </p:nvSpPr>
        <p:spPr>
          <a:xfrm>
            <a:off x="457200" y="704088"/>
            <a:ext cx="8229600" cy="7437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u="sng"/>
              <a:t>Run Test cont…</a:t>
            </a:r>
            <a:endParaRPr/>
          </a:p>
        </p:txBody>
      </p:sp>
      <p:sp>
        <p:nvSpPr>
          <p:cNvPr id="362" name="Google Shape;362;p37"/>
          <p:cNvSpPr txBox="1">
            <a:spLocks noGrp="1"/>
          </p:cNvSpPr>
          <p:nvPr>
            <p:ph type="body" idx="1"/>
          </p:nvPr>
        </p:nvSpPr>
        <p:spPr>
          <a:xfrm>
            <a:off x="457200" y="1600200"/>
            <a:ext cx="8229600" cy="472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660"/>
              <a:buNone/>
            </a:pPr>
            <a:endParaRPr sz="2800" b="1" u="sng"/>
          </a:p>
          <a:p>
            <a:pPr marL="274320" lvl="0" indent="-274320" algn="l" rtl="0">
              <a:spcBef>
                <a:spcPts val="560"/>
              </a:spcBef>
              <a:spcAft>
                <a:spcPts val="0"/>
              </a:spcAft>
              <a:buSzPts val="2660"/>
              <a:buNone/>
            </a:pPr>
            <a:r>
              <a:rPr lang="en-US" sz="2800" b="1" u="sng"/>
              <a:t>Test Statistic</a:t>
            </a:r>
            <a:endParaRPr sz="2800"/>
          </a:p>
          <a:p>
            <a:pPr marL="274320" lvl="0" indent="-105410" algn="l" rtl="0">
              <a:spcBef>
                <a:spcPts val="560"/>
              </a:spcBef>
              <a:spcAft>
                <a:spcPts val="0"/>
              </a:spcAft>
              <a:buSzPts val="2660"/>
              <a:buNone/>
            </a:pPr>
            <a:endParaRPr sz="2800"/>
          </a:p>
          <a:p>
            <a:pPr marL="640080" lvl="1" indent="-246888" algn="l" rtl="0">
              <a:spcBef>
                <a:spcPts val="480"/>
              </a:spcBef>
              <a:spcAft>
                <a:spcPts val="0"/>
              </a:spcAft>
              <a:buSzPts val="2040"/>
              <a:buChar char="⚫"/>
            </a:pPr>
            <a:r>
              <a:rPr lang="en-US"/>
              <a:t>Z</a:t>
            </a:r>
            <a:r>
              <a:rPr lang="en-US" baseline="-25000"/>
              <a:t>0</a:t>
            </a:r>
            <a:r>
              <a:rPr lang="en-US"/>
              <a:t>=(total no. of runs-mean)/standard deviation</a:t>
            </a:r>
            <a:endParaRPr/>
          </a:p>
          <a:p>
            <a:pPr marL="0" lvl="0" indent="0" algn="l" rtl="0">
              <a:spcBef>
                <a:spcPts val="560"/>
              </a:spcBef>
              <a:spcAft>
                <a:spcPts val="0"/>
              </a:spcAft>
              <a:buSzPts val="2660"/>
              <a:buNone/>
            </a:pPr>
            <a:r>
              <a:rPr lang="en-US" sz="2800"/>
              <a:t> </a:t>
            </a:r>
            <a:endParaRPr/>
          </a:p>
          <a:p>
            <a:pPr marL="640080" lvl="1" indent="-246888" algn="l" rtl="0">
              <a:spcBef>
                <a:spcPts val="480"/>
              </a:spcBef>
              <a:spcAft>
                <a:spcPts val="0"/>
              </a:spcAft>
              <a:buSzPts val="2040"/>
              <a:buChar char="⚫"/>
            </a:pPr>
            <a:r>
              <a:rPr lang="en-US"/>
              <a:t>=&gt;(a-µ </a:t>
            </a:r>
            <a:r>
              <a:rPr lang="en-US" baseline="-25000"/>
              <a:t>a</a:t>
            </a:r>
            <a:r>
              <a:rPr lang="en-US"/>
              <a:t>)/σ</a:t>
            </a:r>
            <a:r>
              <a:rPr lang="en-US" baseline="-25000"/>
              <a:t>a</a:t>
            </a:r>
            <a:r>
              <a:rPr lang="en-US"/>
              <a:t> </a:t>
            </a:r>
            <a:endParaRPr/>
          </a:p>
          <a:p>
            <a:pPr marL="640080" lvl="1" indent="-246888" algn="l" rtl="0">
              <a:spcBef>
                <a:spcPts val="480"/>
              </a:spcBef>
              <a:spcAft>
                <a:spcPts val="0"/>
              </a:spcAft>
              <a:buSzPts val="2040"/>
              <a:buChar char="⚫"/>
            </a:pPr>
            <a:r>
              <a:rPr lang="en-US"/>
              <a:t>where Z</a:t>
            </a:r>
            <a:r>
              <a:rPr lang="en-US" baseline="-25000"/>
              <a:t>0</a:t>
            </a:r>
            <a:r>
              <a:rPr lang="en-US"/>
              <a:t> is normally distributed variable</a:t>
            </a:r>
            <a:endParaRPr sz="2800"/>
          </a:p>
          <a:p>
            <a:pPr marL="274320" lvl="0" indent="-274320" algn="l" rtl="0">
              <a:spcBef>
                <a:spcPts val="560"/>
              </a:spcBef>
              <a:spcAft>
                <a:spcPts val="0"/>
              </a:spcAft>
              <a:buSzPts val="2660"/>
              <a:buNone/>
            </a:pPr>
            <a:r>
              <a:rPr lang="en-US" sz="2800"/>
              <a:t>Failure to reject hypothesis of independence occurs when -Z</a:t>
            </a:r>
            <a:r>
              <a:rPr lang="en-US" sz="2800" baseline="-25000"/>
              <a:t>α</a:t>
            </a:r>
            <a:r>
              <a:rPr lang="en-US" sz="2800"/>
              <a:t>&lt;=Z</a:t>
            </a:r>
            <a:r>
              <a:rPr lang="en-US" sz="2800" baseline="-25000"/>
              <a:t>0</a:t>
            </a:r>
            <a:r>
              <a:rPr lang="en-US" sz="2800"/>
              <a:t>&lt;=Z</a:t>
            </a:r>
            <a:r>
              <a:rPr lang="en-US" sz="2800" baseline="-25000"/>
              <a:t>α/2</a:t>
            </a:r>
            <a:r>
              <a:rPr lang="en-US" sz="2800"/>
              <a:t> where α is the label of significance.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368" name="Google Shape;368;p38" descr="runtest.PNG"/>
          <p:cNvPicPr preferRelativeResize="0">
            <a:picLocks noGrp="1"/>
          </p:cNvPicPr>
          <p:nvPr>
            <p:ph type="body" idx="1"/>
          </p:nvPr>
        </p:nvPicPr>
        <p:blipFill rotWithShape="1">
          <a:blip r:embed="rId3">
            <a:alphaModFix/>
          </a:blip>
          <a:srcRect/>
          <a:stretch/>
        </p:blipFill>
        <p:spPr>
          <a:xfrm>
            <a:off x="304800" y="609600"/>
            <a:ext cx="8331862" cy="49529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b="1" u="sng"/>
              <a:t>Run Test cont..</a:t>
            </a:r>
            <a:endParaRPr/>
          </a:p>
        </p:txBody>
      </p:sp>
      <p:sp>
        <p:nvSpPr>
          <p:cNvPr id="374" name="Google Shape;374;p3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None/>
            </a:pPr>
            <a:r>
              <a:rPr lang="en-US" b="1" u="sng"/>
              <a:t>Steps</a:t>
            </a:r>
            <a:endParaRPr/>
          </a:p>
          <a:p>
            <a:pPr marL="640080" lvl="1" indent="-246888" algn="l" rtl="0">
              <a:spcBef>
                <a:spcPts val="444"/>
              </a:spcBef>
              <a:spcAft>
                <a:spcPts val="0"/>
              </a:spcAft>
              <a:buSzPct val="85000"/>
              <a:buChar char="⚫"/>
            </a:pPr>
            <a:r>
              <a:rPr lang="en-US"/>
              <a:t>Find the sequence of runs up &amp; runs down.</a:t>
            </a:r>
            <a:endParaRPr/>
          </a:p>
          <a:p>
            <a:pPr marL="640080" lvl="1" indent="-246888" algn="l" rtl="0">
              <a:spcBef>
                <a:spcPts val="444"/>
              </a:spcBef>
              <a:spcAft>
                <a:spcPts val="0"/>
              </a:spcAft>
              <a:buSzPct val="85000"/>
              <a:buChar char="⚫"/>
            </a:pPr>
            <a:r>
              <a:rPr lang="en-US"/>
              <a:t>Find total no. of runs denoted by ‘a’.</a:t>
            </a:r>
            <a:endParaRPr/>
          </a:p>
          <a:p>
            <a:pPr marL="640080" lvl="1" indent="-246888" algn="l" rtl="0">
              <a:spcBef>
                <a:spcPts val="444"/>
              </a:spcBef>
              <a:spcAft>
                <a:spcPts val="0"/>
              </a:spcAft>
              <a:buSzPct val="85000"/>
              <a:buChar char="⚫"/>
            </a:pPr>
            <a:r>
              <a:rPr lang="en-US"/>
              <a:t>Find mean &amp; standard deviation.</a:t>
            </a:r>
            <a:endParaRPr/>
          </a:p>
          <a:p>
            <a:pPr marL="274320" lvl="0" indent="-274320" algn="l" rtl="0">
              <a:spcBef>
                <a:spcPts val="481"/>
              </a:spcBef>
              <a:spcAft>
                <a:spcPts val="0"/>
              </a:spcAft>
              <a:buSzPct val="95000"/>
              <a:buNone/>
            </a:pPr>
            <a:r>
              <a:rPr lang="en-US"/>
              <a:t>		µa=(2N-1)/3</a:t>
            </a:r>
            <a:endParaRPr/>
          </a:p>
          <a:p>
            <a:pPr marL="274320" lvl="0" indent="-274320" algn="l" rtl="0">
              <a:spcBef>
                <a:spcPts val="481"/>
              </a:spcBef>
              <a:spcAft>
                <a:spcPts val="0"/>
              </a:spcAft>
              <a:buSzPct val="95000"/>
              <a:buNone/>
            </a:pPr>
            <a:r>
              <a:rPr lang="en-US"/>
              <a:t>		Variance=σa 2 =(16N-29)/90</a:t>
            </a:r>
            <a:endParaRPr/>
          </a:p>
          <a:p>
            <a:pPr marL="274320" lvl="0" indent="-274320" algn="l" rtl="0">
              <a:spcBef>
                <a:spcPts val="481"/>
              </a:spcBef>
              <a:spcAft>
                <a:spcPts val="0"/>
              </a:spcAft>
              <a:buSzPct val="95000"/>
              <a:buNone/>
            </a:pPr>
            <a:r>
              <a:rPr lang="en-US"/>
              <a:t>             Standard deviation σa</a:t>
            </a:r>
            <a:endParaRPr/>
          </a:p>
          <a:p>
            <a:pPr marL="640080" lvl="1" indent="-246888" algn="l" rtl="0">
              <a:spcBef>
                <a:spcPts val="444"/>
              </a:spcBef>
              <a:spcAft>
                <a:spcPts val="0"/>
              </a:spcAft>
              <a:buSzPct val="85000"/>
              <a:buChar char="⚫"/>
            </a:pPr>
            <a:r>
              <a:rPr lang="en-US"/>
              <a:t>Compute the test statistic Z</a:t>
            </a:r>
            <a:r>
              <a:rPr lang="en-US" baseline="-25000"/>
              <a:t>0</a:t>
            </a:r>
            <a:r>
              <a:rPr lang="en-US"/>
              <a:t>=(a-µ </a:t>
            </a:r>
            <a:r>
              <a:rPr lang="en-US" baseline="-25000"/>
              <a:t>a</a:t>
            </a:r>
            <a:r>
              <a:rPr lang="en-US"/>
              <a:t>)/σ</a:t>
            </a:r>
            <a:r>
              <a:rPr lang="en-US" baseline="-25000"/>
              <a:t>a</a:t>
            </a:r>
            <a:r>
              <a:rPr lang="en-US"/>
              <a:t> </a:t>
            </a:r>
            <a:endParaRPr/>
          </a:p>
          <a:p>
            <a:pPr marL="640080" lvl="1" indent="-246888" algn="l" rtl="0">
              <a:spcBef>
                <a:spcPts val="444"/>
              </a:spcBef>
              <a:spcAft>
                <a:spcPts val="0"/>
              </a:spcAft>
              <a:buSzPct val="85000"/>
              <a:buChar char="⚫"/>
            </a:pPr>
            <a:r>
              <a:rPr lang="en-US"/>
              <a:t>Compare it with the theoretical value.</a:t>
            </a:r>
            <a:endParaRPr/>
          </a:p>
          <a:p>
            <a:pPr marL="640080" lvl="1" indent="-246888" algn="l" rtl="0">
              <a:spcBef>
                <a:spcPts val="444"/>
              </a:spcBef>
              <a:spcAft>
                <a:spcPts val="0"/>
              </a:spcAft>
              <a:buSzPct val="85000"/>
              <a:buChar char="⚫"/>
            </a:pPr>
            <a:r>
              <a:rPr lang="en-US"/>
              <a:t>If - Z</a:t>
            </a:r>
            <a:r>
              <a:rPr lang="en-US" baseline="-25000"/>
              <a:t>α/2</a:t>
            </a:r>
            <a:r>
              <a:rPr lang="en-US"/>
              <a:t>&lt;Z</a:t>
            </a:r>
            <a:r>
              <a:rPr lang="en-US" baseline="-25000"/>
              <a:t>0</a:t>
            </a:r>
            <a:r>
              <a:rPr lang="en-US"/>
              <a:t>&lt;= Z</a:t>
            </a:r>
            <a:r>
              <a:rPr lang="en-US" baseline="-25000"/>
              <a:t>α/2</a:t>
            </a:r>
            <a:r>
              <a:rPr lang="en-US"/>
              <a:t>, then null hypothesis of independence cannot be rejected on the basis of test and the sequence of random no. is independent. Hence it passes the runs test.</a:t>
            </a:r>
            <a:endParaRPr/>
          </a:p>
          <a:p>
            <a:pPr marL="274320" lvl="0" indent="-129238" algn="l" rtl="0">
              <a:spcBef>
                <a:spcPts val="481"/>
              </a:spcBef>
              <a:spcAft>
                <a:spcPts val="0"/>
              </a:spcAft>
              <a:buSzPct val="95000"/>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457200" y="284477"/>
            <a:ext cx="8229600" cy="978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Run Test</a:t>
            </a:r>
            <a:endParaRPr/>
          </a:p>
        </p:txBody>
      </p:sp>
      <p:sp>
        <p:nvSpPr>
          <p:cNvPr id="380" name="Google Shape;380;p40"/>
          <p:cNvSpPr txBox="1">
            <a:spLocks noGrp="1"/>
          </p:cNvSpPr>
          <p:nvPr>
            <p:ph type="body" idx="1"/>
          </p:nvPr>
        </p:nvSpPr>
        <p:spPr>
          <a:xfrm>
            <a:off x="457200" y="1935480"/>
            <a:ext cx="8229600" cy="4389000"/>
          </a:xfrm>
          <a:prstGeom prst="rect">
            <a:avLst/>
          </a:prstGeom>
          <a:noFill/>
          <a:ln>
            <a:noFill/>
          </a:ln>
        </p:spPr>
        <p:txBody>
          <a:bodyPr spcFirstLastPara="1" wrap="square" lIns="91425" tIns="45700" rIns="91425" bIns="45700" anchor="t" anchorCtr="0">
            <a:normAutofit fontScale="62500" lnSpcReduction="20000"/>
          </a:bodyPr>
          <a:lstStyle/>
          <a:p>
            <a:pPr marL="274320" lvl="0" indent="-274320" algn="l" rtl="0">
              <a:spcBef>
                <a:spcPts val="0"/>
              </a:spcBef>
              <a:spcAft>
                <a:spcPts val="0"/>
              </a:spcAft>
              <a:buSzPct val="95000"/>
              <a:buNone/>
            </a:pPr>
            <a:r>
              <a:rPr lang="en-US"/>
              <a:t>Perform runs test on the following sequence of random numbers : </a:t>
            </a:r>
            <a:endParaRPr/>
          </a:p>
          <a:p>
            <a:pPr marL="274320" lvl="0" indent="-274320" algn="l" rtl="0">
              <a:spcBef>
                <a:spcPts val="403"/>
              </a:spcBef>
              <a:spcAft>
                <a:spcPts val="0"/>
              </a:spcAft>
              <a:buSzPct val="95000"/>
              <a:buNone/>
            </a:pPr>
            <a:r>
              <a:rPr lang="en-US"/>
              <a:t>0.08, 0.09, 0.43, 0.29, 0.42, 0.53, 0.68, 0.10, 0.76, 0.98</a:t>
            </a:r>
            <a:endParaRPr/>
          </a:p>
          <a:p>
            <a:pPr marL="274320" lvl="0" indent="-274320" algn="l" rtl="0">
              <a:spcBef>
                <a:spcPts val="403"/>
              </a:spcBef>
              <a:spcAft>
                <a:spcPts val="0"/>
              </a:spcAft>
              <a:buSzPct val="95000"/>
              <a:buNone/>
            </a:pPr>
            <a:r>
              <a:rPr lang="en-US"/>
              <a:t>Solution:</a:t>
            </a:r>
            <a:endParaRPr/>
          </a:p>
          <a:p>
            <a:pPr marL="0" lvl="0" indent="0" algn="l" rtl="0">
              <a:spcBef>
                <a:spcPts val="481"/>
              </a:spcBef>
              <a:spcAft>
                <a:spcPts val="0"/>
              </a:spcAft>
              <a:buNone/>
            </a:pPr>
            <a:r>
              <a:rPr lang="en-US"/>
              <a:t>In test for independence, the hypothesis are-</a:t>
            </a:r>
            <a:endParaRPr/>
          </a:p>
          <a:p>
            <a:pPr marL="640080" lvl="0" indent="0" algn="l" rtl="0">
              <a:spcBef>
                <a:spcPts val="444"/>
              </a:spcBef>
              <a:spcAft>
                <a:spcPts val="0"/>
              </a:spcAft>
              <a:buNone/>
            </a:pPr>
            <a:r>
              <a:rPr lang="en-US"/>
              <a:t>H0:Ri~independent</a:t>
            </a:r>
            <a:endParaRPr/>
          </a:p>
          <a:p>
            <a:pPr marL="640080" lvl="0" indent="0" algn="l" rtl="0">
              <a:spcBef>
                <a:spcPts val="444"/>
              </a:spcBef>
              <a:spcAft>
                <a:spcPts val="0"/>
              </a:spcAft>
              <a:buNone/>
            </a:pPr>
            <a:r>
              <a:rPr lang="en-US"/>
              <a:t>H</a:t>
            </a:r>
            <a:r>
              <a:rPr lang="en-US" baseline="-25000"/>
              <a:t>1</a:t>
            </a:r>
            <a:r>
              <a:rPr lang="en-US"/>
              <a:t>:Ri  independent rejected</a:t>
            </a:r>
            <a:endParaRPr/>
          </a:p>
          <a:p>
            <a:pPr marL="274320" lvl="0" indent="-274320" algn="l" rtl="0">
              <a:spcBef>
                <a:spcPts val="403"/>
              </a:spcBef>
              <a:spcAft>
                <a:spcPts val="0"/>
              </a:spcAft>
              <a:buSzPct val="95000"/>
              <a:buNone/>
            </a:pPr>
            <a:endParaRPr/>
          </a:p>
          <a:p>
            <a:pPr marL="274320" lvl="0" indent="-274320" algn="l" rtl="0">
              <a:spcBef>
                <a:spcPts val="403"/>
              </a:spcBef>
              <a:spcAft>
                <a:spcPts val="0"/>
              </a:spcAft>
              <a:buSzPct val="95000"/>
              <a:buNone/>
            </a:pPr>
            <a:r>
              <a:rPr lang="en-US"/>
              <a:t>Let us now calculate the Runs up(H) and Run Down (T)</a:t>
            </a:r>
            <a:endParaRPr/>
          </a:p>
          <a:p>
            <a:pPr marL="274320" lvl="0" indent="-274320" algn="l" rtl="0">
              <a:spcBef>
                <a:spcPts val="403"/>
              </a:spcBef>
              <a:spcAft>
                <a:spcPts val="0"/>
              </a:spcAft>
              <a:buSzPct val="95000"/>
              <a:buNone/>
            </a:pPr>
            <a:r>
              <a:rPr lang="en-US" strike="sngStrike">
                <a:solidFill>
                  <a:srgbClr val="FF0000"/>
                </a:solidFill>
              </a:rPr>
              <a:t>HH</a:t>
            </a:r>
            <a:r>
              <a:rPr lang="en-US">
                <a:solidFill>
                  <a:srgbClr val="FF0000"/>
                </a:solidFill>
              </a:rPr>
              <a:t> </a:t>
            </a:r>
            <a:r>
              <a:rPr lang="en-US">
                <a:solidFill>
                  <a:srgbClr val="00B050"/>
                </a:solidFill>
              </a:rPr>
              <a:t>T</a:t>
            </a:r>
            <a:r>
              <a:rPr lang="en-US">
                <a:solidFill>
                  <a:srgbClr val="FF0000"/>
                </a:solidFill>
              </a:rPr>
              <a:t> HHH </a:t>
            </a:r>
            <a:r>
              <a:rPr lang="en-US">
                <a:solidFill>
                  <a:srgbClr val="00B050"/>
                </a:solidFill>
              </a:rPr>
              <a:t>T</a:t>
            </a:r>
            <a:r>
              <a:rPr lang="en-US">
                <a:solidFill>
                  <a:srgbClr val="FF0000"/>
                </a:solidFill>
              </a:rPr>
              <a:t> HH</a:t>
            </a:r>
            <a:endParaRPr strike="sngStrike">
              <a:solidFill>
                <a:srgbClr val="FF0000"/>
              </a:solidFill>
            </a:endParaRPr>
          </a:p>
          <a:p>
            <a:pPr marL="274320" lvl="0" indent="-274320" algn="l" rtl="0">
              <a:spcBef>
                <a:spcPts val="403"/>
              </a:spcBef>
              <a:spcAft>
                <a:spcPts val="0"/>
              </a:spcAft>
              <a:buSzPct val="95000"/>
              <a:buNone/>
            </a:pPr>
            <a:r>
              <a:rPr lang="en-US"/>
              <a:t>1       2     3     4   5 </a:t>
            </a:r>
            <a:endParaRPr/>
          </a:p>
          <a:p>
            <a:pPr marL="274320" lvl="0" indent="-274320" algn="l" rtl="0">
              <a:spcBef>
                <a:spcPts val="403"/>
              </a:spcBef>
              <a:spcAft>
                <a:spcPts val="0"/>
              </a:spcAft>
              <a:buSzPct val="95000"/>
              <a:buNone/>
            </a:pPr>
            <a:r>
              <a:rPr lang="en-US"/>
              <a:t>No. of runs a=5,</a:t>
            </a:r>
            <a:endParaRPr/>
          </a:p>
          <a:p>
            <a:pPr marL="274320" lvl="0" indent="-274320" algn="l" rtl="0">
              <a:spcBef>
                <a:spcPts val="403"/>
              </a:spcBef>
              <a:spcAft>
                <a:spcPts val="0"/>
              </a:spcAft>
              <a:buSzPct val="95000"/>
              <a:buNone/>
            </a:pPr>
            <a:r>
              <a:rPr lang="en-US"/>
              <a:t>N=10 </a:t>
            </a:r>
            <a:endParaRPr/>
          </a:p>
          <a:p>
            <a:pPr marL="274320" lvl="0" indent="-274320" algn="l" rtl="0">
              <a:spcBef>
                <a:spcPts val="403"/>
              </a:spcBef>
              <a:spcAft>
                <a:spcPts val="0"/>
              </a:spcAft>
              <a:buSzPct val="95000"/>
              <a:buNone/>
            </a:pPr>
            <a:r>
              <a:rPr lang="en-US"/>
              <a:t>Mean,</a:t>
            </a:r>
            <a:endParaRPr/>
          </a:p>
          <a:p>
            <a:pPr marL="274320" lvl="0" indent="-274320" algn="l" rtl="0">
              <a:spcBef>
                <a:spcPts val="403"/>
              </a:spcBef>
              <a:spcAft>
                <a:spcPts val="0"/>
              </a:spcAft>
              <a:buSzPct val="95000"/>
              <a:buNone/>
            </a:pPr>
            <a:r>
              <a:rPr lang="en-US"/>
              <a:t> µa=(2N-1)/3=((2*10)-1)/3=19/3=6.33</a:t>
            </a:r>
            <a:endParaRPr/>
          </a:p>
          <a:p>
            <a:pPr marL="274320" lvl="0" indent="-274320" algn="l" rtl="0">
              <a:spcBef>
                <a:spcPts val="403"/>
              </a:spcBef>
              <a:spcAft>
                <a:spcPts val="0"/>
              </a:spcAft>
              <a:buSzPct val="95000"/>
              <a:buNone/>
            </a:pPr>
            <a:r>
              <a:rPr lang="en-US"/>
              <a:t>Variance=σa 2 =(16N-29)/90=((16*10-29)/90=1.455 </a:t>
            </a:r>
            <a:endParaRPr/>
          </a:p>
          <a:p>
            <a:pPr marL="274320" lvl="0" indent="-274320" algn="l" rtl="0">
              <a:spcBef>
                <a:spcPts val="403"/>
              </a:spcBef>
              <a:spcAft>
                <a:spcPts val="0"/>
              </a:spcAft>
              <a:buSzPct val="95000"/>
              <a:buNone/>
            </a:pPr>
            <a:r>
              <a:rPr lang="en-US"/>
              <a:t>Standard deviation σa=√1.455 </a:t>
            </a:r>
            <a:endParaRPr/>
          </a:p>
          <a:p>
            <a:pPr marL="274320" lvl="0" indent="-274320" algn="l" rtl="0">
              <a:spcBef>
                <a:spcPts val="403"/>
              </a:spcBef>
              <a:spcAft>
                <a:spcPts val="0"/>
              </a:spcAft>
              <a:buSzPct val="95000"/>
              <a:buNone/>
            </a:pPr>
            <a:r>
              <a:rPr lang="en-US"/>
              <a:t>Test statistic Z0=(no. of runs-mean)/standard deviation =(5-6.33)/√1.455 =-1.099</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0">
                                            <p:txEl>
                                              <p:pRg st="0" end="0"/>
                                            </p:txEl>
                                          </p:spTgt>
                                        </p:tgtEl>
                                        <p:attrNameLst>
                                          <p:attrName>style.visibility</p:attrName>
                                        </p:attrNameLst>
                                      </p:cBhvr>
                                      <p:to>
                                        <p:strVal val="visible"/>
                                      </p:to>
                                    </p:set>
                                    <p:animEffect transition="in" filter="fade">
                                      <p:cBhvr>
                                        <p:cTn id="7" dur="500"/>
                                        <p:tgtEl>
                                          <p:spTgt spid="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0">
                                            <p:txEl>
                                              <p:pRg st="1" end="1"/>
                                            </p:txEl>
                                          </p:spTgt>
                                        </p:tgtEl>
                                        <p:attrNameLst>
                                          <p:attrName>style.visibility</p:attrName>
                                        </p:attrNameLst>
                                      </p:cBhvr>
                                      <p:to>
                                        <p:strVal val="visible"/>
                                      </p:to>
                                    </p:set>
                                    <p:animEffect transition="in" filter="fade">
                                      <p:cBhvr>
                                        <p:cTn id="12" dur="500"/>
                                        <p:tgtEl>
                                          <p:spTgt spid="3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0">
                                            <p:txEl>
                                              <p:pRg st="2" end="2"/>
                                            </p:txEl>
                                          </p:spTgt>
                                        </p:tgtEl>
                                        <p:attrNameLst>
                                          <p:attrName>style.visibility</p:attrName>
                                        </p:attrNameLst>
                                      </p:cBhvr>
                                      <p:to>
                                        <p:strVal val="visible"/>
                                      </p:to>
                                    </p:set>
                                    <p:animEffect transition="in" filter="fade">
                                      <p:cBhvr>
                                        <p:cTn id="17" dur="500"/>
                                        <p:tgtEl>
                                          <p:spTgt spid="3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0">
                                            <p:txEl>
                                              <p:pRg st="3" end="3"/>
                                            </p:txEl>
                                          </p:spTgt>
                                        </p:tgtEl>
                                        <p:attrNameLst>
                                          <p:attrName>style.visibility</p:attrName>
                                        </p:attrNameLst>
                                      </p:cBhvr>
                                      <p:to>
                                        <p:strVal val="visible"/>
                                      </p:to>
                                    </p:set>
                                    <p:animEffect transition="in" filter="fade">
                                      <p:cBhvr>
                                        <p:cTn id="22" dur="500"/>
                                        <p:tgtEl>
                                          <p:spTgt spid="38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0">
                                            <p:txEl>
                                              <p:pRg st="4" end="4"/>
                                            </p:txEl>
                                          </p:spTgt>
                                        </p:tgtEl>
                                        <p:attrNameLst>
                                          <p:attrName>style.visibility</p:attrName>
                                        </p:attrNameLst>
                                      </p:cBhvr>
                                      <p:to>
                                        <p:strVal val="visible"/>
                                      </p:to>
                                    </p:set>
                                    <p:animEffect transition="in" filter="fade">
                                      <p:cBhvr>
                                        <p:cTn id="27" dur="500"/>
                                        <p:tgtEl>
                                          <p:spTgt spid="38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0">
                                            <p:txEl>
                                              <p:pRg st="5" end="5"/>
                                            </p:txEl>
                                          </p:spTgt>
                                        </p:tgtEl>
                                        <p:attrNameLst>
                                          <p:attrName>style.visibility</p:attrName>
                                        </p:attrNameLst>
                                      </p:cBhvr>
                                      <p:to>
                                        <p:strVal val="visible"/>
                                      </p:to>
                                    </p:set>
                                    <p:animEffect transition="in" filter="fade">
                                      <p:cBhvr>
                                        <p:cTn id="32" dur="500"/>
                                        <p:tgtEl>
                                          <p:spTgt spid="38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0">
                                            <p:txEl>
                                              <p:pRg st="6" end="6"/>
                                            </p:txEl>
                                          </p:spTgt>
                                        </p:tgtEl>
                                        <p:attrNameLst>
                                          <p:attrName>style.visibility</p:attrName>
                                        </p:attrNameLst>
                                      </p:cBhvr>
                                      <p:to>
                                        <p:strVal val="visible"/>
                                      </p:to>
                                    </p:set>
                                    <p:animEffect transition="in" filter="fade">
                                      <p:cBhvr>
                                        <p:cTn id="37" dur="500"/>
                                        <p:tgtEl>
                                          <p:spTgt spid="38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0">
                                            <p:txEl>
                                              <p:pRg st="7" end="7"/>
                                            </p:txEl>
                                          </p:spTgt>
                                        </p:tgtEl>
                                        <p:attrNameLst>
                                          <p:attrName>style.visibility</p:attrName>
                                        </p:attrNameLst>
                                      </p:cBhvr>
                                      <p:to>
                                        <p:strVal val="visible"/>
                                      </p:to>
                                    </p:set>
                                    <p:animEffect transition="in" filter="fade">
                                      <p:cBhvr>
                                        <p:cTn id="42" dur="500"/>
                                        <p:tgtEl>
                                          <p:spTgt spid="38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0">
                                            <p:txEl>
                                              <p:pRg st="8" end="8"/>
                                            </p:txEl>
                                          </p:spTgt>
                                        </p:tgtEl>
                                        <p:attrNameLst>
                                          <p:attrName>style.visibility</p:attrName>
                                        </p:attrNameLst>
                                      </p:cBhvr>
                                      <p:to>
                                        <p:strVal val="visible"/>
                                      </p:to>
                                    </p:set>
                                    <p:animEffect transition="in" filter="fade">
                                      <p:cBhvr>
                                        <p:cTn id="47" dur="500"/>
                                        <p:tgtEl>
                                          <p:spTgt spid="38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80">
                                            <p:txEl>
                                              <p:pRg st="9" end="9"/>
                                            </p:txEl>
                                          </p:spTgt>
                                        </p:tgtEl>
                                        <p:attrNameLst>
                                          <p:attrName>style.visibility</p:attrName>
                                        </p:attrNameLst>
                                      </p:cBhvr>
                                      <p:to>
                                        <p:strVal val="visible"/>
                                      </p:to>
                                    </p:set>
                                    <p:animEffect transition="in" filter="fade">
                                      <p:cBhvr>
                                        <p:cTn id="52" dur="500"/>
                                        <p:tgtEl>
                                          <p:spTgt spid="38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0">
                                            <p:txEl>
                                              <p:pRg st="10" end="10"/>
                                            </p:txEl>
                                          </p:spTgt>
                                        </p:tgtEl>
                                        <p:attrNameLst>
                                          <p:attrName>style.visibility</p:attrName>
                                        </p:attrNameLst>
                                      </p:cBhvr>
                                      <p:to>
                                        <p:strVal val="visible"/>
                                      </p:to>
                                    </p:set>
                                    <p:animEffect transition="in" filter="fade">
                                      <p:cBhvr>
                                        <p:cTn id="57" dur="500"/>
                                        <p:tgtEl>
                                          <p:spTgt spid="38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80">
                                            <p:txEl>
                                              <p:pRg st="11" end="11"/>
                                            </p:txEl>
                                          </p:spTgt>
                                        </p:tgtEl>
                                        <p:attrNameLst>
                                          <p:attrName>style.visibility</p:attrName>
                                        </p:attrNameLst>
                                      </p:cBhvr>
                                      <p:to>
                                        <p:strVal val="visible"/>
                                      </p:to>
                                    </p:set>
                                    <p:animEffect transition="in" filter="fade">
                                      <p:cBhvr>
                                        <p:cTn id="62" dur="500"/>
                                        <p:tgtEl>
                                          <p:spTgt spid="38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80">
                                            <p:txEl>
                                              <p:pRg st="12" end="12"/>
                                            </p:txEl>
                                          </p:spTgt>
                                        </p:tgtEl>
                                        <p:attrNameLst>
                                          <p:attrName>style.visibility</p:attrName>
                                        </p:attrNameLst>
                                      </p:cBhvr>
                                      <p:to>
                                        <p:strVal val="visible"/>
                                      </p:to>
                                    </p:set>
                                    <p:animEffect transition="in" filter="fade">
                                      <p:cBhvr>
                                        <p:cTn id="67" dur="500"/>
                                        <p:tgtEl>
                                          <p:spTgt spid="38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80">
                                            <p:txEl>
                                              <p:pRg st="13" end="13"/>
                                            </p:txEl>
                                          </p:spTgt>
                                        </p:tgtEl>
                                        <p:attrNameLst>
                                          <p:attrName>style.visibility</p:attrName>
                                        </p:attrNameLst>
                                      </p:cBhvr>
                                      <p:to>
                                        <p:strVal val="visible"/>
                                      </p:to>
                                    </p:set>
                                    <p:animEffect transition="in" filter="fade">
                                      <p:cBhvr>
                                        <p:cTn id="72" dur="500"/>
                                        <p:tgtEl>
                                          <p:spTgt spid="38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80">
                                            <p:txEl>
                                              <p:pRg st="14" end="14"/>
                                            </p:txEl>
                                          </p:spTgt>
                                        </p:tgtEl>
                                        <p:attrNameLst>
                                          <p:attrName>style.visibility</p:attrName>
                                        </p:attrNameLst>
                                      </p:cBhvr>
                                      <p:to>
                                        <p:strVal val="visible"/>
                                      </p:to>
                                    </p:set>
                                    <p:animEffect transition="in" filter="fade">
                                      <p:cBhvr>
                                        <p:cTn id="77" dur="500"/>
                                        <p:tgtEl>
                                          <p:spTgt spid="380">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80">
                                            <p:txEl>
                                              <p:pRg st="15" end="15"/>
                                            </p:txEl>
                                          </p:spTgt>
                                        </p:tgtEl>
                                        <p:attrNameLst>
                                          <p:attrName>style.visibility</p:attrName>
                                        </p:attrNameLst>
                                      </p:cBhvr>
                                      <p:to>
                                        <p:strVal val="visible"/>
                                      </p:to>
                                    </p:set>
                                    <p:animEffect transition="in" filter="fade">
                                      <p:cBhvr>
                                        <p:cTn id="82" dur="500"/>
                                        <p:tgtEl>
                                          <p:spTgt spid="380">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80">
                                            <p:txEl>
                                              <p:pRg st="16" end="16"/>
                                            </p:txEl>
                                          </p:spTgt>
                                        </p:tgtEl>
                                        <p:attrNameLst>
                                          <p:attrName>style.visibility</p:attrName>
                                        </p:attrNameLst>
                                      </p:cBhvr>
                                      <p:to>
                                        <p:strVal val="visible"/>
                                      </p:to>
                                    </p:set>
                                    <p:animEffect transition="in" filter="fade">
                                      <p:cBhvr>
                                        <p:cTn id="87" dur="500"/>
                                        <p:tgtEl>
                                          <p:spTgt spid="380">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Run Test</a:t>
            </a:r>
            <a:endParaRPr/>
          </a:p>
        </p:txBody>
      </p:sp>
      <p:sp>
        <p:nvSpPr>
          <p:cNvPr id="386" name="Google Shape;386;p4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Critical value Suppose α=0.05  α/2=0.025  </a:t>
            </a:r>
            <a:endParaRPr/>
          </a:p>
          <a:p>
            <a:pPr marL="274320" lvl="0" indent="-274320" algn="l" rtl="0">
              <a:spcBef>
                <a:spcPts val="520"/>
              </a:spcBef>
              <a:spcAft>
                <a:spcPts val="0"/>
              </a:spcAft>
              <a:buSzPts val="2470"/>
              <a:buChar char="⚫"/>
            </a:pPr>
            <a:r>
              <a:rPr lang="en-US"/>
              <a:t>-Zα/2=-1.96, Zα/2=1.96 </a:t>
            </a:r>
            <a:endParaRPr/>
          </a:p>
          <a:p>
            <a:pPr marL="274320" lvl="0" indent="-274320" algn="l" rtl="0">
              <a:spcBef>
                <a:spcPts val="520"/>
              </a:spcBef>
              <a:spcAft>
                <a:spcPts val="0"/>
              </a:spcAft>
              <a:buSzPts val="2470"/>
              <a:buChar char="⚫"/>
            </a:pPr>
            <a:r>
              <a:rPr lang="en-US"/>
              <a:t>Therefore, -1.96&lt;=Z</a:t>
            </a:r>
            <a:r>
              <a:rPr lang="en-US" baseline="-25000"/>
              <a:t>0</a:t>
            </a:r>
            <a:r>
              <a:rPr lang="en-US"/>
              <a:t>&lt;=1.96, so we cannot reject the null hypothesis of independence on the basis of this test &amp; this sequence of numbers passes the runs test.</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6">
                                            <p:txEl>
                                              <p:pRg st="0" end="0"/>
                                            </p:txEl>
                                          </p:spTgt>
                                        </p:tgtEl>
                                        <p:attrNameLst>
                                          <p:attrName>style.visibility</p:attrName>
                                        </p:attrNameLst>
                                      </p:cBhvr>
                                      <p:to>
                                        <p:strVal val="visible"/>
                                      </p:to>
                                    </p:set>
                                    <p:animEffect transition="in" filter="fade">
                                      <p:cBhvr>
                                        <p:cTn id="7" dur="500"/>
                                        <p:tgtEl>
                                          <p:spTgt spid="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6">
                                            <p:txEl>
                                              <p:pRg st="1" end="1"/>
                                            </p:txEl>
                                          </p:spTgt>
                                        </p:tgtEl>
                                        <p:attrNameLst>
                                          <p:attrName>style.visibility</p:attrName>
                                        </p:attrNameLst>
                                      </p:cBhvr>
                                      <p:to>
                                        <p:strVal val="visible"/>
                                      </p:to>
                                    </p:set>
                                    <p:animEffect transition="in" filter="fade">
                                      <p:cBhvr>
                                        <p:cTn id="12" dur="500"/>
                                        <p:tgtEl>
                                          <p:spTgt spid="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6">
                                            <p:txEl>
                                              <p:pRg st="2" end="2"/>
                                            </p:txEl>
                                          </p:spTgt>
                                        </p:tgtEl>
                                        <p:attrNameLst>
                                          <p:attrName>style.visibility</p:attrName>
                                        </p:attrNameLst>
                                      </p:cBhvr>
                                      <p:to>
                                        <p:strVal val="visible"/>
                                      </p:to>
                                    </p:set>
                                    <p:animEffect transition="in" filter="fade">
                                      <p:cBhvr>
                                        <p:cTn id="17" dur="500"/>
                                        <p:tgtEl>
                                          <p:spTgt spid="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6">
                                            <p:txEl>
                                              <p:pRg st="3" end="3"/>
                                            </p:txEl>
                                          </p:spTgt>
                                        </p:tgtEl>
                                        <p:attrNameLst>
                                          <p:attrName>style.visibility</p:attrName>
                                        </p:attrNameLst>
                                      </p:cBhvr>
                                      <p:to>
                                        <p:strVal val="visible"/>
                                      </p:to>
                                    </p:set>
                                    <p:animEffect transition="in" filter="fade">
                                      <p:cBhvr>
                                        <p:cTn id="22" dur="500"/>
                                        <p:tgtEl>
                                          <p:spTgt spid="3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a:t>Tests for Auto-correlation</a:t>
            </a:r>
            <a:br>
              <a:rPr lang="en-US" b="1"/>
            </a:br>
            <a:endParaRPr/>
          </a:p>
        </p:txBody>
      </p:sp>
      <p:sp>
        <p:nvSpPr>
          <p:cNvPr id="392" name="Google Shape;392;p42"/>
          <p:cNvSpPr txBox="1">
            <a:spLocks noGrp="1"/>
          </p:cNvSpPr>
          <p:nvPr>
            <p:ph type="body" idx="1"/>
          </p:nvPr>
        </p:nvSpPr>
        <p:spPr>
          <a:xfrm>
            <a:off x="457200" y="1524000"/>
            <a:ext cx="8229600" cy="5181600"/>
          </a:xfrm>
          <a:prstGeom prst="rect">
            <a:avLst/>
          </a:prstGeom>
          <a:noFill/>
          <a:ln>
            <a:noFill/>
          </a:ln>
        </p:spPr>
        <p:txBody>
          <a:bodyPr spcFirstLastPara="1" wrap="square" lIns="91425" tIns="45700" rIns="91425" bIns="45700" anchor="t" anchorCtr="0">
            <a:normAutofit/>
          </a:bodyPr>
          <a:lstStyle/>
          <a:p>
            <a:pPr marL="274320" lvl="0" indent="-262556" algn="l" rtl="0">
              <a:spcBef>
                <a:spcPts val="0"/>
              </a:spcBef>
              <a:spcAft>
                <a:spcPts val="0"/>
              </a:spcAft>
              <a:buSzPct val="95000"/>
              <a:buChar char="⚫"/>
            </a:pPr>
            <a:r>
              <a:rPr lang="en-US"/>
              <a:t>The tests for auto-correlation are concerned with the dependence between numbers in a sequence.</a:t>
            </a:r>
            <a:endParaRPr/>
          </a:p>
          <a:p>
            <a:pPr marL="274320" lvl="0" indent="-262556" algn="l" rtl="0">
              <a:spcBef>
                <a:spcPts val="520"/>
              </a:spcBef>
              <a:spcAft>
                <a:spcPts val="0"/>
              </a:spcAft>
              <a:buSzPct val="95000"/>
              <a:buChar char="⚫"/>
            </a:pPr>
            <a:r>
              <a:rPr lang="en-US"/>
              <a:t>Let us consider the following sequence</a:t>
            </a:r>
            <a:endParaRPr/>
          </a:p>
          <a:p>
            <a:pPr marL="279400" lvl="0" indent="0" algn="l" rtl="0">
              <a:lnSpc>
                <a:spcPct val="115000"/>
              </a:lnSpc>
              <a:spcBef>
                <a:spcPts val="0"/>
              </a:spcBef>
              <a:spcAft>
                <a:spcPts val="0"/>
              </a:spcAft>
              <a:buNone/>
            </a:pPr>
            <a:r>
              <a:rPr lang="en-US" sz="2058">
                <a:latin typeface="Arial"/>
                <a:ea typeface="Arial"/>
                <a:cs typeface="Arial"/>
                <a:sym typeface="Arial"/>
              </a:rPr>
              <a:t>0.12  0.01  0.23  0.28  0.89  0.31  0.64  0.28  0.83  0.93</a:t>
            </a:r>
            <a:endParaRPr sz="2058">
              <a:latin typeface="Arial"/>
              <a:ea typeface="Arial"/>
              <a:cs typeface="Arial"/>
              <a:sym typeface="Arial"/>
            </a:endParaRPr>
          </a:p>
          <a:p>
            <a:pPr marL="279400" lvl="0" indent="0" algn="l" rtl="0">
              <a:lnSpc>
                <a:spcPct val="115000"/>
              </a:lnSpc>
              <a:spcBef>
                <a:spcPts val="0"/>
              </a:spcBef>
              <a:spcAft>
                <a:spcPts val="0"/>
              </a:spcAft>
              <a:buNone/>
            </a:pPr>
            <a:r>
              <a:rPr lang="en-US" sz="2058">
                <a:latin typeface="Arial"/>
                <a:ea typeface="Arial"/>
                <a:cs typeface="Arial"/>
                <a:sym typeface="Arial"/>
              </a:rPr>
              <a:t>0.99  0.15  0.33  0.35  0.91  0.41  0.60  0.27  0.75  0.88</a:t>
            </a:r>
            <a:endParaRPr sz="2058">
              <a:latin typeface="Arial"/>
              <a:ea typeface="Arial"/>
              <a:cs typeface="Arial"/>
              <a:sym typeface="Arial"/>
            </a:endParaRPr>
          </a:p>
          <a:p>
            <a:pPr marL="0" lvl="1" indent="0" algn="l" rtl="0">
              <a:spcBef>
                <a:spcPts val="480"/>
              </a:spcBef>
              <a:spcAft>
                <a:spcPts val="0"/>
              </a:spcAft>
              <a:buSzPct val="99120"/>
              <a:buNone/>
            </a:pPr>
            <a:r>
              <a:rPr lang="en-US" sz="2058">
                <a:latin typeface="Times New Roman"/>
                <a:ea typeface="Times New Roman"/>
                <a:cs typeface="Times New Roman"/>
                <a:sym typeface="Times New Roman"/>
              </a:rPr>
              <a:t>      0.68  0.49   0.05    0.43  0.95    0.58  0.19    0.36  0.69   0.87</a:t>
            </a:r>
            <a:endParaRPr sz="3308"/>
          </a:p>
          <a:p>
            <a:pPr marL="274320" lvl="0" indent="-117475" algn="l" rtl="0">
              <a:spcBef>
                <a:spcPts val="520"/>
              </a:spcBef>
              <a:spcAft>
                <a:spcPts val="0"/>
              </a:spcAft>
              <a:buSzPct val="95000"/>
              <a:buNone/>
            </a:pPr>
            <a:endParaRPr/>
          </a:p>
          <a:p>
            <a:pPr marL="274320" lvl="0" indent="-262556" algn="l" rtl="0">
              <a:spcBef>
                <a:spcPts val="520"/>
              </a:spcBef>
              <a:spcAft>
                <a:spcPts val="0"/>
              </a:spcAft>
              <a:buSzPct val="95000"/>
              <a:buChar char="⚫"/>
            </a:pPr>
            <a:r>
              <a:rPr lang="en-US"/>
              <a:t>The test computes the auto-correlation between every </a:t>
            </a:r>
            <a:r>
              <a:rPr lang="en-US" i="1"/>
              <a:t>m</a:t>
            </a:r>
            <a:r>
              <a:rPr lang="en-US"/>
              <a:t> numbers (</a:t>
            </a:r>
            <a:r>
              <a:rPr lang="en-US" i="1"/>
              <a:t>m</a:t>
            </a:r>
            <a:r>
              <a:rPr lang="en-US"/>
              <a:t> is also known as the lag) starting with the </a:t>
            </a:r>
            <a:r>
              <a:rPr lang="en-US" i="1"/>
              <a:t>i</a:t>
            </a:r>
            <a:r>
              <a:rPr lang="en-US"/>
              <a:t>th number.</a:t>
            </a:r>
            <a:endParaRPr/>
          </a:p>
          <a:p>
            <a:pPr marL="274320" lvl="0" indent="-262556" algn="l" rtl="0">
              <a:spcBef>
                <a:spcPts val="520"/>
              </a:spcBef>
              <a:spcAft>
                <a:spcPts val="0"/>
              </a:spcAft>
              <a:buSzPct val="95000"/>
              <a:buChar char="⚫"/>
            </a:pPr>
            <a:r>
              <a:rPr lang="en-US"/>
              <a:t>Thus the autocorrelation  between the following numbers would be of interest. </a:t>
            </a:r>
            <a:endParaRPr/>
          </a:p>
          <a:p>
            <a:pPr marL="274320" lvl="0" indent="-117475" algn="l" rtl="0">
              <a:spcBef>
                <a:spcPts val="520"/>
              </a:spcBef>
              <a:spcAft>
                <a:spcPts val="0"/>
              </a:spcAft>
              <a:buSzPct val="95000"/>
              <a:buNone/>
            </a:pPr>
            <a:endParaRPr/>
          </a:p>
          <a:p>
            <a:pPr marL="274320" lvl="0" indent="-117475" algn="l" rtl="0">
              <a:spcBef>
                <a:spcPts val="520"/>
              </a:spcBef>
              <a:spcAft>
                <a:spcPts val="0"/>
              </a:spcAft>
              <a:buSzPct val="95000"/>
              <a:buNone/>
            </a:pPr>
            <a:endParaRPr/>
          </a:p>
          <a:p>
            <a:pPr marL="274320" lvl="0" indent="-117475" algn="l" rtl="0">
              <a:spcBef>
                <a:spcPts val="520"/>
              </a:spcBef>
              <a:spcAft>
                <a:spcPts val="0"/>
              </a:spcAft>
              <a:buSzPct val="95000"/>
              <a:buNone/>
            </a:pPr>
            <a:endParaRPr/>
          </a:p>
        </p:txBody>
      </p:sp>
      <p:pic>
        <p:nvPicPr>
          <p:cNvPr id="393" name="Google Shape;393;p42"/>
          <p:cNvPicPr preferRelativeResize="0"/>
          <p:nvPr/>
        </p:nvPicPr>
        <p:blipFill rotWithShape="1">
          <a:blip r:embed="rId3">
            <a:alphaModFix/>
          </a:blip>
          <a:srcRect/>
          <a:stretch/>
        </p:blipFill>
        <p:spPr>
          <a:xfrm>
            <a:off x="1981200" y="6096001"/>
            <a:ext cx="4648200" cy="609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xEl>
                                              <p:pRg st="0" end="0"/>
                                            </p:txEl>
                                          </p:spTgt>
                                        </p:tgtEl>
                                        <p:attrNameLst>
                                          <p:attrName>style.visibility</p:attrName>
                                        </p:attrNameLst>
                                      </p:cBhvr>
                                      <p:to>
                                        <p:strVal val="visible"/>
                                      </p:to>
                                    </p:set>
                                    <p:animEffect transition="in" filter="fade">
                                      <p:cBhvr>
                                        <p:cTn id="7" dur="500"/>
                                        <p:tgtEl>
                                          <p:spTgt spid="3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2">
                                            <p:txEl>
                                              <p:pRg st="1" end="1"/>
                                            </p:txEl>
                                          </p:spTgt>
                                        </p:tgtEl>
                                        <p:attrNameLst>
                                          <p:attrName>style.visibility</p:attrName>
                                        </p:attrNameLst>
                                      </p:cBhvr>
                                      <p:to>
                                        <p:strVal val="visible"/>
                                      </p:to>
                                    </p:set>
                                    <p:animEffect transition="in" filter="fade">
                                      <p:cBhvr>
                                        <p:cTn id="12" dur="500"/>
                                        <p:tgtEl>
                                          <p:spTgt spid="3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2">
                                            <p:txEl>
                                              <p:pRg st="2" end="2"/>
                                            </p:txEl>
                                          </p:spTgt>
                                        </p:tgtEl>
                                        <p:attrNameLst>
                                          <p:attrName>style.visibility</p:attrName>
                                        </p:attrNameLst>
                                      </p:cBhvr>
                                      <p:to>
                                        <p:strVal val="visible"/>
                                      </p:to>
                                    </p:set>
                                    <p:animEffect transition="in" filter="fade">
                                      <p:cBhvr>
                                        <p:cTn id="17" dur="500"/>
                                        <p:tgtEl>
                                          <p:spTgt spid="3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2">
                                            <p:txEl>
                                              <p:pRg st="3" end="3"/>
                                            </p:txEl>
                                          </p:spTgt>
                                        </p:tgtEl>
                                        <p:attrNameLst>
                                          <p:attrName>style.visibility</p:attrName>
                                        </p:attrNameLst>
                                      </p:cBhvr>
                                      <p:to>
                                        <p:strVal val="visible"/>
                                      </p:to>
                                    </p:set>
                                    <p:animEffect transition="in" filter="fade">
                                      <p:cBhvr>
                                        <p:cTn id="22" dur="500"/>
                                        <p:tgtEl>
                                          <p:spTgt spid="3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2">
                                            <p:txEl>
                                              <p:pRg st="4" end="4"/>
                                            </p:txEl>
                                          </p:spTgt>
                                        </p:tgtEl>
                                        <p:attrNameLst>
                                          <p:attrName>style.visibility</p:attrName>
                                        </p:attrNameLst>
                                      </p:cBhvr>
                                      <p:to>
                                        <p:strVal val="visible"/>
                                      </p:to>
                                    </p:set>
                                    <p:animEffect transition="in" filter="fade">
                                      <p:cBhvr>
                                        <p:cTn id="27" dur="500"/>
                                        <p:tgtEl>
                                          <p:spTgt spid="39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2">
                                            <p:txEl>
                                              <p:pRg st="5" end="5"/>
                                            </p:txEl>
                                          </p:spTgt>
                                        </p:tgtEl>
                                        <p:attrNameLst>
                                          <p:attrName>style.visibility</p:attrName>
                                        </p:attrNameLst>
                                      </p:cBhvr>
                                      <p:to>
                                        <p:strVal val="visible"/>
                                      </p:to>
                                    </p:set>
                                    <p:animEffect transition="in" filter="fade">
                                      <p:cBhvr>
                                        <p:cTn id="32" dur="500"/>
                                        <p:tgtEl>
                                          <p:spTgt spid="39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2">
                                            <p:txEl>
                                              <p:pRg st="6" end="6"/>
                                            </p:txEl>
                                          </p:spTgt>
                                        </p:tgtEl>
                                        <p:attrNameLst>
                                          <p:attrName>style.visibility</p:attrName>
                                        </p:attrNameLst>
                                      </p:cBhvr>
                                      <p:to>
                                        <p:strVal val="visible"/>
                                      </p:to>
                                    </p:set>
                                    <p:animEffect transition="in" filter="fade">
                                      <p:cBhvr>
                                        <p:cTn id="37" dur="500"/>
                                        <p:tgtEl>
                                          <p:spTgt spid="39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2">
                                            <p:txEl>
                                              <p:pRg st="7" end="7"/>
                                            </p:txEl>
                                          </p:spTgt>
                                        </p:tgtEl>
                                        <p:attrNameLst>
                                          <p:attrName>style.visibility</p:attrName>
                                        </p:attrNameLst>
                                      </p:cBhvr>
                                      <p:to>
                                        <p:strVal val="visible"/>
                                      </p:to>
                                    </p:set>
                                    <p:animEffect transition="in" filter="fade">
                                      <p:cBhvr>
                                        <p:cTn id="42" dur="500"/>
                                        <p:tgtEl>
                                          <p:spTgt spid="39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2">
                                            <p:txEl>
                                              <p:pRg st="8" end="8"/>
                                            </p:txEl>
                                          </p:spTgt>
                                        </p:tgtEl>
                                        <p:attrNameLst>
                                          <p:attrName>style.visibility</p:attrName>
                                        </p:attrNameLst>
                                      </p:cBhvr>
                                      <p:to>
                                        <p:strVal val="visible"/>
                                      </p:to>
                                    </p:set>
                                    <p:animEffect transition="in" filter="fade">
                                      <p:cBhvr>
                                        <p:cTn id="47" dur="500"/>
                                        <p:tgtEl>
                                          <p:spTgt spid="39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92">
                                            <p:txEl>
                                              <p:pRg st="9" end="9"/>
                                            </p:txEl>
                                          </p:spTgt>
                                        </p:tgtEl>
                                        <p:attrNameLst>
                                          <p:attrName>style.visibility</p:attrName>
                                        </p:attrNameLst>
                                      </p:cBhvr>
                                      <p:to>
                                        <p:strVal val="visible"/>
                                      </p:to>
                                    </p:set>
                                    <p:animEffect transition="in" filter="fade">
                                      <p:cBhvr>
                                        <p:cTn id="52" dur="500"/>
                                        <p:tgtEl>
                                          <p:spTgt spid="39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92">
                                            <p:txEl>
                                              <p:pRg st="10" end="10"/>
                                            </p:txEl>
                                          </p:spTgt>
                                        </p:tgtEl>
                                        <p:attrNameLst>
                                          <p:attrName>style.visibility</p:attrName>
                                        </p:attrNameLst>
                                      </p:cBhvr>
                                      <p:to>
                                        <p:strVal val="visible"/>
                                      </p:to>
                                    </p:set>
                                    <p:animEffect transition="in" filter="fade">
                                      <p:cBhvr>
                                        <p:cTn id="57" dur="500"/>
                                        <p:tgtEl>
                                          <p:spTgt spid="39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93"/>
                                        </p:tgtEl>
                                        <p:attrNameLst>
                                          <p:attrName>style.visibility</p:attrName>
                                        </p:attrNameLst>
                                      </p:cBhvr>
                                      <p:to>
                                        <p:strVal val="visible"/>
                                      </p:to>
                                    </p:set>
                                    <p:animEffect transition="in" filter="fade">
                                      <p:cBhvr>
                                        <p:cTn id="62" dur="5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399" name="Google Shape;399;p4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value </a:t>
            </a:r>
            <a:r>
              <a:rPr lang="en-US" i="1"/>
              <a:t>M</a:t>
            </a:r>
            <a:r>
              <a:rPr lang="en-US"/>
              <a:t> is the largest integer such that  where </a:t>
            </a:r>
            <a:r>
              <a:rPr lang="en-US" i="1"/>
              <a:t>N</a:t>
            </a:r>
            <a:r>
              <a:rPr lang="en-US"/>
              <a:t> is the total number of values in the sequence.</a:t>
            </a:r>
            <a:endParaRPr/>
          </a:p>
          <a:p>
            <a:pPr marL="640080" lvl="1" indent="-117348" algn="l" rtl="0">
              <a:spcBef>
                <a:spcPts val="480"/>
              </a:spcBef>
              <a:spcAft>
                <a:spcPts val="0"/>
              </a:spcAft>
              <a:buSzPts val="2040"/>
              <a:buNone/>
            </a:pPr>
            <a:endParaRPr/>
          </a:p>
          <a:p>
            <a:pPr marL="274320" lvl="0" indent="-274320" algn="l" rtl="0">
              <a:spcBef>
                <a:spcPts val="520"/>
              </a:spcBef>
              <a:spcAft>
                <a:spcPts val="0"/>
              </a:spcAft>
              <a:buSzPts val="2470"/>
              <a:buChar char="⚫"/>
            </a:pPr>
            <a:r>
              <a:rPr lang="en-US"/>
              <a:t>Test statistic is calculated as  </a:t>
            </a:r>
            <a:endParaRPr/>
          </a:p>
          <a:p>
            <a:pPr marL="274320" lvl="0" indent="-117475" algn="l" rtl="0">
              <a:spcBef>
                <a:spcPts val="520"/>
              </a:spcBef>
              <a:spcAft>
                <a:spcPts val="0"/>
              </a:spcAft>
              <a:buSzPts val="2470"/>
              <a:buNone/>
            </a:pPr>
            <a:endParaRPr/>
          </a:p>
        </p:txBody>
      </p:sp>
      <p:pic>
        <p:nvPicPr>
          <p:cNvPr id="400" name="Google Shape;400;p43"/>
          <p:cNvPicPr preferRelativeResize="0"/>
          <p:nvPr/>
        </p:nvPicPr>
        <p:blipFill rotWithShape="1">
          <a:blip r:embed="rId3">
            <a:alphaModFix/>
          </a:blip>
          <a:srcRect/>
          <a:stretch/>
        </p:blipFill>
        <p:spPr>
          <a:xfrm>
            <a:off x="3733800" y="3886199"/>
            <a:ext cx="2209800" cy="1241697"/>
          </a:xfrm>
          <a:prstGeom prst="rect">
            <a:avLst/>
          </a:prstGeom>
          <a:noFill/>
          <a:ln>
            <a:noFill/>
          </a:ln>
        </p:spPr>
      </p:pic>
      <p:pic>
        <p:nvPicPr>
          <p:cNvPr id="401" name="Google Shape;401;p43" descr="M.jpg"/>
          <p:cNvPicPr preferRelativeResize="0"/>
          <p:nvPr/>
        </p:nvPicPr>
        <p:blipFill rotWithShape="1">
          <a:blip r:embed="rId4">
            <a:alphaModFix/>
          </a:blip>
          <a:srcRect/>
          <a:stretch/>
        </p:blipFill>
        <p:spPr>
          <a:xfrm>
            <a:off x="2133600" y="2895600"/>
            <a:ext cx="2971800" cy="381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
                                            <p:txEl>
                                              <p:pRg st="0" end="0"/>
                                            </p:txEl>
                                          </p:spTgt>
                                        </p:tgtEl>
                                        <p:attrNameLst>
                                          <p:attrName>style.visibility</p:attrName>
                                        </p:attrNameLst>
                                      </p:cBhvr>
                                      <p:to>
                                        <p:strVal val="visible"/>
                                      </p:to>
                                    </p:set>
                                    <p:animEffect transition="in" filter="fade">
                                      <p:cBhvr>
                                        <p:cTn id="7" dur="500"/>
                                        <p:tgtEl>
                                          <p:spTgt spid="3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
                                            <p:txEl>
                                              <p:pRg st="1" end="1"/>
                                            </p:txEl>
                                          </p:spTgt>
                                        </p:tgtEl>
                                        <p:attrNameLst>
                                          <p:attrName>style.visibility</p:attrName>
                                        </p:attrNameLst>
                                      </p:cBhvr>
                                      <p:to>
                                        <p:strVal val="visible"/>
                                      </p:to>
                                    </p:set>
                                    <p:animEffect transition="in" filter="fade">
                                      <p:cBhvr>
                                        <p:cTn id="12" dur="500"/>
                                        <p:tgtEl>
                                          <p:spTgt spid="3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9">
                                            <p:txEl>
                                              <p:pRg st="2" end="2"/>
                                            </p:txEl>
                                          </p:spTgt>
                                        </p:tgtEl>
                                        <p:attrNameLst>
                                          <p:attrName>style.visibility</p:attrName>
                                        </p:attrNameLst>
                                      </p:cBhvr>
                                      <p:to>
                                        <p:strVal val="visible"/>
                                      </p:to>
                                    </p:set>
                                    <p:animEffect transition="in" filter="fade">
                                      <p:cBhvr>
                                        <p:cTn id="17" dur="500"/>
                                        <p:tgtEl>
                                          <p:spTgt spid="3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9">
                                            <p:txEl>
                                              <p:pRg st="3" end="3"/>
                                            </p:txEl>
                                          </p:spTgt>
                                        </p:tgtEl>
                                        <p:attrNameLst>
                                          <p:attrName>style.visibility</p:attrName>
                                        </p:attrNameLst>
                                      </p:cBhvr>
                                      <p:to>
                                        <p:strVal val="visible"/>
                                      </p:to>
                                    </p:set>
                                    <p:animEffect transition="in" filter="fade">
                                      <p:cBhvr>
                                        <p:cTn id="22" dur="500"/>
                                        <p:tgtEl>
                                          <p:spTgt spid="3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1"/>
                                        </p:tgtEl>
                                        <p:attrNameLst>
                                          <p:attrName>style.visibility</p:attrName>
                                        </p:attrNameLst>
                                      </p:cBhvr>
                                      <p:to>
                                        <p:strVal val="visible"/>
                                      </p:to>
                                    </p:set>
                                    <p:animEffect transition="in" filter="fade">
                                      <p:cBhvr>
                                        <p:cTn id="27" dur="500"/>
                                        <p:tgtEl>
                                          <p:spTgt spid="40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0"/>
                                        </p:tgtEl>
                                        <p:attrNameLst>
                                          <p:attrName>style.visibility</p:attrName>
                                        </p:attrNameLst>
                                      </p:cBhvr>
                                      <p:to>
                                        <p:strVal val="visible"/>
                                      </p:to>
                                    </p:set>
                                    <p:animEffect transition="in" filter="fade">
                                      <p:cBhvr>
                                        <p:cTn id="32" dur="5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407" name="Google Shape;407;p4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which is distributed normally with a mean of zero and a variance of one.</a:t>
            </a:r>
            <a:endParaRPr/>
          </a:p>
          <a:p>
            <a:pPr marL="274320" lvl="0" indent="-274320" algn="l" rtl="0">
              <a:spcBef>
                <a:spcPts val="520"/>
              </a:spcBef>
              <a:spcAft>
                <a:spcPts val="0"/>
              </a:spcAft>
              <a:buSzPts val="2470"/>
              <a:buChar char="⚫"/>
            </a:pPr>
            <a:r>
              <a:rPr lang="en-US"/>
              <a:t>The actual formula for  and the standard deviation is </a:t>
            </a:r>
            <a:endParaRPr/>
          </a:p>
          <a:p>
            <a:pPr marL="274320" lvl="0" indent="-117475" algn="l" rtl="0">
              <a:spcBef>
                <a:spcPts val="520"/>
              </a:spcBef>
              <a:spcAft>
                <a:spcPts val="0"/>
              </a:spcAft>
              <a:buSzPts val="2470"/>
              <a:buNone/>
            </a:pPr>
            <a:endParaRPr/>
          </a:p>
        </p:txBody>
      </p:sp>
      <p:pic>
        <p:nvPicPr>
          <p:cNvPr id="408" name="Google Shape;408;p44"/>
          <p:cNvPicPr preferRelativeResize="0"/>
          <p:nvPr/>
        </p:nvPicPr>
        <p:blipFill rotWithShape="1">
          <a:blip r:embed="rId3">
            <a:alphaModFix/>
          </a:blip>
          <a:srcRect/>
          <a:stretch/>
        </p:blipFill>
        <p:spPr>
          <a:xfrm>
            <a:off x="762000" y="3429000"/>
            <a:ext cx="4800600" cy="263706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7">
                                            <p:txEl>
                                              <p:pRg st="0" end="0"/>
                                            </p:txEl>
                                          </p:spTgt>
                                        </p:tgtEl>
                                        <p:attrNameLst>
                                          <p:attrName>style.visibility</p:attrName>
                                        </p:attrNameLst>
                                      </p:cBhvr>
                                      <p:to>
                                        <p:strVal val="visible"/>
                                      </p:to>
                                    </p:set>
                                    <p:animEffect transition="in" filter="fade">
                                      <p:cBhvr>
                                        <p:cTn id="7" dur="500"/>
                                        <p:tgtEl>
                                          <p:spTgt spid="4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7">
                                            <p:txEl>
                                              <p:pRg st="1" end="1"/>
                                            </p:txEl>
                                          </p:spTgt>
                                        </p:tgtEl>
                                        <p:attrNameLst>
                                          <p:attrName>style.visibility</p:attrName>
                                        </p:attrNameLst>
                                      </p:cBhvr>
                                      <p:to>
                                        <p:strVal val="visible"/>
                                      </p:to>
                                    </p:set>
                                    <p:animEffect transition="in" filter="fade">
                                      <p:cBhvr>
                                        <p:cTn id="12" dur="500"/>
                                        <p:tgtEl>
                                          <p:spTgt spid="4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7">
                                            <p:txEl>
                                              <p:pRg st="2" end="2"/>
                                            </p:txEl>
                                          </p:spTgt>
                                        </p:tgtEl>
                                        <p:attrNameLst>
                                          <p:attrName>style.visibility</p:attrName>
                                        </p:attrNameLst>
                                      </p:cBhvr>
                                      <p:to>
                                        <p:strVal val="visible"/>
                                      </p:to>
                                    </p:set>
                                    <p:animEffect transition="in" filter="fade">
                                      <p:cBhvr>
                                        <p:cTn id="17" dur="500"/>
                                        <p:tgtEl>
                                          <p:spTgt spid="4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8"/>
                                        </p:tgtEl>
                                        <p:attrNameLst>
                                          <p:attrName>style.visibility</p:attrName>
                                        </p:attrNameLst>
                                      </p:cBhvr>
                                      <p:to>
                                        <p:strVal val="visible"/>
                                      </p:to>
                                    </p:set>
                                    <p:animEffect transition="in" filter="fade">
                                      <p:cBhvr>
                                        <p:cTn id="22" dur="5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414" name="Google Shape;414;p4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After computing , do not reject the null hypothesis of independence if </a:t>
            </a:r>
            <a:endParaRPr/>
          </a:p>
          <a:p>
            <a:pPr marL="274320" lvl="0" indent="-117475" algn="l" rtl="0">
              <a:spcBef>
                <a:spcPts val="520"/>
              </a:spcBef>
              <a:spcAft>
                <a:spcPts val="0"/>
              </a:spcAft>
              <a:buSzPts val="2470"/>
              <a:buNone/>
            </a:pPr>
            <a:endParaRPr/>
          </a:p>
          <a:p>
            <a:pPr marL="914400" lvl="2" indent="-246887" algn="l" rtl="0">
              <a:spcBef>
                <a:spcPts val="420"/>
              </a:spcBef>
              <a:spcAft>
                <a:spcPts val="0"/>
              </a:spcAft>
              <a:buSzPts val="1470"/>
              <a:buChar char="⚫"/>
            </a:pPr>
            <a:r>
              <a:rPr lang="en-US"/>
              <a:t>where     is the level of significance.</a:t>
            </a:r>
            <a:endParaRPr/>
          </a:p>
          <a:p>
            <a:pPr marL="0" lvl="0" indent="0" algn="l" rtl="0">
              <a:spcBef>
                <a:spcPts val="520"/>
              </a:spcBef>
              <a:spcAft>
                <a:spcPts val="0"/>
              </a:spcAft>
              <a:buSzPts val="2470"/>
              <a:buNone/>
            </a:pPr>
            <a:endParaRPr/>
          </a:p>
        </p:txBody>
      </p:sp>
      <p:pic>
        <p:nvPicPr>
          <p:cNvPr id="415" name="Google Shape;415;p45"/>
          <p:cNvPicPr preferRelativeResize="0"/>
          <p:nvPr/>
        </p:nvPicPr>
        <p:blipFill rotWithShape="1">
          <a:blip r:embed="rId3">
            <a:alphaModFix/>
          </a:blip>
          <a:srcRect/>
          <a:stretch/>
        </p:blipFill>
        <p:spPr>
          <a:xfrm>
            <a:off x="3505200" y="2362200"/>
            <a:ext cx="2895600" cy="609600"/>
          </a:xfrm>
          <a:prstGeom prst="rect">
            <a:avLst/>
          </a:prstGeom>
          <a:noFill/>
          <a:ln>
            <a:noFill/>
          </a:ln>
        </p:spPr>
      </p:pic>
      <p:pic>
        <p:nvPicPr>
          <p:cNvPr id="416" name="Google Shape;416;p45"/>
          <p:cNvPicPr preferRelativeResize="0"/>
          <p:nvPr/>
        </p:nvPicPr>
        <p:blipFill rotWithShape="1">
          <a:blip r:embed="rId4">
            <a:alphaModFix/>
          </a:blip>
          <a:srcRect/>
          <a:stretch/>
        </p:blipFill>
        <p:spPr>
          <a:xfrm>
            <a:off x="2209800" y="3352800"/>
            <a:ext cx="290513" cy="2681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4">
                                            <p:txEl>
                                              <p:pRg st="0" end="0"/>
                                            </p:txEl>
                                          </p:spTgt>
                                        </p:tgtEl>
                                        <p:attrNameLst>
                                          <p:attrName>style.visibility</p:attrName>
                                        </p:attrNameLst>
                                      </p:cBhvr>
                                      <p:to>
                                        <p:strVal val="visible"/>
                                      </p:to>
                                    </p:set>
                                    <p:animEffect transition="in" filter="fade">
                                      <p:cBhvr>
                                        <p:cTn id="7" dur="500"/>
                                        <p:tgtEl>
                                          <p:spTgt spid="4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4">
                                            <p:txEl>
                                              <p:pRg st="1" end="1"/>
                                            </p:txEl>
                                          </p:spTgt>
                                        </p:tgtEl>
                                        <p:attrNameLst>
                                          <p:attrName>style.visibility</p:attrName>
                                        </p:attrNameLst>
                                      </p:cBhvr>
                                      <p:to>
                                        <p:strVal val="visible"/>
                                      </p:to>
                                    </p:set>
                                    <p:animEffect transition="in" filter="fade">
                                      <p:cBhvr>
                                        <p:cTn id="12" dur="500"/>
                                        <p:tgtEl>
                                          <p:spTgt spid="4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4">
                                            <p:txEl>
                                              <p:pRg st="2" end="2"/>
                                            </p:txEl>
                                          </p:spTgt>
                                        </p:tgtEl>
                                        <p:attrNameLst>
                                          <p:attrName>style.visibility</p:attrName>
                                        </p:attrNameLst>
                                      </p:cBhvr>
                                      <p:to>
                                        <p:strVal val="visible"/>
                                      </p:to>
                                    </p:set>
                                    <p:animEffect transition="in" filter="fade">
                                      <p:cBhvr>
                                        <p:cTn id="17" dur="500"/>
                                        <p:tgtEl>
                                          <p:spTgt spid="4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4">
                                            <p:txEl>
                                              <p:pRg st="3" end="3"/>
                                            </p:txEl>
                                          </p:spTgt>
                                        </p:tgtEl>
                                        <p:attrNameLst>
                                          <p:attrName>style.visibility</p:attrName>
                                        </p:attrNameLst>
                                      </p:cBhvr>
                                      <p:to>
                                        <p:strVal val="visible"/>
                                      </p:to>
                                    </p:set>
                                    <p:animEffect transition="in" filter="fade">
                                      <p:cBhvr>
                                        <p:cTn id="22" dur="500"/>
                                        <p:tgtEl>
                                          <p:spTgt spid="4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fad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422" name="Google Shape;422;p46"/>
          <p:cNvSpPr txBox="1">
            <a:spLocks noGrp="1"/>
          </p:cNvSpPr>
          <p:nvPr>
            <p:ph type="body" idx="1"/>
          </p:nvPr>
        </p:nvSpPr>
        <p:spPr>
          <a:xfrm>
            <a:off x="457200" y="762000"/>
            <a:ext cx="8229600" cy="5562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None/>
            </a:pPr>
            <a:r>
              <a:rPr lang="en-US" b="1"/>
              <a:t>From given table, test whether the 3</a:t>
            </a:r>
            <a:r>
              <a:rPr lang="en-US" b="1" baseline="30000"/>
              <a:t>rd</a:t>
            </a:r>
            <a:r>
              <a:rPr lang="en-US" b="1"/>
              <a:t>, 8</a:t>
            </a:r>
            <a:r>
              <a:rPr lang="en-US" b="1" baseline="30000"/>
              <a:t>th</a:t>
            </a:r>
            <a:r>
              <a:rPr lang="en-US" b="1"/>
              <a:t> , 13</a:t>
            </a:r>
            <a:r>
              <a:rPr lang="en-US" b="1" baseline="30000"/>
              <a:t>th</a:t>
            </a:r>
            <a:r>
              <a:rPr lang="en-US" b="1"/>
              <a:t> and so on, numbers are auto correlated. Given 5% level of significance.</a:t>
            </a:r>
            <a:endParaRPr/>
          </a:p>
          <a:p>
            <a:pPr marL="274320" lvl="0" indent="-274320" algn="l" rtl="0">
              <a:spcBef>
                <a:spcPts val="520"/>
              </a:spcBef>
              <a:spcAft>
                <a:spcPts val="0"/>
              </a:spcAft>
              <a:buSzPts val="2470"/>
              <a:buNone/>
            </a:pPr>
            <a:r>
              <a:rPr lang="en-US" b="1"/>
              <a:t>Solution:</a:t>
            </a:r>
            <a:endParaRPr/>
          </a:p>
          <a:p>
            <a:pPr marL="0" lvl="0" indent="0" algn="l" rtl="0">
              <a:spcBef>
                <a:spcPts val="481"/>
              </a:spcBef>
              <a:spcAft>
                <a:spcPts val="0"/>
              </a:spcAft>
              <a:buClr>
                <a:schemeClr val="dk1"/>
              </a:buClr>
              <a:buSzPts val="1100"/>
              <a:buFont typeface="Arial"/>
              <a:buNone/>
            </a:pPr>
            <a:r>
              <a:rPr lang="en-US"/>
              <a:t>In test for independence, the hypothesis are-</a:t>
            </a:r>
            <a:endParaRPr/>
          </a:p>
          <a:p>
            <a:pPr marL="640080" lvl="0" indent="0" algn="l" rtl="0">
              <a:spcBef>
                <a:spcPts val="444"/>
              </a:spcBef>
              <a:spcAft>
                <a:spcPts val="0"/>
              </a:spcAft>
              <a:buClr>
                <a:schemeClr val="dk1"/>
              </a:buClr>
              <a:buSzPts val="1100"/>
              <a:buFont typeface="Arial"/>
              <a:buNone/>
            </a:pPr>
            <a:r>
              <a:rPr lang="en-US"/>
              <a:t>H0:Ri~independent</a:t>
            </a:r>
            <a:endParaRPr/>
          </a:p>
          <a:p>
            <a:pPr marL="640080" lvl="0" indent="0" algn="l" rtl="0">
              <a:spcBef>
                <a:spcPts val="444"/>
              </a:spcBef>
              <a:spcAft>
                <a:spcPts val="0"/>
              </a:spcAft>
              <a:buClr>
                <a:schemeClr val="dk1"/>
              </a:buClr>
              <a:buSzPts val="1100"/>
              <a:buFont typeface="Arial"/>
              <a:buNone/>
            </a:pPr>
            <a:r>
              <a:rPr lang="en-US"/>
              <a:t>H</a:t>
            </a:r>
            <a:r>
              <a:rPr lang="en-US" baseline="-25000"/>
              <a:t>1</a:t>
            </a:r>
            <a:r>
              <a:rPr lang="en-US"/>
              <a:t>:Ri  independent rejected</a:t>
            </a:r>
            <a:endParaRPr/>
          </a:p>
          <a:p>
            <a:pPr marL="274320" lvl="0" indent="-274320" algn="l" rtl="0">
              <a:spcBef>
                <a:spcPts val="520"/>
              </a:spcBef>
              <a:spcAft>
                <a:spcPts val="0"/>
              </a:spcAft>
              <a:buSzPts val="2470"/>
              <a:buNone/>
            </a:pPr>
            <a:endParaRPr/>
          </a:p>
          <a:p>
            <a:pPr marL="274320" lvl="0" indent="-274320" algn="l" rtl="0">
              <a:spcBef>
                <a:spcPts val="520"/>
              </a:spcBef>
              <a:spcAft>
                <a:spcPts val="0"/>
              </a:spcAft>
              <a:buSzPts val="2470"/>
              <a:buNone/>
            </a:pPr>
            <a:r>
              <a:rPr lang="en-US"/>
              <a:t>Here, </a:t>
            </a:r>
            <a:endParaRPr/>
          </a:p>
          <a:p>
            <a:pPr marL="274320" lvl="0" indent="-274320" algn="l" rtl="0">
              <a:spcBef>
                <a:spcPts val="520"/>
              </a:spcBef>
              <a:spcAft>
                <a:spcPts val="0"/>
              </a:spcAft>
              <a:buSzPts val="2470"/>
              <a:buNone/>
            </a:pPr>
            <a:r>
              <a:rPr lang="en-US"/>
              <a:t>First term i=3, </a:t>
            </a:r>
            <a:endParaRPr/>
          </a:p>
          <a:p>
            <a:pPr marL="274320" lvl="0" indent="-274320" algn="l" rtl="0">
              <a:spcBef>
                <a:spcPts val="520"/>
              </a:spcBef>
              <a:spcAft>
                <a:spcPts val="0"/>
              </a:spcAft>
              <a:buSzPts val="2470"/>
              <a:buNone/>
            </a:pPr>
            <a:r>
              <a:rPr lang="en-US"/>
              <a:t>Lag m=5, </a:t>
            </a:r>
            <a:endParaRPr/>
          </a:p>
          <a:p>
            <a:pPr marL="274320" lvl="0" indent="-274320" algn="l" rtl="0">
              <a:spcBef>
                <a:spcPts val="520"/>
              </a:spcBef>
              <a:spcAft>
                <a:spcPts val="0"/>
              </a:spcAft>
              <a:buSzPts val="2470"/>
              <a:buNone/>
            </a:pPr>
            <a:r>
              <a:rPr lang="en-US"/>
              <a:t>M=4 (large integer such that i+(1+M)m&lt;=N)</a:t>
            </a:r>
            <a:endParaRPr/>
          </a:p>
          <a:p>
            <a:pPr marL="274320" lvl="0" indent="-274320" algn="l" rtl="0">
              <a:spcBef>
                <a:spcPts val="520"/>
              </a:spcBef>
              <a:spcAft>
                <a:spcPts val="0"/>
              </a:spcAft>
              <a:buSzPts val="247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428" name="Google Shape;428;p4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Let us calculate</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429" name="Google Shape;429;p47" descr="Picture1.jpg"/>
          <p:cNvPicPr preferRelativeResize="0"/>
          <p:nvPr/>
        </p:nvPicPr>
        <p:blipFill rotWithShape="1">
          <a:blip r:embed="rId3">
            <a:alphaModFix/>
          </a:blip>
          <a:srcRect/>
          <a:stretch/>
        </p:blipFill>
        <p:spPr>
          <a:xfrm>
            <a:off x="1600200" y="2362200"/>
            <a:ext cx="6363478" cy="36400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8">
                                            <p:txEl>
                                              <p:pRg st="0" end="0"/>
                                            </p:txEl>
                                          </p:spTgt>
                                        </p:tgtEl>
                                        <p:attrNameLst>
                                          <p:attrName>style.visibility</p:attrName>
                                        </p:attrNameLst>
                                      </p:cBhvr>
                                      <p:to>
                                        <p:strVal val="visible"/>
                                      </p:to>
                                    </p:set>
                                    <p:animEffect transition="in" filter="fade">
                                      <p:cBhvr>
                                        <p:cTn id="7" dur="500"/>
                                        <p:tgtEl>
                                          <p:spTgt spid="4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8">
                                            <p:txEl>
                                              <p:pRg st="1" end="1"/>
                                            </p:txEl>
                                          </p:spTgt>
                                        </p:tgtEl>
                                        <p:attrNameLst>
                                          <p:attrName>style.visibility</p:attrName>
                                        </p:attrNameLst>
                                      </p:cBhvr>
                                      <p:to>
                                        <p:strVal val="visible"/>
                                      </p:to>
                                    </p:set>
                                    <p:animEffect transition="in" filter="fade">
                                      <p:cBhvr>
                                        <p:cTn id="12" dur="500"/>
                                        <p:tgtEl>
                                          <p:spTgt spid="4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8">
                                            <p:txEl>
                                              <p:pRg st="2" end="2"/>
                                            </p:txEl>
                                          </p:spTgt>
                                        </p:tgtEl>
                                        <p:attrNameLst>
                                          <p:attrName>style.visibility</p:attrName>
                                        </p:attrNameLst>
                                      </p:cBhvr>
                                      <p:to>
                                        <p:strVal val="visible"/>
                                      </p:to>
                                    </p:set>
                                    <p:animEffect transition="in" filter="fade">
                                      <p:cBhvr>
                                        <p:cTn id="17" dur="500"/>
                                        <p:tgtEl>
                                          <p:spTgt spid="4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435" name="Google Shape;435;p48" descr="cal.jpg"/>
          <p:cNvPicPr preferRelativeResize="0">
            <a:picLocks noGrp="1"/>
          </p:cNvPicPr>
          <p:nvPr>
            <p:ph type="body" idx="1"/>
          </p:nvPr>
        </p:nvPicPr>
        <p:blipFill rotWithShape="1">
          <a:blip r:embed="rId3">
            <a:alphaModFix/>
          </a:blip>
          <a:srcRect/>
          <a:stretch/>
        </p:blipFill>
        <p:spPr>
          <a:xfrm>
            <a:off x="1143000" y="762000"/>
            <a:ext cx="6019800" cy="1737255"/>
          </a:xfrm>
          <a:prstGeom prst="rect">
            <a:avLst/>
          </a:prstGeom>
          <a:noFill/>
          <a:ln>
            <a:noFill/>
          </a:ln>
        </p:spPr>
      </p:pic>
      <p:pic>
        <p:nvPicPr>
          <p:cNvPr id="436" name="Google Shape;436;p48" descr="cal1.jpg"/>
          <p:cNvPicPr preferRelativeResize="0"/>
          <p:nvPr/>
        </p:nvPicPr>
        <p:blipFill rotWithShape="1">
          <a:blip r:embed="rId4">
            <a:alphaModFix/>
          </a:blip>
          <a:srcRect/>
          <a:stretch/>
        </p:blipFill>
        <p:spPr>
          <a:xfrm>
            <a:off x="1143000" y="2615381"/>
            <a:ext cx="6934200" cy="3099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animEffect transition="in" filter="fade">
                                      <p:cBhvr>
                                        <p:cTn id="7" dur="500"/>
                                        <p:tgtEl>
                                          <p:spTgt spid="4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6"/>
                                        </p:tgtEl>
                                        <p:attrNameLst>
                                          <p:attrName>style.visibility</p:attrName>
                                        </p:attrNameLst>
                                      </p:cBhvr>
                                      <p:to>
                                        <p:strVal val="visible"/>
                                      </p:to>
                                    </p:set>
                                    <p:animEffect transition="in" filter="fade">
                                      <p:cBhvr>
                                        <p:cTn id="12"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442" name="Google Shape;442;p49"/>
          <p:cNvSpPr txBox="1">
            <a:spLocks noGrp="1"/>
          </p:cNvSpPr>
          <p:nvPr>
            <p:ph type="body" idx="1"/>
          </p:nvPr>
        </p:nvSpPr>
        <p:spPr>
          <a:xfrm>
            <a:off x="271670" y="618741"/>
            <a:ext cx="8229600" cy="56205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None/>
            </a:pPr>
            <a:r>
              <a:rPr lang="en-US"/>
              <a:t>Now,</a:t>
            </a:r>
            <a:endParaRPr/>
          </a:p>
          <a:p>
            <a:pPr marL="274320" lvl="0" indent="-274320" algn="l" rtl="0">
              <a:spcBef>
                <a:spcPts val="0"/>
              </a:spcBef>
              <a:spcAft>
                <a:spcPts val="0"/>
              </a:spcAft>
              <a:buSzPts val="2470"/>
              <a:buNone/>
            </a:pPr>
            <a:endParaRPr/>
          </a:p>
          <a:p>
            <a:pPr marL="274320" lvl="0" indent="-274320" algn="l" rtl="0">
              <a:spcBef>
                <a:spcPts val="0"/>
              </a:spcBef>
              <a:spcAft>
                <a:spcPts val="0"/>
              </a:spcAft>
              <a:buSzPts val="2470"/>
              <a:buNone/>
            </a:pPr>
            <a:endParaRPr/>
          </a:p>
          <a:p>
            <a:pPr marL="274320" lvl="0" indent="-274320" algn="l" rtl="0">
              <a:spcBef>
                <a:spcPts val="0"/>
              </a:spcBef>
              <a:spcAft>
                <a:spcPts val="0"/>
              </a:spcAft>
              <a:buSzPts val="2470"/>
              <a:buNone/>
            </a:pPr>
            <a:r>
              <a:rPr lang="en-US"/>
              <a:t>ie -1.96&lt;-1.516&lt;1.96</a:t>
            </a:r>
            <a:endParaRPr/>
          </a:p>
          <a:p>
            <a:pPr marL="274320" lvl="0" indent="-274320" algn="l" rtl="0">
              <a:spcBef>
                <a:spcPts val="0"/>
              </a:spcBef>
              <a:spcAft>
                <a:spcPts val="0"/>
              </a:spcAft>
              <a:buSzPts val="2470"/>
              <a:buNone/>
            </a:pPr>
            <a:r>
              <a:rPr lang="en-US"/>
              <a:t>Therefore, the null hypothesis of independence cannot be rejected based on this test. </a:t>
            </a:r>
            <a:endParaRPr/>
          </a:p>
          <a:p>
            <a:pPr marL="274320" lvl="0" indent="-274320" algn="l" rtl="0">
              <a:spcBef>
                <a:spcPts val="520"/>
              </a:spcBef>
              <a:spcAft>
                <a:spcPts val="0"/>
              </a:spcAft>
              <a:buSzPts val="2470"/>
              <a:buNone/>
            </a:pPr>
            <a:endParaRPr>
              <a:highlight>
                <a:srgbClr val="000000"/>
              </a:highlight>
            </a:endParaRPr>
          </a:p>
        </p:txBody>
      </p:sp>
      <p:pic>
        <p:nvPicPr>
          <p:cNvPr id="443" name="Google Shape;443;p49"/>
          <p:cNvPicPr preferRelativeResize="0"/>
          <p:nvPr/>
        </p:nvPicPr>
        <p:blipFill rotWithShape="1">
          <a:blip r:embed="rId3">
            <a:alphaModFix/>
          </a:blip>
          <a:srcRect/>
          <a:stretch/>
        </p:blipFill>
        <p:spPr>
          <a:xfrm>
            <a:off x="457200" y="1237500"/>
            <a:ext cx="2895600" cy="609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449" name="Google Shape;449;p50"/>
          <p:cNvPicPr preferRelativeResize="0">
            <a:picLocks noGrp="1"/>
          </p:cNvPicPr>
          <p:nvPr>
            <p:ph type="body" idx="1"/>
          </p:nvPr>
        </p:nvPicPr>
        <p:blipFill rotWithShape="1">
          <a:blip r:embed="rId3">
            <a:alphaModFix/>
          </a:blip>
          <a:srcRect/>
          <a:stretch/>
        </p:blipFill>
        <p:spPr>
          <a:xfrm>
            <a:off x="1752600" y="304800"/>
            <a:ext cx="5943599" cy="6321213"/>
          </a:xfrm>
          <a:prstGeom prst="rect">
            <a:avLst/>
          </a:prstGeom>
          <a:noFill/>
          <a:ln>
            <a:noFill/>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34eff1ae5c9_0_0"/>
          <p:cNvSpPr txBox="1">
            <a:spLocks noGrp="1"/>
          </p:cNvSpPr>
          <p:nvPr>
            <p:ph type="title"/>
          </p:nvPr>
        </p:nvSpPr>
        <p:spPr>
          <a:xfrm>
            <a:off x="457200" y="146678"/>
            <a:ext cx="8229600" cy="924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Poker Test</a:t>
            </a:r>
            <a:endParaRPr/>
          </a:p>
        </p:txBody>
      </p:sp>
      <p:sp>
        <p:nvSpPr>
          <p:cNvPr id="456" name="Google Shape;456;g34eff1ae5c9_0_0"/>
          <p:cNvSpPr txBox="1">
            <a:spLocks noGrp="1"/>
          </p:cNvSpPr>
          <p:nvPr>
            <p:ph type="body" idx="1"/>
          </p:nvPr>
        </p:nvSpPr>
        <p:spPr>
          <a:xfrm>
            <a:off x="457200" y="1013450"/>
            <a:ext cx="8229600" cy="5310900"/>
          </a:xfrm>
          <a:prstGeom prst="rect">
            <a:avLst/>
          </a:prstGeom>
        </p:spPr>
        <p:txBody>
          <a:bodyPr spcFirstLastPara="1" wrap="square" lIns="91425" tIns="45700" rIns="91425" bIns="45700" anchor="t" anchorCtr="0">
            <a:normAutofit/>
          </a:bodyPr>
          <a:lstStyle/>
          <a:p>
            <a:pPr marL="457200" lvl="0" indent="-337185" algn="l" rtl="0">
              <a:spcBef>
                <a:spcPts val="360"/>
              </a:spcBef>
              <a:spcAft>
                <a:spcPts val="0"/>
              </a:spcAft>
              <a:buSzPts val="1710"/>
              <a:buChar char="●"/>
            </a:pPr>
            <a:r>
              <a:rPr lang="en-US"/>
              <a:t>The Poker Test is the test for independence based on the frequency with which certain digits are repeated with in a series of numbers.</a:t>
            </a:r>
            <a:endParaRPr/>
          </a:p>
          <a:p>
            <a:pPr marL="457200" lvl="0" indent="-337185" algn="l" rtl="0">
              <a:spcBef>
                <a:spcPts val="0"/>
              </a:spcBef>
              <a:spcAft>
                <a:spcPts val="0"/>
              </a:spcAft>
              <a:buSzPts val="1710"/>
              <a:buChar char="●"/>
            </a:pPr>
            <a:r>
              <a:rPr lang="en-US"/>
              <a:t>This test not only tests for the randomness of the sequence of numbers, but also the digits comprising of each of the numbers.</a:t>
            </a:r>
            <a:endParaRPr/>
          </a:p>
          <a:p>
            <a:pPr marL="0" lvl="0" indent="0" algn="l" rtl="0">
              <a:spcBef>
                <a:spcPts val="360"/>
              </a:spcBef>
              <a:spcAft>
                <a:spcPts val="0"/>
              </a:spcAft>
              <a:buNone/>
            </a:pPr>
            <a:r>
              <a:rPr lang="en-US"/>
              <a:t>Problem:</a:t>
            </a:r>
            <a:endParaRPr/>
          </a:p>
          <a:p>
            <a:pPr marL="0" lvl="0" indent="0" algn="just" rtl="0">
              <a:spcBef>
                <a:spcPts val="360"/>
              </a:spcBef>
              <a:spcAft>
                <a:spcPts val="0"/>
              </a:spcAft>
              <a:buNone/>
            </a:pPr>
            <a:r>
              <a:rPr lang="en-US" sz="2000" b="1">
                <a:solidFill>
                  <a:srgbClr val="212529"/>
                </a:solidFill>
                <a:highlight>
                  <a:srgbClr val="FFFFFF"/>
                </a:highlight>
                <a:latin typeface="Times New Roman"/>
                <a:ea typeface="Times New Roman"/>
                <a:cs typeface="Times New Roman"/>
                <a:sym typeface="Times New Roman"/>
              </a:rPr>
              <a:t>A sequence of 10,000 random numbers, each of four digits has been generated. The analysis of the numbers reveals that in 5120 numbers all four digits are different, 4230 contain exactly one pair of like digits, 560 contain two pairs, 75 have three digits of a kind and 15 contain all like digits. Use Poker test to determine whether these numbers are independent. (Critical value of chi-square test for α=0.05 and N=4 is 9.49).</a:t>
            </a:r>
            <a:endParaRPr sz="3500" b="1"/>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4f6c1e7900_0_12"/>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463" name="Google Shape;463;g34f6c1e7900_0_12"/>
          <p:cNvSpPr txBox="1">
            <a:spLocks noGrp="1"/>
          </p:cNvSpPr>
          <p:nvPr>
            <p:ph type="body" idx="1"/>
          </p:nvPr>
        </p:nvSpPr>
        <p:spPr>
          <a:xfrm>
            <a:off x="457200" y="411473"/>
            <a:ext cx="8229600" cy="5913000"/>
          </a:xfrm>
          <a:prstGeom prst="rect">
            <a:avLst/>
          </a:prstGeom>
        </p:spPr>
        <p:txBody>
          <a:bodyPr spcFirstLastPara="1" wrap="square" lIns="91425" tIns="45700" rIns="91425" bIns="45700" anchor="t" anchorCtr="0">
            <a:normAutofit fontScale="77500" lnSpcReduction="20000"/>
          </a:bodyPr>
          <a:lstStyle/>
          <a:p>
            <a:pPr marL="0" lvl="0" indent="0" algn="l" rtl="0">
              <a:spcBef>
                <a:spcPts val="360"/>
              </a:spcBef>
              <a:spcAft>
                <a:spcPts val="0"/>
              </a:spcAft>
              <a:buClr>
                <a:schemeClr val="dk1"/>
              </a:buClr>
              <a:buSzPct val="42307"/>
              <a:buFont typeface="Arial"/>
              <a:buNone/>
            </a:pPr>
            <a:r>
              <a:rPr lang="en-US"/>
              <a:t>Solution:</a:t>
            </a:r>
            <a:endParaRPr/>
          </a:p>
          <a:p>
            <a:pPr marL="0" lvl="0" indent="0" algn="l" rtl="0">
              <a:spcBef>
                <a:spcPts val="360"/>
              </a:spcBef>
              <a:spcAft>
                <a:spcPts val="0"/>
              </a:spcAft>
              <a:buClr>
                <a:schemeClr val="dk1"/>
              </a:buClr>
              <a:buSzPct val="42307"/>
              <a:buFont typeface="Arial"/>
              <a:buNone/>
            </a:pPr>
            <a:r>
              <a:rPr lang="en-US"/>
              <a:t>Let us first set the following hypothesis</a:t>
            </a:r>
            <a:endParaRPr/>
          </a:p>
          <a:p>
            <a:pPr marL="0" lvl="0" indent="0" algn="l" rtl="0">
              <a:spcBef>
                <a:spcPts val="360"/>
              </a:spcBef>
              <a:spcAft>
                <a:spcPts val="0"/>
              </a:spcAft>
              <a:buClr>
                <a:schemeClr val="dk1"/>
              </a:buClr>
              <a:buSzPct val="42307"/>
              <a:buFont typeface="Arial"/>
              <a:buNone/>
            </a:pPr>
            <a:r>
              <a:rPr lang="en-US"/>
              <a:t>H0: Ri are independence </a:t>
            </a:r>
            <a:endParaRPr/>
          </a:p>
          <a:p>
            <a:pPr marL="0" lvl="0" indent="0" algn="l" rtl="0">
              <a:spcBef>
                <a:spcPts val="360"/>
              </a:spcBef>
              <a:spcAft>
                <a:spcPts val="0"/>
              </a:spcAft>
              <a:buClr>
                <a:schemeClr val="dk1"/>
              </a:buClr>
              <a:buSzPct val="42307"/>
              <a:buFont typeface="Arial"/>
              <a:buNone/>
            </a:pPr>
            <a:r>
              <a:rPr lang="en-US"/>
              <a:t>H1: Ri are not independence</a:t>
            </a:r>
            <a:endParaRPr/>
          </a:p>
          <a:p>
            <a:pPr marL="0" lvl="0" indent="0" algn="l" rtl="0">
              <a:spcBef>
                <a:spcPts val="360"/>
              </a:spcBef>
              <a:spcAft>
                <a:spcPts val="0"/>
              </a:spcAft>
              <a:buClr>
                <a:schemeClr val="dk1"/>
              </a:buClr>
              <a:buSzPct val="42307"/>
              <a:buFont typeface="Arial"/>
              <a:buNone/>
            </a:pPr>
            <a:r>
              <a:rPr lang="en-US"/>
              <a:t>In four digit number, there are five different possibilities</a:t>
            </a:r>
            <a:endParaRPr/>
          </a:p>
          <a:p>
            <a:pPr marL="457200" lvl="0" indent="-312753" algn="l" rtl="0">
              <a:spcBef>
                <a:spcPts val="360"/>
              </a:spcBef>
              <a:spcAft>
                <a:spcPts val="0"/>
              </a:spcAft>
              <a:buSzPct val="65769"/>
              <a:buChar char="●"/>
            </a:pPr>
            <a:r>
              <a:rPr lang="en-US"/>
              <a:t>All individual digits can be different</a:t>
            </a:r>
            <a:endParaRPr/>
          </a:p>
          <a:p>
            <a:pPr marL="457200" lvl="0" indent="-312753" algn="l" rtl="0">
              <a:spcBef>
                <a:spcPts val="0"/>
              </a:spcBef>
              <a:spcAft>
                <a:spcPts val="0"/>
              </a:spcAft>
              <a:buSzPct val="65769"/>
              <a:buChar char="●"/>
            </a:pPr>
            <a:r>
              <a:rPr lang="en-US"/>
              <a:t>There can be one pair of like digit</a:t>
            </a:r>
            <a:endParaRPr/>
          </a:p>
          <a:p>
            <a:pPr marL="457200" lvl="0" indent="-312753" algn="l" rtl="0">
              <a:spcBef>
                <a:spcPts val="0"/>
              </a:spcBef>
              <a:spcAft>
                <a:spcPts val="0"/>
              </a:spcAft>
              <a:buSzPct val="65769"/>
              <a:buChar char="●"/>
            </a:pPr>
            <a:r>
              <a:rPr lang="en-US"/>
              <a:t>There can be two pair of like digits</a:t>
            </a:r>
            <a:endParaRPr/>
          </a:p>
          <a:p>
            <a:pPr marL="457200" lvl="0" indent="-312753" algn="l" rtl="0">
              <a:spcBef>
                <a:spcPts val="0"/>
              </a:spcBef>
              <a:spcAft>
                <a:spcPts val="0"/>
              </a:spcAft>
              <a:buSzPct val="65769"/>
              <a:buChar char="●"/>
            </a:pPr>
            <a:r>
              <a:rPr lang="en-US"/>
              <a:t>There can be three digits of a kind</a:t>
            </a:r>
            <a:endParaRPr/>
          </a:p>
          <a:p>
            <a:pPr marL="457200" lvl="0" indent="-312753" algn="l" rtl="0">
              <a:spcBef>
                <a:spcPts val="0"/>
              </a:spcBef>
              <a:spcAft>
                <a:spcPts val="0"/>
              </a:spcAft>
              <a:buSzPct val="65769"/>
              <a:buChar char="●"/>
            </a:pPr>
            <a:r>
              <a:rPr lang="en-US"/>
              <a:t>There can be four digits of a kind</a:t>
            </a:r>
            <a:endParaRPr/>
          </a:p>
          <a:p>
            <a:pPr marL="0" lvl="0" indent="0" algn="l" rtl="0">
              <a:spcBef>
                <a:spcPts val="360"/>
              </a:spcBef>
              <a:spcAft>
                <a:spcPts val="0"/>
              </a:spcAft>
              <a:buNone/>
            </a:pPr>
            <a:r>
              <a:rPr lang="en-US"/>
              <a:t>The probabilities associated with each of the possibilities is given by </a:t>
            </a:r>
            <a:endParaRPr/>
          </a:p>
          <a:p>
            <a:pPr marL="457200" lvl="0" indent="-312753" algn="l" rtl="0">
              <a:spcBef>
                <a:spcPts val="360"/>
              </a:spcBef>
              <a:spcAft>
                <a:spcPts val="0"/>
              </a:spcAft>
              <a:buSzPct val="65769"/>
              <a:buChar char="●"/>
            </a:pPr>
            <a:r>
              <a:rPr lang="en-US"/>
              <a:t>P (four different digits) = 4C4 * (10/10) * (9/10) * (8/10) * (7/10) = 0.504  </a:t>
            </a:r>
            <a:r>
              <a:rPr lang="en-US" b="1" i="1"/>
              <a:t>[nCr=n!/(r!*(n-r)! It calculates the number of ways to choose r items from a set of n items where the order of selection doesn't matter</a:t>
            </a:r>
            <a:r>
              <a:rPr lang="en-US" sz="2382" b="1" i="1">
                <a:solidFill>
                  <a:srgbClr val="001D35"/>
                </a:solidFill>
                <a:highlight>
                  <a:srgbClr val="FFFFFF"/>
                </a:highlight>
                <a:latin typeface="Arial"/>
                <a:ea typeface="Arial"/>
                <a:cs typeface="Arial"/>
                <a:sym typeface="Arial"/>
              </a:rPr>
              <a:t>.</a:t>
            </a:r>
            <a:r>
              <a:rPr lang="en-US" b="1" i="1"/>
              <a:t>]</a:t>
            </a:r>
            <a:endParaRPr b="1" i="1"/>
          </a:p>
          <a:p>
            <a:pPr marL="457200" lvl="0" indent="-312753" algn="l" rtl="0">
              <a:spcBef>
                <a:spcPts val="0"/>
              </a:spcBef>
              <a:spcAft>
                <a:spcPts val="0"/>
              </a:spcAft>
              <a:buSzPct val="65769"/>
              <a:buChar char="●"/>
            </a:pPr>
            <a:r>
              <a:rPr lang="en-US"/>
              <a:t>P (one pair) = 4C2 * (10/10) * (1/10) * (9/10) * (8/10) = 0.432</a:t>
            </a:r>
            <a:endParaRPr/>
          </a:p>
          <a:p>
            <a:pPr marL="457200" lvl="0" indent="-312753" algn="l" rtl="0">
              <a:spcBef>
                <a:spcPts val="0"/>
              </a:spcBef>
              <a:spcAft>
                <a:spcPts val="0"/>
              </a:spcAft>
              <a:buSzPct val="65769"/>
              <a:buChar char="●"/>
            </a:pPr>
            <a:r>
              <a:rPr lang="en-US"/>
              <a:t>P (two pair) = (4C2/2)*(10/10) * (1/10) * (9/10) * (1/10) = 0.027</a:t>
            </a:r>
            <a:endParaRPr/>
          </a:p>
          <a:p>
            <a:pPr marL="457200" lvl="0" indent="-312753" algn="l" rtl="0">
              <a:spcBef>
                <a:spcPts val="0"/>
              </a:spcBef>
              <a:spcAft>
                <a:spcPts val="0"/>
              </a:spcAft>
              <a:buSzPct val="65769"/>
              <a:buChar char="●"/>
            </a:pPr>
            <a:r>
              <a:rPr lang="en-US"/>
              <a:t>P (three digits of a kind) = 4C3 * (10/10) * (1/10) * (1/10) * (9/10) = 0.036</a:t>
            </a:r>
            <a:endParaRPr/>
          </a:p>
          <a:p>
            <a:pPr marL="457200" lvl="0" indent="-312753" algn="l" rtl="0">
              <a:spcBef>
                <a:spcPts val="0"/>
              </a:spcBef>
              <a:spcAft>
                <a:spcPts val="0"/>
              </a:spcAft>
              <a:buSzPct val="65769"/>
              <a:buChar char="●"/>
            </a:pPr>
            <a:r>
              <a:rPr lang="en-US"/>
              <a:t>P (four digits of a kind) = 4C4 * (10/10) * (1/10) * (1/10) * (1/10) = 0.001</a:t>
            </a:r>
            <a:endParaRPr/>
          </a:p>
          <a:p>
            <a:pPr marL="457200" lvl="0" indent="0" algn="l" rtl="0">
              <a:spcBef>
                <a:spcPts val="360"/>
              </a:spcBef>
              <a:spcAft>
                <a:spcPts val="0"/>
              </a:spcAft>
              <a:buNone/>
            </a:pPr>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g34f6c1e7900_0_19"/>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470" name="Google Shape;470;g34f6c1e7900_0_19"/>
          <p:cNvSpPr txBox="1">
            <a:spLocks noGrp="1"/>
          </p:cNvSpPr>
          <p:nvPr>
            <p:ph type="body" idx="1"/>
          </p:nvPr>
        </p:nvSpPr>
        <p:spPr>
          <a:xfrm>
            <a:off x="457200" y="767075"/>
            <a:ext cx="8229600" cy="55575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471" name="Google Shape;471;g34f6c1e7900_0_19" title="poker1.PNG"/>
          <p:cNvPicPr preferRelativeResize="0"/>
          <p:nvPr/>
        </p:nvPicPr>
        <p:blipFill>
          <a:blip r:embed="rId3">
            <a:alphaModFix/>
          </a:blip>
          <a:stretch>
            <a:fillRect/>
          </a:stretch>
        </p:blipFill>
        <p:spPr>
          <a:xfrm>
            <a:off x="97025" y="533750"/>
            <a:ext cx="8589776" cy="5557500"/>
          </a:xfrm>
          <a:prstGeom prst="rect">
            <a:avLst/>
          </a:prstGeom>
          <a:noFill/>
          <a:ln>
            <a:noFill/>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g34f6c1e7900_0_25"/>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478" name="Google Shape;478;g34f6c1e7900_0_25"/>
          <p:cNvSpPr txBox="1">
            <a:spLocks noGrp="1"/>
          </p:cNvSpPr>
          <p:nvPr>
            <p:ph type="body" idx="1"/>
          </p:nvPr>
        </p:nvSpPr>
        <p:spPr>
          <a:xfrm>
            <a:off x="457200" y="808774"/>
            <a:ext cx="8229600" cy="5515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a:p>
            <a:pPr marL="0" lvl="0" indent="0" algn="l" rtl="0">
              <a:spcBef>
                <a:spcPts val="360"/>
              </a:spcBef>
              <a:spcAft>
                <a:spcPts val="0"/>
              </a:spcAft>
              <a:buNone/>
            </a:pPr>
            <a:endParaRPr/>
          </a:p>
          <a:p>
            <a:pPr marL="0" lvl="0" indent="0" algn="l" rtl="0">
              <a:spcBef>
                <a:spcPts val="360"/>
              </a:spcBef>
              <a:spcAft>
                <a:spcPts val="0"/>
              </a:spcAft>
              <a:buNone/>
            </a:pPr>
            <a:r>
              <a:rPr lang="en-US"/>
              <a:t>     =542.75</a:t>
            </a:r>
            <a:endParaRPr/>
          </a:p>
          <a:p>
            <a:pPr marL="0" lvl="0" indent="0" algn="l" rtl="0">
              <a:spcBef>
                <a:spcPts val="360"/>
              </a:spcBef>
              <a:spcAft>
                <a:spcPts val="0"/>
              </a:spcAft>
              <a:buClr>
                <a:schemeClr val="dk1"/>
              </a:buClr>
              <a:buSzPts val="1100"/>
              <a:buFont typeface="Arial"/>
              <a:buNone/>
            </a:pPr>
            <a:r>
              <a:rPr lang="en-US"/>
              <a:t>and from table</a:t>
            </a:r>
            <a:r>
              <a:rPr lang="en-US" sz="3600"/>
              <a:t> </a:t>
            </a:r>
            <a:r>
              <a:rPr lang="en-US" sz="2100">
                <a:latin typeface="Arial"/>
                <a:ea typeface="Arial"/>
                <a:cs typeface="Arial"/>
                <a:sym typeface="Arial"/>
              </a:rPr>
              <a:t>ꭔ</a:t>
            </a:r>
            <a:r>
              <a:rPr lang="en-US" sz="2100" baseline="30000">
                <a:latin typeface="Arial"/>
                <a:ea typeface="Arial"/>
                <a:cs typeface="Arial"/>
                <a:sym typeface="Arial"/>
              </a:rPr>
              <a:t>2</a:t>
            </a:r>
            <a:r>
              <a:rPr lang="en-US" sz="2100" baseline="-25000">
                <a:latin typeface="Arial"/>
                <a:ea typeface="Arial"/>
                <a:cs typeface="Arial"/>
                <a:sym typeface="Arial"/>
              </a:rPr>
              <a:t>0.05,4 </a:t>
            </a:r>
            <a:r>
              <a:rPr lang="en-US"/>
              <a:t>= 9.49</a:t>
            </a:r>
            <a:endParaRPr/>
          </a:p>
          <a:p>
            <a:pPr marL="0" lvl="0" indent="0" algn="l" rtl="0">
              <a:spcBef>
                <a:spcPts val="360"/>
              </a:spcBef>
              <a:spcAft>
                <a:spcPts val="0"/>
              </a:spcAft>
              <a:buClr>
                <a:schemeClr val="dk1"/>
              </a:buClr>
              <a:buSzPts val="1100"/>
              <a:buFont typeface="Arial"/>
              <a:buNone/>
            </a:pPr>
            <a:r>
              <a:rPr lang="en-US"/>
              <a:t>Here the calculated value of chi-square is 542.75 which is greater than the given tabulated value of chi- square so we reject the null hypothesis of independence. </a:t>
            </a:r>
            <a:endParaRPr/>
          </a:p>
          <a:p>
            <a:pPr marL="0" lvl="0" indent="0" algn="l" rtl="0">
              <a:spcBef>
                <a:spcPts val="360"/>
              </a:spcBef>
              <a:spcAft>
                <a:spcPts val="0"/>
              </a:spcAft>
              <a:buClr>
                <a:schemeClr val="dk1"/>
              </a:buClr>
              <a:buSzPts val="1100"/>
              <a:buFont typeface="Arial"/>
              <a:buNone/>
            </a:pPr>
            <a:r>
              <a:rPr lang="en-US"/>
              <a:t> </a:t>
            </a:r>
            <a:endParaRPr/>
          </a:p>
          <a:p>
            <a:pPr marL="0" lvl="0" indent="0" algn="l" rtl="0">
              <a:spcBef>
                <a:spcPts val="360"/>
              </a:spcBef>
              <a:spcAft>
                <a:spcPts val="0"/>
              </a:spcAft>
              <a:buNone/>
            </a:pPr>
            <a:endParaRPr/>
          </a:p>
        </p:txBody>
      </p:sp>
      <p:pic>
        <p:nvPicPr>
          <p:cNvPr id="479" name="Google Shape;479;g34f6c1e7900_0_25"/>
          <p:cNvPicPr preferRelativeResize="0"/>
          <p:nvPr/>
        </p:nvPicPr>
        <p:blipFill>
          <a:blip r:embed="rId3">
            <a:alphaModFix/>
          </a:blip>
          <a:stretch>
            <a:fillRect/>
          </a:stretch>
        </p:blipFill>
        <p:spPr>
          <a:xfrm>
            <a:off x="457200" y="385550"/>
            <a:ext cx="2976128" cy="1143000"/>
          </a:xfrm>
          <a:prstGeom prst="rect">
            <a:avLst/>
          </a:prstGeom>
          <a:noFill/>
          <a:ln>
            <a:noFill/>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34f6c1e7900_0_39"/>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Poker for three digits number</a:t>
            </a:r>
            <a:endParaRPr/>
          </a:p>
        </p:txBody>
      </p:sp>
      <p:sp>
        <p:nvSpPr>
          <p:cNvPr id="486" name="Google Shape;486;g34f6c1e7900_0_39"/>
          <p:cNvSpPr txBox="1">
            <a:spLocks noGrp="1"/>
          </p:cNvSpPr>
          <p:nvPr>
            <p:ph type="body" idx="1"/>
          </p:nvPr>
        </p:nvSpPr>
        <p:spPr>
          <a:xfrm>
            <a:off x="457200" y="1935480"/>
            <a:ext cx="8229600" cy="4389000"/>
          </a:xfrm>
          <a:prstGeom prst="rect">
            <a:avLst/>
          </a:prstGeom>
        </p:spPr>
        <p:txBody>
          <a:bodyPr spcFirstLastPara="1" wrap="square" lIns="91425" tIns="45700" rIns="91425" bIns="45700" anchor="t" anchorCtr="0">
            <a:normAutofit fontScale="92500" lnSpcReduction="10000"/>
          </a:bodyPr>
          <a:lstStyle/>
          <a:p>
            <a:pPr marL="457200" lvl="0" indent="-282733" algn="l" rtl="0">
              <a:lnSpc>
                <a:spcPct val="115000"/>
              </a:lnSpc>
              <a:spcBef>
                <a:spcPts val="1200"/>
              </a:spcBef>
              <a:spcAft>
                <a:spcPts val="0"/>
              </a:spcAft>
              <a:buClr>
                <a:schemeClr val="dk1"/>
              </a:buClr>
              <a:buSzPct val="42307"/>
              <a:buFont typeface="Arial"/>
              <a:buChar char="●"/>
            </a:pPr>
            <a:r>
              <a:rPr lang="en-US"/>
              <a:t>In a three digit number, there are only three possibilities.</a:t>
            </a:r>
            <a:endParaRPr/>
          </a:p>
          <a:p>
            <a:pPr marL="914400" lvl="1" indent="-282733" algn="l" rtl="0">
              <a:lnSpc>
                <a:spcPct val="115000"/>
              </a:lnSpc>
              <a:spcBef>
                <a:spcPts val="0"/>
              </a:spcBef>
              <a:spcAft>
                <a:spcPts val="0"/>
              </a:spcAft>
              <a:buClr>
                <a:schemeClr val="dk1"/>
              </a:buClr>
              <a:buSzPct val="45833"/>
              <a:buFont typeface="Arial"/>
              <a:buAutoNum type="arabicPeriod"/>
            </a:pPr>
            <a:r>
              <a:rPr lang="en-US"/>
              <a:t>The individual digits can be all different. Case 1.</a:t>
            </a:r>
            <a:endParaRPr/>
          </a:p>
          <a:p>
            <a:pPr marL="914400" lvl="1" indent="-282733" algn="l" rtl="0">
              <a:lnSpc>
                <a:spcPct val="115000"/>
              </a:lnSpc>
              <a:spcBef>
                <a:spcPts val="0"/>
              </a:spcBef>
              <a:spcAft>
                <a:spcPts val="0"/>
              </a:spcAft>
              <a:buClr>
                <a:schemeClr val="dk1"/>
              </a:buClr>
              <a:buSzPct val="45833"/>
              <a:buFont typeface="Arial"/>
              <a:buAutoNum type="arabicPeriod"/>
            </a:pPr>
            <a:r>
              <a:rPr lang="en-US"/>
              <a:t>The individual digits can all be the same. Case 2.</a:t>
            </a:r>
            <a:endParaRPr/>
          </a:p>
          <a:p>
            <a:pPr marL="914400" lvl="1" indent="-282733" algn="l" rtl="0">
              <a:lnSpc>
                <a:spcPct val="115000"/>
              </a:lnSpc>
              <a:spcBef>
                <a:spcPts val="0"/>
              </a:spcBef>
              <a:spcAft>
                <a:spcPts val="0"/>
              </a:spcAft>
              <a:buClr>
                <a:schemeClr val="dk1"/>
              </a:buClr>
              <a:buSzPct val="45833"/>
              <a:buFont typeface="Arial"/>
              <a:buAutoNum type="arabicPeriod"/>
            </a:pPr>
            <a:r>
              <a:rPr lang="en-US"/>
              <a:t>There can be one pair of like digits. Case 3.</a:t>
            </a:r>
            <a:endParaRPr/>
          </a:p>
          <a:p>
            <a:pPr marL="457200" lvl="0" indent="-282733" algn="l" rtl="0">
              <a:lnSpc>
                <a:spcPct val="115000"/>
              </a:lnSpc>
              <a:spcBef>
                <a:spcPts val="0"/>
              </a:spcBef>
              <a:spcAft>
                <a:spcPts val="0"/>
              </a:spcAft>
              <a:buClr>
                <a:schemeClr val="dk1"/>
              </a:buClr>
              <a:buSzPct val="42307"/>
              <a:buFont typeface="Arial"/>
              <a:buChar char="●"/>
            </a:pPr>
            <a:r>
              <a:rPr lang="en-US"/>
              <a:t>P(case 1) = P(second differ from the first) * P(third differ from the first and second) = 0.9 * 0.8 = 0.72</a:t>
            </a:r>
            <a:br>
              <a:rPr lang="en-US"/>
            </a:br>
            <a:endParaRPr/>
          </a:p>
          <a:p>
            <a:pPr marL="457200" lvl="0" indent="-282733" algn="l" rtl="0">
              <a:lnSpc>
                <a:spcPct val="115000"/>
              </a:lnSpc>
              <a:spcBef>
                <a:spcPts val="0"/>
              </a:spcBef>
              <a:spcAft>
                <a:spcPts val="0"/>
              </a:spcAft>
              <a:buClr>
                <a:schemeClr val="dk1"/>
              </a:buClr>
              <a:buSzPct val="42307"/>
              <a:buFont typeface="Arial"/>
              <a:buChar char="●"/>
            </a:pPr>
            <a:r>
              <a:rPr lang="en-US"/>
              <a:t>P(case 2) = P(second the same as the first) * P(third same as the first) = 0.1 * 0.1 = 0.01 </a:t>
            </a:r>
            <a:endParaRPr/>
          </a:p>
          <a:p>
            <a:pPr marL="457200" lvl="0" indent="-282733" algn="l" rtl="0">
              <a:lnSpc>
                <a:spcPct val="115000"/>
              </a:lnSpc>
              <a:spcBef>
                <a:spcPts val="0"/>
              </a:spcBef>
              <a:spcAft>
                <a:spcPts val="0"/>
              </a:spcAft>
              <a:buClr>
                <a:schemeClr val="dk1"/>
              </a:buClr>
              <a:buSzPct val="42307"/>
              <a:buFont typeface="Arial"/>
              <a:buChar char="●"/>
            </a:pPr>
            <a:endParaRPr/>
          </a:p>
          <a:p>
            <a:pPr marL="457200" lvl="0" indent="-282733" algn="l" rtl="0">
              <a:lnSpc>
                <a:spcPct val="115000"/>
              </a:lnSpc>
              <a:spcBef>
                <a:spcPts val="0"/>
              </a:spcBef>
              <a:spcAft>
                <a:spcPts val="0"/>
              </a:spcAft>
              <a:buClr>
                <a:schemeClr val="dk1"/>
              </a:buClr>
              <a:buSzPct val="42307"/>
              <a:buFont typeface="Arial"/>
              <a:buChar char="●"/>
            </a:pPr>
            <a:r>
              <a:rPr lang="en-US"/>
              <a:t>P(case 3) = 1 - 0.72 - 0.01 = 0.27</a:t>
            </a:r>
            <a:endParaRPr/>
          </a:p>
          <a:p>
            <a:pPr marL="0" lvl="0" indent="0" algn="l" rtl="0">
              <a:lnSpc>
                <a:spcPct val="115000"/>
              </a:lnSpc>
              <a:spcBef>
                <a:spcPts val="1200"/>
              </a:spcBef>
              <a:spcAft>
                <a:spcPts val="0"/>
              </a:spcAft>
              <a:buNone/>
            </a:pPr>
            <a:endParaRPr/>
          </a:p>
          <a:p>
            <a:pPr marL="0" lvl="0" indent="0" algn="l" rtl="0">
              <a:spcBef>
                <a:spcPts val="1200"/>
              </a:spcBef>
              <a:spcAft>
                <a:spcPts val="0"/>
              </a:spcAft>
              <a:buNone/>
            </a:pPr>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34f6c1e7900_0_46"/>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493" name="Google Shape;493;g34f6c1e7900_0_46"/>
          <p:cNvSpPr txBox="1">
            <a:spLocks noGrp="1"/>
          </p:cNvSpPr>
          <p:nvPr>
            <p:ph type="body" idx="1"/>
          </p:nvPr>
        </p:nvSpPr>
        <p:spPr>
          <a:xfrm>
            <a:off x="457200" y="704099"/>
            <a:ext cx="8229600" cy="56205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494" name="Google Shape;494;g34f6c1e7900_0_46" title="poker3.PNG"/>
          <p:cNvPicPr preferRelativeResize="0"/>
          <p:nvPr/>
        </p:nvPicPr>
        <p:blipFill>
          <a:blip r:embed="rId3">
            <a:alphaModFix/>
          </a:blip>
          <a:stretch>
            <a:fillRect/>
          </a:stretch>
        </p:blipFill>
        <p:spPr>
          <a:xfrm>
            <a:off x="130125" y="115850"/>
            <a:ext cx="7895200" cy="6325601"/>
          </a:xfrm>
          <a:prstGeom prst="rect">
            <a:avLst/>
          </a:prstGeom>
          <a:noFill/>
          <a:ln>
            <a:noFill/>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4f6c1e7900_0_54"/>
          <p:cNvSpPr txBox="1">
            <a:spLocks noGrp="1"/>
          </p:cNvSpPr>
          <p:nvPr>
            <p:ph type="title"/>
          </p:nvPr>
        </p:nvSpPr>
        <p:spPr>
          <a:xfrm>
            <a:off x="457200" y="94495"/>
            <a:ext cx="8229600" cy="6726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r>
              <a:rPr lang="en-US"/>
              <a:t>Gap Test</a:t>
            </a:r>
            <a:endParaRPr/>
          </a:p>
        </p:txBody>
      </p:sp>
      <p:sp>
        <p:nvSpPr>
          <p:cNvPr id="501" name="Google Shape;501;g34f6c1e7900_0_54"/>
          <p:cNvSpPr txBox="1">
            <a:spLocks noGrp="1"/>
          </p:cNvSpPr>
          <p:nvPr>
            <p:ph type="body" idx="1"/>
          </p:nvPr>
        </p:nvSpPr>
        <p:spPr>
          <a:xfrm>
            <a:off x="457200" y="767099"/>
            <a:ext cx="8229600" cy="5557500"/>
          </a:xfrm>
          <a:prstGeom prst="rect">
            <a:avLst/>
          </a:prstGeom>
        </p:spPr>
        <p:txBody>
          <a:bodyPr spcFirstLastPara="1" wrap="square" lIns="91425" tIns="45700" rIns="91425" bIns="45700" anchor="t" anchorCtr="0">
            <a:normAutofit/>
          </a:bodyPr>
          <a:lstStyle/>
          <a:p>
            <a:pPr marL="457200" lvl="0" indent="-330200" algn="l" rtl="0">
              <a:spcBef>
                <a:spcPts val="360"/>
              </a:spcBef>
              <a:spcAft>
                <a:spcPts val="0"/>
              </a:spcAft>
              <a:buSzPts val="1600"/>
              <a:buChar char="●"/>
            </a:pPr>
            <a:r>
              <a:rPr lang="en-US" sz="1600">
                <a:solidFill>
                  <a:srgbClr val="4B5563"/>
                </a:solidFill>
                <a:highlight>
                  <a:srgbClr val="F8FAFC"/>
                </a:highlight>
                <a:latin typeface="Arial"/>
                <a:ea typeface="Arial"/>
                <a:cs typeface="Arial"/>
                <a:sym typeface="Arial"/>
              </a:rPr>
              <a:t>The gap test is used to determine the significance of the interval between recurrence of the same digit. A gap of length </a:t>
            </a:r>
            <a:r>
              <a:rPr lang="en-US" sz="1600" i="1">
                <a:solidFill>
                  <a:srgbClr val="4B5563"/>
                </a:solidFill>
                <a:highlight>
                  <a:srgbClr val="F8FAFC"/>
                </a:highlight>
                <a:latin typeface="Times New Roman"/>
                <a:ea typeface="Times New Roman"/>
                <a:cs typeface="Times New Roman"/>
                <a:sym typeface="Times New Roman"/>
              </a:rPr>
              <a:t>x </a:t>
            </a:r>
            <a:r>
              <a:rPr lang="en-US" sz="1600">
                <a:solidFill>
                  <a:srgbClr val="4B5563"/>
                </a:solidFill>
                <a:highlight>
                  <a:srgbClr val="F8FAFC"/>
                </a:highlight>
                <a:latin typeface="Arial"/>
                <a:ea typeface="Arial"/>
                <a:cs typeface="Arial"/>
                <a:sym typeface="Arial"/>
              </a:rPr>
              <a:t>occurs between the recurrence of  some digit</a:t>
            </a:r>
            <a:endParaRPr sz="1600">
              <a:solidFill>
                <a:srgbClr val="4B5563"/>
              </a:solidFill>
              <a:highlight>
                <a:srgbClr val="F8FAFC"/>
              </a:highlight>
              <a:latin typeface="Arial"/>
              <a:ea typeface="Arial"/>
              <a:cs typeface="Arial"/>
              <a:sym typeface="Arial"/>
            </a:endParaRPr>
          </a:p>
          <a:p>
            <a:pPr marL="457200" lvl="0" indent="-330200" algn="l" rtl="0">
              <a:spcBef>
                <a:spcPts val="0"/>
              </a:spcBef>
              <a:spcAft>
                <a:spcPts val="0"/>
              </a:spcAft>
              <a:buClr>
                <a:srgbClr val="4B5563"/>
              </a:buClr>
              <a:buSzPts val="1600"/>
              <a:buFont typeface="Arial"/>
              <a:buChar char="●"/>
            </a:pPr>
            <a:r>
              <a:rPr lang="en-US" sz="1600">
                <a:solidFill>
                  <a:srgbClr val="4B5563"/>
                </a:solidFill>
                <a:highlight>
                  <a:srgbClr val="F8FAFC"/>
                </a:highlight>
                <a:latin typeface="Arial"/>
                <a:ea typeface="Arial"/>
                <a:cs typeface="Arial"/>
                <a:sym typeface="Arial"/>
              </a:rPr>
              <a:t>The probability of a particular gap length can be determined by a Bernoulli trail.</a:t>
            </a:r>
            <a:endParaRPr sz="1600">
              <a:solidFill>
                <a:srgbClr val="4B5563"/>
              </a:solidFill>
              <a:highlight>
                <a:srgbClr val="F8FAFC"/>
              </a:highlight>
              <a:latin typeface="Arial"/>
              <a:ea typeface="Arial"/>
              <a:cs typeface="Arial"/>
              <a:sym typeface="Arial"/>
            </a:endParaRPr>
          </a:p>
          <a:p>
            <a:pPr marL="457200" lvl="0" indent="0" algn="l" rtl="0">
              <a:spcBef>
                <a:spcPts val="360"/>
              </a:spcBef>
              <a:spcAft>
                <a:spcPts val="0"/>
              </a:spcAft>
              <a:buNone/>
            </a:pPr>
            <a:r>
              <a:rPr lang="en-US" sz="1600">
                <a:solidFill>
                  <a:srgbClr val="4B5563"/>
                </a:solidFill>
                <a:highlight>
                  <a:srgbClr val="F8FAFC"/>
                </a:highlight>
                <a:latin typeface="Arial"/>
                <a:ea typeface="Arial"/>
                <a:cs typeface="Arial"/>
                <a:sym typeface="Arial"/>
              </a:rPr>
              <a:t>	</a:t>
            </a:r>
            <a:endParaRPr sz="1600">
              <a:solidFill>
                <a:srgbClr val="4B5563"/>
              </a:solidFill>
              <a:highlight>
                <a:srgbClr val="F8FAFC"/>
              </a:highlight>
              <a:latin typeface="Arial"/>
              <a:ea typeface="Arial"/>
              <a:cs typeface="Arial"/>
              <a:sym typeface="Arial"/>
            </a:endParaRPr>
          </a:p>
          <a:p>
            <a:pPr marL="457200" lvl="0" indent="0" algn="l" rtl="0">
              <a:spcBef>
                <a:spcPts val="360"/>
              </a:spcBef>
              <a:spcAft>
                <a:spcPts val="0"/>
              </a:spcAft>
              <a:buNone/>
            </a:pPr>
            <a:endParaRPr sz="1600">
              <a:solidFill>
                <a:srgbClr val="4B5563"/>
              </a:solidFill>
              <a:highlight>
                <a:srgbClr val="F8FAFC"/>
              </a:highlight>
              <a:latin typeface="Arial"/>
              <a:ea typeface="Arial"/>
              <a:cs typeface="Arial"/>
              <a:sym typeface="Arial"/>
            </a:endParaRPr>
          </a:p>
          <a:p>
            <a:pPr marL="0" lvl="0" indent="0" algn="l" rtl="0">
              <a:lnSpc>
                <a:spcPct val="115000"/>
              </a:lnSpc>
              <a:spcBef>
                <a:spcPts val="0"/>
              </a:spcBef>
              <a:spcAft>
                <a:spcPts val="0"/>
              </a:spcAft>
              <a:buNone/>
            </a:pPr>
            <a:endParaRPr sz="1850">
              <a:solidFill>
                <a:srgbClr val="4B5563"/>
              </a:solidFill>
              <a:latin typeface="Times New Roman"/>
              <a:ea typeface="Times New Roman"/>
              <a:cs typeface="Times New Roman"/>
              <a:sym typeface="Times New Roman"/>
            </a:endParaRPr>
          </a:p>
          <a:p>
            <a:pPr marL="0" lvl="0" indent="457200" algn="l" rtl="0">
              <a:lnSpc>
                <a:spcPct val="115000"/>
              </a:lnSpc>
              <a:spcBef>
                <a:spcPts val="1200"/>
              </a:spcBef>
              <a:spcAft>
                <a:spcPts val="0"/>
              </a:spcAft>
              <a:buNone/>
            </a:pPr>
            <a:r>
              <a:rPr lang="en-US" sz="1850">
                <a:solidFill>
                  <a:srgbClr val="4B5563"/>
                </a:solidFill>
                <a:latin typeface="Times New Roman"/>
                <a:ea typeface="Times New Roman"/>
                <a:cs typeface="Times New Roman"/>
                <a:sym typeface="Times New Roman"/>
              </a:rPr>
              <a:t>If we are only concerned with digits between 0 and 9, then</a:t>
            </a:r>
            <a:endParaRPr sz="1850">
              <a:solidFill>
                <a:srgbClr val="4B5563"/>
              </a:solidFill>
              <a:latin typeface="Times New Roman"/>
              <a:ea typeface="Times New Roman"/>
              <a:cs typeface="Times New Roman"/>
              <a:sym typeface="Times New Roman"/>
            </a:endParaRPr>
          </a:p>
          <a:p>
            <a:pPr marL="0" lvl="0" indent="457200" algn="l" rtl="0">
              <a:lnSpc>
                <a:spcPct val="115000"/>
              </a:lnSpc>
              <a:spcBef>
                <a:spcPts val="1200"/>
              </a:spcBef>
              <a:spcAft>
                <a:spcPts val="0"/>
              </a:spcAft>
              <a:buNone/>
            </a:pPr>
            <a:endParaRPr sz="1850">
              <a:solidFill>
                <a:srgbClr val="4B5563"/>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450">
                <a:solidFill>
                  <a:srgbClr val="4B5563"/>
                </a:solidFill>
                <a:latin typeface="Times New Roman"/>
                <a:ea typeface="Times New Roman"/>
                <a:cs typeface="Times New Roman"/>
                <a:sym typeface="Times New Roman"/>
              </a:rPr>
              <a:t>	</a:t>
            </a:r>
            <a:r>
              <a:rPr lang="en-US" sz="1650">
                <a:solidFill>
                  <a:srgbClr val="4B5563"/>
                </a:solidFill>
                <a:highlight>
                  <a:srgbClr val="F8FAFC"/>
                </a:highlight>
                <a:latin typeface="Arial"/>
                <a:ea typeface="Arial"/>
                <a:cs typeface="Arial"/>
                <a:sym typeface="Arial"/>
              </a:rPr>
              <a:t>The theoretical frequency distribution for randomly ordered digits is given by</a:t>
            </a:r>
            <a:endParaRPr sz="1650">
              <a:solidFill>
                <a:srgbClr val="4B5563"/>
              </a:solidFill>
              <a:highlight>
                <a:srgbClr val="F8FAFC"/>
              </a:highlight>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650">
              <a:solidFill>
                <a:srgbClr val="4B5563"/>
              </a:solidFill>
              <a:highlight>
                <a:srgbClr val="F8FAFC"/>
              </a:highlight>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050">
              <a:latin typeface="Times New Roman"/>
              <a:ea typeface="Times New Roman"/>
              <a:cs typeface="Times New Roman"/>
              <a:sym typeface="Times New Roman"/>
            </a:endParaRPr>
          </a:p>
          <a:p>
            <a:pPr marL="0" lvl="0" indent="0" algn="l" rtl="0">
              <a:spcBef>
                <a:spcPts val="360"/>
              </a:spcBef>
              <a:spcAft>
                <a:spcPts val="0"/>
              </a:spcAft>
              <a:buNone/>
            </a:pPr>
            <a:endParaRPr sz="1600">
              <a:solidFill>
                <a:srgbClr val="4B5563"/>
              </a:solidFill>
              <a:highlight>
                <a:srgbClr val="F8FAFC"/>
              </a:highlight>
              <a:latin typeface="Arial"/>
              <a:ea typeface="Arial"/>
              <a:cs typeface="Arial"/>
              <a:sym typeface="Arial"/>
            </a:endParaRPr>
          </a:p>
        </p:txBody>
      </p:sp>
      <p:pic>
        <p:nvPicPr>
          <p:cNvPr id="502" name="Google Shape;502;g34f6c1e7900_0_54"/>
          <p:cNvPicPr preferRelativeResize="0"/>
          <p:nvPr/>
        </p:nvPicPr>
        <p:blipFill>
          <a:blip r:embed="rId3">
            <a:alphaModFix/>
          </a:blip>
          <a:stretch>
            <a:fillRect/>
          </a:stretch>
        </p:blipFill>
        <p:spPr>
          <a:xfrm>
            <a:off x="152400" y="6476999"/>
            <a:ext cx="3020803" cy="228601"/>
          </a:xfrm>
          <a:prstGeom prst="rect">
            <a:avLst/>
          </a:prstGeom>
          <a:noFill/>
          <a:ln>
            <a:noFill/>
          </a:ln>
        </p:spPr>
      </p:pic>
      <p:pic>
        <p:nvPicPr>
          <p:cNvPr id="503" name="Google Shape;503;g34f6c1e7900_0_54" title="gap5.PNG"/>
          <p:cNvPicPr preferRelativeResize="0"/>
          <p:nvPr/>
        </p:nvPicPr>
        <p:blipFill>
          <a:blip r:embed="rId4">
            <a:alphaModFix/>
          </a:blip>
          <a:stretch>
            <a:fillRect/>
          </a:stretch>
        </p:blipFill>
        <p:spPr>
          <a:xfrm>
            <a:off x="1239838" y="1922463"/>
            <a:ext cx="4657725" cy="600075"/>
          </a:xfrm>
          <a:prstGeom prst="rect">
            <a:avLst/>
          </a:prstGeom>
          <a:noFill/>
          <a:ln>
            <a:noFill/>
          </a:ln>
        </p:spPr>
      </p:pic>
      <p:pic>
        <p:nvPicPr>
          <p:cNvPr id="504" name="Google Shape;504;g34f6c1e7900_0_54" title="gap6.PNG"/>
          <p:cNvPicPr preferRelativeResize="0"/>
          <p:nvPr/>
        </p:nvPicPr>
        <p:blipFill>
          <a:blip r:embed="rId5">
            <a:alphaModFix/>
          </a:blip>
          <a:stretch>
            <a:fillRect/>
          </a:stretch>
        </p:blipFill>
        <p:spPr>
          <a:xfrm>
            <a:off x="1384300" y="3264850"/>
            <a:ext cx="2209800" cy="561975"/>
          </a:xfrm>
          <a:prstGeom prst="rect">
            <a:avLst/>
          </a:prstGeom>
          <a:noFill/>
          <a:ln>
            <a:noFill/>
          </a:ln>
        </p:spPr>
      </p:pic>
      <p:pic>
        <p:nvPicPr>
          <p:cNvPr id="505" name="Google Shape;505;g34f6c1e7900_0_54" title="gap7.PNG"/>
          <p:cNvPicPr preferRelativeResize="0"/>
          <p:nvPr/>
        </p:nvPicPr>
        <p:blipFill>
          <a:blip r:embed="rId6">
            <a:alphaModFix/>
          </a:blip>
          <a:stretch>
            <a:fillRect/>
          </a:stretch>
        </p:blipFill>
        <p:spPr>
          <a:xfrm>
            <a:off x="1439863" y="4240213"/>
            <a:ext cx="4257675" cy="714375"/>
          </a:xfrm>
          <a:prstGeom prst="rect">
            <a:avLst/>
          </a:prstGeom>
          <a:noFill/>
          <a:ln>
            <a:noFill/>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34f6c1e7900_0_62"/>
          <p:cNvSpPr txBox="1">
            <a:spLocks noGrp="1"/>
          </p:cNvSpPr>
          <p:nvPr>
            <p:ph type="title"/>
          </p:nvPr>
        </p:nvSpPr>
        <p:spPr>
          <a:xfrm>
            <a:off x="457200" y="4"/>
            <a:ext cx="8229600" cy="8796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r>
              <a:rPr lang="en-US"/>
              <a:t>Gap Test Algorithm</a:t>
            </a:r>
            <a:endParaRPr/>
          </a:p>
        </p:txBody>
      </p:sp>
      <p:sp>
        <p:nvSpPr>
          <p:cNvPr id="512" name="Google Shape;512;g34f6c1e7900_0_62"/>
          <p:cNvSpPr txBox="1">
            <a:spLocks noGrp="1"/>
          </p:cNvSpPr>
          <p:nvPr>
            <p:ph type="body" idx="1"/>
          </p:nvPr>
        </p:nvSpPr>
        <p:spPr>
          <a:xfrm>
            <a:off x="457200" y="879600"/>
            <a:ext cx="8229600" cy="5793900"/>
          </a:xfrm>
          <a:prstGeom prst="rect">
            <a:avLst/>
          </a:prstGeom>
        </p:spPr>
        <p:txBody>
          <a:bodyPr spcFirstLastPara="1" wrap="square" lIns="91425" tIns="45700" rIns="91425" bIns="45700" anchor="t" anchorCtr="0">
            <a:normAutofit fontScale="92500" lnSpcReduction="10000"/>
          </a:bodyPr>
          <a:lstStyle/>
          <a:p>
            <a:pPr marL="0" lvl="0" indent="0" algn="l" rtl="0">
              <a:spcBef>
                <a:spcPts val="360"/>
              </a:spcBef>
              <a:spcAft>
                <a:spcPts val="0"/>
              </a:spcAft>
              <a:buNone/>
            </a:pPr>
            <a:r>
              <a:rPr lang="en-US"/>
              <a:t>Step 1. Specify the cdf for the theoretical frequency distribution given by Equation</a:t>
            </a:r>
            <a:endParaRPr/>
          </a:p>
          <a:p>
            <a:pPr marL="0" lvl="0" indent="0" algn="l" rtl="0">
              <a:spcBef>
                <a:spcPts val="360"/>
              </a:spcBef>
              <a:spcAft>
                <a:spcPts val="0"/>
              </a:spcAft>
              <a:buNone/>
            </a:pPr>
            <a:endParaRPr/>
          </a:p>
          <a:p>
            <a:pPr marL="0" lvl="0" indent="0" algn="l" rtl="0">
              <a:spcBef>
                <a:spcPts val="360"/>
              </a:spcBef>
              <a:spcAft>
                <a:spcPts val="0"/>
              </a:spcAft>
              <a:buNone/>
            </a:pPr>
            <a:endParaRPr/>
          </a:p>
          <a:p>
            <a:pPr marL="0" lvl="0" indent="0" algn="l" rtl="0">
              <a:spcBef>
                <a:spcPts val="360"/>
              </a:spcBef>
              <a:spcAft>
                <a:spcPts val="0"/>
              </a:spcAft>
              <a:buNone/>
            </a:pPr>
            <a:r>
              <a:rPr lang="en-US"/>
              <a:t>Step 2. Arrange the observed sample of gaps in a cumulative distribution with these same classes. </a:t>
            </a:r>
            <a:endParaRPr/>
          </a:p>
          <a:p>
            <a:pPr marL="0" lvl="0" indent="0" algn="l" rtl="0">
              <a:spcBef>
                <a:spcPts val="360"/>
              </a:spcBef>
              <a:spcAft>
                <a:spcPts val="0"/>
              </a:spcAft>
              <a:buNone/>
            </a:pPr>
            <a:r>
              <a:rPr lang="en-US"/>
              <a:t>Step 3. Find D, the maximum deviation between F(x) and S N (x)as in Equation </a:t>
            </a:r>
            <a:endParaRPr/>
          </a:p>
          <a:p>
            <a:pPr marL="0" lvl="0" indent="0" algn="l" rtl="0">
              <a:spcBef>
                <a:spcPts val="360"/>
              </a:spcBef>
              <a:spcAft>
                <a:spcPts val="0"/>
              </a:spcAft>
              <a:buNone/>
            </a:pPr>
            <a:r>
              <a:rPr lang="en-US"/>
              <a:t>D=max |F (x) - S (x)|  </a:t>
            </a:r>
            <a:endParaRPr/>
          </a:p>
          <a:p>
            <a:pPr marL="0" lvl="0" indent="0" algn="l" rtl="0">
              <a:spcBef>
                <a:spcPts val="360"/>
              </a:spcBef>
              <a:spcAft>
                <a:spcPts val="0"/>
              </a:spcAft>
              <a:buNone/>
            </a:pPr>
            <a:r>
              <a:rPr lang="en-US"/>
              <a:t>Step 4. Determine the critical value, D α, from Table( K-S critical value) for the specified value of α and the sample size N.  </a:t>
            </a:r>
            <a:endParaRPr/>
          </a:p>
          <a:p>
            <a:pPr marL="0" lvl="0" indent="0" algn="l" rtl="0">
              <a:spcBef>
                <a:spcPts val="360"/>
              </a:spcBef>
              <a:spcAft>
                <a:spcPts val="0"/>
              </a:spcAft>
              <a:buNone/>
            </a:pPr>
            <a:r>
              <a:rPr lang="en-US"/>
              <a:t>Step 5. If the calculated value of D is greater than the tabulated value of D tabulated value of D α , the null hypothesis of independence the null hypothesis of independence is rejected </a:t>
            </a:r>
            <a:endParaRPr/>
          </a:p>
          <a:p>
            <a:pPr marL="0" lvl="0" indent="0" algn="l" rtl="0">
              <a:spcBef>
                <a:spcPts val="360"/>
              </a:spcBef>
              <a:spcAft>
                <a:spcPts val="0"/>
              </a:spcAft>
              <a:buNone/>
            </a:pPr>
            <a:endParaRPr/>
          </a:p>
        </p:txBody>
      </p:sp>
      <p:pic>
        <p:nvPicPr>
          <p:cNvPr id="513" name="Google Shape;513;g34f6c1e7900_0_62" title="gap2.PNG"/>
          <p:cNvPicPr preferRelativeResize="0"/>
          <p:nvPr/>
        </p:nvPicPr>
        <p:blipFill>
          <a:blip r:embed="rId3">
            <a:alphaModFix/>
          </a:blip>
          <a:stretch>
            <a:fillRect/>
          </a:stretch>
        </p:blipFill>
        <p:spPr>
          <a:xfrm>
            <a:off x="1434075" y="1498675"/>
            <a:ext cx="4639075" cy="744100"/>
          </a:xfrm>
          <a:prstGeom prst="rect">
            <a:avLst/>
          </a:prstGeom>
          <a:noFill/>
          <a:ln>
            <a:no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g34f6c1e7900_0_73"/>
          <p:cNvSpPr txBox="1">
            <a:spLocks noGrp="1"/>
          </p:cNvSpPr>
          <p:nvPr>
            <p:ph type="title"/>
          </p:nvPr>
        </p:nvSpPr>
        <p:spPr>
          <a:xfrm>
            <a:off x="457200" y="31"/>
            <a:ext cx="8229600" cy="9033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520" name="Google Shape;520;g34f6c1e7900_0_73"/>
          <p:cNvSpPr txBox="1">
            <a:spLocks noGrp="1"/>
          </p:cNvSpPr>
          <p:nvPr>
            <p:ph type="body" idx="1"/>
          </p:nvPr>
        </p:nvSpPr>
        <p:spPr>
          <a:xfrm>
            <a:off x="457200" y="903324"/>
            <a:ext cx="8229600" cy="5421300"/>
          </a:xfrm>
          <a:prstGeom prst="rect">
            <a:avLst/>
          </a:prstGeom>
        </p:spPr>
        <p:txBody>
          <a:bodyPr spcFirstLastPara="1" wrap="square" lIns="91425" tIns="45700" rIns="91425" bIns="45700" anchor="t" anchorCtr="0">
            <a:normAutofit fontScale="85000" lnSpcReduction="10000"/>
          </a:bodyPr>
          <a:lstStyle/>
          <a:p>
            <a:pPr marL="0" lvl="0" indent="0" algn="just" rtl="0">
              <a:spcBef>
                <a:spcPts val="360"/>
              </a:spcBef>
              <a:spcAft>
                <a:spcPts val="0"/>
              </a:spcAft>
              <a:buNone/>
            </a:pPr>
            <a:r>
              <a:rPr lang="en-US" sz="2717"/>
              <a:t>4, 1, 3, 5, 1, 7, 2, 8, 2, 0, 7, 9, 1, 3, 5, 2, 7, 9, 4, 1, 6, 3 ,3, 9, 6, 3, 4, 8, 2, 3, 1, 9, 4, 4, 6, 8, 4, 1, 3, 8, 9, 5, 5, 7, 3, 9, 5, 9, 8, 5, 3, 2, 2, 3, 7, 4, 7, 0, 3, 6, 3, 5, 9, 9, 5, 5, 5, 0, 4, 6, 8, 0, 4, 7, 0, 3, 3, 0, 9, 5, 7, 9, 5, 1, 6, 6, 3, 8 ,8, 8, 9, 2, 9, 1, 8, 5, 4, 4, 5, 0, 2, 3, 9, 7, 1, 2, 0, 3, 6, 3 </a:t>
            </a:r>
            <a:endParaRPr sz="2717"/>
          </a:p>
          <a:p>
            <a:pPr marL="0" lvl="0" indent="0" algn="l" rtl="0">
              <a:spcBef>
                <a:spcPts val="360"/>
              </a:spcBef>
              <a:spcAft>
                <a:spcPts val="0"/>
              </a:spcAft>
              <a:buNone/>
            </a:pPr>
            <a:r>
              <a:rPr lang="en-US"/>
              <a:t>( 110 numbers)</a:t>
            </a:r>
            <a:endParaRPr/>
          </a:p>
          <a:p>
            <a:pPr marL="0" lvl="0" indent="0" algn="l" rtl="0">
              <a:spcBef>
                <a:spcPts val="360"/>
              </a:spcBef>
              <a:spcAft>
                <a:spcPts val="0"/>
              </a:spcAft>
              <a:buNone/>
            </a:pPr>
            <a:r>
              <a:rPr lang="en-US"/>
              <a:t>Based on the frequency with which gaps occur, analyze the 110 digits above to test whether they are independent. Use level of significance 5%. </a:t>
            </a:r>
            <a:endParaRPr/>
          </a:p>
          <a:p>
            <a:pPr marL="0" lvl="0" indent="0" algn="l" rtl="0">
              <a:spcBef>
                <a:spcPts val="360"/>
              </a:spcBef>
              <a:spcAft>
                <a:spcPts val="0"/>
              </a:spcAft>
              <a:buNone/>
            </a:pPr>
            <a:r>
              <a:rPr lang="en-US"/>
              <a:t>The number of gaps is given by the number of digits minus 10</a:t>
            </a:r>
            <a:endParaRPr/>
          </a:p>
          <a:p>
            <a:pPr marL="0" lvl="0" indent="0" algn="l" rtl="0">
              <a:spcBef>
                <a:spcPts val="360"/>
              </a:spcBef>
              <a:spcAft>
                <a:spcPts val="0"/>
              </a:spcAft>
              <a:buNone/>
            </a:pPr>
            <a:r>
              <a:rPr lang="en-US"/>
              <a:t>ie 110-10=100. </a:t>
            </a:r>
            <a:endParaRPr/>
          </a:p>
          <a:p>
            <a:pPr marL="0" lvl="0" indent="0" algn="l" rtl="0">
              <a:spcBef>
                <a:spcPts val="360"/>
              </a:spcBef>
              <a:spcAft>
                <a:spcPts val="0"/>
              </a:spcAft>
              <a:buNone/>
            </a:pPr>
            <a:r>
              <a:rPr lang="en-US" b="1"/>
              <a:t>Solution:</a:t>
            </a:r>
            <a:endParaRPr b="1"/>
          </a:p>
          <a:p>
            <a:pPr marL="0" lvl="0" indent="0" algn="l" rtl="0">
              <a:spcBef>
                <a:spcPts val="360"/>
              </a:spcBef>
              <a:spcAft>
                <a:spcPts val="0"/>
              </a:spcAft>
              <a:buNone/>
            </a:pPr>
            <a:r>
              <a:rPr lang="en-US"/>
              <a:t>Let us first set following null and alternative to null hypothesis</a:t>
            </a:r>
            <a:endParaRPr/>
          </a:p>
          <a:p>
            <a:pPr marL="0" lvl="0" indent="0" algn="l" rtl="0">
              <a:spcBef>
                <a:spcPts val="360"/>
              </a:spcBef>
              <a:spcAft>
                <a:spcPts val="0"/>
              </a:spcAft>
              <a:buNone/>
            </a:pPr>
            <a:r>
              <a:rPr lang="en-US"/>
              <a:t>H0: Given numbers are independent</a:t>
            </a:r>
            <a:endParaRPr/>
          </a:p>
          <a:p>
            <a:pPr marL="0" lvl="0" indent="0" algn="l" rtl="0">
              <a:spcBef>
                <a:spcPts val="360"/>
              </a:spcBef>
              <a:spcAft>
                <a:spcPts val="0"/>
              </a:spcAft>
              <a:buNone/>
            </a:pPr>
            <a:r>
              <a:rPr lang="en-US"/>
              <a:t>H1: Given numbers are not independent</a:t>
            </a:r>
            <a:endParaRPr/>
          </a:p>
          <a:p>
            <a:pPr marL="0" lvl="0" indent="0" algn="l" rtl="0">
              <a:spcBef>
                <a:spcPts val="360"/>
              </a:spcBef>
              <a:spcAft>
                <a:spcPts val="0"/>
              </a:spcAft>
              <a:buNone/>
            </a:pPr>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4f6c1e7900_0_85"/>
          <p:cNvSpPr txBox="1">
            <a:spLocks noGrp="1"/>
          </p:cNvSpPr>
          <p:nvPr>
            <p:ph type="title"/>
          </p:nvPr>
        </p:nvSpPr>
        <p:spPr>
          <a:xfrm>
            <a:off x="457200" y="383102"/>
            <a:ext cx="8229600" cy="4965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endParaRPr/>
          </a:p>
        </p:txBody>
      </p:sp>
      <p:sp>
        <p:nvSpPr>
          <p:cNvPr id="527" name="Google Shape;527;g34f6c1e7900_0_85"/>
          <p:cNvSpPr txBox="1">
            <a:spLocks noGrp="1"/>
          </p:cNvSpPr>
          <p:nvPr>
            <p:ph type="body" idx="1"/>
          </p:nvPr>
        </p:nvSpPr>
        <p:spPr>
          <a:xfrm>
            <a:off x="457200" y="1139849"/>
            <a:ext cx="8229600" cy="5184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a:t>The length and the number of gaps associated with the various digits are as follows:</a:t>
            </a:r>
            <a:endParaRPr/>
          </a:p>
        </p:txBody>
      </p:sp>
      <p:pic>
        <p:nvPicPr>
          <p:cNvPr id="528" name="Google Shape;528;g34f6c1e7900_0_85" title="gap3.PNG"/>
          <p:cNvPicPr preferRelativeResize="0"/>
          <p:nvPr/>
        </p:nvPicPr>
        <p:blipFill>
          <a:blip r:embed="rId3">
            <a:alphaModFix/>
          </a:blip>
          <a:stretch>
            <a:fillRect/>
          </a:stretch>
        </p:blipFill>
        <p:spPr>
          <a:xfrm>
            <a:off x="514750" y="2073625"/>
            <a:ext cx="8114500" cy="4088475"/>
          </a:xfrm>
          <a:prstGeom prst="rect">
            <a:avLst/>
          </a:prstGeom>
          <a:noFill/>
          <a:ln>
            <a:noFill/>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g34f6c1e7900_0_79"/>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535" name="Google Shape;535;g34f6c1e7900_0_79"/>
          <p:cNvSpPr txBox="1">
            <a:spLocks noGrp="1"/>
          </p:cNvSpPr>
          <p:nvPr>
            <p:ph type="body" idx="1"/>
          </p:nvPr>
        </p:nvSpPr>
        <p:spPr>
          <a:xfrm>
            <a:off x="457200" y="430398"/>
            <a:ext cx="8229600" cy="5894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536" name="Google Shape;536;g34f6c1e7900_0_79" title="gap4.PNG"/>
          <p:cNvPicPr preferRelativeResize="0"/>
          <p:nvPr/>
        </p:nvPicPr>
        <p:blipFill>
          <a:blip r:embed="rId3">
            <a:alphaModFix/>
          </a:blip>
          <a:stretch>
            <a:fillRect/>
          </a:stretch>
        </p:blipFill>
        <p:spPr>
          <a:xfrm>
            <a:off x="0" y="430400"/>
            <a:ext cx="9143999" cy="5596050"/>
          </a:xfrm>
          <a:prstGeom prst="rect">
            <a:avLst/>
          </a:prstGeom>
          <a:noFill/>
          <a:ln>
            <a:noFill/>
          </a:ln>
        </p:spPr>
      </p:pic>
      <p:sp>
        <p:nvSpPr>
          <p:cNvPr id="2" name="TextBox 1"/>
          <p:cNvSpPr txBox="1"/>
          <p:nvPr/>
        </p:nvSpPr>
        <p:spPr>
          <a:xfrm>
            <a:off x="6137563" y="506721"/>
            <a:ext cx="1607127" cy="738664"/>
          </a:xfrm>
          <a:prstGeom prst="rect">
            <a:avLst/>
          </a:prstGeom>
          <a:noFill/>
        </p:spPr>
        <p:txBody>
          <a:bodyPr wrap="square" rtlCol="0">
            <a:spAutoFit/>
          </a:bodyPr>
          <a:lstStyle/>
          <a:p>
            <a:r>
              <a:rPr lang="en-US" dirty="0" smtClean="0"/>
              <a:t>F(x)=1-0.9^(3+1)</a:t>
            </a:r>
          </a:p>
          <a:p>
            <a:r>
              <a:rPr lang="en-US" dirty="0"/>
              <a:t> </a:t>
            </a:r>
            <a:r>
              <a:rPr lang="en-US" dirty="0" smtClean="0"/>
              <a:t>       </a:t>
            </a:r>
            <a:r>
              <a:rPr lang="en-US" dirty="0"/>
              <a:t>=1-0.9</a:t>
            </a:r>
            <a:r>
              <a:rPr lang="en-US" dirty="0" smtClean="0"/>
              <a:t>^(7+1)</a:t>
            </a:r>
          </a:p>
          <a:p>
            <a:r>
              <a:rPr lang="en-US" dirty="0"/>
              <a:t> </a:t>
            </a:r>
            <a:r>
              <a:rPr lang="en-US" dirty="0" smtClean="0"/>
              <a:t> …</a:t>
            </a:r>
            <a:r>
              <a:rPr lang="en-US" dirty="0"/>
              <a:t>=1-0.9</a:t>
            </a:r>
            <a:r>
              <a:rPr lang="en-US" dirty="0" smtClean="0"/>
              <a:t>^(</a:t>
            </a:r>
            <a:r>
              <a:rPr lang="en-US" dirty="0" smtClean="0">
                <a:solidFill>
                  <a:srgbClr val="FF0000"/>
                </a:solidFill>
              </a:rPr>
              <a:t>47</a:t>
            </a:r>
            <a:r>
              <a:rPr lang="en-US" dirty="0" smtClean="0"/>
              <a:t>+1</a:t>
            </a:r>
            <a:r>
              <a:rPr lang="en-US" dirty="0"/>
              <a:t>)</a:t>
            </a:r>
            <a:r>
              <a:rPr lang="en-US" dirty="0" smtClean="0"/>
              <a:t>     </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34f6c1e7900_0_98"/>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543" name="Google Shape;543;g34f6c1e7900_0_98"/>
          <p:cNvSpPr txBox="1">
            <a:spLocks noGrp="1"/>
          </p:cNvSpPr>
          <p:nvPr>
            <p:ph type="body" idx="1"/>
          </p:nvPr>
        </p:nvSpPr>
        <p:spPr>
          <a:xfrm>
            <a:off x="457200" y="704099"/>
            <a:ext cx="8229600" cy="56205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a:p>
            <a:pPr marL="0" lvl="0" indent="0" algn="l" rtl="0">
              <a:spcBef>
                <a:spcPts val="360"/>
              </a:spcBef>
              <a:spcAft>
                <a:spcPts val="0"/>
              </a:spcAft>
              <a:buNone/>
            </a:pPr>
            <a:endParaRPr sz="2700"/>
          </a:p>
          <a:p>
            <a:pPr marL="0" lvl="0" indent="0" algn="l" rtl="0">
              <a:spcBef>
                <a:spcPts val="360"/>
              </a:spcBef>
              <a:spcAft>
                <a:spcPts val="0"/>
              </a:spcAft>
              <a:buNone/>
            </a:pPr>
            <a:r>
              <a:rPr lang="en-US" sz="2700"/>
              <a:t>The critical value of D is given by</a:t>
            </a:r>
            <a:endParaRPr sz="2700"/>
          </a:p>
          <a:p>
            <a:pPr marL="0" lvl="0" indent="0" algn="l" rtl="0">
              <a:spcBef>
                <a:spcPts val="360"/>
              </a:spcBef>
              <a:spcAft>
                <a:spcPts val="0"/>
              </a:spcAft>
              <a:buNone/>
            </a:pPr>
            <a:r>
              <a:rPr lang="en-US" sz="2700"/>
              <a:t> D0.05,100 = 1.36 /sqrt( 100) = 0.136 [Refer KS Table]</a:t>
            </a:r>
            <a:endParaRPr sz="2700"/>
          </a:p>
          <a:p>
            <a:pPr marL="0" lvl="0" indent="0" algn="l" rtl="0">
              <a:spcBef>
                <a:spcPts val="360"/>
              </a:spcBef>
              <a:spcAft>
                <a:spcPts val="0"/>
              </a:spcAft>
              <a:buNone/>
            </a:pPr>
            <a:r>
              <a:rPr lang="en-US" sz="2700"/>
              <a:t>Since D = max |F( x ) - S(x)|  = 0.0224 is less than D0.05, do not reject the null hypothesis of independence on the basis of this test. </a:t>
            </a:r>
            <a:endParaRPr sz="270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51"/>
          <p:cNvSpPr txBox="1">
            <a:spLocks noGrp="1"/>
          </p:cNvSpPr>
          <p:nvPr>
            <p:ph type="title"/>
          </p:nvPr>
        </p:nvSpPr>
        <p:spPr>
          <a:xfrm>
            <a:off x="457200" y="208275"/>
            <a:ext cx="8229600" cy="5841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Assignment</a:t>
            </a:r>
            <a:endParaRPr/>
          </a:p>
        </p:txBody>
      </p:sp>
      <p:sp>
        <p:nvSpPr>
          <p:cNvPr id="549" name="Google Shape;549;p51"/>
          <p:cNvSpPr txBox="1">
            <a:spLocks noGrp="1"/>
          </p:cNvSpPr>
          <p:nvPr>
            <p:ph type="body" idx="1"/>
          </p:nvPr>
        </p:nvSpPr>
        <p:spPr>
          <a:xfrm>
            <a:off x="457200" y="792375"/>
            <a:ext cx="8229600" cy="5532300"/>
          </a:xfrm>
          <a:prstGeom prst="rect">
            <a:avLst/>
          </a:prstGeom>
          <a:noFill/>
          <a:ln>
            <a:noFill/>
          </a:ln>
        </p:spPr>
        <p:txBody>
          <a:bodyPr spcFirstLastPara="1" wrap="square" lIns="91425" tIns="45700" rIns="91425" bIns="45700" anchor="t" anchorCtr="0">
            <a:normAutofit fontScale="62500" lnSpcReduction="20000"/>
          </a:bodyPr>
          <a:lstStyle/>
          <a:p>
            <a:pPr marL="514350" lvl="0" indent="-455533" algn="l" rtl="0">
              <a:spcBef>
                <a:spcPts val="0"/>
              </a:spcBef>
              <a:spcAft>
                <a:spcPts val="0"/>
              </a:spcAft>
              <a:buSzPct val="95000"/>
              <a:buFont typeface="Calibri"/>
              <a:buChar char="●"/>
            </a:pPr>
            <a:r>
              <a:rPr lang="en-US"/>
              <a:t>What is random number and how is it different from pseudo random number? What are the two desired properties of random numbers?</a:t>
            </a:r>
            <a:endParaRPr/>
          </a:p>
          <a:p>
            <a:pPr marL="514350" lvl="0" indent="-455533" algn="l" rtl="0">
              <a:spcBef>
                <a:spcPts val="481"/>
              </a:spcBef>
              <a:spcAft>
                <a:spcPts val="0"/>
              </a:spcAft>
              <a:buSzPct val="95000"/>
              <a:buFont typeface="Calibri"/>
              <a:buChar char="●"/>
            </a:pPr>
            <a:r>
              <a:rPr lang="en-US"/>
              <a:t>Use linear congruential method to generate three two digits random with X0=27, a=8, =47 and m=100.</a:t>
            </a:r>
            <a:endParaRPr/>
          </a:p>
          <a:p>
            <a:pPr marL="514350" lvl="0" indent="-455533" algn="l" rtl="0">
              <a:spcBef>
                <a:spcPts val="481"/>
              </a:spcBef>
              <a:spcAft>
                <a:spcPts val="0"/>
              </a:spcAft>
              <a:buSzPct val="95000"/>
              <a:buFont typeface="Calibri"/>
              <a:buChar char="●"/>
            </a:pPr>
            <a:r>
              <a:rPr lang="en-US"/>
              <a:t>Do we encounter the problem if X0=O in question no. 2? </a:t>
            </a:r>
            <a:endParaRPr/>
          </a:p>
          <a:p>
            <a:pPr marL="514350" lvl="0" indent="-455533" algn="l" rtl="0">
              <a:spcBef>
                <a:spcPts val="481"/>
              </a:spcBef>
              <a:spcAft>
                <a:spcPts val="0"/>
              </a:spcAft>
              <a:buSzPct val="95000"/>
              <a:buFont typeface="Calibri"/>
              <a:buChar char="●"/>
            </a:pPr>
            <a:r>
              <a:rPr lang="en-US"/>
              <a:t>Generate random number using mid square method using seed value 9867.</a:t>
            </a:r>
            <a:endParaRPr/>
          </a:p>
          <a:p>
            <a:pPr marL="514350" lvl="0" indent="-455532" algn="l" rtl="0">
              <a:spcBef>
                <a:spcPts val="481"/>
              </a:spcBef>
              <a:spcAft>
                <a:spcPts val="0"/>
              </a:spcAft>
              <a:buSzPct val="95000"/>
              <a:buFont typeface="Calibri"/>
              <a:buChar char="●"/>
            </a:pPr>
            <a:r>
              <a:rPr lang="en-US"/>
              <a:t>Write any two tests available for testing the uniformity of given numbers? Write algorithm with suitable example.</a:t>
            </a:r>
            <a:endParaRPr/>
          </a:p>
          <a:p>
            <a:pPr marL="514350" lvl="0" indent="-455532" algn="l" rtl="0">
              <a:spcBef>
                <a:spcPts val="481"/>
              </a:spcBef>
              <a:spcAft>
                <a:spcPts val="0"/>
              </a:spcAft>
              <a:buSzPct val="95000"/>
              <a:buFont typeface="Calibri"/>
              <a:buChar char="●"/>
            </a:pPr>
            <a:r>
              <a:rPr lang="en-US"/>
              <a:t>Explain the independenceand uniformity property of random number. For the following sample of random numbers, perform test for independence using K-S test. (D0.05,10 = 0.41)</a:t>
            </a:r>
            <a:endParaRPr/>
          </a:p>
          <a:p>
            <a:pPr marL="731520" lvl="0" indent="182880" algn="l" rtl="0">
              <a:spcBef>
                <a:spcPts val="481"/>
              </a:spcBef>
              <a:spcAft>
                <a:spcPts val="0"/>
              </a:spcAft>
              <a:buNone/>
            </a:pPr>
            <a:r>
              <a:rPr lang="en-US"/>
              <a:t>0.35, 0.77, 0.12, 0.33, 0.88, 0.45, 0.19, 0.25, 0.91, 0.54</a:t>
            </a:r>
            <a:endParaRPr/>
          </a:p>
          <a:p>
            <a:pPr marL="514350" lvl="0" indent="-455532" algn="l" rtl="0">
              <a:spcBef>
                <a:spcPts val="481"/>
              </a:spcBef>
              <a:spcAft>
                <a:spcPts val="0"/>
              </a:spcAft>
              <a:buSzPct val="95000"/>
              <a:buFont typeface="Calibri"/>
              <a:buChar char="●"/>
            </a:pPr>
            <a:r>
              <a:rPr lang="en-US"/>
              <a:t>Write any two tests available for testing the independence of given numbers? Write algorithm with suitable example.</a:t>
            </a:r>
            <a:endParaRPr/>
          </a:p>
          <a:p>
            <a:pPr marL="514350" lvl="0" indent="-455532" algn="l" rtl="0">
              <a:spcBef>
                <a:spcPts val="481"/>
              </a:spcBef>
              <a:spcAft>
                <a:spcPts val="0"/>
              </a:spcAft>
              <a:buSzPct val="95000"/>
              <a:buFont typeface="Calibri"/>
              <a:buChar char="●"/>
            </a:pPr>
            <a:r>
              <a:rPr lang="en-US"/>
              <a:t>A sequence of 1000 three-digit numbers has been generated and an analysis indicates that 680 have three different digits, 289 contain exactly one pair of like digits, and 31 contain three like digits. Based on the poker test, are these numbers independent? Given α = 0.05. </a:t>
            </a:r>
            <a:endParaRPr/>
          </a:p>
          <a:p>
            <a:pPr marL="514350" lvl="0" indent="-428989" algn="l" rtl="0">
              <a:spcBef>
                <a:spcPts val="481"/>
              </a:spcBef>
              <a:spcAft>
                <a:spcPts val="0"/>
              </a:spcAft>
              <a:buSzPct val="65769"/>
              <a:buChar char="●"/>
            </a:pPr>
            <a:r>
              <a:rPr lang="en-US"/>
              <a:t>Based on runs up and runs down, determine whether the following sequence of 40 numbers is such that the hypothesis of independence can be rejected where α = 0.05. </a:t>
            </a:r>
            <a:endParaRPr/>
          </a:p>
          <a:p>
            <a:pPr marL="731520" lvl="0" indent="0" algn="l" rtl="0">
              <a:spcBef>
                <a:spcPts val="481"/>
              </a:spcBef>
              <a:spcAft>
                <a:spcPts val="0"/>
              </a:spcAft>
              <a:buNone/>
            </a:pPr>
            <a:r>
              <a:rPr lang="en-US"/>
              <a:t>0.41 0.68 0.89 0.94 0.74 0.91 0.55 0.62 0.36 0.27 0.19 0.72 0.75 0.08 0.54 0.02 0.01 0.36 0.16 0.28 0.18 0.01 0.95 0.69 0.18 0.47 0.23 0.32 0.82 0.53 0.31 0.42 0.73 0.04 0.83 0.45 0.13 0.57</a:t>
            </a:r>
            <a:endParaRPr/>
          </a:p>
          <a:p>
            <a:pPr marL="514350" lvl="0" indent="-369268" algn="l" rtl="0">
              <a:spcBef>
                <a:spcPts val="481"/>
              </a:spcBef>
              <a:spcAft>
                <a:spcPts val="0"/>
              </a:spcAft>
              <a:buSzPct val="95000"/>
              <a:buFont typeface="Calibri"/>
              <a:buNone/>
            </a:pPr>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g357d837fb4c_0_1"/>
          <p:cNvSpPr txBox="1">
            <a:spLocks noGrp="1"/>
          </p:cNvSpPr>
          <p:nvPr>
            <p:ph type="title"/>
          </p:nvPr>
        </p:nvSpPr>
        <p:spPr>
          <a:xfrm>
            <a:off x="457200" y="271778"/>
            <a:ext cx="8229600" cy="622200"/>
          </a:xfrm>
          <a:prstGeom prst="rect">
            <a:avLst/>
          </a:prstGeom>
        </p:spPr>
        <p:txBody>
          <a:bodyPr spcFirstLastPara="1" wrap="square" lIns="0" tIns="45700" rIns="0" bIns="0" anchor="b" anchorCtr="0">
            <a:normAutofit fontScale="90000"/>
          </a:bodyPr>
          <a:lstStyle/>
          <a:p>
            <a:pPr marL="0" lvl="0" indent="0" algn="l" rtl="0">
              <a:spcBef>
                <a:spcPts val="0"/>
              </a:spcBef>
              <a:spcAft>
                <a:spcPts val="0"/>
              </a:spcAft>
              <a:buNone/>
            </a:pPr>
            <a:r>
              <a:rPr lang="en-US"/>
              <a:t>Assignment</a:t>
            </a:r>
            <a:endParaRPr/>
          </a:p>
        </p:txBody>
      </p:sp>
      <p:sp>
        <p:nvSpPr>
          <p:cNvPr id="556" name="Google Shape;556;g357d837fb4c_0_1"/>
          <p:cNvSpPr txBox="1">
            <a:spLocks noGrp="1"/>
          </p:cNvSpPr>
          <p:nvPr>
            <p:ph type="body" idx="1"/>
          </p:nvPr>
        </p:nvSpPr>
        <p:spPr>
          <a:xfrm>
            <a:off x="457200" y="1084575"/>
            <a:ext cx="8229600" cy="5239800"/>
          </a:xfrm>
          <a:prstGeom prst="rect">
            <a:avLst/>
          </a:prstGeom>
        </p:spPr>
        <p:txBody>
          <a:bodyPr spcFirstLastPara="1" wrap="square" lIns="91425" tIns="45700" rIns="91425" bIns="45700" anchor="t" anchorCtr="0">
            <a:normAutofit fontScale="25000" lnSpcReduction="20000"/>
          </a:bodyPr>
          <a:lstStyle/>
          <a:p>
            <a:pPr marL="457200" lvl="0" indent="-319331" algn="l" rtl="0">
              <a:spcBef>
                <a:spcPts val="481"/>
              </a:spcBef>
              <a:spcAft>
                <a:spcPts val="0"/>
              </a:spcAft>
              <a:buSzPct val="100000"/>
              <a:buChar char="●"/>
            </a:pPr>
            <a:r>
              <a:rPr lang="en-US" sz="5715" dirty="0"/>
              <a:t>A sequence of 1000 four digit numbers has been generated and analysis indicates the following combinations with frequencies: </a:t>
            </a:r>
            <a:endParaRPr sz="5715" dirty="0"/>
          </a:p>
          <a:p>
            <a:pPr marL="274320" lvl="0" indent="0" algn="l" rtl="0">
              <a:spcBef>
                <a:spcPts val="481"/>
              </a:spcBef>
              <a:spcAft>
                <a:spcPts val="0"/>
              </a:spcAft>
              <a:buClr>
                <a:schemeClr val="dk1"/>
              </a:buClr>
              <a:buSzPts val="275"/>
              <a:buFont typeface="Arial"/>
              <a:buNone/>
            </a:pPr>
            <a:r>
              <a:rPr lang="en-US" sz="5715" dirty="0"/>
              <a:t>Combination (</a:t>
            </a:r>
            <a:r>
              <a:rPr lang="en-US" sz="5715" dirty="0" err="1"/>
              <a:t>i</a:t>
            </a:r>
            <a:r>
              <a:rPr lang="en-US" sz="5715" dirty="0"/>
              <a:t>) 	Observed Frequency{O </a:t>
            </a:r>
            <a:r>
              <a:rPr lang="en-US" sz="5715" dirty="0" err="1"/>
              <a:t>i</a:t>
            </a:r>
            <a:r>
              <a:rPr lang="en-US" sz="5715" dirty="0"/>
              <a:t> } </a:t>
            </a:r>
            <a:endParaRPr sz="5715" dirty="0"/>
          </a:p>
          <a:p>
            <a:pPr marL="274320" lvl="0" indent="0" algn="l" rtl="0">
              <a:spcBef>
                <a:spcPts val="481"/>
              </a:spcBef>
              <a:spcAft>
                <a:spcPts val="0"/>
              </a:spcAft>
              <a:buClr>
                <a:schemeClr val="dk1"/>
              </a:buClr>
              <a:buSzPts val="275"/>
              <a:buFont typeface="Arial"/>
              <a:buNone/>
            </a:pPr>
            <a:r>
              <a:rPr lang="en-US" sz="5715" dirty="0"/>
              <a:t>Four different digits	 570 </a:t>
            </a:r>
            <a:endParaRPr sz="5715" dirty="0"/>
          </a:p>
          <a:p>
            <a:pPr marL="274320" lvl="0" indent="0" algn="l" rtl="0">
              <a:spcBef>
                <a:spcPts val="481"/>
              </a:spcBef>
              <a:spcAft>
                <a:spcPts val="0"/>
              </a:spcAft>
              <a:buClr>
                <a:schemeClr val="dk1"/>
              </a:buClr>
              <a:buSzPts val="275"/>
              <a:buFont typeface="Arial"/>
              <a:buNone/>
            </a:pPr>
            <a:r>
              <a:rPr lang="en-US" sz="5715"/>
              <a:t>One pair		</a:t>
            </a:r>
            <a:r>
              <a:rPr lang="en-US" sz="5715" smtClean="0"/>
              <a:t> </a:t>
            </a:r>
            <a:r>
              <a:rPr lang="en-US" sz="5715"/>
              <a:t>380 </a:t>
            </a:r>
            <a:endParaRPr sz="5715"/>
          </a:p>
          <a:p>
            <a:pPr marL="274320" lvl="0" indent="0" algn="l" rtl="0">
              <a:spcBef>
                <a:spcPts val="481"/>
              </a:spcBef>
              <a:spcAft>
                <a:spcPts val="0"/>
              </a:spcAft>
              <a:buClr>
                <a:schemeClr val="dk1"/>
              </a:buClr>
              <a:buSzPts val="275"/>
              <a:buFont typeface="Arial"/>
              <a:buNone/>
            </a:pPr>
            <a:r>
              <a:rPr lang="en-US" sz="5715" dirty="0"/>
              <a:t>Two pairs 		34 </a:t>
            </a:r>
            <a:endParaRPr sz="5715" dirty="0"/>
          </a:p>
          <a:p>
            <a:pPr marL="274320" lvl="0" indent="0" algn="l" rtl="0">
              <a:spcBef>
                <a:spcPts val="481"/>
              </a:spcBef>
              <a:spcAft>
                <a:spcPts val="0"/>
              </a:spcAft>
              <a:buClr>
                <a:schemeClr val="dk1"/>
              </a:buClr>
              <a:buSzPts val="275"/>
              <a:buFont typeface="Arial"/>
              <a:buNone/>
            </a:pPr>
            <a:r>
              <a:rPr lang="en-US" sz="5715" dirty="0"/>
              <a:t>Three like digits		  15</a:t>
            </a:r>
            <a:endParaRPr sz="5715" dirty="0"/>
          </a:p>
          <a:p>
            <a:pPr marL="274320" lvl="0" indent="0" algn="l" rtl="0">
              <a:spcBef>
                <a:spcPts val="481"/>
              </a:spcBef>
              <a:spcAft>
                <a:spcPts val="0"/>
              </a:spcAft>
              <a:buClr>
                <a:schemeClr val="dk1"/>
              </a:buClr>
              <a:buSzPts val="275"/>
              <a:buFont typeface="Arial"/>
              <a:buNone/>
            </a:pPr>
            <a:r>
              <a:rPr lang="en-US" sz="5715" dirty="0"/>
              <a:t>Four like digits 		 1 </a:t>
            </a:r>
            <a:endParaRPr sz="5715" dirty="0"/>
          </a:p>
          <a:p>
            <a:pPr marL="274320" lvl="0" indent="0" algn="l" rtl="0">
              <a:spcBef>
                <a:spcPts val="481"/>
              </a:spcBef>
              <a:spcAft>
                <a:spcPts val="0"/>
              </a:spcAft>
              <a:buClr>
                <a:schemeClr val="dk1"/>
              </a:buClr>
              <a:buSzPts val="275"/>
              <a:buFont typeface="Arial"/>
              <a:buNone/>
            </a:pPr>
            <a:r>
              <a:rPr lang="en-US" sz="5715" dirty="0"/>
              <a:t>Based on poker test check whether the numbers are independent. Use c=0.10 and N=4 is 7.78 </a:t>
            </a:r>
            <a:endParaRPr sz="5715" dirty="0"/>
          </a:p>
          <a:p>
            <a:pPr marL="457200" lvl="0" indent="0" algn="l" rtl="0">
              <a:spcBef>
                <a:spcPts val="481"/>
              </a:spcBef>
              <a:spcAft>
                <a:spcPts val="0"/>
              </a:spcAft>
              <a:buNone/>
            </a:pPr>
            <a:endParaRPr sz="5715" dirty="0"/>
          </a:p>
          <a:p>
            <a:pPr marL="457200" lvl="0" indent="-319331" algn="l" rtl="0">
              <a:spcBef>
                <a:spcPts val="481"/>
              </a:spcBef>
              <a:spcAft>
                <a:spcPts val="0"/>
              </a:spcAft>
              <a:buSzPct val="100000"/>
              <a:buChar char="●"/>
            </a:pPr>
            <a:r>
              <a:rPr lang="en-US" sz="5715" dirty="0"/>
              <a:t>Write an algorithm for Gap test for testing the independence of random numbers.</a:t>
            </a:r>
            <a:endParaRPr sz="5715" dirty="0"/>
          </a:p>
          <a:p>
            <a:pPr marL="274320" lvl="0" indent="0" algn="l" rtl="0">
              <a:spcBef>
                <a:spcPts val="481"/>
              </a:spcBef>
              <a:spcAft>
                <a:spcPts val="0"/>
              </a:spcAft>
              <a:buClr>
                <a:schemeClr val="dk1"/>
              </a:buClr>
              <a:buSzPts val="275"/>
              <a:buFont typeface="Arial"/>
              <a:buNone/>
            </a:pPr>
            <a:endParaRPr sz="5715" dirty="0"/>
          </a:p>
          <a:p>
            <a:pPr marL="274320" lvl="0" indent="0" algn="l" rtl="0">
              <a:spcBef>
                <a:spcPts val="481"/>
              </a:spcBef>
              <a:spcAft>
                <a:spcPts val="0"/>
              </a:spcAft>
              <a:buClr>
                <a:schemeClr val="dk1"/>
              </a:buClr>
              <a:buSzPts val="275"/>
              <a:buFont typeface="Arial"/>
              <a:buNone/>
            </a:pPr>
            <a:r>
              <a:rPr lang="en-US" sz="5715" dirty="0"/>
              <a:t>Solve all the questions from Chapter 5 from old question collection.</a:t>
            </a:r>
            <a:endParaRPr sz="5715" dirty="0"/>
          </a:p>
          <a:p>
            <a:pPr marL="274320" lvl="0" indent="0" algn="l" rtl="0">
              <a:spcBef>
                <a:spcPts val="481"/>
              </a:spcBef>
              <a:spcAft>
                <a:spcPts val="0"/>
              </a:spcAft>
              <a:buClr>
                <a:schemeClr val="dk1"/>
              </a:buClr>
              <a:buSzPts val="275"/>
              <a:buFont typeface="Arial"/>
              <a:buNone/>
            </a:pPr>
            <a:endParaRPr sz="5715" dirty="0"/>
          </a:p>
          <a:p>
            <a:pPr marL="514350" lvl="0" indent="-369267" algn="l" rtl="0">
              <a:spcBef>
                <a:spcPts val="481"/>
              </a:spcBef>
              <a:spcAft>
                <a:spcPts val="0"/>
              </a:spcAft>
              <a:buClr>
                <a:schemeClr val="dk1"/>
              </a:buClr>
              <a:buSzPct val="43216"/>
              <a:buFont typeface="Calibri"/>
              <a:buNone/>
            </a:pPr>
            <a:r>
              <a:rPr lang="en-US" sz="5715" dirty="0"/>
              <a:t>PU Stamped table link: </a:t>
            </a:r>
            <a:r>
              <a:rPr lang="en-US" sz="5715" u="sng" dirty="0">
                <a:solidFill>
                  <a:schemeClr val="hlink"/>
                </a:solidFill>
                <a:hlinkClick r:id="rId3"/>
              </a:rPr>
              <a:t>https://drive.google.com/file/d/1_7r6JMCiOuo3ozd6gm4g3_si5xrOHdBK/view?usp=drive_link</a:t>
            </a:r>
            <a:r>
              <a:rPr lang="en-US" sz="5715" dirty="0"/>
              <a:t>  </a:t>
            </a:r>
            <a:endParaRPr sz="5715" dirty="0"/>
          </a:p>
          <a:p>
            <a:pPr marL="514350" lvl="0" indent="-369267" algn="l" rtl="0">
              <a:spcBef>
                <a:spcPts val="481"/>
              </a:spcBef>
              <a:spcAft>
                <a:spcPts val="0"/>
              </a:spcAft>
              <a:buClr>
                <a:schemeClr val="dk1"/>
              </a:buClr>
              <a:buSzPct val="43216"/>
              <a:buFont typeface="Calibri"/>
              <a:buNone/>
            </a:pPr>
            <a:endParaRPr sz="5715" dirty="0"/>
          </a:p>
          <a:p>
            <a:pPr marL="274320" lvl="0" indent="0" algn="l" rtl="0">
              <a:spcBef>
                <a:spcPts val="481"/>
              </a:spcBef>
              <a:spcAft>
                <a:spcPts val="0"/>
              </a:spcAft>
              <a:buClr>
                <a:schemeClr val="dk1"/>
              </a:buClr>
              <a:buSzPts val="275"/>
              <a:buFont typeface="Arial"/>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5715" dirty="0"/>
          </a:p>
          <a:p>
            <a:pPr marL="0" lvl="0" indent="0" algn="l" rtl="0">
              <a:spcBef>
                <a:spcPts val="360"/>
              </a:spcBef>
              <a:spcAft>
                <a:spcPts val="0"/>
              </a:spcAft>
              <a:buNone/>
            </a:pPr>
            <a:endParaRPr sz="4600"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3170</Words>
  <Application>Microsoft Office PowerPoint</Application>
  <PresentationFormat>On-screen Show (4:3)</PresentationFormat>
  <Paragraphs>454</Paragraphs>
  <Slides>67</Slides>
  <Notes>67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67</vt:i4>
      </vt:variant>
    </vt:vector>
  </HeadingPairs>
  <TitlesOfParts>
    <vt:vector size="74" baseType="lpstr">
      <vt:lpstr>Calibri</vt:lpstr>
      <vt:lpstr>Constantia</vt:lpstr>
      <vt:lpstr>Times New Roman</vt:lpstr>
      <vt:lpstr>Arial</vt:lpstr>
      <vt:lpstr>Noto Sans Symbols</vt:lpstr>
      <vt:lpstr>Flow</vt:lpstr>
      <vt:lpstr>Flow</vt:lpstr>
      <vt:lpstr>Chapter 5 Probability Concept and Random Number Generation</vt:lpstr>
      <vt:lpstr>Probability Concept</vt:lpstr>
      <vt:lpstr>Probability Concept..</vt:lpstr>
      <vt:lpstr>Probability Concept..</vt:lpstr>
      <vt:lpstr>PowerPoint Presentation</vt:lpstr>
      <vt:lpstr>GRAPHICAL REPRESENTATION OF PROBABILITY MASS FUNCTION </vt:lpstr>
      <vt:lpstr>CONTINUOUS PROBABILITY FUNCTION</vt:lpstr>
      <vt:lpstr>Random number and its Properties </vt:lpstr>
      <vt:lpstr>Computer generation of random numbers</vt:lpstr>
      <vt:lpstr>Linear congruence generation  </vt:lpstr>
      <vt:lpstr>Linear congruence generation….</vt:lpstr>
      <vt:lpstr>PowerPoint Presentation</vt:lpstr>
      <vt:lpstr>PowerPoint Presentation</vt:lpstr>
      <vt:lpstr>PowerPoint Presentation</vt:lpstr>
      <vt:lpstr>PowerPoint Presentation</vt:lpstr>
      <vt:lpstr>Period of Random no. Generator</vt:lpstr>
      <vt:lpstr>Exercise</vt:lpstr>
      <vt:lpstr>PowerPoint Presentation</vt:lpstr>
      <vt:lpstr>MID-SQUARE METHOD</vt:lpstr>
      <vt:lpstr>PowerPoint Presentation</vt:lpstr>
      <vt:lpstr>PowerPoint Presentation</vt:lpstr>
      <vt:lpstr>TESTS FOR RANDOM NUMBERS </vt:lpstr>
      <vt:lpstr>PowerPoint Presentation</vt:lpstr>
      <vt:lpstr>KOLMOGOROV SMIRNOV </vt:lpstr>
      <vt:lpstr>KOLMOGOROV SMIRNOV</vt:lpstr>
      <vt:lpstr>KOLMOGOROV SMIRNOV</vt:lpstr>
      <vt:lpstr>KOLMOGOROV SMIRNOV</vt:lpstr>
      <vt:lpstr>PowerPoint Presentation</vt:lpstr>
      <vt:lpstr>PowerPoint Presentation</vt:lpstr>
      <vt:lpstr>Kolmogorov Smirnov Table</vt:lpstr>
      <vt:lpstr>Chi-Square Test</vt:lpstr>
      <vt:lpstr>Chi-Square Test</vt:lpstr>
      <vt:lpstr>PowerPoint Presentation</vt:lpstr>
      <vt:lpstr>PowerPoint Presentation</vt:lpstr>
      <vt:lpstr>PowerPoint Presentation</vt:lpstr>
      <vt:lpstr>PowerPoint Presentation</vt:lpstr>
      <vt:lpstr>                Run Test (Test for independence)   </vt:lpstr>
      <vt:lpstr>Run Test cont..</vt:lpstr>
      <vt:lpstr>Run Test</vt:lpstr>
      <vt:lpstr>Run Test cont…</vt:lpstr>
      <vt:lpstr>PowerPoint Presentation</vt:lpstr>
      <vt:lpstr>Run Test cont..</vt:lpstr>
      <vt:lpstr>Run Test</vt:lpstr>
      <vt:lpstr>Run Test</vt:lpstr>
      <vt:lpstr>Tests for Auto-correlation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Poker Test</vt:lpstr>
      <vt:lpstr>PowerPoint Presentation</vt:lpstr>
      <vt:lpstr>PowerPoint Presentation</vt:lpstr>
      <vt:lpstr>PowerPoint Presentation</vt:lpstr>
      <vt:lpstr>Poker for three digits number</vt:lpstr>
      <vt:lpstr>PowerPoint Presentation</vt:lpstr>
      <vt:lpstr>Gap Test</vt:lpstr>
      <vt:lpstr>Gap Test Algorithm</vt:lpstr>
      <vt:lpstr>PowerPoint Presentation</vt:lpstr>
      <vt:lpstr>PowerPoint Presentation</vt:lpstr>
      <vt:lpstr>PowerPoint Presentation</vt:lpstr>
      <vt:lpstr>PowerPoint Presentation</vt:lpstr>
      <vt:lpstr>Assignment</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Probability Concept and Random Number Generation</dc:title>
  <dc:creator>usre</dc:creator>
  <cp:lastModifiedBy>USER</cp:lastModifiedBy>
  <cp:revision>6</cp:revision>
  <dcterms:created xsi:type="dcterms:W3CDTF">2017-07-09T06:16:34Z</dcterms:created>
  <dcterms:modified xsi:type="dcterms:W3CDTF">2026-05-21T08:51:27Z</dcterms:modified>
</cp:coreProperties>
</file>