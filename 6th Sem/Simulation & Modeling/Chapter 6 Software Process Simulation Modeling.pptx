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DA1A802-2FCD-4425-987D-F31919185067}"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7EAF11-797A-4414-986D-857999D5E880}" type="slidenum">
              <a:rPr lang="en-US" smtClean="0"/>
              <a:t>‹#›</a:t>
            </a:fld>
            <a:endParaRPr lang="en-US"/>
          </a:p>
        </p:txBody>
      </p:sp>
    </p:spTree>
    <p:extLst>
      <p:ext uri="{BB962C8B-B14F-4D97-AF65-F5344CB8AC3E}">
        <p14:creationId xmlns:p14="http://schemas.microsoft.com/office/powerpoint/2010/main" val="13936536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DA1A802-2FCD-4425-987D-F31919185067}"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7EAF11-797A-4414-986D-857999D5E880}" type="slidenum">
              <a:rPr lang="en-US" smtClean="0"/>
              <a:t>‹#›</a:t>
            </a:fld>
            <a:endParaRPr lang="en-US"/>
          </a:p>
        </p:txBody>
      </p:sp>
    </p:spTree>
    <p:extLst>
      <p:ext uri="{BB962C8B-B14F-4D97-AF65-F5344CB8AC3E}">
        <p14:creationId xmlns:p14="http://schemas.microsoft.com/office/powerpoint/2010/main" val="2652421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DA1A802-2FCD-4425-987D-F31919185067}"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7EAF11-797A-4414-986D-857999D5E880}" type="slidenum">
              <a:rPr lang="en-US" smtClean="0"/>
              <a:t>‹#›</a:t>
            </a:fld>
            <a:endParaRPr lang="en-US"/>
          </a:p>
        </p:txBody>
      </p:sp>
    </p:spTree>
    <p:extLst>
      <p:ext uri="{BB962C8B-B14F-4D97-AF65-F5344CB8AC3E}">
        <p14:creationId xmlns:p14="http://schemas.microsoft.com/office/powerpoint/2010/main" val="19005522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DA1A802-2FCD-4425-987D-F31919185067}" type="datetimeFigureOut">
              <a:rPr lang="en-US" smtClean="0"/>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7EAF11-797A-4414-986D-857999D5E880}" type="slidenum">
              <a:rPr lang="en-US" smtClean="0"/>
              <a:t>‹#›</a:t>
            </a:fld>
            <a:endParaRPr lang="en-US"/>
          </a:p>
        </p:txBody>
      </p:sp>
    </p:spTree>
    <p:extLst>
      <p:ext uri="{BB962C8B-B14F-4D97-AF65-F5344CB8AC3E}">
        <p14:creationId xmlns:p14="http://schemas.microsoft.com/office/powerpoint/2010/main" val="1279175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DA1A802-2FCD-4425-987D-F31919185067}" type="datetimeFigureOut">
              <a:rPr lang="en-US" smtClean="0"/>
              <a:t>6/27/2026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7EAF11-797A-4414-986D-857999D5E880}" type="slidenum">
              <a:rPr lang="en-US" smtClean="0"/>
              <a:t>‹#›</a:t>
            </a:fld>
            <a:endParaRPr lang="en-US"/>
          </a:p>
        </p:txBody>
      </p:sp>
    </p:spTree>
    <p:extLst>
      <p:ext uri="{BB962C8B-B14F-4D97-AF65-F5344CB8AC3E}">
        <p14:creationId xmlns:p14="http://schemas.microsoft.com/office/powerpoint/2010/main" val="2586312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DA1A802-2FCD-4425-987D-F31919185067}" type="datetimeFigureOut">
              <a:rPr lang="en-US" smtClean="0"/>
              <a:t>6/27/2026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7EAF11-797A-4414-986D-857999D5E880}" type="slidenum">
              <a:rPr lang="en-US" smtClean="0"/>
              <a:t>‹#›</a:t>
            </a:fld>
            <a:endParaRPr lang="en-US"/>
          </a:p>
        </p:txBody>
      </p:sp>
    </p:spTree>
    <p:extLst>
      <p:ext uri="{BB962C8B-B14F-4D97-AF65-F5344CB8AC3E}">
        <p14:creationId xmlns:p14="http://schemas.microsoft.com/office/powerpoint/2010/main" val="2813902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A1A802-2FCD-4425-987D-F31919185067}" type="datetimeFigureOut">
              <a:rPr lang="en-US" smtClean="0"/>
              <a:t>6/27/2026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7EAF11-797A-4414-986D-857999D5E880}" type="slidenum">
              <a:rPr lang="en-US" smtClean="0"/>
              <a:t>‹#›</a:t>
            </a:fld>
            <a:endParaRPr lang="en-US"/>
          </a:p>
        </p:txBody>
      </p:sp>
    </p:spTree>
    <p:extLst>
      <p:ext uri="{BB962C8B-B14F-4D97-AF65-F5344CB8AC3E}">
        <p14:creationId xmlns:p14="http://schemas.microsoft.com/office/powerpoint/2010/main" val="955033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DA1A802-2FCD-4425-987D-F31919185067}" type="datetimeFigureOut">
              <a:rPr lang="en-US" smtClean="0"/>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7EAF11-797A-4414-986D-857999D5E880}" type="slidenum">
              <a:rPr lang="en-US" smtClean="0"/>
              <a:t>‹#›</a:t>
            </a:fld>
            <a:endParaRPr lang="en-US"/>
          </a:p>
        </p:txBody>
      </p:sp>
    </p:spTree>
    <p:extLst>
      <p:ext uri="{BB962C8B-B14F-4D97-AF65-F5344CB8AC3E}">
        <p14:creationId xmlns:p14="http://schemas.microsoft.com/office/powerpoint/2010/main" val="3724737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DA1A802-2FCD-4425-987D-F31919185067}" type="datetimeFigureOut">
              <a:rPr lang="en-US" smtClean="0"/>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7EAF11-797A-4414-986D-857999D5E880}" type="slidenum">
              <a:rPr lang="en-US" smtClean="0"/>
              <a:t>‹#›</a:t>
            </a:fld>
            <a:endParaRPr lang="en-US"/>
          </a:p>
        </p:txBody>
      </p:sp>
    </p:spTree>
    <p:extLst>
      <p:ext uri="{BB962C8B-B14F-4D97-AF65-F5344CB8AC3E}">
        <p14:creationId xmlns:p14="http://schemas.microsoft.com/office/powerpoint/2010/main" val="33102122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DA1A802-2FCD-4425-987D-F31919185067}"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7EAF11-797A-4414-986D-857999D5E880}" type="slidenum">
              <a:rPr lang="en-US" smtClean="0"/>
              <a:t>‹#›</a:t>
            </a:fld>
            <a:endParaRPr lang="en-US"/>
          </a:p>
        </p:txBody>
      </p:sp>
    </p:spTree>
    <p:extLst>
      <p:ext uri="{BB962C8B-B14F-4D97-AF65-F5344CB8AC3E}">
        <p14:creationId xmlns:p14="http://schemas.microsoft.com/office/powerpoint/2010/main" val="10643822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DA1A802-2FCD-4425-987D-F31919185067}"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7EAF11-797A-4414-986D-857999D5E880}" type="slidenum">
              <a:rPr lang="en-US" smtClean="0"/>
              <a:t>‹#›</a:t>
            </a:fld>
            <a:endParaRPr lang="en-US"/>
          </a:p>
        </p:txBody>
      </p:sp>
    </p:spTree>
    <p:extLst>
      <p:ext uri="{BB962C8B-B14F-4D97-AF65-F5344CB8AC3E}">
        <p14:creationId xmlns:p14="http://schemas.microsoft.com/office/powerpoint/2010/main" val="25101978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A1A802-2FCD-4425-987D-F31919185067}" type="datetimeFigureOut">
              <a:rPr lang="en-US" smtClean="0"/>
              <a:t>6/27/2026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7EAF11-797A-4414-986D-857999D5E880}" type="slidenum">
              <a:rPr lang="en-US" smtClean="0"/>
              <a:t>‹#›</a:t>
            </a:fld>
            <a:endParaRPr lang="en-US"/>
          </a:p>
        </p:txBody>
      </p:sp>
    </p:spTree>
    <p:extLst>
      <p:ext uri="{BB962C8B-B14F-4D97-AF65-F5344CB8AC3E}">
        <p14:creationId xmlns:p14="http://schemas.microsoft.com/office/powerpoint/2010/main" val="24961990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Software Process Simulation Modeling</a:t>
            </a:r>
            <a:endParaRPr lang="en-US" b="1" dirty="0"/>
          </a:p>
        </p:txBody>
      </p:sp>
    </p:spTree>
    <p:extLst>
      <p:ext uri="{BB962C8B-B14F-4D97-AF65-F5344CB8AC3E}">
        <p14:creationId xmlns:p14="http://schemas.microsoft.com/office/powerpoint/2010/main" val="18009979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Process Simulation Modeling</a:t>
            </a:r>
            <a:endParaRPr lang="en-US" dirty="0"/>
          </a:p>
        </p:txBody>
      </p:sp>
      <p:sp>
        <p:nvSpPr>
          <p:cNvPr id="3" name="Content Placeholder 2"/>
          <p:cNvSpPr>
            <a:spLocks noGrp="1"/>
          </p:cNvSpPr>
          <p:nvPr>
            <p:ph idx="1"/>
          </p:nvPr>
        </p:nvSpPr>
        <p:spPr/>
        <p:txBody>
          <a:bodyPr/>
          <a:lstStyle/>
          <a:p>
            <a:r>
              <a:rPr lang="en-US" dirty="0" smtClean="0"/>
              <a:t>Software Process Simulation Modeling (SPSM) is the use of computational algorithms and mathematical representations to imitate the dynamic behavior of software development processes. It enables project managers to test "what-if" scenarios, optimize workflows, predict project outcomes, and mitigate risks in a virtual, risk-free environment.</a:t>
            </a:r>
          </a:p>
          <a:p>
            <a:endParaRPr lang="en-US" dirty="0"/>
          </a:p>
        </p:txBody>
      </p:sp>
    </p:spTree>
    <p:extLst>
      <p:ext uri="{BB962C8B-B14F-4D97-AF65-F5344CB8AC3E}">
        <p14:creationId xmlns:p14="http://schemas.microsoft.com/office/powerpoint/2010/main" val="32134341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When to Apply It</a:t>
            </a:r>
            <a:endParaRPr lang="en-US" dirty="0"/>
          </a:p>
        </p:txBody>
      </p:sp>
      <p:sp>
        <p:nvSpPr>
          <p:cNvPr id="3" name="Content Placeholder 2"/>
          <p:cNvSpPr>
            <a:spLocks noGrp="1"/>
          </p:cNvSpPr>
          <p:nvPr>
            <p:ph idx="1"/>
          </p:nvPr>
        </p:nvSpPr>
        <p:spPr/>
        <p:txBody>
          <a:bodyPr/>
          <a:lstStyle/>
          <a:p>
            <a:r>
              <a:rPr lang="en-US" dirty="0" smtClean="0"/>
              <a:t>SPSM can be adapted for a wide variety of software scopes, ranging from micro-processes (like an individual sprint) to long-term macro-projects (like a multi-year product evolution). It is highly beneficial when analytic models fall short due to complex, cascading decisions (e.g., assessing whether the cost of hiring new developers outweighs the time spent training them)</a:t>
            </a:r>
            <a:endParaRPr lang="en-US" dirty="0"/>
          </a:p>
        </p:txBody>
      </p:sp>
    </p:spTree>
    <p:extLst>
      <p:ext uri="{BB962C8B-B14F-4D97-AF65-F5344CB8AC3E}">
        <p14:creationId xmlns:p14="http://schemas.microsoft.com/office/powerpoint/2010/main" val="16135881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0635" y="103868"/>
            <a:ext cx="10515600" cy="457835"/>
          </a:xfrm>
        </p:spPr>
        <p:txBody>
          <a:bodyPr>
            <a:normAutofit fontScale="90000"/>
          </a:bodyPr>
          <a:lstStyle/>
          <a:p>
            <a:r>
              <a:rPr lang="en-US" b="1" dirty="0" smtClean="0"/>
              <a:t>Software Development As A Process </a:t>
            </a:r>
            <a:endParaRPr lang="en-US" b="1" dirty="0"/>
          </a:p>
        </p:txBody>
      </p:sp>
      <p:sp>
        <p:nvSpPr>
          <p:cNvPr id="3" name="Content Placeholder 2"/>
          <p:cNvSpPr>
            <a:spLocks noGrp="1"/>
          </p:cNvSpPr>
          <p:nvPr>
            <p:ph idx="1"/>
          </p:nvPr>
        </p:nvSpPr>
        <p:spPr>
          <a:xfrm>
            <a:off x="418011" y="444137"/>
            <a:ext cx="10935789" cy="6165669"/>
          </a:xfrm>
        </p:spPr>
        <p:txBody>
          <a:bodyPr>
            <a:noAutofit/>
          </a:bodyPr>
          <a:lstStyle/>
          <a:p>
            <a:r>
              <a:rPr lang="en-US" sz="1600" dirty="0" smtClean="0">
                <a:latin typeface="Times New Roman" panose="02020603050405020304" pitchFamily="18" charset="0"/>
                <a:cs typeface="Times New Roman" panose="02020603050405020304" pitchFamily="18" charset="0"/>
              </a:rPr>
              <a:t>In </a:t>
            </a:r>
            <a:r>
              <a:rPr lang="en-US" sz="1600" b="1" dirty="0" smtClean="0">
                <a:latin typeface="Times New Roman" panose="02020603050405020304" pitchFamily="18" charset="0"/>
                <a:cs typeface="Times New Roman" panose="02020603050405020304" pitchFamily="18" charset="0"/>
              </a:rPr>
              <a:t>simulation modeling</a:t>
            </a:r>
            <a:r>
              <a:rPr lang="en-US" sz="1600" dirty="0" smtClean="0">
                <a:latin typeface="Times New Roman" panose="02020603050405020304" pitchFamily="18" charset="0"/>
                <a:cs typeface="Times New Roman" panose="02020603050405020304" pitchFamily="18" charset="0"/>
              </a:rPr>
              <a:t>, </a:t>
            </a:r>
            <a:r>
              <a:rPr lang="en-US" sz="1600" b="1" dirty="0" smtClean="0">
                <a:latin typeface="Times New Roman" panose="02020603050405020304" pitchFamily="18" charset="0"/>
                <a:cs typeface="Times New Roman" panose="02020603050405020304" pitchFamily="18" charset="0"/>
              </a:rPr>
              <a:t>software development as a process</a:t>
            </a:r>
            <a:r>
              <a:rPr lang="en-US" sz="1600" dirty="0" smtClean="0">
                <a:latin typeface="Times New Roman" panose="02020603050405020304" pitchFamily="18" charset="0"/>
                <a:cs typeface="Times New Roman" panose="02020603050405020304" pitchFamily="18" charset="0"/>
              </a:rPr>
              <a:t> means developing a simulation software/system through a structured series of stages to represent, analyze, and improve a real-world system.</a:t>
            </a:r>
          </a:p>
          <a:p>
            <a:r>
              <a:rPr lang="en-US" sz="1600" dirty="0" smtClean="0">
                <a:latin typeface="Times New Roman" panose="02020603050405020304" pitchFamily="18" charset="0"/>
                <a:cs typeface="Times New Roman" panose="02020603050405020304" pitchFamily="18" charset="0"/>
              </a:rPr>
              <a:t>A typical </a:t>
            </a:r>
            <a:r>
              <a:rPr lang="en-US" sz="1600" b="1" dirty="0" smtClean="0">
                <a:latin typeface="Times New Roman" panose="02020603050405020304" pitchFamily="18" charset="0"/>
                <a:cs typeface="Times New Roman" panose="02020603050405020304" pitchFamily="18" charset="0"/>
              </a:rPr>
              <a:t>software development process for simulation modeling</a:t>
            </a:r>
            <a:r>
              <a:rPr lang="en-US" sz="1600" dirty="0" smtClean="0">
                <a:latin typeface="Times New Roman" panose="02020603050405020304" pitchFamily="18" charset="0"/>
                <a:cs typeface="Times New Roman" panose="02020603050405020304" pitchFamily="18" charset="0"/>
              </a:rPr>
              <a:t> includes:</a:t>
            </a:r>
          </a:p>
          <a:p>
            <a:pPr marL="0" indent="0">
              <a:buNone/>
            </a:pPr>
            <a:r>
              <a:rPr lang="en-US" sz="1600" b="1" dirty="0" smtClean="0">
                <a:latin typeface="Times New Roman" panose="02020603050405020304" pitchFamily="18" charset="0"/>
                <a:cs typeface="Times New Roman" panose="02020603050405020304" pitchFamily="18" charset="0"/>
              </a:rPr>
              <a:t>1. Problem Formulation</a:t>
            </a:r>
          </a:p>
          <a:p>
            <a:r>
              <a:rPr lang="en-US" sz="1600" dirty="0" smtClean="0">
                <a:latin typeface="Times New Roman" panose="02020603050405020304" pitchFamily="18" charset="0"/>
                <a:cs typeface="Times New Roman" panose="02020603050405020304" pitchFamily="18" charset="0"/>
              </a:rPr>
              <a:t>Identify the real-world system to be simulated. </a:t>
            </a:r>
          </a:p>
          <a:p>
            <a:r>
              <a:rPr lang="en-US" sz="1600" dirty="0" smtClean="0">
                <a:latin typeface="Times New Roman" panose="02020603050405020304" pitchFamily="18" charset="0"/>
                <a:cs typeface="Times New Roman" panose="02020603050405020304" pitchFamily="18" charset="0"/>
              </a:rPr>
              <a:t>Define objectives, scope, assumptions, and performance measures. </a:t>
            </a:r>
          </a:p>
          <a:p>
            <a:r>
              <a:rPr lang="en-US" sz="1600" dirty="0" smtClean="0">
                <a:latin typeface="Times New Roman" panose="02020603050405020304" pitchFamily="18" charset="0"/>
                <a:cs typeface="Times New Roman" panose="02020603050405020304" pitchFamily="18" charset="0"/>
              </a:rPr>
              <a:t>Example: Simulating a bank queue to reduce customer waiting time. </a:t>
            </a:r>
          </a:p>
          <a:p>
            <a:pPr marL="0" indent="0">
              <a:buNone/>
            </a:pPr>
            <a:r>
              <a:rPr lang="en-US" sz="1600" b="1" dirty="0" smtClean="0">
                <a:latin typeface="Times New Roman" panose="02020603050405020304" pitchFamily="18" charset="0"/>
                <a:cs typeface="Times New Roman" panose="02020603050405020304" pitchFamily="18" charset="0"/>
              </a:rPr>
              <a:t>2. System Analysis</a:t>
            </a:r>
          </a:p>
          <a:p>
            <a:r>
              <a:rPr lang="en-US" sz="1600" dirty="0" smtClean="0">
                <a:latin typeface="Times New Roman" panose="02020603050405020304" pitchFamily="18" charset="0"/>
                <a:cs typeface="Times New Roman" panose="02020603050405020304" pitchFamily="18" charset="0"/>
              </a:rPr>
              <a:t>Study how the real system works. </a:t>
            </a:r>
          </a:p>
          <a:p>
            <a:r>
              <a:rPr lang="en-US" sz="1600" dirty="0" smtClean="0">
                <a:latin typeface="Times New Roman" panose="02020603050405020304" pitchFamily="18" charset="0"/>
                <a:cs typeface="Times New Roman" panose="02020603050405020304" pitchFamily="18" charset="0"/>
              </a:rPr>
              <a:t>Identify: </a:t>
            </a:r>
          </a:p>
          <a:p>
            <a:pPr lvl="1"/>
            <a:r>
              <a:rPr lang="en-US" sz="1400" dirty="0" smtClean="0">
                <a:latin typeface="Times New Roman" panose="02020603050405020304" pitchFamily="18" charset="0"/>
                <a:cs typeface="Times New Roman" panose="02020603050405020304" pitchFamily="18" charset="0"/>
              </a:rPr>
              <a:t>Inputs </a:t>
            </a:r>
          </a:p>
          <a:p>
            <a:pPr lvl="1"/>
            <a:r>
              <a:rPr lang="en-US" sz="1400" dirty="0" smtClean="0">
                <a:latin typeface="Times New Roman" panose="02020603050405020304" pitchFamily="18" charset="0"/>
                <a:cs typeface="Times New Roman" panose="02020603050405020304" pitchFamily="18" charset="0"/>
              </a:rPr>
              <a:t>Processes </a:t>
            </a:r>
          </a:p>
          <a:p>
            <a:pPr lvl="1"/>
            <a:r>
              <a:rPr lang="en-US" sz="1400" dirty="0" smtClean="0">
                <a:latin typeface="Times New Roman" panose="02020603050405020304" pitchFamily="18" charset="0"/>
                <a:cs typeface="Times New Roman" panose="02020603050405020304" pitchFamily="18" charset="0"/>
              </a:rPr>
              <a:t>Outputs </a:t>
            </a:r>
          </a:p>
          <a:p>
            <a:pPr lvl="1"/>
            <a:r>
              <a:rPr lang="en-US" sz="1400" dirty="0" smtClean="0">
                <a:latin typeface="Times New Roman" panose="02020603050405020304" pitchFamily="18" charset="0"/>
                <a:cs typeface="Times New Roman" panose="02020603050405020304" pitchFamily="18" charset="0"/>
              </a:rPr>
              <a:t>Relationships among components </a:t>
            </a:r>
          </a:p>
          <a:p>
            <a:pPr marL="0" indent="0">
              <a:buNone/>
            </a:pPr>
            <a:r>
              <a:rPr lang="en-US" sz="1600" b="1" dirty="0" smtClean="0">
                <a:latin typeface="Times New Roman" panose="02020603050405020304" pitchFamily="18" charset="0"/>
                <a:cs typeface="Times New Roman" panose="02020603050405020304" pitchFamily="18" charset="0"/>
              </a:rPr>
              <a:t>3. Model Design (Conceptual Modeling)</a:t>
            </a:r>
          </a:p>
          <a:p>
            <a:r>
              <a:rPr lang="en-US" sz="1600" dirty="0" smtClean="0">
                <a:latin typeface="Times New Roman" panose="02020603050405020304" pitchFamily="18" charset="0"/>
                <a:cs typeface="Times New Roman" panose="02020603050405020304" pitchFamily="18" charset="0"/>
              </a:rPr>
              <a:t>Create an abstract representation of the system. </a:t>
            </a:r>
          </a:p>
          <a:p>
            <a:r>
              <a:rPr lang="en-US" sz="1600" dirty="0" smtClean="0">
                <a:latin typeface="Times New Roman" panose="02020603050405020304" pitchFamily="18" charset="0"/>
                <a:cs typeface="Times New Roman" panose="02020603050405020304" pitchFamily="18" charset="0"/>
              </a:rPr>
              <a:t>Define: </a:t>
            </a:r>
          </a:p>
          <a:p>
            <a:pPr lvl="1"/>
            <a:r>
              <a:rPr lang="en-US" sz="1400" dirty="0" smtClean="0">
                <a:latin typeface="Times New Roman" panose="02020603050405020304" pitchFamily="18" charset="0"/>
                <a:cs typeface="Times New Roman" panose="02020603050405020304" pitchFamily="18" charset="0"/>
              </a:rPr>
              <a:t>Entities </a:t>
            </a:r>
          </a:p>
          <a:p>
            <a:pPr lvl="1"/>
            <a:r>
              <a:rPr lang="en-US" sz="1400" dirty="0" smtClean="0">
                <a:latin typeface="Times New Roman" panose="02020603050405020304" pitchFamily="18" charset="0"/>
                <a:cs typeface="Times New Roman" panose="02020603050405020304" pitchFamily="18" charset="0"/>
              </a:rPr>
              <a:t>Resources </a:t>
            </a:r>
          </a:p>
          <a:p>
            <a:pPr lvl="1"/>
            <a:r>
              <a:rPr lang="en-US" sz="1400" dirty="0" smtClean="0">
                <a:latin typeface="Times New Roman" panose="02020603050405020304" pitchFamily="18" charset="0"/>
                <a:cs typeface="Times New Roman" panose="02020603050405020304" pitchFamily="18" charset="0"/>
              </a:rPr>
              <a:t>Events </a:t>
            </a:r>
          </a:p>
          <a:p>
            <a:pPr lvl="1"/>
            <a:r>
              <a:rPr lang="en-US" sz="1400" dirty="0" smtClean="0">
                <a:latin typeface="Times New Roman" panose="02020603050405020304" pitchFamily="18" charset="0"/>
                <a:cs typeface="Times New Roman" panose="02020603050405020304" pitchFamily="18" charset="0"/>
              </a:rPr>
              <a:t>Variables </a:t>
            </a:r>
          </a:p>
          <a:p>
            <a:pPr lvl="1"/>
            <a:r>
              <a:rPr lang="en-US" sz="1400" dirty="0" smtClean="0">
                <a:latin typeface="Times New Roman" panose="02020603050405020304" pitchFamily="18" charset="0"/>
                <a:cs typeface="Times New Roman" panose="02020603050405020304" pitchFamily="18" charset="0"/>
              </a:rPr>
              <a:t>Rules and logic </a:t>
            </a:r>
          </a:p>
        </p:txBody>
      </p:sp>
    </p:spTree>
    <p:extLst>
      <p:ext uri="{BB962C8B-B14F-4D97-AF65-F5344CB8AC3E}">
        <p14:creationId xmlns:p14="http://schemas.microsoft.com/office/powerpoint/2010/main" val="12174512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95942"/>
            <a:ext cx="10515600" cy="6387737"/>
          </a:xfrm>
        </p:spPr>
        <p:txBody>
          <a:bodyPr>
            <a:normAutofit fontScale="62500" lnSpcReduction="20000"/>
          </a:bodyPr>
          <a:lstStyle/>
          <a:p>
            <a:pPr marL="0" indent="0">
              <a:buNone/>
            </a:pPr>
            <a:r>
              <a:rPr lang="en-US" b="1" dirty="0" smtClean="0"/>
              <a:t>4. Data Collection and Analysis</a:t>
            </a:r>
          </a:p>
          <a:p>
            <a:r>
              <a:rPr lang="en-US" dirty="0" smtClean="0"/>
              <a:t>Collect required real-world data. </a:t>
            </a:r>
          </a:p>
          <a:p>
            <a:r>
              <a:rPr lang="en-US" dirty="0" smtClean="0"/>
              <a:t>Determine input parameters and probability distributions. </a:t>
            </a:r>
          </a:p>
          <a:p>
            <a:r>
              <a:rPr lang="en-US" dirty="0" smtClean="0"/>
              <a:t>Example: </a:t>
            </a:r>
          </a:p>
          <a:p>
            <a:pPr lvl="1"/>
            <a:r>
              <a:rPr lang="en-US" dirty="0" smtClean="0"/>
              <a:t>Arrival rate of customers </a:t>
            </a:r>
          </a:p>
          <a:p>
            <a:pPr lvl="1"/>
            <a:r>
              <a:rPr lang="en-US" dirty="0" smtClean="0"/>
              <a:t>Service time distribution </a:t>
            </a:r>
          </a:p>
          <a:p>
            <a:pPr marL="0" indent="0">
              <a:buNone/>
            </a:pPr>
            <a:r>
              <a:rPr lang="en-US" b="1" dirty="0" smtClean="0"/>
              <a:t>5. Model Translation / Coding</a:t>
            </a:r>
          </a:p>
          <a:p>
            <a:r>
              <a:rPr lang="en-US" dirty="0" smtClean="0"/>
              <a:t>Convert the conceptual model into a computer simulation program. </a:t>
            </a:r>
          </a:p>
          <a:p>
            <a:r>
              <a:rPr lang="en-US" dirty="0" smtClean="0"/>
              <a:t>Use simulation languages/tools such as: </a:t>
            </a:r>
          </a:p>
          <a:p>
            <a:pPr lvl="1"/>
            <a:r>
              <a:rPr lang="en-US" dirty="0" smtClean="0"/>
              <a:t>MATLAB </a:t>
            </a:r>
          </a:p>
          <a:p>
            <a:pPr lvl="1"/>
            <a:r>
              <a:rPr lang="en-US" dirty="0" err="1" smtClean="0"/>
              <a:t>AnyLogic</a:t>
            </a:r>
            <a:r>
              <a:rPr lang="en-US" dirty="0" smtClean="0"/>
              <a:t> </a:t>
            </a:r>
          </a:p>
          <a:p>
            <a:pPr lvl="1"/>
            <a:r>
              <a:rPr lang="en-US" dirty="0" smtClean="0"/>
              <a:t>Arena Simulation Software </a:t>
            </a:r>
          </a:p>
          <a:p>
            <a:pPr lvl="1"/>
            <a:r>
              <a:rPr lang="en-US" dirty="0" smtClean="0"/>
              <a:t>Simul8 </a:t>
            </a:r>
          </a:p>
          <a:p>
            <a:pPr marL="0" indent="0">
              <a:buNone/>
            </a:pPr>
            <a:r>
              <a:rPr lang="en-US" b="1" dirty="0" smtClean="0"/>
              <a:t>6. Verification</a:t>
            </a:r>
          </a:p>
          <a:p>
            <a:r>
              <a:rPr lang="en-US" dirty="0" smtClean="0"/>
              <a:t>Check whether the simulation program is implemented correctly. </a:t>
            </a:r>
          </a:p>
          <a:p>
            <a:r>
              <a:rPr lang="en-US" dirty="0" smtClean="0"/>
              <a:t>Question:</a:t>
            </a:r>
            <a:br>
              <a:rPr lang="en-US" dirty="0" smtClean="0"/>
            </a:br>
            <a:r>
              <a:rPr lang="en-US" b="1" dirty="0" smtClean="0"/>
              <a:t>"Did we build the model correctly?"</a:t>
            </a:r>
            <a:r>
              <a:rPr lang="en-US" dirty="0" smtClean="0"/>
              <a:t> </a:t>
            </a:r>
          </a:p>
          <a:p>
            <a:pPr marL="0" indent="0">
              <a:buNone/>
            </a:pPr>
            <a:r>
              <a:rPr lang="en-US" b="1" dirty="0" smtClean="0"/>
              <a:t>7. Validation</a:t>
            </a:r>
          </a:p>
          <a:p>
            <a:r>
              <a:rPr lang="en-US" dirty="0" smtClean="0"/>
              <a:t>Compare simulation results with the real system. </a:t>
            </a:r>
          </a:p>
          <a:p>
            <a:r>
              <a:rPr lang="en-US" dirty="0" smtClean="0"/>
              <a:t>Check whether the model represents reality. </a:t>
            </a:r>
          </a:p>
          <a:p>
            <a:r>
              <a:rPr lang="en-US" dirty="0" smtClean="0"/>
              <a:t>Question:</a:t>
            </a:r>
            <a:br>
              <a:rPr lang="en-US" dirty="0" smtClean="0"/>
            </a:br>
            <a:r>
              <a:rPr lang="en-US" b="1" dirty="0" smtClean="0"/>
              <a:t>"Did we build the correct model?"</a:t>
            </a:r>
            <a:r>
              <a:rPr lang="en-US" dirty="0" smtClean="0"/>
              <a:t> </a:t>
            </a:r>
          </a:p>
        </p:txBody>
      </p:sp>
    </p:spTree>
    <p:extLst>
      <p:ext uri="{BB962C8B-B14F-4D97-AF65-F5344CB8AC3E}">
        <p14:creationId xmlns:p14="http://schemas.microsoft.com/office/powerpoint/2010/main" val="2423194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69817"/>
            <a:ext cx="10515600" cy="6007146"/>
          </a:xfrm>
        </p:spPr>
        <p:txBody>
          <a:bodyPr>
            <a:normAutofit lnSpcReduction="10000"/>
          </a:bodyPr>
          <a:lstStyle/>
          <a:p>
            <a:pPr marL="0" indent="0">
              <a:buNone/>
            </a:pPr>
            <a:r>
              <a:rPr lang="en-US" b="1" dirty="0" smtClean="0"/>
              <a:t>8. Experimentation</a:t>
            </a:r>
          </a:p>
          <a:p>
            <a:r>
              <a:rPr lang="en-US" dirty="0" smtClean="0"/>
              <a:t>Run simulation experiments with different conditions. </a:t>
            </a:r>
          </a:p>
          <a:p>
            <a:r>
              <a:rPr lang="en-US" dirty="0" smtClean="0"/>
              <a:t>Change parameters and observe outcomes. </a:t>
            </a:r>
          </a:p>
          <a:p>
            <a:r>
              <a:rPr lang="en-US" dirty="0" smtClean="0"/>
              <a:t>Example:</a:t>
            </a:r>
          </a:p>
          <a:p>
            <a:r>
              <a:rPr lang="en-US" dirty="0" smtClean="0"/>
              <a:t>Increase number of servers </a:t>
            </a:r>
          </a:p>
          <a:p>
            <a:r>
              <a:rPr lang="en-US" dirty="0" smtClean="0"/>
              <a:t>Change arrival rate </a:t>
            </a:r>
          </a:p>
          <a:p>
            <a:pPr marL="0" indent="0">
              <a:buNone/>
            </a:pPr>
            <a:r>
              <a:rPr lang="en-US" b="1" dirty="0" smtClean="0"/>
              <a:t>9. Result Analysis and Interpretation</a:t>
            </a:r>
          </a:p>
          <a:p>
            <a:r>
              <a:rPr lang="en-US" dirty="0" smtClean="0"/>
              <a:t>Analyze simulation outputs. </a:t>
            </a:r>
          </a:p>
          <a:p>
            <a:r>
              <a:rPr lang="en-US" dirty="0" smtClean="0"/>
              <a:t>Identify improvements and make decisions. </a:t>
            </a:r>
          </a:p>
          <a:p>
            <a:r>
              <a:rPr lang="en-US" b="1" dirty="0" smtClean="0"/>
              <a:t>10. Documentation and Implementation</a:t>
            </a:r>
          </a:p>
          <a:p>
            <a:r>
              <a:rPr lang="en-US" dirty="0" smtClean="0"/>
              <a:t>Prepare reports and documentation. </a:t>
            </a:r>
          </a:p>
          <a:p>
            <a:r>
              <a:rPr lang="en-US" dirty="0" smtClean="0"/>
              <a:t>Apply simulation findings to the real system.</a:t>
            </a:r>
          </a:p>
          <a:p>
            <a:endParaRPr lang="en-US" dirty="0" smtClean="0"/>
          </a:p>
          <a:p>
            <a:endParaRPr lang="en-US" dirty="0" smtClean="0"/>
          </a:p>
          <a:p>
            <a:endParaRPr lang="en-US" dirty="0"/>
          </a:p>
        </p:txBody>
      </p:sp>
    </p:spTree>
    <p:extLst>
      <p:ext uri="{BB962C8B-B14F-4D97-AF65-F5344CB8AC3E}">
        <p14:creationId xmlns:p14="http://schemas.microsoft.com/office/powerpoint/2010/main" val="2487485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22069"/>
            <a:ext cx="10515600" cy="5954894"/>
          </a:xfrm>
        </p:spPr>
        <p:txBody>
          <a:bodyPr>
            <a:noAutofit/>
          </a:bodyPr>
          <a:lstStyle/>
          <a:p>
            <a:pPr marL="0" indent="0">
              <a:buNone/>
            </a:pPr>
            <a:r>
              <a:rPr lang="en-US" sz="1600" b="1" dirty="0" smtClean="0"/>
              <a:t>Problem Definition</a:t>
            </a:r>
          </a:p>
          <a:p>
            <a:pPr marL="0" indent="0">
              <a:buNone/>
            </a:pPr>
            <a:r>
              <a:rPr lang="en-US" sz="1600" b="1" dirty="0" smtClean="0"/>
              <a:t>        ↓</a:t>
            </a:r>
          </a:p>
          <a:p>
            <a:pPr marL="0" indent="0">
              <a:buNone/>
            </a:pPr>
            <a:r>
              <a:rPr lang="en-US" sz="1600" b="1" dirty="0" smtClean="0"/>
              <a:t>System Analysis</a:t>
            </a:r>
          </a:p>
          <a:p>
            <a:pPr marL="0" indent="0">
              <a:buNone/>
            </a:pPr>
            <a:r>
              <a:rPr lang="en-US" sz="1600" b="1" dirty="0" smtClean="0"/>
              <a:t>        ↓</a:t>
            </a:r>
          </a:p>
          <a:p>
            <a:pPr marL="0" indent="0">
              <a:buNone/>
            </a:pPr>
            <a:r>
              <a:rPr lang="en-US" sz="1600" b="1" dirty="0" smtClean="0"/>
              <a:t>Conceptual Model</a:t>
            </a:r>
          </a:p>
          <a:p>
            <a:pPr marL="0" indent="0">
              <a:buNone/>
            </a:pPr>
            <a:r>
              <a:rPr lang="en-US" sz="1600" b="1" dirty="0" smtClean="0"/>
              <a:t>        ↓</a:t>
            </a:r>
          </a:p>
          <a:p>
            <a:pPr marL="0" indent="0">
              <a:buNone/>
            </a:pPr>
            <a:r>
              <a:rPr lang="en-US" sz="1600" b="1" dirty="0" smtClean="0"/>
              <a:t>Data Collection</a:t>
            </a:r>
          </a:p>
          <a:p>
            <a:pPr marL="0" indent="0">
              <a:buNone/>
            </a:pPr>
            <a:r>
              <a:rPr lang="en-US" sz="1600" b="1" dirty="0" smtClean="0"/>
              <a:t>        ↓</a:t>
            </a:r>
          </a:p>
          <a:p>
            <a:pPr marL="0" indent="0">
              <a:buNone/>
            </a:pPr>
            <a:r>
              <a:rPr lang="en-US" sz="1600" b="1" dirty="0" smtClean="0"/>
              <a:t>Model Coding</a:t>
            </a:r>
          </a:p>
          <a:p>
            <a:pPr marL="0" indent="0">
              <a:buNone/>
            </a:pPr>
            <a:r>
              <a:rPr lang="en-US" sz="1600" b="1" dirty="0" smtClean="0"/>
              <a:t>        ↓</a:t>
            </a:r>
          </a:p>
          <a:p>
            <a:pPr marL="0" indent="0">
              <a:buNone/>
            </a:pPr>
            <a:r>
              <a:rPr lang="en-US" sz="1600" b="1" dirty="0" smtClean="0"/>
              <a:t>Verification</a:t>
            </a:r>
          </a:p>
          <a:p>
            <a:pPr marL="0" indent="0">
              <a:buNone/>
            </a:pPr>
            <a:r>
              <a:rPr lang="en-US" sz="1600" b="1" dirty="0" smtClean="0"/>
              <a:t>        ↓</a:t>
            </a:r>
          </a:p>
          <a:p>
            <a:pPr marL="0" indent="0">
              <a:buNone/>
            </a:pPr>
            <a:r>
              <a:rPr lang="en-US" sz="1600" b="1" dirty="0" smtClean="0"/>
              <a:t>Validation</a:t>
            </a:r>
          </a:p>
          <a:p>
            <a:pPr marL="0" indent="0">
              <a:buNone/>
            </a:pPr>
            <a:r>
              <a:rPr lang="en-US" sz="1600" b="1" dirty="0" smtClean="0"/>
              <a:t>        ↓</a:t>
            </a:r>
          </a:p>
          <a:p>
            <a:pPr marL="0" indent="0">
              <a:buNone/>
            </a:pPr>
            <a:r>
              <a:rPr lang="en-US" sz="1600" b="1" dirty="0" smtClean="0"/>
              <a:t>Experimentation</a:t>
            </a:r>
          </a:p>
          <a:p>
            <a:pPr marL="0" indent="0">
              <a:buNone/>
            </a:pPr>
            <a:r>
              <a:rPr lang="en-US" sz="1600" b="1" dirty="0" smtClean="0"/>
              <a:t>        ↓</a:t>
            </a:r>
          </a:p>
          <a:p>
            <a:pPr marL="0" indent="0">
              <a:buNone/>
            </a:pPr>
            <a:r>
              <a:rPr lang="en-US" sz="1600" b="1" dirty="0" smtClean="0"/>
              <a:t>Result Analysis</a:t>
            </a:r>
          </a:p>
          <a:p>
            <a:pPr marL="0" indent="0">
              <a:buNone/>
            </a:pPr>
            <a:r>
              <a:rPr lang="en-US" sz="1600" b="1" dirty="0" smtClean="0"/>
              <a:t>        ↓</a:t>
            </a:r>
          </a:p>
          <a:p>
            <a:pPr marL="0" indent="0">
              <a:buNone/>
            </a:pPr>
            <a:r>
              <a:rPr lang="en-US" sz="1600" b="1" dirty="0" smtClean="0"/>
              <a:t>Implementation</a:t>
            </a:r>
            <a:endParaRPr lang="en-US" sz="1600" b="1" dirty="0"/>
          </a:p>
        </p:txBody>
      </p:sp>
    </p:spTree>
    <p:extLst>
      <p:ext uri="{BB962C8B-B14F-4D97-AF65-F5344CB8AC3E}">
        <p14:creationId xmlns:p14="http://schemas.microsoft.com/office/powerpoint/2010/main" val="9686660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r="8071" b="8127"/>
          <a:stretch/>
        </p:blipFill>
        <p:spPr>
          <a:xfrm>
            <a:off x="1295400" y="1690688"/>
            <a:ext cx="8000229" cy="3987346"/>
          </a:xfrm>
          <a:prstGeom prst="rect">
            <a:avLst/>
          </a:prstGeom>
        </p:spPr>
      </p:pic>
      <p:sp>
        <p:nvSpPr>
          <p:cNvPr id="2" name="Title 1"/>
          <p:cNvSpPr>
            <a:spLocks noGrp="1"/>
          </p:cNvSpPr>
          <p:nvPr>
            <p:ph type="title"/>
          </p:nvPr>
        </p:nvSpPr>
        <p:spPr/>
        <p:txBody>
          <a:bodyPr/>
          <a:lstStyle/>
          <a:p>
            <a:r>
              <a:rPr lang="en-US" dirty="0" smtClean="0"/>
              <a:t>Software Development as a Process: Waterfall Model</a:t>
            </a:r>
            <a:endParaRPr lang="en-US" dirty="0"/>
          </a:p>
        </p:txBody>
      </p:sp>
    </p:spTree>
    <p:extLst>
      <p:ext uri="{BB962C8B-B14F-4D97-AF65-F5344CB8AC3E}">
        <p14:creationId xmlns:p14="http://schemas.microsoft.com/office/powerpoint/2010/main" val="3881276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87829"/>
            <a:ext cx="10515600" cy="5589134"/>
          </a:xfrm>
        </p:spPr>
        <p:txBody>
          <a:bodyPr>
            <a:normAutofit/>
          </a:bodyPr>
          <a:lstStyle/>
          <a:p>
            <a:r>
              <a:rPr lang="en-US" dirty="0" smtClean="0"/>
              <a:t>The </a:t>
            </a:r>
            <a:r>
              <a:rPr lang="en-US" b="1" dirty="0" smtClean="0"/>
              <a:t>Waterfall Model</a:t>
            </a:r>
            <a:r>
              <a:rPr lang="en-US" dirty="0" smtClean="0"/>
              <a:t> is a </a:t>
            </a:r>
            <a:r>
              <a:rPr lang="en-US" b="1" dirty="0" smtClean="0"/>
              <a:t>linear and sequential software development process</a:t>
            </a:r>
            <a:r>
              <a:rPr lang="en-US" dirty="0" smtClean="0"/>
              <a:t> used for developing simulation software. The development moves step-by-step through different phases, and each phase is completed before the next begins.</a:t>
            </a:r>
          </a:p>
          <a:p>
            <a:r>
              <a:rPr lang="en-US" dirty="0" smtClean="0"/>
              <a:t>In simulation modeling, the waterfall model ensures a systematic approach from defining the problem to developing and using the simulation model.</a:t>
            </a:r>
          </a:p>
          <a:p>
            <a:pPr marL="0" indent="0">
              <a:buNone/>
            </a:pPr>
            <a:r>
              <a:rPr lang="en-US" b="1" dirty="0" smtClean="0"/>
              <a:t>1. Requirements / Problem Definition</a:t>
            </a:r>
          </a:p>
          <a:p>
            <a:r>
              <a:rPr lang="en-US" dirty="0" smtClean="0"/>
              <a:t>Identify the simulation problem and objectives. </a:t>
            </a:r>
          </a:p>
          <a:p>
            <a:r>
              <a:rPr lang="en-US" dirty="0" smtClean="0"/>
              <a:t>Define system boundaries, assumptions, and required outputs. </a:t>
            </a:r>
          </a:p>
        </p:txBody>
      </p:sp>
    </p:spTree>
    <p:extLst>
      <p:ext uri="{BB962C8B-B14F-4D97-AF65-F5344CB8AC3E}">
        <p14:creationId xmlns:p14="http://schemas.microsoft.com/office/powerpoint/2010/main" val="33743339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7566"/>
            <a:ext cx="10515600" cy="6492240"/>
          </a:xfrm>
        </p:spPr>
        <p:txBody>
          <a:bodyPr>
            <a:normAutofit fontScale="77500" lnSpcReduction="20000"/>
          </a:bodyPr>
          <a:lstStyle/>
          <a:p>
            <a:pPr marL="0" indent="0">
              <a:buNone/>
            </a:pPr>
            <a:r>
              <a:rPr lang="en-US" b="1" dirty="0" smtClean="0"/>
              <a:t>2. System Analysis</a:t>
            </a:r>
          </a:p>
          <a:p>
            <a:r>
              <a:rPr lang="en-US" dirty="0" smtClean="0"/>
              <a:t>Study the real-world system. </a:t>
            </a:r>
          </a:p>
          <a:p>
            <a:r>
              <a:rPr lang="en-US" dirty="0" smtClean="0"/>
              <a:t>Identify: </a:t>
            </a:r>
          </a:p>
          <a:p>
            <a:pPr marL="742950" lvl="1" indent="-285750"/>
            <a:r>
              <a:rPr lang="en-US" dirty="0" smtClean="0"/>
              <a:t>Entities </a:t>
            </a:r>
          </a:p>
          <a:p>
            <a:pPr marL="742950" lvl="1" indent="-285750"/>
            <a:r>
              <a:rPr lang="en-US" dirty="0" smtClean="0"/>
              <a:t>Variables </a:t>
            </a:r>
          </a:p>
          <a:p>
            <a:pPr marL="742950" lvl="1" indent="-285750"/>
            <a:r>
              <a:rPr lang="en-US" dirty="0" smtClean="0"/>
              <a:t>Events </a:t>
            </a:r>
          </a:p>
          <a:p>
            <a:pPr marL="742950" lvl="1" indent="-285750"/>
            <a:r>
              <a:rPr lang="en-US" dirty="0" smtClean="0"/>
              <a:t>Resources </a:t>
            </a:r>
          </a:p>
          <a:p>
            <a:pPr marL="742950" lvl="1" indent="-285750"/>
            <a:r>
              <a:rPr lang="en-US" dirty="0" smtClean="0"/>
              <a:t>Relationships </a:t>
            </a:r>
          </a:p>
          <a:p>
            <a:pPr marL="0" indent="0">
              <a:buNone/>
            </a:pPr>
            <a:r>
              <a:rPr lang="en-US" b="1" dirty="0" smtClean="0"/>
              <a:t>3. System Design</a:t>
            </a:r>
          </a:p>
          <a:p>
            <a:r>
              <a:rPr lang="en-US" dirty="0" smtClean="0"/>
              <a:t>Prepare the simulation model structure. </a:t>
            </a:r>
          </a:p>
          <a:p>
            <a:r>
              <a:rPr lang="en-US" dirty="0" smtClean="0"/>
              <a:t>Design algorithms, data flow, and model logic. </a:t>
            </a:r>
          </a:p>
          <a:p>
            <a:pPr marL="0" indent="0">
              <a:buNone/>
            </a:pPr>
            <a:r>
              <a:rPr lang="en-US" b="1" dirty="0" smtClean="0"/>
              <a:t>4. Implementation (Coding)</a:t>
            </a:r>
          </a:p>
          <a:p>
            <a:r>
              <a:rPr lang="en-US" dirty="0" smtClean="0"/>
              <a:t>Convert the simulation design into a computer program. </a:t>
            </a:r>
          </a:p>
          <a:p>
            <a:r>
              <a:rPr lang="en-US" dirty="0" smtClean="0"/>
              <a:t>Develop simulation modules using programming languages or simulation tools. </a:t>
            </a:r>
          </a:p>
          <a:p>
            <a:pPr marL="0" indent="0">
              <a:buNone/>
            </a:pPr>
            <a:r>
              <a:rPr lang="en-US" b="1" dirty="0" smtClean="0"/>
              <a:t>5. Testing</a:t>
            </a:r>
          </a:p>
          <a:p>
            <a:r>
              <a:rPr lang="en-US" dirty="0" smtClean="0"/>
              <a:t>Test the simulation software. </a:t>
            </a:r>
          </a:p>
          <a:p>
            <a:r>
              <a:rPr lang="en-US" dirty="0" smtClean="0"/>
              <a:t>Includes: </a:t>
            </a:r>
          </a:p>
          <a:p>
            <a:pPr marL="742950" lvl="1" indent="-285750"/>
            <a:r>
              <a:rPr lang="en-US" b="1" dirty="0" smtClean="0"/>
              <a:t>Verification:</a:t>
            </a:r>
            <a:r>
              <a:rPr lang="en-US" dirty="0" smtClean="0"/>
              <a:t> Checking whether the model is built correctly. </a:t>
            </a:r>
          </a:p>
          <a:p>
            <a:pPr marL="742950" lvl="1" indent="-285750"/>
            <a:r>
              <a:rPr lang="en-US" b="1" dirty="0" smtClean="0"/>
              <a:t>Validation:</a:t>
            </a:r>
            <a:r>
              <a:rPr lang="en-US" dirty="0" smtClean="0"/>
              <a:t> Checking whether the model represents the real system. </a:t>
            </a:r>
          </a:p>
        </p:txBody>
      </p:sp>
    </p:spTree>
    <p:extLst>
      <p:ext uri="{BB962C8B-B14F-4D97-AF65-F5344CB8AC3E}">
        <p14:creationId xmlns:p14="http://schemas.microsoft.com/office/powerpoint/2010/main" val="38479134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04949"/>
            <a:ext cx="10515600" cy="5772014"/>
          </a:xfrm>
        </p:spPr>
        <p:txBody>
          <a:bodyPr>
            <a:normAutofit fontScale="85000" lnSpcReduction="20000"/>
          </a:bodyPr>
          <a:lstStyle/>
          <a:p>
            <a:pPr marL="0" indent="0">
              <a:buNone/>
            </a:pPr>
            <a:r>
              <a:rPr lang="en-US" b="1" dirty="0" smtClean="0"/>
              <a:t>6. Deployment</a:t>
            </a:r>
          </a:p>
          <a:p>
            <a:r>
              <a:rPr lang="en-US" dirty="0" smtClean="0"/>
              <a:t>Implement the simulation software for users. </a:t>
            </a:r>
          </a:p>
          <a:p>
            <a:r>
              <a:rPr lang="en-US" dirty="0" smtClean="0"/>
              <a:t>Run simulation experiments and generate results. </a:t>
            </a:r>
          </a:p>
          <a:p>
            <a:pPr marL="0" indent="0">
              <a:buNone/>
            </a:pPr>
            <a:r>
              <a:rPr lang="en-US" b="1" dirty="0" smtClean="0"/>
              <a:t>7. Maintenance</a:t>
            </a:r>
          </a:p>
          <a:p>
            <a:r>
              <a:rPr lang="en-US" dirty="0" smtClean="0"/>
              <a:t>Update the simulation model. </a:t>
            </a:r>
          </a:p>
          <a:p>
            <a:r>
              <a:rPr lang="en-US" dirty="0" smtClean="0"/>
              <a:t>Fix errors and modify according to new requirements. </a:t>
            </a:r>
          </a:p>
          <a:p>
            <a:pPr marL="0" indent="0">
              <a:buNone/>
            </a:pPr>
            <a:r>
              <a:rPr lang="en-US" b="1" dirty="0" smtClean="0"/>
              <a:t>Advantages:</a:t>
            </a:r>
          </a:p>
          <a:p>
            <a:r>
              <a:rPr lang="en-US" dirty="0" smtClean="0"/>
              <a:t>Simple and easy to manage. </a:t>
            </a:r>
          </a:p>
          <a:p>
            <a:r>
              <a:rPr lang="en-US" dirty="0" smtClean="0"/>
              <a:t>Clear phases and documentation. </a:t>
            </a:r>
          </a:p>
          <a:p>
            <a:r>
              <a:rPr lang="en-US" dirty="0" smtClean="0"/>
              <a:t>Suitable when simulation requirements are well-defined. </a:t>
            </a:r>
          </a:p>
          <a:p>
            <a:pPr marL="0" indent="0">
              <a:buNone/>
            </a:pPr>
            <a:r>
              <a:rPr lang="en-US" b="1" dirty="0" smtClean="0"/>
              <a:t>Disadvantages:</a:t>
            </a:r>
          </a:p>
          <a:p>
            <a:r>
              <a:rPr lang="en-US" dirty="0" smtClean="0"/>
              <a:t>Difficult to modify earlier stages. </a:t>
            </a:r>
          </a:p>
          <a:p>
            <a:r>
              <a:rPr lang="en-US" dirty="0" smtClean="0"/>
              <a:t>Less flexible for changing systems. </a:t>
            </a:r>
          </a:p>
          <a:p>
            <a:r>
              <a:rPr lang="en-US" dirty="0" smtClean="0"/>
              <a:t>Errors found late may require major changes. </a:t>
            </a:r>
          </a:p>
          <a:p>
            <a:pPr marL="0" indent="0">
              <a:buNone/>
            </a:pPr>
            <a:endParaRPr lang="en-US" dirty="0" smtClean="0"/>
          </a:p>
          <a:p>
            <a:endParaRPr lang="en-US" dirty="0" smtClean="0"/>
          </a:p>
          <a:p>
            <a:endParaRPr lang="en-US" dirty="0"/>
          </a:p>
        </p:txBody>
      </p:sp>
    </p:spTree>
    <p:extLst>
      <p:ext uri="{BB962C8B-B14F-4D97-AF65-F5344CB8AC3E}">
        <p14:creationId xmlns:p14="http://schemas.microsoft.com/office/powerpoint/2010/main" val="29623493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Incremental Model</a:t>
            </a:r>
            <a:br>
              <a:rPr lang="en-US" b="1" dirty="0"/>
            </a:br>
            <a:endParaRPr lang="en-US" dirty="0"/>
          </a:p>
        </p:txBody>
      </p:sp>
      <p:pic>
        <p:nvPicPr>
          <p:cNvPr id="1026" name="Picture 2" descr="incremental- model"/>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b="7464"/>
          <a:stretch/>
        </p:blipFill>
        <p:spPr bwMode="auto">
          <a:xfrm>
            <a:off x="1261336" y="1355362"/>
            <a:ext cx="8702676" cy="40265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16894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Incremental Model</a:t>
            </a:r>
            <a:br>
              <a:rPr lang="en-US" b="1" dirty="0"/>
            </a:br>
            <a:endParaRPr lang="en-US" dirty="0"/>
          </a:p>
        </p:txBody>
      </p:sp>
      <p:sp>
        <p:nvSpPr>
          <p:cNvPr id="3" name="Content Placeholder 2"/>
          <p:cNvSpPr>
            <a:spLocks noGrp="1"/>
          </p:cNvSpPr>
          <p:nvPr>
            <p:ph idx="1"/>
          </p:nvPr>
        </p:nvSpPr>
        <p:spPr>
          <a:xfrm>
            <a:off x="838200" y="1110343"/>
            <a:ext cx="10515600" cy="5238206"/>
          </a:xfrm>
        </p:spPr>
        <p:txBody>
          <a:bodyPr>
            <a:noAutofit/>
          </a:bodyPr>
          <a:lstStyle/>
          <a:p>
            <a:pPr fontAlgn="base"/>
            <a:r>
              <a:rPr lang="en-US" sz="2200" dirty="0"/>
              <a:t>In </a:t>
            </a:r>
            <a:r>
              <a:rPr lang="en-US" sz="2200" b="1" u="sng" dirty="0"/>
              <a:t>Incremental Model</a:t>
            </a:r>
            <a:r>
              <a:rPr lang="en-US" sz="2200" dirty="0"/>
              <a:t>, the </a:t>
            </a:r>
            <a:r>
              <a:rPr lang="en-US" sz="2200" b="1" dirty="0"/>
              <a:t>Software Development Process </a:t>
            </a:r>
            <a:r>
              <a:rPr lang="en-US" sz="2200" dirty="0"/>
              <a:t>is divided into several increments and the same phases are followed in each increment. In simple language, under this model a complex project is developed in many modules or builds.</a:t>
            </a:r>
          </a:p>
          <a:p>
            <a:pPr fontAlgn="base"/>
            <a:r>
              <a:rPr lang="en-US" sz="2200" dirty="0"/>
              <a:t>For example, we collect the customer's requirements, now instead of making the entire software at once, we first take some requirements and based on them create a module or function of the software and deliver it to the customer. Then we take some more requirements and based on them add another module to that software.</a:t>
            </a:r>
          </a:p>
          <a:p>
            <a:pPr fontAlgn="base"/>
            <a:r>
              <a:rPr lang="en-US" sz="2200" dirty="0"/>
              <a:t>Similarly, modules are added to the software in each increment until the complete system is created. However, the requirements for making a complex project in multiple iterations/parts should be clear.</a:t>
            </a:r>
          </a:p>
          <a:p>
            <a:pPr fontAlgn="base"/>
            <a:r>
              <a:rPr lang="en-US" sz="2200" dirty="0"/>
              <a:t>If we understand the entire principle of Incremental methodology, then it starts by developing an initial implementation, then user feedback is taken on it, and it is developed through several versions until an accepted system is developed. Important functionalities of the software are developed in the initial iterations.</a:t>
            </a:r>
          </a:p>
          <a:p>
            <a:pPr fontAlgn="base"/>
            <a:r>
              <a:rPr lang="en-US" sz="2200" dirty="0"/>
              <a:t>Each subsequent release of a software module adds functions to the previous release. This process continues until the final software is obtained</a:t>
            </a:r>
            <a:r>
              <a:rPr lang="en-US" sz="2200" dirty="0" smtClean="0"/>
              <a:t>.</a:t>
            </a:r>
            <a:br>
              <a:rPr lang="en-US" sz="2200" dirty="0" smtClean="0"/>
            </a:br>
            <a:endParaRPr lang="en-US" sz="2200" dirty="0"/>
          </a:p>
        </p:txBody>
      </p:sp>
    </p:spTree>
    <p:extLst>
      <p:ext uri="{BB962C8B-B14F-4D97-AF65-F5344CB8AC3E}">
        <p14:creationId xmlns:p14="http://schemas.microsoft.com/office/powerpoint/2010/main" val="25165411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1263" y="126819"/>
            <a:ext cx="10291354" cy="787581"/>
          </a:xfrm>
        </p:spPr>
        <p:txBody>
          <a:bodyPr>
            <a:normAutofit fontScale="90000"/>
          </a:bodyPr>
          <a:lstStyle/>
          <a:p>
            <a:r>
              <a:rPr lang="en-US" dirty="0"/>
              <a:t>Modeling the Software Development Process</a:t>
            </a:r>
          </a:p>
        </p:txBody>
      </p:sp>
      <p:sp>
        <p:nvSpPr>
          <p:cNvPr id="3" name="Content Placeholder 2"/>
          <p:cNvSpPr>
            <a:spLocks noGrp="1"/>
          </p:cNvSpPr>
          <p:nvPr>
            <p:ph idx="1"/>
          </p:nvPr>
        </p:nvSpPr>
        <p:spPr>
          <a:xfrm>
            <a:off x="955765" y="914400"/>
            <a:ext cx="10826932" cy="5852160"/>
          </a:xfrm>
        </p:spPr>
        <p:txBody>
          <a:bodyPr>
            <a:normAutofit fontScale="62500" lnSpcReduction="20000"/>
          </a:bodyPr>
          <a:lstStyle/>
          <a:p>
            <a:r>
              <a:rPr lang="en-US" dirty="0"/>
              <a:t>means representing how software is planned, designed, built, tested, and maintained using a structured model. It helps in understanding, analyzing, and improving the development lifecycle.</a:t>
            </a:r>
          </a:p>
          <a:p>
            <a:r>
              <a:rPr lang="en-US" dirty="0"/>
              <a:t>used in simulation studies to understand:Development </a:t>
            </a:r>
            <a:r>
              <a:rPr lang="en-US" dirty="0" smtClean="0"/>
              <a:t>time Cost estimation Productivity Software quality Team performance</a:t>
            </a:r>
          </a:p>
          <a:p>
            <a:r>
              <a:rPr lang="en-US" dirty="0"/>
              <a:t>The model is based on two main factors</a:t>
            </a:r>
            <a:r>
              <a:rPr lang="en-US" dirty="0" smtClean="0"/>
              <a:t>:</a:t>
            </a:r>
          </a:p>
          <a:p>
            <a:pPr marL="0" indent="0">
              <a:buNone/>
            </a:pPr>
            <a:r>
              <a:rPr lang="en-US" dirty="0" smtClean="0"/>
              <a:t>1</a:t>
            </a:r>
            <a:r>
              <a:rPr lang="en-US" dirty="0"/>
              <a:t>. </a:t>
            </a:r>
            <a:r>
              <a:rPr lang="en-US" b="1" dirty="0" smtClean="0"/>
              <a:t>Performance</a:t>
            </a:r>
            <a:r>
              <a:rPr lang="en-US" dirty="0" smtClean="0"/>
              <a:t> Refers </a:t>
            </a:r>
            <a:r>
              <a:rPr lang="en-US" dirty="0"/>
              <a:t>to the effort and productivity of a developer</a:t>
            </a:r>
            <a:r>
              <a:rPr lang="en-US" dirty="0" smtClean="0"/>
              <a:t>.</a:t>
            </a:r>
          </a:p>
          <a:p>
            <a:pPr marL="0" indent="0">
              <a:buNone/>
            </a:pPr>
            <a:r>
              <a:rPr lang="en-US" dirty="0" smtClean="0"/>
              <a:t>Indicates how </a:t>
            </a:r>
            <a:r>
              <a:rPr lang="en-US" dirty="0"/>
              <a:t>fast and efficiently a developer works</a:t>
            </a:r>
            <a:r>
              <a:rPr lang="en-US" dirty="0" smtClean="0"/>
              <a:t>.</a:t>
            </a:r>
          </a:p>
          <a:p>
            <a:pPr marL="0" indent="0">
              <a:buNone/>
            </a:pPr>
            <a:r>
              <a:rPr lang="en-US" dirty="0" smtClean="0"/>
              <a:t>Depends on:</a:t>
            </a:r>
          </a:p>
          <a:p>
            <a:pPr marL="0" indent="0">
              <a:buNone/>
            </a:pPr>
            <a:r>
              <a:rPr lang="en-US" dirty="0"/>
              <a:t> </a:t>
            </a:r>
            <a:r>
              <a:rPr lang="en-US" dirty="0" smtClean="0"/>
              <a:t>               Motivation </a:t>
            </a:r>
          </a:p>
          <a:p>
            <a:pPr marL="0" indent="0">
              <a:buNone/>
            </a:pPr>
            <a:r>
              <a:rPr lang="en-US" dirty="0" smtClean="0"/>
              <a:t>                Work rate </a:t>
            </a:r>
          </a:p>
          <a:p>
            <a:pPr marL="0" indent="0">
              <a:buNone/>
            </a:pPr>
            <a:r>
              <a:rPr lang="en-US" dirty="0"/>
              <a:t> </a:t>
            </a:r>
            <a:r>
              <a:rPr lang="en-US" dirty="0" smtClean="0"/>
              <a:t>                Individual </a:t>
            </a:r>
            <a:r>
              <a:rPr lang="en-US" dirty="0"/>
              <a:t>effort </a:t>
            </a:r>
            <a:r>
              <a:rPr lang="en-US" dirty="0" smtClean="0"/>
              <a:t>level</a:t>
            </a:r>
          </a:p>
          <a:p>
            <a:pPr marL="0" indent="0">
              <a:buNone/>
            </a:pPr>
            <a:r>
              <a:rPr lang="en-US" dirty="0"/>
              <a:t> </a:t>
            </a:r>
            <a:r>
              <a:rPr lang="en-US" dirty="0" smtClean="0"/>
              <a:t> Higher </a:t>
            </a:r>
            <a:r>
              <a:rPr lang="en-US" dirty="0"/>
              <a:t>performance → more output in less time</a:t>
            </a:r>
            <a:r>
              <a:rPr lang="en-US" dirty="0" smtClean="0"/>
              <a:t>.</a:t>
            </a:r>
          </a:p>
          <a:p>
            <a:pPr marL="0" indent="0">
              <a:buNone/>
            </a:pPr>
            <a:r>
              <a:rPr lang="en-US" dirty="0" smtClean="0"/>
              <a:t>2</a:t>
            </a:r>
            <a:r>
              <a:rPr lang="en-US" dirty="0"/>
              <a:t>. </a:t>
            </a:r>
            <a:r>
              <a:rPr lang="en-US" b="1" dirty="0"/>
              <a:t>Knowledge </a:t>
            </a:r>
            <a:r>
              <a:rPr lang="en-US" b="1" dirty="0" smtClean="0"/>
              <a:t>Competence</a:t>
            </a:r>
            <a:r>
              <a:rPr lang="en-US" dirty="0" smtClean="0"/>
              <a:t> Refers </a:t>
            </a:r>
            <a:r>
              <a:rPr lang="en-US" dirty="0"/>
              <a:t>to the level of understanding and skills a developer has</a:t>
            </a:r>
            <a:r>
              <a:rPr lang="en-US" dirty="0" smtClean="0"/>
              <a:t>.</a:t>
            </a:r>
          </a:p>
          <a:p>
            <a:r>
              <a:rPr lang="en-US" dirty="0" smtClean="0"/>
              <a:t>Includes:</a:t>
            </a:r>
          </a:p>
          <a:p>
            <a:pPr marL="0" indent="0">
              <a:buNone/>
            </a:pPr>
            <a:r>
              <a:rPr lang="en-US" dirty="0" smtClean="0"/>
              <a:t>                             Programming knowledge </a:t>
            </a:r>
          </a:p>
          <a:p>
            <a:pPr marL="0" indent="0">
              <a:buNone/>
            </a:pPr>
            <a:r>
              <a:rPr lang="en-US" dirty="0" smtClean="0"/>
              <a:t>                             Domain knowledge Tools </a:t>
            </a:r>
            <a:r>
              <a:rPr lang="en-US" dirty="0"/>
              <a:t>and </a:t>
            </a:r>
            <a:r>
              <a:rPr lang="en-US" dirty="0" smtClean="0"/>
              <a:t>technologies</a:t>
            </a:r>
          </a:p>
          <a:p>
            <a:pPr marL="0" indent="0">
              <a:buNone/>
            </a:pPr>
            <a:r>
              <a:rPr lang="en-US" dirty="0" smtClean="0"/>
              <a:t>                              Requirements understanding</a:t>
            </a:r>
          </a:p>
          <a:p>
            <a:pPr marL="0" indent="0">
              <a:buNone/>
            </a:pPr>
            <a:r>
              <a:rPr lang="en-US" dirty="0" smtClean="0"/>
              <a:t>Higher </a:t>
            </a:r>
            <a:r>
              <a:rPr lang="en-US" dirty="0"/>
              <a:t>knowledge → better decision-making and fewer errors</a:t>
            </a:r>
            <a:r>
              <a:rPr lang="en-US" dirty="0" smtClean="0"/>
              <a:t>.</a:t>
            </a:r>
          </a:p>
          <a:p>
            <a:pPr marL="0" indent="0">
              <a:buNone/>
            </a:pPr>
            <a:r>
              <a:rPr lang="en-US" b="1" dirty="0"/>
              <a:t>High Performance + High Knowledge Competence = High Quality Software</a:t>
            </a:r>
            <a:endParaRPr lang="en-US" b="1" dirty="0" smtClean="0"/>
          </a:p>
          <a:p>
            <a:pPr marL="0" indent="0">
              <a:buNone/>
            </a:pPr>
            <a:endParaRPr lang="en-US" dirty="0" smtClean="0"/>
          </a:p>
          <a:p>
            <a:endParaRPr lang="en-US" dirty="0"/>
          </a:p>
        </p:txBody>
      </p:sp>
    </p:spTree>
    <p:extLst>
      <p:ext uri="{BB962C8B-B14F-4D97-AF65-F5344CB8AC3E}">
        <p14:creationId xmlns:p14="http://schemas.microsoft.com/office/powerpoint/2010/main" val="14440069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Effort Performance Model (EPM)</a:t>
            </a:r>
            <a:br>
              <a:rPr lang="en-US" b="1" dirty="0"/>
            </a:br>
            <a:endParaRPr lang="en-US" dirty="0"/>
          </a:p>
        </p:txBody>
      </p:sp>
      <p:sp>
        <p:nvSpPr>
          <p:cNvPr id="3" name="Content Placeholder 2"/>
          <p:cNvSpPr>
            <a:spLocks noGrp="1"/>
          </p:cNvSpPr>
          <p:nvPr>
            <p:ph idx="1"/>
          </p:nvPr>
        </p:nvSpPr>
        <p:spPr>
          <a:xfrm>
            <a:off x="838200" y="992777"/>
            <a:ext cx="10709366" cy="5630092"/>
          </a:xfrm>
        </p:spPr>
        <p:txBody>
          <a:bodyPr>
            <a:noAutofit/>
          </a:bodyPr>
          <a:lstStyle/>
          <a:p>
            <a:r>
              <a:rPr lang="en-US" sz="1600" dirty="0"/>
              <a:t>The </a:t>
            </a:r>
            <a:r>
              <a:rPr lang="en-US" sz="1600" b="1" dirty="0"/>
              <a:t>Effort Performance Model (EPM)</a:t>
            </a:r>
            <a:r>
              <a:rPr lang="en-US" sz="1600" dirty="0"/>
              <a:t> is a software development process model that represents the relationship between </a:t>
            </a:r>
            <a:r>
              <a:rPr lang="en-US" sz="1600" b="1" dirty="0"/>
              <a:t>development effort, resources, and performance</a:t>
            </a:r>
            <a:r>
              <a:rPr lang="en-US" sz="1600" dirty="0"/>
              <a:t> of a software project.</a:t>
            </a:r>
          </a:p>
          <a:p>
            <a:r>
              <a:rPr lang="en-US" sz="1600" dirty="0"/>
              <a:t>It is used to estimate how much effort is required to complete software activities and how effort affects project performance</a:t>
            </a:r>
            <a:r>
              <a:rPr lang="en-US" sz="1600" dirty="0" smtClean="0"/>
              <a:t>.</a:t>
            </a:r>
          </a:p>
          <a:p>
            <a:r>
              <a:rPr lang="en-US" sz="1600" dirty="0"/>
              <a:t>The Effort–Performance Model (EPM), developed by </a:t>
            </a:r>
            <a:r>
              <a:rPr lang="en-US" sz="1600" dirty="0" err="1"/>
              <a:t>Rasch</a:t>
            </a:r>
            <a:r>
              <a:rPr lang="en-US" sz="1600" dirty="0"/>
              <a:t> and Tosi, is a conceptual framework that explains how software developer performance is influenced by effort and other psychological and personal factors. It integrates ideas from Expectancy Theory, Goal-Setting Theory, and Individual Characteristics to better understand developer behavior and productivity.</a:t>
            </a:r>
          </a:p>
          <a:p>
            <a:r>
              <a:rPr lang="en-US" sz="1600" dirty="0"/>
              <a:t>According to Expectancy Theory, individuals who are highly motivated tend to exert more effort, which leads to higher performance. Performance is related to factors such as effort level, ability, and role perception. This means that if a developer believes their effort will lead to good results, they will work harder and perform better.</a:t>
            </a:r>
          </a:p>
          <a:p>
            <a:r>
              <a:rPr lang="en-US" sz="1600" dirty="0"/>
              <a:t>Goal-Setting Theory explains that performance depends on the clarity and difficulty of goals. Clear goals improve focus and reduce confusion, while challenging but achievable goals increase effort and enhance performance. On the other hand, unclear goals reduce performance due to hesitation and lack of direction.</a:t>
            </a:r>
          </a:p>
          <a:p>
            <a:r>
              <a:rPr lang="en-US" sz="1600" dirty="0"/>
              <a:t>The model also includes Individual Characteristics, which refer to personal traits such as need for achievement, locus of control, and self-esteem. These characteristics influence how much effort a developer is willing to invest in a task and how they respond to challenges.</a:t>
            </a:r>
          </a:p>
          <a:p>
            <a:r>
              <a:rPr lang="en-US" sz="1600" dirty="0" smtClean="0"/>
              <a:t>EPM also includes Individual Characteristics such as need for achievement, locus of control, and self-esteem, which affect how much effort a developer puts into work.</a:t>
            </a:r>
          </a:p>
          <a:p>
            <a:r>
              <a:rPr lang="en-US" sz="1600" dirty="0" smtClean="0"/>
              <a:t> </a:t>
            </a:r>
            <a:r>
              <a:rPr lang="en-US" sz="1600" dirty="0"/>
              <a:t>EPM shows that developer performance depends on motivation, goals, and personality, with ability being the strongest factor.</a:t>
            </a:r>
          </a:p>
          <a:p>
            <a:endParaRPr lang="en-US" sz="1600" dirty="0"/>
          </a:p>
          <a:p>
            <a:endParaRPr lang="en-US" sz="1600" dirty="0"/>
          </a:p>
        </p:txBody>
      </p:sp>
    </p:spTree>
    <p:extLst>
      <p:ext uri="{BB962C8B-B14F-4D97-AF65-F5344CB8AC3E}">
        <p14:creationId xmlns:p14="http://schemas.microsoft.com/office/powerpoint/2010/main" val="12062640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Effort Performance Model (EPM</a:t>
            </a:r>
            <a:r>
              <a:rPr lang="en-US" b="1" dirty="0" smtClean="0"/>
              <a:t>)</a:t>
            </a:r>
            <a:endParaRPr lang="en-US" dirty="0"/>
          </a:p>
        </p:txBody>
      </p:sp>
      <p:pic>
        <p:nvPicPr>
          <p:cNvPr id="7" name="Content Placeholder 6"/>
          <p:cNvPicPr>
            <a:picLocks noGrp="1" noChangeAspect="1"/>
          </p:cNvPicPr>
          <p:nvPr>
            <p:ph sz="half" idx="1"/>
          </p:nvPr>
        </p:nvPicPr>
        <p:blipFill>
          <a:blip r:embed="rId2"/>
          <a:stretch>
            <a:fillRect/>
          </a:stretch>
        </p:blipFill>
        <p:spPr>
          <a:xfrm>
            <a:off x="705395" y="1825625"/>
            <a:ext cx="5094514" cy="4549049"/>
          </a:xfrm>
          <a:prstGeom prst="rect">
            <a:avLst/>
          </a:prstGeom>
        </p:spPr>
      </p:pic>
      <p:pic>
        <p:nvPicPr>
          <p:cNvPr id="8" name="Content Placeholder 7"/>
          <p:cNvPicPr>
            <a:picLocks noGrp="1" noChangeAspect="1"/>
          </p:cNvPicPr>
          <p:nvPr>
            <p:ph sz="half" idx="2"/>
          </p:nvPr>
        </p:nvPicPr>
        <p:blipFill>
          <a:blip r:embed="rId3"/>
          <a:stretch>
            <a:fillRect/>
          </a:stretch>
        </p:blipFill>
        <p:spPr>
          <a:xfrm>
            <a:off x="5799908" y="1825626"/>
            <a:ext cx="6392091" cy="3007631"/>
          </a:xfrm>
          <a:prstGeom prst="rect">
            <a:avLst/>
          </a:prstGeom>
        </p:spPr>
      </p:pic>
    </p:spTree>
    <p:extLst>
      <p:ext uri="{BB962C8B-B14F-4D97-AF65-F5344CB8AC3E}">
        <p14:creationId xmlns:p14="http://schemas.microsoft.com/office/powerpoint/2010/main" val="189093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838200" y="0"/>
            <a:ext cx="10515600" cy="933042"/>
          </a:xfrm>
        </p:spPr>
        <p:txBody>
          <a:bodyPr/>
          <a:lstStyle/>
          <a:p>
            <a:r>
              <a:rPr lang="en-US" dirty="0"/>
              <a:t>Knowledge Model (HKM),</a:t>
            </a:r>
          </a:p>
        </p:txBody>
      </p:sp>
      <p:sp>
        <p:nvSpPr>
          <p:cNvPr id="8" name="Content Placeholder 7"/>
          <p:cNvSpPr>
            <a:spLocks noGrp="1"/>
          </p:cNvSpPr>
          <p:nvPr>
            <p:ph idx="1"/>
          </p:nvPr>
        </p:nvSpPr>
        <p:spPr>
          <a:xfrm>
            <a:off x="838199" y="636905"/>
            <a:ext cx="10722429" cy="6116591"/>
          </a:xfrm>
        </p:spPr>
        <p:txBody>
          <a:bodyPr>
            <a:noAutofit/>
          </a:bodyPr>
          <a:lstStyle/>
          <a:p>
            <a:pPr algn="just"/>
            <a:r>
              <a:rPr lang="en-US" sz="1800" dirty="0"/>
              <a:t>The Knowledge Model (HKM), developed by </a:t>
            </a:r>
            <a:r>
              <a:rPr lang="en-US" sz="1800" dirty="0" err="1"/>
              <a:t>Hanakawa</a:t>
            </a:r>
            <a:r>
              <a:rPr lang="en-US" sz="1800" dirty="0"/>
              <a:t> et al., is a simulation-based model that explains how a software developer’s knowledge changes over time while working on tasks. It is based on the idea of a </a:t>
            </a:r>
            <a:r>
              <a:rPr lang="en-US" sz="1800" b="1" dirty="0"/>
              <a:t>learning curve</a:t>
            </a:r>
            <a:r>
              <a:rPr lang="en-US" sz="1800" dirty="0"/>
              <a:t>, meaning that a developer’s knowledge increases as they gain experience from performing tasks.</a:t>
            </a:r>
          </a:p>
          <a:p>
            <a:pPr algn="just"/>
            <a:r>
              <a:rPr lang="en-US" sz="1800" dirty="0"/>
              <a:t>In this model, a developer’s knowledge is represented using an </a:t>
            </a:r>
            <a:r>
              <a:rPr lang="en-US" sz="1800" b="1" dirty="0"/>
              <a:t>individual knowledge structure</a:t>
            </a:r>
            <a:r>
              <a:rPr lang="en-US" sz="1800" dirty="0"/>
              <a:t>, often shown as a </a:t>
            </a:r>
            <a:r>
              <a:rPr lang="en-US" sz="1800" b="1" dirty="0"/>
              <a:t>cognitive map (graph structure)</a:t>
            </a:r>
            <a:r>
              <a:rPr lang="en-US" sz="1800" dirty="0"/>
              <a:t>. In this graph, nodes represent knowledge elements such as SQL or Relational Database (RDB), while links show the </a:t>
            </a:r>
            <a:r>
              <a:rPr lang="en-US" sz="1800" b="1" dirty="0"/>
              <a:t>prerequisite relationships</a:t>
            </a:r>
            <a:r>
              <a:rPr lang="en-US" sz="1800" dirty="0"/>
              <a:t> between these knowledge areas. This helps in understanding how one type of knowledge depends on another.</a:t>
            </a:r>
          </a:p>
          <a:p>
            <a:pPr algn="just"/>
            <a:r>
              <a:rPr lang="en-US" sz="1800" dirty="0"/>
              <a:t>The model introduces two important parameters: </a:t>
            </a:r>
            <a:r>
              <a:rPr lang="en-US" sz="1800" b="1" dirty="0"/>
              <a:t>adequacy of knowledge</a:t>
            </a:r>
            <a:r>
              <a:rPr lang="en-US" sz="1800" dirty="0"/>
              <a:t> and </a:t>
            </a:r>
            <a:r>
              <a:rPr lang="en-US" sz="1800" b="1" dirty="0"/>
              <a:t>workload</a:t>
            </a:r>
            <a:r>
              <a:rPr lang="en-US" sz="1800" dirty="0"/>
              <a:t>. Adequacy of knowledge refers to how much knowledge a developer has in a specific area, usually measured as a percentage. It can be evaluated through tests or based on experience. Workload refers to the amount of work that requires a specific type of knowledge and is estimated from past project data by analyzing artefacts like design documents and identifying which knowledge areas were used.</a:t>
            </a:r>
          </a:p>
          <a:p>
            <a:pPr algn="just"/>
            <a:r>
              <a:rPr lang="en-US" sz="1800" dirty="0"/>
              <a:t>HKM also explains how knowledge is gained during task execution. If a developer’s current knowledge is lower than the required knowledge for a task, then working on that task increases their knowledge. However, if the developer already has equal or higher knowledge, there is no significant knowledge gain. Similarly, if the task is too difficult compared to the developer’s knowledge, the learning gain becomes very small.</a:t>
            </a:r>
          </a:p>
          <a:p>
            <a:pPr algn="just"/>
            <a:r>
              <a:rPr lang="en-US" sz="1800" dirty="0"/>
              <a:t>The model is mathematically defined using a knowledge gain function, where knowledge gained depends on task requirement, existing knowledge, workload, and learning rate. After each task, the developer’s knowledge level is updated by adding the gained knowledge to the previous level, showing continuous learning over time.</a:t>
            </a:r>
          </a:p>
          <a:p>
            <a:pPr algn="just"/>
            <a:endParaRPr lang="en-US" sz="1800" dirty="0"/>
          </a:p>
        </p:txBody>
      </p:sp>
    </p:spTree>
    <p:extLst>
      <p:ext uri="{BB962C8B-B14F-4D97-AF65-F5344CB8AC3E}">
        <p14:creationId xmlns:p14="http://schemas.microsoft.com/office/powerpoint/2010/main" val="26084574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3869"/>
            <a:ext cx="10515600" cy="719092"/>
          </a:xfrm>
        </p:spPr>
        <p:txBody>
          <a:bodyPr/>
          <a:lstStyle/>
          <a:p>
            <a:r>
              <a:rPr lang="en-US" dirty="0"/>
              <a:t>Artefact Quality Model (</a:t>
            </a:r>
            <a:r>
              <a:rPr lang="en-US" dirty="0" smtClean="0"/>
              <a:t>AQM)</a:t>
            </a:r>
            <a:endParaRPr lang="en-US" dirty="0"/>
          </a:p>
        </p:txBody>
      </p:sp>
      <p:sp>
        <p:nvSpPr>
          <p:cNvPr id="3" name="Content Placeholder 2"/>
          <p:cNvSpPr>
            <a:spLocks noGrp="1"/>
          </p:cNvSpPr>
          <p:nvPr>
            <p:ph idx="1"/>
          </p:nvPr>
        </p:nvSpPr>
        <p:spPr>
          <a:xfrm>
            <a:off x="838200" y="927463"/>
            <a:ext cx="10515600" cy="5486400"/>
          </a:xfrm>
        </p:spPr>
        <p:txBody>
          <a:bodyPr>
            <a:normAutofit fontScale="70000" lnSpcReduction="20000"/>
          </a:bodyPr>
          <a:lstStyle/>
          <a:p>
            <a:r>
              <a:rPr lang="en-US" dirty="0"/>
              <a:t>The Artefact Quality Model (AQM) explains how the </a:t>
            </a:r>
            <a:r>
              <a:rPr lang="en-US" b="1" dirty="0"/>
              <a:t>quality and size of software artefacts</a:t>
            </a:r>
            <a:r>
              <a:rPr lang="en-US" dirty="0"/>
              <a:t> (such as documents, code, or designs) are influenced by developer performance, ability, and contribution over time. Since quality is difficult to measure directly, the model relates it to more observable factors like </a:t>
            </a:r>
            <a:r>
              <a:rPr lang="en-US" b="1" dirty="0"/>
              <a:t>knowledge (ability)</a:t>
            </a:r>
            <a:r>
              <a:rPr lang="en-US" dirty="0"/>
              <a:t> and experience. In this framework, experience helps refine knowledge by adding practical understanding, while knowledge provides theoretical foundations. For modeling purposes, both knowledge and experience are combined into a single factor called </a:t>
            </a:r>
            <a:r>
              <a:rPr lang="en-US" b="1" dirty="0"/>
              <a:t>ability</a:t>
            </a:r>
            <a:r>
              <a:rPr lang="en-US" dirty="0"/>
              <a:t>.</a:t>
            </a:r>
          </a:p>
          <a:p>
            <a:r>
              <a:rPr lang="en-US" dirty="0"/>
              <a:t>In AQM, an artefact is produced through multiple activities performed by one or more developers. The </a:t>
            </a:r>
            <a:r>
              <a:rPr lang="en-US" b="1" dirty="0"/>
              <a:t>size of an artefact</a:t>
            </a:r>
            <a:r>
              <a:rPr lang="en-US" dirty="0"/>
              <a:t> depends on the total contribution made by developers, where each contribution is influenced by performance and the time spent on the task. Therefore, higher performance and longer duration generally increase the artefact size.</a:t>
            </a:r>
          </a:p>
          <a:p>
            <a:r>
              <a:rPr lang="en-US" dirty="0"/>
              <a:t>The </a:t>
            </a:r>
            <a:r>
              <a:rPr lang="en-US" b="1" dirty="0"/>
              <a:t>quality of an artefact</a:t>
            </a:r>
            <a:r>
              <a:rPr lang="en-US" dirty="0"/>
              <a:t> is linked to the ability of developers contributing to it. Each sub-activity has a quality value based on the weighted contribution of developers’ abilities. Since different parts of an artefact may have different importance, weights are used to represent the relative importance of each sub-activity, resulting in an overall artefact quality measure.</a:t>
            </a:r>
          </a:p>
          <a:p>
            <a:r>
              <a:rPr lang="en-US" dirty="0"/>
              <a:t>AQM is also integrated with other models such as EPM and HKM. In this integration, </a:t>
            </a:r>
            <a:r>
              <a:rPr lang="en-US" b="1" dirty="0"/>
              <a:t>ability is represented using knowledge level from HKM</a:t>
            </a:r>
            <a:r>
              <a:rPr lang="en-US" dirty="0"/>
              <a:t>, while </a:t>
            </a:r>
            <a:r>
              <a:rPr lang="en-US" b="1" dirty="0"/>
              <a:t>task difficulty is defined as the difference between required knowledge and actual knowledge</a:t>
            </a:r>
            <a:r>
              <a:rPr lang="en-US" dirty="0"/>
              <a:t>. </a:t>
            </a:r>
            <a:r>
              <a:rPr lang="en-US" b="1" dirty="0"/>
              <a:t>Task clarity </a:t>
            </a:r>
            <a:r>
              <a:rPr lang="en-US" dirty="0"/>
              <a:t>is determined by the quality of previous artefacts, meaning better-quality input leads to clearer tasks. This integration helps connect developer knowledge, effort, and artefact quality in a single framework.</a:t>
            </a:r>
          </a:p>
          <a:p>
            <a:endParaRPr lang="en-US" dirty="0"/>
          </a:p>
        </p:txBody>
      </p:sp>
    </p:spTree>
    <p:extLst>
      <p:ext uri="{BB962C8B-B14F-4D97-AF65-F5344CB8AC3E}">
        <p14:creationId xmlns:p14="http://schemas.microsoft.com/office/powerpoint/2010/main" val="33173002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 AGENT-BASED SIMULATION MODEL</a:t>
            </a:r>
          </a:p>
        </p:txBody>
      </p:sp>
      <p:sp>
        <p:nvSpPr>
          <p:cNvPr id="3" name="Content Placeholder 2"/>
          <p:cNvSpPr>
            <a:spLocks noGrp="1"/>
          </p:cNvSpPr>
          <p:nvPr>
            <p:ph idx="1"/>
          </p:nvPr>
        </p:nvSpPr>
        <p:spPr>
          <a:xfrm>
            <a:off x="838199" y="1384664"/>
            <a:ext cx="10644051" cy="5355770"/>
          </a:xfrm>
        </p:spPr>
        <p:txBody>
          <a:bodyPr>
            <a:normAutofit fontScale="70000" lnSpcReduction="20000"/>
          </a:bodyPr>
          <a:lstStyle/>
          <a:p>
            <a:r>
              <a:rPr lang="en-US" dirty="0"/>
              <a:t>an agent is a </a:t>
            </a:r>
            <a:r>
              <a:rPr lang="en-US" b="1" dirty="0"/>
              <a:t>computer system that exists in an environment and is capable of autonomous action within that environment to achieve its design objectives</a:t>
            </a:r>
            <a:r>
              <a:rPr lang="en-US" dirty="0"/>
              <a:t>. This means the agent can operate independently, interact with its environment, and take actions to fulfill its goals</a:t>
            </a:r>
            <a:r>
              <a:rPr lang="en-US" dirty="0" smtClean="0"/>
              <a:t>.</a:t>
            </a:r>
          </a:p>
          <a:p>
            <a:r>
              <a:rPr lang="en-US" dirty="0"/>
              <a:t>an agent-based solution to be appropriate when the problem has one or more of the following characteristics: - </a:t>
            </a:r>
            <a:endParaRPr lang="en-US" dirty="0" smtClean="0"/>
          </a:p>
          <a:p>
            <a:pPr marL="0" indent="0">
              <a:buNone/>
            </a:pPr>
            <a:r>
              <a:rPr lang="en-US" dirty="0" smtClean="0"/>
              <a:t>-The </a:t>
            </a:r>
            <a:r>
              <a:rPr lang="en-US" dirty="0"/>
              <a:t>Environment is open, highly dynamic, uncertain or complex</a:t>
            </a:r>
            <a:r>
              <a:rPr lang="en-US" dirty="0" smtClean="0"/>
              <a:t>.</a:t>
            </a:r>
          </a:p>
          <a:p>
            <a:pPr marL="0" indent="0">
              <a:buNone/>
            </a:pPr>
            <a:r>
              <a:rPr lang="en-US" dirty="0" smtClean="0"/>
              <a:t>- </a:t>
            </a:r>
            <a:r>
              <a:rPr lang="en-US" dirty="0"/>
              <a:t>Agents provide for a natural metaphor in solving the problem. </a:t>
            </a:r>
            <a:endParaRPr lang="en-US" dirty="0" smtClean="0"/>
          </a:p>
          <a:p>
            <a:pPr marL="0" indent="0">
              <a:buNone/>
            </a:pPr>
            <a:r>
              <a:rPr lang="en-US" dirty="0" smtClean="0"/>
              <a:t>- </a:t>
            </a:r>
            <a:r>
              <a:rPr lang="en-US" dirty="0"/>
              <a:t>Data, control or expertise is </a:t>
            </a:r>
            <a:r>
              <a:rPr lang="en-US" dirty="0" smtClean="0"/>
              <a:t>distribute</a:t>
            </a:r>
          </a:p>
          <a:p>
            <a:r>
              <a:rPr lang="en-US" dirty="0"/>
              <a:t>in practice, the </a:t>
            </a:r>
            <a:r>
              <a:rPr lang="en-US" b="1" dirty="0"/>
              <a:t>exact definition of an agent is not very important</a:t>
            </a:r>
            <a:r>
              <a:rPr lang="en-US" dirty="0"/>
              <a:t>. What matters more is the </a:t>
            </a:r>
            <a:r>
              <a:rPr lang="en-US" b="1" dirty="0"/>
              <a:t>usefulness (utility)</a:t>
            </a:r>
            <a:r>
              <a:rPr lang="en-US" dirty="0"/>
              <a:t> of the agent concept in modeling real systems.</a:t>
            </a:r>
          </a:p>
          <a:p>
            <a:r>
              <a:rPr lang="en-US" dirty="0"/>
              <a:t>The main idea is that the </a:t>
            </a:r>
            <a:r>
              <a:rPr lang="en-US" b="1" dirty="0"/>
              <a:t>agency paradigm</a:t>
            </a:r>
            <a:r>
              <a:rPr lang="en-US" dirty="0"/>
              <a:t> is used because it helps represent real-world situations in a simple and meaningful way. In this study, developers are modeled as agents because they behave like </a:t>
            </a:r>
            <a:r>
              <a:rPr lang="en-US" b="1" dirty="0"/>
              <a:t>partially autonomous individuals</a:t>
            </a:r>
            <a:r>
              <a:rPr lang="en-US" dirty="0"/>
              <a:t> in software development.</a:t>
            </a:r>
          </a:p>
          <a:p>
            <a:r>
              <a:rPr lang="en-US" dirty="0"/>
              <a:t>However, developer autonomy is limited. They cannot refuse tasks assigned by management, but they may refuse to work during weekends and holidays. This shows that agents are </a:t>
            </a:r>
            <a:r>
              <a:rPr lang="en-US" b="1" dirty="0"/>
              <a:t>not fully autonomous</a:t>
            </a:r>
            <a:r>
              <a:rPr lang="en-US" dirty="0"/>
              <a:t>, but only autonomous enough to realistically represent developers while still meeting the objectives of the simulation model(So our agent is sufficiently autonomous, but not more, “to meet its design </a:t>
            </a:r>
            <a:r>
              <a:rPr lang="en-US" dirty="0" smtClean="0"/>
              <a:t>objectives).</a:t>
            </a:r>
            <a:endParaRPr lang="en-US" dirty="0"/>
          </a:p>
          <a:p>
            <a:endParaRPr lang="en-US" dirty="0"/>
          </a:p>
        </p:txBody>
      </p:sp>
    </p:spTree>
    <p:extLst>
      <p:ext uri="{BB962C8B-B14F-4D97-AF65-F5344CB8AC3E}">
        <p14:creationId xmlns:p14="http://schemas.microsoft.com/office/powerpoint/2010/main" val="41853538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Situation (environment)</a:t>
            </a:r>
          </a:p>
        </p:txBody>
      </p:sp>
      <p:sp>
        <p:nvSpPr>
          <p:cNvPr id="3" name="Content Placeholder 2"/>
          <p:cNvSpPr>
            <a:spLocks noGrp="1"/>
          </p:cNvSpPr>
          <p:nvPr>
            <p:ph idx="1"/>
          </p:nvPr>
        </p:nvSpPr>
        <p:spPr/>
        <p:txBody>
          <a:bodyPr>
            <a:normAutofit fontScale="70000" lnSpcReduction="20000"/>
          </a:bodyPr>
          <a:lstStyle/>
          <a:p>
            <a:r>
              <a:rPr lang="en-US" dirty="0" smtClean="0"/>
              <a:t>The </a:t>
            </a:r>
            <a:r>
              <a:rPr lang="en-US" dirty="0"/>
              <a:t>environment in which our agents “evolve” is a “world” of artefacts with which they interact. The development process and a time dimension structure this ”world</a:t>
            </a:r>
            <a:r>
              <a:rPr lang="en-US" dirty="0" smtClean="0"/>
              <a:t>”.</a:t>
            </a:r>
          </a:p>
          <a:p>
            <a:r>
              <a:rPr lang="en-US" dirty="0" smtClean="0"/>
              <a:t>  Artefacts</a:t>
            </a:r>
          </a:p>
          <a:p>
            <a:pPr marL="0" indent="0">
              <a:buNone/>
            </a:pPr>
            <a:r>
              <a:rPr lang="en-US" dirty="0"/>
              <a:t> </a:t>
            </a:r>
            <a:r>
              <a:rPr lang="en-US" dirty="0" smtClean="0"/>
              <a:t>                 </a:t>
            </a:r>
            <a:r>
              <a:rPr lang="en-US" dirty="0"/>
              <a:t>Artefacts are the various requirements, specifications and code that are submitted to the developer at the beginning of each phase for him to use as a platform to develop the artefacts of the next phase</a:t>
            </a:r>
            <a:r>
              <a:rPr lang="en-US" dirty="0" smtClean="0"/>
              <a:t>.</a:t>
            </a:r>
          </a:p>
          <a:p>
            <a:r>
              <a:rPr lang="en-US" dirty="0" smtClean="0"/>
              <a:t>Process </a:t>
            </a:r>
          </a:p>
          <a:p>
            <a:pPr marL="0" indent="0">
              <a:buNone/>
            </a:pPr>
            <a:r>
              <a:rPr lang="en-US" dirty="0"/>
              <a:t> </a:t>
            </a:r>
            <a:r>
              <a:rPr lang="en-US" dirty="0" smtClean="0"/>
              <a:t>        The </a:t>
            </a:r>
            <a:r>
              <a:rPr lang="en-US" dirty="0"/>
              <a:t>process defines the set of input that the developer (agent) will use, at a given phase, and what artefacts are expected as output of this phase. </a:t>
            </a:r>
          </a:p>
          <a:p>
            <a:r>
              <a:rPr lang="en-US" dirty="0" smtClean="0"/>
              <a:t>Time </a:t>
            </a:r>
          </a:p>
          <a:p>
            <a:pPr marL="0" indent="0">
              <a:buNone/>
            </a:pPr>
            <a:r>
              <a:rPr lang="en-US" dirty="0"/>
              <a:t> </a:t>
            </a:r>
            <a:r>
              <a:rPr lang="en-US" dirty="0" smtClean="0"/>
              <a:t>              Time </a:t>
            </a:r>
            <a:r>
              <a:rPr lang="en-US" dirty="0"/>
              <a:t>affects both the process and the developer. As to the process, termination criterion for any phase can be defined in terms of time such as deadlines, whereas the developer’s environment, artefacts and process state, change with time as a result of the action of other agents too. Yet the main impact of time on the developer is in terms of working hours. A developer is not required to work irregular hours (unless specified by management) and neither is he or she expected to work on weekends and holidays</a:t>
            </a:r>
          </a:p>
        </p:txBody>
      </p:sp>
    </p:spTree>
    <p:extLst>
      <p:ext uri="{BB962C8B-B14F-4D97-AF65-F5344CB8AC3E}">
        <p14:creationId xmlns:p14="http://schemas.microsoft.com/office/powerpoint/2010/main" val="21563329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252166" cy="379458"/>
          </a:xfrm>
        </p:spPr>
        <p:txBody>
          <a:bodyPr>
            <a:normAutofit fontScale="90000"/>
          </a:bodyPr>
          <a:lstStyle/>
          <a:p>
            <a:r>
              <a:rPr lang="en-US" dirty="0"/>
              <a:t>Characteristics of the simulation environment</a:t>
            </a:r>
          </a:p>
        </p:txBody>
      </p:sp>
      <p:sp>
        <p:nvSpPr>
          <p:cNvPr id="3" name="Content Placeholder 2"/>
          <p:cNvSpPr>
            <a:spLocks noGrp="1"/>
          </p:cNvSpPr>
          <p:nvPr>
            <p:ph idx="1"/>
          </p:nvPr>
        </p:nvSpPr>
        <p:spPr>
          <a:xfrm>
            <a:off x="838200" y="744583"/>
            <a:ext cx="10515600" cy="5891347"/>
          </a:xfrm>
        </p:spPr>
        <p:txBody>
          <a:bodyPr>
            <a:noAutofit/>
          </a:bodyPr>
          <a:lstStyle/>
          <a:p>
            <a:r>
              <a:rPr lang="en-US" sz="1600" dirty="0" smtClean="0"/>
              <a:t> </a:t>
            </a:r>
            <a:r>
              <a:rPr lang="en-US" sz="1600" dirty="0"/>
              <a:t>simulation environment can be </a:t>
            </a:r>
            <a:r>
              <a:rPr lang="en-US" sz="1600" dirty="0" err="1"/>
              <a:t>characterised</a:t>
            </a:r>
            <a:r>
              <a:rPr lang="en-US" sz="1600" dirty="0"/>
              <a:t> as being: </a:t>
            </a:r>
            <a:endParaRPr lang="en-US" sz="1600" dirty="0" smtClean="0"/>
          </a:p>
          <a:p>
            <a:pPr marL="0" indent="0">
              <a:buNone/>
            </a:pPr>
            <a:r>
              <a:rPr lang="en-US" sz="1600" dirty="0" smtClean="0"/>
              <a:t>                              partly </a:t>
            </a:r>
            <a:r>
              <a:rPr lang="en-US" sz="1600" dirty="0"/>
              <a:t>observable, stochastic, episodic and dynamic</a:t>
            </a:r>
            <a:r>
              <a:rPr lang="en-US" sz="1600" dirty="0" smtClean="0"/>
              <a:t>.</a:t>
            </a:r>
          </a:p>
          <a:p>
            <a:r>
              <a:rPr lang="en-US" sz="1600" dirty="0" smtClean="0"/>
              <a:t>Partially observable</a:t>
            </a:r>
          </a:p>
          <a:p>
            <a:pPr marL="0" indent="0">
              <a:buNone/>
            </a:pPr>
            <a:r>
              <a:rPr lang="en-US" sz="1600" dirty="0"/>
              <a:t> </a:t>
            </a:r>
            <a:r>
              <a:rPr lang="en-US" sz="1600" dirty="0" smtClean="0"/>
              <a:t>      </a:t>
            </a:r>
            <a:r>
              <a:rPr lang="en-US" sz="1600" dirty="0"/>
              <a:t>The environment is partly observable for the developer because at any given time, he or she is only aware of a subset of the activities to carry on, namely those he or she has been allocated. This image of the “world” is incomplete in that the developer cannot say whether or not the phase is completed as he or she has little insight on the contribution of the other agents. </a:t>
            </a:r>
            <a:endParaRPr lang="en-US" sz="1600" dirty="0" smtClean="0"/>
          </a:p>
          <a:p>
            <a:r>
              <a:rPr lang="en-US" sz="1600" dirty="0" smtClean="0"/>
              <a:t>Stochastic </a:t>
            </a:r>
          </a:p>
          <a:p>
            <a:pPr marL="0" indent="0">
              <a:buNone/>
            </a:pPr>
            <a:r>
              <a:rPr lang="en-US" sz="1600" dirty="0" smtClean="0"/>
              <a:t>     </a:t>
            </a:r>
            <a:r>
              <a:rPr lang="en-US" sz="1600" dirty="0"/>
              <a:t>The environment may appear to be stochastic because it is only partially </a:t>
            </a:r>
            <a:r>
              <a:rPr lang="en-US" sz="1600" dirty="0" smtClean="0"/>
              <a:t>observable, </a:t>
            </a:r>
            <a:r>
              <a:rPr lang="en-US" sz="1600" dirty="0"/>
              <a:t>however it is also stochastic because from an agent’s perspective the next state does not solely depend on the actions taken by that particular agent on the current state. There are other agents acting on the environment concurrently</a:t>
            </a:r>
            <a:r>
              <a:rPr lang="en-US" sz="1600" dirty="0" smtClean="0"/>
              <a:t>.</a:t>
            </a:r>
          </a:p>
          <a:p>
            <a:r>
              <a:rPr lang="en-US" sz="1600" dirty="0" smtClean="0"/>
              <a:t> Episodic </a:t>
            </a:r>
          </a:p>
          <a:p>
            <a:pPr marL="0" indent="0">
              <a:buNone/>
            </a:pPr>
            <a:r>
              <a:rPr lang="en-US" sz="1600" dirty="0"/>
              <a:t> </a:t>
            </a:r>
            <a:r>
              <a:rPr lang="en-US" sz="1600" dirty="0" smtClean="0"/>
              <a:t>           The </a:t>
            </a:r>
            <a:r>
              <a:rPr lang="en-US" sz="1600" dirty="0"/>
              <a:t>environment is episodic because the agent’s choice of an action is uniquely </a:t>
            </a:r>
            <a:r>
              <a:rPr lang="en-US" sz="1600" dirty="0" smtClean="0"/>
              <a:t>dependent </a:t>
            </a:r>
            <a:r>
              <a:rPr lang="en-US" sz="1600" dirty="0"/>
              <a:t>on the current state of the environment, irrespective of the actions of other agents. The decision is mostly based on whether the date and time correspond to a working day and hour and on whether the developer has anything to do in which case he will carry on the remaining activity or request a new set from the project manager instead. </a:t>
            </a:r>
            <a:endParaRPr lang="en-US" sz="1600" dirty="0" smtClean="0"/>
          </a:p>
          <a:p>
            <a:r>
              <a:rPr lang="en-US" sz="1600" dirty="0" smtClean="0"/>
              <a:t>Dynamic  </a:t>
            </a:r>
          </a:p>
          <a:p>
            <a:pPr marL="0" indent="0">
              <a:buNone/>
            </a:pPr>
            <a:r>
              <a:rPr lang="en-US" sz="1600" dirty="0"/>
              <a:t> </a:t>
            </a:r>
            <a:r>
              <a:rPr lang="en-US" sz="1600" dirty="0" smtClean="0"/>
              <a:t>       The </a:t>
            </a:r>
            <a:r>
              <a:rPr lang="en-US" sz="1600" dirty="0"/>
              <a:t>environment is dynamic because it changes with time while the agent is performing some activity or choosing the next action (deliberating), other agents may concurrently alter the state of the environment. In other words, the output artefact is incremented with new contributions from some agents while others are still deliberating.</a:t>
            </a:r>
          </a:p>
        </p:txBody>
      </p:sp>
    </p:spTree>
    <p:extLst>
      <p:ext uri="{BB962C8B-B14F-4D97-AF65-F5344CB8AC3E}">
        <p14:creationId xmlns:p14="http://schemas.microsoft.com/office/powerpoint/2010/main" val="8370903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Autonomy</a:t>
            </a:r>
          </a:p>
        </p:txBody>
      </p:sp>
      <p:sp>
        <p:nvSpPr>
          <p:cNvPr id="3" name="Content Placeholder 2"/>
          <p:cNvSpPr>
            <a:spLocks noGrp="1"/>
          </p:cNvSpPr>
          <p:nvPr>
            <p:ph idx="1"/>
          </p:nvPr>
        </p:nvSpPr>
        <p:spPr/>
        <p:txBody>
          <a:bodyPr/>
          <a:lstStyle/>
          <a:p>
            <a:r>
              <a:rPr lang="en-US" dirty="0" smtClean="0"/>
              <a:t>Our </a:t>
            </a:r>
            <a:r>
              <a:rPr lang="en-US" dirty="0"/>
              <a:t>agent is autonomous as far as his or her design objectives are met. For example, the developer may refuse to work on weekends, but he or she may not refuse to take on a task it has been assigned.</a:t>
            </a:r>
          </a:p>
        </p:txBody>
      </p:sp>
    </p:spTree>
    <p:extLst>
      <p:ext uri="{BB962C8B-B14F-4D97-AF65-F5344CB8AC3E}">
        <p14:creationId xmlns:p14="http://schemas.microsoft.com/office/powerpoint/2010/main" val="28317525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Intelligence</a:t>
            </a:r>
          </a:p>
        </p:txBody>
      </p:sp>
      <p:sp>
        <p:nvSpPr>
          <p:cNvPr id="3" name="Content Placeholder 2"/>
          <p:cNvSpPr>
            <a:spLocks noGrp="1"/>
          </p:cNvSpPr>
          <p:nvPr>
            <p:ph idx="1"/>
          </p:nvPr>
        </p:nvSpPr>
        <p:spPr>
          <a:xfrm>
            <a:off x="838200" y="1436914"/>
            <a:ext cx="10515600" cy="4740049"/>
          </a:xfrm>
        </p:spPr>
        <p:txBody>
          <a:bodyPr>
            <a:normAutofit fontScale="92500" lnSpcReduction="10000"/>
          </a:bodyPr>
          <a:lstStyle/>
          <a:p>
            <a:r>
              <a:rPr lang="en-US" dirty="0"/>
              <a:t>In this model, complex artificial intelligence approaches are avoided, and instead a simpler decision-making approach is used.</a:t>
            </a:r>
          </a:p>
          <a:p>
            <a:r>
              <a:rPr lang="en-US" dirty="0"/>
              <a:t>The agents do not use advanced reasoning systems. Instead, their behavior is based on a </a:t>
            </a:r>
            <a:r>
              <a:rPr lang="en-US" b="1" dirty="0"/>
              <a:t>hierarchy of simple situation–action rules</a:t>
            </a:r>
            <a:r>
              <a:rPr lang="en-US" dirty="0"/>
              <a:t>. These rules use basic </a:t>
            </a:r>
            <a:r>
              <a:rPr lang="en-US" b="1" dirty="0"/>
              <a:t>if–then conditions</a:t>
            </a:r>
            <a:r>
              <a:rPr lang="en-US" dirty="0"/>
              <a:t> to make decisions based on the current state of the environment.</a:t>
            </a:r>
          </a:p>
          <a:p>
            <a:r>
              <a:rPr lang="en-US" dirty="0"/>
              <a:t>Higher-level rules handle important decisions, while lower-level rules manage simpler actions. However, these rules do not run concurrently; they work in a sequential and straightforward manner.</a:t>
            </a:r>
          </a:p>
          <a:p>
            <a:r>
              <a:rPr lang="en-US" dirty="0" smtClean="0"/>
              <a:t>the </a:t>
            </a:r>
            <a:r>
              <a:rPr lang="en-US" dirty="0"/>
              <a:t>agents are considered </a:t>
            </a:r>
            <a:r>
              <a:rPr lang="en-US" b="1" dirty="0"/>
              <a:t>simple reactive agents</a:t>
            </a:r>
            <a:r>
              <a:rPr lang="en-US" dirty="0"/>
              <a:t>, meaning they respond directly to environmental conditions rather than using complex intelligence or learning mechanisms.</a:t>
            </a:r>
          </a:p>
          <a:p>
            <a:endParaRPr lang="en-US" dirty="0"/>
          </a:p>
        </p:txBody>
      </p:sp>
    </p:spTree>
    <p:extLst>
      <p:ext uri="{BB962C8B-B14F-4D97-AF65-F5344CB8AC3E}">
        <p14:creationId xmlns:p14="http://schemas.microsoft.com/office/powerpoint/2010/main" val="36652845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9817"/>
            <a:ext cx="10515600" cy="1018903"/>
          </a:xfrm>
        </p:spPr>
        <p:txBody>
          <a:bodyPr>
            <a:normAutofit fontScale="90000"/>
          </a:bodyPr>
          <a:lstStyle/>
          <a:p>
            <a:r>
              <a:rPr lang="en-US" b="1" dirty="0"/>
              <a:t>Implementation</a:t>
            </a:r>
            <a:br>
              <a:rPr lang="en-US" b="1" dirty="0"/>
            </a:br>
            <a:endParaRPr lang="en-US" dirty="0"/>
          </a:p>
        </p:txBody>
      </p:sp>
      <p:sp>
        <p:nvSpPr>
          <p:cNvPr id="3" name="Content Placeholder 2"/>
          <p:cNvSpPr>
            <a:spLocks noGrp="1"/>
          </p:cNvSpPr>
          <p:nvPr>
            <p:ph idx="1"/>
          </p:nvPr>
        </p:nvSpPr>
        <p:spPr>
          <a:xfrm>
            <a:off x="838200" y="1188720"/>
            <a:ext cx="10515600" cy="4988243"/>
          </a:xfrm>
        </p:spPr>
        <p:txBody>
          <a:bodyPr>
            <a:normAutofit fontScale="92500" lnSpcReduction="10000"/>
          </a:bodyPr>
          <a:lstStyle/>
          <a:p>
            <a:r>
              <a:rPr lang="en-US" dirty="0" smtClean="0"/>
              <a:t>The </a:t>
            </a:r>
            <a:r>
              <a:rPr lang="en-US" dirty="0"/>
              <a:t>multi-agent system is implemented using </a:t>
            </a:r>
            <a:r>
              <a:rPr lang="en-US" b="1" dirty="0"/>
              <a:t>Java threads</a:t>
            </a:r>
            <a:r>
              <a:rPr lang="en-US" dirty="0"/>
              <a:t>, where each thread represents an agent (developer) interacting with objects that represent artefacts, performance, and knowledge models.</a:t>
            </a:r>
          </a:p>
          <a:p>
            <a:pPr marL="0" indent="0">
              <a:buNone/>
            </a:pPr>
            <a:r>
              <a:rPr lang="en-US" b="1" dirty="0" smtClean="0"/>
              <a:t>Developer </a:t>
            </a:r>
            <a:r>
              <a:rPr lang="en-US" b="1" dirty="0"/>
              <a:t>Agent</a:t>
            </a:r>
          </a:p>
          <a:p>
            <a:r>
              <a:rPr lang="en-US" dirty="0"/>
              <a:t>Each developer is modeled as a </a:t>
            </a:r>
            <a:r>
              <a:rPr lang="en-US" b="1" dirty="0"/>
              <a:t>Java thread</a:t>
            </a:r>
            <a:r>
              <a:rPr lang="en-US" dirty="0"/>
              <a:t> acting as a reactive agent. A developer agent represents an individual software developer or tester. It has personal characteristics such as </a:t>
            </a:r>
            <a:r>
              <a:rPr lang="en-US" b="1" dirty="0"/>
              <a:t>achievement needs, self-esteem, and locus of control</a:t>
            </a:r>
            <a:r>
              <a:rPr lang="en-US" dirty="0"/>
              <a:t>, along with knowledge-related parameters for different tasks.</a:t>
            </a:r>
          </a:p>
          <a:p>
            <a:r>
              <a:rPr lang="en-US" dirty="0"/>
              <a:t>These characteristics are used in the EPM and HKM models to simulate performance and learning behavior. Among all variables, the developer’s knowledge level for each task changes during the simulation and plays a key role in decision-making and learning updates.</a:t>
            </a:r>
          </a:p>
          <a:p>
            <a:endParaRPr lang="en-US" dirty="0"/>
          </a:p>
        </p:txBody>
      </p:sp>
    </p:spTree>
    <p:extLst>
      <p:ext uri="{BB962C8B-B14F-4D97-AF65-F5344CB8AC3E}">
        <p14:creationId xmlns:p14="http://schemas.microsoft.com/office/powerpoint/2010/main" val="31693368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Manager Agent</a:t>
            </a:r>
            <a:br>
              <a:rPr lang="en-US" b="1" dirty="0"/>
            </a:br>
            <a:endParaRPr lang="en-US" dirty="0"/>
          </a:p>
        </p:txBody>
      </p:sp>
      <p:sp>
        <p:nvSpPr>
          <p:cNvPr id="3" name="Content Placeholder 2"/>
          <p:cNvSpPr>
            <a:spLocks noGrp="1"/>
          </p:cNvSpPr>
          <p:nvPr>
            <p:ph idx="1"/>
          </p:nvPr>
        </p:nvSpPr>
        <p:spPr>
          <a:xfrm>
            <a:off x="838200" y="966651"/>
            <a:ext cx="10515600" cy="5512526"/>
          </a:xfrm>
        </p:spPr>
        <p:txBody>
          <a:bodyPr>
            <a:normAutofit fontScale="92500" lnSpcReduction="20000"/>
          </a:bodyPr>
          <a:lstStyle/>
          <a:p>
            <a:pPr marL="0" indent="0">
              <a:buNone/>
            </a:pPr>
            <a:r>
              <a:rPr lang="en-US" dirty="0" smtClean="0"/>
              <a:t>The </a:t>
            </a:r>
            <a:r>
              <a:rPr lang="en-US" dirty="0"/>
              <a:t>system also includes a project manager agent</a:t>
            </a:r>
            <a:r>
              <a:rPr lang="en-US" dirty="0" smtClean="0"/>
              <a:t>.</a:t>
            </a:r>
          </a:p>
          <a:p>
            <a:pPr marL="0" indent="0">
              <a:buNone/>
            </a:pPr>
            <a:r>
              <a:rPr lang="en-US" dirty="0" smtClean="0"/>
              <a:t> </a:t>
            </a:r>
            <a:r>
              <a:rPr lang="en-US" dirty="0"/>
              <a:t>Its role is to</a:t>
            </a:r>
            <a:r>
              <a:rPr lang="en-US" dirty="0" smtClean="0"/>
              <a:t>:</a:t>
            </a:r>
          </a:p>
          <a:p>
            <a:pPr marL="0" indent="0">
              <a:buNone/>
            </a:pPr>
            <a:r>
              <a:rPr lang="en-US" dirty="0" smtClean="0"/>
              <a:t>Create </a:t>
            </a:r>
            <a:r>
              <a:rPr lang="en-US" dirty="0"/>
              <a:t>a Work Breakdown Structure (WBS) from the initial requirement </a:t>
            </a:r>
            <a:r>
              <a:rPr lang="en-US" dirty="0" smtClean="0"/>
              <a:t>specification</a:t>
            </a:r>
          </a:p>
          <a:p>
            <a:pPr marL="0" indent="0">
              <a:buNone/>
            </a:pPr>
            <a:r>
              <a:rPr lang="en-US" dirty="0" smtClean="0"/>
              <a:t>Convert </a:t>
            </a:r>
            <a:r>
              <a:rPr lang="en-US" dirty="0"/>
              <a:t>outputs of one phase into tasks for the next </a:t>
            </a:r>
            <a:r>
              <a:rPr lang="en-US" dirty="0" smtClean="0"/>
              <a:t>phase</a:t>
            </a:r>
          </a:p>
          <a:p>
            <a:pPr marL="0" indent="0">
              <a:buNone/>
            </a:pPr>
            <a:r>
              <a:rPr lang="en-US" dirty="0" smtClean="0"/>
              <a:t>Allocate </a:t>
            </a:r>
            <a:r>
              <a:rPr lang="en-US" dirty="0"/>
              <a:t>tasks to appropriate developers based on skills and </a:t>
            </a:r>
            <a:r>
              <a:rPr lang="en-US" dirty="0" smtClean="0"/>
              <a:t>roles</a:t>
            </a:r>
          </a:p>
          <a:p>
            <a:pPr marL="0" indent="0">
              <a:buNone/>
            </a:pPr>
            <a:r>
              <a:rPr lang="en-US" b="1" dirty="0" smtClean="0"/>
              <a:t>For </a:t>
            </a:r>
            <a:r>
              <a:rPr lang="en-US" b="1" dirty="0"/>
              <a:t>example</a:t>
            </a:r>
            <a:r>
              <a:rPr lang="en-US" dirty="0"/>
              <a:t>, if a phase requires testing activities, only agents with the “tester” role are assigned those tasks. A single agent may have multiple roles (e.g., developer and tester) if defined beforehand</a:t>
            </a:r>
            <a:r>
              <a:rPr lang="en-US" dirty="0" smtClean="0"/>
              <a:t>.</a:t>
            </a:r>
          </a:p>
          <a:p>
            <a:pPr marL="0" indent="0">
              <a:buNone/>
            </a:pPr>
            <a:r>
              <a:rPr lang="en-US" b="1" dirty="0" smtClean="0"/>
              <a:t>Reason </a:t>
            </a:r>
            <a:r>
              <a:rPr lang="en-US" b="1" dirty="0"/>
              <a:t>for Including Manager </a:t>
            </a:r>
            <a:r>
              <a:rPr lang="en-US" b="1" dirty="0" smtClean="0"/>
              <a:t>Agent</a:t>
            </a:r>
          </a:p>
          <a:p>
            <a:pPr marL="0" indent="0">
              <a:buNone/>
            </a:pPr>
            <a:r>
              <a:rPr lang="en-US" dirty="0" smtClean="0"/>
              <a:t>Although </a:t>
            </a:r>
            <a:r>
              <a:rPr lang="en-US" dirty="0"/>
              <a:t>the manager agent is not strictly necessary (since developers could directly select and execute tasks), it is included to maintain realism. In real software development projects, managers are responsible for planning, coordination, WBS creation, and task allocation without micro-managing developers</a:t>
            </a:r>
          </a:p>
        </p:txBody>
      </p:sp>
    </p:spTree>
    <p:extLst>
      <p:ext uri="{BB962C8B-B14F-4D97-AF65-F5344CB8AC3E}">
        <p14:creationId xmlns:p14="http://schemas.microsoft.com/office/powerpoint/2010/main" val="22957248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Decision making </a:t>
            </a:r>
            <a:r>
              <a:rPr lang="en-US" b="1" dirty="0" smtClean="0"/>
              <a:t/>
            </a:r>
            <a:br>
              <a:rPr lang="en-US" b="1" dirty="0" smtClean="0"/>
            </a:br>
            <a:endParaRPr lang="en-US" dirty="0"/>
          </a:p>
        </p:txBody>
      </p:sp>
      <p:sp>
        <p:nvSpPr>
          <p:cNvPr id="3" name="Content Placeholder 2"/>
          <p:cNvSpPr>
            <a:spLocks noGrp="1"/>
          </p:cNvSpPr>
          <p:nvPr>
            <p:ph idx="1"/>
          </p:nvPr>
        </p:nvSpPr>
        <p:spPr>
          <a:xfrm>
            <a:off x="838200" y="953589"/>
            <a:ext cx="10515600" cy="5223374"/>
          </a:xfrm>
        </p:spPr>
        <p:txBody>
          <a:bodyPr/>
          <a:lstStyle/>
          <a:p>
            <a:r>
              <a:rPr lang="en-US" dirty="0"/>
              <a:t>Our agents </a:t>
            </a:r>
            <a:r>
              <a:rPr lang="en-US" dirty="0" smtClean="0"/>
              <a:t>implement </a:t>
            </a:r>
            <a:r>
              <a:rPr lang="en-US" dirty="0"/>
              <a:t>a quite simple decision making mechanism using situation action rules as shown in Table </a:t>
            </a:r>
            <a:endParaRPr lang="en-US" dirty="0" smtClean="0"/>
          </a:p>
          <a:p>
            <a:endParaRPr lang="en-US" dirty="0"/>
          </a:p>
        </p:txBody>
      </p:sp>
      <p:pic>
        <p:nvPicPr>
          <p:cNvPr id="4" name="Picture 3"/>
          <p:cNvPicPr>
            <a:picLocks noChangeAspect="1"/>
          </p:cNvPicPr>
          <p:nvPr/>
        </p:nvPicPr>
        <p:blipFill>
          <a:blip r:embed="rId2"/>
          <a:stretch>
            <a:fillRect/>
          </a:stretch>
        </p:blipFill>
        <p:spPr>
          <a:xfrm>
            <a:off x="1110343" y="1795190"/>
            <a:ext cx="9000308" cy="3194821"/>
          </a:xfrm>
          <a:prstGeom prst="rect">
            <a:avLst/>
          </a:prstGeom>
        </p:spPr>
      </p:pic>
    </p:spTree>
    <p:extLst>
      <p:ext uri="{BB962C8B-B14F-4D97-AF65-F5344CB8AC3E}">
        <p14:creationId xmlns:p14="http://schemas.microsoft.com/office/powerpoint/2010/main" val="30696789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DYNAMICS SIMULATOR</a:t>
            </a:r>
            <a:br>
              <a:rPr lang="en-US" dirty="0"/>
            </a:br>
            <a:endParaRPr lang="en-US" dirty="0"/>
          </a:p>
        </p:txBody>
      </p:sp>
      <p:sp>
        <p:nvSpPr>
          <p:cNvPr id="3" name="Content Placeholder 2"/>
          <p:cNvSpPr>
            <a:spLocks noGrp="1"/>
          </p:cNvSpPr>
          <p:nvPr>
            <p:ph idx="1"/>
          </p:nvPr>
        </p:nvSpPr>
        <p:spPr/>
        <p:txBody>
          <a:bodyPr>
            <a:normAutofit/>
          </a:bodyPr>
          <a:lstStyle/>
          <a:p>
            <a:r>
              <a:rPr lang="en-US" dirty="0" smtClean="0"/>
              <a:t>System </a:t>
            </a:r>
            <a:r>
              <a:rPr lang="en-US" dirty="0"/>
              <a:t>dynamics modelling is mainly a task of defining a system in terms </a:t>
            </a:r>
            <a:r>
              <a:rPr lang="en-US" dirty="0" smtClean="0"/>
              <a:t>of levels </a:t>
            </a:r>
            <a:r>
              <a:rPr lang="en-US" dirty="0"/>
              <a:t>(stocks) and rates (flows) and eventual feedbacks. Given the purpose of </a:t>
            </a:r>
            <a:r>
              <a:rPr lang="en-US" dirty="0" smtClean="0"/>
              <a:t>our model</a:t>
            </a:r>
            <a:r>
              <a:rPr lang="en-US" dirty="0"/>
              <a:t>, which is to estimate required effort and output quality, we found it </a:t>
            </a:r>
            <a:r>
              <a:rPr lang="en-US" dirty="0" smtClean="0"/>
              <a:t>most appropriate </a:t>
            </a:r>
            <a:r>
              <a:rPr lang="en-US" dirty="0"/>
              <a:t>to use the artefact as our main level, with performance and quality </a:t>
            </a:r>
            <a:r>
              <a:rPr lang="en-US" dirty="0" smtClean="0"/>
              <a:t>being two </a:t>
            </a:r>
            <a:r>
              <a:rPr lang="en-US" dirty="0"/>
              <a:t>independent rate</a:t>
            </a:r>
          </a:p>
        </p:txBody>
      </p:sp>
    </p:spTree>
    <p:extLst>
      <p:ext uri="{BB962C8B-B14F-4D97-AF65-F5344CB8AC3E}">
        <p14:creationId xmlns:p14="http://schemas.microsoft.com/office/powerpoint/2010/main" val="25306462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 prerequisites</a:t>
            </a:r>
          </a:p>
        </p:txBody>
      </p:sp>
      <p:sp>
        <p:nvSpPr>
          <p:cNvPr id="3" name="Content Placeholder 2"/>
          <p:cNvSpPr>
            <a:spLocks noGrp="1"/>
          </p:cNvSpPr>
          <p:nvPr>
            <p:ph idx="1"/>
          </p:nvPr>
        </p:nvSpPr>
        <p:spPr>
          <a:xfrm>
            <a:off x="838200" y="1476103"/>
            <a:ext cx="10515600" cy="4700860"/>
          </a:xfrm>
        </p:spPr>
        <p:txBody>
          <a:bodyPr>
            <a:normAutofit fontScale="92500" lnSpcReduction="20000"/>
          </a:bodyPr>
          <a:lstStyle/>
          <a:p>
            <a:r>
              <a:rPr lang="en-US" dirty="0" smtClean="0"/>
              <a:t>If </a:t>
            </a:r>
            <a:r>
              <a:rPr lang="en-US" dirty="0"/>
              <a:t>we are to objectively compare SD to MABS we need to integrate our SD model with our performance (EPM) and knowledge models (HKM) just like we did for the MABS simulator. Performance rate will therefore be calculated using the EPM model, however it will represent an average of all participants, as our SD model only supports average developer performance and quality in contrast to the MABS model that is designed around the individual developer and its individual characteristics. Similarly quality of contributions will be based on an average of the quality abilities of all participants. A refinement we are introducing is to calculate the averages based on the actual individuals who will participate in the actual phase, as opposed to using some “company-wide” average. This provides for more accurate average results, even though we could be </a:t>
            </a:r>
            <a:r>
              <a:rPr lang="en-US" dirty="0" smtClean="0"/>
              <a:t>criticized </a:t>
            </a:r>
            <a:r>
              <a:rPr lang="en-US" dirty="0"/>
              <a:t>for taking an “individual-based-view” here too. In our opinion it would not be “fair” to knowingly “weaken” the predictive power of our SD model when SD itself does not formally hinder us from providing it with “accurate” information.  </a:t>
            </a:r>
          </a:p>
        </p:txBody>
      </p:sp>
    </p:spTree>
    <p:extLst>
      <p:ext uri="{BB962C8B-B14F-4D97-AF65-F5344CB8AC3E}">
        <p14:creationId xmlns:p14="http://schemas.microsoft.com/office/powerpoint/2010/main" val="7732342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b="1" dirty="0"/>
              <a:t>A System Dynamics Model of a development process </a:t>
            </a:r>
            <a:r>
              <a:rPr lang="en-US" b="1" dirty="0" smtClean="0"/>
              <a:t/>
            </a:r>
            <a:br>
              <a:rPr lang="en-US" b="1" dirty="0" smtClean="0"/>
            </a:br>
            <a:r>
              <a:rPr lang="en-US" sz="1800" dirty="0" smtClean="0"/>
              <a:t>Figure , </a:t>
            </a:r>
            <a:r>
              <a:rPr lang="en-US" sz="1800" dirty="0"/>
              <a:t>illustrates our system dynamics model of a phase of the software development process and how it’s output artefact relates to that of the previous phase. </a:t>
            </a:r>
          </a:p>
        </p:txBody>
      </p:sp>
      <p:pic>
        <p:nvPicPr>
          <p:cNvPr id="4" name="Content Placeholder 3"/>
          <p:cNvPicPr>
            <a:picLocks noGrp="1" noChangeAspect="1"/>
          </p:cNvPicPr>
          <p:nvPr>
            <p:ph idx="1"/>
          </p:nvPr>
        </p:nvPicPr>
        <p:blipFill>
          <a:blip r:embed="rId2"/>
          <a:stretch>
            <a:fillRect/>
          </a:stretch>
        </p:blipFill>
        <p:spPr>
          <a:xfrm>
            <a:off x="838200" y="1520871"/>
            <a:ext cx="10321834" cy="5062809"/>
          </a:xfrm>
          <a:prstGeom prst="rect">
            <a:avLst/>
          </a:prstGeom>
        </p:spPr>
      </p:pic>
    </p:spTree>
    <p:extLst>
      <p:ext uri="{BB962C8B-B14F-4D97-AF65-F5344CB8AC3E}">
        <p14:creationId xmlns:p14="http://schemas.microsoft.com/office/powerpoint/2010/main" val="42220700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Feedback dynamics structure</a:t>
            </a:r>
          </a:p>
        </p:txBody>
      </p:sp>
      <p:sp>
        <p:nvSpPr>
          <p:cNvPr id="3" name="Content Placeholder 2"/>
          <p:cNvSpPr>
            <a:spLocks noGrp="1"/>
          </p:cNvSpPr>
          <p:nvPr>
            <p:ph idx="1"/>
          </p:nvPr>
        </p:nvSpPr>
        <p:spPr>
          <a:xfrm>
            <a:off x="838200" y="1410789"/>
            <a:ext cx="10515600" cy="4766174"/>
          </a:xfrm>
        </p:spPr>
        <p:txBody>
          <a:bodyPr/>
          <a:lstStyle/>
          <a:p>
            <a:pPr marL="0" indent="0">
              <a:buNone/>
            </a:pPr>
            <a:r>
              <a:rPr lang="en-US" dirty="0" smtClean="0"/>
              <a:t>Phase </a:t>
            </a:r>
            <a:r>
              <a:rPr lang="en-US" dirty="0"/>
              <a:t>p+1 starts with an artefact outputted from some previous phase p. This artefact has a corresponding quality level (named artefact quality of phase p), which </a:t>
            </a:r>
            <a:r>
              <a:rPr lang="en-US" dirty="0" smtClean="0"/>
              <a:t>determines </a:t>
            </a:r>
            <a:r>
              <a:rPr lang="en-US" dirty="0"/>
              <a:t>the clarity of the tasks it implies, which in turn impacts on the performance of the team. The initial performance is determined by the individual characteristics of the developers. As the team performs, their knowledge of the task at hand increases and so does the clarity of the tasks, for them, again increasing their performance. As the knowledge of the team increases, so does the quality of their artefact p+1. </a:t>
            </a:r>
          </a:p>
        </p:txBody>
      </p:sp>
    </p:spTree>
    <p:extLst>
      <p:ext uri="{BB962C8B-B14F-4D97-AF65-F5344CB8AC3E}">
        <p14:creationId xmlns:p14="http://schemas.microsoft.com/office/powerpoint/2010/main" val="21630137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7566"/>
            <a:ext cx="10515600" cy="6609805"/>
          </a:xfrm>
        </p:spPr>
        <p:txBody>
          <a:bodyPr>
            <a:normAutofit lnSpcReduction="10000"/>
          </a:bodyPr>
          <a:lstStyle/>
          <a:p>
            <a:r>
              <a:rPr lang="en-US" b="1" dirty="0" smtClean="0"/>
              <a:t>Levels</a:t>
            </a:r>
          </a:p>
          <a:p>
            <a:pPr marL="0" indent="0">
              <a:buNone/>
            </a:pPr>
            <a:r>
              <a:rPr lang="en-US" dirty="0" smtClean="0"/>
              <a:t>In </a:t>
            </a:r>
            <a:r>
              <a:rPr lang="en-US" dirty="0"/>
              <a:t>our SD model, artefact, knowledge and quality are three quantities that fluctuate with time and so we chose to represent these as levels. Knowledge however is a level that can only increase with time. Although inactivity could negatively impact on knowledge HKM does not provide support for this and therefore it has been left out of the model. </a:t>
            </a:r>
            <a:endParaRPr lang="en-US" dirty="0" smtClean="0"/>
          </a:p>
          <a:p>
            <a:r>
              <a:rPr lang="en-US" b="1" dirty="0" smtClean="0"/>
              <a:t>Flows</a:t>
            </a:r>
          </a:p>
          <a:p>
            <a:pPr marL="0" indent="0">
              <a:buNone/>
            </a:pPr>
            <a:r>
              <a:rPr lang="en-US" dirty="0" smtClean="0"/>
              <a:t>There </a:t>
            </a:r>
            <a:r>
              <a:rPr lang="en-US" dirty="0"/>
              <a:t>are two rates of fluctuation in our SD model that we represent as flows: knowledge gain determined by our HKM using the knowledge characteristics of the team and the size of the performed task at each increment; and performance which is determined by our EPM model based on individual characteristics and task clarity. </a:t>
            </a:r>
            <a:endParaRPr lang="en-US" dirty="0" smtClean="0"/>
          </a:p>
          <a:p>
            <a:r>
              <a:rPr lang="en-US" b="1" dirty="0" smtClean="0"/>
              <a:t>Auxiliary </a:t>
            </a:r>
            <a:r>
              <a:rPr lang="en-US" b="1" dirty="0"/>
              <a:t>variables </a:t>
            </a:r>
            <a:endParaRPr lang="en-US" b="1" dirty="0" smtClean="0"/>
          </a:p>
          <a:p>
            <a:pPr marL="0" indent="0">
              <a:buNone/>
            </a:pPr>
            <a:r>
              <a:rPr lang="en-US" dirty="0" smtClean="0"/>
              <a:t>Other </a:t>
            </a:r>
            <a:r>
              <a:rPr lang="en-US" dirty="0"/>
              <a:t>important variables are modelled as auxiliaries as they affect levels and rates based on the value of a connecting auxiliary or level, but without causing a drain in that level.</a:t>
            </a:r>
          </a:p>
        </p:txBody>
      </p:sp>
    </p:spTree>
    <p:extLst>
      <p:ext uri="{BB962C8B-B14F-4D97-AF65-F5344CB8AC3E}">
        <p14:creationId xmlns:p14="http://schemas.microsoft.com/office/powerpoint/2010/main" val="34499738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Autofit/>
          </a:bodyPr>
          <a:lstStyle/>
          <a:p>
            <a:r>
              <a:rPr lang="en-US" sz="2000" b="1" dirty="0"/>
              <a:t>Difficulties</a:t>
            </a:r>
            <a:r>
              <a:rPr lang="en-US" sz="2000" dirty="0"/>
              <a:t> </a:t>
            </a:r>
            <a:endParaRPr lang="en-US" sz="2000" dirty="0" smtClean="0"/>
          </a:p>
          <a:p>
            <a:pPr marL="0" indent="0" algn="just">
              <a:buNone/>
            </a:pPr>
            <a:r>
              <a:rPr lang="en-US" sz="2000" dirty="0" smtClean="0"/>
              <a:t>A </a:t>
            </a:r>
            <a:r>
              <a:rPr lang="en-US" sz="2000" dirty="0"/>
              <a:t>first problem when designing the model was to account for the individual developers. Although much can be done at implementation, we did not find an obvious way to account for individual developers and their individual knowledge and performance characteristics. The actual problem resides in the static character of the model. Since knowledge and performance are inherently individual we would like these to be modelled as part of each participant. However, although it is possible to model as many participants as we want, it is not possible to “instantiate” them out of a single model, which means that participants are “hard coded” into the main SD model and therefore neither their number nor their characteristics may change from one simulation to another –without changing the SD model itself. </a:t>
            </a:r>
            <a:endParaRPr lang="en-US" sz="2000" dirty="0" smtClean="0"/>
          </a:p>
          <a:p>
            <a:pPr marL="0" indent="0" algn="just">
              <a:buNone/>
            </a:pPr>
            <a:r>
              <a:rPr lang="en-US" sz="2000" dirty="0" smtClean="0"/>
              <a:t>In </a:t>
            </a:r>
            <a:r>
              <a:rPr lang="en-US" sz="2000" dirty="0"/>
              <a:t>a sense, SD can be seen to take a structural/procedural approach to modelling. Although SD views system </a:t>
            </a:r>
            <a:r>
              <a:rPr lang="en-US" sz="2000" dirty="0" smtClean="0"/>
              <a:t>behavior's </a:t>
            </a:r>
            <a:r>
              <a:rPr lang="en-US" sz="2000" dirty="0"/>
              <a:t>to be dynamic, the structure of the system itself is made static and cannot be expected to change dynamically. We think this is the primary reason SD is more adapted to activity-based views than individual ones. </a:t>
            </a:r>
            <a:endParaRPr lang="en-US" sz="2000" dirty="0" smtClean="0"/>
          </a:p>
          <a:p>
            <a:pPr marL="0" indent="0" algn="just">
              <a:buNone/>
            </a:pPr>
            <a:r>
              <a:rPr lang="en-US" sz="2000" dirty="0" smtClean="0"/>
              <a:t>On </a:t>
            </a:r>
            <a:r>
              <a:rPr lang="en-US" sz="2000" dirty="0"/>
              <a:t>this particular point, comparing SD to MABS </a:t>
            </a:r>
            <a:r>
              <a:rPr lang="en-US" sz="2000" dirty="0" smtClean="0"/>
              <a:t>reassembles </a:t>
            </a:r>
            <a:r>
              <a:rPr lang="en-US" sz="2000" dirty="0"/>
              <a:t>comparing a procedural programming language with an object-oriented one. Although it is possible, in principle, to coerce the procedural language into object-orientation, at least somewhat, its underlying ideas belong to another paradigm. </a:t>
            </a:r>
            <a:endParaRPr lang="en-US" sz="2000" dirty="0" smtClean="0"/>
          </a:p>
          <a:p>
            <a:pPr marL="0" indent="0" algn="just">
              <a:buNone/>
            </a:pPr>
            <a:r>
              <a:rPr lang="en-US" sz="2000" dirty="0" smtClean="0"/>
              <a:t>Another </a:t>
            </a:r>
            <a:r>
              <a:rPr lang="en-US" sz="2000" dirty="0"/>
              <a:t>problem was in using averages to represent the various characteristics of the developers. The only practical averages we could provide were those constituting IK and IC. However average IK and IC values do not result in the average performance of those persons in question. An alternative that is likely to solve this problem, is to instantiate all the required developers with their respective IK and IC values, query our EPM model for performance and HKM for knowledge levels of each developer, derive the average of these, pass them over to SD, update the abilities of each developer, query … average out … pass over… update each developer. This is possible was it not for one problem… the paradigm! By relying on a multitude of developers for which we quire individual characteristics then update each developer individually, then we are actually running a MABS simulation and not SD. </a:t>
            </a:r>
          </a:p>
        </p:txBody>
      </p:sp>
    </p:spTree>
    <p:extLst>
      <p:ext uri="{BB962C8B-B14F-4D97-AF65-F5344CB8AC3E}">
        <p14:creationId xmlns:p14="http://schemas.microsoft.com/office/powerpoint/2010/main" val="34042585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00890"/>
            <a:ext cx="10515600" cy="6165669"/>
          </a:xfrm>
        </p:spPr>
        <p:txBody>
          <a:bodyPr>
            <a:normAutofit fontScale="85000" lnSpcReduction="10000"/>
          </a:bodyPr>
          <a:lstStyle/>
          <a:p>
            <a:r>
              <a:rPr lang="en-US" dirty="0" smtClean="0"/>
              <a:t>I</a:t>
            </a:r>
            <a:r>
              <a:rPr lang="en-US" b="1" dirty="0" smtClean="0"/>
              <a:t>mplementation</a:t>
            </a:r>
          </a:p>
          <a:p>
            <a:pPr marL="0" indent="0" algn="just">
              <a:buNone/>
            </a:pPr>
            <a:r>
              <a:rPr lang="en-US" b="1" dirty="0" smtClean="0"/>
              <a:t> </a:t>
            </a:r>
            <a:r>
              <a:rPr lang="en-US" dirty="0"/>
              <a:t>To provide an objective comparison ground, ensure an exact similar use of the models, and the various necessary utilities such as calendars and clock functions we implemented the system dynamics model as a single “average” developer, running on our simulator framework, who’s individual characteristics represent an average of all participants within a phase and who’s performance is proportional to the number of developers considered for the simulation. </a:t>
            </a:r>
            <a:endParaRPr lang="en-US" dirty="0" smtClean="0"/>
          </a:p>
          <a:p>
            <a:pPr marL="0" indent="0" algn="just">
              <a:buNone/>
            </a:pPr>
            <a:r>
              <a:rPr lang="en-US" dirty="0" smtClean="0"/>
              <a:t>These </a:t>
            </a:r>
            <a:r>
              <a:rPr lang="en-US" dirty="0"/>
              <a:t>characteristics being averages are no longer individual, instead they provide the variables and constants that our SD model needs (directly or derived</a:t>
            </a:r>
            <a:r>
              <a:rPr lang="en-US" dirty="0" smtClean="0"/>
              <a:t>).</a:t>
            </a:r>
          </a:p>
          <a:p>
            <a:pPr marL="0" indent="0" algn="just">
              <a:buNone/>
            </a:pPr>
            <a:r>
              <a:rPr lang="en-US" dirty="0" smtClean="0"/>
              <a:t> </a:t>
            </a:r>
            <a:r>
              <a:rPr lang="en-US" dirty="0"/>
              <a:t>A reason why this platform “reuse”, provided by our simulator framework, is possible, is that although it could be recommended, there need not be a one to one mapping between a model and its implementation if there is another possible implementation that remains true to the model. What is important in our case is that the single average developer implementation preserves all the characteristics of our SD model. Indeed this is true because in our simulation platform artefacts cumulate contributions from the developer(s), which are quantified and qualified. And as contributions are added, knowledge gains of the developer(s) are updated in separate levels as defined in our SD model. These results in an integral over contributions, which is what our SD levels mathematically represent. </a:t>
            </a:r>
          </a:p>
        </p:txBody>
      </p:sp>
    </p:spTree>
    <p:extLst>
      <p:ext uri="{BB962C8B-B14F-4D97-AF65-F5344CB8AC3E}">
        <p14:creationId xmlns:p14="http://schemas.microsoft.com/office/powerpoint/2010/main" val="23628291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250</TotalTime>
  <Words>4210</Words>
  <Application>Microsoft Office PowerPoint</Application>
  <PresentationFormat>Widescreen</PresentationFormat>
  <Paragraphs>238</Paragraphs>
  <Slides>33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Calibri Light</vt:lpstr>
      <vt:lpstr>Times New Roman</vt:lpstr>
      <vt:lpstr>Office Theme</vt:lpstr>
      <vt:lpstr>Software Process Simulation Modeling</vt:lpstr>
      <vt:lpstr>Software Process Simulation Modeling</vt:lpstr>
      <vt:lpstr>When to Apply It</vt:lpstr>
      <vt:lpstr>Software Development As A Process </vt:lpstr>
      <vt:lpstr>PowerPoint Presentation</vt:lpstr>
      <vt:lpstr>PowerPoint Presentation</vt:lpstr>
      <vt:lpstr>PowerPoint Presentation</vt:lpstr>
      <vt:lpstr>Software Development as a Process: Waterfall Model</vt:lpstr>
      <vt:lpstr>PowerPoint Presentation</vt:lpstr>
      <vt:lpstr>PowerPoint Presentation</vt:lpstr>
      <vt:lpstr>PowerPoint Presentation</vt:lpstr>
      <vt:lpstr>Incremental Model </vt:lpstr>
      <vt:lpstr> Incremental Model </vt:lpstr>
      <vt:lpstr>Modeling the Software Development Process</vt:lpstr>
      <vt:lpstr>Effort Performance Model (EPM) </vt:lpstr>
      <vt:lpstr>Effort Performance Model (EPM)</vt:lpstr>
      <vt:lpstr>Knowledge Model (HKM),</vt:lpstr>
      <vt:lpstr>Artefact Quality Model (AQM)</vt:lpstr>
      <vt:lpstr>MULTI AGENT-BASED SIMULATION MODEL</vt:lpstr>
      <vt:lpstr>Situation (environment)</vt:lpstr>
      <vt:lpstr>Characteristics of the simulation environment</vt:lpstr>
      <vt:lpstr>Autonomy</vt:lpstr>
      <vt:lpstr>Intelligence</vt:lpstr>
      <vt:lpstr>Implementation </vt:lpstr>
      <vt:lpstr>Manager Agent </vt:lpstr>
      <vt:lpstr>Decision making  </vt:lpstr>
      <vt:lpstr>SYSTEM DYNAMICS SIMULATOR </vt:lpstr>
      <vt:lpstr>Model prerequisites</vt:lpstr>
      <vt:lpstr>A System Dynamics Model of a development process  Figure , illustrates our system dynamics model of a phase of the software development process and how it’s output artefact relates to that of the previous phase. </vt:lpstr>
      <vt:lpstr>Feedback dynamics structure</vt:lpstr>
      <vt:lpstr>PowerPoint Presentation</vt:lpstr>
      <vt:lpstr>PowerPoint Presentation</vt:lpstr>
      <vt:lpstr>PowerPoint Presentation</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Process Simulation Modeling</dc:title>
  <dc:creator>FCT</dc:creator>
  <cp:lastModifiedBy>FCT</cp:lastModifiedBy>
  <cp:revision>8</cp:revision>
  <dcterms:created xsi:type="dcterms:W3CDTF">2026-06-20T15:48:31Z</dcterms:created>
  <dcterms:modified xsi:type="dcterms:W3CDTF">2026-06-27T12:09:37Z</dcterms:modified>
</cp:coreProperties>
</file>