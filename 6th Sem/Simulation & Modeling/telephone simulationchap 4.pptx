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42"/>
  </p:notesMasterIdLst>
  <p:sldIdLst>
    <p:sldId id="266" r:id="rId5"/>
    <p:sldId id="267" r:id="rId6"/>
    <p:sldId id="268" r:id="rId7"/>
    <p:sldId id="270" r:id="rId8"/>
    <p:sldId id="271" r:id="rId9"/>
    <p:sldId id="272" r:id="rId10"/>
    <p:sldId id="273" r:id="rId11"/>
    <p:sldId id="275" r:id="rId12"/>
    <p:sldId id="301" r:id="rId13"/>
    <p:sldId id="274" r:id="rId14"/>
    <p:sldId id="276" r:id="rId15"/>
    <p:sldId id="277" r:id="rId16"/>
    <p:sldId id="278" r:id="rId17"/>
    <p:sldId id="279" r:id="rId18"/>
    <p:sldId id="302" r:id="rId19"/>
    <p:sldId id="280" r:id="rId20"/>
    <p:sldId id="281" r:id="rId21"/>
    <p:sldId id="282" r:id="rId22"/>
    <p:sldId id="283" r:id="rId23"/>
    <p:sldId id="284" r:id="rId24"/>
    <p:sldId id="285" r:id="rId25"/>
    <p:sldId id="286" r:id="rId26"/>
    <p:sldId id="287" r:id="rId27"/>
    <p:sldId id="288" r:id="rId28"/>
    <p:sldId id="290" r:id="rId29"/>
    <p:sldId id="289" r:id="rId30"/>
    <p:sldId id="291" r:id="rId31"/>
    <p:sldId id="292" r:id="rId32"/>
    <p:sldId id="293" r:id="rId33"/>
    <p:sldId id="294" r:id="rId34"/>
    <p:sldId id="295" r:id="rId35"/>
    <p:sldId id="296" r:id="rId36"/>
    <p:sldId id="297" r:id="rId37"/>
    <p:sldId id="298" r:id="rId38"/>
    <p:sldId id="299" r:id="rId39"/>
    <p:sldId id="300" r:id="rId40"/>
    <p:sldId id="25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svg"/><Relationship Id="rId1" Type="http://schemas.openxmlformats.org/officeDocument/2006/relationships/image" Target="../media/image28.png"/><Relationship Id="rId6" Type="http://schemas.openxmlformats.org/officeDocument/2006/relationships/image" Target="../media/image7.svg"/><Relationship Id="rId5" Type="http://schemas.openxmlformats.org/officeDocument/2006/relationships/image" Target="../media/image30.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svg"/><Relationship Id="rId1" Type="http://schemas.openxmlformats.org/officeDocument/2006/relationships/image" Target="../media/image28.png"/><Relationship Id="rId6" Type="http://schemas.openxmlformats.org/officeDocument/2006/relationships/image" Target="../media/image7.svg"/><Relationship Id="rId5" Type="http://schemas.openxmlformats.org/officeDocument/2006/relationships/image" Target="../media/image30.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FF870C-5D9B-4878-9827-A3D8F8D3B4C3}"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93252BB-1661-4EF1-B4B4-B609E884D6B5}">
      <dgm:prSet/>
      <dgm:spPr/>
      <dgm:t>
        <a:bodyPr/>
        <a:lstStyle/>
        <a:p>
          <a:pPr>
            <a:lnSpc>
              <a:spcPct val="100000"/>
            </a:lnSpc>
            <a:defRPr cap="all"/>
          </a:pPr>
          <a:r>
            <a:rPr lang="en-US" dirty="0"/>
            <a:t>lorem ipsum dolor</a:t>
          </a:r>
        </a:p>
      </dgm:t>
    </dgm:pt>
    <dgm:pt modelId="{5A04EF90-0F09-4424-BA8F-063E80337D8E}" type="parTrans" cxnId="{095425F3-197C-4E69-84D5-0C51196EF1C6}">
      <dgm:prSet/>
      <dgm:spPr/>
      <dgm:t>
        <a:bodyPr/>
        <a:lstStyle/>
        <a:p>
          <a:endParaRPr lang="en-US"/>
        </a:p>
      </dgm:t>
    </dgm:pt>
    <dgm:pt modelId="{54292CB0-011E-4706-9294-372AD5816BB9}" type="sibTrans" cxnId="{095425F3-197C-4E69-84D5-0C51196EF1C6}">
      <dgm:prSet/>
      <dgm:spPr/>
      <dgm:t>
        <a:bodyPr/>
        <a:lstStyle/>
        <a:p>
          <a:endParaRPr lang="en-US"/>
        </a:p>
      </dgm:t>
    </dgm:pt>
    <dgm:pt modelId="{1777E161-D0DE-4D31-91FE-E2AD8AAC6AAC}">
      <dgm:prSet/>
      <dgm:spPr/>
      <dgm:t>
        <a:bodyPr/>
        <a:lstStyle/>
        <a:p>
          <a:pPr>
            <a:lnSpc>
              <a:spcPct val="100000"/>
            </a:lnSpc>
            <a:defRPr cap="all"/>
          </a:pPr>
          <a:r>
            <a:rPr lang="en-US" dirty="0"/>
            <a:t>lorem ipsum dolor</a:t>
          </a:r>
        </a:p>
      </dgm:t>
    </dgm:pt>
    <dgm:pt modelId="{50E45982-4B36-4BD3-ABAD-204FBA61FF0E}" type="parTrans" cxnId="{A341BC0D-6DD3-4979-9832-08DC41068DC6}">
      <dgm:prSet/>
      <dgm:spPr/>
      <dgm:t>
        <a:bodyPr/>
        <a:lstStyle/>
        <a:p>
          <a:endParaRPr lang="en-US"/>
        </a:p>
      </dgm:t>
    </dgm:pt>
    <dgm:pt modelId="{FB489039-8D8A-4FC2-9B37-994383FDE902}" type="sibTrans" cxnId="{A341BC0D-6DD3-4979-9832-08DC41068DC6}">
      <dgm:prSet/>
      <dgm:spPr/>
      <dgm:t>
        <a:bodyPr/>
        <a:lstStyle/>
        <a:p>
          <a:endParaRPr lang="en-US"/>
        </a:p>
      </dgm:t>
    </dgm:pt>
    <dgm:pt modelId="{A0E3938A-38FD-4C6B-BC76-DCF294EE93DC}">
      <dgm:prSet/>
      <dgm:spPr/>
      <dgm:t>
        <a:bodyPr/>
        <a:lstStyle/>
        <a:p>
          <a:pPr>
            <a:lnSpc>
              <a:spcPct val="100000"/>
            </a:lnSpc>
            <a:defRPr cap="all"/>
          </a:pPr>
          <a:r>
            <a:rPr lang="en-US" dirty="0"/>
            <a:t>lorem ipsum dolor</a:t>
          </a:r>
        </a:p>
      </dgm:t>
    </dgm:pt>
    <dgm:pt modelId="{8655D1BC-F152-4DA3-90FE-11A6554E87C9}" type="parTrans" cxnId="{F1960191-6C4D-45E6-A70C-022CDEE00113}">
      <dgm:prSet/>
      <dgm:spPr/>
      <dgm:t>
        <a:bodyPr/>
        <a:lstStyle/>
        <a:p>
          <a:endParaRPr lang="en-US"/>
        </a:p>
      </dgm:t>
    </dgm:pt>
    <dgm:pt modelId="{7DE219E0-15AA-4B4B-9BED-F21993E27992}" type="sibTrans" cxnId="{F1960191-6C4D-45E6-A70C-022CDEE00113}">
      <dgm:prSet/>
      <dgm:spPr/>
      <dgm:t>
        <a:bodyPr/>
        <a:lstStyle/>
        <a:p>
          <a:endParaRPr lang="en-US"/>
        </a:p>
      </dgm:t>
    </dgm:pt>
    <dgm:pt modelId="{D2FA40C6-C0ED-46A3-92CE-B081053B2BA8}" type="pres">
      <dgm:prSet presAssocID="{34FF870C-5D9B-4878-9827-A3D8F8D3B4C3}" presName="root" presStyleCnt="0">
        <dgm:presLayoutVars>
          <dgm:dir/>
          <dgm:resizeHandles val="exact"/>
        </dgm:presLayoutVars>
      </dgm:prSet>
      <dgm:spPr/>
      <dgm:t>
        <a:bodyPr/>
        <a:lstStyle/>
        <a:p>
          <a:endParaRPr lang="en-US"/>
        </a:p>
      </dgm:t>
    </dgm:pt>
    <dgm:pt modelId="{4F71816B-273C-49A1-A458-BCE14C9FAD7C}" type="pres">
      <dgm:prSet presAssocID="{193252BB-1661-4EF1-B4B4-B609E884D6B5}" presName="compNode" presStyleCnt="0"/>
      <dgm:spPr/>
    </dgm:pt>
    <dgm:pt modelId="{23A2EDD9-C89F-49C9-AE4A-D6196B4CA219}" type="pres">
      <dgm:prSet presAssocID="{193252BB-1661-4EF1-B4B4-B609E884D6B5}" presName="iconBgRect" presStyleLbl="bgShp" presStyleIdx="0" presStyleCnt="3"/>
      <dgm:spPr>
        <a:prstGeom prst="round2DiagRect">
          <a:avLst>
            <a:gd name="adj1" fmla="val 29727"/>
            <a:gd name="adj2" fmla="val 0"/>
          </a:avLst>
        </a:prstGeom>
        <a:solidFill>
          <a:schemeClr val="accent5"/>
        </a:solidFill>
      </dgm:spPr>
    </dgm:pt>
    <dgm:pt modelId="{AFF6CE53-2172-43E4-BC33-3C48272DDCF0}" type="pres">
      <dgm:prSet presAssocID="{193252BB-1661-4EF1-B4B4-B609E884D6B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8CFED58E-CED6-48CB-AD6E-8A220711C954}" type="pres">
      <dgm:prSet presAssocID="{193252BB-1661-4EF1-B4B4-B609E884D6B5}" presName="spaceRect" presStyleCnt="0"/>
      <dgm:spPr/>
    </dgm:pt>
    <dgm:pt modelId="{B2757675-DFB6-4B33-9701-161572571D2B}" type="pres">
      <dgm:prSet presAssocID="{193252BB-1661-4EF1-B4B4-B609E884D6B5}" presName="textRect" presStyleLbl="revTx" presStyleIdx="0" presStyleCnt="3">
        <dgm:presLayoutVars>
          <dgm:chMax val="1"/>
          <dgm:chPref val="1"/>
        </dgm:presLayoutVars>
      </dgm:prSet>
      <dgm:spPr/>
      <dgm:t>
        <a:bodyPr/>
        <a:lstStyle/>
        <a:p>
          <a:endParaRPr lang="en-US"/>
        </a:p>
      </dgm:t>
    </dgm:pt>
    <dgm:pt modelId="{FF5FC25A-8895-4059-A7CB-AC8E769B2E4B}" type="pres">
      <dgm:prSet presAssocID="{54292CB0-011E-4706-9294-372AD5816BB9}" presName="sibTrans" presStyleCnt="0"/>
      <dgm:spPr/>
    </dgm:pt>
    <dgm:pt modelId="{F181BEB4-66E0-4B62-8712-BD0A64659834}" type="pres">
      <dgm:prSet presAssocID="{1777E161-D0DE-4D31-91FE-E2AD8AAC6AAC}" presName="compNode" presStyleCnt="0"/>
      <dgm:spPr/>
    </dgm:pt>
    <dgm:pt modelId="{0E81F59E-BE24-4A43-8B4D-78AE486DB35A}" type="pres">
      <dgm:prSet presAssocID="{1777E161-D0DE-4D31-91FE-E2AD8AAC6AAC}" presName="iconBgRect" presStyleLbl="bgShp" presStyleIdx="1" presStyleCnt="3"/>
      <dgm:spPr>
        <a:prstGeom prst="round2DiagRect">
          <a:avLst>
            <a:gd name="adj1" fmla="val 29727"/>
            <a:gd name="adj2" fmla="val 0"/>
          </a:avLst>
        </a:prstGeom>
        <a:solidFill>
          <a:schemeClr val="accent5"/>
        </a:solidFill>
      </dgm:spPr>
    </dgm:pt>
    <dgm:pt modelId="{C6C18185-40AF-48A2-8685-C39F432C8E80}" type="pres">
      <dgm:prSet presAssocID="{1777E161-D0DE-4D31-91FE-E2AD8AAC6A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a:blipFill>
        <a:ln>
          <a:noFill/>
        </a:ln>
      </dgm:spPr>
      <dgm:extLst>
        <a:ext uri="{E40237B7-FDA0-4F09-8148-C483321AD2D9}">
          <dgm14:cNvPr xmlns:dgm14="http://schemas.microsoft.com/office/drawing/2010/diagram" id="0" name="" descr="Presentation with bar chart"/>
        </a:ext>
      </dgm:extLst>
    </dgm:pt>
    <dgm:pt modelId="{676699DF-00CC-4F16-B4E6-75EFFED81874}" type="pres">
      <dgm:prSet presAssocID="{1777E161-D0DE-4D31-91FE-E2AD8AAC6AAC}" presName="spaceRect" presStyleCnt="0"/>
      <dgm:spPr/>
    </dgm:pt>
    <dgm:pt modelId="{1CD40C66-A0B4-4978-9941-A79D4CBD111B}" type="pres">
      <dgm:prSet presAssocID="{1777E161-D0DE-4D31-91FE-E2AD8AAC6AAC}" presName="textRect" presStyleLbl="revTx" presStyleIdx="1" presStyleCnt="3">
        <dgm:presLayoutVars>
          <dgm:chMax val="1"/>
          <dgm:chPref val="1"/>
        </dgm:presLayoutVars>
      </dgm:prSet>
      <dgm:spPr/>
      <dgm:t>
        <a:bodyPr/>
        <a:lstStyle/>
        <a:p>
          <a:endParaRPr lang="en-US"/>
        </a:p>
      </dgm:t>
    </dgm:pt>
    <dgm:pt modelId="{F18A00AD-35D1-4313-87F2-111D7B13ECED}" type="pres">
      <dgm:prSet presAssocID="{FB489039-8D8A-4FC2-9B37-994383FDE902}" presName="sibTrans" presStyleCnt="0"/>
      <dgm:spPr/>
    </dgm:pt>
    <dgm:pt modelId="{59EC7549-F063-437F-8388-459A5C769816}" type="pres">
      <dgm:prSet presAssocID="{A0E3938A-38FD-4C6B-BC76-DCF294EE93DC}" presName="compNode" presStyleCnt="0"/>
      <dgm:spPr/>
    </dgm:pt>
    <dgm:pt modelId="{81253FDF-02A1-40D1-89CA-3EA7AF168FD7}" type="pres">
      <dgm:prSet presAssocID="{A0E3938A-38FD-4C6B-BC76-DCF294EE93DC}" presName="iconBgRect" presStyleLbl="bgShp" presStyleIdx="2" presStyleCnt="3"/>
      <dgm:spPr>
        <a:prstGeom prst="round2DiagRect">
          <a:avLst>
            <a:gd name="adj1" fmla="val 29727"/>
            <a:gd name="adj2" fmla="val 0"/>
          </a:avLst>
        </a:prstGeom>
        <a:solidFill>
          <a:schemeClr val="accent5"/>
        </a:solidFill>
      </dgm:spPr>
    </dgm:pt>
    <dgm:pt modelId="{8156E8E0-9CDC-4EAB-A61D-AF474D6D9368}" type="pres">
      <dgm:prSet presAssocID="{A0E3938A-38FD-4C6B-BC76-DCF294EE93D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rcRect/>
          <a:stretch>
            <a:fillRect/>
          </a:stretch>
        </a:blipFill>
        <a:ln>
          <a:noFill/>
        </a:ln>
      </dgm:spPr>
      <dgm:extLst>
        <a:ext uri="{E40237B7-FDA0-4F09-8148-C483321AD2D9}">
          <dgm14:cNvPr xmlns:dgm14="http://schemas.microsoft.com/office/drawing/2010/diagram" id="0" name="" descr="Lightbulb"/>
        </a:ext>
      </dgm:extLst>
    </dgm:pt>
    <dgm:pt modelId="{CF8829A0-3E8F-471E-B721-0E359AF6C976}" type="pres">
      <dgm:prSet presAssocID="{A0E3938A-38FD-4C6B-BC76-DCF294EE93DC}" presName="spaceRect" presStyleCnt="0"/>
      <dgm:spPr/>
    </dgm:pt>
    <dgm:pt modelId="{2DEB68D9-2D2A-405A-A95A-F123B81445D3}" type="pres">
      <dgm:prSet presAssocID="{A0E3938A-38FD-4C6B-BC76-DCF294EE93DC}" presName="textRect" presStyleLbl="revTx" presStyleIdx="2" presStyleCnt="3">
        <dgm:presLayoutVars>
          <dgm:chMax val="1"/>
          <dgm:chPref val="1"/>
        </dgm:presLayoutVars>
      </dgm:prSet>
      <dgm:spPr/>
      <dgm:t>
        <a:bodyPr/>
        <a:lstStyle/>
        <a:p>
          <a:endParaRPr lang="en-US"/>
        </a:p>
      </dgm:t>
    </dgm:pt>
  </dgm:ptLst>
  <dgm:cxnLst>
    <dgm:cxn modelId="{095425F3-197C-4E69-84D5-0C51196EF1C6}" srcId="{34FF870C-5D9B-4878-9827-A3D8F8D3B4C3}" destId="{193252BB-1661-4EF1-B4B4-B609E884D6B5}" srcOrd="0" destOrd="0" parTransId="{5A04EF90-0F09-4424-BA8F-063E80337D8E}" sibTransId="{54292CB0-011E-4706-9294-372AD5816BB9}"/>
    <dgm:cxn modelId="{FA3ECF3F-F2D7-4808-8F32-35657BC1DF89}" type="presOf" srcId="{193252BB-1661-4EF1-B4B4-B609E884D6B5}" destId="{B2757675-DFB6-4B33-9701-161572571D2B}" srcOrd="0" destOrd="0" presId="urn:microsoft.com/office/officeart/2018/5/layout/IconLeafLabelList"/>
    <dgm:cxn modelId="{C3093AB7-9BBB-4595-A705-841ABB75BC49}" type="presOf" srcId="{1777E161-D0DE-4D31-91FE-E2AD8AAC6AAC}" destId="{1CD40C66-A0B4-4978-9941-A79D4CBD111B}" srcOrd="0" destOrd="0" presId="urn:microsoft.com/office/officeart/2018/5/layout/IconLeafLabelList"/>
    <dgm:cxn modelId="{A341BC0D-6DD3-4979-9832-08DC41068DC6}" srcId="{34FF870C-5D9B-4878-9827-A3D8F8D3B4C3}" destId="{1777E161-D0DE-4D31-91FE-E2AD8AAC6AAC}" srcOrd="1" destOrd="0" parTransId="{50E45982-4B36-4BD3-ABAD-204FBA61FF0E}" sibTransId="{FB489039-8D8A-4FC2-9B37-994383FDE902}"/>
    <dgm:cxn modelId="{472D2D17-E245-46DF-98A5-C38415CADC1E}" type="presOf" srcId="{A0E3938A-38FD-4C6B-BC76-DCF294EE93DC}" destId="{2DEB68D9-2D2A-405A-A95A-F123B81445D3}" srcOrd="0" destOrd="0" presId="urn:microsoft.com/office/officeart/2018/5/layout/IconLeafLabelList"/>
    <dgm:cxn modelId="{F1960191-6C4D-45E6-A70C-022CDEE00113}" srcId="{34FF870C-5D9B-4878-9827-A3D8F8D3B4C3}" destId="{A0E3938A-38FD-4C6B-BC76-DCF294EE93DC}" srcOrd="2" destOrd="0" parTransId="{8655D1BC-F152-4DA3-90FE-11A6554E87C9}" sibTransId="{7DE219E0-15AA-4B4B-9BED-F21993E27992}"/>
    <dgm:cxn modelId="{B126511F-11FF-4EDD-85D7-D89737033340}" type="presOf" srcId="{34FF870C-5D9B-4878-9827-A3D8F8D3B4C3}" destId="{D2FA40C6-C0ED-46A3-92CE-B081053B2BA8}" srcOrd="0" destOrd="0" presId="urn:microsoft.com/office/officeart/2018/5/layout/IconLeafLabelList"/>
    <dgm:cxn modelId="{CFFB4A70-BD6C-4082-9DB4-48041D051C82}" type="presParOf" srcId="{D2FA40C6-C0ED-46A3-92CE-B081053B2BA8}" destId="{4F71816B-273C-49A1-A458-BCE14C9FAD7C}" srcOrd="0" destOrd="0" presId="urn:microsoft.com/office/officeart/2018/5/layout/IconLeafLabelList"/>
    <dgm:cxn modelId="{697C797D-B0A3-487C-82FB-C6242AC02007}" type="presParOf" srcId="{4F71816B-273C-49A1-A458-BCE14C9FAD7C}" destId="{23A2EDD9-C89F-49C9-AE4A-D6196B4CA219}" srcOrd="0" destOrd="0" presId="urn:microsoft.com/office/officeart/2018/5/layout/IconLeafLabelList"/>
    <dgm:cxn modelId="{DF512F07-EEDC-4E6F-8099-188C14ECF869}" type="presParOf" srcId="{4F71816B-273C-49A1-A458-BCE14C9FAD7C}" destId="{AFF6CE53-2172-43E4-BC33-3C48272DDCF0}" srcOrd="1" destOrd="0" presId="urn:microsoft.com/office/officeart/2018/5/layout/IconLeafLabelList"/>
    <dgm:cxn modelId="{9D5B3B65-8825-47E0-95F3-9A1D2B1E6DD6}" type="presParOf" srcId="{4F71816B-273C-49A1-A458-BCE14C9FAD7C}" destId="{8CFED58E-CED6-48CB-AD6E-8A220711C954}" srcOrd="2" destOrd="0" presId="urn:microsoft.com/office/officeart/2018/5/layout/IconLeafLabelList"/>
    <dgm:cxn modelId="{1E9B72B2-2AB0-418C-94B5-6567B0CCC879}" type="presParOf" srcId="{4F71816B-273C-49A1-A458-BCE14C9FAD7C}" destId="{B2757675-DFB6-4B33-9701-161572571D2B}" srcOrd="3" destOrd="0" presId="urn:microsoft.com/office/officeart/2018/5/layout/IconLeafLabelList"/>
    <dgm:cxn modelId="{127552B3-8890-4CBD-B12B-9C8A4BCA5A9E}" type="presParOf" srcId="{D2FA40C6-C0ED-46A3-92CE-B081053B2BA8}" destId="{FF5FC25A-8895-4059-A7CB-AC8E769B2E4B}" srcOrd="1" destOrd="0" presId="urn:microsoft.com/office/officeart/2018/5/layout/IconLeafLabelList"/>
    <dgm:cxn modelId="{1C669417-79B7-433E-A975-738A07EE9783}" type="presParOf" srcId="{D2FA40C6-C0ED-46A3-92CE-B081053B2BA8}" destId="{F181BEB4-66E0-4B62-8712-BD0A64659834}" srcOrd="2" destOrd="0" presId="urn:microsoft.com/office/officeart/2018/5/layout/IconLeafLabelList"/>
    <dgm:cxn modelId="{9C7F80FB-C680-4E35-AD11-9BE4BD6556F1}" type="presParOf" srcId="{F181BEB4-66E0-4B62-8712-BD0A64659834}" destId="{0E81F59E-BE24-4A43-8B4D-78AE486DB35A}" srcOrd="0" destOrd="0" presId="urn:microsoft.com/office/officeart/2018/5/layout/IconLeafLabelList"/>
    <dgm:cxn modelId="{998459A1-F347-48D8-BB50-EB12075F5FDA}" type="presParOf" srcId="{F181BEB4-66E0-4B62-8712-BD0A64659834}" destId="{C6C18185-40AF-48A2-8685-C39F432C8E80}" srcOrd="1" destOrd="0" presId="urn:microsoft.com/office/officeart/2018/5/layout/IconLeafLabelList"/>
    <dgm:cxn modelId="{EC8BA919-8D94-4FB4-BC09-6604E9B16BBF}" type="presParOf" srcId="{F181BEB4-66E0-4B62-8712-BD0A64659834}" destId="{676699DF-00CC-4F16-B4E6-75EFFED81874}" srcOrd="2" destOrd="0" presId="urn:microsoft.com/office/officeart/2018/5/layout/IconLeafLabelList"/>
    <dgm:cxn modelId="{99E65743-4445-4C74-BBE7-040C68F4FF62}" type="presParOf" srcId="{F181BEB4-66E0-4B62-8712-BD0A64659834}" destId="{1CD40C66-A0B4-4978-9941-A79D4CBD111B}" srcOrd="3" destOrd="0" presId="urn:microsoft.com/office/officeart/2018/5/layout/IconLeafLabelList"/>
    <dgm:cxn modelId="{044D2D07-87CA-47BD-BFAF-AD1C67AA89AA}" type="presParOf" srcId="{D2FA40C6-C0ED-46A3-92CE-B081053B2BA8}" destId="{F18A00AD-35D1-4313-87F2-111D7B13ECED}" srcOrd="3" destOrd="0" presId="urn:microsoft.com/office/officeart/2018/5/layout/IconLeafLabelList"/>
    <dgm:cxn modelId="{8A2DCF1E-4E06-4424-AA2E-B74ACB475E11}" type="presParOf" srcId="{D2FA40C6-C0ED-46A3-92CE-B081053B2BA8}" destId="{59EC7549-F063-437F-8388-459A5C769816}" srcOrd="4" destOrd="0" presId="urn:microsoft.com/office/officeart/2018/5/layout/IconLeafLabelList"/>
    <dgm:cxn modelId="{9F0E93DA-CF03-4DEE-B53D-F38603507FC7}" type="presParOf" srcId="{59EC7549-F063-437F-8388-459A5C769816}" destId="{81253FDF-02A1-40D1-89CA-3EA7AF168FD7}" srcOrd="0" destOrd="0" presId="urn:microsoft.com/office/officeart/2018/5/layout/IconLeafLabelList"/>
    <dgm:cxn modelId="{4D35F28B-EF19-4A81-863F-ABB1FD8C2333}" type="presParOf" srcId="{59EC7549-F063-437F-8388-459A5C769816}" destId="{8156E8E0-9CDC-4EAB-A61D-AF474D6D9368}" srcOrd="1" destOrd="0" presId="urn:microsoft.com/office/officeart/2018/5/layout/IconLeafLabelList"/>
    <dgm:cxn modelId="{6D4CD298-2BC6-42A7-91B3-33BBA4EB1AE7}" type="presParOf" srcId="{59EC7549-F063-437F-8388-459A5C769816}" destId="{CF8829A0-3E8F-471E-B721-0E359AF6C976}" srcOrd="2" destOrd="0" presId="urn:microsoft.com/office/officeart/2018/5/layout/IconLeafLabelList"/>
    <dgm:cxn modelId="{F6EAE01F-088E-445D-B1CC-B67F9FD8C8D6}" type="presParOf" srcId="{59EC7549-F063-437F-8388-459A5C769816}" destId="{2DEB68D9-2D2A-405A-A95A-F123B81445D3}"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2EDD9-C89F-49C9-AE4A-D6196B4CA219}">
      <dsp:nvSpPr>
        <dsp:cNvPr id="0" name=""/>
        <dsp:cNvSpPr/>
      </dsp:nvSpPr>
      <dsp:spPr>
        <a:xfrm>
          <a:off x="638099" y="305700"/>
          <a:ext cx="1715625" cy="1715625"/>
        </a:xfrm>
        <a:prstGeom prst="round2DiagRect">
          <a:avLst>
            <a:gd name="adj1" fmla="val 29727"/>
            <a:gd name="adj2" fmla="val 0"/>
          </a:avLst>
        </a:prstGeom>
        <a:solidFill>
          <a:schemeClr val="accent5"/>
        </a:solidFill>
        <a:ln>
          <a:noFill/>
        </a:ln>
        <a:effectLst/>
      </dsp:spPr>
      <dsp:style>
        <a:lnRef idx="0">
          <a:scrgbClr r="0" g="0" b="0"/>
        </a:lnRef>
        <a:fillRef idx="1">
          <a:scrgbClr r="0" g="0" b="0"/>
        </a:fillRef>
        <a:effectRef idx="0">
          <a:scrgbClr r="0" g="0" b="0"/>
        </a:effectRef>
        <a:fontRef idx="minor"/>
      </dsp:style>
    </dsp:sp>
    <dsp:sp modelId="{AFF6CE53-2172-43E4-BC33-3C48272DDCF0}">
      <dsp:nvSpPr>
        <dsp:cNvPr id="0" name=""/>
        <dsp:cNvSpPr/>
      </dsp:nvSpPr>
      <dsp:spPr>
        <a:xfrm>
          <a:off x="1003724" y="671325"/>
          <a:ext cx="984375" cy="98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rcRect/>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2757675-DFB6-4B33-9701-161572571D2B}">
      <dsp:nvSpPr>
        <dsp:cNvPr id="0" name=""/>
        <dsp:cNvSpPr/>
      </dsp:nvSpPr>
      <dsp:spPr>
        <a:xfrm>
          <a:off x="89662" y="2555700"/>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1111250">
            <a:lnSpc>
              <a:spcPct val="100000"/>
            </a:lnSpc>
            <a:spcBef>
              <a:spcPct val="0"/>
            </a:spcBef>
            <a:spcAft>
              <a:spcPct val="35000"/>
            </a:spcAft>
            <a:defRPr cap="all"/>
          </a:pPr>
          <a:r>
            <a:rPr lang="en-US" sz="2500" kern="1200" dirty="0"/>
            <a:t>lorem ipsum dolor</a:t>
          </a:r>
        </a:p>
      </dsp:txBody>
      <dsp:txXfrm>
        <a:off x="89662" y="2555700"/>
        <a:ext cx="2812500" cy="720000"/>
      </dsp:txXfrm>
    </dsp:sp>
    <dsp:sp modelId="{0E81F59E-BE24-4A43-8B4D-78AE486DB35A}">
      <dsp:nvSpPr>
        <dsp:cNvPr id="0" name=""/>
        <dsp:cNvSpPr/>
      </dsp:nvSpPr>
      <dsp:spPr>
        <a:xfrm>
          <a:off x="3942787" y="305700"/>
          <a:ext cx="1715625" cy="1715625"/>
        </a:xfrm>
        <a:prstGeom prst="round2DiagRect">
          <a:avLst>
            <a:gd name="adj1" fmla="val 29727"/>
            <a:gd name="adj2" fmla="val 0"/>
          </a:avLst>
        </a:prstGeom>
        <a:solidFill>
          <a:schemeClr val="accent5"/>
        </a:solidFill>
        <a:ln>
          <a:noFill/>
        </a:ln>
        <a:effectLst/>
      </dsp:spPr>
      <dsp:style>
        <a:lnRef idx="0">
          <a:scrgbClr r="0" g="0" b="0"/>
        </a:lnRef>
        <a:fillRef idx="1">
          <a:scrgbClr r="0" g="0" b="0"/>
        </a:fillRef>
        <a:effectRef idx="0">
          <a:scrgbClr r="0" g="0" b="0"/>
        </a:effectRef>
        <a:fontRef idx="minor"/>
      </dsp:style>
    </dsp:sp>
    <dsp:sp modelId="{C6C18185-40AF-48A2-8685-C39F432C8E80}">
      <dsp:nvSpPr>
        <dsp:cNvPr id="0" name=""/>
        <dsp:cNvSpPr/>
      </dsp:nvSpPr>
      <dsp:spPr>
        <a:xfrm>
          <a:off x="4308412" y="671325"/>
          <a:ext cx="984375" cy="98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CD40C66-A0B4-4978-9941-A79D4CBD111B}">
      <dsp:nvSpPr>
        <dsp:cNvPr id="0" name=""/>
        <dsp:cNvSpPr/>
      </dsp:nvSpPr>
      <dsp:spPr>
        <a:xfrm>
          <a:off x="3394350" y="2555700"/>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1111250">
            <a:lnSpc>
              <a:spcPct val="100000"/>
            </a:lnSpc>
            <a:spcBef>
              <a:spcPct val="0"/>
            </a:spcBef>
            <a:spcAft>
              <a:spcPct val="35000"/>
            </a:spcAft>
            <a:defRPr cap="all"/>
          </a:pPr>
          <a:r>
            <a:rPr lang="en-US" sz="2500" kern="1200" dirty="0"/>
            <a:t>lorem ipsum dolor</a:t>
          </a:r>
        </a:p>
      </dsp:txBody>
      <dsp:txXfrm>
        <a:off x="3394350" y="2555700"/>
        <a:ext cx="2812500" cy="720000"/>
      </dsp:txXfrm>
    </dsp:sp>
    <dsp:sp modelId="{81253FDF-02A1-40D1-89CA-3EA7AF168FD7}">
      <dsp:nvSpPr>
        <dsp:cNvPr id="0" name=""/>
        <dsp:cNvSpPr/>
      </dsp:nvSpPr>
      <dsp:spPr>
        <a:xfrm>
          <a:off x="7247475" y="305700"/>
          <a:ext cx="1715625" cy="1715625"/>
        </a:xfrm>
        <a:prstGeom prst="round2DiagRect">
          <a:avLst>
            <a:gd name="adj1" fmla="val 29727"/>
            <a:gd name="adj2" fmla="val 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156E8E0-9CDC-4EAB-A61D-AF474D6D9368}">
      <dsp:nvSpPr>
        <dsp:cNvPr id="0" name=""/>
        <dsp:cNvSpPr/>
      </dsp:nvSpPr>
      <dsp:spPr>
        <a:xfrm>
          <a:off x="7613100" y="671325"/>
          <a:ext cx="984375" cy="984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rcRect/>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2DEB68D9-2D2A-405A-A95A-F123B81445D3}">
      <dsp:nvSpPr>
        <dsp:cNvPr id="0" name=""/>
        <dsp:cNvSpPr/>
      </dsp:nvSpPr>
      <dsp:spPr>
        <a:xfrm>
          <a:off x="6699037" y="2555700"/>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1111250">
            <a:lnSpc>
              <a:spcPct val="100000"/>
            </a:lnSpc>
            <a:spcBef>
              <a:spcPct val="0"/>
            </a:spcBef>
            <a:spcAft>
              <a:spcPct val="35000"/>
            </a:spcAft>
            <a:defRPr cap="all"/>
          </a:pPr>
          <a:r>
            <a:rPr lang="en-US" sz="2500" kern="1200" dirty="0"/>
            <a:t>lorem ipsum dolor</a:t>
          </a:r>
        </a:p>
      </dsp:txBody>
      <dsp:txXfrm>
        <a:off x="6699037" y="2555700"/>
        <a:ext cx="2812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xmlns="">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5/25/2025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5/25/2025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5/25/2025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5/25/2025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5/25/2025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5/25/2025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5/25/2025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5/25/2025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5/25/2025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5/25/2025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20" y="10"/>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98010" y="4333009"/>
            <a:ext cx="5268177" cy="1086237"/>
          </a:xfrm>
        </p:spPr>
        <p:txBody>
          <a:bodyPr>
            <a:normAutofit/>
          </a:bodyPr>
          <a:lstStyle/>
          <a:p>
            <a:pPr algn="l"/>
            <a:endParaRPr lang="en-US" sz="3600" dirty="0">
              <a:solidFill>
                <a:srgbClr val="FFFFFF"/>
              </a:solidFill>
            </a:endParaRP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298010" y="5419246"/>
            <a:ext cx="5268177" cy="531866"/>
          </a:xfrm>
        </p:spPr>
        <p:txBody>
          <a:bodyPr>
            <a:normAutofit/>
          </a:bodyPr>
          <a:lstStyle/>
          <a:p>
            <a:pPr algn="l">
              <a:spcAft>
                <a:spcPts val="600"/>
              </a:spcAft>
            </a:pPr>
            <a:endParaRPr lang="en-US" sz="1800" dirty="0">
              <a:solidFill>
                <a:srgbClr val="FFFFFF"/>
              </a:solidFill>
            </a:endParaRPr>
          </a:p>
        </p:txBody>
      </p:sp>
    </p:spTree>
    <p:extLst>
      <p:ext uri="{BB962C8B-B14F-4D97-AF65-F5344CB8AC3E}">
        <p14:creationId xmlns:p14="http://schemas.microsoft.com/office/powerpoint/2010/main" val="745576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Discrete  </a:t>
            </a:r>
            <a:r>
              <a:rPr lang="en-US" b="1" dirty="0">
                <a:solidFill>
                  <a:srgbClr val="FF0000"/>
                </a:solidFill>
              </a:rPr>
              <a:t>system simulation</a:t>
            </a:r>
          </a:p>
        </p:txBody>
      </p:sp>
      <p:sp>
        <p:nvSpPr>
          <p:cNvPr id="3" name="Content Placeholder 2"/>
          <p:cNvSpPr>
            <a:spLocks noGrp="1"/>
          </p:cNvSpPr>
          <p:nvPr>
            <p:ph idx="1"/>
          </p:nvPr>
        </p:nvSpPr>
        <p:spPr/>
        <p:txBody>
          <a:bodyPr/>
          <a:lstStyle/>
          <a:p>
            <a:r>
              <a:rPr lang="en-US" dirty="0"/>
              <a:t>In discrete systems, the changes in the system state are discontinuous and each change in the state of the system is called an </a:t>
            </a:r>
            <a:r>
              <a:rPr lang="en-US" b="1" dirty="0"/>
              <a:t>event</a:t>
            </a:r>
            <a:r>
              <a:rPr lang="en-US" dirty="0" smtClean="0"/>
              <a:t>.</a:t>
            </a:r>
          </a:p>
          <a:p>
            <a:r>
              <a:rPr lang="en-US" dirty="0" smtClean="0"/>
              <a:t> </a:t>
            </a:r>
            <a:r>
              <a:rPr lang="en-US" dirty="0"/>
              <a:t>The model used in a discrete system simulation has a set of numbers to represent the state of the system, called as a </a:t>
            </a:r>
            <a:r>
              <a:rPr lang="en-US" b="1" dirty="0"/>
              <a:t>state descriptor</a:t>
            </a:r>
            <a:r>
              <a:rPr lang="en-US" dirty="0"/>
              <a:t>. In this chapter, we will also learn about queuing simulation, which is a very important aspect in discrete event simulation along with simulation of time-sharing system.</a:t>
            </a:r>
          </a:p>
          <a:p>
            <a:r>
              <a:rPr lang="en-US" dirty="0"/>
              <a:t>Following is the graphical representation of the behavior of a discrete system simulation.</a:t>
            </a:r>
          </a:p>
          <a:p>
            <a:endParaRPr lang="en-US" dirty="0"/>
          </a:p>
        </p:txBody>
      </p:sp>
      <p:pic>
        <p:nvPicPr>
          <p:cNvPr id="4" name="Picture 3"/>
          <p:cNvPicPr>
            <a:picLocks noChangeAspect="1"/>
          </p:cNvPicPr>
          <p:nvPr/>
        </p:nvPicPr>
        <p:blipFill>
          <a:blip r:embed="rId2"/>
          <a:stretch>
            <a:fillRect/>
          </a:stretch>
        </p:blipFill>
        <p:spPr>
          <a:xfrm>
            <a:off x="4267744" y="4600575"/>
            <a:ext cx="4419056" cy="2257425"/>
          </a:xfrm>
          <a:prstGeom prst="rect">
            <a:avLst/>
          </a:prstGeom>
        </p:spPr>
      </p:pic>
    </p:spTree>
    <p:extLst>
      <p:ext uri="{BB962C8B-B14F-4D97-AF65-F5344CB8AC3E}">
        <p14:creationId xmlns:p14="http://schemas.microsoft.com/office/powerpoint/2010/main" val="634059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nSpc>
                <a:spcPct val="94000"/>
              </a:lnSpc>
              <a:spcBef>
                <a:spcPts val="1000"/>
              </a:spcBef>
              <a:spcAft>
                <a:spcPts val="200"/>
              </a:spcAft>
            </a:pPr>
            <a:r>
              <a:rPr lang="en-US" b="1" dirty="0">
                <a:solidFill>
                  <a:srgbClr val="FF0000"/>
                </a:solidFill>
              </a:rPr>
              <a:t>Representation of Time::</a:t>
            </a:r>
            <a:r>
              <a:rPr lang="en-US" dirty="0"/>
              <a:t/>
            </a:r>
            <a:br>
              <a:rPr lang="en-US" dirty="0"/>
            </a:br>
            <a:r>
              <a:rPr lang="en-US" sz="1900" b="1" dirty="0">
                <a:solidFill>
                  <a:srgbClr val="002060"/>
                </a:solidFill>
                <a:ea typeface="+mn-ea"/>
                <a:cs typeface="+mn-cs"/>
              </a:rPr>
              <a:t>Question: How time is represented in discrete system simulation? </a:t>
            </a:r>
            <a:r>
              <a:rPr lang="en-US" sz="1900" dirty="0">
                <a:solidFill>
                  <a:srgbClr val="191B0E"/>
                </a:solidFill>
                <a:ea typeface="+mn-ea"/>
                <a:cs typeface="+mn-cs"/>
              </a:rPr>
              <a:t/>
            </a:r>
            <a:br>
              <a:rPr lang="en-US" sz="1900" dirty="0">
                <a:solidFill>
                  <a:srgbClr val="191B0E"/>
                </a:solidFill>
                <a:ea typeface="+mn-ea"/>
                <a:cs typeface="+mn-cs"/>
              </a:rPr>
            </a:br>
            <a:endParaRPr lang="en-US" dirty="0"/>
          </a:p>
        </p:txBody>
      </p:sp>
      <p:sp>
        <p:nvSpPr>
          <p:cNvPr id="3" name="Content Placeholder 2"/>
          <p:cNvSpPr>
            <a:spLocks noGrp="1"/>
          </p:cNvSpPr>
          <p:nvPr>
            <p:ph idx="1"/>
          </p:nvPr>
        </p:nvSpPr>
        <p:spPr/>
        <p:txBody>
          <a:bodyPr>
            <a:normAutofit lnSpcReduction="10000"/>
          </a:bodyPr>
          <a:lstStyle/>
          <a:p>
            <a:r>
              <a:rPr lang="en-US" dirty="0" smtClean="0"/>
              <a:t>Answer</a:t>
            </a:r>
            <a:r>
              <a:rPr lang="en-US" dirty="0"/>
              <a:t>: In simulation, the passage of time is recorded by a number referred to as clock time. It is usually set to zero at the beginning of a simulation and subsequently indicates how many units of simulated times has passed since the beginning of the simulation. The term simulation time means the indicated clock time and not the time a computer has taken to carry out the simulation. As a rule, there is no direct connection between the simulated time and the time taken to carry out the computations. Depending upon the nature of the system being simulated, and the detail to which it is modeled, the ratio to the simulated time to the real time taken can very enormously.</a:t>
            </a:r>
          </a:p>
          <a:p>
            <a:r>
              <a:rPr lang="en-US" dirty="0"/>
              <a:t>For example, the simulation of an economic system, where events have been aggregated to occur once a year, a hundred years of operation could easily be performed in a few minutes of calculations</a:t>
            </a:r>
          </a:p>
        </p:txBody>
      </p:sp>
    </p:spTree>
    <p:extLst>
      <p:ext uri="{BB962C8B-B14F-4D97-AF65-F5344CB8AC3E}">
        <p14:creationId xmlns:p14="http://schemas.microsoft.com/office/powerpoint/2010/main" val="15962942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012371"/>
          </a:xfrm>
        </p:spPr>
        <p:txBody>
          <a:bodyPr>
            <a:normAutofit fontScale="90000"/>
          </a:bodyPr>
          <a:lstStyle/>
          <a:p>
            <a:pPr lvl="0"/>
            <a:r>
              <a:rPr lang="en-US" altLang="en-US" sz="1800" b="1" dirty="0" smtClean="0">
                <a:solidFill>
                  <a:srgbClr val="C00000"/>
                </a:solidFill>
                <a:latin typeface="France"/>
                <a:cs typeface="Calibri" panose="020F0502020204030204" pitchFamily="34" charset="0"/>
              </a:rPr>
              <a:t>Updating  </a:t>
            </a:r>
            <a:r>
              <a:rPr lang="en-US" altLang="en-US" sz="1800" b="1" dirty="0">
                <a:solidFill>
                  <a:srgbClr val="C00000"/>
                </a:solidFill>
                <a:latin typeface="France"/>
                <a:cs typeface="Calibri" panose="020F0502020204030204" pitchFamily="34" charset="0"/>
              </a:rPr>
              <a:t>clock time</a:t>
            </a:r>
            <a:r>
              <a:rPr lang="en-US" altLang="en-US" sz="1800" b="1" dirty="0" smtClean="0">
                <a:solidFill>
                  <a:srgbClr val="002060"/>
                </a:solidFill>
                <a:latin typeface="France"/>
                <a:cs typeface="Calibri" panose="020F0502020204030204" pitchFamily="34" charset="0"/>
              </a:rPr>
              <a:t/>
            </a:r>
            <a:br>
              <a:rPr lang="en-US" altLang="en-US" sz="1800" b="1" dirty="0" smtClean="0">
                <a:solidFill>
                  <a:srgbClr val="002060"/>
                </a:solidFill>
                <a:latin typeface="France"/>
                <a:cs typeface="Calibri" panose="020F0502020204030204" pitchFamily="34" charset="0"/>
              </a:rPr>
            </a:br>
            <a:r>
              <a:rPr lang="en-US" altLang="en-US" sz="1800" b="1" dirty="0" smtClean="0">
                <a:solidFill>
                  <a:srgbClr val="002060"/>
                </a:solidFill>
                <a:latin typeface="France"/>
                <a:cs typeface="Calibri" panose="020F0502020204030204" pitchFamily="34" charset="0"/>
              </a:rPr>
              <a:t>Question</a:t>
            </a:r>
            <a:r>
              <a:rPr lang="en-US" altLang="en-US" sz="1800" b="1" dirty="0">
                <a:solidFill>
                  <a:srgbClr val="002060"/>
                </a:solidFill>
                <a:latin typeface="France"/>
                <a:cs typeface="Calibri" panose="020F0502020204030204" pitchFamily="34" charset="0"/>
              </a:rPr>
              <a:t>: Discuss the basic methods used for updating clock time (simulation clock time) in (discrete) system simulation. </a:t>
            </a:r>
            <a:r>
              <a:rPr lang="en-US" altLang="en-US" sz="1800" b="1" dirty="0">
                <a:solidFill>
                  <a:srgbClr val="002060"/>
                </a:solidFill>
              </a:rPr>
              <a:t/>
            </a:r>
            <a:br>
              <a:rPr lang="en-US" altLang="en-US" sz="1800" b="1" dirty="0">
                <a:solidFill>
                  <a:srgbClr val="002060"/>
                </a:solidFill>
              </a:rPr>
            </a:br>
            <a:endParaRPr lang="en-US" sz="1800" b="1" dirty="0">
              <a:solidFill>
                <a:srgbClr val="002060"/>
              </a:solidFill>
            </a:endParaRPr>
          </a:p>
        </p:txBody>
      </p:sp>
      <p:sp>
        <p:nvSpPr>
          <p:cNvPr id="3" name="Content Placeholder 2"/>
          <p:cNvSpPr>
            <a:spLocks noGrp="1"/>
          </p:cNvSpPr>
          <p:nvPr>
            <p:ph idx="1"/>
          </p:nvPr>
        </p:nvSpPr>
        <p:spPr>
          <a:xfrm>
            <a:off x="1371600" y="1436914"/>
            <a:ext cx="10398034" cy="5172892"/>
          </a:xfrm>
        </p:spPr>
        <p:txBody>
          <a:bodyPr>
            <a:normAutofit lnSpcReduction="10000"/>
          </a:bodyPr>
          <a:lstStyle/>
          <a:p>
            <a:pPr marL="0" lvl="0" indent="0" algn="just" eaLnBrk="0" fontAlgn="base" hangingPunct="0">
              <a:lnSpc>
                <a:spcPct val="100000"/>
              </a:lnSpc>
              <a:spcBef>
                <a:spcPct val="0"/>
              </a:spcBef>
              <a:spcAft>
                <a:spcPct val="0"/>
              </a:spcAft>
              <a:buNone/>
            </a:pPr>
            <a:r>
              <a:rPr lang="en-US" altLang="en-US" sz="1400" dirty="0" smtClean="0">
                <a:solidFill>
                  <a:srgbClr val="4D4D4D"/>
                </a:solidFill>
                <a:latin typeface="France"/>
                <a:cs typeface="Calibri" panose="020F0502020204030204" pitchFamily="34" charset="0"/>
              </a:rPr>
              <a:t>Answer</a:t>
            </a:r>
            <a:r>
              <a:rPr lang="en-US" altLang="en-US" sz="1400" dirty="0">
                <a:solidFill>
                  <a:srgbClr val="4D4D4D"/>
                </a:solidFill>
                <a:latin typeface="France"/>
                <a:cs typeface="Calibri" panose="020F0502020204030204" pitchFamily="34" charset="0"/>
              </a:rPr>
              <a:t>:</a:t>
            </a:r>
            <a:r>
              <a:rPr lang="en-US" altLang="en-US" dirty="0">
                <a:solidFill>
                  <a:srgbClr val="4D4D4D"/>
                </a:solidFill>
                <a:latin typeface="Book Antiqua" panose="02040602050305030304" pitchFamily="18" charset="0"/>
                <a:cs typeface="Calibri" panose="020F0502020204030204" pitchFamily="34" charset="0"/>
              </a:rPr>
              <a:t> Two basic methods exist for updating simulation clock time:</a:t>
            </a:r>
            <a:endParaRPr lang="en-US" altLang="en-US" dirty="0">
              <a:solidFill>
                <a:schemeClr val="tx1"/>
              </a:solidFill>
            </a:endParaRPr>
          </a:p>
          <a:p>
            <a:pPr marL="0" lvl="0" indent="0" algn="just" eaLnBrk="0" fontAlgn="base" hangingPunct="0">
              <a:lnSpc>
                <a:spcPct val="100000"/>
              </a:lnSpc>
              <a:spcBef>
                <a:spcPct val="0"/>
              </a:spcBef>
              <a:spcAft>
                <a:spcPct val="0"/>
              </a:spcAft>
              <a:buFontTx/>
              <a:buAutoNum type="arabicPeriod"/>
            </a:pPr>
            <a:r>
              <a:rPr lang="en-US" altLang="en-US" dirty="0">
                <a:solidFill>
                  <a:srgbClr val="4D4D4D"/>
                </a:solidFill>
                <a:latin typeface="Book Antiqua" panose="02040602050305030304" pitchFamily="18" charset="0"/>
                <a:cs typeface="Calibri" panose="020F0502020204030204" pitchFamily="34" charset="0"/>
              </a:rPr>
              <a:t>The 1</a:t>
            </a:r>
            <a:r>
              <a:rPr lang="en-US" altLang="en-US" baseline="30000" dirty="0">
                <a:solidFill>
                  <a:srgbClr val="4D4D4D"/>
                </a:solidFill>
                <a:latin typeface="Book Antiqua" panose="02040602050305030304" pitchFamily="18" charset="0"/>
                <a:cs typeface="Calibri" panose="020F0502020204030204" pitchFamily="34" charset="0"/>
              </a:rPr>
              <a:t>st</a:t>
            </a:r>
            <a:r>
              <a:rPr lang="en-US" altLang="en-US" dirty="0">
                <a:solidFill>
                  <a:srgbClr val="4D4D4D"/>
                </a:solidFill>
                <a:latin typeface="Book Antiqua" panose="02040602050305030304" pitchFamily="18" charset="0"/>
                <a:cs typeface="Calibri" panose="020F0502020204030204" pitchFamily="34" charset="0"/>
              </a:rPr>
              <a:t> method is referred to as event-oriented and</a:t>
            </a:r>
            <a:endParaRPr lang="en-US" altLang="en-US" sz="1400" dirty="0">
              <a:solidFill>
                <a:srgbClr val="4D4D4D"/>
              </a:solidFill>
              <a:latin typeface="Calibri" panose="020F0502020204030204" pitchFamily="34" charset="0"/>
              <a:cs typeface="Calibri" panose="020F0502020204030204" pitchFamily="34" charset="0"/>
            </a:endParaRPr>
          </a:p>
          <a:p>
            <a:pPr marL="0" lvl="0" indent="0" algn="just" eaLnBrk="0" fontAlgn="base" hangingPunct="0">
              <a:lnSpc>
                <a:spcPct val="100000"/>
              </a:lnSpc>
              <a:spcBef>
                <a:spcPct val="0"/>
              </a:spcBef>
              <a:spcAft>
                <a:spcPct val="0"/>
              </a:spcAft>
              <a:buFontTx/>
              <a:buAutoNum type="arabicPeriod" startAt="2"/>
            </a:pPr>
            <a:r>
              <a:rPr lang="en-US" altLang="en-US" dirty="0">
                <a:solidFill>
                  <a:srgbClr val="4D4D4D"/>
                </a:solidFill>
                <a:latin typeface="Book Antiqua" panose="02040602050305030304" pitchFamily="18" charset="0"/>
                <a:cs typeface="Calibri" panose="020F0502020204030204" pitchFamily="34" charset="0"/>
              </a:rPr>
              <a:t>The 2</a:t>
            </a:r>
            <a:r>
              <a:rPr lang="en-US" altLang="en-US" baseline="30000" dirty="0">
                <a:solidFill>
                  <a:srgbClr val="4D4D4D"/>
                </a:solidFill>
                <a:latin typeface="Book Antiqua" panose="02040602050305030304" pitchFamily="18" charset="0"/>
                <a:cs typeface="Calibri" panose="020F0502020204030204" pitchFamily="34" charset="0"/>
              </a:rPr>
              <a:t>nd</a:t>
            </a:r>
            <a:r>
              <a:rPr lang="en-US" altLang="en-US" dirty="0">
                <a:solidFill>
                  <a:srgbClr val="4D4D4D"/>
                </a:solidFill>
                <a:latin typeface="Book Antiqua" panose="02040602050305030304" pitchFamily="18" charset="0"/>
                <a:cs typeface="Calibri" panose="020F0502020204030204" pitchFamily="34" charset="0"/>
              </a:rPr>
              <a:t> method is referred to as interval-oriented.</a:t>
            </a:r>
            <a:endParaRPr lang="en-US" altLang="en-US" sz="1400" dirty="0">
              <a:solidFill>
                <a:srgbClr val="4D4D4D"/>
              </a:solidFill>
              <a:latin typeface="Calibri" panose="020F0502020204030204" pitchFamily="34" charset="0"/>
              <a:cs typeface="Calibri" panose="020F0502020204030204" pitchFamily="34" charset="0"/>
            </a:endParaRPr>
          </a:p>
          <a:p>
            <a:pPr marL="0" lvl="0" indent="0" algn="just" eaLnBrk="0" fontAlgn="base" hangingPunct="0">
              <a:lnSpc>
                <a:spcPct val="100000"/>
              </a:lnSpc>
              <a:spcBef>
                <a:spcPct val="0"/>
              </a:spcBef>
              <a:spcAft>
                <a:spcPct val="0"/>
              </a:spcAft>
              <a:buNone/>
            </a:pPr>
            <a:r>
              <a:rPr lang="en-US" altLang="en-US" sz="1400" dirty="0">
                <a:solidFill>
                  <a:srgbClr val="4D4D4D"/>
                </a:solidFill>
                <a:latin typeface="Calibri" panose="020F0502020204030204" pitchFamily="34" charset="0"/>
                <a:cs typeface="Calibri" panose="020F0502020204030204" pitchFamily="34" charset="0"/>
              </a:rPr>
              <a:t/>
            </a:r>
            <a:br>
              <a:rPr lang="en-US" altLang="en-US" sz="1400" dirty="0">
                <a:solidFill>
                  <a:srgbClr val="4D4D4D"/>
                </a:solidFill>
                <a:latin typeface="Calibri" panose="020F0502020204030204" pitchFamily="34" charset="0"/>
                <a:cs typeface="Calibri" panose="020F0502020204030204" pitchFamily="34" charset="0"/>
              </a:rPr>
            </a:br>
            <a:endParaRPr lang="en-US" altLang="en-US" dirty="0">
              <a:solidFill>
                <a:schemeClr val="tx1"/>
              </a:solidFill>
            </a:endParaRPr>
          </a:p>
          <a:p>
            <a:pPr marL="0" lvl="0" indent="0" algn="just" eaLnBrk="0" fontAlgn="base" hangingPunct="0">
              <a:lnSpc>
                <a:spcPct val="100000"/>
              </a:lnSpc>
              <a:spcBef>
                <a:spcPct val="0"/>
              </a:spcBef>
              <a:spcAft>
                <a:spcPct val="0"/>
              </a:spcAft>
              <a:buNone/>
            </a:pPr>
            <a:r>
              <a:rPr lang="en-US" altLang="en-US" dirty="0">
                <a:solidFill>
                  <a:srgbClr val="4D4D4D"/>
                </a:solidFill>
                <a:latin typeface="Book Antiqua" panose="02040602050305030304" pitchFamily="18" charset="0"/>
                <a:cs typeface="Calibri" panose="020F0502020204030204" pitchFamily="34" charset="0"/>
              </a:rPr>
              <a:t># </a:t>
            </a:r>
            <a:r>
              <a:rPr lang="en-US" altLang="en-US" b="1" dirty="0">
                <a:solidFill>
                  <a:srgbClr val="4D4D4D"/>
                </a:solidFill>
                <a:latin typeface="Book Antiqua" panose="02040602050305030304" pitchFamily="18" charset="0"/>
                <a:cs typeface="Calibri" panose="020F0502020204030204" pitchFamily="34" charset="0"/>
              </a:rPr>
              <a:t>Event-oriented method</a:t>
            </a:r>
            <a:r>
              <a:rPr lang="en-US" altLang="en-US" dirty="0">
                <a:solidFill>
                  <a:srgbClr val="4D4D4D"/>
                </a:solidFill>
                <a:latin typeface="Book Antiqua" panose="02040602050305030304" pitchFamily="18" charset="0"/>
                <a:cs typeface="Calibri" panose="020F0502020204030204" pitchFamily="34" charset="0"/>
              </a:rPr>
              <a:t> advance the clock to the time at which the next event is due to occur.</a:t>
            </a:r>
            <a:endParaRPr lang="en-US" altLang="en-US" dirty="0">
              <a:solidFill>
                <a:schemeClr val="tx1"/>
              </a:solidFill>
            </a:endParaRPr>
          </a:p>
          <a:p>
            <a:pPr marL="0" lvl="0" indent="0" algn="just" eaLnBrk="0" fontAlgn="base" hangingPunct="0">
              <a:lnSpc>
                <a:spcPct val="100000"/>
              </a:lnSpc>
              <a:spcBef>
                <a:spcPct val="0"/>
              </a:spcBef>
              <a:spcAft>
                <a:spcPct val="0"/>
              </a:spcAft>
              <a:buNone/>
            </a:pPr>
            <a:r>
              <a:rPr lang="en-US" altLang="en-US" dirty="0">
                <a:solidFill>
                  <a:srgbClr val="4D4D4D"/>
                </a:solidFill>
                <a:latin typeface="Book Antiqua" panose="02040602050305030304" pitchFamily="18" charset="0"/>
                <a:cs typeface="Calibri" panose="020F0502020204030204" pitchFamily="34" charset="0"/>
              </a:rPr>
              <a:t># </a:t>
            </a:r>
            <a:r>
              <a:rPr lang="en-US" altLang="en-US" b="1" dirty="0">
                <a:solidFill>
                  <a:srgbClr val="4D4D4D"/>
                </a:solidFill>
                <a:latin typeface="Book Antiqua" panose="02040602050305030304" pitchFamily="18" charset="0"/>
                <a:cs typeface="Calibri" panose="020F0502020204030204" pitchFamily="34" charset="0"/>
              </a:rPr>
              <a:t>Interval-oriented method </a:t>
            </a:r>
            <a:r>
              <a:rPr lang="en-US" altLang="en-US" dirty="0">
                <a:solidFill>
                  <a:srgbClr val="4D4D4D"/>
                </a:solidFill>
                <a:latin typeface="Book Antiqua" panose="02040602050305030304" pitchFamily="18" charset="0"/>
                <a:cs typeface="Calibri" panose="020F0502020204030204" pitchFamily="34" charset="0"/>
              </a:rPr>
              <a:t>advance the clock by small (usually uniform) intervals of time and determine at each interval whether an event is due to occur at that time.</a:t>
            </a:r>
            <a:endParaRPr lang="en-US" altLang="en-US" dirty="0">
              <a:solidFill>
                <a:schemeClr val="tx1"/>
              </a:solidFill>
            </a:endParaRPr>
          </a:p>
          <a:p>
            <a:pPr marL="0" lvl="0" indent="0" algn="just" eaLnBrk="0" fontAlgn="base" hangingPunct="0">
              <a:lnSpc>
                <a:spcPct val="100000"/>
              </a:lnSpc>
              <a:spcBef>
                <a:spcPct val="0"/>
              </a:spcBef>
              <a:spcAft>
                <a:spcPct val="0"/>
              </a:spcAft>
              <a:buNone/>
            </a:pPr>
            <a:r>
              <a:rPr lang="en-US" altLang="en-US" sz="1400" dirty="0">
                <a:solidFill>
                  <a:srgbClr val="4D4D4D"/>
                </a:solidFill>
                <a:latin typeface="Calibri" panose="020F0502020204030204" pitchFamily="34" charset="0"/>
                <a:cs typeface="Calibri" panose="020F0502020204030204" pitchFamily="34" charset="0"/>
              </a:rPr>
              <a:t/>
            </a:r>
            <a:br>
              <a:rPr lang="en-US" altLang="en-US" sz="1400" dirty="0">
                <a:solidFill>
                  <a:srgbClr val="4D4D4D"/>
                </a:solidFill>
                <a:latin typeface="Calibri" panose="020F0502020204030204" pitchFamily="34" charset="0"/>
                <a:cs typeface="Calibri" panose="020F0502020204030204" pitchFamily="34" charset="0"/>
              </a:rPr>
            </a:br>
            <a:endParaRPr lang="en-US" altLang="en-US" dirty="0">
              <a:solidFill>
                <a:schemeClr val="tx1"/>
              </a:solidFill>
            </a:endParaRPr>
          </a:p>
          <a:p>
            <a:pPr marL="0" lvl="0" indent="0" algn="just" eaLnBrk="0" fontAlgn="base" hangingPunct="0">
              <a:lnSpc>
                <a:spcPct val="100000"/>
              </a:lnSpc>
              <a:spcBef>
                <a:spcPct val="0"/>
              </a:spcBef>
              <a:spcAft>
                <a:spcPct val="0"/>
              </a:spcAft>
              <a:buNone/>
            </a:pPr>
            <a:r>
              <a:rPr lang="en-US" altLang="en-US" dirty="0">
                <a:solidFill>
                  <a:srgbClr val="4D4D4D"/>
                </a:solidFill>
                <a:latin typeface="Book Antiqua" panose="02040602050305030304" pitchFamily="18" charset="0"/>
                <a:cs typeface="Calibri" panose="020F0502020204030204" pitchFamily="34" charset="0"/>
              </a:rPr>
              <a:t>Discrete system simulation is usually carried out by using the event-oriented method, while continuous system simulation normally uses the interval-oriented method. However, there are no firm rule about the way time is represented in simulations for discrete and continuous systems. An interval-oriented program will detect discrete changes and can therefore simulate discrete systems, and an event-oriented program can be made to follow continuous changes by artificially introducing events that occur at regular time intervals. Farther, the event-oriented method is not necessary faster than the interval-oriented method for discrete systems</a:t>
            </a:r>
            <a:endParaRPr lang="en-US" altLang="en-US" sz="3600" dirty="0">
              <a:solidFill>
                <a:schemeClr val="tx1"/>
              </a:solidFill>
              <a:latin typeface="Arial" panose="020B0604020202020204" pitchFamily="34" charset="0"/>
            </a:endParaRPr>
          </a:p>
          <a:p>
            <a:endParaRPr lang="en-US" dirty="0"/>
          </a:p>
        </p:txBody>
      </p:sp>
    </p:spTree>
    <p:extLst>
      <p:ext uri="{BB962C8B-B14F-4D97-AF65-F5344CB8AC3E}">
        <p14:creationId xmlns:p14="http://schemas.microsoft.com/office/powerpoint/2010/main" val="4295719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C00000"/>
                </a:solidFill>
              </a:rPr>
              <a:t>Significant event simulation</a:t>
            </a:r>
            <a:endParaRPr lang="en-US" dirty="0">
              <a:solidFill>
                <a:srgbClr val="C00000"/>
              </a:solidFill>
            </a:endParaRPr>
          </a:p>
        </p:txBody>
      </p:sp>
      <p:sp>
        <p:nvSpPr>
          <p:cNvPr id="3" name="Content Placeholder 2"/>
          <p:cNvSpPr>
            <a:spLocks noGrp="1"/>
          </p:cNvSpPr>
          <p:nvPr>
            <p:ph idx="1"/>
          </p:nvPr>
        </p:nvSpPr>
        <p:spPr>
          <a:xfrm>
            <a:off x="1371599" y="1423851"/>
            <a:ext cx="10411098" cy="5107578"/>
          </a:xfrm>
        </p:spPr>
        <p:txBody>
          <a:bodyPr>
            <a:normAutofit/>
          </a:bodyPr>
          <a:lstStyle/>
          <a:p>
            <a:r>
              <a:rPr lang="en-US" dirty="0"/>
              <a:t>It is an approach to representing the passage of time in system simulation. The method is applicable to continuous systems in which there are </a:t>
            </a:r>
            <a:r>
              <a:rPr lang="en-US" b="1" dirty="0"/>
              <a:t>quiescent </a:t>
            </a:r>
            <a:r>
              <a:rPr lang="en-US" b="1" dirty="0" smtClean="0"/>
              <a:t>periods</a:t>
            </a:r>
            <a:r>
              <a:rPr lang="en-US" dirty="0"/>
              <a:t> </a:t>
            </a:r>
            <a:r>
              <a:rPr lang="en-US" dirty="0" smtClean="0"/>
              <a:t>(interval </a:t>
            </a:r>
            <a:r>
              <a:rPr lang="en-US" dirty="0"/>
              <a:t>between events). The significant event approach assumes that simple analytic functions, such as polynomials of low order, can be used to project the span of a quiescent period. The event that ends the period could be any one of several alternatives, each of which has a projected span. The significant event is the one with the least span. Determining this event, by simple comparisons of the projections, allows the clock to be updated by an extended period of time; achieving the same thing would otherwise have cost the effort of executing the updating of many intervals of fixed size.</a:t>
            </a:r>
          </a:p>
          <a:p>
            <a:r>
              <a:rPr lang="en-US" dirty="0"/>
              <a:t>For example, an automobile traveling at constant acceleration. Its movement might result in a significant event for several reasons: the automobile might approach the preceding vehicle closer than a specific limit, it might reach the end of the road, its velocity might reach some limit, or it might come to rest. If the initial conditions are known, the elapsed time for each of these possible events can be calculated from simple formulae. Conditions relating to all other vehicles must be evaluated before deciding on the next significant event for the entire system.</a:t>
            </a:r>
          </a:p>
        </p:txBody>
      </p:sp>
    </p:spTree>
    <p:extLst>
      <p:ext uri="{BB962C8B-B14F-4D97-AF65-F5344CB8AC3E}">
        <p14:creationId xmlns:p14="http://schemas.microsoft.com/office/powerpoint/2010/main" val="4004906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Generation of Arrival Patterns</a:t>
            </a:r>
          </a:p>
        </p:txBody>
      </p:sp>
      <p:sp>
        <p:nvSpPr>
          <p:cNvPr id="3" name="Content Placeholder 2"/>
          <p:cNvSpPr>
            <a:spLocks noGrp="1"/>
          </p:cNvSpPr>
          <p:nvPr>
            <p:ph idx="1"/>
          </p:nvPr>
        </p:nvSpPr>
        <p:spPr>
          <a:xfrm>
            <a:off x="1371599" y="1580606"/>
            <a:ext cx="10489475" cy="5120640"/>
          </a:xfrm>
        </p:spPr>
        <p:txBody>
          <a:bodyPr/>
          <a:lstStyle/>
          <a:p>
            <a:r>
              <a:rPr lang="en-US" dirty="0"/>
              <a:t>Generation of exogenous arrivals </a:t>
            </a:r>
            <a:endParaRPr lang="en-US" dirty="0" smtClean="0"/>
          </a:p>
          <a:p>
            <a:r>
              <a:rPr lang="en-US" b="1" dirty="0" smtClean="0">
                <a:solidFill>
                  <a:srgbClr val="C00000"/>
                </a:solidFill>
              </a:rPr>
              <a:t>Trace </a:t>
            </a:r>
            <a:r>
              <a:rPr lang="en-US" b="1" dirty="0">
                <a:solidFill>
                  <a:srgbClr val="C00000"/>
                </a:solidFill>
              </a:rPr>
              <a:t>driven simulation </a:t>
            </a:r>
            <a:r>
              <a:rPr lang="en-US" b="1" dirty="0" smtClean="0">
                <a:solidFill>
                  <a:srgbClr val="C00000"/>
                </a:solidFill>
              </a:rPr>
              <a:t> </a:t>
            </a:r>
            <a:r>
              <a:rPr lang="en-US" dirty="0"/>
              <a:t>the sequence of inputs may also be generated from observations on a system </a:t>
            </a:r>
            <a:endParaRPr lang="en-US" dirty="0" smtClean="0"/>
          </a:p>
          <a:p>
            <a:r>
              <a:rPr lang="en-US" dirty="0" smtClean="0"/>
              <a:t>If </a:t>
            </a:r>
            <a:r>
              <a:rPr lang="en-US" dirty="0"/>
              <a:t>there is no interaction between the exogenous arrivals and the endogenous events of the system, then the creation of a sequence of arrivals in preparation for the simulation is permissible otherwise arrivals are generated as required </a:t>
            </a:r>
            <a:endParaRPr lang="en-US" dirty="0" smtClean="0"/>
          </a:p>
          <a:p>
            <a:r>
              <a:rPr lang="en-US" dirty="0" smtClean="0"/>
              <a:t> </a:t>
            </a:r>
            <a:r>
              <a:rPr lang="en-US" dirty="0"/>
              <a:t>Arrival of exogenous entity is an event and the arrival time of the next entity is recorded as one of the event times </a:t>
            </a:r>
            <a:endParaRPr lang="en-US" dirty="0" smtClean="0"/>
          </a:p>
          <a:p>
            <a:r>
              <a:rPr lang="en-US" dirty="0" smtClean="0"/>
              <a:t> </a:t>
            </a:r>
            <a:r>
              <a:rPr lang="en-US" dirty="0"/>
              <a:t>The event of entering the entity into the system is executed and the arrival time of next entity is calculated from inter-arrival distribution</a:t>
            </a:r>
          </a:p>
        </p:txBody>
      </p:sp>
    </p:spTree>
    <p:extLst>
      <p:ext uri="{BB962C8B-B14F-4D97-AF65-F5344CB8AC3E}">
        <p14:creationId xmlns:p14="http://schemas.microsoft.com/office/powerpoint/2010/main" val="3205660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Bootstrapping </a:t>
            </a:r>
          </a:p>
        </p:txBody>
      </p:sp>
      <p:sp>
        <p:nvSpPr>
          <p:cNvPr id="3" name="Content Placeholder 2"/>
          <p:cNvSpPr>
            <a:spLocks noGrp="1"/>
          </p:cNvSpPr>
          <p:nvPr>
            <p:ph idx="1"/>
          </p:nvPr>
        </p:nvSpPr>
        <p:spPr/>
        <p:txBody>
          <a:bodyPr>
            <a:normAutofit lnSpcReduction="10000"/>
          </a:bodyPr>
          <a:lstStyle/>
          <a:p>
            <a:r>
              <a:rPr lang="en-US" dirty="0"/>
              <a:t>– the previous process of counting the arrival of next entity as current entity is executed is known as bootstrapping. It is a process of making one entity create its successor. </a:t>
            </a:r>
            <a:endParaRPr lang="en-US" dirty="0" smtClean="0"/>
          </a:p>
          <a:p>
            <a:r>
              <a:rPr lang="en-US" dirty="0" smtClean="0"/>
              <a:t> </a:t>
            </a:r>
            <a:r>
              <a:rPr lang="en-US" dirty="0"/>
              <a:t>In bootstrapping, the simulation program have to keep record of arrival of next entity only. Therefore, it is the most preferred method of generating arrivals. </a:t>
            </a:r>
            <a:r>
              <a:rPr lang="en-US" dirty="0" smtClean="0"/>
              <a:t>–</a:t>
            </a:r>
          </a:p>
          <a:p>
            <a:r>
              <a:rPr lang="en-US" dirty="0" smtClean="0"/>
              <a:t>The </a:t>
            </a:r>
            <a:r>
              <a:rPr lang="en-US" dirty="0"/>
              <a:t>attributes for arriving entity can be assigned at the generation time or later on depending on the requirement. </a:t>
            </a:r>
            <a:r>
              <a:rPr lang="en-US" dirty="0" smtClean="0"/>
              <a:t>–</a:t>
            </a:r>
          </a:p>
          <a:p>
            <a:r>
              <a:rPr lang="en-US" dirty="0" smtClean="0"/>
              <a:t>If </a:t>
            </a:r>
            <a:r>
              <a:rPr lang="en-US" dirty="0"/>
              <a:t>the attributes do not affect the event execution, then the attributes can be assigned later on. </a:t>
            </a:r>
            <a:endParaRPr lang="en-US" dirty="0" smtClean="0"/>
          </a:p>
          <a:p>
            <a:r>
              <a:rPr lang="en-US" dirty="0" smtClean="0"/>
              <a:t> </a:t>
            </a:r>
            <a:r>
              <a:rPr lang="en-US" dirty="0"/>
              <a:t>But if attributes do affect the event execution, they must be assigned at the arrival time and retained until the event execution is finished.</a:t>
            </a:r>
          </a:p>
        </p:txBody>
      </p:sp>
    </p:spTree>
    <p:extLst>
      <p:ext uri="{BB962C8B-B14F-4D97-AF65-F5344CB8AC3E}">
        <p14:creationId xmlns:p14="http://schemas.microsoft.com/office/powerpoint/2010/main" val="35634988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9531" y="0"/>
            <a:ext cx="10071463" cy="6723437"/>
          </a:xfrm>
          <a:prstGeom prst="rect">
            <a:avLst/>
          </a:prstGeom>
        </p:spPr>
      </p:pic>
    </p:spTree>
    <p:extLst>
      <p:ext uri="{BB962C8B-B14F-4D97-AF65-F5344CB8AC3E}">
        <p14:creationId xmlns:p14="http://schemas.microsoft.com/office/powerpoint/2010/main" val="10438887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29246" y="509452"/>
            <a:ext cx="6805748" cy="5431836"/>
          </a:xfrm>
          <a:prstGeom prst="rect">
            <a:avLst/>
          </a:prstGeom>
        </p:spPr>
      </p:pic>
    </p:spTree>
    <p:extLst>
      <p:ext uri="{BB962C8B-B14F-4D97-AF65-F5344CB8AC3E}">
        <p14:creationId xmlns:p14="http://schemas.microsoft.com/office/powerpoint/2010/main" val="39349390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image3.slideserve.com/5828239/slide2-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0788" y="0"/>
            <a:ext cx="9640389" cy="6705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8175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58091" y="117566"/>
            <a:ext cx="10149840" cy="6417128"/>
          </a:xfrm>
          <a:prstGeom prst="rect">
            <a:avLst/>
          </a:prstGeom>
        </p:spPr>
      </p:pic>
    </p:spTree>
    <p:extLst>
      <p:ext uri="{BB962C8B-B14F-4D97-AF65-F5344CB8AC3E}">
        <p14:creationId xmlns:p14="http://schemas.microsoft.com/office/powerpoint/2010/main" val="37120512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1714" y="1"/>
            <a:ext cx="9178835" cy="6884126"/>
          </a:xfrm>
          <a:prstGeom prst="rect">
            <a:avLst/>
          </a:prstGeom>
        </p:spPr>
      </p:pic>
    </p:spTree>
    <p:extLst>
      <p:ext uri="{BB962C8B-B14F-4D97-AF65-F5344CB8AC3E}">
        <p14:creationId xmlns:p14="http://schemas.microsoft.com/office/powerpoint/2010/main" val="36775521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24297" y="78377"/>
            <a:ext cx="9039496" cy="6779623"/>
          </a:xfrm>
          <a:prstGeom prst="rect">
            <a:avLst/>
          </a:prstGeom>
        </p:spPr>
      </p:pic>
    </p:spTree>
    <p:extLst>
      <p:ext uri="{BB962C8B-B14F-4D97-AF65-F5344CB8AC3E}">
        <p14:creationId xmlns:p14="http://schemas.microsoft.com/office/powerpoint/2010/main" val="32324576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29246" y="0"/>
            <a:ext cx="8608423" cy="6615805"/>
          </a:xfrm>
          <a:prstGeom prst="rect">
            <a:avLst/>
          </a:prstGeom>
        </p:spPr>
      </p:pic>
    </p:spTree>
    <p:extLst>
      <p:ext uri="{BB962C8B-B14F-4D97-AF65-F5344CB8AC3E}">
        <p14:creationId xmlns:p14="http://schemas.microsoft.com/office/powerpoint/2010/main" val="41047441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7628" y="705393"/>
            <a:ext cx="11261080" cy="5734595"/>
          </a:xfrm>
          <a:prstGeom prst="rect">
            <a:avLst/>
          </a:prstGeom>
        </p:spPr>
      </p:pic>
    </p:spTree>
    <p:extLst>
      <p:ext uri="{BB962C8B-B14F-4D97-AF65-F5344CB8AC3E}">
        <p14:creationId xmlns:p14="http://schemas.microsoft.com/office/powerpoint/2010/main" val="119075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98171" y="0"/>
            <a:ext cx="9535885" cy="6554288"/>
          </a:xfrm>
          <a:prstGeom prst="rect">
            <a:avLst/>
          </a:prstGeom>
        </p:spPr>
      </p:pic>
    </p:spTree>
    <p:extLst>
      <p:ext uri="{BB962C8B-B14F-4D97-AF65-F5344CB8AC3E}">
        <p14:creationId xmlns:p14="http://schemas.microsoft.com/office/powerpoint/2010/main" val="39021421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84662" y="68580"/>
            <a:ext cx="9888583" cy="6789420"/>
          </a:xfrm>
          <a:prstGeom prst="rect">
            <a:avLst/>
          </a:prstGeom>
        </p:spPr>
      </p:pic>
    </p:spTree>
    <p:extLst>
      <p:ext uri="{BB962C8B-B14F-4D97-AF65-F5344CB8AC3E}">
        <p14:creationId xmlns:p14="http://schemas.microsoft.com/office/powerpoint/2010/main" val="9175776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62148" y="235131"/>
            <a:ext cx="10737668" cy="6279968"/>
          </a:xfrm>
          <a:prstGeom prst="rect">
            <a:avLst/>
          </a:prstGeom>
        </p:spPr>
      </p:pic>
    </p:spTree>
    <p:extLst>
      <p:ext uri="{BB962C8B-B14F-4D97-AF65-F5344CB8AC3E}">
        <p14:creationId xmlns:p14="http://schemas.microsoft.com/office/powerpoint/2010/main" val="13048970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02229" y="101236"/>
            <a:ext cx="10006148" cy="6593477"/>
          </a:xfrm>
          <a:prstGeom prst="rect">
            <a:avLst/>
          </a:prstGeom>
        </p:spPr>
      </p:pic>
    </p:spTree>
    <p:extLst>
      <p:ext uri="{BB962C8B-B14F-4D97-AF65-F5344CB8AC3E}">
        <p14:creationId xmlns:p14="http://schemas.microsoft.com/office/powerpoint/2010/main" val="2524530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84663" y="-1"/>
            <a:ext cx="10687754" cy="6727371"/>
          </a:xfrm>
          <a:prstGeom prst="rect">
            <a:avLst/>
          </a:prstGeom>
        </p:spPr>
      </p:pic>
    </p:spTree>
    <p:extLst>
      <p:ext uri="{BB962C8B-B14F-4D97-AF65-F5344CB8AC3E}">
        <p14:creationId xmlns:p14="http://schemas.microsoft.com/office/powerpoint/2010/main" val="37797293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97726" y="39189"/>
            <a:ext cx="10097588" cy="6655526"/>
          </a:xfrm>
          <a:prstGeom prst="rect">
            <a:avLst/>
          </a:prstGeom>
        </p:spPr>
      </p:pic>
    </p:spTree>
    <p:extLst>
      <p:ext uri="{BB962C8B-B14F-4D97-AF65-F5344CB8AC3E}">
        <p14:creationId xmlns:p14="http://schemas.microsoft.com/office/powerpoint/2010/main" val="12201051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10343" y="0"/>
            <a:ext cx="10175966" cy="6573884"/>
          </a:xfrm>
          <a:prstGeom prst="rect">
            <a:avLst/>
          </a:prstGeom>
        </p:spPr>
      </p:pic>
    </p:spTree>
    <p:extLst>
      <p:ext uri="{BB962C8B-B14F-4D97-AF65-F5344CB8AC3E}">
        <p14:creationId xmlns:p14="http://schemas.microsoft.com/office/powerpoint/2010/main" val="2614523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97279" y="0"/>
            <a:ext cx="10476411" cy="6515100"/>
          </a:xfrm>
          <a:prstGeom prst="rect">
            <a:avLst/>
          </a:prstGeom>
        </p:spPr>
      </p:pic>
    </p:spTree>
    <p:extLst>
      <p:ext uri="{BB962C8B-B14F-4D97-AF65-F5344CB8AC3E}">
        <p14:creationId xmlns:p14="http://schemas.microsoft.com/office/powerpoint/2010/main" val="737755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8274" y="0"/>
            <a:ext cx="11207931" cy="6858000"/>
          </a:xfrm>
          <a:prstGeom prst="rect">
            <a:avLst/>
          </a:prstGeom>
        </p:spPr>
      </p:pic>
    </p:spTree>
    <p:extLst>
      <p:ext uri="{BB962C8B-B14F-4D97-AF65-F5344CB8AC3E}">
        <p14:creationId xmlns:p14="http://schemas.microsoft.com/office/powerpoint/2010/main" val="15042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rPr>
              <a:t>Simulation Programming Tasks</a:t>
            </a:r>
            <a:endParaRPr lang="en-US" dirty="0">
              <a:solidFill>
                <a:srgbClr val="FF0000"/>
              </a:solidFill>
            </a:endParaRPr>
          </a:p>
        </p:txBody>
      </p:sp>
      <p:sp>
        <p:nvSpPr>
          <p:cNvPr id="5" name="Content Placeholder 4"/>
          <p:cNvSpPr>
            <a:spLocks noGrp="1"/>
          </p:cNvSpPr>
          <p:nvPr>
            <p:ph idx="1"/>
          </p:nvPr>
        </p:nvSpPr>
        <p:spPr/>
        <p:txBody>
          <a:bodyPr/>
          <a:lstStyle/>
          <a:p>
            <a:pPr lvl="0" eaLnBrk="0" fontAlgn="base" hangingPunct="0">
              <a:spcBef>
                <a:spcPct val="0"/>
              </a:spcBef>
              <a:spcAft>
                <a:spcPct val="0"/>
              </a:spcAft>
            </a:pPr>
            <a:endParaRPr lang="en-US" altLang="en-US" dirty="0" smtClean="0">
              <a:solidFill>
                <a:srgbClr val="4D4D4D"/>
              </a:solidFill>
              <a:latin typeface="Book Antiqua" panose="02040602050305030304" pitchFamily="18" charset="0"/>
              <a:cs typeface="Calibri" panose="020F0502020204030204" pitchFamily="34" charset="0"/>
            </a:endParaRPr>
          </a:p>
          <a:p>
            <a:pPr lvl="0" eaLnBrk="0" fontAlgn="base" hangingPunct="0">
              <a:spcBef>
                <a:spcPct val="0"/>
              </a:spcBef>
              <a:spcAft>
                <a:spcPct val="0"/>
              </a:spcAft>
            </a:pPr>
            <a:r>
              <a:rPr lang="en-US" altLang="en-US" dirty="0" smtClean="0">
                <a:solidFill>
                  <a:srgbClr val="4D4D4D"/>
                </a:solidFill>
                <a:latin typeface="Book Antiqua" panose="02040602050305030304" pitchFamily="18" charset="0"/>
                <a:cs typeface="Calibri" panose="020F0502020204030204" pitchFamily="34" charset="0"/>
              </a:rPr>
              <a:t>There </a:t>
            </a:r>
            <a:r>
              <a:rPr lang="en-US" altLang="en-US" dirty="0">
                <a:solidFill>
                  <a:srgbClr val="4D4D4D"/>
                </a:solidFill>
                <a:latin typeface="Book Antiqua" panose="02040602050305030304" pitchFamily="18" charset="0"/>
                <a:cs typeface="Calibri" panose="020F0502020204030204" pitchFamily="34" charset="0"/>
              </a:rPr>
              <a:t>are three major tasks:</a:t>
            </a:r>
            <a:endParaRPr lang="en-US" altLang="en-US" dirty="0"/>
          </a:p>
          <a:p>
            <a:pPr lvl="0" eaLnBrk="0" fontAlgn="base" hangingPunct="0">
              <a:spcBef>
                <a:spcPct val="0"/>
              </a:spcBef>
              <a:spcAft>
                <a:spcPct val="0"/>
              </a:spcAft>
              <a:buFontTx/>
              <a:buAutoNum type="arabicPeriod"/>
            </a:pPr>
            <a:r>
              <a:rPr lang="en-US" altLang="en-US" b="1" dirty="0" smtClean="0">
                <a:solidFill>
                  <a:srgbClr val="0070C0"/>
                </a:solidFill>
                <a:latin typeface="Book Antiqua" panose="02040602050305030304" pitchFamily="18" charset="0"/>
                <a:cs typeface="Calibri" panose="020F0502020204030204" pitchFamily="34" charset="0"/>
              </a:rPr>
              <a:t>GENERATING A MODEL :</a:t>
            </a:r>
            <a:r>
              <a:rPr lang="en-US" altLang="en-US" dirty="0" smtClean="0">
                <a:solidFill>
                  <a:srgbClr val="4D4D4D"/>
                </a:solidFill>
                <a:latin typeface="Book Antiqua" panose="02040602050305030304" pitchFamily="18" charset="0"/>
                <a:cs typeface="Calibri" panose="020F0502020204030204" pitchFamily="34" charset="0"/>
              </a:rPr>
              <a:t>The </a:t>
            </a:r>
            <a:r>
              <a:rPr lang="en-US" altLang="en-US" dirty="0">
                <a:solidFill>
                  <a:srgbClr val="4D4D4D"/>
                </a:solidFill>
                <a:latin typeface="Book Antiqua" panose="02040602050305030304" pitchFamily="18" charset="0"/>
                <a:cs typeface="Calibri" panose="020F0502020204030204" pitchFamily="34" charset="0"/>
              </a:rPr>
              <a:t>first is to generate a model and initialize it.</a:t>
            </a:r>
          </a:p>
          <a:p>
            <a:pPr marL="0" lvl="0" indent="0" eaLnBrk="0" fontAlgn="base" hangingPunct="0">
              <a:spcBef>
                <a:spcPct val="0"/>
              </a:spcBef>
              <a:spcAft>
                <a:spcPct val="0"/>
              </a:spcAft>
              <a:buNone/>
            </a:pPr>
            <a:r>
              <a:rPr lang="en-US" altLang="en-US" dirty="0">
                <a:solidFill>
                  <a:srgbClr val="4D4D4D"/>
                </a:solidFill>
                <a:latin typeface="Book Antiqua" panose="02040602050305030304" pitchFamily="18" charset="0"/>
                <a:cs typeface="Calibri" panose="020F0502020204030204" pitchFamily="34" charset="0"/>
              </a:rPr>
              <a:t> From the description of the system, a set of numbers must be created to represent the stare of the system. </a:t>
            </a:r>
          </a:p>
          <a:p>
            <a:pPr marL="0" lvl="0" indent="0" eaLnBrk="0" fontAlgn="base" hangingPunct="0">
              <a:spcBef>
                <a:spcPct val="0"/>
              </a:spcBef>
              <a:spcAft>
                <a:spcPct val="0"/>
              </a:spcAft>
              <a:buNone/>
            </a:pPr>
            <a:r>
              <a:rPr lang="en-US" altLang="en-US" dirty="0">
                <a:solidFill>
                  <a:srgbClr val="4D4D4D"/>
                </a:solidFill>
                <a:latin typeface="Book Antiqua" panose="02040602050305030304" pitchFamily="18" charset="0"/>
                <a:cs typeface="Calibri" panose="020F0502020204030204" pitchFamily="34" charset="0"/>
              </a:rPr>
              <a:t>This set of numbers called the </a:t>
            </a:r>
            <a:r>
              <a:rPr lang="en-US" altLang="en-US" b="1" i="1" dirty="0">
                <a:solidFill>
                  <a:srgbClr val="FF0000"/>
                </a:solidFill>
                <a:latin typeface="Book Antiqua" panose="02040602050305030304" pitchFamily="18" charset="0"/>
                <a:cs typeface="Calibri" panose="020F0502020204030204" pitchFamily="34" charset="0"/>
              </a:rPr>
              <a:t>system image</a:t>
            </a:r>
            <a:r>
              <a:rPr lang="en-US" altLang="en-US" b="1" dirty="0">
                <a:solidFill>
                  <a:srgbClr val="FF0000"/>
                </a:solidFill>
                <a:latin typeface="Book Antiqua" panose="02040602050305030304" pitchFamily="18" charset="0"/>
                <a:cs typeface="Calibri" panose="020F0502020204030204" pitchFamily="34" charset="0"/>
              </a:rPr>
              <a:t>.</a:t>
            </a:r>
            <a:endParaRPr lang="en-US" altLang="en-US" b="1" dirty="0">
              <a:solidFill>
                <a:srgbClr val="FF0000"/>
              </a:solidFill>
              <a:latin typeface="Calibri" panose="020F0502020204030204" pitchFamily="34" charset="0"/>
              <a:cs typeface="Calibri" panose="020F0502020204030204" pitchFamily="34" charset="0"/>
            </a:endParaRPr>
          </a:p>
          <a:p>
            <a:pPr lvl="0" eaLnBrk="0" fontAlgn="base" hangingPunct="0">
              <a:spcBef>
                <a:spcPct val="0"/>
              </a:spcBef>
              <a:spcAft>
                <a:spcPct val="0"/>
              </a:spcAft>
              <a:buFontTx/>
              <a:buAutoNum type="arabicPeriod" startAt="2"/>
            </a:pPr>
            <a:r>
              <a:rPr lang="en-US" altLang="en-US" b="1" dirty="0" err="1" smtClean="0">
                <a:solidFill>
                  <a:srgbClr val="0070C0"/>
                </a:solidFill>
                <a:latin typeface="Book Antiqua" panose="02040602050305030304" pitchFamily="18" charset="0"/>
                <a:cs typeface="Calibri" panose="020F0502020204030204" pitchFamily="34" charset="0"/>
              </a:rPr>
              <a:t>SIMULATION:</a:t>
            </a:r>
            <a:r>
              <a:rPr lang="en-US" altLang="en-US" dirty="0" err="1" smtClean="0">
                <a:solidFill>
                  <a:srgbClr val="4D4D4D"/>
                </a:solidFill>
                <a:latin typeface="Book Antiqua" panose="02040602050305030304" pitchFamily="18" charset="0"/>
                <a:cs typeface="Calibri" panose="020F0502020204030204" pitchFamily="34" charset="0"/>
              </a:rPr>
              <a:t>The</a:t>
            </a:r>
            <a:r>
              <a:rPr lang="en-US" altLang="en-US" dirty="0" smtClean="0">
                <a:solidFill>
                  <a:srgbClr val="4D4D4D"/>
                </a:solidFill>
                <a:latin typeface="Book Antiqua" panose="02040602050305030304" pitchFamily="18" charset="0"/>
                <a:cs typeface="Calibri" panose="020F0502020204030204" pitchFamily="34" charset="0"/>
              </a:rPr>
              <a:t> </a:t>
            </a:r>
            <a:r>
              <a:rPr lang="en-US" altLang="en-US" dirty="0">
                <a:solidFill>
                  <a:srgbClr val="4D4D4D"/>
                </a:solidFill>
                <a:latin typeface="Book Antiqua" panose="02040602050305030304" pitchFamily="18" charset="0"/>
                <a:cs typeface="Calibri" panose="020F0502020204030204" pitchFamily="34" charset="0"/>
              </a:rPr>
              <a:t>second task is to program the procedure that executes the cycle of actions involved </a:t>
            </a:r>
            <a:r>
              <a:rPr lang="en-US" altLang="en-US" dirty="0" smtClean="0">
                <a:solidFill>
                  <a:srgbClr val="4D4D4D"/>
                </a:solidFill>
                <a:latin typeface="Book Antiqua" panose="02040602050305030304" pitchFamily="18" charset="0"/>
                <a:cs typeface="Calibri" panose="020F0502020204030204" pitchFamily="34" charset="0"/>
              </a:rPr>
              <a:t>in </a:t>
            </a:r>
            <a:r>
              <a:rPr lang="en-US" altLang="en-US" dirty="0">
                <a:solidFill>
                  <a:srgbClr val="4D4D4D"/>
                </a:solidFill>
                <a:latin typeface="Book Antiqua" panose="02040602050305030304" pitchFamily="18" charset="0"/>
                <a:cs typeface="Calibri" panose="020F0502020204030204" pitchFamily="34" charset="0"/>
              </a:rPr>
              <a:t>carrying out the simulation. This procedure is referred to as </a:t>
            </a:r>
            <a:r>
              <a:rPr lang="en-US" altLang="en-US" dirty="0">
                <a:solidFill>
                  <a:srgbClr val="FF0000"/>
                </a:solidFill>
                <a:latin typeface="Book Antiqua" panose="02040602050305030304" pitchFamily="18" charset="0"/>
                <a:cs typeface="Calibri" panose="020F0502020204030204" pitchFamily="34" charset="0"/>
              </a:rPr>
              <a:t>simulation algorithm</a:t>
            </a:r>
            <a:r>
              <a:rPr lang="en-US" altLang="en-US" dirty="0">
                <a:solidFill>
                  <a:srgbClr val="4D4D4D"/>
                </a:solidFill>
                <a:latin typeface="Book Antiqua" panose="02040602050305030304" pitchFamily="18" charset="0"/>
                <a:cs typeface="Calibri" panose="020F0502020204030204" pitchFamily="34" charset="0"/>
              </a:rPr>
              <a:t>.</a:t>
            </a:r>
            <a:endParaRPr lang="en-US" altLang="en-US" dirty="0">
              <a:solidFill>
                <a:srgbClr val="4D4D4D"/>
              </a:solidFill>
              <a:latin typeface="Calibri" panose="020F0502020204030204" pitchFamily="34" charset="0"/>
              <a:cs typeface="Calibri" panose="020F0502020204030204" pitchFamily="34" charset="0"/>
            </a:endParaRPr>
          </a:p>
          <a:p>
            <a:pPr lvl="0" eaLnBrk="0" fontAlgn="base" hangingPunct="0">
              <a:spcBef>
                <a:spcPct val="0"/>
              </a:spcBef>
              <a:spcAft>
                <a:spcPct val="0"/>
              </a:spcAft>
              <a:buFontTx/>
              <a:buAutoNum type="arabicPeriod" startAt="3"/>
            </a:pPr>
            <a:r>
              <a:rPr lang="en-US" altLang="en-US" b="1" dirty="0" smtClean="0">
                <a:solidFill>
                  <a:srgbClr val="0070C0"/>
                </a:solidFill>
                <a:latin typeface="Book Antiqua" panose="02040602050305030304" pitchFamily="18" charset="0"/>
                <a:cs typeface="Calibri" panose="020F0502020204030204" pitchFamily="34" charset="0"/>
              </a:rPr>
              <a:t>GENERATING REPORT</a:t>
            </a:r>
            <a:r>
              <a:rPr lang="en-US" altLang="en-US" dirty="0" smtClean="0">
                <a:solidFill>
                  <a:srgbClr val="4D4D4D"/>
                </a:solidFill>
                <a:latin typeface="Book Antiqua" panose="02040602050305030304" pitchFamily="18" charset="0"/>
                <a:cs typeface="Calibri" panose="020F0502020204030204" pitchFamily="34" charset="0"/>
              </a:rPr>
              <a:t>: The </a:t>
            </a:r>
            <a:r>
              <a:rPr lang="en-US" altLang="en-US" dirty="0">
                <a:solidFill>
                  <a:srgbClr val="4D4D4D"/>
                </a:solidFill>
                <a:latin typeface="Book Antiqua" panose="02040602050305030304" pitchFamily="18" charset="0"/>
                <a:cs typeface="Calibri" panose="020F0502020204030204" pitchFamily="34" charset="0"/>
              </a:rPr>
              <a:t>third task is to </a:t>
            </a:r>
            <a:r>
              <a:rPr lang="en-US" altLang="en-US" dirty="0">
                <a:solidFill>
                  <a:srgbClr val="FF0000"/>
                </a:solidFill>
                <a:latin typeface="Book Antiqua" panose="02040602050305030304" pitchFamily="18" charset="0"/>
                <a:cs typeface="Calibri" panose="020F0502020204030204" pitchFamily="34" charset="0"/>
              </a:rPr>
              <a:t>generate the output </a:t>
            </a:r>
            <a:r>
              <a:rPr lang="en-US" altLang="en-US" dirty="0" err="1" smtClean="0">
                <a:solidFill>
                  <a:srgbClr val="FF0000"/>
                </a:solidFill>
                <a:latin typeface="Book Antiqua" panose="02040602050305030304" pitchFamily="18" charset="0"/>
                <a:cs typeface="Calibri" panose="020F0502020204030204" pitchFamily="34" charset="0"/>
              </a:rPr>
              <a:t>report</a:t>
            </a:r>
            <a:r>
              <a:rPr lang="en-US" altLang="en-US" dirty="0" err="1" smtClean="0">
                <a:solidFill>
                  <a:srgbClr val="4D4D4D"/>
                </a:solidFill>
                <a:latin typeface="Book Antiqua" panose="02040602050305030304" pitchFamily="18" charset="0"/>
                <a:cs typeface="Calibri" panose="020F0502020204030204" pitchFamily="34" charset="0"/>
              </a:rPr>
              <a:t>.the</a:t>
            </a:r>
            <a:r>
              <a:rPr lang="en-US" altLang="en-US" dirty="0" smtClean="0">
                <a:solidFill>
                  <a:srgbClr val="4D4D4D"/>
                </a:solidFill>
                <a:latin typeface="Book Antiqua" panose="02040602050305030304" pitchFamily="18" charset="0"/>
                <a:cs typeface="Calibri" panose="020F0502020204030204" pitchFamily="34" charset="0"/>
              </a:rPr>
              <a:t> statistics gather (data collected) during the simulation will be organized by the report generator.</a:t>
            </a:r>
          </a:p>
          <a:p>
            <a:pPr lvl="0" eaLnBrk="0" fontAlgn="base" hangingPunct="0">
              <a:spcBef>
                <a:spcPct val="0"/>
              </a:spcBef>
              <a:spcAft>
                <a:spcPct val="0"/>
              </a:spcAft>
              <a:buFontTx/>
              <a:buAutoNum type="arabicPeriod" startAt="3"/>
            </a:pPr>
            <a:endParaRPr lang="en-US" altLang="en-US" dirty="0">
              <a:solidFill>
                <a:srgbClr val="4D4D4D"/>
              </a:solidFill>
              <a:latin typeface="Calibri" panose="020F0502020204030204" pitchFamily="34" charset="0"/>
              <a:cs typeface="Calibri" panose="020F0502020204030204" pitchFamily="34" charset="0"/>
            </a:endParaRPr>
          </a:p>
          <a:p>
            <a:pPr marL="0" lvl="0" indent="0" eaLnBrk="0" fontAlgn="base" hangingPunct="0">
              <a:lnSpc>
                <a:spcPct val="100000"/>
              </a:lnSpc>
              <a:spcBef>
                <a:spcPct val="0"/>
              </a:spcBef>
              <a:spcAft>
                <a:spcPct val="0"/>
              </a:spcAft>
              <a:buNone/>
            </a:pPr>
            <a:endParaRPr lang="en-US" altLang="en-US" dirty="0">
              <a:solidFill>
                <a:schemeClr val="tx1"/>
              </a:solidFill>
              <a:latin typeface="Arial" panose="020B0604020202020204" pitchFamily="34" charset="0"/>
            </a:endParaRPr>
          </a:p>
          <a:p>
            <a:endParaRPr lang="en-US" dirty="0"/>
          </a:p>
        </p:txBody>
      </p:sp>
    </p:spTree>
    <p:extLst>
      <p:ext uri="{BB962C8B-B14F-4D97-AF65-F5344CB8AC3E}">
        <p14:creationId xmlns:p14="http://schemas.microsoft.com/office/powerpoint/2010/main" val="2891983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467" y="391886"/>
            <a:ext cx="5421087" cy="618101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915" y="391886"/>
            <a:ext cx="4739776" cy="5723245"/>
          </a:xfrm>
          <a:prstGeom prst="rect">
            <a:avLst/>
          </a:prstGeom>
        </p:spPr>
      </p:pic>
    </p:spTree>
    <p:extLst>
      <p:ext uri="{BB962C8B-B14F-4D97-AF65-F5344CB8AC3E}">
        <p14:creationId xmlns:p14="http://schemas.microsoft.com/office/powerpoint/2010/main" val="4180808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rPr>
              <a:t>Simulation Programming Tasks</a:t>
            </a:r>
            <a:endParaRPr lang="en-US" dirty="0"/>
          </a:p>
        </p:txBody>
      </p:sp>
      <p:sp>
        <p:nvSpPr>
          <p:cNvPr id="3" name="Content Placeholder 2"/>
          <p:cNvSpPr>
            <a:spLocks noGrp="1"/>
          </p:cNvSpPr>
          <p:nvPr>
            <p:ph idx="1"/>
          </p:nvPr>
        </p:nvSpPr>
        <p:spPr>
          <a:xfrm>
            <a:off x="1371600" y="2717074"/>
            <a:ext cx="9601200" cy="3581400"/>
          </a:xfrm>
        </p:spPr>
        <p:txBody>
          <a:bodyPr/>
          <a:lstStyle/>
          <a:p>
            <a:r>
              <a:rPr lang="en-US" dirty="0" err="1" smtClean="0"/>
              <a:t>Carring</a:t>
            </a:r>
            <a:r>
              <a:rPr lang="en-US" dirty="0" smtClean="0"/>
              <a:t> out the simulation algorithm involves repeated execution of five steps.</a:t>
            </a:r>
          </a:p>
          <a:p>
            <a:pPr eaLnBrk="0" fontAlgn="base" hangingPunct="0"/>
            <a:r>
              <a:rPr lang="en-US" dirty="0"/>
              <a:t>The steps are:</a:t>
            </a:r>
          </a:p>
          <a:p>
            <a:pPr marL="0" lvl="0" indent="0" eaLnBrk="0" fontAlgn="base" hangingPunct="0">
              <a:buNone/>
            </a:pPr>
            <a:r>
              <a:rPr lang="en-US" dirty="0" smtClean="0"/>
              <a:t>1. Find </a:t>
            </a:r>
            <a:r>
              <a:rPr lang="en-US" dirty="0"/>
              <a:t>the next potential event;</a:t>
            </a:r>
          </a:p>
          <a:p>
            <a:pPr marL="0" lvl="0" indent="0" eaLnBrk="0" fontAlgn="base" hangingPunct="0">
              <a:buNone/>
            </a:pPr>
            <a:r>
              <a:rPr lang="en-US" dirty="0" smtClean="0"/>
              <a:t>2. Select an </a:t>
            </a:r>
            <a:r>
              <a:rPr lang="en-US" dirty="0"/>
              <a:t>activity;</a:t>
            </a:r>
          </a:p>
          <a:p>
            <a:pPr marL="0" lvl="0" indent="0" eaLnBrk="0" fontAlgn="base" hangingPunct="0">
              <a:buNone/>
            </a:pPr>
            <a:r>
              <a:rPr lang="en-US" dirty="0" smtClean="0"/>
              <a:t>3. Test </a:t>
            </a:r>
            <a:r>
              <a:rPr lang="en-US" dirty="0"/>
              <a:t>if the event can be executed;</a:t>
            </a:r>
          </a:p>
          <a:p>
            <a:pPr marL="0" lvl="0" indent="0" eaLnBrk="0" fontAlgn="base" hangingPunct="0">
              <a:buNone/>
            </a:pPr>
            <a:r>
              <a:rPr lang="en-US" dirty="0" smtClean="0"/>
              <a:t>4. Change </a:t>
            </a:r>
            <a:r>
              <a:rPr lang="en-US" dirty="0"/>
              <a:t>the system image;</a:t>
            </a:r>
          </a:p>
          <a:p>
            <a:pPr marL="0" lvl="0" indent="0" eaLnBrk="0" fontAlgn="base" hangingPunct="0">
              <a:buNone/>
            </a:pPr>
            <a:r>
              <a:rPr lang="en-US" dirty="0" smtClean="0"/>
              <a:t>5. Gather </a:t>
            </a:r>
            <a:r>
              <a:rPr lang="en-US" dirty="0"/>
              <a:t>statistics</a:t>
            </a:r>
          </a:p>
          <a:p>
            <a:endParaRPr lang="en-US" dirty="0"/>
          </a:p>
        </p:txBody>
      </p:sp>
      <p:sp>
        <p:nvSpPr>
          <p:cNvPr id="4" name="Rectangle 1"/>
          <p:cNvSpPr>
            <a:spLocks noChangeArrowheads="1"/>
          </p:cNvSpPr>
          <p:nvPr/>
        </p:nvSpPr>
        <p:spPr bwMode="auto">
          <a:xfrm>
            <a:off x="0" y="269492"/>
            <a:ext cx="184731" cy="323165"/>
          </a:xfrm>
          <a:prstGeom prst="rect">
            <a:avLst/>
          </a:prstGeom>
          <a:solidFill>
            <a:srgbClr val="C3A95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1155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Gathering statistics </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a:t>Commonly required statistics which are usually included in the output of a simulation are as follows:</a:t>
            </a:r>
          </a:p>
          <a:p>
            <a:pPr marL="0" indent="0">
              <a:buNone/>
            </a:pPr>
            <a:r>
              <a:rPr lang="en-US" dirty="0" smtClean="0"/>
              <a:t>1. Counts- </a:t>
            </a:r>
            <a:r>
              <a:rPr lang="en-US" dirty="0"/>
              <a:t>giving the number of entities of a particular type or the number of times some event occurred.</a:t>
            </a:r>
          </a:p>
          <a:p>
            <a:pPr marL="0" indent="0">
              <a:buNone/>
            </a:pPr>
            <a:r>
              <a:rPr lang="en-US" dirty="0" smtClean="0"/>
              <a:t>2. Summary </a:t>
            </a:r>
            <a:r>
              <a:rPr lang="en-US" dirty="0"/>
              <a:t>measures- such as extreme values, mean values, and standard deviations.</a:t>
            </a:r>
          </a:p>
          <a:p>
            <a:pPr marL="0" indent="0">
              <a:buNone/>
            </a:pPr>
            <a:r>
              <a:rPr lang="en-US" dirty="0" smtClean="0"/>
              <a:t>3. Utilization- </a:t>
            </a:r>
            <a:r>
              <a:rPr lang="en-US" dirty="0"/>
              <a:t>defined as the fraction (or percentage) of time some entity is engaged.</a:t>
            </a:r>
          </a:p>
          <a:p>
            <a:pPr marL="0" indent="0">
              <a:buNone/>
            </a:pPr>
            <a:r>
              <a:rPr lang="en-US" dirty="0" smtClean="0"/>
              <a:t>4. Occupancy- </a:t>
            </a:r>
            <a:r>
              <a:rPr lang="en-US" dirty="0"/>
              <a:t>defined as the fraction (or percentage) of a group of entities in use on the average.</a:t>
            </a:r>
          </a:p>
          <a:p>
            <a:pPr marL="0" indent="0">
              <a:buNone/>
            </a:pPr>
            <a:r>
              <a:rPr lang="en-US" dirty="0" smtClean="0"/>
              <a:t>5. Distributions- </a:t>
            </a:r>
            <a:r>
              <a:rPr lang="en-US" dirty="0"/>
              <a:t>of important variables, such as queue lengths or waiting times.</a:t>
            </a:r>
          </a:p>
          <a:p>
            <a:pPr marL="0" indent="0">
              <a:buNone/>
            </a:pPr>
            <a:r>
              <a:rPr lang="en-US" dirty="0" smtClean="0"/>
              <a:t>6. Transit </a:t>
            </a:r>
            <a:r>
              <a:rPr lang="en-US" dirty="0"/>
              <a:t>times- defined as the time taken for an entity to move from one part of the system to some other part.</a:t>
            </a:r>
          </a:p>
          <a:p>
            <a:endParaRPr lang="en-US" dirty="0"/>
          </a:p>
        </p:txBody>
      </p:sp>
    </p:spTree>
    <p:extLst>
      <p:ext uri="{BB962C8B-B14F-4D97-AF65-F5344CB8AC3E}">
        <p14:creationId xmlns:p14="http://schemas.microsoft.com/office/powerpoint/2010/main" val="64140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9976" y="189412"/>
            <a:ext cx="9522824" cy="947747"/>
          </a:xfrm>
        </p:spPr>
        <p:txBody>
          <a:bodyPr/>
          <a:lstStyle/>
          <a:p>
            <a:r>
              <a:rPr lang="en-US" b="1" dirty="0">
                <a:solidFill>
                  <a:srgbClr val="FF0000"/>
                </a:solidFill>
              </a:rPr>
              <a:t>counter and summary statistics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967341"/>
            <a:ext cx="10215154" cy="215768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9976" y="2654762"/>
            <a:ext cx="10136778" cy="3378100"/>
          </a:xfrm>
          <a:prstGeom prst="rect">
            <a:avLst/>
          </a:prstGeom>
        </p:spPr>
      </p:pic>
    </p:spTree>
    <p:extLst>
      <p:ext uri="{BB962C8B-B14F-4D97-AF65-F5344CB8AC3E}">
        <p14:creationId xmlns:p14="http://schemas.microsoft.com/office/powerpoint/2010/main" val="3711157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02474"/>
            <a:ext cx="9509760" cy="999309"/>
          </a:xfrm>
        </p:spPr>
        <p:txBody>
          <a:bodyPr/>
          <a:lstStyle/>
          <a:p>
            <a:r>
              <a:rPr lang="en-US" b="1" dirty="0" smtClean="0">
                <a:solidFill>
                  <a:srgbClr val="FF0000"/>
                </a:solidFill>
              </a:rPr>
              <a:t>Measuring utilization and occupancy </a:t>
            </a:r>
            <a:endParaRPr lang="en-US" b="1" dirty="0">
              <a:solidFill>
                <a:srgbClr val="FF0000"/>
              </a:solidFill>
            </a:endParaRPr>
          </a:p>
        </p:txBody>
      </p:sp>
      <p:sp>
        <p:nvSpPr>
          <p:cNvPr id="3" name="Content Placeholder 2"/>
          <p:cNvSpPr>
            <a:spLocks noGrp="1"/>
          </p:cNvSpPr>
          <p:nvPr>
            <p:ph idx="1"/>
          </p:nvPr>
        </p:nvSpPr>
        <p:spPr>
          <a:xfrm>
            <a:off x="1371600" y="1489166"/>
            <a:ext cx="9601200" cy="4378234"/>
          </a:xfrm>
        </p:spPr>
        <p:txBody>
          <a:bodyPr/>
          <a:lstStyle/>
          <a:p>
            <a:r>
              <a:rPr lang="en-US" b="1" dirty="0"/>
              <a:t>Measuring the load on some entity is most common requirement of a simulation What fraction of the time the item was engaged during the simulation run</a:t>
            </a:r>
            <a:r>
              <a:rPr lang="en-US" b="1" dirty="0" smtClean="0"/>
              <a:t>?</a:t>
            </a:r>
          </a:p>
          <a:p>
            <a:pPr marL="0" indent="0">
              <a:buNone/>
            </a:pPr>
            <a:r>
              <a:rPr lang="en-US" b="1" dirty="0"/>
              <a:t>Measured by utilization factor </a:t>
            </a:r>
            <a:endParaRPr lang="en-US" b="1" dirty="0" smtClean="0"/>
          </a:p>
          <a:p>
            <a:pPr marL="0" indent="0">
              <a:buNone/>
            </a:pPr>
            <a:r>
              <a:rPr lang="en-US" b="1" dirty="0" smtClean="0"/>
              <a:t>Let </a:t>
            </a:r>
            <a:r>
              <a:rPr lang="en-US" b="1" dirty="0"/>
              <a:t>time </a:t>
            </a:r>
            <a:r>
              <a:rPr lang="en-US" b="1" dirty="0" err="1" smtClean="0"/>
              <a:t>tb</a:t>
            </a:r>
            <a:r>
              <a:rPr lang="en-US" b="1" dirty="0" smtClean="0"/>
              <a:t> </a:t>
            </a:r>
            <a:r>
              <a:rPr lang="en-US" b="1" dirty="0"/>
              <a:t>be the time the item becomes busy, </a:t>
            </a:r>
            <a:endParaRPr lang="en-US" b="1" dirty="0" smtClean="0"/>
          </a:p>
          <a:p>
            <a:pPr marL="0" indent="0">
              <a:buNone/>
            </a:pPr>
            <a:r>
              <a:rPr lang="en-US" b="1" dirty="0" smtClean="0"/>
              <a:t>and </a:t>
            </a:r>
            <a:r>
              <a:rPr lang="en-US" b="1" dirty="0" err="1"/>
              <a:t>tf</a:t>
            </a:r>
            <a:r>
              <a:rPr lang="en-US" b="1" dirty="0"/>
              <a:t> be the time when the item becomes </a:t>
            </a:r>
            <a:r>
              <a:rPr lang="en-US" b="1" dirty="0" smtClean="0"/>
              <a:t>free</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7929" y="2305458"/>
            <a:ext cx="3356066" cy="186227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405" y="3523978"/>
            <a:ext cx="6867525" cy="1647825"/>
          </a:xfrm>
          <a:prstGeom prst="rect">
            <a:avLst/>
          </a:prstGeom>
        </p:spPr>
      </p:pic>
    </p:spTree>
    <p:extLst>
      <p:ext uri="{BB962C8B-B14F-4D97-AF65-F5344CB8AC3E}">
        <p14:creationId xmlns:p14="http://schemas.microsoft.com/office/powerpoint/2010/main" val="68512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rgbClr val="FF0000"/>
                </a:solidFill>
              </a:rPr>
              <a:t>Measuring utilization and occupancy </a:t>
            </a:r>
            <a:endParaRPr lang="en-US" dirty="0"/>
          </a:p>
        </p:txBody>
      </p:sp>
      <p:pic>
        <p:nvPicPr>
          <p:cNvPr id="6" name="Content Placeholder 5"/>
          <p:cNvPicPr>
            <a:picLocks noGrp="1" noChangeAspect="1"/>
          </p:cNvPicPr>
          <p:nvPr>
            <p:ph idx="1"/>
          </p:nvPr>
        </p:nvPicPr>
        <p:blipFill>
          <a:blip r:embed="rId2"/>
          <a:stretch>
            <a:fillRect/>
          </a:stretch>
        </p:blipFill>
        <p:spPr>
          <a:xfrm>
            <a:off x="3862797" y="5249771"/>
            <a:ext cx="3390900" cy="1076325"/>
          </a:xfrm>
          <a:prstGeom prst="rect">
            <a:avLst/>
          </a:prstGeom>
        </p:spPr>
      </p:pic>
      <p:sp>
        <p:nvSpPr>
          <p:cNvPr id="7" name="Rectangle 6"/>
          <p:cNvSpPr/>
          <p:nvPr/>
        </p:nvSpPr>
        <p:spPr>
          <a:xfrm>
            <a:off x="1463040" y="2325190"/>
            <a:ext cx="9109165" cy="3170099"/>
          </a:xfrm>
          <a:prstGeom prst="rect">
            <a:avLst/>
          </a:prstGeom>
        </p:spPr>
        <p:txBody>
          <a:bodyPr wrap="square">
            <a:spAutoFit/>
          </a:bodyPr>
          <a:lstStyle/>
          <a:p>
            <a:r>
              <a:rPr lang="en-US" sz="2000" dirty="0"/>
              <a:t>A discrete simulation program, updating time as events occur, will measure the intervals </a:t>
            </a:r>
            <a:r>
              <a:rPr lang="en-US" sz="2000" dirty="0" err="1"/>
              <a:t>tf</a:t>
            </a:r>
            <a:r>
              <a:rPr lang="en-US" sz="2000" dirty="0"/>
              <a:t> - </a:t>
            </a:r>
            <a:r>
              <a:rPr lang="en-US" sz="2000" dirty="0" err="1"/>
              <a:t>tb</a:t>
            </a:r>
            <a:r>
              <a:rPr lang="en-US" sz="2000" dirty="0"/>
              <a:t> </a:t>
            </a:r>
            <a:r>
              <a:rPr lang="en-US" sz="2000" dirty="0" smtClean="0"/>
              <a:t>directly</a:t>
            </a:r>
          </a:p>
          <a:p>
            <a:r>
              <a:rPr lang="en-US" sz="2000" dirty="0" smtClean="0"/>
              <a:t> </a:t>
            </a:r>
            <a:r>
              <a:rPr lang="en-US" sz="2000" dirty="0"/>
              <a:t>A continuous simulation program updating time in small intervals need to build up the count by counting the number of intervals in which the item is busy</a:t>
            </a:r>
            <a:r>
              <a:rPr lang="en-US" sz="2000" dirty="0" smtClean="0"/>
              <a:t>.</a:t>
            </a:r>
          </a:p>
          <a:p>
            <a:r>
              <a:rPr lang="en-US" sz="2000" dirty="0" smtClean="0"/>
              <a:t> </a:t>
            </a:r>
            <a:r>
              <a:rPr lang="en-US" sz="2000" dirty="0"/>
              <a:t>For example, if for ‘x’ number of counts item was busy then the fact must be preserved. </a:t>
            </a:r>
            <a:endParaRPr lang="en-US" sz="2000" dirty="0" smtClean="0"/>
          </a:p>
          <a:p>
            <a:r>
              <a:rPr lang="en-US" sz="2000" dirty="0" smtClean="0"/>
              <a:t>If </a:t>
            </a:r>
            <a:r>
              <a:rPr lang="en-US" sz="2000" dirty="0"/>
              <a:t>the items was busy at the end of the simulation, then add a count according to the amount of time left in the current count as the trail of previous </a:t>
            </a:r>
            <a:r>
              <a:rPr lang="en-US" sz="2000" dirty="0" smtClean="0"/>
              <a:t>run.</a:t>
            </a:r>
          </a:p>
          <a:p>
            <a:r>
              <a:rPr lang="en-US" sz="2000" dirty="0" smtClean="0"/>
              <a:t> </a:t>
            </a:r>
            <a:r>
              <a:rPr lang="en-US" sz="2000" dirty="0"/>
              <a:t>Same holds for if the item was busy at the beginning of the simulation run For a group of such items;</a:t>
            </a:r>
          </a:p>
        </p:txBody>
      </p:sp>
    </p:spTree>
    <p:extLst>
      <p:ext uri="{BB962C8B-B14F-4D97-AF65-F5344CB8AC3E}">
        <p14:creationId xmlns:p14="http://schemas.microsoft.com/office/powerpoint/2010/main" val="2938628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Measuring utilization and occupancy </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71600" y="2285999"/>
                <a:ext cx="9718766" cy="4245429"/>
              </a:xfrm>
            </p:spPr>
            <p:txBody>
              <a:bodyPr>
                <a:normAutofit lnSpcReduction="10000"/>
              </a:bodyPr>
              <a:lstStyle/>
              <a:p>
                <a:r>
                  <a:rPr lang="en-US" dirty="0"/>
                  <a:t>If there is an upper limit on the number of entities, then </a:t>
                </a:r>
                <a:r>
                  <a:rPr lang="en-US" dirty="0" smtClean="0"/>
                  <a:t>the occupancy </a:t>
                </a:r>
                <a:r>
                  <a:rPr lang="en-US" dirty="0"/>
                  <a:t>indicates the average number in use as </a:t>
                </a:r>
                <a:r>
                  <a:rPr lang="en-US" dirty="0" smtClean="0"/>
                  <a:t>a ration </a:t>
                </a:r>
                <a:r>
                  <a:rPr lang="en-US" dirty="0"/>
                  <a:t>to the maximum</a:t>
                </a:r>
              </a:p>
              <a:p>
                <a:r>
                  <a:rPr lang="en-US" dirty="0"/>
                  <a:t>If ‘M’ is the maximum number of entities, and the quantity </a:t>
                </a:r>
                <a:r>
                  <a:rPr lang="en-US" dirty="0" err="1" smtClean="0"/>
                  <a:t>nr</a:t>
                </a:r>
                <a:r>
                  <a:rPr lang="en-US" dirty="0"/>
                  <a:t> </a:t>
                </a:r>
                <a:r>
                  <a:rPr lang="en-US" dirty="0" smtClean="0"/>
                  <a:t>is </a:t>
                </a:r>
                <a:r>
                  <a:rPr lang="en-US" dirty="0"/>
                  <a:t>the number busy in the interval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sub>
                    </m:sSub>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r>
                          <a:rPr lang="en-US" i="1">
                            <a:latin typeface="Cambria Math" panose="02040503050406030204" pitchFamily="18" charset="0"/>
                          </a:rPr>
                          <m:t>+1</m:t>
                        </m:r>
                      </m:sub>
                    </m:sSub>
                  </m:oMath>
                </a14:m>
                <a:r>
                  <a:rPr lang="en-US" dirty="0"/>
                  <a:t>the </a:t>
                </a:r>
                <a:r>
                  <a:rPr lang="en-US" dirty="0" smtClean="0"/>
                  <a:t>average occupancy</a:t>
                </a:r>
                <a:r>
                  <a:rPr lang="en-US" dirty="0"/>
                  <a:t>, assuming the number n, changes N times is</a:t>
                </a:r>
                <a:r>
                  <a:rPr lang="en-US" dirty="0" smtClean="0"/>
                  <a:t>;</a:t>
                </a:r>
              </a:p>
              <a:p>
                <a:endParaRPr lang="en-US" dirty="0"/>
              </a:p>
              <a:p>
                <a:endParaRPr lang="en-US" dirty="0" smtClean="0"/>
              </a:p>
              <a:p>
                <a:endParaRPr lang="en-US" dirty="0"/>
              </a:p>
              <a:p>
                <a:r>
                  <a:rPr lang="en-US" dirty="0"/>
                  <a:t>Utilization – timing information for each individual entity</a:t>
                </a:r>
              </a:p>
              <a:p>
                <a:r>
                  <a:rPr lang="en-US" dirty="0"/>
                  <a:t>Occupancy – count of a class of entities and last time </a:t>
                </a:r>
                <a:r>
                  <a:rPr lang="en-US" dirty="0" smtClean="0"/>
                  <a:t>the count </a:t>
                </a:r>
                <a:r>
                  <a:rPr lang="en-US" dirty="0"/>
                  <a:t>changed For large number of active entities, utilization cost more (time and space) as compared with occupancy</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71600" y="2285999"/>
                <a:ext cx="9718766" cy="4245429"/>
              </a:xfrm>
              <a:blipFill>
                <a:blip r:embed="rId2"/>
                <a:stretch>
                  <a:fillRect l="-565" t="-1868"/>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3766320" y="3721962"/>
            <a:ext cx="3457575" cy="1190625"/>
          </a:xfrm>
          <a:prstGeom prst="rect">
            <a:avLst/>
          </a:prstGeom>
        </p:spPr>
      </p:pic>
    </p:spTree>
    <p:extLst>
      <p:ext uri="{BB962C8B-B14F-4D97-AF65-F5344CB8AC3E}">
        <p14:creationId xmlns:p14="http://schemas.microsoft.com/office/powerpoint/2010/main" val="2613369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Recording Distributions and Transit Times</a:t>
            </a:r>
          </a:p>
        </p:txBody>
      </p:sp>
      <p:sp>
        <p:nvSpPr>
          <p:cNvPr id="3" name="Content Placeholder 2"/>
          <p:cNvSpPr>
            <a:spLocks noGrp="1"/>
          </p:cNvSpPr>
          <p:nvPr>
            <p:ph idx="1"/>
          </p:nvPr>
        </p:nvSpPr>
        <p:spPr>
          <a:xfrm>
            <a:off x="1371599" y="2286000"/>
            <a:ext cx="9836331" cy="4088674"/>
          </a:xfrm>
        </p:spPr>
        <p:txBody>
          <a:bodyPr>
            <a:normAutofit/>
          </a:bodyPr>
          <a:lstStyle/>
          <a:p>
            <a:r>
              <a:rPr lang="en-US" dirty="0"/>
              <a:t>To determine the distribution of a variable, we need to count the no. of times the value of the variable falls within specific intervals </a:t>
            </a:r>
            <a:endParaRPr lang="en-US" dirty="0" smtClean="0"/>
          </a:p>
          <a:p>
            <a:r>
              <a:rPr lang="en-US" dirty="0" smtClean="0"/>
              <a:t>For </a:t>
            </a:r>
            <a:r>
              <a:rPr lang="en-US" dirty="0"/>
              <a:t>each new value, it is compared with predefined intervals and for that interval, counted up once All information is kept in a table that requires</a:t>
            </a:r>
            <a:r>
              <a:rPr lang="en-US" dirty="0" smtClean="0"/>
              <a:t>;</a:t>
            </a:r>
          </a:p>
          <a:p>
            <a:pPr marL="0" indent="0">
              <a:buNone/>
            </a:pPr>
            <a:r>
              <a:rPr lang="en-US" dirty="0" smtClean="0"/>
              <a:t> </a:t>
            </a:r>
            <a:r>
              <a:rPr lang="en-US" dirty="0"/>
              <a:t>1. The lower limit of tabulation (L) </a:t>
            </a:r>
            <a:endParaRPr lang="en-US" dirty="0" smtClean="0"/>
          </a:p>
          <a:p>
            <a:pPr marL="0" indent="0">
              <a:buNone/>
            </a:pPr>
            <a:r>
              <a:rPr lang="en-US" dirty="0" smtClean="0"/>
              <a:t>2</a:t>
            </a:r>
            <a:r>
              <a:rPr lang="en-US" dirty="0"/>
              <a:t>. The interval size (dx) </a:t>
            </a:r>
            <a:endParaRPr lang="en-US" dirty="0" smtClean="0"/>
          </a:p>
          <a:p>
            <a:pPr marL="0" indent="0">
              <a:buNone/>
            </a:pPr>
            <a:r>
              <a:rPr lang="en-US" dirty="0" smtClean="0"/>
              <a:t>3</a:t>
            </a:r>
            <a:r>
              <a:rPr lang="en-US" dirty="0"/>
              <a:t>. The number of intervals (N) </a:t>
            </a:r>
            <a:endParaRPr lang="en-US" dirty="0" smtClean="0"/>
          </a:p>
          <a:p>
            <a:pPr marL="0" indent="0">
              <a:buNone/>
            </a:pPr>
            <a:r>
              <a:rPr lang="en-US" dirty="0"/>
              <a:t>To measure transit times, the clock is used in the manner of a time stamp i.e. each entity holds time stamp. When entity reaches a point from which transit time is started, the arrival time is noted. Later when the entity reaches to end point, the difference is computed</a:t>
            </a:r>
          </a:p>
        </p:txBody>
      </p:sp>
    </p:spTree>
    <p:extLst>
      <p:ext uri="{BB962C8B-B14F-4D97-AF65-F5344CB8AC3E}">
        <p14:creationId xmlns:p14="http://schemas.microsoft.com/office/powerpoint/2010/main" val="4283854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Discrete simulation languages</a:t>
            </a:r>
            <a:endParaRPr lang="en-US" dirty="0">
              <a:solidFill>
                <a:srgbClr val="FF0000"/>
              </a:solidFill>
            </a:endParaRPr>
          </a:p>
        </p:txBody>
      </p:sp>
      <p:sp>
        <p:nvSpPr>
          <p:cNvPr id="3" name="Content Placeholder 2"/>
          <p:cNvSpPr>
            <a:spLocks noGrp="1"/>
          </p:cNvSpPr>
          <p:nvPr>
            <p:ph idx="1"/>
          </p:nvPr>
        </p:nvSpPr>
        <p:spPr>
          <a:xfrm>
            <a:off x="1371599" y="1606732"/>
            <a:ext cx="10502537" cy="5251268"/>
          </a:xfrm>
        </p:spPr>
        <p:txBody>
          <a:bodyPr>
            <a:normAutofit fontScale="92500" lnSpcReduction="20000"/>
          </a:bodyPr>
          <a:lstStyle/>
          <a:p>
            <a:r>
              <a:rPr lang="en-US" dirty="0" smtClean="0"/>
              <a:t>To simplify task of writing a discrete simulation program several programming languages </a:t>
            </a:r>
            <a:r>
              <a:rPr lang="en-US" dirty="0" err="1" smtClean="0"/>
              <a:t>ared</a:t>
            </a:r>
            <a:r>
              <a:rPr lang="en-US" dirty="0" smtClean="0"/>
              <a:t> used. Two most commonly used are:</a:t>
            </a:r>
          </a:p>
          <a:p>
            <a:r>
              <a:rPr lang="en-US" dirty="0">
                <a:solidFill>
                  <a:srgbClr val="00B0F0"/>
                </a:solidFill>
              </a:rPr>
              <a:t>GPSS (General Purpose Simulation System): </a:t>
            </a:r>
            <a:r>
              <a:rPr lang="en-US" dirty="0"/>
              <a:t>GPSS is a discrete-event simulation language used for modeling and analyzing systems where events occur at distinct points in time. It provides constructs for defining entities, transactions, queues, and processes, making it suitable for a wide range of applications in manufacturing, logistics, and operations research</a:t>
            </a:r>
            <a:r>
              <a:rPr lang="en-US" dirty="0" smtClean="0"/>
              <a:t>.</a:t>
            </a:r>
          </a:p>
          <a:p>
            <a:r>
              <a:rPr lang="en-US" b="1" dirty="0" err="1">
                <a:solidFill>
                  <a:srgbClr val="00B0F0"/>
                </a:solidFill>
              </a:rPr>
              <a:t>Simscript</a:t>
            </a:r>
            <a:r>
              <a:rPr lang="en-US" dirty="0"/>
              <a:t>: </a:t>
            </a:r>
            <a:r>
              <a:rPr lang="en-US" dirty="0" err="1"/>
              <a:t>Simscript</a:t>
            </a:r>
            <a:r>
              <a:rPr lang="en-US" dirty="0"/>
              <a:t> is a simulation programming language that supports both process-oriented and event-oriented modeling. It allows for the representation of complex systems and is often used in areas such as manufacturing, telecommunications, and transportation. </a:t>
            </a:r>
            <a:r>
              <a:rPr lang="en-US" dirty="0" err="1"/>
              <a:t>Simscript</a:t>
            </a:r>
            <a:r>
              <a:rPr lang="en-US" dirty="0"/>
              <a:t> provides a high-level language for specifying models, making it more accessible for users with varying levels of simulation expertise</a:t>
            </a:r>
            <a:r>
              <a:rPr lang="en-US" dirty="0" smtClean="0"/>
              <a:t>.</a:t>
            </a:r>
          </a:p>
          <a:p>
            <a:pPr marL="0" indent="0">
              <a:buNone/>
            </a:pPr>
            <a:r>
              <a:rPr lang="en-US" dirty="0" smtClean="0"/>
              <a:t>These languages also offers many </a:t>
            </a:r>
            <a:r>
              <a:rPr lang="en-US" dirty="0" err="1" smtClean="0"/>
              <a:t>convienent</a:t>
            </a:r>
            <a:r>
              <a:rPr lang="en-US" dirty="0" smtClean="0"/>
              <a:t> facilities such as </a:t>
            </a:r>
          </a:p>
          <a:p>
            <a:pPr marL="457200" indent="-457200">
              <a:buAutoNum type="arabicPeriod"/>
            </a:pPr>
            <a:r>
              <a:rPr lang="en-US" dirty="0" smtClean="0"/>
              <a:t>Automatic generator of stream of pseudo- </a:t>
            </a:r>
            <a:r>
              <a:rPr lang="en-US" dirty="0" err="1" smtClean="0"/>
              <a:t>ramdom</a:t>
            </a:r>
            <a:r>
              <a:rPr lang="en-US" dirty="0" smtClean="0"/>
              <a:t>  numbers for any  desired statistical destination.</a:t>
            </a:r>
          </a:p>
          <a:p>
            <a:pPr marL="457200" indent="-457200">
              <a:buAutoNum type="arabicPeriod"/>
            </a:pPr>
            <a:r>
              <a:rPr lang="en-US" dirty="0" smtClean="0"/>
              <a:t>Automatic data collection</a:t>
            </a:r>
          </a:p>
          <a:p>
            <a:pPr marL="457200" indent="-457200">
              <a:buAutoNum type="arabicPeriod"/>
            </a:pPr>
            <a:r>
              <a:rPr lang="en-US" dirty="0" smtClean="0"/>
              <a:t>Their statistical analysis and report generator.</a:t>
            </a:r>
          </a:p>
          <a:p>
            <a:pPr marL="457200" indent="-457200">
              <a:buAutoNum type="arabicPeriod"/>
            </a:pPr>
            <a:r>
              <a:rPr lang="en-US" dirty="0" smtClean="0"/>
              <a:t>Automatic </a:t>
            </a:r>
            <a:r>
              <a:rPr lang="en-US" dirty="0" err="1" smtClean="0"/>
              <a:t>handelling</a:t>
            </a:r>
            <a:r>
              <a:rPr lang="en-US" dirty="0" smtClean="0"/>
              <a:t> of queues , etc.  </a:t>
            </a:r>
            <a:endParaRPr lang="en-US" dirty="0"/>
          </a:p>
        </p:txBody>
      </p:sp>
    </p:spTree>
    <p:extLst>
      <p:ext uri="{BB962C8B-B14F-4D97-AF65-F5344CB8AC3E}">
        <p14:creationId xmlns:p14="http://schemas.microsoft.com/office/powerpoint/2010/main" val="312929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Classification of Discrete </a:t>
            </a:r>
            <a:r>
              <a:rPr lang="en-US" dirty="0">
                <a:solidFill>
                  <a:srgbClr val="FF0000"/>
                </a:solidFill>
              </a:rPr>
              <a:t>simulation languages</a:t>
            </a:r>
            <a:endParaRPr lang="en-US" dirty="0"/>
          </a:p>
        </p:txBody>
      </p:sp>
      <p:sp>
        <p:nvSpPr>
          <p:cNvPr id="3" name="Content Placeholder 2"/>
          <p:cNvSpPr>
            <a:spLocks noGrp="1"/>
          </p:cNvSpPr>
          <p:nvPr>
            <p:ph idx="1"/>
          </p:nvPr>
        </p:nvSpPr>
        <p:spPr/>
        <p:txBody>
          <a:bodyPr>
            <a:normAutofit/>
          </a:bodyPr>
          <a:lstStyle/>
          <a:p>
            <a:r>
              <a:rPr lang="en-US" b="1" dirty="0" smtClean="0">
                <a:solidFill>
                  <a:srgbClr val="00B0F0"/>
                </a:solidFill>
              </a:rPr>
              <a:t>Flowchart-Oriented</a:t>
            </a:r>
            <a:endParaRPr lang="en-US" dirty="0"/>
          </a:p>
          <a:p>
            <a:pPr marL="0" indent="0">
              <a:buNone/>
            </a:pPr>
            <a:r>
              <a:rPr lang="en-US" dirty="0" smtClean="0"/>
              <a:t> </a:t>
            </a:r>
            <a:r>
              <a:rPr lang="en-US" dirty="0"/>
              <a:t>In this approach, the simulation model is represented using flowcharts that visually depict the flow of activities and processes in the system.</a:t>
            </a:r>
          </a:p>
          <a:p>
            <a:pPr marL="0" indent="0">
              <a:buNone/>
            </a:pPr>
            <a:r>
              <a:rPr lang="en-US" dirty="0" smtClean="0"/>
              <a:t> </a:t>
            </a:r>
            <a:r>
              <a:rPr lang="en-US" dirty="0"/>
              <a:t>Sequential steps are illustrated with arrows connecting different processes. It provides a clear visualization of the simulation logic and flow</a:t>
            </a:r>
            <a:r>
              <a:rPr lang="en-US" dirty="0" smtClean="0"/>
              <a:t>.</a:t>
            </a:r>
          </a:p>
          <a:p>
            <a:r>
              <a:rPr lang="en-US" b="1" dirty="0">
                <a:solidFill>
                  <a:srgbClr val="00B0F0"/>
                </a:solidFill>
              </a:rPr>
              <a:t>Activity-Oriented</a:t>
            </a:r>
            <a:r>
              <a:rPr lang="en-US" b="1" dirty="0" smtClean="0">
                <a:solidFill>
                  <a:srgbClr val="00B0F0"/>
                </a:solidFill>
              </a:rPr>
              <a:t>:</a:t>
            </a:r>
            <a:r>
              <a:rPr lang="en-US" dirty="0" smtClean="0"/>
              <a:t> </a:t>
            </a:r>
            <a:r>
              <a:rPr lang="en-US" dirty="0"/>
              <a:t>Activity-oriented simulation focuses on modeling discrete activities or tasks within a system. Each activity is defined, and the simulation progresses based on these activities</a:t>
            </a:r>
            <a:r>
              <a:rPr lang="en-US" dirty="0" smtClean="0"/>
              <a:t>.</a:t>
            </a:r>
          </a:p>
          <a:p>
            <a:pPr marL="0" indent="0">
              <a:buNone/>
            </a:pPr>
            <a:r>
              <a:rPr lang="en-US" dirty="0" smtClean="0"/>
              <a:t> </a:t>
            </a:r>
            <a:r>
              <a:rPr lang="en-US" dirty="0"/>
              <a:t>Emphasizes the discrete nature of activities. Events trigger activities, and the system advances through the completion of these tasks.</a:t>
            </a:r>
          </a:p>
        </p:txBody>
      </p:sp>
    </p:spTree>
    <p:extLst>
      <p:ext uri="{BB962C8B-B14F-4D97-AF65-F5344CB8AC3E}">
        <p14:creationId xmlns:p14="http://schemas.microsoft.com/office/powerpoint/2010/main" val="2836443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Classification of Discrete simulation languages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solidFill>
                  <a:srgbClr val="00B0F0"/>
                </a:solidFill>
              </a:rPr>
              <a:t>Event-Oriented:</a:t>
            </a:r>
          </a:p>
          <a:p>
            <a:pPr marL="0" indent="0">
              <a:buNone/>
            </a:pPr>
            <a:r>
              <a:rPr lang="en-US" dirty="0" smtClean="0"/>
              <a:t> </a:t>
            </a:r>
            <a:r>
              <a:rPr lang="en-US" dirty="0"/>
              <a:t>In an event-oriented simulation, the system is driven by events. Events represent significant occurrences or changes in the system, leading to state transitions and updates.</a:t>
            </a:r>
          </a:p>
          <a:p>
            <a:pPr marL="0" indent="0">
              <a:buNone/>
            </a:pPr>
            <a:r>
              <a:rPr lang="en-US" dirty="0" smtClean="0"/>
              <a:t>Events </a:t>
            </a:r>
            <a:r>
              <a:rPr lang="en-US" dirty="0"/>
              <a:t>trigger the execution of associated actions. The simulation progresses in response to events, and the timing of events is crucial for </a:t>
            </a:r>
            <a:r>
              <a:rPr lang="en-US" dirty="0" smtClean="0"/>
              <a:t>accurate modelling</a:t>
            </a:r>
          </a:p>
          <a:p>
            <a:r>
              <a:rPr lang="en-US" b="1" dirty="0">
                <a:solidFill>
                  <a:srgbClr val="00B0F0"/>
                </a:solidFill>
              </a:rPr>
              <a:t>Process-Oriented:</a:t>
            </a:r>
          </a:p>
          <a:p>
            <a:pPr marL="0" indent="0">
              <a:buNone/>
            </a:pPr>
            <a:r>
              <a:rPr lang="en-US" dirty="0" smtClean="0"/>
              <a:t>Process-oriented </a:t>
            </a:r>
            <a:r>
              <a:rPr lang="en-US" dirty="0"/>
              <a:t>simulation focuses on modeling processes or procedures that occur within a system. It emphasizes the flow and interaction of processes.</a:t>
            </a:r>
          </a:p>
          <a:p>
            <a:pPr marL="0" indent="0">
              <a:buNone/>
            </a:pPr>
            <a:r>
              <a:rPr lang="en-US" dirty="0" smtClean="0"/>
              <a:t>Processes </a:t>
            </a:r>
            <a:r>
              <a:rPr lang="en-US" dirty="0"/>
              <a:t>represent higher-level activities, and the simulation captures how these processes interact and influence each other. It often involves the definition of entities, resources, and queues.</a:t>
            </a:r>
          </a:p>
        </p:txBody>
      </p:sp>
    </p:spTree>
    <p:extLst>
      <p:ext uri="{BB962C8B-B14F-4D97-AF65-F5344CB8AC3E}">
        <p14:creationId xmlns:p14="http://schemas.microsoft.com/office/powerpoint/2010/main" val="1175734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7E326-D1F4-4032-960C-883280F8F723}"/>
              </a:ext>
            </a:extLst>
          </p:cNvPr>
          <p:cNvSpPr>
            <a:spLocks noGrp="1"/>
          </p:cNvSpPr>
          <p:nvPr>
            <p:ph type="title"/>
          </p:nvPr>
        </p:nvSpPr>
        <p:spPr>
          <a:xfrm>
            <a:off x="1371600" y="685800"/>
            <a:ext cx="9601200" cy="1485900"/>
          </a:xfrm>
        </p:spPr>
        <p:txBody>
          <a:bodyPr>
            <a:normAutofit/>
          </a:bodyPr>
          <a:lstStyle/>
          <a:p>
            <a:r>
              <a:rPr lang="en-US" dirty="0"/>
              <a:t>Title Lorem Ipsum dolor</a:t>
            </a:r>
          </a:p>
        </p:txBody>
      </p:sp>
      <p:graphicFrame>
        <p:nvGraphicFramePr>
          <p:cNvPr id="5" name="Content Placeholder 2" descr="icon SmartArt graphic placeholder">
            <a:extLst>
              <a:ext uri="{FF2B5EF4-FFF2-40B4-BE49-F238E27FC236}">
                <a16:creationId xmlns:a16="http://schemas.microsoft.com/office/drawing/2014/main" id="{E04C5C5B-F932-40FC-AD54-EE8AB0C58221}"/>
              </a:ext>
            </a:extLst>
          </p:cNvPr>
          <p:cNvGraphicFramePr>
            <a:graphicFrameLocks noGrp="1"/>
          </p:cNvGraphicFramePr>
          <p:nvPr>
            <p:ph idx="1"/>
            <p:extLst>
              <p:ext uri="{D42A27DB-BD31-4B8C-83A1-F6EECF244321}">
                <p14:modId xmlns:p14="http://schemas.microsoft.com/office/powerpoint/2010/main" val="2915112056"/>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441712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9A38F-9A2C-42E5-9013-4C4B1FFCB4F6}">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71af3243-3dd4-4a8d-8c0d-dd76da1f02a5"/>
    <ds:schemaRef ds:uri="http://www.w3.org/XML/1998/namespace"/>
  </ds:schemaRefs>
</ds:datastoreItem>
</file>

<file path=customXml/itemProps2.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3.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Crop design</Template>
  <TotalTime>0</TotalTime>
  <Words>1741</Words>
  <Application>Microsoft Office PowerPoint</Application>
  <PresentationFormat>Widescreen</PresentationFormat>
  <Paragraphs>109</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Book Antiqua</vt:lpstr>
      <vt:lpstr>Calibri</vt:lpstr>
      <vt:lpstr>Cambria Math</vt:lpstr>
      <vt:lpstr>France</vt:lpstr>
      <vt:lpstr>Franklin Gothic Book</vt:lpstr>
      <vt:lpstr>Crop</vt:lpstr>
      <vt:lpstr>PowerPoint Presentation</vt:lpstr>
      <vt:lpstr>Discrete  system simulation</vt:lpstr>
      <vt:lpstr>Representation of Time:: Question: How time is represented in discrete system simulation?  </vt:lpstr>
      <vt:lpstr>Updating  clock time Question: Discuss the basic methods used for updating clock time (simulation clock time) in (discrete) system simulation.  </vt:lpstr>
      <vt:lpstr>Significant event simulation</vt:lpstr>
      <vt:lpstr>Generation of Arrival Patterns</vt:lpstr>
      <vt:lpstr>Bootstrapping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Programming Tasks</vt:lpstr>
      <vt:lpstr>PowerPoint Presentation</vt:lpstr>
      <vt:lpstr>Simulation Programming Tasks</vt:lpstr>
      <vt:lpstr>Gathering statistics </vt:lpstr>
      <vt:lpstr>counter and summary statistics</vt:lpstr>
      <vt:lpstr>Measuring utilization and occupancy </vt:lpstr>
      <vt:lpstr>Measuring utilization and occupancy </vt:lpstr>
      <vt:lpstr>Measuring utilization and occupancy </vt:lpstr>
      <vt:lpstr>Recording Distributions and Transit Times</vt:lpstr>
      <vt:lpstr>Discrete simulation languages</vt:lpstr>
      <vt:lpstr>Classification of Discrete simulation languages</vt:lpstr>
      <vt:lpstr>Classification of Discrete simulation languages</vt:lpstr>
      <vt:lpstr>Title Lorem Ipsum dolor</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2023-12-11T16:12:48Z</dcterms:created>
  <dcterms:modified xsi:type="dcterms:W3CDTF">2025-05-25T01:19:15Z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