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39"/>
  </p:notesMasterIdLst>
  <p:sldIdLst>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81" r:id="rId18"/>
    <p:sldId id="279" r:id="rId19"/>
    <p:sldId id="280" r:id="rId20"/>
    <p:sldId id="282" r:id="rId21"/>
    <p:sldId id="283" r:id="rId22"/>
    <p:sldId id="284" r:id="rId23"/>
    <p:sldId id="285" r:id="rId24"/>
    <p:sldId id="286" r:id="rId25"/>
    <p:sldId id="320" r:id="rId26"/>
    <p:sldId id="287" r:id="rId27"/>
    <p:sldId id="288" r:id="rId28"/>
    <p:sldId id="318" r:id="rId29"/>
    <p:sldId id="319" r:id="rId30"/>
    <p:sldId id="294" r:id="rId31"/>
    <p:sldId id="295" r:id="rId32"/>
    <p:sldId id="297" r:id="rId33"/>
    <p:sldId id="298" r:id="rId34"/>
    <p:sldId id="301" r:id="rId35"/>
    <p:sldId id="300" r:id="rId36"/>
    <p:sldId id="299" r:id="rId37"/>
    <p:sldId id="303"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4660"/>
  </p:normalViewPr>
  <p:slideViewPr>
    <p:cSldViewPr snapToGrid="0">
      <p:cViewPr varScale="1">
        <p:scale>
          <a:sx n="73" d="100"/>
          <a:sy n="73" d="100"/>
        </p:scale>
        <p:origin x="402" y="7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5/31/2026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5/31/2026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5/31/2026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5/31/2026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5/31/2026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5/31/2026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5/31/2026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5/31/2026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5/31/2026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5/31/2026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5/31/2026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Differential_equation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Harmonic_oscillator" TargetMode="External"/><Relationship Id="rId3" Type="http://schemas.openxmlformats.org/officeDocument/2006/relationships/hyperlink" Target="https://en.wikipedia.org/wiki/Symmetry" TargetMode="External"/><Relationship Id="rId7" Type="http://schemas.openxmlformats.org/officeDocument/2006/relationships/hyperlink" Target="https://en.wikipedia.org/wiki/Linearization" TargetMode="External"/><Relationship Id="rId2" Type="http://schemas.openxmlformats.org/officeDocument/2006/relationships/hyperlink" Target="https://en.wikipedia.org/wiki/Linear_equation" TargetMode="External"/><Relationship Id="rId1" Type="http://schemas.openxmlformats.org/officeDocument/2006/relationships/slideLayout" Target="../slideLayouts/slideLayout2.xml"/><Relationship Id="rId6" Type="http://schemas.openxmlformats.org/officeDocument/2006/relationships/hyperlink" Target="https://en.wikipedia.org/wiki/Differential_equation#cite_note-11" TargetMode="External"/><Relationship Id="rId5" Type="http://schemas.openxmlformats.org/officeDocument/2006/relationships/hyperlink" Target="https://en.wikipedia.org/wiki/Navier%E2%80%93Stokes_existence_and_smoothness" TargetMode="External"/><Relationship Id="rId4" Type="http://schemas.openxmlformats.org/officeDocument/2006/relationships/hyperlink" Target="https://en.wikipedia.org/wiki/Chaos_theory"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Heat" TargetMode="External"/><Relationship Id="rId13" Type="http://schemas.openxmlformats.org/officeDocument/2006/relationships/hyperlink" Target="https://en.wikipedia.org/wiki/Quantum_mechanics" TargetMode="External"/><Relationship Id="rId3" Type="http://schemas.openxmlformats.org/officeDocument/2006/relationships/hyperlink" Target="https://en.wikipedia.org/wiki/Multivariable_calculus" TargetMode="External"/><Relationship Id="rId7" Type="http://schemas.openxmlformats.org/officeDocument/2006/relationships/hyperlink" Target="https://en.wikipedia.org/wiki/Sound" TargetMode="External"/><Relationship Id="rId12" Type="http://schemas.openxmlformats.org/officeDocument/2006/relationships/hyperlink" Target="https://en.wikipedia.org/wiki/Elasticity_(physics)" TargetMode="External"/><Relationship Id="rId17" Type="http://schemas.openxmlformats.org/officeDocument/2006/relationships/hyperlink" Target="https://en.wikipedia.org/wiki/Randomness" TargetMode="External"/><Relationship Id="rId2" Type="http://schemas.openxmlformats.org/officeDocument/2006/relationships/hyperlink" Target="https://en.wikipedia.org/wiki/Partial_differential_equation" TargetMode="External"/><Relationship Id="rId16" Type="http://schemas.openxmlformats.org/officeDocument/2006/relationships/hyperlink" Target="https://en.wikipedia.org/wiki/Stochastic_partial_differential_equations" TargetMode="External"/><Relationship Id="rId1" Type="http://schemas.openxmlformats.org/officeDocument/2006/relationships/slideLayout" Target="../slideLayouts/slideLayout2.xml"/><Relationship Id="rId6" Type="http://schemas.openxmlformats.org/officeDocument/2006/relationships/hyperlink" Target="https://en.wikipedia.org/wiki/Computer_model" TargetMode="External"/><Relationship Id="rId11" Type="http://schemas.openxmlformats.org/officeDocument/2006/relationships/hyperlink" Target="https://en.wikipedia.org/wiki/Fluid_flow" TargetMode="External"/><Relationship Id="rId5" Type="http://schemas.openxmlformats.org/officeDocument/2006/relationships/hyperlink" Target="https://en.wikipedia.org/wiki/Ordinary_differential_equations" TargetMode="External"/><Relationship Id="rId15" Type="http://schemas.openxmlformats.org/officeDocument/2006/relationships/hyperlink" Target="https://en.wikipedia.org/wiki/Multidimensional_systems" TargetMode="External"/><Relationship Id="rId10" Type="http://schemas.openxmlformats.org/officeDocument/2006/relationships/hyperlink" Target="https://en.wikipedia.org/wiki/Electrodynamics" TargetMode="External"/><Relationship Id="rId4" Type="http://schemas.openxmlformats.org/officeDocument/2006/relationships/hyperlink" Target="https://en.wikipedia.org/wiki/Partial_derivatives" TargetMode="External"/><Relationship Id="rId9" Type="http://schemas.openxmlformats.org/officeDocument/2006/relationships/hyperlink" Target="https://en.wikipedia.org/wiki/Electrostatics" TargetMode="External"/><Relationship Id="rId14" Type="http://schemas.openxmlformats.org/officeDocument/2006/relationships/hyperlink" Target="https://en.wikipedia.org/wiki/Dynamical_syste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Digital_computer" TargetMode="External"/><Relationship Id="rId2" Type="http://schemas.openxmlformats.org/officeDocument/2006/relationships/hyperlink" Target="https://en.wikipedia.org/wiki/Analog_computer" TargetMode="External"/><Relationship Id="rId1" Type="http://schemas.openxmlformats.org/officeDocument/2006/relationships/slideLayout" Target="../slideLayouts/slideLayout2.xml"/><Relationship Id="rId6" Type="http://schemas.openxmlformats.org/officeDocument/2006/relationships/hyperlink" Target="https://en.wikipedia.org/wiki/Differential_equations" TargetMode="External"/><Relationship Id="rId5" Type="http://schemas.openxmlformats.org/officeDocument/2006/relationships/hyperlink" Target="https://en.wikipedia.org/wiki/Numerical_analysis" TargetMode="External"/><Relationship Id="rId4" Type="http://schemas.openxmlformats.org/officeDocument/2006/relationships/hyperlink" Target="https://en.wikipedia.org/wiki/Logic"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69807"/>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70475" y="4058947"/>
            <a:ext cx="5268177" cy="1086237"/>
          </a:xfrm>
        </p:spPr>
        <p:txBody>
          <a:bodyPr>
            <a:normAutofit/>
          </a:bodyPr>
          <a:lstStyle/>
          <a:p>
            <a:pPr algn="l"/>
            <a:r>
              <a:rPr lang="en-US" sz="3600" dirty="0" smtClean="0">
                <a:solidFill>
                  <a:srgbClr val="FFFFFF"/>
                </a:solidFill>
              </a:rPr>
              <a:t>Continuous system</a:t>
            </a:r>
            <a:endParaRPr lang="en-US" sz="3600" dirty="0">
              <a:solidFill>
                <a:srgbClr val="FFFFFF"/>
              </a:solidFill>
            </a:endParaRP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307869" y="4950186"/>
            <a:ext cx="5268177" cy="531866"/>
          </a:xfrm>
        </p:spPr>
        <p:txBody>
          <a:bodyPr>
            <a:noAutofit/>
          </a:bodyPr>
          <a:lstStyle/>
          <a:p>
            <a:pPr algn="l">
              <a:spcAft>
                <a:spcPts val="600"/>
              </a:spcAft>
            </a:pPr>
            <a:r>
              <a:rPr lang="en-US" sz="3200" b="1" dirty="0" err="1" smtClean="0">
                <a:solidFill>
                  <a:srgbClr val="FF0000"/>
                </a:solidFill>
              </a:rPr>
              <a:t>Dikesh</a:t>
            </a:r>
            <a:r>
              <a:rPr lang="en-US" sz="3200" b="1" dirty="0" smtClean="0">
                <a:solidFill>
                  <a:srgbClr val="FF0000"/>
                </a:solidFill>
              </a:rPr>
              <a:t> </a:t>
            </a:r>
            <a:r>
              <a:rPr lang="en-US" sz="3200" b="1" dirty="0" err="1" smtClean="0">
                <a:solidFill>
                  <a:srgbClr val="FF0000"/>
                </a:solidFill>
              </a:rPr>
              <a:t>katwal</a:t>
            </a:r>
            <a:r>
              <a:rPr lang="en-US" sz="3200" b="1" dirty="0" smtClean="0">
                <a:solidFill>
                  <a:srgbClr val="FF0000"/>
                </a:solidFill>
              </a:rPr>
              <a:t> </a:t>
            </a:r>
          </a:p>
          <a:p>
            <a:pPr algn="l">
              <a:spcAft>
                <a:spcPts val="600"/>
              </a:spcAft>
            </a:pPr>
            <a:r>
              <a:rPr lang="en-US" sz="3200" b="1" dirty="0" err="1" smtClean="0">
                <a:solidFill>
                  <a:srgbClr val="FF0000"/>
                </a:solidFill>
              </a:rPr>
              <a:t>Msc</a:t>
            </a:r>
            <a:r>
              <a:rPr lang="en-US" sz="3200" b="1" dirty="0" smtClean="0">
                <a:solidFill>
                  <a:srgbClr val="FF0000"/>
                </a:solidFill>
              </a:rPr>
              <a:t> </a:t>
            </a:r>
            <a:r>
              <a:rPr lang="en-US" sz="3200" b="1" dirty="0" err="1" smtClean="0">
                <a:solidFill>
                  <a:srgbClr val="FF0000"/>
                </a:solidFill>
              </a:rPr>
              <a:t>cs</a:t>
            </a:r>
            <a:r>
              <a:rPr lang="en-US" sz="3200" b="1" dirty="0" smtClean="0">
                <a:solidFill>
                  <a:srgbClr val="FF0000"/>
                </a:solidFill>
              </a:rPr>
              <a:t> </a:t>
            </a:r>
          </a:p>
        </p:txBody>
      </p:sp>
    </p:spTree>
    <p:extLst>
      <p:ext uri="{BB962C8B-B14F-4D97-AF65-F5344CB8AC3E}">
        <p14:creationId xmlns:p14="http://schemas.microsoft.com/office/powerpoint/2010/main" val="745576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Continuous System</a:t>
            </a:r>
          </a:p>
        </p:txBody>
      </p:sp>
      <p:sp>
        <p:nvSpPr>
          <p:cNvPr id="3" name="Content Placeholder 2"/>
          <p:cNvSpPr>
            <a:spLocks noGrp="1"/>
          </p:cNvSpPr>
          <p:nvPr>
            <p:ph idx="1"/>
          </p:nvPr>
        </p:nvSpPr>
        <p:spPr/>
        <p:txBody>
          <a:bodyPr>
            <a:normAutofit fontScale="92500" lnSpcReduction="10000"/>
          </a:bodyPr>
          <a:lstStyle/>
          <a:p>
            <a:r>
              <a:rPr lang="en-US" dirty="0"/>
              <a:t>Continuous System Simulation describes systematically and methodically how mathematical models of dynamic systems, usually described by sets of either ordinary or partial differential equations possibly coupled with algebraic equations, can be simulated on a digital computer.</a:t>
            </a:r>
          </a:p>
          <a:p>
            <a:r>
              <a:rPr lang="en-US" dirty="0"/>
              <a:t>Modern modeling and simulation environments relieve the occasional user from having to understand how simulation really works. Once a mathematical model of a process has been formulated, the modeling and simulation environment compiles and simulates the model, and curves of result trajectories appear magically on the user’s screen. Yet, magic has a tendency to fail, and it is then that the user must understand what went wrong, and why the model could not be simulated as expected</a:t>
            </a:r>
            <a:r>
              <a:rPr lang="en-US" dirty="0" smtClean="0"/>
              <a:t>.</a:t>
            </a:r>
          </a:p>
          <a:p>
            <a:r>
              <a:rPr lang="en-US" b="1" dirty="0"/>
              <a:t>Continuous Simulation</a:t>
            </a:r>
            <a:r>
              <a:rPr lang="en-US" dirty="0"/>
              <a:t> refers to simulation approaches where a system is modeled with the help of variables that change continuously according to a set of </a:t>
            </a:r>
            <a:r>
              <a:rPr lang="en-US" u="sng" dirty="0">
                <a:hlinkClick r:id="rId2"/>
              </a:rPr>
              <a:t>differential equations</a:t>
            </a:r>
            <a:endParaRPr lang="en-US" dirty="0"/>
          </a:p>
        </p:txBody>
      </p:sp>
    </p:spTree>
    <p:extLst>
      <p:ext uri="{BB962C8B-B14F-4D97-AF65-F5344CB8AC3E}">
        <p14:creationId xmlns:p14="http://schemas.microsoft.com/office/powerpoint/2010/main" val="31439776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Classification of Continuous Simulation Language</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1371599" y="2286000"/>
            <a:ext cx="10554789" cy="4572000"/>
          </a:xfrm>
        </p:spPr>
        <p:txBody>
          <a:bodyPr>
            <a:normAutofit fontScale="92500" lnSpcReduction="10000"/>
          </a:bodyPr>
          <a:lstStyle/>
          <a:p>
            <a:r>
              <a:rPr lang="en-US" b="1" dirty="0"/>
              <a:t>Block oriented simulation languages</a:t>
            </a:r>
            <a:r>
              <a:rPr lang="en-US" dirty="0"/>
              <a:t> are based on the methodology of analogue computers. The system must be expressed as a block diagram that defines the interconnection of functional units and their quantitative parameters. "Programming" means entering the interconnection of the blocks and their description. Then the user adds statements and/or directives that control the simulation. If the system is described as a set of equations, they must be converted to a block diagram. This conversion is a simple straightforward process. The typical blocks available in most continuous block oriented languages are integrators, limiters, delays, multipliers, hysteresis, constant values, adders, holders, gain (coefficient) and other.</a:t>
            </a:r>
          </a:p>
          <a:p>
            <a:r>
              <a:rPr lang="en-US" b="1" dirty="0"/>
              <a:t>Expression oriented continuous languages</a:t>
            </a:r>
            <a:r>
              <a:rPr lang="en-US" dirty="0"/>
              <a:t> are based on writing expressions (equations) that represent the mathematical model. So the system simulated must be expressed by a set of equations. Then the user adds statements and/or directives that control the simulation. Some languages enable both block and expression based ways of system definition. Simulation control means selection of: the integration method (because some languages offer more), the integration step, the variables (outputs of blocks) that should be observed, the intervals for collecting data for printing and/or plotting, scaling of outputs (that may be also done automatically), duration of the simulation runs, number of repetitions and the way certain values are changed in them, </a:t>
            </a:r>
            <a:r>
              <a:rPr lang="en-US" dirty="0" err="1"/>
              <a:t>etc</a:t>
            </a:r>
            <a:endParaRPr lang="en-US" dirty="0"/>
          </a:p>
          <a:p>
            <a:endParaRPr lang="en-US" dirty="0"/>
          </a:p>
        </p:txBody>
      </p:sp>
    </p:spTree>
    <p:extLst>
      <p:ext uri="{BB962C8B-B14F-4D97-AF65-F5344CB8AC3E}">
        <p14:creationId xmlns:p14="http://schemas.microsoft.com/office/powerpoint/2010/main" val="14995048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System Dynamics</a:t>
            </a:r>
          </a:p>
        </p:txBody>
      </p:sp>
      <p:sp>
        <p:nvSpPr>
          <p:cNvPr id="3" name="Content Placeholder 2"/>
          <p:cNvSpPr>
            <a:spLocks noGrp="1"/>
          </p:cNvSpPr>
          <p:nvPr>
            <p:ph idx="1"/>
          </p:nvPr>
        </p:nvSpPr>
        <p:spPr>
          <a:xfrm>
            <a:off x="1371600" y="1737361"/>
            <a:ext cx="9810206" cy="4741816"/>
          </a:xfrm>
        </p:spPr>
        <p:txBody>
          <a:bodyPr>
            <a:normAutofit/>
          </a:bodyPr>
          <a:lstStyle/>
          <a:p>
            <a:r>
              <a:rPr lang="en-US" sz="2400" dirty="0"/>
              <a:t>System Dynamics is a computer-based mathematical modeling approach for strategy development and better decision making in complex systems. This approach uses computer-aided simulation methodology based on feedback systems theory which complements the other Systems Thinking approaches</a:t>
            </a:r>
            <a:r>
              <a:rPr lang="en-US" sz="2400" dirty="0" smtClean="0"/>
              <a:t>.</a:t>
            </a:r>
          </a:p>
          <a:p>
            <a:r>
              <a:rPr lang="en-US" sz="2400" dirty="0" smtClean="0"/>
              <a:t> </a:t>
            </a:r>
            <a:r>
              <a:rPr lang="en-US" sz="2400" dirty="0"/>
              <a:t>Also, it provides tools and methods to </a:t>
            </a:r>
            <a:r>
              <a:rPr lang="en-US" sz="2400" dirty="0" smtClean="0"/>
              <a:t>analyze </a:t>
            </a:r>
            <a:r>
              <a:rPr lang="en-US" sz="2400" dirty="0"/>
              <a:t>dynamic </a:t>
            </a:r>
            <a:r>
              <a:rPr lang="en-US" sz="2400" dirty="0" smtClean="0"/>
              <a:t>systems. </a:t>
            </a:r>
            <a:r>
              <a:rPr lang="en-US" sz="2400" smtClean="0"/>
              <a:t>It </a:t>
            </a:r>
            <a:r>
              <a:rPr lang="en-US" sz="2400" dirty="0"/>
              <a:t>can help solving problems arising in complex socio-economic systems (economic, social, managerial, political, public health or etc.) and as well as physical and/or natural systems where humans interact with them (physiological, environmental, ecological, or etc.)</a:t>
            </a:r>
          </a:p>
        </p:txBody>
      </p:sp>
    </p:spTree>
    <p:extLst>
      <p:ext uri="{BB962C8B-B14F-4D97-AF65-F5344CB8AC3E}">
        <p14:creationId xmlns:p14="http://schemas.microsoft.com/office/powerpoint/2010/main" val="35220802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ock and 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54" y="744583"/>
            <a:ext cx="10359509" cy="527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9131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3.1 Continuous </a:t>
            </a:r>
            <a:r>
              <a:rPr lang="en-US" b="1" dirty="0">
                <a:solidFill>
                  <a:srgbClr val="FF0000"/>
                </a:solidFill>
              </a:rPr>
              <a:t>System Models</a:t>
            </a:r>
            <a:endParaRPr lang="en-US"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 </a:t>
            </a:r>
            <a:r>
              <a:rPr lang="en-US" dirty="0"/>
              <a:t>A continuous system is the system in which the activities of the main elements of the system cause smooth changes in the attributes of the entities of the </a:t>
            </a:r>
            <a:r>
              <a:rPr lang="en-US" dirty="0" smtClean="0"/>
              <a:t>system</a:t>
            </a:r>
          </a:p>
          <a:p>
            <a:r>
              <a:rPr lang="en-US" dirty="0" smtClean="0"/>
              <a:t>On </a:t>
            </a:r>
            <a:r>
              <a:rPr lang="en-US" dirty="0"/>
              <a:t>mathematical modeling, the attributes of the system are controlled by a continuous functions</a:t>
            </a:r>
            <a:r>
              <a:rPr lang="en-US" dirty="0" smtClean="0"/>
              <a:t>.</a:t>
            </a:r>
            <a:endParaRPr lang="en-US" dirty="0"/>
          </a:p>
          <a:p>
            <a:r>
              <a:rPr lang="en-US" dirty="0" smtClean="0"/>
              <a:t> </a:t>
            </a:r>
            <a:r>
              <a:rPr lang="en-US" dirty="0"/>
              <a:t>In such system, the relationships depicts the rates at which the attributes </a:t>
            </a:r>
            <a:r>
              <a:rPr lang="en-US" dirty="0" smtClean="0"/>
              <a:t>changes.</a:t>
            </a:r>
            <a:endParaRPr lang="en-US" dirty="0"/>
          </a:p>
          <a:p>
            <a:r>
              <a:rPr lang="en-US" dirty="0" smtClean="0"/>
              <a:t>The </a:t>
            </a:r>
            <a:r>
              <a:rPr lang="en-US" dirty="0"/>
              <a:t>continuous system is modeled using the differential </a:t>
            </a:r>
            <a:r>
              <a:rPr lang="en-US" dirty="0" smtClean="0"/>
              <a:t>equations.</a:t>
            </a:r>
            <a:endParaRPr lang="en-US" dirty="0"/>
          </a:p>
          <a:p>
            <a:r>
              <a:rPr lang="en-US" dirty="0" smtClean="0"/>
              <a:t>The </a:t>
            </a:r>
            <a:r>
              <a:rPr lang="en-US" dirty="0"/>
              <a:t>complex continuous system with non-linearity can be simulated by showing the application to models for linear differential equations to obtain constant coefficients and then generalize to more complex equations.</a:t>
            </a:r>
          </a:p>
          <a:p>
            <a:pPr marL="0" indent="0">
              <a:buNone/>
            </a:pPr>
            <a:r>
              <a:rPr lang="en-US" dirty="0"/>
              <a:t/>
            </a:r>
            <a:br>
              <a:rPr lang="en-US" dirty="0"/>
            </a:br>
            <a:endParaRPr lang="en-US" dirty="0"/>
          </a:p>
        </p:txBody>
      </p:sp>
    </p:spTree>
    <p:extLst>
      <p:ext uri="{BB962C8B-B14F-4D97-AF65-F5344CB8AC3E}">
        <p14:creationId xmlns:p14="http://schemas.microsoft.com/office/powerpoint/2010/main" val="35743022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3.2 Differential </a:t>
            </a:r>
            <a:r>
              <a:rPr lang="en-US" dirty="0">
                <a:solidFill>
                  <a:srgbClr val="FF0000"/>
                </a:solidFill>
              </a:rPr>
              <a:t>Equations</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The </a:t>
            </a:r>
            <a:r>
              <a:rPr lang="en-US" dirty="0"/>
              <a:t>equation that consists of the higher order derivatives of the dependent variable is known as differential equations.</a:t>
            </a:r>
            <a:br>
              <a:rPr lang="en-US" dirty="0"/>
            </a:br>
            <a:r>
              <a:rPr lang="en-US" dirty="0"/>
              <a:t>- The differential equation is said to be linear if any of the dependent variables and its derivatives have power of one and are multiplied by the constant.</a:t>
            </a:r>
            <a:br>
              <a:rPr lang="en-US" dirty="0"/>
            </a:br>
            <a:r>
              <a:rPr lang="en-US" dirty="0" err="1"/>
              <a:t>Eg</a:t>
            </a:r>
            <a:r>
              <a:rPr lang="en-US" dirty="0"/>
              <a:t>: </a:t>
            </a:r>
            <a:r>
              <a:rPr lang="en-US" b="1" dirty="0">
                <a:solidFill>
                  <a:srgbClr val="FF0000"/>
                </a:solidFill>
              </a:rPr>
              <a:t>M x’’ + D x’ + K x = K F(t)</a:t>
            </a:r>
            <a:r>
              <a:rPr lang="en-US" dirty="0"/>
              <a:t/>
            </a:r>
            <a:br>
              <a:rPr lang="en-US" dirty="0"/>
            </a:br>
            <a:r>
              <a:rPr lang="en-US" dirty="0"/>
              <a:t>where, M, D and K are constants; F(t) is the input to the system depending upon the independent variable t; x’’ and x’ are second and first order derivatives of dependent variable x.</a:t>
            </a:r>
            <a:br>
              <a:rPr lang="en-US" dirty="0"/>
            </a:br>
            <a:r>
              <a:rPr lang="en-US" dirty="0"/>
              <a:t>- The differential equation is said to be non-linear if the dependent variable or any of its derivatives are raised to a power or are combined in other way like multiplication.</a:t>
            </a:r>
          </a:p>
          <a:p>
            <a:r>
              <a:rPr lang="en-US" dirty="0"/>
              <a:t>- The differential equation is said to be partial if more than one independent variables occur in a differential equation.</a:t>
            </a:r>
            <a:br>
              <a:rPr lang="en-US" dirty="0"/>
            </a:br>
            <a:r>
              <a:rPr lang="en-US" dirty="0"/>
              <a:t>- </a:t>
            </a:r>
            <a:r>
              <a:rPr lang="en-US" dirty="0" err="1"/>
              <a:t>Eg</a:t>
            </a:r>
            <a:r>
              <a:rPr lang="en-US" dirty="0"/>
              <a:t>: Equation of flow of heat in three dimensional body. It consists of four independent variables ( three dimensions and time ) and one dependent variable ( temperature </a:t>
            </a:r>
            <a:r>
              <a:rPr lang="en-US" dirty="0" smtClean="0"/>
              <a:t>).</a:t>
            </a:r>
          </a:p>
          <a:p>
            <a:endParaRPr lang="en-US" dirty="0"/>
          </a:p>
          <a:p>
            <a:endParaRPr lang="en-US" dirty="0"/>
          </a:p>
        </p:txBody>
      </p:sp>
    </p:spTree>
    <p:extLst>
      <p:ext uri="{BB962C8B-B14F-4D97-AF65-F5344CB8AC3E}">
        <p14:creationId xmlns:p14="http://schemas.microsoft.com/office/powerpoint/2010/main" val="40139180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Differential Equations</a:t>
            </a:r>
            <a:endParaRPr lang="en-US" dirty="0"/>
          </a:p>
        </p:txBody>
      </p:sp>
      <p:sp>
        <p:nvSpPr>
          <p:cNvPr id="3" name="Content Placeholder 2"/>
          <p:cNvSpPr>
            <a:spLocks noGrp="1"/>
          </p:cNvSpPr>
          <p:nvPr>
            <p:ph idx="1"/>
          </p:nvPr>
        </p:nvSpPr>
        <p:spPr/>
        <p:txBody>
          <a:bodyPr/>
          <a:lstStyle/>
          <a:p>
            <a:r>
              <a:rPr lang="en-US" dirty="0"/>
              <a:t>The most physical and chemical process involves rate of </a:t>
            </a:r>
            <a:r>
              <a:rPr lang="en-US" dirty="0" smtClean="0"/>
              <a:t>change </a:t>
            </a:r>
            <a:r>
              <a:rPr lang="en-US" dirty="0"/>
              <a:t>which requires differential equation for </a:t>
            </a:r>
            <a:r>
              <a:rPr lang="en-US" dirty="0" smtClean="0"/>
              <a:t>their mathematical </a:t>
            </a:r>
            <a:r>
              <a:rPr lang="en-US" dirty="0"/>
              <a:t>description.</a:t>
            </a:r>
          </a:p>
          <a:p>
            <a:r>
              <a:rPr lang="en-US" dirty="0" smtClean="0"/>
              <a:t>Since </a:t>
            </a:r>
            <a:r>
              <a:rPr lang="en-US" dirty="0"/>
              <a:t>a differential coefficient can also represent a growth </a:t>
            </a:r>
            <a:r>
              <a:rPr lang="en-US" dirty="0" smtClean="0"/>
              <a:t>rate</a:t>
            </a:r>
            <a:r>
              <a:rPr lang="en-US" dirty="0"/>
              <a:t>, continuous models can also be applied to problems of </a:t>
            </a:r>
            <a:r>
              <a:rPr lang="en-US" dirty="0" smtClean="0"/>
              <a:t>social </a:t>
            </a:r>
            <a:r>
              <a:rPr lang="en-US" dirty="0"/>
              <a:t>or economic nature where there is a need to </a:t>
            </a:r>
            <a:r>
              <a:rPr lang="en-US" dirty="0" smtClean="0"/>
              <a:t>understand </a:t>
            </a:r>
            <a:r>
              <a:rPr lang="en-US" dirty="0"/>
              <a:t>general effects of growth trend</a:t>
            </a:r>
          </a:p>
          <a:p>
            <a:endParaRPr lang="en-US" dirty="0"/>
          </a:p>
        </p:txBody>
      </p:sp>
    </p:spTree>
    <p:extLst>
      <p:ext uri="{BB962C8B-B14F-4D97-AF65-F5344CB8AC3E}">
        <p14:creationId xmlns:p14="http://schemas.microsoft.com/office/powerpoint/2010/main" val="37752989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Non-linear differential equations</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US" dirty="0"/>
              <a:t>A </a:t>
            </a:r>
            <a:r>
              <a:rPr lang="en-US" b="1" dirty="0"/>
              <a:t>non-linear differential equation</a:t>
            </a:r>
            <a:r>
              <a:rPr lang="en-US" dirty="0"/>
              <a:t> is a differential equation that is not a </a:t>
            </a:r>
            <a:r>
              <a:rPr lang="en-US" dirty="0">
                <a:hlinkClick r:id="rId2" tooltip="Linear equation"/>
              </a:rPr>
              <a:t>linear equation</a:t>
            </a:r>
            <a:r>
              <a:rPr lang="en-US" dirty="0"/>
              <a:t> in the unknown function and its derivatives (the linearity or non-linearity in the arguments of the function are not considered here). There are very few methods of solving nonlinear differential equations exactly; those that are known typically depend on the equation having particular </a:t>
            </a:r>
            <a:r>
              <a:rPr lang="en-US" dirty="0">
                <a:hlinkClick r:id="rId3" tooltip="Symmetry"/>
              </a:rPr>
              <a:t>symmetries</a:t>
            </a:r>
            <a:r>
              <a:rPr lang="en-US" dirty="0"/>
              <a:t>. Nonlinear differential equations can exhibit very complicated </a:t>
            </a:r>
            <a:r>
              <a:rPr lang="en-US" dirty="0" err="1"/>
              <a:t>behaviour</a:t>
            </a:r>
            <a:r>
              <a:rPr lang="en-US" dirty="0"/>
              <a:t> over extended time intervals, characteristic of </a:t>
            </a:r>
            <a:r>
              <a:rPr lang="en-US" dirty="0">
                <a:hlinkClick r:id="rId4" tooltip="Chaos theory"/>
              </a:rPr>
              <a:t>chaos</a:t>
            </a:r>
            <a:r>
              <a:rPr lang="en-US" dirty="0"/>
              <a:t>. Even the fundamental questions of existence, uniqueness, and </a:t>
            </a:r>
            <a:r>
              <a:rPr lang="en-US" dirty="0" err="1"/>
              <a:t>extendability</a:t>
            </a:r>
            <a:r>
              <a:rPr lang="en-US" dirty="0"/>
              <a:t> of solutions for nonlinear differential equations, and well-</a:t>
            </a:r>
            <a:r>
              <a:rPr lang="en-US" dirty="0" err="1"/>
              <a:t>posedness</a:t>
            </a:r>
            <a:r>
              <a:rPr lang="en-US" dirty="0"/>
              <a:t> of initial and boundary value problems for nonlinear PDEs are hard problems and their resolution in special cases is considered to be a significant advance in the mathematical theory (cf. </a:t>
            </a:r>
            <a:r>
              <a:rPr lang="en-US" dirty="0" err="1">
                <a:hlinkClick r:id="rId5" tooltip="Navier–Stokes existence and smoothness"/>
              </a:rPr>
              <a:t>Navier</a:t>
            </a:r>
            <a:r>
              <a:rPr lang="en-US" dirty="0">
                <a:hlinkClick r:id="rId5" tooltip="Navier–Stokes existence and smoothness"/>
              </a:rPr>
              <a:t>–Stokes existence and smoothness</a:t>
            </a:r>
            <a:r>
              <a:rPr lang="en-US" dirty="0"/>
              <a:t>). However, if the differential equation is a correctly formulated representation of a meaningful physical process, then one expects it to have a solution.</a:t>
            </a:r>
            <a:r>
              <a:rPr lang="en-US" baseline="30000" dirty="0">
                <a:hlinkClick r:id="rId6"/>
              </a:rPr>
              <a:t>[11]</a:t>
            </a:r>
            <a:endParaRPr lang="en-US" dirty="0"/>
          </a:p>
          <a:p>
            <a:r>
              <a:rPr lang="en-US" dirty="0"/>
              <a:t>Linear differential equations frequently appear as </a:t>
            </a:r>
            <a:r>
              <a:rPr lang="en-US" dirty="0">
                <a:hlinkClick r:id="rId7" tooltip="Linearization"/>
              </a:rPr>
              <a:t>approximations</a:t>
            </a:r>
            <a:r>
              <a:rPr lang="en-US" dirty="0"/>
              <a:t> to nonlinear equations. These approximations are only valid under restricted conditions. For example, the </a:t>
            </a:r>
            <a:r>
              <a:rPr lang="en-US" dirty="0">
                <a:hlinkClick r:id="rId8" tooltip="Harmonic oscillator"/>
              </a:rPr>
              <a:t>harmonic oscillator</a:t>
            </a:r>
            <a:r>
              <a:rPr lang="en-US" dirty="0"/>
              <a:t> equation is an approximation to the nonlinear pendulum equation that is valid for small amplitude oscillations</a:t>
            </a:r>
          </a:p>
          <a:p>
            <a:endParaRPr lang="en-US" dirty="0"/>
          </a:p>
        </p:txBody>
      </p:sp>
    </p:spTree>
    <p:extLst>
      <p:ext uri="{BB962C8B-B14F-4D97-AF65-F5344CB8AC3E}">
        <p14:creationId xmlns:p14="http://schemas.microsoft.com/office/powerpoint/2010/main" val="25729176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Partial differential equations</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1371600" y="1371599"/>
            <a:ext cx="9601200" cy="4833257"/>
          </a:xfrm>
        </p:spPr>
        <p:txBody>
          <a:bodyPr>
            <a:normAutofit/>
          </a:bodyPr>
          <a:lstStyle/>
          <a:p>
            <a:r>
              <a:rPr lang="en-US" dirty="0"/>
              <a:t>A </a:t>
            </a:r>
            <a:r>
              <a:rPr lang="en-US" dirty="0">
                <a:hlinkClick r:id="rId2" tooltip="Partial differential equation"/>
              </a:rPr>
              <a:t>partial differential equation</a:t>
            </a:r>
            <a:r>
              <a:rPr lang="en-US" dirty="0"/>
              <a:t> (</a:t>
            </a:r>
            <a:r>
              <a:rPr lang="en-US" i="1" dirty="0"/>
              <a:t>PDE</a:t>
            </a:r>
            <a:r>
              <a:rPr lang="en-US" dirty="0"/>
              <a:t>) is a differential equation that contains unknown </a:t>
            </a:r>
            <a:r>
              <a:rPr lang="en-US" dirty="0">
                <a:hlinkClick r:id="rId3" tooltip="Multivariable calculus"/>
              </a:rPr>
              <a:t>multivariable functions</a:t>
            </a:r>
            <a:r>
              <a:rPr lang="en-US" dirty="0"/>
              <a:t> and their </a:t>
            </a:r>
            <a:r>
              <a:rPr lang="en-US" dirty="0">
                <a:hlinkClick r:id="rId4" tooltip="Partial derivatives"/>
              </a:rPr>
              <a:t>partial derivatives</a:t>
            </a:r>
            <a:r>
              <a:rPr lang="en-US" dirty="0"/>
              <a:t>. (This is in contrast to </a:t>
            </a:r>
            <a:r>
              <a:rPr lang="en-US" dirty="0">
                <a:hlinkClick r:id="rId5" tooltip="Ordinary differential equations"/>
              </a:rPr>
              <a:t>ordinary differential equations</a:t>
            </a:r>
            <a:r>
              <a:rPr lang="en-US" dirty="0"/>
              <a:t>, which deal with functions of a single variable and their derivatives.) PDEs are used to formulate problems involving functions of several variables, and are either solved in closed form, or used to create a relevant </a:t>
            </a:r>
            <a:r>
              <a:rPr lang="en-US" dirty="0">
                <a:hlinkClick r:id="rId6" tooltip="Computer model"/>
              </a:rPr>
              <a:t>computer model</a:t>
            </a:r>
            <a:r>
              <a:rPr lang="en-US" dirty="0"/>
              <a:t>.</a:t>
            </a:r>
          </a:p>
          <a:p>
            <a:r>
              <a:rPr lang="en-US" dirty="0"/>
              <a:t>PDEs can be used to describe a wide variety of phenomena in nature such as </a:t>
            </a:r>
            <a:r>
              <a:rPr lang="en-US" dirty="0">
                <a:hlinkClick r:id="rId7" tooltip="Sound"/>
              </a:rPr>
              <a:t>sound</a:t>
            </a:r>
            <a:r>
              <a:rPr lang="en-US" dirty="0"/>
              <a:t>, </a:t>
            </a:r>
            <a:r>
              <a:rPr lang="en-US" dirty="0">
                <a:hlinkClick r:id="rId8" tooltip="Heat"/>
              </a:rPr>
              <a:t>heat</a:t>
            </a:r>
            <a:r>
              <a:rPr lang="en-US" dirty="0"/>
              <a:t>, </a:t>
            </a:r>
            <a:r>
              <a:rPr lang="en-US" dirty="0">
                <a:hlinkClick r:id="rId9" tooltip="Electrostatics"/>
              </a:rPr>
              <a:t>electrostatics</a:t>
            </a:r>
            <a:r>
              <a:rPr lang="en-US" dirty="0"/>
              <a:t>, </a:t>
            </a:r>
            <a:r>
              <a:rPr lang="en-US" dirty="0">
                <a:hlinkClick r:id="rId10" tooltip="Electrodynamics"/>
              </a:rPr>
              <a:t>electrodynamics</a:t>
            </a:r>
            <a:r>
              <a:rPr lang="en-US" dirty="0"/>
              <a:t>, </a:t>
            </a:r>
            <a:r>
              <a:rPr lang="en-US" dirty="0">
                <a:hlinkClick r:id="rId11" tooltip="Fluid flow"/>
              </a:rPr>
              <a:t>fluid flow</a:t>
            </a:r>
            <a:r>
              <a:rPr lang="en-US" dirty="0"/>
              <a:t>, </a:t>
            </a:r>
            <a:r>
              <a:rPr lang="en-US" dirty="0">
                <a:hlinkClick r:id="rId12" tooltip="Elasticity (physics)"/>
              </a:rPr>
              <a:t>elasticity</a:t>
            </a:r>
            <a:r>
              <a:rPr lang="en-US" dirty="0"/>
              <a:t>, or </a:t>
            </a:r>
            <a:r>
              <a:rPr lang="en-US" dirty="0">
                <a:hlinkClick r:id="rId13" tooltip="Quantum mechanics"/>
              </a:rPr>
              <a:t>quantum mechanics</a:t>
            </a:r>
            <a:r>
              <a:rPr lang="en-US" dirty="0"/>
              <a:t>. These seemingly distinct physical phenomena can be formalized similarly in terms of PDEs. Just as ordinary differential equations often model one-dimensional </a:t>
            </a:r>
            <a:r>
              <a:rPr lang="en-US" dirty="0">
                <a:hlinkClick r:id="rId14" tooltip="Dynamical systems"/>
              </a:rPr>
              <a:t>dynamical systems</a:t>
            </a:r>
            <a:r>
              <a:rPr lang="en-US" dirty="0"/>
              <a:t>, partial differential equations often model </a:t>
            </a:r>
            <a:r>
              <a:rPr lang="en-US" dirty="0">
                <a:hlinkClick r:id="rId15" tooltip="Multidimensional systems"/>
              </a:rPr>
              <a:t>multidimensional systems</a:t>
            </a:r>
            <a:r>
              <a:rPr lang="en-US" dirty="0"/>
              <a:t>. </a:t>
            </a:r>
            <a:r>
              <a:rPr lang="en-US" dirty="0">
                <a:hlinkClick r:id="rId16" tooltip="Stochastic partial differential equations"/>
              </a:rPr>
              <a:t>Stochastic partial differential equations</a:t>
            </a:r>
            <a:r>
              <a:rPr lang="en-US" dirty="0"/>
              <a:t> generalize partial differential equations for modeling </a:t>
            </a:r>
            <a:r>
              <a:rPr lang="en-US" dirty="0">
                <a:hlinkClick r:id="rId17" tooltip="Randomness"/>
              </a:rPr>
              <a:t>randomness</a:t>
            </a:r>
            <a:endParaRPr lang="en-US" dirty="0"/>
          </a:p>
          <a:p>
            <a:endParaRPr lang="en-US" dirty="0"/>
          </a:p>
        </p:txBody>
      </p:sp>
    </p:spTree>
    <p:extLst>
      <p:ext uri="{BB962C8B-B14F-4D97-AF65-F5344CB8AC3E}">
        <p14:creationId xmlns:p14="http://schemas.microsoft.com/office/powerpoint/2010/main" val="20729189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3.3 Analog computer </a:t>
            </a:r>
            <a:endParaRPr lang="en-US" b="1" dirty="0">
              <a:solidFill>
                <a:srgbClr val="FF0000"/>
              </a:solidFill>
            </a:endParaRPr>
          </a:p>
        </p:txBody>
      </p:sp>
      <p:sp>
        <p:nvSpPr>
          <p:cNvPr id="3" name="Content Placeholder 2"/>
          <p:cNvSpPr>
            <a:spLocks noGrp="1"/>
          </p:cNvSpPr>
          <p:nvPr>
            <p:ph idx="1"/>
          </p:nvPr>
        </p:nvSpPr>
        <p:spPr>
          <a:xfrm>
            <a:off x="1371600" y="1267097"/>
            <a:ext cx="9601200" cy="4600303"/>
          </a:xfrm>
        </p:spPr>
        <p:txBody>
          <a:bodyPr>
            <a:normAutofit/>
          </a:bodyPr>
          <a:lstStyle/>
          <a:p>
            <a:r>
              <a:rPr lang="en-US" sz="2400" dirty="0"/>
              <a:t>The most widely used form of analog computer is the </a:t>
            </a:r>
            <a:r>
              <a:rPr lang="en-US" sz="2400" dirty="0" smtClean="0"/>
              <a:t>electronic </a:t>
            </a:r>
            <a:r>
              <a:rPr lang="en-US" sz="2400" dirty="0"/>
              <a:t>analog computer, based on the use of high gain </a:t>
            </a:r>
            <a:r>
              <a:rPr lang="en-US" sz="2400" dirty="0" smtClean="0"/>
              <a:t>dc </a:t>
            </a:r>
            <a:r>
              <a:rPr lang="en-US" sz="2400" dirty="0"/>
              <a:t>(direct current) amplifiers, called operational amplifiers.</a:t>
            </a:r>
          </a:p>
          <a:p>
            <a:r>
              <a:rPr lang="en-US" sz="2400" dirty="0" smtClean="0"/>
              <a:t>Voltages </a:t>
            </a:r>
            <a:r>
              <a:rPr lang="en-US" sz="2400" dirty="0"/>
              <a:t>in the computer are equated to mathematical </a:t>
            </a:r>
            <a:r>
              <a:rPr lang="en-US" sz="2400" dirty="0" smtClean="0"/>
              <a:t>variables</a:t>
            </a:r>
            <a:r>
              <a:rPr lang="en-US" sz="2400" dirty="0"/>
              <a:t>, and the operational amplifiers can add and </a:t>
            </a:r>
            <a:r>
              <a:rPr lang="en-US" sz="2400" dirty="0" smtClean="0"/>
              <a:t>integrate </a:t>
            </a:r>
            <a:r>
              <a:rPr lang="en-US" sz="2400" dirty="0"/>
              <a:t>the voltages.</a:t>
            </a:r>
          </a:p>
          <a:p>
            <a:r>
              <a:rPr lang="en-US" sz="2400" dirty="0" smtClean="0"/>
              <a:t>With </a:t>
            </a:r>
            <a:r>
              <a:rPr lang="en-US" sz="2400" dirty="0"/>
              <a:t>appropriate circuits, an amplifier can be made to add </a:t>
            </a:r>
            <a:r>
              <a:rPr lang="en-US" sz="2400" dirty="0" smtClean="0"/>
              <a:t>several </a:t>
            </a:r>
            <a:r>
              <a:rPr lang="en-US" sz="2400" dirty="0"/>
              <a:t>input voltages, each representing a variable of the </a:t>
            </a:r>
            <a:r>
              <a:rPr lang="en-US" sz="2400" dirty="0" smtClean="0"/>
              <a:t>model</a:t>
            </a:r>
            <a:r>
              <a:rPr lang="en-US" sz="2400" dirty="0"/>
              <a:t>, to produce a voltage representing the sum of the </a:t>
            </a:r>
            <a:r>
              <a:rPr lang="en-US" sz="2400" dirty="0" smtClean="0"/>
              <a:t>input </a:t>
            </a:r>
            <a:r>
              <a:rPr lang="en-US" sz="2400" dirty="0"/>
              <a:t>variables</a:t>
            </a:r>
          </a:p>
          <a:p>
            <a:endParaRPr lang="en-US" dirty="0"/>
          </a:p>
        </p:txBody>
      </p:sp>
    </p:spTree>
    <p:extLst>
      <p:ext uri="{BB962C8B-B14F-4D97-AF65-F5344CB8AC3E}">
        <p14:creationId xmlns:p14="http://schemas.microsoft.com/office/powerpoint/2010/main" val="2110311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74582" y="274320"/>
            <a:ext cx="9149578" cy="4893647"/>
          </a:xfrm>
          <a:prstGeom prst="rect">
            <a:avLst/>
          </a:prstGeom>
        </p:spPr>
        <p:txBody>
          <a:bodyPr wrap="square">
            <a:spAutoFit/>
          </a:bodyPr>
          <a:lstStyle/>
          <a:p>
            <a:r>
              <a:rPr lang="en-US" sz="2400" dirty="0">
                <a:solidFill>
                  <a:srgbClr val="000000"/>
                </a:solidFill>
                <a:latin typeface="ff4"/>
              </a:rPr>
              <a:t>The core mathematical operations used in an electric analog computer are:</a:t>
            </a:r>
          </a:p>
          <a:p>
            <a:r>
              <a:rPr lang="en-US" sz="2400" dirty="0">
                <a:solidFill>
                  <a:srgbClr val="000000"/>
                </a:solidFill>
                <a:latin typeface="ff3"/>
              </a:rPr>
              <a:t>•</a:t>
            </a:r>
            <a:r>
              <a:rPr lang="en-US" sz="2400" dirty="0">
                <a:solidFill>
                  <a:srgbClr val="000000"/>
                </a:solidFill>
                <a:latin typeface="ff4"/>
              </a:rPr>
              <a:t>Addition</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Integration with respect to time</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Inversion</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Multiplication</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Exponentiation</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Logarithm</a:t>
            </a:r>
            <a:endParaRPr lang="en-US" sz="2400" dirty="0">
              <a:solidFill>
                <a:srgbClr val="000000"/>
              </a:solidFill>
              <a:latin typeface="ff3"/>
            </a:endParaRPr>
          </a:p>
          <a:p>
            <a:r>
              <a:rPr lang="en-US" sz="2400" dirty="0">
                <a:solidFill>
                  <a:srgbClr val="000000"/>
                </a:solidFill>
                <a:latin typeface="ff3"/>
              </a:rPr>
              <a:t>•</a:t>
            </a:r>
            <a:r>
              <a:rPr lang="en-US" sz="2400" dirty="0">
                <a:solidFill>
                  <a:srgbClr val="000000"/>
                </a:solidFill>
                <a:latin typeface="ff4"/>
              </a:rPr>
              <a:t>Division</a:t>
            </a:r>
          </a:p>
          <a:p>
            <a:r>
              <a:rPr lang="en-US" sz="2400" dirty="0"/>
              <a:t>•Differentiation with respect to time is not frequently used, </a:t>
            </a:r>
          </a:p>
          <a:p>
            <a:r>
              <a:rPr lang="en-US" sz="2400" dirty="0"/>
              <a:t>and in practice is avoided by redefining the problem when </a:t>
            </a:r>
          </a:p>
          <a:p>
            <a:r>
              <a:rPr lang="en-US" sz="2400" dirty="0"/>
              <a:t>possible.</a:t>
            </a:r>
          </a:p>
          <a:p>
            <a:endParaRPr lang="en-US" sz="2400" dirty="0">
              <a:solidFill>
                <a:srgbClr val="000000"/>
              </a:solidFill>
              <a:latin typeface="ff3"/>
            </a:endParaRPr>
          </a:p>
        </p:txBody>
      </p:sp>
    </p:spTree>
    <p:extLst>
      <p:ext uri="{BB962C8B-B14F-4D97-AF65-F5344CB8AC3E}">
        <p14:creationId xmlns:p14="http://schemas.microsoft.com/office/powerpoint/2010/main" val="11260917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8" descr="A virtual analog computer for your desktop - EDN"/>
          <p:cNvSpPr>
            <a:spLocks noChangeAspect="1" noChangeArrowheads="1"/>
          </p:cNvSpPr>
          <p:nvPr/>
        </p:nvSpPr>
        <p:spPr bwMode="auto">
          <a:xfrm>
            <a:off x="2467701" y="155370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https://www.edn.com/wp-content/uploads/media-1160888-figure1.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www.edn.com/wp-content/uploads/media-1160888-figure1.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10"/>
          <p:cNvSpPr>
            <a:spLocks noGrp="1"/>
          </p:cNvSpPr>
          <p:nvPr>
            <p:ph type="title"/>
          </p:nvPr>
        </p:nvSpPr>
        <p:spPr/>
        <p:txBody>
          <a:bodyPr/>
          <a:lstStyle/>
          <a:p>
            <a:r>
              <a:rPr lang="en-US" dirty="0" smtClean="0"/>
              <a:t>Components of analog computers</a:t>
            </a:r>
            <a:endParaRPr lang="en-US" dirty="0"/>
          </a:p>
        </p:txBody>
      </p:sp>
      <p:sp>
        <p:nvSpPr>
          <p:cNvPr id="12" name="Content Placeholder 11"/>
          <p:cNvSpPr>
            <a:spLocks noGrp="1"/>
          </p:cNvSpPr>
          <p:nvPr>
            <p:ph idx="1"/>
          </p:nvPr>
        </p:nvSpPr>
        <p:spPr/>
        <p:txBody>
          <a:bodyPr>
            <a:normAutofit/>
          </a:bodyPr>
          <a:lstStyle/>
          <a:p>
            <a:r>
              <a:rPr lang="en-US" dirty="0"/>
              <a:t>Different </a:t>
            </a:r>
            <a:r>
              <a:rPr lang="en-US" dirty="0">
                <a:solidFill>
                  <a:srgbClr val="FF0000"/>
                </a:solidFill>
              </a:rPr>
              <a:t>scale factors </a:t>
            </a:r>
            <a:r>
              <a:rPr lang="en-US" dirty="0"/>
              <a:t>can be used on the inputs to represent </a:t>
            </a:r>
            <a:r>
              <a:rPr lang="en-US" dirty="0" smtClean="0"/>
              <a:t>coefficients </a:t>
            </a:r>
            <a:r>
              <a:rPr lang="en-US" dirty="0"/>
              <a:t>of the model equations.</a:t>
            </a:r>
          </a:p>
          <a:p>
            <a:pPr marL="0" indent="0">
              <a:buNone/>
            </a:pPr>
            <a:r>
              <a:rPr lang="en-US" dirty="0"/>
              <a:t>•Amplifiers that sums different terms are called </a:t>
            </a:r>
            <a:r>
              <a:rPr lang="en-US" dirty="0">
                <a:solidFill>
                  <a:srgbClr val="FF0000"/>
                </a:solidFill>
              </a:rPr>
              <a:t>summers</a:t>
            </a:r>
            <a:r>
              <a:rPr lang="en-US" dirty="0"/>
              <a:t>.</a:t>
            </a:r>
          </a:p>
          <a:p>
            <a:pPr marL="0" indent="0">
              <a:buNone/>
            </a:pPr>
            <a:r>
              <a:rPr lang="en-US" dirty="0"/>
              <a:t>•Another circuit arrangement produces an</a:t>
            </a:r>
            <a:r>
              <a:rPr lang="en-US" dirty="0">
                <a:solidFill>
                  <a:srgbClr val="FF0000"/>
                </a:solidFill>
              </a:rPr>
              <a:t> integrator </a:t>
            </a:r>
            <a:r>
              <a:rPr lang="en-US" dirty="0"/>
              <a:t>for </a:t>
            </a:r>
            <a:r>
              <a:rPr lang="en-US" dirty="0" smtClean="0"/>
              <a:t>which </a:t>
            </a:r>
            <a:r>
              <a:rPr lang="en-US" dirty="0"/>
              <a:t>the output is the integral with respect to time of a </a:t>
            </a:r>
            <a:r>
              <a:rPr lang="en-US" dirty="0" smtClean="0"/>
              <a:t>single </a:t>
            </a:r>
            <a:r>
              <a:rPr lang="en-US" dirty="0"/>
              <a:t>input voltage or the sum of several input voltages.</a:t>
            </a:r>
          </a:p>
          <a:p>
            <a:pPr marL="0" indent="0">
              <a:buNone/>
            </a:pPr>
            <a:r>
              <a:rPr lang="en-US" dirty="0"/>
              <a:t>•All voltages can be </a:t>
            </a:r>
            <a:r>
              <a:rPr lang="en-US" dirty="0">
                <a:solidFill>
                  <a:srgbClr val="FF0000"/>
                </a:solidFill>
              </a:rPr>
              <a:t>positive or negative </a:t>
            </a:r>
            <a:r>
              <a:rPr lang="en-US" dirty="0"/>
              <a:t>to correspond to the </a:t>
            </a:r>
            <a:r>
              <a:rPr lang="en-US" dirty="0" smtClean="0"/>
              <a:t>sign </a:t>
            </a:r>
            <a:r>
              <a:rPr lang="en-US" dirty="0"/>
              <a:t>of the variable </a:t>
            </a:r>
            <a:r>
              <a:rPr lang="en-US" dirty="0" smtClean="0"/>
              <a:t>represented</a:t>
            </a:r>
          </a:p>
          <a:p>
            <a:pPr marL="0" indent="0">
              <a:buNone/>
            </a:pPr>
            <a:r>
              <a:rPr lang="en-US" dirty="0" smtClean="0"/>
              <a:t>To </a:t>
            </a:r>
            <a:r>
              <a:rPr lang="en-US" dirty="0"/>
              <a:t>satisfy the equations of the model, it is sometimes </a:t>
            </a:r>
            <a:r>
              <a:rPr lang="en-US" dirty="0" smtClean="0"/>
              <a:t>necessary </a:t>
            </a:r>
            <a:r>
              <a:rPr lang="en-US" dirty="0"/>
              <a:t>to use a sign </a:t>
            </a:r>
            <a:r>
              <a:rPr lang="en-US" dirty="0">
                <a:solidFill>
                  <a:srgbClr val="FF0000"/>
                </a:solidFill>
              </a:rPr>
              <a:t>inverter</a:t>
            </a:r>
            <a:r>
              <a:rPr lang="en-US" dirty="0"/>
              <a:t>, which is an amplifier </a:t>
            </a:r>
            <a:r>
              <a:rPr lang="en-US" dirty="0" smtClean="0"/>
              <a:t>designed </a:t>
            </a:r>
            <a:r>
              <a:rPr lang="en-US" dirty="0"/>
              <a:t>to cause the output to reverse the sign of the input</a:t>
            </a:r>
          </a:p>
          <a:p>
            <a:pPr marL="0" indent="0">
              <a:buNone/>
            </a:pPr>
            <a:endParaRPr lang="en-US" dirty="0"/>
          </a:p>
          <a:p>
            <a:endParaRPr lang="en-US" dirty="0"/>
          </a:p>
        </p:txBody>
      </p:sp>
    </p:spTree>
    <p:extLst>
      <p:ext uri="{BB962C8B-B14F-4D97-AF65-F5344CB8AC3E}">
        <p14:creationId xmlns:p14="http://schemas.microsoft.com/office/powerpoint/2010/main" val="32967124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8594" y="390653"/>
            <a:ext cx="6622870" cy="612989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319" y="390653"/>
            <a:ext cx="1551533" cy="81172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1863" y="2081887"/>
            <a:ext cx="1744844" cy="911196"/>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1464" y="390653"/>
            <a:ext cx="1428750" cy="811729"/>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71464" y="1990730"/>
            <a:ext cx="1815736" cy="855081"/>
          </a:xfrm>
          <a:prstGeom prst="rect">
            <a:avLst/>
          </a:prstGeom>
        </p:spPr>
      </p:pic>
      <p:sp>
        <p:nvSpPr>
          <p:cNvPr id="10" name="TextBox 9"/>
          <p:cNvSpPr txBox="1"/>
          <p:nvPr/>
        </p:nvSpPr>
        <p:spPr>
          <a:xfrm>
            <a:off x="2041889" y="1237186"/>
            <a:ext cx="1406705" cy="369332"/>
          </a:xfrm>
          <a:prstGeom prst="rect">
            <a:avLst/>
          </a:prstGeom>
          <a:noFill/>
        </p:spPr>
        <p:txBody>
          <a:bodyPr wrap="square" rtlCol="0">
            <a:spAutoFit/>
          </a:bodyPr>
          <a:lstStyle/>
          <a:p>
            <a:r>
              <a:rPr lang="en-US" dirty="0" smtClean="0"/>
              <a:t>Adder </a:t>
            </a:r>
            <a:endParaRPr lang="en-US" dirty="0"/>
          </a:p>
        </p:txBody>
      </p:sp>
      <p:sp>
        <p:nvSpPr>
          <p:cNvPr id="11" name="TextBox 10"/>
          <p:cNvSpPr txBox="1"/>
          <p:nvPr/>
        </p:nvSpPr>
        <p:spPr>
          <a:xfrm>
            <a:off x="1869462" y="3220466"/>
            <a:ext cx="1551533" cy="369332"/>
          </a:xfrm>
          <a:prstGeom prst="rect">
            <a:avLst/>
          </a:prstGeom>
          <a:noFill/>
        </p:spPr>
        <p:txBody>
          <a:bodyPr wrap="square" rtlCol="0">
            <a:spAutoFit/>
          </a:bodyPr>
          <a:lstStyle/>
          <a:p>
            <a:r>
              <a:rPr lang="en-US" dirty="0" err="1" smtClean="0"/>
              <a:t>Subtracter</a:t>
            </a:r>
            <a:r>
              <a:rPr lang="en-US" dirty="0" smtClean="0"/>
              <a:t> </a:t>
            </a:r>
            <a:endParaRPr lang="en-US" dirty="0"/>
          </a:p>
        </p:txBody>
      </p:sp>
      <p:sp>
        <p:nvSpPr>
          <p:cNvPr id="12" name="TextBox 11"/>
          <p:cNvSpPr txBox="1"/>
          <p:nvPr/>
        </p:nvSpPr>
        <p:spPr>
          <a:xfrm>
            <a:off x="10095417" y="1409886"/>
            <a:ext cx="1645920" cy="369332"/>
          </a:xfrm>
          <a:prstGeom prst="rect">
            <a:avLst/>
          </a:prstGeom>
          <a:noFill/>
        </p:spPr>
        <p:txBody>
          <a:bodyPr wrap="square" rtlCol="0">
            <a:spAutoFit/>
          </a:bodyPr>
          <a:lstStyle/>
          <a:p>
            <a:r>
              <a:rPr lang="en-US" dirty="0" smtClean="0"/>
              <a:t>Differentiator </a:t>
            </a:r>
            <a:endParaRPr lang="en-US" dirty="0"/>
          </a:p>
        </p:txBody>
      </p:sp>
      <p:sp>
        <p:nvSpPr>
          <p:cNvPr id="13" name="TextBox 12"/>
          <p:cNvSpPr txBox="1"/>
          <p:nvPr/>
        </p:nvSpPr>
        <p:spPr>
          <a:xfrm>
            <a:off x="10093509" y="2988809"/>
            <a:ext cx="1609725" cy="369332"/>
          </a:xfrm>
          <a:prstGeom prst="rect">
            <a:avLst/>
          </a:prstGeom>
          <a:noFill/>
        </p:spPr>
        <p:txBody>
          <a:bodyPr wrap="square" rtlCol="0">
            <a:spAutoFit/>
          </a:bodyPr>
          <a:lstStyle/>
          <a:p>
            <a:r>
              <a:rPr lang="en-US" dirty="0" smtClean="0"/>
              <a:t>Integrator </a:t>
            </a:r>
            <a:endParaRPr lang="en-US" dirty="0"/>
          </a:p>
        </p:txBody>
      </p:sp>
      <p:pic>
        <p:nvPicPr>
          <p:cNvPr id="14" name="Picture 13"/>
          <p:cNvPicPr>
            <a:picLocks noChangeAspect="1"/>
          </p:cNvPicPr>
          <p:nvPr/>
        </p:nvPicPr>
        <p:blipFill>
          <a:blip r:embed="rId7"/>
          <a:stretch>
            <a:fillRect/>
          </a:stretch>
        </p:blipFill>
        <p:spPr>
          <a:xfrm>
            <a:off x="9974446" y="3569653"/>
            <a:ext cx="1847850" cy="571500"/>
          </a:xfrm>
          <a:prstGeom prst="rect">
            <a:avLst/>
          </a:prstGeom>
        </p:spPr>
      </p:pic>
      <p:sp>
        <p:nvSpPr>
          <p:cNvPr id="15" name="TextBox 14"/>
          <p:cNvSpPr txBox="1"/>
          <p:nvPr/>
        </p:nvSpPr>
        <p:spPr>
          <a:xfrm>
            <a:off x="10123920" y="4284151"/>
            <a:ext cx="1645920" cy="369332"/>
          </a:xfrm>
          <a:prstGeom prst="rect">
            <a:avLst/>
          </a:prstGeom>
          <a:noFill/>
        </p:spPr>
        <p:txBody>
          <a:bodyPr wrap="square" rtlCol="0">
            <a:spAutoFit/>
          </a:bodyPr>
          <a:lstStyle/>
          <a:p>
            <a:r>
              <a:rPr lang="en-US" dirty="0" smtClean="0"/>
              <a:t>Scale factor</a:t>
            </a:r>
            <a:endParaRPr lang="en-US" dirty="0"/>
          </a:p>
        </p:txBody>
      </p:sp>
    </p:spTree>
    <p:extLst>
      <p:ext uri="{BB962C8B-B14F-4D97-AF65-F5344CB8AC3E}">
        <p14:creationId xmlns:p14="http://schemas.microsoft.com/office/powerpoint/2010/main" val="2793639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Advantages </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•The analog computer do not suffer quantization noise but are limited by analog noise</a:t>
            </a:r>
            <a:r>
              <a:rPr lang="en-US" dirty="0" smtClean="0"/>
              <a:t>.</a:t>
            </a:r>
          </a:p>
          <a:p>
            <a:pPr marL="0" indent="0">
              <a:buNone/>
            </a:pPr>
            <a:r>
              <a:rPr lang="en-US" dirty="0" smtClean="0"/>
              <a:t>•</a:t>
            </a:r>
            <a:r>
              <a:rPr lang="en-US" dirty="0"/>
              <a:t>Analog computers are widely used in scientific and industrial applications where digital computers lack sufficient performance, like flight computer in aircrafts, for teaching control system in universities</a:t>
            </a:r>
            <a:r>
              <a:rPr lang="en-US" dirty="0" smtClean="0"/>
              <a:t>.</a:t>
            </a:r>
          </a:p>
          <a:p>
            <a:pPr marL="0" indent="0">
              <a:buNone/>
            </a:pPr>
            <a:r>
              <a:rPr lang="en-US" dirty="0" smtClean="0"/>
              <a:t>•</a:t>
            </a:r>
            <a:r>
              <a:rPr lang="en-US" dirty="0"/>
              <a:t>The analog representation of a system is often more natural as it directly reflects the structure of system; thus simplifying both the setting up of a simulation and interpretation of </a:t>
            </a:r>
            <a:r>
              <a:rPr lang="en-US" dirty="0" smtClean="0"/>
              <a:t>results</a:t>
            </a:r>
          </a:p>
          <a:p>
            <a:pPr marL="0" indent="0">
              <a:buNone/>
            </a:pPr>
            <a:r>
              <a:rPr lang="en-US" dirty="0"/>
              <a:t>•The analog computer is faster than digital under certain circumstances as it could solve many equations in simultaneous manner while digital computer can be working on one equation at a time</a:t>
            </a:r>
          </a:p>
        </p:txBody>
      </p:sp>
    </p:spTree>
    <p:extLst>
      <p:ext uri="{BB962C8B-B14F-4D97-AF65-F5344CB8AC3E}">
        <p14:creationId xmlns:p14="http://schemas.microsoft.com/office/powerpoint/2010/main" val="4057556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Disadvantages </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•An analog computer have limited accuracy and dedication to one particular problem, may not be significant</a:t>
            </a:r>
            <a:r>
              <a:rPr lang="en-US" dirty="0" smtClean="0"/>
              <a:t>.</a:t>
            </a:r>
          </a:p>
          <a:p>
            <a:pPr marL="0" indent="0">
              <a:buNone/>
            </a:pPr>
            <a:r>
              <a:rPr lang="en-US" dirty="0" smtClean="0"/>
              <a:t>•</a:t>
            </a:r>
            <a:r>
              <a:rPr lang="en-US" dirty="0"/>
              <a:t>Electronic analog computer have limited accuracy due to following reasons-•It is difficult to carry the accuracy of measuring a voltage beyond a certain </a:t>
            </a:r>
            <a:r>
              <a:rPr lang="en-US" dirty="0" err="1"/>
              <a:t>point•A</a:t>
            </a:r>
            <a:r>
              <a:rPr lang="en-US" dirty="0"/>
              <a:t> number of assumptions are made in deriving relationship for operational amplifiers, none of which is strictly true</a:t>
            </a:r>
            <a:r>
              <a:rPr lang="en-US" dirty="0" smtClean="0"/>
              <a:t>.</a:t>
            </a:r>
          </a:p>
          <a:p>
            <a:pPr marL="0" indent="0">
              <a:buNone/>
            </a:pPr>
            <a:r>
              <a:rPr lang="en-US" dirty="0" smtClean="0"/>
              <a:t>•</a:t>
            </a:r>
            <a:r>
              <a:rPr lang="en-US" dirty="0"/>
              <a:t>The assumption that there should be zero output voltage for zero input voltage is difficult to achieve</a:t>
            </a:r>
            <a:r>
              <a:rPr lang="en-US" dirty="0" smtClean="0"/>
              <a:t>.</a:t>
            </a:r>
          </a:p>
          <a:p>
            <a:pPr marL="0" indent="0">
              <a:buNone/>
            </a:pPr>
            <a:r>
              <a:rPr lang="en-US" dirty="0" smtClean="0"/>
              <a:t>•</a:t>
            </a:r>
            <a:r>
              <a:rPr lang="en-US" dirty="0"/>
              <a:t>Operational amplifiers have limited dynamic range of outputs, so scale factor must be introduced to keep within range.</a:t>
            </a:r>
          </a:p>
        </p:txBody>
      </p:sp>
    </p:spTree>
    <p:extLst>
      <p:ext uri="{BB962C8B-B14F-4D97-AF65-F5344CB8AC3E}">
        <p14:creationId xmlns:p14="http://schemas.microsoft.com/office/powerpoint/2010/main" val="21709566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82881"/>
            <a:ext cx="9601200" cy="914400"/>
          </a:xfrm>
        </p:spPr>
        <p:txBody>
          <a:bodyPr/>
          <a:lstStyle/>
          <a:p>
            <a:r>
              <a:rPr lang="en-US" dirty="0" smtClean="0">
                <a:solidFill>
                  <a:srgbClr val="C00000"/>
                </a:solidFill>
              </a:rPr>
              <a:t>3.4 Analog method</a:t>
            </a:r>
            <a:endParaRPr lang="en-US" dirty="0">
              <a:solidFill>
                <a:srgbClr val="C00000"/>
              </a:solidFill>
            </a:endParaRPr>
          </a:p>
        </p:txBody>
      </p:sp>
      <p:sp>
        <p:nvSpPr>
          <p:cNvPr id="3" name="Content Placeholder 2"/>
          <p:cNvSpPr>
            <a:spLocks noGrp="1"/>
          </p:cNvSpPr>
          <p:nvPr>
            <p:ph idx="1"/>
          </p:nvPr>
        </p:nvSpPr>
        <p:spPr>
          <a:xfrm>
            <a:off x="1371600" y="1097281"/>
            <a:ext cx="10580914" cy="3722914"/>
          </a:xfrm>
        </p:spPr>
        <p:txBody>
          <a:bodyPr/>
          <a:lstStyle/>
          <a:p>
            <a:r>
              <a:rPr lang="en-US" dirty="0"/>
              <a:t>The general method by which analog computers are applied can be demonstrated using second order differential equation.</a:t>
            </a:r>
          </a:p>
          <a:p>
            <a:pPr marL="0" indent="0">
              <a:buNone/>
            </a:pPr>
            <a:r>
              <a:rPr lang="en-US" dirty="0" smtClean="0"/>
              <a:t>     M </a:t>
            </a:r>
            <a:r>
              <a:rPr lang="en-US" dirty="0"/>
              <a:t>x" + D x' + K x = K F(t)</a:t>
            </a:r>
          </a:p>
          <a:p>
            <a:pPr marL="0" indent="0">
              <a:buNone/>
            </a:pPr>
            <a:r>
              <a:rPr lang="en-US" dirty="0" smtClean="0"/>
              <a:t>Solving </a:t>
            </a:r>
            <a:r>
              <a:rPr lang="en-US" dirty="0"/>
              <a:t>the equation for the highest order derivate gives,</a:t>
            </a:r>
          </a:p>
          <a:p>
            <a:pPr marL="0" indent="0">
              <a:buNone/>
            </a:pPr>
            <a:r>
              <a:rPr lang="en-US" dirty="0" smtClean="0"/>
              <a:t>  </a:t>
            </a:r>
            <a:r>
              <a:rPr lang="en-US" dirty="0"/>
              <a:t>M x" = K F(t) – D x' - K </a:t>
            </a:r>
            <a:r>
              <a:rPr lang="en-US" dirty="0" smtClean="0"/>
              <a:t>x</a:t>
            </a:r>
          </a:p>
          <a:p>
            <a:pPr marL="0" indent="0">
              <a:buNone/>
            </a:pPr>
            <a:r>
              <a:rPr lang="en-US" dirty="0"/>
              <a:t>Suppose a variable representing the input F(t) is supplied, assume there exist variables representing -x and -x'. These three variables can be scaled and added to produce </a:t>
            </a:r>
            <a:r>
              <a:rPr lang="en-US" dirty="0" err="1"/>
              <a:t>Mx</a:t>
            </a:r>
            <a:r>
              <a:rPr lang="en-US" dirty="0"/>
              <a:t>". Integrating it with a scale factor 1/M produces X'. Changing sign produces -x', further integrating produces -x, a further sign inverter is included to produce +x as </a:t>
            </a:r>
            <a:r>
              <a:rPr lang="en-US" dirty="0" smtClean="0"/>
              <a:t>output</a:t>
            </a:r>
            <a:endParaRPr lang="en-US" dirty="0"/>
          </a:p>
        </p:txBody>
      </p:sp>
      <p:pic>
        <p:nvPicPr>
          <p:cNvPr id="4" name="Picture 3"/>
          <p:cNvPicPr>
            <a:picLocks noChangeAspect="1"/>
          </p:cNvPicPr>
          <p:nvPr/>
        </p:nvPicPr>
        <p:blipFill>
          <a:blip r:embed="rId2"/>
          <a:stretch>
            <a:fillRect/>
          </a:stretch>
        </p:blipFill>
        <p:spPr>
          <a:xfrm>
            <a:off x="1371600" y="4400757"/>
            <a:ext cx="6583680" cy="2207267"/>
          </a:xfrm>
          <a:prstGeom prst="rect">
            <a:avLst/>
          </a:prstGeom>
        </p:spPr>
      </p:pic>
    </p:spTree>
    <p:extLst>
      <p:ext uri="{BB962C8B-B14F-4D97-AF65-F5344CB8AC3E}">
        <p14:creationId xmlns:p14="http://schemas.microsoft.com/office/powerpoint/2010/main" val="32786147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01784" y="862150"/>
            <a:ext cx="10268557" cy="6001643"/>
          </a:xfrm>
          <a:prstGeom prst="rect">
            <a:avLst/>
          </a:prstGeom>
        </p:spPr>
        <p:txBody>
          <a:bodyPr wrap="square">
            <a:spAutoFit/>
          </a:bodyPr>
          <a:lstStyle/>
          <a:p>
            <a:r>
              <a:rPr lang="en-US" sz="3200" dirty="0"/>
              <a:t>The symbols used in the figure are standard symbols for drawing block diagrams representing analog computer arrangements</a:t>
            </a:r>
            <a:r>
              <a:rPr lang="en-US" sz="3200" dirty="0" smtClean="0"/>
              <a:t>.</a:t>
            </a:r>
          </a:p>
          <a:p>
            <a:r>
              <a:rPr lang="en-US" sz="3200" dirty="0" smtClean="0"/>
              <a:t> </a:t>
            </a:r>
            <a:r>
              <a:rPr lang="en-US" sz="3200" dirty="0"/>
              <a:t> The circles indicate scale factors applied to the variables</a:t>
            </a:r>
            <a:r>
              <a:rPr lang="en-US" sz="3200" dirty="0" smtClean="0"/>
              <a:t>.</a:t>
            </a:r>
          </a:p>
          <a:p>
            <a:r>
              <a:rPr lang="en-US" sz="3200" dirty="0" smtClean="0"/>
              <a:t> </a:t>
            </a:r>
            <a:r>
              <a:rPr lang="en-US" sz="3200" dirty="0"/>
              <a:t> The triangular symbol at the left of the figure represents the </a:t>
            </a:r>
            <a:r>
              <a:rPr lang="en-US" sz="3200" dirty="0" smtClean="0"/>
              <a:t>operation </a:t>
            </a:r>
            <a:r>
              <a:rPr lang="en-US" sz="3200" dirty="0"/>
              <a:t>of </a:t>
            </a:r>
            <a:r>
              <a:rPr lang="en-US" sz="3200" dirty="0" smtClean="0"/>
              <a:t>adding </a:t>
            </a:r>
            <a:r>
              <a:rPr lang="en-US" sz="3200" dirty="0"/>
              <a:t>variables</a:t>
            </a:r>
            <a:r>
              <a:rPr lang="en-US" sz="3200" dirty="0" smtClean="0"/>
              <a:t>.</a:t>
            </a:r>
          </a:p>
          <a:p>
            <a:r>
              <a:rPr lang="en-US" sz="3200" dirty="0" smtClean="0"/>
              <a:t> </a:t>
            </a:r>
            <a:r>
              <a:rPr lang="en-US" sz="3200" dirty="0"/>
              <a:t> The triangular symbol with a vertical bar represents an integration, and the one containing a minus sign is a sign change</a:t>
            </a:r>
            <a:r>
              <a:rPr lang="en-US" sz="3200" dirty="0" smtClean="0">
                <a:solidFill>
                  <a:srgbClr val="4B505E"/>
                </a:solidFill>
                <a:latin typeface="Source Sans Pro"/>
              </a:rPr>
              <a:t>  </a:t>
            </a:r>
          </a:p>
          <a:p>
            <a:r>
              <a:rPr lang="en-US" sz="3200" b="1" dirty="0" smtClean="0">
                <a:solidFill>
                  <a:srgbClr val="0070C0"/>
                </a:solidFill>
                <a:latin typeface="Source Sans Pro"/>
              </a:rPr>
              <a:t>1</a:t>
            </a:r>
            <a:r>
              <a:rPr lang="en-US" sz="3200" b="1" dirty="0">
                <a:solidFill>
                  <a:srgbClr val="0070C0"/>
                </a:solidFill>
                <a:latin typeface="Source Sans Pro"/>
              </a:rPr>
              <a:t>.  </a:t>
            </a:r>
            <a:r>
              <a:rPr lang="en-US" sz="3200" b="1" dirty="0">
                <a:solidFill>
                  <a:srgbClr val="0070C0"/>
                </a:solidFill>
                <a:latin typeface="Times New Roman" panose="02020603050405020304" pitchFamily="18" charset="0"/>
              </a:rPr>
              <a:t>What do you understand by analog method of system simulation? Explain it with suitable example</a:t>
            </a:r>
            <a:r>
              <a:rPr lang="en-US" sz="3200" dirty="0">
                <a:solidFill>
                  <a:srgbClr val="4B505E"/>
                </a:solidFill>
                <a:latin typeface="Times New Roman" panose="02020603050405020304" pitchFamily="18" charset="0"/>
              </a:rPr>
              <a:t>.</a:t>
            </a:r>
            <a:endParaRPr lang="en-US" sz="3200" dirty="0"/>
          </a:p>
        </p:txBody>
      </p:sp>
    </p:spTree>
    <p:extLst>
      <p:ext uri="{BB962C8B-B14F-4D97-AF65-F5344CB8AC3E}">
        <p14:creationId xmlns:p14="http://schemas.microsoft.com/office/powerpoint/2010/main" val="22107873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7825" y="-166128"/>
            <a:ext cx="14678025" cy="7781925"/>
          </a:xfrm>
          <a:prstGeom prst="rect">
            <a:avLst/>
          </a:prstGeom>
        </p:spPr>
      </p:pic>
    </p:spTree>
    <p:extLst>
      <p:ext uri="{BB962C8B-B14F-4D97-AF65-F5344CB8AC3E}">
        <p14:creationId xmlns:p14="http://schemas.microsoft.com/office/powerpoint/2010/main" val="1517803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69894" y="-242888"/>
            <a:ext cx="10165977" cy="7343775"/>
          </a:xfrm>
          <a:prstGeom prst="rect">
            <a:avLst/>
          </a:prstGeom>
        </p:spPr>
      </p:pic>
    </p:spTree>
    <p:extLst>
      <p:ext uri="{BB962C8B-B14F-4D97-AF65-F5344CB8AC3E}">
        <p14:creationId xmlns:p14="http://schemas.microsoft.com/office/powerpoint/2010/main" val="42535615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3.5Hybrid </a:t>
            </a:r>
            <a:r>
              <a:rPr lang="en-US" b="1" dirty="0">
                <a:solidFill>
                  <a:srgbClr val="C00000"/>
                </a:solidFill>
              </a:rPr>
              <a:t>computers</a:t>
            </a:r>
            <a:endParaRPr lang="en-US" dirty="0">
              <a:solidFill>
                <a:srgbClr val="C00000"/>
              </a:solidFill>
            </a:endParaRPr>
          </a:p>
        </p:txBody>
      </p:sp>
      <p:sp>
        <p:nvSpPr>
          <p:cNvPr id="3" name="Content Placeholder 2"/>
          <p:cNvSpPr>
            <a:spLocks noGrp="1"/>
          </p:cNvSpPr>
          <p:nvPr>
            <p:ph idx="1"/>
          </p:nvPr>
        </p:nvSpPr>
        <p:spPr>
          <a:xfrm>
            <a:off x="1371600" y="1515291"/>
            <a:ext cx="9601200" cy="4352109"/>
          </a:xfrm>
        </p:spPr>
        <p:txBody>
          <a:bodyPr/>
          <a:lstStyle/>
          <a:p>
            <a:r>
              <a:rPr lang="en-US" b="1" dirty="0"/>
              <a:t>Hybrid computers</a:t>
            </a:r>
            <a:r>
              <a:rPr lang="en-US" dirty="0"/>
              <a:t> are computers that exhibit features of </a:t>
            </a:r>
            <a:r>
              <a:rPr lang="en-US" dirty="0">
                <a:hlinkClick r:id="rId2" tooltip="Analog computer"/>
              </a:rPr>
              <a:t>analog computers</a:t>
            </a:r>
            <a:r>
              <a:rPr lang="en-US" dirty="0"/>
              <a:t> and </a:t>
            </a:r>
            <a:r>
              <a:rPr lang="en-US" dirty="0">
                <a:hlinkClick r:id="rId3" tooltip="Digital computer"/>
              </a:rPr>
              <a:t>digital computers</a:t>
            </a:r>
            <a:r>
              <a:rPr lang="en-US" dirty="0"/>
              <a:t>. The digital component normally serves as the controller and provides </a:t>
            </a:r>
            <a:r>
              <a:rPr lang="en-US" dirty="0">
                <a:hlinkClick r:id="rId4" tooltip="Logic"/>
              </a:rPr>
              <a:t>logical</a:t>
            </a:r>
            <a:r>
              <a:rPr lang="en-US" dirty="0"/>
              <a:t> and </a:t>
            </a:r>
            <a:r>
              <a:rPr lang="en-US" dirty="0">
                <a:hlinkClick r:id="rId5" tooltip="Numerical analysis"/>
              </a:rPr>
              <a:t>numerical</a:t>
            </a:r>
            <a:r>
              <a:rPr lang="en-US" dirty="0"/>
              <a:t> operations, while the analog component often serves as a solver of </a:t>
            </a:r>
            <a:r>
              <a:rPr lang="en-US" dirty="0">
                <a:hlinkClick r:id="rId6" tooltip="Differential equations"/>
              </a:rPr>
              <a:t>differential equations</a:t>
            </a:r>
            <a:r>
              <a:rPr lang="en-US" dirty="0"/>
              <a:t> and other mathematically complex problems</a:t>
            </a:r>
            <a:r>
              <a:rPr lang="en-US" dirty="0" smtClean="0"/>
              <a:t>.</a:t>
            </a:r>
          </a:p>
          <a:p>
            <a:r>
              <a:rPr lang="en-US" dirty="0"/>
              <a:t>This device is designed to work or process data in the digital form, hence, it changes received analog signals first, then processes digital data. Example: Computer measuring and displaying the heartbeat of </a:t>
            </a:r>
            <a:r>
              <a:rPr lang="en-US" dirty="0" smtClean="0"/>
              <a:t>patient</a:t>
            </a:r>
          </a:p>
          <a:p>
            <a:endParaRPr lang="en-US" dirty="0"/>
          </a:p>
        </p:txBody>
      </p:sp>
    </p:spTree>
    <p:extLst>
      <p:ext uri="{BB962C8B-B14F-4D97-AF65-F5344CB8AC3E}">
        <p14:creationId xmlns:p14="http://schemas.microsoft.com/office/powerpoint/2010/main" val="42808501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731" y="202474"/>
            <a:ext cx="9601200" cy="463731"/>
          </a:xfrm>
        </p:spPr>
        <p:txBody>
          <a:bodyPr/>
          <a:lstStyle/>
          <a:p>
            <a:r>
              <a:rPr lang="en-US" sz="1900" b="1" dirty="0">
                <a:solidFill>
                  <a:srgbClr val="191B0E"/>
                </a:solidFill>
                <a:ea typeface="+mn-ea"/>
                <a:cs typeface="+mn-cs"/>
              </a:rPr>
              <a:t>Hybrid simulation</a:t>
            </a:r>
            <a:endParaRPr lang="en-US" dirty="0"/>
          </a:p>
        </p:txBody>
      </p:sp>
      <p:sp>
        <p:nvSpPr>
          <p:cNvPr id="3" name="Content Placeholder 2"/>
          <p:cNvSpPr>
            <a:spLocks noGrp="1"/>
          </p:cNvSpPr>
          <p:nvPr>
            <p:ph idx="1"/>
          </p:nvPr>
        </p:nvSpPr>
        <p:spPr>
          <a:xfrm>
            <a:off x="1606730" y="561703"/>
            <a:ext cx="9705703" cy="6008914"/>
          </a:xfrm>
        </p:spPr>
        <p:txBody>
          <a:bodyPr>
            <a:normAutofit/>
          </a:bodyPr>
          <a:lstStyle/>
          <a:p>
            <a:r>
              <a:rPr lang="en-US" dirty="0" smtClean="0"/>
              <a:t>is </a:t>
            </a:r>
            <a:r>
              <a:rPr lang="en-US" dirty="0"/>
              <a:t>a simulation technique that combines both analog and digital simulation methods to model complex real-world systems. The analog part handles continuous variables such as speed, temperature, pressure, or motion, while the digital part handles discrete events, logic, and control operations. Both parts work together in a single system and exchange data using interface devices like ADC (Analog-to-Digital Converter) and DAC (Digital-to-Analog Converter). This makes it possible to simulate systems that involve both continuous change and step-by-step decision-making.</a:t>
            </a:r>
          </a:p>
          <a:p>
            <a:r>
              <a:rPr lang="en-US" dirty="0"/>
              <a:t>Hybrid simulation is widely used in complex fields where pure analog or pure digital simulation is not enough, such as flight simulation, missile guidance systems, robotics, weather forecasting, and industrial process control. It provides better accuracy and real-time performance for complex systems. However, it is more complex and expensive to design because it requires proper coordination between analog and digital components.</a:t>
            </a:r>
          </a:p>
          <a:p>
            <a:r>
              <a:rPr lang="en-US" dirty="0"/>
              <a:t>For example, in a temperature control system, the temperature changes continuously, but the controller switches the heater ON or OFF based on fixed limits (18°C and 25°C). This shows how both analog and digital systems work together in hybrid simulation.</a:t>
            </a:r>
          </a:p>
        </p:txBody>
      </p:sp>
    </p:spTree>
    <p:extLst>
      <p:ext uri="{BB962C8B-B14F-4D97-AF65-F5344CB8AC3E}">
        <p14:creationId xmlns:p14="http://schemas.microsoft.com/office/powerpoint/2010/main" val="3819006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Digital analog simulator </a:t>
            </a:r>
            <a:endParaRPr lang="en-US" dirty="0">
              <a:solidFill>
                <a:srgbClr val="C00000"/>
              </a:solidFill>
            </a:endParaRPr>
          </a:p>
        </p:txBody>
      </p:sp>
      <p:sp>
        <p:nvSpPr>
          <p:cNvPr id="3" name="Content Placeholder 2"/>
          <p:cNvSpPr>
            <a:spLocks noGrp="1"/>
          </p:cNvSpPr>
          <p:nvPr>
            <p:ph idx="1"/>
          </p:nvPr>
        </p:nvSpPr>
        <p:spPr/>
        <p:txBody>
          <a:bodyPr>
            <a:normAutofit/>
          </a:bodyPr>
          <a:lstStyle/>
          <a:p>
            <a:r>
              <a:rPr lang="en-US" dirty="0"/>
              <a:t>To avoid the disadvantages of analog </a:t>
            </a:r>
            <a:r>
              <a:rPr lang="en-US" dirty="0" err="1"/>
              <a:t>computers,many</a:t>
            </a:r>
            <a:r>
              <a:rPr lang="en-US" dirty="0"/>
              <a:t> </a:t>
            </a:r>
            <a:r>
              <a:rPr lang="en-US" dirty="0" smtClean="0"/>
              <a:t>digital computer </a:t>
            </a:r>
            <a:r>
              <a:rPr lang="en-US" dirty="0"/>
              <a:t>programming languages have been written </a:t>
            </a:r>
            <a:r>
              <a:rPr lang="en-US" dirty="0" smtClean="0"/>
              <a:t>to produce </a:t>
            </a:r>
            <a:r>
              <a:rPr lang="en-US" dirty="0"/>
              <a:t>digital-analog simulators. They allow a continuous model to be. programmed on a digital computer </a:t>
            </a:r>
            <a:r>
              <a:rPr lang="en-US" dirty="0" smtClean="0"/>
              <a:t>in essentially </a:t>
            </a:r>
            <a:r>
              <a:rPr lang="en-US" dirty="0"/>
              <a:t>the same way as it is solved on an </a:t>
            </a:r>
            <a:r>
              <a:rPr lang="en-US" dirty="0" smtClean="0"/>
              <a:t>analog </a:t>
            </a:r>
            <a:r>
              <a:rPr lang="en-US" dirty="0" err="1" smtClean="0"/>
              <a:t>computer.The</a:t>
            </a:r>
            <a:r>
              <a:rPr lang="en-US" dirty="0" smtClean="0"/>
              <a:t> </a:t>
            </a:r>
            <a:r>
              <a:rPr lang="en-US" dirty="0"/>
              <a:t>languages contain macro-instructions </a:t>
            </a:r>
            <a:r>
              <a:rPr lang="en-US" dirty="0" err="1" smtClean="0"/>
              <a:t>thatcarry</a:t>
            </a:r>
            <a:r>
              <a:rPr lang="en-US" dirty="0" smtClean="0"/>
              <a:t> </a:t>
            </a:r>
            <a:r>
              <a:rPr lang="en-US" dirty="0"/>
              <a:t>out the action of </a:t>
            </a:r>
            <a:r>
              <a:rPr lang="en-US" dirty="0" err="1"/>
              <a:t>adders,integrators,and</a:t>
            </a:r>
            <a:r>
              <a:rPr lang="en-US" dirty="0"/>
              <a:t> sign changers.</a:t>
            </a:r>
          </a:p>
          <a:p>
            <a:r>
              <a:rPr lang="en-US" dirty="0"/>
              <a:t>A program is written to" link together these </a:t>
            </a:r>
            <a:r>
              <a:rPr lang="en-US" dirty="0" smtClean="0"/>
              <a:t>macro-instructions</a:t>
            </a:r>
            <a:r>
              <a:rPr lang="en-US" dirty="0"/>
              <a:t>, in essentially the sane </a:t>
            </a:r>
            <a:r>
              <a:rPr lang="en-US" dirty="0" err="1"/>
              <a:t>marnner</a:t>
            </a:r>
            <a:r>
              <a:rPr lang="en-US" dirty="0"/>
              <a:t> as </a:t>
            </a:r>
            <a:r>
              <a:rPr lang="en-US" dirty="0" smtClean="0"/>
              <a:t>operational amplifiers </a:t>
            </a:r>
            <a:r>
              <a:rPr lang="en-US" dirty="0"/>
              <a:t>are connected in analog computers.</a:t>
            </a:r>
          </a:p>
          <a:p>
            <a:r>
              <a:rPr lang="en-US" dirty="0"/>
              <a:t>More powerful techniques of applying digital computers to </a:t>
            </a:r>
            <a:r>
              <a:rPr lang="en-US" dirty="0" err="1"/>
              <a:t>thsimulation</a:t>
            </a:r>
            <a:r>
              <a:rPr lang="en-US" dirty="0"/>
              <a:t> of continuous systems have been developed. As </a:t>
            </a:r>
            <a:r>
              <a:rPr lang="en-US" dirty="0" err="1" smtClean="0"/>
              <a:t>aresult,digital</a:t>
            </a:r>
            <a:r>
              <a:rPr lang="en-US" dirty="0" smtClean="0"/>
              <a:t>-analog </a:t>
            </a:r>
            <a:r>
              <a:rPr lang="en-US" dirty="0"/>
              <a:t>simulators are not now in extensive </a:t>
            </a:r>
            <a:r>
              <a:rPr lang="en-US" dirty="0" smtClean="0"/>
              <a:t>use.</a:t>
            </a:r>
            <a:endParaRPr lang="en-US" dirty="0"/>
          </a:p>
        </p:txBody>
      </p:sp>
    </p:spTree>
    <p:extLst>
      <p:ext uri="{BB962C8B-B14F-4D97-AF65-F5344CB8AC3E}">
        <p14:creationId xmlns:p14="http://schemas.microsoft.com/office/powerpoint/2010/main" val="11942096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200400" y="374741"/>
            <a:ext cx="7296693" cy="5869305"/>
          </a:xfrm>
          <a:prstGeom prst="rect">
            <a:avLst/>
          </a:prstGeom>
        </p:spPr>
      </p:pic>
    </p:spTree>
    <p:extLst>
      <p:ext uri="{BB962C8B-B14F-4D97-AF65-F5344CB8AC3E}">
        <p14:creationId xmlns:p14="http://schemas.microsoft.com/office/powerpoint/2010/main" val="42854383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02474"/>
            <a:ext cx="8229600" cy="790303"/>
          </a:xfrm>
        </p:spPr>
        <p:txBody>
          <a:bodyPr/>
          <a:lstStyle/>
          <a:p>
            <a:r>
              <a:rPr lang="en-US" dirty="0"/>
              <a:t>Serial Chase Problem </a:t>
            </a:r>
          </a:p>
        </p:txBody>
      </p:sp>
      <p:sp>
        <p:nvSpPr>
          <p:cNvPr id="3" name="Content Placeholder 2"/>
          <p:cNvSpPr>
            <a:spLocks noGrp="1"/>
          </p:cNvSpPr>
          <p:nvPr>
            <p:ph idx="1"/>
          </p:nvPr>
        </p:nvSpPr>
        <p:spPr>
          <a:xfrm>
            <a:off x="1175657" y="822959"/>
            <a:ext cx="9836332" cy="5538651"/>
          </a:xfrm>
        </p:spPr>
        <p:txBody>
          <a:bodyPr>
            <a:normAutofit fontScale="92500" lnSpcReduction="10000"/>
          </a:bodyPr>
          <a:lstStyle/>
          <a:p>
            <a:r>
              <a:rPr lang="en-US" dirty="0"/>
              <a:t>A </a:t>
            </a:r>
            <a:r>
              <a:rPr lang="en-US" b="1" dirty="0"/>
              <a:t>Serial Chase Problem</a:t>
            </a:r>
            <a:r>
              <a:rPr lang="en-US" dirty="0"/>
              <a:t> in Computer Simulation refers to a situation where one moving object continuously follows another moving object along a path.</a:t>
            </a:r>
            <a:br>
              <a:rPr lang="en-US" dirty="0"/>
            </a:br>
            <a:r>
              <a:rPr lang="en-US" dirty="0"/>
              <a:t>It is commonly studied in </a:t>
            </a:r>
            <a:r>
              <a:rPr lang="en-US" b="1" dirty="0"/>
              <a:t>simulation and modeling</a:t>
            </a:r>
            <a:r>
              <a:rPr lang="en-US" dirty="0"/>
              <a:t>, </a:t>
            </a:r>
            <a:r>
              <a:rPr lang="en-US" b="1" dirty="0"/>
              <a:t>operations research</a:t>
            </a:r>
            <a:r>
              <a:rPr lang="en-US" dirty="0"/>
              <a:t>, and </a:t>
            </a:r>
            <a:r>
              <a:rPr lang="en-US" b="1" dirty="0"/>
              <a:t>traffic/military movement systems</a:t>
            </a:r>
            <a:r>
              <a:rPr lang="en-US" dirty="0"/>
              <a:t>.</a:t>
            </a:r>
          </a:p>
          <a:p>
            <a:r>
              <a:rPr lang="en-US" dirty="0" smtClean="0"/>
              <a:t>In </a:t>
            </a:r>
            <a:r>
              <a:rPr lang="en-US" dirty="0"/>
              <a:t>a serial chase:</a:t>
            </a:r>
          </a:p>
          <a:p>
            <a:r>
              <a:rPr lang="en-US" dirty="0"/>
              <a:t>Object </a:t>
            </a:r>
            <a:r>
              <a:rPr lang="en-US" b="1" dirty="0"/>
              <a:t>A</a:t>
            </a:r>
            <a:r>
              <a:rPr lang="en-US" dirty="0"/>
              <a:t> follows object </a:t>
            </a:r>
            <a:r>
              <a:rPr lang="en-US" b="1" dirty="0"/>
              <a:t>B</a:t>
            </a:r>
            <a:r>
              <a:rPr lang="en-US" dirty="0"/>
              <a:t> </a:t>
            </a:r>
          </a:p>
          <a:p>
            <a:r>
              <a:rPr lang="en-US" dirty="0"/>
              <a:t>Object </a:t>
            </a:r>
            <a:r>
              <a:rPr lang="en-US" b="1" dirty="0"/>
              <a:t>B</a:t>
            </a:r>
            <a:r>
              <a:rPr lang="en-US" dirty="0"/>
              <a:t> may follow object </a:t>
            </a:r>
            <a:r>
              <a:rPr lang="en-US" b="1" dirty="0"/>
              <a:t>C</a:t>
            </a:r>
            <a:r>
              <a:rPr lang="en-US" dirty="0"/>
              <a:t> </a:t>
            </a:r>
          </a:p>
          <a:p>
            <a:r>
              <a:rPr lang="en-US" dirty="0"/>
              <a:t>This continues in a chain (serially) </a:t>
            </a:r>
          </a:p>
          <a:p>
            <a:r>
              <a:rPr lang="en-US" dirty="0"/>
              <a:t>Each follower changes its movement based on the object </a:t>
            </a:r>
            <a:r>
              <a:rPr lang="en-US" dirty="0" smtClean="0"/>
              <a:t>ahead</a:t>
            </a:r>
          </a:p>
          <a:p>
            <a:r>
              <a:rPr lang="en-US" b="1" dirty="0"/>
              <a:t>Real-Life Examples</a:t>
            </a:r>
          </a:p>
          <a:p>
            <a:pPr>
              <a:buFont typeface="Arial" panose="020B0604020202020204" pitchFamily="34" charset="0"/>
              <a:buChar char="•"/>
            </a:pPr>
            <a:r>
              <a:rPr lang="en-US" dirty="0"/>
              <a:t>Cars following each other in traffic </a:t>
            </a:r>
          </a:p>
          <a:p>
            <a:pPr>
              <a:buFont typeface="Arial" panose="020B0604020202020204" pitchFamily="34" charset="0"/>
              <a:buChar char="•"/>
            </a:pPr>
            <a:r>
              <a:rPr lang="en-US" dirty="0"/>
              <a:t>Missiles tracking aircraft </a:t>
            </a:r>
          </a:p>
          <a:p>
            <a:pPr>
              <a:buFont typeface="Arial" panose="020B0604020202020204" pitchFamily="34" charset="0"/>
              <a:buChar char="•"/>
            </a:pPr>
            <a:r>
              <a:rPr lang="en-US" dirty="0"/>
              <a:t>Police chasing a thief </a:t>
            </a:r>
          </a:p>
          <a:p>
            <a:pPr>
              <a:buFont typeface="Arial" panose="020B0604020202020204" pitchFamily="34" charset="0"/>
              <a:buChar char="•"/>
            </a:pPr>
            <a:r>
              <a:rPr lang="en-US" dirty="0"/>
              <a:t>Animals hunting prey </a:t>
            </a:r>
          </a:p>
          <a:p>
            <a:pPr>
              <a:buFont typeface="Arial" panose="020B0604020202020204" pitchFamily="34" charset="0"/>
              <a:buChar char="•"/>
            </a:pPr>
            <a:r>
              <a:rPr lang="en-US" dirty="0"/>
              <a:t>Robots following another robot</a:t>
            </a:r>
          </a:p>
          <a:p>
            <a:endParaRPr lang="en-US" dirty="0" smtClean="0"/>
          </a:p>
          <a:p>
            <a:endParaRPr lang="en-US" dirty="0"/>
          </a:p>
          <a:p>
            <a:endParaRPr lang="en-US" dirty="0"/>
          </a:p>
        </p:txBody>
      </p:sp>
    </p:spTree>
    <p:extLst>
      <p:ext uri="{BB962C8B-B14F-4D97-AF65-F5344CB8AC3E}">
        <p14:creationId xmlns:p14="http://schemas.microsoft.com/office/powerpoint/2010/main" val="1204357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89411"/>
            <a:ext cx="9601200" cy="868680"/>
          </a:xfrm>
        </p:spPr>
        <p:txBody>
          <a:bodyPr/>
          <a:lstStyle/>
          <a:p>
            <a:r>
              <a:rPr lang="en-US" dirty="0" smtClean="0"/>
              <a:t>problem</a:t>
            </a:r>
            <a:endParaRPr lang="en-US" dirty="0"/>
          </a:p>
        </p:txBody>
      </p:sp>
      <p:sp>
        <p:nvSpPr>
          <p:cNvPr id="3" name="Content Placeholder 2"/>
          <p:cNvSpPr>
            <a:spLocks noGrp="1"/>
          </p:cNvSpPr>
          <p:nvPr>
            <p:ph idx="1"/>
          </p:nvPr>
        </p:nvSpPr>
        <p:spPr>
          <a:xfrm>
            <a:off x="1371600" y="1058091"/>
            <a:ext cx="9601200" cy="4809309"/>
          </a:xfrm>
        </p:spPr>
        <p:txBody>
          <a:bodyPr>
            <a:normAutofit/>
          </a:bodyPr>
          <a:lstStyle/>
          <a:p>
            <a:pPr marL="0" indent="0">
              <a:buNone/>
            </a:pPr>
            <a:r>
              <a:rPr lang="en-US" dirty="0"/>
              <a:t>Three objects A, B, and C are moving in a straight line</a:t>
            </a:r>
            <a:r>
              <a:rPr lang="en-US" dirty="0" smtClean="0"/>
              <a:t>.</a:t>
            </a:r>
          </a:p>
          <a:p>
            <a:pPr marL="0" indent="0">
              <a:buNone/>
            </a:pPr>
            <a:r>
              <a:rPr lang="en-US" dirty="0" smtClean="0"/>
              <a:t>Speed </a:t>
            </a:r>
            <a:r>
              <a:rPr lang="en-US" dirty="0"/>
              <a:t>of A = 6 </a:t>
            </a:r>
            <a:r>
              <a:rPr lang="en-US" dirty="0" smtClean="0"/>
              <a:t>m/s</a:t>
            </a:r>
          </a:p>
          <a:p>
            <a:pPr marL="0" indent="0">
              <a:buNone/>
            </a:pPr>
            <a:r>
              <a:rPr lang="en-US" dirty="0" smtClean="0"/>
              <a:t>Speed </a:t>
            </a:r>
            <a:r>
              <a:rPr lang="en-US" dirty="0"/>
              <a:t>of B = 4 </a:t>
            </a:r>
            <a:r>
              <a:rPr lang="en-US" dirty="0" smtClean="0"/>
              <a:t>m/s</a:t>
            </a:r>
          </a:p>
          <a:p>
            <a:pPr marL="0" indent="0">
              <a:buNone/>
            </a:pPr>
            <a:r>
              <a:rPr lang="en-US" dirty="0" smtClean="0"/>
              <a:t>Speed </a:t>
            </a:r>
            <a:r>
              <a:rPr lang="en-US" dirty="0"/>
              <a:t>of C = 2 </a:t>
            </a:r>
            <a:r>
              <a:rPr lang="en-US" dirty="0" smtClean="0"/>
              <a:t>m/s</a:t>
            </a:r>
          </a:p>
          <a:p>
            <a:r>
              <a:rPr lang="en-US" dirty="0" smtClean="0"/>
              <a:t>Initial </a:t>
            </a:r>
            <a:r>
              <a:rPr lang="en-US" dirty="0"/>
              <a:t>distance between A and B = 40 </a:t>
            </a:r>
            <a:r>
              <a:rPr lang="en-US" dirty="0" smtClean="0"/>
              <a:t>m</a:t>
            </a:r>
          </a:p>
          <a:p>
            <a:r>
              <a:rPr lang="en-US" dirty="0" smtClean="0"/>
              <a:t>Initial </a:t>
            </a:r>
            <a:r>
              <a:rPr lang="en-US" dirty="0"/>
              <a:t>distance between B and C = 60 </a:t>
            </a:r>
            <a:r>
              <a:rPr lang="en-US" dirty="0" smtClean="0"/>
              <a:t>m</a:t>
            </a:r>
          </a:p>
          <a:p>
            <a:pPr marL="0" indent="0">
              <a:buNone/>
            </a:pPr>
            <a:r>
              <a:rPr lang="en-US" dirty="0" err="1" smtClean="0"/>
              <a:t>Find:Time</a:t>
            </a:r>
            <a:r>
              <a:rPr lang="en-US" dirty="0" smtClean="0"/>
              <a:t> </a:t>
            </a:r>
            <a:r>
              <a:rPr lang="en-US" dirty="0"/>
              <a:t>when A catches </a:t>
            </a:r>
            <a:r>
              <a:rPr lang="en-US" dirty="0" smtClean="0"/>
              <a:t>B,</a:t>
            </a:r>
          </a:p>
          <a:p>
            <a:pPr marL="0" indent="0">
              <a:buNone/>
            </a:pPr>
            <a:r>
              <a:rPr lang="en-US" dirty="0" smtClean="0"/>
              <a:t>Time </a:t>
            </a:r>
            <a:r>
              <a:rPr lang="en-US" dirty="0"/>
              <a:t>when B catches C (after being caught by A, assume B continues same motion</a:t>
            </a:r>
            <a:r>
              <a:rPr lang="en-US" dirty="0" smtClean="0"/>
              <a:t>)</a:t>
            </a:r>
          </a:p>
          <a:p>
            <a:pPr marL="0" indent="0">
              <a:buNone/>
            </a:pPr>
            <a:r>
              <a:rPr lang="en-US" dirty="0" smtClean="0"/>
              <a:t> </a:t>
            </a:r>
            <a:r>
              <a:rPr lang="en-US" dirty="0"/>
              <a:t>A catches </a:t>
            </a:r>
            <a:r>
              <a:rPr lang="en-US" dirty="0" smtClean="0"/>
              <a:t>B</a:t>
            </a:r>
          </a:p>
          <a:p>
            <a:r>
              <a:rPr lang="en-US" dirty="0" smtClean="0"/>
              <a:t>Relative speed​</a:t>
            </a:r>
            <a:r>
              <a:rPr lang="en-US" dirty="0"/>
              <a:t>=</a:t>
            </a:r>
            <a:r>
              <a:rPr lang="en-US" dirty="0" smtClean="0"/>
              <a:t>VA​−VB​</a:t>
            </a:r>
            <a:r>
              <a:rPr lang="en-US" dirty="0"/>
              <a:t>=6−4=2 </a:t>
            </a:r>
            <a:r>
              <a:rPr lang="en-US" dirty="0" smtClean="0"/>
              <a:t>m/s</a:t>
            </a:r>
          </a:p>
          <a:p>
            <a:pPr marL="0" indent="0">
              <a:buNone/>
            </a:pPr>
            <a:r>
              <a:rPr lang="en-US" dirty="0" err="1" smtClean="0"/>
              <a:t>Time:T</a:t>
            </a:r>
            <a:r>
              <a:rPr lang="en-US" dirty="0" smtClean="0"/>
              <a:t>=40/2​</a:t>
            </a:r>
            <a:r>
              <a:rPr lang="en-US" dirty="0"/>
              <a:t>=20 sec</a:t>
            </a:r>
          </a:p>
        </p:txBody>
      </p:sp>
    </p:spTree>
    <p:extLst>
      <p:ext uri="{BB962C8B-B14F-4D97-AF65-F5344CB8AC3E}">
        <p14:creationId xmlns:p14="http://schemas.microsoft.com/office/powerpoint/2010/main" val="4204865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Feedback Systems</a:t>
            </a:r>
          </a:p>
        </p:txBody>
      </p:sp>
      <p:sp>
        <p:nvSpPr>
          <p:cNvPr id="3" name="Content Placeholder 2"/>
          <p:cNvSpPr>
            <a:spLocks noGrp="1"/>
          </p:cNvSpPr>
          <p:nvPr>
            <p:ph idx="1"/>
          </p:nvPr>
        </p:nvSpPr>
        <p:spPr>
          <a:xfrm>
            <a:off x="1371599" y="1410789"/>
            <a:ext cx="10685418" cy="5303520"/>
          </a:xfrm>
        </p:spPr>
        <p:txBody>
          <a:bodyPr>
            <a:noAutofit/>
          </a:bodyPr>
          <a:lstStyle/>
          <a:p>
            <a:r>
              <a:rPr lang="en-US" dirty="0"/>
              <a:t>•In a feedback system, a portion of the system output is fed back into the system, thus introducing a level of dependencies among input and output signals in the system</a:t>
            </a:r>
            <a:r>
              <a:rPr lang="en-US" dirty="0" smtClean="0"/>
              <a:t>.</a:t>
            </a:r>
          </a:p>
          <a:p>
            <a:r>
              <a:rPr lang="en-US" dirty="0" smtClean="0"/>
              <a:t>•</a:t>
            </a:r>
            <a:r>
              <a:rPr lang="en-US" dirty="0"/>
              <a:t>With the use of feedback in communication systems, satisfactory response and robust performance can generally be </a:t>
            </a:r>
            <a:r>
              <a:rPr lang="en-US" dirty="0" smtClean="0"/>
              <a:t>achieved</a:t>
            </a:r>
          </a:p>
          <a:p>
            <a:r>
              <a:rPr lang="en-US" dirty="0"/>
              <a:t>•In a system with feedback, also known as a closed-loop control system, the past output may influence the present or future outputs</a:t>
            </a:r>
            <a:r>
              <a:rPr lang="en-US" dirty="0" smtClean="0"/>
              <a:t>.</a:t>
            </a:r>
          </a:p>
          <a:p>
            <a:r>
              <a:rPr lang="en-US" dirty="0" smtClean="0"/>
              <a:t> </a:t>
            </a:r>
            <a:r>
              <a:rPr lang="en-US" dirty="0"/>
              <a:t>•Most physical systems embody some form of feedback</a:t>
            </a:r>
            <a:r>
              <a:rPr lang="en-US" dirty="0" smtClean="0"/>
              <a:t>.</a:t>
            </a:r>
          </a:p>
          <a:p>
            <a:r>
              <a:rPr lang="en-US" dirty="0" smtClean="0"/>
              <a:t> </a:t>
            </a:r>
            <a:r>
              <a:rPr lang="en-US" dirty="0"/>
              <a:t>•In a system with feedback, a closed sequence of cause-and-effect relations exists between system variables</a:t>
            </a:r>
            <a:r>
              <a:rPr lang="en-US" dirty="0" smtClean="0"/>
              <a:t>.</a:t>
            </a:r>
          </a:p>
          <a:p>
            <a:r>
              <a:rPr lang="en-US" dirty="0"/>
              <a:t>•There are two types of feedback systems. In a positive feedback system, the feedback is used to increase the input signal level, thus generally making the system unstable. </a:t>
            </a:r>
            <a:endParaRPr lang="en-US" dirty="0" smtClean="0"/>
          </a:p>
          <a:p>
            <a:r>
              <a:rPr lang="en-US" dirty="0" smtClean="0"/>
              <a:t>•</a:t>
            </a:r>
            <a:r>
              <a:rPr lang="en-US" dirty="0"/>
              <a:t>Positive feedback is widely used in oscillatory circuits such as oscillators and timing circuits</a:t>
            </a:r>
            <a:r>
              <a:rPr lang="en-US" dirty="0" smtClean="0"/>
              <a:t>.</a:t>
            </a:r>
          </a:p>
          <a:p>
            <a:r>
              <a:rPr lang="en-US" dirty="0"/>
              <a:t>In a negative feedback system, the feedback is used to decrease the input signal level to ensure system stability.</a:t>
            </a:r>
          </a:p>
        </p:txBody>
      </p:sp>
    </p:spTree>
    <p:extLst>
      <p:ext uri="{BB962C8B-B14F-4D97-AF65-F5344CB8AC3E}">
        <p14:creationId xmlns:p14="http://schemas.microsoft.com/office/powerpoint/2010/main" val="36154479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2563" y="-1947863"/>
            <a:ext cx="15097125" cy="11668125"/>
          </a:xfrm>
          <a:prstGeom prst="rect">
            <a:avLst/>
          </a:prstGeom>
        </p:spPr>
      </p:pic>
      <p:pic>
        <p:nvPicPr>
          <p:cNvPr id="5" name="Picture 4"/>
          <p:cNvPicPr>
            <a:picLocks noChangeAspect="1"/>
          </p:cNvPicPr>
          <p:nvPr/>
        </p:nvPicPr>
        <p:blipFill>
          <a:blip r:embed="rId3"/>
          <a:stretch>
            <a:fillRect/>
          </a:stretch>
        </p:blipFill>
        <p:spPr>
          <a:xfrm>
            <a:off x="1580589" y="4401390"/>
            <a:ext cx="5238750" cy="2143125"/>
          </a:xfrm>
          <a:prstGeom prst="rect">
            <a:avLst/>
          </a:prstGeom>
        </p:spPr>
      </p:pic>
    </p:spTree>
    <p:extLst>
      <p:ext uri="{BB962C8B-B14F-4D97-AF65-F5344CB8AC3E}">
        <p14:creationId xmlns:p14="http://schemas.microsoft.com/office/powerpoint/2010/main" val="41315551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Interactive systems</a:t>
            </a:r>
          </a:p>
        </p:txBody>
      </p:sp>
      <p:sp>
        <p:nvSpPr>
          <p:cNvPr id="3" name="Content Placeholder 2"/>
          <p:cNvSpPr>
            <a:spLocks noGrp="1"/>
          </p:cNvSpPr>
          <p:nvPr>
            <p:ph idx="1"/>
          </p:nvPr>
        </p:nvSpPr>
        <p:spPr/>
        <p:txBody>
          <a:bodyPr>
            <a:normAutofit fontScale="92500" lnSpcReduction="10000"/>
          </a:bodyPr>
          <a:lstStyle/>
          <a:p>
            <a:r>
              <a:rPr lang="en-US" dirty="0"/>
              <a:t>Interactive systems are computer systems characterized by significant amounts of interaction between humans and the computer. Editors, CAD-CAM (Computer Aided Design-Computer Aided Manufacture) systems, and data entry systems are all computer systems involving a high degree of human-computer interaction. Games and simulations are interactive systems. Web browsers and Integrated Development Environments (IDEs) are also examples of very complex interactive </a:t>
            </a:r>
            <a:r>
              <a:rPr lang="en-US" dirty="0" smtClean="0"/>
              <a:t>systems</a:t>
            </a:r>
          </a:p>
          <a:p>
            <a:r>
              <a:rPr lang="en-US" dirty="0"/>
              <a:t>To improve efficiency and effectiveness of computer software, programmers and designers not only need a good knowledge of programming languages, but a better understanding of human information processing capabilities as well</a:t>
            </a:r>
            <a:r>
              <a:rPr lang="en-US" dirty="0" smtClean="0"/>
              <a:t>.</a:t>
            </a:r>
          </a:p>
          <a:p>
            <a:r>
              <a:rPr lang="en-US" dirty="0" smtClean="0"/>
              <a:t> </a:t>
            </a:r>
            <a:r>
              <a:rPr lang="en-US" dirty="0"/>
              <a:t>They need to know how people perceive screen colors, why and how to construct unambiguous icons, what common patterns or errors occur on the part of users, and how user effectiveness is related to the various mental models of systems people possess</a:t>
            </a:r>
          </a:p>
        </p:txBody>
      </p:sp>
    </p:spTree>
    <p:extLst>
      <p:ext uri="{BB962C8B-B14F-4D97-AF65-F5344CB8AC3E}">
        <p14:creationId xmlns:p14="http://schemas.microsoft.com/office/powerpoint/2010/main" val="1206164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07869"/>
          </a:xfrm>
        </p:spPr>
        <p:txBody>
          <a:bodyPr/>
          <a:lstStyle/>
          <a:p>
            <a:r>
              <a:rPr lang="en-US" dirty="0">
                <a:solidFill>
                  <a:srgbClr val="FF0000"/>
                </a:solidFill>
              </a:rPr>
              <a:t>Real time simulation</a:t>
            </a:r>
          </a:p>
        </p:txBody>
      </p:sp>
      <p:sp>
        <p:nvSpPr>
          <p:cNvPr id="3" name="Content Placeholder 2"/>
          <p:cNvSpPr>
            <a:spLocks noGrp="1"/>
          </p:cNvSpPr>
          <p:nvPr>
            <p:ph idx="1"/>
          </p:nvPr>
        </p:nvSpPr>
        <p:spPr>
          <a:xfrm>
            <a:off x="1371600" y="1449977"/>
            <a:ext cx="9966960" cy="5238206"/>
          </a:xfrm>
        </p:spPr>
        <p:txBody>
          <a:bodyPr>
            <a:normAutofit/>
          </a:bodyPr>
          <a:lstStyle/>
          <a:p>
            <a:r>
              <a:rPr lang="en-US" dirty="0"/>
              <a:t>Real time simulation is reproducing the behavior of a physical system through running its computer-based model at the same rate as actual wall clock time. In other words, in real time simulation, when the simulation clock reaches a certain time, the same amount of time has passed in the real world</a:t>
            </a:r>
            <a:r>
              <a:rPr lang="en-US" dirty="0" smtClean="0"/>
              <a:t>.</a:t>
            </a:r>
          </a:p>
          <a:p>
            <a:r>
              <a:rPr lang="en-US" dirty="0" smtClean="0"/>
              <a:t> </a:t>
            </a:r>
            <a:r>
              <a:rPr lang="en-US" dirty="0"/>
              <a:t>For example, if a process takes 1 second to finish in the real world, the simulation would take 1 second as well. Real time simulation is typically used for high-speed simulations, closed-loop testing of protection and control equipment, and generally all “What-if” analyses. Real time simulation is actually simulating a system, which could realistically respond to its environment, when the inputs/outputs of the simulation are synchronous with the real </a:t>
            </a:r>
            <a:r>
              <a:rPr lang="en-US" dirty="0" smtClean="0"/>
              <a:t>world</a:t>
            </a:r>
          </a:p>
          <a:p>
            <a:r>
              <a:rPr lang="en-US" dirty="0"/>
              <a:t>A fire drill is an example of a simulation. It reenacts the real world scenario of a fire in a building or an environment with the purpose of teaching appropriate actions in the event a real fire is </a:t>
            </a:r>
            <a:r>
              <a:rPr lang="en-US" dirty="0" smtClean="0"/>
              <a:t>encountered.</a:t>
            </a:r>
            <a:r>
              <a:rPr lang="en-US" dirty="0"/>
              <a:t> It is also used to teach a skill for example, in teaching how to perform cardiopulmonary resuscitation (CPR) or deliver a </a:t>
            </a:r>
            <a:r>
              <a:rPr lang="en-US" dirty="0" smtClean="0"/>
              <a:t>baby.</a:t>
            </a:r>
            <a:r>
              <a:rPr lang="en-US" dirty="0"/>
              <a:t> , science laboratory experiments, simulations used in movies, sports, and video games.</a:t>
            </a:r>
          </a:p>
        </p:txBody>
      </p:sp>
    </p:spTree>
    <p:extLst>
      <p:ext uri="{BB962C8B-B14F-4D97-AF65-F5344CB8AC3E}">
        <p14:creationId xmlns:p14="http://schemas.microsoft.com/office/powerpoint/2010/main" val="30773232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Predator  </a:t>
            </a:r>
            <a:r>
              <a:rPr lang="en-US" b="1" dirty="0">
                <a:solidFill>
                  <a:srgbClr val="FF0000"/>
                </a:solidFill>
              </a:rPr>
              <a:t>pray </a:t>
            </a:r>
            <a:r>
              <a:rPr lang="en-US" b="1" dirty="0" smtClean="0">
                <a:solidFill>
                  <a:srgbClr val="FF0000"/>
                </a:solidFill>
              </a:rPr>
              <a:t>model</a:t>
            </a:r>
            <a:endParaRPr lang="en-US" b="1" dirty="0">
              <a:solidFill>
                <a:srgbClr val="FF0000"/>
              </a:solidFill>
            </a:endParaRPr>
          </a:p>
        </p:txBody>
      </p:sp>
      <p:sp>
        <p:nvSpPr>
          <p:cNvPr id="3" name="Content Placeholder 2"/>
          <p:cNvSpPr>
            <a:spLocks noGrp="1"/>
          </p:cNvSpPr>
          <p:nvPr>
            <p:ph idx="1"/>
          </p:nvPr>
        </p:nvSpPr>
        <p:spPr>
          <a:xfrm>
            <a:off x="1371600" y="1345473"/>
            <a:ext cx="9601200" cy="4702629"/>
          </a:xfrm>
        </p:spPr>
        <p:txBody>
          <a:bodyPr>
            <a:normAutofit/>
          </a:bodyPr>
          <a:lstStyle/>
          <a:p>
            <a:r>
              <a:rPr lang="en-US" dirty="0"/>
              <a:t>It is also called the parasite-host model. An environment consists of two population </a:t>
            </a:r>
            <a:r>
              <a:rPr lang="en-US" dirty="0" err="1" smtClean="0"/>
              <a:t>i.e.predator</a:t>
            </a:r>
            <a:r>
              <a:rPr lang="en-US" dirty="0" smtClean="0"/>
              <a:t> </a:t>
            </a:r>
            <a:r>
              <a:rPr lang="en-US" dirty="0"/>
              <a:t>and </a:t>
            </a:r>
            <a:r>
              <a:rPr lang="en-US" dirty="0" err="1"/>
              <a:t>prey.It</a:t>
            </a:r>
            <a:r>
              <a:rPr lang="en-US" dirty="0"/>
              <a:t> is also a mathematical </a:t>
            </a:r>
            <a:r>
              <a:rPr lang="en-US" dirty="0" err="1"/>
              <a:t>model.The</a:t>
            </a:r>
            <a:r>
              <a:rPr lang="en-US" dirty="0"/>
              <a:t> prey is passive but the </a:t>
            </a:r>
            <a:r>
              <a:rPr lang="en-US" dirty="0" err="1" smtClean="0"/>
              <a:t>predatordepends</a:t>
            </a:r>
            <a:r>
              <a:rPr lang="en-US" dirty="0" smtClean="0"/>
              <a:t> </a:t>
            </a:r>
            <a:r>
              <a:rPr lang="en-US" dirty="0"/>
              <a:t>on the prey for their source of food.</a:t>
            </a:r>
          </a:p>
          <a:p>
            <a:r>
              <a:rPr lang="en-US" dirty="0"/>
              <a:t>Let,</a:t>
            </a:r>
          </a:p>
          <a:p>
            <a:pPr marL="0" indent="0">
              <a:buNone/>
            </a:pPr>
            <a:r>
              <a:rPr lang="en-US" dirty="0"/>
              <a:t>x(t)= number of prey population at time t.</a:t>
            </a:r>
          </a:p>
          <a:p>
            <a:pPr marL="0" indent="0">
              <a:buNone/>
            </a:pPr>
            <a:r>
              <a:rPr lang="en-US" dirty="0"/>
              <a:t>y(t)= number of predator population at time t.</a:t>
            </a:r>
          </a:p>
          <a:p>
            <a:pPr marL="0" indent="0">
              <a:buNone/>
            </a:pPr>
            <a:r>
              <a:rPr lang="en-US" dirty="0" err="1"/>
              <a:t>r.x</a:t>
            </a:r>
            <a:r>
              <a:rPr lang="en-US" dirty="0"/>
              <a:t>(t) =rate of growth of prey for some +</a:t>
            </a:r>
            <a:r>
              <a:rPr lang="en-US" dirty="0" err="1" smtClean="0"/>
              <a:t>ve‘r’,where</a:t>
            </a:r>
            <a:r>
              <a:rPr lang="en-US" dirty="0" smtClean="0"/>
              <a:t> </a:t>
            </a:r>
            <a:r>
              <a:rPr lang="en-US" dirty="0"/>
              <a:t>r= natural birth and </a:t>
            </a:r>
            <a:r>
              <a:rPr lang="en-US" dirty="0" err="1" smtClean="0"/>
              <a:t>deathrate</a:t>
            </a:r>
            <a:r>
              <a:rPr lang="en-US" dirty="0"/>
              <a:t>.</a:t>
            </a:r>
          </a:p>
          <a:p>
            <a:pPr marL="0" indent="0">
              <a:buNone/>
            </a:pPr>
            <a:r>
              <a:rPr lang="en-US" dirty="0"/>
              <a:t>Because of the </a:t>
            </a:r>
            <a:r>
              <a:rPr lang="en-US" dirty="0" err="1"/>
              <a:t>interction</a:t>
            </a:r>
            <a:r>
              <a:rPr lang="en-US" dirty="0"/>
              <a:t> between predator and </a:t>
            </a:r>
            <a:r>
              <a:rPr lang="en-US" dirty="0" err="1"/>
              <a:t>prey,it</a:t>
            </a:r>
            <a:r>
              <a:rPr lang="en-US" dirty="0"/>
              <a:t> will be reasonable to assume</a:t>
            </a:r>
          </a:p>
          <a:p>
            <a:pPr marL="0" indent="0">
              <a:buNone/>
            </a:pPr>
            <a:r>
              <a:rPr lang="en-US" dirty="0"/>
              <a:t>that the death rate of prey is proportional to the product of two population size x(t).</a:t>
            </a:r>
            <a:r>
              <a:rPr lang="en-US" dirty="0" smtClean="0"/>
              <a:t>y(t).</a:t>
            </a:r>
          </a:p>
          <a:p>
            <a:pPr marL="0" indent="0">
              <a:buNone/>
            </a:pPr>
            <a:endParaRPr lang="en-US" dirty="0"/>
          </a:p>
        </p:txBody>
      </p:sp>
    </p:spTree>
    <p:extLst>
      <p:ext uri="{BB962C8B-B14F-4D97-AF65-F5344CB8AC3E}">
        <p14:creationId xmlns:p14="http://schemas.microsoft.com/office/powerpoint/2010/main" val="21136785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Predator  pray model</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661" y="1606731"/>
            <a:ext cx="10777779" cy="4545875"/>
          </a:xfrm>
          <a:prstGeom prst="rect">
            <a:avLst/>
          </a:prstGeom>
        </p:spPr>
      </p:pic>
    </p:spTree>
    <p:extLst>
      <p:ext uri="{BB962C8B-B14F-4D97-AF65-F5344CB8AC3E}">
        <p14:creationId xmlns:p14="http://schemas.microsoft.com/office/powerpoint/2010/main" val="487708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68879" y="464301"/>
            <a:ext cx="7438291" cy="6263070"/>
          </a:xfrm>
          <a:prstGeom prst="rect">
            <a:avLst/>
          </a:prstGeom>
        </p:spPr>
      </p:pic>
    </p:spTree>
    <p:extLst>
      <p:ext uri="{BB962C8B-B14F-4D97-AF65-F5344CB8AC3E}">
        <p14:creationId xmlns:p14="http://schemas.microsoft.com/office/powerpoint/2010/main" val="11669940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98863"/>
          </a:xfrm>
        </p:spPr>
        <p:txBody>
          <a:bodyPr/>
          <a:lstStyle/>
          <a:p>
            <a:r>
              <a:rPr lang="en-US" dirty="0" smtClean="0"/>
              <a:t>Steps of simulation</a:t>
            </a:r>
            <a:endParaRPr lang="en-US" dirty="0"/>
          </a:p>
        </p:txBody>
      </p:sp>
      <p:sp>
        <p:nvSpPr>
          <p:cNvPr id="4" name="Rectangle 1"/>
          <p:cNvSpPr>
            <a:spLocks noGrp="1" noChangeArrowheads="1"/>
          </p:cNvSpPr>
          <p:nvPr>
            <p:ph idx="1"/>
          </p:nvPr>
        </p:nvSpPr>
        <p:spPr bwMode="auto">
          <a:xfrm>
            <a:off x="1371600" y="1548854"/>
            <a:ext cx="10136777" cy="5309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1.Problem formulation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Clearly state the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2. Setting of objectives and overall project plan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How we should approach the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3. Model conceptualization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Establish a reasonable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4. Data collection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Collect the data necessary to run the simulation (such as arrival rate, arrival process, service discipline, service rate etc.).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5. Model translation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Convert the model into a programming language.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6. Verification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Verify the model by checking if the program works properly. Use common sense.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7. Validation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Check if the system accurately represent the real system.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8. Experimental design</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How many runs? For how long? What kind of input variations?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758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2.xml><?xml version="1.0" encoding="utf-8"?>
<ds:datastoreItem xmlns:ds="http://schemas.openxmlformats.org/officeDocument/2006/customXml" ds:itemID="{3FD9A38F-9A2C-42E5-9013-4C4B1FFCB4F6}">
  <ds:schemaRefs>
    <ds:schemaRef ds:uri="http://schemas.microsoft.com/office/2006/documentManagement/type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 ds:uri="http://purl.org/dc/terms/"/>
  </ds:schemaRefs>
</ds:datastoreItem>
</file>

<file path=customXml/itemProps3.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Crop design</Template>
  <TotalTime>0</TotalTime>
  <Words>2145</Words>
  <Application>Microsoft Office PowerPoint</Application>
  <PresentationFormat>Widescreen</PresentationFormat>
  <Paragraphs>160</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ff3</vt:lpstr>
      <vt:lpstr>ff4</vt:lpstr>
      <vt:lpstr>Franklin Gothic Book</vt:lpstr>
      <vt:lpstr>Source Sans Pro</vt:lpstr>
      <vt:lpstr>Times New Roman</vt:lpstr>
      <vt:lpstr>Crop</vt:lpstr>
      <vt:lpstr>Continuous system</vt:lpstr>
      <vt:lpstr>Continuous System</vt:lpstr>
      <vt:lpstr>Classification of Continuous Simulation Language </vt:lpstr>
      <vt:lpstr>System Dynamics</vt:lpstr>
      <vt:lpstr>PowerPoint Presentation</vt:lpstr>
      <vt:lpstr>3.1 Continuous System Models</vt:lpstr>
      <vt:lpstr>3.2 Differential Equations</vt:lpstr>
      <vt:lpstr>Differential Equations</vt:lpstr>
      <vt:lpstr>Non-linear differential equations </vt:lpstr>
      <vt:lpstr>Partial differential equations </vt:lpstr>
      <vt:lpstr>3.3 Analog computer </vt:lpstr>
      <vt:lpstr>PowerPoint Presentation</vt:lpstr>
      <vt:lpstr>Components of analog computers</vt:lpstr>
      <vt:lpstr>PowerPoint Presentation</vt:lpstr>
      <vt:lpstr>Advantages </vt:lpstr>
      <vt:lpstr>Disadvantages </vt:lpstr>
      <vt:lpstr>3.4 Analog method</vt:lpstr>
      <vt:lpstr>PowerPoint Presentation</vt:lpstr>
      <vt:lpstr>PowerPoint Presentation</vt:lpstr>
      <vt:lpstr>PowerPoint Presentation</vt:lpstr>
      <vt:lpstr>3.5Hybrid computers</vt:lpstr>
      <vt:lpstr>Hybrid simulation</vt:lpstr>
      <vt:lpstr>Digital analog simulator </vt:lpstr>
      <vt:lpstr>PowerPoint Presentation</vt:lpstr>
      <vt:lpstr>Serial Chase Problem </vt:lpstr>
      <vt:lpstr>problem</vt:lpstr>
      <vt:lpstr>Feedback Systems</vt:lpstr>
      <vt:lpstr>PowerPoint Presentation</vt:lpstr>
      <vt:lpstr>Interactive systems</vt:lpstr>
      <vt:lpstr>Real time simulation</vt:lpstr>
      <vt:lpstr>Predator  pray model</vt:lpstr>
      <vt:lpstr>Predator  pray model</vt:lpstr>
      <vt:lpstr>PowerPoint Presentation</vt:lpstr>
      <vt:lpstr>Steps of simulation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2023-12-02T13:21:54Z</dcterms:created>
  <dcterms:modified xsi:type="dcterms:W3CDTF">2026-05-31T15:29:00Z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