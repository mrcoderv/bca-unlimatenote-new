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autoCompressPictures="0">
  <p:sldMasterIdLst>
    <p:sldMasterId id="2147483648" r:id="rId4"/>
  </p:sldMasterIdLst>
  <p:notesMasterIdLst>
    <p:notesMasterId r:id="rId32"/>
  </p:notesMasterIdLst>
  <p:sldIdLst>
    <p:sldId id="266" r:id="rId5"/>
    <p:sldId id="267" r:id="rId6"/>
    <p:sldId id="308" r:id="rId7"/>
    <p:sldId id="309" r:id="rId8"/>
    <p:sldId id="268" r:id="rId9"/>
    <p:sldId id="269" r:id="rId10"/>
    <p:sldId id="270" r:id="rId11"/>
    <p:sldId id="272" r:id="rId12"/>
    <p:sldId id="271" r:id="rId13"/>
    <p:sldId id="273" r:id="rId14"/>
    <p:sldId id="274" r:id="rId15"/>
    <p:sldId id="305" r:id="rId16"/>
    <p:sldId id="310" r:id="rId17"/>
    <p:sldId id="311" r:id="rId18"/>
    <p:sldId id="275" r:id="rId19"/>
    <p:sldId id="276" r:id="rId20"/>
    <p:sldId id="277" r:id="rId21"/>
    <p:sldId id="278" r:id="rId22"/>
    <p:sldId id="280" r:id="rId23"/>
    <p:sldId id="279" r:id="rId24"/>
    <p:sldId id="298" r:id="rId25"/>
    <p:sldId id="299" r:id="rId26"/>
    <p:sldId id="300" r:id="rId27"/>
    <p:sldId id="301" r:id="rId28"/>
    <p:sldId id="302" r:id="rId29"/>
    <p:sldId id="303" r:id="rId30"/>
    <p:sldId id="304" r:id="rId3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3" d="100"/>
          <a:sy n="73" d="100"/>
        </p:scale>
        <p:origin x="618" y="78"/>
      </p:cViewPr>
      <p:guideLst/>
    </p:cSldViewPr>
  </p:slideViewPr>
  <p:notesTextViewPr>
    <p:cViewPr>
      <p:scale>
        <a:sx n="3" d="2"/>
        <a:sy n="3" d="2"/>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CD81C89-AC0D-4BFF-9223-D3157C1DDC5B}" type="datetimeFigureOut">
              <a:rPr lang="en-US" smtClean="0"/>
              <a:t>5/11/2026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33D7A2-C585-48BF-BF8C-C21FDC051F77}" type="slidenum">
              <a:rPr lang="en-US" smtClean="0"/>
              <a:t>‹#›</a:t>
            </a:fld>
            <a:endParaRPr lang="en-US" dirty="0"/>
          </a:p>
        </p:txBody>
      </p:sp>
    </p:spTree>
    <p:extLst>
      <p:ext uri="{BB962C8B-B14F-4D97-AF65-F5344CB8AC3E}">
        <p14:creationId xmlns:p14="http://schemas.microsoft.com/office/powerpoint/2010/main" val="1372662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43A52079-6997-47B8-B262-4ED5D2EA2D74}" type="datetime1">
              <a:rPr lang="en-US" smtClean="0"/>
              <a:t>5/11/2026</a:t>
            </a:fld>
            <a:endParaRPr lang="en-US" dirty="0"/>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69E57DC2-970A-4B3E-BB1C-7A09969E49DF}" type="slidenum">
              <a:rPr lang="en-US" dirty="0"/>
              <a:pPr/>
              <a:t>‹#›</a:t>
            </a:fld>
            <a:endParaRPr lang="en-US" dirty="0"/>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7B41ED8-AC2E-4560-8CC9-E6292DDF25B6}" type="datetime1">
              <a:rPr lang="en-US" smtClean="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85238998-10EA-455D-8FDC-3EBC7E198582}" type="datetime1">
              <a:rPr lang="en-US" smtClean="0"/>
              <a:t>5/11/2026</a:t>
            </a:fld>
            <a:endParaRPr lang="en-US" dirty="0"/>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endParaRPr lang="en-US" dirty="0"/>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7" name="Freeform 6" title="Crop Mark"/>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smtClean="0"/>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5A4E9B6-2EC2-45E6-A437-DCC674AAC4AF}" type="datetime1">
              <a:rPr lang="en-US" smtClean="0"/>
              <a:t>5/11/2026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F2D4FF3-940D-4DDE-86D8-82D5A8663636}" type="datetime1">
              <a:rPr lang="en-US" smtClean="0"/>
              <a:t>5/11/2026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C4955261-7117-41BB-BB79-8C1909625493}" type="datetime1">
              <a:rPr lang="en-US" smtClean="0"/>
              <a:t>5/11/2026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1E204D7-DE7F-414C-8571-0012DE9EFCDB}" type="datetime1">
              <a:rPr lang="en-US" smtClean="0"/>
              <a:t>5/11/2026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BE378FF3-85EA-48E5-8D8C-1DB156807E49}" type="datetime1">
              <a:rPr lang="en-US" smtClean="0"/>
              <a:t>5/11/2026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title="Background Shape"/>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73F94F13-1676-4B68-A383-661B657F6E63}" type="datetime1">
              <a:rPr lang="en-US" smtClean="0"/>
              <a:t>5/11/2026</a:t>
            </a:fld>
            <a:endParaRPr lang="en-US" dirty="0"/>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endParaRPr lang="en-US" dirty="0"/>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69E57DC2-970A-4B3E-BB1C-7A09969E49DF}" type="slidenum">
              <a:rPr lang="en-US" dirty="0"/>
              <a:pPr/>
              <a:t>‹#›</a:t>
            </a:fld>
            <a:endParaRPr lang="en-US" dirty="0"/>
          </a:p>
        </p:txBody>
      </p:sp>
      <p:sp>
        <p:nvSpPr>
          <p:cNvPr id="9" name="Rectangle 8" title="Divider Bar"/>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CAC80CA-06EA-4D97-A1EC-F2A229B592C4}" type="datetime1">
              <a:rPr lang="en-US" smtClean="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AAA60CC4-6CA2-4A99-B83B-711E420D000E}" type="datetime1">
              <a:rPr lang="en-US" smtClean="0"/>
              <a:t>5/11/2026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E57DC2-970A-4B3E-BB1C-7A09969E49DF}"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5CB83234-995D-4149-8E1E-BC120E9070D5}" type="datetime1">
              <a:rPr lang="en-US" smtClean="0"/>
              <a:t>5/11/2026</a:t>
            </a:fld>
            <a:endParaRPr lang="en-US" dirty="0"/>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endParaRPr lang="en-US" dirty="0"/>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69E57DC2-970A-4B3E-BB1C-7A09969E49DF}" type="slidenum">
              <a:rPr lang="en-US" dirty="0"/>
              <a:pPr/>
              <a:t>‹#›</a:t>
            </a:fld>
            <a:endParaRPr lang="en-US" dirty="0"/>
          </a:p>
        </p:txBody>
      </p:sp>
      <p:sp>
        <p:nvSpPr>
          <p:cNvPr id="9" name="Rectangle 8" title="Side bar"/>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hyperlink" Target="https://www.economicshelp.org/wp-content/uploads/2017/12/cobweb-theory-stable-price-fluctuation.png" TargetMode="Externa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8" name="Rectangle 47">
            <a:extLst>
              <a:ext uri="{FF2B5EF4-FFF2-40B4-BE49-F238E27FC236}">
                <a16:creationId xmlns:a16="http://schemas.microsoft.com/office/drawing/2014/main" id="{56C94072-1B34-48FB-9A9C-5A9A0FFC857C}"/>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23" name="Picture 22" descr="extreme close up of line chart graphic">
            <a:extLst>
              <a:ext uri="{FF2B5EF4-FFF2-40B4-BE49-F238E27FC236}">
                <a16:creationId xmlns:a16="http://schemas.microsoft.com/office/drawing/2014/main" id="{B38A25AE-7B44-4EC1-BC0C-CF0FFF036705}"/>
              </a:ext>
            </a:extLst>
          </p:cNvPr>
          <p:cNvPicPr>
            <a:picLocks noChangeAspect="1"/>
          </p:cNvPicPr>
          <p:nvPr/>
        </p:nvPicPr>
        <p:blipFill rotWithShape="1">
          <a:blip r:embed="rId2"/>
          <a:srcRect t="10000"/>
          <a:stretch/>
        </p:blipFill>
        <p:spPr>
          <a:xfrm>
            <a:off x="20" y="10"/>
            <a:ext cx="12191980" cy="6857990"/>
          </a:xfrm>
          <a:prstGeom prst="rect">
            <a:avLst/>
          </a:prstGeom>
        </p:spPr>
      </p:pic>
      <p:sp>
        <p:nvSpPr>
          <p:cNvPr id="52" name="Freeform: Shape 51">
            <a:extLst>
              <a:ext uri="{FF2B5EF4-FFF2-40B4-BE49-F238E27FC236}">
                <a16:creationId xmlns:a16="http://schemas.microsoft.com/office/drawing/2014/main" id="{A5019358-4900-4555-99FF-EF6AE90B8E32}"/>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H="1" flipV="1">
            <a:off x="5670146" y="3710250"/>
            <a:ext cx="2131466" cy="1830903"/>
          </a:xfrm>
          <a:custGeom>
            <a:avLst/>
            <a:gdLst>
              <a:gd name="connsiteX0" fmla="*/ 2308583 w 2308583"/>
              <a:gd name="connsiteY0" fmla="*/ 1983044 h 1983044"/>
              <a:gd name="connsiteX1" fmla="*/ 462 w 2308583"/>
              <a:gd name="connsiteY1" fmla="*/ 1983044 h 1983044"/>
              <a:gd name="connsiteX2" fmla="*/ 0 w 2308583"/>
              <a:gd name="connsiteY2" fmla="*/ 1711185 h 1983044"/>
              <a:gd name="connsiteX3" fmla="*/ 2022607 w 2308583"/>
              <a:gd name="connsiteY3" fmla="*/ 1712117 h 1983044"/>
              <a:gd name="connsiteX4" fmla="*/ 2022607 w 2308583"/>
              <a:gd name="connsiteY4" fmla="*/ 0 h 1983044"/>
              <a:gd name="connsiteX5" fmla="*/ 2308583 w 2308583"/>
              <a:gd name="connsiteY5" fmla="*/ 0 h 19830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308583" h="1983044">
                <a:moveTo>
                  <a:pt x="2308583" y="1983044"/>
                </a:moveTo>
                <a:lnTo>
                  <a:pt x="462" y="1983044"/>
                </a:lnTo>
                <a:cubicBezTo>
                  <a:pt x="-462" y="1889214"/>
                  <a:pt x="923" y="1805015"/>
                  <a:pt x="0" y="1711185"/>
                </a:cubicBezTo>
                <a:lnTo>
                  <a:pt x="2022607" y="1712117"/>
                </a:lnTo>
                <a:lnTo>
                  <a:pt x="2022607" y="0"/>
                </a:lnTo>
                <a:lnTo>
                  <a:pt x="2308583" y="0"/>
                </a:lnTo>
                <a:close/>
              </a:path>
            </a:pathLst>
          </a:custGeom>
          <a:solidFill>
            <a:srgbClr val="FFFFFF">
              <a:alpha val="70000"/>
            </a:srgbClr>
          </a:solidFill>
          <a:ln w="0">
            <a:noFill/>
            <a:prstDash val="solid"/>
            <a:round/>
            <a:headEnd/>
            <a:tailEnd/>
          </a:ln>
        </p:spPr>
      </p:sp>
      <p:sp>
        <p:nvSpPr>
          <p:cNvPr id="50" name="Rectangle 49">
            <a:extLst>
              <a:ext uri="{FF2B5EF4-FFF2-40B4-BE49-F238E27FC236}">
                <a16:creationId xmlns:a16="http://schemas.microsoft.com/office/drawing/2014/main" id="{1D5941F3-0256-4E90-BBBC-5A6EDEB8E0AF}"/>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138004" y="4166755"/>
            <a:ext cx="5607908" cy="2040066"/>
          </a:xfrm>
          <a:prstGeom prst="rect">
            <a:avLst/>
          </a:prstGeom>
          <a:solidFill>
            <a:srgbClr val="000000">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9347C47-EF1D-4B02-906B-219155AD8D0F}"/>
              </a:ext>
            </a:extLst>
          </p:cNvPr>
          <p:cNvSpPr>
            <a:spLocks noGrp="1"/>
          </p:cNvSpPr>
          <p:nvPr>
            <p:ph type="ctrTitle"/>
          </p:nvPr>
        </p:nvSpPr>
        <p:spPr>
          <a:xfrm>
            <a:off x="6298010" y="4333009"/>
            <a:ext cx="5268177" cy="1086237"/>
          </a:xfrm>
        </p:spPr>
        <p:txBody>
          <a:bodyPr>
            <a:normAutofit/>
          </a:bodyPr>
          <a:lstStyle/>
          <a:p>
            <a:pPr algn="l"/>
            <a:r>
              <a:rPr lang="en-US" sz="3600" dirty="0" smtClean="0">
                <a:solidFill>
                  <a:srgbClr val="FFFFFF"/>
                </a:solidFill>
              </a:rPr>
              <a:t>Chapter 2:system simulation</a:t>
            </a:r>
            <a:endParaRPr lang="en-US" sz="3600" dirty="0">
              <a:solidFill>
                <a:srgbClr val="FFFFFF"/>
              </a:solidFill>
            </a:endParaRPr>
          </a:p>
        </p:txBody>
      </p:sp>
      <p:sp>
        <p:nvSpPr>
          <p:cNvPr id="3" name="Subtitle 2">
            <a:extLst>
              <a:ext uri="{FF2B5EF4-FFF2-40B4-BE49-F238E27FC236}">
                <a16:creationId xmlns:a16="http://schemas.microsoft.com/office/drawing/2014/main" id="{36A0527F-C5FD-4E9B-9F21-5D1FBA31314B}"/>
              </a:ext>
            </a:extLst>
          </p:cNvPr>
          <p:cNvSpPr>
            <a:spLocks noGrp="1"/>
          </p:cNvSpPr>
          <p:nvPr>
            <p:ph type="subTitle" idx="1"/>
          </p:nvPr>
        </p:nvSpPr>
        <p:spPr>
          <a:xfrm>
            <a:off x="6298010" y="5419246"/>
            <a:ext cx="5268177" cy="531866"/>
          </a:xfrm>
        </p:spPr>
        <p:txBody>
          <a:bodyPr>
            <a:normAutofit/>
          </a:bodyPr>
          <a:lstStyle/>
          <a:p>
            <a:pPr algn="l">
              <a:spcAft>
                <a:spcPts val="600"/>
              </a:spcAft>
            </a:pPr>
            <a:endParaRPr lang="en-US" sz="1800" dirty="0">
              <a:solidFill>
                <a:srgbClr val="FFFFFF"/>
              </a:solidFill>
            </a:endParaRPr>
          </a:p>
        </p:txBody>
      </p:sp>
    </p:spTree>
    <p:extLst>
      <p:ext uri="{BB962C8B-B14F-4D97-AF65-F5344CB8AC3E}">
        <p14:creationId xmlns:p14="http://schemas.microsoft.com/office/powerpoint/2010/main" val="7455761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solidFill>
                  <a:srgbClr val="FF0000"/>
                </a:solidFill>
              </a:rPr>
              <a:t>System simulation</a:t>
            </a:r>
            <a:endParaRPr lang="en-US" dirty="0">
              <a:solidFill>
                <a:srgbClr val="FF0000"/>
              </a:solidFill>
            </a:endParaRPr>
          </a:p>
        </p:txBody>
      </p:sp>
      <p:sp>
        <p:nvSpPr>
          <p:cNvPr id="5" name="Content Placeholder 4"/>
          <p:cNvSpPr>
            <a:spLocks noGrp="1"/>
          </p:cNvSpPr>
          <p:nvPr>
            <p:ph idx="1"/>
          </p:nvPr>
        </p:nvSpPr>
        <p:spPr>
          <a:xfrm>
            <a:off x="1371600" y="1280160"/>
            <a:ext cx="9601200" cy="4587240"/>
          </a:xfrm>
        </p:spPr>
        <p:txBody>
          <a:bodyPr>
            <a:normAutofit/>
          </a:bodyPr>
          <a:lstStyle/>
          <a:p>
            <a:r>
              <a:rPr lang="en-US" sz="3200" dirty="0"/>
              <a:t>System simulation – the technique of solving problems by the observation of the performance over time, of a dynamic model of the system </a:t>
            </a:r>
            <a:endParaRPr lang="en-US" sz="3200" dirty="0" smtClean="0"/>
          </a:p>
          <a:p>
            <a:r>
              <a:rPr lang="en-US" sz="3200" dirty="0" smtClean="0"/>
              <a:t>Not </a:t>
            </a:r>
            <a:r>
              <a:rPr lang="en-US" sz="3200" dirty="0"/>
              <a:t>only the time constraint, but randomized selection in a step-by-step transition system is also considered as system simulation</a:t>
            </a:r>
          </a:p>
        </p:txBody>
      </p:sp>
    </p:spTree>
    <p:extLst>
      <p:ext uri="{BB962C8B-B14F-4D97-AF65-F5344CB8AC3E}">
        <p14:creationId xmlns:p14="http://schemas.microsoft.com/office/powerpoint/2010/main" val="142783347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87383"/>
            <a:ext cx="9601200" cy="1423851"/>
          </a:xfrm>
        </p:spPr>
        <p:txBody>
          <a:bodyPr>
            <a:normAutofit/>
          </a:bodyPr>
          <a:lstStyle/>
          <a:p>
            <a:r>
              <a:rPr lang="en-US" dirty="0" smtClean="0"/>
              <a:t>2.1 </a:t>
            </a:r>
            <a:r>
              <a:rPr lang="en-US" dirty="0" smtClean="0"/>
              <a:t>The  </a:t>
            </a:r>
            <a:r>
              <a:rPr lang="en-US" dirty="0"/>
              <a:t>Simulation Techniques</a:t>
            </a:r>
            <a:br>
              <a:rPr lang="en-US" dirty="0"/>
            </a:br>
            <a:endParaRPr lang="en-US" dirty="0"/>
          </a:p>
        </p:txBody>
      </p:sp>
      <p:sp>
        <p:nvSpPr>
          <p:cNvPr id="3" name="Content Placeholder 2"/>
          <p:cNvSpPr>
            <a:spLocks noGrp="1"/>
          </p:cNvSpPr>
          <p:nvPr>
            <p:ph idx="1"/>
          </p:nvPr>
        </p:nvSpPr>
        <p:spPr>
          <a:xfrm>
            <a:off x="1371600" y="1384663"/>
            <a:ext cx="9601200" cy="4482737"/>
          </a:xfrm>
        </p:spPr>
        <p:txBody>
          <a:bodyPr/>
          <a:lstStyle/>
          <a:p>
            <a:r>
              <a:rPr lang="en-US" dirty="0"/>
              <a:t>Simulation techniques are methods used to imitate real-world processes or systems over time using computer models to analyze behavior, optimize performance, and support decision-making. </a:t>
            </a:r>
            <a:endParaRPr lang="en-US" dirty="0" smtClean="0"/>
          </a:p>
          <a:p>
            <a:r>
              <a:rPr lang="en-US" dirty="0" smtClean="0"/>
              <a:t>Key </a:t>
            </a:r>
            <a:r>
              <a:rPr lang="en-US" dirty="0"/>
              <a:t>approaches include Discrete-Event (individual events), Continuous (smooth changes), Agent-Based (autonomous actors), and Monte Carlo (stochastic/random sampling) simulations</a:t>
            </a:r>
          </a:p>
        </p:txBody>
      </p:sp>
    </p:spTree>
    <p:extLst>
      <p:ext uri="{BB962C8B-B14F-4D97-AF65-F5344CB8AC3E}">
        <p14:creationId xmlns:p14="http://schemas.microsoft.com/office/powerpoint/2010/main" val="3313734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a:t>
            </a:r>
            <a:r>
              <a:rPr lang="en-US" dirty="0"/>
              <a:t>Simulation Techniques</a:t>
            </a:r>
            <a:br>
              <a:rPr lang="en-US" dirty="0"/>
            </a:br>
            <a:endParaRPr lang="en-US" dirty="0"/>
          </a:p>
        </p:txBody>
      </p:sp>
      <p:sp>
        <p:nvSpPr>
          <p:cNvPr id="3" name="Content Placeholder 2"/>
          <p:cNvSpPr>
            <a:spLocks noGrp="1"/>
          </p:cNvSpPr>
          <p:nvPr>
            <p:ph idx="1"/>
          </p:nvPr>
        </p:nvSpPr>
        <p:spPr>
          <a:xfrm>
            <a:off x="1371600" y="1384663"/>
            <a:ext cx="9601200" cy="5303520"/>
          </a:xfrm>
        </p:spPr>
        <p:txBody>
          <a:bodyPr>
            <a:normAutofit fontScale="92500" lnSpcReduction="20000"/>
          </a:bodyPr>
          <a:lstStyle/>
          <a:p>
            <a:pPr>
              <a:buFont typeface="Arial" panose="020B0604020202020204" pitchFamily="34" charset="0"/>
              <a:buChar char="•"/>
            </a:pPr>
            <a:r>
              <a:rPr lang="en-US" b="1" dirty="0" smtClean="0">
                <a:latin typeface="Arial" panose="020B0604020202020204" pitchFamily="34" charset="0"/>
              </a:rPr>
              <a:t>Discrete-Event </a:t>
            </a:r>
            <a:r>
              <a:rPr lang="en-US" b="1" dirty="0">
                <a:latin typeface="Arial" panose="020B0604020202020204" pitchFamily="34" charset="0"/>
              </a:rPr>
              <a:t>Simulation (DES):</a:t>
            </a:r>
            <a:r>
              <a:rPr lang="en-US" dirty="0">
                <a:latin typeface="Arial" panose="020B0604020202020204" pitchFamily="34" charset="0"/>
              </a:rPr>
              <a:t> Models systems as a series of distinct events over time, such as queuing systems in banks or manufacturing lines.</a:t>
            </a:r>
          </a:p>
          <a:p>
            <a:pPr>
              <a:buFont typeface="Arial" panose="020B0604020202020204" pitchFamily="34" charset="0"/>
              <a:buChar char="•"/>
            </a:pPr>
            <a:r>
              <a:rPr lang="en-US" b="1" dirty="0">
                <a:latin typeface="Arial" panose="020B0604020202020204" pitchFamily="34" charset="0"/>
              </a:rPr>
              <a:t>Continuous Simulation:</a:t>
            </a:r>
            <a:r>
              <a:rPr lang="en-US" dirty="0">
                <a:latin typeface="Arial" panose="020B0604020202020204" pitchFamily="34" charset="0"/>
              </a:rPr>
              <a:t> Used when system states change continuously over time, often described by differential equations (e.g., flight simulators, chemical reactions).</a:t>
            </a:r>
          </a:p>
          <a:p>
            <a:pPr>
              <a:buFont typeface="Arial" panose="020B0604020202020204" pitchFamily="34" charset="0"/>
              <a:buChar char="•"/>
            </a:pPr>
            <a:r>
              <a:rPr lang="en-US" b="1" dirty="0">
                <a:latin typeface="Arial" panose="020B0604020202020204" pitchFamily="34" charset="0"/>
              </a:rPr>
              <a:t>Agent-Based Simulation (ABS):</a:t>
            </a:r>
            <a:r>
              <a:rPr lang="en-US" dirty="0">
                <a:latin typeface="Arial" panose="020B0604020202020204" pitchFamily="34" charset="0"/>
              </a:rPr>
              <a:t> Focuses on modeling autonomous "agents" (individuals) and their interactions with each other and their environment to observe emergent behavior.</a:t>
            </a:r>
          </a:p>
          <a:p>
            <a:pPr>
              <a:buFont typeface="Arial" panose="020B0604020202020204" pitchFamily="34" charset="0"/>
              <a:buChar char="•"/>
            </a:pPr>
            <a:r>
              <a:rPr lang="en-US" b="1" dirty="0">
                <a:latin typeface="Arial" panose="020B0604020202020204" pitchFamily="34" charset="0"/>
              </a:rPr>
              <a:t>Monte Carlo Simulation:</a:t>
            </a:r>
            <a:r>
              <a:rPr lang="en-US" dirty="0">
                <a:latin typeface="Arial" panose="020B0604020202020204" pitchFamily="34" charset="0"/>
              </a:rPr>
              <a:t> Uses random sampling to estimate the probability of different outcomes, commonly used for risk analysis, financial modeling, and complex systems with high uncertainty.</a:t>
            </a:r>
          </a:p>
          <a:p>
            <a:pPr>
              <a:buFont typeface="Arial" panose="020B0604020202020204" pitchFamily="34" charset="0"/>
              <a:buChar char="•"/>
            </a:pPr>
            <a:r>
              <a:rPr lang="en-US" b="1" dirty="0">
                <a:latin typeface="Arial" panose="020B0604020202020204" pitchFamily="34" charset="0"/>
              </a:rPr>
              <a:t>System Dynamics:</a:t>
            </a:r>
            <a:r>
              <a:rPr lang="en-US" dirty="0">
                <a:latin typeface="Arial" panose="020B0604020202020204" pitchFamily="34" charset="0"/>
              </a:rPr>
              <a:t> Focuses on policy analysis and understanding the high-level, aggregate behavior of systems over time, utilizing feedback loops and stock-and-flow structures.</a:t>
            </a:r>
          </a:p>
          <a:p>
            <a:pPr>
              <a:buFont typeface="Arial" panose="020B0604020202020204" pitchFamily="34" charset="0"/>
              <a:buChar char="•"/>
            </a:pPr>
            <a:r>
              <a:rPr lang="en-US" b="1" dirty="0">
                <a:latin typeface="Arial" panose="020B0604020202020204" pitchFamily="34" charset="0"/>
              </a:rPr>
              <a:t>Hybrid Simulation:</a:t>
            </a:r>
            <a:r>
              <a:rPr lang="en-US" dirty="0">
                <a:latin typeface="Arial" panose="020B0604020202020204" pitchFamily="34" charset="0"/>
              </a:rPr>
              <a:t> Combines multiple techniques, such as discrete-event and agent-based, to model complex, multi-layered systems.</a:t>
            </a:r>
          </a:p>
          <a:p>
            <a:pPr>
              <a:buFont typeface="Arial" panose="020B0604020202020204" pitchFamily="34" charset="0"/>
              <a:buChar char="•"/>
            </a:pPr>
            <a:r>
              <a:rPr lang="en-US" b="1" dirty="0">
                <a:latin typeface="Arial" panose="020B0604020202020204" pitchFamily="34" charset="0"/>
              </a:rPr>
              <a:t>Parallel/Distributed Simulation:</a:t>
            </a:r>
            <a:r>
              <a:rPr lang="en-US" dirty="0">
                <a:latin typeface="Arial" panose="020B0604020202020204" pitchFamily="34" charset="0"/>
              </a:rPr>
              <a:t> Distributes a simulation model across multiple computer processors to handle high computational loads and reduce simulation time. </a:t>
            </a:r>
            <a:endParaRPr lang="en-US" dirty="0"/>
          </a:p>
        </p:txBody>
      </p:sp>
    </p:spTree>
    <p:extLst>
      <p:ext uri="{BB962C8B-B14F-4D97-AF65-F5344CB8AC3E}">
        <p14:creationId xmlns:p14="http://schemas.microsoft.com/office/powerpoint/2010/main" val="334428849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2.2 The </a:t>
            </a:r>
            <a:r>
              <a:rPr lang="en-US" dirty="0"/>
              <a:t>Monte Carlo Method</a:t>
            </a:r>
          </a:p>
        </p:txBody>
      </p:sp>
      <p:sp>
        <p:nvSpPr>
          <p:cNvPr id="3" name="Content Placeholder 2"/>
          <p:cNvSpPr>
            <a:spLocks noGrp="1"/>
          </p:cNvSpPr>
          <p:nvPr>
            <p:ph idx="1"/>
          </p:nvPr>
        </p:nvSpPr>
        <p:spPr>
          <a:xfrm>
            <a:off x="1371600" y="2285999"/>
            <a:ext cx="9966960" cy="4153989"/>
          </a:xfrm>
        </p:spPr>
        <p:txBody>
          <a:bodyPr>
            <a:noAutofit/>
          </a:bodyPr>
          <a:lstStyle/>
          <a:p>
            <a:r>
              <a:rPr lang="en-US" sz="2800" dirty="0"/>
              <a:t>Originally used for variable </a:t>
            </a:r>
            <a:r>
              <a:rPr lang="en-US" sz="2800" dirty="0" smtClean="0"/>
              <a:t>reduction</a:t>
            </a:r>
          </a:p>
          <a:p>
            <a:r>
              <a:rPr lang="en-US" sz="2800" dirty="0" smtClean="0"/>
              <a:t> Uses </a:t>
            </a:r>
            <a:r>
              <a:rPr lang="en-US" sz="2800" dirty="0"/>
              <a:t>random numbers as the input sample </a:t>
            </a:r>
          </a:p>
          <a:p>
            <a:r>
              <a:rPr lang="en-US" sz="2800" dirty="0" smtClean="0"/>
              <a:t>Computational </a:t>
            </a:r>
            <a:r>
              <a:rPr lang="en-US" sz="2800" dirty="0"/>
              <a:t>technique applied to static models </a:t>
            </a:r>
          </a:p>
          <a:p>
            <a:r>
              <a:rPr lang="en-US" sz="2800" dirty="0" smtClean="0"/>
              <a:t>Define </a:t>
            </a:r>
            <a:r>
              <a:rPr lang="en-US" sz="2800" dirty="0"/>
              <a:t>a function and select random numbers </a:t>
            </a:r>
            <a:endParaRPr lang="en-US" sz="2800" dirty="0" smtClean="0"/>
          </a:p>
          <a:p>
            <a:r>
              <a:rPr lang="en-US" sz="2800" dirty="0" smtClean="0"/>
              <a:t> </a:t>
            </a:r>
            <a:r>
              <a:rPr lang="en-US" sz="2800" dirty="0"/>
              <a:t>Test the function against the random numbers </a:t>
            </a:r>
            <a:endParaRPr lang="en-US" sz="2800" dirty="0" smtClean="0"/>
          </a:p>
          <a:p>
            <a:r>
              <a:rPr lang="en-US" sz="2800" dirty="0" smtClean="0"/>
              <a:t> </a:t>
            </a:r>
            <a:r>
              <a:rPr lang="en-US" sz="2800" dirty="0"/>
              <a:t>The good accuracy can be achieved by increasing the number of random samples</a:t>
            </a:r>
          </a:p>
        </p:txBody>
      </p:sp>
    </p:spTree>
    <p:extLst>
      <p:ext uri="{BB962C8B-B14F-4D97-AF65-F5344CB8AC3E}">
        <p14:creationId xmlns:p14="http://schemas.microsoft.com/office/powerpoint/2010/main" val="219980668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2.3 Simulation </a:t>
            </a:r>
            <a:r>
              <a:rPr lang="en-US" dirty="0"/>
              <a:t>vs. Analytical methods</a:t>
            </a:r>
          </a:p>
        </p:txBody>
      </p:sp>
      <p:sp>
        <p:nvSpPr>
          <p:cNvPr id="3" name="Content Placeholder 2"/>
          <p:cNvSpPr>
            <a:spLocks noGrp="1"/>
          </p:cNvSpPr>
          <p:nvPr>
            <p:ph idx="1"/>
          </p:nvPr>
        </p:nvSpPr>
        <p:spPr>
          <a:xfrm>
            <a:off x="1371599" y="1449977"/>
            <a:ext cx="10045337" cy="5120639"/>
          </a:xfrm>
        </p:spPr>
        <p:txBody>
          <a:bodyPr>
            <a:noAutofit/>
          </a:bodyPr>
          <a:lstStyle/>
          <a:p>
            <a:r>
              <a:rPr lang="en-US" sz="2400" dirty="0"/>
              <a:t>Simulation gives specific solution for given set of data whereas analytical method gives solution for all of the conditions </a:t>
            </a:r>
            <a:endParaRPr lang="en-US" sz="2400" dirty="0" smtClean="0"/>
          </a:p>
          <a:p>
            <a:r>
              <a:rPr lang="en-US" sz="2400" dirty="0" smtClean="0"/>
              <a:t> </a:t>
            </a:r>
            <a:r>
              <a:rPr lang="en-US" sz="2400" dirty="0"/>
              <a:t>To find the general solution, the simulation needs to be repeated many times </a:t>
            </a:r>
            <a:endParaRPr lang="en-US" sz="2400" dirty="0" smtClean="0"/>
          </a:p>
          <a:p>
            <a:r>
              <a:rPr lang="en-US" sz="2400" dirty="0" smtClean="0"/>
              <a:t> </a:t>
            </a:r>
            <a:r>
              <a:rPr lang="en-US" sz="2400" dirty="0"/>
              <a:t>For analytical study, the system should be modeled by using some specific format - Simulation consists of lots of step by step execution</a:t>
            </a:r>
            <a:r>
              <a:rPr lang="en-US" sz="2400" dirty="0" smtClean="0"/>
              <a:t>.</a:t>
            </a:r>
          </a:p>
          <a:p>
            <a:r>
              <a:rPr lang="en-US" sz="2400" dirty="0" smtClean="0"/>
              <a:t> </a:t>
            </a:r>
            <a:r>
              <a:rPr lang="en-US" sz="2400" dirty="0"/>
              <a:t>If the simulation is run for several times, then there will be increase in detail complexity </a:t>
            </a:r>
            <a:endParaRPr lang="en-US" sz="2400" dirty="0" smtClean="0"/>
          </a:p>
          <a:p>
            <a:r>
              <a:rPr lang="en-US" sz="2400" dirty="0" smtClean="0"/>
              <a:t> </a:t>
            </a:r>
            <a:r>
              <a:rPr lang="en-US" sz="2400" dirty="0"/>
              <a:t>Ideal way for simulation-use extension of mathematical </a:t>
            </a:r>
            <a:r>
              <a:rPr lang="en-US" sz="2400" dirty="0" err="1"/>
              <a:t>soln</a:t>
            </a:r>
            <a:endParaRPr lang="en-US" sz="2400" dirty="0"/>
          </a:p>
        </p:txBody>
      </p:sp>
    </p:spTree>
    <p:extLst>
      <p:ext uri="{BB962C8B-B14F-4D97-AF65-F5344CB8AC3E}">
        <p14:creationId xmlns:p14="http://schemas.microsoft.com/office/powerpoint/2010/main" val="2509878420"/>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2.4 Experimental </a:t>
            </a:r>
            <a:r>
              <a:rPr lang="en-US" dirty="0"/>
              <a:t>Nature of Simulation</a:t>
            </a:r>
          </a:p>
        </p:txBody>
      </p:sp>
      <p:sp>
        <p:nvSpPr>
          <p:cNvPr id="3" name="Content Placeholder 2"/>
          <p:cNvSpPr>
            <a:spLocks noGrp="1"/>
          </p:cNvSpPr>
          <p:nvPr>
            <p:ph idx="1"/>
          </p:nvPr>
        </p:nvSpPr>
        <p:spPr/>
        <p:txBody>
          <a:bodyPr/>
          <a:lstStyle/>
          <a:p>
            <a:r>
              <a:rPr lang="en-US" dirty="0"/>
              <a:t>Simulation: </a:t>
            </a:r>
            <a:r>
              <a:rPr lang="en-US" dirty="0" smtClean="0"/>
              <a:t>observe </a:t>
            </a:r>
            <a:r>
              <a:rPr lang="en-US" dirty="0"/>
              <a:t>the way in which all variables of the model change with time </a:t>
            </a:r>
            <a:r>
              <a:rPr lang="en-US" dirty="0" smtClean="0"/>
              <a:t> </a:t>
            </a:r>
          </a:p>
          <a:p>
            <a:r>
              <a:rPr lang="en-US" dirty="0" smtClean="0"/>
              <a:t>Instead </a:t>
            </a:r>
            <a:r>
              <a:rPr lang="en-US" dirty="0"/>
              <a:t>of using analytical solutions, a system might be tested against lots of input samples and the output is observed </a:t>
            </a:r>
            <a:endParaRPr lang="en-US" dirty="0" smtClean="0"/>
          </a:p>
          <a:p>
            <a:r>
              <a:rPr lang="en-US" dirty="0" smtClean="0"/>
              <a:t> </a:t>
            </a:r>
            <a:r>
              <a:rPr lang="en-US" dirty="0"/>
              <a:t>The relationship between input and output can be discovered </a:t>
            </a:r>
            <a:r>
              <a:rPr lang="en-US" dirty="0" smtClean="0"/>
              <a:t> </a:t>
            </a:r>
            <a:r>
              <a:rPr lang="en-US" dirty="0"/>
              <a:t>Requires lots of simulation runs </a:t>
            </a:r>
            <a:endParaRPr lang="en-US" dirty="0" smtClean="0"/>
          </a:p>
          <a:p>
            <a:r>
              <a:rPr lang="en-US" dirty="0" smtClean="0"/>
              <a:t>Popular </a:t>
            </a:r>
            <a:r>
              <a:rPr lang="en-US" dirty="0"/>
              <a:t>in system study </a:t>
            </a:r>
            <a:endParaRPr lang="en-US" dirty="0" smtClean="0"/>
          </a:p>
          <a:p>
            <a:r>
              <a:rPr lang="en-US" dirty="0" smtClean="0"/>
              <a:t> </a:t>
            </a:r>
            <a:r>
              <a:rPr lang="en-US" dirty="0"/>
              <a:t>Must be planned as a series of experiments</a:t>
            </a:r>
          </a:p>
        </p:txBody>
      </p:sp>
    </p:spTree>
    <p:extLst>
      <p:ext uri="{BB962C8B-B14F-4D97-AF65-F5344CB8AC3E}">
        <p14:creationId xmlns:p14="http://schemas.microsoft.com/office/powerpoint/2010/main" val="38038841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Distributed lag model </a:t>
            </a:r>
            <a:endParaRPr lang="en-US" dirty="0"/>
          </a:p>
        </p:txBody>
      </p:sp>
      <p:sp>
        <p:nvSpPr>
          <p:cNvPr id="3" name="Content Placeholder 2"/>
          <p:cNvSpPr>
            <a:spLocks noGrp="1"/>
          </p:cNvSpPr>
          <p:nvPr>
            <p:ph idx="1"/>
          </p:nvPr>
        </p:nvSpPr>
        <p:spPr/>
        <p:txBody>
          <a:bodyPr>
            <a:normAutofit lnSpcReduction="10000"/>
          </a:bodyPr>
          <a:lstStyle/>
          <a:p>
            <a:r>
              <a:rPr lang="en-US" dirty="0" smtClean="0"/>
              <a:t>If the regression model includes not only the current but also the lagged (past) values of the explanatory variables ( the x’s) is called distributed lag model . If the model includes one or more lagged values of the dep </a:t>
            </a:r>
            <a:r>
              <a:rPr lang="en-US" dirty="0" err="1" smtClean="0"/>
              <a:t>endent</a:t>
            </a:r>
            <a:r>
              <a:rPr lang="en-US" dirty="0" smtClean="0"/>
              <a:t> variables among its explanatory variables , it is called auto regressive model. This is known as dynamic model .</a:t>
            </a:r>
          </a:p>
          <a:p>
            <a:r>
              <a:rPr lang="en-US" dirty="0" smtClean="0"/>
              <a:t>In other words , distributed lag model is defined as a type of model that have property of changing only at fixed interval of time and based on current values of variables on other current values pf variables and values that occurred in previous intervals.</a:t>
            </a:r>
          </a:p>
          <a:p>
            <a:r>
              <a:rPr lang="en-US" dirty="0" smtClean="0"/>
              <a:t>In economics studies , some economic data are collected over uniform time intervals such as month or year . This model consist of linear algebraic equation that represent the but data are </a:t>
            </a:r>
            <a:r>
              <a:rPr lang="en-US" dirty="0" err="1" smtClean="0"/>
              <a:t>avialble</a:t>
            </a:r>
            <a:r>
              <a:rPr lang="en-US" dirty="0" smtClean="0"/>
              <a:t> at fixed point in time.</a:t>
            </a:r>
          </a:p>
          <a:p>
            <a:endParaRPr lang="en-US" dirty="0"/>
          </a:p>
        </p:txBody>
      </p:sp>
    </p:spTree>
    <p:extLst>
      <p:ext uri="{BB962C8B-B14F-4D97-AF65-F5344CB8AC3E}">
        <p14:creationId xmlns:p14="http://schemas.microsoft.com/office/powerpoint/2010/main" val="302791557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For example : model of national economy</a:t>
            </a:r>
            <a:endParaRPr lang="en-US" dirty="0"/>
          </a:p>
        </p:txBody>
      </p:sp>
      <p:sp>
        <p:nvSpPr>
          <p:cNvPr id="3" name="Content Placeholder 2"/>
          <p:cNvSpPr>
            <a:spLocks noGrp="1"/>
          </p:cNvSpPr>
          <p:nvPr>
            <p:ph idx="1"/>
          </p:nvPr>
        </p:nvSpPr>
        <p:spPr/>
        <p:txBody>
          <a:bodyPr>
            <a:normAutofit fontScale="85000" lnSpcReduction="20000"/>
          </a:bodyPr>
          <a:lstStyle/>
          <a:p>
            <a:r>
              <a:rPr lang="en-US" dirty="0"/>
              <a:t>Let</a:t>
            </a:r>
            <a:r>
              <a:rPr lang="en-US" dirty="0" smtClean="0"/>
              <a:t>,</a:t>
            </a:r>
          </a:p>
          <a:p>
            <a:pPr marL="0" indent="0">
              <a:buNone/>
            </a:pPr>
            <a:r>
              <a:rPr lang="en-US" dirty="0" smtClean="0"/>
              <a:t> </a:t>
            </a:r>
            <a:r>
              <a:rPr lang="en-US" dirty="0"/>
              <a:t>C be consumption</a:t>
            </a:r>
            <a:r>
              <a:rPr lang="en-US" dirty="0" smtClean="0"/>
              <a:t>,</a:t>
            </a:r>
          </a:p>
          <a:p>
            <a:pPr marL="0" indent="0">
              <a:buNone/>
            </a:pPr>
            <a:r>
              <a:rPr lang="en-US" dirty="0" smtClean="0"/>
              <a:t> </a:t>
            </a:r>
            <a:r>
              <a:rPr lang="en-US" dirty="0"/>
              <a:t>I be investment, </a:t>
            </a:r>
            <a:endParaRPr lang="en-US" dirty="0" smtClean="0"/>
          </a:p>
          <a:p>
            <a:pPr marL="0" indent="0">
              <a:buNone/>
            </a:pPr>
            <a:r>
              <a:rPr lang="en-US" dirty="0" smtClean="0"/>
              <a:t>T </a:t>
            </a:r>
            <a:r>
              <a:rPr lang="en-US" dirty="0"/>
              <a:t>be taxes</a:t>
            </a:r>
            <a:r>
              <a:rPr lang="en-US" dirty="0" smtClean="0"/>
              <a:t>,</a:t>
            </a:r>
          </a:p>
          <a:p>
            <a:pPr marL="0" indent="0">
              <a:buNone/>
            </a:pPr>
            <a:r>
              <a:rPr lang="en-US" dirty="0" smtClean="0"/>
              <a:t> </a:t>
            </a:r>
            <a:r>
              <a:rPr lang="en-US" dirty="0"/>
              <a:t>G be government expenditure and Y be national income. </a:t>
            </a:r>
            <a:endParaRPr lang="en-US" dirty="0" smtClean="0"/>
          </a:p>
          <a:p>
            <a:pPr marL="0" indent="0">
              <a:buNone/>
            </a:pPr>
            <a:r>
              <a:rPr lang="en-US" dirty="0" smtClean="0"/>
              <a:t>THEN</a:t>
            </a:r>
          </a:p>
          <a:p>
            <a:pPr marL="0" indent="0">
              <a:buNone/>
            </a:pPr>
            <a:r>
              <a:rPr lang="en-US" dirty="0" smtClean="0"/>
              <a:t>C=20+0.7(Y-T)</a:t>
            </a:r>
          </a:p>
          <a:p>
            <a:pPr marL="0" indent="0">
              <a:buNone/>
            </a:pPr>
            <a:r>
              <a:rPr lang="en-US" dirty="0" smtClean="0"/>
              <a:t>I=2+O.1Y</a:t>
            </a:r>
          </a:p>
          <a:p>
            <a:pPr marL="0" indent="0">
              <a:buNone/>
            </a:pPr>
            <a:r>
              <a:rPr lang="en-US" dirty="0" smtClean="0"/>
              <a:t>T=0+0.2Y</a:t>
            </a:r>
          </a:p>
          <a:p>
            <a:pPr marL="0" indent="0">
              <a:buNone/>
            </a:pPr>
            <a:r>
              <a:rPr lang="en-US" dirty="0" smtClean="0"/>
              <a:t>Y=C+I+G</a:t>
            </a:r>
          </a:p>
          <a:p>
            <a:pPr marL="0" indent="0">
              <a:buNone/>
            </a:pPr>
            <a:endParaRPr lang="en-US" dirty="0" smtClean="0"/>
          </a:p>
        </p:txBody>
      </p:sp>
    </p:spTree>
    <p:extLst>
      <p:ext uri="{BB962C8B-B14F-4D97-AF65-F5344CB8AC3E}">
        <p14:creationId xmlns:p14="http://schemas.microsoft.com/office/powerpoint/2010/main" val="20753745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example : model of national economy</a:t>
            </a:r>
          </a:p>
        </p:txBody>
      </p:sp>
      <p:sp>
        <p:nvSpPr>
          <p:cNvPr id="3" name="Content Placeholder 2"/>
          <p:cNvSpPr>
            <a:spLocks noGrp="1"/>
          </p:cNvSpPr>
          <p:nvPr>
            <p:ph idx="1"/>
          </p:nvPr>
        </p:nvSpPr>
        <p:spPr/>
        <p:txBody>
          <a:bodyPr>
            <a:normAutofit fontScale="77500" lnSpcReduction="20000"/>
          </a:bodyPr>
          <a:lstStyle/>
          <a:p>
            <a:pPr marL="0" indent="0">
              <a:buNone/>
            </a:pPr>
            <a:r>
              <a:rPr lang="en-US" dirty="0"/>
              <a:t>All quantities are expressed in billions of rupees. This is a static model, but it can be made dynamic by picking a fixed time interval, say one year, and expressing the current values of the variables in terms of values of the previous year. Any variable that appears in the form of its current value and one or more previous year’s values is called lagged variables. Value of the previous year is denoted by </a:t>
            </a:r>
            <a:r>
              <a:rPr lang="en-US" dirty="0" smtClean="0"/>
              <a:t>the </a:t>
            </a:r>
            <a:r>
              <a:rPr lang="en-US" dirty="0"/>
              <a:t>suffix </a:t>
            </a:r>
            <a:r>
              <a:rPr lang="en-US" dirty="0" smtClean="0"/>
              <a:t>with-1</a:t>
            </a:r>
          </a:p>
          <a:p>
            <a:pPr marL="0" indent="0">
              <a:buNone/>
            </a:pPr>
            <a:r>
              <a:rPr lang="en-US" dirty="0"/>
              <a:t>The static model can be made dynamic by lagging all the variables, as follows</a:t>
            </a:r>
            <a:r>
              <a:rPr lang="en-US" dirty="0" smtClean="0"/>
              <a:t>;</a:t>
            </a:r>
          </a:p>
          <a:p>
            <a:pPr marL="0" indent="0">
              <a:buNone/>
            </a:pPr>
            <a:r>
              <a:rPr lang="en-US" dirty="0"/>
              <a:t>C=20+0.7(Y</a:t>
            </a:r>
            <a:r>
              <a:rPr lang="en-US" baseline="-25000" dirty="0"/>
              <a:t>-1</a:t>
            </a:r>
            <a:r>
              <a:rPr lang="en-US" dirty="0"/>
              <a:t>-T</a:t>
            </a:r>
            <a:r>
              <a:rPr lang="en-US" baseline="-25000" dirty="0"/>
              <a:t>-1</a:t>
            </a:r>
            <a:r>
              <a:rPr lang="en-US" dirty="0"/>
              <a:t>)</a:t>
            </a:r>
          </a:p>
          <a:p>
            <a:pPr marL="0" indent="0">
              <a:buNone/>
            </a:pPr>
            <a:r>
              <a:rPr lang="en-US" dirty="0"/>
              <a:t>I=2+O.1Y</a:t>
            </a:r>
            <a:r>
              <a:rPr lang="en-US" baseline="-25000" dirty="0"/>
              <a:t>-1</a:t>
            </a:r>
            <a:endParaRPr lang="en-US" dirty="0"/>
          </a:p>
          <a:p>
            <a:pPr marL="0" indent="0">
              <a:buNone/>
            </a:pPr>
            <a:r>
              <a:rPr lang="en-US" dirty="0"/>
              <a:t>T=0+0.2Y</a:t>
            </a:r>
            <a:r>
              <a:rPr lang="en-US" baseline="-25000" dirty="0"/>
              <a:t>-1</a:t>
            </a:r>
            <a:endParaRPr lang="en-US" dirty="0"/>
          </a:p>
          <a:p>
            <a:pPr marL="0" indent="0">
              <a:buNone/>
            </a:pPr>
            <a:r>
              <a:rPr lang="en-US" dirty="0" smtClean="0"/>
              <a:t>Y=C</a:t>
            </a:r>
            <a:r>
              <a:rPr lang="en-US" baseline="-25000" dirty="0" smtClean="0"/>
              <a:t>-1</a:t>
            </a:r>
            <a:r>
              <a:rPr lang="en-US" dirty="0" smtClean="0"/>
              <a:t>+I</a:t>
            </a:r>
            <a:r>
              <a:rPr lang="en-US" baseline="-25000" dirty="0" smtClean="0"/>
              <a:t>-1</a:t>
            </a:r>
            <a:r>
              <a:rPr lang="en-US" dirty="0" smtClean="0"/>
              <a:t>+G</a:t>
            </a:r>
            <a:r>
              <a:rPr lang="en-US" baseline="-25000" dirty="0" smtClean="0"/>
              <a:t>-1</a:t>
            </a:r>
          </a:p>
          <a:p>
            <a:pPr marL="0" indent="0">
              <a:buNone/>
            </a:pPr>
            <a:r>
              <a:rPr lang="en-US" dirty="0"/>
              <a:t>In these equations if values for the previous year (with –1 subscript) is known then values for the current event can be computed. Taking these values as the input, values for the next year can also be computed. </a:t>
            </a:r>
          </a:p>
          <a:p>
            <a:pPr marL="0" indent="0">
              <a:buNone/>
            </a:pPr>
            <a:r>
              <a:rPr lang="en-US" dirty="0"/>
              <a:t> </a:t>
            </a:r>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26940560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a:t>
            </a:r>
            <a:endParaRPr lang="en-US" dirty="0"/>
          </a:p>
        </p:txBody>
      </p:sp>
      <p:sp>
        <p:nvSpPr>
          <p:cNvPr id="3" name="Content Placeholder 2"/>
          <p:cNvSpPr>
            <a:spLocks noGrp="1"/>
          </p:cNvSpPr>
          <p:nvPr>
            <p:ph idx="1"/>
          </p:nvPr>
        </p:nvSpPr>
        <p:spPr/>
        <p:txBody>
          <a:bodyPr/>
          <a:lstStyle/>
          <a:p>
            <a:r>
              <a:rPr lang="en-US" dirty="0" smtClean="0"/>
              <a:t>Simple to understand and can be computed by hand , computers are extensively used to run them.</a:t>
            </a:r>
          </a:p>
          <a:p>
            <a:r>
              <a:rPr lang="en-US" dirty="0" smtClean="0"/>
              <a:t>There is no need for a special programming language to organized the simulation task.</a:t>
            </a:r>
          </a:p>
          <a:p>
            <a:pPr marL="0" indent="0">
              <a:buNone/>
            </a:pPr>
            <a:endParaRPr lang="en-US" dirty="0"/>
          </a:p>
        </p:txBody>
      </p:sp>
    </p:spTree>
    <p:extLst>
      <p:ext uri="{BB962C8B-B14F-4D97-AF65-F5344CB8AC3E}">
        <p14:creationId xmlns:p14="http://schemas.microsoft.com/office/powerpoint/2010/main" val="287505673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599" y="0"/>
            <a:ext cx="9601200" cy="1485900"/>
          </a:xfrm>
        </p:spPr>
        <p:txBody>
          <a:bodyPr/>
          <a:lstStyle/>
          <a:p>
            <a:r>
              <a:rPr lang="fr-FR" dirty="0" smtClean="0"/>
              <a:t>2.6 Computation </a:t>
            </a:r>
            <a:r>
              <a:rPr lang="fr-FR" dirty="0"/>
              <a:t>Techniques for </a:t>
            </a:r>
            <a:r>
              <a:rPr lang="fr-FR" dirty="0" err="1"/>
              <a:t>Continuous</a:t>
            </a:r>
            <a:r>
              <a:rPr lang="fr-FR" dirty="0"/>
              <a:t> </a:t>
            </a:r>
            <a:r>
              <a:rPr lang="fr-FR" dirty="0" err="1"/>
              <a:t>Models</a:t>
            </a:r>
            <a:endParaRPr lang="en-US" dirty="0"/>
          </a:p>
        </p:txBody>
      </p:sp>
      <p:sp>
        <p:nvSpPr>
          <p:cNvPr id="5" name="Rectangle 2"/>
          <p:cNvSpPr>
            <a:spLocks noGrp="1" noChangeArrowheads="1"/>
          </p:cNvSpPr>
          <p:nvPr>
            <p:ph idx="1"/>
          </p:nvPr>
        </p:nvSpPr>
        <p:spPr bwMode="auto">
          <a:xfrm>
            <a:off x="1371599" y="1537546"/>
            <a:ext cx="9823269" cy="5078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Analytical Techniques</a:t>
            </a:r>
          </a:p>
          <a:p>
            <a:pPr marL="0" lvl="0" indent="0" eaLnBrk="0" fontAlgn="base" hangingPunct="0">
              <a:lnSpc>
                <a:spcPct val="100000"/>
              </a:lnSpc>
              <a:spcBef>
                <a:spcPct val="0"/>
              </a:spcBef>
              <a:spcAft>
                <a:spcPct val="0"/>
              </a:spcAft>
              <a:buNone/>
            </a:pPr>
            <a:r>
              <a:rPr lang="en-US" sz="1800" dirty="0"/>
              <a:t>Analytical techniques are used to obtain </a:t>
            </a:r>
            <a:r>
              <a:rPr lang="en-US" sz="1800" b="1" dirty="0"/>
              <a:t>exact mathematical solutions</a:t>
            </a:r>
            <a:r>
              <a:rPr lang="en-US" sz="1800" dirty="0"/>
              <a:t> of continuous systems using mathematical methods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Differential equations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Laplace transform </a:t>
            </a:r>
          </a:p>
          <a:p>
            <a:pPr marL="0" lvl="0" indent="0" eaLnBrk="0" fontAlgn="base" hangingPunct="0">
              <a:lnSpc>
                <a:spcPct val="100000"/>
              </a:lnSpc>
              <a:spcBef>
                <a:spcPct val="0"/>
              </a:spcBef>
              <a:spcAft>
                <a:spcPct val="0"/>
              </a:spcAft>
              <a:buFontTx/>
              <a:buChar char="•"/>
            </a:pPr>
            <a:r>
              <a:rPr kumimoji="0" lang="en-US" altLang="en-US" sz="1800" b="1" i="0" u="none" strike="noStrike" cap="none" normalizeH="0" baseline="0" dirty="0" smtClean="0">
                <a:ln>
                  <a:noFill/>
                </a:ln>
                <a:solidFill>
                  <a:schemeClr val="tx1"/>
                </a:solidFill>
                <a:effectLst/>
                <a:latin typeface="Arial" panose="020B0604020202020204" pitchFamily="34" charset="0"/>
              </a:rPr>
              <a:t>Numerical Techniques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r>
              <a:rPr lang="en-US" sz="1800" dirty="0" smtClean="0"/>
              <a:t>Numerical techniques are used to find </a:t>
            </a:r>
            <a:r>
              <a:rPr lang="en-US" sz="1800" b="1" dirty="0" smtClean="0"/>
              <a:t>approximate solutions</a:t>
            </a:r>
            <a:r>
              <a:rPr lang="en-US" sz="1800" dirty="0" smtClean="0"/>
              <a:t> of continuous systems when exact analytical solutions are difficult or impossible</a:t>
            </a:r>
          </a:p>
          <a:p>
            <a:pPr marL="0" lvl="0" indent="0" eaLnBrk="0" fontAlgn="base" hangingPunct="0">
              <a:lnSpc>
                <a:spcPct val="100000"/>
              </a:lnSpc>
              <a:spcBef>
                <a:spcPct val="0"/>
              </a:spcBef>
              <a:spcAft>
                <a:spcPct val="0"/>
              </a:spcAft>
              <a:buFontTx/>
              <a:buChar char="•"/>
            </a:pPr>
            <a:r>
              <a:rPr lang="en-US" altLang="en-US" sz="1800" dirty="0">
                <a:solidFill>
                  <a:schemeClr val="tx1"/>
                </a:solidFill>
                <a:latin typeface="Arial" panose="020B0604020202020204" pitchFamily="34" charset="0"/>
              </a:rPr>
              <a:t>Finite Difference Method (FDM)Finite Element Method (FEM)</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Euler Method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err="1" smtClean="0">
                <a:ln>
                  <a:noFill/>
                </a:ln>
                <a:solidFill>
                  <a:schemeClr val="tx1"/>
                </a:solidFill>
                <a:effectLst/>
                <a:latin typeface="Arial" panose="020B0604020202020204" pitchFamily="34" charset="0"/>
              </a:rPr>
              <a:t>Runge-Kutta</a:t>
            </a:r>
            <a:r>
              <a:rPr kumimoji="0" lang="en-US" altLang="en-US" sz="1800" b="0" i="0" u="none" strike="noStrike" cap="none" normalizeH="0" baseline="0" dirty="0" smtClean="0">
                <a:ln>
                  <a:noFill/>
                </a:ln>
                <a:solidFill>
                  <a:schemeClr val="tx1"/>
                </a:solidFill>
                <a:effectLst/>
                <a:latin typeface="Arial" panose="020B0604020202020204" pitchFamily="34" charset="0"/>
              </a:rPr>
              <a:t> Method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Taylor Series Method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smtClean="0">
                <a:ln>
                  <a:noFill/>
                </a:ln>
                <a:solidFill>
                  <a:schemeClr val="tx1"/>
                </a:solidFill>
                <a:effectLst/>
                <a:latin typeface="Arial" panose="020B0604020202020204" pitchFamily="34" charset="0"/>
              </a:rPr>
              <a:t>Simulation Techniques</a:t>
            </a:r>
            <a:r>
              <a:rPr kumimoji="0" lang="en-US" altLang="en-US" sz="1800" b="0" i="0" u="none" strike="noStrike" cap="none" normalizeH="0" baseline="0" dirty="0" smtClean="0">
                <a:ln>
                  <a:noFill/>
                </a:ln>
                <a:solidFill>
                  <a:schemeClr val="tx1"/>
                </a:solidFill>
                <a:effectLst/>
                <a:latin typeface="Arial" panose="020B0604020202020204" pitchFamily="34" charset="0"/>
              </a:rPr>
              <a:t> </a:t>
            </a:r>
          </a:p>
          <a:p>
            <a:pPr marL="0" lvl="0" indent="0" eaLnBrk="0" fontAlgn="base" hangingPunct="0">
              <a:lnSpc>
                <a:spcPct val="100000"/>
              </a:lnSpc>
              <a:spcBef>
                <a:spcPct val="0"/>
              </a:spcBef>
              <a:spcAft>
                <a:spcPct val="0"/>
              </a:spcAft>
              <a:buNone/>
            </a:pPr>
            <a:r>
              <a:rPr lang="en-US" sz="1800" dirty="0" smtClean="0"/>
              <a:t>Simulation </a:t>
            </a:r>
            <a:r>
              <a:rPr lang="en-US" sz="1800" dirty="0"/>
              <a:t>techniques are used to </a:t>
            </a:r>
            <a:r>
              <a:rPr lang="en-US" sz="1800" b="1" dirty="0"/>
              <a:t>imitate the behavior of real-world continuous systems</a:t>
            </a:r>
            <a:r>
              <a:rPr lang="en-US" sz="1800" dirty="0"/>
              <a:t> using computer models over time</a:t>
            </a: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CSMP (Continuous System Modeling Program)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MATLAB / Simulink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smtClean="0">
                <a:ln>
                  <a:noFill/>
                </a:ln>
                <a:solidFill>
                  <a:schemeClr val="tx1"/>
                </a:solidFill>
                <a:effectLst/>
                <a:latin typeface="Arial" panose="020B0604020202020204" pitchFamily="34" charset="0"/>
              </a:rPr>
              <a:t>Computer-based modeling</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21787973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2.5 Types </a:t>
            </a:r>
            <a:r>
              <a:rPr lang="en-US" dirty="0"/>
              <a:t>of System </a:t>
            </a:r>
            <a:r>
              <a:rPr lang="en-US" dirty="0" smtClean="0"/>
              <a:t>Simulations</a:t>
            </a:r>
            <a:endParaRPr lang="en-US" dirty="0"/>
          </a:p>
        </p:txBody>
      </p:sp>
      <p:pic>
        <p:nvPicPr>
          <p:cNvPr id="4" name="Content Placeholder 3"/>
          <p:cNvPicPr>
            <a:picLocks noGrp="1" noChangeAspect="1"/>
          </p:cNvPicPr>
          <p:nvPr>
            <p:ph idx="1"/>
          </p:nvPr>
        </p:nvPicPr>
        <p:blipFill>
          <a:blip r:embed="rId2"/>
          <a:stretch>
            <a:fillRect/>
          </a:stretch>
        </p:blipFill>
        <p:spPr>
          <a:xfrm>
            <a:off x="1254034" y="1549831"/>
            <a:ext cx="10685417" cy="5308169"/>
          </a:xfrm>
          <a:prstGeom prst="rect">
            <a:avLst/>
          </a:prstGeom>
        </p:spPr>
      </p:pic>
    </p:spTree>
    <p:extLst>
      <p:ext uri="{BB962C8B-B14F-4D97-AF65-F5344CB8AC3E}">
        <p14:creationId xmlns:p14="http://schemas.microsoft.com/office/powerpoint/2010/main" val="30313950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p:cNvSpPr>
            <a:spLocks noGrp="1"/>
          </p:cNvSpPr>
          <p:nvPr>
            <p:ph idx="1"/>
          </p:nvPr>
        </p:nvSpPr>
        <p:spPr>
          <a:xfrm>
            <a:off x="1371600" y="248194"/>
            <a:ext cx="9601200" cy="6244046"/>
          </a:xfrm>
        </p:spPr>
        <p:txBody>
          <a:bodyPr>
            <a:normAutofit fontScale="92500" lnSpcReduction="20000"/>
          </a:bodyPr>
          <a:lstStyle/>
          <a:p>
            <a:r>
              <a:rPr lang="en-US" b="1" dirty="0"/>
              <a:t>Static vs. Dynamic: </a:t>
            </a:r>
            <a:r>
              <a:rPr lang="en-US" dirty="0"/>
              <a:t>Static models represent systems at a specific point in time (no time element), while dynamic models represent systems as they change over </a:t>
            </a:r>
            <a:r>
              <a:rPr lang="en-US" dirty="0" smtClean="0"/>
              <a:t>time. </a:t>
            </a:r>
            <a:r>
              <a:rPr lang="en-US" dirty="0" smtClean="0"/>
              <a:t>Static </a:t>
            </a:r>
            <a:r>
              <a:rPr lang="en-US" dirty="0"/>
              <a:t>models are generally simpler and quicker to construct, suitable for design and decision-making. Dynamic models are more complex, requiring in-depth analysis of transient behavior. Static simulations are ideal for financial modeling or probability analysis, while dynamic simulations are used for operational scenarios, such as manufacturing, traffic flow, or chemical process controls</a:t>
            </a:r>
            <a:endParaRPr lang="en-US" dirty="0" smtClean="0"/>
          </a:p>
          <a:p>
            <a:r>
              <a:rPr lang="en-US" b="1" dirty="0" smtClean="0"/>
              <a:t>Deterministic </a:t>
            </a:r>
            <a:r>
              <a:rPr lang="en-US" b="1" dirty="0"/>
              <a:t>vs. Stochastic: </a:t>
            </a:r>
            <a:r>
              <a:rPr lang="en-US" dirty="0"/>
              <a:t>Deterministic models have no random components, meaning the same input always produces the same output. Stochastic models incorporate random variables and uncertainty</a:t>
            </a:r>
            <a:r>
              <a:rPr lang="en-US" dirty="0" smtClean="0"/>
              <a:t>.</a:t>
            </a:r>
          </a:p>
          <a:p>
            <a:pPr marL="0" indent="0">
              <a:buNone/>
            </a:pPr>
            <a:r>
              <a:rPr lang="en-US" dirty="0"/>
              <a:t>Deterministic simulations are built on fixed mathematical relationships where randomness is entirely excluded. In this model, the output is fully determined by the parameter values and the initial conditions, meaning that if you run the same simulation multiple times with the same inputs, you will always achieve the exact same result. These are ideal for systems governed by strict physical laws or predictable logic where uncertainty is negligible.</a:t>
            </a:r>
          </a:p>
          <a:p>
            <a:pPr marL="0" indent="0">
              <a:buNone/>
            </a:pPr>
            <a:r>
              <a:rPr lang="en-US" dirty="0"/>
              <a:t>Stochastic simulations, on the other hand, incorporate random variables to represent the uncertainty and "noise" of the real world. Because these models use probability distributions rather than fixed values, each run of the simulation can produce a different outcome even if the starting inputs remain unchanged. This approach is essential for modeling complex systems like traffic flow, financial markets, or service queues, where predicting a range of possible outcomes and their likelihood is more valuable than finding a single, rigid answer.</a:t>
            </a:r>
          </a:p>
          <a:p>
            <a:pPr marL="0" indent="0">
              <a:buNone/>
            </a:pPr>
            <a:endParaRPr lang="en-US" dirty="0" smtClean="0"/>
          </a:p>
          <a:p>
            <a:r>
              <a:rPr lang="en-US" b="1" dirty="0" smtClean="0"/>
              <a:t>Physical </a:t>
            </a:r>
            <a:r>
              <a:rPr lang="en-US" b="1" dirty="0"/>
              <a:t>vs. Logical: </a:t>
            </a:r>
            <a:r>
              <a:rPr lang="en-US" dirty="0"/>
              <a:t>Physical models are tangible representations, whereas logical/mathematical models use equations and computer algorithms.</a:t>
            </a:r>
          </a:p>
        </p:txBody>
      </p:sp>
    </p:spTree>
    <p:extLst>
      <p:ext uri="{BB962C8B-B14F-4D97-AF65-F5344CB8AC3E}">
        <p14:creationId xmlns:p14="http://schemas.microsoft.com/office/powerpoint/2010/main" val="3951988957"/>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2.7COBWEB </a:t>
            </a:r>
            <a:r>
              <a:rPr lang="en-US" dirty="0" smtClean="0"/>
              <a:t>MODEL</a:t>
            </a:r>
            <a:endParaRPr lang="en-US" dirty="0"/>
          </a:p>
        </p:txBody>
      </p:sp>
      <p:sp>
        <p:nvSpPr>
          <p:cNvPr id="3" name="Content Placeholder 2"/>
          <p:cNvSpPr>
            <a:spLocks noGrp="1"/>
          </p:cNvSpPr>
          <p:nvPr>
            <p:ph idx="1"/>
          </p:nvPr>
        </p:nvSpPr>
        <p:spPr/>
        <p:txBody>
          <a:bodyPr/>
          <a:lstStyle/>
          <a:p>
            <a:r>
              <a:rPr lang="en-US" dirty="0"/>
              <a:t>The cobweb model or cobweb theory is an economic model that explains why prices may be subjected to periodic fluctuations in certain types of markets. It describes cyclical supply and demand in a market where the amount produced must be chosen before prices are observed</a:t>
            </a:r>
            <a:r>
              <a:rPr lang="en-US" dirty="0" smtClean="0"/>
              <a:t>.</a:t>
            </a:r>
          </a:p>
          <a:p>
            <a:r>
              <a:rPr lang="en-US" dirty="0"/>
              <a:t>Cobweb theory is the idea that price fluctuations can lead to fluctuations in supply which cause a cycle of rising and falling prices.</a:t>
            </a:r>
          </a:p>
          <a:p>
            <a:r>
              <a:rPr lang="en-US" dirty="0"/>
              <a:t>In a simple cobweb model, we assume there is an agricultural market where supply can vary due to variable factors, such as the weather</a:t>
            </a:r>
          </a:p>
          <a:p>
            <a:endParaRPr lang="en-US" dirty="0"/>
          </a:p>
        </p:txBody>
      </p:sp>
    </p:spTree>
    <p:extLst>
      <p:ext uri="{BB962C8B-B14F-4D97-AF65-F5344CB8AC3E}">
        <p14:creationId xmlns:p14="http://schemas.microsoft.com/office/powerpoint/2010/main" val="362324694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Assumptions of Cobweb theory</a:t>
            </a:r>
            <a:br>
              <a:rPr lang="en-US" b="1" dirty="0"/>
            </a:br>
            <a:endParaRPr lang="en-US" dirty="0"/>
          </a:p>
        </p:txBody>
      </p:sp>
      <p:sp>
        <p:nvSpPr>
          <p:cNvPr id="3" name="Content Placeholder 2"/>
          <p:cNvSpPr>
            <a:spLocks noGrp="1"/>
          </p:cNvSpPr>
          <p:nvPr>
            <p:ph idx="1"/>
          </p:nvPr>
        </p:nvSpPr>
        <p:spPr/>
        <p:txBody>
          <a:bodyPr>
            <a:normAutofit/>
          </a:bodyPr>
          <a:lstStyle/>
          <a:p>
            <a:r>
              <a:rPr lang="en-US" dirty="0"/>
              <a:t>In an agricultural market, farmers have to decide how much to produce a year in advance </a:t>
            </a:r>
            <a:r>
              <a:rPr lang="en-US" dirty="0" smtClean="0"/>
              <a:t> </a:t>
            </a:r>
            <a:r>
              <a:rPr lang="en-US" dirty="0"/>
              <a:t>before they know what the market price will be. (supply is price inelastic in short-term)</a:t>
            </a:r>
          </a:p>
          <a:p>
            <a:r>
              <a:rPr lang="en-US" dirty="0"/>
              <a:t>A key determinant of supply will be the price from the previous year.</a:t>
            </a:r>
          </a:p>
          <a:p>
            <a:r>
              <a:rPr lang="en-US" dirty="0"/>
              <a:t>A low price will mean some farmers go out of business. Also, a low price will discourage farmers from growing that crop in the next year.</a:t>
            </a:r>
          </a:p>
          <a:p>
            <a:r>
              <a:rPr lang="en-US" dirty="0"/>
              <a:t>Demand for agricultural goods is usually price inelastic (a fall in price only causes a smaller % increase in demand)</a:t>
            </a:r>
          </a:p>
          <a:p>
            <a:r>
              <a:rPr lang="en-US" dirty="0">
                <a:hlinkClick r:id="rId2"/>
              </a:rPr>
              <a:t/>
            </a:r>
            <a:br>
              <a:rPr lang="en-US" dirty="0">
                <a:hlinkClick r:id="rId2"/>
              </a:rPr>
            </a:br>
            <a:endParaRPr lang="en-US" dirty="0"/>
          </a:p>
        </p:txBody>
      </p:sp>
    </p:spTree>
    <p:extLst>
      <p:ext uri="{BB962C8B-B14F-4D97-AF65-F5344CB8AC3E}">
        <p14:creationId xmlns:p14="http://schemas.microsoft.com/office/powerpoint/2010/main" val="46709300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www.economicshelp.org/wp-content/uploads/2017/12/cobweb-theory-stable-price-fluctuatio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5920" y="243866"/>
            <a:ext cx="9418319" cy="65392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4716565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738051"/>
          </a:xfrm>
        </p:spPr>
        <p:txBody>
          <a:bodyPr>
            <a:normAutofit fontScale="90000"/>
          </a:bodyPr>
          <a:lstStyle/>
          <a:p>
            <a:r>
              <a:rPr lang="en-US" b="1" dirty="0"/>
              <a:t>Cobweb theory and price divergence</a:t>
            </a:r>
            <a:br>
              <a:rPr lang="en-US" b="1" dirty="0"/>
            </a:br>
            <a:endParaRPr lang="en-US" dirty="0"/>
          </a:p>
        </p:txBody>
      </p:sp>
      <p:sp>
        <p:nvSpPr>
          <p:cNvPr id="4" name="Content Placeholder 3"/>
          <p:cNvSpPr>
            <a:spLocks noGrp="1"/>
          </p:cNvSpPr>
          <p:nvPr>
            <p:ph idx="1"/>
          </p:nvPr>
        </p:nvSpPr>
        <p:spPr>
          <a:xfrm>
            <a:off x="1398652" y="1423851"/>
            <a:ext cx="10593977" cy="4605972"/>
          </a:xfrm>
        </p:spPr>
        <p:txBody>
          <a:bodyPr/>
          <a:lstStyle/>
          <a:p>
            <a:r>
              <a:rPr lang="en-US" dirty="0"/>
              <a:t>Price will diverge from the equilibrium when the supply curve is more elastic than the demand curve, (at the equilibrium point)</a:t>
            </a:r>
          </a:p>
          <a:p>
            <a:r>
              <a:rPr lang="en-US" dirty="0"/>
              <a:t>if the slope of the supply curve is less than the demand curve, then the price changes could become magnified and the market more unstable.</a:t>
            </a:r>
          </a:p>
          <a:p>
            <a:endParaRPr lang="en-US" dirty="0"/>
          </a:p>
        </p:txBody>
      </p:sp>
      <p:sp>
        <p:nvSpPr>
          <p:cNvPr id="6" name="Content Placeholder 2"/>
          <p:cNvSpPr txBox="1">
            <a:spLocks/>
          </p:cNvSpPr>
          <p:nvPr/>
        </p:nvSpPr>
        <p:spPr>
          <a:xfrm>
            <a:off x="1569397" y="1606732"/>
            <a:ext cx="10396179" cy="5711098"/>
          </a:xfrm>
          <a:prstGeom prst="rect">
            <a:avLst/>
          </a:prstGeom>
        </p:spPr>
        <p:txBody>
          <a:bodyPr vert="horz" lIns="91440" tIns="45720" rIns="91440" bIns="45720" rtlCol="0">
            <a:normAutofit/>
          </a:bodyPr>
          <a:lst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a:lstStyle>
          <a:p>
            <a:endParaRPr lang="en-US" dirty="0"/>
          </a:p>
        </p:txBody>
      </p:sp>
      <p:pic>
        <p:nvPicPr>
          <p:cNvPr id="7" name="Picture 2" descr="https://www.economicshelp.org/wp-content/uploads/2017/12/cobweb-increasing-volatility-price.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4925" y="2970362"/>
            <a:ext cx="8373292" cy="3834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140530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816429"/>
          </a:xfrm>
        </p:spPr>
        <p:txBody>
          <a:bodyPr>
            <a:normAutofit fontScale="90000"/>
          </a:bodyPr>
          <a:lstStyle/>
          <a:p>
            <a:r>
              <a:rPr lang="en-US" b="1" dirty="0"/>
              <a:t>Cobweb theory and price convergence</a:t>
            </a:r>
            <a:br>
              <a:rPr lang="en-US" b="1" dirty="0"/>
            </a:br>
            <a:endParaRPr lang="en-US" dirty="0"/>
          </a:p>
        </p:txBody>
      </p:sp>
      <p:sp>
        <p:nvSpPr>
          <p:cNvPr id="3" name="Content Placeholder 2"/>
          <p:cNvSpPr>
            <a:spLocks noGrp="1"/>
          </p:cNvSpPr>
          <p:nvPr>
            <p:ph idx="1"/>
          </p:nvPr>
        </p:nvSpPr>
        <p:spPr>
          <a:xfrm>
            <a:off x="1136469" y="1685109"/>
            <a:ext cx="9836331" cy="4049485"/>
          </a:xfrm>
        </p:spPr>
        <p:txBody>
          <a:bodyPr>
            <a:normAutofit/>
          </a:bodyPr>
          <a:lstStyle/>
          <a:p>
            <a:r>
              <a:rPr lang="en-US" dirty="0"/>
              <a:t>At the equilibrium point, if the demand curve is more elastic than the supply curve, we get the price volatility falling, and the price will converge on the </a:t>
            </a:r>
            <a:r>
              <a:rPr lang="en-US" dirty="0" smtClean="0"/>
              <a:t>equilibrium</a:t>
            </a:r>
          </a:p>
          <a:p>
            <a:endParaRPr lang="en-US" dirty="0" smtClean="0"/>
          </a:p>
          <a:p>
            <a:endParaRPr lang="en-US" dirty="0"/>
          </a:p>
        </p:txBody>
      </p:sp>
      <p:pic>
        <p:nvPicPr>
          <p:cNvPr id="5" name="Picture 2" descr="https://www.economicshelp.org/wp-content/uploads/2017/12/cobweb-theory-decreasing-volatility.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6469" y="2405401"/>
            <a:ext cx="9836331" cy="423053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58855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Limitations of Cobweb theory</a:t>
            </a:r>
            <a:br>
              <a:rPr lang="en-US" b="1" dirty="0"/>
            </a:br>
            <a:endParaRPr lang="en-US" dirty="0"/>
          </a:p>
        </p:txBody>
      </p:sp>
      <p:sp>
        <p:nvSpPr>
          <p:cNvPr id="3" name="Content Placeholder 2"/>
          <p:cNvSpPr>
            <a:spLocks noGrp="1"/>
          </p:cNvSpPr>
          <p:nvPr>
            <p:ph idx="1"/>
          </p:nvPr>
        </p:nvSpPr>
        <p:spPr/>
        <p:txBody>
          <a:bodyPr>
            <a:normAutofit fontScale="85000" lnSpcReduction="20000"/>
          </a:bodyPr>
          <a:lstStyle/>
          <a:p>
            <a:r>
              <a:rPr lang="en-US" b="1" dirty="0"/>
              <a:t>Rational expectations</a:t>
            </a:r>
            <a:r>
              <a:rPr lang="en-US" dirty="0"/>
              <a:t>. The model assumes farmers base next years supply purely on the previous price and assume that next year’s price will be the same as last year (adaptive expectations). However, that rarely applies in the real world. Farmers are more likely to see it as a ‘good’ year or ‘bad year and learn from price volatility.</a:t>
            </a:r>
          </a:p>
          <a:p>
            <a:r>
              <a:rPr lang="en-US" b="1" dirty="0"/>
              <a:t>Price divergence is unrealistic and not empirically seen</a:t>
            </a:r>
            <a:r>
              <a:rPr lang="en-US" dirty="0"/>
              <a:t>. The idea that farmers only base supply on last year’s price means, in theory, prices could increasingly diverge, but farmers would learn from this and pre-empt changes in price.</a:t>
            </a:r>
          </a:p>
          <a:p>
            <a:r>
              <a:rPr lang="en-US" b="1" dirty="0"/>
              <a:t>It may not be easy or desirable to switch</a:t>
            </a:r>
            <a:r>
              <a:rPr lang="en-US" dirty="0"/>
              <a:t> </a:t>
            </a:r>
            <a:r>
              <a:rPr lang="en-US" b="1" dirty="0"/>
              <a:t>supply</a:t>
            </a:r>
            <a:r>
              <a:rPr lang="en-US" dirty="0"/>
              <a:t>. A potato grower may concentrate on potatoes because that is his </a:t>
            </a:r>
            <a:r>
              <a:rPr lang="en-US" dirty="0" err="1"/>
              <a:t>speciality</a:t>
            </a:r>
            <a:r>
              <a:rPr lang="en-US" dirty="0"/>
              <a:t>. It is not easy to give up potatoes and take to </a:t>
            </a:r>
            <a:r>
              <a:rPr lang="en-US" dirty="0" err="1"/>
              <a:t>aubergines</a:t>
            </a:r>
            <a:r>
              <a:rPr lang="en-US" dirty="0"/>
              <a:t>.</a:t>
            </a:r>
          </a:p>
          <a:p>
            <a:r>
              <a:rPr lang="en-US" b="1" dirty="0"/>
              <a:t>Other factors affecting price</a:t>
            </a:r>
            <a:r>
              <a:rPr lang="en-US" dirty="0"/>
              <a:t>. There are many other factors affecting price than a farmers decision to supply. In global markets, supply fluctuations will be minimized by the role of importing from abroad. Also, demand may vary. Also, supply can vary due to weather factors.</a:t>
            </a:r>
          </a:p>
          <a:p>
            <a:r>
              <a:rPr lang="en-US" b="1" dirty="0"/>
              <a:t>Buffer stock schemes</a:t>
            </a:r>
            <a:r>
              <a:rPr lang="en-US" dirty="0"/>
              <a:t>. Governments or producers could band together to limit price volatility by buying surplus</a:t>
            </a:r>
          </a:p>
          <a:p>
            <a:endParaRPr lang="en-US" dirty="0"/>
          </a:p>
        </p:txBody>
      </p:sp>
    </p:spTree>
    <p:extLst>
      <p:ext uri="{BB962C8B-B14F-4D97-AF65-F5344CB8AC3E}">
        <p14:creationId xmlns:p14="http://schemas.microsoft.com/office/powerpoint/2010/main" val="281417218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6232" y="235131"/>
            <a:ext cx="10058400" cy="6355651"/>
          </a:xfrm>
          <a:prstGeom prst="rect">
            <a:avLst/>
          </a:prstGeom>
        </p:spPr>
      </p:pic>
    </p:spTree>
    <p:extLst>
      <p:ext uri="{BB962C8B-B14F-4D97-AF65-F5344CB8AC3E}">
        <p14:creationId xmlns:p14="http://schemas.microsoft.com/office/powerpoint/2010/main" val="239809209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9605" y="496389"/>
            <a:ext cx="10058400" cy="5846444"/>
          </a:xfrm>
          <a:prstGeom prst="rect">
            <a:avLst/>
          </a:prstGeom>
        </p:spPr>
      </p:pic>
    </p:spTree>
    <p:extLst>
      <p:ext uri="{BB962C8B-B14F-4D97-AF65-F5344CB8AC3E}">
        <p14:creationId xmlns:p14="http://schemas.microsoft.com/office/powerpoint/2010/main" val="150570901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8602" y="235131"/>
            <a:ext cx="10058400" cy="6255067"/>
          </a:xfrm>
          <a:prstGeom prst="rect">
            <a:avLst/>
          </a:prstGeom>
        </p:spPr>
      </p:pic>
    </p:spTree>
    <p:extLst>
      <p:ext uri="{BB962C8B-B14F-4D97-AF65-F5344CB8AC3E}">
        <p14:creationId xmlns:p14="http://schemas.microsoft.com/office/powerpoint/2010/main" val="761597822"/>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34517" y="365760"/>
            <a:ext cx="10058400" cy="5865304"/>
          </a:xfrm>
          <a:prstGeom prst="rect">
            <a:avLst/>
          </a:prstGeom>
        </p:spPr>
      </p:pic>
    </p:spTree>
    <p:extLst>
      <p:ext uri="{BB962C8B-B14F-4D97-AF65-F5344CB8AC3E}">
        <p14:creationId xmlns:p14="http://schemas.microsoft.com/office/powerpoint/2010/main" val="225265921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4188" y="182880"/>
            <a:ext cx="10058400" cy="6380797"/>
          </a:xfrm>
          <a:prstGeom prst="rect">
            <a:avLst/>
          </a:prstGeom>
        </p:spPr>
      </p:pic>
    </p:spTree>
    <p:extLst>
      <p:ext uri="{BB962C8B-B14F-4D97-AF65-F5344CB8AC3E}">
        <p14:creationId xmlns:p14="http://schemas.microsoft.com/office/powerpoint/2010/main" val="294343417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9809" y="274320"/>
            <a:ext cx="10058400" cy="6248781"/>
          </a:xfrm>
          <a:prstGeom prst="rect">
            <a:avLst/>
          </a:prstGeom>
        </p:spPr>
      </p:pic>
    </p:spTree>
    <p:extLst>
      <p:ext uri="{BB962C8B-B14F-4D97-AF65-F5344CB8AC3E}">
        <p14:creationId xmlns:p14="http://schemas.microsoft.com/office/powerpoint/2010/main" val="41875140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8411" y="287383"/>
            <a:ext cx="10058400" cy="6204775"/>
          </a:xfrm>
          <a:prstGeom prst="rect">
            <a:avLst/>
          </a:prstGeom>
        </p:spPr>
      </p:pic>
    </p:spTree>
    <p:extLst>
      <p:ext uri="{BB962C8B-B14F-4D97-AF65-F5344CB8AC3E}">
        <p14:creationId xmlns:p14="http://schemas.microsoft.com/office/powerpoint/2010/main" val="3938269234"/>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3020102020204"/>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1" ma:contentTypeDescription="Create a new document." ma:contentTypeScope="" ma:versionID="9677210f24a1be23c92c90fd886aa0aa">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60e05723c5c1908df1a1a4ebf11d344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MediaServiceKeyPoints xmlns="71af3243-3dd4-4a8d-8c0d-dd76da1f02a5" xsi:nil="true"/>
  </documentManagement>
</p:properties>
</file>

<file path=customXml/itemProps1.xml><?xml version="1.0" encoding="utf-8"?>
<ds:datastoreItem xmlns:ds="http://schemas.openxmlformats.org/officeDocument/2006/customXml" ds:itemID="{8C45FB24-BEC6-4D44-888B-84AEBBA2DC09}">
  <ds:schemaRefs>
    <ds:schemaRef ds:uri="http://schemas.microsoft.com/sharepoint/v3/contenttype/forms"/>
  </ds:schemaRefs>
</ds:datastoreItem>
</file>

<file path=customXml/itemProps2.xml><?xml version="1.0" encoding="utf-8"?>
<ds:datastoreItem xmlns:ds="http://schemas.openxmlformats.org/officeDocument/2006/customXml" ds:itemID="{07ECF6D8-9EA4-45A1-AFEB-B7C326AF085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FD9A38F-9A2C-42E5-9013-4C4B1FFCB4F6}">
  <ds:schemaRefs>
    <ds:schemaRef ds:uri="http://schemas.microsoft.com/office/2006/metadata/properties"/>
    <ds:schemaRef ds:uri="http://schemas.microsoft.com/office/infopath/2007/PartnerControls"/>
    <ds:schemaRef ds:uri="71af3243-3dd4-4a8d-8c0d-dd76da1f02a5"/>
  </ds:schemaRefs>
</ds:datastoreItem>
</file>

<file path=docProps/app.xml><?xml version="1.0" encoding="utf-8"?>
<Properties xmlns="http://schemas.openxmlformats.org/officeDocument/2006/extended-properties" xmlns:vt="http://schemas.openxmlformats.org/officeDocument/2006/docPropsVTypes">
  <Template>Crop design</Template>
  <TotalTime>0</TotalTime>
  <Words>1620</Words>
  <Application>Microsoft Office PowerPoint</Application>
  <PresentationFormat>Widescreen</PresentationFormat>
  <Paragraphs>104</Paragraphs>
  <Slides>27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Franklin Gothic Book</vt:lpstr>
      <vt:lpstr>Crop</vt:lpstr>
      <vt:lpstr>Chapter 2:system simulation</vt:lpstr>
      <vt:lpstr>System simulation</vt:lpstr>
      <vt:lpstr>2.1 The  Simulation Techniques </vt:lpstr>
      <vt:lpstr>The  Simulation Techniques </vt:lpstr>
      <vt:lpstr>2.2 The Monte Carlo Method</vt:lpstr>
      <vt:lpstr>2.3 Simulation vs. Analytical methods</vt:lpstr>
      <vt:lpstr>2.4 Experimental Nature of Simulation</vt:lpstr>
      <vt:lpstr>Distributed lag model </vt:lpstr>
      <vt:lpstr>For example : model of national economy</vt:lpstr>
      <vt:lpstr>For example : model of national economy</vt:lpstr>
      <vt:lpstr>ADVANTAGES</vt:lpstr>
      <vt:lpstr>2.6 Computation Techniques for Continuous Models</vt:lpstr>
      <vt:lpstr>2.5 Types of System Simulations</vt:lpstr>
      <vt:lpstr>PowerPoint Presentation</vt:lpstr>
      <vt:lpstr>2.7COBWEB MODEL</vt:lpstr>
      <vt:lpstr>Assumptions of Cobweb theory </vt:lpstr>
      <vt:lpstr>PowerPoint Presentation</vt:lpstr>
      <vt:lpstr>Cobweb theory and price divergence </vt:lpstr>
      <vt:lpstr>Cobweb theory and price convergence </vt:lpstr>
      <vt:lpstr>Limitations of Cobweb theory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2023-11-25T04:39:10Z</dcterms:created>
  <dcterms:modified xsi:type="dcterms:W3CDTF">2026-05-11T15:43:57Z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