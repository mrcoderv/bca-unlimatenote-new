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5" r:id="rId2"/>
  </p:sldMasterIdLst>
  <p:sldIdLst>
    <p:sldId id="256" r:id="rId3"/>
    <p:sldId id="257" r:id="rId4"/>
    <p:sldId id="258" r:id="rId5"/>
    <p:sldId id="259" r:id="rId6"/>
    <p:sldId id="260" r:id="rId7"/>
    <p:sldId id="261" r:id="rId8"/>
    <p:sldId id="270" r:id="rId9"/>
    <p:sldId id="262" r:id="rId10"/>
    <p:sldId id="263" r:id="rId11"/>
    <p:sldId id="268" r:id="rId12"/>
    <p:sldId id="264" r:id="rId13"/>
    <p:sldId id="271" r:id="rId14"/>
    <p:sldId id="272" r:id="rId15"/>
    <p:sldId id="273" r:id="rId16"/>
    <p:sldId id="278" r:id="rId17"/>
    <p:sldId id="279" r:id="rId18"/>
    <p:sldId id="280" r:id="rId19"/>
    <p:sldId id="281" r:id="rId20"/>
    <p:sldId id="282" r:id="rId21"/>
    <p:sldId id="265" r:id="rId22"/>
    <p:sldId id="266" r:id="rId23"/>
    <p:sldId id="267" r:id="rId24"/>
    <p:sldId id="283" r:id="rId25"/>
    <p:sldId id="274" r:id="rId26"/>
    <p:sldId id="275" r:id="rId27"/>
    <p:sldId id="276" r:id="rId28"/>
    <p:sldId id="277" r:id="rId29"/>
    <p:sldId id="284" r:id="rId30"/>
    <p:sldId id="285" r:id="rId31"/>
    <p:sldId id="286" r:id="rId32"/>
    <p:sldId id="28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43A52079-6997-47B8-B262-4ED5D2EA2D74}" type="datetime1">
              <a:rPr kumimoji="0" lang="en-US" sz="1200" b="0" i="0" u="none" strike="noStrike" kern="1200" cap="none" spc="0" normalizeH="0" baseline="0" noProof="0" smtClean="0">
                <a:ln>
                  <a:noFill/>
                </a:ln>
                <a:solidFill>
                  <a:srgbClr val="191B0E"/>
                </a:solidFill>
                <a:effectLst/>
                <a:uLnTx/>
                <a:uFillTx/>
                <a:latin typeface="Franklin Gothic Book" panose="020B05030201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6/16/2026</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69E57DC2-970A-4B3E-BB1C-7A09969E49DF}" type="slidenum">
              <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3561340556"/>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E7B41ED8-AC2E-4560-8CC9-E6292DDF25B6}" type="datetime1">
              <a:rPr kumimoji="0" lang="en-US" sz="1200" b="0" i="0" u="none" strike="noStrike" kern="1200" cap="none" spc="0" normalizeH="0" baseline="0" noProof="0" smtClean="0">
                <a:ln>
                  <a:noFill/>
                </a:ln>
                <a:solidFill>
                  <a:srgbClr val="191B0E"/>
                </a:solidFill>
                <a:effectLst/>
                <a:uLnTx/>
                <a:uFillTx/>
                <a:latin typeface="Franklin Gothic Book" panose="020B05030201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6/16/2026</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E57DC2-970A-4B3E-BB1C-7A09969E49DF}" type="slidenum">
              <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30377922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85238998-10EA-455D-8FDC-3EBC7E198582}" type="datetime1">
              <a:rPr kumimoji="0" lang="en-US" sz="1200" b="0" i="0" u="none" strike="noStrike" kern="1200" cap="none" spc="0" normalizeH="0" baseline="0" noProof="0" smtClean="0">
                <a:ln>
                  <a:noFill/>
                </a:ln>
                <a:solidFill>
                  <a:srgbClr val="EFEDE3"/>
                </a:solidFill>
                <a:effectLst/>
                <a:uLnTx/>
                <a:uFillTx/>
                <a:latin typeface="Franklin Gothic Book" panose="020B05030201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6/16/2026</a:t>
            </a:fld>
            <a:endParaRPr kumimoji="0" lang="en-US" sz="1200" b="0" i="0" u="none" strike="noStrike" kern="1200" cap="none" spc="0" normalizeH="0" baseline="0" noProof="0" dirty="0">
              <a:ln>
                <a:noFill/>
              </a:ln>
              <a:solidFill>
                <a:srgbClr val="EFEDE3"/>
              </a:solidFill>
              <a:effectLst/>
              <a:uLnTx/>
              <a:uFillTx/>
              <a:latin typeface="Franklin Gothic Book" panose="020B0503020102020204"/>
              <a:ea typeface="+mn-ea"/>
              <a:cs typeface="+mn-cs"/>
            </a:endParaRP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EFEDE3"/>
              </a:solidFill>
              <a:effectLst/>
              <a:uLnTx/>
              <a:uFillTx/>
              <a:latin typeface="Franklin Gothic Book" panose="020B0503020102020204"/>
              <a:ea typeface="+mn-ea"/>
              <a:cs typeface="+mn-cs"/>
            </a:endParaRP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69E57DC2-970A-4B3E-BB1C-7A09969E49DF}" type="slidenum">
              <a:rPr kumimoji="0" lang="en-US" sz="1200" b="0" i="0" u="none" strike="noStrike" kern="1200" cap="none" spc="0" normalizeH="0" baseline="0" noProof="0" dirty="0">
                <a:ln>
                  <a:noFill/>
                </a:ln>
                <a:solidFill>
                  <a:srgbClr val="EFEDE3"/>
                </a:solidFill>
                <a:effectLst/>
                <a:uLnTx/>
                <a:uFillTx/>
                <a:latin typeface="Franklin Gothic Book" panose="020B05030201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EFEDE3"/>
              </a:solidFill>
              <a:effectLst/>
              <a:uLnTx/>
              <a:uFillTx/>
              <a:latin typeface="Franklin Gothic Book" panose="020B0503020102020204"/>
              <a:ea typeface="+mn-ea"/>
              <a:cs typeface="+mn-cs"/>
            </a:endParaRPr>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722985424"/>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5A4E9B6-2EC2-45E6-A437-DCC674AAC4AF}" type="datetime1">
              <a:rPr kumimoji="0" lang="en-US" sz="1200" b="0" i="0" u="none" strike="noStrike" kern="1200" cap="none" spc="0" normalizeH="0" baseline="0" noProof="0" smtClean="0">
                <a:ln>
                  <a:noFill/>
                </a:ln>
                <a:solidFill>
                  <a:srgbClr val="191B0E"/>
                </a:solidFill>
                <a:effectLst/>
                <a:uLnTx/>
                <a:uFillTx/>
                <a:latin typeface="Franklin Gothic Book" panose="020B05030201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6/16/2026</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E57DC2-970A-4B3E-BB1C-7A09969E49DF}" type="slidenum">
              <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31506601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BF2D4FF3-940D-4DDE-86D8-82D5A8663636}" type="datetime1">
              <a:rPr kumimoji="0" lang="en-US" sz="1200" b="0" i="0" u="none" strike="noStrike" kern="1200" cap="none" spc="0" normalizeH="0" baseline="0" noProof="0" smtClean="0">
                <a:ln>
                  <a:noFill/>
                </a:ln>
                <a:solidFill>
                  <a:srgbClr val="191B0E"/>
                </a:solidFill>
                <a:effectLst/>
                <a:uLnTx/>
                <a:uFillTx/>
                <a:latin typeface="Franklin Gothic Book" panose="020B05030201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6/16/2026</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8" name="Footer Placeholder 7"/>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E57DC2-970A-4B3E-BB1C-7A09969E49DF}" type="slidenum">
              <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20481178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4955261-7117-41BB-BB79-8C1909625493}" type="datetime1">
              <a:rPr kumimoji="0" lang="en-US" sz="1200" b="0" i="0" u="none" strike="noStrike" kern="1200" cap="none" spc="0" normalizeH="0" baseline="0" noProof="0" smtClean="0">
                <a:ln>
                  <a:noFill/>
                </a:ln>
                <a:solidFill>
                  <a:srgbClr val="191B0E"/>
                </a:solidFill>
                <a:effectLst/>
                <a:uLnTx/>
                <a:uFillTx/>
                <a:latin typeface="Franklin Gothic Book" panose="020B05030201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6/16/2026</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E57DC2-970A-4B3E-BB1C-7A09969E49DF}" type="slidenum">
              <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33062215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11E204D7-DE7F-414C-8571-0012DE9EFCDB}" type="datetime1">
              <a:rPr kumimoji="0" lang="en-US" sz="1200" b="0" i="0" u="none" strike="noStrike" kern="1200" cap="none" spc="0" normalizeH="0" baseline="0" noProof="0" smtClean="0">
                <a:ln>
                  <a:noFill/>
                </a:ln>
                <a:solidFill>
                  <a:srgbClr val="191B0E"/>
                </a:solidFill>
                <a:effectLst/>
                <a:uLnTx/>
                <a:uFillTx/>
                <a:latin typeface="Franklin Gothic Book" panose="020B05030201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6/16/2026</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3" name="Footer Placeholder 2"/>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E57DC2-970A-4B3E-BB1C-7A09969E49DF}" type="slidenum">
              <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12679633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BE378FF3-85EA-48E5-8D8C-1DB156807E49}" type="datetime1">
              <a:rPr kumimoji="0" lang="en-US" sz="1200" b="0" i="0" u="none" strike="noStrike" kern="1200" cap="none" spc="0" normalizeH="0" baseline="0" noProof="0" smtClean="0">
                <a:ln>
                  <a:noFill/>
                </a:ln>
                <a:solidFill>
                  <a:srgbClr val="191B0E"/>
                </a:solidFill>
                <a:effectLst/>
                <a:uLnTx/>
                <a:uFillTx/>
                <a:latin typeface="Franklin Gothic Book" panose="020B05030201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6/16/2026</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69E57DC2-970A-4B3E-BB1C-7A09969E49DF}" type="slidenum">
              <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673476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73F94F13-1676-4B68-A383-661B657F6E63}" type="datetime1">
              <a:rPr kumimoji="0" lang="en-US" sz="1200" b="0" i="0" u="none" strike="noStrike" kern="1200" cap="none" spc="0" normalizeH="0" baseline="0" noProof="0" smtClean="0">
                <a:ln>
                  <a:noFill/>
                </a:ln>
                <a:solidFill>
                  <a:srgbClr val="191B0E"/>
                </a:solidFill>
                <a:effectLst/>
                <a:uLnTx/>
                <a:uFillTx/>
                <a:latin typeface="Franklin Gothic Book" panose="020B05030201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6/16/2026</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69E57DC2-970A-4B3E-BB1C-7A09969E49DF}" type="slidenum">
              <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575553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4CAC80CA-06EA-4D97-A1EC-F2A229B592C4}" type="datetime1">
              <a:rPr kumimoji="0" lang="en-US" sz="1200" b="0" i="0" u="none" strike="noStrike" kern="1200" cap="none" spc="0" normalizeH="0" baseline="0" noProof="0" smtClean="0">
                <a:ln>
                  <a:noFill/>
                </a:ln>
                <a:solidFill>
                  <a:srgbClr val="191B0E"/>
                </a:solidFill>
                <a:effectLst/>
                <a:uLnTx/>
                <a:uFillTx/>
                <a:latin typeface="Franklin Gothic Book" panose="020B05030201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6/16/2026</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E57DC2-970A-4B3E-BB1C-7A09969E49DF}" type="slidenum">
              <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30470179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AAA60CC4-6CA2-4A99-B83B-711E420D000E}" type="datetime1">
              <a:rPr kumimoji="0" lang="en-US" sz="1200" b="0" i="0" u="none" strike="noStrike" kern="1200" cap="none" spc="0" normalizeH="0" baseline="0" noProof="0" smtClean="0">
                <a:ln>
                  <a:noFill/>
                </a:ln>
                <a:solidFill>
                  <a:srgbClr val="191B0E"/>
                </a:solidFill>
                <a:effectLst/>
                <a:uLnTx/>
                <a:uFillTx/>
                <a:latin typeface="Franklin Gothic Book" panose="020B05030201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6/16/2026</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E57DC2-970A-4B3E-BB1C-7A09969E49DF}" type="slidenum">
              <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2513040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6/16/2026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5CB83234-995D-4149-8E1E-BC120E9070D5}" type="datetime1">
              <a:rPr kumimoji="0" lang="en-US" sz="1200" b="0" i="0" u="none" strike="noStrike" kern="1200" cap="none" spc="0" normalizeH="0" baseline="0" noProof="0" smtClean="0">
                <a:ln>
                  <a:noFill/>
                </a:ln>
                <a:solidFill>
                  <a:srgbClr val="191B0E"/>
                </a:solidFill>
                <a:effectLst/>
                <a:uLnTx/>
                <a:uFillTx/>
                <a:latin typeface="Franklin Gothic Book" panose="020B05030201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6/16/2026</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69E57DC2-970A-4B3E-BB1C-7A09969E49DF}" type="slidenum">
              <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7118484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hf sldNum="0"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3.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png"/><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Queuing system ad performance's </a:t>
            </a:r>
            <a:endParaRPr lang="en-US" dirty="0"/>
          </a:p>
        </p:txBody>
      </p:sp>
    </p:spTree>
    <p:extLst>
      <p:ext uri="{BB962C8B-B14F-4D97-AF65-F5344CB8AC3E}">
        <p14:creationId xmlns:p14="http://schemas.microsoft.com/office/powerpoint/2010/main" val="5666672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698863"/>
          </a:xfrm>
        </p:spPr>
        <p:txBody>
          <a:bodyPr/>
          <a:lstStyle/>
          <a:p>
            <a:r>
              <a:rPr lang="en-US" dirty="0"/>
              <a:t>Queuing System</a:t>
            </a:r>
          </a:p>
        </p:txBody>
      </p:sp>
      <p:sp>
        <p:nvSpPr>
          <p:cNvPr id="3" name="Content Placeholder 2"/>
          <p:cNvSpPr>
            <a:spLocks noGrp="1"/>
          </p:cNvSpPr>
          <p:nvPr>
            <p:ph idx="1"/>
          </p:nvPr>
        </p:nvSpPr>
        <p:spPr>
          <a:xfrm>
            <a:off x="1280160" y="1410789"/>
            <a:ext cx="10358846" cy="4820194"/>
          </a:xfrm>
        </p:spPr>
        <p:txBody>
          <a:bodyPr>
            <a:normAutofit/>
          </a:bodyPr>
          <a:lstStyle/>
          <a:p>
            <a:r>
              <a:rPr lang="en-US" sz="3200" dirty="0"/>
              <a:t>In many real world scenario, queue is prevalent. The problem with the queue is that if it is not managed properly, the customers should wait a long time that causes chaos within the customers. To prevent customer from being unsatisfied with the provided service, queuing system is managed. For </a:t>
            </a:r>
            <a:r>
              <a:rPr lang="en-US" sz="3200" dirty="0" err="1"/>
              <a:t>eg</a:t>
            </a:r>
            <a:r>
              <a:rPr lang="en-US" sz="3200" dirty="0"/>
              <a:t>: During cash withdraw in bank, you have to stay in queue and if it is not managed properly then you will surely be disappointed from the bank service even if that bank is one of the finest one in the city.</a:t>
            </a:r>
          </a:p>
        </p:txBody>
      </p:sp>
    </p:spTree>
    <p:extLst>
      <p:ext uri="{BB962C8B-B14F-4D97-AF65-F5344CB8AC3E}">
        <p14:creationId xmlns:p14="http://schemas.microsoft.com/office/powerpoint/2010/main" val="20877556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Queueing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194" y="509451"/>
            <a:ext cx="10397896" cy="5852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2012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169126"/>
          </a:xfrm>
        </p:spPr>
        <p:txBody>
          <a:bodyPr>
            <a:normAutofit fontScale="90000"/>
          </a:bodyPr>
          <a:lstStyle/>
          <a:p>
            <a:r>
              <a:rPr lang="en-US" dirty="0"/>
              <a:t>Elements/Characteristics of Queuing System</a:t>
            </a:r>
          </a:p>
        </p:txBody>
      </p:sp>
      <p:sp>
        <p:nvSpPr>
          <p:cNvPr id="3" name="Content Placeholder 2"/>
          <p:cNvSpPr>
            <a:spLocks noGrp="1"/>
          </p:cNvSpPr>
          <p:nvPr>
            <p:ph idx="1"/>
          </p:nvPr>
        </p:nvSpPr>
        <p:spPr/>
        <p:txBody>
          <a:bodyPr>
            <a:normAutofit lnSpcReduction="10000"/>
          </a:bodyPr>
          <a:lstStyle/>
          <a:p>
            <a:r>
              <a:rPr lang="en-US" dirty="0"/>
              <a:t>1. Calling Population:</a:t>
            </a:r>
            <a:br>
              <a:rPr lang="en-US" dirty="0"/>
            </a:br>
            <a:r>
              <a:rPr lang="en-US" dirty="0"/>
              <a:t>- The population of potential customers of the service is called calling population.</a:t>
            </a:r>
            <a:br>
              <a:rPr lang="en-US" dirty="0"/>
            </a:br>
            <a:r>
              <a:rPr lang="en-US" dirty="0"/>
              <a:t>- It may be finite or infinite.</a:t>
            </a:r>
            <a:br>
              <a:rPr lang="en-US" dirty="0"/>
            </a:br>
            <a:r>
              <a:rPr lang="en-US" dirty="0"/>
              <a:t>- The system of the restaurant, bank and so on are considered to be open system i.e. with infinite calling population.</a:t>
            </a:r>
            <a:br>
              <a:rPr lang="en-US" dirty="0"/>
            </a:br>
            <a:r>
              <a:rPr lang="en-US" dirty="0"/>
              <a:t>- The system of repairing certain number of machines by a service man is considered to be closed system i.e. with finite calling population.</a:t>
            </a:r>
          </a:p>
          <a:p>
            <a:r>
              <a:rPr lang="en-US" dirty="0"/>
              <a:t>2. Arrival:</a:t>
            </a:r>
            <a:br>
              <a:rPr lang="en-US" dirty="0"/>
            </a:br>
            <a:r>
              <a:rPr lang="en-US" dirty="0"/>
              <a:t>- The way in which the customers enter into the system is called arrival.</a:t>
            </a:r>
            <a:br>
              <a:rPr lang="en-US" dirty="0"/>
            </a:br>
            <a:r>
              <a:rPr lang="en-US" dirty="0"/>
              <a:t>- In most of the cases, the arrival of the customer is random, so the inter-arrival between two customers is described by a random distribution of interval known as arrival pattern.</a:t>
            </a:r>
          </a:p>
          <a:p>
            <a:endParaRPr lang="en-US" dirty="0"/>
          </a:p>
        </p:txBody>
      </p:sp>
    </p:spTree>
    <p:extLst>
      <p:ext uri="{BB962C8B-B14F-4D97-AF65-F5344CB8AC3E}">
        <p14:creationId xmlns:p14="http://schemas.microsoft.com/office/powerpoint/2010/main" val="14665693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005839" y="156753"/>
            <a:ext cx="10411097" cy="6124754"/>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212529"/>
                </a:solidFill>
                <a:effectLst/>
                <a:uLnTx/>
                <a:uFillTx/>
                <a:latin typeface="-apple-system"/>
                <a:ea typeface="+mn-ea"/>
                <a:cs typeface="+mn-cs"/>
              </a:rPr>
              <a:t>3. Queue:</a:t>
            </a:r>
            <a:r>
              <a:rPr kumimoji="0" lang="en-US" sz="2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r>
            <a:br>
              <a:rPr kumimoji="0" lang="en-US" sz="2800" b="0" i="0" u="none" strike="noStrike" kern="1200" cap="none" spc="0" normalizeH="0" baseline="0" noProof="0" dirty="0">
                <a:ln>
                  <a:noFill/>
                </a:ln>
                <a:solidFill>
                  <a:prstClr val="black"/>
                </a:solidFill>
                <a:effectLst/>
                <a:uLnTx/>
                <a:uFillTx/>
                <a:latin typeface="Franklin Gothic Book" panose="020B0503020102020204"/>
                <a:ea typeface="+mn-ea"/>
                <a:cs typeface="+mn-cs"/>
              </a:rPr>
            </a:br>
            <a:r>
              <a:rPr kumimoji="0" lang="en-US" sz="2800" b="0" i="0" u="none" strike="noStrike" kern="1200" cap="none" spc="0" normalizeH="0" baseline="0" noProof="0" dirty="0">
                <a:ln>
                  <a:noFill/>
                </a:ln>
                <a:solidFill>
                  <a:srgbClr val="212529"/>
                </a:solidFill>
                <a:effectLst/>
                <a:uLnTx/>
                <a:uFillTx/>
                <a:latin typeface="-apple-system"/>
                <a:ea typeface="+mn-ea"/>
                <a:cs typeface="+mn-cs"/>
              </a:rPr>
              <a:t>- Queue represents the number of customers that have entered into the system and are waiting for the service.</a:t>
            </a:r>
            <a:r>
              <a:rPr kumimoji="0" lang="en-US" sz="2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r>
            <a:br>
              <a:rPr kumimoji="0" lang="en-US" sz="2800" b="0" i="0" u="none" strike="noStrike" kern="1200" cap="none" spc="0" normalizeH="0" baseline="0" noProof="0" dirty="0">
                <a:ln>
                  <a:noFill/>
                </a:ln>
                <a:solidFill>
                  <a:prstClr val="black"/>
                </a:solidFill>
                <a:effectLst/>
                <a:uLnTx/>
                <a:uFillTx/>
                <a:latin typeface="Franklin Gothic Book" panose="020B0503020102020204"/>
                <a:ea typeface="+mn-ea"/>
                <a:cs typeface="+mn-cs"/>
              </a:rPr>
            </a:br>
            <a:r>
              <a:rPr kumimoji="0" lang="en-US" sz="2800" b="0" i="0" u="none" strike="noStrike" kern="1200" cap="none" spc="0" normalizeH="0" baseline="0" noProof="0" dirty="0">
                <a:ln>
                  <a:noFill/>
                </a:ln>
                <a:solidFill>
                  <a:srgbClr val="212529"/>
                </a:solidFill>
                <a:effectLst/>
                <a:uLnTx/>
                <a:uFillTx/>
                <a:latin typeface="-apple-system"/>
                <a:ea typeface="+mn-ea"/>
                <a:cs typeface="+mn-cs"/>
              </a:rPr>
              <a:t>- The customer being serviced is not considered to be in queue.</a:t>
            </a:r>
            <a:r>
              <a:rPr kumimoji="0" lang="en-US" sz="2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r>
            <a:br>
              <a:rPr kumimoji="0" lang="en-US" sz="2800" b="0" i="0" u="none" strike="noStrike" kern="1200" cap="none" spc="0" normalizeH="0" baseline="0" noProof="0" dirty="0">
                <a:ln>
                  <a:noFill/>
                </a:ln>
                <a:solidFill>
                  <a:prstClr val="black"/>
                </a:solidFill>
                <a:effectLst/>
                <a:uLnTx/>
                <a:uFillTx/>
                <a:latin typeface="Franklin Gothic Book" panose="020B0503020102020204"/>
                <a:ea typeface="+mn-ea"/>
                <a:cs typeface="+mn-cs"/>
              </a:rPr>
            </a:br>
            <a:r>
              <a:rPr kumimoji="0" lang="en-US" sz="2800" b="0" i="0" u="none" strike="noStrike" kern="1200" cap="none" spc="0" normalizeH="0" baseline="0" noProof="0" dirty="0">
                <a:ln>
                  <a:noFill/>
                </a:ln>
                <a:solidFill>
                  <a:srgbClr val="212529"/>
                </a:solidFill>
                <a:effectLst/>
                <a:uLnTx/>
                <a:uFillTx/>
                <a:latin typeface="-apple-system"/>
                <a:ea typeface="+mn-ea"/>
                <a:cs typeface="+mn-cs"/>
              </a:rPr>
              <a:t>- The two main properties of queue are as follows:</a:t>
            </a:r>
            <a:r>
              <a:rPr kumimoji="0" lang="en-US" sz="2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r>
            <a:br>
              <a:rPr kumimoji="0" lang="en-US" sz="2800" b="0" i="0" u="none" strike="noStrike" kern="1200" cap="none" spc="0" normalizeH="0" baseline="0" noProof="0" dirty="0">
                <a:ln>
                  <a:noFill/>
                </a:ln>
                <a:solidFill>
                  <a:prstClr val="black"/>
                </a:solidFill>
                <a:effectLst/>
                <a:uLnTx/>
                <a:uFillTx/>
                <a:latin typeface="Franklin Gothic Book" panose="020B0503020102020204"/>
                <a:ea typeface="+mn-ea"/>
                <a:cs typeface="+mn-cs"/>
              </a:rPr>
            </a:br>
            <a:r>
              <a:rPr kumimoji="0" lang="en-US" sz="2800" b="0" i="0" u="none" strike="noStrike" kern="1200" cap="none" spc="0" normalizeH="0" baseline="0" noProof="0" dirty="0">
                <a:ln>
                  <a:noFill/>
                </a:ln>
                <a:solidFill>
                  <a:srgbClr val="212529"/>
                </a:solidFill>
                <a:effectLst/>
                <a:uLnTx/>
                <a:uFillTx/>
                <a:latin typeface="-apple-system"/>
                <a:ea typeface="+mn-ea"/>
                <a:cs typeface="+mn-cs"/>
              </a:rPr>
              <a:t>a) Maximum Size:</a:t>
            </a:r>
            <a:r>
              <a:rPr kumimoji="0" lang="en-US" sz="2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r>
            <a:br>
              <a:rPr kumimoji="0" lang="en-US" sz="2800" b="0" i="0" u="none" strike="noStrike" kern="1200" cap="none" spc="0" normalizeH="0" baseline="0" noProof="0" dirty="0">
                <a:ln>
                  <a:noFill/>
                </a:ln>
                <a:solidFill>
                  <a:prstClr val="black"/>
                </a:solidFill>
                <a:effectLst/>
                <a:uLnTx/>
                <a:uFillTx/>
                <a:latin typeface="Franklin Gothic Book" panose="020B0503020102020204"/>
                <a:ea typeface="+mn-ea"/>
                <a:cs typeface="+mn-cs"/>
              </a:rPr>
            </a:br>
            <a:r>
              <a:rPr kumimoji="0" lang="en-US" sz="2800" b="0" i="0" u="none" strike="noStrike" kern="1200" cap="none" spc="0" normalizeH="0" baseline="0" noProof="0" dirty="0">
                <a:ln>
                  <a:noFill/>
                </a:ln>
                <a:solidFill>
                  <a:srgbClr val="212529"/>
                </a:solidFill>
                <a:effectLst/>
                <a:uLnTx/>
                <a:uFillTx/>
                <a:latin typeface="-apple-system"/>
                <a:ea typeface="+mn-ea"/>
                <a:cs typeface="+mn-cs"/>
              </a:rPr>
              <a:t>- Queue, in practice, is always limited.</a:t>
            </a:r>
            <a:r>
              <a:rPr kumimoji="0" lang="en-US" sz="2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r>
            <a:br>
              <a:rPr kumimoji="0" lang="en-US" sz="2800" b="0" i="0" u="none" strike="noStrike" kern="1200" cap="none" spc="0" normalizeH="0" baseline="0" noProof="0" dirty="0">
                <a:ln>
                  <a:noFill/>
                </a:ln>
                <a:solidFill>
                  <a:prstClr val="black"/>
                </a:solidFill>
                <a:effectLst/>
                <a:uLnTx/>
                <a:uFillTx/>
                <a:latin typeface="Franklin Gothic Book" panose="020B0503020102020204"/>
                <a:ea typeface="+mn-ea"/>
                <a:cs typeface="+mn-cs"/>
              </a:rPr>
            </a:br>
            <a:r>
              <a:rPr kumimoji="0" lang="en-US" sz="2800" b="0" i="0" u="none" strike="noStrike" kern="1200" cap="none" spc="0" normalizeH="0" baseline="0" noProof="0" dirty="0">
                <a:ln>
                  <a:noFill/>
                </a:ln>
                <a:solidFill>
                  <a:srgbClr val="212529"/>
                </a:solidFill>
                <a:effectLst/>
                <a:uLnTx/>
                <a:uFillTx/>
                <a:latin typeface="-apple-system"/>
                <a:ea typeface="+mn-ea"/>
                <a:cs typeface="+mn-cs"/>
              </a:rPr>
              <a:t>- Maximum size represents the maximum number of customers that can accommodate in the queue.</a:t>
            </a:r>
            <a:r>
              <a:rPr kumimoji="0" lang="en-US" sz="2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r>
            <a:br>
              <a:rPr kumimoji="0" lang="en-US" sz="2800" b="0" i="0" u="none" strike="noStrike" kern="1200" cap="none" spc="0" normalizeH="0" baseline="0" noProof="0" dirty="0">
                <a:ln>
                  <a:noFill/>
                </a:ln>
                <a:solidFill>
                  <a:prstClr val="black"/>
                </a:solidFill>
                <a:effectLst/>
                <a:uLnTx/>
                <a:uFillTx/>
                <a:latin typeface="Franklin Gothic Book" panose="020B0503020102020204"/>
                <a:ea typeface="+mn-ea"/>
                <a:cs typeface="+mn-cs"/>
              </a:rPr>
            </a:br>
            <a:r>
              <a:rPr kumimoji="0" lang="en-US" sz="2800" b="0" i="0" u="none" strike="noStrike" kern="1200" cap="none" spc="0" normalizeH="0" baseline="0" noProof="0" dirty="0">
                <a:ln>
                  <a:noFill/>
                </a:ln>
                <a:solidFill>
                  <a:srgbClr val="212529"/>
                </a:solidFill>
                <a:effectLst/>
                <a:uLnTx/>
                <a:uFillTx/>
                <a:latin typeface="-apple-system"/>
                <a:ea typeface="+mn-ea"/>
                <a:cs typeface="+mn-cs"/>
              </a:rPr>
              <a:t>b) Queue Discipline:</a:t>
            </a:r>
            <a:r>
              <a:rPr kumimoji="0" lang="en-US" sz="2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r>
            <a:br>
              <a:rPr kumimoji="0" lang="en-US" sz="2800" b="0" i="0" u="none" strike="noStrike" kern="1200" cap="none" spc="0" normalizeH="0" baseline="0" noProof="0" dirty="0">
                <a:ln>
                  <a:noFill/>
                </a:ln>
                <a:solidFill>
                  <a:prstClr val="black"/>
                </a:solidFill>
                <a:effectLst/>
                <a:uLnTx/>
                <a:uFillTx/>
                <a:latin typeface="Franklin Gothic Book" panose="020B0503020102020204"/>
                <a:ea typeface="+mn-ea"/>
                <a:cs typeface="+mn-cs"/>
              </a:rPr>
            </a:br>
            <a:r>
              <a:rPr kumimoji="0" lang="en-US" sz="2800" b="0" i="0" u="none" strike="noStrike" kern="1200" cap="none" spc="0" normalizeH="0" baseline="0" noProof="0" dirty="0">
                <a:ln>
                  <a:noFill/>
                </a:ln>
                <a:solidFill>
                  <a:srgbClr val="212529"/>
                </a:solidFill>
                <a:effectLst/>
                <a:uLnTx/>
                <a:uFillTx/>
                <a:latin typeface="-apple-system"/>
                <a:ea typeface="+mn-ea"/>
                <a:cs typeface="+mn-cs"/>
              </a:rPr>
              <a:t>- Queue discipline represents the rules in which the customers are inserted or removed to or from the queue.</a:t>
            </a:r>
            <a:r>
              <a:rPr kumimoji="0" lang="en-US" sz="2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r>
            <a:br>
              <a:rPr kumimoji="0" lang="en-US" sz="2800" b="0" i="0" u="none" strike="noStrike" kern="1200" cap="none" spc="0" normalizeH="0" baseline="0" noProof="0" dirty="0">
                <a:ln>
                  <a:noFill/>
                </a:ln>
                <a:solidFill>
                  <a:prstClr val="black"/>
                </a:solidFill>
                <a:effectLst/>
                <a:uLnTx/>
                <a:uFillTx/>
                <a:latin typeface="Franklin Gothic Book" panose="020B0503020102020204"/>
                <a:ea typeface="+mn-ea"/>
                <a:cs typeface="+mn-cs"/>
              </a:rPr>
            </a:br>
            <a:r>
              <a:rPr kumimoji="0" lang="en-US" sz="2800" b="0" i="0" u="none" strike="noStrike" kern="1200" cap="none" spc="0" normalizeH="0" baseline="0" noProof="0" dirty="0">
                <a:ln>
                  <a:noFill/>
                </a:ln>
                <a:solidFill>
                  <a:srgbClr val="212529"/>
                </a:solidFill>
                <a:effectLst/>
                <a:uLnTx/>
                <a:uFillTx/>
                <a:latin typeface="-apple-system"/>
                <a:ea typeface="+mn-ea"/>
                <a:cs typeface="+mn-cs"/>
              </a:rPr>
              <a:t>- It can be organized in various ways like FIFO, LIFO, Serve In Random Order(SIRO), Priority Queue, etc.</a:t>
            </a:r>
            <a:endParaRPr kumimoji="0" lang="en-US" sz="28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39929625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10344" y="391886"/>
            <a:ext cx="10463348" cy="5262979"/>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212529"/>
                </a:solidFill>
                <a:effectLst/>
                <a:uLnTx/>
                <a:uFillTx/>
                <a:latin typeface="-apple-system"/>
                <a:ea typeface="+mn-ea"/>
                <a:cs typeface="+mn-cs"/>
              </a:rPr>
              <a:t>4. Service time:</a:t>
            </a:r>
            <a:br>
              <a:rPr kumimoji="0" lang="en-US" sz="2800" b="0" i="0" u="none" strike="noStrike" kern="1200" cap="none" spc="0" normalizeH="0" baseline="0" noProof="0" dirty="0">
                <a:ln>
                  <a:noFill/>
                </a:ln>
                <a:solidFill>
                  <a:srgbClr val="212529"/>
                </a:solidFill>
                <a:effectLst/>
                <a:uLnTx/>
                <a:uFillTx/>
                <a:latin typeface="-apple-system"/>
                <a:ea typeface="+mn-ea"/>
                <a:cs typeface="+mn-cs"/>
              </a:rPr>
            </a:br>
            <a:r>
              <a:rPr kumimoji="0" lang="en-US" sz="2800" b="0" i="0" u="none" strike="noStrike" kern="1200" cap="none" spc="0" normalizeH="0" baseline="0" noProof="0" dirty="0">
                <a:ln>
                  <a:noFill/>
                </a:ln>
                <a:solidFill>
                  <a:srgbClr val="212529"/>
                </a:solidFill>
                <a:effectLst/>
                <a:uLnTx/>
                <a:uFillTx/>
                <a:latin typeface="-apple-system"/>
                <a:ea typeface="+mn-ea"/>
                <a:cs typeface="+mn-cs"/>
              </a:rPr>
              <a:t>- Service represents the activity that takes some time and the customers are waiting </a:t>
            </a:r>
            <a:r>
              <a:rPr kumimoji="0" lang="en-US" sz="2800" b="0" i="0" u="none" strike="noStrike" kern="1200" cap="none" spc="0" normalizeH="0" baseline="0" noProof="0" dirty="0" smtClean="0">
                <a:ln>
                  <a:noFill/>
                </a:ln>
                <a:solidFill>
                  <a:srgbClr val="212529"/>
                </a:solidFill>
                <a:effectLst/>
                <a:uLnTx/>
                <a:uFillTx/>
                <a:latin typeface="-apple-system"/>
                <a:ea typeface="+mn-ea"/>
                <a:cs typeface="+mn-cs"/>
              </a:rPr>
              <a:t>for.</a:t>
            </a:r>
            <a:r>
              <a:rPr kumimoji="0" lang="en-US" sz="2800" b="0" i="0" u="none" strike="noStrike" kern="1200" cap="none" spc="0" normalizeH="0" baseline="0" noProof="0" dirty="0">
                <a:ln>
                  <a:noFill/>
                </a:ln>
                <a:solidFill>
                  <a:srgbClr val="212529"/>
                </a:solidFill>
                <a:effectLst/>
                <a:uLnTx/>
                <a:uFillTx/>
                <a:latin typeface="-apple-system"/>
                <a:ea typeface="+mn-ea"/>
                <a:cs typeface="+mn-cs"/>
              </a:rPr>
              <a:t/>
            </a:r>
            <a:br>
              <a:rPr kumimoji="0" lang="en-US" sz="2800" b="0" i="0" u="none" strike="noStrike" kern="1200" cap="none" spc="0" normalizeH="0" baseline="0" noProof="0" dirty="0">
                <a:ln>
                  <a:noFill/>
                </a:ln>
                <a:solidFill>
                  <a:srgbClr val="212529"/>
                </a:solidFill>
                <a:effectLst/>
                <a:uLnTx/>
                <a:uFillTx/>
                <a:latin typeface="-apple-system"/>
                <a:ea typeface="+mn-ea"/>
                <a:cs typeface="+mn-cs"/>
              </a:rPr>
            </a:br>
            <a:r>
              <a:rPr kumimoji="0" lang="en-US" sz="2800" b="0" i="0" u="none" strike="noStrike" kern="1200" cap="none" spc="0" normalizeH="0" baseline="0" noProof="0" dirty="0">
                <a:ln>
                  <a:noFill/>
                </a:ln>
                <a:solidFill>
                  <a:srgbClr val="212529"/>
                </a:solidFill>
                <a:effectLst/>
                <a:uLnTx/>
                <a:uFillTx/>
                <a:latin typeface="-apple-system"/>
                <a:ea typeface="+mn-ea"/>
                <a:cs typeface="+mn-cs"/>
              </a:rPr>
              <a:t>- Service time represents the time needed to provide service to a customer by a server.</a:t>
            </a:r>
            <a:br>
              <a:rPr kumimoji="0" lang="en-US" sz="2800" b="0" i="0" u="none" strike="noStrike" kern="1200" cap="none" spc="0" normalizeH="0" baseline="0" noProof="0" dirty="0">
                <a:ln>
                  <a:noFill/>
                </a:ln>
                <a:solidFill>
                  <a:srgbClr val="212529"/>
                </a:solidFill>
                <a:effectLst/>
                <a:uLnTx/>
                <a:uFillTx/>
                <a:latin typeface="-apple-system"/>
                <a:ea typeface="+mn-ea"/>
                <a:cs typeface="+mn-cs"/>
              </a:rPr>
            </a:br>
            <a:r>
              <a:rPr kumimoji="0" lang="en-US" sz="2800" b="0" i="0" u="none" strike="noStrike" kern="1200" cap="none" spc="0" normalizeH="0" baseline="0" noProof="0" dirty="0">
                <a:ln>
                  <a:noFill/>
                </a:ln>
                <a:solidFill>
                  <a:srgbClr val="212529"/>
                </a:solidFill>
                <a:effectLst/>
                <a:uLnTx/>
                <a:uFillTx/>
                <a:latin typeface="-apple-system"/>
                <a:ea typeface="+mn-ea"/>
                <a:cs typeface="+mn-cs"/>
              </a:rPr>
              <a:t>- Service time may be of constant duration or of random duration.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212529"/>
                </a:solidFill>
                <a:effectLst/>
                <a:uLnTx/>
                <a:uFillTx/>
                <a:latin typeface="-apple-system"/>
                <a:ea typeface="+mn-ea"/>
                <a:cs typeface="+mn-cs"/>
              </a:rPr>
              <a:t>5. Number of Servers:</a:t>
            </a:r>
            <a:br>
              <a:rPr kumimoji="0" lang="en-US" sz="2800" b="0" i="0" u="none" strike="noStrike" kern="1200" cap="none" spc="0" normalizeH="0" baseline="0" noProof="0" dirty="0">
                <a:ln>
                  <a:noFill/>
                </a:ln>
                <a:solidFill>
                  <a:srgbClr val="212529"/>
                </a:solidFill>
                <a:effectLst/>
                <a:uLnTx/>
                <a:uFillTx/>
                <a:latin typeface="-apple-system"/>
                <a:ea typeface="+mn-ea"/>
                <a:cs typeface="+mn-cs"/>
              </a:rPr>
            </a:br>
            <a:r>
              <a:rPr kumimoji="0" lang="en-US" sz="2800" b="0" i="0" u="none" strike="noStrike" kern="1200" cap="none" spc="0" normalizeH="0" baseline="0" noProof="0" dirty="0">
                <a:ln>
                  <a:noFill/>
                </a:ln>
                <a:solidFill>
                  <a:srgbClr val="212529"/>
                </a:solidFill>
                <a:effectLst/>
                <a:uLnTx/>
                <a:uFillTx/>
                <a:latin typeface="-apple-system"/>
                <a:ea typeface="+mn-ea"/>
                <a:cs typeface="+mn-cs"/>
              </a:rPr>
              <a:t>- Servers represent the entity that provides service to the customer.</a:t>
            </a:r>
            <a:br>
              <a:rPr kumimoji="0" lang="en-US" sz="2800" b="0" i="0" u="none" strike="noStrike" kern="1200" cap="none" spc="0" normalizeH="0" baseline="0" noProof="0" dirty="0">
                <a:ln>
                  <a:noFill/>
                </a:ln>
                <a:solidFill>
                  <a:srgbClr val="212529"/>
                </a:solidFill>
                <a:effectLst/>
                <a:uLnTx/>
                <a:uFillTx/>
                <a:latin typeface="-apple-system"/>
                <a:ea typeface="+mn-ea"/>
                <a:cs typeface="+mn-cs"/>
              </a:rPr>
            </a:br>
            <a:r>
              <a:rPr kumimoji="0" lang="en-US" sz="2800" b="0" i="0" u="none" strike="noStrike" kern="1200" cap="none" spc="0" normalizeH="0" baseline="0" noProof="0" dirty="0">
                <a:ln>
                  <a:noFill/>
                </a:ln>
                <a:solidFill>
                  <a:srgbClr val="212529"/>
                </a:solidFill>
                <a:effectLst/>
                <a:uLnTx/>
                <a:uFillTx/>
                <a:latin typeface="-apple-system"/>
                <a:ea typeface="+mn-ea"/>
                <a:cs typeface="+mn-cs"/>
              </a:rPr>
              <a:t>- A system may consist of single server or multiple servers.</a:t>
            </a:r>
            <a:br>
              <a:rPr kumimoji="0" lang="en-US" sz="2800" b="0" i="0" u="none" strike="noStrike" kern="1200" cap="none" spc="0" normalizeH="0" baseline="0" noProof="0" dirty="0">
                <a:ln>
                  <a:noFill/>
                </a:ln>
                <a:solidFill>
                  <a:srgbClr val="212529"/>
                </a:solidFill>
                <a:effectLst/>
                <a:uLnTx/>
                <a:uFillTx/>
                <a:latin typeface="-apple-system"/>
                <a:ea typeface="+mn-ea"/>
                <a:cs typeface="+mn-cs"/>
              </a:rPr>
            </a:br>
            <a:r>
              <a:rPr kumimoji="0" lang="en-US" sz="2800" b="0" i="0" u="none" strike="noStrike" kern="1200" cap="none" spc="0" normalizeH="0" baseline="0" noProof="0" dirty="0">
                <a:ln>
                  <a:noFill/>
                </a:ln>
                <a:solidFill>
                  <a:srgbClr val="212529"/>
                </a:solidFill>
                <a:effectLst/>
                <a:uLnTx/>
                <a:uFillTx/>
                <a:latin typeface="-apple-system"/>
                <a:ea typeface="+mn-ea"/>
                <a:cs typeface="+mn-cs"/>
              </a:rPr>
              <a:t>- A system with multiple servers is able to provide parallel services to the customers.</a:t>
            </a:r>
          </a:p>
        </p:txBody>
      </p:sp>
    </p:spTree>
    <p:extLst>
      <p:ext uri="{BB962C8B-B14F-4D97-AF65-F5344CB8AC3E}">
        <p14:creationId xmlns:p14="http://schemas.microsoft.com/office/powerpoint/2010/main" val="37972423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queuing systems</a:t>
            </a:r>
          </a:p>
        </p:txBody>
      </p:sp>
      <p:sp>
        <p:nvSpPr>
          <p:cNvPr id="3" name="Content Placeholder 2"/>
          <p:cNvSpPr>
            <a:spLocks noGrp="1"/>
          </p:cNvSpPr>
          <p:nvPr>
            <p:ph idx="1"/>
          </p:nvPr>
        </p:nvSpPr>
        <p:spPr>
          <a:xfrm>
            <a:off x="1371600" y="1632857"/>
            <a:ext cx="9601200" cy="4234543"/>
          </a:xfrm>
        </p:spPr>
        <p:txBody>
          <a:bodyPr>
            <a:normAutofit/>
          </a:bodyPr>
          <a:lstStyle/>
          <a:p>
            <a:r>
              <a:rPr lang="en-US" sz="2800" dirty="0" smtClean="0"/>
              <a:t> </a:t>
            </a:r>
            <a:r>
              <a:rPr lang="en-US" sz="2800" dirty="0"/>
              <a:t>Arrival Process </a:t>
            </a:r>
            <a:endParaRPr lang="en-US" sz="2800" dirty="0" smtClean="0"/>
          </a:p>
          <a:p>
            <a:pPr marL="0" indent="0">
              <a:buNone/>
            </a:pPr>
            <a:r>
              <a:rPr lang="en-US" sz="2800" dirty="0"/>
              <a:t> </a:t>
            </a:r>
            <a:r>
              <a:rPr lang="en-US" sz="2800" dirty="0" smtClean="0"/>
              <a:t>                  The </a:t>
            </a:r>
            <a:r>
              <a:rPr lang="en-US" sz="2800" dirty="0"/>
              <a:t>distribution that determines how the tasks arrives in the </a:t>
            </a:r>
            <a:r>
              <a:rPr lang="en-US" sz="2800" dirty="0" smtClean="0"/>
              <a:t>system</a:t>
            </a:r>
            <a:r>
              <a:rPr lang="en-US" sz="2800" dirty="0"/>
              <a:t>. </a:t>
            </a:r>
            <a:endParaRPr lang="en-US" sz="2800" dirty="0" smtClean="0"/>
          </a:p>
          <a:p>
            <a:r>
              <a:rPr lang="en-US" sz="2800" dirty="0" smtClean="0"/>
              <a:t> </a:t>
            </a:r>
            <a:r>
              <a:rPr lang="en-US" sz="2800" dirty="0"/>
              <a:t>Service Process </a:t>
            </a:r>
          </a:p>
          <a:p>
            <a:pPr marL="0" indent="0">
              <a:buNone/>
            </a:pPr>
            <a:r>
              <a:rPr lang="en-US" sz="2800" dirty="0" smtClean="0"/>
              <a:t>        The </a:t>
            </a:r>
            <a:r>
              <a:rPr lang="en-US" sz="2800" dirty="0"/>
              <a:t>distribution that determines the task The distribution that determines the task processing time </a:t>
            </a:r>
            <a:endParaRPr lang="en-US" sz="2800" dirty="0" smtClean="0"/>
          </a:p>
          <a:p>
            <a:r>
              <a:rPr lang="en-US" sz="2800" dirty="0" smtClean="0"/>
              <a:t> </a:t>
            </a:r>
            <a:r>
              <a:rPr lang="en-US" sz="2800" dirty="0"/>
              <a:t>Number of Servers </a:t>
            </a:r>
            <a:endParaRPr lang="en-US" sz="2800" dirty="0" smtClean="0"/>
          </a:p>
          <a:p>
            <a:pPr marL="0" indent="0">
              <a:buNone/>
            </a:pPr>
            <a:r>
              <a:rPr lang="en-US" sz="2800" dirty="0"/>
              <a:t> </a:t>
            </a:r>
            <a:r>
              <a:rPr lang="en-US" sz="2800" dirty="0" smtClean="0"/>
              <a:t>  Total </a:t>
            </a:r>
            <a:r>
              <a:rPr lang="en-US" sz="2800" dirty="0"/>
              <a:t>number of servers available to process the </a:t>
            </a:r>
            <a:r>
              <a:rPr lang="en-US" sz="2800" dirty="0" smtClean="0"/>
              <a:t>task</a:t>
            </a:r>
            <a:endParaRPr lang="en-US" sz="2800" dirty="0"/>
          </a:p>
        </p:txBody>
      </p:sp>
    </p:spTree>
    <p:extLst>
      <p:ext uri="{BB962C8B-B14F-4D97-AF65-F5344CB8AC3E}">
        <p14:creationId xmlns:p14="http://schemas.microsoft.com/office/powerpoint/2010/main" val="28252701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2777" y="182880"/>
            <a:ext cx="9444446" cy="563231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212529"/>
                </a:solidFill>
                <a:effectLst/>
                <a:uLnTx/>
                <a:uFillTx/>
                <a:latin typeface="-apple-system"/>
                <a:ea typeface="+mn-ea"/>
                <a:cs typeface="+mn-cs"/>
              </a:rPr>
              <a:t>Types of queuing system</a:t>
            </a:r>
            <a:endParaRPr kumimoji="0" lang="en-US" sz="3600" b="0" i="0" u="none" strike="noStrike" kern="1200" cap="none" spc="0" normalizeH="0" baseline="0" noProof="0" dirty="0">
              <a:ln>
                <a:noFill/>
              </a:ln>
              <a:solidFill>
                <a:srgbClr val="212529"/>
              </a:solidFill>
              <a:effectLst/>
              <a:uLnTx/>
              <a:uFillTx/>
              <a:latin typeface="-apple-system"/>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212529"/>
                </a:solidFill>
                <a:effectLst/>
                <a:uLnTx/>
                <a:uFillTx/>
                <a:latin typeface="-apple-system"/>
                <a:ea typeface="+mn-ea"/>
                <a:cs typeface="+mn-cs"/>
              </a:rPr>
              <a:t>- Channel is the number of parallel servers.</a:t>
            </a:r>
            <a:br>
              <a:rPr kumimoji="0" lang="en-US" sz="3600" b="0" i="0" u="none" strike="noStrike" kern="1200" cap="none" spc="0" normalizeH="0" baseline="0" noProof="0" dirty="0">
                <a:ln>
                  <a:noFill/>
                </a:ln>
                <a:solidFill>
                  <a:srgbClr val="212529"/>
                </a:solidFill>
                <a:effectLst/>
                <a:uLnTx/>
                <a:uFillTx/>
                <a:latin typeface="-apple-system"/>
                <a:ea typeface="+mn-ea"/>
                <a:cs typeface="+mn-cs"/>
              </a:rPr>
            </a:br>
            <a:r>
              <a:rPr kumimoji="0" lang="en-US" sz="3600" b="0" i="0" u="none" strike="noStrike" kern="1200" cap="none" spc="0" normalizeH="0" baseline="0" noProof="0" dirty="0">
                <a:ln>
                  <a:noFill/>
                </a:ln>
                <a:solidFill>
                  <a:srgbClr val="212529"/>
                </a:solidFill>
                <a:effectLst/>
                <a:uLnTx/>
                <a:uFillTx/>
                <a:latin typeface="-apple-system"/>
                <a:ea typeface="+mn-ea"/>
                <a:cs typeface="+mn-cs"/>
              </a:rPr>
              <a:t>- Phase is the number of servers in sequence.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212529"/>
                </a:solidFill>
                <a:effectLst/>
                <a:uLnTx/>
                <a:uFillTx/>
                <a:latin typeface="-apple-system"/>
                <a:ea typeface="+mn-ea"/>
                <a:cs typeface="+mn-cs"/>
              </a:rPr>
              <a:t>- Based on numbers of channel and phase, Queuing system is categorized as:</a:t>
            </a:r>
            <a:br>
              <a:rPr kumimoji="0" lang="en-US" sz="3600" b="0" i="0" u="none" strike="noStrike" kern="1200" cap="none" spc="0" normalizeH="0" baseline="0" noProof="0" dirty="0">
                <a:ln>
                  <a:noFill/>
                </a:ln>
                <a:solidFill>
                  <a:srgbClr val="212529"/>
                </a:solidFill>
                <a:effectLst/>
                <a:uLnTx/>
                <a:uFillTx/>
                <a:latin typeface="-apple-system"/>
                <a:ea typeface="+mn-ea"/>
                <a:cs typeface="+mn-cs"/>
              </a:rPr>
            </a:br>
            <a:r>
              <a:rPr kumimoji="0" lang="en-US" sz="3600" b="0" i="0" u="none" strike="noStrike" kern="1200" cap="none" spc="0" normalizeH="0" baseline="0" noProof="0" dirty="0">
                <a:ln>
                  <a:noFill/>
                </a:ln>
                <a:solidFill>
                  <a:srgbClr val="212529"/>
                </a:solidFill>
                <a:effectLst/>
                <a:uLnTx/>
                <a:uFillTx/>
                <a:latin typeface="-apple-system"/>
                <a:ea typeface="+mn-ea"/>
                <a:cs typeface="+mn-cs"/>
              </a:rPr>
              <a:t>1. Single Channel Single Phase</a:t>
            </a:r>
            <a:br>
              <a:rPr kumimoji="0" lang="en-US" sz="3600" b="0" i="0" u="none" strike="noStrike" kern="1200" cap="none" spc="0" normalizeH="0" baseline="0" noProof="0" dirty="0">
                <a:ln>
                  <a:noFill/>
                </a:ln>
                <a:solidFill>
                  <a:srgbClr val="212529"/>
                </a:solidFill>
                <a:effectLst/>
                <a:uLnTx/>
                <a:uFillTx/>
                <a:latin typeface="-apple-system"/>
                <a:ea typeface="+mn-ea"/>
                <a:cs typeface="+mn-cs"/>
              </a:rPr>
            </a:br>
            <a:r>
              <a:rPr kumimoji="0" lang="en-US" sz="3600" b="0" i="0" u="none" strike="noStrike" kern="1200" cap="none" spc="0" normalizeH="0" baseline="0" noProof="0" dirty="0">
                <a:ln>
                  <a:noFill/>
                </a:ln>
                <a:solidFill>
                  <a:srgbClr val="212529"/>
                </a:solidFill>
                <a:effectLst/>
                <a:uLnTx/>
                <a:uFillTx/>
                <a:latin typeface="-apple-system"/>
                <a:ea typeface="+mn-ea"/>
                <a:cs typeface="+mn-cs"/>
              </a:rPr>
              <a:t>2. Multiple Channels Single Phase</a:t>
            </a:r>
            <a:br>
              <a:rPr kumimoji="0" lang="en-US" sz="3600" b="0" i="0" u="none" strike="noStrike" kern="1200" cap="none" spc="0" normalizeH="0" baseline="0" noProof="0" dirty="0">
                <a:ln>
                  <a:noFill/>
                </a:ln>
                <a:solidFill>
                  <a:srgbClr val="212529"/>
                </a:solidFill>
                <a:effectLst/>
                <a:uLnTx/>
                <a:uFillTx/>
                <a:latin typeface="-apple-system"/>
                <a:ea typeface="+mn-ea"/>
                <a:cs typeface="+mn-cs"/>
              </a:rPr>
            </a:br>
            <a:r>
              <a:rPr kumimoji="0" lang="en-US" sz="3600" b="0" i="0" u="none" strike="noStrike" kern="1200" cap="none" spc="0" normalizeH="0" baseline="0" noProof="0" dirty="0">
                <a:ln>
                  <a:noFill/>
                </a:ln>
                <a:solidFill>
                  <a:srgbClr val="212529"/>
                </a:solidFill>
                <a:effectLst/>
                <a:uLnTx/>
                <a:uFillTx/>
                <a:latin typeface="-apple-system"/>
                <a:ea typeface="+mn-ea"/>
                <a:cs typeface="+mn-cs"/>
              </a:rPr>
              <a:t>3. Single Channel Multiple Phases</a:t>
            </a:r>
            <a:br>
              <a:rPr kumimoji="0" lang="en-US" sz="3600" b="0" i="0" u="none" strike="noStrike" kern="1200" cap="none" spc="0" normalizeH="0" baseline="0" noProof="0" dirty="0">
                <a:ln>
                  <a:noFill/>
                </a:ln>
                <a:solidFill>
                  <a:srgbClr val="212529"/>
                </a:solidFill>
                <a:effectLst/>
                <a:uLnTx/>
                <a:uFillTx/>
                <a:latin typeface="-apple-system"/>
                <a:ea typeface="+mn-ea"/>
                <a:cs typeface="+mn-cs"/>
              </a:rPr>
            </a:br>
            <a:r>
              <a:rPr kumimoji="0" lang="en-US" sz="3600" b="0" i="0" u="none" strike="noStrike" kern="1200" cap="none" spc="0" normalizeH="0" baseline="0" noProof="0" dirty="0">
                <a:ln>
                  <a:noFill/>
                </a:ln>
                <a:solidFill>
                  <a:srgbClr val="212529"/>
                </a:solidFill>
                <a:effectLst/>
                <a:uLnTx/>
                <a:uFillTx/>
                <a:latin typeface="-apple-system"/>
                <a:ea typeface="+mn-ea"/>
                <a:cs typeface="+mn-cs"/>
              </a:rPr>
              <a:t>4. Multiple Channels Multiple Phases</a:t>
            </a:r>
          </a:p>
        </p:txBody>
      </p:sp>
    </p:spTree>
    <p:extLst>
      <p:ext uri="{BB962C8B-B14F-4D97-AF65-F5344CB8AC3E}">
        <p14:creationId xmlns:p14="http://schemas.microsoft.com/office/powerpoint/2010/main" val="34225503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Multi channel -multi phase queueing mode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540" y="947057"/>
            <a:ext cx="6391275"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37314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212529"/>
                </a:solidFill>
                <a:latin typeface="-apple-system"/>
              </a:rPr>
              <a:t>Single Channel Single Phase</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1600" y="1894114"/>
            <a:ext cx="8804366" cy="3344092"/>
          </a:xfrm>
        </p:spPr>
      </p:pic>
    </p:spTree>
    <p:extLst>
      <p:ext uri="{BB962C8B-B14F-4D97-AF65-F5344CB8AC3E}">
        <p14:creationId xmlns:p14="http://schemas.microsoft.com/office/powerpoint/2010/main" val="6184247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Single channel -single phase queueing mode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3667" y="644751"/>
            <a:ext cx="6858000" cy="1657351"/>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Single channel -multi phase queueing mod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3667" y="2447109"/>
            <a:ext cx="6619875" cy="127635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Multi channel -single phase queueing mode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4179" y="3508329"/>
            <a:ext cx="6276975" cy="2571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3607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Queueing Notation</a:t>
            </a:r>
            <a:br>
              <a:rPr lang="en-US" dirty="0"/>
            </a:br>
            <a:r>
              <a:rPr lang="en-US" dirty="0"/>
              <a:t>Kendall Notation 1/2/3(/4/5/6)</a:t>
            </a:r>
          </a:p>
        </p:txBody>
      </p:sp>
      <p:sp>
        <p:nvSpPr>
          <p:cNvPr id="3" name="Content Placeholder 2"/>
          <p:cNvSpPr>
            <a:spLocks noGrp="1"/>
          </p:cNvSpPr>
          <p:nvPr>
            <p:ph idx="1"/>
          </p:nvPr>
        </p:nvSpPr>
        <p:spPr>
          <a:xfrm>
            <a:off x="1371600" y="2285999"/>
            <a:ext cx="9601200" cy="3827417"/>
          </a:xfrm>
        </p:spPr>
        <p:txBody>
          <a:bodyPr>
            <a:normAutofit/>
          </a:bodyPr>
          <a:lstStyle/>
          <a:p>
            <a:r>
              <a:rPr lang="en-US" dirty="0"/>
              <a:t>Six parameters in shorthand Six parameters in shorthand</a:t>
            </a:r>
          </a:p>
          <a:p>
            <a:pPr marL="0" indent="0">
              <a:buNone/>
            </a:pPr>
            <a:r>
              <a:rPr lang="en-US" dirty="0" smtClean="0"/>
              <a:t>       </a:t>
            </a:r>
            <a:r>
              <a:rPr lang="en-US" dirty="0"/>
              <a:t>First three typically used, unless specified</a:t>
            </a:r>
          </a:p>
          <a:p>
            <a:pPr marL="0" indent="0">
              <a:buNone/>
            </a:pPr>
            <a:r>
              <a:rPr lang="en-US" dirty="0" smtClean="0"/>
              <a:t>1. Arrival </a:t>
            </a:r>
            <a:r>
              <a:rPr lang="en-US" dirty="0"/>
              <a:t>Distribution</a:t>
            </a:r>
          </a:p>
          <a:p>
            <a:pPr marL="0" indent="0">
              <a:buNone/>
            </a:pPr>
            <a:r>
              <a:rPr lang="en-US" dirty="0"/>
              <a:t>2. Service Distribution</a:t>
            </a:r>
          </a:p>
          <a:p>
            <a:pPr marL="0" indent="0">
              <a:buNone/>
            </a:pPr>
            <a:r>
              <a:rPr lang="en-US" dirty="0"/>
              <a:t>3. Number of servers</a:t>
            </a:r>
          </a:p>
          <a:p>
            <a:pPr marL="0" indent="0">
              <a:buNone/>
            </a:pPr>
            <a:r>
              <a:rPr lang="en-US" dirty="0"/>
              <a:t>4. Total Capacity (infinite if not specified)</a:t>
            </a:r>
          </a:p>
          <a:p>
            <a:pPr marL="0" indent="0">
              <a:buNone/>
            </a:pPr>
            <a:r>
              <a:rPr lang="en-US" dirty="0"/>
              <a:t>5. Population Size (infinite)</a:t>
            </a:r>
          </a:p>
          <a:p>
            <a:pPr marL="0" indent="0">
              <a:buNone/>
            </a:pPr>
            <a:r>
              <a:rPr lang="en-US" dirty="0"/>
              <a:t>6. Service Discipline (FCFS/FIFO) </a:t>
            </a:r>
          </a:p>
        </p:txBody>
      </p:sp>
    </p:spTree>
    <p:extLst>
      <p:ext uri="{BB962C8B-B14F-4D97-AF65-F5344CB8AC3E}">
        <p14:creationId xmlns:p14="http://schemas.microsoft.com/office/powerpoint/2010/main" val="15742022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Kendall Classification of Queuing Systems</a:t>
            </a:r>
            <a:br>
              <a:rPr lang="en-US" dirty="0"/>
            </a:br>
            <a:endParaRPr lang="en-US" dirty="0"/>
          </a:p>
        </p:txBody>
      </p:sp>
      <p:sp>
        <p:nvSpPr>
          <p:cNvPr id="3" name="Content Placeholder 2"/>
          <p:cNvSpPr>
            <a:spLocks noGrp="1"/>
          </p:cNvSpPr>
          <p:nvPr>
            <p:ph idx="1"/>
          </p:nvPr>
        </p:nvSpPr>
        <p:spPr>
          <a:xfrm>
            <a:off x="1371599" y="1345475"/>
            <a:ext cx="10685417" cy="5068388"/>
          </a:xfrm>
        </p:spPr>
        <p:txBody>
          <a:bodyPr>
            <a:normAutofit/>
          </a:bodyPr>
          <a:lstStyle/>
          <a:p>
            <a:r>
              <a:rPr lang="en-US" dirty="0" smtClean="0"/>
              <a:t> </a:t>
            </a:r>
            <a:r>
              <a:rPr lang="en-US" dirty="0"/>
              <a:t>The Kendall classification of queuing systems (1953) exists in several The Kendall classification of queuing systems (1953) exists in </a:t>
            </a:r>
            <a:r>
              <a:rPr lang="en-US" dirty="0" smtClean="0"/>
              <a:t>several modifications</a:t>
            </a:r>
            <a:r>
              <a:rPr lang="en-US" dirty="0"/>
              <a:t>.</a:t>
            </a:r>
          </a:p>
          <a:p>
            <a:r>
              <a:rPr lang="en-US" dirty="0" smtClean="0"/>
              <a:t>The </a:t>
            </a:r>
            <a:r>
              <a:rPr lang="en-US" dirty="0"/>
              <a:t>most comprehensive classification uses 6 symbols: A/B/s/q/c/p</a:t>
            </a:r>
          </a:p>
          <a:p>
            <a:pPr marL="0" indent="0">
              <a:buNone/>
            </a:pPr>
            <a:r>
              <a:rPr lang="en-US" dirty="0"/>
              <a:t>where:</a:t>
            </a:r>
          </a:p>
          <a:p>
            <a:pPr marL="0" indent="0">
              <a:buNone/>
            </a:pPr>
            <a:r>
              <a:rPr lang="en-US" dirty="0" smtClean="0"/>
              <a:t> </a:t>
            </a:r>
            <a:r>
              <a:rPr lang="en-US" dirty="0"/>
              <a:t>A is the arrival pattern (distribution of intervals between arrivals).</a:t>
            </a:r>
          </a:p>
          <a:p>
            <a:pPr marL="0" indent="0">
              <a:buNone/>
            </a:pPr>
            <a:r>
              <a:rPr lang="en-US" dirty="0" smtClean="0"/>
              <a:t> </a:t>
            </a:r>
            <a:r>
              <a:rPr lang="en-US" dirty="0"/>
              <a:t>B is the service pattern (distribution of service duration).</a:t>
            </a:r>
          </a:p>
          <a:p>
            <a:pPr marL="0" indent="0">
              <a:buNone/>
            </a:pPr>
            <a:r>
              <a:rPr lang="en-US" dirty="0" smtClean="0"/>
              <a:t> </a:t>
            </a:r>
            <a:r>
              <a:rPr lang="en-US" dirty="0"/>
              <a:t>s is the number of servers.</a:t>
            </a:r>
          </a:p>
          <a:p>
            <a:pPr marL="0" indent="0">
              <a:buNone/>
            </a:pPr>
            <a:r>
              <a:rPr lang="en-US" dirty="0"/>
              <a:t>q </a:t>
            </a:r>
            <a:r>
              <a:rPr lang="en-US" dirty="0" smtClean="0"/>
              <a:t>is </a:t>
            </a:r>
            <a:r>
              <a:rPr lang="en-US" dirty="0"/>
              <a:t>the </a:t>
            </a:r>
            <a:r>
              <a:rPr lang="en-US" dirty="0" smtClean="0"/>
              <a:t>queuing discipline </a:t>
            </a:r>
            <a:r>
              <a:rPr lang="en-US" dirty="0"/>
              <a:t>(FIFO, LIFO, ...). </a:t>
            </a:r>
            <a:r>
              <a:rPr lang="en-US" dirty="0" smtClean="0"/>
              <a:t>Omitted </a:t>
            </a:r>
            <a:r>
              <a:rPr lang="en-US" dirty="0"/>
              <a:t>for FIFO or if </a:t>
            </a:r>
            <a:r>
              <a:rPr lang="en-US" dirty="0" smtClean="0"/>
              <a:t>not specified..</a:t>
            </a:r>
          </a:p>
          <a:p>
            <a:pPr marL="0" indent="0">
              <a:buNone/>
            </a:pPr>
            <a:r>
              <a:rPr lang="en-US" dirty="0" smtClean="0"/>
              <a:t>c </a:t>
            </a:r>
            <a:r>
              <a:rPr lang="en-US" dirty="0"/>
              <a:t>is the system capacity. Omitted for unlimited queues.</a:t>
            </a:r>
          </a:p>
          <a:p>
            <a:pPr marL="0" indent="0">
              <a:buNone/>
            </a:pPr>
            <a:r>
              <a:rPr lang="en-US" dirty="0" smtClean="0"/>
              <a:t> </a:t>
            </a:r>
            <a:r>
              <a:rPr lang="en-US" dirty="0"/>
              <a:t>p is the population size (number of possible customers). Omitted for </a:t>
            </a:r>
            <a:r>
              <a:rPr lang="en-US" dirty="0" smtClean="0"/>
              <a:t>open systems</a:t>
            </a:r>
            <a:r>
              <a:rPr lang="en-US" dirty="0"/>
              <a:t>.</a:t>
            </a:r>
          </a:p>
        </p:txBody>
      </p:sp>
    </p:spTree>
    <p:extLst>
      <p:ext uri="{BB962C8B-B14F-4D97-AF65-F5344CB8AC3E}">
        <p14:creationId xmlns:p14="http://schemas.microsoft.com/office/powerpoint/2010/main" val="13713646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Kendall Classification of Queuing Systems</a:t>
            </a:r>
          </a:p>
        </p:txBody>
      </p:sp>
      <p:sp>
        <p:nvSpPr>
          <p:cNvPr id="3" name="Content Placeholder 2"/>
          <p:cNvSpPr>
            <a:spLocks noGrp="1"/>
          </p:cNvSpPr>
          <p:nvPr>
            <p:ph idx="1"/>
          </p:nvPr>
        </p:nvSpPr>
        <p:spPr/>
        <p:txBody>
          <a:bodyPr/>
          <a:lstStyle/>
          <a:p>
            <a:r>
              <a:rPr lang="en-US" dirty="0"/>
              <a:t>These symbols are used for arrival and service patterns: </a:t>
            </a:r>
            <a:endParaRPr lang="en-US" dirty="0" smtClean="0"/>
          </a:p>
          <a:p>
            <a:pPr marL="0" indent="0">
              <a:buNone/>
            </a:pPr>
            <a:r>
              <a:rPr lang="en-US" dirty="0"/>
              <a:t> </a:t>
            </a:r>
            <a:r>
              <a:rPr lang="en-US" dirty="0" smtClean="0"/>
              <a:t>M </a:t>
            </a:r>
            <a:r>
              <a:rPr lang="en-US" dirty="0"/>
              <a:t>is the Poisson (Markovian) process with exponential distribution of intervals or service duration respectively. </a:t>
            </a:r>
            <a:endParaRPr lang="en-US" dirty="0" smtClean="0"/>
          </a:p>
          <a:p>
            <a:pPr marL="0" indent="0">
              <a:buNone/>
            </a:pPr>
            <a:r>
              <a:rPr lang="en-US" dirty="0" smtClean="0"/>
              <a:t> </a:t>
            </a:r>
            <a:r>
              <a:rPr lang="en-US" dirty="0" err="1"/>
              <a:t>Em</a:t>
            </a:r>
            <a:r>
              <a:rPr lang="en-US" dirty="0"/>
              <a:t> is the </a:t>
            </a:r>
            <a:r>
              <a:rPr lang="en-US" dirty="0" err="1"/>
              <a:t>Erlang</a:t>
            </a:r>
            <a:r>
              <a:rPr lang="en-US" dirty="0"/>
              <a:t> distribution of intervals or service duration. </a:t>
            </a:r>
            <a:endParaRPr lang="en-US" dirty="0" smtClean="0"/>
          </a:p>
          <a:p>
            <a:pPr marL="0" indent="0">
              <a:buNone/>
            </a:pPr>
            <a:r>
              <a:rPr lang="en-US" dirty="0" smtClean="0"/>
              <a:t> </a:t>
            </a:r>
            <a:r>
              <a:rPr lang="en-US" dirty="0"/>
              <a:t>D is the symbol for deterministic (known) arrivals and constant service duration. </a:t>
            </a:r>
            <a:endParaRPr lang="en-US" dirty="0" smtClean="0"/>
          </a:p>
          <a:p>
            <a:pPr marL="0" indent="0">
              <a:buNone/>
            </a:pPr>
            <a:r>
              <a:rPr lang="en-US" dirty="0" smtClean="0"/>
              <a:t> </a:t>
            </a:r>
            <a:r>
              <a:rPr lang="en-US" dirty="0"/>
              <a:t>G is a general (any) distribution. </a:t>
            </a:r>
            <a:endParaRPr lang="en-US" dirty="0" smtClean="0"/>
          </a:p>
          <a:p>
            <a:pPr marL="0" indent="0">
              <a:buNone/>
            </a:pPr>
            <a:r>
              <a:rPr lang="en-US" dirty="0" smtClean="0"/>
              <a:t> </a:t>
            </a:r>
            <a:r>
              <a:rPr lang="en-US" dirty="0"/>
              <a:t>GI is a </a:t>
            </a:r>
            <a:r>
              <a:rPr lang="en-US" dirty="0" smtClean="0"/>
              <a:t>general </a:t>
            </a:r>
            <a:r>
              <a:rPr lang="en-US" dirty="0"/>
              <a:t>(any) distribution with independent random values.</a:t>
            </a:r>
          </a:p>
        </p:txBody>
      </p:sp>
    </p:spTree>
    <p:extLst>
      <p:ext uri="{BB962C8B-B14F-4D97-AF65-F5344CB8AC3E}">
        <p14:creationId xmlns:p14="http://schemas.microsoft.com/office/powerpoint/2010/main" val="18592631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790303"/>
          </a:xfrm>
        </p:spPr>
        <p:txBody>
          <a:bodyPr>
            <a:normAutofit fontScale="90000"/>
          </a:bodyPr>
          <a:lstStyle/>
          <a:p>
            <a:pPr fontAlgn="base"/>
            <a:r>
              <a:rPr lang="en-US" b="1" dirty="0">
                <a:solidFill>
                  <a:srgbClr val="273239"/>
                </a:solidFill>
                <a:latin typeface="Nunito"/>
              </a:rPr>
              <a:t>Queuing Models</a:t>
            </a:r>
            <a:br>
              <a:rPr lang="en-US" b="1" dirty="0">
                <a:solidFill>
                  <a:srgbClr val="273239"/>
                </a:solidFill>
                <a:latin typeface="Nunito"/>
              </a:rPr>
            </a:br>
            <a:endParaRPr lang="en-US" dirty="0"/>
          </a:p>
        </p:txBody>
      </p:sp>
      <p:sp>
        <p:nvSpPr>
          <p:cNvPr id="3" name="Content Placeholder 2"/>
          <p:cNvSpPr>
            <a:spLocks noGrp="1"/>
          </p:cNvSpPr>
          <p:nvPr>
            <p:ph idx="1"/>
          </p:nvPr>
        </p:nvSpPr>
        <p:spPr>
          <a:xfrm>
            <a:off x="1371600" y="1254034"/>
            <a:ext cx="9601200" cy="5394960"/>
          </a:xfrm>
        </p:spPr>
        <p:txBody>
          <a:bodyPr>
            <a:normAutofit fontScale="92500" lnSpcReduction="20000"/>
          </a:bodyPr>
          <a:lstStyle/>
          <a:p>
            <a:pPr fontAlgn="base"/>
            <a:r>
              <a:rPr lang="en-US" b="1" dirty="0">
                <a:solidFill>
                  <a:srgbClr val="273239"/>
                </a:solidFill>
                <a:latin typeface="Nunito"/>
              </a:rPr>
              <a:t>1. M/M/1 Queue</a:t>
            </a:r>
          </a:p>
          <a:p>
            <a:pPr marL="0" indent="0" algn="just" fontAlgn="base">
              <a:buNone/>
            </a:pPr>
            <a:r>
              <a:rPr lang="en-US" dirty="0">
                <a:solidFill>
                  <a:srgbClr val="273239"/>
                </a:solidFill>
                <a:latin typeface="Nunito"/>
              </a:rPr>
              <a:t>In an M/M/1 queue, customers arrive following a Poisson distribution (random arrival times), and the server provides exponential service times. There is one server and a First-Come-First-Served (FCFS) service rule. This type of queue is also known as an M/M/1/FCFS queue or an M/M/1/FIFO (first-in-first-out) queue.</a:t>
            </a:r>
          </a:p>
          <a:p>
            <a:pPr marL="0" indent="0" algn="just" fontAlgn="base">
              <a:buNone/>
            </a:pPr>
            <a:r>
              <a:rPr lang="en-US" dirty="0">
                <a:solidFill>
                  <a:srgbClr val="273239"/>
                </a:solidFill>
                <a:latin typeface="Nunito"/>
              </a:rPr>
              <a:t>It is one of the most basic and widely studied queueing models in queuing theory, and it is frequently used as a starting point for understanding the performance of more complex queueing systems. To analyze and evaluate an M/M/1 queue, several performance measures are commonly used. Among them most important measures are: </a:t>
            </a:r>
          </a:p>
          <a:p>
            <a:pPr fontAlgn="base">
              <a:buFont typeface="+mj-lt"/>
              <a:buAutoNum type="arabicPeriod"/>
            </a:pPr>
            <a:r>
              <a:rPr lang="en-US" dirty="0">
                <a:solidFill>
                  <a:srgbClr val="273239"/>
                </a:solidFill>
                <a:latin typeface="Nunito"/>
              </a:rPr>
              <a:t>The average number of customers in the system.</a:t>
            </a:r>
          </a:p>
          <a:p>
            <a:pPr fontAlgn="base">
              <a:buFont typeface="+mj-lt"/>
              <a:buAutoNum type="arabicPeriod" startAt="2"/>
            </a:pPr>
            <a:r>
              <a:rPr lang="en-US" dirty="0">
                <a:solidFill>
                  <a:srgbClr val="273239"/>
                </a:solidFill>
                <a:latin typeface="Nunito"/>
              </a:rPr>
              <a:t>The average waiting time in the queue.</a:t>
            </a:r>
          </a:p>
          <a:p>
            <a:pPr fontAlgn="base">
              <a:buFont typeface="+mj-lt"/>
              <a:buAutoNum type="arabicPeriod" startAt="3"/>
            </a:pPr>
            <a:r>
              <a:rPr lang="en-US" dirty="0">
                <a:solidFill>
                  <a:srgbClr val="273239"/>
                </a:solidFill>
                <a:latin typeface="Nunito"/>
              </a:rPr>
              <a:t>The system utilization.</a:t>
            </a:r>
          </a:p>
          <a:p>
            <a:pPr fontAlgn="base">
              <a:buFont typeface="+mj-lt"/>
              <a:buAutoNum type="arabicPeriod" startAt="4"/>
            </a:pPr>
            <a:r>
              <a:rPr lang="en-US" dirty="0">
                <a:solidFill>
                  <a:srgbClr val="273239"/>
                </a:solidFill>
                <a:latin typeface="Nunito"/>
              </a:rPr>
              <a:t>The probability of a customer finding the server busy</a:t>
            </a:r>
            <a:r>
              <a:rPr lang="en-US" dirty="0" smtClean="0">
                <a:solidFill>
                  <a:srgbClr val="273239"/>
                </a:solidFill>
                <a:latin typeface="Nunito"/>
              </a:rPr>
              <a:t>.</a:t>
            </a:r>
          </a:p>
          <a:p>
            <a:pPr marL="0" indent="0" fontAlgn="base">
              <a:buNone/>
            </a:pPr>
            <a:r>
              <a:rPr lang="en-US" dirty="0">
                <a:solidFill>
                  <a:srgbClr val="273239"/>
                </a:solidFill>
                <a:latin typeface="Nunito"/>
              </a:rPr>
              <a:t>Example</a:t>
            </a:r>
            <a:r>
              <a:rPr lang="en-US" dirty="0" smtClean="0">
                <a:solidFill>
                  <a:srgbClr val="273239"/>
                </a:solidFill>
                <a:latin typeface="Nunito"/>
              </a:rPr>
              <a:t>:</a:t>
            </a:r>
            <a:endParaRPr lang="en-US" dirty="0">
              <a:solidFill>
                <a:srgbClr val="273239"/>
              </a:solidFill>
              <a:latin typeface="Nunito"/>
            </a:endParaRPr>
          </a:p>
          <a:p>
            <a:pPr marL="0" indent="0" fontAlgn="base">
              <a:buNone/>
            </a:pPr>
            <a:r>
              <a:rPr lang="en-US" dirty="0">
                <a:solidFill>
                  <a:srgbClr val="273239"/>
                </a:solidFill>
                <a:latin typeface="Nunito"/>
              </a:rPr>
              <a:t>The arrival rate of customers is 2 per minute, and the service rate of each server is 3 per minute.</a:t>
            </a:r>
            <a:endParaRPr lang="en-US" dirty="0" smtClean="0">
              <a:solidFill>
                <a:srgbClr val="273239"/>
              </a:solidFill>
              <a:latin typeface="Nunito"/>
            </a:endParaRPr>
          </a:p>
          <a:p>
            <a:pPr marL="0" indent="0" fontAlgn="base">
              <a:buNone/>
            </a:pPr>
            <a:endParaRPr lang="en-US" dirty="0">
              <a:solidFill>
                <a:srgbClr val="273239"/>
              </a:solidFill>
              <a:latin typeface="Nunito"/>
            </a:endParaRPr>
          </a:p>
          <a:p>
            <a:pPr marL="0" indent="0">
              <a:buNone/>
            </a:pPr>
            <a:endParaRPr lang="en-US" dirty="0"/>
          </a:p>
        </p:txBody>
      </p:sp>
    </p:spTree>
    <p:extLst>
      <p:ext uri="{BB962C8B-B14F-4D97-AF65-F5344CB8AC3E}">
        <p14:creationId xmlns:p14="http://schemas.microsoft.com/office/powerpoint/2010/main" val="14819800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15537"/>
            <a:ext cx="9601200" cy="685800"/>
          </a:xfrm>
        </p:spPr>
        <p:txBody>
          <a:bodyPr>
            <a:normAutofit fontScale="90000"/>
          </a:bodyPr>
          <a:lstStyle/>
          <a:p>
            <a:r>
              <a:rPr lang="en-US" b="1" dirty="0">
                <a:solidFill>
                  <a:srgbClr val="273239"/>
                </a:solidFill>
                <a:latin typeface="Nunito"/>
              </a:rPr>
              <a:t>1. M/M/1 </a:t>
            </a:r>
            <a:br>
              <a:rPr lang="en-US" b="1" dirty="0">
                <a:solidFill>
                  <a:srgbClr val="273239"/>
                </a:solidFill>
                <a:latin typeface="Nunito"/>
              </a:rPr>
            </a:br>
            <a:endParaRPr lang="en-US" dirty="0"/>
          </a:p>
        </p:txBody>
      </p:sp>
      <p:pic>
        <p:nvPicPr>
          <p:cNvPr id="4" name="Content Placeholder 3"/>
          <p:cNvPicPr>
            <a:picLocks noGrp="1" noChangeAspect="1"/>
          </p:cNvPicPr>
          <p:nvPr>
            <p:ph idx="1"/>
          </p:nvPr>
        </p:nvPicPr>
        <p:blipFill>
          <a:blip r:embed="rId2"/>
          <a:stretch>
            <a:fillRect/>
          </a:stretch>
        </p:blipFill>
        <p:spPr>
          <a:xfrm>
            <a:off x="1371600" y="787036"/>
            <a:ext cx="9601200" cy="5365179"/>
          </a:xfrm>
          <a:prstGeom prst="rect">
            <a:avLst/>
          </a:prstGeom>
        </p:spPr>
      </p:pic>
    </p:spTree>
    <p:extLst>
      <p:ext uri="{BB962C8B-B14F-4D97-AF65-F5344CB8AC3E}">
        <p14:creationId xmlns:p14="http://schemas.microsoft.com/office/powerpoint/2010/main" val="357698653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397726" y="222069"/>
            <a:ext cx="8921931" cy="6230982"/>
          </a:xfrm>
          <a:prstGeom prst="rect">
            <a:avLst/>
          </a:prstGeom>
        </p:spPr>
      </p:pic>
    </p:spTree>
    <p:extLst>
      <p:ext uri="{BB962C8B-B14F-4D97-AF65-F5344CB8AC3E}">
        <p14:creationId xmlns:p14="http://schemas.microsoft.com/office/powerpoint/2010/main" val="29665212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3900" y="191898"/>
            <a:ext cx="3855720" cy="879256"/>
          </a:xfrm>
        </p:spPr>
        <p:txBody>
          <a:bodyPr>
            <a:normAutofit fontScale="90000"/>
          </a:bodyPr>
          <a:lstStyle/>
          <a:p>
            <a:r>
              <a:rPr lang="en-US" dirty="0"/>
              <a:t>M/M/c Queue</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The </a:t>
            </a:r>
            <a:r>
              <a:rPr lang="en-US" dirty="0"/>
              <a:t>M/M/c queue is a queuing system where customer arrivals follow a Poisson distribution (M) and service times are exponentially distributed (M). This model is also known as M/M/c/FCFS or M/M/c/FIFO, where FCFS (First-Come-First-Served) denotes the service discipline. The system has c servers, and customers are served concurrently by these </a:t>
            </a:r>
            <a:r>
              <a:rPr lang="en-US" dirty="0" smtClean="0"/>
              <a:t>servers.</a:t>
            </a:r>
          </a:p>
          <a:p>
            <a:r>
              <a:rPr lang="en-US" dirty="0" smtClean="0"/>
              <a:t>It </a:t>
            </a:r>
            <a:r>
              <a:rPr lang="en-US" dirty="0"/>
              <a:t>is also known as the </a:t>
            </a:r>
            <a:r>
              <a:rPr lang="en-US" dirty="0" err="1"/>
              <a:t>Erlang</a:t>
            </a:r>
            <a:r>
              <a:rPr lang="en-US" dirty="0"/>
              <a:t>-c queue. This type of queuing system is useful for simulating situations in which multiple servers provide service. This system's performance metrics are similar to those of the M/M/1 queue</a:t>
            </a:r>
            <a:r>
              <a:rPr lang="en-US" dirty="0" smtClean="0"/>
              <a:t>.                           However</a:t>
            </a:r>
            <a:r>
              <a:rPr lang="en-US" dirty="0"/>
              <a:t>, </a:t>
            </a:r>
            <a:r>
              <a:rPr lang="en-US" dirty="0" smtClean="0"/>
              <a:t>some </a:t>
            </a:r>
            <a:r>
              <a:rPr lang="en-US" dirty="0"/>
              <a:t>measures are more difficult </a:t>
            </a:r>
            <a:r>
              <a:rPr lang="en-US" dirty="0" smtClean="0"/>
              <a:t>to                                                                   </a:t>
            </a:r>
            <a:r>
              <a:rPr lang="en-US" dirty="0"/>
              <a:t>calculate because the number of servers c </a:t>
            </a:r>
            <a:r>
              <a:rPr lang="en-US" dirty="0" smtClean="0"/>
              <a:t>                                                       influences </a:t>
            </a:r>
            <a:r>
              <a:rPr lang="en-US" dirty="0"/>
              <a:t>the queue's behavior. </a:t>
            </a:r>
            <a:r>
              <a:rPr lang="en-US" dirty="0" smtClean="0"/>
              <a:t>                                                                                 The </a:t>
            </a:r>
            <a:r>
              <a:rPr lang="en-US" dirty="0"/>
              <a:t>most important measures are as follows</a:t>
            </a:r>
            <a:r>
              <a:rPr lang="en-US" dirty="0" smtClean="0"/>
              <a:t>:</a:t>
            </a:r>
            <a:endParaRPr lang="en-US" dirty="0"/>
          </a:p>
          <a:p>
            <a:r>
              <a:rPr lang="en-US" dirty="0"/>
              <a:t>The average number of customers in the system.</a:t>
            </a:r>
          </a:p>
          <a:p>
            <a:r>
              <a:rPr lang="en-US" dirty="0"/>
              <a:t>The average waiting time in the queue.</a:t>
            </a:r>
          </a:p>
          <a:p>
            <a:r>
              <a:rPr lang="en-US" dirty="0"/>
              <a:t>The system utilization.</a:t>
            </a:r>
          </a:p>
          <a:p>
            <a:r>
              <a:rPr lang="en-US" dirty="0"/>
              <a:t>The probability of a customer finding the server busy.</a:t>
            </a:r>
          </a:p>
          <a:p>
            <a:r>
              <a:rPr lang="en-US" dirty="0"/>
              <a:t>The probability of customers waiting in the queue.</a:t>
            </a:r>
          </a:p>
          <a:p>
            <a:r>
              <a:rPr lang="en-US" dirty="0"/>
              <a:t>The probability of customers being blocked</a:t>
            </a:r>
          </a:p>
        </p:txBody>
      </p:sp>
      <p:sp>
        <p:nvSpPr>
          <p:cNvPr id="7" name="Text Placeholder 6"/>
          <p:cNvSpPr>
            <a:spLocks noGrp="1"/>
          </p:cNvSpPr>
          <p:nvPr>
            <p:ph type="body" sz="half" idx="2"/>
          </p:nvPr>
        </p:nvSpPr>
        <p:spPr/>
        <p:txBody>
          <a:bodyPr/>
          <a:lstStyle/>
          <a:p>
            <a:endParaRPr lang="en-US"/>
          </a:p>
        </p:txBody>
      </p:sp>
      <p:pic>
        <p:nvPicPr>
          <p:cNvPr id="6" name="Picture 5"/>
          <p:cNvPicPr>
            <a:picLocks noChangeAspect="1"/>
          </p:cNvPicPr>
          <p:nvPr/>
        </p:nvPicPr>
        <p:blipFill>
          <a:blip r:embed="rId2"/>
          <a:stretch>
            <a:fillRect/>
          </a:stretch>
        </p:blipFill>
        <p:spPr>
          <a:xfrm>
            <a:off x="84141" y="1071154"/>
            <a:ext cx="5135237" cy="5587160"/>
          </a:xfrm>
          <a:prstGeom prst="rect">
            <a:avLst/>
          </a:prstGeom>
        </p:spPr>
      </p:pic>
    </p:spTree>
    <p:extLst>
      <p:ext uri="{BB962C8B-B14F-4D97-AF65-F5344CB8AC3E}">
        <p14:creationId xmlns:p14="http://schemas.microsoft.com/office/powerpoint/2010/main" val="2985419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23900" y="685800"/>
            <a:ext cx="3678283" cy="986246"/>
          </a:xfrm>
        </p:spPr>
        <p:txBody>
          <a:bodyPr/>
          <a:lstStyle/>
          <a:p>
            <a:r>
              <a:rPr lang="en-US" dirty="0" smtClean="0"/>
              <a:t>M/D/1</a:t>
            </a:r>
            <a:endParaRPr lang="en-US" dirty="0"/>
          </a:p>
        </p:txBody>
      </p:sp>
      <p:pic>
        <p:nvPicPr>
          <p:cNvPr id="4" name="Content Placeholder 3"/>
          <p:cNvPicPr>
            <a:picLocks noGrp="1" noChangeAspect="1"/>
          </p:cNvPicPr>
          <p:nvPr>
            <p:ph idx="1"/>
          </p:nvPr>
        </p:nvPicPr>
        <p:blipFill>
          <a:blip r:embed="rId2"/>
          <a:stretch>
            <a:fillRect/>
          </a:stretch>
        </p:blipFill>
        <p:spPr>
          <a:xfrm>
            <a:off x="562248" y="1423852"/>
            <a:ext cx="4430256" cy="4990012"/>
          </a:xfrm>
          <a:prstGeom prst="rect">
            <a:avLst/>
          </a:prstGeom>
        </p:spPr>
      </p:pic>
      <p:sp>
        <p:nvSpPr>
          <p:cNvPr id="7" name="Rectangle 6"/>
          <p:cNvSpPr/>
          <p:nvPr/>
        </p:nvSpPr>
        <p:spPr>
          <a:xfrm>
            <a:off x="5660572" y="160837"/>
            <a:ext cx="6135188" cy="6186309"/>
          </a:xfrm>
          <a:prstGeom prst="rect">
            <a:avLst/>
          </a:prstGeom>
        </p:spPr>
        <p:txBody>
          <a:bodyPr wrap="square">
            <a:spAutoFit/>
          </a:bodyPr>
          <a:lstStyle/>
          <a:p>
            <a:r>
              <a:rPr lang="en-US" dirty="0"/>
              <a:t>I</a:t>
            </a:r>
            <a:r>
              <a:rPr lang="en-US" dirty="0" smtClean="0"/>
              <a:t>n </a:t>
            </a:r>
            <a:r>
              <a:rPr lang="en-US" dirty="0"/>
              <a:t>an M/D/1 queue, the arrival process is Poisson, but service times are deterministic (constant). This means customers are always served in exactly the same time. This is also known as an M/D/1/FCFS or M/D/1/FIFO queue, where FCFS or FIFO denotes the first-come-first-served service discipline. This type of queuing system is useful for simulating situations where customer service times are known in advance and are consistent, such as a carwash service.</a:t>
            </a:r>
          </a:p>
          <a:p>
            <a:endParaRPr lang="en-US" dirty="0"/>
          </a:p>
          <a:p>
            <a:r>
              <a:rPr lang="en-US" dirty="0"/>
              <a:t>The queue will be stable if the arrival rate is less than the service rate, otherwise, it will be unstable due to the deterministic service time. The performance measures for this system are similar to those for the M/M/1 queue, but because the service time is deterministic, closed-form solutions for these measures are frequently easier to obtain. Among the most important measures are: </a:t>
            </a:r>
          </a:p>
          <a:p>
            <a:endParaRPr lang="en-US" dirty="0"/>
          </a:p>
          <a:p>
            <a:r>
              <a:rPr lang="en-US" dirty="0"/>
              <a:t>The average number of customers in the system.</a:t>
            </a:r>
          </a:p>
          <a:p>
            <a:r>
              <a:rPr lang="en-US" dirty="0"/>
              <a:t>The average waiting time in the queue.</a:t>
            </a:r>
          </a:p>
          <a:p>
            <a:r>
              <a:rPr lang="en-US" dirty="0"/>
              <a:t>The system utilization.</a:t>
            </a:r>
          </a:p>
          <a:p>
            <a:r>
              <a:rPr lang="en-US" dirty="0"/>
              <a:t>The probability of a customer finding the server busy</a:t>
            </a:r>
            <a:r>
              <a:rPr lang="en-US" dirty="0" smtClean="0"/>
              <a:t>.</a:t>
            </a:r>
          </a:p>
          <a:p>
            <a:endParaRPr lang="en-US" dirty="0"/>
          </a:p>
        </p:txBody>
      </p:sp>
    </p:spTree>
    <p:extLst>
      <p:ext uri="{BB962C8B-B14F-4D97-AF65-F5344CB8AC3E}">
        <p14:creationId xmlns:p14="http://schemas.microsoft.com/office/powerpoint/2010/main" val="11280073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6103" y="0"/>
            <a:ext cx="9601200" cy="1485900"/>
          </a:xfrm>
        </p:spPr>
        <p:txBody>
          <a:bodyPr>
            <a:normAutofit/>
          </a:bodyPr>
          <a:lstStyle/>
          <a:p>
            <a:r>
              <a:rPr lang="en-US" sz="2400" dirty="0"/>
              <a:t>Measuring the Performance of the System:</a:t>
            </a:r>
          </a:p>
        </p:txBody>
      </p:sp>
      <p:sp>
        <p:nvSpPr>
          <p:cNvPr id="3" name="Content Placeholder 2"/>
          <p:cNvSpPr>
            <a:spLocks noGrp="1"/>
          </p:cNvSpPr>
          <p:nvPr>
            <p:ph idx="1"/>
          </p:nvPr>
        </p:nvSpPr>
        <p:spPr>
          <a:xfrm>
            <a:off x="1371600" y="770709"/>
            <a:ext cx="9966960" cy="5448590"/>
          </a:xfrm>
        </p:spPr>
        <p:txBody>
          <a:bodyPr/>
          <a:lstStyle/>
          <a:p>
            <a:r>
              <a:rPr lang="en-US" sz="1600" dirty="0" smtClean="0"/>
              <a:t>performance </a:t>
            </a:r>
            <a:r>
              <a:rPr lang="en-US" sz="1600" dirty="0"/>
              <a:t>of a queuing system can be evaluated in terms of a number of response parameters, however the following four are generally employed. the following four are generally employed. </a:t>
            </a:r>
            <a:endParaRPr lang="en-US" sz="1600" dirty="0" smtClean="0"/>
          </a:p>
          <a:p>
            <a:pPr marL="0" indent="0">
              <a:buNone/>
            </a:pPr>
            <a:r>
              <a:rPr lang="en-US" sz="1600" dirty="0" smtClean="0"/>
              <a:t>1</a:t>
            </a:r>
            <a:r>
              <a:rPr lang="en-US" sz="1600" dirty="0"/>
              <a:t>. Average number of customers in the queue or in the system </a:t>
            </a:r>
            <a:endParaRPr lang="en-US" sz="1600" dirty="0" smtClean="0"/>
          </a:p>
          <a:p>
            <a:pPr marL="0" indent="0">
              <a:buNone/>
            </a:pPr>
            <a:r>
              <a:rPr lang="en-US" sz="1600" dirty="0" smtClean="0"/>
              <a:t>2</a:t>
            </a:r>
            <a:r>
              <a:rPr lang="en-US" sz="1600" dirty="0"/>
              <a:t>. Average waiting time of the customers in the queue or in the system </a:t>
            </a:r>
            <a:endParaRPr lang="en-US" sz="1600" dirty="0" smtClean="0"/>
          </a:p>
          <a:p>
            <a:pPr marL="0" indent="0">
              <a:buNone/>
            </a:pPr>
            <a:r>
              <a:rPr lang="en-US" sz="1600" dirty="0" smtClean="0"/>
              <a:t>3</a:t>
            </a:r>
            <a:r>
              <a:rPr lang="en-US" sz="1600" dirty="0"/>
              <a:t>. System utilization System </a:t>
            </a:r>
            <a:r>
              <a:rPr lang="en-US" sz="1600" dirty="0" smtClean="0"/>
              <a:t>utilization</a:t>
            </a:r>
          </a:p>
          <a:p>
            <a:pPr marL="0" indent="0">
              <a:buNone/>
            </a:pPr>
            <a:r>
              <a:rPr lang="en-US" sz="1600" dirty="0" smtClean="0"/>
              <a:t> </a:t>
            </a:r>
            <a:r>
              <a:rPr lang="en-US" sz="1600" dirty="0"/>
              <a:t>4. The cost of the waiting time &amp; idle time</a:t>
            </a:r>
          </a:p>
          <a:p>
            <a:pPr marL="0" indent="0">
              <a:buNone/>
            </a:pPr>
            <a:r>
              <a:rPr lang="en-US" sz="1600" dirty="0"/>
              <a:t>1. Estimate the expected average delay d(n)in queue of </a:t>
            </a:r>
            <a:r>
              <a:rPr lang="en-US" sz="1600" dirty="0" smtClean="0"/>
              <a:t>(n)customers</a:t>
            </a:r>
            <a:r>
              <a:rPr lang="en-US" sz="1600" dirty="0"/>
              <a:t>. The actual</a:t>
            </a:r>
          </a:p>
          <a:p>
            <a:pPr marL="0" indent="0">
              <a:buNone/>
            </a:pPr>
            <a:r>
              <a:rPr lang="en-US" sz="1600" dirty="0"/>
              <a:t>average delay for n customers </a:t>
            </a:r>
            <a:r>
              <a:rPr lang="en-US" sz="1600" dirty="0" smtClean="0"/>
              <a:t>depends on </a:t>
            </a:r>
            <a:r>
              <a:rPr lang="en-US" sz="1600" dirty="0"/>
              <a:t>the inter arrival and service </a:t>
            </a:r>
            <a:r>
              <a:rPr lang="en-US" sz="1600" dirty="0" smtClean="0"/>
              <a:t>time.</a:t>
            </a:r>
          </a:p>
          <a:p>
            <a:pPr marL="0" indent="0">
              <a:buNone/>
            </a:pP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6103" y="3487782"/>
            <a:ext cx="9757954" cy="2731516"/>
          </a:xfrm>
          <a:prstGeom prst="rect">
            <a:avLst/>
          </a:prstGeom>
        </p:spPr>
      </p:pic>
    </p:spTree>
    <p:extLst>
      <p:ext uri="{BB962C8B-B14F-4D97-AF65-F5344CB8AC3E}">
        <p14:creationId xmlns:p14="http://schemas.microsoft.com/office/powerpoint/2010/main" val="406896202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nter image description he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8908" y="4846206"/>
            <a:ext cx="2438400" cy="6667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9713" y="169818"/>
            <a:ext cx="10673536" cy="6557553"/>
          </a:xfrm>
          <a:prstGeom prst="rect">
            <a:avLst/>
          </a:prstGeom>
        </p:spPr>
      </p:pic>
    </p:spTree>
    <p:extLst>
      <p:ext uri="{BB962C8B-B14F-4D97-AF65-F5344CB8AC3E}">
        <p14:creationId xmlns:p14="http://schemas.microsoft.com/office/powerpoint/2010/main" val="7986202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5084" y="292470"/>
            <a:ext cx="10446209" cy="2577821"/>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5086" y="2870291"/>
            <a:ext cx="10446208" cy="2563858"/>
          </a:xfrm>
          <a:prstGeom prst="rect">
            <a:avLst/>
          </a:prstGeom>
        </p:spPr>
      </p:pic>
    </p:spTree>
    <p:extLst>
      <p:ext uri="{BB962C8B-B14F-4D97-AF65-F5344CB8AC3E}">
        <p14:creationId xmlns:p14="http://schemas.microsoft.com/office/powerpoint/2010/main" val="322360777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01782" y="333664"/>
            <a:ext cx="10110651" cy="4247317"/>
          </a:xfrm>
          <a:prstGeom prst="rect">
            <a:avLst/>
          </a:prstGeom>
        </p:spPr>
        <p:txBody>
          <a:bodyPr wrap="square">
            <a:spAutoFit/>
          </a:bodyPr>
          <a:lstStyle/>
          <a:p>
            <a:r>
              <a:rPr lang="en-US" dirty="0"/>
              <a:t>The knowledge of average number of customers in the queue or in the system helps to determine the space </a:t>
            </a:r>
            <a:r>
              <a:rPr lang="en-US" dirty="0" smtClean="0"/>
              <a:t>requirements of </a:t>
            </a:r>
            <a:r>
              <a:rPr lang="en-US" dirty="0"/>
              <a:t>the waiting entities. Also too long a waiting line may discourage the prospectus customers, while no queue may suggest that service customers, while no queue may suggest that service offered is not of good quality to attract customers. </a:t>
            </a:r>
            <a:endParaRPr lang="en-US" dirty="0" smtClean="0"/>
          </a:p>
          <a:p>
            <a:r>
              <a:rPr lang="en-US" dirty="0" smtClean="0"/>
              <a:t> </a:t>
            </a:r>
            <a:r>
              <a:rPr lang="en-US" dirty="0"/>
              <a:t>The knowledge of average waiting time in the queue is necessary for determining the cost of waiting in the </a:t>
            </a:r>
            <a:r>
              <a:rPr lang="en-US" dirty="0" smtClean="0"/>
              <a:t>queue</a:t>
            </a:r>
          </a:p>
          <a:p>
            <a:r>
              <a:rPr lang="en-US" b="1" dirty="0" smtClean="0"/>
              <a:t>System </a:t>
            </a:r>
            <a:r>
              <a:rPr lang="en-US" b="1" dirty="0"/>
              <a:t>Utilization </a:t>
            </a:r>
            <a:endParaRPr lang="en-US" b="1" dirty="0" smtClean="0"/>
          </a:p>
          <a:p>
            <a:r>
              <a:rPr lang="en-US" dirty="0" smtClean="0"/>
              <a:t> </a:t>
            </a:r>
            <a:r>
              <a:rPr lang="en-US" dirty="0"/>
              <a:t>System Utilization that is the percentage capacity utilized reflects that extent to which the facility is busy rather than idle. </a:t>
            </a:r>
            <a:endParaRPr lang="en-US" dirty="0" smtClean="0"/>
          </a:p>
          <a:p>
            <a:r>
              <a:rPr lang="en-US" dirty="0" smtClean="0"/>
              <a:t> </a:t>
            </a:r>
            <a:r>
              <a:rPr lang="en-US" dirty="0"/>
              <a:t>System utilization factor (s) is the ratio of average arrival rate ( λ) to the average service rate (µ). </a:t>
            </a:r>
            <a:endParaRPr lang="en-US" dirty="0" smtClean="0"/>
          </a:p>
          <a:p>
            <a:r>
              <a:rPr lang="en-US" dirty="0" smtClean="0"/>
              <a:t>S</a:t>
            </a:r>
            <a:r>
              <a:rPr lang="en-US" dirty="0"/>
              <a:t>= λ / </a:t>
            </a:r>
            <a:r>
              <a:rPr lang="en-US" dirty="0" smtClean="0"/>
              <a:t>µ in </a:t>
            </a:r>
            <a:r>
              <a:rPr lang="en-US" dirty="0"/>
              <a:t>the case of a </a:t>
            </a:r>
            <a:r>
              <a:rPr lang="en-US" dirty="0" smtClean="0"/>
              <a:t>single </a:t>
            </a:r>
            <a:r>
              <a:rPr lang="en-US" dirty="0"/>
              <a:t>server model </a:t>
            </a:r>
            <a:endParaRPr lang="en-US" dirty="0" smtClean="0"/>
          </a:p>
          <a:p>
            <a:r>
              <a:rPr lang="en-US" dirty="0" smtClean="0"/>
              <a:t>S</a:t>
            </a:r>
            <a:r>
              <a:rPr lang="en-US" dirty="0"/>
              <a:t>= λ/µn in the case of a “n” server model </a:t>
            </a:r>
          </a:p>
          <a:p>
            <a:r>
              <a:rPr lang="en-US" dirty="0" smtClean="0"/>
              <a:t>The </a:t>
            </a:r>
            <a:r>
              <a:rPr lang="en-US" dirty="0"/>
              <a:t>system utilization can be increased by increasing the arrival rate which amounts to increasing the average the arrival rate which amounts to increasing the average queue length as well as the average waiting </a:t>
            </a:r>
            <a:r>
              <a:rPr lang="en-US" dirty="0" smtClean="0"/>
              <a:t>time. </a:t>
            </a:r>
            <a:r>
              <a:rPr lang="en-US" dirty="0"/>
              <a:t>Under the normal circumstances 100% system utilization is not a realistic </a:t>
            </a:r>
          </a:p>
        </p:txBody>
      </p:sp>
    </p:spTree>
    <p:extLst>
      <p:ext uri="{BB962C8B-B14F-4D97-AF65-F5344CB8AC3E}">
        <p14:creationId xmlns:p14="http://schemas.microsoft.com/office/powerpoint/2010/main" val="384018905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63040" y="0"/>
            <a:ext cx="9601200" cy="1485900"/>
          </a:xfrm>
        </p:spPr>
        <p:txBody>
          <a:bodyPr/>
          <a:lstStyle/>
          <a:p>
            <a:r>
              <a:rPr lang="en-US" dirty="0"/>
              <a:t>Networks of Queues</a:t>
            </a:r>
          </a:p>
        </p:txBody>
      </p:sp>
      <p:sp>
        <p:nvSpPr>
          <p:cNvPr id="4" name="Content Placeholder 3"/>
          <p:cNvSpPr>
            <a:spLocks noGrp="1"/>
          </p:cNvSpPr>
          <p:nvPr>
            <p:ph idx="1"/>
          </p:nvPr>
        </p:nvSpPr>
        <p:spPr>
          <a:xfrm>
            <a:off x="1463040" y="742950"/>
            <a:ext cx="9601200" cy="3581400"/>
          </a:xfrm>
        </p:spPr>
        <p:txBody>
          <a:bodyPr>
            <a:normAutofit fontScale="92500" lnSpcReduction="20000"/>
          </a:bodyPr>
          <a:lstStyle/>
          <a:p>
            <a:r>
              <a:rPr lang="en-US" dirty="0"/>
              <a:t>No simple notation for networks of </a:t>
            </a:r>
            <a:r>
              <a:rPr lang="en-US" dirty="0" smtClean="0"/>
              <a:t>queues</a:t>
            </a:r>
          </a:p>
          <a:p>
            <a:r>
              <a:rPr lang="en-US" dirty="0"/>
              <a:t>Queueing network is a collection of interconnected queues where customers/jobs move between service stations according to routing probabilities</a:t>
            </a:r>
            <a:r>
              <a:rPr lang="en-US" dirty="0" smtClean="0"/>
              <a:t> </a:t>
            </a:r>
            <a:endParaRPr lang="en-US" dirty="0"/>
          </a:p>
          <a:p>
            <a:pPr marL="0" indent="0">
              <a:buNone/>
            </a:pPr>
            <a:r>
              <a:rPr lang="en-US" dirty="0" smtClean="0"/>
              <a:t>   </a:t>
            </a:r>
            <a:r>
              <a:rPr lang="en-US" dirty="0"/>
              <a:t>Two </a:t>
            </a:r>
            <a:r>
              <a:rPr lang="en-US" dirty="0" smtClean="0"/>
              <a:t>types </a:t>
            </a:r>
            <a:r>
              <a:rPr lang="en-US" dirty="0"/>
              <a:t>of networks of </a:t>
            </a:r>
            <a:r>
              <a:rPr lang="en-US" dirty="0" smtClean="0"/>
              <a:t>queues</a:t>
            </a:r>
          </a:p>
          <a:p>
            <a:r>
              <a:rPr lang="en-US" dirty="0" smtClean="0"/>
              <a:t> Open </a:t>
            </a:r>
            <a:r>
              <a:rPr lang="en-US" dirty="0"/>
              <a:t>queueing network </a:t>
            </a:r>
            <a:endParaRPr lang="en-US" dirty="0" smtClean="0"/>
          </a:p>
          <a:p>
            <a:pPr marL="0" indent="0">
              <a:buNone/>
            </a:pPr>
            <a:r>
              <a:rPr lang="en-US" dirty="0" smtClean="0"/>
              <a:t>• </a:t>
            </a:r>
            <a:r>
              <a:rPr lang="en-US" dirty="0"/>
              <a:t>External arrivals and departures </a:t>
            </a:r>
            <a:endParaRPr lang="en-US" dirty="0" smtClean="0"/>
          </a:p>
          <a:p>
            <a:pPr marL="0" indent="0">
              <a:buNone/>
            </a:pPr>
            <a:r>
              <a:rPr lang="en-US" dirty="0" smtClean="0"/>
              <a:t> Number of </a:t>
            </a:r>
            <a:r>
              <a:rPr lang="en-US" dirty="0"/>
              <a:t>customers in system varies over time </a:t>
            </a:r>
            <a:endParaRPr lang="en-US" dirty="0" smtClean="0"/>
          </a:p>
          <a:p>
            <a:r>
              <a:rPr lang="en-US" dirty="0" smtClean="0"/>
              <a:t>Closed </a:t>
            </a:r>
            <a:r>
              <a:rPr lang="en-US" dirty="0"/>
              <a:t>queueing network </a:t>
            </a:r>
            <a:endParaRPr lang="en-US" dirty="0" smtClean="0"/>
          </a:p>
          <a:p>
            <a:pPr marL="0" indent="0">
              <a:buNone/>
            </a:pPr>
            <a:r>
              <a:rPr lang="en-US" dirty="0" smtClean="0"/>
              <a:t>• </a:t>
            </a:r>
            <a:r>
              <a:rPr lang="en-US" dirty="0"/>
              <a:t>No external arrivals and departures </a:t>
            </a:r>
            <a:endParaRPr lang="en-US" dirty="0" smtClean="0"/>
          </a:p>
          <a:p>
            <a:pPr marL="0" indent="0">
              <a:buNone/>
            </a:pPr>
            <a:r>
              <a:rPr lang="en-US" dirty="0" smtClean="0"/>
              <a:t>• </a:t>
            </a:r>
            <a:r>
              <a:rPr lang="en-US" dirty="0"/>
              <a:t>Number of customers in system is </a:t>
            </a:r>
            <a:r>
              <a:rPr lang="en-US" dirty="0" smtClean="0"/>
              <a:t>constant</a:t>
            </a:r>
            <a:endParaRPr lang="en-US" dirty="0"/>
          </a:p>
        </p:txBody>
      </p:sp>
      <p:pic>
        <p:nvPicPr>
          <p:cNvPr id="5" name="Picture 4"/>
          <p:cNvPicPr>
            <a:picLocks noChangeAspect="1"/>
          </p:cNvPicPr>
          <p:nvPr/>
        </p:nvPicPr>
        <p:blipFill>
          <a:blip r:embed="rId2"/>
          <a:stretch>
            <a:fillRect/>
          </a:stretch>
        </p:blipFill>
        <p:spPr>
          <a:xfrm>
            <a:off x="1463040" y="4324350"/>
            <a:ext cx="8477794" cy="2007054"/>
          </a:xfrm>
          <a:prstGeom prst="rect">
            <a:avLst/>
          </a:prstGeom>
        </p:spPr>
      </p:pic>
    </p:spTree>
    <p:extLst>
      <p:ext uri="{BB962C8B-B14F-4D97-AF65-F5344CB8AC3E}">
        <p14:creationId xmlns:p14="http://schemas.microsoft.com/office/powerpoint/2010/main" val="374522703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37160"/>
            <a:ext cx="9379131" cy="790303"/>
          </a:xfrm>
        </p:spPr>
        <p:txBody>
          <a:bodyPr/>
          <a:lstStyle/>
          <a:p>
            <a:r>
              <a:rPr lang="en-US" dirty="0">
                <a:solidFill>
                  <a:srgbClr val="191B0E"/>
                </a:solidFill>
              </a:rPr>
              <a:t>Networks of Queues</a:t>
            </a:r>
            <a:endParaRPr lang="en-US" dirty="0"/>
          </a:p>
        </p:txBody>
      </p:sp>
      <p:sp>
        <p:nvSpPr>
          <p:cNvPr id="3" name="Content Placeholder 2"/>
          <p:cNvSpPr>
            <a:spLocks noGrp="1"/>
          </p:cNvSpPr>
          <p:nvPr>
            <p:ph idx="1"/>
          </p:nvPr>
        </p:nvSpPr>
        <p:spPr>
          <a:xfrm>
            <a:off x="1463040" y="770708"/>
            <a:ext cx="9601200" cy="5930537"/>
          </a:xfrm>
        </p:spPr>
        <p:txBody>
          <a:bodyPr/>
          <a:lstStyle/>
          <a:p>
            <a:pPr marL="0" indent="0">
              <a:buNone/>
            </a:pPr>
            <a:r>
              <a:rPr lang="en-US" dirty="0"/>
              <a:t>• Many systems are modeled as networks of single queues</a:t>
            </a:r>
          </a:p>
          <a:p>
            <a:pPr marL="0" indent="0">
              <a:buNone/>
            </a:pPr>
            <a:r>
              <a:rPr lang="en-US" dirty="0"/>
              <a:t>• Customers departing from one queue may be routed </a:t>
            </a:r>
            <a:r>
              <a:rPr lang="en-US" dirty="0" smtClean="0"/>
              <a:t>to Another </a:t>
            </a:r>
          </a:p>
          <a:p>
            <a:pPr marL="0" indent="0">
              <a:buNone/>
            </a:pPr>
            <a:r>
              <a:rPr lang="en-US" dirty="0"/>
              <a:t>The </a:t>
            </a:r>
            <a:r>
              <a:rPr lang="en-US" dirty="0" smtClean="0"/>
              <a:t>following </a:t>
            </a:r>
            <a:r>
              <a:rPr lang="en-US" dirty="0"/>
              <a:t>results assume a stable </a:t>
            </a:r>
            <a:r>
              <a:rPr lang="en-US" dirty="0" smtClean="0"/>
              <a:t>system </a:t>
            </a:r>
            <a:r>
              <a:rPr lang="en-US" dirty="0"/>
              <a:t>with infinite calling population and no limit on system capacity: </a:t>
            </a:r>
            <a:endParaRPr lang="en-US" dirty="0" smtClean="0"/>
          </a:p>
          <a:p>
            <a:pPr marL="0" indent="0">
              <a:buNone/>
            </a:pPr>
            <a:r>
              <a:rPr lang="en-US" dirty="0" smtClean="0"/>
              <a:t>• </a:t>
            </a:r>
            <a:r>
              <a:rPr lang="en-US" dirty="0"/>
              <a:t>Provided that no customers are created or destroyed in the queue, then the departure rate out of a queue is the same as the arrival rate into the queue, over the long run. </a:t>
            </a:r>
            <a:endParaRPr lang="en-US" dirty="0" smtClean="0"/>
          </a:p>
          <a:p>
            <a:pPr marL="0" indent="0">
              <a:buNone/>
            </a:pPr>
            <a:r>
              <a:rPr lang="en-US" dirty="0" smtClean="0"/>
              <a:t>• </a:t>
            </a:r>
            <a:r>
              <a:rPr lang="en-US" dirty="0"/>
              <a:t>If customers arrive to queue </a:t>
            </a:r>
            <a:r>
              <a:rPr lang="en-US" dirty="0" err="1"/>
              <a:t>i</a:t>
            </a:r>
            <a:r>
              <a:rPr lang="en-US" dirty="0"/>
              <a:t> at rate </a:t>
            </a:r>
            <a:r>
              <a:rPr lang="en-US" dirty="0" err="1"/>
              <a:t>λi</a:t>
            </a:r>
            <a:r>
              <a:rPr lang="en-US" dirty="0"/>
              <a:t>, and a fraction 0 ≤ </a:t>
            </a:r>
            <a:r>
              <a:rPr lang="en-US" dirty="0" err="1"/>
              <a:t>p</a:t>
            </a:r>
            <a:r>
              <a:rPr lang="en-US" baseline="-25000" dirty="0" err="1"/>
              <a:t>ij</a:t>
            </a:r>
            <a:r>
              <a:rPr lang="en-US" dirty="0"/>
              <a:t> ≤ 1 of them are routed to queue j upon departure, then the arrival </a:t>
            </a:r>
            <a:r>
              <a:rPr lang="en-US" dirty="0" smtClean="0"/>
              <a:t>rate </a:t>
            </a:r>
            <a:r>
              <a:rPr lang="en-US" dirty="0"/>
              <a:t>from queue </a:t>
            </a:r>
            <a:r>
              <a:rPr lang="en-US" dirty="0" err="1"/>
              <a:t>i</a:t>
            </a:r>
            <a:r>
              <a:rPr lang="en-US" dirty="0"/>
              <a:t> </a:t>
            </a:r>
            <a:r>
              <a:rPr lang="en-US" dirty="0" smtClean="0"/>
              <a:t>to </a:t>
            </a:r>
            <a:r>
              <a:rPr lang="en-US" dirty="0"/>
              <a:t>queue j is </a:t>
            </a:r>
            <a:r>
              <a:rPr lang="en-US" dirty="0" err="1"/>
              <a:t>λ</a:t>
            </a:r>
            <a:r>
              <a:rPr lang="en-US" baseline="-25000" dirty="0" err="1"/>
              <a:t>j</a:t>
            </a:r>
            <a:r>
              <a:rPr lang="en-US" dirty="0"/>
              <a:t> = </a:t>
            </a:r>
            <a:r>
              <a:rPr lang="en-US" dirty="0" err="1"/>
              <a:t>λ</a:t>
            </a:r>
            <a:r>
              <a:rPr lang="en-US" baseline="-25000" dirty="0" err="1"/>
              <a:t>i</a:t>
            </a:r>
            <a:r>
              <a:rPr lang="en-US" dirty="0"/>
              <a:t> </a:t>
            </a:r>
            <a:r>
              <a:rPr lang="en-US" dirty="0" err="1"/>
              <a:t>p</a:t>
            </a:r>
            <a:r>
              <a:rPr lang="en-US" baseline="-25000" dirty="0" err="1"/>
              <a:t>ij</a:t>
            </a:r>
            <a:r>
              <a:rPr lang="en-US" baseline="-25000" dirty="0"/>
              <a:t> </a:t>
            </a:r>
            <a:r>
              <a:rPr lang="en-US" dirty="0"/>
              <a:t>over </a:t>
            </a:r>
            <a:r>
              <a:rPr lang="en-US" dirty="0" smtClean="0"/>
              <a:t>the </a:t>
            </a:r>
            <a:r>
              <a:rPr lang="en-US" dirty="0"/>
              <a:t>long run</a:t>
            </a:r>
            <a:r>
              <a:rPr lang="en-US" dirty="0" smtClean="0"/>
              <a:t>.</a:t>
            </a:r>
          </a:p>
          <a:p>
            <a:pPr marL="0" indent="0">
              <a:buNone/>
            </a:pPr>
            <a:endParaRPr lang="en-US" dirty="0"/>
          </a:p>
        </p:txBody>
      </p:sp>
      <p:pic>
        <p:nvPicPr>
          <p:cNvPr id="4" name="Picture 3"/>
          <p:cNvPicPr>
            <a:picLocks noChangeAspect="1"/>
          </p:cNvPicPr>
          <p:nvPr/>
        </p:nvPicPr>
        <p:blipFill>
          <a:blip r:embed="rId2"/>
          <a:stretch>
            <a:fillRect/>
          </a:stretch>
        </p:blipFill>
        <p:spPr>
          <a:xfrm>
            <a:off x="3074941" y="3994920"/>
            <a:ext cx="5716361" cy="2238375"/>
          </a:xfrm>
          <a:prstGeom prst="rect">
            <a:avLst/>
          </a:prstGeom>
        </p:spPr>
      </p:pic>
    </p:spTree>
    <p:extLst>
      <p:ext uri="{BB962C8B-B14F-4D97-AF65-F5344CB8AC3E}">
        <p14:creationId xmlns:p14="http://schemas.microsoft.com/office/powerpoint/2010/main" val="40185337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5697" y="267789"/>
            <a:ext cx="9601200" cy="907869"/>
          </a:xfrm>
        </p:spPr>
        <p:txBody>
          <a:bodyPr/>
          <a:lstStyle/>
          <a:p>
            <a:r>
              <a:rPr lang="en-US" dirty="0">
                <a:solidFill>
                  <a:srgbClr val="191B0E"/>
                </a:solidFill>
              </a:rPr>
              <a:t>Networks of Queues</a:t>
            </a:r>
            <a:endParaRPr lang="en-US" dirty="0"/>
          </a:p>
        </p:txBody>
      </p:sp>
      <p:pic>
        <p:nvPicPr>
          <p:cNvPr id="4" name="Content Placeholder 3"/>
          <p:cNvPicPr>
            <a:picLocks noGrp="1" noChangeAspect="1"/>
          </p:cNvPicPr>
          <p:nvPr>
            <p:ph idx="1"/>
          </p:nvPr>
        </p:nvPicPr>
        <p:blipFill>
          <a:blip r:embed="rId2"/>
          <a:stretch>
            <a:fillRect/>
          </a:stretch>
        </p:blipFill>
        <p:spPr>
          <a:xfrm>
            <a:off x="1495696" y="953588"/>
            <a:ext cx="10669147" cy="5904411"/>
          </a:xfrm>
          <a:prstGeom prst="rect">
            <a:avLst/>
          </a:prstGeom>
        </p:spPr>
      </p:pic>
    </p:spTree>
    <p:extLst>
      <p:ext uri="{BB962C8B-B14F-4D97-AF65-F5344CB8AC3E}">
        <p14:creationId xmlns:p14="http://schemas.microsoft.com/office/powerpoint/2010/main" val="73686555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24097"/>
            <a:ext cx="9601200" cy="711926"/>
          </a:xfrm>
        </p:spPr>
        <p:txBody>
          <a:bodyPr/>
          <a:lstStyle/>
          <a:p>
            <a:r>
              <a:rPr lang="en-US" dirty="0"/>
              <a:t>Networks of Queues</a:t>
            </a:r>
          </a:p>
        </p:txBody>
      </p:sp>
      <p:pic>
        <p:nvPicPr>
          <p:cNvPr id="4" name="Content Placeholder 3"/>
          <p:cNvPicPr>
            <a:picLocks noGrp="1" noChangeAspect="1"/>
          </p:cNvPicPr>
          <p:nvPr>
            <p:ph idx="1"/>
          </p:nvPr>
        </p:nvPicPr>
        <p:blipFill>
          <a:blip r:embed="rId2"/>
          <a:stretch>
            <a:fillRect/>
          </a:stretch>
        </p:blipFill>
        <p:spPr>
          <a:xfrm>
            <a:off x="1371601" y="731520"/>
            <a:ext cx="9601199" cy="6008914"/>
          </a:xfrm>
          <a:prstGeom prst="rect">
            <a:avLst/>
          </a:prstGeom>
        </p:spPr>
      </p:pic>
    </p:spTree>
    <p:extLst>
      <p:ext uri="{BB962C8B-B14F-4D97-AF65-F5344CB8AC3E}">
        <p14:creationId xmlns:p14="http://schemas.microsoft.com/office/powerpoint/2010/main" val="307321512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659674"/>
          </a:xfrm>
        </p:spPr>
        <p:txBody>
          <a:bodyPr>
            <a:normAutofit fontScale="90000"/>
          </a:bodyPr>
          <a:lstStyle/>
          <a:p>
            <a:r>
              <a:rPr lang="en-US" dirty="0"/>
              <a:t>Applications of </a:t>
            </a:r>
            <a:r>
              <a:rPr lang="en-US" dirty="0" smtClean="0"/>
              <a:t>Queuing system</a:t>
            </a:r>
            <a:r>
              <a:rPr lang="en-US" dirty="0"/>
              <a:t/>
            </a:r>
            <a:br>
              <a:rPr lang="en-US" dirty="0"/>
            </a:br>
            <a:endParaRPr lang="en-US" dirty="0"/>
          </a:p>
        </p:txBody>
      </p:sp>
      <p:sp>
        <p:nvSpPr>
          <p:cNvPr id="3" name="Content Placeholder 2"/>
          <p:cNvSpPr>
            <a:spLocks noGrp="1"/>
          </p:cNvSpPr>
          <p:nvPr>
            <p:ph idx="1"/>
          </p:nvPr>
        </p:nvSpPr>
        <p:spPr>
          <a:xfrm>
            <a:off x="1371600" y="1436914"/>
            <a:ext cx="9601200" cy="4652554"/>
          </a:xfrm>
        </p:spPr>
        <p:txBody>
          <a:bodyPr>
            <a:normAutofit lnSpcReduction="10000"/>
          </a:bodyPr>
          <a:lstStyle/>
          <a:p>
            <a:pPr marL="0" indent="0">
              <a:buNone/>
            </a:pPr>
            <a:r>
              <a:rPr lang="en-US" dirty="0" smtClean="0"/>
              <a:t>Telecommunications</a:t>
            </a:r>
          </a:p>
          <a:p>
            <a:pPr marL="0" indent="0">
              <a:buNone/>
            </a:pPr>
            <a:r>
              <a:rPr lang="en-US" dirty="0" smtClean="0"/>
              <a:t> </a:t>
            </a:r>
            <a:r>
              <a:rPr lang="en-US" dirty="0"/>
              <a:t>Traffic </a:t>
            </a:r>
            <a:r>
              <a:rPr lang="en-US" dirty="0" smtClean="0"/>
              <a:t>control</a:t>
            </a:r>
          </a:p>
          <a:p>
            <a:pPr marL="0" indent="0">
              <a:buNone/>
            </a:pPr>
            <a:r>
              <a:rPr lang="en-US" dirty="0" smtClean="0"/>
              <a:t> </a:t>
            </a:r>
            <a:r>
              <a:rPr lang="en-US" dirty="0"/>
              <a:t>Determining the sequence of </a:t>
            </a:r>
            <a:r>
              <a:rPr lang="en-US" dirty="0" smtClean="0"/>
              <a:t>computer operations</a:t>
            </a:r>
            <a:endParaRPr lang="en-US" dirty="0"/>
          </a:p>
          <a:p>
            <a:pPr marL="0" indent="0">
              <a:buNone/>
            </a:pPr>
            <a:r>
              <a:rPr lang="en-US" dirty="0" smtClean="0"/>
              <a:t>Predicting </a:t>
            </a:r>
            <a:r>
              <a:rPr lang="en-US" dirty="0"/>
              <a:t>computer performance</a:t>
            </a:r>
          </a:p>
          <a:p>
            <a:pPr marL="0" indent="0">
              <a:buNone/>
            </a:pPr>
            <a:r>
              <a:rPr lang="en-US" dirty="0" smtClean="0"/>
              <a:t>Health </a:t>
            </a:r>
            <a:r>
              <a:rPr lang="en-US" dirty="0"/>
              <a:t>services (</a:t>
            </a:r>
            <a:r>
              <a:rPr lang="en-US" dirty="0" err="1"/>
              <a:t>eg</a:t>
            </a:r>
            <a:r>
              <a:rPr lang="en-US" dirty="0"/>
              <a:t>. control of hospital </a:t>
            </a:r>
            <a:r>
              <a:rPr lang="en-US" dirty="0" smtClean="0"/>
              <a:t>bed assignments</a:t>
            </a:r>
            <a:r>
              <a:rPr lang="en-US" dirty="0"/>
              <a:t>)</a:t>
            </a:r>
          </a:p>
          <a:p>
            <a:pPr marL="0" indent="0">
              <a:buNone/>
            </a:pPr>
            <a:r>
              <a:rPr lang="en-US" dirty="0" smtClean="0"/>
              <a:t>Airport traffic</a:t>
            </a:r>
            <a:r>
              <a:rPr lang="en-US" dirty="0"/>
              <a:t>, airline </a:t>
            </a:r>
            <a:r>
              <a:rPr lang="en-US" dirty="0" smtClean="0"/>
              <a:t>ticket </a:t>
            </a:r>
            <a:r>
              <a:rPr lang="en-US" dirty="0"/>
              <a:t>sales</a:t>
            </a:r>
          </a:p>
          <a:p>
            <a:pPr marL="0" indent="0">
              <a:buNone/>
            </a:pPr>
            <a:r>
              <a:rPr lang="en-US" dirty="0" smtClean="0"/>
              <a:t>Layout </a:t>
            </a:r>
            <a:r>
              <a:rPr lang="en-US" dirty="0"/>
              <a:t>of manufacturing systems</a:t>
            </a:r>
            <a:r>
              <a:rPr lang="en-US" dirty="0" smtClean="0"/>
              <a:t>.</a:t>
            </a:r>
          </a:p>
          <a:p>
            <a:pPr marL="0" indent="0">
              <a:buNone/>
            </a:pPr>
            <a:r>
              <a:rPr lang="en-US" b="1" dirty="0" smtClean="0"/>
              <a:t>Example </a:t>
            </a:r>
            <a:r>
              <a:rPr lang="en-US" dirty="0" smtClean="0"/>
              <a:t> in </a:t>
            </a:r>
            <a:r>
              <a:rPr lang="en-US" dirty="0"/>
              <a:t>many retail stores and banks In many retail stores and banks </a:t>
            </a:r>
            <a:endParaRPr lang="en-US" dirty="0" smtClean="0"/>
          </a:p>
          <a:p>
            <a:pPr marL="0" indent="0">
              <a:buNone/>
            </a:pPr>
            <a:r>
              <a:rPr lang="en-US" dirty="0" smtClean="0"/>
              <a:t> </a:t>
            </a:r>
            <a:r>
              <a:rPr lang="en-US" dirty="0"/>
              <a:t>multiple line/multiple checkout system </a:t>
            </a:r>
            <a:r>
              <a:rPr lang="en-US" dirty="0" smtClean="0"/>
              <a:t> </a:t>
            </a:r>
            <a:r>
              <a:rPr lang="en-US" dirty="0"/>
              <a:t>a </a:t>
            </a:r>
            <a:r>
              <a:rPr lang="en-US" dirty="0" smtClean="0"/>
              <a:t>queuing system </a:t>
            </a:r>
            <a:r>
              <a:rPr lang="en-US" dirty="0"/>
              <a:t>where customers wait for the next available cashier </a:t>
            </a:r>
            <a:endParaRPr lang="en-US" dirty="0" smtClean="0"/>
          </a:p>
          <a:p>
            <a:pPr marL="0" indent="0">
              <a:buNone/>
            </a:pPr>
            <a:r>
              <a:rPr lang="en-US" dirty="0" smtClean="0"/>
              <a:t> </a:t>
            </a:r>
            <a:r>
              <a:rPr lang="en-US" dirty="0"/>
              <a:t>We can prove using queuing theory that : throughput improves increases when queues are used </a:t>
            </a:r>
            <a:r>
              <a:rPr lang="en-US" dirty="0" smtClean="0"/>
              <a:t>instead </a:t>
            </a:r>
            <a:r>
              <a:rPr lang="en-US" dirty="0"/>
              <a:t>of separate lines</a:t>
            </a:r>
          </a:p>
        </p:txBody>
      </p:sp>
    </p:spTree>
    <p:extLst>
      <p:ext uri="{BB962C8B-B14F-4D97-AF65-F5344CB8AC3E}">
        <p14:creationId xmlns:p14="http://schemas.microsoft.com/office/powerpoint/2010/main" val="68864814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02475"/>
            <a:ext cx="9601200" cy="1485900"/>
          </a:xfrm>
        </p:spPr>
        <p:txBody>
          <a:bodyPr/>
          <a:lstStyle/>
          <a:p>
            <a:r>
              <a:rPr lang="en-US" dirty="0"/>
              <a:t>Markov chain</a:t>
            </a:r>
            <a:br>
              <a:rPr lang="en-US" dirty="0"/>
            </a:br>
            <a:endParaRPr lang="en-US" dirty="0"/>
          </a:p>
        </p:txBody>
      </p:sp>
      <p:sp>
        <p:nvSpPr>
          <p:cNvPr id="3" name="Content Placeholder 2"/>
          <p:cNvSpPr>
            <a:spLocks noGrp="1"/>
          </p:cNvSpPr>
          <p:nvPr>
            <p:ph idx="1"/>
          </p:nvPr>
        </p:nvSpPr>
        <p:spPr>
          <a:xfrm>
            <a:off x="1489165" y="809896"/>
            <a:ext cx="10019211" cy="5590904"/>
          </a:xfrm>
        </p:spPr>
        <p:txBody>
          <a:bodyPr>
            <a:normAutofit fontScale="92500" lnSpcReduction="20000"/>
          </a:bodyPr>
          <a:lstStyle/>
          <a:p>
            <a:pPr algn="just"/>
            <a:r>
              <a:rPr lang="en-US" dirty="0"/>
              <a:t>A Markov process is a stochastic process that satisfies the Markov property (sometimes characterized as "memorylessness"). In simpler terms, it is a process for which predictions can be made regarding future outcomes based solely on its present state and—most importantly—such predictions are just as good as the ones that could be made knowing the process's full history</a:t>
            </a:r>
            <a:r>
              <a:rPr lang="en-US" dirty="0" smtClean="0"/>
              <a:t>.</a:t>
            </a:r>
            <a:r>
              <a:rPr lang="en-US" dirty="0"/>
              <a:t> In other words, conditional on the present state of the system, its future and past states are independent.</a:t>
            </a:r>
          </a:p>
          <a:p>
            <a:pPr algn="just"/>
            <a:r>
              <a:rPr lang="en-US" dirty="0"/>
              <a:t>A Markov chain is a type of Markov process that has either a discrete state space or a discrete index set (often representing time), but the precise definition of a Markov chain </a:t>
            </a:r>
            <a:r>
              <a:rPr lang="en-US" dirty="0" err="1" smtClean="0"/>
              <a:t>varies.For</a:t>
            </a:r>
            <a:r>
              <a:rPr lang="en-US" dirty="0" smtClean="0"/>
              <a:t> </a:t>
            </a:r>
            <a:r>
              <a:rPr lang="en-US" dirty="0"/>
              <a:t>example, it is common to define a Markov chain as a Markov process in either discrete or continuous time with a countable state space (thus regardless of the nature of time</a:t>
            </a:r>
            <a:r>
              <a:rPr lang="en-US" dirty="0" smtClean="0"/>
              <a:t>),but </a:t>
            </a:r>
            <a:r>
              <a:rPr lang="en-US" dirty="0"/>
              <a:t>it is also common to define a Markov chain as having discrete time in either countable or continuous state space (thus regardless of the state space</a:t>
            </a:r>
            <a:r>
              <a:rPr lang="en-US" dirty="0" smtClean="0"/>
              <a:t>).</a:t>
            </a:r>
          </a:p>
          <a:p>
            <a:pPr algn="just"/>
            <a:r>
              <a:rPr lang="en-US" dirty="0"/>
              <a:t>A discrete-time Markov chain is a sequence of random variables </a:t>
            </a:r>
            <a:r>
              <a:rPr lang="en-US" i="1" dirty="0"/>
              <a:t>X</a:t>
            </a:r>
            <a:r>
              <a:rPr lang="en-US" baseline="-25000" dirty="0"/>
              <a:t>1</a:t>
            </a:r>
            <a:r>
              <a:rPr lang="en-US" dirty="0"/>
              <a:t>, </a:t>
            </a:r>
            <a:r>
              <a:rPr lang="en-US" i="1" dirty="0"/>
              <a:t>X</a:t>
            </a:r>
            <a:r>
              <a:rPr lang="en-US" baseline="-25000" dirty="0"/>
              <a:t>2</a:t>
            </a:r>
            <a:r>
              <a:rPr lang="en-US" dirty="0"/>
              <a:t>, </a:t>
            </a:r>
            <a:r>
              <a:rPr lang="en-US" i="1" dirty="0"/>
              <a:t>X</a:t>
            </a:r>
            <a:r>
              <a:rPr lang="en-US" baseline="-25000" dirty="0"/>
              <a:t>3</a:t>
            </a:r>
            <a:r>
              <a:rPr lang="en-US" dirty="0"/>
              <a:t>, ... with the Markov property, namely that the probability of moving to the next state depends only on the present state and not on the previous states</a:t>
            </a:r>
            <a:r>
              <a:rPr lang="en-US" dirty="0" smtClean="0"/>
              <a:t>:</a:t>
            </a:r>
          </a:p>
          <a:p>
            <a:pPr marL="0" indent="0">
              <a:buNone/>
            </a:pPr>
            <a:endParaRPr lang="en-US" dirty="0" smtClean="0"/>
          </a:p>
          <a:p>
            <a:pPr marL="0" indent="0" algn="just">
              <a:buNone/>
            </a:pPr>
            <a:r>
              <a:rPr lang="en-US" dirty="0" smtClean="0"/>
              <a:t>if </a:t>
            </a:r>
            <a:r>
              <a:rPr lang="en-US" dirty="0"/>
              <a:t>both conditional probabilities are well defined, that is, if </a:t>
            </a:r>
            <a:endParaRPr lang="en-US" dirty="0" smtClean="0"/>
          </a:p>
          <a:p>
            <a:pPr marL="0" indent="0">
              <a:buNone/>
            </a:pPr>
            <a:endParaRPr lang="en-US" dirty="0"/>
          </a:p>
          <a:p>
            <a:pPr marL="0" indent="0" algn="just">
              <a:buNone/>
            </a:pPr>
            <a:r>
              <a:rPr lang="en-US" dirty="0" smtClean="0"/>
              <a:t>The </a:t>
            </a:r>
            <a:r>
              <a:rPr lang="en-US" dirty="0"/>
              <a:t>possible values of Xi form a countable set S called the state space of the chain.</a:t>
            </a:r>
          </a:p>
          <a:p>
            <a:endParaRPr lang="en-US" dirty="0"/>
          </a:p>
        </p:txBody>
      </p:sp>
      <p:grpSp>
        <p:nvGrpSpPr>
          <p:cNvPr id="14" name="Group 13"/>
          <p:cNvGrpSpPr/>
          <p:nvPr/>
        </p:nvGrpSpPr>
        <p:grpSpPr>
          <a:xfrm>
            <a:off x="4184059" y="4345644"/>
            <a:ext cx="6105525" cy="1127623"/>
            <a:chOff x="3792174" y="4319518"/>
            <a:chExt cx="6105525" cy="1127623"/>
          </a:xfrm>
        </p:grpSpPr>
        <p:pic>
          <p:nvPicPr>
            <p:cNvPr id="12" name="Picture 11"/>
            <p:cNvPicPr>
              <a:picLocks noChangeAspect="1"/>
            </p:cNvPicPr>
            <p:nvPr/>
          </p:nvPicPr>
          <p:blipFill>
            <a:blip r:embed="rId2"/>
            <a:stretch>
              <a:fillRect/>
            </a:stretch>
          </p:blipFill>
          <p:spPr>
            <a:xfrm>
              <a:off x="3792174" y="4319518"/>
              <a:ext cx="6105525" cy="352425"/>
            </a:xfrm>
            <a:prstGeom prst="rect">
              <a:avLst/>
            </a:prstGeom>
          </p:spPr>
        </p:pic>
        <p:pic>
          <p:nvPicPr>
            <p:cNvPr id="13" name="Picture 12"/>
            <p:cNvPicPr>
              <a:picLocks noChangeAspect="1"/>
            </p:cNvPicPr>
            <p:nvPr/>
          </p:nvPicPr>
          <p:blipFill>
            <a:blip r:embed="rId3"/>
            <a:stretch>
              <a:fillRect/>
            </a:stretch>
          </p:blipFill>
          <p:spPr>
            <a:xfrm>
              <a:off x="7092722" y="5151866"/>
              <a:ext cx="2600325" cy="295275"/>
            </a:xfrm>
            <a:prstGeom prst="rect">
              <a:avLst/>
            </a:prstGeom>
          </p:spPr>
        </p:pic>
      </p:grpSp>
    </p:spTree>
    <p:extLst>
      <p:ext uri="{BB962C8B-B14F-4D97-AF65-F5344CB8AC3E}">
        <p14:creationId xmlns:p14="http://schemas.microsoft.com/office/powerpoint/2010/main" val="36075335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0"/>
            <a:ext cx="9499600" cy="736600"/>
          </a:xfrm>
        </p:spPr>
        <p:txBody>
          <a:bodyPr>
            <a:normAutofit fontScale="90000"/>
          </a:bodyPr>
          <a:lstStyle/>
          <a:p>
            <a:r>
              <a:rPr lang="en-US" b="1" dirty="0"/>
              <a:t>Transitions</a:t>
            </a:r>
            <a:br>
              <a:rPr lang="en-US" b="1" dirty="0"/>
            </a:br>
            <a:endParaRPr lang="en-US" dirty="0"/>
          </a:p>
        </p:txBody>
      </p:sp>
      <p:sp>
        <p:nvSpPr>
          <p:cNvPr id="3" name="Content Placeholder 2"/>
          <p:cNvSpPr>
            <a:spLocks noGrp="1"/>
          </p:cNvSpPr>
          <p:nvPr>
            <p:ph idx="1"/>
          </p:nvPr>
        </p:nvSpPr>
        <p:spPr>
          <a:xfrm>
            <a:off x="1371600" y="558800"/>
            <a:ext cx="10109200" cy="5321300"/>
          </a:xfrm>
        </p:spPr>
        <p:txBody>
          <a:bodyPr>
            <a:normAutofit fontScale="92500" lnSpcReduction="10000"/>
          </a:bodyPr>
          <a:lstStyle/>
          <a:p>
            <a:r>
              <a:rPr lang="en-US" dirty="0" smtClean="0"/>
              <a:t>The </a:t>
            </a:r>
            <a:r>
              <a:rPr lang="en-US" dirty="0"/>
              <a:t>changes of state of the system are called transitions. The probabilities associated with various state changes are called transition probabilities. The process is characterized by a state space, a transition matrix describing the probabilities of particular transitions, and an initial state (or initial distribution) across the state space. By convention, we assume all possible states and transitions have been included in the definition of the process, so there is always a next state, and the process does not terminate</a:t>
            </a:r>
            <a:r>
              <a:rPr lang="en-US" dirty="0" smtClean="0"/>
              <a:t>.</a:t>
            </a:r>
          </a:p>
          <a:p>
            <a:r>
              <a:rPr lang="en-US" b="1" dirty="0" smtClean="0"/>
              <a:t>Visualizing with an Example</a:t>
            </a:r>
          </a:p>
          <a:p>
            <a:pPr marL="0" indent="0">
              <a:buNone/>
            </a:pPr>
            <a:r>
              <a:rPr lang="en-US" dirty="0" smtClean="0"/>
              <a:t>a </a:t>
            </a:r>
            <a:r>
              <a:rPr lang="en-US" dirty="0"/>
              <a:t>simple weather system where:</a:t>
            </a:r>
          </a:p>
          <a:p>
            <a:pPr marL="457200" indent="-457200">
              <a:buFont typeface="+mj-lt"/>
              <a:buAutoNum type="arabicPeriod"/>
            </a:pPr>
            <a:r>
              <a:rPr lang="en-US" dirty="0"/>
              <a:t>If today is </a:t>
            </a:r>
            <a:r>
              <a:rPr lang="en-US" b="1" dirty="0"/>
              <a:t>Sunny</a:t>
            </a:r>
            <a:r>
              <a:rPr lang="en-US" dirty="0"/>
              <a:t>, there is an 80% chance it is sunny </a:t>
            </a:r>
            <a:r>
              <a:rPr lang="en-US" dirty="0" smtClean="0"/>
              <a:t>tomorrow and</a:t>
            </a:r>
          </a:p>
          <a:p>
            <a:pPr marL="457200" indent="-457200">
              <a:buFont typeface="+mj-lt"/>
              <a:buAutoNum type="arabicPeriod"/>
            </a:pPr>
            <a:r>
              <a:rPr lang="en-US" dirty="0" smtClean="0"/>
              <a:t>If </a:t>
            </a:r>
            <a:r>
              <a:rPr lang="en-US" dirty="0"/>
              <a:t>today is </a:t>
            </a:r>
            <a:r>
              <a:rPr lang="en-US" b="1" dirty="0"/>
              <a:t>Rainy</a:t>
            </a:r>
            <a:r>
              <a:rPr lang="en-US" dirty="0"/>
              <a:t>, there is a 40% chance it is sunny </a:t>
            </a:r>
            <a:r>
              <a:rPr lang="en-US" dirty="0" smtClean="0"/>
              <a:t>tomorrow</a:t>
            </a:r>
            <a:endParaRPr lang="en-US" dirty="0"/>
          </a:p>
          <a:p>
            <a:r>
              <a:rPr lang="en-US" dirty="0"/>
              <a:t> An insurance company classifies drivers as low risk if they are accident free for one year </a:t>
            </a:r>
            <a:r>
              <a:rPr lang="en-US" dirty="0" err="1"/>
              <a:t>Pust</a:t>
            </a:r>
            <a:r>
              <a:rPr lang="en-US" dirty="0"/>
              <a:t> </a:t>
            </a:r>
            <a:r>
              <a:rPr lang="en-US" dirty="0" smtClean="0"/>
              <a:t>record indicate </a:t>
            </a:r>
            <a:r>
              <a:rPr lang="en-US" dirty="0"/>
              <a:t>that 98% of the drivers in the low risk category </a:t>
            </a:r>
            <a:r>
              <a:rPr lang="en-US" dirty="0" err="1"/>
              <a:t>i</a:t>
            </a:r>
            <a:r>
              <a:rPr lang="en-US" dirty="0"/>
              <a:t> will remain in that category the next year, and 78% of the drivers who are not in the low risk category (L) one year will be in the low-risk category the next year</a:t>
            </a:r>
            <a:r>
              <a:rPr lang="en-US" dirty="0" smtClean="0"/>
              <a:t>.</a:t>
            </a:r>
          </a:p>
          <a:p>
            <a:pPr marL="0" indent="0">
              <a:buNone/>
            </a:pPr>
            <a:r>
              <a:rPr lang="en-US" dirty="0"/>
              <a:t>If 90% of the drivers in the community are in the low-risk category this year, what is the probability that a driver chosen at random from the community will be in the low-risk category the next year? The year after next ? </a:t>
            </a:r>
          </a:p>
        </p:txBody>
      </p:sp>
    </p:spTree>
    <p:extLst>
      <p:ext uri="{BB962C8B-B14F-4D97-AF65-F5344CB8AC3E}">
        <p14:creationId xmlns:p14="http://schemas.microsoft.com/office/powerpoint/2010/main" val="281224306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723900"/>
          </a:xfrm>
        </p:spPr>
        <p:txBody>
          <a:bodyPr>
            <a:normAutofit fontScale="90000"/>
          </a:bodyPr>
          <a:lstStyle/>
          <a:p>
            <a:r>
              <a:rPr lang="en-US" b="1" dirty="0" smtClean="0"/>
              <a:t>Example</a:t>
            </a:r>
            <a:r>
              <a:rPr lang="en-US" b="1" dirty="0"/>
              <a:t/>
            </a:r>
            <a:br>
              <a:rPr lang="en-US" b="1" dirty="0"/>
            </a:br>
            <a:endParaRPr lang="en-US" dirty="0"/>
          </a:p>
        </p:txBody>
      </p:sp>
      <p:sp>
        <p:nvSpPr>
          <p:cNvPr id="3" name="Content Placeholder 2"/>
          <p:cNvSpPr>
            <a:spLocks noGrp="1"/>
          </p:cNvSpPr>
          <p:nvPr>
            <p:ph idx="1"/>
          </p:nvPr>
        </p:nvSpPr>
        <p:spPr>
          <a:xfrm>
            <a:off x="1371600" y="1320800"/>
            <a:ext cx="9601200" cy="4546600"/>
          </a:xfrm>
        </p:spPr>
        <p:txBody>
          <a:bodyPr>
            <a:normAutofit fontScale="92500" lnSpcReduction="10000"/>
          </a:bodyPr>
          <a:lstStyle/>
          <a:p>
            <a:pPr algn="just"/>
            <a:r>
              <a:rPr lang="en-US" dirty="0"/>
              <a:t>In the Dark Ages, Harvard, Dartmouth, and Yale admitted only male students. Assume that, at that time 80 percent of the sons of Harvard men went to Harvard and the rest went to Yale, 40 percent of the sons of Yale men went to Yale, and the rest split evenly between Harvard and Dartmouth; and of the sons of Dartmouth men, 70 percent went to Dartmouth, </a:t>
            </a:r>
            <a:r>
              <a:rPr lang="en-US" dirty="0" smtClean="0"/>
              <a:t>20% to </a:t>
            </a:r>
            <a:r>
              <a:rPr lang="en-US" dirty="0" err="1" smtClean="0"/>
              <a:t>harvard</a:t>
            </a:r>
            <a:r>
              <a:rPr lang="en-US" dirty="0" smtClean="0"/>
              <a:t>, </a:t>
            </a:r>
            <a:r>
              <a:rPr lang="en-US" dirty="0"/>
              <a:t>and 10 percent to Yale. (</a:t>
            </a:r>
            <a:r>
              <a:rPr lang="en-US" dirty="0" err="1"/>
              <a:t>i</a:t>
            </a:r>
            <a:r>
              <a:rPr lang="en-US" dirty="0"/>
              <a:t>) Find the probability Harvard. (ii) Modify the above by assuming that the </a:t>
            </a:r>
            <a:r>
              <a:rPr lang="en-US" dirty="0" smtClean="0"/>
              <a:t>son of </a:t>
            </a:r>
            <a:r>
              <a:rPr lang="en-US" dirty="0"/>
              <a:t>a Harvard man always went to Harvard. Again, find the probability that the grandson of a man from Harvard went to Harvard</a:t>
            </a:r>
            <a:r>
              <a:rPr lang="en-US" dirty="0" smtClean="0"/>
              <a:t>.</a:t>
            </a:r>
          </a:p>
          <a:p>
            <a:pPr algn="just"/>
            <a:r>
              <a:rPr lang="en-US" dirty="0"/>
              <a:t>Assume that a man's profession can be classified as professional, skilled laborer, or unskilled laborer. Assume that, of the sons of professional men, 80 percent are professional, 10 percent are skilled laborers, and 10 percent are unskilled laborers. In the case of sons of skilled laborers, 60 percent are skilled laborers, 20 percent are professional, and 20 percent are unskilled. Finally, in the case of unskilled laborers, 50 percent of the sons are unskilled laborers, and 25 percent each are in the other two categories. Assume that every man has at least one son, and form a Markov chain by </a:t>
            </a:r>
            <a:r>
              <a:rPr lang="en-US" dirty="0" err="1"/>
              <a:t>followin</a:t>
            </a:r>
            <a:r>
              <a:rPr lang="en-US" dirty="0"/>
              <a:t> the profession of a randomly chosen son of a given </a:t>
            </a:r>
            <a:r>
              <a:rPr lang="en-US" dirty="0" err="1"/>
              <a:t>famil</a:t>
            </a:r>
            <a:r>
              <a:rPr lang="en-US" dirty="0"/>
              <a:t> through several generations. Set up the matrix transition probabilities. Find the probability that randomly chosen grandson of an unskilled laborer is professional man.</a:t>
            </a:r>
          </a:p>
        </p:txBody>
      </p:sp>
    </p:spTree>
    <p:extLst>
      <p:ext uri="{BB962C8B-B14F-4D97-AF65-F5344CB8AC3E}">
        <p14:creationId xmlns:p14="http://schemas.microsoft.com/office/powerpoint/2010/main" val="3914978528"/>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Wisp</Template>
  <TotalTime>397</TotalTime>
  <Words>1880</Words>
  <Application>Microsoft Office PowerPoint</Application>
  <PresentationFormat>Widescreen</PresentationFormat>
  <Paragraphs>139</Paragraphs>
  <Slides>31</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31</vt:i4>
      </vt:variant>
    </vt:vector>
  </HeadingPairs>
  <TitlesOfParts>
    <vt:vector size="39" baseType="lpstr">
      <vt:lpstr>-apple-system</vt:lpstr>
      <vt:lpstr>Arial</vt:lpstr>
      <vt:lpstr>Century Gothic</vt:lpstr>
      <vt:lpstr>Franklin Gothic Book</vt:lpstr>
      <vt:lpstr>Nunito</vt:lpstr>
      <vt:lpstr>Wingdings 3</vt:lpstr>
      <vt:lpstr>Wisp</vt:lpstr>
      <vt:lpstr>Crop</vt:lpstr>
      <vt:lpstr>Queuing system ad performance's </vt:lpstr>
      <vt:lpstr>Queuing System</vt:lpstr>
      <vt:lpstr>PowerPoint Presentation</vt:lpstr>
      <vt:lpstr>Elements/Characteristics of Queuing System</vt:lpstr>
      <vt:lpstr>PowerPoint Presentation</vt:lpstr>
      <vt:lpstr>PowerPoint Presentation</vt:lpstr>
      <vt:lpstr>Characteristics of queuing systems</vt:lpstr>
      <vt:lpstr>PowerPoint Presentation</vt:lpstr>
      <vt:lpstr>PowerPoint Presentation</vt:lpstr>
      <vt:lpstr>Single Channel Single Phase</vt:lpstr>
      <vt:lpstr>PowerPoint Presentation</vt:lpstr>
      <vt:lpstr>Queueing Notation Kendall Notation 1/2/3(/4/5/6)</vt:lpstr>
      <vt:lpstr>Kendall Classification of Queuing Systems </vt:lpstr>
      <vt:lpstr>Kendall Classification of Queuing Systems</vt:lpstr>
      <vt:lpstr>Queuing Models </vt:lpstr>
      <vt:lpstr>1. M/M/1  </vt:lpstr>
      <vt:lpstr>PowerPoint Presentation</vt:lpstr>
      <vt:lpstr>M/M/c Queue </vt:lpstr>
      <vt:lpstr>M/D/1</vt:lpstr>
      <vt:lpstr>Measuring the Performance of the System:</vt:lpstr>
      <vt:lpstr>PowerPoint Presentation</vt:lpstr>
      <vt:lpstr>PowerPoint Presentation</vt:lpstr>
      <vt:lpstr>PowerPoint Presentation</vt:lpstr>
      <vt:lpstr>Networks of Queues</vt:lpstr>
      <vt:lpstr>Networks of Queues</vt:lpstr>
      <vt:lpstr>Networks of Queues</vt:lpstr>
      <vt:lpstr>Networks of Queues</vt:lpstr>
      <vt:lpstr>Applications of Queuing system </vt:lpstr>
      <vt:lpstr>Markov chain </vt:lpstr>
      <vt:lpstr>Transitions </vt:lpstr>
      <vt:lpstr>Example </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Queuing system ad performences </dc:title>
  <dc:creator>FCT</dc:creator>
  <cp:lastModifiedBy>FCT</cp:lastModifiedBy>
  <cp:revision>13</cp:revision>
  <dcterms:created xsi:type="dcterms:W3CDTF">2026-05-31T15:27:23Z</dcterms:created>
  <dcterms:modified xsi:type="dcterms:W3CDTF">2026-06-16T02:09:25Z</dcterms:modified>
</cp:coreProperties>
</file>