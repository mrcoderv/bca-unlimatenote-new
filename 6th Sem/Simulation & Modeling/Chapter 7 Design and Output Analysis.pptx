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8" r:id="rId25"/>
    <p:sldId id="289" r:id="rId26"/>
    <p:sldId id="280" r:id="rId27"/>
    <p:sldId id="281" r:id="rId28"/>
    <p:sldId id="282" r:id="rId29"/>
    <p:sldId id="283" r:id="rId30"/>
    <p:sldId id="284" r:id="rId31"/>
    <p:sldId id="285" r:id="rId32"/>
    <p:sldId id="286" r:id="rId33"/>
    <p:sldId id="287"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7/6/2026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7/6/2026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7/6/2026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7/6/2026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effectLst>
            <a:outerShdw blurRad="177800" dist="38100" dir="2700000" algn="tl">
              <a:srgbClr val="000000">
                <a:alpha val="24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effectLst>
            <a:outerShdw blurRad="152400" dist="38100" dir="2700000" algn="tl">
              <a:srgbClr val="000000">
                <a:alpha val="36000"/>
              </a:srgbClr>
            </a:outerShdw>
          </a:effectLst>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effectLst>
            <a:outerShdw blurRad="152400" dist="38100" dir="2700000" algn="tl">
              <a:srgbClr val="000000">
                <a:alpha val="36000"/>
              </a:srgbClr>
            </a:outerShdw>
          </a:effectLst>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effectLst>
            <a:outerShdw blurRad="152400" dist="38100" dir="2700000" algn="tl">
              <a:srgbClr val="000000">
                <a:alpha val="36000"/>
              </a:srgbClr>
            </a:outerShdw>
          </a:effectLst>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Chap 7</a:t>
            </a:r>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40275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324105"/>
            <a:ext cx="9905998" cy="1034433"/>
          </a:xfrm>
        </p:spPr>
        <p:txBody>
          <a:bodyPr/>
          <a:lstStyle/>
          <a:p>
            <a:r>
              <a:rPr lang="en-US" dirty="0"/>
              <a:t>Calibration and Validation of Model</a:t>
            </a:r>
          </a:p>
        </p:txBody>
      </p:sp>
      <p:sp>
        <p:nvSpPr>
          <p:cNvPr id="3" name="Content Placeholder 2"/>
          <p:cNvSpPr>
            <a:spLocks noGrp="1"/>
          </p:cNvSpPr>
          <p:nvPr>
            <p:ph idx="1"/>
          </p:nvPr>
        </p:nvSpPr>
        <p:spPr>
          <a:xfrm>
            <a:off x="1141412" y="1358538"/>
            <a:ext cx="9905999" cy="5107576"/>
          </a:xfrm>
        </p:spPr>
        <p:txBody>
          <a:bodyPr>
            <a:normAutofit fontScale="92500" lnSpcReduction="20000"/>
          </a:bodyPr>
          <a:lstStyle/>
          <a:p>
            <a:r>
              <a:rPr lang="en-US" dirty="0"/>
              <a:t>Validation is the overall process of comparing the model and its behavior to the real system and its behavior. </a:t>
            </a:r>
            <a:endParaRPr lang="en-US" dirty="0" smtClean="0"/>
          </a:p>
          <a:p>
            <a:r>
              <a:rPr lang="en-US" dirty="0" smtClean="0"/>
              <a:t> </a:t>
            </a:r>
            <a:r>
              <a:rPr lang="en-US" dirty="0"/>
              <a:t>Calibration is the iterative process of comparing the model to the real </a:t>
            </a:r>
            <a:r>
              <a:rPr lang="en-US" dirty="0" smtClean="0"/>
              <a:t>system.</a:t>
            </a:r>
          </a:p>
          <a:p>
            <a:r>
              <a:rPr lang="en-US" dirty="0" smtClean="0"/>
              <a:t>Making </a:t>
            </a:r>
            <a:r>
              <a:rPr lang="en-US" dirty="0"/>
              <a:t>adjustment or changes to the model comparing the Making adjustment or changes to the model, comparing the revised model to reality and so </a:t>
            </a:r>
            <a:r>
              <a:rPr lang="en-US" dirty="0" smtClean="0"/>
              <a:t>on.</a:t>
            </a:r>
          </a:p>
          <a:p>
            <a:r>
              <a:rPr lang="en-US" dirty="0" smtClean="0"/>
              <a:t>The </a:t>
            </a:r>
            <a:r>
              <a:rPr lang="en-US" dirty="0"/>
              <a:t>comparison of the model to reality is carried out by subjective and objective tests. </a:t>
            </a:r>
            <a:endParaRPr lang="en-US" dirty="0" smtClean="0"/>
          </a:p>
          <a:p>
            <a:pPr marL="0" indent="0">
              <a:buNone/>
            </a:pPr>
            <a:r>
              <a:rPr lang="en-US" dirty="0"/>
              <a:t>A subjective test involves talking to people, who are knowledgeable about the system making models and forming knowledgeable about the system making models and forming the judgment. </a:t>
            </a:r>
            <a:endParaRPr lang="en-US" dirty="0" smtClean="0"/>
          </a:p>
          <a:p>
            <a:pPr marL="0" indent="0">
              <a:buNone/>
            </a:pPr>
            <a:r>
              <a:rPr lang="en-US" dirty="0" smtClean="0"/>
              <a:t>-</a:t>
            </a:r>
            <a:r>
              <a:rPr lang="en-US" dirty="0"/>
              <a:t>Objective tests involve one or more statistical tests to compare some model output with the assumptions in the model</a:t>
            </a:r>
          </a:p>
        </p:txBody>
      </p:sp>
    </p:spTree>
    <p:extLst>
      <p:ext uri="{BB962C8B-B14F-4D97-AF65-F5344CB8AC3E}">
        <p14:creationId xmlns:p14="http://schemas.microsoft.com/office/powerpoint/2010/main" val="3522070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949025"/>
          </a:xfrm>
        </p:spPr>
        <p:txBody>
          <a:bodyPr>
            <a:normAutofit fontScale="90000"/>
          </a:bodyPr>
          <a:lstStyle/>
          <a:p>
            <a:r>
              <a:rPr lang="en-US" b="1" dirty="0">
                <a:effectLst/>
              </a:rPr>
              <a:t>Calibration and validation of models</a:t>
            </a:r>
            <a:r>
              <a:rPr lang="en-US" dirty="0">
                <a:effectLst/>
              </a:rPr>
              <a:t/>
            </a:r>
            <a:br>
              <a:rPr lang="en-US" dirty="0">
                <a:effectLst/>
              </a:rPr>
            </a:br>
            <a:endParaRPr lang="en-US" dirty="0"/>
          </a:p>
        </p:txBody>
      </p:sp>
      <p:sp>
        <p:nvSpPr>
          <p:cNvPr id="3" name="Content Placeholder 2"/>
          <p:cNvSpPr>
            <a:spLocks noGrp="1"/>
          </p:cNvSpPr>
          <p:nvPr>
            <p:ph idx="1"/>
          </p:nvPr>
        </p:nvSpPr>
        <p:spPr>
          <a:xfrm>
            <a:off x="1141412" y="1214846"/>
            <a:ext cx="10314714" cy="5290457"/>
          </a:xfrm>
        </p:spPr>
        <p:txBody>
          <a:bodyPr>
            <a:normAutofit fontScale="85000" lnSpcReduction="20000"/>
          </a:bodyPr>
          <a:lstStyle/>
          <a:p>
            <a:r>
              <a:rPr lang="en-US" dirty="0"/>
              <a:t>For a given program, while common sense verification is possible, strict verification of a model is intractable, very much similar to the proof of correctness of a program much similar to the proof of correctness of a program. </a:t>
            </a:r>
            <a:endParaRPr lang="en-US" dirty="0" smtClean="0"/>
          </a:p>
          <a:p>
            <a:r>
              <a:rPr lang="en-US" dirty="0" smtClean="0"/>
              <a:t> </a:t>
            </a:r>
            <a:r>
              <a:rPr lang="en-US" dirty="0"/>
              <a:t>Validation is a process of comparing the model and its behavior to the real system and its behavior. </a:t>
            </a:r>
          </a:p>
          <a:p>
            <a:r>
              <a:rPr lang="en-US" dirty="0" smtClean="0"/>
              <a:t> </a:t>
            </a:r>
            <a:r>
              <a:rPr lang="en-US" dirty="0"/>
              <a:t>Calibration is the iterative process of comparing the model Calibration is the iterative process of comparing the model with real system, revising the model if necessary, comparing again, until a model is accepted (</a:t>
            </a:r>
            <a:r>
              <a:rPr lang="en-US" dirty="0" smtClean="0"/>
              <a:t>validated)</a:t>
            </a:r>
            <a:endParaRPr lang="en-US" b="1" i="1" dirty="0" smtClean="0">
              <a:effectLst/>
            </a:endParaRPr>
          </a:p>
          <a:p>
            <a:r>
              <a:rPr lang="en-US" b="1" i="1" dirty="0" smtClean="0">
                <a:effectLst/>
              </a:rPr>
              <a:t>Naylor </a:t>
            </a:r>
            <a:r>
              <a:rPr lang="en-US" b="1" i="1" dirty="0">
                <a:effectLst/>
              </a:rPr>
              <a:t>and Finger Simulation Model Validation:</a:t>
            </a:r>
            <a:endParaRPr lang="en-US" dirty="0">
              <a:effectLst/>
            </a:endParaRPr>
          </a:p>
          <a:p>
            <a:r>
              <a:rPr lang="en-US" dirty="0">
                <a:effectLst/>
              </a:rPr>
              <a:t>Naylor and Finger proposed three step approach for validation process. These steps are as follows:</a:t>
            </a:r>
            <a:br>
              <a:rPr lang="en-US" dirty="0">
                <a:effectLst/>
              </a:rPr>
            </a:br>
            <a:r>
              <a:rPr lang="en-US" dirty="0">
                <a:effectLst/>
              </a:rPr>
              <a:t>1. Face Validity</a:t>
            </a:r>
            <a:br>
              <a:rPr lang="en-US" dirty="0">
                <a:effectLst/>
              </a:rPr>
            </a:br>
            <a:r>
              <a:rPr lang="en-US" dirty="0">
                <a:effectLst/>
              </a:rPr>
              <a:t>2. Validate Model Assumptions</a:t>
            </a:r>
            <a:br>
              <a:rPr lang="en-US" dirty="0">
                <a:effectLst/>
              </a:rPr>
            </a:br>
            <a:r>
              <a:rPr lang="en-US" dirty="0">
                <a:effectLst/>
              </a:rPr>
              <a:t>3. Input - Output Transformation</a:t>
            </a:r>
          </a:p>
          <a:p>
            <a:endParaRPr lang="en-US" dirty="0"/>
          </a:p>
        </p:txBody>
      </p:sp>
    </p:spTree>
    <p:extLst>
      <p:ext uri="{BB962C8B-B14F-4D97-AF65-F5344CB8AC3E}">
        <p14:creationId xmlns:p14="http://schemas.microsoft.com/office/powerpoint/2010/main" val="396298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Face Validity</a:t>
            </a:r>
          </a:p>
        </p:txBody>
      </p:sp>
      <p:sp>
        <p:nvSpPr>
          <p:cNvPr id="3" name="Content Placeholder 2"/>
          <p:cNvSpPr>
            <a:spLocks noGrp="1"/>
          </p:cNvSpPr>
          <p:nvPr>
            <p:ph idx="1"/>
          </p:nvPr>
        </p:nvSpPr>
        <p:spPr/>
        <p:txBody>
          <a:bodyPr/>
          <a:lstStyle/>
          <a:p>
            <a:r>
              <a:rPr lang="en-US" dirty="0"/>
              <a:t>Build a ``reasonable model'' on its face to model users who are knowledgeable about the real system </a:t>
            </a:r>
            <a:r>
              <a:rPr lang="en-US" dirty="0" smtClean="0"/>
              <a:t>being </a:t>
            </a:r>
            <a:r>
              <a:rPr lang="en-US" dirty="0"/>
              <a:t>simulated</a:t>
            </a:r>
            <a:r>
              <a:rPr lang="en-US" dirty="0" smtClean="0"/>
              <a:t>.</a:t>
            </a:r>
          </a:p>
          <a:p>
            <a:endParaRPr lang="en-US" dirty="0"/>
          </a:p>
        </p:txBody>
      </p:sp>
    </p:spTree>
    <p:extLst>
      <p:ext uri="{BB962C8B-B14F-4D97-AF65-F5344CB8AC3E}">
        <p14:creationId xmlns:p14="http://schemas.microsoft.com/office/powerpoint/2010/main" val="1760473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Validation of Model Assumptions </a:t>
            </a:r>
          </a:p>
        </p:txBody>
      </p:sp>
      <p:sp>
        <p:nvSpPr>
          <p:cNvPr id="3" name="Content Placeholder 2"/>
          <p:cNvSpPr>
            <a:spLocks noGrp="1"/>
          </p:cNvSpPr>
          <p:nvPr>
            <p:ph idx="1"/>
          </p:nvPr>
        </p:nvSpPr>
        <p:spPr>
          <a:xfrm>
            <a:off x="1141412" y="1685110"/>
            <a:ext cx="9905999" cy="4650376"/>
          </a:xfrm>
        </p:spPr>
        <p:txBody>
          <a:bodyPr>
            <a:normAutofit/>
          </a:bodyPr>
          <a:lstStyle/>
          <a:p>
            <a:r>
              <a:rPr lang="en-US" dirty="0" smtClean="0"/>
              <a:t> </a:t>
            </a:r>
            <a:r>
              <a:rPr lang="en-US" dirty="0">
                <a:latin typeface="Arial Narrow" panose="020B0606020202030204" pitchFamily="34" charset="0"/>
              </a:rPr>
              <a:t>Model assumptions fall into two categories: structural assumptions and data assumptions</a:t>
            </a:r>
            <a:r>
              <a:rPr lang="en-US" dirty="0" smtClean="0">
                <a:latin typeface="Arial Narrow" panose="020B0606020202030204" pitchFamily="34" charset="0"/>
              </a:rPr>
              <a:t>.</a:t>
            </a:r>
          </a:p>
          <a:p>
            <a:r>
              <a:rPr lang="en-US" dirty="0" smtClean="0">
                <a:latin typeface="Arial Narrow" panose="020B0606020202030204" pitchFamily="34" charset="0"/>
              </a:rPr>
              <a:t> Structural </a:t>
            </a:r>
            <a:r>
              <a:rPr lang="en-US" dirty="0">
                <a:latin typeface="Arial Narrow" panose="020B0606020202030204" pitchFamily="34" charset="0"/>
              </a:rPr>
              <a:t>assumptions deal with such questions as how the Structural assumptions deal with such questions as how the system operates, what kind of model should be used, queueing, inventory, reliability, and others. </a:t>
            </a:r>
            <a:endParaRPr lang="en-US" dirty="0" smtClean="0">
              <a:latin typeface="Arial Narrow" panose="020B0606020202030204" pitchFamily="34" charset="0"/>
            </a:endParaRPr>
          </a:p>
          <a:p>
            <a:r>
              <a:rPr lang="en-US" dirty="0" smtClean="0">
                <a:latin typeface="Arial Narrow" panose="020B0606020202030204" pitchFamily="34" charset="0"/>
              </a:rPr>
              <a:t> </a:t>
            </a:r>
            <a:r>
              <a:rPr lang="en-US" dirty="0">
                <a:latin typeface="Arial Narrow" panose="020B0606020202030204" pitchFamily="34" charset="0"/>
              </a:rPr>
              <a:t>Data assumptions: what kind of input data model </a:t>
            </a:r>
            <a:r>
              <a:rPr lang="en-US" dirty="0" smtClean="0">
                <a:latin typeface="Arial Narrow" panose="020B0606020202030204" pitchFamily="34" charset="0"/>
              </a:rPr>
              <a:t>is? </a:t>
            </a:r>
            <a:r>
              <a:rPr lang="en-US" dirty="0">
                <a:latin typeface="Arial Narrow" panose="020B0606020202030204" pitchFamily="34" charset="0"/>
              </a:rPr>
              <a:t>What Data assumptions: what kind of input data model is? What are the parameter values to the input data model? </a:t>
            </a:r>
          </a:p>
        </p:txBody>
      </p:sp>
    </p:spTree>
    <p:extLst>
      <p:ext uri="{BB962C8B-B14F-4D97-AF65-F5344CB8AC3E}">
        <p14:creationId xmlns:p14="http://schemas.microsoft.com/office/powerpoint/2010/main" val="35172143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Validating </a:t>
            </a:r>
            <a:r>
              <a:rPr lang="en-US" dirty="0"/>
              <a:t>Input -Output Transformations</a:t>
            </a:r>
          </a:p>
        </p:txBody>
      </p:sp>
      <p:sp>
        <p:nvSpPr>
          <p:cNvPr id="3" name="Content Placeholder 2"/>
          <p:cNvSpPr>
            <a:spLocks noGrp="1"/>
          </p:cNvSpPr>
          <p:nvPr>
            <p:ph idx="1"/>
          </p:nvPr>
        </p:nvSpPr>
        <p:spPr>
          <a:xfrm>
            <a:off x="1141412" y="1965278"/>
            <a:ext cx="9905999" cy="3944203"/>
          </a:xfrm>
        </p:spPr>
        <p:txBody>
          <a:bodyPr/>
          <a:lstStyle/>
          <a:p>
            <a:pPr marL="0" indent="0">
              <a:buNone/>
            </a:pPr>
            <a:r>
              <a:rPr lang="en-US" dirty="0" smtClean="0"/>
              <a:t>View </a:t>
            </a:r>
            <a:r>
              <a:rPr lang="en-US" dirty="0"/>
              <a:t>the model as a black box </a:t>
            </a:r>
            <a:endParaRPr lang="en-US" dirty="0" smtClean="0"/>
          </a:p>
          <a:p>
            <a:pPr marL="0" indent="0">
              <a:buNone/>
            </a:pPr>
            <a:r>
              <a:rPr lang="en-US" dirty="0" smtClean="0"/>
              <a:t>Feed </a:t>
            </a:r>
            <a:r>
              <a:rPr lang="en-US" dirty="0"/>
              <a:t>the in put at one end and examine the output at the other end </a:t>
            </a:r>
            <a:endParaRPr lang="en-US" dirty="0" smtClean="0"/>
          </a:p>
          <a:p>
            <a:pPr marL="0" indent="0">
              <a:buNone/>
            </a:pPr>
            <a:r>
              <a:rPr lang="en-US" dirty="0" smtClean="0"/>
              <a:t>Use </a:t>
            </a:r>
            <a:r>
              <a:rPr lang="en-US" dirty="0"/>
              <a:t>the same input for a real system, compare the output with the model output </a:t>
            </a:r>
            <a:r>
              <a:rPr lang="en-US" dirty="0" smtClean="0"/>
              <a:t> </a:t>
            </a:r>
            <a:r>
              <a:rPr lang="en-US" dirty="0"/>
              <a:t>If they fit closely, the black box seems working fine </a:t>
            </a:r>
            <a:endParaRPr lang="en-US" dirty="0" smtClean="0"/>
          </a:p>
          <a:p>
            <a:pPr marL="0" indent="0">
              <a:buNone/>
            </a:pPr>
            <a:r>
              <a:rPr lang="en-US" dirty="0" smtClean="0"/>
              <a:t>Otherwise</a:t>
            </a:r>
            <a:r>
              <a:rPr lang="en-US" dirty="0"/>
              <a:t>, something is </a:t>
            </a:r>
            <a:r>
              <a:rPr lang="en-US" dirty="0" smtClean="0"/>
              <a:t>wrong</a:t>
            </a:r>
            <a:endParaRPr lang="en-US" dirty="0"/>
          </a:p>
        </p:txBody>
      </p:sp>
    </p:spTree>
    <p:extLst>
      <p:ext uri="{BB962C8B-B14F-4D97-AF65-F5344CB8AC3E}">
        <p14:creationId xmlns:p14="http://schemas.microsoft.com/office/powerpoint/2010/main" val="22616854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592" y="0"/>
            <a:ext cx="9905998" cy="1478570"/>
          </a:xfrm>
        </p:spPr>
        <p:txBody>
          <a:bodyPr/>
          <a:lstStyle/>
          <a:p>
            <a:r>
              <a:rPr lang="en-US" dirty="0"/>
              <a:t>From modeling to simulation: model building, verification and validation</a:t>
            </a:r>
          </a:p>
        </p:txBody>
      </p:sp>
      <p:pic>
        <p:nvPicPr>
          <p:cNvPr id="4" name="Content Placeholder 3"/>
          <p:cNvPicPr>
            <a:picLocks noGrp="1" noChangeAspect="1"/>
          </p:cNvPicPr>
          <p:nvPr>
            <p:ph idx="1"/>
          </p:nvPr>
        </p:nvPicPr>
        <p:blipFill>
          <a:blip r:embed="rId2"/>
          <a:stretch>
            <a:fillRect/>
          </a:stretch>
        </p:blipFill>
        <p:spPr>
          <a:xfrm>
            <a:off x="962592" y="1175658"/>
            <a:ext cx="10263640" cy="5682342"/>
          </a:xfrm>
          <a:prstGeom prst="rect">
            <a:avLst/>
          </a:prstGeom>
        </p:spPr>
      </p:pic>
    </p:spTree>
    <p:extLst>
      <p:ext uri="{BB962C8B-B14F-4D97-AF65-F5344CB8AC3E}">
        <p14:creationId xmlns:p14="http://schemas.microsoft.com/office/powerpoint/2010/main" val="10026854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dirty="0"/>
              <a:t>Model Calibration and Validation</a:t>
            </a:r>
          </a:p>
        </p:txBody>
      </p:sp>
      <p:pic>
        <p:nvPicPr>
          <p:cNvPr id="4" name="Content Placeholder 3"/>
          <p:cNvPicPr>
            <a:picLocks noGrp="1" noChangeAspect="1"/>
          </p:cNvPicPr>
          <p:nvPr>
            <p:ph idx="1"/>
          </p:nvPr>
        </p:nvPicPr>
        <p:blipFill>
          <a:blip r:embed="rId2"/>
          <a:stretch>
            <a:fillRect/>
          </a:stretch>
        </p:blipFill>
        <p:spPr>
          <a:xfrm>
            <a:off x="1228498" y="1084217"/>
            <a:ext cx="9731828" cy="4953289"/>
          </a:xfrm>
          <a:prstGeom prst="rect">
            <a:avLst/>
          </a:prstGeom>
        </p:spPr>
      </p:pic>
    </p:spTree>
    <p:extLst>
      <p:ext uri="{BB962C8B-B14F-4D97-AF65-F5344CB8AC3E}">
        <p14:creationId xmlns:p14="http://schemas.microsoft.com/office/powerpoint/2010/main" val="3292395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87444"/>
            <a:ext cx="9905998" cy="517951"/>
          </a:xfrm>
        </p:spPr>
        <p:txBody>
          <a:bodyPr>
            <a:normAutofit fontScale="90000"/>
          </a:bodyPr>
          <a:lstStyle/>
          <a:p>
            <a:r>
              <a:rPr lang="en-US" dirty="0"/>
              <a:t>Input Validation using Turing Test</a:t>
            </a:r>
          </a:p>
        </p:txBody>
      </p:sp>
      <p:sp>
        <p:nvSpPr>
          <p:cNvPr id="3" name="Content Placeholder 2"/>
          <p:cNvSpPr>
            <a:spLocks noGrp="1"/>
          </p:cNvSpPr>
          <p:nvPr>
            <p:ph idx="1"/>
          </p:nvPr>
        </p:nvSpPr>
        <p:spPr>
          <a:xfrm>
            <a:off x="1141412" y="705395"/>
            <a:ext cx="9905999" cy="5747656"/>
          </a:xfrm>
        </p:spPr>
        <p:txBody>
          <a:bodyPr>
            <a:normAutofit fontScale="92500"/>
          </a:bodyPr>
          <a:lstStyle/>
          <a:p>
            <a:r>
              <a:rPr lang="en-US" dirty="0"/>
              <a:t>Use in addition to statistical test, or when no statistical test is readily applicable</a:t>
            </a:r>
            <a:r>
              <a:rPr lang="en-US" dirty="0" smtClean="0"/>
              <a:t>.</a:t>
            </a:r>
          </a:p>
          <a:p>
            <a:r>
              <a:rPr lang="en-US" dirty="0" smtClean="0"/>
              <a:t> </a:t>
            </a:r>
            <a:r>
              <a:rPr lang="en-US" dirty="0"/>
              <a:t>Turing Test Described by Alan Turing in 1950. A human </a:t>
            </a:r>
            <a:r>
              <a:rPr lang="en-US" dirty="0" err="1"/>
              <a:t>jugde</a:t>
            </a:r>
            <a:r>
              <a:rPr lang="en-US" dirty="0"/>
              <a:t> is involved in a natural language conversation with a human and a machine. If the judge cannot reliably tell which of the partners is the machine then the machine has passed the </a:t>
            </a:r>
            <a:r>
              <a:rPr lang="en-US" dirty="0" smtClean="0"/>
              <a:t>test</a:t>
            </a:r>
          </a:p>
          <a:p>
            <a:pPr marL="0" indent="0">
              <a:buNone/>
            </a:pPr>
            <a:r>
              <a:rPr lang="en-US" dirty="0" smtClean="0"/>
              <a:t>• </a:t>
            </a:r>
            <a:r>
              <a:rPr lang="en-US" dirty="0"/>
              <a:t>Utilize persons’ knowledge about the system. </a:t>
            </a:r>
            <a:endParaRPr lang="en-US" dirty="0" smtClean="0"/>
          </a:p>
          <a:p>
            <a:pPr marL="0" indent="0">
              <a:buNone/>
            </a:pPr>
            <a:r>
              <a:rPr lang="en-US" dirty="0" smtClean="0"/>
              <a:t>• </a:t>
            </a:r>
            <a:r>
              <a:rPr lang="en-US" dirty="0"/>
              <a:t>For </a:t>
            </a:r>
            <a:r>
              <a:rPr lang="en-US" dirty="0" smtClean="0"/>
              <a:t>example:</a:t>
            </a:r>
          </a:p>
          <a:p>
            <a:pPr marL="0" indent="0">
              <a:buNone/>
            </a:pPr>
            <a:r>
              <a:rPr lang="en-US" dirty="0" smtClean="0"/>
              <a:t>• </a:t>
            </a:r>
            <a:r>
              <a:rPr lang="en-US" dirty="0"/>
              <a:t>Present 10 system performance reports to a manager of the system. Five of them are from the real system and the rest are “fake” reports based on simulation output data</a:t>
            </a:r>
            <a:r>
              <a:rPr lang="en-US" dirty="0" smtClean="0"/>
              <a:t>.</a:t>
            </a:r>
          </a:p>
          <a:p>
            <a:pPr marL="0" indent="0">
              <a:buNone/>
            </a:pPr>
            <a:r>
              <a:rPr lang="en-US" dirty="0" smtClean="0"/>
              <a:t> </a:t>
            </a:r>
            <a:r>
              <a:rPr lang="en-US" dirty="0"/>
              <a:t>• If the person identifies a substantial number of the fake reports, interview the person to get information for model improvement. </a:t>
            </a:r>
            <a:endParaRPr lang="en-US" dirty="0" smtClean="0"/>
          </a:p>
          <a:p>
            <a:pPr marL="0" indent="0">
              <a:buNone/>
            </a:pPr>
            <a:r>
              <a:rPr lang="en-US" dirty="0" smtClean="0"/>
              <a:t>• </a:t>
            </a:r>
            <a:r>
              <a:rPr lang="en-US" dirty="0"/>
              <a:t>If the person cannot distinguish between fake and real reports with consistency, conclude that the test gives no evidence of model inadequacy.</a:t>
            </a:r>
          </a:p>
        </p:txBody>
      </p:sp>
    </p:spTree>
    <p:extLst>
      <p:ext uri="{BB962C8B-B14F-4D97-AF65-F5344CB8AC3E}">
        <p14:creationId xmlns:p14="http://schemas.microsoft.com/office/powerpoint/2010/main" val="14941415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461764"/>
            <a:ext cx="9905998" cy="1478570"/>
          </a:xfrm>
        </p:spPr>
        <p:txBody>
          <a:bodyPr/>
          <a:lstStyle/>
          <a:p>
            <a:r>
              <a:rPr lang="en-US" b="1" dirty="0"/>
              <a:t>initial bias</a:t>
            </a:r>
            <a:endParaRPr lang="en-US" dirty="0"/>
          </a:p>
        </p:txBody>
      </p:sp>
      <p:sp>
        <p:nvSpPr>
          <p:cNvPr id="3" name="Content Placeholder 2"/>
          <p:cNvSpPr>
            <a:spLocks noGrp="1"/>
          </p:cNvSpPr>
          <p:nvPr>
            <p:ph idx="1"/>
          </p:nvPr>
        </p:nvSpPr>
        <p:spPr>
          <a:xfrm>
            <a:off x="1141412" y="1554480"/>
            <a:ext cx="9905999" cy="4236721"/>
          </a:xfrm>
        </p:spPr>
        <p:txBody>
          <a:bodyPr/>
          <a:lstStyle/>
          <a:p>
            <a:r>
              <a:rPr lang="en-US" dirty="0"/>
              <a:t>When simulation starts, the system usually begins in an unrealistic empty state.</a:t>
            </a:r>
          </a:p>
          <a:p>
            <a:r>
              <a:rPr lang="en-US" dirty="0"/>
              <a:t>This causes </a:t>
            </a:r>
            <a:r>
              <a:rPr lang="en-US" b="1" dirty="0"/>
              <a:t>initial bias</a:t>
            </a:r>
            <a:r>
              <a:rPr lang="en-US" dirty="0"/>
              <a:t> (also called </a:t>
            </a:r>
            <a:r>
              <a:rPr lang="en-US" b="1" dirty="0"/>
              <a:t>initialization bias</a:t>
            </a:r>
            <a:r>
              <a:rPr lang="en-US" dirty="0"/>
              <a:t>).</a:t>
            </a:r>
          </a:p>
          <a:p>
            <a:r>
              <a:rPr lang="en-US" dirty="0"/>
              <a:t>Example:</a:t>
            </a:r>
          </a:p>
          <a:p>
            <a:pPr marL="0" indent="0">
              <a:buNone/>
            </a:pPr>
            <a:r>
              <a:rPr lang="en-US" dirty="0"/>
              <a:t>Queue starts empty. </a:t>
            </a:r>
          </a:p>
          <a:p>
            <a:pPr marL="0" indent="0">
              <a:buNone/>
            </a:pPr>
            <a:r>
              <a:rPr lang="en-US" dirty="0"/>
              <a:t>Real system already has customers. </a:t>
            </a:r>
          </a:p>
          <a:p>
            <a:r>
              <a:rPr lang="en-US" dirty="0"/>
              <a:t>Removing these early observations improves accuracy.</a:t>
            </a:r>
          </a:p>
          <a:p>
            <a:endParaRPr lang="en-US" dirty="0"/>
          </a:p>
        </p:txBody>
      </p:sp>
    </p:spTree>
    <p:extLst>
      <p:ext uri="{BB962C8B-B14F-4D97-AF65-F5344CB8AC3E}">
        <p14:creationId xmlns:p14="http://schemas.microsoft.com/office/powerpoint/2010/main" val="371460505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Elimination of initial bias</a:t>
            </a:r>
          </a:p>
        </p:txBody>
      </p:sp>
      <p:sp>
        <p:nvSpPr>
          <p:cNvPr id="3" name="Content Placeholder 2"/>
          <p:cNvSpPr>
            <a:spLocks noGrp="1"/>
          </p:cNvSpPr>
          <p:nvPr>
            <p:ph idx="1"/>
          </p:nvPr>
        </p:nvSpPr>
        <p:spPr>
          <a:xfrm>
            <a:off x="1141412" y="2097088"/>
            <a:ext cx="9905999" cy="3694113"/>
          </a:xfrm>
        </p:spPr>
        <p:txBody>
          <a:bodyPr/>
          <a:lstStyle/>
          <a:p>
            <a:pPr marL="0" indent="0">
              <a:buNone/>
            </a:pPr>
            <a:r>
              <a:rPr lang="en-US" dirty="0"/>
              <a:t>The initial bias as shown in figure below needs to be removed</a:t>
            </a:r>
            <a:r>
              <a:rPr lang="en-US" b="1" dirty="0"/>
              <a:t>. </a:t>
            </a:r>
            <a:endParaRPr lang="en-US" b="1" dirty="0" smtClean="0"/>
          </a:p>
          <a:p>
            <a:pPr marL="0" indent="0">
              <a:buNone/>
            </a:pPr>
            <a:r>
              <a:rPr lang="en-US" b="1" dirty="0" smtClean="0"/>
              <a:t>Two </a:t>
            </a:r>
            <a:r>
              <a:rPr lang="en-US" b="1" dirty="0"/>
              <a:t>general approaches can be taken into remove the bias</a:t>
            </a:r>
            <a:r>
              <a:rPr lang="en-US" b="1" dirty="0" smtClean="0"/>
              <a:t>.</a:t>
            </a:r>
          </a:p>
          <a:p>
            <a:pPr marL="0" indent="0">
              <a:buNone/>
            </a:pPr>
            <a:r>
              <a:rPr lang="en-US" dirty="0" smtClean="0"/>
              <a:t> </a:t>
            </a:r>
            <a:r>
              <a:rPr lang="en-US" dirty="0"/>
              <a:t>1. The system can be started in a more representative then an empty state</a:t>
            </a:r>
            <a:r>
              <a:rPr lang="en-US" dirty="0" smtClean="0"/>
              <a:t>.</a:t>
            </a:r>
          </a:p>
          <a:p>
            <a:pPr marL="0" indent="0">
              <a:buNone/>
            </a:pPr>
            <a:r>
              <a:rPr lang="en-US" dirty="0" smtClean="0"/>
              <a:t> </a:t>
            </a:r>
            <a:r>
              <a:rPr lang="en-US" dirty="0"/>
              <a:t>2. The first part of the simulation can be removed.</a:t>
            </a:r>
          </a:p>
        </p:txBody>
      </p:sp>
    </p:spTree>
    <p:extLst>
      <p:ext uri="{BB962C8B-B14F-4D97-AF65-F5344CB8AC3E}">
        <p14:creationId xmlns:p14="http://schemas.microsoft.com/office/powerpoint/2010/main" val="18468796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599" y="343580"/>
            <a:ext cx="9905998" cy="718457"/>
          </a:xfrm>
        </p:spPr>
        <p:txBody>
          <a:bodyPr/>
          <a:lstStyle/>
          <a:p>
            <a:r>
              <a:rPr lang="en-US" dirty="0">
                <a:solidFill>
                  <a:srgbClr val="C00000"/>
                </a:solidFill>
              </a:rPr>
              <a:t>Elimination of initial bias</a:t>
            </a:r>
          </a:p>
        </p:txBody>
      </p:sp>
      <p:sp>
        <p:nvSpPr>
          <p:cNvPr id="3" name="Content Placeholder 2"/>
          <p:cNvSpPr>
            <a:spLocks noGrp="1"/>
          </p:cNvSpPr>
          <p:nvPr>
            <p:ph idx="1"/>
          </p:nvPr>
        </p:nvSpPr>
        <p:spPr>
          <a:xfrm>
            <a:off x="1371599" y="1384663"/>
            <a:ext cx="9797143" cy="5956663"/>
          </a:xfrm>
        </p:spPr>
        <p:txBody>
          <a:bodyPr/>
          <a:lstStyle/>
          <a:p>
            <a:r>
              <a:rPr lang="en-US" dirty="0"/>
              <a:t>The ideal situation is to know the steady state distribution for the system and select the initial condition for the distribution. </a:t>
            </a:r>
            <a:endParaRPr lang="en-US" dirty="0" smtClean="0"/>
          </a:p>
          <a:p>
            <a:r>
              <a:rPr lang="en-US" dirty="0" smtClean="0"/>
              <a:t>The </a:t>
            </a:r>
            <a:r>
              <a:rPr lang="en-US" dirty="0"/>
              <a:t>more common approach to know the initial bias is to eliminate on initial selection of runs. </a:t>
            </a:r>
            <a:endParaRPr lang="en-US" dirty="0" smtClean="0"/>
          </a:p>
          <a:p>
            <a:r>
              <a:rPr lang="en-US" dirty="0" smtClean="0"/>
              <a:t>The </a:t>
            </a:r>
            <a:r>
              <a:rPr lang="en-US" dirty="0"/>
              <a:t>run is started from an idle state and stop after the certain period of time. The run is then restarted with statistics being gathered form the point of restart. </a:t>
            </a:r>
            <a:endParaRPr lang="en-US" dirty="0" smtClean="0"/>
          </a:p>
          <a:p>
            <a:endParaRPr lang="en-US" dirty="0"/>
          </a:p>
        </p:txBody>
      </p:sp>
      <p:pic>
        <p:nvPicPr>
          <p:cNvPr id="4" name="Picture 3"/>
          <p:cNvPicPr>
            <a:picLocks noChangeAspect="1"/>
          </p:cNvPicPr>
          <p:nvPr/>
        </p:nvPicPr>
        <p:blipFill>
          <a:blip r:embed="rId2"/>
          <a:stretch>
            <a:fillRect/>
          </a:stretch>
        </p:blipFill>
        <p:spPr>
          <a:xfrm>
            <a:off x="3905794" y="4310743"/>
            <a:ext cx="5329646" cy="2760208"/>
          </a:xfrm>
          <a:prstGeom prst="rect">
            <a:avLst/>
          </a:prstGeom>
        </p:spPr>
      </p:pic>
    </p:spTree>
    <p:extLst>
      <p:ext uri="{BB962C8B-B14F-4D97-AF65-F5344CB8AC3E}">
        <p14:creationId xmlns:p14="http://schemas.microsoft.com/office/powerpoint/2010/main" val="10650706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110343"/>
          </a:xfrm>
        </p:spPr>
        <p:txBody>
          <a:bodyPr/>
          <a:lstStyle/>
          <a:p>
            <a:r>
              <a:rPr lang="en-US" dirty="0">
                <a:solidFill>
                  <a:srgbClr val="FF0000"/>
                </a:solidFill>
              </a:rPr>
              <a:t>Elimination of initial bias</a:t>
            </a:r>
          </a:p>
        </p:txBody>
      </p:sp>
      <p:sp>
        <p:nvSpPr>
          <p:cNvPr id="3" name="Content Placeholder 2"/>
          <p:cNvSpPr>
            <a:spLocks noGrp="1"/>
          </p:cNvSpPr>
          <p:nvPr>
            <p:ph idx="1"/>
          </p:nvPr>
        </p:nvSpPr>
        <p:spPr>
          <a:xfrm>
            <a:off x="1141413" y="914400"/>
            <a:ext cx="9905998" cy="5251270"/>
          </a:xfrm>
        </p:spPr>
        <p:txBody>
          <a:bodyPr>
            <a:normAutofit fontScale="92500" lnSpcReduction="10000"/>
          </a:bodyPr>
          <a:lstStyle/>
          <a:p>
            <a:r>
              <a:rPr lang="en-US" dirty="0"/>
              <a:t>It is usual to program the simulation so that statistics are gathered from the beginning and simply wipe out the statistics gathered up to the point of restart. </a:t>
            </a:r>
            <a:endParaRPr lang="en-US" dirty="0" smtClean="0"/>
          </a:p>
          <a:p>
            <a:r>
              <a:rPr lang="en-US" dirty="0" smtClean="0"/>
              <a:t> </a:t>
            </a:r>
            <a:r>
              <a:rPr lang="en-US" dirty="0"/>
              <a:t>No sample rules can be given beside how long an interval should be eliminated. </a:t>
            </a:r>
            <a:endParaRPr lang="en-US" dirty="0" smtClean="0"/>
          </a:p>
          <a:p>
            <a:r>
              <a:rPr lang="en-US" b="1" dirty="0"/>
              <a:t>Advantages</a:t>
            </a:r>
          </a:p>
          <a:p>
            <a:pPr marL="0" indent="0">
              <a:buNone/>
            </a:pPr>
            <a:r>
              <a:rPr lang="en-US" dirty="0"/>
              <a:t>More accurate results </a:t>
            </a:r>
          </a:p>
          <a:p>
            <a:pPr marL="0" indent="0">
              <a:buNone/>
            </a:pPr>
            <a:r>
              <a:rPr lang="en-US" dirty="0"/>
              <a:t>Less bias </a:t>
            </a:r>
          </a:p>
          <a:p>
            <a:pPr marL="0" indent="0">
              <a:buNone/>
            </a:pPr>
            <a:r>
              <a:rPr lang="en-US" dirty="0"/>
              <a:t>Better statistical </a:t>
            </a:r>
            <a:r>
              <a:rPr lang="en-US" dirty="0" smtClean="0"/>
              <a:t>analysis</a:t>
            </a:r>
          </a:p>
          <a:p>
            <a:r>
              <a:rPr lang="en-US" sz="3200" dirty="0" smtClean="0">
                <a:solidFill>
                  <a:schemeClr val="tx1"/>
                </a:solidFill>
              </a:rPr>
              <a:t> </a:t>
            </a:r>
            <a:r>
              <a:rPr lang="en-US" sz="3200" dirty="0">
                <a:solidFill>
                  <a:schemeClr val="tx1"/>
                </a:solidFill>
              </a:rPr>
              <a:t>The disadvantage of eliminating the first part of the simulation run is that the estimate of the variance needed to estimate a confidence limit, mostly based on less information. </a:t>
            </a:r>
          </a:p>
        </p:txBody>
      </p:sp>
    </p:spTree>
    <p:extLst>
      <p:ext uri="{BB962C8B-B14F-4D97-AF65-F5344CB8AC3E}">
        <p14:creationId xmlns:p14="http://schemas.microsoft.com/office/powerpoint/2010/main" val="20274934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7356" y="200507"/>
            <a:ext cx="9905998" cy="713893"/>
          </a:xfrm>
        </p:spPr>
        <p:txBody>
          <a:bodyPr/>
          <a:lstStyle/>
          <a:p>
            <a:r>
              <a:rPr lang="en-US" dirty="0">
                <a:effectLst/>
              </a:rPr>
              <a:t>Regression Analysis</a:t>
            </a:r>
            <a:endParaRPr lang="en-US" dirty="0"/>
          </a:p>
        </p:txBody>
      </p:sp>
      <p:sp>
        <p:nvSpPr>
          <p:cNvPr id="3" name="Content Placeholder 2"/>
          <p:cNvSpPr>
            <a:spLocks noGrp="1"/>
          </p:cNvSpPr>
          <p:nvPr>
            <p:ph idx="1"/>
          </p:nvPr>
        </p:nvSpPr>
        <p:spPr>
          <a:xfrm>
            <a:off x="1141412" y="914400"/>
            <a:ext cx="9905999" cy="4876801"/>
          </a:xfrm>
        </p:spPr>
        <p:txBody>
          <a:bodyPr/>
          <a:lstStyle/>
          <a:p>
            <a:r>
              <a:rPr lang="en-US" dirty="0">
                <a:effectLst/>
              </a:rPr>
              <a:t>Regression Analysis is a statistical method used to understand the relationship between input features and a target value that varies across a continuous numeric range. It helps measure how changes in different factors affect the outcome, allowing better predictions, planning and decision-making across various </a:t>
            </a:r>
            <a:r>
              <a:rPr lang="en-US" dirty="0" smtClean="0">
                <a:effectLst/>
              </a:rPr>
              <a:t>fields</a:t>
            </a:r>
          </a:p>
          <a:p>
            <a:r>
              <a:rPr lang="en-US" b="1" dirty="0"/>
              <a:t>Regression Analysis</a:t>
            </a:r>
            <a:r>
              <a:rPr lang="en-US" dirty="0"/>
              <a:t> is a statistical technique used in simulation to determine the relationship between one </a:t>
            </a:r>
            <a:r>
              <a:rPr lang="en-US" b="1" dirty="0"/>
              <a:t>dependent variable</a:t>
            </a:r>
            <a:r>
              <a:rPr lang="en-US" dirty="0"/>
              <a:t> and one or more </a:t>
            </a:r>
            <a:r>
              <a:rPr lang="en-US" b="1" dirty="0"/>
              <a:t>independent variables</a:t>
            </a:r>
            <a:r>
              <a:rPr lang="en-US" dirty="0"/>
              <a:t>. It helps predict future outcomes, estimate unknown values, and understand how changes in input variables affect the simulation output.</a:t>
            </a:r>
          </a:p>
          <a:p>
            <a:endParaRPr lang="en-US" dirty="0" smtClean="0">
              <a:effectLst/>
            </a:endParaRPr>
          </a:p>
          <a:p>
            <a:endParaRPr lang="en-US" dirty="0"/>
          </a:p>
        </p:txBody>
      </p:sp>
      <p:sp>
        <p:nvSpPr>
          <p:cNvPr id="4" name="AutoShape 2" descr="multiple_linear_regression.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6275648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248194"/>
            <a:ext cx="9905998" cy="1005840"/>
          </a:xfrm>
        </p:spPr>
        <p:txBody>
          <a:bodyPr>
            <a:normAutofit fontScale="90000"/>
          </a:bodyPr>
          <a:lstStyle/>
          <a:p>
            <a:r>
              <a:rPr lang="en-US" b="1" dirty="0">
                <a:effectLst/>
              </a:rPr>
              <a:t>Types of Regression</a:t>
            </a:r>
            <a:br>
              <a:rPr lang="en-US" b="1" dirty="0">
                <a:effectLst/>
              </a:rPr>
            </a:br>
            <a:endParaRPr lang="en-US" dirty="0"/>
          </a:p>
        </p:txBody>
      </p:sp>
      <p:sp>
        <p:nvSpPr>
          <p:cNvPr id="3" name="Content Placeholder 2"/>
          <p:cNvSpPr>
            <a:spLocks noGrp="1"/>
          </p:cNvSpPr>
          <p:nvPr>
            <p:ph idx="1"/>
          </p:nvPr>
        </p:nvSpPr>
        <p:spPr>
          <a:xfrm>
            <a:off x="1141412" y="849086"/>
            <a:ext cx="9905999" cy="4942115"/>
          </a:xfrm>
        </p:spPr>
        <p:txBody>
          <a:bodyPr>
            <a:normAutofit/>
          </a:bodyPr>
          <a:lstStyle/>
          <a:p>
            <a:pPr fontAlgn="base"/>
            <a:r>
              <a:rPr lang="en-US" dirty="0" smtClean="0">
                <a:effectLst/>
              </a:rPr>
              <a:t>Some </a:t>
            </a:r>
            <a:r>
              <a:rPr lang="en-US" dirty="0">
                <a:effectLst/>
              </a:rPr>
              <a:t>commonly used regression techniques are:</a:t>
            </a:r>
          </a:p>
          <a:p>
            <a:pPr fontAlgn="base"/>
            <a:r>
              <a:rPr lang="en-US" b="1" dirty="0">
                <a:effectLst/>
              </a:rPr>
              <a:t>Linear Regression: </a:t>
            </a:r>
            <a:r>
              <a:rPr lang="en-US" dirty="0">
                <a:effectLst/>
              </a:rPr>
              <a:t>Models straight-line relationships between predictors and outputs.</a:t>
            </a:r>
          </a:p>
          <a:p>
            <a:pPr fontAlgn="base"/>
            <a:r>
              <a:rPr lang="en-US" b="1" dirty="0">
                <a:effectLst/>
              </a:rPr>
              <a:t>Multiple Regression: </a:t>
            </a:r>
            <a:r>
              <a:rPr lang="en-US" dirty="0">
                <a:effectLst/>
              </a:rPr>
              <a:t>Uses multiple input features to predict one continuous outcome.</a:t>
            </a:r>
          </a:p>
          <a:p>
            <a:pPr fontAlgn="base"/>
            <a:r>
              <a:rPr lang="en-US" b="1" dirty="0">
                <a:effectLst/>
              </a:rPr>
              <a:t>Polynomial Regression: </a:t>
            </a:r>
            <a:r>
              <a:rPr lang="en-US" dirty="0">
                <a:effectLst/>
              </a:rPr>
              <a:t>Captures non-linear patterns by transforming input variables.</a:t>
            </a:r>
          </a:p>
          <a:p>
            <a:endParaRPr lang="en-US" dirty="0"/>
          </a:p>
        </p:txBody>
      </p:sp>
    </p:spTree>
    <p:extLst>
      <p:ext uri="{BB962C8B-B14F-4D97-AF65-F5344CB8AC3E}">
        <p14:creationId xmlns:p14="http://schemas.microsoft.com/office/powerpoint/2010/main" val="364252118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a:t>
            </a:r>
            <a:br>
              <a:rPr lang="en-US" dirty="0"/>
            </a:br>
            <a:endParaRPr lang="en-US" dirty="0"/>
          </a:p>
        </p:txBody>
      </p:sp>
      <p:sp>
        <p:nvSpPr>
          <p:cNvPr id="3" name="Content Placeholder 2"/>
          <p:cNvSpPr>
            <a:spLocks noGrp="1"/>
          </p:cNvSpPr>
          <p:nvPr>
            <p:ph idx="1"/>
          </p:nvPr>
        </p:nvSpPr>
        <p:spPr>
          <a:xfrm>
            <a:off x="1141412" y="1504950"/>
            <a:ext cx="9905999" cy="5029199"/>
          </a:xfrm>
        </p:spPr>
        <p:txBody>
          <a:bodyPr>
            <a:normAutofit/>
          </a:bodyPr>
          <a:lstStyle/>
          <a:p>
            <a:r>
              <a:rPr lang="en-US" dirty="0">
                <a:effectLst/>
              </a:rPr>
              <a:t>Linear Regression forms a straight line relationship between independent variables and the target. It is simple, interpretable and used in analytics and forecasting tasks</a:t>
            </a:r>
            <a:r>
              <a:rPr lang="en-US" dirty="0" smtClean="0">
                <a:effectLst/>
              </a:rPr>
              <a:t>.</a:t>
            </a:r>
          </a:p>
          <a:p>
            <a:r>
              <a:rPr lang="en-US" i="1" dirty="0">
                <a:solidFill>
                  <a:srgbClr val="273239"/>
                </a:solidFill>
                <a:effectLst/>
                <a:latin typeface="KaTeX_Math"/>
              </a:rPr>
              <a:t>Y</a:t>
            </a:r>
            <a:r>
              <a:rPr lang="en-US" dirty="0">
                <a:solidFill>
                  <a:srgbClr val="273239"/>
                </a:solidFill>
                <a:effectLst/>
                <a:latin typeface="KaTeX_Main"/>
              </a:rPr>
              <a:t>=</a:t>
            </a:r>
            <a:r>
              <a:rPr lang="el-GR" i="1" dirty="0">
                <a:solidFill>
                  <a:srgbClr val="273239"/>
                </a:solidFill>
                <a:effectLst/>
                <a:latin typeface="KaTeX_Math"/>
              </a:rPr>
              <a:t>β</a:t>
            </a:r>
            <a:r>
              <a:rPr lang="el-GR" baseline="-25000" dirty="0">
                <a:solidFill>
                  <a:srgbClr val="273239"/>
                </a:solidFill>
                <a:effectLst/>
                <a:latin typeface="KaTeX_Main"/>
              </a:rPr>
              <a:t>0</a:t>
            </a:r>
            <a:r>
              <a:rPr lang="el-GR" dirty="0">
                <a:solidFill>
                  <a:srgbClr val="273239"/>
                </a:solidFill>
                <a:effectLst/>
                <a:latin typeface="KaTeX_Main"/>
              </a:rPr>
              <a:t>​+</a:t>
            </a:r>
            <a:r>
              <a:rPr lang="el-GR" i="1" dirty="0">
                <a:solidFill>
                  <a:srgbClr val="273239"/>
                </a:solidFill>
                <a:effectLst/>
                <a:latin typeface="KaTeX_Math"/>
              </a:rPr>
              <a:t>β</a:t>
            </a:r>
            <a:r>
              <a:rPr lang="el-GR" baseline="-25000" dirty="0">
                <a:solidFill>
                  <a:srgbClr val="273239"/>
                </a:solidFill>
                <a:effectLst/>
                <a:latin typeface="KaTeX_Main"/>
              </a:rPr>
              <a:t>1</a:t>
            </a:r>
            <a:r>
              <a:rPr lang="el-GR" dirty="0">
                <a:solidFill>
                  <a:srgbClr val="273239"/>
                </a:solidFill>
                <a:effectLst/>
                <a:latin typeface="KaTeX_Main"/>
              </a:rPr>
              <a:t>​</a:t>
            </a:r>
            <a:r>
              <a:rPr lang="en-US" i="1" dirty="0">
                <a:solidFill>
                  <a:srgbClr val="273239"/>
                </a:solidFill>
                <a:effectLst/>
                <a:latin typeface="KaTeX_Math"/>
              </a:rPr>
              <a:t>X</a:t>
            </a:r>
            <a:r>
              <a:rPr lang="en-US" dirty="0">
                <a:solidFill>
                  <a:srgbClr val="273239"/>
                </a:solidFill>
                <a:effectLst/>
                <a:latin typeface="KaTeX_Main"/>
              </a:rPr>
              <a:t>+</a:t>
            </a:r>
            <a:r>
              <a:rPr lang="el-GR" i="1" dirty="0" smtClean="0">
                <a:solidFill>
                  <a:srgbClr val="273239"/>
                </a:solidFill>
                <a:effectLst/>
                <a:latin typeface="KaTeX_Math"/>
              </a:rPr>
              <a:t>ϵ</a:t>
            </a:r>
            <a:endParaRPr lang="en-US" i="1" dirty="0" smtClean="0">
              <a:solidFill>
                <a:srgbClr val="273239"/>
              </a:solidFill>
              <a:effectLst/>
              <a:latin typeface="KaTeX_Math"/>
            </a:endParaRPr>
          </a:p>
          <a:p>
            <a:pPr fontAlgn="base"/>
            <a:r>
              <a:rPr lang="en-US" dirty="0">
                <a:solidFill>
                  <a:srgbClr val="273239"/>
                </a:solidFill>
                <a:effectLst/>
                <a:latin typeface="Nunito"/>
              </a:rPr>
              <a:t>Where:</a:t>
            </a:r>
          </a:p>
          <a:p>
            <a:pPr fontAlgn="base"/>
            <a:r>
              <a:rPr lang="en-US" i="1" dirty="0" smtClean="0">
                <a:solidFill>
                  <a:srgbClr val="273239"/>
                </a:solidFill>
                <a:effectLst/>
                <a:latin typeface="KaTeX_Math"/>
              </a:rPr>
              <a:t>Y</a:t>
            </a:r>
            <a:r>
              <a:rPr lang="en-US" dirty="0">
                <a:solidFill>
                  <a:srgbClr val="273239"/>
                </a:solidFill>
                <a:effectLst/>
                <a:latin typeface="Nunito"/>
              </a:rPr>
              <a:t> is the predicted value,</a:t>
            </a:r>
          </a:p>
          <a:p>
            <a:pPr fontAlgn="base"/>
            <a:r>
              <a:rPr lang="en-US" i="1" dirty="0" smtClean="0">
                <a:solidFill>
                  <a:srgbClr val="273239"/>
                </a:solidFill>
                <a:effectLst/>
                <a:latin typeface="KaTeX_Math"/>
              </a:rPr>
              <a:t>β</a:t>
            </a:r>
            <a:r>
              <a:rPr lang="en-US" dirty="0" smtClean="0">
                <a:solidFill>
                  <a:srgbClr val="273239"/>
                </a:solidFill>
                <a:effectLst/>
                <a:latin typeface="KaTeX_Main"/>
              </a:rPr>
              <a:t>0</a:t>
            </a:r>
            <a:r>
              <a:rPr lang="en-US" dirty="0">
                <a:solidFill>
                  <a:srgbClr val="273239"/>
                </a:solidFill>
                <a:effectLst/>
                <a:latin typeface="KaTeX_Main"/>
              </a:rPr>
              <a:t>​</a:t>
            </a:r>
            <a:r>
              <a:rPr lang="en-US" dirty="0">
                <a:solidFill>
                  <a:srgbClr val="273239"/>
                </a:solidFill>
                <a:effectLst/>
                <a:latin typeface="Nunito"/>
              </a:rPr>
              <a:t> is the intercept,</a:t>
            </a:r>
          </a:p>
          <a:p>
            <a:pPr marL="0" indent="0" fontAlgn="base">
              <a:buNone/>
            </a:pPr>
            <a:r>
              <a:rPr lang="en-US" i="1" dirty="0" smtClean="0">
                <a:solidFill>
                  <a:srgbClr val="273239"/>
                </a:solidFill>
                <a:effectLst/>
                <a:latin typeface="KaTeX_Math"/>
              </a:rPr>
              <a:t>β</a:t>
            </a:r>
            <a:r>
              <a:rPr lang="en-US" dirty="0" smtClean="0">
                <a:solidFill>
                  <a:srgbClr val="273239"/>
                </a:solidFill>
                <a:effectLst/>
                <a:latin typeface="KaTeX_Main"/>
              </a:rPr>
              <a:t>1</a:t>
            </a:r>
            <a:r>
              <a:rPr lang="en-US" dirty="0">
                <a:solidFill>
                  <a:srgbClr val="273239"/>
                </a:solidFill>
                <a:effectLst/>
                <a:latin typeface="KaTeX_Main"/>
              </a:rPr>
              <a:t>​</a:t>
            </a:r>
            <a:r>
              <a:rPr lang="en-US" dirty="0">
                <a:solidFill>
                  <a:srgbClr val="273239"/>
                </a:solidFill>
                <a:effectLst/>
                <a:latin typeface="Nunito"/>
              </a:rPr>
              <a:t>is the coefficient affecting </a:t>
            </a:r>
            <a:r>
              <a:rPr lang="en-US" i="1" dirty="0" smtClean="0">
                <a:solidFill>
                  <a:srgbClr val="273239"/>
                </a:solidFill>
                <a:effectLst/>
                <a:latin typeface="KaTeX_Math"/>
              </a:rPr>
              <a:t>X</a:t>
            </a:r>
            <a:r>
              <a:rPr lang="en-US" dirty="0">
                <a:solidFill>
                  <a:srgbClr val="273239"/>
                </a:solidFill>
                <a:effectLst/>
                <a:latin typeface="Nunito"/>
              </a:rPr>
              <a:t>,</a:t>
            </a:r>
          </a:p>
          <a:p>
            <a:pPr fontAlgn="base"/>
            <a:r>
              <a:rPr lang="en-US" i="1" dirty="0" smtClean="0">
                <a:solidFill>
                  <a:srgbClr val="273239"/>
                </a:solidFill>
                <a:effectLst/>
                <a:latin typeface="KaTeX_Math"/>
              </a:rPr>
              <a:t>ϵ</a:t>
            </a:r>
            <a:r>
              <a:rPr lang="en-US" dirty="0" smtClean="0">
                <a:solidFill>
                  <a:srgbClr val="273239"/>
                </a:solidFill>
                <a:effectLst/>
                <a:latin typeface="Nunito"/>
              </a:rPr>
              <a:t>is </a:t>
            </a:r>
            <a:r>
              <a:rPr lang="en-US" dirty="0">
                <a:solidFill>
                  <a:srgbClr val="273239"/>
                </a:solidFill>
                <a:effectLst/>
                <a:latin typeface="Nunito"/>
              </a:rPr>
              <a:t>the error term.</a:t>
            </a:r>
          </a:p>
          <a:p>
            <a:endParaRPr lang="en-US" dirty="0"/>
          </a:p>
        </p:txBody>
      </p:sp>
      <p:sp>
        <p:nvSpPr>
          <p:cNvPr id="5" name="AutoShape 3" descr="simple_linear_model.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stretch>
            <a:fillRect/>
          </a:stretch>
        </p:blipFill>
        <p:spPr>
          <a:xfrm>
            <a:off x="6510408" y="2561230"/>
            <a:ext cx="4248150" cy="3810000"/>
          </a:xfrm>
          <a:prstGeom prst="rect">
            <a:avLst/>
          </a:prstGeom>
        </p:spPr>
      </p:pic>
    </p:spTree>
    <p:extLst>
      <p:ext uri="{BB962C8B-B14F-4D97-AF65-F5344CB8AC3E}">
        <p14:creationId xmlns:p14="http://schemas.microsoft.com/office/powerpoint/2010/main" val="331568880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95438"/>
            <a:ext cx="9905998" cy="623428"/>
          </a:xfrm>
        </p:spPr>
        <p:txBody>
          <a:bodyPr>
            <a:normAutofit fontScale="90000"/>
          </a:bodyPr>
          <a:lstStyle/>
          <a:p>
            <a:r>
              <a:rPr lang="en-US" b="1" dirty="0">
                <a:solidFill>
                  <a:srgbClr val="273239"/>
                </a:solidFill>
                <a:effectLst/>
                <a:latin typeface="Nunito"/>
              </a:rPr>
              <a:t>2. Multiple Regression</a:t>
            </a:r>
            <a:br>
              <a:rPr lang="en-US" b="1" dirty="0">
                <a:solidFill>
                  <a:srgbClr val="273239"/>
                </a:solidFill>
                <a:effectLst/>
                <a:latin typeface="Nunito"/>
              </a:rPr>
            </a:br>
            <a:endParaRPr lang="en-US" dirty="0"/>
          </a:p>
        </p:txBody>
      </p:sp>
      <p:sp>
        <p:nvSpPr>
          <p:cNvPr id="3" name="Content Placeholder 2"/>
          <p:cNvSpPr>
            <a:spLocks noGrp="1"/>
          </p:cNvSpPr>
          <p:nvPr>
            <p:ph idx="1"/>
          </p:nvPr>
        </p:nvSpPr>
        <p:spPr>
          <a:xfrm>
            <a:off x="1141413" y="670926"/>
            <a:ext cx="9572080" cy="5006544"/>
          </a:xfrm>
        </p:spPr>
        <p:txBody>
          <a:bodyPr>
            <a:normAutofit fontScale="92500" lnSpcReduction="20000"/>
          </a:bodyPr>
          <a:lstStyle/>
          <a:p>
            <a:pPr fontAlgn="base"/>
            <a:r>
              <a:rPr lang="en-US" dirty="0" smtClean="0">
                <a:solidFill>
                  <a:srgbClr val="273239"/>
                </a:solidFill>
                <a:effectLst/>
                <a:latin typeface="Nunito"/>
              </a:rPr>
              <a:t>Multiple </a:t>
            </a:r>
            <a:r>
              <a:rPr lang="en-US" dirty="0">
                <a:solidFill>
                  <a:srgbClr val="273239"/>
                </a:solidFill>
                <a:effectLst/>
                <a:latin typeface="Nunito"/>
              </a:rPr>
              <a:t>Regression extends linear regression by including several independent variables. It is useful when multiple factors jointly affect the output</a:t>
            </a:r>
            <a:r>
              <a:rPr lang="en-US" dirty="0" smtClean="0">
                <a:solidFill>
                  <a:srgbClr val="273239"/>
                </a:solidFill>
                <a:effectLst/>
                <a:latin typeface="Nunito"/>
              </a:rPr>
              <a:t>.</a:t>
            </a:r>
          </a:p>
          <a:p>
            <a:pPr fontAlgn="base"/>
            <a:r>
              <a:rPr lang="es-ES" i="1" dirty="0">
                <a:effectLst/>
              </a:rPr>
              <a:t>Y</a:t>
            </a:r>
            <a:r>
              <a:rPr lang="es-ES" dirty="0">
                <a:effectLst/>
              </a:rPr>
              <a:t>=</a:t>
            </a:r>
            <a:r>
              <a:rPr lang="es-ES" i="1" dirty="0">
                <a:effectLst/>
              </a:rPr>
              <a:t>β</a:t>
            </a:r>
            <a:r>
              <a:rPr lang="es-ES" dirty="0">
                <a:effectLst/>
              </a:rPr>
              <a:t>0​+</a:t>
            </a:r>
            <a:r>
              <a:rPr lang="es-ES" i="1" dirty="0">
                <a:effectLst/>
              </a:rPr>
              <a:t>β</a:t>
            </a:r>
            <a:r>
              <a:rPr lang="es-ES" dirty="0">
                <a:effectLst/>
              </a:rPr>
              <a:t>1​</a:t>
            </a:r>
            <a:r>
              <a:rPr lang="es-ES" i="1" dirty="0">
                <a:effectLst/>
              </a:rPr>
              <a:t>X</a:t>
            </a:r>
            <a:r>
              <a:rPr lang="es-ES" dirty="0">
                <a:effectLst/>
              </a:rPr>
              <a:t>1​+</a:t>
            </a:r>
            <a:r>
              <a:rPr lang="es-ES" i="1" dirty="0">
                <a:effectLst/>
              </a:rPr>
              <a:t>β</a:t>
            </a:r>
            <a:r>
              <a:rPr lang="es-ES" dirty="0">
                <a:effectLst/>
              </a:rPr>
              <a:t>2​</a:t>
            </a:r>
            <a:r>
              <a:rPr lang="es-ES" i="1" dirty="0">
                <a:effectLst/>
              </a:rPr>
              <a:t>X</a:t>
            </a:r>
            <a:r>
              <a:rPr lang="es-ES" dirty="0">
                <a:effectLst/>
              </a:rPr>
              <a:t>2​+…+</a:t>
            </a:r>
            <a:r>
              <a:rPr lang="es-ES" i="1" dirty="0">
                <a:effectLst/>
              </a:rPr>
              <a:t>βn</a:t>
            </a:r>
            <a:r>
              <a:rPr lang="es-ES" dirty="0">
                <a:effectLst/>
              </a:rPr>
              <a:t>​</a:t>
            </a:r>
            <a:r>
              <a:rPr lang="es-ES" i="1" dirty="0" err="1">
                <a:effectLst/>
              </a:rPr>
              <a:t>Xn</a:t>
            </a:r>
            <a:r>
              <a:rPr lang="es-ES" dirty="0">
                <a:effectLst/>
              </a:rPr>
              <a:t>​+</a:t>
            </a:r>
            <a:r>
              <a:rPr lang="es-ES" i="1" dirty="0" smtClean="0">
                <a:effectLst/>
              </a:rPr>
              <a:t>ϵ</a:t>
            </a:r>
          </a:p>
          <a:p>
            <a:pPr fontAlgn="base"/>
            <a:r>
              <a:rPr lang="en-US" dirty="0">
                <a:solidFill>
                  <a:srgbClr val="273239"/>
                </a:solidFill>
                <a:effectLst/>
                <a:latin typeface="Nunito"/>
              </a:rPr>
              <a:t>Where</a:t>
            </a:r>
          </a:p>
          <a:p>
            <a:pPr fontAlgn="base"/>
            <a:r>
              <a:rPr lang="en-US" i="1" dirty="0" smtClean="0">
                <a:solidFill>
                  <a:srgbClr val="273239"/>
                </a:solidFill>
                <a:effectLst/>
                <a:latin typeface="KaTeX_Math"/>
              </a:rPr>
              <a:t>Y</a:t>
            </a:r>
            <a:r>
              <a:rPr lang="en-US" dirty="0">
                <a:solidFill>
                  <a:srgbClr val="273239"/>
                </a:solidFill>
                <a:effectLst/>
                <a:latin typeface="Nunito"/>
              </a:rPr>
              <a:t> is the predicted </a:t>
            </a:r>
            <a:r>
              <a:rPr lang="en-US" dirty="0" smtClean="0">
                <a:solidFill>
                  <a:srgbClr val="273239"/>
                </a:solidFill>
                <a:effectLst/>
                <a:latin typeface="Nunito"/>
              </a:rPr>
              <a:t>output,</a:t>
            </a:r>
          </a:p>
          <a:p>
            <a:pPr fontAlgn="base"/>
            <a:r>
              <a:rPr lang="en-US" sz="2200" i="1" dirty="0" smtClean="0">
                <a:solidFill>
                  <a:srgbClr val="273239"/>
                </a:solidFill>
                <a:effectLst/>
                <a:latin typeface="KaTeX_Math"/>
              </a:rPr>
              <a:t>X</a:t>
            </a:r>
            <a:r>
              <a:rPr lang="en-US" sz="2200" dirty="0" smtClean="0">
                <a:solidFill>
                  <a:srgbClr val="273239"/>
                </a:solidFill>
                <a:effectLst/>
                <a:latin typeface="KaTeX_Main"/>
              </a:rPr>
              <a:t>1</a:t>
            </a:r>
            <a:r>
              <a:rPr lang="en-US" sz="2200" dirty="0">
                <a:solidFill>
                  <a:srgbClr val="273239"/>
                </a:solidFill>
                <a:effectLst/>
                <a:latin typeface="KaTeX_Main"/>
              </a:rPr>
              <a:t>​,</a:t>
            </a:r>
            <a:r>
              <a:rPr lang="en-US" sz="2200" i="1" dirty="0">
                <a:solidFill>
                  <a:srgbClr val="273239"/>
                </a:solidFill>
                <a:effectLst/>
                <a:latin typeface="KaTeX_Math"/>
              </a:rPr>
              <a:t>X</a:t>
            </a:r>
            <a:r>
              <a:rPr lang="en-US" sz="2200" dirty="0">
                <a:solidFill>
                  <a:srgbClr val="273239"/>
                </a:solidFill>
                <a:effectLst/>
                <a:latin typeface="KaTeX_Main"/>
              </a:rPr>
              <a:t>2​,…,</a:t>
            </a:r>
            <a:r>
              <a:rPr lang="en-US" sz="2200" i="1" dirty="0" err="1">
                <a:solidFill>
                  <a:srgbClr val="273239"/>
                </a:solidFill>
                <a:effectLst/>
                <a:latin typeface="KaTeX_Math"/>
              </a:rPr>
              <a:t>Xn</a:t>
            </a:r>
            <a:r>
              <a:rPr lang="en-US" sz="2200" dirty="0">
                <a:solidFill>
                  <a:srgbClr val="273239"/>
                </a:solidFill>
                <a:effectLst/>
                <a:latin typeface="KaTeX_Main"/>
              </a:rPr>
              <a:t>​</a:t>
            </a:r>
            <a:r>
              <a:rPr lang="en-US" sz="2200" dirty="0">
                <a:solidFill>
                  <a:srgbClr val="273239"/>
                </a:solidFill>
                <a:effectLst/>
                <a:latin typeface="Nunito"/>
              </a:rPr>
              <a:t>are independent input variables</a:t>
            </a:r>
            <a:r>
              <a:rPr lang="en-US" dirty="0">
                <a:solidFill>
                  <a:srgbClr val="273239"/>
                </a:solidFill>
                <a:effectLst/>
                <a:latin typeface="Nunito"/>
              </a:rPr>
              <a:t>,</a:t>
            </a:r>
          </a:p>
          <a:p>
            <a:pPr fontAlgn="base"/>
            <a:r>
              <a:rPr lang="en-US" i="1" dirty="0" smtClean="0">
                <a:solidFill>
                  <a:srgbClr val="273239"/>
                </a:solidFill>
                <a:effectLst/>
                <a:latin typeface="KaTeX_Math"/>
              </a:rPr>
              <a:t>β</a:t>
            </a:r>
            <a:r>
              <a:rPr lang="en-US" dirty="0" smtClean="0">
                <a:solidFill>
                  <a:srgbClr val="273239"/>
                </a:solidFill>
                <a:effectLst/>
                <a:latin typeface="KaTeX_Main"/>
              </a:rPr>
              <a:t>0</a:t>
            </a:r>
            <a:r>
              <a:rPr lang="en-US" dirty="0">
                <a:solidFill>
                  <a:srgbClr val="273239"/>
                </a:solidFill>
                <a:effectLst/>
                <a:latin typeface="KaTeX_Main"/>
              </a:rPr>
              <a:t>​</a:t>
            </a:r>
            <a:r>
              <a:rPr lang="en-US" dirty="0">
                <a:solidFill>
                  <a:srgbClr val="273239"/>
                </a:solidFill>
                <a:effectLst/>
                <a:latin typeface="Nunito"/>
              </a:rPr>
              <a:t>is the intercept term,</a:t>
            </a:r>
          </a:p>
          <a:p>
            <a:pPr fontAlgn="base"/>
            <a:r>
              <a:rPr lang="en-US" dirty="0">
                <a:solidFill>
                  <a:srgbClr val="273239"/>
                </a:solidFill>
                <a:effectLst/>
                <a:latin typeface="KaTeX_Main"/>
              </a:rPr>
              <a:t>β1,β2,…,</a:t>
            </a:r>
            <a:r>
              <a:rPr lang="en-US" dirty="0" smtClean="0">
                <a:solidFill>
                  <a:srgbClr val="273239"/>
                </a:solidFill>
                <a:effectLst/>
                <a:latin typeface="KaTeX_Main"/>
              </a:rPr>
              <a:t>βn</a:t>
            </a:r>
            <a:r>
              <a:rPr lang="en-US" i="1" dirty="0">
                <a:solidFill>
                  <a:srgbClr val="273239"/>
                </a:solidFill>
                <a:effectLst/>
                <a:latin typeface="KaTeX_Math"/>
              </a:rPr>
              <a:t> </a:t>
            </a:r>
            <a:r>
              <a:rPr lang="en-US" dirty="0" smtClean="0">
                <a:solidFill>
                  <a:srgbClr val="273239"/>
                </a:solidFill>
                <a:effectLst/>
                <a:latin typeface="KaTeX_Main"/>
              </a:rPr>
              <a:t>​</a:t>
            </a:r>
            <a:r>
              <a:rPr lang="en-US" dirty="0">
                <a:solidFill>
                  <a:srgbClr val="273239"/>
                </a:solidFill>
                <a:effectLst/>
                <a:latin typeface="Nunito"/>
              </a:rPr>
              <a:t>are weight of each feature,</a:t>
            </a:r>
          </a:p>
          <a:p>
            <a:pPr fontAlgn="base"/>
            <a:r>
              <a:rPr lang="en-US" i="1" dirty="0" smtClean="0">
                <a:solidFill>
                  <a:srgbClr val="273239"/>
                </a:solidFill>
                <a:effectLst/>
                <a:latin typeface="KaTeX_Math"/>
              </a:rPr>
              <a:t>n</a:t>
            </a:r>
            <a:r>
              <a:rPr lang="en-US" dirty="0">
                <a:solidFill>
                  <a:srgbClr val="273239"/>
                </a:solidFill>
                <a:effectLst/>
                <a:latin typeface="Nunito"/>
              </a:rPr>
              <a:t> is number of input variables,</a:t>
            </a:r>
          </a:p>
          <a:p>
            <a:pPr fontAlgn="base"/>
            <a:r>
              <a:rPr lang="en-US" i="1" dirty="0" smtClean="0">
                <a:solidFill>
                  <a:srgbClr val="273239"/>
                </a:solidFill>
                <a:effectLst/>
                <a:latin typeface="KaTeX_Math"/>
              </a:rPr>
              <a:t>ϵ</a:t>
            </a:r>
            <a:r>
              <a:rPr lang="en-US" dirty="0">
                <a:solidFill>
                  <a:srgbClr val="273239"/>
                </a:solidFill>
                <a:effectLst/>
                <a:latin typeface="Nunito"/>
              </a:rPr>
              <a:t> is the error term.</a:t>
            </a:r>
          </a:p>
          <a:p>
            <a:pPr marL="0" indent="0" fontAlgn="base">
              <a:buNone/>
            </a:pPr>
            <a:endParaRPr lang="es-ES" i="1" dirty="0" smtClean="0">
              <a:effectLst/>
            </a:endParaRPr>
          </a:p>
          <a:p>
            <a:pPr fontAlgn="base"/>
            <a:endParaRPr lang="en-US" dirty="0">
              <a:solidFill>
                <a:srgbClr val="273239"/>
              </a:solidFill>
              <a:effectLst/>
              <a:latin typeface="Nunito"/>
            </a:endParaRPr>
          </a:p>
          <a:p>
            <a:endParaRPr lang="en-US" dirty="0"/>
          </a:p>
        </p:txBody>
      </p:sp>
      <p:pic>
        <p:nvPicPr>
          <p:cNvPr id="4" name="Picture 3"/>
          <p:cNvPicPr>
            <a:picLocks noChangeAspect="1"/>
          </p:cNvPicPr>
          <p:nvPr/>
        </p:nvPicPr>
        <p:blipFill>
          <a:blip r:embed="rId2"/>
          <a:stretch>
            <a:fillRect/>
          </a:stretch>
        </p:blipFill>
        <p:spPr>
          <a:xfrm>
            <a:off x="6901218" y="1810558"/>
            <a:ext cx="5290782" cy="3593955"/>
          </a:xfrm>
          <a:prstGeom prst="rect">
            <a:avLst/>
          </a:prstGeom>
        </p:spPr>
      </p:pic>
    </p:spTree>
    <p:extLst>
      <p:ext uri="{BB962C8B-B14F-4D97-AF65-F5344CB8AC3E}">
        <p14:creationId xmlns:p14="http://schemas.microsoft.com/office/powerpoint/2010/main" val="107467415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0595" y="313899"/>
            <a:ext cx="9905998" cy="1043903"/>
          </a:xfrm>
        </p:spPr>
        <p:txBody>
          <a:bodyPr>
            <a:normAutofit fontScale="90000"/>
          </a:bodyPr>
          <a:lstStyle/>
          <a:p>
            <a:r>
              <a:rPr lang="en-US" b="1" dirty="0">
                <a:effectLst/>
              </a:rPr>
              <a:t>3. Polynomial Regression</a:t>
            </a:r>
            <a:br>
              <a:rPr lang="en-US" b="1" dirty="0">
                <a:effectLst/>
              </a:rPr>
            </a:b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41412" y="1357802"/>
                <a:ext cx="9905999" cy="4920167"/>
              </a:xfrm>
            </p:spPr>
            <p:txBody>
              <a:bodyPr>
                <a:normAutofit lnSpcReduction="10000"/>
              </a:bodyPr>
              <a:lstStyle/>
              <a:p>
                <a:pPr fontAlgn="base"/>
                <a:r>
                  <a:rPr lang="en-US" dirty="0" smtClean="0">
                    <a:effectLst/>
                  </a:rPr>
                  <a:t>Polynomial </a:t>
                </a:r>
                <a:r>
                  <a:rPr lang="en-US" dirty="0">
                    <a:effectLst/>
                  </a:rPr>
                  <a:t>Regression models non-linear relationships by introducing polynomial terms</a:t>
                </a:r>
                <a:r>
                  <a:rPr lang="en-US" dirty="0" smtClean="0">
                    <a:effectLst/>
                  </a:rPr>
                  <a:t>.</a:t>
                </a:r>
              </a:p>
              <a:p>
                <a:pPr marL="0" indent="0" fontAlgn="base">
                  <a:buNone/>
                </a:pPr>
                <a:r>
                  <a:rPr lang="en-US" i="1" dirty="0">
                    <a:solidFill>
                      <a:srgbClr val="273239"/>
                    </a:solidFill>
                    <a:effectLst/>
                    <a:latin typeface="KaTeX_Math"/>
                  </a:rPr>
                  <a:t>y</a:t>
                </a:r>
                <a:r>
                  <a:rPr lang="en-US" dirty="0">
                    <a:solidFill>
                      <a:srgbClr val="273239"/>
                    </a:solidFill>
                    <a:effectLst/>
                    <a:latin typeface="KaTeX_Main"/>
                  </a:rPr>
                  <a:t>=</a:t>
                </a:r>
                <a:r>
                  <a:rPr lang="el-GR" i="1" dirty="0">
                    <a:solidFill>
                      <a:srgbClr val="273239"/>
                    </a:solidFill>
                    <a:effectLst/>
                    <a:latin typeface="KaTeX_Math"/>
                  </a:rPr>
                  <a:t>β</a:t>
                </a:r>
                <a:r>
                  <a:rPr lang="el-GR" baseline="-25000" dirty="0">
                    <a:solidFill>
                      <a:srgbClr val="273239"/>
                    </a:solidFill>
                    <a:effectLst/>
                    <a:latin typeface="KaTeX_Main"/>
                  </a:rPr>
                  <a:t>0​</a:t>
                </a:r>
                <a:r>
                  <a:rPr lang="el-GR" dirty="0">
                    <a:solidFill>
                      <a:srgbClr val="273239"/>
                    </a:solidFill>
                    <a:effectLst/>
                    <a:latin typeface="KaTeX_Main"/>
                  </a:rPr>
                  <a:t>+</a:t>
                </a:r>
                <a:r>
                  <a:rPr lang="el-GR" i="1" dirty="0">
                    <a:solidFill>
                      <a:srgbClr val="273239"/>
                    </a:solidFill>
                    <a:effectLst/>
                    <a:latin typeface="KaTeX_Math"/>
                  </a:rPr>
                  <a:t>β</a:t>
                </a:r>
                <a:r>
                  <a:rPr lang="el-GR" baseline="-25000" dirty="0">
                    <a:solidFill>
                      <a:srgbClr val="273239"/>
                    </a:solidFill>
                    <a:effectLst/>
                    <a:latin typeface="KaTeX_Main"/>
                  </a:rPr>
                  <a:t>1</a:t>
                </a:r>
                <a:r>
                  <a:rPr lang="el-GR" dirty="0">
                    <a:solidFill>
                      <a:srgbClr val="273239"/>
                    </a:solidFill>
                    <a:effectLst/>
                    <a:latin typeface="KaTeX_Main"/>
                  </a:rPr>
                  <a:t>​</a:t>
                </a:r>
                <a:r>
                  <a:rPr lang="en-US" i="1" dirty="0">
                    <a:solidFill>
                      <a:srgbClr val="273239"/>
                    </a:solidFill>
                    <a:effectLst/>
                    <a:latin typeface="KaTeX_Math"/>
                  </a:rPr>
                  <a:t>x</a:t>
                </a:r>
                <a:r>
                  <a:rPr lang="en-US" dirty="0">
                    <a:solidFill>
                      <a:srgbClr val="273239"/>
                    </a:solidFill>
                    <a:effectLst/>
                    <a:latin typeface="KaTeX_Main"/>
                  </a:rPr>
                  <a:t>+</a:t>
                </a:r>
                <a:r>
                  <a:rPr lang="el-GR" i="1" dirty="0">
                    <a:solidFill>
                      <a:srgbClr val="273239"/>
                    </a:solidFill>
                    <a:effectLst/>
                    <a:latin typeface="KaTeX_Math"/>
                  </a:rPr>
                  <a:t>β</a:t>
                </a:r>
                <a:r>
                  <a:rPr lang="el-GR" baseline="-25000" dirty="0">
                    <a:solidFill>
                      <a:srgbClr val="273239"/>
                    </a:solidFill>
                    <a:effectLst/>
                    <a:latin typeface="KaTeX_Main"/>
                  </a:rPr>
                  <a:t>2</a:t>
                </a:r>
                <a:r>
                  <a:rPr lang="el-GR" dirty="0" smtClean="0">
                    <a:solidFill>
                      <a:srgbClr val="273239"/>
                    </a:solidFill>
                    <a:effectLst/>
                    <a:latin typeface="KaTeX_Main"/>
                  </a:rPr>
                  <a:t>​</a:t>
                </a:r>
                <a14:m>
                  <m:oMath xmlns:m="http://schemas.openxmlformats.org/officeDocument/2006/math">
                    <m:sSup>
                      <m:sSupPr>
                        <m:ctrlPr>
                          <a:rPr lang="el-GR" i="1" smtClean="0">
                            <a:solidFill>
                              <a:srgbClr val="273239"/>
                            </a:solidFill>
                            <a:effectLst/>
                            <a:latin typeface="Cambria Math" panose="02040503050406030204" pitchFamily="18" charset="0"/>
                          </a:rPr>
                        </m:ctrlPr>
                      </m:sSupPr>
                      <m:e>
                        <m:r>
                          <a:rPr lang="en-US" b="0" i="1" smtClean="0">
                            <a:solidFill>
                              <a:srgbClr val="273239"/>
                            </a:solidFill>
                            <a:effectLst/>
                            <a:latin typeface="Cambria Math" panose="02040503050406030204" pitchFamily="18" charset="0"/>
                          </a:rPr>
                          <m:t>𝑋</m:t>
                        </m:r>
                      </m:e>
                      <m:sup>
                        <m:r>
                          <a:rPr lang="en-US" b="0" i="1" smtClean="0">
                            <a:solidFill>
                              <a:srgbClr val="273239"/>
                            </a:solidFill>
                            <a:effectLst/>
                            <a:latin typeface="Cambria Math" panose="02040503050406030204" pitchFamily="18" charset="0"/>
                          </a:rPr>
                          <m:t>2</m:t>
                        </m:r>
                      </m:sup>
                    </m:sSup>
                  </m:oMath>
                </a14:m>
                <a:r>
                  <a:rPr lang="en-US" dirty="0" smtClean="0">
                    <a:solidFill>
                      <a:srgbClr val="273239"/>
                    </a:solidFill>
                    <a:effectLst/>
                    <a:latin typeface="KaTeX_Main"/>
                  </a:rPr>
                  <a:t>+</a:t>
                </a:r>
                <a:r>
                  <a:rPr lang="el-GR" i="1" dirty="0">
                    <a:solidFill>
                      <a:srgbClr val="273239"/>
                    </a:solidFill>
                    <a:effectLst/>
                    <a:latin typeface="KaTeX_Math"/>
                  </a:rPr>
                  <a:t>β</a:t>
                </a:r>
                <a14:m>
                  <m:oMath xmlns:m="http://schemas.openxmlformats.org/officeDocument/2006/math">
                    <m:r>
                      <a:rPr lang="el-GR" i="1" baseline="-25000" dirty="0" smtClean="0">
                        <a:solidFill>
                          <a:srgbClr val="273239"/>
                        </a:solidFill>
                        <a:effectLst/>
                        <a:latin typeface="Cambria Math" panose="02040503050406030204" pitchFamily="18" charset="0"/>
                      </a:rPr>
                      <m:t>3</m:t>
                    </m:r>
                  </m:oMath>
                </a14:m>
                <a:r>
                  <a:rPr lang="el-GR" dirty="0" smtClean="0">
                    <a:solidFill>
                      <a:srgbClr val="273239"/>
                    </a:solidFill>
                    <a:effectLst/>
                    <a:latin typeface="KaTeX_Main"/>
                  </a:rPr>
                  <a:t>​</a:t>
                </a:r>
                <a14:m>
                  <m:oMath xmlns:m="http://schemas.openxmlformats.org/officeDocument/2006/math">
                    <m:sSup>
                      <m:sSupPr>
                        <m:ctrlPr>
                          <a:rPr lang="el-GR" i="1" dirty="0" smtClean="0">
                            <a:solidFill>
                              <a:srgbClr val="273239"/>
                            </a:solidFill>
                            <a:effectLst/>
                            <a:latin typeface="Cambria Math" panose="02040503050406030204" pitchFamily="18" charset="0"/>
                          </a:rPr>
                        </m:ctrlPr>
                      </m:sSupPr>
                      <m:e>
                        <m:r>
                          <a:rPr lang="en-US" b="0" i="1" dirty="0" smtClean="0">
                            <a:solidFill>
                              <a:srgbClr val="273239"/>
                            </a:solidFill>
                            <a:effectLst/>
                            <a:latin typeface="Cambria Math" panose="02040503050406030204" pitchFamily="18" charset="0"/>
                          </a:rPr>
                          <m:t>𝑋</m:t>
                        </m:r>
                      </m:e>
                      <m:sup>
                        <m:r>
                          <a:rPr lang="en-US" b="0" i="1" dirty="0" smtClean="0">
                            <a:solidFill>
                              <a:srgbClr val="273239"/>
                            </a:solidFill>
                            <a:effectLst/>
                            <a:latin typeface="Cambria Math" panose="02040503050406030204" pitchFamily="18" charset="0"/>
                          </a:rPr>
                          <m:t>2</m:t>
                        </m:r>
                      </m:sup>
                    </m:sSup>
                  </m:oMath>
                </a14:m>
                <a:r>
                  <a:rPr lang="en-US" dirty="0" smtClean="0">
                    <a:solidFill>
                      <a:srgbClr val="273239"/>
                    </a:solidFill>
                    <a:effectLst/>
                    <a:latin typeface="KaTeX_Main"/>
                  </a:rPr>
                  <a:t>+</a:t>
                </a:r>
                <a:r>
                  <a:rPr lang="en-US" dirty="0">
                    <a:solidFill>
                      <a:srgbClr val="273239"/>
                    </a:solidFill>
                    <a:effectLst/>
                    <a:latin typeface="KaTeX_Main"/>
                  </a:rPr>
                  <a:t>⋯+</a:t>
                </a:r>
                <a:r>
                  <a:rPr lang="el-GR" i="1" dirty="0">
                    <a:solidFill>
                      <a:srgbClr val="273239"/>
                    </a:solidFill>
                    <a:effectLst/>
                    <a:latin typeface="KaTeX_Math"/>
                  </a:rPr>
                  <a:t>β</a:t>
                </a:r>
                <a:r>
                  <a:rPr lang="en-US" i="1" baseline="-25000" dirty="0">
                    <a:solidFill>
                      <a:srgbClr val="273239"/>
                    </a:solidFill>
                    <a:effectLst/>
                    <a:latin typeface="KaTeX_Math"/>
                  </a:rPr>
                  <a:t>n</a:t>
                </a:r>
                <a:r>
                  <a:rPr lang="en-US" dirty="0">
                    <a:solidFill>
                      <a:srgbClr val="273239"/>
                    </a:solidFill>
                    <a:effectLst/>
                    <a:latin typeface="KaTeX_Main"/>
                  </a:rPr>
                  <a:t>​</a:t>
                </a:r>
                <a:r>
                  <a:rPr lang="en-US" i="1" dirty="0" err="1">
                    <a:solidFill>
                      <a:srgbClr val="273239"/>
                    </a:solidFill>
                    <a:effectLst/>
                    <a:latin typeface="KaTeX_Math"/>
                  </a:rPr>
                  <a:t>x</a:t>
                </a:r>
                <a:r>
                  <a:rPr lang="en-US" i="1" baseline="30000" dirty="0" err="1">
                    <a:solidFill>
                      <a:srgbClr val="273239"/>
                    </a:solidFill>
                    <a:effectLst/>
                    <a:latin typeface="KaTeX_Math"/>
                  </a:rPr>
                  <a:t>n</a:t>
                </a:r>
                <a:r>
                  <a:rPr lang="en-US" dirty="0">
                    <a:solidFill>
                      <a:srgbClr val="273239"/>
                    </a:solidFill>
                    <a:effectLst/>
                    <a:latin typeface="KaTeX_Main"/>
                  </a:rPr>
                  <a:t>+</a:t>
                </a:r>
                <a:r>
                  <a:rPr lang="el-GR" i="1" dirty="0" smtClean="0">
                    <a:solidFill>
                      <a:srgbClr val="273239"/>
                    </a:solidFill>
                    <a:effectLst/>
                    <a:latin typeface="KaTeX_Math"/>
                  </a:rPr>
                  <a:t>ϵ</a:t>
                </a:r>
                <a:endParaRPr lang="en-US" i="1" dirty="0" smtClean="0">
                  <a:solidFill>
                    <a:srgbClr val="273239"/>
                  </a:solidFill>
                  <a:effectLst/>
                  <a:latin typeface="KaTeX_Math"/>
                </a:endParaRPr>
              </a:p>
              <a:p>
                <a:pPr fontAlgn="base"/>
                <a:r>
                  <a:rPr lang="en-US" dirty="0">
                    <a:solidFill>
                      <a:srgbClr val="273239"/>
                    </a:solidFill>
                    <a:effectLst/>
                    <a:latin typeface="Nunito"/>
                  </a:rPr>
                  <a:t>Where</a:t>
                </a:r>
              </a:p>
              <a:p>
                <a:pPr fontAlgn="base"/>
                <a:r>
                  <a:rPr lang="en-US" i="1" dirty="0" smtClean="0">
                    <a:solidFill>
                      <a:srgbClr val="273239"/>
                    </a:solidFill>
                    <a:effectLst/>
                    <a:latin typeface="KaTeX_Math"/>
                  </a:rPr>
                  <a:t>y</a:t>
                </a:r>
                <a:r>
                  <a:rPr lang="en-US" dirty="0">
                    <a:solidFill>
                      <a:srgbClr val="273239"/>
                    </a:solidFill>
                    <a:effectLst/>
                    <a:latin typeface="Nunito"/>
                  </a:rPr>
                  <a:t> is the predicted output,</a:t>
                </a:r>
              </a:p>
              <a:p>
                <a:pPr fontAlgn="base"/>
                <a:r>
                  <a:rPr lang="en-US" i="1" dirty="0" smtClean="0">
                    <a:solidFill>
                      <a:srgbClr val="273239"/>
                    </a:solidFill>
                    <a:effectLst/>
                    <a:latin typeface="KaTeX_Math"/>
                  </a:rPr>
                  <a:t>x</a:t>
                </a:r>
                <a:r>
                  <a:rPr lang="en-US" dirty="0">
                    <a:solidFill>
                      <a:srgbClr val="273239"/>
                    </a:solidFill>
                    <a:effectLst/>
                    <a:latin typeface="Nunito"/>
                  </a:rPr>
                  <a:t> is the input variable,</a:t>
                </a:r>
              </a:p>
              <a:p>
                <a:pPr fontAlgn="base"/>
                <a:r>
                  <a:rPr lang="en-US" i="1" dirty="0" smtClean="0">
                    <a:solidFill>
                      <a:srgbClr val="273239"/>
                    </a:solidFill>
                    <a:effectLst/>
                    <a:latin typeface="KaTeX_Math"/>
                  </a:rPr>
                  <a:t>β</a:t>
                </a:r>
                <a:r>
                  <a:rPr lang="en-US" dirty="0" smtClean="0">
                    <a:solidFill>
                      <a:srgbClr val="273239"/>
                    </a:solidFill>
                    <a:effectLst/>
                    <a:latin typeface="KaTeX_Main"/>
                  </a:rPr>
                  <a:t>0​</a:t>
                </a:r>
                <a:r>
                  <a:rPr lang="en-US" dirty="0">
                    <a:solidFill>
                      <a:srgbClr val="273239"/>
                    </a:solidFill>
                    <a:effectLst/>
                    <a:latin typeface="KaTeX_Main"/>
                  </a:rPr>
                  <a:t>,</a:t>
                </a:r>
                <a:r>
                  <a:rPr lang="en-US" i="1" dirty="0">
                    <a:solidFill>
                      <a:srgbClr val="273239"/>
                    </a:solidFill>
                    <a:effectLst/>
                    <a:latin typeface="KaTeX_Math"/>
                  </a:rPr>
                  <a:t>β</a:t>
                </a:r>
                <a:r>
                  <a:rPr lang="en-US" dirty="0">
                    <a:solidFill>
                      <a:srgbClr val="273239"/>
                    </a:solidFill>
                    <a:effectLst/>
                    <a:latin typeface="KaTeX_Main"/>
                  </a:rPr>
                  <a:t>1​,</a:t>
                </a:r>
                <a:r>
                  <a:rPr lang="en-US" i="1" dirty="0">
                    <a:solidFill>
                      <a:srgbClr val="273239"/>
                    </a:solidFill>
                    <a:effectLst/>
                    <a:latin typeface="KaTeX_Math"/>
                  </a:rPr>
                  <a:t>β</a:t>
                </a:r>
                <a:r>
                  <a:rPr lang="en-US" dirty="0">
                    <a:solidFill>
                      <a:srgbClr val="273239"/>
                    </a:solidFill>
                    <a:effectLst/>
                    <a:latin typeface="KaTeX_Main"/>
                  </a:rPr>
                  <a:t>2​,…,</a:t>
                </a:r>
                <a:r>
                  <a:rPr lang="en-US" i="1" dirty="0">
                    <a:solidFill>
                      <a:srgbClr val="273239"/>
                    </a:solidFill>
                    <a:effectLst/>
                    <a:latin typeface="KaTeX_Math"/>
                  </a:rPr>
                  <a:t>βn</a:t>
                </a:r>
                <a:r>
                  <a:rPr lang="en-US" dirty="0">
                    <a:solidFill>
                      <a:srgbClr val="273239"/>
                    </a:solidFill>
                    <a:effectLst/>
                    <a:latin typeface="KaTeX_Main"/>
                  </a:rPr>
                  <a:t>​</a:t>
                </a:r>
                <a:r>
                  <a:rPr lang="en-US" dirty="0">
                    <a:solidFill>
                      <a:srgbClr val="273239"/>
                    </a:solidFill>
                    <a:effectLst/>
                    <a:latin typeface="Nunito"/>
                  </a:rPr>
                  <a:t> are the model coefficients,</a:t>
                </a:r>
              </a:p>
              <a:p>
                <a:pPr fontAlgn="base"/>
                <a:r>
                  <a:rPr lang="en-US" i="1" dirty="0" smtClean="0">
                    <a:solidFill>
                      <a:srgbClr val="273239"/>
                    </a:solidFill>
                    <a:effectLst/>
                    <a:latin typeface="KaTeX_Math"/>
                  </a:rPr>
                  <a:t>n</a:t>
                </a:r>
                <a:r>
                  <a:rPr lang="en-US" dirty="0">
                    <a:solidFill>
                      <a:srgbClr val="273239"/>
                    </a:solidFill>
                    <a:effectLst/>
                    <a:latin typeface="Nunito"/>
                  </a:rPr>
                  <a:t> is the polynomial degree,</a:t>
                </a:r>
              </a:p>
              <a:p>
                <a:pPr fontAlgn="base"/>
                <a:r>
                  <a:rPr lang="en-US" i="1" dirty="0" smtClean="0">
                    <a:solidFill>
                      <a:srgbClr val="273239"/>
                    </a:solidFill>
                    <a:effectLst/>
                    <a:latin typeface="KaTeX_Math"/>
                  </a:rPr>
                  <a:t>ϵ</a:t>
                </a:r>
                <a:r>
                  <a:rPr lang="en-US" dirty="0">
                    <a:solidFill>
                      <a:srgbClr val="273239"/>
                    </a:solidFill>
                    <a:effectLst/>
                    <a:latin typeface="Nunito"/>
                  </a:rPr>
                  <a:t> is the error term</a:t>
                </a:r>
              </a:p>
              <a:p>
                <a:pPr marL="0" indent="0" fontAlgn="base">
                  <a:buNone/>
                </a:pPr>
                <a:endParaRPr lang="en-US" dirty="0">
                  <a:effectLst/>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41412" y="1357802"/>
                <a:ext cx="9905999" cy="4920167"/>
              </a:xfrm>
              <a:blipFill>
                <a:blip r:embed="rId2"/>
                <a:stretch>
                  <a:fillRect l="-1231" t="-2230"/>
                </a:stretch>
              </a:blipFill>
            </p:spPr>
            <p:txBody>
              <a:bodyPr/>
              <a:lstStyle/>
              <a:p>
                <a:r>
                  <a:rPr lang="en-US">
                    <a:noFill/>
                  </a:rPr>
                  <a:t> </a:t>
                </a:r>
              </a:p>
            </p:txBody>
          </p:sp>
        </mc:Fallback>
      </mc:AlternateContent>
      <p:pic>
        <p:nvPicPr>
          <p:cNvPr id="5" name="Picture 4"/>
          <p:cNvPicPr>
            <a:picLocks noChangeAspect="1"/>
          </p:cNvPicPr>
          <p:nvPr/>
        </p:nvPicPr>
        <p:blipFill>
          <a:blip r:embed="rId3"/>
          <a:stretch>
            <a:fillRect/>
          </a:stretch>
        </p:blipFill>
        <p:spPr>
          <a:xfrm>
            <a:off x="7956645" y="1982277"/>
            <a:ext cx="3944204" cy="3345257"/>
          </a:xfrm>
          <a:prstGeom prst="rect">
            <a:avLst/>
          </a:prstGeom>
        </p:spPr>
      </p:pic>
    </p:spTree>
    <p:extLst>
      <p:ext uri="{BB962C8B-B14F-4D97-AF65-F5344CB8AC3E}">
        <p14:creationId xmlns:p14="http://schemas.microsoft.com/office/powerpoint/2010/main" val="312128884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Applications in Simulation</a:t>
            </a:r>
            <a:br>
              <a:rPr lang="en-US" b="1" dirty="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Predicting </a:t>
            </a:r>
            <a:r>
              <a:rPr lang="en-US" dirty="0"/>
              <a:t>system performance. </a:t>
            </a:r>
          </a:p>
          <a:p>
            <a:r>
              <a:rPr lang="en-US" dirty="0"/>
              <a:t>Forecasting production output. </a:t>
            </a:r>
          </a:p>
          <a:p>
            <a:r>
              <a:rPr lang="en-US" dirty="0"/>
              <a:t>Queue and waiting time analysis. </a:t>
            </a:r>
          </a:p>
          <a:p>
            <a:r>
              <a:rPr lang="en-US" dirty="0"/>
              <a:t>Inventory management. </a:t>
            </a:r>
          </a:p>
          <a:p>
            <a:r>
              <a:rPr lang="en-US" dirty="0"/>
              <a:t>Traffic simulation. </a:t>
            </a:r>
          </a:p>
          <a:p>
            <a:r>
              <a:rPr lang="en-US" dirty="0"/>
              <a:t>Healthcare simulation. </a:t>
            </a:r>
          </a:p>
          <a:p>
            <a:r>
              <a:rPr lang="en-US" dirty="0"/>
              <a:t>Manufacturing process optimization. </a:t>
            </a:r>
          </a:p>
          <a:p>
            <a:r>
              <a:rPr lang="en-US" dirty="0"/>
              <a:t>Financial and economic simulations.</a:t>
            </a:r>
          </a:p>
          <a:p>
            <a:endParaRPr lang="en-US" dirty="0"/>
          </a:p>
        </p:txBody>
      </p:sp>
    </p:spTree>
    <p:extLst>
      <p:ext uri="{BB962C8B-B14F-4D97-AF65-F5344CB8AC3E}">
        <p14:creationId xmlns:p14="http://schemas.microsoft.com/office/powerpoint/2010/main" val="81995240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0595" y="136477"/>
            <a:ext cx="9905998" cy="655093"/>
          </a:xfrm>
        </p:spPr>
        <p:txBody>
          <a:bodyPr/>
          <a:lstStyle/>
          <a:p>
            <a:r>
              <a:rPr lang="en-US" dirty="0"/>
              <a:t>Analysis of Variance (ANOVA)</a:t>
            </a:r>
          </a:p>
        </p:txBody>
      </p:sp>
      <p:sp>
        <p:nvSpPr>
          <p:cNvPr id="3" name="Content Placeholder 2"/>
          <p:cNvSpPr>
            <a:spLocks noGrp="1"/>
          </p:cNvSpPr>
          <p:nvPr>
            <p:ph idx="1"/>
          </p:nvPr>
        </p:nvSpPr>
        <p:spPr>
          <a:xfrm>
            <a:off x="1141412" y="791570"/>
            <a:ext cx="9905999" cy="4999631"/>
          </a:xfrm>
        </p:spPr>
        <p:txBody>
          <a:bodyPr/>
          <a:lstStyle/>
          <a:p>
            <a:r>
              <a:rPr lang="en-US" b="1" dirty="0">
                <a:effectLst/>
              </a:rPr>
              <a:t>Analysis of Variance (ANOVA)</a:t>
            </a:r>
            <a:r>
              <a:rPr lang="en-US" dirty="0">
                <a:effectLst/>
              </a:rPr>
              <a:t> is a statistical technique used to determine if there are significant differences between the average values (means) of </a:t>
            </a:r>
            <a:r>
              <a:rPr lang="en-US" b="1" dirty="0">
                <a:effectLst/>
              </a:rPr>
              <a:t>two or more independent groups</a:t>
            </a:r>
            <a:r>
              <a:rPr lang="en-US" dirty="0">
                <a:effectLst/>
              </a:rPr>
              <a:t>. It works by examining the spread of data within each group compared to the spread between the groups, helping researchers understand if observed differences are likely real or just due to random chance. It is widely used in research, including medicine, to compare treatments, interventions, or conditions</a:t>
            </a:r>
            <a:r>
              <a:rPr lang="en-US" dirty="0" smtClean="0">
                <a:effectLst/>
              </a:rPr>
              <a:t>.</a:t>
            </a:r>
          </a:p>
          <a:p>
            <a:endParaRPr lang="en-US" dirty="0"/>
          </a:p>
        </p:txBody>
      </p:sp>
      <p:pic>
        <p:nvPicPr>
          <p:cNvPr id="4" name="Picture 3"/>
          <p:cNvPicPr>
            <a:picLocks noChangeAspect="1"/>
          </p:cNvPicPr>
          <p:nvPr/>
        </p:nvPicPr>
        <p:blipFill>
          <a:blip r:embed="rId2"/>
          <a:stretch>
            <a:fillRect/>
          </a:stretch>
        </p:blipFill>
        <p:spPr>
          <a:xfrm>
            <a:off x="3084394" y="4039737"/>
            <a:ext cx="5950423" cy="2406557"/>
          </a:xfrm>
          <a:prstGeom prst="rect">
            <a:avLst/>
          </a:prstGeom>
        </p:spPr>
      </p:pic>
    </p:spTree>
    <p:extLst>
      <p:ext uri="{BB962C8B-B14F-4D97-AF65-F5344CB8AC3E}">
        <p14:creationId xmlns:p14="http://schemas.microsoft.com/office/powerpoint/2010/main" val="316960410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23246" y="90838"/>
            <a:ext cx="5867400" cy="1924050"/>
          </a:xfrm>
          <a:prstGeom prst="rect">
            <a:avLst/>
          </a:prstGeom>
        </p:spPr>
      </p:pic>
      <p:pic>
        <p:nvPicPr>
          <p:cNvPr id="5" name="Picture 4"/>
          <p:cNvPicPr>
            <a:picLocks noChangeAspect="1"/>
          </p:cNvPicPr>
          <p:nvPr/>
        </p:nvPicPr>
        <p:blipFill>
          <a:blip r:embed="rId3"/>
          <a:stretch>
            <a:fillRect/>
          </a:stretch>
        </p:blipFill>
        <p:spPr>
          <a:xfrm>
            <a:off x="223245" y="1994200"/>
            <a:ext cx="5915026" cy="1724025"/>
          </a:xfrm>
          <a:prstGeom prst="rect">
            <a:avLst/>
          </a:prstGeom>
        </p:spPr>
      </p:pic>
      <p:pic>
        <p:nvPicPr>
          <p:cNvPr id="6" name="Picture 5"/>
          <p:cNvPicPr>
            <a:picLocks noChangeAspect="1"/>
          </p:cNvPicPr>
          <p:nvPr/>
        </p:nvPicPr>
        <p:blipFill>
          <a:blip r:embed="rId4"/>
          <a:stretch>
            <a:fillRect/>
          </a:stretch>
        </p:blipFill>
        <p:spPr>
          <a:xfrm>
            <a:off x="223244" y="3718225"/>
            <a:ext cx="5915027" cy="2124075"/>
          </a:xfrm>
          <a:prstGeom prst="rect">
            <a:avLst/>
          </a:prstGeom>
        </p:spPr>
      </p:pic>
      <p:pic>
        <p:nvPicPr>
          <p:cNvPr id="7" name="Picture 6"/>
          <p:cNvPicPr>
            <a:picLocks noChangeAspect="1"/>
          </p:cNvPicPr>
          <p:nvPr/>
        </p:nvPicPr>
        <p:blipFill>
          <a:blip r:embed="rId5"/>
          <a:stretch>
            <a:fillRect/>
          </a:stretch>
        </p:blipFill>
        <p:spPr>
          <a:xfrm>
            <a:off x="6090647" y="90838"/>
            <a:ext cx="5827306" cy="2381250"/>
          </a:xfrm>
          <a:prstGeom prst="rect">
            <a:avLst/>
          </a:prstGeom>
        </p:spPr>
      </p:pic>
      <p:pic>
        <p:nvPicPr>
          <p:cNvPr id="8" name="Picture 7"/>
          <p:cNvPicPr>
            <a:picLocks noChangeAspect="1"/>
          </p:cNvPicPr>
          <p:nvPr/>
        </p:nvPicPr>
        <p:blipFill>
          <a:blip r:embed="rId6"/>
          <a:stretch>
            <a:fillRect/>
          </a:stretch>
        </p:blipFill>
        <p:spPr>
          <a:xfrm>
            <a:off x="6138272" y="2480462"/>
            <a:ext cx="5779681" cy="1466850"/>
          </a:xfrm>
          <a:prstGeom prst="rect">
            <a:avLst/>
          </a:prstGeom>
        </p:spPr>
      </p:pic>
    </p:spTree>
    <p:extLst>
      <p:ext uri="{BB962C8B-B14F-4D97-AF65-F5344CB8AC3E}">
        <p14:creationId xmlns:p14="http://schemas.microsoft.com/office/powerpoint/2010/main" val="40955752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5105" y="222069"/>
            <a:ext cx="9905998" cy="627017"/>
          </a:xfrm>
        </p:spPr>
        <p:txBody>
          <a:bodyPr>
            <a:normAutofit fontScale="90000"/>
          </a:bodyPr>
          <a:lstStyle/>
          <a:p>
            <a:r>
              <a:rPr lang="en-US" b="1" dirty="0">
                <a:effectLst/>
              </a:rPr>
              <a:t>Types of ANOVA</a:t>
            </a:r>
            <a:br>
              <a:rPr lang="en-US" b="1" dirty="0">
                <a:effectLst/>
              </a:rPr>
            </a:br>
            <a:endParaRPr lang="en-US" dirty="0"/>
          </a:p>
        </p:txBody>
      </p:sp>
      <p:sp>
        <p:nvSpPr>
          <p:cNvPr id="3" name="Content Placeholder 2"/>
          <p:cNvSpPr>
            <a:spLocks noGrp="1"/>
          </p:cNvSpPr>
          <p:nvPr>
            <p:ph idx="1"/>
          </p:nvPr>
        </p:nvSpPr>
        <p:spPr>
          <a:xfrm>
            <a:off x="849086" y="613954"/>
            <a:ext cx="10724605" cy="5747657"/>
          </a:xfrm>
        </p:spPr>
        <p:txBody>
          <a:bodyPr>
            <a:normAutofit fontScale="92500" lnSpcReduction="20000"/>
          </a:bodyPr>
          <a:lstStyle/>
          <a:p>
            <a:pPr fontAlgn="base"/>
            <a:r>
              <a:rPr lang="en-US" dirty="0" smtClean="0">
                <a:effectLst/>
              </a:rPr>
              <a:t>ANOVA </a:t>
            </a:r>
            <a:r>
              <a:rPr lang="en-US" dirty="0">
                <a:effectLst/>
              </a:rPr>
              <a:t>is mainly classified into two types based on the number of independent variables (factors) being studied.</a:t>
            </a:r>
          </a:p>
          <a:p>
            <a:pPr fontAlgn="base"/>
            <a:r>
              <a:rPr lang="en-US" b="1" dirty="0">
                <a:solidFill>
                  <a:srgbClr val="273239"/>
                </a:solidFill>
                <a:effectLst/>
                <a:latin typeface="Nunito"/>
              </a:rPr>
              <a:t>1. One-Way ANOVA (or One-Factor)</a:t>
            </a:r>
          </a:p>
          <a:p>
            <a:pPr fontAlgn="base"/>
            <a:r>
              <a:rPr lang="en-US" dirty="0">
                <a:solidFill>
                  <a:srgbClr val="273239"/>
                </a:solidFill>
                <a:effectLst/>
                <a:latin typeface="Nunito"/>
              </a:rPr>
              <a:t>One-Way ANOVA is used to compare the means of three or more groups when there is only one independent variable. It helps determine whether the differences among the group means are statistically significant.</a:t>
            </a:r>
          </a:p>
          <a:p>
            <a:pPr fontAlgn="base"/>
            <a:r>
              <a:rPr lang="en-US" b="1" dirty="0">
                <a:solidFill>
                  <a:srgbClr val="273239"/>
                </a:solidFill>
                <a:effectLst/>
                <a:latin typeface="Nunito"/>
              </a:rPr>
              <a:t>Example:</a:t>
            </a:r>
            <a:r>
              <a:rPr lang="en-US" dirty="0">
                <a:solidFill>
                  <a:srgbClr val="273239"/>
                </a:solidFill>
                <a:effectLst/>
                <a:latin typeface="Nunito"/>
              </a:rPr>
              <a:t> Comparing the average test scores of students taught using three different teaching methods.</a:t>
            </a:r>
          </a:p>
          <a:p>
            <a:pPr fontAlgn="base"/>
            <a:r>
              <a:rPr lang="en-US" b="1" dirty="0">
                <a:solidFill>
                  <a:srgbClr val="273239"/>
                </a:solidFill>
                <a:effectLst/>
                <a:latin typeface="Nunito"/>
              </a:rPr>
              <a:t>2. Two-Way ANOVA (or Two-Factor)</a:t>
            </a:r>
          </a:p>
          <a:p>
            <a:pPr fontAlgn="base"/>
            <a:r>
              <a:rPr lang="en-US" dirty="0">
                <a:solidFill>
                  <a:srgbClr val="273239"/>
                </a:solidFill>
                <a:effectLst/>
                <a:latin typeface="Nunito"/>
              </a:rPr>
              <a:t>Two-Way ANOVA is used when there are two independent variables. It evaluates the effect of each factor on the dependent variable and also determines whether the two factors interact with each other</a:t>
            </a:r>
            <a:r>
              <a:rPr lang="en-US" dirty="0" smtClean="0">
                <a:solidFill>
                  <a:srgbClr val="273239"/>
                </a:solidFill>
                <a:effectLst/>
                <a:latin typeface="Nunito"/>
              </a:rPr>
              <a:t>.</a:t>
            </a:r>
          </a:p>
          <a:p>
            <a:pPr fontAlgn="base"/>
            <a:r>
              <a:rPr lang="en-US" b="1" dirty="0">
                <a:solidFill>
                  <a:srgbClr val="273239"/>
                </a:solidFill>
                <a:effectLst/>
                <a:latin typeface="Nunito"/>
              </a:rPr>
              <a:t>Example:</a:t>
            </a:r>
            <a:r>
              <a:rPr lang="en-US" dirty="0">
                <a:solidFill>
                  <a:srgbClr val="273239"/>
                </a:solidFill>
                <a:effectLst/>
                <a:latin typeface="Nunito"/>
              </a:rPr>
              <a:t> Studying how students' test scores are affected by both the teaching method and the number of study hours.</a:t>
            </a:r>
          </a:p>
          <a:p>
            <a:endParaRPr lang="en-US" dirty="0"/>
          </a:p>
        </p:txBody>
      </p:sp>
    </p:spTree>
    <p:extLst>
      <p:ext uri="{BB962C8B-B14F-4D97-AF65-F5344CB8AC3E}">
        <p14:creationId xmlns:p14="http://schemas.microsoft.com/office/powerpoint/2010/main" val="15353721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06285" y="169818"/>
            <a:ext cx="9905999" cy="2445430"/>
          </a:xfrm>
          <a:prstGeom prst="rect">
            <a:avLst/>
          </a:prstGeom>
        </p:spPr>
      </p:pic>
      <p:pic>
        <p:nvPicPr>
          <p:cNvPr id="5" name="Content Placeholder 4"/>
          <p:cNvPicPr>
            <a:picLocks noGrp="1" noChangeAspect="1"/>
          </p:cNvPicPr>
          <p:nvPr>
            <p:ph idx="1"/>
          </p:nvPr>
        </p:nvPicPr>
        <p:blipFill>
          <a:blip r:embed="rId3"/>
          <a:stretch>
            <a:fillRect/>
          </a:stretch>
        </p:blipFill>
        <p:spPr>
          <a:xfrm>
            <a:off x="1306285" y="2615248"/>
            <a:ext cx="9905999" cy="3688965"/>
          </a:xfrm>
          <a:prstGeom prst="rect">
            <a:avLst/>
          </a:prstGeom>
        </p:spPr>
      </p:pic>
    </p:spTree>
    <p:extLst>
      <p:ext uri="{BB962C8B-B14F-4D97-AF65-F5344CB8AC3E}">
        <p14:creationId xmlns:p14="http://schemas.microsoft.com/office/powerpoint/2010/main" val="10819318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528354" y="39687"/>
            <a:ext cx="8386355" cy="2209800"/>
          </a:xfrm>
          <a:prstGeom prst="rect">
            <a:avLst/>
          </a:prstGeom>
        </p:spPr>
      </p:pic>
      <p:pic>
        <p:nvPicPr>
          <p:cNvPr id="7" name="Content Placeholder 6"/>
          <p:cNvPicPr>
            <a:picLocks noGrp="1" noChangeAspect="1"/>
          </p:cNvPicPr>
          <p:nvPr>
            <p:ph idx="1"/>
          </p:nvPr>
        </p:nvPicPr>
        <p:blipFill>
          <a:blip r:embed="rId3"/>
          <a:stretch>
            <a:fillRect/>
          </a:stretch>
        </p:blipFill>
        <p:spPr>
          <a:xfrm>
            <a:off x="1528354" y="2249487"/>
            <a:ext cx="8386355" cy="3824742"/>
          </a:xfrm>
          <a:prstGeom prst="rect">
            <a:avLst/>
          </a:prstGeom>
        </p:spPr>
      </p:pic>
    </p:spTree>
    <p:extLst>
      <p:ext uri="{BB962C8B-B14F-4D97-AF65-F5344CB8AC3E}">
        <p14:creationId xmlns:p14="http://schemas.microsoft.com/office/powerpoint/2010/main" val="24589906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41412" y="668337"/>
            <a:ext cx="5124450" cy="2514600"/>
          </a:xfrm>
          <a:prstGeom prst="rect">
            <a:avLst/>
          </a:prstGeom>
        </p:spPr>
      </p:pic>
      <p:pic>
        <p:nvPicPr>
          <p:cNvPr id="5" name="Content Placeholder 4"/>
          <p:cNvPicPr>
            <a:picLocks noGrp="1" noChangeAspect="1"/>
          </p:cNvPicPr>
          <p:nvPr>
            <p:ph idx="1"/>
          </p:nvPr>
        </p:nvPicPr>
        <p:blipFill>
          <a:blip r:embed="rId3"/>
          <a:stretch>
            <a:fillRect/>
          </a:stretch>
        </p:blipFill>
        <p:spPr>
          <a:xfrm>
            <a:off x="6265862" y="668337"/>
            <a:ext cx="5124450" cy="2514600"/>
          </a:xfrm>
          <a:prstGeom prst="rect">
            <a:avLst/>
          </a:prstGeom>
        </p:spPr>
      </p:pic>
      <p:pic>
        <p:nvPicPr>
          <p:cNvPr id="6" name="Picture 5"/>
          <p:cNvPicPr>
            <a:picLocks noChangeAspect="1"/>
          </p:cNvPicPr>
          <p:nvPr/>
        </p:nvPicPr>
        <p:blipFill>
          <a:blip r:embed="rId4"/>
          <a:stretch>
            <a:fillRect/>
          </a:stretch>
        </p:blipFill>
        <p:spPr>
          <a:xfrm>
            <a:off x="1141412" y="3182937"/>
            <a:ext cx="10248900" cy="3505246"/>
          </a:xfrm>
          <a:prstGeom prst="rect">
            <a:avLst/>
          </a:prstGeom>
        </p:spPr>
      </p:pic>
    </p:spTree>
    <p:extLst>
      <p:ext uri="{BB962C8B-B14F-4D97-AF65-F5344CB8AC3E}">
        <p14:creationId xmlns:p14="http://schemas.microsoft.com/office/powerpoint/2010/main" val="29613316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06286" y="300447"/>
            <a:ext cx="9470572" cy="5603964"/>
          </a:xfrm>
          <a:prstGeom prst="rect">
            <a:avLst/>
          </a:prstGeom>
        </p:spPr>
      </p:pic>
    </p:spTree>
    <p:extLst>
      <p:ext uri="{BB962C8B-B14F-4D97-AF65-F5344CB8AC3E}">
        <p14:creationId xmlns:p14="http://schemas.microsoft.com/office/powerpoint/2010/main" val="4986466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141413" y="0"/>
            <a:ext cx="8629604" cy="3094492"/>
          </a:xfrm>
          <a:prstGeom prst="rect">
            <a:avLst/>
          </a:prstGeom>
        </p:spPr>
      </p:pic>
      <p:pic>
        <p:nvPicPr>
          <p:cNvPr id="4" name="Content Placeholder 3"/>
          <p:cNvPicPr>
            <a:picLocks noGrp="1" noChangeAspect="1"/>
          </p:cNvPicPr>
          <p:nvPr>
            <p:ph idx="1"/>
          </p:nvPr>
        </p:nvPicPr>
        <p:blipFill>
          <a:blip r:embed="rId3"/>
          <a:stretch>
            <a:fillRect/>
          </a:stretch>
        </p:blipFill>
        <p:spPr>
          <a:xfrm>
            <a:off x="1141413" y="3094492"/>
            <a:ext cx="8629604" cy="3672068"/>
          </a:xfrm>
          <a:prstGeom prst="rect">
            <a:avLst/>
          </a:prstGeom>
        </p:spPr>
      </p:pic>
    </p:spTree>
    <p:extLst>
      <p:ext uri="{BB962C8B-B14F-4D97-AF65-F5344CB8AC3E}">
        <p14:creationId xmlns:p14="http://schemas.microsoft.com/office/powerpoint/2010/main" val="23452922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449977" y="718457"/>
            <a:ext cx="9130937" cy="5316583"/>
          </a:xfrm>
          <a:prstGeom prst="rect">
            <a:avLst/>
          </a:prstGeom>
        </p:spPr>
      </p:pic>
    </p:spTree>
    <p:extLst>
      <p:ext uri="{BB962C8B-B14F-4D97-AF65-F5344CB8AC3E}">
        <p14:creationId xmlns:p14="http://schemas.microsoft.com/office/powerpoint/2010/main" val="42106804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40525" y="462194"/>
            <a:ext cx="9888583" cy="5938605"/>
          </a:xfrm>
          <a:prstGeom prst="rect">
            <a:avLst/>
          </a:prstGeom>
        </p:spPr>
      </p:pic>
    </p:spTree>
    <p:extLst>
      <p:ext uri="{BB962C8B-B14F-4D97-AF65-F5344CB8AC3E}">
        <p14:creationId xmlns:p14="http://schemas.microsoft.com/office/powerpoint/2010/main" val="27462941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19795" y="770709"/>
            <a:ext cx="9287692" cy="5342708"/>
          </a:xfrm>
          <a:prstGeom prst="rect">
            <a:avLst/>
          </a:prstGeom>
        </p:spPr>
      </p:pic>
    </p:spTree>
    <p:extLst>
      <p:ext uri="{BB962C8B-B14F-4D97-AF65-F5344CB8AC3E}">
        <p14:creationId xmlns:p14="http://schemas.microsoft.com/office/powerpoint/2010/main" val="39560052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06286" y="574766"/>
            <a:ext cx="9562011" cy="5708468"/>
          </a:xfrm>
          <a:prstGeom prst="rect">
            <a:avLst/>
          </a:prstGeom>
        </p:spPr>
      </p:pic>
    </p:spTree>
    <p:extLst>
      <p:ext uri="{BB962C8B-B14F-4D97-AF65-F5344CB8AC3E}">
        <p14:creationId xmlns:p14="http://schemas.microsoft.com/office/powerpoint/2010/main" val="33546563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619794" y="574766"/>
            <a:ext cx="8556171" cy="5277394"/>
          </a:xfrm>
          <a:prstGeom prst="rect">
            <a:avLst/>
          </a:prstGeom>
        </p:spPr>
      </p:pic>
    </p:spTree>
    <p:extLst>
      <p:ext uri="{BB962C8B-B14F-4D97-AF65-F5344CB8AC3E}">
        <p14:creationId xmlns:p14="http://schemas.microsoft.com/office/powerpoint/2010/main" val="30904318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201783" y="391885"/>
            <a:ext cx="9339943" cy="5786845"/>
          </a:xfrm>
          <a:prstGeom prst="rect">
            <a:avLst/>
          </a:prstGeom>
        </p:spPr>
      </p:pic>
    </p:spTree>
    <p:extLst>
      <p:ext uri="{BB962C8B-B14F-4D97-AF65-F5344CB8AC3E}">
        <p14:creationId xmlns:p14="http://schemas.microsoft.com/office/powerpoint/2010/main" val="26019939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B5F27"/>
      </a:dk2>
      <a:lt2>
        <a:srgbClr val="D8FC68"/>
      </a:lt2>
      <a:accent1>
        <a:srgbClr val="DDC855"/>
      </a:accent1>
      <a:accent2>
        <a:srgbClr val="FCA03D"/>
      </a:accent2>
      <a:accent3>
        <a:srgbClr val="E36439"/>
      </a:accent3>
      <a:accent4>
        <a:srgbClr val="C2935B"/>
      </a:accent4>
      <a:accent5>
        <a:srgbClr val="88C25C"/>
      </a:accent5>
      <a:accent6>
        <a:srgbClr val="BFCC86"/>
      </a:accent6>
      <a:hlink>
        <a:srgbClr val="FFCE23"/>
      </a:hlink>
      <a:folHlink>
        <a:srgbClr val="FDEB86"/>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82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97ECCC31-8429-4523-BE8D-8F09B7A4D46D}"/>
    </a:ext>
  </a:extLst>
</a:theme>
</file>

<file path=docProps/app.xml><?xml version="1.0" encoding="utf-8"?>
<Properties xmlns="http://schemas.openxmlformats.org/officeDocument/2006/extended-properties" xmlns:vt="http://schemas.openxmlformats.org/officeDocument/2006/docPropsVTypes">
  <Template>TM04033919[[fn=Circuit]]</Template>
  <TotalTime>773</TotalTime>
  <Words>1223</Words>
  <Application>Microsoft Office PowerPoint</Application>
  <PresentationFormat>Widescreen</PresentationFormat>
  <Paragraphs>114</Paragraphs>
  <Slides>33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Arial</vt:lpstr>
      <vt:lpstr>Arial Narrow</vt:lpstr>
      <vt:lpstr>Cambria Math</vt:lpstr>
      <vt:lpstr>KaTeX_Main</vt:lpstr>
      <vt:lpstr>KaTeX_Math</vt:lpstr>
      <vt:lpstr>Nunito</vt:lpstr>
      <vt:lpstr>Trebuchet MS</vt:lpstr>
      <vt:lpstr>Tw Cen MT</vt:lpstr>
      <vt:lpstr>Circuit</vt:lpstr>
      <vt:lpstr>Chap 7</vt:lpstr>
      <vt:lpstr>Calibration and Validation of Model</vt:lpstr>
      <vt:lpstr>Calibration and validation of models </vt:lpstr>
      <vt:lpstr>Face Validity</vt:lpstr>
      <vt:lpstr>Validation of Model Assumptions </vt:lpstr>
      <vt:lpstr>Validating Input -Output Transformations</vt:lpstr>
      <vt:lpstr>From modeling to simulation: model building, verification and validation</vt:lpstr>
      <vt:lpstr>Model Calibration and Validation</vt:lpstr>
      <vt:lpstr>Input Validation using Turing Test</vt:lpstr>
      <vt:lpstr>initial bias</vt:lpstr>
      <vt:lpstr>Elimination of initial bias</vt:lpstr>
      <vt:lpstr>Elimination of initial bias</vt:lpstr>
      <vt:lpstr>Elimination of initial bias</vt:lpstr>
      <vt:lpstr>Regression Analysis</vt:lpstr>
      <vt:lpstr>Types of Regression </vt:lpstr>
      <vt:lpstr>Linear Regression </vt:lpstr>
      <vt:lpstr>2. Multiple Regression </vt:lpstr>
      <vt:lpstr>3. Polynomial Regression </vt:lpstr>
      <vt:lpstr>Applications in Simulation </vt:lpstr>
      <vt:lpstr>Analysis of Variance (ANOVA)</vt:lpstr>
      <vt:lpstr>PowerPoint Presentation</vt:lpstr>
      <vt:lpstr>Types of ANOVA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FCT</dc:creator>
  <cp:lastModifiedBy>FCT</cp:lastModifiedBy>
  <cp:revision>15</cp:revision>
  <dcterms:created xsi:type="dcterms:W3CDTF">2026-06-29T15:41:56Z</dcterms:created>
  <dcterms:modified xsi:type="dcterms:W3CDTF">2026-07-06T00:52:37Z</dcterms:modified>
</cp:coreProperties>
</file>