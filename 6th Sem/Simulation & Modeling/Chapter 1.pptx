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44"/>
  </p:notesMasterIdLst>
  <p:sldIdLst>
    <p:sldId id="266" r:id="rId5"/>
    <p:sldId id="267" r:id="rId6"/>
    <p:sldId id="270" r:id="rId7"/>
    <p:sldId id="269" r:id="rId8"/>
    <p:sldId id="281" r:id="rId9"/>
    <p:sldId id="283" r:id="rId10"/>
    <p:sldId id="271" r:id="rId11"/>
    <p:sldId id="284" r:id="rId12"/>
    <p:sldId id="285" r:id="rId13"/>
    <p:sldId id="282" r:id="rId14"/>
    <p:sldId id="272" r:id="rId15"/>
    <p:sldId id="286" r:id="rId16"/>
    <p:sldId id="273" r:id="rId17"/>
    <p:sldId id="287" r:id="rId18"/>
    <p:sldId id="288" r:id="rId19"/>
    <p:sldId id="280" r:id="rId20"/>
    <p:sldId id="289" r:id="rId21"/>
    <p:sldId id="290" r:id="rId22"/>
    <p:sldId id="291" r:id="rId23"/>
    <p:sldId id="292" r:id="rId24"/>
    <p:sldId id="293" r:id="rId25"/>
    <p:sldId id="294" r:id="rId26"/>
    <p:sldId id="295" r:id="rId27"/>
    <p:sldId id="302" r:id="rId28"/>
    <p:sldId id="296" r:id="rId29"/>
    <p:sldId id="297" r:id="rId30"/>
    <p:sldId id="298" r:id="rId31"/>
    <p:sldId id="274" r:id="rId32"/>
    <p:sldId id="275" r:id="rId33"/>
    <p:sldId id="304" r:id="rId34"/>
    <p:sldId id="276" r:id="rId35"/>
    <p:sldId id="305" r:id="rId36"/>
    <p:sldId id="299" r:id="rId37"/>
    <p:sldId id="300" r:id="rId38"/>
    <p:sldId id="301" r:id="rId39"/>
    <p:sldId id="303" r:id="rId40"/>
    <p:sldId id="277" r:id="rId41"/>
    <p:sldId id="278" r:id="rId42"/>
    <p:sldId id="279"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81C89-AC0D-4BFF-9223-D3157C1DDC5B}" type="datetimeFigureOut">
              <a:rPr lang="en-US" smtClean="0"/>
              <a:t>5/10/2026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33D7A2-C585-48BF-BF8C-C21FDC051F77}" type="slidenum">
              <a:rPr lang="en-US" smtClean="0"/>
              <a:t>‹#›</a:t>
            </a:fld>
            <a:endParaRPr lang="en-US" dirty="0"/>
          </a:p>
        </p:txBody>
      </p:sp>
    </p:spTree>
    <p:extLst>
      <p:ext uri="{BB962C8B-B14F-4D97-AF65-F5344CB8AC3E}">
        <p14:creationId xmlns:p14="http://schemas.microsoft.com/office/powerpoint/2010/main" val="1372662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3A52079-6997-47B8-B262-4ED5D2EA2D74}" type="datetime1">
              <a:rPr lang="en-US" smtClean="0"/>
              <a:t>5/10/2026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5238998-10EA-455D-8FDC-3EBC7E198582}" type="datetime1">
              <a:rPr lang="en-US" smtClean="0"/>
              <a:t>5/10/2026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5A4E9B6-2EC2-45E6-A437-DCC674AAC4AF}" type="datetime1">
              <a:rPr lang="en-US" smtClean="0"/>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F2D4FF3-940D-4DDE-86D8-82D5A8663636}" type="datetime1">
              <a:rPr lang="en-US" smtClean="0"/>
              <a:t>5/10/2026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4955261-7117-41BB-BB79-8C1909625493}" type="datetime1">
              <a:rPr lang="en-US" smtClean="0"/>
              <a:t>5/10/2026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E204D7-DE7F-414C-8571-0012DE9EFCDB}" type="datetime1">
              <a:rPr lang="en-US" smtClean="0"/>
              <a:t>5/10/2026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E378FF3-85EA-48E5-8D8C-1DB156807E49}" type="datetime1">
              <a:rPr lang="en-US" smtClean="0"/>
              <a:t>5/10/2026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3F94F13-1676-4B68-A383-661B657F6E63}" type="datetime1">
              <a:rPr lang="en-US" smtClean="0"/>
              <a:t>5/10/2026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AC80CA-06EA-4D97-A1EC-F2A229B592C4}" type="datetime1">
              <a:rPr lang="en-US" smtClean="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AA60CC4-6CA2-4A99-B83B-711E420D000E}" type="datetime1">
              <a:rPr lang="en-US" smtClean="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CB83234-995D-4149-8E1E-BC120E9070D5}" type="datetime1">
              <a:rPr lang="en-US" smtClean="0"/>
              <a:t>5/10/2026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56C94072-1B34-48FB-9A9C-5A9A0FFC85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descr="extreme close up of line chart graphic">
            <a:extLst>
              <a:ext uri="{FF2B5EF4-FFF2-40B4-BE49-F238E27FC236}">
                <a16:creationId xmlns:a16="http://schemas.microsoft.com/office/drawing/2014/main" id="{B38A25AE-7B44-4EC1-BC0C-CF0FFF036705}"/>
              </a:ext>
            </a:extLst>
          </p:cNvPr>
          <p:cNvPicPr>
            <a:picLocks noChangeAspect="1"/>
          </p:cNvPicPr>
          <p:nvPr/>
        </p:nvPicPr>
        <p:blipFill rotWithShape="1">
          <a:blip r:embed="rId2"/>
          <a:srcRect t="10000"/>
          <a:stretch/>
        </p:blipFill>
        <p:spPr>
          <a:xfrm>
            <a:off x="20" y="10"/>
            <a:ext cx="12191980" cy="6857990"/>
          </a:xfrm>
          <a:prstGeom prst="rect">
            <a:avLst/>
          </a:prstGeom>
        </p:spPr>
      </p:pic>
      <p:sp>
        <p:nvSpPr>
          <p:cNvPr id="52" name="Freeform: Shape 51">
            <a:extLst>
              <a:ext uri="{FF2B5EF4-FFF2-40B4-BE49-F238E27FC236}">
                <a16:creationId xmlns:a16="http://schemas.microsoft.com/office/drawing/2014/main" id="{A5019358-4900-4555-99FF-EF6AE90B8E3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70146" y="3710250"/>
            <a:ext cx="2131466" cy="1830903"/>
          </a:xfrm>
          <a:custGeom>
            <a:avLst/>
            <a:gdLst>
              <a:gd name="connsiteX0" fmla="*/ 2308583 w 2308583"/>
              <a:gd name="connsiteY0" fmla="*/ 1983044 h 1983044"/>
              <a:gd name="connsiteX1" fmla="*/ 462 w 2308583"/>
              <a:gd name="connsiteY1" fmla="*/ 1983044 h 1983044"/>
              <a:gd name="connsiteX2" fmla="*/ 0 w 2308583"/>
              <a:gd name="connsiteY2" fmla="*/ 1711185 h 1983044"/>
              <a:gd name="connsiteX3" fmla="*/ 2022607 w 2308583"/>
              <a:gd name="connsiteY3" fmla="*/ 1712117 h 1983044"/>
              <a:gd name="connsiteX4" fmla="*/ 2022607 w 2308583"/>
              <a:gd name="connsiteY4" fmla="*/ 0 h 1983044"/>
              <a:gd name="connsiteX5" fmla="*/ 2308583 w 2308583"/>
              <a:gd name="connsiteY5" fmla="*/ 0 h 198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8583" h="1983044">
                <a:moveTo>
                  <a:pt x="2308583" y="1983044"/>
                </a:moveTo>
                <a:lnTo>
                  <a:pt x="462" y="1983044"/>
                </a:lnTo>
                <a:cubicBezTo>
                  <a:pt x="-462" y="1889214"/>
                  <a:pt x="923" y="1805015"/>
                  <a:pt x="0" y="1711185"/>
                </a:cubicBezTo>
                <a:lnTo>
                  <a:pt x="2022607" y="1712117"/>
                </a:lnTo>
                <a:lnTo>
                  <a:pt x="2022607" y="0"/>
                </a:lnTo>
                <a:lnTo>
                  <a:pt x="2308583" y="0"/>
                </a:lnTo>
                <a:close/>
              </a:path>
            </a:pathLst>
          </a:custGeom>
          <a:solidFill>
            <a:srgbClr val="FFFFFF">
              <a:alpha val="70000"/>
            </a:srgbClr>
          </a:solidFill>
          <a:ln w="0">
            <a:noFill/>
            <a:prstDash val="solid"/>
            <a:round/>
            <a:headEnd/>
            <a:tailEnd/>
          </a:ln>
        </p:spPr>
      </p:sp>
      <p:sp>
        <p:nvSpPr>
          <p:cNvPr id="50" name="Rectangle 49">
            <a:extLst>
              <a:ext uri="{FF2B5EF4-FFF2-40B4-BE49-F238E27FC236}">
                <a16:creationId xmlns:a16="http://schemas.microsoft.com/office/drawing/2014/main" id="{1D5941F3-0256-4E90-BBBC-5A6EDEB8E0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8004" y="4166755"/>
            <a:ext cx="5607908" cy="2040066"/>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347C47-EF1D-4B02-906B-219155AD8D0F}"/>
              </a:ext>
            </a:extLst>
          </p:cNvPr>
          <p:cNvSpPr>
            <a:spLocks noGrp="1"/>
          </p:cNvSpPr>
          <p:nvPr>
            <p:ph type="ctrTitle"/>
          </p:nvPr>
        </p:nvSpPr>
        <p:spPr>
          <a:xfrm>
            <a:off x="6298010" y="4333009"/>
            <a:ext cx="5268177" cy="1086237"/>
          </a:xfrm>
        </p:spPr>
        <p:txBody>
          <a:bodyPr>
            <a:normAutofit/>
          </a:bodyPr>
          <a:lstStyle/>
          <a:p>
            <a:pPr algn="l"/>
            <a:r>
              <a:rPr lang="en-US" sz="3600" b="1" i="1" dirty="0" smtClean="0">
                <a:solidFill>
                  <a:schemeClr val="accent5"/>
                </a:solidFill>
              </a:rPr>
              <a:t>SIMULATION AND MODELING</a:t>
            </a:r>
            <a:endParaRPr lang="en-US" sz="3600" b="1" i="1" dirty="0">
              <a:solidFill>
                <a:schemeClr val="accent5"/>
              </a:solidFill>
            </a:endParaRPr>
          </a:p>
        </p:txBody>
      </p:sp>
      <p:sp>
        <p:nvSpPr>
          <p:cNvPr id="3" name="Subtitle 2">
            <a:extLst>
              <a:ext uri="{FF2B5EF4-FFF2-40B4-BE49-F238E27FC236}">
                <a16:creationId xmlns:a16="http://schemas.microsoft.com/office/drawing/2014/main" id="{36A0527F-C5FD-4E9B-9F21-5D1FBA31314B}"/>
              </a:ext>
            </a:extLst>
          </p:cNvPr>
          <p:cNvSpPr>
            <a:spLocks noGrp="1"/>
          </p:cNvSpPr>
          <p:nvPr>
            <p:ph type="subTitle" idx="1"/>
          </p:nvPr>
        </p:nvSpPr>
        <p:spPr>
          <a:xfrm>
            <a:off x="6298010" y="5419246"/>
            <a:ext cx="5268177" cy="578412"/>
          </a:xfrm>
        </p:spPr>
        <p:txBody>
          <a:bodyPr>
            <a:noAutofit/>
          </a:bodyPr>
          <a:lstStyle/>
          <a:p>
            <a:pPr algn="l">
              <a:spcAft>
                <a:spcPts val="600"/>
              </a:spcAft>
            </a:pPr>
            <a:r>
              <a:rPr lang="en-US" sz="1600" dirty="0" smtClean="0">
                <a:solidFill>
                  <a:schemeClr val="accent5"/>
                </a:solidFill>
              </a:rPr>
              <a:t>DIKESH KATWAL</a:t>
            </a:r>
          </a:p>
          <a:p>
            <a:pPr algn="l">
              <a:spcAft>
                <a:spcPts val="600"/>
              </a:spcAft>
            </a:pPr>
            <a:r>
              <a:rPr lang="en-US" sz="1600" dirty="0" smtClean="0">
                <a:solidFill>
                  <a:schemeClr val="accent5"/>
                </a:solidFill>
              </a:rPr>
              <a:t>MSC CS</a:t>
            </a:r>
            <a:endParaRPr lang="en-US" sz="1600" dirty="0">
              <a:solidFill>
                <a:schemeClr val="accent5"/>
              </a:solidFill>
            </a:endParaRPr>
          </a:p>
        </p:txBody>
      </p:sp>
    </p:spTree>
    <p:extLst>
      <p:ext uri="{BB962C8B-B14F-4D97-AF65-F5344CB8AC3E}">
        <p14:creationId xmlns:p14="http://schemas.microsoft.com/office/powerpoint/2010/main" val="7455761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rPr>
              <a:t>UNIT I</a:t>
            </a:r>
            <a:br>
              <a:rPr lang="en-US" dirty="0" smtClean="0">
                <a:solidFill>
                  <a:srgbClr val="C00000"/>
                </a:solidFill>
              </a:rPr>
            </a:br>
            <a:endParaRPr lang="en-US" dirty="0">
              <a:solidFill>
                <a:srgbClr val="C00000"/>
              </a:solidFill>
            </a:endParaRPr>
          </a:p>
        </p:txBody>
      </p:sp>
      <p:sp>
        <p:nvSpPr>
          <p:cNvPr id="3" name="Content Placeholder 2"/>
          <p:cNvSpPr>
            <a:spLocks noGrp="1"/>
          </p:cNvSpPr>
          <p:nvPr>
            <p:ph idx="1"/>
          </p:nvPr>
        </p:nvSpPr>
        <p:spPr/>
        <p:txBody>
          <a:bodyPr>
            <a:normAutofit/>
          </a:bodyPr>
          <a:lstStyle/>
          <a:p>
            <a:pPr marL="0" indent="0">
              <a:buNone/>
            </a:pPr>
            <a:r>
              <a:rPr lang="en-US" sz="2800" b="1" dirty="0" smtClean="0"/>
              <a:t>1.1 system, model and simulation</a:t>
            </a:r>
            <a:endParaRPr lang="en-US" sz="2800" b="1" dirty="0"/>
          </a:p>
        </p:txBody>
      </p:sp>
    </p:spTree>
    <p:extLst>
      <p:ext uri="{BB962C8B-B14F-4D97-AF65-F5344CB8AC3E}">
        <p14:creationId xmlns:p14="http://schemas.microsoft.com/office/powerpoint/2010/main" val="30924205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583" y="0"/>
            <a:ext cx="11447416" cy="6858000"/>
          </a:xfrm>
          <a:prstGeom prst="rect">
            <a:avLst/>
          </a:prstGeom>
        </p:spPr>
      </p:pic>
    </p:spTree>
    <p:extLst>
      <p:ext uri="{BB962C8B-B14F-4D97-AF65-F5344CB8AC3E}">
        <p14:creationId xmlns:p14="http://schemas.microsoft.com/office/powerpoint/2010/main" val="35060341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90800" y="685800"/>
            <a:ext cx="9601200" cy="1485900"/>
          </a:xfrm>
        </p:spPr>
        <p:txBody>
          <a:bodyPr/>
          <a:lstStyle/>
          <a:p>
            <a:r>
              <a:rPr lang="en-US" smtClean="0"/>
              <a:t>System</a:t>
            </a:r>
            <a:br>
              <a:rPr lang="en-US" smtClean="0"/>
            </a:br>
            <a:endParaRPr lang="en-US"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394" y="0"/>
            <a:ext cx="11486606" cy="6858000"/>
          </a:xfrm>
          <a:prstGeom prst="rect">
            <a:avLst/>
          </a:prstGeom>
        </p:spPr>
      </p:pic>
    </p:spTree>
    <p:extLst>
      <p:ext uri="{BB962C8B-B14F-4D97-AF65-F5344CB8AC3E}">
        <p14:creationId xmlns:p14="http://schemas.microsoft.com/office/powerpoint/2010/main" val="13562157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err="1" smtClean="0">
                <a:solidFill>
                  <a:srgbClr val="FF0000"/>
                </a:solidFill>
              </a:rPr>
              <a:t>Compoents</a:t>
            </a:r>
            <a:r>
              <a:rPr lang="en-US" dirty="0" smtClean="0">
                <a:solidFill>
                  <a:srgbClr val="FF0000"/>
                </a:solidFill>
              </a:rPr>
              <a:t> </a:t>
            </a:r>
            <a:r>
              <a:rPr lang="en-US" dirty="0">
                <a:solidFill>
                  <a:srgbClr val="FF0000"/>
                </a:solidFill>
              </a:rPr>
              <a:t>of a </a:t>
            </a:r>
            <a:r>
              <a:rPr lang="en-US" dirty="0" smtClean="0">
                <a:solidFill>
                  <a:srgbClr val="FF0000"/>
                </a:solidFill>
              </a:rPr>
              <a:t>System..</a:t>
            </a:r>
            <a:endParaRPr lang="en-US" dirty="0">
              <a:solidFill>
                <a:srgbClr val="FF0000"/>
              </a:solidFill>
            </a:endParaRPr>
          </a:p>
        </p:txBody>
      </p:sp>
      <p:sp>
        <p:nvSpPr>
          <p:cNvPr id="3" name="Content Placeholder 2"/>
          <p:cNvSpPr>
            <a:spLocks noGrp="1"/>
          </p:cNvSpPr>
          <p:nvPr>
            <p:ph idx="1"/>
          </p:nvPr>
        </p:nvSpPr>
        <p:spPr>
          <a:xfrm>
            <a:off x="1371599" y="2285999"/>
            <a:ext cx="10567851" cy="4428309"/>
          </a:xfrm>
        </p:spPr>
        <p:txBody>
          <a:bodyPr>
            <a:normAutofit/>
          </a:bodyPr>
          <a:lstStyle/>
          <a:p>
            <a:r>
              <a:rPr lang="en-US" b="1" dirty="0" smtClean="0">
                <a:solidFill>
                  <a:srgbClr val="002060"/>
                </a:solidFill>
              </a:rPr>
              <a:t>Event</a:t>
            </a:r>
            <a:endParaRPr lang="en-US" b="1" dirty="0">
              <a:solidFill>
                <a:srgbClr val="002060"/>
              </a:solidFill>
            </a:endParaRPr>
          </a:p>
          <a:p>
            <a:pPr marL="0" indent="0">
              <a:buNone/>
            </a:pPr>
            <a:r>
              <a:rPr lang="en-US" dirty="0" smtClean="0"/>
              <a:t>An </a:t>
            </a:r>
            <a:r>
              <a:rPr lang="en-US" dirty="0"/>
              <a:t>event is define as an </a:t>
            </a:r>
            <a:r>
              <a:rPr lang="en-US" dirty="0" err="1"/>
              <a:t>instaneous</a:t>
            </a:r>
            <a:r>
              <a:rPr lang="en-US" dirty="0"/>
              <a:t> occurrence that may </a:t>
            </a:r>
            <a:r>
              <a:rPr lang="en-US" dirty="0" smtClean="0"/>
              <a:t>change the </a:t>
            </a:r>
            <a:r>
              <a:rPr lang="en-US" dirty="0"/>
              <a:t>state of the </a:t>
            </a:r>
            <a:r>
              <a:rPr lang="en-US" dirty="0" smtClean="0"/>
              <a:t>system</a:t>
            </a:r>
          </a:p>
          <a:p>
            <a:r>
              <a:rPr lang="en-US" b="1" dirty="0">
                <a:solidFill>
                  <a:srgbClr val="002060"/>
                </a:solidFill>
              </a:rPr>
              <a:t>System Environment </a:t>
            </a:r>
            <a:endParaRPr lang="en-US" b="1" dirty="0" smtClean="0">
              <a:solidFill>
                <a:srgbClr val="002060"/>
              </a:solidFill>
            </a:endParaRPr>
          </a:p>
          <a:p>
            <a:pPr marL="0" indent="0">
              <a:buNone/>
            </a:pPr>
            <a:r>
              <a:rPr lang="en-US" dirty="0" smtClean="0"/>
              <a:t>The </a:t>
            </a:r>
            <a:r>
              <a:rPr lang="en-US" dirty="0"/>
              <a:t>external components which interact with the system and produce necessary changes are said to constitute the system environment. </a:t>
            </a:r>
            <a:endParaRPr lang="en-US" dirty="0" smtClean="0"/>
          </a:p>
          <a:p>
            <a:pPr marL="0" indent="0">
              <a:buNone/>
            </a:pPr>
            <a:r>
              <a:rPr lang="en-US" dirty="0" smtClean="0"/>
              <a:t>• </a:t>
            </a:r>
            <a:r>
              <a:rPr lang="en-US" dirty="0"/>
              <a:t>In modeling systems, it is necessary to decide on the boundary between the system and its environment. This decision may depend on the purpose of the study</a:t>
            </a:r>
            <a:r>
              <a:rPr lang="en-US" dirty="0" smtClean="0"/>
              <a:t>.</a:t>
            </a:r>
          </a:p>
          <a:p>
            <a:pPr marL="0" indent="0">
              <a:buNone/>
            </a:pPr>
            <a:r>
              <a:rPr lang="en-US" dirty="0" smtClean="0"/>
              <a:t> </a:t>
            </a:r>
            <a:r>
              <a:rPr lang="en-US" dirty="0"/>
              <a:t>• Ex: In a factory system, the factors controlling arrival of orders may be considered to be outside the factory but yet a part of the system environment. When, we consider the demand and supply of goods, there is certainly a relationship between the factory output and arrival of orders. This relationship is considered as an activity of the system.</a:t>
            </a:r>
          </a:p>
        </p:txBody>
      </p:sp>
    </p:spTree>
    <p:extLst>
      <p:ext uri="{BB962C8B-B14F-4D97-AF65-F5344CB8AC3E}">
        <p14:creationId xmlns:p14="http://schemas.microsoft.com/office/powerpoint/2010/main" val="7563116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375954" y="130629"/>
            <a:ext cx="9601200" cy="5826034"/>
          </a:xfrm>
        </p:spPr>
        <p:txBody>
          <a:bodyPr>
            <a:normAutofit/>
          </a:bodyPr>
          <a:lstStyle/>
          <a:p>
            <a:r>
              <a:rPr lang="en-US" b="1" dirty="0">
                <a:solidFill>
                  <a:srgbClr val="002060"/>
                </a:solidFill>
              </a:rPr>
              <a:t>System Environment </a:t>
            </a:r>
            <a:r>
              <a:rPr lang="en-US" dirty="0"/>
              <a:t/>
            </a:r>
            <a:br>
              <a:rPr lang="en-US" dirty="0"/>
            </a:br>
            <a:r>
              <a:rPr lang="en-US" dirty="0"/>
              <a:t>The changes occurring outside the system are said to occur in system </a:t>
            </a:r>
            <a:r>
              <a:rPr lang="en-US" dirty="0" smtClean="0"/>
              <a:t>environment</a:t>
            </a:r>
          </a:p>
          <a:p>
            <a:r>
              <a:rPr lang="en-US" b="1" dirty="0" smtClean="0">
                <a:solidFill>
                  <a:srgbClr val="002060"/>
                </a:solidFill>
              </a:rPr>
              <a:t>Endogenous </a:t>
            </a:r>
            <a:r>
              <a:rPr lang="en-US" b="1" dirty="0">
                <a:solidFill>
                  <a:srgbClr val="002060"/>
                </a:solidFill>
              </a:rPr>
              <a:t>System </a:t>
            </a:r>
            <a:endParaRPr lang="en-US" b="1" dirty="0" smtClean="0">
              <a:solidFill>
                <a:srgbClr val="002060"/>
              </a:solidFill>
            </a:endParaRPr>
          </a:p>
          <a:p>
            <a:pPr marL="0" indent="0">
              <a:buNone/>
            </a:pPr>
            <a:r>
              <a:rPr lang="en-US" dirty="0" smtClean="0"/>
              <a:t>The </a:t>
            </a:r>
            <a:r>
              <a:rPr lang="en-US" dirty="0"/>
              <a:t>term endogenous is used to describe activities and events occurring within a system. Ex: Drawing cash in a bank. </a:t>
            </a:r>
            <a:endParaRPr lang="en-US" dirty="0" smtClean="0"/>
          </a:p>
          <a:p>
            <a:pPr marL="0" indent="0">
              <a:buNone/>
            </a:pPr>
            <a:r>
              <a:rPr lang="en-US" b="1" dirty="0" smtClean="0">
                <a:solidFill>
                  <a:srgbClr val="002060"/>
                </a:solidFill>
              </a:rPr>
              <a:t>Exogenous System</a:t>
            </a:r>
          </a:p>
          <a:p>
            <a:pPr marL="0" indent="0">
              <a:buNone/>
            </a:pPr>
            <a:r>
              <a:rPr lang="en-US" dirty="0" smtClean="0"/>
              <a:t> The </a:t>
            </a:r>
            <a:r>
              <a:rPr lang="en-US" dirty="0"/>
              <a:t>term exogenous is used to describe activities and events in the environment that affect the system. Ex: Arrival of customers. </a:t>
            </a:r>
            <a:endParaRPr lang="en-US" dirty="0" smtClean="0"/>
          </a:p>
          <a:p>
            <a:pPr marL="0" indent="0">
              <a:buNone/>
            </a:pPr>
            <a:r>
              <a:rPr lang="en-US" b="1" dirty="0" smtClean="0">
                <a:solidFill>
                  <a:srgbClr val="002060"/>
                </a:solidFill>
              </a:rPr>
              <a:t>Closed </a:t>
            </a:r>
            <a:r>
              <a:rPr lang="en-US" b="1" dirty="0">
                <a:solidFill>
                  <a:srgbClr val="002060"/>
                </a:solidFill>
              </a:rPr>
              <a:t>System </a:t>
            </a:r>
            <a:endParaRPr lang="en-US" b="1" dirty="0" smtClean="0">
              <a:solidFill>
                <a:srgbClr val="002060"/>
              </a:solidFill>
            </a:endParaRPr>
          </a:p>
          <a:p>
            <a:pPr marL="0" indent="0">
              <a:buNone/>
            </a:pPr>
            <a:r>
              <a:rPr lang="en-US" dirty="0" smtClean="0"/>
              <a:t>A </a:t>
            </a:r>
            <a:r>
              <a:rPr lang="en-US" dirty="0"/>
              <a:t>system for which there is no exogenous (No External) activity and event is said to be a closed. Ex: Water in an insulated flask. </a:t>
            </a:r>
            <a:endParaRPr lang="en-US" dirty="0" smtClean="0"/>
          </a:p>
          <a:p>
            <a:pPr marL="0" indent="0">
              <a:buNone/>
            </a:pPr>
            <a:r>
              <a:rPr lang="en-US" b="1" dirty="0" smtClean="0">
                <a:solidFill>
                  <a:srgbClr val="002060"/>
                </a:solidFill>
              </a:rPr>
              <a:t>Open system</a:t>
            </a:r>
          </a:p>
          <a:p>
            <a:pPr marL="0" indent="0">
              <a:buNone/>
            </a:pPr>
            <a:r>
              <a:rPr lang="en-US" dirty="0" smtClean="0"/>
              <a:t> A </a:t>
            </a:r>
            <a:r>
              <a:rPr lang="en-US" dirty="0"/>
              <a:t>system for which there is exogenous(External) activity and event is said to be a open. Ex: Bank system</a:t>
            </a:r>
          </a:p>
        </p:txBody>
      </p:sp>
    </p:spTree>
    <p:extLst>
      <p:ext uri="{BB962C8B-B14F-4D97-AF65-F5344CB8AC3E}">
        <p14:creationId xmlns:p14="http://schemas.microsoft.com/office/powerpoint/2010/main" val="21295579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394" y="0"/>
            <a:ext cx="11486606" cy="6858000"/>
          </a:xfrm>
          <a:prstGeom prst="rect">
            <a:avLst/>
          </a:prstGeom>
        </p:spPr>
      </p:pic>
    </p:spTree>
    <p:extLst>
      <p:ext uri="{BB962C8B-B14F-4D97-AF65-F5344CB8AC3E}">
        <p14:creationId xmlns:p14="http://schemas.microsoft.com/office/powerpoint/2010/main" val="25208769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smtClean="0">
                <a:solidFill>
                  <a:srgbClr val="FF0000"/>
                </a:solidFill>
              </a:rPr>
              <a:t>1.2 Discrete </a:t>
            </a:r>
            <a:r>
              <a:rPr lang="en-US" b="1" dirty="0">
                <a:solidFill>
                  <a:srgbClr val="FF0000"/>
                </a:solidFill>
              </a:rPr>
              <a:t>System and Continuous </a:t>
            </a:r>
            <a:r>
              <a:rPr lang="en-US" b="1" dirty="0" smtClean="0">
                <a:solidFill>
                  <a:srgbClr val="FF0000"/>
                </a:solidFill>
              </a:rPr>
              <a:t>System..</a:t>
            </a:r>
            <a:endParaRPr lang="en-US" b="1" dirty="0">
              <a:solidFill>
                <a:srgbClr val="FF0000"/>
              </a:solidFill>
            </a:endParaRPr>
          </a:p>
        </p:txBody>
      </p:sp>
      <p:sp>
        <p:nvSpPr>
          <p:cNvPr id="3" name="Content Placeholder 2"/>
          <p:cNvSpPr>
            <a:spLocks noGrp="1"/>
          </p:cNvSpPr>
          <p:nvPr>
            <p:ph idx="1"/>
          </p:nvPr>
        </p:nvSpPr>
        <p:spPr>
          <a:xfrm>
            <a:off x="888274" y="1975758"/>
            <a:ext cx="10907485" cy="4637314"/>
          </a:xfrm>
        </p:spPr>
        <p:txBody>
          <a:bodyPr>
            <a:normAutofit/>
          </a:bodyPr>
          <a:lstStyle/>
          <a:p>
            <a:r>
              <a:rPr lang="en-US" b="1" dirty="0">
                <a:solidFill>
                  <a:srgbClr val="002060"/>
                </a:solidFill>
              </a:rPr>
              <a:t>Discrete Systems </a:t>
            </a:r>
            <a:endParaRPr lang="en-US" b="1" dirty="0" smtClean="0">
              <a:solidFill>
                <a:srgbClr val="002060"/>
              </a:solidFill>
            </a:endParaRPr>
          </a:p>
          <a:p>
            <a:pPr marL="0" indent="0">
              <a:buNone/>
            </a:pPr>
            <a:r>
              <a:rPr lang="en-US" dirty="0" smtClean="0"/>
              <a:t>• </a:t>
            </a:r>
            <a:r>
              <a:rPr lang="en-US" dirty="0"/>
              <a:t>A discrete system is one in which the state variable(s) change only at a discrete set of points in time. </a:t>
            </a:r>
            <a:endParaRPr lang="en-US" dirty="0" smtClean="0"/>
          </a:p>
          <a:p>
            <a:pPr marL="0" indent="0">
              <a:buNone/>
            </a:pPr>
            <a:r>
              <a:rPr lang="en-US" dirty="0" smtClean="0"/>
              <a:t>• </a:t>
            </a:r>
            <a:r>
              <a:rPr lang="en-US" dirty="0"/>
              <a:t>The bank is an example of a discrete system: The state variable, the number of customers in the bank, changes only when a customer arrives or when the service provided a customer is completed shows how the number of customers changes only at discrete points in time. </a:t>
            </a:r>
            <a:endParaRPr lang="en-US" dirty="0" smtClean="0"/>
          </a:p>
          <a:p>
            <a:pPr marL="0" indent="0">
              <a:buNone/>
            </a:pPr>
            <a:r>
              <a:rPr lang="en-US" dirty="0" smtClean="0"/>
              <a:t>• </a:t>
            </a:r>
            <a:r>
              <a:rPr lang="en-US" dirty="0"/>
              <a:t>i.e. Systems in which the changes are predominantly (mostly) discontinuous are called discrete systems. </a:t>
            </a:r>
            <a:endParaRPr lang="en-US" dirty="0" smtClean="0"/>
          </a:p>
          <a:p>
            <a:pPr marL="0" indent="0">
              <a:buNone/>
            </a:pPr>
            <a:r>
              <a:rPr lang="en-US" dirty="0" smtClean="0"/>
              <a:t>• </a:t>
            </a:r>
            <a:r>
              <a:rPr lang="en-US" dirty="0"/>
              <a:t>So, A discrete system is one for which the state variables changes instantaneously (immediately) at separate point of time. E.g. Factory System, Bank System</a:t>
            </a:r>
          </a:p>
        </p:txBody>
      </p:sp>
    </p:spTree>
    <p:extLst>
      <p:ext uri="{BB962C8B-B14F-4D97-AF65-F5344CB8AC3E}">
        <p14:creationId xmlns:p14="http://schemas.microsoft.com/office/powerpoint/2010/main" val="12216765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r"/>
            <a:r>
              <a:rPr lang="en-US" b="1" dirty="0">
                <a:solidFill>
                  <a:srgbClr val="FF0000"/>
                </a:solidFill>
              </a:rPr>
              <a:t>Discrete System and Continuous System..</a:t>
            </a:r>
            <a:endParaRPr lang="en-US" dirty="0"/>
          </a:p>
        </p:txBody>
      </p:sp>
      <p:sp>
        <p:nvSpPr>
          <p:cNvPr id="5" name="Content Placeholder 4"/>
          <p:cNvSpPr>
            <a:spLocks noGrp="1"/>
          </p:cNvSpPr>
          <p:nvPr>
            <p:ph idx="1"/>
          </p:nvPr>
        </p:nvSpPr>
        <p:spPr/>
        <p:txBody>
          <a:bodyPr/>
          <a:lstStyle/>
          <a:p>
            <a:r>
              <a:rPr lang="en-US" dirty="0"/>
              <a:t>Continuous Systems </a:t>
            </a:r>
            <a:r>
              <a:rPr lang="en-US" dirty="0" smtClean="0"/>
              <a:t>•</a:t>
            </a:r>
          </a:p>
          <a:p>
            <a:pPr marL="0" indent="0">
              <a:buNone/>
            </a:pPr>
            <a:r>
              <a:rPr lang="en-US" dirty="0" smtClean="0"/>
              <a:t> </a:t>
            </a:r>
            <a:r>
              <a:rPr lang="en-US" dirty="0"/>
              <a:t>A continuous system is one in which the state variable(s) change continuously over time. </a:t>
            </a:r>
            <a:endParaRPr lang="en-US" dirty="0" smtClean="0"/>
          </a:p>
          <a:p>
            <a:pPr marL="0" indent="0">
              <a:buNone/>
            </a:pPr>
            <a:r>
              <a:rPr lang="en-US" dirty="0" smtClean="0"/>
              <a:t>• </a:t>
            </a:r>
            <a:r>
              <a:rPr lang="en-US" dirty="0"/>
              <a:t>An example is the head of water behind a dam. During and for some time after a rain storm, water flows into the lake behind the dam. Water is drawn from the dam for flood control and to make electricity. Evaporation also decreases the water level. Figure shows how the state variable head of water behind the dam changes for this continuous system</a:t>
            </a:r>
            <a:r>
              <a:rPr lang="en-US" dirty="0" smtClean="0"/>
              <a:t>.</a:t>
            </a:r>
          </a:p>
          <a:p>
            <a:pPr marL="0" indent="0">
              <a:buNone/>
            </a:pPr>
            <a:r>
              <a:rPr lang="en-US" dirty="0" smtClean="0"/>
              <a:t> </a:t>
            </a:r>
            <a:r>
              <a:rPr lang="en-US" dirty="0"/>
              <a:t>• i.e. A continuous system is one for which the state variables changes continuously with respect to time. E.g. Head of Water behind the dam</a:t>
            </a:r>
          </a:p>
        </p:txBody>
      </p:sp>
    </p:spTree>
    <p:extLst>
      <p:ext uri="{BB962C8B-B14F-4D97-AF65-F5344CB8AC3E}">
        <p14:creationId xmlns:p14="http://schemas.microsoft.com/office/powerpoint/2010/main" val="6402036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Continuous Systems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0686" y="1773872"/>
            <a:ext cx="8040188" cy="4914312"/>
          </a:xfrm>
        </p:spPr>
      </p:pic>
    </p:spTree>
    <p:extLst>
      <p:ext uri="{BB962C8B-B14F-4D97-AF65-F5344CB8AC3E}">
        <p14:creationId xmlns:p14="http://schemas.microsoft.com/office/powerpoint/2010/main" val="12905836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646" y="0"/>
            <a:ext cx="11434354" cy="6858000"/>
          </a:xfrm>
          <a:prstGeom prst="rect">
            <a:avLst/>
          </a:prstGeom>
        </p:spPr>
      </p:pic>
    </p:spTree>
    <p:extLst>
      <p:ext uri="{BB962C8B-B14F-4D97-AF65-F5344CB8AC3E}">
        <p14:creationId xmlns:p14="http://schemas.microsoft.com/office/powerpoint/2010/main" val="35039920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smtClean="0">
                <a:solidFill>
                  <a:srgbClr val="FF0000"/>
                </a:solidFill>
              </a:rPr>
              <a:t>1.3 Model </a:t>
            </a:r>
            <a:r>
              <a:rPr lang="en-US" b="1" dirty="0">
                <a:solidFill>
                  <a:srgbClr val="FF0000"/>
                </a:solidFill>
              </a:rPr>
              <a:t>of </a:t>
            </a:r>
            <a:r>
              <a:rPr lang="en-US" b="1" dirty="0" smtClean="0">
                <a:solidFill>
                  <a:srgbClr val="FF0000"/>
                </a:solidFill>
              </a:rPr>
              <a:t>System.,.</a:t>
            </a:r>
            <a:endParaRPr lang="en-US" b="1" dirty="0">
              <a:solidFill>
                <a:srgbClr val="FF0000"/>
              </a:solidFill>
            </a:endParaRPr>
          </a:p>
        </p:txBody>
      </p:sp>
      <p:sp>
        <p:nvSpPr>
          <p:cNvPr id="3" name="Content Placeholder 2"/>
          <p:cNvSpPr>
            <a:spLocks noGrp="1"/>
          </p:cNvSpPr>
          <p:nvPr>
            <p:ph idx="1"/>
          </p:nvPr>
        </p:nvSpPr>
        <p:spPr>
          <a:xfrm>
            <a:off x="1371600" y="2171700"/>
            <a:ext cx="9601200" cy="3581400"/>
          </a:xfrm>
        </p:spPr>
        <p:txBody>
          <a:bodyPr>
            <a:normAutofit/>
          </a:bodyPr>
          <a:lstStyle/>
          <a:p>
            <a:pPr marL="0" indent="0">
              <a:buNone/>
            </a:pPr>
            <a:r>
              <a:rPr lang="en-US" sz="2800" dirty="0" smtClean="0"/>
              <a:t>   A </a:t>
            </a:r>
            <a:r>
              <a:rPr lang="en-US" sz="2800" dirty="0"/>
              <a:t>model is defined as a representation of a system for the purpose of studying the system. </a:t>
            </a:r>
            <a:endParaRPr lang="en-US" sz="2800" dirty="0" smtClean="0"/>
          </a:p>
          <a:p>
            <a:pPr marL="0" indent="0">
              <a:buNone/>
            </a:pPr>
            <a:r>
              <a:rPr lang="en-US" sz="2800" dirty="0" smtClean="0"/>
              <a:t>It </a:t>
            </a:r>
            <a:r>
              <a:rPr lang="en-US" sz="2800" dirty="0"/>
              <a:t>is necessary to consider only those aspects of the system that affect the problem under investigation</a:t>
            </a:r>
            <a:r>
              <a:rPr lang="en-US" sz="2800" dirty="0" smtClean="0"/>
              <a:t>.</a:t>
            </a:r>
          </a:p>
          <a:p>
            <a:pPr marL="0" indent="0">
              <a:buNone/>
            </a:pPr>
            <a:r>
              <a:rPr lang="en-US" sz="2800" dirty="0" smtClean="0"/>
              <a:t> </a:t>
            </a:r>
            <a:r>
              <a:rPr lang="en-US" sz="2800" dirty="0"/>
              <a:t>These aspects are represented in a model, and by definition it is a simplification of the system</a:t>
            </a:r>
          </a:p>
        </p:txBody>
      </p:sp>
    </p:spTree>
    <p:extLst>
      <p:ext uri="{BB962C8B-B14F-4D97-AF65-F5344CB8AC3E}">
        <p14:creationId xmlns:p14="http://schemas.microsoft.com/office/powerpoint/2010/main" val="33768888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394" y="640080"/>
            <a:ext cx="11486606" cy="6165669"/>
          </a:xfrm>
          <a:prstGeom prst="rect">
            <a:avLst/>
          </a:prstGeom>
        </p:spPr>
      </p:pic>
      <p:sp>
        <p:nvSpPr>
          <p:cNvPr id="3" name="Title 2"/>
          <p:cNvSpPr>
            <a:spLocks noGrp="1"/>
          </p:cNvSpPr>
          <p:nvPr>
            <p:ph type="title"/>
          </p:nvPr>
        </p:nvSpPr>
        <p:spPr>
          <a:xfrm>
            <a:off x="1110343" y="35922"/>
            <a:ext cx="9601200" cy="604158"/>
          </a:xfrm>
        </p:spPr>
        <p:txBody>
          <a:bodyPr>
            <a:normAutofit fontScale="90000"/>
          </a:bodyPr>
          <a:lstStyle/>
          <a:p>
            <a:r>
              <a:rPr lang="en-US" dirty="0" smtClean="0"/>
              <a:t>1.3 model of system</a:t>
            </a:r>
            <a:endParaRPr lang="en-US" dirty="0"/>
          </a:p>
        </p:txBody>
      </p:sp>
    </p:spTree>
    <p:extLst>
      <p:ext uri="{BB962C8B-B14F-4D97-AF65-F5344CB8AC3E}">
        <p14:creationId xmlns:p14="http://schemas.microsoft.com/office/powerpoint/2010/main" val="35048310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a:solidFill>
                  <a:srgbClr val="FF0000"/>
                </a:solidFill>
              </a:rPr>
              <a:t>Principles used in </a:t>
            </a:r>
            <a:r>
              <a:rPr lang="en-US" b="1" dirty="0" smtClean="0">
                <a:solidFill>
                  <a:srgbClr val="FF0000"/>
                </a:solidFill>
              </a:rPr>
              <a:t>modeling..</a:t>
            </a:r>
            <a:endParaRPr lang="en-US" b="1" dirty="0">
              <a:solidFill>
                <a:srgbClr val="FF0000"/>
              </a:solidFill>
            </a:endParaRPr>
          </a:p>
        </p:txBody>
      </p:sp>
      <p:sp>
        <p:nvSpPr>
          <p:cNvPr id="3" name="Content Placeholder 2"/>
          <p:cNvSpPr>
            <a:spLocks noGrp="1"/>
          </p:cNvSpPr>
          <p:nvPr>
            <p:ph idx="1"/>
          </p:nvPr>
        </p:nvSpPr>
        <p:spPr>
          <a:xfrm>
            <a:off x="1371600" y="2286000"/>
            <a:ext cx="9601200" cy="4415246"/>
          </a:xfrm>
        </p:spPr>
        <p:txBody>
          <a:bodyPr/>
          <a:lstStyle/>
          <a:p>
            <a:r>
              <a:rPr lang="en-US" dirty="0"/>
              <a:t>. Block building: </a:t>
            </a:r>
            <a:endParaRPr lang="en-US" dirty="0" smtClean="0"/>
          </a:p>
          <a:p>
            <a:pPr marL="0" indent="0">
              <a:buNone/>
            </a:pPr>
            <a:r>
              <a:rPr lang="en-US" dirty="0" smtClean="0"/>
              <a:t>• </a:t>
            </a:r>
            <a:r>
              <a:rPr lang="en-US" dirty="0"/>
              <a:t>The description of the system should be organized in a series of blocks to simplify the specifications of the interactions within the system. </a:t>
            </a:r>
            <a:endParaRPr lang="en-US" dirty="0" smtClean="0"/>
          </a:p>
          <a:p>
            <a:pPr marL="0" indent="0">
              <a:buNone/>
            </a:pPr>
            <a:r>
              <a:rPr lang="en-US" dirty="0" smtClean="0"/>
              <a:t>• </a:t>
            </a:r>
            <a:r>
              <a:rPr lang="en-US" dirty="0"/>
              <a:t>Each block represents a part of the system and the system as a whole can be described in terms of interconnections between blocks.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3040" y="4074448"/>
            <a:ext cx="8961120" cy="2626798"/>
          </a:xfrm>
          <a:prstGeom prst="rect">
            <a:avLst/>
          </a:prstGeom>
        </p:spPr>
      </p:pic>
    </p:spTree>
    <p:extLst>
      <p:ext uri="{BB962C8B-B14F-4D97-AF65-F5344CB8AC3E}">
        <p14:creationId xmlns:p14="http://schemas.microsoft.com/office/powerpoint/2010/main" val="25820625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a:solidFill>
                  <a:srgbClr val="FF0000"/>
                </a:solidFill>
              </a:rPr>
              <a:t>Principles used in modeling..</a:t>
            </a:r>
            <a:endParaRPr lang="en-US" dirty="0"/>
          </a:p>
        </p:txBody>
      </p:sp>
      <p:sp>
        <p:nvSpPr>
          <p:cNvPr id="3" name="Content Placeholder 2"/>
          <p:cNvSpPr>
            <a:spLocks noGrp="1"/>
          </p:cNvSpPr>
          <p:nvPr>
            <p:ph idx="1"/>
          </p:nvPr>
        </p:nvSpPr>
        <p:spPr/>
        <p:txBody>
          <a:bodyPr/>
          <a:lstStyle/>
          <a:p>
            <a:pPr marL="0" indent="0">
              <a:buNone/>
            </a:pPr>
            <a:r>
              <a:rPr lang="en-US" b="1" dirty="0">
                <a:solidFill>
                  <a:srgbClr val="002060"/>
                </a:solidFill>
              </a:rPr>
              <a:t>2. Relevance: </a:t>
            </a:r>
            <a:endParaRPr lang="en-US" b="1" dirty="0" smtClean="0">
              <a:solidFill>
                <a:srgbClr val="002060"/>
              </a:solidFill>
            </a:endParaRPr>
          </a:p>
          <a:p>
            <a:pPr marL="0" indent="0">
              <a:buNone/>
            </a:pPr>
            <a:r>
              <a:rPr lang="en-US" dirty="0" smtClean="0"/>
              <a:t>• </a:t>
            </a:r>
            <a:r>
              <a:rPr lang="en-US" dirty="0"/>
              <a:t>The model should only include those aspects of the system that are relevant (applicable) to the study objectives</a:t>
            </a:r>
            <a:r>
              <a:rPr lang="en-US" dirty="0" smtClean="0"/>
              <a:t>.</a:t>
            </a:r>
          </a:p>
          <a:p>
            <a:pPr marL="0" indent="0">
              <a:buNone/>
            </a:pPr>
            <a:r>
              <a:rPr lang="en-US" b="1" dirty="0" smtClean="0">
                <a:solidFill>
                  <a:srgbClr val="002060"/>
                </a:solidFill>
              </a:rPr>
              <a:t> </a:t>
            </a:r>
            <a:r>
              <a:rPr lang="en-US" b="1" dirty="0">
                <a:solidFill>
                  <a:srgbClr val="002060"/>
                </a:solidFill>
              </a:rPr>
              <a:t>3. Accuracy</a:t>
            </a:r>
            <a:r>
              <a:rPr lang="en-US" dirty="0"/>
              <a:t>: </a:t>
            </a:r>
            <a:endParaRPr lang="en-US" dirty="0" smtClean="0"/>
          </a:p>
          <a:p>
            <a:pPr marL="0" indent="0">
              <a:buNone/>
            </a:pPr>
            <a:r>
              <a:rPr lang="en-US" dirty="0" smtClean="0"/>
              <a:t>• </a:t>
            </a:r>
            <a:r>
              <a:rPr lang="en-US" dirty="0"/>
              <a:t>The accuracy of the information gathered for the model should be considered</a:t>
            </a:r>
            <a:r>
              <a:rPr lang="en-US" dirty="0" smtClean="0"/>
              <a:t>.</a:t>
            </a:r>
          </a:p>
          <a:p>
            <a:pPr marL="0" indent="0">
              <a:buNone/>
            </a:pPr>
            <a:r>
              <a:rPr lang="en-US" dirty="0" smtClean="0"/>
              <a:t> </a:t>
            </a:r>
            <a:r>
              <a:rPr lang="en-US" b="1" dirty="0">
                <a:solidFill>
                  <a:srgbClr val="002060"/>
                </a:solidFill>
              </a:rPr>
              <a:t>4. Aggregation</a:t>
            </a:r>
            <a:r>
              <a:rPr lang="en-US" b="1" dirty="0" smtClean="0">
                <a:solidFill>
                  <a:srgbClr val="002060"/>
                </a:solidFill>
              </a:rPr>
              <a:t>:</a:t>
            </a:r>
          </a:p>
          <a:p>
            <a:pPr marL="0" indent="0">
              <a:buNone/>
            </a:pPr>
            <a:r>
              <a:rPr lang="en-US" dirty="0" smtClean="0"/>
              <a:t> </a:t>
            </a:r>
            <a:r>
              <a:rPr lang="en-US" dirty="0"/>
              <a:t>• A further factor to be considered as the extent to which the number of individual entities can be grouped together into larger entities.</a:t>
            </a:r>
          </a:p>
        </p:txBody>
      </p:sp>
    </p:spTree>
    <p:extLst>
      <p:ext uri="{BB962C8B-B14F-4D97-AF65-F5344CB8AC3E}">
        <p14:creationId xmlns:p14="http://schemas.microsoft.com/office/powerpoint/2010/main" val="14515174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smtClean="0">
                <a:solidFill>
                  <a:srgbClr val="FF0000"/>
                </a:solidFill>
              </a:rPr>
              <a:t>1.4 Types of model</a:t>
            </a:r>
            <a:r>
              <a:rPr lang="en-US" b="1" dirty="0">
                <a:solidFill>
                  <a:srgbClr val="FF0000"/>
                </a:solidFill>
              </a:rPr>
              <a:t>: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8069" y="1685109"/>
            <a:ext cx="8164285" cy="4624251"/>
          </a:xfrm>
        </p:spPr>
      </p:pic>
    </p:spTree>
    <p:extLst>
      <p:ext uri="{BB962C8B-B14F-4D97-AF65-F5344CB8AC3E}">
        <p14:creationId xmlns:p14="http://schemas.microsoft.com/office/powerpoint/2010/main" val="7343977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a:solidFill>
                  <a:srgbClr val="FF0000"/>
                </a:solidFill>
              </a:rPr>
              <a:t>Types of system model: </a:t>
            </a:r>
            <a:endParaRPr lang="en-US" dirty="0"/>
          </a:p>
        </p:txBody>
      </p:sp>
      <p:sp>
        <p:nvSpPr>
          <p:cNvPr id="3" name="Content Placeholder 2"/>
          <p:cNvSpPr>
            <a:spLocks noGrp="1"/>
          </p:cNvSpPr>
          <p:nvPr>
            <p:ph idx="1"/>
          </p:nvPr>
        </p:nvSpPr>
        <p:spPr>
          <a:xfrm>
            <a:off x="1371599" y="1698171"/>
            <a:ext cx="9836331" cy="4820195"/>
          </a:xfrm>
        </p:spPr>
        <p:txBody>
          <a:bodyPr>
            <a:normAutofit/>
          </a:bodyPr>
          <a:lstStyle/>
          <a:p>
            <a:pPr marL="0" indent="0">
              <a:buNone/>
            </a:pPr>
            <a:r>
              <a:rPr lang="en-US" b="1" dirty="0">
                <a:solidFill>
                  <a:srgbClr val="002060"/>
                </a:solidFill>
              </a:rPr>
              <a:t>• Physical models </a:t>
            </a:r>
            <a:r>
              <a:rPr lang="en-US" dirty="0"/>
              <a:t>are based on some analogy between systems like mechanical and electrical. The system attributes are represented by such measurements like voltage</a:t>
            </a:r>
            <a:r>
              <a:rPr lang="en-US" dirty="0" smtClean="0"/>
              <a:t>.</a:t>
            </a:r>
          </a:p>
          <a:p>
            <a:pPr marL="0" indent="0">
              <a:buNone/>
            </a:pPr>
            <a:r>
              <a:rPr lang="en-US" dirty="0" smtClean="0"/>
              <a:t> </a:t>
            </a:r>
            <a:r>
              <a:rPr lang="en-US" b="1" dirty="0">
                <a:solidFill>
                  <a:srgbClr val="002060"/>
                </a:solidFill>
              </a:rPr>
              <a:t>• Mathematical models </a:t>
            </a:r>
            <a:r>
              <a:rPr lang="en-US" dirty="0"/>
              <a:t>use symbolic notation and mathematical equations to represent the system attributes. The attributes represented by variables and activities by mathematical functions that inter-relate the variables. </a:t>
            </a:r>
            <a:endParaRPr lang="en-US" dirty="0" smtClean="0"/>
          </a:p>
          <a:p>
            <a:pPr marL="0" indent="0">
              <a:buNone/>
            </a:pPr>
            <a:r>
              <a:rPr lang="en-US" b="1" dirty="0" smtClean="0">
                <a:solidFill>
                  <a:srgbClr val="002060"/>
                </a:solidFill>
              </a:rPr>
              <a:t>• </a:t>
            </a:r>
            <a:r>
              <a:rPr lang="en-US" b="1" dirty="0">
                <a:solidFill>
                  <a:srgbClr val="002060"/>
                </a:solidFill>
              </a:rPr>
              <a:t>Static models </a:t>
            </a:r>
            <a:r>
              <a:rPr lang="en-US" dirty="0"/>
              <a:t>can only show the values that system attributes take when the system is in </a:t>
            </a:r>
            <a:r>
              <a:rPr lang="en-US" dirty="0" smtClean="0"/>
              <a:t>balance</a:t>
            </a:r>
          </a:p>
          <a:p>
            <a:pPr marL="0" indent="0">
              <a:buNone/>
            </a:pPr>
            <a:r>
              <a:rPr lang="en-US" dirty="0" smtClean="0"/>
              <a:t> </a:t>
            </a:r>
            <a:r>
              <a:rPr lang="en-US" b="1" dirty="0">
                <a:solidFill>
                  <a:srgbClr val="002060"/>
                </a:solidFill>
              </a:rPr>
              <a:t>.Dynamic model </a:t>
            </a:r>
            <a:r>
              <a:rPr lang="en-US" dirty="0"/>
              <a:t>, follow the changes over time that result from system activities</a:t>
            </a:r>
            <a:r>
              <a:rPr lang="en-US" dirty="0" smtClean="0"/>
              <a:t>.</a:t>
            </a:r>
          </a:p>
          <a:p>
            <a:pPr marL="0" indent="0">
              <a:buNone/>
            </a:pPr>
            <a:r>
              <a:rPr lang="en-US" dirty="0" smtClean="0"/>
              <a:t> </a:t>
            </a:r>
            <a:r>
              <a:rPr lang="en-US" b="1" dirty="0">
                <a:solidFill>
                  <a:srgbClr val="002060"/>
                </a:solidFill>
              </a:rPr>
              <a:t>• Applying analytical techniques </a:t>
            </a:r>
            <a:r>
              <a:rPr lang="en-US" dirty="0"/>
              <a:t>means using the deductive (logical) reasoning of mathematical theory to solve a model. For E.g. linear differential equation </a:t>
            </a:r>
            <a:endParaRPr lang="en-US" dirty="0" smtClean="0"/>
          </a:p>
          <a:p>
            <a:pPr marL="0" indent="0">
              <a:buNone/>
            </a:pPr>
            <a:r>
              <a:rPr lang="en-US" b="1" dirty="0" smtClean="0">
                <a:solidFill>
                  <a:srgbClr val="002060"/>
                </a:solidFill>
              </a:rPr>
              <a:t>• </a:t>
            </a:r>
            <a:r>
              <a:rPr lang="en-US" b="1" dirty="0">
                <a:solidFill>
                  <a:srgbClr val="002060"/>
                </a:solidFill>
              </a:rPr>
              <a:t>Numerical methods </a:t>
            </a:r>
            <a:r>
              <a:rPr lang="en-US" dirty="0"/>
              <a:t>involves applying conceptual (theoretical) procedures to solve equations. </a:t>
            </a:r>
          </a:p>
        </p:txBody>
      </p:sp>
    </p:spTree>
    <p:extLst>
      <p:ext uri="{BB962C8B-B14F-4D97-AF65-F5344CB8AC3E}">
        <p14:creationId xmlns:p14="http://schemas.microsoft.com/office/powerpoint/2010/main" val="31606388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1 . </a:t>
            </a:r>
            <a:r>
              <a:rPr lang="en-US" b="1" dirty="0">
                <a:solidFill>
                  <a:srgbClr val="002060"/>
                </a:solidFill>
              </a:rPr>
              <a:t>Static physical model</a:t>
            </a:r>
            <a:endParaRPr lang="en-US" dirty="0"/>
          </a:p>
        </p:txBody>
      </p:sp>
      <p:sp>
        <p:nvSpPr>
          <p:cNvPr id="5" name="Content Placeholder 4"/>
          <p:cNvSpPr>
            <a:spLocks noGrp="1"/>
          </p:cNvSpPr>
          <p:nvPr>
            <p:ph idx="1"/>
          </p:nvPr>
        </p:nvSpPr>
        <p:spPr>
          <a:xfrm>
            <a:off x="1371600" y="2286000"/>
            <a:ext cx="9601200" cy="3840480"/>
          </a:xfrm>
        </p:spPr>
        <p:txBody>
          <a:bodyPr>
            <a:normAutofit fontScale="92500" lnSpcReduction="10000"/>
          </a:bodyPr>
          <a:lstStyle/>
          <a:p>
            <a:pPr marL="0" indent="0">
              <a:buNone/>
            </a:pPr>
            <a:r>
              <a:rPr lang="en-US" sz="2400" dirty="0" smtClean="0"/>
              <a:t>Represents </a:t>
            </a:r>
            <a:r>
              <a:rPr lang="en-US" sz="2400" dirty="0"/>
              <a:t>a system at a particular point of time and also known as Monte- Carlo simulation</a:t>
            </a:r>
            <a:r>
              <a:rPr lang="en-US" sz="2400" dirty="0" smtClean="0"/>
              <a:t>.</a:t>
            </a:r>
          </a:p>
          <a:p>
            <a:pPr marL="0" indent="0">
              <a:buNone/>
            </a:pPr>
            <a:r>
              <a:rPr lang="en-US" sz="2400" dirty="0" smtClean="0"/>
              <a:t> </a:t>
            </a:r>
            <a:r>
              <a:rPr lang="en-US" sz="2400" dirty="0"/>
              <a:t>In this model, the measurements are taken to represent attributes of the system being study under one set of equilibrium (balance) condition</a:t>
            </a:r>
            <a:r>
              <a:rPr lang="en-US" sz="2400" dirty="0" smtClean="0"/>
              <a:t>.</a:t>
            </a:r>
          </a:p>
          <a:p>
            <a:pPr marL="0" indent="0">
              <a:buNone/>
            </a:pPr>
            <a:r>
              <a:rPr lang="en-US" sz="2400" dirty="0" smtClean="0"/>
              <a:t> </a:t>
            </a:r>
            <a:r>
              <a:rPr lang="en-US" sz="2400" dirty="0"/>
              <a:t>In this case, the measurement do not translate directly into system attribute values. </a:t>
            </a:r>
            <a:endParaRPr lang="en-US" sz="2400" dirty="0" smtClean="0"/>
          </a:p>
          <a:p>
            <a:pPr marL="0" indent="0">
              <a:buNone/>
            </a:pPr>
            <a:r>
              <a:rPr lang="en-US" sz="2400" dirty="0" smtClean="0"/>
              <a:t>Well </a:t>
            </a:r>
            <a:r>
              <a:rPr lang="en-US" sz="2400" dirty="0"/>
              <a:t>known laws of similitude are used to convert measurement on the scale model to the values that will occur in the real system</a:t>
            </a:r>
            <a:r>
              <a:rPr lang="en-US" sz="2400" dirty="0" smtClean="0"/>
              <a:t>.</a:t>
            </a:r>
          </a:p>
          <a:p>
            <a:pPr marL="0" indent="0">
              <a:buNone/>
            </a:pPr>
            <a:r>
              <a:rPr lang="en-US" sz="2400" dirty="0" smtClean="0"/>
              <a:t> </a:t>
            </a:r>
            <a:r>
              <a:rPr lang="en-US" sz="2400" dirty="0"/>
              <a:t>For E.g. the flow of heat and the distribution of electric charge through space can be related by common equation.</a:t>
            </a:r>
          </a:p>
          <a:p>
            <a:pPr marL="0" indent="0">
              <a:buNone/>
            </a:pPr>
            <a:endParaRPr lang="en-US" sz="2400" dirty="0"/>
          </a:p>
        </p:txBody>
      </p:sp>
    </p:spTree>
    <p:extLst>
      <p:ext uri="{BB962C8B-B14F-4D97-AF65-F5344CB8AC3E}">
        <p14:creationId xmlns:p14="http://schemas.microsoft.com/office/powerpoint/2010/main" val="20186748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431383" cy="1169126"/>
          </a:xfrm>
        </p:spPr>
        <p:txBody>
          <a:bodyPr/>
          <a:lstStyle/>
          <a:p>
            <a:r>
              <a:rPr lang="en-US" b="1" dirty="0">
                <a:solidFill>
                  <a:srgbClr val="002060"/>
                </a:solidFill>
              </a:rPr>
              <a:t>2 . Dynamic physical model</a:t>
            </a:r>
            <a:endParaRPr lang="en-US" dirty="0"/>
          </a:p>
        </p:txBody>
      </p:sp>
      <p:sp>
        <p:nvSpPr>
          <p:cNvPr id="3" name="Content Placeholder 2"/>
          <p:cNvSpPr>
            <a:spLocks noGrp="1"/>
          </p:cNvSpPr>
          <p:nvPr>
            <p:ph idx="1"/>
          </p:nvPr>
        </p:nvSpPr>
        <p:spPr/>
        <p:txBody>
          <a:bodyPr/>
          <a:lstStyle/>
          <a:p>
            <a:pPr marL="0" indent="0">
              <a:buNone/>
            </a:pPr>
            <a:r>
              <a:rPr lang="en-US" dirty="0" smtClean="0"/>
              <a:t>Represents </a:t>
            </a:r>
            <a:r>
              <a:rPr lang="en-US" dirty="0"/>
              <a:t>systems as they change over time. </a:t>
            </a:r>
            <a:r>
              <a:rPr lang="en-US" dirty="0" smtClean="0"/>
              <a:t>Ex</a:t>
            </a:r>
            <a:r>
              <a:rPr lang="en-US" dirty="0"/>
              <a:t>: Simulation of a bank</a:t>
            </a:r>
            <a:r>
              <a:rPr lang="en-US" dirty="0" smtClean="0"/>
              <a:t>.</a:t>
            </a:r>
          </a:p>
          <a:p>
            <a:pPr marL="0" indent="0">
              <a:buNone/>
            </a:pPr>
            <a:r>
              <a:rPr lang="en-US" dirty="0" smtClean="0"/>
              <a:t> </a:t>
            </a:r>
            <a:r>
              <a:rPr lang="en-US" dirty="0"/>
              <a:t>Dynamic physical models are ones which change with time or which are functions of time</a:t>
            </a:r>
            <a:r>
              <a:rPr lang="en-US" dirty="0" smtClean="0"/>
              <a:t>.</a:t>
            </a:r>
          </a:p>
          <a:p>
            <a:pPr marL="0" indent="0">
              <a:buNone/>
            </a:pPr>
            <a:r>
              <a:rPr lang="en-US" dirty="0" smtClean="0"/>
              <a:t> </a:t>
            </a:r>
            <a:r>
              <a:rPr lang="en-US" dirty="0"/>
              <a:t>This model rely upon an analogy between the system being studied and some other system of different nature, the analogy usually depending upon an underlying similarities in the forces governing the behavior of the systems</a:t>
            </a:r>
            <a:endParaRPr lang="en-US" b="1" dirty="0" smtClean="0">
              <a:solidFill>
                <a:srgbClr val="002060"/>
              </a:solidFill>
            </a:endParaRPr>
          </a:p>
          <a:p>
            <a:pPr marL="0" indent="0">
              <a:buNone/>
            </a:pPr>
            <a:r>
              <a:rPr lang="en-US" b="1" dirty="0" smtClean="0">
                <a:solidFill>
                  <a:srgbClr val="002060"/>
                </a:solidFill>
              </a:rPr>
              <a:t> </a:t>
            </a:r>
            <a:endParaRPr lang="en-US" dirty="0"/>
          </a:p>
        </p:txBody>
      </p:sp>
    </p:spTree>
    <p:extLst>
      <p:ext uri="{BB962C8B-B14F-4D97-AF65-F5344CB8AC3E}">
        <p14:creationId xmlns:p14="http://schemas.microsoft.com/office/powerpoint/2010/main" val="19383988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7725" y="731520"/>
            <a:ext cx="9927771" cy="5029200"/>
          </a:xfrm>
        </p:spPr>
      </p:pic>
    </p:spTree>
    <p:extLst>
      <p:ext uri="{BB962C8B-B14F-4D97-AF65-F5344CB8AC3E}">
        <p14:creationId xmlns:p14="http://schemas.microsoft.com/office/powerpoint/2010/main" val="39368900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371600" y="2285999"/>
            <a:ext cx="9810206" cy="4467497"/>
          </a:xfrm>
        </p:spPr>
        <p:txBody>
          <a:bodyPr/>
          <a:lstStyle/>
          <a:p>
            <a:r>
              <a:rPr lang="en-US" dirty="0"/>
              <a:t>Fig. represents an electrical circuit with an inductance 𝐿, resistance 𝑅 and capacitance 𝐶 connected in series with a voltage source that varies in time according to function𝐸(𝑡). If 𝑞 is the charge on capacitor it can be shown that the barrier of the circuit is governed by following differential equation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0028" y="4550765"/>
            <a:ext cx="3820058" cy="2067213"/>
          </a:xfrm>
          <a:prstGeom prst="rect">
            <a:avLst/>
          </a:prstGeom>
        </p:spPr>
      </p:pic>
    </p:spTree>
    <p:extLst>
      <p:ext uri="{BB962C8B-B14F-4D97-AF65-F5344CB8AC3E}">
        <p14:creationId xmlns:p14="http://schemas.microsoft.com/office/powerpoint/2010/main" val="42089770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862149" y="241574"/>
            <a:ext cx="11301644" cy="6276791"/>
          </a:xfrm>
        </p:spPr>
      </p:pic>
    </p:spTree>
    <p:extLst>
      <p:ext uri="{BB962C8B-B14F-4D97-AF65-F5344CB8AC3E}">
        <p14:creationId xmlns:p14="http://schemas.microsoft.com/office/powerpoint/2010/main" val="40732349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3. Static mathematical model</a:t>
            </a:r>
          </a:p>
        </p:txBody>
      </p:sp>
      <p:sp>
        <p:nvSpPr>
          <p:cNvPr id="3" name="Content Placeholder 2"/>
          <p:cNvSpPr>
            <a:spLocks noGrp="1"/>
          </p:cNvSpPr>
          <p:nvPr>
            <p:ph idx="1"/>
          </p:nvPr>
        </p:nvSpPr>
        <p:spPr>
          <a:xfrm>
            <a:off x="1371600" y="1541417"/>
            <a:ext cx="9601200" cy="3581400"/>
          </a:xfrm>
        </p:spPr>
        <p:txBody>
          <a:bodyPr/>
          <a:lstStyle/>
          <a:p>
            <a:pPr marL="0" indent="0">
              <a:buNone/>
            </a:pPr>
            <a:r>
              <a:rPr lang="en-US" b="1" dirty="0"/>
              <a:t>A static model gives the relationship between the system attributes when the system is in equilibrium (balance). </a:t>
            </a:r>
            <a:endParaRPr lang="en-US" b="1" dirty="0" smtClean="0"/>
          </a:p>
          <a:p>
            <a:pPr marL="0" indent="0">
              <a:buNone/>
            </a:pPr>
            <a:r>
              <a:rPr lang="en-US" dirty="0" smtClean="0"/>
              <a:t>If </a:t>
            </a:r>
            <a:r>
              <a:rPr lang="en-US" dirty="0"/>
              <a:t>the point of equilibrium is change by alternating any of the attribute values, the model enables the new values for all the attributes to be derived</a:t>
            </a:r>
            <a:r>
              <a:rPr lang="en-US" dirty="0" smtClean="0"/>
              <a:t>. </a:t>
            </a:r>
            <a:r>
              <a:rPr lang="en-US" dirty="0"/>
              <a:t>But doesn't show the way in which they changed to their new value. </a:t>
            </a:r>
            <a:endParaRPr lang="en-US" dirty="0" smtClean="0"/>
          </a:p>
          <a:p>
            <a:pPr marL="0" indent="0">
              <a:buNone/>
            </a:pPr>
            <a:r>
              <a:rPr lang="en-US" dirty="0" smtClean="0"/>
              <a:t>If </a:t>
            </a:r>
            <a:r>
              <a:rPr lang="en-US" dirty="0"/>
              <a:t>mathematical model doesn't involve time i.e. system does not change with time, it is called static mathematical model of the system</a:t>
            </a:r>
          </a:p>
        </p:txBody>
      </p:sp>
    </p:spTree>
    <p:extLst>
      <p:ext uri="{BB962C8B-B14F-4D97-AF65-F5344CB8AC3E}">
        <p14:creationId xmlns:p14="http://schemas.microsoft.com/office/powerpoint/2010/main" val="3189714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705394"/>
            <a:ext cx="9601200" cy="5162006"/>
          </a:xfrm>
        </p:spPr>
        <p:txBody>
          <a:bodyPr>
            <a:normAutofit/>
          </a:bodyPr>
          <a:lstStyle/>
          <a:p>
            <a:pPr marL="0" lvl="0" indent="0" eaLnBrk="0" fontAlgn="base" hangingPunct="0">
              <a:spcBef>
                <a:spcPct val="0"/>
              </a:spcBef>
              <a:spcAft>
                <a:spcPct val="0"/>
              </a:spcAft>
              <a:buNone/>
            </a:pPr>
            <a:r>
              <a:rPr lang="en-US" altLang="en-US" sz="3200" b="1" dirty="0">
                <a:solidFill>
                  <a:srgbClr val="212529"/>
                </a:solidFill>
                <a:latin typeface="Times New Roman" panose="02020603050405020304" pitchFamily="18" charset="0"/>
                <a:cs typeface="Times New Roman" panose="02020603050405020304" pitchFamily="18" charset="0"/>
              </a:rPr>
              <a:t>9. Production runs and analysis</a:t>
            </a:r>
          </a:p>
          <a:p>
            <a:pPr marL="457200" lvl="1" indent="0" eaLnBrk="0" fontAlgn="base" hangingPunct="0">
              <a:spcBef>
                <a:spcPct val="0"/>
              </a:spcBef>
              <a:spcAft>
                <a:spcPct val="0"/>
              </a:spcAft>
              <a:buNone/>
            </a:pPr>
            <a:r>
              <a:rPr lang="en-US" altLang="en-US" sz="3200" dirty="0">
                <a:solidFill>
                  <a:srgbClr val="212529"/>
                </a:solidFill>
                <a:latin typeface="Times New Roman" panose="02020603050405020304" pitchFamily="18" charset="0"/>
                <a:cs typeface="Times New Roman" panose="02020603050405020304" pitchFamily="18" charset="0"/>
              </a:rPr>
              <a:t>     Actual running the simulation, collect and analyze the output.</a:t>
            </a:r>
          </a:p>
          <a:p>
            <a:pPr marL="0" lvl="0" indent="0" eaLnBrk="0" fontAlgn="base" hangingPunct="0">
              <a:spcBef>
                <a:spcPct val="0"/>
              </a:spcBef>
              <a:spcAft>
                <a:spcPct val="0"/>
              </a:spcAft>
              <a:buNone/>
            </a:pPr>
            <a:r>
              <a:rPr lang="en-US" altLang="en-US" sz="3200" b="1" dirty="0">
                <a:solidFill>
                  <a:srgbClr val="212529"/>
                </a:solidFill>
                <a:latin typeface="Times New Roman" panose="02020603050405020304" pitchFamily="18" charset="0"/>
                <a:cs typeface="Times New Roman" panose="02020603050405020304" pitchFamily="18" charset="0"/>
              </a:rPr>
              <a:t>10. Repetition</a:t>
            </a:r>
          </a:p>
          <a:p>
            <a:pPr marL="457200" lvl="1" indent="0" eaLnBrk="0" fontAlgn="base" hangingPunct="0">
              <a:spcBef>
                <a:spcPct val="0"/>
              </a:spcBef>
              <a:spcAft>
                <a:spcPct val="0"/>
              </a:spcAft>
              <a:buNone/>
            </a:pPr>
            <a:r>
              <a:rPr lang="en-US" altLang="en-US" sz="3200" dirty="0">
                <a:solidFill>
                  <a:srgbClr val="212529"/>
                </a:solidFill>
                <a:latin typeface="Times New Roman" panose="02020603050405020304" pitchFamily="18" charset="0"/>
                <a:cs typeface="Times New Roman" panose="02020603050405020304" pitchFamily="18" charset="0"/>
              </a:rPr>
              <a:t>     Repeat the experiments if necessary.</a:t>
            </a:r>
          </a:p>
          <a:p>
            <a:pPr marL="0" lvl="0" indent="0" eaLnBrk="0" fontAlgn="base" hangingPunct="0">
              <a:spcBef>
                <a:spcPct val="0"/>
              </a:spcBef>
              <a:spcAft>
                <a:spcPct val="0"/>
              </a:spcAft>
              <a:buNone/>
            </a:pPr>
            <a:r>
              <a:rPr lang="en-US" altLang="en-US" sz="3200" b="1" dirty="0">
                <a:solidFill>
                  <a:srgbClr val="212529"/>
                </a:solidFill>
                <a:latin typeface="Times New Roman" panose="02020603050405020304" pitchFamily="18" charset="0"/>
                <a:cs typeface="Times New Roman" panose="02020603050405020304" pitchFamily="18" charset="0"/>
              </a:rPr>
              <a:t>11. Document and report</a:t>
            </a:r>
          </a:p>
          <a:p>
            <a:pPr marL="457200" lvl="1" indent="0" eaLnBrk="0" fontAlgn="base" hangingPunct="0">
              <a:spcBef>
                <a:spcPct val="0"/>
              </a:spcBef>
              <a:spcAft>
                <a:spcPct val="0"/>
              </a:spcAft>
              <a:buNone/>
            </a:pPr>
            <a:r>
              <a:rPr lang="en-US" altLang="en-US" sz="3200" dirty="0" smtClean="0">
                <a:solidFill>
                  <a:srgbClr val="212529"/>
                </a:solidFill>
                <a:latin typeface="Times New Roman" panose="02020603050405020304" pitchFamily="18" charset="0"/>
                <a:cs typeface="Times New Roman" panose="02020603050405020304" pitchFamily="18" charset="0"/>
              </a:rPr>
              <a:t> </a:t>
            </a:r>
            <a:r>
              <a:rPr lang="en-US" altLang="en-US" sz="3200" dirty="0">
                <a:solidFill>
                  <a:srgbClr val="212529"/>
                </a:solidFill>
                <a:latin typeface="Times New Roman" panose="02020603050405020304" pitchFamily="18" charset="0"/>
                <a:cs typeface="Times New Roman" panose="02020603050405020304" pitchFamily="18" charset="0"/>
              </a:rPr>
              <a:t>   Document and report the </a:t>
            </a:r>
            <a:r>
              <a:rPr lang="en-US" altLang="en-US" sz="3200" dirty="0" smtClean="0">
                <a:solidFill>
                  <a:srgbClr val="212529"/>
                </a:solidFill>
                <a:latin typeface="Times New Roman" panose="02020603050405020304" pitchFamily="18" charset="0"/>
                <a:cs typeface="Times New Roman" panose="02020603050405020304" pitchFamily="18" charset="0"/>
              </a:rPr>
              <a:t>results</a:t>
            </a:r>
          </a:p>
          <a:p>
            <a:pPr marL="0" indent="-73152" eaLnBrk="0" fontAlgn="base" hangingPunct="0">
              <a:spcBef>
                <a:spcPct val="0"/>
              </a:spcBef>
              <a:spcAft>
                <a:spcPct val="0"/>
              </a:spcAft>
              <a:buNone/>
            </a:pPr>
            <a:r>
              <a:rPr lang="en-US" altLang="en-US" sz="3200" b="1" dirty="0" smtClean="0">
                <a:solidFill>
                  <a:srgbClr val="212529"/>
                </a:solidFill>
                <a:latin typeface="Times New Roman" panose="02020603050405020304" pitchFamily="18" charset="0"/>
                <a:cs typeface="Times New Roman" panose="02020603050405020304" pitchFamily="18" charset="0"/>
              </a:rPr>
              <a:t>12</a:t>
            </a:r>
            <a:r>
              <a:rPr lang="en-US" altLang="en-US" sz="3200" b="1" dirty="0">
                <a:solidFill>
                  <a:srgbClr val="212529"/>
                </a:solidFill>
                <a:latin typeface="Times New Roman" panose="02020603050405020304" pitchFamily="18" charset="0"/>
                <a:cs typeface="Times New Roman" panose="02020603050405020304" pitchFamily="18" charset="0"/>
              </a:rPr>
              <a:t>. Implementation: </a:t>
            </a:r>
            <a:r>
              <a:rPr lang="en-US" altLang="en-US" sz="3200" dirty="0">
                <a:solidFill>
                  <a:srgbClr val="212529"/>
                </a:solidFill>
                <a:latin typeface="Times New Roman" panose="02020603050405020304" pitchFamily="18" charset="0"/>
                <a:cs typeface="Times New Roman" panose="02020603050405020304" pitchFamily="18" charset="0"/>
              </a:rPr>
              <a:t>Implement the simulated system in the real world if the simulation results show that it is advantageous to implement the new system or </a:t>
            </a:r>
            <a:r>
              <a:rPr lang="en-US" altLang="en-US" sz="3200" dirty="0" err="1">
                <a:solidFill>
                  <a:srgbClr val="212529"/>
                </a:solidFill>
                <a:latin typeface="Times New Roman" panose="02020603050405020304" pitchFamily="18" charset="0"/>
                <a:cs typeface="Times New Roman" panose="02020603050405020304" pitchFamily="18" charset="0"/>
              </a:rPr>
              <a:t>polic</a:t>
            </a:r>
            <a:endParaRPr lang="en-US" altLang="en-US" sz="3200" dirty="0">
              <a:solidFill>
                <a:srgbClr val="212529"/>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8238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799"/>
            <a:ext cx="9601200" cy="2018212"/>
          </a:xfrm>
        </p:spPr>
        <p:txBody>
          <a:bodyPr>
            <a:noAutofit/>
          </a:bodyPr>
          <a:lstStyle/>
          <a:p>
            <a:r>
              <a:rPr lang="en-US" sz="2000" b="1" dirty="0">
                <a:solidFill>
                  <a:srgbClr val="002060"/>
                </a:solidFill>
              </a:rPr>
              <a:t>Static mathematical model… </a:t>
            </a:r>
            <a:r>
              <a:rPr lang="en-US" sz="2000" dirty="0"/>
              <a:t>For e.g. we look at the case of static mathematical model from industry. In marketing a commodity generally there is a balance between supply and demand. Both factors depend on price. Demand for the commodity will be low when the price is high and it will increase as the price drops. If we take the simplistic linear case the relationship between demand (𝑄) and price (𝑃) might be represented by the straight line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8206" y="2612571"/>
            <a:ext cx="6907987" cy="3505881"/>
          </a:xfrm>
        </p:spPr>
      </p:pic>
    </p:spTree>
    <p:extLst>
      <p:ext uri="{BB962C8B-B14F-4D97-AF65-F5344CB8AC3E}">
        <p14:creationId xmlns:p14="http://schemas.microsoft.com/office/powerpoint/2010/main" val="54890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54926" y="130016"/>
            <a:ext cx="9614263" cy="1200329"/>
          </a:xfrm>
          <a:prstGeom prst="rect">
            <a:avLst/>
          </a:prstGeom>
        </p:spPr>
        <p:txBody>
          <a:bodyPr wrap="square">
            <a:spAutoFit/>
          </a:bodyPr>
          <a:lstStyle/>
          <a:p>
            <a:r>
              <a:rPr lang="en-US" dirty="0"/>
              <a:t>Static mathematical model… Let us model this situation mathematically. If we denote price by P, supply by S and demand by D, and assuming the price equation to be linear we have 𝐷 = 𝑎 − 𝑏𝑃 where a= demand price 𝑆 = 𝑐 + 𝑑𝑃 c= supply price 𝑆 = 𝐷 </a:t>
            </a:r>
            <a:endParaRPr lang="en-US" dirty="0" smtClean="0"/>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2284" y="1330345"/>
            <a:ext cx="10045365" cy="5221851"/>
          </a:xfrm>
          <a:prstGeom prst="rect">
            <a:avLst/>
          </a:prstGeom>
        </p:spPr>
      </p:pic>
    </p:spTree>
    <p:extLst>
      <p:ext uri="{BB962C8B-B14F-4D97-AF65-F5344CB8AC3E}">
        <p14:creationId xmlns:p14="http://schemas.microsoft.com/office/powerpoint/2010/main" val="26317915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7096" y="679270"/>
            <a:ext cx="10345784" cy="5262979"/>
          </a:xfrm>
          <a:prstGeom prst="rect">
            <a:avLst/>
          </a:prstGeom>
        </p:spPr>
        <p:txBody>
          <a:bodyPr wrap="square">
            <a:spAutoFit/>
          </a:bodyPr>
          <a:lstStyle/>
          <a:p>
            <a:r>
              <a:rPr lang="en-US" sz="2400" b="1" dirty="0">
                <a:solidFill>
                  <a:srgbClr val="002060"/>
                </a:solidFill>
              </a:rPr>
              <a:t>3. Static mathematical model… </a:t>
            </a:r>
            <a:endParaRPr lang="en-US" sz="2400" b="1" dirty="0" smtClean="0">
              <a:solidFill>
                <a:srgbClr val="002060"/>
              </a:solidFill>
            </a:endParaRPr>
          </a:p>
          <a:p>
            <a:r>
              <a:rPr lang="en-US" sz="2400" dirty="0" smtClean="0"/>
              <a:t>In </a:t>
            </a:r>
            <a:r>
              <a:rPr lang="en-US" sz="2400" dirty="0"/>
              <a:t>the first model we have taken simple linear case, but fig (b) might be complex</a:t>
            </a:r>
            <a:r>
              <a:rPr lang="en-US" sz="2400" dirty="0" smtClean="0"/>
              <a:t>.</a:t>
            </a:r>
          </a:p>
          <a:p>
            <a:r>
              <a:rPr lang="en-US" sz="2400" dirty="0" smtClean="0"/>
              <a:t> </a:t>
            </a:r>
            <a:r>
              <a:rPr lang="en-US" sz="2400" dirty="0"/>
              <a:t>In that case the solution may not be so simple. More usually, the demand and supply are depreciated by curves with slopes upward and downward respectively</a:t>
            </a:r>
            <a:r>
              <a:rPr lang="en-US" sz="2400" dirty="0" smtClean="0"/>
              <a:t>.</a:t>
            </a:r>
          </a:p>
          <a:p>
            <a:r>
              <a:rPr lang="en-US" sz="2400" dirty="0" smtClean="0"/>
              <a:t> </a:t>
            </a:r>
            <a:r>
              <a:rPr lang="en-US" sz="2400" dirty="0"/>
              <a:t>It may not be possible to express the relationships by equations that can be solved easily</a:t>
            </a:r>
            <a:r>
              <a:rPr lang="en-US" sz="2400" dirty="0" smtClean="0"/>
              <a:t>.</a:t>
            </a:r>
          </a:p>
          <a:p>
            <a:r>
              <a:rPr lang="en-US" sz="2400" dirty="0" smtClean="0"/>
              <a:t> </a:t>
            </a:r>
            <a:r>
              <a:rPr lang="en-US" sz="2400" dirty="0"/>
              <a:t>Some numerical or graphical methods are used to solve such relations</a:t>
            </a:r>
            <a:r>
              <a:rPr lang="en-US" sz="2400" dirty="0" smtClean="0"/>
              <a:t>. </a:t>
            </a:r>
            <a:r>
              <a:rPr lang="en-US" sz="2400" dirty="0"/>
              <a:t>In addition, it is difficult to get the values of the </a:t>
            </a:r>
            <a:r>
              <a:rPr lang="en-US" sz="2400" b="1" dirty="0">
                <a:solidFill>
                  <a:srgbClr val="002060"/>
                </a:solidFill>
              </a:rPr>
              <a:t>coefficients</a:t>
            </a:r>
            <a:r>
              <a:rPr lang="en-US" sz="2400" dirty="0"/>
              <a:t> of the model. Observations over the extended period of time, however, will establish the slopes (that is values of b and d) in the neighborhood of the equilibrium points. </a:t>
            </a:r>
            <a:endParaRPr lang="en-US" sz="2400" dirty="0" smtClean="0"/>
          </a:p>
          <a:p>
            <a:r>
              <a:rPr lang="en-US" sz="2400" dirty="0" smtClean="0"/>
              <a:t>These </a:t>
            </a:r>
            <a:r>
              <a:rPr lang="en-US" sz="2400" dirty="0"/>
              <a:t>values will often fluctuate under the global and local economic conditions</a:t>
            </a:r>
          </a:p>
        </p:txBody>
      </p:sp>
    </p:spTree>
    <p:extLst>
      <p:ext uri="{BB962C8B-B14F-4D97-AF65-F5344CB8AC3E}">
        <p14:creationId xmlns:p14="http://schemas.microsoft.com/office/powerpoint/2010/main" val="7762447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458" y="0"/>
            <a:ext cx="11473542" cy="6858000"/>
          </a:xfrm>
          <a:prstGeom prst="rect">
            <a:avLst/>
          </a:prstGeom>
        </p:spPr>
      </p:pic>
    </p:spTree>
    <p:extLst>
      <p:ext uri="{BB962C8B-B14F-4D97-AF65-F5344CB8AC3E}">
        <p14:creationId xmlns:p14="http://schemas.microsoft.com/office/powerpoint/2010/main" val="28668474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458" y="0"/>
            <a:ext cx="11473542" cy="6858000"/>
          </a:xfrm>
          <a:prstGeom prst="rect">
            <a:avLst/>
          </a:prstGeom>
        </p:spPr>
      </p:pic>
    </p:spTree>
    <p:extLst>
      <p:ext uri="{BB962C8B-B14F-4D97-AF65-F5344CB8AC3E}">
        <p14:creationId xmlns:p14="http://schemas.microsoft.com/office/powerpoint/2010/main" val="32174823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r"/>
            <a:r>
              <a:rPr lang="en-US" b="1" dirty="0" smtClean="0"/>
              <a:t>1.5 Computer </a:t>
            </a:r>
            <a:r>
              <a:rPr lang="en-US" b="1" dirty="0"/>
              <a:t>simulation</a:t>
            </a:r>
            <a:endParaRPr lang="en-US" dirty="0"/>
          </a:p>
        </p:txBody>
      </p:sp>
      <p:sp>
        <p:nvSpPr>
          <p:cNvPr id="5" name="Content Placeholder 4"/>
          <p:cNvSpPr>
            <a:spLocks noGrp="1"/>
          </p:cNvSpPr>
          <p:nvPr>
            <p:ph idx="1"/>
          </p:nvPr>
        </p:nvSpPr>
        <p:spPr>
          <a:xfrm>
            <a:off x="1371600" y="1345474"/>
            <a:ext cx="9601200" cy="4521926"/>
          </a:xfrm>
        </p:spPr>
        <p:txBody>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 is the running of a mathematical model on a computer, the model being designed to represent the </a:t>
            </a:r>
            <a:r>
              <a:rPr lang="en-US" dirty="0" err="1">
                <a:solidFill>
                  <a:schemeClr val="tx1"/>
                </a:solidFill>
                <a:latin typeface="Times New Roman" panose="02020603050405020304" pitchFamily="18" charset="0"/>
                <a:cs typeface="Times New Roman" panose="02020603050405020304" pitchFamily="18" charset="0"/>
              </a:rPr>
              <a:t>behaviour</a:t>
            </a:r>
            <a:r>
              <a:rPr lang="en-US" dirty="0">
                <a:solidFill>
                  <a:schemeClr val="tx1"/>
                </a:solidFill>
                <a:latin typeface="Times New Roman" panose="02020603050405020304" pitchFamily="18" charset="0"/>
                <a:cs typeface="Times New Roman" panose="02020603050405020304" pitchFamily="18" charset="0"/>
              </a:rPr>
              <a:t> of, or the outcome of, a real-world or physical system. The reliability of some mathematical models can be determined by comparing their results to the real-world outcomes they aim to predict. Computer simulations have become a useful tool for the mathematical modeling of many natural systems in physics (computational physics), astrophysics, climatology, chemistry, biology and manufacturing, as well as human systems in economics, psychology, social science, health care and engineering. Simulation of a system is represented as the running of the system's model. It can be used to explore and gain new insights into new technology and to estimate the performance of systems too complex for analytical </a:t>
            </a:r>
            <a:r>
              <a:rPr lang="en-US" dirty="0" smtClean="0">
                <a:solidFill>
                  <a:schemeClr val="tx1"/>
                </a:solidFill>
                <a:latin typeface="Times New Roman" panose="02020603050405020304" pitchFamily="18" charset="0"/>
                <a:cs typeface="Times New Roman" panose="02020603050405020304" pitchFamily="18" charset="0"/>
              </a:rPr>
              <a:t>solutions</a:t>
            </a:r>
          </a:p>
          <a:p>
            <a:pPr marL="0" indent="0">
              <a:buNone/>
            </a:pPr>
            <a:r>
              <a:rPr lang="en-US" dirty="0"/>
              <a:t>There are many types of computer simulations; their common feature is the attempt to generate a sample of representative scenarios for a model in which a complete enumeration of all possible states of the model would be prohibitive or impossible</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6506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394" y="13063"/>
            <a:ext cx="11486605" cy="6858000"/>
          </a:xfrm>
          <a:prstGeom prst="rect">
            <a:avLst/>
          </a:prstGeom>
        </p:spPr>
      </p:pic>
    </p:spTree>
    <p:extLst>
      <p:ext uri="{BB962C8B-B14F-4D97-AF65-F5344CB8AC3E}">
        <p14:creationId xmlns:p14="http://schemas.microsoft.com/office/powerpoint/2010/main" val="20828428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0"/>
            <a:ext cx="9601200" cy="953589"/>
          </a:xfrm>
        </p:spPr>
        <p:txBody>
          <a:bodyPr/>
          <a:lstStyle/>
          <a:p>
            <a:r>
              <a:rPr lang="en-US" dirty="0" smtClean="0"/>
              <a:t>Model development life cycle </a:t>
            </a:r>
            <a:endParaRPr lang="en-US" dirty="0"/>
          </a:p>
        </p:txBody>
      </p:sp>
      <p:pic>
        <p:nvPicPr>
          <p:cNvPr id="4" name="Content Placeholder 3"/>
          <p:cNvPicPr>
            <a:picLocks noGrp="1" noChangeAspect="1"/>
          </p:cNvPicPr>
          <p:nvPr>
            <p:ph sz="half" idx="1"/>
          </p:nvPr>
        </p:nvPicPr>
        <p:blipFill>
          <a:blip r:embed="rId2"/>
          <a:stretch>
            <a:fillRect/>
          </a:stretch>
        </p:blipFill>
        <p:spPr>
          <a:xfrm>
            <a:off x="1371600" y="679268"/>
            <a:ext cx="3482146" cy="4898571"/>
          </a:xfrm>
          <a:prstGeom prst="rect">
            <a:avLst/>
          </a:prstGeom>
        </p:spPr>
      </p:pic>
      <p:sp>
        <p:nvSpPr>
          <p:cNvPr id="5" name="Content Placeholder 4"/>
          <p:cNvSpPr>
            <a:spLocks noGrp="1"/>
          </p:cNvSpPr>
          <p:nvPr>
            <p:ph sz="half" idx="2"/>
          </p:nvPr>
        </p:nvSpPr>
        <p:spPr>
          <a:xfrm>
            <a:off x="5237817" y="679269"/>
            <a:ext cx="5734983" cy="6074228"/>
          </a:xfrm>
        </p:spPr>
        <p:txBody>
          <a:bodyPr>
            <a:normAutofit fontScale="70000" lnSpcReduction="20000"/>
          </a:bodyPr>
          <a:lstStyle/>
          <a:p>
            <a:pPr marL="0" indent="0">
              <a:buNone/>
            </a:pPr>
            <a:r>
              <a:rPr lang="en-US" b="1" dirty="0"/>
              <a:t>1. Define Goals &amp; Objectives</a:t>
            </a:r>
          </a:p>
          <a:p>
            <a:pPr>
              <a:buFont typeface="Arial" panose="020B0604020202020204" pitchFamily="34" charset="0"/>
              <a:buChar char="•"/>
            </a:pPr>
            <a:r>
              <a:rPr lang="en-US" dirty="0"/>
              <a:t>Identify the purpose of the study </a:t>
            </a:r>
          </a:p>
          <a:p>
            <a:pPr>
              <a:buFont typeface="Arial" panose="020B0604020202020204" pitchFamily="34" charset="0"/>
              <a:buChar char="•"/>
            </a:pPr>
            <a:r>
              <a:rPr lang="en-US" dirty="0"/>
              <a:t>Decide what problem needs to be solved </a:t>
            </a:r>
          </a:p>
          <a:p>
            <a:pPr marL="0" indent="0">
              <a:buNone/>
            </a:pPr>
            <a:r>
              <a:rPr lang="en-US" b="1" dirty="0"/>
              <a:t>2. Develop Conceptual Model</a:t>
            </a:r>
          </a:p>
          <a:p>
            <a:pPr>
              <a:buFont typeface="Arial" panose="020B0604020202020204" pitchFamily="34" charset="0"/>
              <a:buChar char="•"/>
            </a:pPr>
            <a:r>
              <a:rPr lang="en-US" dirty="0"/>
              <a:t>Create a simple logical representation of the system </a:t>
            </a:r>
          </a:p>
          <a:p>
            <a:pPr>
              <a:buFont typeface="Arial" panose="020B0604020202020204" pitchFamily="34" charset="0"/>
              <a:buChar char="•"/>
            </a:pPr>
            <a:r>
              <a:rPr lang="en-US" dirty="0"/>
              <a:t>Define relationships, variables, and assumptions </a:t>
            </a:r>
          </a:p>
          <a:p>
            <a:pPr marL="0" indent="0">
              <a:buNone/>
            </a:pPr>
            <a:r>
              <a:rPr lang="en-US" b="1" dirty="0"/>
              <a:t>3. Develop Specification of Model</a:t>
            </a:r>
          </a:p>
          <a:p>
            <a:pPr>
              <a:buFont typeface="Arial" panose="020B0604020202020204" pitchFamily="34" charset="0"/>
              <a:buChar char="•"/>
            </a:pPr>
            <a:r>
              <a:rPr lang="en-US" dirty="0"/>
              <a:t>Convert conceptual ideas into detailed mathematical or logical form </a:t>
            </a:r>
          </a:p>
          <a:p>
            <a:pPr>
              <a:buFont typeface="Arial" panose="020B0604020202020204" pitchFamily="34" charset="0"/>
              <a:buChar char="•"/>
            </a:pPr>
            <a:r>
              <a:rPr lang="en-US" dirty="0"/>
              <a:t>Define inputs, outputs, and system rules clearly </a:t>
            </a:r>
          </a:p>
          <a:p>
            <a:pPr marL="0" indent="0">
              <a:buNone/>
            </a:pPr>
            <a:r>
              <a:rPr lang="en-US" b="1" dirty="0"/>
              <a:t>4. Develop Computational Model</a:t>
            </a:r>
          </a:p>
          <a:p>
            <a:pPr>
              <a:buFont typeface="Arial" panose="020B0604020202020204" pitchFamily="34" charset="0"/>
              <a:buChar char="•"/>
            </a:pPr>
            <a:r>
              <a:rPr lang="en-US" dirty="0"/>
              <a:t>Implement the model using software or programming tools </a:t>
            </a:r>
          </a:p>
          <a:p>
            <a:pPr>
              <a:buFont typeface="Arial" panose="020B0604020202020204" pitchFamily="34" charset="0"/>
              <a:buChar char="•"/>
            </a:pPr>
            <a:r>
              <a:rPr lang="en-US" dirty="0"/>
              <a:t>Example: Python, MATLAB, simulation tools </a:t>
            </a:r>
          </a:p>
          <a:p>
            <a:pPr marL="0" indent="0">
              <a:buNone/>
            </a:pPr>
            <a:r>
              <a:rPr lang="en-US" b="1" dirty="0"/>
              <a:t>5. Verify Model</a:t>
            </a:r>
          </a:p>
          <a:p>
            <a:pPr>
              <a:buFont typeface="Arial" panose="020B0604020202020204" pitchFamily="34" charset="0"/>
              <a:buChar char="•"/>
            </a:pPr>
            <a:r>
              <a:rPr lang="en-US" dirty="0"/>
              <a:t>Check whether the model is correctly implemented </a:t>
            </a:r>
          </a:p>
          <a:p>
            <a:pPr>
              <a:buFont typeface="Arial" panose="020B0604020202020204" pitchFamily="34" charset="0"/>
              <a:buChar char="•"/>
            </a:pPr>
            <a:r>
              <a:rPr lang="en-US" dirty="0"/>
              <a:t>Ensure there are no coding or logical errors </a:t>
            </a:r>
          </a:p>
          <a:p>
            <a:pPr marL="0" indent="0">
              <a:buNone/>
            </a:pPr>
            <a:r>
              <a:rPr lang="en-US" b="1" dirty="0"/>
              <a:t>6. Validate Model</a:t>
            </a:r>
          </a:p>
          <a:p>
            <a:pPr>
              <a:buFont typeface="Arial" panose="020B0604020202020204" pitchFamily="34" charset="0"/>
              <a:buChar char="•"/>
            </a:pPr>
            <a:r>
              <a:rPr lang="en-US" dirty="0"/>
              <a:t>Compare model results with real-world data </a:t>
            </a:r>
          </a:p>
          <a:p>
            <a:pPr>
              <a:buFont typeface="Arial" panose="020B0604020202020204" pitchFamily="34" charset="0"/>
              <a:buChar char="•"/>
            </a:pPr>
            <a:r>
              <a:rPr lang="en-US" dirty="0"/>
              <a:t>Confirm the model is accurate and reliable </a:t>
            </a:r>
          </a:p>
          <a:p>
            <a:endParaRPr lang="en-US" dirty="0"/>
          </a:p>
        </p:txBody>
      </p:sp>
    </p:spTree>
    <p:extLst>
      <p:ext uri="{BB962C8B-B14F-4D97-AF65-F5344CB8AC3E}">
        <p14:creationId xmlns:p14="http://schemas.microsoft.com/office/powerpoint/2010/main" val="42493623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1.7Advantages </a:t>
            </a:r>
            <a:r>
              <a:rPr lang="en-US" dirty="0"/>
              <a:t>of simulation </a:t>
            </a:r>
          </a:p>
        </p:txBody>
      </p:sp>
      <p:sp>
        <p:nvSpPr>
          <p:cNvPr id="3" name="Content Placeholder 2"/>
          <p:cNvSpPr>
            <a:spLocks noGrp="1"/>
          </p:cNvSpPr>
          <p:nvPr>
            <p:ph idx="1"/>
          </p:nvPr>
        </p:nvSpPr>
        <p:spPr/>
        <p:txBody>
          <a:bodyPr>
            <a:normAutofit lnSpcReduction="10000"/>
          </a:bodyPr>
          <a:lstStyle/>
          <a:p>
            <a:pPr marL="0" indent="0">
              <a:buNone/>
            </a:pPr>
            <a:r>
              <a:rPr lang="en-US" dirty="0"/>
              <a:t>Simulation can also be used to study systems in the design stage. </a:t>
            </a:r>
            <a:endParaRPr lang="en-US" dirty="0" smtClean="0"/>
          </a:p>
          <a:p>
            <a:pPr marL="0" indent="0">
              <a:buNone/>
            </a:pPr>
            <a:r>
              <a:rPr lang="en-US" dirty="0" smtClean="0"/>
              <a:t> </a:t>
            </a:r>
            <a:r>
              <a:rPr lang="en-US" dirty="0"/>
              <a:t>Simulation models are run rather than solver. </a:t>
            </a:r>
            <a:endParaRPr lang="en-US" dirty="0" smtClean="0"/>
          </a:p>
          <a:p>
            <a:pPr marL="0" indent="0">
              <a:buNone/>
            </a:pPr>
            <a:r>
              <a:rPr lang="en-US" dirty="0" smtClean="0"/>
              <a:t> </a:t>
            </a:r>
            <a:r>
              <a:rPr lang="en-US" dirty="0"/>
              <a:t>New policies, operating procedures, decision rules, information flows, organizational procedures, and so on can be explored without disrupting ongoing operations of the real system</a:t>
            </a:r>
            <a:r>
              <a:rPr lang="en-US" dirty="0" smtClean="0"/>
              <a:t>.</a:t>
            </a:r>
            <a:endParaRPr lang="en-US" dirty="0" smtClean="0"/>
          </a:p>
          <a:p>
            <a:pPr marL="0" indent="0">
              <a:buNone/>
            </a:pPr>
            <a:r>
              <a:rPr lang="en-US" dirty="0" smtClean="0"/>
              <a:t> </a:t>
            </a:r>
            <a:r>
              <a:rPr lang="en-US" dirty="0"/>
              <a:t>New hardware designs, physical layouts, transportation systems, and so on can be tested without committing resources for their acquisition</a:t>
            </a:r>
            <a:r>
              <a:rPr lang="en-US" dirty="0" smtClean="0"/>
              <a:t>.</a:t>
            </a:r>
          </a:p>
          <a:p>
            <a:pPr marL="0" indent="0">
              <a:buNone/>
            </a:pPr>
            <a:r>
              <a:rPr lang="en-US" dirty="0" smtClean="0"/>
              <a:t> </a:t>
            </a:r>
            <a:r>
              <a:rPr lang="en-US" dirty="0"/>
              <a:t>A simulation study can help in understanding how the system operates rather than how individuals think the system operates. </a:t>
            </a:r>
            <a:endParaRPr lang="en-US" dirty="0" smtClean="0"/>
          </a:p>
          <a:p>
            <a:pPr marL="0" indent="0">
              <a:buNone/>
            </a:pPr>
            <a:r>
              <a:rPr lang="en-US" dirty="0" smtClean="0"/>
              <a:t> </a:t>
            </a:r>
            <a:r>
              <a:rPr lang="en-US" dirty="0"/>
              <a:t>what-if" questions can be answered. Useful in the design of new system</a:t>
            </a:r>
          </a:p>
        </p:txBody>
      </p:sp>
    </p:spTree>
    <p:extLst>
      <p:ext uri="{BB962C8B-B14F-4D97-AF65-F5344CB8AC3E}">
        <p14:creationId xmlns:p14="http://schemas.microsoft.com/office/powerpoint/2010/main" val="1346912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Limitations/Disadvantages of the Simulation technique</a:t>
            </a:r>
          </a:p>
        </p:txBody>
      </p:sp>
      <p:sp>
        <p:nvSpPr>
          <p:cNvPr id="3" name="Content Placeholder 2"/>
          <p:cNvSpPr>
            <a:spLocks noGrp="1"/>
          </p:cNvSpPr>
          <p:nvPr>
            <p:ph idx="1"/>
          </p:nvPr>
        </p:nvSpPr>
        <p:spPr/>
        <p:txBody>
          <a:bodyPr/>
          <a:lstStyle/>
          <a:p>
            <a:pPr marL="0" indent="0">
              <a:buNone/>
            </a:pPr>
            <a:r>
              <a:rPr lang="en-US" b="1" dirty="0" smtClean="0"/>
              <a:t>Model </a:t>
            </a:r>
            <a:r>
              <a:rPr lang="en-US" b="1" dirty="0"/>
              <a:t>building requires special training. </a:t>
            </a:r>
            <a:endParaRPr lang="en-US" b="1" dirty="0" smtClean="0"/>
          </a:p>
          <a:p>
            <a:pPr marL="0" indent="0">
              <a:buNone/>
            </a:pPr>
            <a:r>
              <a:rPr lang="en-US" dirty="0" smtClean="0"/>
              <a:t> </a:t>
            </a:r>
            <a:r>
              <a:rPr lang="en-US" dirty="0"/>
              <a:t>It is an art that is learned over time and through experience</a:t>
            </a:r>
            <a:r>
              <a:rPr lang="en-US" dirty="0" smtClean="0"/>
              <a:t>.</a:t>
            </a:r>
          </a:p>
          <a:p>
            <a:pPr marL="0" indent="0">
              <a:buNone/>
            </a:pPr>
            <a:r>
              <a:rPr lang="en-US" dirty="0" smtClean="0"/>
              <a:t> </a:t>
            </a:r>
            <a:r>
              <a:rPr lang="en-US" b="1" dirty="0" smtClean="0"/>
              <a:t>Simulation </a:t>
            </a:r>
            <a:r>
              <a:rPr lang="en-US" b="1" dirty="0"/>
              <a:t>results can be difficult to interpret </a:t>
            </a:r>
            <a:endParaRPr lang="en-US" b="1" dirty="0" smtClean="0"/>
          </a:p>
          <a:p>
            <a:pPr marL="0" indent="0">
              <a:buNone/>
            </a:pPr>
            <a:r>
              <a:rPr lang="en-US" dirty="0" smtClean="0"/>
              <a:t>Most </a:t>
            </a:r>
            <a:r>
              <a:rPr lang="en-US" dirty="0"/>
              <a:t>simulation outputs are essentially random variables (they are usually based on random inputs), so it can be hard to distinguish whether an observation is a result of system interrelationships. of randomness.</a:t>
            </a:r>
          </a:p>
        </p:txBody>
      </p:sp>
    </p:spTree>
    <p:extLst>
      <p:ext uri="{BB962C8B-B14F-4D97-AF65-F5344CB8AC3E}">
        <p14:creationId xmlns:p14="http://schemas.microsoft.com/office/powerpoint/2010/main" val="4175110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1.8 Steps </a:t>
            </a:r>
            <a:r>
              <a:rPr lang="en-US" dirty="0"/>
              <a:t>of simulation</a:t>
            </a:r>
          </a:p>
        </p:txBody>
      </p:sp>
      <p:sp>
        <p:nvSpPr>
          <p:cNvPr id="3" name="Content Placeholder 2"/>
          <p:cNvSpPr>
            <a:spLocks noGrp="1"/>
          </p:cNvSpPr>
          <p:nvPr>
            <p:ph idx="1"/>
          </p:nvPr>
        </p:nvSpPr>
        <p:spPr>
          <a:xfrm>
            <a:off x="1371600" y="1332411"/>
            <a:ext cx="9601200" cy="5199018"/>
          </a:xfrm>
        </p:spPr>
        <p:txBody>
          <a:bodyPr>
            <a:normAutofit/>
          </a:bodyPr>
          <a:lstStyle/>
          <a:p>
            <a:pPr marL="0" lvl="0" indent="0" eaLnBrk="0" fontAlgn="base" hangingPunct="0">
              <a:lnSpc>
                <a:spcPct val="100000"/>
              </a:lnSpc>
              <a:spcBef>
                <a:spcPct val="0"/>
              </a:spcBef>
              <a:spcAft>
                <a:spcPct val="0"/>
              </a:spcAft>
              <a:buNone/>
            </a:pPr>
            <a:endParaRPr lang="en-US" altLang="en-US" sz="1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800" b="1" dirty="0">
                <a:solidFill>
                  <a:srgbClr val="212529"/>
                </a:solidFill>
                <a:latin typeface="Times New Roman" panose="02020603050405020304" pitchFamily="18" charset="0"/>
                <a:cs typeface="Times New Roman" panose="02020603050405020304" pitchFamily="18" charset="0"/>
              </a:rPr>
              <a:t>1.Problem formulation</a:t>
            </a:r>
          </a:p>
          <a:p>
            <a:pPr marL="457200" lvl="1" indent="-457200" eaLnBrk="0" fontAlgn="base" hangingPunct="0">
              <a:lnSpc>
                <a:spcPct val="100000"/>
              </a:lnSpc>
              <a:spcBef>
                <a:spcPct val="0"/>
              </a:spcBef>
              <a:spcAft>
                <a:spcPct val="0"/>
              </a:spcAft>
              <a:buNone/>
            </a:pPr>
            <a:r>
              <a:rPr lang="en-US" altLang="en-US" sz="1800" i="0" dirty="0">
                <a:solidFill>
                  <a:srgbClr val="212529"/>
                </a:solidFill>
                <a:latin typeface="Times New Roman" panose="02020603050405020304" pitchFamily="18" charset="0"/>
                <a:cs typeface="Times New Roman" panose="02020603050405020304" pitchFamily="18" charset="0"/>
              </a:rPr>
              <a:t>     Clearly state the problem.</a:t>
            </a:r>
          </a:p>
          <a:p>
            <a:pPr marL="0" lvl="0" indent="0" eaLnBrk="0" fontAlgn="base" hangingPunct="0">
              <a:lnSpc>
                <a:spcPct val="100000"/>
              </a:lnSpc>
              <a:spcBef>
                <a:spcPct val="0"/>
              </a:spcBef>
              <a:spcAft>
                <a:spcPct val="0"/>
              </a:spcAft>
              <a:buNone/>
            </a:pPr>
            <a:r>
              <a:rPr lang="en-US" altLang="en-US" sz="1800" b="1" dirty="0">
                <a:solidFill>
                  <a:srgbClr val="212529"/>
                </a:solidFill>
                <a:latin typeface="Times New Roman" panose="02020603050405020304" pitchFamily="18" charset="0"/>
                <a:cs typeface="Times New Roman" panose="02020603050405020304" pitchFamily="18" charset="0"/>
              </a:rPr>
              <a:t>2. Setting of objectives and overall project plan</a:t>
            </a:r>
          </a:p>
          <a:p>
            <a:pPr marL="457200" lvl="1" indent="-457200" eaLnBrk="0" fontAlgn="base" hangingPunct="0">
              <a:lnSpc>
                <a:spcPct val="100000"/>
              </a:lnSpc>
              <a:spcBef>
                <a:spcPct val="0"/>
              </a:spcBef>
              <a:spcAft>
                <a:spcPct val="0"/>
              </a:spcAft>
              <a:buNone/>
            </a:pPr>
            <a:r>
              <a:rPr lang="en-US" altLang="en-US" sz="1800" i="0" dirty="0">
                <a:solidFill>
                  <a:srgbClr val="212529"/>
                </a:solidFill>
                <a:latin typeface="Times New Roman" panose="02020603050405020304" pitchFamily="18" charset="0"/>
                <a:cs typeface="Times New Roman" panose="02020603050405020304" pitchFamily="18" charset="0"/>
              </a:rPr>
              <a:t>     How we should approach the problem.</a:t>
            </a:r>
          </a:p>
          <a:p>
            <a:pPr marL="0" lvl="0" indent="0" eaLnBrk="0" fontAlgn="base" hangingPunct="0">
              <a:lnSpc>
                <a:spcPct val="100000"/>
              </a:lnSpc>
              <a:spcBef>
                <a:spcPct val="0"/>
              </a:spcBef>
              <a:spcAft>
                <a:spcPct val="0"/>
              </a:spcAft>
              <a:buNone/>
            </a:pPr>
            <a:r>
              <a:rPr lang="en-US" altLang="en-US" sz="1800" b="1" dirty="0">
                <a:solidFill>
                  <a:srgbClr val="212529"/>
                </a:solidFill>
                <a:latin typeface="Times New Roman" panose="02020603050405020304" pitchFamily="18" charset="0"/>
                <a:cs typeface="Times New Roman" panose="02020603050405020304" pitchFamily="18" charset="0"/>
              </a:rPr>
              <a:t>3. Model conceptualization</a:t>
            </a:r>
          </a:p>
          <a:p>
            <a:pPr marL="457200" lvl="1" indent="-457200" eaLnBrk="0" fontAlgn="base" hangingPunct="0">
              <a:lnSpc>
                <a:spcPct val="100000"/>
              </a:lnSpc>
              <a:spcBef>
                <a:spcPct val="0"/>
              </a:spcBef>
              <a:spcAft>
                <a:spcPct val="0"/>
              </a:spcAft>
              <a:buNone/>
            </a:pPr>
            <a:r>
              <a:rPr lang="en-US" altLang="en-US" sz="1800" i="0" dirty="0">
                <a:solidFill>
                  <a:srgbClr val="212529"/>
                </a:solidFill>
                <a:latin typeface="Times New Roman" panose="02020603050405020304" pitchFamily="18" charset="0"/>
                <a:cs typeface="Times New Roman" panose="02020603050405020304" pitchFamily="18" charset="0"/>
              </a:rPr>
              <a:t>     Establish a reasonable model.</a:t>
            </a:r>
          </a:p>
          <a:p>
            <a:pPr marL="0" lvl="0" indent="0" eaLnBrk="0" fontAlgn="base" hangingPunct="0">
              <a:lnSpc>
                <a:spcPct val="100000"/>
              </a:lnSpc>
              <a:spcBef>
                <a:spcPct val="0"/>
              </a:spcBef>
              <a:spcAft>
                <a:spcPct val="0"/>
              </a:spcAft>
              <a:buNone/>
            </a:pPr>
            <a:r>
              <a:rPr lang="en-US" altLang="en-US" sz="1800" b="1" dirty="0">
                <a:solidFill>
                  <a:srgbClr val="212529"/>
                </a:solidFill>
                <a:latin typeface="Times New Roman" panose="02020603050405020304" pitchFamily="18" charset="0"/>
                <a:cs typeface="Times New Roman" panose="02020603050405020304" pitchFamily="18" charset="0"/>
              </a:rPr>
              <a:t>4. Data collection</a:t>
            </a:r>
          </a:p>
          <a:p>
            <a:pPr marL="457200" lvl="1" indent="-457200" eaLnBrk="0" fontAlgn="base" hangingPunct="0">
              <a:lnSpc>
                <a:spcPct val="100000"/>
              </a:lnSpc>
              <a:spcBef>
                <a:spcPct val="0"/>
              </a:spcBef>
              <a:spcAft>
                <a:spcPct val="0"/>
              </a:spcAft>
              <a:buNone/>
            </a:pPr>
            <a:r>
              <a:rPr lang="en-US" altLang="en-US" sz="1800" i="0" dirty="0">
                <a:solidFill>
                  <a:srgbClr val="212529"/>
                </a:solidFill>
                <a:latin typeface="Times New Roman" panose="02020603050405020304" pitchFamily="18" charset="0"/>
                <a:cs typeface="Times New Roman" panose="02020603050405020304" pitchFamily="18" charset="0"/>
              </a:rPr>
              <a:t>    Collect the data necessary to run the simulation (such as arrival rate, arrival process, service discipline, service rate etc.).</a:t>
            </a:r>
          </a:p>
          <a:p>
            <a:pPr marL="0" lvl="0" indent="0" eaLnBrk="0" fontAlgn="base" hangingPunct="0">
              <a:lnSpc>
                <a:spcPct val="100000"/>
              </a:lnSpc>
              <a:spcBef>
                <a:spcPct val="0"/>
              </a:spcBef>
              <a:spcAft>
                <a:spcPct val="0"/>
              </a:spcAft>
              <a:buNone/>
            </a:pPr>
            <a:r>
              <a:rPr lang="en-US" altLang="en-US" sz="1800" b="1" dirty="0">
                <a:solidFill>
                  <a:srgbClr val="212529"/>
                </a:solidFill>
                <a:latin typeface="Times New Roman" panose="02020603050405020304" pitchFamily="18" charset="0"/>
                <a:cs typeface="Times New Roman" panose="02020603050405020304" pitchFamily="18" charset="0"/>
              </a:rPr>
              <a:t>5. Model translation</a:t>
            </a:r>
          </a:p>
          <a:p>
            <a:pPr marL="457200" lvl="1" indent="-457200" eaLnBrk="0" fontAlgn="base" hangingPunct="0">
              <a:lnSpc>
                <a:spcPct val="100000"/>
              </a:lnSpc>
              <a:spcBef>
                <a:spcPct val="0"/>
              </a:spcBef>
              <a:spcAft>
                <a:spcPct val="0"/>
              </a:spcAft>
              <a:buNone/>
            </a:pPr>
            <a:r>
              <a:rPr lang="en-US" altLang="en-US" sz="1800" i="0" dirty="0">
                <a:solidFill>
                  <a:srgbClr val="212529"/>
                </a:solidFill>
                <a:latin typeface="Times New Roman" panose="02020603050405020304" pitchFamily="18" charset="0"/>
                <a:cs typeface="Times New Roman" panose="02020603050405020304" pitchFamily="18" charset="0"/>
              </a:rPr>
              <a:t>     Convert the model into a programming language.</a:t>
            </a:r>
          </a:p>
          <a:p>
            <a:pPr marL="0" lvl="0" indent="0" eaLnBrk="0" fontAlgn="base" hangingPunct="0">
              <a:lnSpc>
                <a:spcPct val="100000"/>
              </a:lnSpc>
              <a:spcBef>
                <a:spcPct val="0"/>
              </a:spcBef>
              <a:spcAft>
                <a:spcPct val="0"/>
              </a:spcAft>
              <a:buNone/>
            </a:pPr>
            <a:r>
              <a:rPr lang="en-US" altLang="en-US" sz="1800" b="1" dirty="0">
                <a:solidFill>
                  <a:srgbClr val="212529"/>
                </a:solidFill>
                <a:latin typeface="Times New Roman" panose="02020603050405020304" pitchFamily="18" charset="0"/>
                <a:cs typeface="Times New Roman" panose="02020603050405020304" pitchFamily="18" charset="0"/>
              </a:rPr>
              <a:t>6. Verification</a:t>
            </a:r>
          </a:p>
          <a:p>
            <a:pPr marL="457200" lvl="1" indent="-457200" eaLnBrk="0" fontAlgn="base" hangingPunct="0">
              <a:lnSpc>
                <a:spcPct val="100000"/>
              </a:lnSpc>
              <a:spcBef>
                <a:spcPct val="0"/>
              </a:spcBef>
              <a:spcAft>
                <a:spcPct val="0"/>
              </a:spcAft>
              <a:buNone/>
            </a:pPr>
            <a:r>
              <a:rPr lang="en-US" altLang="en-US" sz="1800" i="0" dirty="0">
                <a:solidFill>
                  <a:srgbClr val="212529"/>
                </a:solidFill>
                <a:latin typeface="Times New Roman" panose="02020603050405020304" pitchFamily="18" charset="0"/>
                <a:cs typeface="Times New Roman" panose="02020603050405020304" pitchFamily="18" charset="0"/>
              </a:rPr>
              <a:t>     Verify the model by checking if the program works properly. Use common sense.</a:t>
            </a:r>
          </a:p>
          <a:p>
            <a:pPr marL="0" lvl="0" indent="0" eaLnBrk="0" fontAlgn="base" hangingPunct="0">
              <a:lnSpc>
                <a:spcPct val="100000"/>
              </a:lnSpc>
              <a:spcBef>
                <a:spcPct val="0"/>
              </a:spcBef>
              <a:spcAft>
                <a:spcPct val="0"/>
              </a:spcAft>
              <a:buNone/>
            </a:pPr>
            <a:r>
              <a:rPr lang="en-US" altLang="en-US" sz="1800" b="1" dirty="0">
                <a:solidFill>
                  <a:srgbClr val="212529"/>
                </a:solidFill>
                <a:latin typeface="Times New Roman" panose="02020603050405020304" pitchFamily="18" charset="0"/>
                <a:cs typeface="Times New Roman" panose="02020603050405020304" pitchFamily="18" charset="0"/>
              </a:rPr>
              <a:t>7. Validation</a:t>
            </a:r>
          </a:p>
          <a:p>
            <a:pPr marL="457200" lvl="1" indent="-457200" eaLnBrk="0" fontAlgn="base" hangingPunct="0">
              <a:lnSpc>
                <a:spcPct val="100000"/>
              </a:lnSpc>
              <a:spcBef>
                <a:spcPct val="0"/>
              </a:spcBef>
              <a:spcAft>
                <a:spcPct val="0"/>
              </a:spcAft>
              <a:buNone/>
            </a:pPr>
            <a:r>
              <a:rPr lang="en-US" altLang="en-US" sz="1800" i="0" dirty="0">
                <a:solidFill>
                  <a:srgbClr val="212529"/>
                </a:solidFill>
                <a:latin typeface="Times New Roman" panose="02020603050405020304" pitchFamily="18" charset="0"/>
                <a:cs typeface="Times New Roman" panose="02020603050405020304" pitchFamily="18" charset="0"/>
              </a:rPr>
              <a:t>     Check if the system accurately represent the real system.</a:t>
            </a:r>
          </a:p>
          <a:p>
            <a:pPr marL="0" lvl="0" indent="0" eaLnBrk="0" fontAlgn="base" hangingPunct="0">
              <a:lnSpc>
                <a:spcPct val="100000"/>
              </a:lnSpc>
              <a:spcBef>
                <a:spcPct val="0"/>
              </a:spcBef>
              <a:spcAft>
                <a:spcPct val="0"/>
              </a:spcAft>
              <a:buNone/>
            </a:pPr>
            <a:r>
              <a:rPr lang="en-US" altLang="en-US" sz="1800" b="1" dirty="0">
                <a:solidFill>
                  <a:srgbClr val="212529"/>
                </a:solidFill>
                <a:latin typeface="Times New Roman" panose="02020603050405020304" pitchFamily="18" charset="0"/>
                <a:cs typeface="Times New Roman" panose="02020603050405020304" pitchFamily="18" charset="0"/>
              </a:rPr>
              <a:t>8. Experimental design</a:t>
            </a:r>
          </a:p>
          <a:p>
            <a:pPr marL="457200" lvl="1" indent="-457200" eaLnBrk="0" fontAlgn="base" hangingPunct="0">
              <a:lnSpc>
                <a:spcPct val="100000"/>
              </a:lnSpc>
              <a:spcBef>
                <a:spcPct val="0"/>
              </a:spcBef>
              <a:spcAft>
                <a:spcPct val="0"/>
              </a:spcAft>
              <a:buNone/>
            </a:pPr>
            <a:r>
              <a:rPr lang="en-US" altLang="en-US" sz="1800" i="0" dirty="0">
                <a:solidFill>
                  <a:srgbClr val="212529"/>
                </a:solidFill>
                <a:latin typeface="Times New Roman" panose="02020603050405020304" pitchFamily="18" charset="0"/>
                <a:cs typeface="Times New Roman" panose="02020603050405020304" pitchFamily="18" charset="0"/>
              </a:rPr>
              <a:t>     How many runs? For how long? What kind of input variations?</a:t>
            </a:r>
          </a:p>
          <a:p>
            <a:pPr marL="0" lvl="0" indent="0" eaLnBrk="0" fontAlgn="base" hangingPunct="0">
              <a:lnSpc>
                <a:spcPct val="100000"/>
              </a:lnSpc>
              <a:spcBef>
                <a:spcPct val="0"/>
              </a:spcBef>
              <a:spcAft>
                <a:spcPct val="0"/>
              </a:spcAft>
              <a:buNone/>
            </a:pPr>
            <a:endParaRPr lang="en-US" altLang="en-US" sz="1800" dirty="0">
              <a:solidFill>
                <a:schemeClr val="tx1"/>
              </a:solidFill>
              <a:latin typeface="Arial" panose="020B0604020202020204" pitchFamily="34" charset="0"/>
            </a:endParaRPr>
          </a:p>
          <a:p>
            <a:endParaRPr lang="en-US" dirty="0"/>
          </a:p>
        </p:txBody>
      </p:sp>
    </p:spTree>
    <p:extLst>
      <p:ext uri="{BB962C8B-B14F-4D97-AF65-F5344CB8AC3E}">
        <p14:creationId xmlns:p14="http://schemas.microsoft.com/office/powerpoint/2010/main" val="3395229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0947" y="0"/>
            <a:ext cx="6962503" cy="7046803"/>
          </a:xfrm>
          <a:prstGeom prst="rect">
            <a:avLst/>
          </a:prstGeom>
        </p:spPr>
      </p:pic>
    </p:spTree>
    <p:extLst>
      <p:ext uri="{BB962C8B-B14F-4D97-AF65-F5344CB8AC3E}">
        <p14:creationId xmlns:p14="http://schemas.microsoft.com/office/powerpoint/2010/main" val="19657283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709" y="0"/>
            <a:ext cx="11421291" cy="6858000"/>
          </a:xfrm>
          <a:prstGeom prst="rect">
            <a:avLst/>
          </a:prstGeom>
        </p:spPr>
      </p:pic>
    </p:spTree>
    <p:extLst>
      <p:ext uri="{BB962C8B-B14F-4D97-AF65-F5344CB8AC3E}">
        <p14:creationId xmlns:p14="http://schemas.microsoft.com/office/powerpoint/2010/main" val="9554478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394" y="0"/>
            <a:ext cx="11382103" cy="6858000"/>
          </a:xfrm>
          <a:prstGeom prst="rect">
            <a:avLst/>
          </a:prstGeom>
        </p:spPr>
      </p:pic>
    </p:spTree>
    <p:extLst>
      <p:ext uri="{BB962C8B-B14F-4D97-AF65-F5344CB8AC3E}">
        <p14:creationId xmlns:p14="http://schemas.microsoft.com/office/powerpoint/2010/main" val="325949565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220718"/>
      </p:ext>
    </p:extLst>
  </p:cSld>
  <p:clrMapOvr>
    <a:masterClrMapping/>
  </p:clrMapOvr>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D9A38F-9A2C-42E5-9013-4C4B1FFCB4F6}">
  <ds:schemaRef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71af3243-3dd4-4a8d-8c0d-dd76da1f02a5"/>
    <ds:schemaRef ds:uri="http://www.w3.org/XML/1998/namespace"/>
  </ds:schemaRefs>
</ds:datastoreItem>
</file>

<file path=customXml/itemProps2.xml><?xml version="1.0" encoding="utf-8"?>
<ds:datastoreItem xmlns:ds="http://schemas.openxmlformats.org/officeDocument/2006/customXml" ds:itemID="{8C45FB24-BEC6-4D44-888B-84AEBBA2DC09}">
  <ds:schemaRefs>
    <ds:schemaRef ds:uri="http://schemas.microsoft.com/sharepoint/v3/contenttype/forms"/>
  </ds:schemaRefs>
</ds:datastoreItem>
</file>

<file path=customXml/itemProps3.xml><?xml version="1.0" encoding="utf-8"?>
<ds:datastoreItem xmlns:ds="http://schemas.openxmlformats.org/officeDocument/2006/customXml" ds:itemID="{07ECF6D8-9EA4-45A1-AFEB-B7C326AF08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Crop design</Template>
  <TotalTime>0</TotalTime>
  <Words>1720</Words>
  <Application>Microsoft Office PowerPoint</Application>
  <PresentationFormat>Widescreen</PresentationFormat>
  <Paragraphs>141</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Franklin Gothic Book</vt:lpstr>
      <vt:lpstr>Times New Roman</vt:lpstr>
      <vt:lpstr>Crop</vt:lpstr>
      <vt:lpstr>SIMULATION AND MODELING</vt:lpstr>
      <vt:lpstr>UNIT I </vt:lpstr>
      <vt:lpstr>PowerPoint Presentation</vt:lpstr>
      <vt:lpstr>System </vt:lpstr>
      <vt:lpstr>Compoents of a System..</vt:lpstr>
      <vt:lpstr>PowerPoint Presentation</vt:lpstr>
      <vt:lpstr>PowerPoint Presentation</vt:lpstr>
      <vt:lpstr>1.2 Discrete System and Continuous System..</vt:lpstr>
      <vt:lpstr>Discrete System and Continuous System..</vt:lpstr>
      <vt:lpstr>Continuous Systems</vt:lpstr>
      <vt:lpstr>PowerPoint Presentation</vt:lpstr>
      <vt:lpstr>1.3 Model of System.,.</vt:lpstr>
      <vt:lpstr>1.3 model of system</vt:lpstr>
      <vt:lpstr>Principles used in modeling..</vt:lpstr>
      <vt:lpstr>Principles used in modeling..</vt:lpstr>
      <vt:lpstr>1.4 Types of model: </vt:lpstr>
      <vt:lpstr>Types of system model: </vt:lpstr>
      <vt:lpstr>1 . Static physical model</vt:lpstr>
      <vt:lpstr>2 . Dynamic physical model</vt:lpstr>
      <vt:lpstr>PowerPoint Presentation</vt:lpstr>
      <vt:lpstr>PowerPoint Presentation</vt:lpstr>
      <vt:lpstr>PowerPoint Presentation</vt:lpstr>
      <vt:lpstr>3. Static mathematical model</vt:lpstr>
      <vt:lpstr>PowerPoint Presentation</vt:lpstr>
      <vt:lpstr>Static mathematical model… For e.g. we look at the case of static mathematical model from industry. In marketing a commodity generally there is a balance between supply and demand. Both factors depend on price. Demand for the commodity will be low when the price is high and it will increase as the price drops. If we take the simplistic linear case the relationship between demand (𝑄) and price (𝑃) might be represented by the straight line</vt:lpstr>
      <vt:lpstr>PowerPoint Presentation</vt:lpstr>
      <vt:lpstr>PowerPoint Presentation</vt:lpstr>
      <vt:lpstr>PowerPoint Presentation</vt:lpstr>
      <vt:lpstr>PowerPoint Presentation</vt:lpstr>
      <vt:lpstr>1.5 Computer simulation</vt:lpstr>
      <vt:lpstr>PowerPoint Presentation</vt:lpstr>
      <vt:lpstr>Model development life cycle </vt:lpstr>
      <vt:lpstr>1.7Advantages of simulation </vt:lpstr>
      <vt:lpstr>Limitations/Disadvantages of the Simulation technique</vt:lpstr>
      <vt:lpstr>1.8 Steps of simulation</vt:lpstr>
      <vt:lpstr>PowerPoint Presentation</vt:lpstr>
      <vt:lpstr>PowerPoint Presentation</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2023-10-01T17:08:33Z</dcterms:created>
  <dcterms:modified xsi:type="dcterms:W3CDTF">2026-05-10T17:33:54Z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