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58" r:id="rId5"/>
    <p:sldId id="259" r:id="rId6"/>
    <p:sldId id="260" r:id="rId7"/>
    <p:sldId id="261" r:id="rId8"/>
    <p:sldId id="263" r:id="rId9"/>
    <p:sldId id="264" r:id="rId10"/>
    <p:sldId id="265" r:id="rId11"/>
    <p:sldId id="276" r:id="rId12"/>
    <p:sldId id="277" r:id="rId13"/>
    <p:sldId id="266" r:id="rId14"/>
    <p:sldId id="267" r:id="rId15"/>
    <p:sldId id="268" r:id="rId16"/>
    <p:sldId id="269" r:id="rId17"/>
    <p:sldId id="271" r:id="rId18"/>
    <p:sldId id="272" r:id="rId19"/>
    <p:sldId id="273" r:id="rId20"/>
    <p:sldId id="274" r:id="rId21"/>
    <p:sldId id="275" r:id="rId22"/>
    <p:sldId id="278" r:id="rId23"/>
    <p:sldId id="280" r:id="rId24"/>
    <p:sldId id="2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4" d="100"/>
          <a:sy n="64" d="100"/>
        </p:scale>
        <p:origin x="6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1A600-306C-9E9C-DCBE-28F832E29C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D08B65-7247-240E-6618-98627026DA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15E6C2-6BC5-F59D-A49D-3F51801441BF}"/>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5" name="Footer Placeholder 4">
            <a:extLst>
              <a:ext uri="{FF2B5EF4-FFF2-40B4-BE49-F238E27FC236}">
                <a16:creationId xmlns:a16="http://schemas.microsoft.com/office/drawing/2014/main" id="{F7E58F4A-96FF-833A-ECBA-BC5057DB18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D477D-5904-A496-82D3-745E9BE3BF5A}"/>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1191963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2CA9E-22C0-2058-1C2C-CF64F886C1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C5D163-F0D7-EFDD-F6A4-656A289947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54B885-3D38-D011-6D82-3281753331F6}"/>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5" name="Footer Placeholder 4">
            <a:extLst>
              <a:ext uri="{FF2B5EF4-FFF2-40B4-BE49-F238E27FC236}">
                <a16:creationId xmlns:a16="http://schemas.microsoft.com/office/drawing/2014/main" id="{01EF8DD0-0130-9E6F-7EDA-5914DF7E80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4B444C-C9F7-116B-8672-D6EEE7373B80}"/>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3152146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94C09-4E5B-F19C-876C-B923DC0B6E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773DCB-C59D-24ED-B28E-707203FA45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2E6727-0A1F-B047-8302-FCE3C22C0A1F}"/>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5" name="Footer Placeholder 4">
            <a:extLst>
              <a:ext uri="{FF2B5EF4-FFF2-40B4-BE49-F238E27FC236}">
                <a16:creationId xmlns:a16="http://schemas.microsoft.com/office/drawing/2014/main" id="{897D95FC-47F3-3FAC-BCDB-11A42A7DB7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43E8B2-0544-E923-67AE-FC5DAABF540A}"/>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3236584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06641-5536-3A78-E874-3578877CCB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882299-63DE-0931-AE47-C10035B8E2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3D7E57-13BC-0384-8165-D1148AC37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475880-9513-FCAD-3343-4E8983AC7FFB}"/>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6" name="Footer Placeholder 5">
            <a:extLst>
              <a:ext uri="{FF2B5EF4-FFF2-40B4-BE49-F238E27FC236}">
                <a16:creationId xmlns:a16="http://schemas.microsoft.com/office/drawing/2014/main" id="{4493D464-33FC-33A6-0131-C9D123A649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0C3EF-A5AA-D18E-4C7D-68DDCAC453F7}"/>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4255104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26C78-23FA-0D70-CF0D-EC4B099BF3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AEBD7C-7DCF-49C4-EC10-41BBE37157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4DD002-8B7F-85F2-65D2-8B1D12E606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DF08D0-D4BA-6C80-9CDD-6FC334FE34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71B6DB-7270-B841-1ECB-F4663C7383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F5324C-DAC5-F4A3-200F-A3A2D7F4D217}"/>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8" name="Footer Placeholder 7">
            <a:extLst>
              <a:ext uri="{FF2B5EF4-FFF2-40B4-BE49-F238E27FC236}">
                <a16:creationId xmlns:a16="http://schemas.microsoft.com/office/drawing/2014/main" id="{9CF2DDA7-1224-E97D-B759-1E279A1134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62D789-C630-3C39-4624-ED8DF7C46926}"/>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1046451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6F948-0824-DF5E-7249-38C6733672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C5E1EE-0FAF-12F6-AADD-65E276BD9FC3}"/>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4" name="Footer Placeholder 3">
            <a:extLst>
              <a:ext uri="{FF2B5EF4-FFF2-40B4-BE49-F238E27FC236}">
                <a16:creationId xmlns:a16="http://schemas.microsoft.com/office/drawing/2014/main" id="{308260D0-D699-36DB-D554-E8C971A45A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ABD1C7-4ADC-9282-1068-0BAEAA7FFC95}"/>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2989299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ED861E-2E54-41DC-F79C-D87D935F4F2A}"/>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3" name="Footer Placeholder 2">
            <a:extLst>
              <a:ext uri="{FF2B5EF4-FFF2-40B4-BE49-F238E27FC236}">
                <a16:creationId xmlns:a16="http://schemas.microsoft.com/office/drawing/2014/main" id="{1AB4D9B6-4771-3932-0E68-22629CD980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98C81B-1862-FEF3-972A-8BE71C553FDE}"/>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1154439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A3F76-8F89-61E9-639A-25F08EA90C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36574D-5AA8-CBDA-08E4-248DD44F56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974604-06D6-ABF4-F7ED-3F47356E08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B2E2E2-D1D2-ABAC-3299-BFC2CD145A8D}"/>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6" name="Footer Placeholder 5">
            <a:extLst>
              <a:ext uri="{FF2B5EF4-FFF2-40B4-BE49-F238E27FC236}">
                <a16:creationId xmlns:a16="http://schemas.microsoft.com/office/drawing/2014/main" id="{8A0D3D72-47FF-0785-0E0B-D63A9CFC11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DF0623-218F-36D5-2275-ECF1834FBCD3}"/>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3308214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A7589-4203-AA86-0B29-B3C24F3529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E68566-CAC0-A1D1-65C0-F73C383953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D8F647-7471-7B80-C31C-C3FFEBC07A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E862D6-DD94-E8B4-F750-C3E6F62D13CC}"/>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6" name="Footer Placeholder 5">
            <a:extLst>
              <a:ext uri="{FF2B5EF4-FFF2-40B4-BE49-F238E27FC236}">
                <a16:creationId xmlns:a16="http://schemas.microsoft.com/office/drawing/2014/main" id="{5586DC44-4A3C-AA58-8427-5E8A706E43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95C6FE-87DE-143E-F211-C3F616C0657B}"/>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1768083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0B98C-0625-AC99-7D72-E2CBDDB48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A7BBAD-2E4B-1BA2-1849-07474A1E84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C907E3-89A2-D005-8DC2-81DCF275630D}"/>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5" name="Footer Placeholder 4">
            <a:extLst>
              <a:ext uri="{FF2B5EF4-FFF2-40B4-BE49-F238E27FC236}">
                <a16:creationId xmlns:a16="http://schemas.microsoft.com/office/drawing/2014/main" id="{43046107-B84D-8D59-3646-62D580F02A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9E11AF-9764-F385-1532-FC5745304131}"/>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2227614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CC4D42-3888-280A-3E7E-8E858A8A96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7B4E30-9AD8-4B6C-4BE5-96F8A0CDF9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4F1FF8-3813-A721-4192-909FF6F123E1}"/>
              </a:ext>
            </a:extLst>
          </p:cNvPr>
          <p:cNvSpPr>
            <a:spLocks noGrp="1"/>
          </p:cNvSpPr>
          <p:nvPr>
            <p:ph type="dt" sz="half" idx="10"/>
          </p:nvPr>
        </p:nvSpPr>
        <p:spPr/>
        <p:txBody>
          <a:bodyPr/>
          <a:lstStyle/>
          <a:p>
            <a:fld id="{32199DCD-8C40-4165-A2F1-D27D22F7F26A}" type="datetimeFigureOut">
              <a:rPr lang="en-US" smtClean="0"/>
              <a:t>1/9/2026</a:t>
            </a:fld>
            <a:endParaRPr lang="en-US"/>
          </a:p>
        </p:txBody>
      </p:sp>
      <p:sp>
        <p:nvSpPr>
          <p:cNvPr id="5" name="Footer Placeholder 4">
            <a:extLst>
              <a:ext uri="{FF2B5EF4-FFF2-40B4-BE49-F238E27FC236}">
                <a16:creationId xmlns:a16="http://schemas.microsoft.com/office/drawing/2014/main" id="{43D03AB0-3158-DF13-5310-15A396B2B8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7E6A67-1D7A-EABD-A247-83D1746E7B1F}"/>
              </a:ext>
            </a:extLst>
          </p:cNvPr>
          <p:cNvSpPr>
            <a:spLocks noGrp="1"/>
          </p:cNvSpPr>
          <p:nvPr>
            <p:ph type="sldNum" sz="quarter" idx="12"/>
          </p:nvPr>
        </p:nvSpPr>
        <p:spPr/>
        <p:txBody>
          <a:bodyPr/>
          <a:lstStyle/>
          <a:p>
            <a:fld id="{325BEA11-47D3-40E1-A839-3F37EBA8C1A1}" type="slidenum">
              <a:rPr lang="en-US" smtClean="0"/>
              <a:t>‹#›</a:t>
            </a:fld>
            <a:endParaRPr lang="en-US"/>
          </a:p>
        </p:txBody>
      </p:sp>
    </p:spTree>
    <p:extLst>
      <p:ext uri="{BB962C8B-B14F-4D97-AF65-F5344CB8AC3E}">
        <p14:creationId xmlns:p14="http://schemas.microsoft.com/office/powerpoint/2010/main" val="3230807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5E3CFC-F464-FD9C-B9A1-89551CD8E9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4DAB27-DA17-CC97-325D-29E037B4FF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B80965-06C5-1D74-0C56-33323A2074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199DCD-8C40-4165-A2F1-D27D22F7F26A}" type="datetimeFigureOut">
              <a:rPr lang="en-US" smtClean="0"/>
              <a:t>1/9/2026</a:t>
            </a:fld>
            <a:endParaRPr lang="en-US"/>
          </a:p>
        </p:txBody>
      </p:sp>
      <p:sp>
        <p:nvSpPr>
          <p:cNvPr id="5" name="Footer Placeholder 4">
            <a:extLst>
              <a:ext uri="{FF2B5EF4-FFF2-40B4-BE49-F238E27FC236}">
                <a16:creationId xmlns:a16="http://schemas.microsoft.com/office/drawing/2014/main" id="{0EB35D25-F709-7A0A-6669-4CCF72F70E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18B530-FF26-B7F1-34D4-8EB184B928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5BEA11-47D3-40E1-A839-3F37EBA8C1A1}" type="slidenum">
              <a:rPr lang="en-US" smtClean="0"/>
              <a:t>‹#›</a:t>
            </a:fld>
            <a:endParaRPr lang="en-US"/>
          </a:p>
        </p:txBody>
      </p:sp>
    </p:spTree>
    <p:extLst>
      <p:ext uri="{BB962C8B-B14F-4D97-AF65-F5344CB8AC3E}">
        <p14:creationId xmlns:p14="http://schemas.microsoft.com/office/powerpoint/2010/main" val="3734310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simplilearn.com/what-is-mac-address-how-to-find-it-article#:~:text=The%20MAC%20address%20is%20a,OSI%20model's%20data%20link%20laye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simplilearn.com/understanding-open-systems-interconnection-reference-model-osi-articl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simplilearn.com/tutorials/java-tutorial/java-encapsula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scaler.com/topics/error-detection-and-correction-in-computer-network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operating-systems/logical-and-physical-address-in-operating-system/" TargetMode="External"/><Relationship Id="rId2" Type="http://schemas.openxmlformats.org/officeDocument/2006/relationships/hyperlink" Target="https://www.geeksforgeeks.org/computer-networks/nic-full-form/" TargetMode="External"/><Relationship Id="rId1" Type="http://schemas.openxmlformats.org/officeDocument/2006/relationships/slideLayout" Target="../slideLayouts/slideLayout2.xml"/><Relationship Id="rId4" Type="http://schemas.openxmlformats.org/officeDocument/2006/relationships/hyperlink" Target="https://www.geeksforgeeks.org/computer-networks/data-link-layer/"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oogle.com/search?client=firefox-b-d&amp;q=Virtual+Local+Area+Network&amp;mstk=AUtExfASaLBUeD21F3h90AZ1vJpkgQil91KpcXrgghfFCK2F144L5kZz78Z3yin1wAdQW5miQIem7GRvS4FIC4NlL22zDz0Ks5uBXdL7RGC9JukLKfLKnrbudAfnM0HeABFCwqRfkmIks-1r-6UmwVrOByVJh9RCTLVb3yYuQz3r7n4lBUdi7I4kseMQGmaD-XZMiUhEzKPx3KmuVP9uZ7Id-UBszqCBQXilTbl3xqluWMvUNMCYD9-kihsWoNp8Pu3KBMOoUEosS1_JR-CNoUfweTwm&amp;csui=3&amp;ved=2ahUKEwjf_srTsv2RAxVRi2MGHRj_OAEQgK4QegYIAQgAEAY"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12FE5-1B18-DA8C-8EE6-CD72668BE520}"/>
              </a:ext>
            </a:extLst>
          </p:cNvPr>
          <p:cNvSpPr>
            <a:spLocks noGrp="1"/>
          </p:cNvSpPr>
          <p:nvPr>
            <p:ph type="ctrTitle"/>
          </p:nvPr>
        </p:nvSpPr>
        <p:spPr/>
        <p:txBody>
          <a:bodyPr/>
          <a:lstStyle/>
          <a:p>
            <a:r>
              <a:rPr lang="en-US" dirty="0"/>
              <a:t>Chapter 5 </a:t>
            </a:r>
          </a:p>
        </p:txBody>
      </p:sp>
      <p:sp>
        <p:nvSpPr>
          <p:cNvPr id="3" name="Subtitle 2">
            <a:extLst>
              <a:ext uri="{FF2B5EF4-FFF2-40B4-BE49-F238E27FC236}">
                <a16:creationId xmlns:a16="http://schemas.microsoft.com/office/drawing/2014/main" id="{09CDAFFF-F098-09D1-726B-65D8D80D79FA}"/>
              </a:ext>
            </a:extLst>
          </p:cNvPr>
          <p:cNvSpPr>
            <a:spLocks noGrp="1"/>
          </p:cNvSpPr>
          <p:nvPr>
            <p:ph type="subTitle" idx="1"/>
          </p:nvPr>
        </p:nvSpPr>
        <p:spPr/>
        <p:txBody>
          <a:bodyPr>
            <a:normAutofit/>
          </a:bodyPr>
          <a:lstStyle/>
          <a:p>
            <a:r>
              <a:rPr lang="en-US" sz="3200" b="1" dirty="0"/>
              <a:t>Data Link Layer</a:t>
            </a:r>
          </a:p>
        </p:txBody>
      </p:sp>
    </p:spTree>
    <p:extLst>
      <p:ext uri="{BB962C8B-B14F-4D97-AF65-F5344CB8AC3E}">
        <p14:creationId xmlns:p14="http://schemas.microsoft.com/office/powerpoint/2010/main" val="2316178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730D25-37C0-26D2-9535-D4D735A2BA3E}"/>
              </a:ext>
            </a:extLst>
          </p:cNvPr>
          <p:cNvSpPr>
            <a:spLocks noGrp="1"/>
          </p:cNvSpPr>
          <p:nvPr>
            <p:ph idx="1"/>
          </p:nvPr>
        </p:nvSpPr>
        <p:spPr>
          <a:xfrm>
            <a:off x="0" y="0"/>
            <a:ext cx="12192000" cy="6858000"/>
          </a:xfrm>
        </p:spPr>
        <p:txBody>
          <a:bodyPr/>
          <a:lstStyle/>
          <a:p>
            <a:pPr marL="0" indent="0">
              <a:buNone/>
            </a:pPr>
            <a:r>
              <a:rPr lang="en-US" b="1" dirty="0"/>
              <a:t>Contain </a:t>
            </a:r>
            <a:br>
              <a:rPr lang="en-US" b="1" dirty="0"/>
            </a:br>
            <a:endParaRPr lang="en-US" b="1" dirty="0"/>
          </a:p>
          <a:p>
            <a:endParaRPr lang="en-US" dirty="0"/>
          </a:p>
        </p:txBody>
      </p:sp>
      <p:pic>
        <p:nvPicPr>
          <p:cNvPr id="4" name="Picture 3">
            <a:extLst>
              <a:ext uri="{FF2B5EF4-FFF2-40B4-BE49-F238E27FC236}">
                <a16:creationId xmlns:a16="http://schemas.microsoft.com/office/drawing/2014/main" id="{832B0056-5F3E-1858-2B71-33DAC9A42613}"/>
              </a:ext>
            </a:extLst>
          </p:cNvPr>
          <p:cNvPicPr>
            <a:picLocks noChangeAspect="1"/>
          </p:cNvPicPr>
          <p:nvPr/>
        </p:nvPicPr>
        <p:blipFill>
          <a:blip r:embed="rId2"/>
          <a:stretch>
            <a:fillRect/>
          </a:stretch>
        </p:blipFill>
        <p:spPr>
          <a:xfrm>
            <a:off x="198784" y="815009"/>
            <a:ext cx="11280912" cy="4790661"/>
          </a:xfrm>
          <a:prstGeom prst="rect">
            <a:avLst/>
          </a:prstGeom>
        </p:spPr>
      </p:pic>
    </p:spTree>
    <p:extLst>
      <p:ext uri="{BB962C8B-B14F-4D97-AF65-F5344CB8AC3E}">
        <p14:creationId xmlns:p14="http://schemas.microsoft.com/office/powerpoint/2010/main" val="691322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9D3EEF-F01F-8EEA-CBDA-7AC135C2A090}"/>
              </a:ext>
            </a:extLst>
          </p:cNvPr>
          <p:cNvSpPr>
            <a:spLocks noGrp="1"/>
          </p:cNvSpPr>
          <p:nvPr>
            <p:ph idx="1"/>
          </p:nvPr>
        </p:nvSpPr>
        <p:spPr>
          <a:xfrm>
            <a:off x="0" y="0"/>
            <a:ext cx="12192000" cy="6858000"/>
          </a:xfrm>
        </p:spPr>
        <p:txBody>
          <a:bodyPr/>
          <a:lstStyle/>
          <a:p>
            <a:pPr marL="0" indent="0">
              <a:buNone/>
            </a:pPr>
            <a:r>
              <a:rPr lang="en-US" b="1" dirty="0"/>
              <a:t> Data-Link Layer                 </a:t>
            </a:r>
          </a:p>
          <a:p>
            <a:r>
              <a:rPr lang="en-US" dirty="0"/>
              <a:t>The “Data-Link layer,” is responsible for maintaining and terminating the established connection between the network devices over the network channel.</a:t>
            </a:r>
          </a:p>
          <a:p>
            <a:endParaRPr lang="en-US" dirty="0"/>
          </a:p>
          <a:p>
            <a:r>
              <a:rPr lang="en-US" dirty="0"/>
              <a:t>The Data-Link Layer has two sublayers:</a:t>
            </a:r>
          </a:p>
          <a:p>
            <a:endParaRPr lang="en-US" dirty="0"/>
          </a:p>
          <a:p>
            <a:pPr>
              <a:buFont typeface="Arial" panose="020B0604020202020204" pitchFamily="34" charset="0"/>
              <a:buChar char="•"/>
            </a:pPr>
            <a:r>
              <a:rPr lang="en-US" dirty="0"/>
              <a:t>The first is the “medium access control,” which uses the </a:t>
            </a:r>
            <a:r>
              <a:rPr lang="en-US" dirty="0">
                <a:hlinkClick r:id="rId2" tooltip="MAC addresses"/>
              </a:rPr>
              <a:t>MAC addresses</a:t>
            </a:r>
            <a:r>
              <a:rPr lang="en-US" dirty="0"/>
              <a:t> from the network devices to transmit data between them.</a:t>
            </a:r>
          </a:p>
          <a:p>
            <a:pPr>
              <a:buFont typeface="Arial" panose="020B0604020202020204" pitchFamily="34" charset="0"/>
              <a:buChar char="•"/>
            </a:pPr>
            <a:endParaRPr lang="en-US" dirty="0"/>
          </a:p>
          <a:p>
            <a:pPr>
              <a:buFont typeface="Arial" panose="020B0604020202020204" pitchFamily="34" charset="0"/>
              <a:buChar char="•"/>
            </a:pPr>
            <a:r>
              <a:rPr lang="en-US" dirty="0"/>
              <a:t>The second layer is the “logical link layer,” which identifies, checks flow control, and performs the error check for the transmitted data.</a:t>
            </a:r>
          </a:p>
          <a:p>
            <a:endParaRPr lang="en-US" dirty="0"/>
          </a:p>
        </p:txBody>
      </p:sp>
    </p:spTree>
    <p:extLst>
      <p:ext uri="{BB962C8B-B14F-4D97-AF65-F5344CB8AC3E}">
        <p14:creationId xmlns:p14="http://schemas.microsoft.com/office/powerpoint/2010/main" val="3788277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DE1435-54E3-A991-0B37-81FA5EB0DEE6}"/>
              </a:ext>
            </a:extLst>
          </p:cNvPr>
          <p:cNvSpPr>
            <a:spLocks noGrp="1"/>
          </p:cNvSpPr>
          <p:nvPr>
            <p:ph idx="1"/>
          </p:nvPr>
        </p:nvSpPr>
        <p:spPr>
          <a:xfrm>
            <a:off x="0" y="0"/>
            <a:ext cx="12192000" cy="6858000"/>
          </a:xfrm>
        </p:spPr>
        <p:txBody>
          <a:bodyPr>
            <a:normAutofit/>
          </a:bodyPr>
          <a:lstStyle/>
          <a:p>
            <a:pPr marL="0" indent="0">
              <a:buNone/>
            </a:pPr>
            <a:r>
              <a:rPr lang="en-US" b="1" dirty="0"/>
              <a:t>Working Of the Data-Link Layer</a:t>
            </a:r>
          </a:p>
          <a:p>
            <a:r>
              <a:rPr lang="en-US" dirty="0"/>
              <a:t>The data flow between the data-link layer and other layers in the </a:t>
            </a:r>
            <a:r>
              <a:rPr lang="en-US" dirty="0">
                <a:hlinkClick r:id="rId2" tooltip="OSI Model"/>
              </a:rPr>
              <a:t>OSI Model</a:t>
            </a:r>
            <a:r>
              <a:rPr lang="en-US" dirty="0"/>
              <a:t>, i.e., to begin with, the network layer will share the data packets with the data-link layer.   </a:t>
            </a:r>
          </a:p>
          <a:p>
            <a:r>
              <a:rPr lang="en-US" dirty="0"/>
              <a:t>    </a:t>
            </a:r>
          </a:p>
          <a:p>
            <a:r>
              <a:rPr lang="en-US" dirty="0"/>
              <a:t>The data-link layer handles these data packets by integrating them with the frame structure. </a:t>
            </a:r>
          </a:p>
          <a:p>
            <a:endParaRPr lang="en-US" dirty="0"/>
          </a:p>
          <a:p>
            <a:r>
              <a:rPr lang="en-US" dirty="0"/>
              <a:t>The frame acts as a header for the data packet, containing information about the destination address, sender address, and other related services.</a:t>
            </a:r>
          </a:p>
          <a:p>
            <a:endParaRPr lang="en-US" dirty="0"/>
          </a:p>
          <a:p>
            <a:r>
              <a:rPr lang="en-US" dirty="0"/>
              <a:t>The final data format in the data-link layer is known as the data frame, which is then transmitted to the physical layer of the OSI Model.</a:t>
            </a:r>
          </a:p>
          <a:p>
            <a:pPr marL="0" indent="0">
              <a:buNone/>
            </a:pPr>
            <a:endParaRPr lang="en-US" dirty="0"/>
          </a:p>
        </p:txBody>
      </p:sp>
    </p:spTree>
    <p:extLst>
      <p:ext uri="{BB962C8B-B14F-4D97-AF65-F5344CB8AC3E}">
        <p14:creationId xmlns:p14="http://schemas.microsoft.com/office/powerpoint/2010/main" val="3826291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A5222C-B670-192C-58D0-52F013FEF95D}"/>
              </a:ext>
            </a:extLst>
          </p:cNvPr>
          <p:cNvSpPr>
            <a:spLocks noGrp="1"/>
          </p:cNvSpPr>
          <p:nvPr>
            <p:ph idx="1"/>
          </p:nvPr>
        </p:nvSpPr>
        <p:spPr>
          <a:xfrm>
            <a:off x="0" y="0"/>
            <a:ext cx="12192000" cy="6858000"/>
          </a:xfrm>
        </p:spPr>
        <p:txBody>
          <a:bodyPr>
            <a:normAutofit/>
          </a:bodyPr>
          <a:lstStyle/>
          <a:p>
            <a:r>
              <a:rPr lang="en-US" b="1" dirty="0"/>
              <a:t>Functions of the Data-Link Layer</a:t>
            </a:r>
          </a:p>
          <a:p>
            <a:r>
              <a:rPr lang="en-US" dirty="0"/>
              <a:t>The working of the data-link layer in the OSI model requires the need functioning of the following attributes:</a:t>
            </a:r>
          </a:p>
          <a:p>
            <a:pPr marL="0" indent="0">
              <a:buNone/>
            </a:pPr>
            <a:r>
              <a:rPr lang="en-US" b="1" dirty="0"/>
              <a:t>1. Framing</a:t>
            </a:r>
          </a:p>
          <a:p>
            <a:pPr>
              <a:buFont typeface="Arial" panose="020B0604020202020204" pitchFamily="34" charset="0"/>
              <a:buChar char="•"/>
            </a:pPr>
            <a:r>
              <a:rPr lang="en-US" dirty="0"/>
              <a:t>The data packets received from the network layer are encapsulated in frames by the data-link layer for bit-to-bit sharing over the channel.</a:t>
            </a:r>
          </a:p>
          <a:p>
            <a:pPr>
              <a:buFont typeface="Arial" panose="020B0604020202020204" pitchFamily="34" charset="0"/>
              <a:buChar char="•"/>
            </a:pPr>
            <a:r>
              <a:rPr lang="en-US" dirty="0"/>
              <a:t>It is also responsible for restructuring the framed data in the network model, and each data frame is different from the others.</a:t>
            </a:r>
          </a:p>
          <a:p>
            <a:pPr marL="0" indent="0">
              <a:buNone/>
            </a:pPr>
            <a:r>
              <a:rPr lang="en-US" b="1" dirty="0"/>
              <a:t>2. Addressing</a:t>
            </a:r>
          </a:p>
          <a:p>
            <a:pPr>
              <a:buFont typeface="Arial" panose="020B0604020202020204" pitchFamily="34" charset="0"/>
              <a:buChar char="•"/>
            </a:pPr>
            <a:r>
              <a:rPr lang="en-US" dirty="0"/>
              <a:t>The task of adding a physical address to the frame in the header format is known as addressing.</a:t>
            </a:r>
          </a:p>
          <a:p>
            <a:pPr>
              <a:buFont typeface="Arial" panose="020B0604020202020204" pitchFamily="34" charset="0"/>
              <a:buChar char="•"/>
            </a:pPr>
            <a:r>
              <a:rPr lang="en-US" dirty="0"/>
              <a:t>It acts as an identification service for transmitting the frames to multiple network models over t</a:t>
            </a:r>
          </a:p>
          <a:p>
            <a:endParaRPr lang="en-US" dirty="0"/>
          </a:p>
        </p:txBody>
      </p:sp>
    </p:spTree>
    <p:extLst>
      <p:ext uri="{BB962C8B-B14F-4D97-AF65-F5344CB8AC3E}">
        <p14:creationId xmlns:p14="http://schemas.microsoft.com/office/powerpoint/2010/main" val="1633786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5F7BBF-BA68-E5B5-F776-1A296A6A5EB8}"/>
              </a:ext>
            </a:extLst>
          </p:cNvPr>
          <p:cNvSpPr>
            <a:spLocks noGrp="1"/>
          </p:cNvSpPr>
          <p:nvPr>
            <p:ph idx="1"/>
          </p:nvPr>
        </p:nvSpPr>
        <p:spPr>
          <a:xfrm>
            <a:off x="0" y="0"/>
            <a:ext cx="12192000" cy="6858000"/>
          </a:xfrm>
        </p:spPr>
        <p:txBody>
          <a:bodyPr>
            <a:normAutofit lnSpcReduction="10000"/>
          </a:bodyPr>
          <a:lstStyle/>
          <a:p>
            <a:pPr marL="0" indent="0">
              <a:buNone/>
            </a:pPr>
            <a:r>
              <a:rPr lang="en-US" b="1" dirty="0"/>
              <a:t>3. Flow Control</a:t>
            </a:r>
          </a:p>
          <a:p>
            <a:pPr>
              <a:buFont typeface="Arial" panose="020B0604020202020204" pitchFamily="34" charset="0"/>
              <a:buChar char="•"/>
            </a:pPr>
            <a:r>
              <a:rPr lang="en-US" dirty="0"/>
              <a:t>During data transmission, the sender or receiver's data flow may differ, causing network traffic in the channel.</a:t>
            </a:r>
          </a:p>
          <a:p>
            <a:pPr>
              <a:buFont typeface="Arial" panose="020B0604020202020204" pitchFamily="34" charset="0"/>
              <a:buChar char="•"/>
            </a:pPr>
            <a:r>
              <a:rPr lang="en-US" dirty="0"/>
              <a:t>The Data-link layer in such situations acts as a flow control for the sender side to prevent data overflow at the receiver side.</a:t>
            </a:r>
          </a:p>
          <a:p>
            <a:pPr marL="0" indent="0">
              <a:buNone/>
            </a:pPr>
            <a:r>
              <a:rPr lang="en-US" b="1" dirty="0"/>
              <a:t>4. Access Control</a:t>
            </a:r>
          </a:p>
          <a:p>
            <a:pPr>
              <a:buFont typeface="Arial" panose="020B0604020202020204" pitchFamily="34" charset="0"/>
              <a:buChar char="•"/>
            </a:pPr>
            <a:r>
              <a:rPr lang="en-US" dirty="0"/>
              <a:t>In this network model, when multiple devices share the same communication channel, this leads to data collision in the network channel.</a:t>
            </a:r>
          </a:p>
          <a:p>
            <a:pPr>
              <a:buFont typeface="Arial" panose="020B0604020202020204" pitchFamily="34" charset="0"/>
              <a:buChar char="•"/>
            </a:pPr>
            <a:r>
              <a:rPr lang="en-US" dirty="0"/>
              <a:t>To prevent such data collision, the data-link layer performs checks on the devices with the same network channel to avoid data loss.</a:t>
            </a:r>
          </a:p>
          <a:p>
            <a:pPr marL="0" indent="0">
              <a:buNone/>
            </a:pPr>
            <a:r>
              <a:rPr lang="en-US" b="1" dirty="0"/>
              <a:t>5. Error Control</a:t>
            </a:r>
          </a:p>
          <a:p>
            <a:pPr>
              <a:buFont typeface="Arial" panose="020B0604020202020204" pitchFamily="34" charset="0"/>
              <a:buChar char="•"/>
            </a:pPr>
            <a:r>
              <a:rPr lang="en-US" dirty="0"/>
              <a:t>During data transmission, due to noise or signal loss, errors might occur in the data being transmitted.</a:t>
            </a:r>
          </a:p>
          <a:p>
            <a:pPr>
              <a:buFont typeface="Arial" panose="020B0604020202020204" pitchFamily="34" charset="0"/>
              <a:buChar char="•"/>
            </a:pPr>
            <a:r>
              <a:rPr lang="en-US" dirty="0"/>
              <a:t>To minimize such data error rate, the data-link layer performs error detection and correction techniques on the transmitted data.</a:t>
            </a:r>
          </a:p>
          <a:p>
            <a:endParaRPr lang="en-US" dirty="0"/>
          </a:p>
        </p:txBody>
      </p:sp>
    </p:spTree>
    <p:extLst>
      <p:ext uri="{BB962C8B-B14F-4D97-AF65-F5344CB8AC3E}">
        <p14:creationId xmlns:p14="http://schemas.microsoft.com/office/powerpoint/2010/main" val="4086811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0CDA7A-D7BE-33A4-3105-2F20503DE489}"/>
              </a:ext>
            </a:extLst>
          </p:cNvPr>
          <p:cNvSpPr>
            <a:spLocks noGrp="1"/>
          </p:cNvSpPr>
          <p:nvPr>
            <p:ph idx="1"/>
          </p:nvPr>
        </p:nvSpPr>
        <p:spPr>
          <a:xfrm>
            <a:off x="0" y="0"/>
            <a:ext cx="12192000" cy="6718434"/>
          </a:xfrm>
        </p:spPr>
        <p:txBody>
          <a:bodyPr>
            <a:normAutofit lnSpcReduction="10000"/>
          </a:bodyPr>
          <a:lstStyle/>
          <a:p>
            <a:pPr marL="0" indent="0">
              <a:buNone/>
            </a:pPr>
            <a:r>
              <a:rPr lang="en-US" b="1" dirty="0"/>
              <a:t>Sub-Layers of the Data-Link Layer          </a:t>
            </a:r>
          </a:p>
          <a:p>
            <a:r>
              <a:rPr lang="en-US" dirty="0"/>
              <a:t>The data-link layer depending on the communication with the other OSI model is divided into two types of sub-layers:</a:t>
            </a:r>
          </a:p>
          <a:p>
            <a:r>
              <a:rPr lang="en-US" b="1" dirty="0"/>
              <a:t>1. Logical Link Control (LLC)</a:t>
            </a:r>
          </a:p>
          <a:p>
            <a:r>
              <a:rPr lang="en-US" dirty="0"/>
              <a:t>This is the upper sub-layer of the data-link layer.</a:t>
            </a:r>
          </a:p>
          <a:p>
            <a:pPr>
              <a:buFont typeface="Arial" panose="020B0604020202020204" pitchFamily="34" charset="0"/>
              <a:buChar char="•"/>
            </a:pPr>
            <a:r>
              <a:rPr lang="en-US" dirty="0"/>
              <a:t>The LLC sub-layer is responsible for handling and maintaining the communication between the other layers of the OSI Model.</a:t>
            </a:r>
          </a:p>
          <a:p>
            <a:pPr>
              <a:buFont typeface="Arial" panose="020B0604020202020204" pitchFamily="34" charset="0"/>
              <a:buChar char="•"/>
            </a:pPr>
            <a:r>
              <a:rPr lang="en-US" dirty="0"/>
              <a:t>It is also responsible for handling error messages and reliability checks for the data.</a:t>
            </a:r>
          </a:p>
          <a:p>
            <a:r>
              <a:rPr lang="en-US" b="1" dirty="0"/>
              <a:t>2. Media Access Control (MAC)</a:t>
            </a:r>
          </a:p>
          <a:p>
            <a:r>
              <a:rPr lang="en-US" dirty="0"/>
              <a:t>This is the lower sub-layer of the data-link layer.</a:t>
            </a:r>
          </a:p>
          <a:p>
            <a:pPr>
              <a:buFont typeface="Arial" panose="020B0604020202020204" pitchFamily="34" charset="0"/>
              <a:buChar char="•"/>
            </a:pPr>
            <a:r>
              <a:rPr lang="en-US" dirty="0"/>
              <a:t>The MAC sub-layer is responsible for framing the data received from the upper layers.</a:t>
            </a:r>
          </a:p>
          <a:p>
            <a:pPr>
              <a:buFont typeface="Arial" panose="020B0604020202020204" pitchFamily="34" charset="0"/>
              <a:buChar char="•"/>
            </a:pPr>
            <a:r>
              <a:rPr lang="en-US" dirty="0"/>
              <a:t>It also is responsible for </a:t>
            </a:r>
            <a:r>
              <a:rPr lang="en-US" dirty="0">
                <a:hlinkClick r:id="rId2" tooltip="data encapsulation"/>
              </a:rPr>
              <a:t>data encapsulation</a:t>
            </a:r>
            <a:r>
              <a:rPr lang="en-US" dirty="0"/>
              <a:t> and media access control for the data received.</a:t>
            </a:r>
          </a:p>
          <a:p>
            <a:endParaRPr lang="en-US" dirty="0"/>
          </a:p>
        </p:txBody>
      </p:sp>
    </p:spTree>
    <p:extLst>
      <p:ext uri="{BB962C8B-B14F-4D97-AF65-F5344CB8AC3E}">
        <p14:creationId xmlns:p14="http://schemas.microsoft.com/office/powerpoint/2010/main" val="1118111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71830C-A634-A9C3-FA79-44BCB65A635C}"/>
              </a:ext>
            </a:extLst>
          </p:cNvPr>
          <p:cNvSpPr>
            <a:spLocks noGrp="1"/>
          </p:cNvSpPr>
          <p:nvPr>
            <p:ph idx="1"/>
          </p:nvPr>
        </p:nvSpPr>
        <p:spPr>
          <a:xfrm>
            <a:off x="0" y="0"/>
            <a:ext cx="12192000" cy="6858000"/>
          </a:xfrm>
        </p:spPr>
        <p:txBody>
          <a:bodyPr/>
          <a:lstStyle/>
          <a:p>
            <a:pPr marL="0" indent="0">
              <a:buNone/>
            </a:pPr>
            <a:r>
              <a:rPr lang="en-US" dirty="0">
                <a:hlinkClick r:id="rId2"/>
              </a:rPr>
              <a:t>Error Detection and Correction in Computer </a:t>
            </a:r>
          </a:p>
          <a:p>
            <a:r>
              <a:rPr lang="en-US" dirty="0"/>
              <a:t>Error detection methods are used to check whether the receiver has received correct data or corrupted data. </a:t>
            </a:r>
          </a:p>
          <a:p>
            <a:r>
              <a:rPr lang="en-US" dirty="0"/>
              <a:t>And error correction is used to correct the detected errors during the transmission of data from sender to receiver.</a:t>
            </a:r>
          </a:p>
          <a:p>
            <a:pPr marL="0" indent="0">
              <a:buNone/>
            </a:pPr>
            <a:endParaRPr lang="en-US" b="1" dirty="0"/>
          </a:p>
          <a:p>
            <a:pPr marL="0" indent="0">
              <a:buNone/>
            </a:pPr>
            <a:r>
              <a:rPr lang="en-US" b="1" dirty="0"/>
              <a:t>Errors in Communication</a:t>
            </a:r>
          </a:p>
          <a:p>
            <a:r>
              <a:rPr lang="en-US" dirty="0"/>
              <a:t>When the information </a:t>
            </a:r>
            <a:r>
              <a:rPr lang="en-US" b="1" dirty="0"/>
              <a:t>received at the receiver</a:t>
            </a:r>
            <a:r>
              <a:rPr lang="en-US" dirty="0"/>
              <a:t> end does not match the sent data. </a:t>
            </a:r>
          </a:p>
          <a:p>
            <a:r>
              <a:rPr lang="en-US" dirty="0"/>
              <a:t>At the time of transmission, errors are introduced into the binary data sent from the sender to the receiver due to noise during transmission. </a:t>
            </a:r>
          </a:p>
          <a:p>
            <a:r>
              <a:rPr lang="en-US" dirty="0"/>
              <a:t>This means that a bit having a </a:t>
            </a:r>
            <a:r>
              <a:rPr lang="en-US" b="1" dirty="0"/>
              <a:t>0</a:t>
            </a:r>
            <a:r>
              <a:rPr lang="en-US" dirty="0"/>
              <a:t> value can change to </a:t>
            </a:r>
            <a:r>
              <a:rPr lang="en-US" b="1" dirty="0"/>
              <a:t>1</a:t>
            </a:r>
            <a:r>
              <a:rPr lang="en-US" dirty="0"/>
              <a:t> and a bit having a </a:t>
            </a:r>
            <a:r>
              <a:rPr lang="en-US" b="1" dirty="0"/>
              <a:t>1</a:t>
            </a:r>
            <a:r>
              <a:rPr lang="en-US" dirty="0"/>
              <a:t> value can change to </a:t>
            </a:r>
            <a:r>
              <a:rPr lang="en-US" b="1" dirty="0"/>
              <a:t>0</a:t>
            </a:r>
            <a:r>
              <a:rPr lang="en-US" dirty="0"/>
              <a:t>.</a:t>
            </a:r>
          </a:p>
          <a:p>
            <a:endParaRPr lang="en-US" dirty="0"/>
          </a:p>
        </p:txBody>
      </p:sp>
    </p:spTree>
    <p:extLst>
      <p:ext uri="{BB962C8B-B14F-4D97-AF65-F5344CB8AC3E}">
        <p14:creationId xmlns:p14="http://schemas.microsoft.com/office/powerpoint/2010/main" val="937924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8845D-12B9-7B1F-185B-51CA88B53F32}"/>
              </a:ext>
            </a:extLst>
          </p:cNvPr>
          <p:cNvSpPr>
            <a:spLocks noGrp="1"/>
          </p:cNvSpPr>
          <p:nvPr>
            <p:ph type="title"/>
          </p:nvPr>
        </p:nvSpPr>
        <p:spPr/>
        <p:txBody>
          <a:bodyPr/>
          <a:lstStyle/>
          <a:p>
            <a:r>
              <a:rPr lang="en-US" dirty="0"/>
              <a:t>Common techniques include </a:t>
            </a:r>
            <a:br>
              <a:rPr lang="en-US" dirty="0"/>
            </a:br>
            <a:endParaRPr lang="en-US" dirty="0"/>
          </a:p>
        </p:txBody>
      </p:sp>
      <p:sp>
        <p:nvSpPr>
          <p:cNvPr id="3" name="Content Placeholder 2">
            <a:extLst>
              <a:ext uri="{FF2B5EF4-FFF2-40B4-BE49-F238E27FC236}">
                <a16:creationId xmlns:a16="http://schemas.microsoft.com/office/drawing/2014/main" id="{2E5722AD-A02F-03BF-597B-2A7708B1EA0F}"/>
              </a:ext>
            </a:extLst>
          </p:cNvPr>
          <p:cNvSpPr>
            <a:spLocks noGrp="1"/>
          </p:cNvSpPr>
          <p:nvPr>
            <p:ph idx="1"/>
          </p:nvPr>
        </p:nvSpPr>
        <p:spPr/>
        <p:txBody>
          <a:bodyPr/>
          <a:lstStyle/>
          <a:p>
            <a:r>
              <a:rPr lang="en-US" dirty="0"/>
              <a:t>Parity Check,</a:t>
            </a:r>
          </a:p>
          <a:p>
            <a:r>
              <a:rPr lang="en-US" dirty="0"/>
              <a:t> Checksum, and </a:t>
            </a:r>
          </a:p>
          <a:p>
            <a:r>
              <a:rPr lang="en-US" dirty="0"/>
              <a:t>Cyclic Redundancy Check (CRC)</a:t>
            </a:r>
          </a:p>
        </p:txBody>
      </p:sp>
    </p:spTree>
    <p:extLst>
      <p:ext uri="{BB962C8B-B14F-4D97-AF65-F5344CB8AC3E}">
        <p14:creationId xmlns:p14="http://schemas.microsoft.com/office/powerpoint/2010/main" val="3091782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D078F42B-13D6-6D2D-3997-79E45F7315B9}"/>
              </a:ext>
            </a:extLst>
          </p:cNvPr>
          <p:cNvPicPr>
            <a:picLocks noGrp="1" noChangeAspect="1"/>
          </p:cNvPicPr>
          <p:nvPr>
            <p:ph sz="half" idx="1"/>
          </p:nvPr>
        </p:nvPicPr>
        <p:blipFill>
          <a:blip r:embed="rId2"/>
          <a:stretch>
            <a:fillRect/>
          </a:stretch>
        </p:blipFill>
        <p:spPr bwMode="auto">
          <a:xfrm>
            <a:off x="384313" y="1252329"/>
            <a:ext cx="5711687" cy="5088835"/>
          </a:xfrm>
          <a:prstGeom prst="rect">
            <a:avLst/>
          </a:prstGeom>
          <a:noFill/>
          <a:extLst>
            <a:ext uri="{909E8E84-426E-40DD-AFC4-6F175D3DCCD1}">
              <a14:hiddenFill xmlns:a14="http://schemas.microsoft.com/office/drawing/2010/main">
                <a:solidFill>
                  <a:srgbClr val="FFFFFF"/>
                </a:solidFill>
              </a14:hiddenFill>
            </a:ext>
          </a:extLst>
        </p:spPr>
      </p:pic>
      <p:pic>
        <p:nvPicPr>
          <p:cNvPr id="16" name="Content Placeholder 15">
            <a:extLst>
              <a:ext uri="{FF2B5EF4-FFF2-40B4-BE49-F238E27FC236}">
                <a16:creationId xmlns:a16="http://schemas.microsoft.com/office/drawing/2014/main" id="{0D02FD23-7041-AE80-3728-593FB5665DE0}"/>
              </a:ext>
            </a:extLst>
          </p:cNvPr>
          <p:cNvPicPr>
            <a:picLocks noGrp="1" noChangeAspect="1"/>
          </p:cNvPicPr>
          <p:nvPr>
            <p:ph sz="half" idx="2"/>
          </p:nvPr>
        </p:nvPicPr>
        <p:blipFill>
          <a:blip r:embed="rId3"/>
          <a:stretch>
            <a:fillRect/>
          </a:stretch>
        </p:blipFill>
        <p:spPr>
          <a:xfrm>
            <a:off x="6314660" y="1669774"/>
            <a:ext cx="5711688" cy="4253947"/>
          </a:xfrm>
        </p:spPr>
      </p:pic>
    </p:spTree>
    <p:extLst>
      <p:ext uri="{BB962C8B-B14F-4D97-AF65-F5344CB8AC3E}">
        <p14:creationId xmlns:p14="http://schemas.microsoft.com/office/powerpoint/2010/main" val="3357211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6D61E97-1A04-37E8-09A7-3486558A704A}"/>
              </a:ext>
            </a:extLst>
          </p:cNvPr>
          <p:cNvSpPr>
            <a:spLocks noGrp="1"/>
          </p:cNvSpPr>
          <p:nvPr>
            <p:ph idx="1"/>
          </p:nvPr>
        </p:nvSpPr>
        <p:spPr>
          <a:xfrm>
            <a:off x="0" y="0"/>
            <a:ext cx="12192000" cy="6858000"/>
          </a:xfrm>
        </p:spPr>
        <p:txBody>
          <a:bodyPr>
            <a:normAutofit/>
          </a:bodyPr>
          <a:lstStyle/>
          <a:p>
            <a:r>
              <a:rPr lang="en-US" b="1" dirty="0"/>
              <a:t>MAC (Media Access Control) Address</a:t>
            </a:r>
          </a:p>
          <a:p>
            <a:pPr algn="just" rtl="0"/>
            <a:r>
              <a:rPr lang="en-US" b="1" dirty="0">
                <a:effectLst/>
              </a:rPr>
              <a:t>MAC Addresses</a:t>
            </a:r>
            <a:r>
              <a:rPr lang="en-US" dirty="0">
                <a:effectLst/>
              </a:rPr>
              <a:t> are unique </a:t>
            </a:r>
            <a:r>
              <a:rPr lang="en-US" b="1" dirty="0">
                <a:effectLst/>
              </a:rPr>
              <a:t>48-bit</a:t>
            </a:r>
            <a:r>
              <a:rPr lang="en-US" dirty="0">
                <a:effectLst/>
              </a:rPr>
              <a:t> hardware numbers of a computer that are embedded into a network card (known as a </a:t>
            </a:r>
            <a:r>
              <a:rPr lang="en-US" b="1" dirty="0">
                <a:effectLst/>
                <a:hlinkClick r:id="rId2"/>
              </a:rPr>
              <a:t>Network Interface Card</a:t>
            </a:r>
            <a:r>
              <a:rPr lang="en-US" dirty="0">
                <a:effectLst/>
              </a:rPr>
              <a:t>) during manufacturing. </a:t>
            </a:r>
          </a:p>
          <a:p>
            <a:pPr algn="just" rtl="0"/>
            <a:r>
              <a:rPr lang="en-US" dirty="0">
                <a:effectLst/>
              </a:rPr>
              <a:t>The MAC Address is also known as the </a:t>
            </a:r>
            <a:r>
              <a:rPr lang="en-US" b="1" dirty="0">
                <a:effectLst/>
                <a:hlinkClick r:id="rId3"/>
              </a:rPr>
              <a:t>Physical Address</a:t>
            </a:r>
            <a:r>
              <a:rPr lang="en-US" dirty="0">
                <a:effectLst/>
              </a:rPr>
              <a:t> of a network device.</a:t>
            </a:r>
          </a:p>
          <a:p>
            <a:pPr algn="just" rtl="0"/>
            <a:r>
              <a:rPr lang="en-US" dirty="0">
                <a:effectLst/>
              </a:rPr>
              <a:t> In the IEEE 802 standard, the data link layer is divided into two sublayers:</a:t>
            </a:r>
          </a:p>
          <a:p>
            <a:pPr>
              <a:buFont typeface="+mj-lt"/>
              <a:buAutoNum type="arabicPeriod"/>
            </a:pPr>
            <a:r>
              <a:rPr lang="en-US" dirty="0"/>
              <a:t>Logical Link Control (LLC) Sublayer </a:t>
            </a:r>
          </a:p>
          <a:p>
            <a:pPr>
              <a:buFont typeface="+mj-lt"/>
              <a:buAutoNum type="arabicPeriod" startAt="2"/>
            </a:pPr>
            <a:r>
              <a:rPr lang="en-US" dirty="0"/>
              <a:t>Media Access Control (MAC) Sublayer </a:t>
            </a:r>
          </a:p>
          <a:p>
            <a:pPr algn="just" rtl="0"/>
            <a:r>
              <a:rPr lang="en-US" b="1" dirty="0">
                <a:effectLst/>
              </a:rPr>
              <a:t>The MAC</a:t>
            </a:r>
            <a:r>
              <a:rPr lang="en-US" dirty="0">
                <a:effectLst/>
              </a:rPr>
              <a:t> address is used by the Media Access Control (MAC) sublayer of the </a:t>
            </a:r>
            <a:r>
              <a:rPr lang="en-US" dirty="0">
                <a:effectLst/>
                <a:hlinkClick r:id="rId4"/>
              </a:rPr>
              <a:t>Data-Link Layer</a:t>
            </a:r>
            <a:r>
              <a:rPr lang="en-US" dirty="0">
                <a:effectLst/>
              </a:rPr>
              <a:t>.</a:t>
            </a:r>
          </a:p>
          <a:p>
            <a:pPr algn="just" rtl="0"/>
            <a:r>
              <a:rPr lang="en-US" dirty="0">
                <a:effectLst/>
              </a:rPr>
              <a:t> MAC Address is worldwide unique since millions of network devices exist and we need to uniquely identify each. </a:t>
            </a:r>
          </a:p>
          <a:p>
            <a:pPr rtl="0"/>
            <a:r>
              <a:rPr lang="en-US" dirty="0"/>
              <a:t>A </a:t>
            </a:r>
            <a:r>
              <a:rPr lang="en-US" b="1" dirty="0"/>
              <a:t>MAC address</a:t>
            </a:r>
            <a:r>
              <a:rPr lang="en-US" dirty="0"/>
              <a:t> uniquely identifies network interfaces.</a:t>
            </a:r>
          </a:p>
          <a:p>
            <a:pPr rtl="0"/>
            <a:r>
              <a:rPr lang="en-US" dirty="0"/>
              <a:t> </a:t>
            </a:r>
          </a:p>
        </p:txBody>
      </p:sp>
    </p:spTree>
    <p:extLst>
      <p:ext uri="{BB962C8B-B14F-4D97-AF65-F5344CB8AC3E}">
        <p14:creationId xmlns:p14="http://schemas.microsoft.com/office/powerpoint/2010/main" val="2122256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8D3D0F1-ECE3-103D-414B-12AE1C32DAD8}"/>
              </a:ext>
            </a:extLst>
          </p:cNvPr>
          <p:cNvSpPr>
            <a:spLocks noGrp="1"/>
          </p:cNvSpPr>
          <p:nvPr>
            <p:ph sz="half" idx="1"/>
          </p:nvPr>
        </p:nvSpPr>
        <p:spPr>
          <a:xfrm>
            <a:off x="0" y="0"/>
            <a:ext cx="6019800" cy="6738729"/>
          </a:xfrm>
        </p:spPr>
        <p:txBody>
          <a:bodyPr>
            <a:normAutofit fontScale="92500" lnSpcReduction="10000"/>
          </a:bodyPr>
          <a:lstStyle/>
          <a:p>
            <a:r>
              <a:rPr lang="en-US" b="1" dirty="0"/>
              <a:t>Format of MAC Address</a:t>
            </a:r>
          </a:p>
          <a:p>
            <a:pPr algn="just" rtl="0"/>
            <a:r>
              <a:rPr lang="en-US" dirty="0">
                <a:effectLst/>
              </a:rPr>
              <a:t>To understand what is MAC address is, it is very important that first you understand the format of the MAC Address. </a:t>
            </a:r>
          </a:p>
          <a:p>
            <a:pPr algn="just" rtl="0"/>
            <a:r>
              <a:rPr lang="en-US" dirty="0">
                <a:effectLst/>
              </a:rPr>
              <a:t>So a MAC Address is a 12-digit hexadecimal number (48-bit binary number), which is mostly represented by Colon-Hexadecimal notation.</a:t>
            </a:r>
          </a:p>
          <a:p>
            <a:pPr algn="just" rtl="0"/>
            <a:endParaRPr lang="en-US" dirty="0">
              <a:effectLst/>
            </a:endParaRPr>
          </a:p>
          <a:p>
            <a:pPr algn="just" rtl="0"/>
            <a:r>
              <a:rPr lang="en-US" dirty="0">
                <a:effectLst/>
              </a:rPr>
              <a:t>The First 6 digits (say 00:40:96) of the MAC Address identify the manufacturer, called the OUI (</a:t>
            </a:r>
            <a:r>
              <a:rPr lang="en-US" b="1" dirty="0">
                <a:effectLst/>
              </a:rPr>
              <a:t>Organizational Unique Identifier</a:t>
            </a:r>
            <a:r>
              <a:rPr lang="en-US" dirty="0">
                <a:effectLst/>
              </a:rPr>
              <a:t>).</a:t>
            </a:r>
          </a:p>
          <a:p>
            <a:pPr algn="just" rtl="0"/>
            <a:endParaRPr lang="en-US" dirty="0">
              <a:effectLst/>
            </a:endParaRPr>
          </a:p>
          <a:p>
            <a:pPr algn="just" rtl="0"/>
            <a:r>
              <a:rPr lang="en-US" dirty="0">
                <a:effectLst/>
              </a:rPr>
              <a:t> IEEE Registration Authority Committee assigns these MAC prefixes to its registered vendors. </a:t>
            </a:r>
          </a:p>
          <a:p>
            <a:endParaRPr lang="en-US" dirty="0"/>
          </a:p>
        </p:txBody>
      </p:sp>
      <p:pic>
        <p:nvPicPr>
          <p:cNvPr id="4098" name="Picture 2" descr="MAC Address Lookup ...">
            <a:extLst>
              <a:ext uri="{FF2B5EF4-FFF2-40B4-BE49-F238E27FC236}">
                <a16:creationId xmlns:a16="http://schemas.microsoft.com/office/drawing/2014/main" id="{5561990D-33AA-8738-C9D3-B7787150478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49887" y="2425148"/>
            <a:ext cx="4780721" cy="3220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9179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72CC3F8-3C7E-6417-9FCB-D7A8311EE000}"/>
              </a:ext>
            </a:extLst>
          </p:cNvPr>
          <p:cNvSpPr>
            <a:spLocks noGrp="1"/>
          </p:cNvSpPr>
          <p:nvPr>
            <p:ph idx="1"/>
          </p:nvPr>
        </p:nvSpPr>
        <p:spPr>
          <a:xfrm>
            <a:off x="0" y="0"/>
            <a:ext cx="12192000" cy="6778487"/>
          </a:xfrm>
        </p:spPr>
        <p:txBody>
          <a:bodyPr>
            <a:normAutofit/>
          </a:bodyPr>
          <a:lstStyle/>
          <a:p>
            <a:r>
              <a:rPr lang="en-US" b="1" dirty="0"/>
              <a:t>Asynchronous Transfer Mode (ATM):</a:t>
            </a:r>
            <a:r>
              <a:rPr lang="en-US" dirty="0"/>
              <a:t> </a:t>
            </a:r>
          </a:p>
          <a:p>
            <a:pPr marL="0" indent="0">
              <a:buNone/>
            </a:pPr>
            <a:br>
              <a:rPr lang="en-US" dirty="0"/>
            </a:br>
            <a:r>
              <a:rPr lang="en-US" dirty="0"/>
              <a:t>It is an International Telecommunication Union- Telecommunications Standards Section (ITU-T).</a:t>
            </a:r>
          </a:p>
          <a:p>
            <a:endParaRPr lang="en-US" dirty="0"/>
          </a:p>
          <a:p>
            <a:r>
              <a:rPr lang="en-US" dirty="0"/>
              <a:t> Efficient for call relay and it transmits all information including multiple service types such as data, video, or voice .</a:t>
            </a:r>
          </a:p>
          <a:p>
            <a:endParaRPr lang="en-US" dirty="0"/>
          </a:p>
          <a:p>
            <a:r>
              <a:rPr lang="en-US" dirty="0"/>
              <a:t>Which is conveyed in small fixed-size packets called cells.</a:t>
            </a:r>
          </a:p>
          <a:p>
            <a:endParaRPr lang="en-US" dirty="0"/>
          </a:p>
          <a:p>
            <a:r>
              <a:rPr lang="en-US" dirty="0"/>
              <a:t> Cells are transmitted asynchronously and the network is connection-oriented. </a:t>
            </a:r>
          </a:p>
        </p:txBody>
      </p:sp>
    </p:spTree>
    <p:extLst>
      <p:ext uri="{BB962C8B-B14F-4D97-AF65-F5344CB8AC3E}">
        <p14:creationId xmlns:p14="http://schemas.microsoft.com/office/powerpoint/2010/main" val="684023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2D9E8F-7B34-91F6-F93C-37C3D1E5B52C}"/>
              </a:ext>
            </a:extLst>
          </p:cNvPr>
          <p:cNvSpPr>
            <a:spLocks noGrp="1"/>
          </p:cNvSpPr>
          <p:nvPr>
            <p:ph sz="half" idx="1"/>
          </p:nvPr>
        </p:nvSpPr>
        <p:spPr>
          <a:xfrm>
            <a:off x="0" y="0"/>
            <a:ext cx="6019800" cy="6858000"/>
          </a:xfrm>
        </p:spPr>
        <p:txBody>
          <a:bodyPr>
            <a:normAutofit fontScale="92500" lnSpcReduction="10000"/>
          </a:bodyPr>
          <a:lstStyle/>
          <a:p>
            <a:r>
              <a:rPr lang="en-US" b="1" dirty="0"/>
              <a:t>ATM Cell Format -</a:t>
            </a:r>
            <a:r>
              <a:rPr lang="en-US" dirty="0"/>
              <a:t> </a:t>
            </a:r>
          </a:p>
          <a:p>
            <a:r>
              <a:rPr lang="en-US" dirty="0"/>
              <a:t>ATM is a technology that has some event in the development of broadband ISDN in the 1970s and 1980s, which can be considered an evolution of packet switching. </a:t>
            </a:r>
          </a:p>
          <a:p>
            <a:endParaRPr lang="en-US" dirty="0"/>
          </a:p>
          <a:p>
            <a:r>
              <a:rPr lang="en-US" dirty="0"/>
              <a:t>As information is transmitted in ATM in the form of fixed-size units called </a:t>
            </a:r>
            <a:r>
              <a:rPr lang="en-US" b="1" dirty="0"/>
              <a:t>cells</a:t>
            </a:r>
            <a:r>
              <a:rPr lang="en-US" dirty="0"/>
              <a:t>.</a:t>
            </a:r>
          </a:p>
          <a:p>
            <a:endParaRPr lang="en-US" dirty="0"/>
          </a:p>
          <a:p>
            <a:r>
              <a:rPr lang="en-US" i="1" dirty="0"/>
              <a:t>Each cell is 53 bytes long</a:t>
            </a:r>
            <a:r>
              <a:rPr lang="en-US" dirty="0"/>
              <a:t> - 5 bytes header and 48 bytes payload.</a:t>
            </a:r>
          </a:p>
          <a:p>
            <a:endParaRPr lang="en-US" dirty="0"/>
          </a:p>
          <a:p>
            <a:r>
              <a:rPr lang="en-US" dirty="0"/>
              <a:t>Making an ATM call requires first sending a message to set up a connection. </a:t>
            </a:r>
          </a:p>
          <a:p>
            <a:br>
              <a:rPr lang="en-US" dirty="0"/>
            </a:br>
            <a:endParaRPr lang="en-US" dirty="0"/>
          </a:p>
        </p:txBody>
      </p:sp>
      <p:pic>
        <p:nvPicPr>
          <p:cNvPr id="7" name="Content Placeholder 6">
            <a:extLst>
              <a:ext uri="{FF2B5EF4-FFF2-40B4-BE49-F238E27FC236}">
                <a16:creationId xmlns:a16="http://schemas.microsoft.com/office/drawing/2014/main" id="{667D075D-AE98-8F3A-A1E9-9869F0C21CA6}"/>
              </a:ext>
            </a:extLst>
          </p:cNvPr>
          <p:cNvPicPr>
            <a:picLocks noGrp="1" noChangeAspect="1"/>
          </p:cNvPicPr>
          <p:nvPr>
            <p:ph sz="half" idx="2"/>
          </p:nvPr>
        </p:nvPicPr>
        <p:blipFill>
          <a:blip r:embed="rId2"/>
          <a:stretch>
            <a:fillRect/>
          </a:stretch>
        </p:blipFill>
        <p:spPr>
          <a:xfrm>
            <a:off x="6172199" y="2514600"/>
            <a:ext cx="5655365" cy="2407501"/>
          </a:xfrm>
        </p:spPr>
      </p:pic>
    </p:spTree>
    <p:extLst>
      <p:ext uri="{BB962C8B-B14F-4D97-AF65-F5344CB8AC3E}">
        <p14:creationId xmlns:p14="http://schemas.microsoft.com/office/powerpoint/2010/main" val="2348596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B88F73E-D602-3F9F-8AB4-B720724535ED}"/>
              </a:ext>
            </a:extLst>
          </p:cNvPr>
          <p:cNvSpPr>
            <a:spLocks noGrp="1"/>
          </p:cNvSpPr>
          <p:nvPr>
            <p:ph idx="1"/>
          </p:nvPr>
        </p:nvSpPr>
        <p:spPr>
          <a:xfrm>
            <a:off x="0" y="0"/>
            <a:ext cx="12192000" cy="6858000"/>
          </a:xfrm>
        </p:spPr>
        <p:txBody>
          <a:bodyPr>
            <a:normAutofit lnSpcReduction="10000"/>
          </a:bodyPr>
          <a:lstStyle/>
          <a:p>
            <a:r>
              <a:rPr lang="en-US" sz="3600" b="1" dirty="0"/>
              <a:t>Working of ATM:</a:t>
            </a:r>
            <a:r>
              <a:rPr lang="en-US" sz="3600" dirty="0"/>
              <a:t> </a:t>
            </a:r>
            <a:br>
              <a:rPr lang="en-US" dirty="0"/>
            </a:br>
            <a:r>
              <a:rPr lang="en-US" dirty="0"/>
              <a:t>ATM standard uses two types of connections. i.e., Virtual path connections (VPCs) which consist of Virtual channel connections (VCCs) bundled together which is a basic unit carrying a single stream of cells from user to user.</a:t>
            </a:r>
          </a:p>
          <a:p>
            <a:r>
              <a:rPr lang="en-US" dirty="0"/>
              <a:t> A virtual path can be created end-to-end across an ATM network, as it does not rout the cells to a particular virtual circuit. </a:t>
            </a:r>
          </a:p>
          <a:p>
            <a:r>
              <a:rPr lang="en-US" dirty="0"/>
              <a:t>In case of major failure, all cells belonging to a particular virtual path are routed the same way through the ATM network, thus helping in faster recovery. </a:t>
            </a:r>
            <a:br>
              <a:rPr lang="en-US" dirty="0"/>
            </a:br>
            <a:br>
              <a:rPr lang="en-US" dirty="0"/>
            </a:br>
            <a:r>
              <a:rPr lang="en-US" dirty="0"/>
              <a:t>Switches connected to subscribers use both VPIs and VCIs to switch the cells which are Virtual Path and Virtual Connection switches that can have different virtual channel connections between them, serving the purpose of creating a </a:t>
            </a:r>
            <a:r>
              <a:rPr lang="en-US" i="1" dirty="0"/>
              <a:t>virtual trunk</a:t>
            </a:r>
            <a:r>
              <a:rPr lang="en-US" dirty="0"/>
              <a:t> between the switches which can be handled as a single entity.</a:t>
            </a:r>
          </a:p>
          <a:p>
            <a:endParaRPr lang="en-US" dirty="0"/>
          </a:p>
          <a:p>
            <a:r>
              <a:rPr lang="en-US" dirty="0"/>
              <a:t> Its basic operation is straightforward by looking up the connection value in the local translation table determining the outgoing port of the connection and the new VPI/VCI value of connection on that link</a:t>
            </a:r>
          </a:p>
        </p:txBody>
      </p:sp>
    </p:spTree>
    <p:extLst>
      <p:ext uri="{BB962C8B-B14F-4D97-AF65-F5344CB8AC3E}">
        <p14:creationId xmlns:p14="http://schemas.microsoft.com/office/powerpoint/2010/main" val="1878246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027BD33-9D85-A094-C243-D31809D609EC}"/>
              </a:ext>
            </a:extLst>
          </p:cNvPr>
          <p:cNvSpPr>
            <a:spLocks noGrp="1"/>
          </p:cNvSpPr>
          <p:nvPr>
            <p:ph sz="half" idx="1"/>
          </p:nvPr>
        </p:nvSpPr>
        <p:spPr>
          <a:xfrm>
            <a:off x="0" y="0"/>
            <a:ext cx="6748670" cy="6788426"/>
          </a:xfrm>
        </p:spPr>
        <p:txBody>
          <a:bodyPr>
            <a:normAutofit/>
          </a:bodyPr>
          <a:lstStyle/>
          <a:p>
            <a:r>
              <a:rPr kumimoji="0" lang="en-US" altLang="en-US" sz="2800" b="1" i="0" u="none" strike="noStrike" cap="none" normalizeH="0" baseline="0" dirty="0">
                <a:ln>
                  <a:noFill/>
                </a:ln>
                <a:solidFill>
                  <a:schemeClr val="tx1"/>
                </a:solidFill>
                <a:effectLst/>
                <a:latin typeface="Arial" panose="020B0604020202020204" pitchFamily="34" charset="0"/>
              </a:rPr>
              <a:t>ATM Adaption Layer (AAL) -</a:t>
            </a:r>
            <a:r>
              <a:rPr kumimoji="0" lang="en-US" altLang="en-US" sz="2800" b="0" i="0" u="none" strike="noStrike" cap="none" normalizeH="0" baseline="0" dirty="0">
                <a:ln>
                  <a:noFill/>
                </a:ln>
                <a:solidFill>
                  <a:schemeClr val="tx1"/>
                </a:solidFill>
                <a:effectLst/>
                <a:latin typeface="Arial" panose="020B0604020202020204" pitchFamily="34" charset="0"/>
              </a:rPr>
              <a:t> </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It is meant for isolating higher-layer protocols from details of ATM processes and prepares for conversion of user data into cells and segments it into 48-byte cell payloads. </a:t>
            </a:r>
          </a:p>
          <a:p>
            <a:r>
              <a:rPr kumimoji="0" lang="en-US" altLang="en-US" sz="2800" b="0" i="0" u="none" strike="noStrike" cap="none" normalizeH="0" baseline="0" dirty="0">
                <a:ln>
                  <a:noFill/>
                </a:ln>
                <a:solidFill>
                  <a:schemeClr val="tx1"/>
                </a:solidFill>
                <a:effectLst/>
                <a:latin typeface="Arial" panose="020B0604020202020204" pitchFamily="34" charset="0"/>
              </a:rPr>
              <a:t>AAL protocol excepts transmission from upper-layer services and helps them in mapping applications, e.g., voice, data to ATM cells. </a:t>
            </a:r>
            <a:br>
              <a:rPr kumimoji="0" lang="en-US" altLang="en-US" sz="2800" b="0" i="0" u="none" strike="noStrike" cap="none" normalizeH="0" baseline="0" dirty="0">
                <a:ln>
                  <a:noFill/>
                </a:ln>
                <a:solidFill>
                  <a:schemeClr val="tx1"/>
                </a:solidFill>
                <a:effectLst/>
                <a:latin typeface="Arial" panose="020B0604020202020204" pitchFamily="34" charset="0"/>
              </a:rPr>
            </a:br>
            <a:endParaRPr lang="en-US" dirty="0"/>
          </a:p>
        </p:txBody>
      </p:sp>
      <p:pic>
        <p:nvPicPr>
          <p:cNvPr id="2050" name="Picture 2">
            <a:extLst>
              <a:ext uri="{FF2B5EF4-FFF2-40B4-BE49-F238E27FC236}">
                <a16:creationId xmlns:a16="http://schemas.microsoft.com/office/drawing/2014/main" id="{60D8D950-BAD8-D48F-03CA-E64FE3293D75}"/>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907696" y="2599423"/>
            <a:ext cx="5284304" cy="2787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114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CABA99-C34A-21C9-A5CA-B8C39715E548}"/>
              </a:ext>
            </a:extLst>
          </p:cNvPr>
          <p:cNvSpPr>
            <a:spLocks noGrp="1"/>
          </p:cNvSpPr>
          <p:nvPr>
            <p:ph sz="half" idx="1"/>
          </p:nvPr>
        </p:nvSpPr>
        <p:spPr>
          <a:xfrm>
            <a:off x="0" y="0"/>
            <a:ext cx="6019800" cy="6858000"/>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Physical Layer -</a:t>
            </a:r>
            <a:r>
              <a:rPr kumimoji="0" lang="en-US" altLang="en-US" sz="2800" b="0" i="0" u="none" strike="noStrike" cap="none" normalizeH="0" baseline="0" dirty="0">
                <a:ln>
                  <a:noFill/>
                </a:ln>
                <a:solidFill>
                  <a:schemeClr val="tx1"/>
                </a:solidFill>
                <a:effectLst/>
                <a:latin typeface="Arial" panose="020B0604020202020204" pitchFamily="34" charset="0"/>
              </a:rPr>
              <a:t> </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It manages the medium-dependent transmission and is divided into two parts physical medium-dependent sublayer and transmission convergence sublayer.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The main functions are as follows: </a:t>
            </a:r>
            <a:br>
              <a:rPr kumimoji="0" lang="en-US" altLang="en-US" sz="2800" b="0" i="0" u="none" strike="noStrike" cap="none" normalizeH="0" baseline="0" dirty="0">
                <a:ln>
                  <a:noFill/>
                </a:ln>
                <a:solidFill>
                  <a:schemeClr val="tx1"/>
                </a:solidFill>
                <a:effectLst/>
                <a:latin typeface="Arial" panose="020B0604020202020204" pitchFamily="34" charset="0"/>
              </a:rPr>
            </a:b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converts cells into a bitstream.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controls the transmission and receipt of bits in the physical medium.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can track the ATM cell boundaries.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Look for the packaging of cells into the appropriate type of frames.</a:t>
            </a:r>
          </a:p>
          <a:p>
            <a:endParaRPr lang="en-US" dirty="0"/>
          </a:p>
        </p:txBody>
      </p:sp>
      <p:sp>
        <p:nvSpPr>
          <p:cNvPr id="4" name="Content Placeholder 3">
            <a:extLst>
              <a:ext uri="{FF2B5EF4-FFF2-40B4-BE49-F238E27FC236}">
                <a16:creationId xmlns:a16="http://schemas.microsoft.com/office/drawing/2014/main" id="{4F209409-6C85-7AE7-BBCF-4F437F7A6DEE}"/>
              </a:ext>
            </a:extLst>
          </p:cNvPr>
          <p:cNvSpPr>
            <a:spLocks noGrp="1"/>
          </p:cNvSpPr>
          <p:nvPr>
            <p:ph sz="half" idx="2"/>
          </p:nvPr>
        </p:nvSpPr>
        <p:spPr>
          <a:xfrm>
            <a:off x="6172200" y="0"/>
            <a:ext cx="6019800" cy="6758609"/>
          </a:xfrm>
        </p:spPr>
        <p:txBody>
          <a:bodyPr>
            <a:normAutofit lnSpcReduction="10000"/>
          </a:bodyPr>
          <a:lstStyle/>
          <a:p>
            <a:r>
              <a:rPr lang="en-US" b="1" dirty="0"/>
              <a:t>ATM Layer -</a:t>
            </a:r>
            <a:r>
              <a:rPr lang="en-US" dirty="0"/>
              <a:t> </a:t>
            </a:r>
          </a:p>
          <a:p>
            <a:br>
              <a:rPr lang="en-US" dirty="0"/>
            </a:br>
            <a:r>
              <a:rPr lang="en-US" dirty="0"/>
              <a:t>It handles transmission, switching, congestion control, cell header processing, sequential delivery, etc., and is responsible for simultaneously sharing the virtual circuits over the physical link known as cell multiplexing and passing cells through an ATM network known as cell relay making use of the VPI and VCI information in the cell header. </a:t>
            </a:r>
          </a:p>
        </p:txBody>
      </p:sp>
    </p:spTree>
    <p:extLst>
      <p:ext uri="{BB962C8B-B14F-4D97-AF65-F5344CB8AC3E}">
        <p14:creationId xmlns:p14="http://schemas.microsoft.com/office/powerpoint/2010/main" val="1994151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1B1D808-BCB6-2F75-51FC-DB733B5CE4DC}"/>
              </a:ext>
            </a:extLst>
          </p:cNvPr>
          <p:cNvSpPr>
            <a:spLocks noGrp="1"/>
          </p:cNvSpPr>
          <p:nvPr>
            <p:ph idx="1"/>
          </p:nvPr>
        </p:nvSpPr>
        <p:spPr>
          <a:xfrm>
            <a:off x="0" y="0"/>
            <a:ext cx="12192000" cy="6788426"/>
          </a:xfrm>
        </p:spPr>
        <p:txBody>
          <a:bodyPr>
            <a:normAutofit/>
          </a:bodyPr>
          <a:lstStyle/>
          <a:p>
            <a:r>
              <a:rPr lang="en-US" b="1" dirty="0"/>
              <a:t>ATM Applications:</a:t>
            </a:r>
            <a:r>
              <a:rPr lang="en-US" dirty="0"/>
              <a:t> </a:t>
            </a:r>
            <a:br>
              <a:rPr lang="en-US" dirty="0"/>
            </a:br>
            <a:r>
              <a:rPr lang="en-US" dirty="0"/>
              <a:t> </a:t>
            </a:r>
          </a:p>
          <a:p>
            <a:pPr>
              <a:buFont typeface="+mj-lt"/>
              <a:buAutoNum type="arabicPeriod"/>
            </a:pPr>
            <a:r>
              <a:rPr lang="en-US" b="1" dirty="0"/>
              <a:t>ATM WANs -</a:t>
            </a:r>
            <a:r>
              <a:rPr lang="en-US" dirty="0"/>
              <a:t> </a:t>
            </a:r>
            <a:br>
              <a:rPr lang="en-US" dirty="0"/>
            </a:br>
            <a:r>
              <a:rPr lang="en-US" dirty="0"/>
              <a:t>It can be used as a WAN to send cells over long distances, a router serving as an end-point between ATM network and other networks, which has two stacks of the protocol. </a:t>
            </a:r>
            <a:br>
              <a:rPr lang="en-US" dirty="0"/>
            </a:br>
            <a:r>
              <a:rPr lang="en-US" dirty="0"/>
              <a:t> </a:t>
            </a:r>
          </a:p>
          <a:p>
            <a:pPr>
              <a:buFont typeface="+mj-lt"/>
              <a:buAutoNum type="arabicPeriod"/>
            </a:pPr>
            <a:r>
              <a:rPr lang="en-US" b="1" dirty="0"/>
              <a:t>Multimedia virtual private networks and managed services -</a:t>
            </a:r>
            <a:r>
              <a:rPr lang="en-US" dirty="0"/>
              <a:t> </a:t>
            </a:r>
            <a:br>
              <a:rPr lang="en-US" dirty="0"/>
            </a:br>
            <a:r>
              <a:rPr lang="en-US" dirty="0"/>
              <a:t>It helps in managing ATM, LAN, voice, and video services and is capable of full-service virtual private networking, which includes integrated access to multimedia. </a:t>
            </a:r>
            <a:br>
              <a:rPr lang="en-US" dirty="0"/>
            </a:br>
            <a:r>
              <a:rPr lang="en-US" dirty="0"/>
              <a:t> </a:t>
            </a:r>
          </a:p>
          <a:p>
            <a:pPr>
              <a:buFont typeface="+mj-lt"/>
              <a:buAutoNum type="arabicPeriod"/>
            </a:pPr>
            <a:r>
              <a:rPr lang="en-US" b="1" dirty="0"/>
              <a:t>Frame relay backbone -</a:t>
            </a:r>
            <a:r>
              <a:rPr lang="en-US" dirty="0"/>
              <a:t> </a:t>
            </a:r>
            <a:br>
              <a:rPr lang="en-US" dirty="0"/>
            </a:br>
            <a:r>
              <a:rPr lang="en-US" dirty="0"/>
              <a:t>Frame relay services are used as a networking infrastructure for a range of data services and enabling frame-relay ATM service to Internetworking services. </a:t>
            </a:r>
            <a:br>
              <a:rPr lang="en-US" dirty="0"/>
            </a:br>
            <a:r>
              <a:rPr lang="en-US" dirty="0"/>
              <a:t> </a:t>
            </a:r>
          </a:p>
          <a:p>
            <a:endParaRPr lang="en-US" dirty="0"/>
          </a:p>
        </p:txBody>
      </p:sp>
    </p:spTree>
    <p:extLst>
      <p:ext uri="{BB962C8B-B14F-4D97-AF65-F5344CB8AC3E}">
        <p14:creationId xmlns:p14="http://schemas.microsoft.com/office/powerpoint/2010/main" val="2189999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143B0-EF3F-1EE7-9BDB-886086F37D2F}"/>
              </a:ext>
            </a:extLst>
          </p:cNvPr>
          <p:cNvSpPr>
            <a:spLocks noGrp="1"/>
          </p:cNvSpPr>
          <p:nvPr>
            <p:ph type="title"/>
          </p:nvPr>
        </p:nvSpPr>
        <p:spPr/>
        <p:txBody>
          <a:bodyPr>
            <a:normAutofit fontScale="90000"/>
          </a:bodyPr>
          <a:lstStyle/>
          <a:p>
            <a:r>
              <a:rPr lang="en-US" b="1" dirty="0"/>
              <a:t>High-Level Data Link Control (HDLC) Encapsulation</a:t>
            </a:r>
            <a:br>
              <a:rPr lang="en-US" b="1" dirty="0"/>
            </a:br>
            <a:endParaRPr lang="en-US" dirty="0"/>
          </a:p>
        </p:txBody>
      </p:sp>
      <p:sp>
        <p:nvSpPr>
          <p:cNvPr id="3" name="Content Placeholder 2">
            <a:extLst>
              <a:ext uri="{FF2B5EF4-FFF2-40B4-BE49-F238E27FC236}">
                <a16:creationId xmlns:a16="http://schemas.microsoft.com/office/drawing/2014/main" id="{BAF960C6-FCA0-A0A3-D962-094E58F54F6C}"/>
              </a:ext>
            </a:extLst>
          </p:cNvPr>
          <p:cNvSpPr>
            <a:spLocks noGrp="1"/>
          </p:cNvSpPr>
          <p:nvPr>
            <p:ph idx="1"/>
          </p:nvPr>
        </p:nvSpPr>
        <p:spPr>
          <a:xfrm>
            <a:off x="0" y="1331842"/>
            <a:ext cx="12192000" cy="5526157"/>
          </a:xfrm>
        </p:spPr>
        <p:txBody>
          <a:bodyPr/>
          <a:lstStyle/>
          <a:p>
            <a:pPr rtl="0"/>
            <a:r>
              <a:rPr lang="en-US" dirty="0"/>
              <a:t>High-Level Data Link Control (HDLC) is a bit-oriented, code-transparent, synchronous data link layer protocol.</a:t>
            </a:r>
          </a:p>
          <a:p>
            <a:pPr rtl="0"/>
            <a:r>
              <a:rPr lang="en-US" dirty="0"/>
              <a:t> It is widely used for reliable delivery of data frames over communication links. HDLC provides essential functions such as:</a:t>
            </a:r>
          </a:p>
          <a:p>
            <a:pPr rtl="0"/>
            <a:endParaRPr lang="en-US" dirty="0"/>
          </a:p>
          <a:p>
            <a:pPr>
              <a:buFont typeface="Arial" panose="020B0604020202020204" pitchFamily="34" charset="0"/>
              <a:buChar char="•"/>
            </a:pPr>
            <a:r>
              <a:rPr lang="en-US" dirty="0"/>
              <a:t>Framing</a:t>
            </a:r>
          </a:p>
          <a:p>
            <a:pPr>
              <a:buFont typeface="Arial" panose="020B0604020202020204" pitchFamily="34" charset="0"/>
              <a:buChar char="•"/>
            </a:pPr>
            <a:r>
              <a:rPr lang="en-US" dirty="0"/>
              <a:t>Data transparency</a:t>
            </a:r>
          </a:p>
          <a:p>
            <a:pPr>
              <a:buFont typeface="Arial" panose="020B0604020202020204" pitchFamily="34" charset="0"/>
              <a:buChar char="•"/>
            </a:pPr>
            <a:r>
              <a:rPr lang="en-US" dirty="0"/>
              <a:t>Error detection and correction</a:t>
            </a:r>
          </a:p>
          <a:p>
            <a:pPr>
              <a:buFont typeface="Arial" panose="020B0604020202020204" pitchFamily="34" charset="0"/>
              <a:buChar char="•"/>
            </a:pPr>
            <a:r>
              <a:rPr lang="en-US" dirty="0"/>
              <a:t>Flow control</a:t>
            </a:r>
          </a:p>
          <a:p>
            <a:endParaRPr lang="en-US" dirty="0"/>
          </a:p>
        </p:txBody>
      </p:sp>
    </p:spTree>
    <p:extLst>
      <p:ext uri="{BB962C8B-B14F-4D97-AF65-F5344CB8AC3E}">
        <p14:creationId xmlns:p14="http://schemas.microsoft.com/office/powerpoint/2010/main" val="3306449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D02A8-B5E4-C1E7-345F-59A4144A9E5F}"/>
              </a:ext>
            </a:extLst>
          </p:cNvPr>
          <p:cNvSpPr>
            <a:spLocks noGrp="1"/>
          </p:cNvSpPr>
          <p:nvPr>
            <p:ph type="title"/>
          </p:nvPr>
        </p:nvSpPr>
        <p:spPr>
          <a:xfrm>
            <a:off x="0" y="1"/>
            <a:ext cx="12192000" cy="1202634"/>
          </a:xfrm>
        </p:spPr>
        <p:txBody>
          <a:bodyPr>
            <a:normAutofit fontScale="90000"/>
          </a:bodyPr>
          <a:lstStyle/>
          <a:p>
            <a:r>
              <a:rPr lang="en-US" sz="5300" b="1" dirty="0">
                <a:effectLst/>
              </a:rPr>
              <a:t>HDLC Encapsulation Protocol</a:t>
            </a:r>
            <a:br>
              <a:rPr lang="en-US" b="1" dirty="0">
                <a:effectLst/>
              </a:rPr>
            </a:br>
            <a:endParaRPr lang="en-US" dirty="0"/>
          </a:p>
        </p:txBody>
      </p:sp>
      <p:sp>
        <p:nvSpPr>
          <p:cNvPr id="3" name="Content Placeholder 2">
            <a:extLst>
              <a:ext uri="{FF2B5EF4-FFF2-40B4-BE49-F238E27FC236}">
                <a16:creationId xmlns:a16="http://schemas.microsoft.com/office/drawing/2014/main" id="{E4F4A037-BF51-B330-29E3-5323529A44F1}"/>
              </a:ext>
            </a:extLst>
          </p:cNvPr>
          <p:cNvSpPr>
            <a:spLocks noGrp="1"/>
          </p:cNvSpPr>
          <p:nvPr>
            <p:ph idx="1"/>
          </p:nvPr>
        </p:nvSpPr>
        <p:spPr>
          <a:xfrm>
            <a:off x="0" y="1202634"/>
            <a:ext cx="12192000" cy="5655365"/>
          </a:xfrm>
        </p:spPr>
        <p:txBody>
          <a:bodyPr>
            <a:normAutofit/>
          </a:bodyPr>
          <a:lstStyle/>
          <a:p>
            <a:pPr marL="0" indent="0" algn="l">
              <a:buNone/>
            </a:pPr>
            <a:r>
              <a:rPr lang="en-US" b="1" dirty="0">
                <a:effectLst/>
              </a:rPr>
              <a:t>Standard HDLC Frame Structure</a:t>
            </a:r>
          </a:p>
          <a:p>
            <a:pPr rtl="0"/>
            <a:r>
              <a:rPr lang="en-US" dirty="0"/>
              <a:t>A standard HDLC frame typically contains six fields:</a:t>
            </a:r>
          </a:p>
          <a:p>
            <a:pPr>
              <a:buFont typeface="+mj-lt"/>
              <a:buAutoNum type="arabicPeriod"/>
            </a:pPr>
            <a:r>
              <a:rPr lang="en-US" b="1" dirty="0"/>
              <a:t>Start/End Flag</a:t>
            </a:r>
            <a:r>
              <a:rPr lang="en-US" dirty="0"/>
              <a:t> – Marks the beginning and end of the frame (01111110).</a:t>
            </a:r>
          </a:p>
          <a:p>
            <a:pPr>
              <a:buFont typeface="+mj-lt"/>
              <a:buAutoNum type="arabicPeriod" startAt="2"/>
            </a:pPr>
            <a:r>
              <a:rPr lang="en-US" b="1" dirty="0"/>
              <a:t>Address Field </a:t>
            </a:r>
            <a:r>
              <a:rPr lang="en-US" dirty="0"/>
              <a:t>– Identifies the secondary station.</a:t>
            </a:r>
          </a:p>
          <a:p>
            <a:pPr>
              <a:buFont typeface="+mj-lt"/>
              <a:buAutoNum type="arabicPeriod" startAt="3"/>
            </a:pPr>
            <a:r>
              <a:rPr lang="en-US" b="1" dirty="0"/>
              <a:t>Control Field</a:t>
            </a:r>
            <a:r>
              <a:rPr lang="en-US" dirty="0"/>
              <a:t> – Used for flow and error control.</a:t>
            </a:r>
          </a:p>
          <a:p>
            <a:pPr>
              <a:buFont typeface="+mj-lt"/>
              <a:buAutoNum type="arabicPeriod" startAt="4"/>
            </a:pPr>
            <a:r>
              <a:rPr lang="en-US" b="1" dirty="0"/>
              <a:t>Information Field</a:t>
            </a:r>
            <a:r>
              <a:rPr lang="en-US" dirty="0"/>
              <a:t> – Carries the actual payload (optional in control frames).</a:t>
            </a:r>
          </a:p>
          <a:p>
            <a:pPr>
              <a:buFont typeface="+mj-lt"/>
              <a:buAutoNum type="arabicPeriod" startAt="5"/>
            </a:pPr>
            <a:r>
              <a:rPr lang="en-US" b="1" dirty="0"/>
              <a:t>FCS (Frame Check Sequence)</a:t>
            </a:r>
            <a:r>
              <a:rPr lang="en-US" dirty="0"/>
              <a:t> – Error detection using CRC.</a:t>
            </a:r>
          </a:p>
          <a:p>
            <a:pPr>
              <a:buFont typeface="+mj-lt"/>
              <a:buAutoNum type="arabicPeriod" startAt="6"/>
            </a:pPr>
            <a:r>
              <a:rPr lang="en-US" b="1" dirty="0"/>
              <a:t>End Flag</a:t>
            </a:r>
            <a:r>
              <a:rPr lang="en-US" dirty="0"/>
              <a:t> – Same as start flag, ensuring frame boundary.</a:t>
            </a:r>
          </a:p>
          <a:p>
            <a:endParaRPr lang="en-US" dirty="0"/>
          </a:p>
        </p:txBody>
      </p:sp>
    </p:spTree>
    <p:extLst>
      <p:ext uri="{BB962C8B-B14F-4D97-AF65-F5344CB8AC3E}">
        <p14:creationId xmlns:p14="http://schemas.microsoft.com/office/powerpoint/2010/main" val="3702954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7947A-E785-B270-759D-6DF8BADC70C5}"/>
              </a:ext>
            </a:extLst>
          </p:cNvPr>
          <p:cNvSpPr>
            <a:spLocks noGrp="1"/>
          </p:cNvSpPr>
          <p:nvPr>
            <p:ph type="title"/>
          </p:nvPr>
        </p:nvSpPr>
        <p:spPr>
          <a:xfrm>
            <a:off x="0" y="0"/>
            <a:ext cx="12192000" cy="1103244"/>
          </a:xfrm>
        </p:spPr>
        <p:txBody>
          <a:bodyPr>
            <a:normAutofit fontScale="90000"/>
          </a:bodyPr>
          <a:lstStyle/>
          <a:p>
            <a:r>
              <a:rPr lang="en-US" sz="4900" b="1" dirty="0"/>
              <a:t>Point-to-Point Protocol (PPP)</a:t>
            </a:r>
            <a:br>
              <a:rPr lang="en-US" b="1" dirty="0"/>
            </a:br>
            <a:endParaRPr lang="en-US" dirty="0"/>
          </a:p>
        </p:txBody>
      </p:sp>
      <p:sp>
        <p:nvSpPr>
          <p:cNvPr id="3" name="Content Placeholder 2">
            <a:extLst>
              <a:ext uri="{FF2B5EF4-FFF2-40B4-BE49-F238E27FC236}">
                <a16:creationId xmlns:a16="http://schemas.microsoft.com/office/drawing/2014/main" id="{77EA318D-B58C-5C3D-C8A6-B425C1876B1C}"/>
              </a:ext>
            </a:extLst>
          </p:cNvPr>
          <p:cNvSpPr>
            <a:spLocks noGrp="1"/>
          </p:cNvSpPr>
          <p:nvPr>
            <p:ph idx="1"/>
          </p:nvPr>
        </p:nvSpPr>
        <p:spPr>
          <a:xfrm>
            <a:off x="0" y="1480930"/>
            <a:ext cx="12192000" cy="5377070"/>
          </a:xfrm>
        </p:spPr>
        <p:txBody>
          <a:bodyPr>
            <a:normAutofit/>
          </a:bodyPr>
          <a:lstStyle/>
          <a:p>
            <a:pPr rtl="0"/>
            <a:r>
              <a:rPr lang="en-US" dirty="0"/>
              <a:t>Point-to-Point Protocol (PPP) is a Layer 2 WAN protocol that encapsulates network-layer packets for reliable, full-duplex communication over point-to-point links.</a:t>
            </a:r>
          </a:p>
          <a:p>
            <a:pPr>
              <a:buFont typeface="Arial" panose="020B0604020202020204" pitchFamily="34" charset="0"/>
              <a:buChar char="•"/>
            </a:pPr>
            <a:r>
              <a:rPr lang="en-US" dirty="0"/>
              <a:t>Operates at the Data Link Layer (Layer 2)</a:t>
            </a:r>
          </a:p>
          <a:p>
            <a:pPr>
              <a:buFont typeface="Arial" panose="020B0604020202020204" pitchFamily="34" charset="0"/>
              <a:buChar char="•"/>
            </a:pPr>
            <a:r>
              <a:rPr lang="en-US" dirty="0"/>
              <a:t>Used over serial cables, cellular links, and fiber optics</a:t>
            </a:r>
          </a:p>
          <a:p>
            <a:pPr>
              <a:buFont typeface="Arial" panose="020B0604020202020204" pitchFamily="34" charset="0"/>
              <a:buChar char="•"/>
            </a:pPr>
            <a:r>
              <a:rPr lang="en-US" dirty="0"/>
              <a:t>Supports encapsulation of multiple network-layer protocols</a:t>
            </a:r>
          </a:p>
          <a:p>
            <a:pPr>
              <a:buFont typeface="Arial" panose="020B0604020202020204" pitchFamily="34" charset="0"/>
              <a:buChar char="•"/>
            </a:pPr>
            <a:r>
              <a:rPr lang="en-US" dirty="0"/>
              <a:t>Provides full-duplex, bidirectional data transmission</a:t>
            </a:r>
          </a:p>
          <a:p>
            <a:pPr>
              <a:buFont typeface="Arial" panose="020B0604020202020204" pitchFamily="34" charset="0"/>
              <a:buChar char="•"/>
            </a:pPr>
            <a:r>
              <a:rPr lang="en-US" dirty="0"/>
              <a:t>Ensures sequential packet delivery</a:t>
            </a:r>
          </a:p>
          <a:p>
            <a:pPr>
              <a:buFont typeface="Arial" panose="020B0604020202020204" pitchFamily="34" charset="0"/>
              <a:buChar char="•"/>
            </a:pPr>
            <a:r>
              <a:rPr lang="en-US" dirty="0"/>
              <a:t>Uses frames as the basic unit of transmission</a:t>
            </a:r>
          </a:p>
          <a:p>
            <a:pPr>
              <a:buFont typeface="Arial" panose="020B0604020202020204" pitchFamily="34" charset="0"/>
              <a:buChar char="•"/>
            </a:pPr>
            <a:r>
              <a:rPr lang="en-US" dirty="0"/>
              <a:t>Requires 8 bytes for encapsulation overhead</a:t>
            </a:r>
          </a:p>
          <a:p>
            <a:endParaRPr lang="en-US" dirty="0"/>
          </a:p>
        </p:txBody>
      </p:sp>
    </p:spTree>
    <p:extLst>
      <p:ext uri="{BB962C8B-B14F-4D97-AF65-F5344CB8AC3E}">
        <p14:creationId xmlns:p14="http://schemas.microsoft.com/office/powerpoint/2010/main" val="3016931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6EB0E-D49F-901C-6010-3E78BB123BCF}"/>
              </a:ext>
            </a:extLst>
          </p:cNvPr>
          <p:cNvSpPr>
            <a:spLocks noGrp="1"/>
          </p:cNvSpPr>
          <p:nvPr>
            <p:ph type="title"/>
          </p:nvPr>
        </p:nvSpPr>
        <p:spPr>
          <a:xfrm>
            <a:off x="-1" y="99391"/>
            <a:ext cx="12016409" cy="924339"/>
          </a:xfrm>
        </p:spPr>
        <p:txBody>
          <a:bodyPr/>
          <a:lstStyle/>
          <a:p>
            <a:r>
              <a:rPr lang="en-US" dirty="0"/>
              <a:t> (</a:t>
            </a:r>
            <a:r>
              <a:rPr lang="en-US" dirty="0">
                <a:hlinkClick r:id="rId2"/>
              </a:rPr>
              <a:t>Virtual Local Area Network</a:t>
            </a:r>
            <a:r>
              <a:rPr lang="en-US" dirty="0"/>
              <a:t>) </a:t>
            </a:r>
          </a:p>
        </p:txBody>
      </p:sp>
      <p:sp>
        <p:nvSpPr>
          <p:cNvPr id="3" name="Content Placeholder 2">
            <a:extLst>
              <a:ext uri="{FF2B5EF4-FFF2-40B4-BE49-F238E27FC236}">
                <a16:creationId xmlns:a16="http://schemas.microsoft.com/office/drawing/2014/main" id="{8921C7E4-78DA-B718-ECDA-DC456A616565}"/>
              </a:ext>
            </a:extLst>
          </p:cNvPr>
          <p:cNvSpPr>
            <a:spLocks noGrp="1"/>
          </p:cNvSpPr>
          <p:nvPr>
            <p:ph idx="1"/>
          </p:nvPr>
        </p:nvSpPr>
        <p:spPr>
          <a:xfrm>
            <a:off x="-1" y="1252330"/>
            <a:ext cx="12105861" cy="5605670"/>
          </a:xfrm>
        </p:spPr>
        <p:txBody>
          <a:bodyPr/>
          <a:lstStyle/>
          <a:p>
            <a:r>
              <a:rPr lang="en-US" dirty="0"/>
              <a:t>A VLAN (</a:t>
            </a:r>
            <a:r>
              <a:rPr lang="en-US" dirty="0">
                <a:hlinkClick r:id="rId2"/>
              </a:rPr>
              <a:t>Virtual Local Area Network</a:t>
            </a:r>
            <a:r>
              <a:rPr lang="en-US" dirty="0"/>
              <a:t>) logically segments a single physical network into multiple broadcast domains.</a:t>
            </a:r>
          </a:p>
          <a:p>
            <a:endParaRPr lang="en-US" dirty="0"/>
          </a:p>
          <a:p>
            <a:r>
              <a:rPr lang="en-US" dirty="0"/>
              <a:t>Allowing devices to act as if they're on separate LANs, regardless of physical location, for better security, performance, and management by isolating traffic, reducing broadcast noise, and grouping users by function (like 'Sales' or 'Guests') rather than switches.</a:t>
            </a:r>
          </a:p>
        </p:txBody>
      </p:sp>
    </p:spTree>
    <p:extLst>
      <p:ext uri="{BB962C8B-B14F-4D97-AF65-F5344CB8AC3E}">
        <p14:creationId xmlns:p14="http://schemas.microsoft.com/office/powerpoint/2010/main" val="4248364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A5C13-871C-FF67-DB77-BD3B607D8450}"/>
              </a:ext>
            </a:extLst>
          </p:cNvPr>
          <p:cNvSpPr>
            <a:spLocks noGrp="1"/>
          </p:cNvSpPr>
          <p:nvPr>
            <p:ph type="title"/>
          </p:nvPr>
        </p:nvSpPr>
        <p:spPr>
          <a:xfrm>
            <a:off x="0" y="1"/>
            <a:ext cx="12192000" cy="735495"/>
          </a:xfrm>
        </p:spPr>
        <p:txBody>
          <a:bodyPr>
            <a:normAutofit fontScale="90000"/>
          </a:bodyPr>
          <a:lstStyle/>
          <a:p>
            <a:br>
              <a:rPr kumimoji="0" lang="en-US" altLang="en-US" sz="4400" b="0" i="0" u="none" strike="noStrike" cap="none" normalizeH="0" baseline="0" dirty="0">
                <a:ln>
                  <a:noFill/>
                </a:ln>
                <a:solidFill>
                  <a:schemeClr val="tx1"/>
                </a:solidFill>
                <a:effectLst/>
                <a:latin typeface="Arial" panose="020B0604020202020204" pitchFamily="34" charset="0"/>
              </a:rPr>
            </a:br>
            <a:r>
              <a:rPr kumimoji="0" lang="en-US" altLang="en-US" sz="4400" b="0" i="0" u="none" strike="noStrike" cap="none" normalizeH="0" baseline="0" dirty="0">
                <a:ln>
                  <a:noFill/>
                </a:ln>
                <a:solidFill>
                  <a:schemeClr val="tx1"/>
                </a:solidFill>
                <a:effectLst/>
                <a:latin typeface="Arial" panose="020B0604020202020204" pitchFamily="34" charset="0"/>
              </a:rPr>
              <a:t>How it Works</a:t>
            </a:r>
            <a:br>
              <a:rPr kumimoji="0" lang="en-US" altLang="en-US" sz="4400" b="0" i="0" u="none" strike="noStrike" cap="none" normalizeH="0" baseline="0" dirty="0">
                <a:ln>
                  <a:noFill/>
                </a:ln>
                <a:solidFill>
                  <a:schemeClr val="tx1"/>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F493E3DC-C636-1FD6-6D45-A3FED4070FF2}"/>
              </a:ext>
            </a:extLst>
          </p:cNvPr>
          <p:cNvSpPr>
            <a:spLocks noGrp="1"/>
          </p:cNvSpPr>
          <p:nvPr>
            <p:ph idx="1"/>
          </p:nvPr>
        </p:nvSpPr>
        <p:spPr>
          <a:xfrm>
            <a:off x="-1" y="1103242"/>
            <a:ext cx="12105861" cy="5665305"/>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Logical Grouping: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VLANs group devices based on criteria like department, application, or user type, not physical location.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Broadcast Domains: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VLAN is its own broadcast domain, meaning broadcasts (like ARP requests) stay within that VLAN, preventing them from flooding the entire network.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Tagging: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Switches add a VLAN ID (tag) to Ethernet frames, identifying which VLAN the frame belongs to, using standards like IEEE 802.1Q.</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Devices in the same VLAN communicate directly; communication between different VLANs requires a router or Layer 3 switch (Inter-VLAN Routing). </a:t>
            </a:r>
          </a:p>
          <a:p>
            <a:endParaRPr lang="en-US" dirty="0"/>
          </a:p>
        </p:txBody>
      </p:sp>
    </p:spTree>
    <p:extLst>
      <p:ext uri="{BB962C8B-B14F-4D97-AF65-F5344CB8AC3E}">
        <p14:creationId xmlns:p14="http://schemas.microsoft.com/office/powerpoint/2010/main" val="2307047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24BEB-FFE5-0CD6-2428-BB162A6119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B80CF9-64F2-30AC-74B5-C03661E256D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40627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TotalTime>
  <Words>1999</Words>
  <Application>Microsoft Office PowerPoint</Application>
  <PresentationFormat>Widescreen</PresentationFormat>
  <Paragraphs>149</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Chapter 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Common techniques include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High-Level Data Link Control (HDLC) Encapsulation </vt:lpstr>
      <vt:lpstr>HDLC Encapsulation Protocol </vt:lpstr>
      <vt:lpstr>Point-to-Point Protocol (PPP) </vt:lpstr>
      <vt:lpstr> (Virtual Local Area Network) </vt:lpstr>
      <vt:lpstr> How it Works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dc:title>
  <dc:creator>empties cmon</dc:creator>
  <cp:lastModifiedBy>Dell</cp:lastModifiedBy>
  <cp:revision>16</cp:revision>
  <dcterms:created xsi:type="dcterms:W3CDTF">2023-06-18T01:38:47Z</dcterms:created>
  <dcterms:modified xsi:type="dcterms:W3CDTF">2026-01-09T02:37:27Z</dcterms:modified>
</cp:coreProperties>
</file>