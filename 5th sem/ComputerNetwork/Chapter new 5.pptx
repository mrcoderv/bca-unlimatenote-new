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5.xml.rels" ContentType="application/vnd.openxmlformats-package.relationships+xml"/>
  <Override PartName="/ppt/slides/_rels/slide21.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23.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jpeg" ContentType="image/jpeg"/>
  <Override PartName="/ppt/media/image5.png" ContentType="image/png"/>
  <Override PartName="/ppt/media/image6.gif" ContentType="image/gif"/>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838080" y="1825560"/>
            <a:ext cx="10514520" cy="435024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19C0690D-7952-4974-8E70-FC238370AD8F}"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333B13A0-737E-4B28-AF6F-483EC5B3725C}"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19B39876-772C-4BBE-8C67-4F40A14233B2}"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315B16A3-9E3F-4E79-BF0A-2142E57F7826}"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589954E0-88A4-4951-9F62-19D8D48A14EE}"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838080" y="1825560"/>
            <a:ext cx="5131080" cy="4350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6226200" y="1825560"/>
            <a:ext cx="5131080" cy="4350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54E026D6-D0E5-4659-87C3-906427EFEFB1}"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4963DB42-6196-487C-9C1C-CDA708BA3CEF}"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24D6873F-644C-4AFE-8C8B-122FDB55470B}"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C71999EB-C6F2-4D8E-A3F6-F09F40680722}"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B89CB1C2-FEEA-4155-BC23-96ECAE3E8B0B}"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6D0D4DB6-83C4-4D6E-B0E4-CA308D65C888}"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4E4F16DD-1E71-4B36-BC3E-419A396E369C}" type="slidenum">
              <a:rPr b="0" lang="en-US" sz="1200" spc="-1" strike="noStrike">
                <a:solidFill>
                  <a:schemeClr val="dk1">
                    <a:tint val="75000"/>
                  </a:schemeClr>
                </a:solidFill>
                <a:latin typeface="Calibri"/>
              </a:rPr>
              <a:t>18</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ftr" idx="4"/>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 name="PlaceHolder 2"/>
          <p:cNvSpPr>
            <a:spLocks noGrp="1"/>
          </p:cNvSpPr>
          <p:nvPr>
            <p:ph type="sldNum" idx="5"/>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410319D3-B24A-48C7-BFE4-088DD421075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9" name="PlaceHolder 3"/>
          <p:cNvSpPr>
            <a:spLocks noGrp="1"/>
          </p:cNvSpPr>
          <p:nvPr>
            <p:ph type="dt" idx="6"/>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PlaceHolder 1"/>
          <p:cNvSpPr>
            <a:spLocks noGrp="1"/>
          </p:cNvSpPr>
          <p:nvPr>
            <p:ph type="ftr" idx="7"/>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 name="PlaceHolder 2"/>
          <p:cNvSpPr>
            <a:spLocks noGrp="1"/>
          </p:cNvSpPr>
          <p:nvPr>
            <p:ph type="sldNum" idx="8"/>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63772C6B-0BAE-4687-9F9C-1AF0A23AFDF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2" name="PlaceHolder 3"/>
          <p:cNvSpPr>
            <a:spLocks noGrp="1"/>
          </p:cNvSpPr>
          <p:nvPr>
            <p:ph type="dt" idx="9"/>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4" name="PlaceHolder 2"/>
          <p:cNvSpPr>
            <a:spLocks noGrp="1"/>
          </p:cNvSpPr>
          <p:nvPr>
            <p:ph type="body"/>
          </p:nvPr>
        </p:nvSpPr>
        <p:spPr>
          <a:xfrm>
            <a:off x="838080" y="1825560"/>
            <a:ext cx="10514520" cy="4350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5" name="PlaceHolder 3"/>
          <p:cNvSpPr>
            <a:spLocks noGrp="1"/>
          </p:cNvSpPr>
          <p:nvPr>
            <p:ph type="ftr" idx="10"/>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 name="PlaceHolder 4"/>
          <p:cNvSpPr>
            <a:spLocks noGrp="1"/>
          </p:cNvSpPr>
          <p:nvPr>
            <p:ph type="sldNum" idx="11"/>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0C3A23AA-7E45-4ECB-94F0-8D5F33898F7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7" name="PlaceHolder 5"/>
          <p:cNvSpPr>
            <a:spLocks noGrp="1"/>
          </p:cNvSpPr>
          <p:nvPr>
            <p:ph type="dt" idx="12"/>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PlaceHolder 1"/>
          <p:cNvSpPr>
            <a:spLocks noGrp="1"/>
          </p:cNvSpPr>
          <p:nvPr>
            <p:ph type="ftr" idx="13"/>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1" name="PlaceHolder 2"/>
          <p:cNvSpPr>
            <a:spLocks noGrp="1"/>
          </p:cNvSpPr>
          <p:nvPr>
            <p:ph type="sldNum" idx="14"/>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742DDED4-AB9A-4FD1-8B12-738138A6679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2" name="PlaceHolder 3"/>
          <p:cNvSpPr>
            <a:spLocks noGrp="1"/>
          </p:cNvSpPr>
          <p:nvPr>
            <p:ph type="dt" idx="15"/>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4" name="PlaceHolder 2"/>
          <p:cNvSpPr>
            <a:spLocks noGrp="1"/>
          </p:cNvSpPr>
          <p:nvPr>
            <p:ph type="body"/>
          </p:nvPr>
        </p:nvSpPr>
        <p:spPr>
          <a:xfrm>
            <a:off x="838080" y="1825560"/>
            <a:ext cx="5130720" cy="4350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5" name="PlaceHolder 3"/>
          <p:cNvSpPr>
            <a:spLocks noGrp="1"/>
          </p:cNvSpPr>
          <p:nvPr>
            <p:ph type="body"/>
          </p:nvPr>
        </p:nvSpPr>
        <p:spPr>
          <a:xfrm>
            <a:off x="6226200" y="1825560"/>
            <a:ext cx="5130720" cy="4350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6" name="PlaceHolder 4"/>
          <p:cNvSpPr>
            <a:spLocks noGrp="1"/>
          </p:cNvSpPr>
          <p:nvPr>
            <p:ph type="ftr" idx="16"/>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7"/>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2F59C2C0-52D8-43A2-8FFF-C163A6E5129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8" name="PlaceHolder 6"/>
          <p:cNvSpPr>
            <a:spLocks noGrp="1"/>
          </p:cNvSpPr>
          <p:nvPr>
            <p:ph type="dt" idx="18"/>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ftr" idx="19"/>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2"/>
          <p:cNvSpPr>
            <a:spLocks noGrp="1"/>
          </p:cNvSpPr>
          <p:nvPr>
            <p:ph type="sldNum" idx="20"/>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B3183156-96BE-4D46-BA0F-6EF38B4A061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4" name="PlaceHolder 3"/>
          <p:cNvSpPr>
            <a:spLocks noGrp="1"/>
          </p:cNvSpPr>
          <p:nvPr>
            <p:ph type="dt" idx="21"/>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6" name="PlaceHolder 2"/>
          <p:cNvSpPr>
            <a:spLocks noGrp="1"/>
          </p:cNvSpPr>
          <p:nvPr>
            <p:ph type="ftr" idx="22"/>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7" name="PlaceHolder 3"/>
          <p:cNvSpPr>
            <a:spLocks noGrp="1"/>
          </p:cNvSpPr>
          <p:nvPr>
            <p:ph type="sldNum" idx="23"/>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CD5089B6-318B-4ED0-8486-224CAEBCD54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8" name="PlaceHolder 4"/>
          <p:cNvSpPr>
            <a:spLocks noGrp="1"/>
          </p:cNvSpPr>
          <p:nvPr>
            <p:ph type="dt" idx="24"/>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ftr" idx="25"/>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1" name="PlaceHolder 2"/>
          <p:cNvSpPr>
            <a:spLocks noGrp="1"/>
          </p:cNvSpPr>
          <p:nvPr>
            <p:ph type="sldNum" idx="26"/>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C779DFE6-79BF-47FA-9795-5A47C9520A9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2" name="PlaceHolder 3"/>
          <p:cNvSpPr>
            <a:spLocks noGrp="1"/>
          </p:cNvSpPr>
          <p:nvPr>
            <p:ph type="dt" idx="27"/>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ftr" idx="28"/>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2"/>
          <p:cNvSpPr>
            <a:spLocks noGrp="1"/>
          </p:cNvSpPr>
          <p:nvPr>
            <p:ph type="sldNum" idx="29"/>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A0C66036-6ACC-4F13-85F6-BCEB6731325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5" name="PlaceHolder 3"/>
          <p:cNvSpPr>
            <a:spLocks noGrp="1"/>
          </p:cNvSpPr>
          <p:nvPr>
            <p:ph type="dt" idx="30"/>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ftr" idx="31"/>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7" name="PlaceHolder 2"/>
          <p:cNvSpPr>
            <a:spLocks noGrp="1"/>
          </p:cNvSpPr>
          <p:nvPr>
            <p:ph type="sldNum" idx="32"/>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85098BBA-7FBC-45A5-9267-78649CDCFFC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8" name="PlaceHolder 3"/>
          <p:cNvSpPr>
            <a:spLocks noGrp="1"/>
          </p:cNvSpPr>
          <p:nvPr>
            <p:ph type="dt" idx="33"/>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hyperlink" Target="https://www.simplilearn.com/what-is-mac-address-how-to-find-it-article#:~:text=The%20MAC%20address%20is%20a,OSI%20model&apos;s%20data%20link%20layer." TargetMode="External"/><Relationship Id="rId2"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hyperlink" Target="https://www.simplilearn.com/understanding-open-systems-interconnection-reference-model-osi-article" TargetMode="External"/><Relationship Id="rId2"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hyperlink" Target="https://www.simplilearn.com/tutorials/java-tutorial/java-encapsulation" TargetMode="External"/><Relationship Id="rId2"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hyperlink" Target="https://www.scaler.com/topics/error-detection-and-correction-in-computer-networks/" TargetMode="External"/><Relationship Id="rId2"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6.xml"/>
</Relationships>
</file>

<file path=ppt/slides/_rels/slide11.xml.rels><?xml version="1.0" encoding="UTF-8"?>
<Relationships xmlns="http://schemas.openxmlformats.org/package/2006/relationships"><Relationship Id="rId1" Type="http://schemas.openxmlformats.org/officeDocument/2006/relationships/hyperlink" Target="https://www.geeksforgeeks.org/computer-networks/nic-full-form/" TargetMode="External"/><Relationship Id="rId2" Type="http://schemas.openxmlformats.org/officeDocument/2006/relationships/hyperlink" Target="https://www.geeksforgeeks.org/operating-systems/logical-and-physical-address-in-operating-system/" TargetMode="External"/><Relationship Id="rId3" Type="http://schemas.openxmlformats.org/officeDocument/2006/relationships/hyperlink" Target="https://www.geeksforgeeks.org/computer-networks/data-link-layer/" TargetMode="External"/><Relationship Id="rId4"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image" Target="../media/image4.jpeg"/><Relationship Id="rId2" Type="http://schemas.openxmlformats.org/officeDocument/2006/relationships/slideLayout" Target="../slideLayouts/slideLayout6.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6.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
<Relationships xmlns="http://schemas.openxmlformats.org/package/2006/relationships"><Relationship Id="rId1" Type="http://schemas.openxmlformats.org/officeDocument/2006/relationships/image" Target="../media/image6.gif"/><Relationship Id="rId2" Type="http://schemas.openxmlformats.org/officeDocument/2006/relationships/slideLayout" Target="../slideLayouts/slideLayout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
<Relationships xmlns="http://schemas.openxmlformats.org/package/2006/relationships"><Relationship Id="rId1" Type="http://schemas.openxmlformats.org/officeDocument/2006/relationships/hyperlink" Target="https://www.google.com/search?client=firefox-b-d&amp;q=Virtual+Local+Area+Network&amp;mstk=AUtExfASaLBUeD21F3h90AZ1vJpkgQil91KpcXrgghfFCK2F144L5kZz78Z3yin1wAdQW5miQIem7GRvS4FIC4NlL22zDz0Ks5uBXdL7RGC9JukLKfLKnrbudAfnM0HeABFCwqRfkmIks-1r-6UmwVrOByVJh9RCTLVb3yYuQz3r7n4lBUdi7I4kseMQGmaD-XZMiUhEzKPx3KmuVP9uZ7Id-UBszqCBQXilTbl3xqluWMvUNMCYD9-kihsWoNp8Pu3KBMOoUEosS1_JR-CNoUfweTwm&amp;csui=3&amp;ved=2ahUKEwjf_srTsv2RAxVRi2MGHRj_OAEQgK4QegYIAQgAEAY" TargetMode="External"/><Relationship Id="rId2" Type="http://schemas.openxmlformats.org/officeDocument/2006/relationships/hyperlink" Target="https://www.google.com/search?client=firefox-b-d&amp;q=Virtual+Local+Area+Network&amp;mstk=AUtExfASaLBUeD21F3h90AZ1vJpkgQil91KpcXrgghfFCK2F144L5kZz78Z3yin1wAdQW5miQIem7GRvS4FIC4NlL22zDz0Ks5uBXdL7RGC9JukLKfLKnrbudAfnM0HeABFCwqRfkmIks-1r-6UmwVrOByVJh9RCTLVb3yYuQz3r7n4lBUdi7I4kseMQGmaD-XZMiUhEzKPx3KmuVP9uZ7Id-UBszqCBQXilTbl3xqluWMvUNMCYD9-kihsWoNp8Pu3KBMOoUEosS1_JR-CNoUfweTwm&amp;csui=3&amp;ved=2ahUKEwjf_srTsv2RAxVRi2MGHRj_OAEQgK4QegYIAQgAEAY" TargetMode="External"/><Relationship Id="rId3" Type="http://schemas.openxmlformats.org/officeDocument/2006/relationships/slideLayout" Target="../slideLayouts/slideLayout4.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 name="PlaceHolder 1"/>
          <p:cNvSpPr>
            <a:spLocks noGrp="1"/>
          </p:cNvSpPr>
          <p:nvPr>
            <p:ph type="title"/>
          </p:nvPr>
        </p:nvSpPr>
        <p:spPr>
          <a:xfrm>
            <a:off x="1523880" y="1122480"/>
            <a:ext cx="9142920" cy="238644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0" lang="en-US" sz="6000" spc="-1" strike="noStrike">
                <a:solidFill>
                  <a:schemeClr val="dk1"/>
                </a:solidFill>
                <a:latin typeface="Calibri Light"/>
              </a:rPr>
              <a:t>Chapter 5 </a:t>
            </a:r>
            <a:endParaRPr b="0" lang="en-US" sz="6000" spc="-1" strike="noStrike">
              <a:solidFill>
                <a:srgbClr val="000000"/>
              </a:solidFill>
              <a:latin typeface="Arial"/>
            </a:endParaRPr>
          </a:p>
        </p:txBody>
      </p:sp>
      <p:sp>
        <p:nvSpPr>
          <p:cNvPr id="50" name="PlaceHolder 2"/>
          <p:cNvSpPr>
            <a:spLocks noGrp="1"/>
          </p:cNvSpPr>
          <p:nvPr>
            <p:ph type="subTitle"/>
          </p:nvPr>
        </p:nvSpPr>
        <p:spPr>
          <a:xfrm>
            <a:off x="1523880" y="3602160"/>
            <a:ext cx="9142920" cy="165456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b="1" lang="en-US" sz="3200" spc="-1" strike="noStrike">
                <a:solidFill>
                  <a:schemeClr val="dk1"/>
                </a:solidFill>
                <a:latin typeface="Calibri"/>
              </a:rPr>
              <a:t>Data Link Layer</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 name="PlaceHolder 1"/>
          <p:cNvSpPr>
            <a:spLocks noGrp="1"/>
          </p:cNvSpPr>
          <p:nvPr>
            <p:ph/>
          </p:nvPr>
        </p:nvSpPr>
        <p:spPr>
          <a:xfrm>
            <a:off x="0" y="0"/>
            <a:ext cx="12191040" cy="68569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Contain </a:t>
            </a:r>
            <a:br>
              <a:rPr sz="2800"/>
            </a:b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pic>
        <p:nvPicPr>
          <p:cNvPr id="52" name="Picture 3" descr=""/>
          <p:cNvPicPr/>
          <p:nvPr/>
        </p:nvPicPr>
        <p:blipFill>
          <a:blip r:embed="rId1"/>
          <a:stretch/>
        </p:blipFill>
        <p:spPr>
          <a:xfrm>
            <a:off x="198720" y="815040"/>
            <a:ext cx="11279880" cy="478944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PlaceHolder 1"/>
          <p:cNvSpPr>
            <a:spLocks noGrp="1"/>
          </p:cNvSpPr>
          <p:nvPr>
            <p:ph/>
          </p:nvPr>
        </p:nvSpPr>
        <p:spPr>
          <a:xfrm>
            <a:off x="0" y="0"/>
            <a:ext cx="12191040" cy="68569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 </a:t>
            </a:r>
            <a:r>
              <a:rPr b="1" lang="en-US" sz="2800" spc="-1" strike="noStrike">
                <a:solidFill>
                  <a:schemeClr val="dk1"/>
                </a:solidFill>
                <a:latin typeface="Calibri"/>
              </a:rPr>
              <a:t>Data-Link Layer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“Data-Link layer,” is responsible for maintaining and terminating the established connection between the network devices over the network channel.</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Data-Link Layer has two sublayers: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first is the “medium access control,” which uses the </a:t>
            </a:r>
            <a:r>
              <a:rPr b="0" lang="en-US" sz="2800" spc="-1" strike="noStrike" u="sng">
                <a:solidFill>
                  <a:schemeClr val="dk1"/>
                </a:solidFill>
                <a:uFillTx/>
                <a:latin typeface="Calibri"/>
                <a:hlinkClick r:id="rId1"/>
              </a:rPr>
              <a:t>MAC addresses</a:t>
            </a:r>
            <a:r>
              <a:rPr b="0" lang="en-US" sz="2800" spc="-1" strike="noStrike">
                <a:solidFill>
                  <a:schemeClr val="dk1"/>
                </a:solidFill>
                <a:latin typeface="Calibri"/>
              </a:rPr>
              <a:t> from the network devices to transmit data between them.</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second layer is the “logical link layer,” which identifies, checks flow control, and performs the error check for the transmitted data.</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 name="PlaceHolder 1"/>
          <p:cNvSpPr>
            <a:spLocks noGrp="1"/>
          </p:cNvSpPr>
          <p:nvPr>
            <p:ph/>
          </p:nvPr>
        </p:nvSpPr>
        <p:spPr>
          <a:xfrm>
            <a:off x="0" y="0"/>
            <a:ext cx="12191040" cy="685692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Working Of the Data-Link Layer</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 flow between the data-link layer and other layers in the </a:t>
            </a:r>
            <a:r>
              <a:rPr b="0" lang="en-US" sz="2800" spc="-1" strike="noStrike" u="sng">
                <a:solidFill>
                  <a:schemeClr val="dk1"/>
                </a:solidFill>
                <a:uFillTx/>
                <a:latin typeface="Calibri"/>
                <a:hlinkClick r:id="rId1"/>
              </a:rPr>
              <a:t>OSI Model</a:t>
            </a:r>
            <a:r>
              <a:rPr b="0" lang="en-US" sz="2800" spc="-1" strike="noStrike">
                <a:solidFill>
                  <a:schemeClr val="dk1"/>
                </a:solidFill>
                <a:latin typeface="Calibri"/>
              </a:rPr>
              <a:t>, i.e., to begin with, the network layer will share the data packets with the data-link layer.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data-link layer handles these data packets by integrating them with the frame structure.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frame acts as a header for the data packet, containing information about the destination address, sender address, and other related services.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final data format in the data-link layer is known as the data frame, which is then transmitted to the physical layer of the OSI Model.</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PlaceHolder 1"/>
          <p:cNvSpPr>
            <a:spLocks noGrp="1"/>
          </p:cNvSpPr>
          <p:nvPr>
            <p:ph/>
          </p:nvPr>
        </p:nvSpPr>
        <p:spPr>
          <a:xfrm>
            <a:off x="0" y="0"/>
            <a:ext cx="12191040" cy="68569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Functions of the Data-Link Layer</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working of the data-link layer in the OSI model requires the need functioning of the following attributes:</a:t>
            </a:r>
            <a:endParaRPr b="0" lang="en-US" sz="2800" spc="-1" strike="noStrike">
              <a:solidFill>
                <a:srgbClr val="000000"/>
              </a:solidFill>
              <a:latin typeface="Arial"/>
            </a:endParaRPr>
          </a:p>
          <a:p>
            <a:pPr indent="0" defTabSz="914400">
              <a:lnSpc>
                <a:spcPct val="90000"/>
              </a:lnSpc>
              <a:spcBef>
                <a:spcPts val="1001"/>
              </a:spcBef>
              <a:buNone/>
              <a:tabLst>
                <a:tab algn="l" pos="0"/>
              </a:tabLst>
            </a:pPr>
            <a:r>
              <a:rPr b="1" lang="en-US" sz="2800" spc="-1" strike="noStrike">
                <a:solidFill>
                  <a:schemeClr val="dk1"/>
                </a:solidFill>
                <a:latin typeface="Calibri"/>
              </a:rPr>
              <a:t>1. Framing</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 packets received from the network layer are encapsulated in frames by the data-link layer for bit-to-bit sharing over the channel.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is also responsible for restructuring the framed data in the network model, and each data frame is different from the others.</a:t>
            </a:r>
            <a:endParaRPr b="0" lang="en-US" sz="2800" spc="-1" strike="noStrike">
              <a:solidFill>
                <a:srgbClr val="000000"/>
              </a:solidFill>
              <a:latin typeface="Arial"/>
            </a:endParaRPr>
          </a:p>
          <a:p>
            <a:pPr indent="0" defTabSz="914400">
              <a:lnSpc>
                <a:spcPct val="90000"/>
              </a:lnSpc>
              <a:spcBef>
                <a:spcPts val="1001"/>
              </a:spcBef>
              <a:buNone/>
              <a:tabLst>
                <a:tab algn="l" pos="0"/>
              </a:tabLst>
            </a:pPr>
            <a:r>
              <a:rPr b="1" lang="en-US" sz="2800" spc="-1" strike="noStrike">
                <a:solidFill>
                  <a:schemeClr val="dk1"/>
                </a:solidFill>
                <a:latin typeface="Calibri"/>
              </a:rPr>
              <a:t>2. Addressing</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task of adding a physical address to the frame in the header format is known as addressing.</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acts as an identification service for transmitting the frames to multiple network models over 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PlaceHolder 1"/>
          <p:cNvSpPr>
            <a:spLocks noGrp="1"/>
          </p:cNvSpPr>
          <p:nvPr>
            <p:ph/>
          </p:nvPr>
        </p:nvSpPr>
        <p:spPr>
          <a:xfrm>
            <a:off x="0" y="0"/>
            <a:ext cx="12191040" cy="685692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3. Flow Control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During data transmission, the sender or receiver's data flow may differ, causing network traffic in the channel.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Data-link layer in such situations acts as a flow control for the sender side to prevent data overflow at the receiver side.</a:t>
            </a:r>
            <a:endParaRPr b="0" lang="en-US" sz="2800" spc="-1" strike="noStrike">
              <a:solidFill>
                <a:srgbClr val="000000"/>
              </a:solidFill>
              <a:latin typeface="Arial"/>
            </a:endParaRPr>
          </a:p>
          <a:p>
            <a:pPr indent="0" defTabSz="914400">
              <a:lnSpc>
                <a:spcPct val="90000"/>
              </a:lnSpc>
              <a:spcBef>
                <a:spcPts val="1001"/>
              </a:spcBef>
              <a:buNone/>
              <a:tabLst>
                <a:tab algn="l" pos="0"/>
              </a:tabLst>
            </a:pPr>
            <a:r>
              <a:rPr b="1" lang="en-US" sz="2800" spc="-1" strike="noStrike">
                <a:solidFill>
                  <a:schemeClr val="dk1"/>
                </a:solidFill>
                <a:latin typeface="Calibri"/>
              </a:rPr>
              <a:t>4. Access Control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this network model, when multiple devices share the same communication channel, this leads to data collision in the network channel.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To prevent such data collision, the data-link layer performs checks on the devices with the same network channel to avoid data loss.</a:t>
            </a:r>
            <a:endParaRPr b="0" lang="en-US" sz="2800" spc="-1" strike="noStrike">
              <a:solidFill>
                <a:srgbClr val="000000"/>
              </a:solidFill>
              <a:latin typeface="Arial"/>
            </a:endParaRPr>
          </a:p>
          <a:p>
            <a:pPr indent="0" defTabSz="914400">
              <a:lnSpc>
                <a:spcPct val="90000"/>
              </a:lnSpc>
              <a:spcBef>
                <a:spcPts val="1001"/>
              </a:spcBef>
              <a:buNone/>
              <a:tabLst>
                <a:tab algn="l" pos="0"/>
              </a:tabLst>
            </a:pPr>
            <a:r>
              <a:rPr b="1" lang="en-US" sz="2800" spc="-1" strike="noStrike">
                <a:solidFill>
                  <a:schemeClr val="dk1"/>
                </a:solidFill>
                <a:latin typeface="Calibri"/>
              </a:rPr>
              <a:t>5. Error Control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During data transmission, due to noise or signal loss, errors might occur in the data being transmitted.</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To minimize such data error rate, the data-link layer performs error detection and correction techniques on the transmitted data.</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PlaceHolder 1"/>
          <p:cNvSpPr>
            <a:spLocks noGrp="1"/>
          </p:cNvSpPr>
          <p:nvPr>
            <p:ph/>
          </p:nvPr>
        </p:nvSpPr>
        <p:spPr>
          <a:xfrm>
            <a:off x="0" y="0"/>
            <a:ext cx="12191040" cy="6717240"/>
          </a:xfrm>
          <a:prstGeom prst="rect">
            <a:avLst/>
          </a:prstGeom>
          <a:noFill/>
          <a:ln w="0">
            <a:noFill/>
          </a:ln>
        </p:spPr>
        <p:txBody>
          <a:bodyPr lIns="91440" rIns="91440" tIns="45720" bIns="45720" anchor="t">
            <a:normAutofit fontScale="96666"/>
          </a:bodyPr>
          <a:p>
            <a:pPr indent="0" defTabSz="914400">
              <a:lnSpc>
                <a:spcPct val="90000"/>
              </a:lnSpc>
              <a:spcBef>
                <a:spcPts val="1001"/>
              </a:spcBef>
              <a:buNone/>
              <a:tabLst>
                <a:tab algn="l" pos="0"/>
              </a:tabLst>
            </a:pPr>
            <a:r>
              <a:rPr b="1" lang="en-US" sz="2800" spc="-1" strike="noStrike">
                <a:solidFill>
                  <a:schemeClr val="dk1"/>
                </a:solidFill>
                <a:latin typeface="Calibri"/>
              </a:rPr>
              <a:t>Sub-Layers of the Data-Link Layer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data-link layer depending on the communication with the other OSI model is divided into two types of sub-layers: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1. Logical Link Control (LLC)</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is the upper sub-layer of the data-link layer.</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LLC sub-layer is responsible for handling and maintaining the communication between the other layers of the OSI Model.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is also responsible for handling error messages and reliability checks for the data.</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2. Media Access Control (MAC)</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is the lower sub-layer of the data-link layer.</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MAC sub-layer is responsible for framing the data received from the upper layers.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also is responsible for </a:t>
            </a:r>
            <a:r>
              <a:rPr b="0" lang="en-US" sz="2800" spc="-1" strike="noStrike" u="sng">
                <a:solidFill>
                  <a:schemeClr val="dk1"/>
                </a:solidFill>
                <a:uFillTx/>
                <a:latin typeface="Calibri"/>
                <a:hlinkClick r:id="rId1"/>
              </a:rPr>
              <a:t>data encapsulation</a:t>
            </a:r>
            <a:r>
              <a:rPr b="0" lang="en-US" sz="2800" spc="-1" strike="noStrike">
                <a:solidFill>
                  <a:schemeClr val="dk1"/>
                </a:solidFill>
                <a:latin typeface="Calibri"/>
              </a:rPr>
              <a:t> and media access control for the data received.</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PlaceHolder 1"/>
          <p:cNvSpPr>
            <a:spLocks noGrp="1"/>
          </p:cNvSpPr>
          <p:nvPr>
            <p:ph/>
          </p:nvPr>
        </p:nvSpPr>
        <p:spPr>
          <a:xfrm>
            <a:off x="0" y="0"/>
            <a:ext cx="12191040" cy="68569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2800" spc="-1" strike="noStrike" u="sng">
                <a:solidFill>
                  <a:schemeClr val="dk1"/>
                </a:solidFill>
                <a:uFillTx/>
                <a:latin typeface="Calibri"/>
                <a:hlinkClick r:id="rId1"/>
              </a:rPr>
              <a:t>Error Detection and Correction in Computer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Error detection methods are used to check whether the receiver has received correct data or corrupted data.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And error correction is used to correct the detected errors during the transmission of data from sender to receiver.</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indent="0" defTabSz="914400">
              <a:lnSpc>
                <a:spcPct val="90000"/>
              </a:lnSpc>
              <a:spcBef>
                <a:spcPts val="1001"/>
              </a:spcBef>
              <a:buNone/>
              <a:tabLst>
                <a:tab algn="l" pos="0"/>
              </a:tabLst>
            </a:pPr>
            <a:r>
              <a:rPr b="1" lang="en-US" sz="2800" spc="-1" strike="noStrike">
                <a:solidFill>
                  <a:schemeClr val="dk1"/>
                </a:solidFill>
                <a:latin typeface="Calibri"/>
              </a:rPr>
              <a:t>Errors in Communication</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When the information </a:t>
            </a:r>
            <a:r>
              <a:rPr b="1" lang="en-US" sz="2800" spc="-1" strike="noStrike">
                <a:solidFill>
                  <a:schemeClr val="dk1"/>
                </a:solidFill>
                <a:latin typeface="Calibri"/>
              </a:rPr>
              <a:t>received at the receiver</a:t>
            </a:r>
            <a:r>
              <a:rPr b="0" lang="en-US" sz="2800" spc="-1" strike="noStrike">
                <a:solidFill>
                  <a:schemeClr val="dk1"/>
                </a:solidFill>
                <a:latin typeface="Calibri"/>
              </a:rPr>
              <a:t> end does not match the sent data.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At the time of transmission, errors are introduced into the binary data sent from the sender to the receiver due to noise during transmission.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means that a bit having a </a:t>
            </a:r>
            <a:r>
              <a:rPr b="1" lang="en-US" sz="2800" spc="-1" strike="noStrike">
                <a:solidFill>
                  <a:schemeClr val="dk1"/>
                </a:solidFill>
                <a:latin typeface="Calibri"/>
              </a:rPr>
              <a:t>0</a:t>
            </a:r>
            <a:r>
              <a:rPr b="0" lang="en-US" sz="2800" spc="-1" strike="noStrike">
                <a:solidFill>
                  <a:schemeClr val="dk1"/>
                </a:solidFill>
                <a:latin typeface="Calibri"/>
              </a:rPr>
              <a:t> value can change to </a:t>
            </a:r>
            <a:r>
              <a:rPr b="1" lang="en-US" sz="2800" spc="-1" strike="noStrike">
                <a:solidFill>
                  <a:schemeClr val="dk1"/>
                </a:solidFill>
                <a:latin typeface="Calibri"/>
              </a:rPr>
              <a:t>1</a:t>
            </a:r>
            <a:r>
              <a:rPr b="0" lang="en-US" sz="2800" spc="-1" strike="noStrike">
                <a:solidFill>
                  <a:schemeClr val="dk1"/>
                </a:solidFill>
                <a:latin typeface="Calibri"/>
              </a:rPr>
              <a:t> and a bit having a </a:t>
            </a:r>
            <a:r>
              <a:rPr b="1" lang="en-US" sz="2800" spc="-1" strike="noStrike">
                <a:solidFill>
                  <a:schemeClr val="dk1"/>
                </a:solidFill>
                <a:latin typeface="Calibri"/>
              </a:rPr>
              <a:t>1</a:t>
            </a:r>
            <a:r>
              <a:rPr b="0" lang="en-US" sz="2800" spc="-1" strike="noStrike">
                <a:solidFill>
                  <a:schemeClr val="dk1"/>
                </a:solidFill>
                <a:latin typeface="Calibri"/>
              </a:rPr>
              <a:t> value can change to </a:t>
            </a:r>
            <a:r>
              <a:rPr b="1" lang="en-US" sz="2800" spc="-1" strike="noStrike">
                <a:solidFill>
                  <a:schemeClr val="dk1"/>
                </a:solidFill>
                <a:latin typeface="Calibri"/>
              </a:rPr>
              <a:t>0</a:t>
            </a:r>
            <a:r>
              <a:rPr b="0" lang="en-US" sz="2800" spc="-1" strike="noStrike">
                <a:solidFill>
                  <a:schemeClr val="dk1"/>
                </a:solidFill>
                <a:latin typeface="Calibri"/>
              </a:rPr>
              <a: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pc="-1" strike="noStrike">
                <a:solidFill>
                  <a:schemeClr val="dk1"/>
                </a:solidFill>
                <a:latin typeface="Calibri Light"/>
              </a:rPr>
              <a:t>Common techniques include </a:t>
            </a:r>
            <a:br>
              <a:rPr sz="4400"/>
            </a:br>
            <a:endParaRPr b="0" lang="en-US" sz="4400" spc="-1" strike="noStrike">
              <a:solidFill>
                <a:srgbClr val="000000"/>
              </a:solidFill>
              <a:latin typeface="Arial"/>
            </a:endParaRPr>
          </a:p>
        </p:txBody>
      </p:sp>
      <p:sp>
        <p:nvSpPr>
          <p:cNvPr id="60" name="PlaceHolder 2"/>
          <p:cNvSpPr>
            <a:spLocks noGrp="1"/>
          </p:cNvSpPr>
          <p:nvPr>
            <p:ph/>
          </p:nvPr>
        </p:nvSpPr>
        <p:spPr>
          <a:xfrm>
            <a:off x="838080" y="1825560"/>
            <a:ext cx="10514520" cy="4350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Parity Check,</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Checksum, and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Cyclic Redundancy Check (CRC)</a:t>
            </a:r>
            <a:endParaRPr b="0" lang="en-US" sz="2800" spc="-1" strike="noStrike">
              <a:solidFill>
                <a:srgbClr val="000000"/>
              </a:solidFill>
              <a:latin typeface="Arial"/>
            </a:endParaRPr>
          </a:p>
          <a:p>
            <a:pPr marL="228600"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0" defTabSz="914400">
              <a:lnSpc>
                <a:spcPct val="90000"/>
              </a:lnSpc>
              <a:spcBef>
                <a:spcPts val="1001"/>
              </a:spcBef>
              <a:buNone/>
              <a:tabLst>
                <a:tab algn="l" pos="0"/>
              </a:tabLst>
            </a:pPr>
            <a:r>
              <a:rPr b="0" lang="en-US" sz="2800" spc="-1" strike="noStrike">
                <a:solidFill>
                  <a:schemeClr val="dk1"/>
                </a:solidFill>
                <a:latin typeface="Calibri"/>
              </a:rPr>
              <a:t> </a:t>
            </a:r>
            <a:endParaRPr b="0" lang="en-US" sz="2800" spc="-1" strike="noStrike">
              <a:solidFill>
                <a:srgbClr val="000000"/>
              </a:solidFill>
              <a:latin typeface="Arial"/>
            </a:endParaRPr>
          </a:p>
          <a:p>
            <a:pPr marL="228600" indent="0" defTabSz="914400">
              <a:lnSpc>
                <a:spcPct val="90000"/>
              </a:lnSpc>
              <a:spcBef>
                <a:spcPts val="1001"/>
              </a:spcBef>
              <a:buNone/>
              <a:tabLst>
                <a:tab algn="l" pos="0"/>
              </a:tabLst>
            </a:pPr>
            <a:r>
              <a:rPr b="0" lang="en-US" sz="2800" spc="-1" strike="noStrike">
                <a:solidFill>
                  <a:schemeClr val="dk1"/>
                </a:solidFill>
                <a:latin typeface="Calibri"/>
              </a:rPr>
              <a:t> </a:t>
            </a:r>
            <a:endParaRPr b="0" lang="en-US" sz="2800" spc="-1" strike="noStrike">
              <a:solidFill>
                <a:srgbClr val="000000"/>
              </a:solidFill>
              <a:latin typeface="Arial"/>
            </a:endParaRPr>
          </a:p>
          <a:p>
            <a:pPr marL="228600" indent="0" defTabSz="914400">
              <a:lnSpc>
                <a:spcPct val="90000"/>
              </a:lnSpc>
              <a:spcBef>
                <a:spcPts val="1001"/>
              </a:spcBef>
              <a:buNone/>
              <a:tabLst>
                <a:tab algn="l" pos="0"/>
              </a:tabLst>
            </a:pPr>
            <a:r>
              <a:rPr b="0" lang="en-US" sz="2800" spc="-1" strike="noStrike">
                <a:solidFill>
                  <a:schemeClr val="dk1"/>
                </a:solidFill>
                <a:latin typeface="Calibri"/>
              </a:rPr>
              <a:t>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Numerical approach </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1" name="Content Placeholder 9" descr=""/>
          <p:cNvPicPr/>
          <p:nvPr/>
        </p:nvPicPr>
        <p:blipFill>
          <a:blip r:embed="rId1"/>
          <a:stretch/>
        </p:blipFill>
        <p:spPr>
          <a:xfrm>
            <a:off x="384480" y="1252440"/>
            <a:ext cx="5710680" cy="5087880"/>
          </a:xfrm>
          <a:prstGeom prst="rect">
            <a:avLst/>
          </a:prstGeom>
          <a:ln w="0">
            <a:noFill/>
          </a:ln>
        </p:spPr>
      </p:pic>
      <p:pic>
        <p:nvPicPr>
          <p:cNvPr id="62" name="Content Placeholder 15" descr=""/>
          <p:cNvPicPr/>
          <p:nvPr/>
        </p:nvPicPr>
        <p:blipFill>
          <a:blip r:embed="rId2"/>
          <a:stretch/>
        </p:blipFill>
        <p:spPr>
          <a:xfrm>
            <a:off x="6314760" y="1669680"/>
            <a:ext cx="5710680" cy="425304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 name="PlaceHolder 1"/>
          <p:cNvSpPr>
            <a:spLocks noGrp="1"/>
          </p:cNvSpPr>
          <p:nvPr>
            <p:ph/>
          </p:nvPr>
        </p:nvSpPr>
        <p:spPr>
          <a:xfrm>
            <a:off x="0" y="0"/>
            <a:ext cx="12191040" cy="68569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MAC (Media Access Control) Address</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MAC Addresses</a:t>
            </a:r>
            <a:r>
              <a:rPr b="0" lang="en-US" sz="2800" spc="-1" strike="noStrike">
                <a:solidFill>
                  <a:schemeClr val="dk1"/>
                </a:solidFill>
                <a:latin typeface="Calibri"/>
              </a:rPr>
              <a:t> are unique </a:t>
            </a:r>
            <a:r>
              <a:rPr b="1" lang="en-US" sz="2800" spc="-1" strike="noStrike">
                <a:solidFill>
                  <a:schemeClr val="dk1"/>
                </a:solidFill>
                <a:latin typeface="Calibri"/>
              </a:rPr>
              <a:t>48-bit</a:t>
            </a:r>
            <a:r>
              <a:rPr b="0" lang="en-US" sz="2800" spc="-1" strike="noStrike">
                <a:solidFill>
                  <a:schemeClr val="dk1"/>
                </a:solidFill>
                <a:latin typeface="Calibri"/>
              </a:rPr>
              <a:t> hardware numbers of a computer that are embedded into a network card (known as a </a:t>
            </a:r>
            <a:r>
              <a:rPr b="1" lang="en-US" sz="2800" spc="-1" strike="noStrike" u="sng">
                <a:solidFill>
                  <a:schemeClr val="dk1"/>
                </a:solidFill>
                <a:uFillTx/>
                <a:latin typeface="Calibri"/>
                <a:hlinkClick r:id="rId1"/>
              </a:rPr>
              <a:t>Network Interface Card</a:t>
            </a:r>
            <a:r>
              <a:rPr b="0" lang="en-US" sz="2800" spc="-1" strike="noStrike">
                <a:solidFill>
                  <a:schemeClr val="dk1"/>
                </a:solidFill>
                <a:latin typeface="Calibri"/>
              </a:rPr>
              <a:t>) during manufacturing. </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 MAC Address is also known as the </a:t>
            </a:r>
            <a:r>
              <a:rPr b="1" lang="en-US" sz="2800" spc="-1" strike="noStrike" u="sng">
                <a:solidFill>
                  <a:schemeClr val="dk1"/>
                </a:solidFill>
                <a:uFillTx/>
                <a:latin typeface="Calibri"/>
                <a:hlinkClick r:id="rId2"/>
              </a:rPr>
              <a:t>Physical Address</a:t>
            </a:r>
            <a:r>
              <a:rPr b="0" lang="en-US" sz="2800" spc="-1" strike="noStrike">
                <a:solidFill>
                  <a:schemeClr val="dk1"/>
                </a:solidFill>
                <a:latin typeface="Calibri"/>
              </a:rPr>
              <a:t> of a network device.</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In the IEEE 802 standard, the data link layer is divided into two sublayers: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Logical Link Control (LLC) Sublayer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startAt="2"/>
            </a:pPr>
            <a:r>
              <a:rPr b="0" lang="en-US" sz="2800" spc="-1" strike="noStrike">
                <a:solidFill>
                  <a:schemeClr val="dk1"/>
                </a:solidFill>
                <a:latin typeface="Calibri"/>
              </a:rPr>
              <a:t>Media Access Control (MAC) Sublayer </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The MAC</a:t>
            </a:r>
            <a:r>
              <a:rPr b="0" lang="en-US" sz="2800" spc="-1" strike="noStrike">
                <a:solidFill>
                  <a:schemeClr val="dk1"/>
                </a:solidFill>
                <a:latin typeface="Calibri"/>
              </a:rPr>
              <a:t> address is used by the Media Access Control (MAC) sublayer of the </a:t>
            </a:r>
            <a:r>
              <a:rPr b="0" lang="en-US" sz="2800" spc="-1" strike="noStrike" u="sng">
                <a:solidFill>
                  <a:schemeClr val="dk1"/>
                </a:solidFill>
                <a:uFillTx/>
                <a:latin typeface="Calibri"/>
                <a:hlinkClick r:id="rId3"/>
              </a:rPr>
              <a:t>Data-Link Layer</a:t>
            </a:r>
            <a:r>
              <a:rPr b="0" lang="en-US" sz="2800" spc="-1" strike="noStrike">
                <a:solidFill>
                  <a:schemeClr val="dk1"/>
                </a:solidFill>
                <a:latin typeface="Calibri"/>
              </a:rPr>
              <a:t>.</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MAC Address is worldwide unique since millions of network devices exist and we need to uniquely identify each.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 </a:t>
            </a:r>
            <a:r>
              <a:rPr b="1" lang="en-US" sz="2800" spc="-1" strike="noStrike">
                <a:solidFill>
                  <a:schemeClr val="dk1"/>
                </a:solidFill>
                <a:latin typeface="Calibri"/>
              </a:rPr>
              <a:t>MAC address</a:t>
            </a:r>
            <a:r>
              <a:rPr b="0" lang="en-US" sz="2800" spc="-1" strike="noStrike">
                <a:solidFill>
                  <a:schemeClr val="dk1"/>
                </a:solidFill>
                <a:latin typeface="Calibri"/>
              </a:rPr>
              <a:t> uniquely identifies network interfaces.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PlaceHolder 1"/>
          <p:cNvSpPr>
            <a:spLocks noGrp="1"/>
          </p:cNvSpPr>
          <p:nvPr>
            <p:ph/>
          </p:nvPr>
        </p:nvSpPr>
        <p:spPr>
          <a:xfrm>
            <a:off x="228600" y="119880"/>
            <a:ext cx="6018840" cy="6737760"/>
          </a:xfrm>
          <a:prstGeom prst="rect">
            <a:avLst/>
          </a:prstGeom>
          <a:noFill/>
          <a:ln w="0">
            <a:noFill/>
          </a:ln>
        </p:spPr>
        <p:txBody>
          <a:bodyPr lIns="91440" rIns="91440" tIns="45720" bIns="45720" anchor="t">
            <a:normAutofit fontScale="93333" lnSpcReduction="10000"/>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Format of MAC Address</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To understand what is MAC address is, it is very important that first you understand the format of the MAC Address. </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So a MAC Address is a 12-digit hexadecimal number (48-bit binary number), which is mostly represented by Colon-Hexadecimal notation.</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First 6 digits (say 00:40:96) of the MAC Address identify the manufacturer, called the OUI (</a:t>
            </a:r>
            <a:r>
              <a:rPr b="1" lang="en-US" sz="2800" spc="-1" strike="noStrike">
                <a:solidFill>
                  <a:schemeClr val="dk1"/>
                </a:solidFill>
                <a:latin typeface="Calibri"/>
              </a:rPr>
              <a:t>Organizational Unique Identifier</a:t>
            </a:r>
            <a:r>
              <a:rPr b="0" lang="en-US" sz="2800" spc="-1" strike="noStrike">
                <a:solidFill>
                  <a:schemeClr val="dk1"/>
                </a:solidFill>
                <a:latin typeface="Calibri"/>
              </a:rPr>
              <a:t>).</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IEEE Registration Authority Committee assigns these MAC prefixes to its registered vendors.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pic>
        <p:nvPicPr>
          <p:cNvPr id="65" name="Picture 2" descr="MAC Address Lookup ..."/>
          <p:cNvPicPr/>
          <p:nvPr/>
        </p:nvPicPr>
        <p:blipFill>
          <a:blip r:embed="rId1"/>
          <a:stretch/>
        </p:blipFill>
        <p:spPr>
          <a:xfrm>
            <a:off x="6549840" y="2425320"/>
            <a:ext cx="4779720" cy="3219120"/>
          </a:xfrm>
          <a:prstGeom prst="rect">
            <a:avLst/>
          </a:prstGeom>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p:nvPr>
        </p:nvSpPr>
        <p:spPr>
          <a:xfrm>
            <a:off x="0" y="0"/>
            <a:ext cx="12191040" cy="677736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Asynchronous Transfer Mode (ATM):</a:t>
            </a:r>
            <a:r>
              <a:rPr b="0" lang="en-US" sz="2800" spc="-1" strike="noStrike">
                <a:solidFill>
                  <a:schemeClr val="dk1"/>
                </a:solidFill>
                <a:latin typeface="Calibri"/>
              </a:rPr>
              <a:t> </a:t>
            </a:r>
            <a:endParaRPr b="0" lang="en-US" sz="2800" spc="-1" strike="noStrike">
              <a:solidFill>
                <a:srgbClr val="000000"/>
              </a:solidFill>
              <a:latin typeface="Arial"/>
            </a:endParaRPr>
          </a:p>
          <a:p>
            <a:pPr indent="0" defTabSz="914400">
              <a:lnSpc>
                <a:spcPct val="90000"/>
              </a:lnSpc>
              <a:spcBef>
                <a:spcPts val="1001"/>
              </a:spcBef>
              <a:buNone/>
              <a:tabLst>
                <a:tab algn="l" pos="0"/>
              </a:tabLst>
            </a:pPr>
            <a:br>
              <a:rPr sz="2800"/>
            </a:br>
            <a:r>
              <a:rPr b="0" lang="en-US" sz="2800" spc="-1" strike="noStrike">
                <a:solidFill>
                  <a:schemeClr val="dk1"/>
                </a:solidFill>
                <a:latin typeface="Calibri"/>
              </a:rPr>
              <a:t>It is an International Telecommunication Union- Telecommunications Standards Section (ITU-T).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Efficient for call relay and it transmits all information including multiple service types such as data, video, or voice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Which is conveyed in small fixed-size packets called cells.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Cells are transmitted asynchronously and the network is connection-oriented. </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p:nvPr>
        </p:nvSpPr>
        <p:spPr>
          <a:xfrm>
            <a:off x="0" y="0"/>
            <a:ext cx="6018840" cy="6856920"/>
          </a:xfrm>
          <a:prstGeom prst="rect">
            <a:avLst/>
          </a:prstGeom>
          <a:noFill/>
          <a:ln w="0">
            <a:noFill/>
          </a:ln>
        </p:spPr>
        <p:txBody>
          <a:bodyPr lIns="91440" rIns="91440" tIns="45720" bIns="45720" anchor="t">
            <a:normAutofit fontScale="93333" lnSpcReduction="10000"/>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ATM Cell Format -</a:t>
            </a:r>
            <a:r>
              <a:rPr b="0" lang="en-US" sz="2800" spc="-1" strike="noStrike">
                <a:solidFill>
                  <a:schemeClr val="dk1"/>
                </a:solidFill>
                <a:latin typeface="Calibri"/>
              </a:rPr>
              <a:t>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ATM is a technology that has some event in the development of broadband ISDN in the 1970s and 1980s, which can be considered an evolution of packet switching.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As information is transmitted in ATM in the form of fixed-size units called </a:t>
            </a:r>
            <a:r>
              <a:rPr b="1" lang="en-US" sz="2800" spc="-1" strike="noStrike">
                <a:solidFill>
                  <a:schemeClr val="dk1"/>
                </a:solidFill>
                <a:latin typeface="Calibri"/>
              </a:rPr>
              <a:t>cells</a:t>
            </a:r>
            <a:r>
              <a:rPr b="0" lang="en-US" sz="2800" spc="-1" strike="noStrike">
                <a:solidFill>
                  <a:schemeClr val="dk1"/>
                </a:solidFill>
                <a:latin typeface="Calibri"/>
              </a:rPr>
              <a: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i="1" lang="en-US" sz="2800" spc="-1" strike="noStrike">
                <a:solidFill>
                  <a:schemeClr val="dk1"/>
                </a:solidFill>
                <a:latin typeface="Calibri"/>
              </a:rPr>
              <a:t>Each cell is 53 bytes long</a:t>
            </a:r>
            <a:r>
              <a:rPr b="0" lang="en-US" sz="2800" spc="-1" strike="noStrike">
                <a:solidFill>
                  <a:schemeClr val="dk1"/>
                </a:solidFill>
                <a:latin typeface="Calibri"/>
              </a:rPr>
              <a:t> - 5 bytes header and 48 bytes payload.</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Making an ATM call requires first sending a message to set up a connection. </a:t>
            </a:r>
            <a:endParaRPr b="0" lang="en-US" sz="2800" spc="-1" strike="noStrike">
              <a:solidFill>
                <a:srgbClr val="000000"/>
              </a:solidFill>
              <a:latin typeface="Arial"/>
            </a:endParaRPr>
          </a:p>
          <a:p>
            <a:pPr indent="0" defTabSz="914400">
              <a:lnSpc>
                <a:spcPct val="90000"/>
              </a:lnSpc>
              <a:spcBef>
                <a:spcPts val="1001"/>
              </a:spcBef>
              <a:buNone/>
              <a:tabLst>
                <a:tab algn="l" pos="0"/>
              </a:tabLst>
            </a:pPr>
            <a:br>
              <a:rPr sz="2800"/>
            </a:br>
            <a:endParaRPr b="0" lang="en-US" sz="2800" spc="-1" strike="noStrike">
              <a:solidFill>
                <a:srgbClr val="000000"/>
              </a:solidFill>
              <a:latin typeface="Arial"/>
            </a:endParaRPr>
          </a:p>
        </p:txBody>
      </p:sp>
      <p:pic>
        <p:nvPicPr>
          <p:cNvPr id="68" name="Content Placeholder 6" descr=""/>
          <p:cNvPicPr/>
          <p:nvPr/>
        </p:nvPicPr>
        <p:blipFill>
          <a:blip r:embed="rId1"/>
          <a:stretch/>
        </p:blipFill>
        <p:spPr>
          <a:xfrm>
            <a:off x="6172200" y="2514600"/>
            <a:ext cx="5654160" cy="2406600"/>
          </a:xfrm>
          <a:prstGeom prst="rect">
            <a:avLst/>
          </a:prstGeom>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PlaceHolder 1"/>
          <p:cNvSpPr>
            <a:spLocks noGrp="1"/>
          </p:cNvSpPr>
          <p:nvPr>
            <p:ph/>
          </p:nvPr>
        </p:nvSpPr>
        <p:spPr>
          <a:xfrm>
            <a:off x="0" y="0"/>
            <a:ext cx="12191040" cy="6856920"/>
          </a:xfrm>
          <a:prstGeom prst="rect">
            <a:avLst/>
          </a:prstGeom>
          <a:noFill/>
          <a:ln w="0">
            <a:noFill/>
          </a:ln>
        </p:spPr>
        <p:txBody>
          <a:bodyPr lIns="91440" rIns="91440" tIns="45720" bIns="45720" anchor="t">
            <a:normAutofit fontScale="93333"/>
          </a:bodyPr>
          <a:p>
            <a:pPr marL="228600" indent="-228600" defTabSz="914400">
              <a:lnSpc>
                <a:spcPct val="90000"/>
              </a:lnSpc>
              <a:spcBef>
                <a:spcPts val="1001"/>
              </a:spcBef>
              <a:buClr>
                <a:srgbClr val="000000"/>
              </a:buClr>
              <a:buFont typeface="Arial"/>
              <a:buChar char="•"/>
            </a:pPr>
            <a:r>
              <a:rPr b="1" lang="en-US" sz="3600" spc="-1" strike="noStrike">
                <a:solidFill>
                  <a:schemeClr val="dk1"/>
                </a:solidFill>
                <a:latin typeface="Calibri"/>
              </a:rPr>
              <a:t>Working of ATM:</a:t>
            </a:r>
            <a:r>
              <a:rPr b="0" lang="en-US" sz="3600" spc="-1" strike="noStrike">
                <a:solidFill>
                  <a:schemeClr val="dk1"/>
                </a:solidFill>
                <a:latin typeface="Calibri"/>
              </a:rPr>
              <a:t> </a:t>
            </a:r>
            <a:br>
              <a:rPr sz="2800"/>
            </a:br>
            <a:r>
              <a:rPr b="0" lang="en-US" sz="2800" spc="-1" strike="noStrike">
                <a:solidFill>
                  <a:schemeClr val="dk1"/>
                </a:solidFill>
                <a:latin typeface="Calibri"/>
              </a:rPr>
              <a:t>ATM standard uses two types of connections. i.e., Virtual path connections (VPCs) which consist of Virtual channel connections (VCCs) bundled together which is a basic unit carrying a single stream of cells from user to user.</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A virtual path can be created end-to-end across an ATM network, as it does not rout the cells to a particular virtual circuit.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case of major failure, all cells belonging to a particular virtual path are routed the same way through the ATM network, thus helping in faster recovery. </a:t>
            </a:r>
            <a:br>
              <a:rPr sz="2800"/>
            </a:br>
            <a:br>
              <a:rPr sz="2800"/>
            </a:br>
            <a:r>
              <a:rPr b="0" lang="en-US" sz="2800" spc="-1" strike="noStrike">
                <a:solidFill>
                  <a:schemeClr val="dk1"/>
                </a:solidFill>
                <a:latin typeface="Calibri"/>
              </a:rPr>
              <a:t>Switches connected to subscribers use both VPIs and VCIs to switch the cells which are Virtual Path and Virtual Connection switches that can have different virtual channel connections between them, serving the purpose of creating a </a:t>
            </a:r>
            <a:r>
              <a:rPr b="0" i="1" lang="en-US" sz="2800" spc="-1" strike="noStrike">
                <a:solidFill>
                  <a:schemeClr val="dk1"/>
                </a:solidFill>
                <a:latin typeface="Calibri"/>
              </a:rPr>
              <a:t>virtual trunk</a:t>
            </a:r>
            <a:r>
              <a:rPr b="0" lang="en-US" sz="2800" spc="-1" strike="noStrike">
                <a:solidFill>
                  <a:schemeClr val="dk1"/>
                </a:solidFill>
                <a:latin typeface="Calibri"/>
              </a:rPr>
              <a:t> between the switches which can be handled as a single entity.</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Its basic operation is straightforward by looking up the connection value in the local translation table determining the outgoing port of the connection and the new VPI/VCI value of connection on that link</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PlaceHolder 1"/>
          <p:cNvSpPr>
            <a:spLocks noGrp="1"/>
          </p:cNvSpPr>
          <p:nvPr>
            <p:ph/>
          </p:nvPr>
        </p:nvSpPr>
        <p:spPr>
          <a:xfrm>
            <a:off x="0" y="0"/>
            <a:ext cx="6747480" cy="67874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Arial"/>
              </a:rPr>
              <a:t>ATM Adaption Layer (AAL) -</a:t>
            </a:r>
            <a:r>
              <a:rPr b="0" lang="en-US" sz="2800" spc="-1" strike="noStrike">
                <a:solidFill>
                  <a:schemeClr val="dk1"/>
                </a:solidFill>
                <a:latin typeface="Arial"/>
              </a:rPr>
              <a:t> </a:t>
            </a:r>
            <a:br>
              <a:rPr sz="2800"/>
            </a:br>
            <a:r>
              <a:rPr b="0" lang="en-US" sz="2800" spc="-1" strike="noStrike">
                <a:solidFill>
                  <a:schemeClr val="dk1"/>
                </a:solidFill>
                <a:latin typeface="Arial"/>
              </a:rPr>
              <a:t>It is meant for isolating higher-layer protocols from details of ATM processes and prepares for conversion of user data into cells and segments it into 48-byte cell payloads.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Arial"/>
              </a:rPr>
              <a:t>AAL protocol excepts transmission from upper-layer services and helps them in mapping applications, e.g., voice, data to ATM cells. </a:t>
            </a:r>
            <a:br>
              <a:rPr sz="2800"/>
            </a:br>
            <a:r>
              <a:rPr b="0" lang="en-US" sz="2800" spc="-1" strike="noStrike">
                <a:solidFill>
                  <a:schemeClr val="dk1"/>
                </a:solidFill>
                <a:latin typeface="Arial"/>
              </a:rPr>
              <a:t> </a:t>
            </a:r>
            <a:endParaRPr b="0" lang="en-US" sz="2800" spc="-1" strike="noStrike">
              <a:solidFill>
                <a:srgbClr val="000000"/>
              </a:solidFill>
              <a:latin typeface="Arial"/>
            </a:endParaRPr>
          </a:p>
        </p:txBody>
      </p:sp>
      <p:pic>
        <p:nvPicPr>
          <p:cNvPr id="71" name="Picture 2" descr=""/>
          <p:cNvPicPr/>
          <p:nvPr/>
        </p:nvPicPr>
        <p:blipFill>
          <a:blip r:embed="rId1"/>
          <a:stretch/>
        </p:blipFill>
        <p:spPr>
          <a:xfrm>
            <a:off x="6907680" y="2599560"/>
            <a:ext cx="5283360" cy="278640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PlaceHolder 1"/>
          <p:cNvSpPr>
            <a:spLocks noGrp="1"/>
          </p:cNvSpPr>
          <p:nvPr>
            <p:ph/>
          </p:nvPr>
        </p:nvSpPr>
        <p:spPr>
          <a:xfrm>
            <a:off x="0" y="0"/>
            <a:ext cx="6018840" cy="6856920"/>
          </a:xfrm>
          <a:prstGeom prst="rect">
            <a:avLst/>
          </a:prstGeom>
          <a:noFill/>
          <a:ln w="0">
            <a:noFill/>
          </a:ln>
        </p:spPr>
        <p:txBody>
          <a:bodyPr lIns="91440" rIns="91440" tIns="45720" bIns="45720" anchor="t">
            <a:normAutofit fontScale="96666"/>
          </a:bodyPr>
          <a:p>
            <a:pPr marL="432000" indent="-324000" defTabSz="914400">
              <a:lnSpc>
                <a:spcPct val="100000"/>
              </a:lnSpc>
              <a:buClr>
                <a:srgbClr val="000000"/>
              </a:buClr>
              <a:buFont typeface="Symbol" charset="2"/>
              <a:buChar char=""/>
            </a:pPr>
            <a:r>
              <a:rPr b="1" lang="en-US" sz="2800" spc="-1" strike="noStrike">
                <a:solidFill>
                  <a:schemeClr val="dk1"/>
                </a:solidFill>
                <a:latin typeface="Arial"/>
              </a:rPr>
              <a:t>Physical Layer -</a:t>
            </a:r>
            <a:r>
              <a:rPr b="0" lang="en-US" sz="2800" spc="-1" strike="noStrike">
                <a:solidFill>
                  <a:schemeClr val="dk1"/>
                </a:solidFill>
                <a:latin typeface="Arial"/>
              </a:rPr>
              <a:t> </a:t>
            </a:r>
            <a:br>
              <a:rPr sz="2800"/>
            </a:br>
            <a:r>
              <a:rPr b="0" lang="en-US" sz="2800" spc="-1" strike="noStrike">
                <a:solidFill>
                  <a:schemeClr val="dk1"/>
                </a:solidFill>
                <a:latin typeface="Arial"/>
              </a:rPr>
              <a:t>It manages the medium-dependent transmission and is divided into two parts physical medium-dependent sublayer and transmission convergence sublayer.</a:t>
            </a: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pPr>
            <a:r>
              <a:rPr b="0" lang="en-US" sz="2800" spc="-1" strike="noStrike">
                <a:solidFill>
                  <a:schemeClr val="dk1"/>
                </a:solidFill>
                <a:latin typeface="Arial"/>
              </a:rPr>
              <a:t> </a:t>
            </a:r>
            <a:r>
              <a:rPr b="0" lang="en-US" sz="2800" spc="-1" strike="noStrike">
                <a:solidFill>
                  <a:schemeClr val="dk1"/>
                </a:solidFill>
                <a:latin typeface="Arial"/>
              </a:rPr>
              <a:t>The main functions are as follows: </a:t>
            </a:r>
            <a:br>
              <a:rPr sz="2800"/>
            </a:br>
            <a:r>
              <a:rPr b="0" lang="en-US" sz="2800" spc="-1" strike="noStrike">
                <a:solidFill>
                  <a:schemeClr val="dk1"/>
                </a:solidFill>
                <a:latin typeface="Arial"/>
              </a:rPr>
              <a:t> </a:t>
            </a: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pPr>
            <a:r>
              <a:rPr b="0" lang="en-US" sz="2800" spc="-1" strike="noStrike">
                <a:solidFill>
                  <a:schemeClr val="dk1"/>
                </a:solidFill>
                <a:latin typeface="Arial"/>
              </a:rPr>
              <a:t>It converts cells into a bitstream.</a:t>
            </a: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pPr>
            <a:r>
              <a:rPr b="0" lang="en-US" sz="2800" spc="-1" strike="noStrike">
                <a:solidFill>
                  <a:schemeClr val="dk1"/>
                </a:solidFill>
                <a:latin typeface="Arial"/>
              </a:rPr>
              <a:t>It controls the transmission and receipt of bits in the physical medium.</a:t>
            </a: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pPr>
            <a:r>
              <a:rPr b="0" lang="en-US" sz="2800" spc="-1" strike="noStrike">
                <a:solidFill>
                  <a:schemeClr val="dk1"/>
                </a:solidFill>
                <a:latin typeface="Arial"/>
              </a:rPr>
              <a:t>It can track the ATM cell boundaries.</a:t>
            </a: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pPr>
            <a:r>
              <a:rPr b="0" lang="en-US" sz="2800" spc="-1" strike="noStrike">
                <a:solidFill>
                  <a:schemeClr val="dk1"/>
                </a:solidFill>
                <a:latin typeface="Arial"/>
              </a:rPr>
              <a:t>Look for the packaging of cells into the appropriate type of frames.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
        <p:nvSpPr>
          <p:cNvPr id="73" name="PlaceHolder 2"/>
          <p:cNvSpPr>
            <a:spLocks noGrp="1"/>
          </p:cNvSpPr>
          <p:nvPr>
            <p:ph/>
          </p:nvPr>
        </p:nvSpPr>
        <p:spPr>
          <a:xfrm>
            <a:off x="6172200" y="0"/>
            <a:ext cx="6018840" cy="675756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ATM Layer -</a:t>
            </a:r>
            <a:r>
              <a:rPr b="0" lang="en-US" sz="2800" spc="-1" strike="noStrike">
                <a:solidFill>
                  <a:schemeClr val="dk1"/>
                </a:solidFill>
                <a:latin typeface="Calibri"/>
              </a:rPr>
              <a:t>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br>
              <a:rPr sz="2800"/>
            </a:br>
            <a:r>
              <a:rPr b="0" lang="en-US" sz="2800" spc="-1" strike="noStrike">
                <a:solidFill>
                  <a:schemeClr val="dk1"/>
                </a:solidFill>
                <a:latin typeface="Calibri"/>
              </a:rPr>
              <a:t>It handles transmission, switching, congestion control, cell header processing, sequential delivery, etc., and is responsible for simultaneously sharing the virtual circuits over the physical link known as cell multiplexing and passing cells through an ATM network known as cell relay making use of the VPI and VCI information in the cell header. </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p:nvPr>
        </p:nvSpPr>
        <p:spPr>
          <a:xfrm>
            <a:off x="0" y="0"/>
            <a:ext cx="12191040" cy="67874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ATM Applications:</a:t>
            </a:r>
            <a:r>
              <a:rPr b="0" lang="en-US" sz="2800" spc="-1" strike="noStrike">
                <a:solidFill>
                  <a:schemeClr val="dk1"/>
                </a:solidFill>
                <a:latin typeface="Calibri"/>
              </a:rPr>
              <a:t> </a:t>
            </a:r>
            <a:br>
              <a:rPr sz="2800"/>
            </a:br>
            <a:r>
              <a:rPr b="0" lang="en-US" sz="2800" spc="-1" strike="noStrike">
                <a:solidFill>
                  <a:schemeClr val="dk1"/>
                </a:solidFill>
                <a:latin typeface="Calibri"/>
              </a:rPr>
              <a:t>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ATM WANs -</a:t>
            </a:r>
            <a:r>
              <a:rPr b="0" lang="en-US" sz="2800" spc="-1" strike="noStrike">
                <a:solidFill>
                  <a:schemeClr val="dk1"/>
                </a:solidFill>
                <a:latin typeface="Calibri"/>
              </a:rPr>
              <a:t> </a:t>
            </a:r>
            <a:br>
              <a:rPr sz="2800"/>
            </a:br>
            <a:r>
              <a:rPr b="0" lang="en-US" sz="2800" spc="-1" strike="noStrike">
                <a:solidFill>
                  <a:schemeClr val="dk1"/>
                </a:solidFill>
                <a:latin typeface="Calibri"/>
              </a:rPr>
              <a:t>It can be used as a WAN to send cells over long distances, a router serving as an end-point between ATM network and other networks, which has two stacks of the protocol. </a:t>
            </a:r>
            <a:br>
              <a:rPr sz="2800"/>
            </a:br>
            <a:r>
              <a:rPr b="0" lang="en-US" sz="2800" spc="-1" strike="noStrike">
                <a:solidFill>
                  <a:schemeClr val="dk1"/>
                </a:solidFill>
                <a:latin typeface="Calibri"/>
              </a:rPr>
              <a:t>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Multimedia virtual private networks and managed services -</a:t>
            </a:r>
            <a:r>
              <a:rPr b="0" lang="en-US" sz="2800" spc="-1" strike="noStrike">
                <a:solidFill>
                  <a:schemeClr val="dk1"/>
                </a:solidFill>
                <a:latin typeface="Calibri"/>
              </a:rPr>
              <a:t> </a:t>
            </a:r>
            <a:br>
              <a:rPr sz="2800"/>
            </a:br>
            <a:r>
              <a:rPr b="0" lang="en-US" sz="2800" spc="-1" strike="noStrike">
                <a:solidFill>
                  <a:schemeClr val="dk1"/>
                </a:solidFill>
                <a:latin typeface="Calibri"/>
              </a:rPr>
              <a:t>It helps in managing ATM, LAN, voice, and video services and is capable of full-service virtual private networking, which includes integrated access to multimedia. </a:t>
            </a:r>
            <a:br>
              <a:rPr sz="2800"/>
            </a:br>
            <a:r>
              <a:rPr b="0" lang="en-US" sz="2800" spc="-1" strike="noStrike">
                <a:solidFill>
                  <a:schemeClr val="dk1"/>
                </a:solidFill>
                <a:latin typeface="Calibri"/>
              </a:rPr>
              <a:t>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Frame relay backbone -</a:t>
            </a:r>
            <a:r>
              <a:rPr b="0" lang="en-US" sz="2800" spc="-1" strike="noStrike">
                <a:solidFill>
                  <a:schemeClr val="dk1"/>
                </a:solidFill>
                <a:latin typeface="Calibri"/>
              </a:rPr>
              <a:t> </a:t>
            </a:r>
            <a:br>
              <a:rPr sz="2800"/>
            </a:br>
            <a:r>
              <a:rPr b="0" lang="en-US" sz="2800" spc="-1" strike="noStrike">
                <a:solidFill>
                  <a:schemeClr val="dk1"/>
                </a:solidFill>
                <a:latin typeface="Calibri"/>
              </a:rPr>
              <a:t>Frame relay services are used as a networking infrastructure for a range of data services and enabling frame-relay ATM service to Internetworking services. </a:t>
            </a:r>
            <a:br>
              <a:rPr sz="2800"/>
            </a:br>
            <a:r>
              <a:rPr b="0" lang="en-US" sz="2800" spc="-1" strike="noStrike">
                <a:solidFill>
                  <a:schemeClr val="dk1"/>
                </a:solidFill>
                <a:latin typeface="Calibri"/>
              </a:rPr>
              <a:t>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rmAutofit fontScale="75000" lnSpcReduction="20000"/>
          </a:bodyPr>
          <a:p>
            <a:pPr indent="0" defTabSz="914400">
              <a:lnSpc>
                <a:spcPct val="90000"/>
              </a:lnSpc>
              <a:buNone/>
              <a:tabLst>
                <a:tab algn="l" pos="0"/>
              </a:tabLst>
            </a:pPr>
            <a:r>
              <a:rPr b="1" lang="en-US" sz="4400" spc="-1" strike="noStrike">
                <a:solidFill>
                  <a:schemeClr val="dk1"/>
                </a:solidFill>
                <a:latin typeface="Calibri Light"/>
              </a:rPr>
              <a:t>High-Level Data Link Control (HDLC) Encapsulation</a:t>
            </a:r>
            <a:br>
              <a:rPr sz="4400"/>
            </a:br>
            <a:endParaRPr b="0" lang="en-US" sz="4400" spc="-1" strike="noStrike">
              <a:solidFill>
                <a:srgbClr val="000000"/>
              </a:solidFill>
              <a:latin typeface="Arial"/>
            </a:endParaRPr>
          </a:p>
        </p:txBody>
      </p:sp>
      <p:sp>
        <p:nvSpPr>
          <p:cNvPr id="76" name="PlaceHolder 2"/>
          <p:cNvSpPr>
            <a:spLocks noGrp="1"/>
          </p:cNvSpPr>
          <p:nvPr>
            <p:ph/>
          </p:nvPr>
        </p:nvSpPr>
        <p:spPr>
          <a:xfrm>
            <a:off x="0" y="1332000"/>
            <a:ext cx="12191040" cy="55249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High-Level Data Link Control (HDLC) is a bit-oriented, code-transparent, synchronous data link layer protocol.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 is widely used for reliable delivery of data frames over communication links. HDLC provides essential functions such as: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Framing</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Data transparency</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Error detection and correction</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Flow control</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type="title"/>
          </p:nvPr>
        </p:nvSpPr>
        <p:spPr>
          <a:xfrm>
            <a:off x="0" y="0"/>
            <a:ext cx="12191040" cy="1201680"/>
          </a:xfrm>
          <a:prstGeom prst="rect">
            <a:avLst/>
          </a:prstGeom>
          <a:noFill/>
          <a:ln w="0">
            <a:noFill/>
          </a:ln>
        </p:spPr>
        <p:txBody>
          <a:bodyPr lIns="91440" rIns="91440" tIns="45720" bIns="45720" anchor="ctr">
            <a:normAutofit fontScale="75000" lnSpcReduction="10000"/>
          </a:bodyPr>
          <a:p>
            <a:pPr indent="0" defTabSz="914400">
              <a:lnSpc>
                <a:spcPct val="90000"/>
              </a:lnSpc>
              <a:buNone/>
              <a:tabLst>
                <a:tab algn="l" pos="0"/>
              </a:tabLst>
            </a:pPr>
            <a:r>
              <a:rPr b="1" lang="en-US" sz="5300" spc="-1" strike="noStrike">
                <a:solidFill>
                  <a:schemeClr val="dk1"/>
                </a:solidFill>
                <a:latin typeface="Calibri Light"/>
              </a:rPr>
              <a:t>HDLC Encapsulation Protocol</a:t>
            </a:r>
            <a:br>
              <a:rPr sz="5300"/>
            </a:br>
            <a:endParaRPr b="0" lang="en-US" sz="5300" spc="-1" strike="noStrike">
              <a:solidFill>
                <a:srgbClr val="000000"/>
              </a:solidFill>
              <a:latin typeface="Arial"/>
            </a:endParaRPr>
          </a:p>
        </p:txBody>
      </p:sp>
      <p:sp>
        <p:nvSpPr>
          <p:cNvPr id="78" name="PlaceHolder 2"/>
          <p:cNvSpPr>
            <a:spLocks noGrp="1"/>
          </p:cNvSpPr>
          <p:nvPr>
            <p:ph/>
          </p:nvPr>
        </p:nvSpPr>
        <p:spPr>
          <a:xfrm>
            <a:off x="0" y="1202760"/>
            <a:ext cx="12191040" cy="565416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Standard HDLC Frame Structure</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 standard HDLC frame typically contains six fields: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a:tabLst>
                <a:tab algn="l" pos="0"/>
              </a:tabLst>
            </a:pPr>
            <a:r>
              <a:rPr b="1" lang="en-US" sz="2800" spc="-1" strike="noStrike">
                <a:solidFill>
                  <a:schemeClr val="dk1"/>
                </a:solidFill>
                <a:latin typeface="Calibri"/>
              </a:rPr>
              <a:t>Start/End Flag</a:t>
            </a:r>
            <a:r>
              <a:rPr b="0" lang="en-US" sz="2800" spc="-1" strike="noStrike">
                <a:solidFill>
                  <a:schemeClr val="dk1"/>
                </a:solidFill>
                <a:latin typeface="Calibri"/>
              </a:rPr>
              <a:t> – Marks the beginning and end of the frame (01111110).</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startAt="2"/>
              <a:tabLst>
                <a:tab algn="l" pos="0"/>
              </a:tabLst>
            </a:pPr>
            <a:r>
              <a:rPr b="1" lang="en-US" sz="2800" spc="-1" strike="noStrike">
                <a:solidFill>
                  <a:schemeClr val="dk1"/>
                </a:solidFill>
                <a:latin typeface="Calibri"/>
              </a:rPr>
              <a:t>Address Field </a:t>
            </a:r>
            <a:r>
              <a:rPr b="0" lang="en-US" sz="2800" spc="-1" strike="noStrike">
                <a:solidFill>
                  <a:schemeClr val="dk1"/>
                </a:solidFill>
                <a:latin typeface="Calibri"/>
              </a:rPr>
              <a:t>– Identifies the secondary station.</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startAt="3"/>
              <a:tabLst>
                <a:tab algn="l" pos="0"/>
              </a:tabLst>
            </a:pPr>
            <a:r>
              <a:rPr b="1" lang="en-US" sz="2800" spc="-1" strike="noStrike">
                <a:solidFill>
                  <a:schemeClr val="dk1"/>
                </a:solidFill>
                <a:latin typeface="Calibri"/>
              </a:rPr>
              <a:t>Control Field</a:t>
            </a:r>
            <a:r>
              <a:rPr b="0" lang="en-US" sz="2800" spc="-1" strike="noStrike">
                <a:solidFill>
                  <a:schemeClr val="dk1"/>
                </a:solidFill>
                <a:latin typeface="Calibri"/>
              </a:rPr>
              <a:t> – Used for flow and error control.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startAt="4"/>
              <a:tabLst>
                <a:tab algn="l" pos="0"/>
              </a:tabLst>
            </a:pPr>
            <a:r>
              <a:rPr b="1" lang="en-US" sz="2800" spc="-1" strike="noStrike">
                <a:solidFill>
                  <a:schemeClr val="dk1"/>
                </a:solidFill>
                <a:latin typeface="Calibri"/>
              </a:rPr>
              <a:t>Information Field</a:t>
            </a:r>
            <a:r>
              <a:rPr b="0" lang="en-US" sz="2800" spc="-1" strike="noStrike">
                <a:solidFill>
                  <a:schemeClr val="dk1"/>
                </a:solidFill>
                <a:latin typeface="Calibri"/>
              </a:rPr>
              <a:t> – Carries the actual payload (optional in control frames).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startAt="5"/>
              <a:tabLst>
                <a:tab algn="l" pos="0"/>
              </a:tabLst>
            </a:pPr>
            <a:r>
              <a:rPr b="1" lang="en-US" sz="2800" spc="-1" strike="noStrike">
                <a:solidFill>
                  <a:schemeClr val="dk1"/>
                </a:solidFill>
                <a:latin typeface="Calibri"/>
              </a:rPr>
              <a:t>FCS (Frame Check Sequence)</a:t>
            </a:r>
            <a:r>
              <a:rPr b="0" lang="en-US" sz="2800" spc="-1" strike="noStrike">
                <a:solidFill>
                  <a:schemeClr val="dk1"/>
                </a:solidFill>
                <a:latin typeface="Calibri"/>
              </a:rPr>
              <a:t> – Error detection using CRC.</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startAt="6"/>
              <a:tabLst>
                <a:tab algn="l" pos="0"/>
              </a:tabLst>
            </a:pPr>
            <a:r>
              <a:rPr b="1" lang="en-US" sz="2800" spc="-1" strike="noStrike">
                <a:solidFill>
                  <a:schemeClr val="dk1"/>
                </a:solidFill>
                <a:latin typeface="Calibri"/>
              </a:rPr>
              <a:t>End Flag</a:t>
            </a:r>
            <a:r>
              <a:rPr b="0" lang="en-US" sz="2800" spc="-1" strike="noStrike">
                <a:solidFill>
                  <a:schemeClr val="dk1"/>
                </a:solidFill>
                <a:latin typeface="Calibri"/>
              </a:rPr>
              <a:t> – Same as start flag, ensuring frame boundary.</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PlaceHolder 1"/>
          <p:cNvSpPr>
            <a:spLocks noGrp="1"/>
          </p:cNvSpPr>
          <p:nvPr>
            <p:ph type="title"/>
          </p:nvPr>
        </p:nvSpPr>
        <p:spPr>
          <a:xfrm>
            <a:off x="0" y="0"/>
            <a:ext cx="12191040" cy="1102320"/>
          </a:xfrm>
          <a:prstGeom prst="rect">
            <a:avLst/>
          </a:prstGeom>
          <a:noFill/>
          <a:ln w="0">
            <a:noFill/>
          </a:ln>
        </p:spPr>
        <p:txBody>
          <a:bodyPr lIns="91440" rIns="91440" tIns="45720" bIns="45720" anchor="ctr">
            <a:normAutofit fontScale="75000" lnSpcReduction="10000"/>
          </a:bodyPr>
          <a:p>
            <a:pPr indent="0" defTabSz="914400">
              <a:lnSpc>
                <a:spcPct val="90000"/>
              </a:lnSpc>
              <a:buNone/>
              <a:tabLst>
                <a:tab algn="l" pos="0"/>
              </a:tabLst>
            </a:pPr>
            <a:r>
              <a:rPr b="1" lang="en-US" sz="4900" spc="-1" strike="noStrike">
                <a:solidFill>
                  <a:schemeClr val="dk1"/>
                </a:solidFill>
                <a:latin typeface="Calibri Light"/>
              </a:rPr>
              <a:t>Point-to-Point Protocol (PPP)</a:t>
            </a:r>
            <a:br>
              <a:rPr sz="4900"/>
            </a:br>
            <a:endParaRPr b="0" lang="en-US" sz="4900" spc="-1" strike="noStrike">
              <a:solidFill>
                <a:srgbClr val="000000"/>
              </a:solidFill>
              <a:latin typeface="Arial"/>
            </a:endParaRPr>
          </a:p>
        </p:txBody>
      </p:sp>
      <p:sp>
        <p:nvSpPr>
          <p:cNvPr id="80" name="PlaceHolder 2"/>
          <p:cNvSpPr>
            <a:spLocks noGrp="1"/>
          </p:cNvSpPr>
          <p:nvPr>
            <p:ph/>
          </p:nvPr>
        </p:nvSpPr>
        <p:spPr>
          <a:xfrm>
            <a:off x="0" y="1481040"/>
            <a:ext cx="12191040" cy="537588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Point-to-Point Protocol (PPP) is a Layer 2 WAN protocol that encapsulates network-layer packets for reliable, full-duplex communication over point-to-point links.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Operates at the Data Link Layer (Layer 2)</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Used over serial cables, cellular links, and fiber optics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Supports encapsulation of multiple network-layer protocols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Provides full-duplex, bidirectional data transmission</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Ensures sequential packet delivery</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Uses frames as the basic unit of transmission</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Requires 8 bytes for encapsulation overhead</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PlaceHolder 1"/>
          <p:cNvSpPr>
            <a:spLocks noGrp="1"/>
          </p:cNvSpPr>
          <p:nvPr>
            <p:ph type="title"/>
          </p:nvPr>
        </p:nvSpPr>
        <p:spPr>
          <a:xfrm>
            <a:off x="0" y="99360"/>
            <a:ext cx="12015360" cy="92340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pc="-1" strike="noStrike">
                <a:solidFill>
                  <a:schemeClr val="dk1"/>
                </a:solidFill>
                <a:latin typeface="Calibri Light"/>
              </a:rPr>
              <a:t> </a:t>
            </a:r>
            <a:r>
              <a:rPr b="0" lang="en-US" sz="4400" spc="-1" strike="noStrike">
                <a:solidFill>
                  <a:schemeClr val="dk1"/>
                </a:solidFill>
                <a:latin typeface="Calibri Light"/>
              </a:rPr>
              <a:t>(</a:t>
            </a:r>
            <a:r>
              <a:rPr b="0" lang="en-US" sz="4400" spc="-1" strike="noStrike" u="sng">
                <a:solidFill>
                  <a:schemeClr val="dk1"/>
                </a:solidFill>
                <a:uFillTx/>
                <a:latin typeface="Calibri Light"/>
                <a:hlinkClick r:id="rId1"/>
              </a:rPr>
              <a:t>Virtual Local Area Network</a:t>
            </a:r>
            <a:r>
              <a:rPr b="0" lang="en-US" sz="4400" spc="-1" strike="noStrike">
                <a:solidFill>
                  <a:schemeClr val="dk1"/>
                </a:solidFill>
                <a:latin typeface="Calibri Light"/>
              </a:rPr>
              <a:t>) </a:t>
            </a:r>
            <a:endParaRPr b="0" lang="en-US" sz="4400" spc="-1" strike="noStrike">
              <a:solidFill>
                <a:srgbClr val="000000"/>
              </a:solidFill>
              <a:latin typeface="Arial"/>
            </a:endParaRPr>
          </a:p>
        </p:txBody>
      </p:sp>
      <p:sp>
        <p:nvSpPr>
          <p:cNvPr id="82" name="PlaceHolder 2"/>
          <p:cNvSpPr>
            <a:spLocks noGrp="1"/>
          </p:cNvSpPr>
          <p:nvPr>
            <p:ph/>
          </p:nvPr>
        </p:nvSpPr>
        <p:spPr>
          <a:xfrm>
            <a:off x="0" y="1252440"/>
            <a:ext cx="12104640" cy="560448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 VLAN (</a:t>
            </a:r>
            <a:r>
              <a:rPr b="0" lang="en-US" sz="2800" spc="-1" strike="noStrike" u="sng">
                <a:solidFill>
                  <a:schemeClr val="dk1"/>
                </a:solidFill>
                <a:uFillTx/>
                <a:latin typeface="Calibri"/>
                <a:hlinkClick r:id="rId2"/>
              </a:rPr>
              <a:t>Virtual Local Area Network</a:t>
            </a:r>
            <a:r>
              <a:rPr b="0" lang="en-US" sz="2800" spc="-1" strike="noStrike">
                <a:solidFill>
                  <a:schemeClr val="dk1"/>
                </a:solidFill>
                <a:latin typeface="Calibri"/>
              </a:rPr>
              <a:t>) logically segments a single physical network into multiple broadcast domains.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Allowing devices to act as if they're on separate LANs, regardless of physical location, for better security, performance, and management by isolating traffic, reducing broadcast noise, and grouping users by function (like 'Sales' or 'Guests') rather than switches.</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type="title"/>
          </p:nvPr>
        </p:nvSpPr>
        <p:spPr>
          <a:xfrm>
            <a:off x="0" y="0"/>
            <a:ext cx="12191040" cy="734400"/>
          </a:xfrm>
          <a:prstGeom prst="rect">
            <a:avLst/>
          </a:prstGeom>
          <a:noFill/>
          <a:ln w="0">
            <a:noFill/>
          </a:ln>
        </p:spPr>
        <p:txBody>
          <a:bodyPr lIns="91440" rIns="91440" tIns="45720" bIns="45720" anchor="ctr">
            <a:normAutofit fontScale="33888"/>
          </a:bodyPr>
          <a:p>
            <a:pPr indent="0" defTabSz="914400">
              <a:lnSpc>
                <a:spcPct val="90000"/>
              </a:lnSpc>
              <a:buNone/>
              <a:tabLst>
                <a:tab algn="l" pos="0"/>
              </a:tabLst>
            </a:pPr>
            <a:br>
              <a:rPr sz="4400"/>
            </a:br>
            <a:r>
              <a:rPr b="0" lang="en-US" sz="4400" spc="-1" strike="noStrike">
                <a:solidFill>
                  <a:schemeClr val="dk1"/>
                </a:solidFill>
                <a:latin typeface="Arial"/>
              </a:rPr>
              <a:t>How it Works</a:t>
            </a:r>
            <a:br>
              <a:rPr sz="4400"/>
            </a:br>
            <a:endParaRPr b="0" lang="en-US" sz="4400" spc="-1" strike="noStrike">
              <a:solidFill>
                <a:srgbClr val="000000"/>
              </a:solidFill>
              <a:latin typeface="Arial"/>
            </a:endParaRPr>
          </a:p>
        </p:txBody>
      </p:sp>
      <p:sp>
        <p:nvSpPr>
          <p:cNvPr id="84" name="PlaceHolder 2"/>
          <p:cNvSpPr>
            <a:spLocks noGrp="1"/>
          </p:cNvSpPr>
          <p:nvPr>
            <p:ph/>
          </p:nvPr>
        </p:nvSpPr>
        <p:spPr>
          <a:xfrm>
            <a:off x="0" y="1103400"/>
            <a:ext cx="12104640" cy="5664240"/>
          </a:xfrm>
          <a:prstGeom prst="rect">
            <a:avLst/>
          </a:prstGeom>
          <a:noFill/>
          <a:ln w="0">
            <a:noFill/>
          </a:ln>
        </p:spPr>
        <p:txBody>
          <a:bodyPr lIns="91440" rIns="91440" tIns="45720" bIns="45720" anchor="t">
            <a:normAutofit/>
          </a:bodyPr>
          <a:p>
            <a:pPr marL="432000" indent="-324000" defTabSz="914400">
              <a:lnSpc>
                <a:spcPct val="100000"/>
              </a:lnSpc>
              <a:buClr>
                <a:srgbClr val="000000"/>
              </a:buClr>
              <a:buFont typeface="Symbol" charset="2"/>
              <a:buChar char=""/>
            </a:pPr>
            <a:r>
              <a:rPr b="1" lang="en-US" sz="2800" spc="-1" strike="noStrike">
                <a:solidFill>
                  <a:schemeClr val="dk1"/>
                </a:solidFill>
                <a:latin typeface="Times New Roman"/>
              </a:rPr>
              <a:t>Logical Grouping:</a:t>
            </a:r>
            <a:r>
              <a:rPr b="0" lang="en-US" sz="2800" spc="-1" strike="noStrike">
                <a:solidFill>
                  <a:schemeClr val="dk1"/>
                </a:solidFill>
                <a:latin typeface="Times New Roman"/>
              </a:rPr>
              <a:t> VLANs group devices based on criteria like department, application, or user type, not physical location.</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tabLst>
                <a:tab algn="l" pos="0"/>
              </a:tabLst>
            </a:pPr>
            <a:r>
              <a:rPr b="1" lang="en-US" sz="2800" spc="-1" strike="noStrike">
                <a:solidFill>
                  <a:schemeClr val="dk1"/>
                </a:solidFill>
                <a:latin typeface="Times New Roman"/>
              </a:rPr>
              <a:t>Broadcast Domains:</a:t>
            </a:r>
            <a:r>
              <a:rPr b="0" lang="en-US" sz="2800" spc="-1" strike="noStrike">
                <a:solidFill>
                  <a:schemeClr val="dk1"/>
                </a:solidFill>
                <a:latin typeface="Times New Roman"/>
              </a:rPr>
              <a:t> Each VLAN is its own broadcast domain, meaning broadcasts (like ARP requests) stay within that VLAN, preventing them from flooding the entire network.</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tabLst>
                <a:tab algn="l" pos="0"/>
              </a:tabLst>
            </a:pPr>
            <a:r>
              <a:rPr b="1" lang="en-US" sz="2800" spc="-1" strike="noStrike">
                <a:solidFill>
                  <a:schemeClr val="dk1"/>
                </a:solidFill>
                <a:latin typeface="Times New Roman"/>
              </a:rPr>
              <a:t>Tagging:</a:t>
            </a:r>
            <a:r>
              <a:rPr b="0" lang="en-US" sz="2800" spc="-1" strike="noStrike">
                <a:solidFill>
                  <a:schemeClr val="dk1"/>
                </a:solidFill>
                <a:latin typeface="Times New Roman"/>
              </a:rPr>
              <a:t> Switches add a VLAN ID (tag) to Ethernet frames, identifying which VLAN the frame belongs to, using standards like IEEE 802.1Q.</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tabLst>
                <a:tab algn="l" pos="0"/>
              </a:tabLst>
            </a:pPr>
            <a:r>
              <a:rPr b="1" lang="en-US" sz="2800" spc="-1" strike="noStrike">
                <a:solidFill>
                  <a:schemeClr val="dk1"/>
                </a:solidFill>
                <a:latin typeface="Times New Roman"/>
              </a:rPr>
              <a:t>Communication:</a:t>
            </a:r>
            <a:r>
              <a:rPr b="0" lang="en-US" sz="2800" spc="-1" strike="noStrike">
                <a:solidFill>
                  <a:schemeClr val="dk1"/>
                </a:solidFill>
                <a:latin typeface="Times New Roman"/>
              </a:rPr>
              <a:t> Devices in the same VLAN communicate directly; communication between different VLANs requires a router or Layer 3 switch (Inter-VLAN Routing).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362</TotalTime>
  <Application>LibreOffice/24.2.7.2$Linux_X86_64 LibreOffice_project/420$Build-2</Application>
  <AppVersion>15.0000</AppVersion>
  <Words>1999</Words>
  <Paragraphs>149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2023-06-18T01:38:47Z</dcterms:created>
  <dc:creator>empties cmon</dc:creator>
  <dc:description/>
  <dc:language>en-US</dc:language>
  <cp:lastModifiedBy/>
  <dcterms:modified xsi:type="dcterms:W3CDTF">2026-04-01T20:41:32Z</dcterms:modified>
  <cp:revision>19</cp:revision>
  <dc:subject/>
  <dc:title>Chapter 6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24</vt:i4>
  </property>
</Properties>
</file>