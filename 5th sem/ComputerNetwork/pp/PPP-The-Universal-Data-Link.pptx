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4630400" cy="8229600"/>
  <p:notesSz cx="8229600" cy="14630400"/>
  <p:embeddedFontLst>
    <p:embeddedFont>
      <p:font typeface="Bitter Medium" pitchFamily="2" charset="77"/>
      <p:regular r:id="rId14"/>
    </p:embeddedFont>
    <p:embeddedFont>
      <p:font typeface="Open Sans" panose="020B0606030504020204" pitchFamily="34" charset="0"/>
      <p:regular r:id="rId15"/>
      <p:bold r:id="rId16"/>
      <p:italic r:id="rId17"/>
      <p:boldItalic r:id="rId1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597"/>
    <p:restoredTop sz="94610"/>
  </p:normalViewPr>
  <p:slideViewPr>
    <p:cSldViewPr snapToGrid="0" snapToObjects="1">
      <p:cViewPr varScale="1">
        <p:scale>
          <a:sx n="98" d="100"/>
          <a:sy n="98" d="100"/>
        </p:scale>
        <p:origin x="464"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font" Target="fonts/font5.fntdata"/><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4.fntdata"/><Relationship Id="rId2" Type="http://schemas.openxmlformats.org/officeDocument/2006/relationships/slide" Target="slides/slide1.xml"/><Relationship Id="rId16" Type="http://schemas.openxmlformats.org/officeDocument/2006/relationships/font" Target="fonts/font3.fntdata"/><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font" Target="fonts/font2.fntdata"/><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1.fntdata"/><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625476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1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AABCB6"/>
          </a:solidFill>
          <a:ln/>
        </p:spPr>
      </p:sp>
      <p:sp>
        <p:nvSpPr>
          <p:cNvPr id="3" name="Shape 1"/>
          <p:cNvSpPr/>
          <p:nvPr/>
        </p:nvSpPr>
        <p:spPr>
          <a:xfrm>
            <a:off x="0" y="0"/>
            <a:ext cx="14630400" cy="8229600"/>
          </a:xfrm>
          <a:prstGeom prst="rect">
            <a:avLst/>
          </a:prstGeom>
          <a:solidFill>
            <a:srgbClr val="FFF8F0"/>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2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AABCB6"/>
          </a:solidFill>
          <a:ln/>
        </p:spPr>
      </p:sp>
      <p:sp>
        <p:nvSpPr>
          <p:cNvPr id="3" name="Shape 1"/>
          <p:cNvSpPr/>
          <p:nvPr/>
        </p:nvSpPr>
        <p:spPr>
          <a:xfrm>
            <a:off x="0" y="0"/>
            <a:ext cx="14630400" cy="8229600"/>
          </a:xfrm>
          <a:prstGeom prst="rect">
            <a:avLst/>
          </a:prstGeom>
          <a:solidFill>
            <a:srgbClr val="FFF8F0"/>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3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AABCB6"/>
          </a:solidFill>
          <a:ln/>
        </p:spPr>
      </p:sp>
      <p:sp>
        <p:nvSpPr>
          <p:cNvPr id="3" name="Shape 1"/>
          <p:cNvSpPr/>
          <p:nvPr/>
        </p:nvSpPr>
        <p:spPr>
          <a:xfrm>
            <a:off x="0" y="0"/>
            <a:ext cx="14630400" cy="8229600"/>
          </a:xfrm>
          <a:prstGeom prst="rect">
            <a:avLst/>
          </a:prstGeom>
          <a:solidFill>
            <a:srgbClr val="FFF8F0"/>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lide 4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AABCB6"/>
          </a:solidFill>
          <a:ln/>
        </p:spPr>
      </p:sp>
      <p:sp>
        <p:nvSpPr>
          <p:cNvPr id="3" name="Shape 1"/>
          <p:cNvSpPr/>
          <p:nvPr/>
        </p:nvSpPr>
        <p:spPr>
          <a:xfrm>
            <a:off x="0" y="0"/>
            <a:ext cx="14630400" cy="8229600"/>
          </a:xfrm>
          <a:prstGeom prst="rect">
            <a:avLst/>
          </a:prstGeom>
          <a:solidFill>
            <a:srgbClr val="FFF8F0"/>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lide 5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AABCB6"/>
          </a:solidFill>
          <a:ln/>
        </p:spPr>
      </p:sp>
      <p:sp>
        <p:nvSpPr>
          <p:cNvPr id="3" name="Shape 1"/>
          <p:cNvSpPr/>
          <p:nvPr/>
        </p:nvSpPr>
        <p:spPr>
          <a:xfrm>
            <a:off x="0" y="0"/>
            <a:ext cx="14630400" cy="8229600"/>
          </a:xfrm>
          <a:prstGeom prst="rect">
            <a:avLst/>
          </a:prstGeom>
          <a:solidFill>
            <a:srgbClr val="FFF8F0"/>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lide 6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AABCB6"/>
          </a:solidFill>
          <a:ln/>
        </p:spPr>
      </p:sp>
      <p:sp>
        <p:nvSpPr>
          <p:cNvPr id="3" name="Shape 1"/>
          <p:cNvSpPr/>
          <p:nvPr/>
        </p:nvSpPr>
        <p:spPr>
          <a:xfrm>
            <a:off x="0" y="0"/>
            <a:ext cx="14630400" cy="8229600"/>
          </a:xfrm>
          <a:prstGeom prst="rect">
            <a:avLst/>
          </a:prstGeom>
          <a:solidFill>
            <a:srgbClr val="FFF8F0"/>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lide 7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AABCB6"/>
          </a:solidFill>
          <a:ln/>
        </p:spPr>
      </p:sp>
      <p:sp>
        <p:nvSpPr>
          <p:cNvPr id="3" name="Shape 1"/>
          <p:cNvSpPr/>
          <p:nvPr/>
        </p:nvSpPr>
        <p:spPr>
          <a:xfrm>
            <a:off x="0" y="0"/>
            <a:ext cx="14630400" cy="8229600"/>
          </a:xfrm>
          <a:prstGeom prst="rect">
            <a:avLst/>
          </a:prstGeom>
          <a:solidFill>
            <a:srgbClr val="FFF8F0"/>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lide 8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AABCB6"/>
          </a:solidFill>
          <a:ln/>
        </p:spPr>
      </p:sp>
      <p:sp>
        <p:nvSpPr>
          <p:cNvPr id="3" name="Shape 1"/>
          <p:cNvSpPr/>
          <p:nvPr/>
        </p:nvSpPr>
        <p:spPr>
          <a:xfrm>
            <a:off x="0" y="0"/>
            <a:ext cx="14630400" cy="8229600"/>
          </a:xfrm>
          <a:prstGeom prst="rect">
            <a:avLst/>
          </a:prstGeom>
          <a:solidFill>
            <a:srgbClr val="FFF8F0"/>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lide 9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AABCB6"/>
          </a:solidFill>
          <a:ln/>
        </p:spPr>
      </p:sp>
      <p:sp>
        <p:nvSpPr>
          <p:cNvPr id="3" name="Shape 1"/>
          <p:cNvSpPr/>
          <p:nvPr/>
        </p:nvSpPr>
        <p:spPr>
          <a:xfrm>
            <a:off x="0" y="0"/>
            <a:ext cx="14630400" cy="8229600"/>
          </a:xfrm>
          <a:prstGeom prst="rect">
            <a:avLst/>
          </a:prstGeom>
          <a:solidFill>
            <a:srgbClr val="FFF8F0"/>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lide 10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AABCB6"/>
          </a:solidFill>
          <a:ln/>
        </p:spPr>
      </p:sp>
      <p:sp>
        <p:nvSpPr>
          <p:cNvPr id="3" name="Shape 1"/>
          <p:cNvSpPr/>
          <p:nvPr/>
        </p:nvSpPr>
        <p:spPr>
          <a:xfrm>
            <a:off x="0" y="0"/>
            <a:ext cx="14630400" cy="8229600"/>
          </a:xfrm>
          <a:prstGeom prst="rect">
            <a:avLst/>
          </a:prstGeom>
          <a:solidFill>
            <a:srgbClr val="FFF8F0"/>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6.xml"/><Relationship Id="rId4" Type="http://schemas.openxmlformats.org/officeDocument/2006/relationships/image" Target="../media/image5.sv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9.xml"/><Relationship Id="rId6" Type="http://schemas.openxmlformats.org/officeDocument/2006/relationships/image" Target="../media/image10.sv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9144000" y="0"/>
            <a:ext cx="5486400" cy="8229600"/>
          </a:xfrm>
          <a:prstGeom prst="rect">
            <a:avLst/>
          </a:prstGeom>
        </p:spPr>
      </p:pic>
      <p:sp>
        <p:nvSpPr>
          <p:cNvPr id="3" name="Text 0"/>
          <p:cNvSpPr/>
          <p:nvPr/>
        </p:nvSpPr>
        <p:spPr>
          <a:xfrm>
            <a:off x="793790" y="3537823"/>
            <a:ext cx="7494865" cy="708779"/>
          </a:xfrm>
          <a:prstGeom prst="rect">
            <a:avLst/>
          </a:prstGeom>
          <a:noFill/>
          <a:ln/>
        </p:spPr>
        <p:txBody>
          <a:bodyPr wrap="none" lIns="0" tIns="0" rIns="0" bIns="0" rtlCol="0" anchor="t"/>
          <a:lstStyle/>
          <a:p>
            <a:pPr marL="0" indent="0" algn="l">
              <a:lnSpc>
                <a:spcPts val="5550"/>
              </a:lnSpc>
              <a:buNone/>
            </a:pPr>
            <a:r>
              <a:rPr lang="en-US" sz="4450" dirty="0">
                <a:solidFill>
                  <a:srgbClr val="2C3F42"/>
                </a:solidFill>
                <a:ea typeface="Bitter Medium" pitchFamily="34" charset="-122"/>
                <a:cs typeface="Bitter Medium" pitchFamily="34" charset="-120"/>
              </a:rPr>
              <a:t>PPP: The Universal Data Link</a:t>
            </a:r>
            <a:endParaRPr lang="en-US" sz="4450" dirty="0"/>
          </a:p>
        </p:txBody>
      </p:sp>
      <p:sp>
        <p:nvSpPr>
          <p:cNvPr id="4" name="Text 1"/>
          <p:cNvSpPr/>
          <p:nvPr/>
        </p:nvSpPr>
        <p:spPr>
          <a:xfrm>
            <a:off x="793790" y="4337328"/>
            <a:ext cx="4321731" cy="354330"/>
          </a:xfrm>
          <a:prstGeom prst="rect">
            <a:avLst/>
          </a:prstGeom>
          <a:noFill/>
          <a:ln/>
        </p:spPr>
        <p:txBody>
          <a:bodyPr wrap="none" lIns="0" tIns="0" rIns="0" bIns="0" rtlCol="0" anchor="t"/>
          <a:lstStyle/>
          <a:p>
            <a:pPr marL="0" indent="0" algn="l">
              <a:lnSpc>
                <a:spcPts val="2750"/>
              </a:lnSpc>
              <a:buNone/>
            </a:pPr>
            <a:r>
              <a:rPr lang="en-US" sz="2200" dirty="0">
                <a:solidFill>
                  <a:srgbClr val="2C3F42"/>
                </a:solidFill>
                <a:latin typeface="Bitter Medium" pitchFamily="34" charset="0"/>
                <a:ea typeface="Bitter Medium" pitchFamily="34" charset="-122"/>
                <a:cs typeface="Bitter Medium" pitchFamily="34" charset="-120"/>
              </a:rPr>
              <a:t>The Bridge of the </a:t>
            </a:r>
            <a:r>
              <a:rPr lang="en-US" sz="2200" dirty="0">
                <a:solidFill>
                  <a:srgbClr val="2C3F42"/>
                </a:solidFill>
                <a:ea typeface="Bitter Medium" pitchFamily="34" charset="-122"/>
                <a:cs typeface="Bitter Medium" pitchFamily="34" charset="-120"/>
              </a:rPr>
              <a:t>Data</a:t>
            </a:r>
            <a:r>
              <a:rPr lang="en-US" sz="2200" dirty="0">
                <a:solidFill>
                  <a:srgbClr val="2C3F42"/>
                </a:solidFill>
                <a:latin typeface="Bitter Medium" pitchFamily="34" charset="0"/>
                <a:ea typeface="Bitter Medium" pitchFamily="34" charset="-122"/>
                <a:cs typeface="Bitter Medium" pitchFamily="34" charset="-120"/>
              </a:rPr>
              <a:t> Link Layer</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793790" y="1885712"/>
            <a:ext cx="9237583" cy="566976"/>
          </a:xfrm>
          <a:prstGeom prst="rect">
            <a:avLst/>
          </a:prstGeom>
          <a:noFill/>
          <a:ln/>
        </p:spPr>
        <p:txBody>
          <a:bodyPr wrap="none" lIns="0" tIns="0" rIns="0" bIns="0" rtlCol="0" anchor="t"/>
          <a:lstStyle/>
          <a:p>
            <a:pPr marL="0" indent="0" algn="l">
              <a:lnSpc>
                <a:spcPts val="4450"/>
              </a:lnSpc>
              <a:buNone/>
            </a:pPr>
            <a:r>
              <a:rPr lang="en-US" sz="3550" dirty="0">
                <a:solidFill>
                  <a:srgbClr val="2C3F42"/>
                </a:solidFill>
                <a:ea typeface="Bitter Medium" pitchFamily="34" charset="-122"/>
                <a:cs typeface="Bitter Medium" pitchFamily="34" charset="-120"/>
              </a:rPr>
              <a:t>What is PPP? The "Why" Behind the Protocol</a:t>
            </a:r>
            <a:endParaRPr lang="en-US" sz="3550" dirty="0"/>
          </a:p>
        </p:txBody>
      </p:sp>
      <p:sp>
        <p:nvSpPr>
          <p:cNvPr id="3" name="Text 1"/>
          <p:cNvSpPr/>
          <p:nvPr/>
        </p:nvSpPr>
        <p:spPr>
          <a:xfrm>
            <a:off x="793790" y="2906316"/>
            <a:ext cx="13042821" cy="725805"/>
          </a:xfrm>
          <a:prstGeom prst="rect">
            <a:avLst/>
          </a:prstGeom>
          <a:noFill/>
          <a:ln/>
        </p:spPr>
        <p:txBody>
          <a:bodyPr wrap="square" lIns="0" tIns="0" rIns="0" bIns="0" rtlCol="0" anchor="t"/>
          <a:lstStyle/>
          <a:p>
            <a:pPr marL="0" indent="0" algn="l">
              <a:lnSpc>
                <a:spcPts val="2850"/>
              </a:lnSpc>
              <a:buNone/>
            </a:pPr>
            <a:r>
              <a:rPr lang="en-US" sz="1750" dirty="0">
                <a:solidFill>
                  <a:srgbClr val="2B2E3C"/>
                </a:solidFill>
                <a:latin typeface="Open Sans" pitchFamily="34" charset="0"/>
                <a:ea typeface="Open Sans" pitchFamily="34" charset="-122"/>
                <a:cs typeface="Open Sans" pitchFamily="34" charset="-120"/>
              </a:rPr>
              <a:t>Point-to-Point Protocol (PPP) is more than just a connection; it's the fundamental link that enables modern networking. It acts as a dedicated bridge for your data, ensuring reliable communication between two points.</a:t>
            </a:r>
            <a:endParaRPr lang="en-US" sz="1750" dirty="0"/>
          </a:p>
        </p:txBody>
      </p:sp>
      <p:sp>
        <p:nvSpPr>
          <p:cNvPr id="4" name="Shape 2"/>
          <p:cNvSpPr/>
          <p:nvPr/>
        </p:nvSpPr>
        <p:spPr>
          <a:xfrm>
            <a:off x="793790" y="3887272"/>
            <a:ext cx="4196358" cy="2456617"/>
          </a:xfrm>
          <a:prstGeom prst="roundRect">
            <a:avLst>
              <a:gd name="adj" fmla="val 5956"/>
            </a:avLst>
          </a:prstGeom>
          <a:solidFill>
            <a:srgbClr val="FFF8F0"/>
          </a:solidFill>
          <a:ln w="30480">
            <a:solidFill>
              <a:srgbClr val="E2C8B5"/>
            </a:solidFill>
            <a:prstDash val="solid"/>
          </a:ln>
        </p:spPr>
        <p:txBody>
          <a:bodyPr/>
          <a:lstStyle/>
          <a:p>
            <a:endParaRPr lang="en-US"/>
          </a:p>
        </p:txBody>
      </p:sp>
      <p:sp>
        <p:nvSpPr>
          <p:cNvPr id="5" name="Shape 3"/>
          <p:cNvSpPr/>
          <p:nvPr/>
        </p:nvSpPr>
        <p:spPr>
          <a:xfrm>
            <a:off x="763310" y="3887272"/>
            <a:ext cx="121920" cy="2456617"/>
          </a:xfrm>
          <a:prstGeom prst="roundRect">
            <a:avLst>
              <a:gd name="adj" fmla="val 78139"/>
            </a:avLst>
          </a:prstGeom>
          <a:solidFill>
            <a:srgbClr val="D2600F"/>
          </a:solidFill>
          <a:ln/>
        </p:spPr>
        <p:txBody>
          <a:bodyPr/>
          <a:lstStyle/>
          <a:p>
            <a:endParaRPr lang="en-US"/>
          </a:p>
        </p:txBody>
      </p:sp>
      <p:sp>
        <p:nvSpPr>
          <p:cNvPr id="6" name="Text 4"/>
          <p:cNvSpPr/>
          <p:nvPr/>
        </p:nvSpPr>
        <p:spPr>
          <a:xfrm>
            <a:off x="1142524" y="4144566"/>
            <a:ext cx="2835235" cy="354330"/>
          </a:xfrm>
          <a:prstGeom prst="rect">
            <a:avLst/>
          </a:prstGeom>
          <a:noFill/>
          <a:ln/>
        </p:spPr>
        <p:txBody>
          <a:bodyPr wrap="none" lIns="0" tIns="0" rIns="0" bIns="0" rtlCol="0" anchor="t"/>
          <a:lstStyle/>
          <a:p>
            <a:pPr marL="0" indent="0" algn="l">
              <a:lnSpc>
                <a:spcPts val="2750"/>
              </a:lnSpc>
              <a:buNone/>
            </a:pPr>
            <a:r>
              <a:rPr lang="en-US" sz="2200" dirty="0">
                <a:solidFill>
                  <a:srgbClr val="2B2E3C"/>
                </a:solidFill>
                <a:ea typeface="Bitter Medium" pitchFamily="34" charset="-122"/>
                <a:cs typeface="Bitter Medium" pitchFamily="34" charset="-120"/>
              </a:rPr>
              <a:t>Direct Connection</a:t>
            </a:r>
            <a:endParaRPr lang="en-US" sz="2200" dirty="0"/>
          </a:p>
        </p:txBody>
      </p:sp>
      <p:sp>
        <p:nvSpPr>
          <p:cNvPr id="7" name="Text 5"/>
          <p:cNvSpPr/>
          <p:nvPr/>
        </p:nvSpPr>
        <p:spPr>
          <a:xfrm>
            <a:off x="1142524" y="4634984"/>
            <a:ext cx="3590330" cy="1088708"/>
          </a:xfrm>
          <a:prstGeom prst="rect">
            <a:avLst/>
          </a:prstGeom>
          <a:noFill/>
          <a:ln/>
        </p:spPr>
        <p:txBody>
          <a:bodyPr wrap="square" lIns="0" tIns="0" rIns="0" bIns="0" rtlCol="0" anchor="t"/>
          <a:lstStyle/>
          <a:p>
            <a:pPr marL="0" indent="0" algn="l">
              <a:lnSpc>
                <a:spcPts val="2850"/>
              </a:lnSpc>
              <a:buNone/>
            </a:pPr>
            <a:r>
              <a:rPr lang="en-US" sz="1750" dirty="0">
                <a:solidFill>
                  <a:srgbClr val="2B2E3C"/>
                </a:solidFill>
                <a:latin typeface="Open Sans" pitchFamily="34" charset="0"/>
                <a:ea typeface="Open Sans" pitchFamily="34" charset="-122"/>
                <a:cs typeface="Open Sans" pitchFamily="34" charset="-120"/>
              </a:rPr>
              <a:t>Connects two nodes directly, like your home PC to your Internet Service Provider (ISP).</a:t>
            </a:r>
            <a:endParaRPr lang="en-US" sz="1750" dirty="0"/>
          </a:p>
        </p:txBody>
      </p:sp>
      <p:sp>
        <p:nvSpPr>
          <p:cNvPr id="8" name="Shape 6"/>
          <p:cNvSpPr/>
          <p:nvPr/>
        </p:nvSpPr>
        <p:spPr>
          <a:xfrm>
            <a:off x="5216962" y="3887272"/>
            <a:ext cx="4196358" cy="2456617"/>
          </a:xfrm>
          <a:prstGeom prst="roundRect">
            <a:avLst>
              <a:gd name="adj" fmla="val 5956"/>
            </a:avLst>
          </a:prstGeom>
          <a:solidFill>
            <a:srgbClr val="FFF8F0"/>
          </a:solidFill>
          <a:ln w="30480">
            <a:solidFill>
              <a:srgbClr val="E2C8B5"/>
            </a:solidFill>
            <a:prstDash val="solid"/>
          </a:ln>
        </p:spPr>
        <p:txBody>
          <a:bodyPr/>
          <a:lstStyle/>
          <a:p>
            <a:endParaRPr lang="en-US"/>
          </a:p>
        </p:txBody>
      </p:sp>
      <p:sp>
        <p:nvSpPr>
          <p:cNvPr id="9" name="Shape 7"/>
          <p:cNvSpPr/>
          <p:nvPr/>
        </p:nvSpPr>
        <p:spPr>
          <a:xfrm>
            <a:off x="5186482" y="3887272"/>
            <a:ext cx="121920" cy="2456617"/>
          </a:xfrm>
          <a:prstGeom prst="roundRect">
            <a:avLst>
              <a:gd name="adj" fmla="val 78139"/>
            </a:avLst>
          </a:prstGeom>
          <a:solidFill>
            <a:srgbClr val="D2600F"/>
          </a:solidFill>
          <a:ln/>
        </p:spPr>
        <p:txBody>
          <a:bodyPr/>
          <a:lstStyle/>
          <a:p>
            <a:endParaRPr lang="en-US"/>
          </a:p>
        </p:txBody>
      </p:sp>
      <p:sp>
        <p:nvSpPr>
          <p:cNvPr id="10" name="Text 8"/>
          <p:cNvSpPr/>
          <p:nvPr/>
        </p:nvSpPr>
        <p:spPr>
          <a:xfrm>
            <a:off x="5565696" y="4144566"/>
            <a:ext cx="2835235" cy="354330"/>
          </a:xfrm>
          <a:prstGeom prst="rect">
            <a:avLst/>
          </a:prstGeom>
          <a:noFill/>
          <a:ln/>
        </p:spPr>
        <p:txBody>
          <a:bodyPr wrap="none" lIns="0" tIns="0" rIns="0" bIns="0" rtlCol="0" anchor="t"/>
          <a:lstStyle/>
          <a:p>
            <a:pPr marL="0" indent="0" algn="l">
              <a:lnSpc>
                <a:spcPts val="2750"/>
              </a:lnSpc>
              <a:buNone/>
            </a:pPr>
            <a:r>
              <a:rPr lang="en-US" sz="2200" dirty="0">
                <a:solidFill>
                  <a:srgbClr val="2B2E3C"/>
                </a:solidFill>
                <a:ea typeface="Bitter Medium" pitchFamily="34" charset="-122"/>
                <a:cs typeface="Bitter Medium" pitchFamily="34" charset="-120"/>
              </a:rPr>
              <a:t>Data Link Layer</a:t>
            </a:r>
            <a:endParaRPr lang="en-US" sz="2200" dirty="0"/>
          </a:p>
        </p:txBody>
      </p:sp>
      <p:sp>
        <p:nvSpPr>
          <p:cNvPr id="11" name="Text 9"/>
          <p:cNvSpPr/>
          <p:nvPr/>
        </p:nvSpPr>
        <p:spPr>
          <a:xfrm>
            <a:off x="5565696" y="4634984"/>
            <a:ext cx="3590330" cy="1088708"/>
          </a:xfrm>
          <a:prstGeom prst="rect">
            <a:avLst/>
          </a:prstGeom>
          <a:noFill/>
          <a:ln/>
        </p:spPr>
        <p:txBody>
          <a:bodyPr wrap="square" lIns="0" tIns="0" rIns="0" bIns="0" rtlCol="0" anchor="t"/>
          <a:lstStyle/>
          <a:p>
            <a:pPr marL="0" indent="0" algn="l">
              <a:lnSpc>
                <a:spcPts val="2850"/>
              </a:lnSpc>
              <a:buNone/>
            </a:pPr>
            <a:r>
              <a:rPr lang="en-US" sz="1750" dirty="0">
                <a:solidFill>
                  <a:srgbClr val="2B2E3C"/>
                </a:solidFill>
                <a:latin typeface="Open Sans" pitchFamily="34" charset="0"/>
                <a:ea typeface="Open Sans" pitchFamily="34" charset="-122"/>
                <a:cs typeface="Open Sans" pitchFamily="34" charset="-120"/>
              </a:rPr>
              <a:t>Operates at Layer 2 of the OSI model, handling framing and error detection for direct links.</a:t>
            </a:r>
            <a:endParaRPr lang="en-US" sz="1750" dirty="0"/>
          </a:p>
        </p:txBody>
      </p:sp>
      <p:sp>
        <p:nvSpPr>
          <p:cNvPr id="12" name="Shape 10"/>
          <p:cNvSpPr/>
          <p:nvPr/>
        </p:nvSpPr>
        <p:spPr>
          <a:xfrm>
            <a:off x="9640133" y="3887272"/>
            <a:ext cx="4196358" cy="2456617"/>
          </a:xfrm>
          <a:prstGeom prst="roundRect">
            <a:avLst>
              <a:gd name="adj" fmla="val 5956"/>
            </a:avLst>
          </a:prstGeom>
          <a:solidFill>
            <a:srgbClr val="FFF8F0"/>
          </a:solidFill>
          <a:ln w="30480">
            <a:solidFill>
              <a:srgbClr val="E2C8B5"/>
            </a:solidFill>
            <a:prstDash val="solid"/>
          </a:ln>
        </p:spPr>
        <p:txBody>
          <a:bodyPr/>
          <a:lstStyle/>
          <a:p>
            <a:endParaRPr lang="en-US"/>
          </a:p>
        </p:txBody>
      </p:sp>
      <p:sp>
        <p:nvSpPr>
          <p:cNvPr id="13" name="Shape 11"/>
          <p:cNvSpPr/>
          <p:nvPr/>
        </p:nvSpPr>
        <p:spPr>
          <a:xfrm>
            <a:off x="9609653" y="3887272"/>
            <a:ext cx="121920" cy="2456617"/>
          </a:xfrm>
          <a:prstGeom prst="roundRect">
            <a:avLst>
              <a:gd name="adj" fmla="val 78139"/>
            </a:avLst>
          </a:prstGeom>
          <a:solidFill>
            <a:srgbClr val="D2600F"/>
          </a:solidFill>
          <a:ln/>
        </p:spPr>
        <p:txBody>
          <a:bodyPr/>
          <a:lstStyle/>
          <a:p>
            <a:endParaRPr lang="en-US"/>
          </a:p>
        </p:txBody>
      </p:sp>
      <p:sp>
        <p:nvSpPr>
          <p:cNvPr id="14" name="Text 12"/>
          <p:cNvSpPr/>
          <p:nvPr/>
        </p:nvSpPr>
        <p:spPr>
          <a:xfrm>
            <a:off x="9988868" y="4144566"/>
            <a:ext cx="2835235" cy="354330"/>
          </a:xfrm>
          <a:prstGeom prst="rect">
            <a:avLst/>
          </a:prstGeom>
          <a:noFill/>
          <a:ln/>
        </p:spPr>
        <p:txBody>
          <a:bodyPr wrap="none" lIns="0" tIns="0" rIns="0" bIns="0" rtlCol="0" anchor="t"/>
          <a:lstStyle/>
          <a:p>
            <a:pPr marL="0" indent="0" algn="l">
              <a:lnSpc>
                <a:spcPts val="2750"/>
              </a:lnSpc>
              <a:buNone/>
            </a:pPr>
            <a:r>
              <a:rPr lang="en-US" sz="2200" dirty="0">
                <a:solidFill>
                  <a:srgbClr val="2B2E3C"/>
                </a:solidFill>
                <a:ea typeface="Bitter Medium" pitchFamily="34" charset="-122"/>
                <a:cs typeface="Bitter Medium" pitchFamily="34" charset="-120"/>
              </a:rPr>
              <a:t>High Versatility</a:t>
            </a:r>
            <a:endParaRPr lang="en-US" sz="2200" dirty="0"/>
          </a:p>
        </p:txBody>
      </p:sp>
      <p:sp>
        <p:nvSpPr>
          <p:cNvPr id="15" name="Text 13"/>
          <p:cNvSpPr/>
          <p:nvPr/>
        </p:nvSpPr>
        <p:spPr>
          <a:xfrm>
            <a:off x="9988868" y="4634984"/>
            <a:ext cx="3590330" cy="1451610"/>
          </a:xfrm>
          <a:prstGeom prst="rect">
            <a:avLst/>
          </a:prstGeom>
          <a:noFill/>
          <a:ln/>
        </p:spPr>
        <p:txBody>
          <a:bodyPr wrap="square" lIns="0" tIns="0" rIns="0" bIns="0" rtlCol="0" anchor="t"/>
          <a:lstStyle/>
          <a:p>
            <a:pPr marL="0" indent="0" algn="l">
              <a:lnSpc>
                <a:spcPts val="2850"/>
              </a:lnSpc>
              <a:buNone/>
            </a:pPr>
            <a:r>
              <a:rPr lang="en-US" sz="1750" dirty="0">
                <a:solidFill>
                  <a:srgbClr val="2B2E3C"/>
                </a:solidFill>
                <a:latin typeface="Open Sans" pitchFamily="34" charset="0"/>
                <a:ea typeface="Open Sans" pitchFamily="34" charset="-122"/>
                <a:cs typeface="Open Sans" pitchFamily="34" charset="-120"/>
              </a:rPr>
              <a:t>Works seamlessly over both synchronous and asynchronous lines, adapting to various physical media.</a:t>
            </a:r>
            <a:endParaRPr lang="en-US" sz="1750" dirty="0"/>
          </a:p>
        </p:txBody>
      </p:sp>
      <p:sp>
        <p:nvSpPr>
          <p:cNvPr id="16" name="Rounded Rectangle 15">
            <a:extLst>
              <a:ext uri="{FF2B5EF4-FFF2-40B4-BE49-F238E27FC236}">
                <a16:creationId xmlns:a16="http://schemas.microsoft.com/office/drawing/2014/main" id="{92B8200D-EE6A-DB17-DC48-F73EE27AC197}"/>
              </a:ext>
            </a:extLst>
          </p:cNvPr>
          <p:cNvSpPr/>
          <p:nvPr/>
        </p:nvSpPr>
        <p:spPr>
          <a:xfrm flipV="1">
            <a:off x="12870180" y="7795260"/>
            <a:ext cx="1668780" cy="331471"/>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793790" y="2184202"/>
            <a:ext cx="8443436" cy="566976"/>
          </a:xfrm>
          <a:prstGeom prst="rect">
            <a:avLst/>
          </a:prstGeom>
          <a:noFill/>
          <a:ln/>
        </p:spPr>
        <p:txBody>
          <a:bodyPr wrap="none" lIns="0" tIns="0" rIns="0" bIns="0" rtlCol="0" anchor="t"/>
          <a:lstStyle/>
          <a:p>
            <a:pPr marL="0" indent="0" algn="l">
              <a:lnSpc>
                <a:spcPts val="4450"/>
              </a:lnSpc>
              <a:buNone/>
            </a:pPr>
            <a:r>
              <a:rPr lang="en-US" sz="3550" dirty="0">
                <a:solidFill>
                  <a:srgbClr val="2C3F42"/>
                </a:solidFill>
                <a:ea typeface="Bitter Medium" pitchFamily="34" charset="-122"/>
                <a:cs typeface="Bitter Medium" pitchFamily="34" charset="-120"/>
              </a:rPr>
              <a:t>PPP vs. HDLC: An Evolution in Data Links</a:t>
            </a:r>
            <a:endParaRPr lang="en-US" sz="3550" dirty="0"/>
          </a:p>
        </p:txBody>
      </p:sp>
      <p:sp>
        <p:nvSpPr>
          <p:cNvPr id="3" name="Text 1"/>
          <p:cNvSpPr/>
          <p:nvPr/>
        </p:nvSpPr>
        <p:spPr>
          <a:xfrm>
            <a:off x="793790" y="3091339"/>
            <a:ext cx="13042821" cy="1088708"/>
          </a:xfrm>
          <a:prstGeom prst="rect">
            <a:avLst/>
          </a:prstGeom>
          <a:noFill/>
          <a:ln/>
        </p:spPr>
        <p:txBody>
          <a:bodyPr wrap="square" lIns="0" tIns="0" rIns="0" bIns="0" rtlCol="0" anchor="t"/>
          <a:lstStyle/>
          <a:p>
            <a:pPr marL="0" indent="0" algn="l">
              <a:lnSpc>
                <a:spcPts val="2850"/>
              </a:lnSpc>
              <a:buNone/>
            </a:pPr>
            <a:r>
              <a:rPr lang="en-US" sz="1750" dirty="0">
                <a:solidFill>
                  <a:srgbClr val="2B2E3C"/>
                </a:solidFill>
                <a:latin typeface="Open Sans" pitchFamily="34" charset="0"/>
                <a:ea typeface="Open Sans" pitchFamily="34" charset="-122"/>
                <a:cs typeface="Open Sans" pitchFamily="34" charset="-120"/>
              </a:rPr>
              <a:t>While PPP is rooted in High-Level Data Link Control (HDLC), it introduces crucial enhancements, making it far more adaptable and functional for diverse networking needs. The key distinction lies in its added "Protocol" field, which brings intelligence to the data link.</a:t>
            </a:r>
            <a:endParaRPr lang="en-US" sz="1750" dirty="0"/>
          </a:p>
        </p:txBody>
      </p:sp>
      <p:sp>
        <p:nvSpPr>
          <p:cNvPr id="4" name="Text 2"/>
          <p:cNvSpPr/>
          <p:nvPr/>
        </p:nvSpPr>
        <p:spPr>
          <a:xfrm>
            <a:off x="793790" y="4435197"/>
            <a:ext cx="13042821" cy="362903"/>
          </a:xfrm>
          <a:prstGeom prst="rect">
            <a:avLst/>
          </a:prstGeom>
          <a:noFill/>
          <a:ln/>
        </p:spPr>
        <p:txBody>
          <a:bodyPr wrap="none" lIns="0" tIns="0" rIns="0" bIns="0" rtlCol="0" anchor="t"/>
          <a:lstStyle/>
          <a:p>
            <a:pPr marL="342900" indent="-342900" algn="l">
              <a:lnSpc>
                <a:spcPts val="2850"/>
              </a:lnSpc>
              <a:buSzPct val="100000"/>
              <a:buChar char="•"/>
            </a:pPr>
            <a:r>
              <a:rPr lang="en-US" sz="1750" b="1" dirty="0">
                <a:solidFill>
                  <a:srgbClr val="2B2E3C"/>
                </a:solidFill>
                <a:latin typeface="Open Sans" pitchFamily="34" charset="0"/>
                <a:ea typeface="Open Sans" pitchFamily="34" charset="-122"/>
                <a:cs typeface="Open Sans" pitchFamily="34" charset="-120"/>
              </a:rPr>
              <a:t>HDLC Foundation:</a:t>
            </a:r>
            <a:r>
              <a:rPr lang="en-US" sz="1750" dirty="0">
                <a:solidFill>
                  <a:srgbClr val="2B2E3C"/>
                </a:solidFill>
                <a:latin typeface="Open Sans" pitchFamily="34" charset="0"/>
                <a:ea typeface="Open Sans" pitchFamily="34" charset="-122"/>
                <a:cs typeface="Open Sans" pitchFamily="34" charset="-120"/>
              </a:rPr>
              <a:t> PPP builds upon HDLC's framing mechanisms for data transmission.</a:t>
            </a:r>
            <a:endParaRPr lang="en-US" sz="1750" dirty="0"/>
          </a:p>
        </p:txBody>
      </p:sp>
      <p:sp>
        <p:nvSpPr>
          <p:cNvPr id="5" name="Text 3"/>
          <p:cNvSpPr/>
          <p:nvPr/>
        </p:nvSpPr>
        <p:spPr>
          <a:xfrm>
            <a:off x="793790" y="4877395"/>
            <a:ext cx="13042821" cy="725805"/>
          </a:xfrm>
          <a:prstGeom prst="rect">
            <a:avLst/>
          </a:prstGeom>
          <a:noFill/>
          <a:ln/>
        </p:spPr>
        <p:txBody>
          <a:bodyPr wrap="square" lIns="0" tIns="0" rIns="0" bIns="0" rtlCol="0" anchor="t"/>
          <a:lstStyle/>
          <a:p>
            <a:pPr marL="342900" indent="-342900" algn="l">
              <a:lnSpc>
                <a:spcPts val="2850"/>
              </a:lnSpc>
              <a:buSzPct val="100000"/>
              <a:buChar char="•"/>
            </a:pPr>
            <a:r>
              <a:rPr lang="en-US" sz="1750" b="1" dirty="0">
                <a:solidFill>
                  <a:srgbClr val="2B2E3C"/>
                </a:solidFill>
                <a:latin typeface="Open Sans" pitchFamily="34" charset="0"/>
                <a:ea typeface="Open Sans" pitchFamily="34" charset="-122"/>
                <a:cs typeface="Open Sans" pitchFamily="34" charset="-120"/>
              </a:rPr>
              <a:t>The "Protocol" Field:</a:t>
            </a:r>
            <a:r>
              <a:rPr lang="en-US" sz="1750" dirty="0">
                <a:solidFill>
                  <a:srgbClr val="2B2E3C"/>
                </a:solidFill>
                <a:latin typeface="Open Sans" pitchFamily="34" charset="0"/>
                <a:ea typeface="Open Sans" pitchFamily="34" charset="-122"/>
                <a:cs typeface="Open Sans" pitchFamily="34" charset="-120"/>
              </a:rPr>
              <a:t> This critical addition allows PPP to identify the network layer protocol encapsulated within the frame.</a:t>
            </a:r>
            <a:endParaRPr lang="en-US" sz="1750" dirty="0"/>
          </a:p>
        </p:txBody>
      </p:sp>
      <p:sp>
        <p:nvSpPr>
          <p:cNvPr id="6" name="Text 4"/>
          <p:cNvSpPr/>
          <p:nvPr/>
        </p:nvSpPr>
        <p:spPr>
          <a:xfrm>
            <a:off x="793790" y="5682496"/>
            <a:ext cx="13042821" cy="362903"/>
          </a:xfrm>
          <a:prstGeom prst="rect">
            <a:avLst/>
          </a:prstGeom>
          <a:noFill/>
          <a:ln/>
        </p:spPr>
        <p:txBody>
          <a:bodyPr wrap="none" lIns="0" tIns="0" rIns="0" bIns="0" rtlCol="0" anchor="t"/>
          <a:lstStyle/>
          <a:p>
            <a:pPr marL="342900" indent="-342900" algn="l">
              <a:lnSpc>
                <a:spcPts val="2850"/>
              </a:lnSpc>
              <a:buSzPct val="100000"/>
              <a:buChar char="•"/>
            </a:pPr>
            <a:r>
              <a:rPr lang="en-US" sz="1750" b="1" dirty="0">
                <a:solidFill>
                  <a:srgbClr val="2B2E3C"/>
                </a:solidFill>
                <a:latin typeface="Open Sans" pitchFamily="34" charset="0"/>
                <a:ea typeface="Open Sans" pitchFamily="34" charset="-122"/>
                <a:cs typeface="Open Sans" pitchFamily="34" charset="-120"/>
              </a:rPr>
              <a:t>Enhanced Flexibility:</a:t>
            </a:r>
            <a:r>
              <a:rPr lang="en-US" sz="1750" dirty="0">
                <a:solidFill>
                  <a:srgbClr val="2B2E3C"/>
                </a:solidFill>
                <a:latin typeface="Open Sans" pitchFamily="34" charset="0"/>
                <a:ea typeface="Open Sans" pitchFamily="34" charset="-122"/>
                <a:cs typeface="Open Sans" pitchFamily="34" charset="-120"/>
              </a:rPr>
              <a:t> Unlike HDLC, PPP isn't limited to a single network layer protocol, offering greater versatility.</a:t>
            </a:r>
            <a:endParaRPr lang="en-US" sz="1750" dirty="0"/>
          </a:p>
        </p:txBody>
      </p:sp>
      <p:sp>
        <p:nvSpPr>
          <p:cNvPr id="7" name="Rounded Rectangle 6">
            <a:extLst>
              <a:ext uri="{FF2B5EF4-FFF2-40B4-BE49-F238E27FC236}">
                <a16:creationId xmlns:a16="http://schemas.microsoft.com/office/drawing/2014/main" id="{26E75719-055B-F261-3789-E36979D388D7}"/>
              </a:ext>
            </a:extLst>
          </p:cNvPr>
          <p:cNvSpPr/>
          <p:nvPr/>
        </p:nvSpPr>
        <p:spPr>
          <a:xfrm flipV="1">
            <a:off x="12870180" y="7795260"/>
            <a:ext cx="1668780" cy="331471"/>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801410" y="1254918"/>
            <a:ext cx="8668822" cy="566976"/>
          </a:xfrm>
          <a:prstGeom prst="rect">
            <a:avLst/>
          </a:prstGeom>
          <a:noFill/>
          <a:ln/>
        </p:spPr>
        <p:txBody>
          <a:bodyPr wrap="none" lIns="0" tIns="0" rIns="0" bIns="0" rtlCol="0" anchor="t"/>
          <a:lstStyle/>
          <a:p>
            <a:pPr marL="0" indent="0" algn="l">
              <a:lnSpc>
                <a:spcPts val="4450"/>
              </a:lnSpc>
              <a:buNone/>
            </a:pPr>
            <a:r>
              <a:rPr lang="en-US" sz="3550" dirty="0">
                <a:solidFill>
                  <a:srgbClr val="2C3F42"/>
                </a:solidFill>
                <a:ea typeface="Bitter Medium" pitchFamily="34" charset="-122"/>
                <a:cs typeface="Bitter Medium" pitchFamily="34" charset="-120"/>
              </a:rPr>
              <a:t>The PPP Frame: Anatomy of a Data Packet</a:t>
            </a:r>
            <a:endParaRPr lang="en-US" sz="3550" dirty="0"/>
          </a:p>
        </p:txBody>
      </p:sp>
      <p:sp>
        <p:nvSpPr>
          <p:cNvPr id="3" name="Text 1"/>
          <p:cNvSpPr/>
          <p:nvPr/>
        </p:nvSpPr>
        <p:spPr>
          <a:xfrm>
            <a:off x="793790" y="2842498"/>
            <a:ext cx="13042821" cy="725805"/>
          </a:xfrm>
          <a:prstGeom prst="rect">
            <a:avLst/>
          </a:prstGeom>
          <a:noFill/>
          <a:ln/>
        </p:spPr>
        <p:txBody>
          <a:bodyPr wrap="square" lIns="0" tIns="0" rIns="0" bIns="0" rtlCol="0" anchor="t"/>
          <a:lstStyle/>
          <a:p>
            <a:pPr marL="0" indent="0" algn="l">
              <a:lnSpc>
                <a:spcPts val="2850"/>
              </a:lnSpc>
              <a:buNone/>
            </a:pPr>
            <a:r>
              <a:rPr lang="en-US" sz="1750" dirty="0">
                <a:solidFill>
                  <a:srgbClr val="2B2E3C"/>
                </a:solidFill>
                <a:latin typeface="Open Sans" pitchFamily="34" charset="0"/>
                <a:ea typeface="Open Sans" pitchFamily="34" charset="-122"/>
                <a:cs typeface="Open Sans" pitchFamily="34" charset="-120"/>
              </a:rPr>
              <a:t>Understanding the structure of a PPP frame is essential to grasp how data is efficiently encapsulated and transported across a point-to-point link. Each field plays a specific role in ensuring reliable communication.</a:t>
            </a:r>
            <a:endParaRPr lang="en-US" sz="1750" dirty="0"/>
          </a:p>
        </p:txBody>
      </p:sp>
      <p:sp>
        <p:nvSpPr>
          <p:cNvPr id="4" name="Shape 2"/>
          <p:cNvSpPr/>
          <p:nvPr/>
        </p:nvSpPr>
        <p:spPr>
          <a:xfrm>
            <a:off x="793790" y="3823454"/>
            <a:ext cx="13042821" cy="1966198"/>
          </a:xfrm>
          <a:prstGeom prst="roundRect">
            <a:avLst>
              <a:gd name="adj" fmla="val 4845"/>
            </a:avLst>
          </a:prstGeom>
          <a:noFill/>
          <a:ln w="7620">
            <a:solidFill>
              <a:srgbClr val="000000">
                <a:alpha val="8000"/>
              </a:srgbClr>
            </a:solidFill>
            <a:prstDash val="solid"/>
          </a:ln>
        </p:spPr>
        <p:txBody>
          <a:bodyPr/>
          <a:lstStyle/>
          <a:p>
            <a:endParaRPr lang="en-US"/>
          </a:p>
        </p:txBody>
      </p:sp>
      <p:sp>
        <p:nvSpPr>
          <p:cNvPr id="5" name="Shape 3"/>
          <p:cNvSpPr/>
          <p:nvPr/>
        </p:nvSpPr>
        <p:spPr>
          <a:xfrm>
            <a:off x="801410" y="3831074"/>
            <a:ext cx="13027581" cy="650319"/>
          </a:xfrm>
          <a:prstGeom prst="rect">
            <a:avLst/>
          </a:prstGeom>
          <a:solidFill>
            <a:srgbClr val="FFFFFF">
              <a:alpha val="4000"/>
            </a:srgbClr>
          </a:solidFill>
          <a:ln/>
        </p:spPr>
        <p:txBody>
          <a:bodyPr/>
          <a:lstStyle/>
          <a:p>
            <a:endParaRPr lang="en-US"/>
          </a:p>
        </p:txBody>
      </p:sp>
      <p:sp>
        <p:nvSpPr>
          <p:cNvPr id="6" name="Text 4"/>
          <p:cNvSpPr/>
          <p:nvPr/>
        </p:nvSpPr>
        <p:spPr>
          <a:xfrm>
            <a:off x="1028462" y="3974783"/>
            <a:ext cx="2148007" cy="362903"/>
          </a:xfrm>
          <a:prstGeom prst="rect">
            <a:avLst/>
          </a:prstGeom>
          <a:noFill/>
          <a:ln/>
        </p:spPr>
        <p:txBody>
          <a:bodyPr wrap="none" lIns="0" tIns="0" rIns="0" bIns="0" rtlCol="0" anchor="t"/>
          <a:lstStyle/>
          <a:p>
            <a:pPr marL="0" indent="0" algn="l">
              <a:lnSpc>
                <a:spcPts val="2850"/>
              </a:lnSpc>
              <a:buNone/>
            </a:pPr>
            <a:r>
              <a:rPr lang="en-US" sz="1750" dirty="0">
                <a:solidFill>
                  <a:srgbClr val="2B2E3C"/>
                </a:solidFill>
                <a:latin typeface="Open Sans" pitchFamily="34" charset="0"/>
                <a:ea typeface="Open Sans" pitchFamily="34" charset="-122"/>
                <a:cs typeface="Open Sans" pitchFamily="34" charset="-120"/>
              </a:rPr>
              <a:t>Flag</a:t>
            </a:r>
            <a:endParaRPr lang="en-US" sz="1750" dirty="0"/>
          </a:p>
        </p:txBody>
      </p:sp>
      <p:sp>
        <p:nvSpPr>
          <p:cNvPr id="7" name="Text 5"/>
          <p:cNvSpPr/>
          <p:nvPr/>
        </p:nvSpPr>
        <p:spPr>
          <a:xfrm>
            <a:off x="3637717" y="3974783"/>
            <a:ext cx="2144197" cy="362903"/>
          </a:xfrm>
          <a:prstGeom prst="rect">
            <a:avLst/>
          </a:prstGeom>
          <a:noFill/>
          <a:ln/>
        </p:spPr>
        <p:txBody>
          <a:bodyPr wrap="none" lIns="0" tIns="0" rIns="0" bIns="0" rtlCol="0" anchor="t"/>
          <a:lstStyle/>
          <a:p>
            <a:pPr marL="0" indent="0" algn="l">
              <a:lnSpc>
                <a:spcPts val="2850"/>
              </a:lnSpc>
              <a:buNone/>
            </a:pPr>
            <a:r>
              <a:rPr lang="en-US" sz="1750" dirty="0">
                <a:solidFill>
                  <a:srgbClr val="2B2E3C"/>
                </a:solidFill>
                <a:latin typeface="Open Sans" pitchFamily="34" charset="0"/>
                <a:ea typeface="Open Sans" pitchFamily="34" charset="-122"/>
                <a:cs typeface="Open Sans" pitchFamily="34" charset="-120"/>
              </a:rPr>
              <a:t>1 Byte</a:t>
            </a:r>
            <a:endParaRPr lang="en-US" sz="1750" dirty="0"/>
          </a:p>
        </p:txBody>
      </p:sp>
      <p:sp>
        <p:nvSpPr>
          <p:cNvPr id="8" name="Text 6"/>
          <p:cNvSpPr/>
          <p:nvPr/>
        </p:nvSpPr>
        <p:spPr>
          <a:xfrm>
            <a:off x="6243161" y="3974783"/>
            <a:ext cx="7359015" cy="362903"/>
          </a:xfrm>
          <a:prstGeom prst="rect">
            <a:avLst/>
          </a:prstGeom>
          <a:noFill/>
          <a:ln/>
        </p:spPr>
        <p:txBody>
          <a:bodyPr wrap="none" lIns="0" tIns="0" rIns="0" bIns="0" rtlCol="0" anchor="t"/>
          <a:lstStyle/>
          <a:p>
            <a:pPr marL="0" indent="0" algn="l">
              <a:lnSpc>
                <a:spcPts val="2850"/>
              </a:lnSpc>
              <a:buNone/>
            </a:pPr>
            <a:r>
              <a:rPr lang="en-US" sz="1750" dirty="0">
                <a:solidFill>
                  <a:srgbClr val="2B2E3C"/>
                </a:solidFill>
                <a:latin typeface="Open Sans" pitchFamily="34" charset="0"/>
                <a:ea typeface="Open Sans" pitchFamily="34" charset="-122"/>
                <a:cs typeface="Open Sans" pitchFamily="34" charset="-120"/>
              </a:rPr>
              <a:t>Marks the start and end of a frame (01111110).</a:t>
            </a:r>
            <a:endParaRPr lang="en-US" sz="1750" dirty="0"/>
          </a:p>
        </p:txBody>
      </p:sp>
      <p:sp>
        <p:nvSpPr>
          <p:cNvPr id="9" name="Shape 7"/>
          <p:cNvSpPr/>
          <p:nvPr/>
        </p:nvSpPr>
        <p:spPr>
          <a:xfrm>
            <a:off x="801410" y="4481393"/>
            <a:ext cx="13027581" cy="650319"/>
          </a:xfrm>
          <a:prstGeom prst="rect">
            <a:avLst/>
          </a:prstGeom>
          <a:solidFill>
            <a:srgbClr val="000000">
              <a:alpha val="4000"/>
            </a:srgbClr>
          </a:solidFill>
          <a:ln/>
        </p:spPr>
        <p:txBody>
          <a:bodyPr/>
          <a:lstStyle/>
          <a:p>
            <a:endParaRPr lang="en-US" dirty="0"/>
          </a:p>
        </p:txBody>
      </p:sp>
      <p:sp>
        <p:nvSpPr>
          <p:cNvPr id="10" name="Text 8"/>
          <p:cNvSpPr/>
          <p:nvPr/>
        </p:nvSpPr>
        <p:spPr>
          <a:xfrm>
            <a:off x="1028462" y="4625102"/>
            <a:ext cx="2148007" cy="362903"/>
          </a:xfrm>
          <a:prstGeom prst="rect">
            <a:avLst/>
          </a:prstGeom>
          <a:noFill/>
          <a:ln/>
        </p:spPr>
        <p:txBody>
          <a:bodyPr wrap="none" lIns="0" tIns="0" rIns="0" bIns="0" rtlCol="0" anchor="t"/>
          <a:lstStyle/>
          <a:p>
            <a:pPr marL="0" indent="0" algn="l">
              <a:lnSpc>
                <a:spcPts val="2850"/>
              </a:lnSpc>
              <a:buNone/>
            </a:pPr>
            <a:r>
              <a:rPr lang="en-US" sz="1750" dirty="0">
                <a:solidFill>
                  <a:srgbClr val="2B2E3C"/>
                </a:solidFill>
                <a:latin typeface="Open Sans" pitchFamily="34" charset="0"/>
                <a:ea typeface="Open Sans" pitchFamily="34" charset="-122"/>
                <a:cs typeface="Open Sans" pitchFamily="34" charset="-120"/>
              </a:rPr>
              <a:t>Address</a:t>
            </a:r>
            <a:endParaRPr lang="en-US" sz="1750" dirty="0"/>
          </a:p>
        </p:txBody>
      </p:sp>
      <p:sp>
        <p:nvSpPr>
          <p:cNvPr id="11" name="Text 9"/>
          <p:cNvSpPr/>
          <p:nvPr/>
        </p:nvSpPr>
        <p:spPr>
          <a:xfrm>
            <a:off x="3637717" y="4625102"/>
            <a:ext cx="2144197" cy="362903"/>
          </a:xfrm>
          <a:prstGeom prst="rect">
            <a:avLst/>
          </a:prstGeom>
          <a:noFill/>
          <a:ln/>
        </p:spPr>
        <p:txBody>
          <a:bodyPr wrap="none" lIns="0" tIns="0" rIns="0" bIns="0" rtlCol="0" anchor="t"/>
          <a:lstStyle/>
          <a:p>
            <a:pPr marL="0" indent="0" algn="l">
              <a:lnSpc>
                <a:spcPts val="2850"/>
              </a:lnSpc>
              <a:buNone/>
            </a:pPr>
            <a:r>
              <a:rPr lang="en-US" sz="1750" dirty="0">
                <a:solidFill>
                  <a:srgbClr val="2B2E3C"/>
                </a:solidFill>
                <a:latin typeface="Open Sans" pitchFamily="34" charset="0"/>
                <a:ea typeface="Open Sans" pitchFamily="34" charset="-122"/>
                <a:cs typeface="Open Sans" pitchFamily="34" charset="-120"/>
              </a:rPr>
              <a:t>1 Byte</a:t>
            </a:r>
            <a:endParaRPr lang="en-US" sz="1750" dirty="0"/>
          </a:p>
        </p:txBody>
      </p:sp>
      <p:sp>
        <p:nvSpPr>
          <p:cNvPr id="12" name="Text 10"/>
          <p:cNvSpPr/>
          <p:nvPr/>
        </p:nvSpPr>
        <p:spPr>
          <a:xfrm>
            <a:off x="6243161" y="4625102"/>
            <a:ext cx="7359015" cy="362903"/>
          </a:xfrm>
          <a:prstGeom prst="rect">
            <a:avLst/>
          </a:prstGeom>
          <a:noFill/>
          <a:ln/>
        </p:spPr>
        <p:txBody>
          <a:bodyPr wrap="none" lIns="0" tIns="0" rIns="0" bIns="0" rtlCol="0" anchor="t"/>
          <a:lstStyle/>
          <a:p>
            <a:pPr marL="0" indent="0" algn="l">
              <a:lnSpc>
                <a:spcPts val="2850"/>
              </a:lnSpc>
              <a:buNone/>
            </a:pPr>
            <a:r>
              <a:rPr lang="en-US" sz="1750" dirty="0">
                <a:solidFill>
                  <a:srgbClr val="2B2E3C"/>
                </a:solidFill>
                <a:latin typeface="Open Sans" pitchFamily="34" charset="0"/>
                <a:ea typeface="Open Sans" pitchFamily="34" charset="-122"/>
                <a:cs typeface="Open Sans" pitchFamily="34" charset="-120"/>
              </a:rPr>
              <a:t>Fixed at 11111111 for broadcast, as PPP is point-to-point.</a:t>
            </a:r>
            <a:endParaRPr lang="en-US" sz="1750" dirty="0"/>
          </a:p>
        </p:txBody>
      </p:sp>
      <p:sp>
        <p:nvSpPr>
          <p:cNvPr id="13" name="Shape 11"/>
          <p:cNvSpPr/>
          <p:nvPr/>
        </p:nvSpPr>
        <p:spPr>
          <a:xfrm>
            <a:off x="801410" y="5131713"/>
            <a:ext cx="13027581" cy="650319"/>
          </a:xfrm>
          <a:prstGeom prst="rect">
            <a:avLst/>
          </a:prstGeom>
          <a:solidFill>
            <a:srgbClr val="FFFFFF">
              <a:alpha val="4000"/>
            </a:srgbClr>
          </a:solidFill>
          <a:ln/>
        </p:spPr>
        <p:txBody>
          <a:bodyPr/>
          <a:lstStyle/>
          <a:p>
            <a:endParaRPr lang="en-US"/>
          </a:p>
        </p:txBody>
      </p:sp>
      <p:sp>
        <p:nvSpPr>
          <p:cNvPr id="14" name="Text 12"/>
          <p:cNvSpPr/>
          <p:nvPr/>
        </p:nvSpPr>
        <p:spPr>
          <a:xfrm>
            <a:off x="1028462" y="5275421"/>
            <a:ext cx="2148007" cy="362903"/>
          </a:xfrm>
          <a:prstGeom prst="rect">
            <a:avLst/>
          </a:prstGeom>
          <a:noFill/>
          <a:ln/>
        </p:spPr>
        <p:txBody>
          <a:bodyPr wrap="none" lIns="0" tIns="0" rIns="0" bIns="0" rtlCol="0" anchor="t"/>
          <a:lstStyle/>
          <a:p>
            <a:pPr marL="0" indent="0" algn="l">
              <a:lnSpc>
                <a:spcPts val="2850"/>
              </a:lnSpc>
              <a:buNone/>
            </a:pPr>
            <a:r>
              <a:rPr lang="en-US" sz="1750" dirty="0">
                <a:solidFill>
                  <a:srgbClr val="2B2E3C"/>
                </a:solidFill>
                <a:latin typeface="Open Sans" pitchFamily="34" charset="0"/>
                <a:ea typeface="Open Sans" pitchFamily="34" charset="-122"/>
                <a:cs typeface="Open Sans" pitchFamily="34" charset="-120"/>
              </a:rPr>
              <a:t>Control</a:t>
            </a:r>
            <a:endParaRPr lang="en-US" sz="1750" dirty="0"/>
          </a:p>
        </p:txBody>
      </p:sp>
      <p:sp>
        <p:nvSpPr>
          <p:cNvPr id="15" name="Text 13"/>
          <p:cNvSpPr/>
          <p:nvPr/>
        </p:nvSpPr>
        <p:spPr>
          <a:xfrm>
            <a:off x="3637717" y="5275421"/>
            <a:ext cx="2144197" cy="362903"/>
          </a:xfrm>
          <a:prstGeom prst="rect">
            <a:avLst/>
          </a:prstGeom>
          <a:noFill/>
          <a:ln/>
        </p:spPr>
        <p:txBody>
          <a:bodyPr wrap="none" lIns="0" tIns="0" rIns="0" bIns="0" rtlCol="0" anchor="t"/>
          <a:lstStyle/>
          <a:p>
            <a:pPr marL="0" indent="0" algn="l">
              <a:lnSpc>
                <a:spcPts val="2850"/>
              </a:lnSpc>
              <a:buNone/>
            </a:pPr>
            <a:r>
              <a:rPr lang="en-US" sz="1750" dirty="0">
                <a:solidFill>
                  <a:srgbClr val="2B2E3C"/>
                </a:solidFill>
                <a:latin typeface="Open Sans" pitchFamily="34" charset="0"/>
                <a:ea typeface="Open Sans" pitchFamily="34" charset="-122"/>
                <a:cs typeface="Open Sans" pitchFamily="34" charset="-120"/>
              </a:rPr>
              <a:t>1 Byte</a:t>
            </a:r>
            <a:endParaRPr lang="en-US" sz="1750" dirty="0"/>
          </a:p>
        </p:txBody>
      </p:sp>
      <p:sp>
        <p:nvSpPr>
          <p:cNvPr id="16" name="Text 14"/>
          <p:cNvSpPr/>
          <p:nvPr/>
        </p:nvSpPr>
        <p:spPr>
          <a:xfrm>
            <a:off x="6243161" y="5275421"/>
            <a:ext cx="7359015" cy="362903"/>
          </a:xfrm>
          <a:prstGeom prst="rect">
            <a:avLst/>
          </a:prstGeom>
          <a:noFill/>
          <a:ln/>
        </p:spPr>
        <p:txBody>
          <a:bodyPr wrap="none" lIns="0" tIns="0" rIns="0" bIns="0" rtlCol="0" anchor="t"/>
          <a:lstStyle/>
          <a:p>
            <a:pPr marL="0" indent="0" algn="l">
              <a:lnSpc>
                <a:spcPts val="2850"/>
              </a:lnSpc>
              <a:buNone/>
            </a:pPr>
            <a:r>
              <a:rPr lang="en-US" sz="1750" dirty="0">
                <a:solidFill>
                  <a:srgbClr val="2B2E3C"/>
                </a:solidFill>
                <a:latin typeface="Open Sans" pitchFamily="34" charset="0"/>
                <a:ea typeface="Open Sans" pitchFamily="34" charset="-122"/>
                <a:cs typeface="Open Sans" pitchFamily="34" charset="-120"/>
              </a:rPr>
              <a:t>Fixed at 00000011, indicating unnumbered information transfer.</a:t>
            </a:r>
            <a:endParaRPr lang="en-US" sz="1750" dirty="0"/>
          </a:p>
        </p:txBody>
      </p:sp>
      <p:sp>
        <p:nvSpPr>
          <p:cNvPr id="17" name="Text 15"/>
          <p:cNvSpPr/>
          <p:nvPr/>
        </p:nvSpPr>
        <p:spPr>
          <a:xfrm>
            <a:off x="793790" y="6070929"/>
            <a:ext cx="13042821" cy="362903"/>
          </a:xfrm>
          <a:prstGeom prst="rect">
            <a:avLst/>
          </a:prstGeom>
          <a:noFill/>
          <a:ln/>
        </p:spPr>
        <p:txBody>
          <a:bodyPr wrap="none" lIns="0" tIns="0" rIns="0" bIns="0" rtlCol="0" anchor="t"/>
          <a:lstStyle/>
          <a:p>
            <a:pPr marL="0" indent="0" algn="l">
              <a:lnSpc>
                <a:spcPts val="2850"/>
              </a:lnSpc>
              <a:buNone/>
            </a:pPr>
            <a:r>
              <a:rPr lang="en-US" sz="1750" dirty="0">
                <a:solidFill>
                  <a:srgbClr val="2B2E3C"/>
                </a:solidFill>
                <a:latin typeface="Open Sans" pitchFamily="34" charset="0"/>
                <a:ea typeface="Open Sans" pitchFamily="34" charset="-122"/>
                <a:cs typeface="Open Sans" pitchFamily="34" charset="-120"/>
              </a:rPr>
              <a:t>These initial fields establish the boundaries and basic control for each PPP frame.</a:t>
            </a:r>
            <a:endParaRPr lang="en-US" sz="1750" dirty="0"/>
          </a:p>
        </p:txBody>
      </p:sp>
      <p:sp>
        <p:nvSpPr>
          <p:cNvPr id="18" name="Rounded Rectangle 17">
            <a:extLst>
              <a:ext uri="{FF2B5EF4-FFF2-40B4-BE49-F238E27FC236}">
                <a16:creationId xmlns:a16="http://schemas.microsoft.com/office/drawing/2014/main" id="{4FDB6CF3-96BC-D2FF-DE4C-35E5CA137F76}"/>
              </a:ext>
            </a:extLst>
          </p:cNvPr>
          <p:cNvSpPr/>
          <p:nvPr/>
        </p:nvSpPr>
        <p:spPr>
          <a:xfrm flipV="1">
            <a:off x="12870180" y="7795260"/>
            <a:ext cx="1668780" cy="331471"/>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Picture 19" descr="A diagram of data processing&#10;&#10;Description automatically generated with medium confidence">
            <a:extLst>
              <a:ext uri="{FF2B5EF4-FFF2-40B4-BE49-F238E27FC236}">
                <a16:creationId xmlns:a16="http://schemas.microsoft.com/office/drawing/2014/main" id="{F6362F6D-D6D5-54C8-DF83-39AAB8CAE642}"/>
              </a:ext>
            </a:extLst>
          </p:cNvPr>
          <p:cNvPicPr>
            <a:picLocks noChangeAspect="1"/>
          </p:cNvPicPr>
          <p:nvPr/>
        </p:nvPicPr>
        <p:blipFill>
          <a:blip r:embed="rId3"/>
          <a:stretch>
            <a:fillRect/>
          </a:stretch>
        </p:blipFill>
        <p:spPr>
          <a:xfrm>
            <a:off x="9262182" y="5831391"/>
            <a:ext cx="3761740" cy="239820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793790" y="1780937"/>
            <a:ext cx="10743248" cy="566976"/>
          </a:xfrm>
          <a:prstGeom prst="rect">
            <a:avLst/>
          </a:prstGeom>
          <a:noFill/>
          <a:ln/>
        </p:spPr>
        <p:txBody>
          <a:bodyPr wrap="none" lIns="0" tIns="0" rIns="0" bIns="0" rtlCol="0" anchor="t"/>
          <a:lstStyle/>
          <a:p>
            <a:pPr marL="0" indent="0" algn="l">
              <a:lnSpc>
                <a:spcPts val="4450"/>
              </a:lnSpc>
              <a:buNone/>
            </a:pPr>
            <a:r>
              <a:rPr lang="en-US" sz="3550" dirty="0">
                <a:solidFill>
                  <a:srgbClr val="2C3F42"/>
                </a:solidFill>
                <a:ea typeface="Bitter Medium" pitchFamily="34" charset="-122"/>
                <a:cs typeface="Bitter Medium" pitchFamily="34" charset="-120"/>
              </a:rPr>
              <a:t>The "Brains" &amp; The "Payload": Protocol &amp; Data Fields</a:t>
            </a:r>
            <a:endParaRPr lang="en-US" sz="3550" dirty="0"/>
          </a:p>
        </p:txBody>
      </p:sp>
      <p:sp>
        <p:nvSpPr>
          <p:cNvPr id="3" name="Text 1"/>
          <p:cNvSpPr/>
          <p:nvPr/>
        </p:nvSpPr>
        <p:spPr>
          <a:xfrm>
            <a:off x="793790" y="2801541"/>
            <a:ext cx="13042821" cy="725805"/>
          </a:xfrm>
          <a:prstGeom prst="rect">
            <a:avLst/>
          </a:prstGeom>
          <a:noFill/>
          <a:ln/>
        </p:spPr>
        <p:txBody>
          <a:bodyPr wrap="square" lIns="0" tIns="0" rIns="0" bIns="0" rtlCol="0" anchor="t"/>
          <a:lstStyle/>
          <a:p>
            <a:pPr marL="0" indent="0" algn="l">
              <a:lnSpc>
                <a:spcPts val="2850"/>
              </a:lnSpc>
              <a:buNone/>
            </a:pPr>
            <a:r>
              <a:rPr lang="en-US" sz="1750" dirty="0">
                <a:solidFill>
                  <a:srgbClr val="2B2E3C"/>
                </a:solidFill>
                <a:latin typeface="Open Sans" pitchFamily="34" charset="0"/>
                <a:ea typeface="Open Sans" pitchFamily="34" charset="-122"/>
                <a:cs typeface="Open Sans" pitchFamily="34" charset="-120"/>
              </a:rPr>
              <a:t>Beyond the fixed headers, the Protocol and Data fields are where the real work of carrying network information happens, transforming the PPP frame into an intelligent transport mechanism.</a:t>
            </a:r>
            <a:endParaRPr lang="en-US" sz="1750" dirty="0"/>
          </a:p>
        </p:txBody>
      </p:sp>
      <p:sp>
        <p:nvSpPr>
          <p:cNvPr id="4" name="Shape 2"/>
          <p:cNvSpPr/>
          <p:nvPr/>
        </p:nvSpPr>
        <p:spPr>
          <a:xfrm>
            <a:off x="793790" y="3782497"/>
            <a:ext cx="13042821" cy="2047994"/>
          </a:xfrm>
          <a:prstGeom prst="roundRect">
            <a:avLst>
              <a:gd name="adj" fmla="val 4652"/>
            </a:avLst>
          </a:prstGeom>
          <a:solidFill>
            <a:srgbClr val="FCE2CF"/>
          </a:solidFill>
          <a:ln w="7620">
            <a:solidFill>
              <a:srgbClr val="E2C8B5"/>
            </a:solidFill>
            <a:prstDash val="solid"/>
          </a:ln>
        </p:spPr>
        <p:txBody>
          <a:bodyPr/>
          <a:lstStyle/>
          <a:p>
            <a:endParaRPr lang="en-US"/>
          </a:p>
        </p:txBody>
      </p:sp>
      <p:sp>
        <p:nvSpPr>
          <p:cNvPr id="5" name="Shape 3"/>
          <p:cNvSpPr/>
          <p:nvPr/>
        </p:nvSpPr>
        <p:spPr>
          <a:xfrm>
            <a:off x="801410" y="3790117"/>
            <a:ext cx="6513790" cy="2032754"/>
          </a:xfrm>
          <a:prstGeom prst="roundRect">
            <a:avLst>
              <a:gd name="adj" fmla="val 4687"/>
            </a:avLst>
          </a:prstGeom>
          <a:solidFill>
            <a:srgbClr val="FCE2CF"/>
          </a:solidFill>
          <a:ln/>
        </p:spPr>
        <p:txBody>
          <a:bodyPr/>
          <a:lstStyle/>
          <a:p>
            <a:endParaRPr lang="en-US"/>
          </a:p>
        </p:txBody>
      </p:sp>
      <p:sp>
        <p:nvSpPr>
          <p:cNvPr id="6" name="Text 4"/>
          <p:cNvSpPr/>
          <p:nvPr/>
        </p:nvSpPr>
        <p:spPr>
          <a:xfrm>
            <a:off x="1028224" y="4016931"/>
            <a:ext cx="2835235" cy="354330"/>
          </a:xfrm>
          <a:prstGeom prst="rect">
            <a:avLst/>
          </a:prstGeom>
          <a:noFill/>
          <a:ln/>
        </p:spPr>
        <p:txBody>
          <a:bodyPr wrap="none" lIns="0" tIns="0" rIns="0" bIns="0" rtlCol="0" anchor="t"/>
          <a:lstStyle/>
          <a:p>
            <a:pPr marL="0" indent="0" algn="l">
              <a:lnSpc>
                <a:spcPts val="2750"/>
              </a:lnSpc>
              <a:buNone/>
            </a:pPr>
            <a:r>
              <a:rPr lang="en-US" sz="2200" dirty="0">
                <a:solidFill>
                  <a:srgbClr val="2B2E3C"/>
                </a:solidFill>
                <a:ea typeface="Bitter Medium" pitchFamily="34" charset="-122"/>
                <a:cs typeface="Bitter Medium" pitchFamily="34" charset="-120"/>
              </a:rPr>
              <a:t>Protocol Field</a:t>
            </a:r>
            <a:endParaRPr lang="en-US" sz="2200" dirty="0"/>
          </a:p>
        </p:txBody>
      </p:sp>
      <p:sp>
        <p:nvSpPr>
          <p:cNvPr id="7" name="Text 5"/>
          <p:cNvSpPr/>
          <p:nvPr/>
        </p:nvSpPr>
        <p:spPr>
          <a:xfrm>
            <a:off x="1028224" y="4507349"/>
            <a:ext cx="5720001" cy="1088708"/>
          </a:xfrm>
          <a:prstGeom prst="rect">
            <a:avLst/>
          </a:prstGeom>
          <a:noFill/>
          <a:ln/>
        </p:spPr>
        <p:txBody>
          <a:bodyPr wrap="square" lIns="0" tIns="0" rIns="0" bIns="0" rtlCol="0" anchor="t"/>
          <a:lstStyle/>
          <a:p>
            <a:pPr marL="0" indent="0" algn="l">
              <a:lnSpc>
                <a:spcPts val="2850"/>
              </a:lnSpc>
              <a:buNone/>
            </a:pPr>
            <a:r>
              <a:rPr lang="en-US" sz="1750" dirty="0">
                <a:solidFill>
                  <a:srgbClr val="2B2E3C"/>
                </a:solidFill>
                <a:latin typeface="Open Sans" pitchFamily="34" charset="0"/>
                <a:ea typeface="Open Sans" pitchFamily="34" charset="-122"/>
                <a:cs typeface="Open Sans" pitchFamily="34" charset="-120"/>
              </a:rPr>
              <a:t>A 1-2 bytes field that tells the receiver what network layer protocol (e.g., IPv4, IPv6, LCP) is encapsulated within the Data field.</a:t>
            </a:r>
            <a:endParaRPr lang="en-US" sz="1750" dirty="0"/>
          </a:p>
        </p:txBody>
      </p:sp>
      <p:sp>
        <p:nvSpPr>
          <p:cNvPr id="8" name="Shape 6"/>
          <p:cNvSpPr/>
          <p:nvPr/>
        </p:nvSpPr>
        <p:spPr>
          <a:xfrm>
            <a:off x="7315200" y="3790117"/>
            <a:ext cx="6513790" cy="2032754"/>
          </a:xfrm>
          <a:prstGeom prst="rect">
            <a:avLst/>
          </a:prstGeom>
          <a:solidFill>
            <a:srgbClr val="FCE2CF"/>
          </a:solidFill>
          <a:ln/>
        </p:spPr>
        <p:txBody>
          <a:bodyPr/>
          <a:lstStyle/>
          <a:p>
            <a:endParaRPr lang="en-US"/>
          </a:p>
        </p:txBody>
      </p:sp>
      <p:sp>
        <p:nvSpPr>
          <p:cNvPr id="9" name="Shape 7"/>
          <p:cNvSpPr/>
          <p:nvPr/>
        </p:nvSpPr>
        <p:spPr>
          <a:xfrm>
            <a:off x="7315200" y="3790117"/>
            <a:ext cx="30480" cy="2032754"/>
          </a:xfrm>
          <a:prstGeom prst="roundRect">
            <a:avLst>
              <a:gd name="adj" fmla="val 312558"/>
            </a:avLst>
          </a:prstGeom>
          <a:solidFill>
            <a:srgbClr val="E2C8B5"/>
          </a:solidFill>
          <a:ln/>
        </p:spPr>
        <p:txBody>
          <a:bodyPr/>
          <a:lstStyle/>
          <a:p>
            <a:endParaRPr lang="en-US"/>
          </a:p>
        </p:txBody>
      </p:sp>
      <p:sp>
        <p:nvSpPr>
          <p:cNvPr id="10" name="Text 8"/>
          <p:cNvSpPr/>
          <p:nvPr/>
        </p:nvSpPr>
        <p:spPr>
          <a:xfrm>
            <a:off x="7882176" y="4016931"/>
            <a:ext cx="2835235" cy="354330"/>
          </a:xfrm>
          <a:prstGeom prst="rect">
            <a:avLst/>
          </a:prstGeom>
          <a:noFill/>
          <a:ln/>
        </p:spPr>
        <p:txBody>
          <a:bodyPr wrap="none" lIns="0" tIns="0" rIns="0" bIns="0" rtlCol="0" anchor="t"/>
          <a:lstStyle/>
          <a:p>
            <a:pPr marL="0" indent="0" algn="l">
              <a:lnSpc>
                <a:spcPts val="2750"/>
              </a:lnSpc>
              <a:buNone/>
            </a:pPr>
            <a:r>
              <a:rPr lang="en-US" sz="2200" dirty="0">
                <a:solidFill>
                  <a:srgbClr val="2B2E3C"/>
                </a:solidFill>
                <a:latin typeface="Bitter Medium" pitchFamily="34" charset="0"/>
                <a:ea typeface="Bitter Medium" pitchFamily="34" charset="-122"/>
                <a:cs typeface="Bitter Medium" pitchFamily="34" charset="-120"/>
              </a:rPr>
              <a:t>Data Field</a:t>
            </a:r>
            <a:endParaRPr lang="en-US" sz="2200" dirty="0"/>
          </a:p>
        </p:txBody>
      </p:sp>
      <p:sp>
        <p:nvSpPr>
          <p:cNvPr id="11" name="Text 9"/>
          <p:cNvSpPr/>
          <p:nvPr/>
        </p:nvSpPr>
        <p:spPr>
          <a:xfrm>
            <a:off x="7882176" y="4507349"/>
            <a:ext cx="5720001" cy="1088708"/>
          </a:xfrm>
          <a:prstGeom prst="rect">
            <a:avLst/>
          </a:prstGeom>
          <a:noFill/>
          <a:ln/>
        </p:spPr>
        <p:txBody>
          <a:bodyPr wrap="square" lIns="0" tIns="0" rIns="0" bIns="0" rtlCol="0" anchor="t"/>
          <a:lstStyle/>
          <a:p>
            <a:pPr marL="0" indent="0" algn="l">
              <a:lnSpc>
                <a:spcPts val="2850"/>
              </a:lnSpc>
              <a:buNone/>
            </a:pPr>
            <a:r>
              <a:rPr lang="en-US" sz="1750" dirty="0">
                <a:solidFill>
                  <a:srgbClr val="2B2E3C"/>
                </a:solidFill>
                <a:latin typeface="Open Sans" pitchFamily="34" charset="0"/>
                <a:ea typeface="Open Sans" pitchFamily="34" charset="-122"/>
                <a:cs typeface="Open Sans" pitchFamily="34" charset="-120"/>
              </a:rPr>
              <a:t>This variable-length field carries the actual network layer packet, acting as the "payload" or "letter" within the PPP envelope.</a:t>
            </a:r>
            <a:endParaRPr lang="en-US" sz="1750" dirty="0"/>
          </a:p>
        </p:txBody>
      </p:sp>
      <p:sp>
        <p:nvSpPr>
          <p:cNvPr id="12" name="Shape 10"/>
          <p:cNvSpPr/>
          <p:nvPr/>
        </p:nvSpPr>
        <p:spPr>
          <a:xfrm>
            <a:off x="7031712" y="4522946"/>
            <a:ext cx="566976" cy="566976"/>
          </a:xfrm>
          <a:prstGeom prst="roundRect">
            <a:avLst>
              <a:gd name="adj" fmla="val 16803"/>
            </a:avLst>
          </a:prstGeom>
          <a:solidFill>
            <a:srgbClr val="FFF8F0"/>
          </a:solidFill>
          <a:ln w="30480">
            <a:solidFill>
              <a:srgbClr val="E2C8B5"/>
            </a:solidFill>
            <a:prstDash val="solid"/>
          </a:ln>
        </p:spPr>
        <p:txBody>
          <a:bodyPr/>
          <a:lstStyle/>
          <a:p>
            <a:endParaRPr lang="en-US"/>
          </a:p>
        </p:txBody>
      </p:sp>
      <p:pic>
        <p:nvPicPr>
          <p:cNvPr id="13" name="Image 0" descr="preencoded.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173397" y="4664631"/>
            <a:ext cx="283488" cy="283488"/>
          </a:xfrm>
          <a:prstGeom prst="rect">
            <a:avLst/>
          </a:prstGeom>
        </p:spPr>
      </p:pic>
      <p:sp>
        <p:nvSpPr>
          <p:cNvPr id="14" name="Text 11"/>
          <p:cNvSpPr/>
          <p:nvPr/>
        </p:nvSpPr>
        <p:spPr>
          <a:xfrm>
            <a:off x="793790" y="6085642"/>
            <a:ext cx="13042821" cy="362903"/>
          </a:xfrm>
          <a:prstGeom prst="rect">
            <a:avLst/>
          </a:prstGeom>
          <a:noFill/>
          <a:ln/>
        </p:spPr>
        <p:txBody>
          <a:bodyPr wrap="none" lIns="0" tIns="0" rIns="0" bIns="0" rtlCol="0" anchor="t"/>
          <a:lstStyle/>
          <a:p>
            <a:pPr marL="0" indent="0" algn="l">
              <a:lnSpc>
                <a:spcPts val="2850"/>
              </a:lnSpc>
              <a:buNone/>
            </a:pPr>
            <a:r>
              <a:rPr lang="en-US" sz="1750" dirty="0">
                <a:solidFill>
                  <a:srgbClr val="2B2E3C"/>
                </a:solidFill>
                <a:latin typeface="Open Sans" pitchFamily="34" charset="0"/>
                <a:ea typeface="Open Sans" pitchFamily="34" charset="-122"/>
                <a:cs typeface="Open Sans" pitchFamily="34" charset="-120"/>
              </a:rPr>
              <a:t>The Protocol field's intelligence allows PPP to be a multi-protocol carrier, a significant advantage over its predecessors.</a:t>
            </a:r>
            <a:endParaRPr lang="en-US" sz="1750" dirty="0"/>
          </a:p>
        </p:txBody>
      </p:sp>
      <p:sp>
        <p:nvSpPr>
          <p:cNvPr id="15" name="Rounded Rectangle 14">
            <a:extLst>
              <a:ext uri="{FF2B5EF4-FFF2-40B4-BE49-F238E27FC236}">
                <a16:creationId xmlns:a16="http://schemas.microsoft.com/office/drawing/2014/main" id="{905ADFE0-9ADA-2721-59E4-03E4F4AAB038}"/>
              </a:ext>
            </a:extLst>
          </p:cNvPr>
          <p:cNvSpPr/>
          <p:nvPr/>
        </p:nvSpPr>
        <p:spPr>
          <a:xfrm flipV="1">
            <a:off x="12870180" y="7795260"/>
            <a:ext cx="1668780" cy="331471"/>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5486400" cy="8229600"/>
          </a:xfrm>
          <a:prstGeom prst="rect">
            <a:avLst/>
          </a:prstGeom>
        </p:spPr>
      </p:pic>
      <p:sp>
        <p:nvSpPr>
          <p:cNvPr id="3" name="Text 0"/>
          <p:cNvSpPr/>
          <p:nvPr/>
        </p:nvSpPr>
        <p:spPr>
          <a:xfrm>
            <a:off x="6280190" y="1135261"/>
            <a:ext cx="7556421" cy="1133951"/>
          </a:xfrm>
          <a:prstGeom prst="rect">
            <a:avLst/>
          </a:prstGeom>
          <a:noFill/>
          <a:ln/>
        </p:spPr>
        <p:txBody>
          <a:bodyPr wrap="square" lIns="0" tIns="0" rIns="0" bIns="0" rtlCol="0" anchor="t"/>
          <a:lstStyle/>
          <a:p>
            <a:pPr marL="0" indent="0" algn="l">
              <a:lnSpc>
                <a:spcPts val="4450"/>
              </a:lnSpc>
              <a:buNone/>
            </a:pPr>
            <a:r>
              <a:rPr lang="en-US" sz="3550" dirty="0">
                <a:solidFill>
                  <a:srgbClr val="2C3F42"/>
                </a:solidFill>
                <a:ea typeface="Bitter Medium" pitchFamily="34" charset="-122"/>
                <a:cs typeface="Bitter Medium" pitchFamily="34" charset="-120"/>
              </a:rPr>
              <a:t>Ensuring Integrity: The Frame Check Sequence (FCS)</a:t>
            </a:r>
            <a:endParaRPr lang="en-US" sz="3550" dirty="0"/>
          </a:p>
        </p:txBody>
      </p:sp>
      <p:sp>
        <p:nvSpPr>
          <p:cNvPr id="4" name="Text 1"/>
          <p:cNvSpPr/>
          <p:nvPr/>
        </p:nvSpPr>
        <p:spPr>
          <a:xfrm>
            <a:off x="6280190" y="2609374"/>
            <a:ext cx="7556421" cy="1088708"/>
          </a:xfrm>
          <a:prstGeom prst="rect">
            <a:avLst/>
          </a:prstGeom>
          <a:noFill/>
          <a:ln/>
        </p:spPr>
        <p:txBody>
          <a:bodyPr wrap="square" lIns="0" tIns="0" rIns="0" bIns="0" rtlCol="0" anchor="t"/>
          <a:lstStyle/>
          <a:p>
            <a:pPr marL="0" indent="0" algn="l">
              <a:lnSpc>
                <a:spcPts val="2850"/>
              </a:lnSpc>
              <a:buNone/>
            </a:pPr>
            <a:r>
              <a:rPr lang="en-US" sz="1750" dirty="0">
                <a:solidFill>
                  <a:srgbClr val="2B2E3C"/>
                </a:solidFill>
                <a:latin typeface="Open Sans" pitchFamily="34" charset="0"/>
                <a:ea typeface="Open Sans" pitchFamily="34" charset="-122"/>
                <a:cs typeface="Open Sans" pitchFamily="34" charset="-120"/>
              </a:rPr>
              <a:t>Reliability is paramount in data transmission. The Frame Check Sequence (FCS) acts as a crucial integrity check, ensuring that the data received is exactly what was sent, free from transmission errors.</a:t>
            </a:r>
            <a:endParaRPr lang="en-US" sz="1750" dirty="0"/>
          </a:p>
        </p:txBody>
      </p:sp>
      <p:sp>
        <p:nvSpPr>
          <p:cNvPr id="5" name="Text 2"/>
          <p:cNvSpPr/>
          <p:nvPr/>
        </p:nvSpPr>
        <p:spPr>
          <a:xfrm>
            <a:off x="6280190" y="3953232"/>
            <a:ext cx="7556421" cy="725805"/>
          </a:xfrm>
          <a:prstGeom prst="rect">
            <a:avLst/>
          </a:prstGeom>
          <a:noFill/>
          <a:ln/>
        </p:spPr>
        <p:txBody>
          <a:bodyPr wrap="square" lIns="0" tIns="0" rIns="0" bIns="0" rtlCol="0" anchor="t"/>
          <a:lstStyle/>
          <a:p>
            <a:pPr marL="342900" indent="-342900" algn="l">
              <a:lnSpc>
                <a:spcPts val="2850"/>
              </a:lnSpc>
              <a:buSzPct val="100000"/>
              <a:buChar char="•"/>
            </a:pPr>
            <a:r>
              <a:rPr lang="en-US" sz="1750" b="1" dirty="0">
                <a:solidFill>
                  <a:srgbClr val="2B2E3C"/>
                </a:solidFill>
                <a:latin typeface="Open Sans" pitchFamily="34" charset="0"/>
                <a:ea typeface="Open Sans" pitchFamily="34" charset="-122"/>
                <a:cs typeface="Open Sans" pitchFamily="34" charset="-120"/>
              </a:rPr>
              <a:t>Error Detection:</a:t>
            </a:r>
            <a:r>
              <a:rPr lang="en-US" sz="1750" dirty="0">
                <a:solidFill>
                  <a:srgbClr val="2B2E3C"/>
                </a:solidFill>
                <a:latin typeface="Open Sans" pitchFamily="34" charset="0"/>
                <a:ea typeface="Open Sans" pitchFamily="34" charset="-122"/>
                <a:cs typeface="Open Sans" pitchFamily="34" charset="-120"/>
              </a:rPr>
              <a:t> The FCS is a checksum generated by the sender and verified by the receiver.</a:t>
            </a:r>
            <a:endParaRPr lang="en-US" sz="1750" dirty="0"/>
          </a:p>
        </p:txBody>
      </p:sp>
      <p:sp>
        <p:nvSpPr>
          <p:cNvPr id="6" name="Text 3"/>
          <p:cNvSpPr/>
          <p:nvPr/>
        </p:nvSpPr>
        <p:spPr>
          <a:xfrm>
            <a:off x="6280190" y="4758333"/>
            <a:ext cx="7556421" cy="725805"/>
          </a:xfrm>
          <a:prstGeom prst="rect">
            <a:avLst/>
          </a:prstGeom>
          <a:noFill/>
          <a:ln/>
        </p:spPr>
        <p:txBody>
          <a:bodyPr wrap="square" lIns="0" tIns="0" rIns="0" bIns="0" rtlCol="0" anchor="t"/>
          <a:lstStyle/>
          <a:p>
            <a:pPr marL="342900" indent="-342900" algn="l">
              <a:lnSpc>
                <a:spcPts val="2850"/>
              </a:lnSpc>
              <a:buSzPct val="100000"/>
              <a:buChar char="•"/>
            </a:pPr>
            <a:r>
              <a:rPr lang="en-US" sz="1750" b="1" dirty="0">
                <a:solidFill>
                  <a:srgbClr val="2B2E3C"/>
                </a:solidFill>
                <a:latin typeface="Open Sans" pitchFamily="34" charset="0"/>
                <a:ea typeface="Open Sans" pitchFamily="34" charset="-122"/>
                <a:cs typeface="Open Sans" pitchFamily="34" charset="-120"/>
              </a:rPr>
              <a:t>Size:</a:t>
            </a:r>
            <a:r>
              <a:rPr lang="en-US" sz="1750" dirty="0">
                <a:solidFill>
                  <a:srgbClr val="2B2E3C"/>
                </a:solidFill>
                <a:latin typeface="Open Sans" pitchFamily="34" charset="0"/>
                <a:ea typeface="Open Sans" pitchFamily="34" charset="-122"/>
                <a:cs typeface="Open Sans" pitchFamily="34" charset="-120"/>
              </a:rPr>
              <a:t> Typically 2 or 4 bytes long, calculated using a Cyclic Redundancy Check (CRC) algorithm.</a:t>
            </a:r>
            <a:endParaRPr lang="en-US" sz="1750" dirty="0"/>
          </a:p>
        </p:txBody>
      </p:sp>
      <p:sp>
        <p:nvSpPr>
          <p:cNvPr id="7" name="Text 4"/>
          <p:cNvSpPr/>
          <p:nvPr/>
        </p:nvSpPr>
        <p:spPr>
          <a:xfrm>
            <a:off x="6280190" y="5563433"/>
            <a:ext cx="7556421" cy="725805"/>
          </a:xfrm>
          <a:prstGeom prst="rect">
            <a:avLst/>
          </a:prstGeom>
          <a:noFill/>
          <a:ln/>
        </p:spPr>
        <p:txBody>
          <a:bodyPr wrap="square" lIns="0" tIns="0" rIns="0" bIns="0" rtlCol="0" anchor="t"/>
          <a:lstStyle/>
          <a:p>
            <a:pPr marL="342900" indent="-342900" algn="l">
              <a:lnSpc>
                <a:spcPts val="2850"/>
              </a:lnSpc>
              <a:buSzPct val="100000"/>
              <a:buChar char="•"/>
            </a:pPr>
            <a:r>
              <a:rPr lang="en-US" sz="1750" b="1" dirty="0">
                <a:solidFill>
                  <a:srgbClr val="2B2E3C"/>
                </a:solidFill>
                <a:latin typeface="Open Sans" pitchFamily="34" charset="0"/>
                <a:ea typeface="Open Sans" pitchFamily="34" charset="-122"/>
                <a:cs typeface="Open Sans" pitchFamily="34" charset="-120"/>
              </a:rPr>
              <a:t>Analogy:</a:t>
            </a:r>
            <a:r>
              <a:rPr lang="en-US" sz="1750" dirty="0">
                <a:solidFill>
                  <a:srgbClr val="2B2E3C"/>
                </a:solidFill>
                <a:latin typeface="Open Sans" pitchFamily="34" charset="0"/>
                <a:ea typeface="Open Sans" pitchFamily="34" charset="-122"/>
                <a:cs typeface="Open Sans" pitchFamily="34" charset="-120"/>
              </a:rPr>
              <a:t> Like a wax seal on an important letter – if the seal is broken, the integrity of the content is compromised.</a:t>
            </a:r>
            <a:endParaRPr lang="en-US" sz="1750" dirty="0"/>
          </a:p>
        </p:txBody>
      </p:sp>
      <p:sp>
        <p:nvSpPr>
          <p:cNvPr id="8" name="Text 5"/>
          <p:cNvSpPr/>
          <p:nvPr/>
        </p:nvSpPr>
        <p:spPr>
          <a:xfrm>
            <a:off x="6280190" y="6368534"/>
            <a:ext cx="7556421" cy="725805"/>
          </a:xfrm>
          <a:prstGeom prst="rect">
            <a:avLst/>
          </a:prstGeom>
          <a:noFill/>
          <a:ln/>
        </p:spPr>
        <p:txBody>
          <a:bodyPr wrap="square" lIns="0" tIns="0" rIns="0" bIns="0" rtlCol="0" anchor="t"/>
          <a:lstStyle/>
          <a:p>
            <a:pPr marL="342900" indent="-342900" algn="l">
              <a:lnSpc>
                <a:spcPts val="2850"/>
              </a:lnSpc>
              <a:buSzPct val="100000"/>
              <a:buChar char="•"/>
            </a:pPr>
            <a:r>
              <a:rPr lang="en-US" sz="1750" b="1" dirty="0">
                <a:solidFill>
                  <a:srgbClr val="2B2E3C"/>
                </a:solidFill>
                <a:latin typeface="Open Sans" pitchFamily="34" charset="0"/>
                <a:ea typeface="Open Sans" pitchFamily="34" charset="-122"/>
                <a:cs typeface="Open Sans" pitchFamily="34" charset="-120"/>
              </a:rPr>
              <a:t>Rejection:</a:t>
            </a:r>
            <a:r>
              <a:rPr lang="en-US" sz="1750" dirty="0">
                <a:solidFill>
                  <a:srgbClr val="2B2E3C"/>
                </a:solidFill>
                <a:latin typeface="Open Sans" pitchFamily="34" charset="0"/>
                <a:ea typeface="Open Sans" pitchFamily="34" charset="-122"/>
                <a:cs typeface="Open Sans" pitchFamily="34" charset="-120"/>
              </a:rPr>
              <a:t> If the FCS values don't match, the receiver discards the corrupted frame, ensuring data accuracy.</a:t>
            </a:r>
            <a:endParaRPr lang="en-US" sz="1750" dirty="0"/>
          </a:p>
        </p:txBody>
      </p:sp>
      <p:sp>
        <p:nvSpPr>
          <p:cNvPr id="9" name="Rounded Rectangle 8">
            <a:extLst>
              <a:ext uri="{FF2B5EF4-FFF2-40B4-BE49-F238E27FC236}">
                <a16:creationId xmlns:a16="http://schemas.microsoft.com/office/drawing/2014/main" id="{BE720180-2A1E-E597-F156-84435DFFCF1A}"/>
              </a:ext>
            </a:extLst>
          </p:cNvPr>
          <p:cNvSpPr/>
          <p:nvPr/>
        </p:nvSpPr>
        <p:spPr>
          <a:xfrm flipV="1">
            <a:off x="12870180" y="7795260"/>
            <a:ext cx="1668780" cy="331471"/>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793790" y="1330762"/>
            <a:ext cx="8055769" cy="566976"/>
          </a:xfrm>
          <a:prstGeom prst="rect">
            <a:avLst/>
          </a:prstGeom>
          <a:noFill/>
          <a:ln/>
        </p:spPr>
        <p:txBody>
          <a:bodyPr wrap="none" lIns="0" tIns="0" rIns="0" bIns="0" rtlCol="0" anchor="t"/>
          <a:lstStyle/>
          <a:p>
            <a:pPr marL="0" indent="0" algn="l">
              <a:lnSpc>
                <a:spcPts val="4450"/>
              </a:lnSpc>
              <a:buNone/>
            </a:pPr>
            <a:r>
              <a:rPr lang="en-US" sz="3550" dirty="0">
                <a:solidFill>
                  <a:srgbClr val="2C3F42"/>
                </a:solidFill>
                <a:ea typeface="Bitter Medium" pitchFamily="34" charset="-122"/>
                <a:cs typeface="Bitter Medium" pitchFamily="34" charset="-120"/>
              </a:rPr>
              <a:t>PPP's Specialized Protocols: LCP &amp; NCP</a:t>
            </a:r>
            <a:endParaRPr lang="en-US" sz="3550" dirty="0"/>
          </a:p>
        </p:txBody>
      </p:sp>
      <p:sp>
        <p:nvSpPr>
          <p:cNvPr id="3" name="Text 1"/>
          <p:cNvSpPr/>
          <p:nvPr/>
        </p:nvSpPr>
        <p:spPr>
          <a:xfrm>
            <a:off x="793790" y="2351365"/>
            <a:ext cx="13042821" cy="725805"/>
          </a:xfrm>
          <a:prstGeom prst="rect">
            <a:avLst/>
          </a:prstGeom>
          <a:noFill/>
          <a:ln/>
        </p:spPr>
        <p:txBody>
          <a:bodyPr wrap="square" lIns="0" tIns="0" rIns="0" bIns="0" rtlCol="0" anchor="t"/>
          <a:lstStyle/>
          <a:p>
            <a:pPr marL="0" indent="0" algn="l">
              <a:lnSpc>
                <a:spcPts val="2850"/>
              </a:lnSpc>
              <a:buNone/>
            </a:pPr>
            <a:r>
              <a:rPr lang="en-US" sz="1750" dirty="0">
                <a:solidFill>
                  <a:srgbClr val="2B2E3C"/>
                </a:solidFill>
                <a:latin typeface="Open Sans" pitchFamily="34" charset="0"/>
                <a:ea typeface="Open Sans" pitchFamily="34" charset="-122"/>
                <a:cs typeface="Open Sans" pitchFamily="34" charset="-120"/>
              </a:rPr>
              <a:t>PPP isn't a monolithic protocol; it's a team of specialized components working together. Link Control Protocol (LCP) and Network Control Protocol (NCP) are the workhorses that manage connection establishment and network layer support.</a:t>
            </a:r>
            <a:endParaRPr lang="en-US" sz="1750" dirty="0"/>
          </a:p>
        </p:txBody>
      </p:sp>
      <p:sp>
        <p:nvSpPr>
          <p:cNvPr id="4" name="Shape 2"/>
          <p:cNvSpPr/>
          <p:nvPr/>
        </p:nvSpPr>
        <p:spPr>
          <a:xfrm>
            <a:off x="793790" y="3332321"/>
            <a:ext cx="907256" cy="1669852"/>
          </a:xfrm>
          <a:prstGeom prst="roundRect">
            <a:avLst>
              <a:gd name="adj" fmla="val 360022"/>
            </a:avLst>
          </a:prstGeom>
          <a:solidFill>
            <a:srgbClr val="FCE2CF"/>
          </a:solidFill>
          <a:ln w="7620">
            <a:solidFill>
              <a:srgbClr val="E2C8B5"/>
            </a:solidFill>
            <a:prstDash val="solid"/>
          </a:ln>
        </p:spPr>
        <p:txBody>
          <a:bodyPr/>
          <a:lstStyle/>
          <a:p>
            <a:endParaRPr lang="en-US"/>
          </a:p>
        </p:txBody>
      </p:sp>
      <p:sp>
        <p:nvSpPr>
          <p:cNvPr id="5" name="Text 3"/>
          <p:cNvSpPr/>
          <p:nvPr/>
        </p:nvSpPr>
        <p:spPr>
          <a:xfrm>
            <a:off x="1077278" y="3954542"/>
            <a:ext cx="340162" cy="425291"/>
          </a:xfrm>
          <a:prstGeom prst="rect">
            <a:avLst/>
          </a:prstGeom>
          <a:noFill/>
          <a:ln/>
        </p:spPr>
        <p:txBody>
          <a:bodyPr wrap="none" lIns="0" tIns="0" rIns="0" bIns="0" rtlCol="0" anchor="t"/>
          <a:lstStyle/>
          <a:p>
            <a:pPr marL="0" indent="0" algn="l">
              <a:lnSpc>
                <a:spcPts val="2650"/>
              </a:lnSpc>
              <a:buNone/>
            </a:pPr>
            <a:r>
              <a:rPr lang="en-US" sz="2650" dirty="0">
                <a:solidFill>
                  <a:srgbClr val="2B2E3C"/>
                </a:solidFill>
                <a:latin typeface="Bitter Medium" pitchFamily="34" charset="0"/>
                <a:ea typeface="Bitter Medium" pitchFamily="34" charset="-122"/>
                <a:cs typeface="Bitter Medium" pitchFamily="34" charset="-120"/>
              </a:rPr>
              <a:t>1</a:t>
            </a:r>
            <a:endParaRPr lang="en-US" sz="2650" dirty="0"/>
          </a:p>
        </p:txBody>
      </p:sp>
      <p:sp>
        <p:nvSpPr>
          <p:cNvPr id="6" name="Text 4"/>
          <p:cNvSpPr/>
          <p:nvPr/>
        </p:nvSpPr>
        <p:spPr>
          <a:xfrm>
            <a:off x="1927860" y="3559135"/>
            <a:ext cx="3955256" cy="354330"/>
          </a:xfrm>
          <a:prstGeom prst="rect">
            <a:avLst/>
          </a:prstGeom>
          <a:noFill/>
          <a:ln/>
        </p:spPr>
        <p:txBody>
          <a:bodyPr wrap="none" lIns="0" tIns="0" rIns="0" bIns="0" rtlCol="0" anchor="t"/>
          <a:lstStyle/>
          <a:p>
            <a:pPr marL="0" indent="0" algn="l">
              <a:lnSpc>
                <a:spcPts val="2750"/>
              </a:lnSpc>
              <a:buNone/>
            </a:pPr>
            <a:r>
              <a:rPr lang="en-US" sz="2200" dirty="0">
                <a:solidFill>
                  <a:srgbClr val="2B2E3C"/>
                </a:solidFill>
                <a:ea typeface="Bitter Medium" pitchFamily="34" charset="-122"/>
                <a:cs typeface="Bitter Medium" pitchFamily="34" charset="-120"/>
              </a:rPr>
              <a:t>LCP: The Handshake Architect</a:t>
            </a:r>
            <a:endParaRPr lang="en-US" sz="2200" dirty="0"/>
          </a:p>
        </p:txBody>
      </p:sp>
      <p:sp>
        <p:nvSpPr>
          <p:cNvPr id="7" name="Text 5"/>
          <p:cNvSpPr/>
          <p:nvPr/>
        </p:nvSpPr>
        <p:spPr>
          <a:xfrm>
            <a:off x="1927860" y="4049554"/>
            <a:ext cx="11908750" cy="725805"/>
          </a:xfrm>
          <a:prstGeom prst="rect">
            <a:avLst/>
          </a:prstGeom>
          <a:noFill/>
          <a:ln/>
        </p:spPr>
        <p:txBody>
          <a:bodyPr wrap="square" lIns="0" tIns="0" rIns="0" bIns="0" rtlCol="0" anchor="t"/>
          <a:lstStyle/>
          <a:p>
            <a:pPr marL="0" indent="0" algn="l">
              <a:lnSpc>
                <a:spcPts val="2850"/>
              </a:lnSpc>
              <a:buNone/>
            </a:pPr>
            <a:r>
              <a:rPr lang="en-US" sz="1750" dirty="0">
                <a:solidFill>
                  <a:srgbClr val="2B2E3C"/>
                </a:solidFill>
                <a:latin typeface="Open Sans" pitchFamily="34" charset="0"/>
                <a:ea typeface="Open Sans" pitchFamily="34" charset="-122"/>
                <a:cs typeface="Open Sans" pitchFamily="34" charset="-120"/>
              </a:rPr>
              <a:t>Responsible for establishing, configuring, and testing the data link connection before any network data is exchanged. It negotiates options like authentication and error detection.</a:t>
            </a:r>
            <a:endParaRPr lang="en-US" sz="1750" dirty="0"/>
          </a:p>
        </p:txBody>
      </p:sp>
      <p:sp>
        <p:nvSpPr>
          <p:cNvPr id="8" name="Shape 6"/>
          <p:cNvSpPr/>
          <p:nvPr/>
        </p:nvSpPr>
        <p:spPr>
          <a:xfrm>
            <a:off x="793790" y="5228987"/>
            <a:ext cx="907256" cy="1669852"/>
          </a:xfrm>
          <a:prstGeom prst="roundRect">
            <a:avLst>
              <a:gd name="adj" fmla="val 360022"/>
            </a:avLst>
          </a:prstGeom>
          <a:solidFill>
            <a:srgbClr val="FCE2CF"/>
          </a:solidFill>
          <a:ln w="7620">
            <a:solidFill>
              <a:srgbClr val="E2C8B5"/>
            </a:solidFill>
            <a:prstDash val="solid"/>
          </a:ln>
        </p:spPr>
        <p:txBody>
          <a:bodyPr/>
          <a:lstStyle/>
          <a:p>
            <a:endParaRPr lang="en-US"/>
          </a:p>
        </p:txBody>
      </p:sp>
      <p:sp>
        <p:nvSpPr>
          <p:cNvPr id="9" name="Text 7"/>
          <p:cNvSpPr/>
          <p:nvPr/>
        </p:nvSpPr>
        <p:spPr>
          <a:xfrm>
            <a:off x="1077278" y="5851208"/>
            <a:ext cx="340162" cy="425291"/>
          </a:xfrm>
          <a:prstGeom prst="rect">
            <a:avLst/>
          </a:prstGeom>
          <a:noFill/>
          <a:ln/>
        </p:spPr>
        <p:txBody>
          <a:bodyPr wrap="none" lIns="0" tIns="0" rIns="0" bIns="0" rtlCol="0" anchor="t"/>
          <a:lstStyle/>
          <a:p>
            <a:pPr marL="0" indent="0" algn="l">
              <a:lnSpc>
                <a:spcPts val="2650"/>
              </a:lnSpc>
              <a:buNone/>
            </a:pPr>
            <a:r>
              <a:rPr lang="en-US" sz="2650" dirty="0">
                <a:solidFill>
                  <a:srgbClr val="2B2E3C"/>
                </a:solidFill>
                <a:latin typeface="Bitter Medium" pitchFamily="34" charset="0"/>
                <a:ea typeface="Bitter Medium" pitchFamily="34" charset="-122"/>
                <a:cs typeface="Bitter Medium" pitchFamily="34" charset="-120"/>
              </a:rPr>
              <a:t>2</a:t>
            </a:r>
            <a:endParaRPr lang="en-US" sz="2650" dirty="0"/>
          </a:p>
        </p:txBody>
      </p:sp>
      <p:sp>
        <p:nvSpPr>
          <p:cNvPr id="10" name="Text 8"/>
          <p:cNvSpPr/>
          <p:nvPr/>
        </p:nvSpPr>
        <p:spPr>
          <a:xfrm>
            <a:off x="1927860" y="5455801"/>
            <a:ext cx="3765709" cy="354330"/>
          </a:xfrm>
          <a:prstGeom prst="rect">
            <a:avLst/>
          </a:prstGeom>
          <a:noFill/>
          <a:ln/>
        </p:spPr>
        <p:txBody>
          <a:bodyPr wrap="none" lIns="0" tIns="0" rIns="0" bIns="0" rtlCol="0" anchor="t"/>
          <a:lstStyle/>
          <a:p>
            <a:pPr marL="0" indent="0" algn="l">
              <a:lnSpc>
                <a:spcPts val="2750"/>
              </a:lnSpc>
              <a:buNone/>
            </a:pPr>
            <a:r>
              <a:rPr lang="en-US" sz="2200" dirty="0">
                <a:solidFill>
                  <a:srgbClr val="2B2E3C"/>
                </a:solidFill>
                <a:ea typeface="Bitter Medium" pitchFamily="34" charset="-122"/>
                <a:cs typeface="Bitter Medium" pitchFamily="34" charset="-120"/>
              </a:rPr>
              <a:t>NCP: Multi-Protocol Maestro</a:t>
            </a:r>
            <a:endParaRPr lang="en-US" sz="2200" dirty="0"/>
          </a:p>
        </p:txBody>
      </p:sp>
      <p:sp>
        <p:nvSpPr>
          <p:cNvPr id="11" name="Text 9"/>
          <p:cNvSpPr/>
          <p:nvPr/>
        </p:nvSpPr>
        <p:spPr>
          <a:xfrm>
            <a:off x="1927860" y="5946219"/>
            <a:ext cx="11908750" cy="725805"/>
          </a:xfrm>
          <a:prstGeom prst="rect">
            <a:avLst/>
          </a:prstGeom>
          <a:noFill/>
          <a:ln/>
        </p:spPr>
        <p:txBody>
          <a:bodyPr wrap="square" lIns="0" tIns="0" rIns="0" bIns="0" rtlCol="0" anchor="t"/>
          <a:lstStyle/>
          <a:p>
            <a:pPr marL="0" indent="0" algn="l">
              <a:lnSpc>
                <a:spcPts val="2850"/>
              </a:lnSpc>
              <a:buNone/>
            </a:pPr>
            <a:r>
              <a:rPr lang="en-US" sz="1750" dirty="0">
                <a:solidFill>
                  <a:srgbClr val="2B2E3C"/>
                </a:solidFill>
                <a:latin typeface="Open Sans" pitchFamily="34" charset="0"/>
                <a:ea typeface="Open Sans" pitchFamily="34" charset="-122"/>
                <a:cs typeface="Open Sans" pitchFamily="34" charset="-120"/>
              </a:rPr>
              <a:t>Once LCP sets up the link, NCP allows PPP to carry various network-layer protocols (e.g., IPv4, IPv6, IPX) simultaneously over the same physical connection.</a:t>
            </a:r>
            <a:endParaRPr lang="en-US" sz="1750" dirty="0"/>
          </a:p>
        </p:txBody>
      </p:sp>
      <p:sp>
        <p:nvSpPr>
          <p:cNvPr id="12" name="Rounded Rectangle 11">
            <a:extLst>
              <a:ext uri="{FF2B5EF4-FFF2-40B4-BE49-F238E27FC236}">
                <a16:creationId xmlns:a16="http://schemas.microsoft.com/office/drawing/2014/main" id="{DD1096BC-E1ED-008B-0883-11B01B73D540}"/>
              </a:ext>
            </a:extLst>
          </p:cNvPr>
          <p:cNvSpPr/>
          <p:nvPr/>
        </p:nvSpPr>
        <p:spPr>
          <a:xfrm flipV="1">
            <a:off x="12870180" y="7795260"/>
            <a:ext cx="1668780" cy="331471"/>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793790" y="1116687"/>
            <a:ext cx="9367718" cy="566976"/>
          </a:xfrm>
          <a:prstGeom prst="rect">
            <a:avLst/>
          </a:prstGeom>
          <a:noFill/>
          <a:ln/>
        </p:spPr>
        <p:txBody>
          <a:bodyPr wrap="none" lIns="0" tIns="0" rIns="0" bIns="0" rtlCol="0" anchor="t"/>
          <a:lstStyle/>
          <a:p>
            <a:pPr marL="0" indent="0" algn="l">
              <a:lnSpc>
                <a:spcPts val="4450"/>
              </a:lnSpc>
              <a:buNone/>
            </a:pPr>
            <a:r>
              <a:rPr lang="en-US" sz="3550" dirty="0">
                <a:solidFill>
                  <a:srgbClr val="2C3F42"/>
                </a:solidFill>
                <a:ea typeface="Bitter Medium" pitchFamily="34" charset="-122"/>
                <a:cs typeface="Bitter Medium" pitchFamily="34" charset="-120"/>
              </a:rPr>
              <a:t>Why PPP Remains Essential: Key Advantages</a:t>
            </a:r>
            <a:endParaRPr lang="en-US" sz="3550" dirty="0"/>
          </a:p>
        </p:txBody>
      </p:sp>
      <p:sp>
        <p:nvSpPr>
          <p:cNvPr id="3" name="Text 1"/>
          <p:cNvSpPr/>
          <p:nvPr/>
        </p:nvSpPr>
        <p:spPr>
          <a:xfrm>
            <a:off x="793790" y="2137291"/>
            <a:ext cx="13042821" cy="725805"/>
          </a:xfrm>
          <a:prstGeom prst="rect">
            <a:avLst/>
          </a:prstGeom>
          <a:noFill/>
          <a:ln/>
        </p:spPr>
        <p:txBody>
          <a:bodyPr wrap="square" lIns="0" tIns="0" rIns="0" bIns="0" rtlCol="0" anchor="t"/>
          <a:lstStyle/>
          <a:p>
            <a:pPr marL="0" indent="0" algn="l">
              <a:lnSpc>
                <a:spcPts val="2850"/>
              </a:lnSpc>
              <a:buNone/>
            </a:pPr>
            <a:r>
              <a:rPr lang="en-US" sz="1750" dirty="0">
                <a:solidFill>
                  <a:srgbClr val="2B2E3C"/>
                </a:solidFill>
                <a:latin typeface="Open Sans" pitchFamily="34" charset="0"/>
                <a:ea typeface="Open Sans" pitchFamily="34" charset="-122"/>
                <a:cs typeface="Open Sans" pitchFamily="34" charset="-120"/>
              </a:rPr>
              <a:t>Despite evolving network technologies, PPP continues to be a cornerstone for specific connection types due to its robust features and flexibility, making it highly valuable in various scenarios.</a:t>
            </a:r>
            <a:endParaRPr lang="en-US" sz="1750" dirty="0"/>
          </a:p>
        </p:txBody>
      </p:sp>
      <p:pic>
        <p:nvPicPr>
          <p:cNvPr id="4" name="Image 0" descr="preencoded.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93790" y="3118247"/>
            <a:ext cx="680442" cy="680442"/>
          </a:xfrm>
          <a:prstGeom prst="rect">
            <a:avLst/>
          </a:prstGeom>
        </p:spPr>
      </p:pic>
      <p:sp>
        <p:nvSpPr>
          <p:cNvPr id="5" name="Text 2"/>
          <p:cNvSpPr/>
          <p:nvPr/>
        </p:nvSpPr>
        <p:spPr>
          <a:xfrm>
            <a:off x="1757720" y="3309580"/>
            <a:ext cx="3173849" cy="354330"/>
          </a:xfrm>
          <a:prstGeom prst="rect">
            <a:avLst/>
          </a:prstGeom>
          <a:noFill/>
          <a:ln/>
        </p:spPr>
        <p:txBody>
          <a:bodyPr wrap="none" lIns="0" tIns="0" rIns="0" bIns="0" rtlCol="0" anchor="t"/>
          <a:lstStyle/>
          <a:p>
            <a:pPr marL="0" indent="0" algn="l">
              <a:lnSpc>
                <a:spcPts val="2750"/>
              </a:lnSpc>
              <a:buNone/>
            </a:pPr>
            <a:r>
              <a:rPr lang="en-US" sz="2200" dirty="0">
                <a:solidFill>
                  <a:srgbClr val="2B2E3C"/>
                </a:solidFill>
                <a:ea typeface="Bitter Medium" pitchFamily="34" charset="-122"/>
                <a:cs typeface="Bitter Medium" pitchFamily="34" charset="-120"/>
              </a:rPr>
              <a:t>Dynamic IP Assignment</a:t>
            </a:r>
            <a:endParaRPr lang="en-US" sz="2200" dirty="0"/>
          </a:p>
        </p:txBody>
      </p:sp>
      <p:sp>
        <p:nvSpPr>
          <p:cNvPr id="6" name="Text 3"/>
          <p:cNvSpPr/>
          <p:nvPr/>
        </p:nvSpPr>
        <p:spPr>
          <a:xfrm>
            <a:off x="1757720" y="3799999"/>
            <a:ext cx="5415677" cy="1088708"/>
          </a:xfrm>
          <a:prstGeom prst="rect">
            <a:avLst/>
          </a:prstGeom>
          <a:noFill/>
          <a:ln/>
        </p:spPr>
        <p:txBody>
          <a:bodyPr wrap="square" lIns="0" tIns="0" rIns="0" bIns="0" rtlCol="0" anchor="t"/>
          <a:lstStyle/>
          <a:p>
            <a:pPr marL="0" indent="0" algn="l">
              <a:lnSpc>
                <a:spcPts val="2850"/>
              </a:lnSpc>
              <a:buNone/>
            </a:pPr>
            <a:r>
              <a:rPr lang="en-US" sz="1750" dirty="0">
                <a:solidFill>
                  <a:srgbClr val="2B2E3C"/>
                </a:solidFill>
                <a:latin typeface="Open Sans" pitchFamily="34" charset="0"/>
                <a:ea typeface="Open Sans" pitchFamily="34" charset="-122"/>
                <a:cs typeface="Open Sans" pitchFamily="34" charset="-120"/>
              </a:rPr>
              <a:t>PPP can dynamically assign IP addresses to connected devices, simplifying network configuration.</a:t>
            </a:r>
            <a:endParaRPr lang="en-US" sz="1750" dirty="0"/>
          </a:p>
        </p:txBody>
      </p:sp>
      <p:pic>
        <p:nvPicPr>
          <p:cNvPr id="7" name="Image 1" descr="preencoded.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456884" y="3118247"/>
            <a:ext cx="680442" cy="680442"/>
          </a:xfrm>
          <a:prstGeom prst="rect">
            <a:avLst/>
          </a:prstGeom>
        </p:spPr>
      </p:pic>
      <p:sp>
        <p:nvSpPr>
          <p:cNvPr id="8" name="Text 4"/>
          <p:cNvSpPr/>
          <p:nvPr/>
        </p:nvSpPr>
        <p:spPr>
          <a:xfrm>
            <a:off x="8420814" y="3309580"/>
            <a:ext cx="3037523" cy="354330"/>
          </a:xfrm>
          <a:prstGeom prst="rect">
            <a:avLst/>
          </a:prstGeom>
          <a:noFill/>
          <a:ln/>
        </p:spPr>
        <p:txBody>
          <a:bodyPr wrap="none" lIns="0" tIns="0" rIns="0" bIns="0" rtlCol="0" anchor="t"/>
          <a:lstStyle/>
          <a:p>
            <a:pPr marL="0" indent="0" algn="l">
              <a:lnSpc>
                <a:spcPts val="2750"/>
              </a:lnSpc>
              <a:buNone/>
            </a:pPr>
            <a:r>
              <a:rPr lang="en-US" sz="2200" dirty="0">
                <a:solidFill>
                  <a:srgbClr val="2B2E3C"/>
                </a:solidFill>
                <a:ea typeface="Bitter Medium" pitchFamily="34" charset="-122"/>
                <a:cs typeface="Bitter Medium" pitchFamily="34" charset="-120"/>
              </a:rPr>
              <a:t>Robust Error Detection</a:t>
            </a:r>
            <a:endParaRPr lang="en-US" sz="2200" dirty="0"/>
          </a:p>
        </p:txBody>
      </p:sp>
      <p:sp>
        <p:nvSpPr>
          <p:cNvPr id="9" name="Text 5"/>
          <p:cNvSpPr/>
          <p:nvPr/>
        </p:nvSpPr>
        <p:spPr>
          <a:xfrm>
            <a:off x="8420814" y="3799999"/>
            <a:ext cx="5415796" cy="1088708"/>
          </a:xfrm>
          <a:prstGeom prst="rect">
            <a:avLst/>
          </a:prstGeom>
          <a:noFill/>
          <a:ln/>
        </p:spPr>
        <p:txBody>
          <a:bodyPr wrap="square" lIns="0" tIns="0" rIns="0" bIns="0" rtlCol="0" anchor="t"/>
          <a:lstStyle/>
          <a:p>
            <a:pPr marL="0" indent="0" algn="l">
              <a:lnSpc>
                <a:spcPts val="2850"/>
              </a:lnSpc>
              <a:buNone/>
            </a:pPr>
            <a:r>
              <a:rPr lang="en-US" sz="1750" dirty="0">
                <a:solidFill>
                  <a:srgbClr val="2B2E3C"/>
                </a:solidFill>
                <a:latin typeface="Open Sans" pitchFamily="34" charset="0"/>
                <a:ea typeface="Open Sans" pitchFamily="34" charset="-122"/>
                <a:cs typeface="Open Sans" pitchFamily="34" charset="-120"/>
              </a:rPr>
              <a:t>The Frame Check Sequence (FCS) provides built-in mechanisms for detecting and handling transmission errors, ensuring data integrity.</a:t>
            </a:r>
            <a:endParaRPr lang="en-US" sz="1750" dirty="0"/>
          </a:p>
        </p:txBody>
      </p:sp>
      <p:pic>
        <p:nvPicPr>
          <p:cNvPr id="10" name="Image 2" descr="preencoded.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93790" y="5342334"/>
            <a:ext cx="680442" cy="680442"/>
          </a:xfrm>
          <a:prstGeom prst="rect">
            <a:avLst/>
          </a:prstGeom>
        </p:spPr>
      </p:pic>
      <p:sp>
        <p:nvSpPr>
          <p:cNvPr id="11" name="Text 6"/>
          <p:cNvSpPr/>
          <p:nvPr/>
        </p:nvSpPr>
        <p:spPr>
          <a:xfrm>
            <a:off x="1757720" y="5533668"/>
            <a:ext cx="3070027" cy="354330"/>
          </a:xfrm>
          <a:prstGeom prst="rect">
            <a:avLst/>
          </a:prstGeom>
          <a:noFill/>
          <a:ln/>
        </p:spPr>
        <p:txBody>
          <a:bodyPr wrap="none" lIns="0" tIns="0" rIns="0" bIns="0" rtlCol="0" anchor="t"/>
          <a:lstStyle/>
          <a:p>
            <a:pPr marL="0" indent="0" algn="l">
              <a:lnSpc>
                <a:spcPts val="2750"/>
              </a:lnSpc>
              <a:buNone/>
            </a:pPr>
            <a:r>
              <a:rPr lang="en-US" sz="2200" dirty="0">
                <a:solidFill>
                  <a:srgbClr val="2B2E3C"/>
                </a:solidFill>
                <a:ea typeface="Bitter Medium" pitchFamily="34" charset="-122"/>
                <a:cs typeface="Bitter Medium" pitchFamily="34" charset="-120"/>
              </a:rPr>
              <a:t>Multi-Protocol Support</a:t>
            </a:r>
            <a:endParaRPr lang="en-US" sz="2200" dirty="0"/>
          </a:p>
        </p:txBody>
      </p:sp>
      <p:sp>
        <p:nvSpPr>
          <p:cNvPr id="12" name="Text 7"/>
          <p:cNvSpPr/>
          <p:nvPr/>
        </p:nvSpPr>
        <p:spPr>
          <a:xfrm>
            <a:off x="1757720" y="6024086"/>
            <a:ext cx="5415677" cy="1088708"/>
          </a:xfrm>
          <a:prstGeom prst="rect">
            <a:avLst/>
          </a:prstGeom>
          <a:noFill/>
          <a:ln/>
        </p:spPr>
        <p:txBody>
          <a:bodyPr wrap="square" lIns="0" tIns="0" rIns="0" bIns="0" rtlCol="0" anchor="t"/>
          <a:lstStyle/>
          <a:p>
            <a:pPr marL="0" indent="0" algn="l">
              <a:lnSpc>
                <a:spcPts val="2850"/>
              </a:lnSpc>
              <a:buNone/>
            </a:pPr>
            <a:r>
              <a:rPr lang="en-US" sz="1750" dirty="0">
                <a:solidFill>
                  <a:srgbClr val="2B2E3C"/>
                </a:solidFill>
                <a:latin typeface="Open Sans" pitchFamily="34" charset="0"/>
                <a:ea typeface="Open Sans" pitchFamily="34" charset="-122"/>
                <a:cs typeface="Open Sans" pitchFamily="34" charset="-120"/>
              </a:rPr>
              <a:t>Through NCP, PPP efficiently carries different network layer protocols, optimizing bandwidth usage and flexibility.</a:t>
            </a:r>
            <a:endParaRPr lang="en-US" sz="1750" dirty="0"/>
          </a:p>
        </p:txBody>
      </p:sp>
      <p:pic>
        <p:nvPicPr>
          <p:cNvPr id="13" name="Image 3" descr="preencoded.png"/>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7456884" y="5342334"/>
            <a:ext cx="680442" cy="680442"/>
          </a:xfrm>
          <a:prstGeom prst="rect">
            <a:avLst/>
          </a:prstGeom>
        </p:spPr>
      </p:pic>
      <p:sp>
        <p:nvSpPr>
          <p:cNvPr id="14" name="Text 8"/>
          <p:cNvSpPr/>
          <p:nvPr/>
        </p:nvSpPr>
        <p:spPr>
          <a:xfrm>
            <a:off x="8420814" y="5533668"/>
            <a:ext cx="3421142" cy="354330"/>
          </a:xfrm>
          <a:prstGeom prst="rect">
            <a:avLst/>
          </a:prstGeom>
          <a:noFill/>
          <a:ln/>
        </p:spPr>
        <p:txBody>
          <a:bodyPr wrap="none" lIns="0" tIns="0" rIns="0" bIns="0" rtlCol="0" anchor="t"/>
          <a:lstStyle/>
          <a:p>
            <a:pPr marL="0" indent="0" algn="l">
              <a:lnSpc>
                <a:spcPts val="2750"/>
              </a:lnSpc>
              <a:buNone/>
            </a:pPr>
            <a:r>
              <a:rPr lang="en-US" sz="2200" dirty="0">
                <a:solidFill>
                  <a:srgbClr val="2B2E3C"/>
                </a:solidFill>
                <a:ea typeface="Bitter Medium" pitchFamily="34" charset="-122"/>
                <a:cs typeface="Bitter Medium" pitchFamily="34" charset="-120"/>
              </a:rPr>
              <a:t>Authentication &amp; Security</a:t>
            </a:r>
            <a:endParaRPr lang="en-US" sz="2200" dirty="0"/>
          </a:p>
        </p:txBody>
      </p:sp>
      <p:sp>
        <p:nvSpPr>
          <p:cNvPr id="15" name="Text 9"/>
          <p:cNvSpPr/>
          <p:nvPr/>
        </p:nvSpPr>
        <p:spPr>
          <a:xfrm>
            <a:off x="8420814" y="6024086"/>
            <a:ext cx="5415796" cy="1088708"/>
          </a:xfrm>
          <a:prstGeom prst="rect">
            <a:avLst/>
          </a:prstGeom>
          <a:noFill/>
          <a:ln/>
        </p:spPr>
        <p:txBody>
          <a:bodyPr wrap="square" lIns="0" tIns="0" rIns="0" bIns="0" rtlCol="0" anchor="t"/>
          <a:lstStyle/>
          <a:p>
            <a:pPr marL="0" indent="0" algn="l">
              <a:lnSpc>
                <a:spcPts val="2850"/>
              </a:lnSpc>
              <a:buNone/>
            </a:pPr>
            <a:r>
              <a:rPr lang="en-US" sz="1750" dirty="0">
                <a:solidFill>
                  <a:srgbClr val="2B2E3C"/>
                </a:solidFill>
                <a:latin typeface="Open Sans" pitchFamily="34" charset="0"/>
                <a:ea typeface="Open Sans" pitchFamily="34" charset="-122"/>
                <a:cs typeface="Open Sans" pitchFamily="34" charset="-120"/>
              </a:rPr>
              <a:t>Supports authentication protocols like PAP and CHAP to secure the connection and verify user identity.</a:t>
            </a:r>
            <a:endParaRPr lang="en-US" sz="1750" dirty="0"/>
          </a:p>
        </p:txBody>
      </p:sp>
      <p:sp>
        <p:nvSpPr>
          <p:cNvPr id="16" name="Rounded Rectangle 15">
            <a:extLst>
              <a:ext uri="{FF2B5EF4-FFF2-40B4-BE49-F238E27FC236}">
                <a16:creationId xmlns:a16="http://schemas.microsoft.com/office/drawing/2014/main" id="{6CAAE54B-74C2-22EB-81CB-16EF88429053}"/>
              </a:ext>
            </a:extLst>
          </p:cNvPr>
          <p:cNvSpPr/>
          <p:nvPr/>
        </p:nvSpPr>
        <p:spPr>
          <a:xfrm flipV="1">
            <a:off x="12870180" y="7795260"/>
            <a:ext cx="1668780" cy="331471"/>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793790" y="903565"/>
            <a:ext cx="8895636" cy="566976"/>
          </a:xfrm>
          <a:prstGeom prst="rect">
            <a:avLst/>
          </a:prstGeom>
          <a:noFill/>
          <a:ln/>
        </p:spPr>
        <p:txBody>
          <a:bodyPr wrap="none" lIns="0" tIns="0" rIns="0" bIns="0" rtlCol="0" anchor="t"/>
          <a:lstStyle/>
          <a:p>
            <a:pPr marL="0" indent="0" algn="l">
              <a:lnSpc>
                <a:spcPts val="4450"/>
              </a:lnSpc>
              <a:buNone/>
            </a:pPr>
            <a:r>
              <a:rPr lang="en-US" sz="3550" dirty="0">
                <a:solidFill>
                  <a:srgbClr val="2C3F42"/>
                </a:solidFill>
                <a:ea typeface="Bitter Medium" pitchFamily="34" charset="-122"/>
                <a:cs typeface="Bitter Medium" pitchFamily="34" charset="-120"/>
              </a:rPr>
              <a:t>The PPP Process: A Step-by-Step Overview</a:t>
            </a:r>
            <a:endParaRPr lang="en-US" sz="3550" dirty="0"/>
          </a:p>
        </p:txBody>
      </p:sp>
      <p:sp>
        <p:nvSpPr>
          <p:cNvPr id="3" name="Text 1"/>
          <p:cNvSpPr/>
          <p:nvPr/>
        </p:nvSpPr>
        <p:spPr>
          <a:xfrm>
            <a:off x="793790" y="1924169"/>
            <a:ext cx="13042821" cy="725805"/>
          </a:xfrm>
          <a:prstGeom prst="rect">
            <a:avLst/>
          </a:prstGeom>
          <a:noFill/>
          <a:ln/>
        </p:spPr>
        <p:txBody>
          <a:bodyPr wrap="square" lIns="0" tIns="0" rIns="0" bIns="0" rtlCol="0" anchor="t"/>
          <a:lstStyle/>
          <a:p>
            <a:pPr marL="0" indent="0" algn="l">
              <a:lnSpc>
                <a:spcPts val="2850"/>
              </a:lnSpc>
              <a:buNone/>
            </a:pPr>
            <a:r>
              <a:rPr lang="en-US" sz="1750" dirty="0">
                <a:solidFill>
                  <a:srgbClr val="2B2E3C"/>
                </a:solidFill>
                <a:latin typeface="Open Sans" pitchFamily="34" charset="0"/>
                <a:ea typeface="Open Sans" pitchFamily="34" charset="-122"/>
                <a:cs typeface="Open Sans" pitchFamily="34" charset="-120"/>
              </a:rPr>
              <a:t>From establishing a connection to transferring data and eventually terminating the link, PPP follows a well-defined sequence to ensure orderly and efficient communication.</a:t>
            </a:r>
            <a:endParaRPr lang="en-US" sz="1750" dirty="0"/>
          </a:p>
        </p:txBody>
      </p:sp>
      <p:sp>
        <p:nvSpPr>
          <p:cNvPr id="4" name="Text 2"/>
          <p:cNvSpPr/>
          <p:nvPr/>
        </p:nvSpPr>
        <p:spPr>
          <a:xfrm>
            <a:off x="793790" y="2905125"/>
            <a:ext cx="226814" cy="283488"/>
          </a:xfrm>
          <a:prstGeom prst="rect">
            <a:avLst/>
          </a:prstGeom>
          <a:noFill/>
          <a:ln/>
        </p:spPr>
        <p:txBody>
          <a:bodyPr wrap="none" lIns="0" tIns="0" rIns="0" bIns="0" rtlCol="0" anchor="t"/>
          <a:lstStyle/>
          <a:p>
            <a:pPr marL="0" indent="0" algn="l">
              <a:lnSpc>
                <a:spcPts val="2850"/>
              </a:lnSpc>
              <a:buNone/>
            </a:pPr>
            <a:r>
              <a:rPr lang="en-US" sz="1750" dirty="0">
                <a:solidFill>
                  <a:srgbClr val="2B2E3C"/>
                </a:solidFill>
                <a:latin typeface="Bitter Light" pitchFamily="34" charset="0"/>
                <a:ea typeface="Bitter Light" pitchFamily="34" charset="-122"/>
                <a:cs typeface="Bitter Light" pitchFamily="34" charset="-120"/>
              </a:rPr>
              <a:t>01</a:t>
            </a:r>
            <a:endParaRPr lang="en-US" sz="1750" dirty="0"/>
          </a:p>
        </p:txBody>
      </p:sp>
      <p:sp>
        <p:nvSpPr>
          <p:cNvPr id="5" name="Shape 3"/>
          <p:cNvSpPr/>
          <p:nvPr/>
        </p:nvSpPr>
        <p:spPr>
          <a:xfrm>
            <a:off x="793790" y="3260169"/>
            <a:ext cx="4196358" cy="30480"/>
          </a:xfrm>
          <a:prstGeom prst="rect">
            <a:avLst/>
          </a:prstGeom>
          <a:solidFill>
            <a:srgbClr val="D2600F"/>
          </a:solidFill>
          <a:ln/>
        </p:spPr>
        <p:txBody>
          <a:bodyPr/>
          <a:lstStyle/>
          <a:p>
            <a:endParaRPr lang="en-US"/>
          </a:p>
        </p:txBody>
      </p:sp>
      <p:sp>
        <p:nvSpPr>
          <p:cNvPr id="6" name="Text 4"/>
          <p:cNvSpPr/>
          <p:nvPr/>
        </p:nvSpPr>
        <p:spPr>
          <a:xfrm>
            <a:off x="793790" y="3434477"/>
            <a:ext cx="2835235" cy="354330"/>
          </a:xfrm>
          <a:prstGeom prst="rect">
            <a:avLst/>
          </a:prstGeom>
          <a:noFill/>
          <a:ln/>
        </p:spPr>
        <p:txBody>
          <a:bodyPr wrap="none" lIns="0" tIns="0" rIns="0" bIns="0" rtlCol="0" anchor="t"/>
          <a:lstStyle/>
          <a:p>
            <a:pPr marL="0" indent="0" algn="l">
              <a:lnSpc>
                <a:spcPts val="2750"/>
              </a:lnSpc>
              <a:buNone/>
            </a:pPr>
            <a:r>
              <a:rPr lang="en-US" sz="2200" dirty="0">
                <a:solidFill>
                  <a:srgbClr val="2B2E3C"/>
                </a:solidFill>
                <a:latin typeface="Bitter Medium" pitchFamily="34" charset="0"/>
                <a:ea typeface="Bitter Medium" pitchFamily="34" charset="-122"/>
                <a:cs typeface="Bitter Medium" pitchFamily="34" charset="-120"/>
              </a:rPr>
              <a:t>Link </a:t>
            </a:r>
            <a:r>
              <a:rPr lang="en-US" sz="2200" dirty="0">
                <a:solidFill>
                  <a:srgbClr val="2B2E3C"/>
                </a:solidFill>
                <a:ea typeface="Bitter Medium" pitchFamily="34" charset="-122"/>
                <a:cs typeface="Bitter Medium" pitchFamily="34" charset="-120"/>
              </a:rPr>
              <a:t>Establishment</a:t>
            </a:r>
            <a:endParaRPr lang="en-US" sz="2200" dirty="0"/>
          </a:p>
        </p:txBody>
      </p:sp>
      <p:sp>
        <p:nvSpPr>
          <p:cNvPr id="7" name="Text 5"/>
          <p:cNvSpPr/>
          <p:nvPr/>
        </p:nvSpPr>
        <p:spPr>
          <a:xfrm>
            <a:off x="793790" y="3924895"/>
            <a:ext cx="4196358" cy="725805"/>
          </a:xfrm>
          <a:prstGeom prst="rect">
            <a:avLst/>
          </a:prstGeom>
          <a:noFill/>
          <a:ln/>
        </p:spPr>
        <p:txBody>
          <a:bodyPr wrap="square" lIns="0" tIns="0" rIns="0" bIns="0" rtlCol="0" anchor="t"/>
          <a:lstStyle/>
          <a:p>
            <a:pPr marL="0" indent="0" algn="l">
              <a:lnSpc>
                <a:spcPts val="2850"/>
              </a:lnSpc>
              <a:buNone/>
            </a:pPr>
            <a:r>
              <a:rPr lang="en-US" sz="1750" dirty="0">
                <a:solidFill>
                  <a:srgbClr val="2B2E3C"/>
                </a:solidFill>
                <a:latin typeface="Open Sans" pitchFamily="34" charset="0"/>
                <a:ea typeface="Open Sans" pitchFamily="34" charset="-122"/>
                <a:cs typeface="Open Sans" pitchFamily="34" charset="-120"/>
              </a:rPr>
              <a:t>LCP exchanges configuration packets to set up and agree on link parameters.</a:t>
            </a:r>
            <a:endParaRPr lang="en-US" sz="1750" dirty="0"/>
          </a:p>
        </p:txBody>
      </p:sp>
      <p:sp>
        <p:nvSpPr>
          <p:cNvPr id="8" name="Text 6"/>
          <p:cNvSpPr/>
          <p:nvPr/>
        </p:nvSpPr>
        <p:spPr>
          <a:xfrm>
            <a:off x="5216962" y="2905125"/>
            <a:ext cx="226814" cy="283488"/>
          </a:xfrm>
          <a:prstGeom prst="rect">
            <a:avLst/>
          </a:prstGeom>
          <a:noFill/>
          <a:ln/>
        </p:spPr>
        <p:txBody>
          <a:bodyPr wrap="none" lIns="0" tIns="0" rIns="0" bIns="0" rtlCol="0" anchor="t"/>
          <a:lstStyle/>
          <a:p>
            <a:pPr marL="0" indent="0" algn="l">
              <a:lnSpc>
                <a:spcPts val="2850"/>
              </a:lnSpc>
              <a:buNone/>
            </a:pPr>
            <a:r>
              <a:rPr lang="en-US" sz="1750" dirty="0">
                <a:solidFill>
                  <a:srgbClr val="2B2E3C"/>
                </a:solidFill>
                <a:latin typeface="Bitter Light" pitchFamily="34" charset="0"/>
                <a:ea typeface="Bitter Light" pitchFamily="34" charset="-122"/>
                <a:cs typeface="Bitter Light" pitchFamily="34" charset="-120"/>
              </a:rPr>
              <a:t>02</a:t>
            </a:r>
            <a:endParaRPr lang="en-US" sz="1750" dirty="0"/>
          </a:p>
        </p:txBody>
      </p:sp>
      <p:sp>
        <p:nvSpPr>
          <p:cNvPr id="9" name="Shape 7"/>
          <p:cNvSpPr/>
          <p:nvPr/>
        </p:nvSpPr>
        <p:spPr>
          <a:xfrm>
            <a:off x="5216962" y="3260169"/>
            <a:ext cx="4196358" cy="30480"/>
          </a:xfrm>
          <a:prstGeom prst="rect">
            <a:avLst/>
          </a:prstGeom>
          <a:solidFill>
            <a:srgbClr val="D2600F"/>
          </a:solidFill>
          <a:ln/>
        </p:spPr>
        <p:txBody>
          <a:bodyPr/>
          <a:lstStyle/>
          <a:p>
            <a:endParaRPr lang="en-US"/>
          </a:p>
        </p:txBody>
      </p:sp>
      <p:sp>
        <p:nvSpPr>
          <p:cNvPr id="10" name="Text 8"/>
          <p:cNvSpPr/>
          <p:nvPr/>
        </p:nvSpPr>
        <p:spPr>
          <a:xfrm>
            <a:off x="5216962" y="3434477"/>
            <a:ext cx="3393162" cy="354330"/>
          </a:xfrm>
          <a:prstGeom prst="rect">
            <a:avLst/>
          </a:prstGeom>
          <a:noFill/>
          <a:ln/>
        </p:spPr>
        <p:txBody>
          <a:bodyPr wrap="none" lIns="0" tIns="0" rIns="0" bIns="0" rtlCol="0" anchor="t"/>
          <a:lstStyle/>
          <a:p>
            <a:pPr marL="0" indent="0" algn="l">
              <a:lnSpc>
                <a:spcPts val="2750"/>
              </a:lnSpc>
              <a:buNone/>
            </a:pPr>
            <a:r>
              <a:rPr lang="en-US" sz="2200" dirty="0">
                <a:solidFill>
                  <a:srgbClr val="2B2E3C"/>
                </a:solidFill>
                <a:ea typeface="Bitter Medium" pitchFamily="34" charset="-122"/>
                <a:cs typeface="Bitter Medium" pitchFamily="34" charset="-120"/>
              </a:rPr>
              <a:t>Authentication (Optional)</a:t>
            </a:r>
            <a:endParaRPr lang="en-US" sz="2200" dirty="0"/>
          </a:p>
        </p:txBody>
      </p:sp>
      <p:sp>
        <p:nvSpPr>
          <p:cNvPr id="11" name="Text 9"/>
          <p:cNvSpPr/>
          <p:nvPr/>
        </p:nvSpPr>
        <p:spPr>
          <a:xfrm>
            <a:off x="5216962" y="3924895"/>
            <a:ext cx="4196358" cy="1088708"/>
          </a:xfrm>
          <a:prstGeom prst="rect">
            <a:avLst/>
          </a:prstGeom>
          <a:noFill/>
          <a:ln/>
        </p:spPr>
        <p:txBody>
          <a:bodyPr wrap="square" lIns="0" tIns="0" rIns="0" bIns="0" rtlCol="0" anchor="t"/>
          <a:lstStyle/>
          <a:p>
            <a:pPr marL="0" indent="0" algn="l">
              <a:lnSpc>
                <a:spcPts val="2850"/>
              </a:lnSpc>
              <a:buNone/>
            </a:pPr>
            <a:r>
              <a:rPr lang="en-US" sz="1750" dirty="0">
                <a:solidFill>
                  <a:srgbClr val="2B2E3C"/>
                </a:solidFill>
                <a:latin typeface="Open Sans" pitchFamily="34" charset="0"/>
                <a:ea typeface="Open Sans" pitchFamily="34" charset="-122"/>
                <a:cs typeface="Open Sans" pitchFamily="34" charset="-120"/>
              </a:rPr>
              <a:t>If configured, credentials are exchanged using protocols like PAP or CHAP to verify identity.</a:t>
            </a:r>
            <a:endParaRPr lang="en-US" sz="1750" dirty="0"/>
          </a:p>
        </p:txBody>
      </p:sp>
      <p:sp>
        <p:nvSpPr>
          <p:cNvPr id="12" name="Text 10"/>
          <p:cNvSpPr/>
          <p:nvPr/>
        </p:nvSpPr>
        <p:spPr>
          <a:xfrm>
            <a:off x="9640133" y="2905125"/>
            <a:ext cx="226814" cy="283488"/>
          </a:xfrm>
          <a:prstGeom prst="rect">
            <a:avLst/>
          </a:prstGeom>
          <a:noFill/>
          <a:ln/>
        </p:spPr>
        <p:txBody>
          <a:bodyPr wrap="none" lIns="0" tIns="0" rIns="0" bIns="0" rtlCol="0" anchor="t"/>
          <a:lstStyle/>
          <a:p>
            <a:pPr marL="0" indent="0" algn="l">
              <a:lnSpc>
                <a:spcPts val="2850"/>
              </a:lnSpc>
              <a:buNone/>
            </a:pPr>
            <a:r>
              <a:rPr lang="en-US" sz="1750" dirty="0">
                <a:solidFill>
                  <a:srgbClr val="2B2E3C"/>
                </a:solidFill>
                <a:latin typeface="Bitter Light" pitchFamily="34" charset="0"/>
                <a:ea typeface="Bitter Light" pitchFamily="34" charset="-122"/>
                <a:cs typeface="Bitter Light" pitchFamily="34" charset="-120"/>
              </a:rPr>
              <a:t>03</a:t>
            </a:r>
            <a:endParaRPr lang="en-US" sz="1750" dirty="0"/>
          </a:p>
        </p:txBody>
      </p:sp>
      <p:sp>
        <p:nvSpPr>
          <p:cNvPr id="13" name="Shape 11"/>
          <p:cNvSpPr/>
          <p:nvPr/>
        </p:nvSpPr>
        <p:spPr>
          <a:xfrm>
            <a:off x="9640133" y="3260169"/>
            <a:ext cx="4196358" cy="30480"/>
          </a:xfrm>
          <a:prstGeom prst="rect">
            <a:avLst/>
          </a:prstGeom>
          <a:solidFill>
            <a:srgbClr val="D2600F"/>
          </a:solidFill>
          <a:ln/>
        </p:spPr>
        <p:txBody>
          <a:bodyPr/>
          <a:lstStyle/>
          <a:p>
            <a:endParaRPr lang="en-US"/>
          </a:p>
        </p:txBody>
      </p:sp>
      <p:sp>
        <p:nvSpPr>
          <p:cNvPr id="14" name="Text 12"/>
          <p:cNvSpPr/>
          <p:nvPr/>
        </p:nvSpPr>
        <p:spPr>
          <a:xfrm>
            <a:off x="9640133" y="3434477"/>
            <a:ext cx="3847386" cy="354330"/>
          </a:xfrm>
          <a:prstGeom prst="rect">
            <a:avLst/>
          </a:prstGeom>
          <a:noFill/>
          <a:ln/>
        </p:spPr>
        <p:txBody>
          <a:bodyPr wrap="none" lIns="0" tIns="0" rIns="0" bIns="0" rtlCol="0" anchor="t"/>
          <a:lstStyle/>
          <a:p>
            <a:pPr marL="0" indent="0" algn="l">
              <a:lnSpc>
                <a:spcPts val="2750"/>
              </a:lnSpc>
              <a:buNone/>
            </a:pPr>
            <a:r>
              <a:rPr lang="en-US" sz="2200" dirty="0">
                <a:solidFill>
                  <a:srgbClr val="2B2E3C"/>
                </a:solidFill>
                <a:ea typeface="Bitter Medium" pitchFamily="34" charset="-122"/>
                <a:cs typeface="Bitter Medium" pitchFamily="34" charset="-120"/>
              </a:rPr>
              <a:t>Network Layer Configuration</a:t>
            </a:r>
            <a:endParaRPr lang="en-US" sz="2200" dirty="0"/>
          </a:p>
        </p:txBody>
      </p:sp>
      <p:sp>
        <p:nvSpPr>
          <p:cNvPr id="15" name="Text 13"/>
          <p:cNvSpPr/>
          <p:nvPr/>
        </p:nvSpPr>
        <p:spPr>
          <a:xfrm>
            <a:off x="9640133" y="3924895"/>
            <a:ext cx="4196358" cy="725805"/>
          </a:xfrm>
          <a:prstGeom prst="rect">
            <a:avLst/>
          </a:prstGeom>
          <a:noFill/>
          <a:ln/>
        </p:spPr>
        <p:txBody>
          <a:bodyPr wrap="square" lIns="0" tIns="0" rIns="0" bIns="0" rtlCol="0" anchor="t"/>
          <a:lstStyle/>
          <a:p>
            <a:pPr marL="0" indent="0" algn="l">
              <a:lnSpc>
                <a:spcPts val="2850"/>
              </a:lnSpc>
              <a:buNone/>
            </a:pPr>
            <a:r>
              <a:rPr lang="en-US" sz="1750" dirty="0">
                <a:solidFill>
                  <a:srgbClr val="2B2E3C"/>
                </a:solidFill>
                <a:latin typeface="Open Sans" pitchFamily="34" charset="0"/>
                <a:ea typeface="Open Sans" pitchFamily="34" charset="-122"/>
                <a:cs typeface="Open Sans" pitchFamily="34" charset="-120"/>
              </a:rPr>
              <a:t>NCP configures network layer protocols (e.g., assigning IP addresses).</a:t>
            </a:r>
            <a:endParaRPr lang="en-US" sz="1750" dirty="0"/>
          </a:p>
        </p:txBody>
      </p:sp>
      <p:sp>
        <p:nvSpPr>
          <p:cNvPr id="16" name="Text 14"/>
          <p:cNvSpPr/>
          <p:nvPr/>
        </p:nvSpPr>
        <p:spPr>
          <a:xfrm>
            <a:off x="793790" y="5410438"/>
            <a:ext cx="226814" cy="283488"/>
          </a:xfrm>
          <a:prstGeom prst="rect">
            <a:avLst/>
          </a:prstGeom>
          <a:noFill/>
          <a:ln/>
        </p:spPr>
        <p:txBody>
          <a:bodyPr wrap="none" lIns="0" tIns="0" rIns="0" bIns="0" rtlCol="0" anchor="t"/>
          <a:lstStyle/>
          <a:p>
            <a:pPr marL="0" indent="0" algn="l">
              <a:lnSpc>
                <a:spcPts val="2850"/>
              </a:lnSpc>
              <a:buNone/>
            </a:pPr>
            <a:r>
              <a:rPr lang="en-US" sz="1750" dirty="0">
                <a:solidFill>
                  <a:srgbClr val="2B2E3C"/>
                </a:solidFill>
                <a:latin typeface="Bitter Light" pitchFamily="34" charset="0"/>
                <a:ea typeface="Bitter Light" pitchFamily="34" charset="-122"/>
                <a:cs typeface="Bitter Light" pitchFamily="34" charset="-120"/>
              </a:rPr>
              <a:t>04</a:t>
            </a:r>
            <a:endParaRPr lang="en-US" sz="1750" dirty="0"/>
          </a:p>
        </p:txBody>
      </p:sp>
      <p:sp>
        <p:nvSpPr>
          <p:cNvPr id="17" name="Shape 15"/>
          <p:cNvSpPr/>
          <p:nvPr/>
        </p:nvSpPr>
        <p:spPr>
          <a:xfrm>
            <a:off x="793790" y="5765483"/>
            <a:ext cx="6407944" cy="30480"/>
          </a:xfrm>
          <a:prstGeom prst="rect">
            <a:avLst/>
          </a:prstGeom>
          <a:solidFill>
            <a:srgbClr val="D2600F"/>
          </a:solidFill>
          <a:ln/>
        </p:spPr>
        <p:txBody>
          <a:bodyPr/>
          <a:lstStyle/>
          <a:p>
            <a:endParaRPr lang="en-US"/>
          </a:p>
        </p:txBody>
      </p:sp>
      <p:sp>
        <p:nvSpPr>
          <p:cNvPr id="18" name="Text 16"/>
          <p:cNvSpPr/>
          <p:nvPr/>
        </p:nvSpPr>
        <p:spPr>
          <a:xfrm>
            <a:off x="793790" y="5939790"/>
            <a:ext cx="2835235" cy="354330"/>
          </a:xfrm>
          <a:prstGeom prst="rect">
            <a:avLst/>
          </a:prstGeom>
          <a:noFill/>
          <a:ln/>
        </p:spPr>
        <p:txBody>
          <a:bodyPr wrap="none" lIns="0" tIns="0" rIns="0" bIns="0" rtlCol="0" anchor="t"/>
          <a:lstStyle/>
          <a:p>
            <a:pPr marL="0" indent="0" algn="l">
              <a:lnSpc>
                <a:spcPts val="2750"/>
              </a:lnSpc>
              <a:buNone/>
            </a:pPr>
            <a:r>
              <a:rPr lang="en-US" sz="2200" dirty="0">
                <a:solidFill>
                  <a:srgbClr val="2B2E3C"/>
                </a:solidFill>
                <a:ea typeface="Bitter Medium" pitchFamily="34" charset="-122"/>
                <a:cs typeface="Bitter Medium" pitchFamily="34" charset="-120"/>
              </a:rPr>
              <a:t>Data Transfer</a:t>
            </a:r>
            <a:endParaRPr lang="en-US" sz="2200" dirty="0"/>
          </a:p>
        </p:txBody>
      </p:sp>
      <p:sp>
        <p:nvSpPr>
          <p:cNvPr id="19" name="Text 17"/>
          <p:cNvSpPr/>
          <p:nvPr/>
        </p:nvSpPr>
        <p:spPr>
          <a:xfrm>
            <a:off x="793790" y="6430208"/>
            <a:ext cx="6407944" cy="725805"/>
          </a:xfrm>
          <a:prstGeom prst="rect">
            <a:avLst/>
          </a:prstGeom>
          <a:noFill/>
          <a:ln/>
        </p:spPr>
        <p:txBody>
          <a:bodyPr wrap="square" lIns="0" tIns="0" rIns="0" bIns="0" rtlCol="0" anchor="t"/>
          <a:lstStyle/>
          <a:p>
            <a:pPr marL="0" indent="0" algn="l">
              <a:lnSpc>
                <a:spcPts val="2850"/>
              </a:lnSpc>
              <a:buNone/>
            </a:pPr>
            <a:r>
              <a:rPr lang="en-US" sz="1750" dirty="0">
                <a:solidFill>
                  <a:srgbClr val="2B2E3C"/>
                </a:solidFill>
                <a:latin typeface="Open Sans" pitchFamily="34" charset="0"/>
                <a:ea typeface="Open Sans" pitchFamily="34" charset="-122"/>
                <a:cs typeface="Open Sans" pitchFamily="34" charset="-120"/>
              </a:rPr>
              <a:t>Once configured, network layer data (e.g., IP packets) is encapsulated and transmitted.</a:t>
            </a:r>
            <a:endParaRPr lang="en-US" sz="1750" dirty="0"/>
          </a:p>
        </p:txBody>
      </p:sp>
      <p:sp>
        <p:nvSpPr>
          <p:cNvPr id="20" name="Text 18"/>
          <p:cNvSpPr/>
          <p:nvPr/>
        </p:nvSpPr>
        <p:spPr>
          <a:xfrm>
            <a:off x="7428548" y="5410438"/>
            <a:ext cx="226814" cy="283488"/>
          </a:xfrm>
          <a:prstGeom prst="rect">
            <a:avLst/>
          </a:prstGeom>
          <a:noFill/>
          <a:ln/>
        </p:spPr>
        <p:txBody>
          <a:bodyPr wrap="none" lIns="0" tIns="0" rIns="0" bIns="0" rtlCol="0" anchor="t"/>
          <a:lstStyle/>
          <a:p>
            <a:pPr marL="0" indent="0" algn="l">
              <a:lnSpc>
                <a:spcPts val="2850"/>
              </a:lnSpc>
              <a:buNone/>
            </a:pPr>
            <a:r>
              <a:rPr lang="en-US" sz="1750" dirty="0">
                <a:solidFill>
                  <a:srgbClr val="2B2E3C"/>
                </a:solidFill>
                <a:latin typeface="Bitter Light" pitchFamily="34" charset="0"/>
                <a:ea typeface="Bitter Light" pitchFamily="34" charset="-122"/>
                <a:cs typeface="Bitter Light" pitchFamily="34" charset="-120"/>
              </a:rPr>
              <a:t>05</a:t>
            </a:r>
            <a:endParaRPr lang="en-US" sz="1750" dirty="0"/>
          </a:p>
        </p:txBody>
      </p:sp>
      <p:sp>
        <p:nvSpPr>
          <p:cNvPr id="21" name="Shape 19"/>
          <p:cNvSpPr/>
          <p:nvPr/>
        </p:nvSpPr>
        <p:spPr>
          <a:xfrm>
            <a:off x="7428548" y="5765483"/>
            <a:ext cx="6407944" cy="30480"/>
          </a:xfrm>
          <a:prstGeom prst="rect">
            <a:avLst/>
          </a:prstGeom>
          <a:solidFill>
            <a:srgbClr val="D2600F"/>
          </a:solidFill>
          <a:ln/>
        </p:spPr>
        <p:txBody>
          <a:bodyPr/>
          <a:lstStyle/>
          <a:p>
            <a:endParaRPr lang="en-US"/>
          </a:p>
        </p:txBody>
      </p:sp>
      <p:sp>
        <p:nvSpPr>
          <p:cNvPr id="22" name="Text 20"/>
          <p:cNvSpPr/>
          <p:nvPr/>
        </p:nvSpPr>
        <p:spPr>
          <a:xfrm>
            <a:off x="7428548" y="5939790"/>
            <a:ext cx="2835235" cy="354330"/>
          </a:xfrm>
          <a:prstGeom prst="rect">
            <a:avLst/>
          </a:prstGeom>
          <a:noFill/>
          <a:ln/>
        </p:spPr>
        <p:txBody>
          <a:bodyPr wrap="none" lIns="0" tIns="0" rIns="0" bIns="0" rtlCol="0" anchor="t"/>
          <a:lstStyle/>
          <a:p>
            <a:pPr marL="0" indent="0" algn="l">
              <a:lnSpc>
                <a:spcPts val="2750"/>
              </a:lnSpc>
              <a:buNone/>
            </a:pPr>
            <a:r>
              <a:rPr lang="en-US" sz="2200" dirty="0">
                <a:solidFill>
                  <a:srgbClr val="2B2E3C"/>
                </a:solidFill>
                <a:ea typeface="Bitter Medium" pitchFamily="34" charset="-122"/>
                <a:cs typeface="Bitter Medium" pitchFamily="34" charset="-120"/>
              </a:rPr>
              <a:t>Link Termination</a:t>
            </a:r>
            <a:endParaRPr lang="en-US" sz="2200" dirty="0"/>
          </a:p>
        </p:txBody>
      </p:sp>
      <p:sp>
        <p:nvSpPr>
          <p:cNvPr id="23" name="Text 21"/>
          <p:cNvSpPr/>
          <p:nvPr/>
        </p:nvSpPr>
        <p:spPr>
          <a:xfrm>
            <a:off x="7428548" y="6430208"/>
            <a:ext cx="6407944" cy="725805"/>
          </a:xfrm>
          <a:prstGeom prst="rect">
            <a:avLst/>
          </a:prstGeom>
          <a:noFill/>
          <a:ln/>
        </p:spPr>
        <p:txBody>
          <a:bodyPr wrap="square" lIns="0" tIns="0" rIns="0" bIns="0" rtlCol="0" anchor="t"/>
          <a:lstStyle/>
          <a:p>
            <a:pPr marL="0" indent="0" algn="l">
              <a:lnSpc>
                <a:spcPts val="2850"/>
              </a:lnSpc>
              <a:buNone/>
            </a:pPr>
            <a:r>
              <a:rPr lang="en-US" sz="1750" dirty="0">
                <a:solidFill>
                  <a:srgbClr val="2B2E3C"/>
                </a:solidFill>
                <a:latin typeface="Open Sans" pitchFamily="34" charset="0"/>
                <a:ea typeface="Open Sans" pitchFamily="34" charset="-122"/>
                <a:cs typeface="Open Sans" pitchFamily="34" charset="-120"/>
              </a:rPr>
              <a:t>When communication ends, LCP terminates the link gracefully, releasing resources.</a:t>
            </a:r>
            <a:endParaRPr lang="en-US" sz="1750" dirty="0"/>
          </a:p>
        </p:txBody>
      </p:sp>
      <p:sp>
        <p:nvSpPr>
          <p:cNvPr id="24" name="Round Same-side Corner of Rectangle 23">
            <a:extLst>
              <a:ext uri="{FF2B5EF4-FFF2-40B4-BE49-F238E27FC236}">
                <a16:creationId xmlns:a16="http://schemas.microsoft.com/office/drawing/2014/main" id="{38343D2A-CA6D-809D-976F-A15A3F3A8A6B}"/>
              </a:ext>
            </a:extLst>
          </p:cNvPr>
          <p:cNvSpPr/>
          <p:nvPr/>
        </p:nvSpPr>
        <p:spPr>
          <a:xfrm>
            <a:off x="12835889" y="7772400"/>
            <a:ext cx="1794511" cy="377190"/>
          </a:xfrm>
          <a:prstGeom prst="round2SameRect">
            <a:avLst/>
          </a:prstGeom>
          <a:solidFill>
            <a:schemeClr val="bg1"/>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09575" y="394810"/>
            <a:ext cx="7166882" cy="527458"/>
          </a:xfrm>
          <a:prstGeom prst="rect">
            <a:avLst/>
          </a:prstGeom>
          <a:noFill/>
          <a:ln/>
        </p:spPr>
        <p:txBody>
          <a:bodyPr wrap="none" lIns="0" tIns="0" rIns="0" bIns="0" rtlCol="0" anchor="t"/>
          <a:lstStyle/>
          <a:p>
            <a:pPr marL="0" indent="0" algn="l">
              <a:lnSpc>
                <a:spcPts val="2300"/>
              </a:lnSpc>
              <a:buNone/>
            </a:pPr>
            <a:r>
              <a:rPr lang="en-US" sz="3550" dirty="0">
                <a:solidFill>
                  <a:srgbClr val="2C3F42"/>
                </a:solidFill>
                <a:ea typeface="Bitter Medium" pitchFamily="34" charset="-122"/>
                <a:cs typeface="Bitter Medium" pitchFamily="34" charset="-120"/>
              </a:rPr>
              <a:t>PPP in the Modern Network Landscape</a:t>
            </a:r>
            <a:endParaRPr lang="en-US" sz="3550" dirty="0"/>
          </a:p>
        </p:txBody>
      </p:sp>
      <p:sp>
        <p:nvSpPr>
          <p:cNvPr id="3" name="Text 1"/>
          <p:cNvSpPr/>
          <p:nvPr/>
        </p:nvSpPr>
        <p:spPr>
          <a:xfrm>
            <a:off x="302964" y="859750"/>
            <a:ext cx="13917861" cy="187166"/>
          </a:xfrm>
          <a:prstGeom prst="rect">
            <a:avLst/>
          </a:prstGeom>
          <a:noFill/>
          <a:ln/>
        </p:spPr>
        <p:txBody>
          <a:bodyPr wrap="none" lIns="0" tIns="0" rIns="0" bIns="0" rtlCol="0" anchor="t"/>
          <a:lstStyle/>
          <a:p>
            <a:pPr marL="0" indent="0" algn="l">
              <a:lnSpc>
                <a:spcPts val="1450"/>
              </a:lnSpc>
              <a:buNone/>
            </a:pPr>
            <a:endParaRPr lang="en-US" sz="1750" dirty="0">
              <a:solidFill>
                <a:srgbClr val="2B2E3C"/>
              </a:solidFill>
              <a:latin typeface="Open Sans" pitchFamily="34" charset="0"/>
              <a:ea typeface="Open Sans" pitchFamily="34" charset="-122"/>
              <a:cs typeface="Open Sans" pitchFamily="34" charset="-120"/>
            </a:endParaRPr>
          </a:p>
          <a:p>
            <a:pPr marL="0" indent="0" algn="l">
              <a:lnSpc>
                <a:spcPts val="1450"/>
              </a:lnSpc>
              <a:buNone/>
            </a:pPr>
            <a:r>
              <a:rPr lang="en-US" sz="1750" dirty="0">
                <a:solidFill>
                  <a:srgbClr val="2B2E3C"/>
                </a:solidFill>
                <a:latin typeface="Open Sans" pitchFamily="34" charset="0"/>
                <a:ea typeface="Open Sans" pitchFamily="34" charset="-122"/>
                <a:cs typeface="Open Sans" pitchFamily="34" charset="-120"/>
              </a:rPr>
              <a:t>While often associated with dial-up, PPP's underlying principles and adaptability continue to make it a relevant</a:t>
            </a:r>
          </a:p>
          <a:p>
            <a:pPr marL="0" indent="0" algn="l">
              <a:lnSpc>
                <a:spcPts val="1450"/>
              </a:lnSpc>
              <a:buNone/>
            </a:pPr>
            <a:r>
              <a:rPr lang="en-US" sz="1750" dirty="0">
                <a:solidFill>
                  <a:srgbClr val="2B2E3C"/>
                </a:solidFill>
                <a:latin typeface="Open Sans" pitchFamily="34" charset="0"/>
                <a:ea typeface="Open Sans" pitchFamily="34" charset="-122"/>
                <a:cs typeface="Open Sans" pitchFamily="34" charset="-120"/>
              </a:rPr>
              <a:t>and robust protocol in various modern networking contexts, particularly for serial and dedicated connections.</a:t>
            </a:r>
            <a:endParaRPr lang="en-US" sz="1750" dirty="0"/>
          </a:p>
        </p:txBody>
      </p:sp>
      <p:sp>
        <p:nvSpPr>
          <p:cNvPr id="4" name="Text 2"/>
          <p:cNvSpPr/>
          <p:nvPr/>
        </p:nvSpPr>
        <p:spPr>
          <a:xfrm>
            <a:off x="357371" y="1283732"/>
            <a:ext cx="6815073" cy="187166"/>
          </a:xfrm>
          <a:prstGeom prst="rect">
            <a:avLst/>
          </a:prstGeom>
          <a:noFill/>
          <a:ln/>
        </p:spPr>
        <p:txBody>
          <a:bodyPr wrap="none" lIns="0" tIns="0" rIns="0" bIns="0" rtlCol="0" anchor="t"/>
          <a:lstStyle/>
          <a:p>
            <a:pPr marL="342900" indent="-342900" algn="l">
              <a:lnSpc>
                <a:spcPts val="1450"/>
              </a:lnSpc>
              <a:buSzPct val="100000"/>
              <a:buChar char="•"/>
            </a:pPr>
            <a:endParaRPr lang="en-US" sz="1750" b="1" dirty="0">
              <a:solidFill>
                <a:srgbClr val="2B2E3C"/>
              </a:solidFill>
              <a:latin typeface="Open Sans" pitchFamily="34" charset="0"/>
              <a:ea typeface="Open Sans" pitchFamily="34" charset="-122"/>
              <a:cs typeface="Open Sans" pitchFamily="34" charset="-120"/>
            </a:endParaRPr>
          </a:p>
          <a:p>
            <a:pPr marL="342900" indent="-342900" algn="l">
              <a:lnSpc>
                <a:spcPts val="1450"/>
              </a:lnSpc>
              <a:buSzPct val="100000"/>
              <a:buChar char="•"/>
            </a:pPr>
            <a:endParaRPr lang="en-US" sz="1750" b="1" dirty="0">
              <a:solidFill>
                <a:srgbClr val="2B2E3C"/>
              </a:solidFill>
              <a:latin typeface="Open Sans" pitchFamily="34" charset="0"/>
              <a:ea typeface="Open Sans" pitchFamily="34" charset="-122"/>
              <a:cs typeface="Open Sans" pitchFamily="34" charset="-120"/>
            </a:endParaRPr>
          </a:p>
          <a:p>
            <a:pPr marL="342900" indent="-342900" algn="l">
              <a:lnSpc>
                <a:spcPts val="1450"/>
              </a:lnSpc>
              <a:buSzPct val="100000"/>
              <a:buChar char="•"/>
            </a:pPr>
            <a:r>
              <a:rPr lang="en-US" sz="1750" b="1" dirty="0">
                <a:solidFill>
                  <a:srgbClr val="2B2E3C"/>
                </a:solidFill>
                <a:latin typeface="Open Sans" pitchFamily="34" charset="0"/>
                <a:ea typeface="Open Sans" pitchFamily="34" charset="-122"/>
                <a:cs typeface="Open Sans" pitchFamily="34" charset="-120"/>
              </a:rPr>
              <a:t>Broadband Connections:</a:t>
            </a:r>
            <a:r>
              <a:rPr lang="en-US" sz="1750" dirty="0">
                <a:solidFill>
                  <a:srgbClr val="2B2E3C"/>
                </a:solidFill>
                <a:latin typeface="Open Sans" pitchFamily="34" charset="0"/>
                <a:ea typeface="Open Sans" pitchFamily="34" charset="-122"/>
                <a:cs typeface="Open Sans" pitchFamily="34" charset="-120"/>
              </a:rPr>
              <a:t> Still foundational in technologies like PPPoE (PPP over Ethernet) for DSL internet.</a:t>
            </a:r>
            <a:endParaRPr lang="en-US" sz="1750" dirty="0"/>
          </a:p>
        </p:txBody>
      </p:sp>
      <p:sp>
        <p:nvSpPr>
          <p:cNvPr id="5" name="Text 3"/>
          <p:cNvSpPr/>
          <p:nvPr/>
        </p:nvSpPr>
        <p:spPr>
          <a:xfrm>
            <a:off x="357371" y="1511855"/>
            <a:ext cx="11529829" cy="415289"/>
          </a:xfrm>
          <a:prstGeom prst="rect">
            <a:avLst/>
          </a:prstGeom>
          <a:noFill/>
          <a:ln/>
        </p:spPr>
        <p:txBody>
          <a:bodyPr wrap="none" lIns="0" tIns="0" rIns="0" bIns="0" rtlCol="0" anchor="t"/>
          <a:lstStyle/>
          <a:p>
            <a:pPr marL="342900" indent="-342900" algn="l">
              <a:lnSpc>
                <a:spcPts val="1450"/>
              </a:lnSpc>
              <a:buSzPct val="100000"/>
              <a:buChar char="•"/>
            </a:pPr>
            <a:endParaRPr lang="en-US" sz="1750" b="1" dirty="0">
              <a:solidFill>
                <a:srgbClr val="2B2E3C"/>
              </a:solidFill>
              <a:latin typeface="Open Sans" pitchFamily="34" charset="0"/>
              <a:ea typeface="Open Sans" pitchFamily="34" charset="-122"/>
              <a:cs typeface="Open Sans" pitchFamily="34" charset="-120"/>
            </a:endParaRPr>
          </a:p>
          <a:p>
            <a:pPr marL="342900" indent="-342900" algn="l">
              <a:lnSpc>
                <a:spcPts val="1450"/>
              </a:lnSpc>
              <a:buSzPct val="100000"/>
              <a:buChar char="•"/>
            </a:pPr>
            <a:endParaRPr lang="en-US" sz="1750" b="1" dirty="0">
              <a:solidFill>
                <a:srgbClr val="2B2E3C"/>
              </a:solidFill>
              <a:latin typeface="Open Sans" pitchFamily="34" charset="0"/>
              <a:ea typeface="Open Sans" pitchFamily="34" charset="-122"/>
              <a:cs typeface="Open Sans" pitchFamily="34" charset="-120"/>
            </a:endParaRPr>
          </a:p>
          <a:p>
            <a:pPr marL="342900" indent="-342900" algn="l">
              <a:lnSpc>
                <a:spcPts val="1450"/>
              </a:lnSpc>
              <a:buSzPct val="100000"/>
              <a:buChar char="•"/>
            </a:pPr>
            <a:endParaRPr lang="en-US" sz="1750" b="1" dirty="0">
              <a:solidFill>
                <a:srgbClr val="2B2E3C"/>
              </a:solidFill>
              <a:latin typeface="Open Sans" pitchFamily="34" charset="0"/>
              <a:ea typeface="Open Sans" pitchFamily="34" charset="-122"/>
              <a:cs typeface="Open Sans" pitchFamily="34" charset="-120"/>
            </a:endParaRPr>
          </a:p>
          <a:p>
            <a:pPr marL="342900" indent="-342900" algn="l">
              <a:lnSpc>
                <a:spcPts val="1450"/>
              </a:lnSpc>
              <a:buSzPct val="100000"/>
              <a:buChar char="•"/>
            </a:pPr>
            <a:r>
              <a:rPr lang="en-US" sz="1750" b="1" dirty="0">
                <a:solidFill>
                  <a:srgbClr val="2B2E3C"/>
                </a:solidFill>
                <a:latin typeface="Open Sans" pitchFamily="34" charset="0"/>
                <a:ea typeface="Open Sans" pitchFamily="34" charset="-122"/>
                <a:cs typeface="Open Sans" pitchFamily="34" charset="-120"/>
              </a:rPr>
              <a:t>VPNs &amp; Tunnels:</a:t>
            </a:r>
            <a:r>
              <a:rPr lang="en-US" sz="1750" dirty="0">
                <a:solidFill>
                  <a:srgbClr val="2B2E3C"/>
                </a:solidFill>
                <a:latin typeface="Open Sans" pitchFamily="34" charset="0"/>
                <a:ea typeface="Open Sans" pitchFamily="34" charset="-122"/>
                <a:cs typeface="Open Sans" pitchFamily="34" charset="-120"/>
              </a:rPr>
              <a:t> Used within VPNs to establish secure point-to-point tunnels over insecure networks.                                                                     </a:t>
            </a:r>
            <a:endParaRPr lang="en-US" sz="1750" dirty="0"/>
          </a:p>
        </p:txBody>
      </p:sp>
      <p:sp>
        <p:nvSpPr>
          <p:cNvPr id="6" name="Text 4"/>
          <p:cNvSpPr/>
          <p:nvPr/>
        </p:nvSpPr>
        <p:spPr>
          <a:xfrm>
            <a:off x="357371" y="1739979"/>
            <a:ext cx="6815073" cy="187166"/>
          </a:xfrm>
          <a:prstGeom prst="rect">
            <a:avLst/>
          </a:prstGeom>
          <a:noFill/>
          <a:ln/>
        </p:spPr>
        <p:txBody>
          <a:bodyPr wrap="none" lIns="0" tIns="0" rIns="0" bIns="0" rtlCol="0" anchor="t"/>
          <a:lstStyle/>
          <a:p>
            <a:pPr marL="342900" indent="-342900" algn="l">
              <a:lnSpc>
                <a:spcPts val="1450"/>
              </a:lnSpc>
              <a:buSzPct val="100000"/>
              <a:buChar char="•"/>
            </a:pPr>
            <a:endParaRPr lang="en-US" sz="1750" b="1" dirty="0">
              <a:solidFill>
                <a:srgbClr val="2B2E3C"/>
              </a:solidFill>
              <a:latin typeface="Open Sans" pitchFamily="34" charset="0"/>
              <a:ea typeface="Open Sans" pitchFamily="34" charset="-122"/>
              <a:cs typeface="Open Sans" pitchFamily="34" charset="-120"/>
            </a:endParaRPr>
          </a:p>
          <a:p>
            <a:pPr algn="l">
              <a:lnSpc>
                <a:spcPts val="1450"/>
              </a:lnSpc>
              <a:buSzPct val="100000"/>
            </a:pPr>
            <a:endParaRPr lang="en-US" sz="1750" b="1" dirty="0">
              <a:solidFill>
                <a:srgbClr val="2B2E3C"/>
              </a:solidFill>
              <a:latin typeface="Open Sans" pitchFamily="34" charset="0"/>
              <a:ea typeface="Open Sans" pitchFamily="34" charset="-122"/>
              <a:cs typeface="Open Sans" pitchFamily="34" charset="-120"/>
            </a:endParaRPr>
          </a:p>
          <a:p>
            <a:pPr marL="342900" indent="-342900" algn="l">
              <a:lnSpc>
                <a:spcPts val="1450"/>
              </a:lnSpc>
              <a:buSzPct val="100000"/>
              <a:buChar char="•"/>
            </a:pPr>
            <a:endParaRPr lang="en-US" sz="1750" b="1" dirty="0">
              <a:solidFill>
                <a:srgbClr val="2B2E3C"/>
              </a:solidFill>
              <a:latin typeface="Open Sans" pitchFamily="34" charset="0"/>
              <a:ea typeface="Open Sans" pitchFamily="34" charset="-122"/>
              <a:cs typeface="Open Sans" pitchFamily="34" charset="-120"/>
            </a:endParaRPr>
          </a:p>
          <a:p>
            <a:pPr marL="342900" indent="-342900" algn="l">
              <a:lnSpc>
                <a:spcPts val="1450"/>
              </a:lnSpc>
              <a:buSzPct val="100000"/>
              <a:buChar char="•"/>
            </a:pPr>
            <a:r>
              <a:rPr lang="en-US" sz="1750" b="1" dirty="0">
                <a:solidFill>
                  <a:srgbClr val="2B2E3C"/>
                </a:solidFill>
                <a:latin typeface="Open Sans" pitchFamily="34" charset="0"/>
                <a:ea typeface="Open Sans" pitchFamily="34" charset="-122"/>
                <a:cs typeface="Open Sans" pitchFamily="34" charset="-120"/>
              </a:rPr>
              <a:t>Serial Connections:</a:t>
            </a:r>
            <a:r>
              <a:rPr lang="en-US" sz="1750" dirty="0">
                <a:solidFill>
                  <a:srgbClr val="2B2E3C"/>
                </a:solidFill>
                <a:latin typeface="Open Sans" pitchFamily="34" charset="0"/>
                <a:ea typeface="Open Sans" pitchFamily="34" charset="-122"/>
                <a:cs typeface="Open Sans" pitchFamily="34" charset="-120"/>
              </a:rPr>
              <a:t> Essential for direct serial links in industrial control systems and legacy networks.</a:t>
            </a:r>
            <a:endParaRPr lang="en-US" sz="1750" dirty="0"/>
          </a:p>
        </p:txBody>
      </p:sp>
      <p:sp>
        <p:nvSpPr>
          <p:cNvPr id="7" name="Text 5"/>
          <p:cNvSpPr/>
          <p:nvPr/>
        </p:nvSpPr>
        <p:spPr>
          <a:xfrm>
            <a:off x="357371" y="1968104"/>
            <a:ext cx="10928938" cy="284680"/>
          </a:xfrm>
          <a:prstGeom prst="rect">
            <a:avLst/>
          </a:prstGeom>
          <a:noFill/>
          <a:ln/>
        </p:spPr>
        <p:txBody>
          <a:bodyPr wrap="square" lIns="0" tIns="0" rIns="0" bIns="0" rtlCol="0" anchor="t"/>
          <a:lstStyle/>
          <a:p>
            <a:pPr algn="l">
              <a:lnSpc>
                <a:spcPts val="1450"/>
              </a:lnSpc>
              <a:buSzPct val="100000"/>
            </a:pPr>
            <a:endParaRPr lang="en-US" sz="1750" b="1" dirty="0">
              <a:solidFill>
                <a:srgbClr val="2B2E3C"/>
              </a:solidFill>
              <a:latin typeface="Open Sans" pitchFamily="34" charset="0"/>
              <a:ea typeface="Open Sans" pitchFamily="34" charset="-122"/>
              <a:cs typeface="Open Sans" pitchFamily="34" charset="-120"/>
            </a:endParaRPr>
          </a:p>
          <a:p>
            <a:pPr algn="l">
              <a:lnSpc>
                <a:spcPts val="1450"/>
              </a:lnSpc>
              <a:buSzPct val="100000"/>
            </a:pPr>
            <a:endParaRPr lang="en-US" sz="1750" b="1" dirty="0">
              <a:solidFill>
                <a:srgbClr val="2B2E3C"/>
              </a:solidFill>
              <a:latin typeface="Open Sans" pitchFamily="34" charset="0"/>
              <a:ea typeface="Open Sans" pitchFamily="34" charset="-122"/>
              <a:cs typeface="Open Sans" pitchFamily="34" charset="-120"/>
            </a:endParaRPr>
          </a:p>
          <a:p>
            <a:pPr algn="l">
              <a:lnSpc>
                <a:spcPts val="1450"/>
              </a:lnSpc>
              <a:buSzPct val="100000"/>
            </a:pPr>
            <a:endParaRPr lang="en-US" sz="1750" b="1" dirty="0">
              <a:solidFill>
                <a:srgbClr val="2B2E3C"/>
              </a:solidFill>
              <a:latin typeface="Open Sans" pitchFamily="34" charset="0"/>
              <a:ea typeface="Open Sans" pitchFamily="34" charset="-122"/>
              <a:cs typeface="Open Sans" pitchFamily="34" charset="-120"/>
            </a:endParaRPr>
          </a:p>
          <a:p>
            <a:pPr marL="342900" indent="-342900" algn="l">
              <a:lnSpc>
                <a:spcPts val="1450"/>
              </a:lnSpc>
              <a:buSzPct val="100000"/>
              <a:buChar char="•"/>
            </a:pPr>
            <a:endParaRPr lang="en-US" sz="1750" b="1" dirty="0">
              <a:solidFill>
                <a:srgbClr val="2B2E3C"/>
              </a:solidFill>
              <a:latin typeface="Open Sans" pitchFamily="34" charset="0"/>
              <a:ea typeface="Open Sans" pitchFamily="34" charset="-122"/>
              <a:cs typeface="Open Sans" pitchFamily="34" charset="-120"/>
            </a:endParaRPr>
          </a:p>
          <a:p>
            <a:pPr marL="342900" indent="-342900" algn="l">
              <a:lnSpc>
                <a:spcPts val="1450"/>
              </a:lnSpc>
              <a:buSzPct val="100000"/>
              <a:buChar char="•"/>
            </a:pPr>
            <a:r>
              <a:rPr lang="en-US" sz="1750" b="1" dirty="0">
                <a:solidFill>
                  <a:srgbClr val="2B2E3C"/>
                </a:solidFill>
                <a:latin typeface="Open Sans" pitchFamily="34" charset="0"/>
                <a:ea typeface="Open Sans" pitchFamily="34" charset="-122"/>
                <a:cs typeface="Open Sans" pitchFamily="34" charset="-120"/>
              </a:rPr>
              <a:t>Network Interoperability:</a:t>
            </a:r>
            <a:r>
              <a:rPr lang="en-US" sz="1750" dirty="0">
                <a:solidFill>
                  <a:srgbClr val="2B2E3C"/>
                </a:solidFill>
                <a:latin typeface="Open Sans" pitchFamily="34" charset="0"/>
                <a:ea typeface="Open Sans" pitchFamily="34" charset="-122"/>
                <a:cs typeface="Open Sans" pitchFamily="34" charset="-120"/>
              </a:rPr>
              <a:t> Its multi-protocol capability ensures seamless integration across diverse network environments.</a:t>
            </a:r>
            <a:endParaRPr lang="en-US" sz="1750" dirty="0"/>
          </a:p>
        </p:txBody>
      </p:sp>
      <p:pic>
        <p:nvPicPr>
          <p:cNvPr id="8" name="Image 0" descr="preencoded.png"/>
          <p:cNvPicPr>
            <a:picLocks noChangeAspect="1"/>
          </p:cNvPicPr>
          <p:nvPr/>
        </p:nvPicPr>
        <p:blipFill>
          <a:blip r:embed="rId3"/>
          <a:stretch>
            <a:fillRect/>
          </a:stretch>
        </p:blipFill>
        <p:spPr>
          <a:xfrm>
            <a:off x="7405752" y="2709030"/>
            <a:ext cx="6815073" cy="5417701"/>
          </a:xfrm>
          <a:prstGeom prst="rect">
            <a:avLst/>
          </a:prstGeom>
        </p:spPr>
      </p:pic>
      <p:sp>
        <p:nvSpPr>
          <p:cNvPr id="9" name="Text 6"/>
          <p:cNvSpPr/>
          <p:nvPr/>
        </p:nvSpPr>
        <p:spPr>
          <a:xfrm>
            <a:off x="302964" y="8336042"/>
            <a:ext cx="13917861" cy="187166"/>
          </a:xfrm>
          <a:prstGeom prst="rect">
            <a:avLst/>
          </a:prstGeom>
          <a:noFill/>
          <a:ln/>
        </p:spPr>
        <p:txBody>
          <a:bodyPr wrap="none" lIns="0" tIns="0" rIns="0" bIns="0" rtlCol="0" anchor="t"/>
          <a:lstStyle/>
          <a:p>
            <a:pPr marL="0" indent="0" algn="l">
              <a:lnSpc>
                <a:spcPts val="1450"/>
              </a:lnSpc>
              <a:buNone/>
            </a:pPr>
            <a:r>
              <a:rPr lang="en-US" sz="1750" dirty="0">
                <a:solidFill>
                  <a:srgbClr val="2B2E3C"/>
                </a:solidFill>
                <a:latin typeface="Open Sans" pitchFamily="34" charset="0"/>
                <a:ea typeface="Open Sans" pitchFamily="34" charset="-122"/>
                <a:cs typeface="Open Sans" pitchFamily="34" charset="-120"/>
              </a:rPr>
              <a:t>PPP's role as a flexible, reliable data link protocol ensures its continued importance in the architecture of the internet.</a:t>
            </a:r>
            <a:endParaRPr lang="en-US" sz="1750" dirty="0"/>
          </a:p>
        </p:txBody>
      </p:sp>
      <p:sp>
        <p:nvSpPr>
          <p:cNvPr id="10" name="Rounded Rectangle 9">
            <a:extLst>
              <a:ext uri="{FF2B5EF4-FFF2-40B4-BE49-F238E27FC236}">
                <a16:creationId xmlns:a16="http://schemas.microsoft.com/office/drawing/2014/main" id="{833D09E0-50EC-AC17-6EEE-675020087F4E}"/>
              </a:ext>
            </a:extLst>
          </p:cNvPr>
          <p:cNvSpPr/>
          <p:nvPr/>
        </p:nvSpPr>
        <p:spPr>
          <a:xfrm flipV="1">
            <a:off x="12870180" y="7795260"/>
            <a:ext cx="1668780" cy="331471"/>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a:gsLst>
            <a:gs pos="70997">
              <a:srgbClr val="AEC2E5"/>
            </a:gs>
            <a:gs pos="54991">
              <a:srgbClr val="BECEEA"/>
            </a:gs>
            <a:gs pos="54991">
              <a:srgbClr val="BECEEA"/>
            </a:gs>
            <a:gs pos="48988">
              <a:srgbClr val="C4D3EC"/>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Rounded Rectangle 1">
            <a:extLst>
              <a:ext uri="{FF2B5EF4-FFF2-40B4-BE49-F238E27FC236}">
                <a16:creationId xmlns:a16="http://schemas.microsoft.com/office/drawing/2014/main" id="{9F5FF701-2734-4495-3ADF-F4ABAB88ECAD}"/>
              </a:ext>
            </a:extLst>
          </p:cNvPr>
          <p:cNvSpPr/>
          <p:nvPr/>
        </p:nvSpPr>
        <p:spPr>
          <a:xfrm flipV="1">
            <a:off x="12870180" y="7795260"/>
            <a:ext cx="1668780" cy="331471"/>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A2A7C678-757B-011B-1A8A-14CDB7513D42}"/>
              </a:ext>
            </a:extLst>
          </p:cNvPr>
          <p:cNvSpPr txBox="1"/>
          <p:nvPr/>
        </p:nvSpPr>
        <p:spPr>
          <a:xfrm rot="21275083">
            <a:off x="5869213" y="3024074"/>
            <a:ext cx="2253636" cy="1323439"/>
          </a:xfrm>
          <a:prstGeom prst="rect">
            <a:avLst/>
          </a:prstGeom>
          <a:noFill/>
        </p:spPr>
        <p:txBody>
          <a:bodyPr wrap="square" rtlCol="0">
            <a:spAutoFit/>
          </a:bodyPr>
          <a:lstStyle/>
          <a:p>
            <a:r>
              <a:rPr lang="en-US" sz="4000" dirty="0"/>
              <a:t>Thank You</a:t>
            </a:r>
          </a:p>
        </p:txBody>
      </p:sp>
      <p:sp>
        <p:nvSpPr>
          <p:cNvPr id="4" name="TextBox 3">
            <a:extLst>
              <a:ext uri="{FF2B5EF4-FFF2-40B4-BE49-F238E27FC236}">
                <a16:creationId xmlns:a16="http://schemas.microsoft.com/office/drawing/2014/main" id="{111CF05F-2726-6ABD-AA02-45FADD1CA626}"/>
              </a:ext>
            </a:extLst>
          </p:cNvPr>
          <p:cNvSpPr txBox="1"/>
          <p:nvPr/>
        </p:nvSpPr>
        <p:spPr>
          <a:xfrm rot="21357080">
            <a:off x="8012430" y="3881515"/>
            <a:ext cx="2457450" cy="1138773"/>
          </a:xfrm>
          <a:prstGeom prst="rect">
            <a:avLst/>
          </a:prstGeom>
          <a:noFill/>
        </p:spPr>
        <p:txBody>
          <a:bodyPr wrap="square" rtlCol="0">
            <a:spAutoFit/>
          </a:bodyPr>
          <a:lstStyle/>
          <a:p>
            <a:r>
              <a:rPr lang="en-US" sz="2400" dirty="0"/>
              <a:t>Any</a:t>
            </a:r>
            <a:r>
              <a:rPr lang="en-US" dirty="0"/>
              <a:t> </a:t>
            </a:r>
            <a:r>
              <a:rPr lang="en-US" sz="4400" dirty="0"/>
              <a:t>Queries?</a:t>
            </a:r>
          </a:p>
        </p:txBody>
      </p:sp>
    </p:spTree>
    <p:extLst>
      <p:ext uri="{BB962C8B-B14F-4D97-AF65-F5344CB8AC3E}">
        <p14:creationId xmlns:p14="http://schemas.microsoft.com/office/powerpoint/2010/main" val="3024772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8" presetClass="entr" presetSubtype="0" accel="50000" fill="hold" grpId="0" nodeType="clickEffect">
                                  <p:stCondLst>
                                    <p:cond delay="0"/>
                                  </p:stCondLst>
                                  <p:iterate type="lt">
                                    <p:tmPct val="50000"/>
                                  </p:iterate>
                                  <p:childTnLst>
                                    <p:set>
                                      <p:cBhvr>
                                        <p:cTn id="6" dur="1" fill="hold">
                                          <p:stCondLst>
                                            <p:cond delay="0"/>
                                          </p:stCondLst>
                                        </p:cTn>
                                        <p:tgtEl>
                                          <p:spTgt spid="3"/>
                                        </p:tgtEl>
                                        <p:attrNameLst>
                                          <p:attrName>style.visibility</p:attrName>
                                        </p:attrNameLst>
                                      </p:cBhvr>
                                      <p:to>
                                        <p:strVal val="visible"/>
                                      </p:to>
                                    </p:set>
                                    <p:set>
                                      <p:cBhvr>
                                        <p:cTn id="7" dur="455" fill="hold">
                                          <p:stCondLst>
                                            <p:cond delay="0"/>
                                          </p:stCondLst>
                                        </p:cTn>
                                        <p:tgtEl>
                                          <p:spTgt spid="3"/>
                                        </p:tgtEl>
                                        <p:attrNameLst>
                                          <p:attrName>style.rotation</p:attrName>
                                        </p:attrNameLst>
                                      </p:cBhvr>
                                      <p:to>
                                        <p:strVal val="-45.0"/>
                                      </p:to>
                                    </p:set>
                                    <p:anim calcmode="lin" valueType="num">
                                      <p:cBhvr>
                                        <p:cTn id="8" dur="455" fill="hold">
                                          <p:stCondLst>
                                            <p:cond delay="455"/>
                                          </p:stCondLst>
                                        </p:cTn>
                                        <p:tgtEl>
                                          <p:spTgt spid="3"/>
                                        </p:tgtEl>
                                        <p:attrNameLst>
                                          <p:attrName>style.rotation</p:attrName>
                                        </p:attrNameLst>
                                      </p:cBhvr>
                                      <p:tavLst>
                                        <p:tav tm="0">
                                          <p:val>
                                            <p:fltVal val="-45"/>
                                          </p:val>
                                        </p:tav>
                                        <p:tav tm="69900">
                                          <p:val>
                                            <p:fltVal val="45"/>
                                          </p:val>
                                        </p:tav>
                                        <p:tav tm="100000">
                                          <p:val>
                                            <p:fltVal val="0"/>
                                          </p:val>
                                        </p:tav>
                                      </p:tavLst>
                                    </p:anim>
                                    <p:anim calcmode="lin" valueType="num">
                                      <p:cBhvr>
                                        <p:cTn id="9" dur="455" fill="hold">
                                          <p:stCondLst>
                                            <p:cond delay="0"/>
                                          </p:stCondLst>
                                        </p:cTn>
                                        <p:tgtEl>
                                          <p:spTgt spid="3"/>
                                        </p:tgtEl>
                                        <p:attrNameLst>
                                          <p:attrName>ppt_y</p:attrName>
                                        </p:attrNameLst>
                                      </p:cBhvr>
                                      <p:tavLst>
                                        <p:tav tm="0">
                                          <p:val>
                                            <p:strVal val="#ppt_y-1"/>
                                          </p:val>
                                        </p:tav>
                                        <p:tav tm="100000">
                                          <p:val>
                                            <p:strVal val="#ppt_y-(0.354*#ppt_w-0.172*#ppt_h)"/>
                                          </p:val>
                                        </p:tav>
                                      </p:tavLst>
                                    </p:anim>
                                    <p:anim calcmode="lin" valueType="num">
                                      <p:cBhvr>
                                        <p:cTn id="10" dur="156" decel="50000" autoRev="1" fill="hold">
                                          <p:stCondLst>
                                            <p:cond delay="455"/>
                                          </p:stCondLst>
                                        </p:cTn>
                                        <p:tgtEl>
                                          <p:spTgt spid="3"/>
                                        </p:tgtEl>
                                        <p:attrNameLst>
                                          <p:attrName>ppt_y</p:attrName>
                                        </p:attrNameLst>
                                      </p:cBhvr>
                                      <p:tavLst>
                                        <p:tav tm="0">
                                          <p:val>
                                            <p:strVal val="#ppt_y-(0.354*#ppt_w-0.172*#ppt_h)"/>
                                          </p:val>
                                        </p:tav>
                                        <p:tav tm="100000">
                                          <p:val>
                                            <p:strVal val="#ppt_y-(0.354*#ppt_w-0.172*#ppt_h)-#ppt_h/2"/>
                                          </p:val>
                                        </p:tav>
                                      </p:tavLst>
                                    </p:anim>
                                    <p:anim calcmode="lin" valueType="num">
                                      <p:cBhvr>
                                        <p:cTn id="11" dur="136" fill="hold">
                                          <p:stCondLst>
                                            <p:cond delay="864"/>
                                          </p:stCondLst>
                                        </p:cTn>
                                        <p:tgtEl>
                                          <p:spTgt spid="3"/>
                                        </p:tgtEl>
                                        <p:attrNameLst>
                                          <p:attrName>ppt_y</p:attrName>
                                        </p:attrNameLst>
                                      </p:cBhvr>
                                      <p:tavLst>
                                        <p:tav tm="0">
                                          <p:val>
                                            <p:strVal val="#ppt_y-(0.354*#ppt_w-0.172*#ppt_h)"/>
                                          </p:val>
                                        </p:tav>
                                        <p:tav tm="100000">
                                          <p:val>
                                            <p:strVal val="#ppt_y"/>
                                          </p:val>
                                        </p:tav>
                                      </p:tavLst>
                                    </p:anim>
                                  </p:childTnLst>
                                </p:cTn>
                              </p:par>
                            </p:childTnLst>
                          </p:cTn>
                        </p:par>
                      </p:childTnLst>
                    </p:cTn>
                  </p:par>
                  <p:par>
                    <p:cTn id="12" fill="hold">
                      <p:stCondLst>
                        <p:cond delay="indefinite"/>
                      </p:stCondLst>
                      <p:childTnLst>
                        <p:par>
                          <p:cTn id="13" fill="hold">
                            <p:stCondLst>
                              <p:cond delay="0"/>
                            </p:stCondLst>
                            <p:childTnLst>
                              <p:par>
                                <p:cTn id="14" presetID="35" presetClass="entr" presetSubtype="0" fill="hold" grpId="0"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2000"/>
                                        <p:tgtEl>
                                          <p:spTgt spid="4"/>
                                        </p:tgtEl>
                                      </p:cBhvr>
                                    </p:animEffect>
                                    <p:anim calcmode="lin" valueType="num">
                                      <p:cBhvr>
                                        <p:cTn id="17" dur="2000" fill="hold"/>
                                        <p:tgtEl>
                                          <p:spTgt spid="4"/>
                                        </p:tgtEl>
                                        <p:attrNameLst>
                                          <p:attrName>style.rotation</p:attrName>
                                        </p:attrNameLst>
                                      </p:cBhvr>
                                      <p:tavLst>
                                        <p:tav tm="0">
                                          <p:val>
                                            <p:fltVal val="720"/>
                                          </p:val>
                                        </p:tav>
                                        <p:tav tm="100000">
                                          <p:val>
                                            <p:fltVal val="0"/>
                                          </p:val>
                                        </p:tav>
                                      </p:tavLst>
                                    </p:anim>
                                    <p:anim calcmode="lin" valueType="num">
                                      <p:cBhvr>
                                        <p:cTn id="18" dur="2000" fill="hold"/>
                                        <p:tgtEl>
                                          <p:spTgt spid="4"/>
                                        </p:tgtEl>
                                        <p:attrNameLst>
                                          <p:attrName>ppt_h</p:attrName>
                                        </p:attrNameLst>
                                      </p:cBhvr>
                                      <p:tavLst>
                                        <p:tav tm="0">
                                          <p:val>
                                            <p:fltVal val="0"/>
                                          </p:val>
                                        </p:tav>
                                        <p:tav tm="100000">
                                          <p:val>
                                            <p:strVal val="#ppt_h"/>
                                          </p:val>
                                        </p:tav>
                                      </p:tavLst>
                                    </p:anim>
                                    <p:anim calcmode="lin" valueType="num">
                                      <p:cBhvr>
                                        <p:cTn id="19" dur="2000" fill="hold"/>
                                        <p:tgtEl>
                                          <p:spTgt spid="4"/>
                                        </p:tgtEl>
                                        <p:attrNameLst>
                                          <p:attrName>ppt_w</p:attrName>
                                        </p:attrNameLst>
                                      </p:cBhvr>
                                      <p:tavLst>
                                        <p:tav tm="0">
                                          <p:val>
                                            <p:fltVal val="0"/>
                                          </p:val>
                                        </p:tav>
                                        <p:tav tm="100000">
                                          <p:val>
                                            <p:strVal val="#ppt_w"/>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Wood Type</Template>
  <TotalTime>67</TotalTime>
  <Words>1082</Words>
  <Application>Microsoft Macintosh PowerPoint</Application>
  <PresentationFormat>Custom</PresentationFormat>
  <Paragraphs>108</Paragraphs>
  <Slides>11</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Bitter Medium</vt:lpstr>
      <vt:lpstr>Arial</vt:lpstr>
      <vt:lpstr>Bitter Light</vt:lpstr>
      <vt:lpstr>Open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Raghav Panthi [BCA - 2024]</cp:lastModifiedBy>
  <cp:revision>5</cp:revision>
  <dcterms:created xsi:type="dcterms:W3CDTF">2026-01-09T16:36:56Z</dcterms:created>
  <dcterms:modified xsi:type="dcterms:W3CDTF">2026-01-10T15:57:07Z</dcterms:modified>
</cp:coreProperties>
</file>