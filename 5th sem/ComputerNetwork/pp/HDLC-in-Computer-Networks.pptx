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Poppins Light" panose="00000400000000000000" pitchFamily="2" charset="0"/>
      <p:regular r:id="rId17"/>
    </p:embeddedFont>
    <p:embeddedFont>
      <p:font typeface="Roboto Light" panose="02000000000000000000" pitchFamily="2"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7772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315200" cy="8229600"/>
          </a:xfrm>
          <a:prstGeom prst="rect">
            <a:avLst/>
          </a:prstGeom>
        </p:spPr>
      </p:pic>
      <p:pic>
        <p:nvPicPr>
          <p:cNvPr id="3" name="Image 1" descr="preencoded.png"/>
          <p:cNvPicPr>
            <a:picLocks noChangeAspect="1"/>
          </p:cNvPicPr>
          <p:nvPr/>
        </p:nvPicPr>
        <p:blipFill>
          <a:blip r:embed="rId4"/>
          <a:srcRect l="16402" t="13934" r="14162" b="14725"/>
          <a:stretch>
            <a:fillRect/>
          </a:stretch>
        </p:blipFill>
        <p:spPr>
          <a:xfrm>
            <a:off x="14984" y="1971583"/>
            <a:ext cx="7315200" cy="4223940"/>
          </a:xfrm>
          <a:prstGeom prst="rect">
            <a:avLst/>
          </a:prstGeom>
        </p:spPr>
      </p:pic>
      <p:sp>
        <p:nvSpPr>
          <p:cNvPr id="4" name="Text 0"/>
          <p:cNvSpPr/>
          <p:nvPr/>
        </p:nvSpPr>
        <p:spPr>
          <a:xfrm>
            <a:off x="8108990" y="2175629"/>
            <a:ext cx="5727621" cy="1417558"/>
          </a:xfrm>
          <a:prstGeom prst="rect">
            <a:avLst/>
          </a:prstGeom>
          <a:noFill/>
          <a:ln/>
        </p:spPr>
        <p:txBody>
          <a:bodyPr wrap="square" lIns="0" tIns="0" rIns="0" bIns="0" rtlCol="0" anchor="t"/>
          <a:lstStyle/>
          <a:p>
            <a:pPr marL="0" indent="0" algn="ctr">
              <a:lnSpc>
                <a:spcPts val="5550"/>
              </a:lnSpc>
              <a:buNone/>
            </a:pPr>
            <a:r>
              <a:rPr lang="en-US" sz="4800" b="1" i="1" dirty="0">
                <a:solidFill>
                  <a:srgbClr val="F2F2F3"/>
                </a:solidFill>
                <a:latin typeface="Poppins Light" pitchFamily="34" charset="0"/>
                <a:ea typeface="Poppins Light" pitchFamily="34" charset="-122"/>
                <a:cs typeface="Poppins Light" pitchFamily="34" charset="-120"/>
              </a:rPr>
              <a:t>HDLC in Computer Networks</a:t>
            </a:r>
            <a:endParaRPr lang="en-US" sz="4800" b="1" i="1" dirty="0"/>
          </a:p>
        </p:txBody>
      </p:sp>
      <p:sp>
        <p:nvSpPr>
          <p:cNvPr id="5" name="Text 1"/>
          <p:cNvSpPr/>
          <p:nvPr/>
        </p:nvSpPr>
        <p:spPr>
          <a:xfrm>
            <a:off x="8108990" y="3933349"/>
            <a:ext cx="57276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2"/>
          <p:cNvSpPr/>
          <p:nvPr/>
        </p:nvSpPr>
        <p:spPr>
          <a:xfrm>
            <a:off x="8108990" y="4636413"/>
            <a:ext cx="5727621" cy="1417558"/>
          </a:xfrm>
          <a:prstGeom prst="rect">
            <a:avLst/>
          </a:prstGeom>
          <a:noFill/>
          <a:ln/>
        </p:spPr>
        <p:txBody>
          <a:bodyPr wrap="square" lIns="0" tIns="0" rIns="0" bIns="0" rtlCol="0" anchor="t"/>
          <a:lstStyle/>
          <a:p>
            <a:pPr marL="0" indent="0" algn="ctr">
              <a:lnSpc>
                <a:spcPts val="5550"/>
              </a:lnSpc>
              <a:buNone/>
            </a:pPr>
            <a:r>
              <a:rPr lang="en-US" sz="4000" b="1" i="1" dirty="0">
                <a:solidFill>
                  <a:srgbClr val="F2F2F3"/>
                </a:solidFill>
                <a:latin typeface="Poppins Light" pitchFamily="34" charset="0"/>
                <a:ea typeface="Poppins Light" pitchFamily="34" charset="-122"/>
                <a:cs typeface="Poppins Light" pitchFamily="34" charset="-120"/>
              </a:rPr>
              <a:t>The Layer 2 Protocol of the TCP/IP Model</a:t>
            </a:r>
            <a:endParaRPr lang="en-US" sz="4000"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93790" y="199905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What is HDLC?</a:t>
            </a:r>
            <a:endParaRPr lang="en-US" sz="4450" dirty="0"/>
          </a:p>
        </p:txBody>
      </p:sp>
      <p:sp>
        <p:nvSpPr>
          <p:cNvPr id="3" name="Shape 1"/>
          <p:cNvSpPr/>
          <p:nvPr/>
        </p:nvSpPr>
        <p:spPr>
          <a:xfrm>
            <a:off x="793790" y="3048000"/>
            <a:ext cx="4196358" cy="3439716"/>
          </a:xfrm>
          <a:prstGeom prst="roundRect">
            <a:avLst>
              <a:gd name="adj" fmla="val 4597"/>
            </a:avLst>
          </a:prstGeom>
          <a:solidFill>
            <a:srgbClr val="050505"/>
          </a:solidFill>
          <a:ln w="30480">
            <a:solidFill>
              <a:srgbClr val="56565B"/>
            </a:solidFill>
            <a:prstDash val="solid"/>
          </a:ln>
        </p:spPr>
      </p:sp>
      <p:sp>
        <p:nvSpPr>
          <p:cNvPr id="4" name="Shape 2"/>
          <p:cNvSpPr/>
          <p:nvPr/>
        </p:nvSpPr>
        <p:spPr>
          <a:xfrm>
            <a:off x="763310" y="3176647"/>
            <a:ext cx="121920" cy="3182422"/>
          </a:xfrm>
          <a:prstGeom prst="roundRect">
            <a:avLst>
              <a:gd name="adj" fmla="val 78139"/>
            </a:avLst>
          </a:prstGeom>
          <a:solidFill>
            <a:srgbClr val="F2F2F3"/>
          </a:solidFill>
          <a:ln/>
        </p:spPr>
      </p:sp>
      <p:sp>
        <p:nvSpPr>
          <p:cNvPr id="5" name="Text 3"/>
          <p:cNvSpPr/>
          <p:nvPr/>
        </p:nvSpPr>
        <p:spPr>
          <a:xfrm>
            <a:off x="1142524" y="3305294"/>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FF0000"/>
                </a:solidFill>
                <a:latin typeface="Poppins Light" pitchFamily="34" charset="0"/>
                <a:ea typeface="Poppins Light" pitchFamily="34" charset="-122"/>
                <a:cs typeface="Poppins Light" pitchFamily="34" charset="-120"/>
              </a:rPr>
              <a:t>High-Level Data Link Control (HDLC)</a:t>
            </a:r>
            <a:endParaRPr lang="en-US" sz="2200" b="1" dirty="0">
              <a:solidFill>
                <a:srgbClr val="FF0000"/>
              </a:solidFill>
            </a:endParaRPr>
          </a:p>
        </p:txBody>
      </p:sp>
      <p:sp>
        <p:nvSpPr>
          <p:cNvPr id="6" name="Text 4"/>
          <p:cNvSpPr/>
          <p:nvPr/>
        </p:nvSpPr>
        <p:spPr>
          <a:xfrm>
            <a:off x="1142524" y="4150042"/>
            <a:ext cx="3590330" cy="1814513"/>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Roboto Light" pitchFamily="34" charset="0"/>
                <a:ea typeface="Roboto Light" pitchFamily="34" charset="-122"/>
                <a:cs typeface="Roboto Light" pitchFamily="34" charset="-120"/>
              </a:rPr>
              <a:t>HDLC is a fundamental Layer 2 (Data Link Layer) protocol crucial for reliable data transfer over both point-to-point and multipoint communication links.</a:t>
            </a:r>
            <a:endParaRPr lang="en-US" sz="2000" dirty="0"/>
          </a:p>
        </p:txBody>
      </p:sp>
      <p:sp>
        <p:nvSpPr>
          <p:cNvPr id="7" name="Shape 5"/>
          <p:cNvSpPr/>
          <p:nvPr/>
        </p:nvSpPr>
        <p:spPr>
          <a:xfrm>
            <a:off x="5216962" y="3048000"/>
            <a:ext cx="4196358" cy="3439716"/>
          </a:xfrm>
          <a:prstGeom prst="roundRect">
            <a:avLst>
              <a:gd name="adj" fmla="val 4597"/>
            </a:avLst>
          </a:prstGeom>
          <a:solidFill>
            <a:srgbClr val="050505"/>
          </a:solidFill>
          <a:ln w="30480">
            <a:solidFill>
              <a:srgbClr val="56565B"/>
            </a:solidFill>
            <a:prstDash val="solid"/>
          </a:ln>
        </p:spPr>
      </p:sp>
      <p:sp>
        <p:nvSpPr>
          <p:cNvPr id="8" name="Shape 6"/>
          <p:cNvSpPr/>
          <p:nvPr/>
        </p:nvSpPr>
        <p:spPr>
          <a:xfrm>
            <a:off x="5216962" y="3176647"/>
            <a:ext cx="121920" cy="3182422"/>
          </a:xfrm>
          <a:prstGeom prst="roundRect">
            <a:avLst>
              <a:gd name="adj" fmla="val 78139"/>
            </a:avLst>
          </a:prstGeom>
          <a:solidFill>
            <a:srgbClr val="F2F2F3"/>
          </a:solidFill>
          <a:ln/>
        </p:spPr>
      </p:sp>
      <p:sp>
        <p:nvSpPr>
          <p:cNvPr id="9" name="Text 7"/>
          <p:cNvSpPr/>
          <p:nvPr/>
        </p:nvSpPr>
        <p:spPr>
          <a:xfrm>
            <a:off x="5565696" y="3305294"/>
            <a:ext cx="3505676" cy="354330"/>
          </a:xfrm>
          <a:prstGeom prst="rect">
            <a:avLst/>
          </a:prstGeom>
          <a:noFill/>
          <a:ln/>
        </p:spPr>
        <p:txBody>
          <a:bodyPr wrap="none" lIns="0" tIns="0" rIns="0" bIns="0" rtlCol="0" anchor="t"/>
          <a:lstStyle/>
          <a:p>
            <a:pPr marL="0" indent="0" algn="l">
              <a:lnSpc>
                <a:spcPts val="2750"/>
              </a:lnSpc>
              <a:buNone/>
            </a:pPr>
            <a:r>
              <a:rPr lang="en-US" sz="2200" b="1" dirty="0">
                <a:solidFill>
                  <a:srgbClr val="FF0000"/>
                </a:solidFill>
                <a:latin typeface="Poppins Light" pitchFamily="34" charset="0"/>
                <a:ea typeface="Poppins Light" pitchFamily="34" charset="-122"/>
                <a:cs typeface="Poppins Light" pitchFamily="34" charset="-120"/>
              </a:rPr>
              <a:t>ISO Standard Foundation</a:t>
            </a:r>
            <a:endParaRPr lang="en-US" sz="2200" b="1" dirty="0">
              <a:solidFill>
                <a:srgbClr val="FF0000"/>
              </a:solidFill>
            </a:endParaRPr>
          </a:p>
        </p:txBody>
      </p:sp>
      <p:sp>
        <p:nvSpPr>
          <p:cNvPr id="10" name="Text 8"/>
          <p:cNvSpPr/>
          <p:nvPr/>
        </p:nvSpPr>
        <p:spPr>
          <a:xfrm>
            <a:off x="5565696" y="3795713"/>
            <a:ext cx="3590330" cy="2177415"/>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Roboto Light" pitchFamily="34" charset="0"/>
                <a:ea typeface="Roboto Light" pitchFamily="34" charset="-122"/>
                <a:cs typeface="Roboto Light" pitchFamily="34" charset="-120"/>
              </a:rPr>
              <a:t>Developed as an international standard (ISO/IEC 13239:2002), HDLC traces its roots to IBM's Synchronous Data Link Control (SDLC) protocol, inheriting its robust design principles.</a:t>
            </a:r>
            <a:endParaRPr lang="en-US" sz="2000" dirty="0"/>
          </a:p>
        </p:txBody>
      </p:sp>
      <p:sp>
        <p:nvSpPr>
          <p:cNvPr id="11" name="Shape 9"/>
          <p:cNvSpPr/>
          <p:nvPr/>
        </p:nvSpPr>
        <p:spPr>
          <a:xfrm>
            <a:off x="9640133" y="3048000"/>
            <a:ext cx="4196358" cy="3439716"/>
          </a:xfrm>
          <a:prstGeom prst="roundRect">
            <a:avLst>
              <a:gd name="adj" fmla="val 4597"/>
            </a:avLst>
          </a:prstGeom>
          <a:solidFill>
            <a:srgbClr val="050505"/>
          </a:solidFill>
          <a:ln w="30480">
            <a:solidFill>
              <a:srgbClr val="56565B"/>
            </a:solidFill>
            <a:prstDash val="solid"/>
          </a:ln>
        </p:spPr>
      </p:sp>
      <p:sp>
        <p:nvSpPr>
          <p:cNvPr id="12" name="Shape 10"/>
          <p:cNvSpPr/>
          <p:nvPr/>
        </p:nvSpPr>
        <p:spPr>
          <a:xfrm>
            <a:off x="9609653" y="3176647"/>
            <a:ext cx="121920" cy="3182422"/>
          </a:xfrm>
          <a:prstGeom prst="roundRect">
            <a:avLst>
              <a:gd name="adj" fmla="val 78139"/>
            </a:avLst>
          </a:prstGeom>
          <a:solidFill>
            <a:srgbClr val="F2F2F3"/>
          </a:solidFill>
          <a:ln/>
        </p:spPr>
      </p:sp>
      <p:sp>
        <p:nvSpPr>
          <p:cNvPr id="13" name="Text 11"/>
          <p:cNvSpPr/>
          <p:nvPr/>
        </p:nvSpPr>
        <p:spPr>
          <a:xfrm>
            <a:off x="9988868" y="330529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0000"/>
                </a:solidFill>
                <a:latin typeface="Poppins Light" pitchFamily="34" charset="0"/>
                <a:ea typeface="Poppins Light" pitchFamily="34" charset="-122"/>
                <a:cs typeface="Poppins Light" pitchFamily="34" charset="-120"/>
              </a:rPr>
              <a:t>Core Functionality</a:t>
            </a:r>
            <a:endParaRPr lang="en-US" sz="2200" b="1" dirty="0">
              <a:solidFill>
                <a:srgbClr val="FF0000"/>
              </a:solidFill>
            </a:endParaRPr>
          </a:p>
        </p:txBody>
      </p:sp>
      <p:sp>
        <p:nvSpPr>
          <p:cNvPr id="14" name="Text 12"/>
          <p:cNvSpPr/>
          <p:nvPr/>
        </p:nvSpPr>
        <p:spPr>
          <a:xfrm>
            <a:off x="9988868" y="3795713"/>
            <a:ext cx="3590330" cy="2692003"/>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Roboto Light" pitchFamily="34" charset="0"/>
                <a:ea typeface="Roboto Light" pitchFamily="34" charset="-122"/>
                <a:cs typeface="Roboto Light" pitchFamily="34" charset="-120"/>
              </a:rPr>
              <a:t>It is extensively utilized in Wide Area Network (WAN) connectivity to provide essential services such as data framing, comprehensive error detection, and efficient flow control mechanisms.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1797844"/>
            <a:ext cx="8678228"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HDLC’s Role in the TCP/IP Model</a:t>
            </a:r>
            <a:endParaRPr lang="en-US" sz="4450" dirty="0"/>
          </a:p>
        </p:txBody>
      </p:sp>
      <p:sp>
        <p:nvSpPr>
          <p:cNvPr id="3" name="Shape 1"/>
          <p:cNvSpPr/>
          <p:nvPr/>
        </p:nvSpPr>
        <p:spPr>
          <a:xfrm>
            <a:off x="793790" y="2960251"/>
            <a:ext cx="510302" cy="510302"/>
          </a:xfrm>
          <a:prstGeom prst="roundRect">
            <a:avLst>
              <a:gd name="adj" fmla="val 18669"/>
            </a:avLst>
          </a:prstGeom>
          <a:solidFill>
            <a:srgbClr val="3D3D42"/>
          </a:solidFill>
          <a:ln w="7620">
            <a:solidFill>
              <a:srgbClr val="56565B"/>
            </a:solidFill>
            <a:prstDash val="solid"/>
          </a:ln>
        </p:spPr>
      </p:sp>
      <p:sp>
        <p:nvSpPr>
          <p:cNvPr id="4" name="Text 2"/>
          <p:cNvSpPr/>
          <p:nvPr/>
        </p:nvSpPr>
        <p:spPr>
          <a:xfrm>
            <a:off x="878860"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1</a:t>
            </a:r>
            <a:endParaRPr lang="en-US" sz="2650" dirty="0"/>
          </a:p>
        </p:txBody>
      </p:sp>
      <p:sp>
        <p:nvSpPr>
          <p:cNvPr id="5" name="Text 3"/>
          <p:cNvSpPr/>
          <p:nvPr/>
        </p:nvSpPr>
        <p:spPr>
          <a:xfrm>
            <a:off x="1530906" y="3038118"/>
            <a:ext cx="3421499" cy="708660"/>
          </a:xfrm>
          <a:prstGeom prst="rect">
            <a:avLst/>
          </a:prstGeom>
          <a:noFill/>
          <a:ln/>
        </p:spPr>
        <p:txBody>
          <a:bodyPr wrap="squar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Data Link Layer Operation</a:t>
            </a:r>
            <a:endParaRPr lang="en-US" sz="2400" b="1" dirty="0">
              <a:solidFill>
                <a:srgbClr val="FF0000"/>
              </a:solidFill>
            </a:endParaRPr>
          </a:p>
        </p:txBody>
      </p:sp>
      <p:sp>
        <p:nvSpPr>
          <p:cNvPr id="6" name="Text 4"/>
          <p:cNvSpPr/>
          <p:nvPr/>
        </p:nvSpPr>
        <p:spPr>
          <a:xfrm>
            <a:off x="1530906" y="3882866"/>
            <a:ext cx="3421499" cy="254031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Roboto Light" pitchFamily="34" charset="0"/>
                <a:ea typeface="Roboto Light" pitchFamily="34" charset="-122"/>
                <a:cs typeface="Roboto Light" pitchFamily="34" charset="-120"/>
              </a:rPr>
              <a:t>HDLC operates exclusively at the Data Link Layer (Layer 2) of the TCP/IP model, positioned directly above the Physical Layer. This strategic placement allows it to manage the physical transmission medium.</a:t>
            </a:r>
            <a:endParaRPr lang="en-US" sz="2000" dirty="0"/>
          </a:p>
        </p:txBody>
      </p:sp>
      <p:sp>
        <p:nvSpPr>
          <p:cNvPr id="7" name="Shape 5"/>
          <p:cNvSpPr/>
          <p:nvPr/>
        </p:nvSpPr>
        <p:spPr>
          <a:xfrm>
            <a:off x="5235893" y="2960251"/>
            <a:ext cx="510302" cy="510302"/>
          </a:xfrm>
          <a:prstGeom prst="roundRect">
            <a:avLst>
              <a:gd name="adj" fmla="val 18669"/>
            </a:avLst>
          </a:prstGeom>
          <a:solidFill>
            <a:srgbClr val="3D3D42"/>
          </a:solidFill>
          <a:ln w="7620">
            <a:solidFill>
              <a:srgbClr val="56565B"/>
            </a:solidFill>
            <a:prstDash val="solid"/>
          </a:ln>
        </p:spPr>
      </p:sp>
      <p:sp>
        <p:nvSpPr>
          <p:cNvPr id="8" name="Text 6"/>
          <p:cNvSpPr/>
          <p:nvPr/>
        </p:nvSpPr>
        <p:spPr>
          <a:xfrm>
            <a:off x="5320963"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2</a:t>
            </a:r>
            <a:endParaRPr lang="en-US" sz="2650" dirty="0"/>
          </a:p>
        </p:txBody>
      </p:sp>
      <p:sp>
        <p:nvSpPr>
          <p:cNvPr id="9" name="Text 7"/>
          <p:cNvSpPr/>
          <p:nvPr/>
        </p:nvSpPr>
        <p:spPr>
          <a:xfrm>
            <a:off x="5973008" y="3038118"/>
            <a:ext cx="3421499" cy="708660"/>
          </a:xfrm>
          <a:prstGeom prst="rect">
            <a:avLst/>
          </a:prstGeom>
          <a:noFill/>
          <a:ln/>
        </p:spPr>
        <p:txBody>
          <a:bodyPr wrap="squar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Framing Network Packets</a:t>
            </a:r>
            <a:endParaRPr lang="en-US" sz="2400" b="1" dirty="0">
              <a:solidFill>
                <a:srgbClr val="FF0000"/>
              </a:solidFill>
            </a:endParaRPr>
          </a:p>
        </p:txBody>
      </p:sp>
      <p:sp>
        <p:nvSpPr>
          <p:cNvPr id="10" name="Text 8"/>
          <p:cNvSpPr/>
          <p:nvPr/>
        </p:nvSpPr>
        <p:spPr>
          <a:xfrm>
            <a:off x="5973008" y="3882866"/>
            <a:ext cx="3421499" cy="254031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Roboto Light" pitchFamily="34" charset="0"/>
                <a:ea typeface="Roboto Light" pitchFamily="34" charset="-122"/>
                <a:cs typeface="Roboto Light" pitchFamily="34" charset="-120"/>
              </a:rPr>
              <a:t>Its primary responsibility includes taking raw data packets from the Network Layer (Layer 3) and encapsulating them into structured frames, preparing them for physical transmission across the network.</a:t>
            </a:r>
            <a:endParaRPr lang="en-US" sz="2000" dirty="0"/>
          </a:p>
        </p:txBody>
      </p:sp>
      <p:sp>
        <p:nvSpPr>
          <p:cNvPr id="11" name="Shape 9"/>
          <p:cNvSpPr/>
          <p:nvPr/>
        </p:nvSpPr>
        <p:spPr>
          <a:xfrm>
            <a:off x="9677995" y="2960251"/>
            <a:ext cx="510302" cy="510302"/>
          </a:xfrm>
          <a:prstGeom prst="roundRect">
            <a:avLst>
              <a:gd name="adj" fmla="val 18669"/>
            </a:avLst>
          </a:prstGeom>
          <a:solidFill>
            <a:srgbClr val="3D3D42"/>
          </a:solidFill>
          <a:ln w="7620">
            <a:solidFill>
              <a:srgbClr val="56565B"/>
            </a:solidFill>
            <a:prstDash val="solid"/>
          </a:ln>
        </p:spPr>
      </p:sp>
      <p:sp>
        <p:nvSpPr>
          <p:cNvPr id="12" name="Text 10"/>
          <p:cNvSpPr/>
          <p:nvPr/>
        </p:nvSpPr>
        <p:spPr>
          <a:xfrm>
            <a:off x="9763065"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E5E0DF"/>
                </a:solidFill>
                <a:latin typeface="Poppins Light" pitchFamily="34" charset="0"/>
                <a:ea typeface="Poppins Light" pitchFamily="34" charset="-122"/>
                <a:cs typeface="Poppins Light" pitchFamily="34" charset="-120"/>
              </a:rPr>
              <a:t>3</a:t>
            </a:r>
            <a:endParaRPr lang="en-US" sz="2650" dirty="0"/>
          </a:p>
        </p:txBody>
      </p:sp>
      <p:sp>
        <p:nvSpPr>
          <p:cNvPr id="13" name="Text 11"/>
          <p:cNvSpPr/>
          <p:nvPr/>
        </p:nvSpPr>
        <p:spPr>
          <a:xfrm>
            <a:off x="10415111" y="3038118"/>
            <a:ext cx="3143726" cy="354330"/>
          </a:xfrm>
          <a:prstGeom prst="rect">
            <a:avLst/>
          </a:prstGeom>
          <a:noFill/>
          <a:ln/>
        </p:spPr>
        <p:txBody>
          <a:bodyPr wrap="non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Ensuring Link Reliability</a:t>
            </a:r>
            <a:endParaRPr lang="en-US" sz="2400" b="1" dirty="0">
              <a:solidFill>
                <a:srgbClr val="FF0000"/>
              </a:solidFill>
            </a:endParaRPr>
          </a:p>
        </p:txBody>
      </p:sp>
      <p:sp>
        <p:nvSpPr>
          <p:cNvPr id="14" name="Text 12"/>
          <p:cNvSpPr/>
          <p:nvPr/>
        </p:nvSpPr>
        <p:spPr>
          <a:xfrm>
            <a:off x="10415111" y="3528536"/>
            <a:ext cx="3421499" cy="2903220"/>
          </a:xfrm>
          <a:prstGeom prst="rect">
            <a:avLst/>
          </a:prstGeom>
          <a:noFill/>
          <a:ln/>
        </p:spPr>
        <p:txBody>
          <a:bodyPr wrap="square" lIns="0" tIns="0" rIns="0" bIns="0" rtlCol="0" anchor="t"/>
          <a:lstStyle/>
          <a:p>
            <a:pPr marL="0" indent="0" algn="l">
              <a:lnSpc>
                <a:spcPts val="2850"/>
              </a:lnSpc>
              <a:buNone/>
            </a:pPr>
            <a:endParaRPr lang="en-US" sz="2000">
              <a:solidFill>
                <a:srgbClr val="E5E0DF"/>
              </a:solidFill>
              <a:latin typeface="Roboto Light" pitchFamily="34" charset="0"/>
              <a:ea typeface="Roboto Light" pitchFamily="34" charset="-122"/>
              <a:cs typeface="Roboto Light" pitchFamily="34" charset="-120"/>
            </a:endParaRPr>
          </a:p>
          <a:p>
            <a:pPr marL="0" indent="0" algn="l">
              <a:lnSpc>
                <a:spcPts val="2850"/>
              </a:lnSpc>
              <a:buNone/>
            </a:pPr>
            <a:r>
              <a:rPr lang="en-US" sz="2000">
                <a:solidFill>
                  <a:srgbClr val="E5E0DF"/>
                </a:solidFill>
                <a:latin typeface="Roboto Light" pitchFamily="34" charset="0"/>
                <a:ea typeface="Roboto Light" pitchFamily="34" charset="-122"/>
                <a:cs typeface="Roboto Light" pitchFamily="34" charset="-120"/>
              </a:rPr>
              <a:t>HDLC </a:t>
            </a:r>
            <a:r>
              <a:rPr lang="en-US" sz="2000" dirty="0">
                <a:solidFill>
                  <a:srgbClr val="E5E0DF"/>
                </a:solidFill>
                <a:latin typeface="Roboto Light" pitchFamily="34" charset="0"/>
                <a:ea typeface="Roboto Light" pitchFamily="34" charset="-122"/>
                <a:cs typeface="Roboto Light" pitchFamily="34" charset="-120"/>
              </a:rPr>
              <a:t>guarantees reliable communication by implementing robust error detection and sophisticated flow control mechanisms, ensuring data integrity and preventing network congestion between directly connected devices.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1832372" y="716280"/>
            <a:ext cx="6806446" cy="541734"/>
          </a:xfrm>
          <a:prstGeom prst="rect">
            <a:avLst/>
          </a:prstGeom>
          <a:noFill/>
          <a:ln/>
        </p:spPr>
        <p:txBody>
          <a:bodyPr wrap="none" lIns="0" tIns="0" rIns="0" bIns="0" rtlCol="0" anchor="t"/>
          <a:lstStyle/>
          <a:p>
            <a:pPr marL="0" indent="0" algn="l">
              <a:lnSpc>
                <a:spcPts val="4250"/>
              </a:lnSpc>
              <a:buNone/>
            </a:pPr>
            <a:r>
              <a:rPr lang="en-US" sz="4400" dirty="0">
                <a:solidFill>
                  <a:srgbClr val="F2F2F3"/>
                </a:solidFill>
                <a:latin typeface="Poppins Light" pitchFamily="34" charset="0"/>
                <a:ea typeface="Poppins Light" pitchFamily="34" charset="-122"/>
                <a:cs typeface="Poppins Light" pitchFamily="34" charset="-120"/>
              </a:rPr>
              <a:t>Standard HDLC Frame Structure</a:t>
            </a:r>
            <a:endParaRPr lang="en-US" sz="4400" dirty="0"/>
          </a:p>
        </p:txBody>
      </p:sp>
      <p:pic>
        <p:nvPicPr>
          <p:cNvPr id="3" name="Image 0" descr="preencoded.png"/>
          <p:cNvPicPr>
            <a:picLocks noChangeAspect="1"/>
          </p:cNvPicPr>
          <p:nvPr/>
        </p:nvPicPr>
        <p:blipFill>
          <a:blip r:embed="rId3"/>
          <a:stretch>
            <a:fillRect/>
          </a:stretch>
        </p:blipFill>
        <p:spPr>
          <a:xfrm>
            <a:off x="1832372" y="1604724"/>
            <a:ext cx="866775" cy="1040130"/>
          </a:xfrm>
          <a:prstGeom prst="rect">
            <a:avLst/>
          </a:prstGeom>
        </p:spPr>
      </p:pic>
      <p:sp>
        <p:nvSpPr>
          <p:cNvPr id="4" name="Text 1"/>
          <p:cNvSpPr/>
          <p:nvPr/>
        </p:nvSpPr>
        <p:spPr>
          <a:xfrm>
            <a:off x="2872502" y="1778079"/>
            <a:ext cx="2167057" cy="270867"/>
          </a:xfrm>
          <a:prstGeom prst="rect">
            <a:avLst/>
          </a:prstGeom>
          <a:noFill/>
          <a:ln/>
        </p:spPr>
        <p:txBody>
          <a:bodyPr wrap="none" lIns="0" tIns="0" rIns="0" bIns="0" rtlCol="0" anchor="t"/>
          <a:lstStyle/>
          <a:p>
            <a:pPr marL="0" indent="0" algn="l">
              <a:lnSpc>
                <a:spcPts val="2100"/>
              </a:lnSpc>
              <a:buNone/>
            </a:pPr>
            <a:r>
              <a:rPr lang="en-US" sz="2000" b="1" dirty="0">
                <a:solidFill>
                  <a:srgbClr val="FF0000"/>
                </a:solidFill>
                <a:latin typeface="Poppins Light" pitchFamily="34" charset="0"/>
                <a:ea typeface="Poppins Light" pitchFamily="34" charset="-122"/>
                <a:cs typeface="Poppins Light" pitchFamily="34" charset="-120"/>
              </a:rPr>
              <a:t>Flag Field</a:t>
            </a:r>
            <a:endParaRPr lang="en-US" sz="2000" b="1" dirty="0">
              <a:solidFill>
                <a:srgbClr val="FF0000"/>
              </a:solidFill>
            </a:endParaRPr>
          </a:p>
        </p:txBody>
      </p:sp>
      <p:sp>
        <p:nvSpPr>
          <p:cNvPr id="5" name="Text 2"/>
          <p:cNvSpPr/>
          <p:nvPr/>
        </p:nvSpPr>
        <p:spPr>
          <a:xfrm>
            <a:off x="2872502" y="2152888"/>
            <a:ext cx="10528188" cy="652106"/>
          </a:xfrm>
          <a:prstGeom prst="rect">
            <a:avLst/>
          </a:prstGeom>
          <a:noFill/>
          <a:ln/>
        </p:spPr>
        <p:txBody>
          <a:bodyPr wrap="none" lIns="0" tIns="0" rIns="0" bIns="0" rtlCol="0" anchor="t"/>
          <a:lstStyle/>
          <a:p>
            <a:pPr marL="0" indent="0" algn="l">
              <a:lnSpc>
                <a:spcPts val="2150"/>
              </a:lnSpc>
              <a:buNone/>
            </a:pPr>
            <a:r>
              <a:rPr lang="en-US" dirty="0">
                <a:solidFill>
                  <a:srgbClr val="E5E0DF"/>
                </a:solidFill>
                <a:latin typeface="Roboto Light" pitchFamily="34" charset="0"/>
                <a:ea typeface="Roboto Light" pitchFamily="34" charset="-122"/>
                <a:cs typeface="Roboto Light" pitchFamily="34" charset="-120"/>
              </a:rPr>
              <a:t>An 8-bit unique pattern (</a:t>
            </a:r>
            <a:r>
              <a:rPr lang="en-US" dirty="0">
                <a:solidFill>
                  <a:srgbClr val="E5E0DF"/>
                </a:solidFill>
                <a:highlight>
                  <a:srgbClr val="121212"/>
                </a:highlight>
                <a:latin typeface="Consolas" pitchFamily="34" charset="0"/>
                <a:ea typeface="Consolas" pitchFamily="34" charset="-122"/>
                <a:cs typeface="Consolas" pitchFamily="34" charset="-120"/>
              </a:rPr>
              <a:t>01111110</a:t>
            </a:r>
            <a:r>
              <a:rPr lang="en-US" dirty="0">
                <a:solidFill>
                  <a:srgbClr val="E5E0DF"/>
                </a:solidFill>
                <a:latin typeface="Roboto Light" pitchFamily="34" charset="0"/>
                <a:ea typeface="Roboto Light" pitchFamily="34" charset="-122"/>
                <a:cs typeface="Roboto Light" pitchFamily="34" charset="-120"/>
              </a:rPr>
              <a:t>) that signals the beginning and end of each frame, </a:t>
            </a:r>
            <a:r>
              <a:rPr lang="en-US">
                <a:solidFill>
                  <a:srgbClr val="E5E0DF"/>
                </a:solidFill>
                <a:latin typeface="Roboto Light" pitchFamily="34" charset="0"/>
                <a:ea typeface="Roboto Light" pitchFamily="34" charset="-122"/>
                <a:cs typeface="Roboto Light" pitchFamily="34" charset="-120"/>
              </a:rPr>
              <a:t>providing clear</a:t>
            </a:r>
          </a:p>
          <a:p>
            <a:pPr marL="0" indent="0" algn="l">
              <a:lnSpc>
                <a:spcPts val="2150"/>
              </a:lnSpc>
              <a:buNone/>
            </a:pPr>
            <a:r>
              <a:rPr lang="en-US">
                <a:solidFill>
                  <a:srgbClr val="E5E0DF"/>
                </a:solidFill>
                <a:latin typeface="Roboto Light" pitchFamily="34" charset="0"/>
                <a:ea typeface="Roboto Light" pitchFamily="34" charset="-122"/>
                <a:cs typeface="Roboto Light" pitchFamily="34" charset="-120"/>
              </a:rPr>
              <a:t>boundary </a:t>
            </a:r>
            <a:r>
              <a:rPr lang="en-US" dirty="0">
                <a:solidFill>
                  <a:srgbClr val="E5E0DF"/>
                </a:solidFill>
                <a:latin typeface="Roboto Light" pitchFamily="34" charset="0"/>
                <a:ea typeface="Roboto Light" pitchFamily="34" charset="-122"/>
                <a:cs typeface="Roboto Light" pitchFamily="34" charset="-120"/>
              </a:rPr>
              <a:t>markers.</a:t>
            </a:r>
            <a:endParaRPr lang="en-US" dirty="0"/>
          </a:p>
        </p:txBody>
      </p:sp>
      <p:pic>
        <p:nvPicPr>
          <p:cNvPr id="6" name="Image 1" descr="preencoded.png"/>
          <p:cNvPicPr>
            <a:picLocks noChangeAspect="1"/>
          </p:cNvPicPr>
          <p:nvPr/>
        </p:nvPicPr>
        <p:blipFill>
          <a:blip r:embed="rId4"/>
          <a:stretch>
            <a:fillRect/>
          </a:stretch>
        </p:blipFill>
        <p:spPr>
          <a:xfrm>
            <a:off x="1832372" y="2644854"/>
            <a:ext cx="866775" cy="1040130"/>
          </a:xfrm>
          <a:prstGeom prst="rect">
            <a:avLst/>
          </a:prstGeom>
        </p:spPr>
      </p:pic>
      <p:sp>
        <p:nvSpPr>
          <p:cNvPr id="7" name="Text 3"/>
          <p:cNvSpPr/>
          <p:nvPr/>
        </p:nvSpPr>
        <p:spPr>
          <a:xfrm>
            <a:off x="2872502" y="2818209"/>
            <a:ext cx="2167057" cy="270867"/>
          </a:xfrm>
          <a:prstGeom prst="rect">
            <a:avLst/>
          </a:prstGeom>
          <a:noFill/>
          <a:ln/>
        </p:spPr>
        <p:txBody>
          <a:bodyPr wrap="none" lIns="0" tIns="0" rIns="0" bIns="0" rtlCol="0" anchor="t"/>
          <a:lstStyle/>
          <a:p>
            <a:pPr marL="0" indent="0" algn="l">
              <a:lnSpc>
                <a:spcPts val="2100"/>
              </a:lnSpc>
              <a:buNone/>
            </a:pPr>
            <a:r>
              <a:rPr lang="en-US" sz="2000" b="1" dirty="0">
                <a:solidFill>
                  <a:srgbClr val="FF0000"/>
                </a:solidFill>
                <a:latin typeface="Poppins Light" pitchFamily="34" charset="0"/>
                <a:ea typeface="Poppins Light" pitchFamily="34" charset="-122"/>
                <a:cs typeface="Poppins Light" pitchFamily="34" charset="-120"/>
              </a:rPr>
              <a:t>Address Field</a:t>
            </a:r>
            <a:endParaRPr lang="en-US" sz="2000" b="1" dirty="0">
              <a:solidFill>
                <a:srgbClr val="FF0000"/>
              </a:solidFill>
            </a:endParaRPr>
          </a:p>
        </p:txBody>
      </p:sp>
      <p:sp>
        <p:nvSpPr>
          <p:cNvPr id="8" name="Text 4"/>
          <p:cNvSpPr/>
          <p:nvPr/>
        </p:nvSpPr>
        <p:spPr>
          <a:xfrm>
            <a:off x="2872502" y="3193018"/>
            <a:ext cx="9925526" cy="277297"/>
          </a:xfrm>
          <a:prstGeom prst="rect">
            <a:avLst/>
          </a:prstGeom>
          <a:noFill/>
          <a:ln/>
        </p:spPr>
        <p:txBody>
          <a:bodyPr wrap="none" lIns="0" tIns="0" rIns="0" bIns="0" rtlCol="0" anchor="t"/>
          <a:lstStyle/>
          <a:p>
            <a:pPr marL="0" indent="0" algn="l">
              <a:lnSpc>
                <a:spcPts val="2150"/>
              </a:lnSpc>
              <a:buNone/>
            </a:pPr>
            <a:r>
              <a:rPr lang="en-US" dirty="0">
                <a:solidFill>
                  <a:srgbClr val="E5E0DF"/>
                </a:solidFill>
                <a:latin typeface="Roboto Light" pitchFamily="34" charset="0"/>
                <a:ea typeface="Roboto Light" pitchFamily="34" charset="-122"/>
                <a:cs typeface="Roboto Light" pitchFamily="34" charset="-120"/>
              </a:rPr>
              <a:t>This field identifies the specific secondary station or device that the frame is intended for, crucial </a:t>
            </a:r>
            <a:r>
              <a:rPr lang="en-US">
                <a:solidFill>
                  <a:srgbClr val="E5E0DF"/>
                </a:solidFill>
                <a:latin typeface="Roboto Light" pitchFamily="34" charset="0"/>
                <a:ea typeface="Roboto Light" pitchFamily="34" charset="-122"/>
                <a:cs typeface="Roboto Light" pitchFamily="34" charset="-120"/>
              </a:rPr>
              <a:t>in </a:t>
            </a:r>
          </a:p>
          <a:p>
            <a:pPr marL="0" indent="0" algn="l">
              <a:lnSpc>
                <a:spcPts val="2150"/>
              </a:lnSpc>
              <a:buNone/>
            </a:pPr>
            <a:r>
              <a:rPr lang="en-US">
                <a:solidFill>
                  <a:srgbClr val="E5E0DF"/>
                </a:solidFill>
                <a:latin typeface="Roboto Light" pitchFamily="34" charset="0"/>
                <a:ea typeface="Roboto Light" pitchFamily="34" charset="-122"/>
                <a:cs typeface="Roboto Light" pitchFamily="34" charset="-120"/>
              </a:rPr>
              <a:t>multipoint </a:t>
            </a:r>
            <a:r>
              <a:rPr lang="en-US" dirty="0">
                <a:solidFill>
                  <a:srgbClr val="E5E0DF"/>
                </a:solidFill>
                <a:latin typeface="Roboto Light" pitchFamily="34" charset="0"/>
                <a:ea typeface="Roboto Light" pitchFamily="34" charset="-122"/>
                <a:cs typeface="Roboto Light" pitchFamily="34" charset="-120"/>
              </a:rPr>
              <a:t>configurations.</a:t>
            </a:r>
            <a:endParaRPr lang="en-US" dirty="0"/>
          </a:p>
        </p:txBody>
      </p:sp>
      <p:pic>
        <p:nvPicPr>
          <p:cNvPr id="9" name="Image 2" descr="preencoded.png"/>
          <p:cNvPicPr>
            <a:picLocks noChangeAspect="1"/>
          </p:cNvPicPr>
          <p:nvPr/>
        </p:nvPicPr>
        <p:blipFill>
          <a:blip r:embed="rId5"/>
          <a:stretch>
            <a:fillRect/>
          </a:stretch>
        </p:blipFill>
        <p:spPr>
          <a:xfrm>
            <a:off x="1832372" y="3684984"/>
            <a:ext cx="866775" cy="1276112"/>
          </a:xfrm>
          <a:prstGeom prst="rect">
            <a:avLst/>
          </a:prstGeom>
        </p:spPr>
      </p:pic>
      <p:sp>
        <p:nvSpPr>
          <p:cNvPr id="10" name="Text 5"/>
          <p:cNvSpPr/>
          <p:nvPr/>
        </p:nvSpPr>
        <p:spPr>
          <a:xfrm>
            <a:off x="2872502" y="3858339"/>
            <a:ext cx="2167057" cy="270867"/>
          </a:xfrm>
          <a:prstGeom prst="rect">
            <a:avLst/>
          </a:prstGeom>
          <a:noFill/>
          <a:ln/>
        </p:spPr>
        <p:txBody>
          <a:bodyPr wrap="none" lIns="0" tIns="0" rIns="0" bIns="0" rtlCol="0" anchor="t"/>
          <a:lstStyle/>
          <a:p>
            <a:pPr marL="0" indent="0" algn="l">
              <a:lnSpc>
                <a:spcPts val="2100"/>
              </a:lnSpc>
              <a:buNone/>
            </a:pPr>
            <a:r>
              <a:rPr lang="en-US" sz="2000" b="1" dirty="0">
                <a:solidFill>
                  <a:srgbClr val="FF0000"/>
                </a:solidFill>
                <a:latin typeface="Poppins Light" pitchFamily="34" charset="0"/>
                <a:ea typeface="Poppins Light" pitchFamily="34" charset="-122"/>
                <a:cs typeface="Poppins Light" pitchFamily="34" charset="-120"/>
              </a:rPr>
              <a:t>Control Field</a:t>
            </a:r>
            <a:endParaRPr lang="en-US" sz="2000" b="1" dirty="0">
              <a:solidFill>
                <a:srgbClr val="FF0000"/>
              </a:solidFill>
            </a:endParaRPr>
          </a:p>
        </p:txBody>
      </p:sp>
      <p:sp>
        <p:nvSpPr>
          <p:cNvPr id="11" name="Text 6"/>
          <p:cNvSpPr/>
          <p:nvPr/>
        </p:nvSpPr>
        <p:spPr>
          <a:xfrm>
            <a:off x="2872502" y="4233148"/>
            <a:ext cx="9925526" cy="554593"/>
          </a:xfrm>
          <a:prstGeom prst="rect">
            <a:avLst/>
          </a:prstGeom>
          <a:noFill/>
          <a:ln/>
        </p:spPr>
        <p:txBody>
          <a:bodyPr wrap="square" lIns="0" tIns="0" rIns="0" bIns="0" rtlCol="0" anchor="t"/>
          <a:lstStyle/>
          <a:p>
            <a:pPr marL="0" indent="0" algn="l">
              <a:lnSpc>
                <a:spcPts val="2150"/>
              </a:lnSpc>
              <a:buNone/>
            </a:pPr>
            <a:r>
              <a:rPr lang="en-US" dirty="0">
                <a:solidFill>
                  <a:srgbClr val="E5E0DF"/>
                </a:solidFill>
                <a:latin typeface="Roboto Light" pitchFamily="34" charset="0"/>
                <a:ea typeface="Roboto Light" pitchFamily="34" charset="-122"/>
                <a:cs typeface="Roboto Light" pitchFamily="34" charset="-120"/>
              </a:rPr>
              <a:t>A dynamic field that manages flow control, sequence numbering, and error recovery. It dictates the type of frame (information, supervisory, unnumbered) and carries commands/responses.</a:t>
            </a:r>
            <a:endParaRPr lang="en-US" dirty="0"/>
          </a:p>
        </p:txBody>
      </p:sp>
      <p:pic>
        <p:nvPicPr>
          <p:cNvPr id="12" name="Image 3" descr="preencoded.png"/>
          <p:cNvPicPr>
            <a:picLocks noChangeAspect="1"/>
          </p:cNvPicPr>
          <p:nvPr/>
        </p:nvPicPr>
        <p:blipFill>
          <a:blip r:embed="rId6"/>
          <a:stretch>
            <a:fillRect/>
          </a:stretch>
        </p:blipFill>
        <p:spPr>
          <a:xfrm>
            <a:off x="1832372" y="4961096"/>
            <a:ext cx="866775" cy="1276112"/>
          </a:xfrm>
          <a:prstGeom prst="rect">
            <a:avLst/>
          </a:prstGeom>
        </p:spPr>
      </p:pic>
      <p:sp>
        <p:nvSpPr>
          <p:cNvPr id="13" name="Text 7"/>
          <p:cNvSpPr/>
          <p:nvPr/>
        </p:nvSpPr>
        <p:spPr>
          <a:xfrm>
            <a:off x="2872502" y="5134451"/>
            <a:ext cx="2167057" cy="270867"/>
          </a:xfrm>
          <a:prstGeom prst="rect">
            <a:avLst/>
          </a:prstGeom>
          <a:noFill/>
          <a:ln/>
        </p:spPr>
        <p:txBody>
          <a:bodyPr wrap="none" lIns="0" tIns="0" rIns="0" bIns="0" rtlCol="0" anchor="t"/>
          <a:lstStyle/>
          <a:p>
            <a:pPr marL="0" indent="0" algn="l">
              <a:lnSpc>
                <a:spcPts val="2100"/>
              </a:lnSpc>
              <a:buNone/>
            </a:pPr>
            <a:r>
              <a:rPr lang="en-US" sz="2000" b="1" dirty="0">
                <a:solidFill>
                  <a:srgbClr val="FF0000"/>
                </a:solidFill>
                <a:latin typeface="Poppins Light" pitchFamily="34" charset="0"/>
                <a:ea typeface="Poppins Light" pitchFamily="34" charset="-122"/>
                <a:cs typeface="Poppins Light" pitchFamily="34" charset="-120"/>
              </a:rPr>
              <a:t>Information Field</a:t>
            </a:r>
            <a:endParaRPr lang="en-US" sz="2000" b="1" dirty="0">
              <a:solidFill>
                <a:srgbClr val="FF0000"/>
              </a:solidFill>
            </a:endParaRPr>
          </a:p>
        </p:txBody>
      </p:sp>
      <p:sp>
        <p:nvSpPr>
          <p:cNvPr id="14" name="Text 8"/>
          <p:cNvSpPr/>
          <p:nvPr/>
        </p:nvSpPr>
        <p:spPr>
          <a:xfrm>
            <a:off x="2872502" y="5509260"/>
            <a:ext cx="9925526" cy="554593"/>
          </a:xfrm>
          <a:prstGeom prst="rect">
            <a:avLst/>
          </a:prstGeom>
          <a:noFill/>
          <a:ln/>
        </p:spPr>
        <p:txBody>
          <a:bodyPr wrap="square" lIns="0" tIns="0" rIns="0" bIns="0" rtlCol="0" anchor="t"/>
          <a:lstStyle/>
          <a:p>
            <a:pPr marL="0" indent="0" algn="l">
              <a:lnSpc>
                <a:spcPts val="2150"/>
              </a:lnSpc>
              <a:buNone/>
            </a:pPr>
            <a:r>
              <a:rPr lang="en-US" dirty="0">
                <a:solidFill>
                  <a:srgbClr val="E5E0DF"/>
                </a:solidFill>
                <a:latin typeface="Roboto Light" pitchFamily="34" charset="0"/>
                <a:ea typeface="Roboto Light" pitchFamily="34" charset="-122"/>
                <a:cs typeface="Roboto Light" pitchFamily="34" charset="-120"/>
              </a:rPr>
              <a:t>This field carries the actual payload data from the Network Layer. It is optional, particularly in certain control frames used for link management.</a:t>
            </a:r>
            <a:endParaRPr lang="en-US" dirty="0"/>
          </a:p>
        </p:txBody>
      </p:sp>
      <p:pic>
        <p:nvPicPr>
          <p:cNvPr id="15" name="Image 4" descr="preencoded.png"/>
          <p:cNvPicPr>
            <a:picLocks noChangeAspect="1"/>
          </p:cNvPicPr>
          <p:nvPr/>
        </p:nvPicPr>
        <p:blipFill>
          <a:blip r:embed="rId7"/>
          <a:stretch>
            <a:fillRect/>
          </a:stretch>
        </p:blipFill>
        <p:spPr>
          <a:xfrm>
            <a:off x="1832372" y="6237208"/>
            <a:ext cx="866775" cy="1276112"/>
          </a:xfrm>
          <a:prstGeom prst="rect">
            <a:avLst/>
          </a:prstGeom>
        </p:spPr>
      </p:pic>
      <p:sp>
        <p:nvSpPr>
          <p:cNvPr id="16" name="Text 9"/>
          <p:cNvSpPr/>
          <p:nvPr/>
        </p:nvSpPr>
        <p:spPr>
          <a:xfrm>
            <a:off x="2872502" y="6410563"/>
            <a:ext cx="3203496" cy="270867"/>
          </a:xfrm>
          <a:prstGeom prst="rect">
            <a:avLst/>
          </a:prstGeom>
          <a:noFill/>
          <a:ln/>
        </p:spPr>
        <p:txBody>
          <a:bodyPr wrap="none" lIns="0" tIns="0" rIns="0" bIns="0" rtlCol="0" anchor="t"/>
          <a:lstStyle/>
          <a:p>
            <a:pPr marL="0" indent="0" algn="l">
              <a:lnSpc>
                <a:spcPts val="2100"/>
              </a:lnSpc>
              <a:buNone/>
            </a:pPr>
            <a:r>
              <a:rPr lang="en-US" sz="2000" b="1" dirty="0">
                <a:solidFill>
                  <a:srgbClr val="FF0000"/>
                </a:solidFill>
                <a:latin typeface="Poppins Light" pitchFamily="34" charset="0"/>
                <a:ea typeface="Poppins Light" pitchFamily="34" charset="-122"/>
                <a:cs typeface="Poppins Light" pitchFamily="34" charset="-120"/>
              </a:rPr>
              <a:t>Frame Check Sequence (FCS)</a:t>
            </a:r>
            <a:endParaRPr lang="en-US" sz="2000" b="1" dirty="0">
              <a:solidFill>
                <a:srgbClr val="FF0000"/>
              </a:solidFill>
            </a:endParaRPr>
          </a:p>
        </p:txBody>
      </p:sp>
      <p:sp>
        <p:nvSpPr>
          <p:cNvPr id="17" name="Text 10"/>
          <p:cNvSpPr/>
          <p:nvPr/>
        </p:nvSpPr>
        <p:spPr>
          <a:xfrm>
            <a:off x="2872502" y="6785372"/>
            <a:ext cx="9925526" cy="554593"/>
          </a:xfrm>
          <a:prstGeom prst="rect">
            <a:avLst/>
          </a:prstGeom>
          <a:noFill/>
          <a:ln/>
        </p:spPr>
        <p:txBody>
          <a:bodyPr wrap="square" lIns="0" tIns="0" rIns="0" bIns="0" rtlCol="0" anchor="t"/>
          <a:lstStyle/>
          <a:p>
            <a:pPr marL="0" indent="0" algn="l">
              <a:lnSpc>
                <a:spcPts val="2150"/>
              </a:lnSpc>
              <a:buNone/>
            </a:pPr>
            <a:r>
              <a:rPr lang="en-US" dirty="0">
                <a:solidFill>
                  <a:srgbClr val="E5E0DF"/>
                </a:solidFill>
                <a:latin typeface="Roboto Light" pitchFamily="34" charset="0"/>
                <a:ea typeface="Roboto Light" pitchFamily="34" charset="-122"/>
                <a:cs typeface="Roboto Light" pitchFamily="34" charset="-120"/>
              </a:rPr>
              <a:t>A Cyclic Redundancy Check (CRC) field, typically 16 or 32 bits, used by the receiver to detect transmission errors and ensure data integrity.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93790" y="1526858"/>
            <a:ext cx="12857321"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How HDLC Frames Work: Bit Stuffing &amp; Framing</a:t>
            </a:r>
            <a:endParaRPr lang="en-US" sz="4450" dirty="0"/>
          </a:p>
        </p:txBody>
      </p:sp>
      <p:sp>
        <p:nvSpPr>
          <p:cNvPr id="3" name="Text 1"/>
          <p:cNvSpPr/>
          <p:nvPr/>
        </p:nvSpPr>
        <p:spPr>
          <a:xfrm>
            <a:off x="793790" y="2802612"/>
            <a:ext cx="4701778"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Bit Stuffing for Data Transparency</a:t>
            </a:r>
            <a:endParaRPr lang="en-US" sz="2800" b="1" dirty="0">
              <a:solidFill>
                <a:srgbClr val="FF0000"/>
              </a:solidFill>
            </a:endParaRPr>
          </a:p>
        </p:txBody>
      </p:sp>
      <p:sp>
        <p:nvSpPr>
          <p:cNvPr id="4" name="Text 2"/>
          <p:cNvSpPr/>
          <p:nvPr/>
        </p:nvSpPr>
        <p:spPr>
          <a:xfrm>
            <a:off x="793790" y="3383756"/>
            <a:ext cx="6244709" cy="1822132"/>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HDLC employs a technique called "bit stuffing" to prevent the unique flag pattern (</a:t>
            </a:r>
            <a:r>
              <a:rPr lang="en-US" sz="2400" dirty="0">
                <a:solidFill>
                  <a:srgbClr val="E5E0DF"/>
                </a:solidFill>
                <a:highlight>
                  <a:srgbClr val="121212"/>
                </a:highlight>
                <a:latin typeface="Consolas" pitchFamily="34" charset="0"/>
                <a:ea typeface="Consolas" pitchFamily="34" charset="-122"/>
                <a:cs typeface="Consolas" pitchFamily="34" charset="-120"/>
              </a:rPr>
              <a:t>01111110</a:t>
            </a:r>
            <a:r>
              <a:rPr lang="en-US" sz="2400" dirty="0">
                <a:solidFill>
                  <a:srgbClr val="E5E0DF"/>
                </a:solidFill>
                <a:latin typeface="Roboto Light" pitchFamily="34" charset="0"/>
                <a:ea typeface="Roboto Light" pitchFamily="34" charset="-122"/>
                <a:cs typeface="Roboto Light" pitchFamily="34" charset="-120"/>
              </a:rPr>
              <a:t>) from accidentally appearing within the data (information field). After five consecutive '1' bits in the data stream, a '0' bit is automatically inserted by the sender.</a:t>
            </a:r>
            <a:endParaRPr lang="en-US" sz="2400" dirty="0"/>
          </a:p>
        </p:txBody>
      </p:sp>
      <p:sp>
        <p:nvSpPr>
          <p:cNvPr id="5" name="Text 3"/>
          <p:cNvSpPr/>
          <p:nvPr/>
        </p:nvSpPr>
        <p:spPr>
          <a:xfrm>
            <a:off x="793790" y="5954316"/>
            <a:ext cx="6244709" cy="1088708"/>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The receiver, upon detecting five consecutive '1's followed by a '0', knows to remove the stuffed '0' bit, thereby restoring the original data transparently.</a:t>
            </a:r>
            <a:endParaRPr lang="en-US" sz="2400" dirty="0"/>
          </a:p>
        </p:txBody>
      </p:sp>
      <p:sp>
        <p:nvSpPr>
          <p:cNvPr id="6" name="Text 4"/>
          <p:cNvSpPr/>
          <p:nvPr/>
        </p:nvSpPr>
        <p:spPr>
          <a:xfrm>
            <a:off x="7599521" y="2802612"/>
            <a:ext cx="3388281"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Clear Frame Delineation</a:t>
            </a:r>
            <a:endParaRPr lang="en-US" sz="2800" b="1" dirty="0">
              <a:solidFill>
                <a:srgbClr val="FF0000"/>
              </a:solidFill>
            </a:endParaRPr>
          </a:p>
        </p:txBody>
      </p:sp>
      <p:sp>
        <p:nvSpPr>
          <p:cNvPr id="7" name="Text 5"/>
          <p:cNvSpPr/>
          <p:nvPr/>
        </p:nvSpPr>
        <p:spPr>
          <a:xfrm>
            <a:off x="7599521" y="3383756"/>
            <a:ext cx="6244709" cy="2177415"/>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The consistent use of flag bytes at both the start and end of each HDLC frame provides robust frame boundaries. This clear identification allows for reliable synchronous and asynchronous transmission, ensuring the receiver can accurately determine where one frame ends and the next begins, even if some data is lost or corrupted.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0" y="2254468"/>
            <a:ext cx="5486400" cy="3373821"/>
          </a:xfrm>
          <a:prstGeom prst="rect">
            <a:avLst/>
          </a:prstGeom>
        </p:spPr>
      </p:pic>
      <p:sp>
        <p:nvSpPr>
          <p:cNvPr id="4" name="Text 0"/>
          <p:cNvSpPr/>
          <p:nvPr/>
        </p:nvSpPr>
        <p:spPr>
          <a:xfrm>
            <a:off x="6280190" y="1319808"/>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Cisco HDLC vs Standard HDLC</a:t>
            </a:r>
            <a:endParaRPr lang="en-US" sz="4450" dirty="0"/>
          </a:p>
        </p:txBody>
      </p:sp>
      <p:sp>
        <p:nvSpPr>
          <p:cNvPr id="5" name="Shape 1"/>
          <p:cNvSpPr/>
          <p:nvPr/>
        </p:nvSpPr>
        <p:spPr>
          <a:xfrm>
            <a:off x="6280190" y="3417689"/>
            <a:ext cx="3664744" cy="3492103"/>
          </a:xfrm>
          <a:prstGeom prst="roundRect">
            <a:avLst>
              <a:gd name="adj" fmla="val 4190"/>
            </a:avLst>
          </a:prstGeom>
          <a:solidFill>
            <a:srgbClr val="050505"/>
          </a:solidFill>
          <a:ln/>
        </p:spPr>
      </p:sp>
      <p:sp>
        <p:nvSpPr>
          <p:cNvPr id="6" name="Shape 2"/>
          <p:cNvSpPr/>
          <p:nvPr/>
        </p:nvSpPr>
        <p:spPr>
          <a:xfrm>
            <a:off x="6280190" y="3387209"/>
            <a:ext cx="3664744" cy="121920"/>
          </a:xfrm>
          <a:prstGeom prst="roundRect">
            <a:avLst>
              <a:gd name="adj" fmla="val 78139"/>
            </a:avLst>
          </a:prstGeom>
          <a:solidFill>
            <a:srgbClr val="F2F2F3"/>
          </a:solidFill>
          <a:ln/>
        </p:spPr>
      </p:sp>
      <p:sp>
        <p:nvSpPr>
          <p:cNvPr id="7" name="Shape 3"/>
          <p:cNvSpPr/>
          <p:nvPr/>
        </p:nvSpPr>
        <p:spPr>
          <a:xfrm>
            <a:off x="7772340" y="3077528"/>
            <a:ext cx="680442" cy="680442"/>
          </a:xfrm>
          <a:prstGeom prst="roundRect">
            <a:avLst>
              <a:gd name="adj" fmla="val 134383"/>
            </a:avLst>
          </a:prstGeom>
          <a:solidFill>
            <a:srgbClr val="F2F2F3"/>
          </a:solidFill>
          <a:ln/>
        </p:spPr>
      </p:sp>
      <p:sp>
        <p:nvSpPr>
          <p:cNvPr id="8" name="Text 4"/>
          <p:cNvSpPr/>
          <p:nvPr/>
        </p:nvSpPr>
        <p:spPr>
          <a:xfrm>
            <a:off x="8047118" y="3217128"/>
            <a:ext cx="272177" cy="340162"/>
          </a:xfrm>
          <a:prstGeom prst="rect">
            <a:avLst/>
          </a:prstGeom>
          <a:noFill/>
          <a:ln/>
        </p:spPr>
        <p:txBody>
          <a:bodyPr wrap="none" lIns="0" tIns="0" rIns="0" bIns="0" rtlCol="0" anchor="t"/>
          <a:lstStyle/>
          <a:p>
            <a:pPr marL="0" indent="0" algn="l">
              <a:lnSpc>
                <a:spcPts val="3400"/>
              </a:lnSpc>
              <a:buNone/>
            </a:pPr>
            <a:r>
              <a:rPr lang="en-US" sz="3200" b="1" dirty="0">
                <a:solidFill>
                  <a:srgbClr val="000000"/>
                </a:solidFill>
                <a:latin typeface="Poppins Light" pitchFamily="34" charset="0"/>
                <a:ea typeface="Poppins Light" pitchFamily="34" charset="-122"/>
                <a:cs typeface="Poppins Light" pitchFamily="34" charset="-120"/>
              </a:rPr>
              <a:t>1</a:t>
            </a:r>
            <a:endParaRPr lang="en-US" sz="3200" b="1" dirty="0"/>
          </a:p>
        </p:txBody>
      </p:sp>
      <p:sp>
        <p:nvSpPr>
          <p:cNvPr id="9" name="Text 5"/>
          <p:cNvSpPr/>
          <p:nvPr/>
        </p:nvSpPr>
        <p:spPr>
          <a:xfrm>
            <a:off x="6537484" y="3984665"/>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Cisco HDLC (cHDLC)</a:t>
            </a:r>
            <a:endParaRPr lang="en-US" sz="2800" b="1" dirty="0">
              <a:solidFill>
                <a:srgbClr val="FF0000"/>
              </a:solidFill>
            </a:endParaRPr>
          </a:p>
        </p:txBody>
      </p:sp>
      <p:sp>
        <p:nvSpPr>
          <p:cNvPr id="10" name="Text 6"/>
          <p:cNvSpPr/>
          <p:nvPr/>
        </p:nvSpPr>
        <p:spPr>
          <a:xfrm>
            <a:off x="6537484" y="4475083"/>
            <a:ext cx="3150156" cy="2177415"/>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A proprietary extension that includes a crucial 2-byte Protocol field. This field allows cHDLC to multiplex multiple network layer protocols (e.g., IP, IPX) over a single serial link.</a:t>
            </a:r>
            <a:endParaRPr lang="en-US" sz="2400" dirty="0"/>
          </a:p>
        </p:txBody>
      </p:sp>
      <p:sp>
        <p:nvSpPr>
          <p:cNvPr id="11" name="Shape 7"/>
          <p:cNvSpPr/>
          <p:nvPr/>
        </p:nvSpPr>
        <p:spPr>
          <a:xfrm>
            <a:off x="10171748" y="3417689"/>
            <a:ext cx="3664863" cy="3492103"/>
          </a:xfrm>
          <a:prstGeom prst="roundRect">
            <a:avLst>
              <a:gd name="adj" fmla="val 4190"/>
            </a:avLst>
          </a:prstGeom>
          <a:solidFill>
            <a:srgbClr val="050505"/>
          </a:solidFill>
          <a:ln/>
        </p:spPr>
      </p:sp>
      <p:sp>
        <p:nvSpPr>
          <p:cNvPr id="12" name="Shape 8"/>
          <p:cNvSpPr/>
          <p:nvPr/>
        </p:nvSpPr>
        <p:spPr>
          <a:xfrm>
            <a:off x="10171748" y="3387209"/>
            <a:ext cx="3664863" cy="121920"/>
          </a:xfrm>
          <a:prstGeom prst="roundRect">
            <a:avLst>
              <a:gd name="adj" fmla="val 78139"/>
            </a:avLst>
          </a:prstGeom>
          <a:solidFill>
            <a:srgbClr val="F2F2F3"/>
          </a:solidFill>
          <a:ln/>
        </p:spPr>
      </p:sp>
      <p:sp>
        <p:nvSpPr>
          <p:cNvPr id="13" name="Shape 9"/>
          <p:cNvSpPr/>
          <p:nvPr/>
        </p:nvSpPr>
        <p:spPr>
          <a:xfrm>
            <a:off x="11663898" y="3077528"/>
            <a:ext cx="680442" cy="680442"/>
          </a:xfrm>
          <a:prstGeom prst="roundRect">
            <a:avLst>
              <a:gd name="adj" fmla="val 134383"/>
            </a:avLst>
          </a:prstGeom>
          <a:solidFill>
            <a:srgbClr val="F2F2F3"/>
          </a:solidFill>
          <a:ln/>
        </p:spPr>
      </p:sp>
      <p:sp>
        <p:nvSpPr>
          <p:cNvPr id="14" name="Text 10"/>
          <p:cNvSpPr/>
          <p:nvPr/>
        </p:nvSpPr>
        <p:spPr>
          <a:xfrm>
            <a:off x="11900321" y="3232368"/>
            <a:ext cx="272177" cy="340162"/>
          </a:xfrm>
          <a:prstGeom prst="rect">
            <a:avLst/>
          </a:prstGeom>
          <a:noFill/>
          <a:ln/>
        </p:spPr>
        <p:txBody>
          <a:bodyPr wrap="none" lIns="0" tIns="0" rIns="0" bIns="0" rtlCol="0" anchor="t"/>
          <a:lstStyle/>
          <a:p>
            <a:pPr marL="0" indent="0" algn="l">
              <a:lnSpc>
                <a:spcPts val="3400"/>
              </a:lnSpc>
              <a:buNone/>
            </a:pPr>
            <a:r>
              <a:rPr lang="en-US" sz="3200" b="1" dirty="0">
                <a:solidFill>
                  <a:srgbClr val="000000"/>
                </a:solidFill>
                <a:latin typeface="Poppins Light" pitchFamily="34" charset="0"/>
                <a:ea typeface="Poppins Light" pitchFamily="34" charset="-122"/>
                <a:cs typeface="Poppins Light" pitchFamily="34" charset="-120"/>
              </a:rPr>
              <a:t>2</a:t>
            </a:r>
            <a:endParaRPr lang="en-US" sz="2100" b="1" dirty="0"/>
          </a:p>
        </p:txBody>
      </p:sp>
      <p:sp>
        <p:nvSpPr>
          <p:cNvPr id="15" name="Text 11"/>
          <p:cNvSpPr/>
          <p:nvPr/>
        </p:nvSpPr>
        <p:spPr>
          <a:xfrm>
            <a:off x="10429042" y="3984665"/>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Standard HDLC</a:t>
            </a:r>
            <a:endParaRPr lang="en-US" sz="2800" b="1" dirty="0">
              <a:solidFill>
                <a:srgbClr val="FF0000"/>
              </a:solidFill>
            </a:endParaRPr>
          </a:p>
        </p:txBody>
      </p:sp>
      <p:sp>
        <p:nvSpPr>
          <p:cNvPr id="16" name="Text 12"/>
          <p:cNvSpPr/>
          <p:nvPr/>
        </p:nvSpPr>
        <p:spPr>
          <a:xfrm>
            <a:off x="10429042" y="4475083"/>
            <a:ext cx="3150275" cy="2177415"/>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Lacks the Protocol field, meaning it can only support a single network layer protocol per link. This limitation makes it less flexible in multi-protocol environments.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1530668"/>
            <a:ext cx="9466778"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HDLC Keepalives &amp; Link Monitoring</a:t>
            </a:r>
            <a:endParaRPr lang="en-US" sz="4450" dirty="0"/>
          </a:p>
        </p:txBody>
      </p:sp>
      <p:sp>
        <p:nvSpPr>
          <p:cNvPr id="3" name="Text 1"/>
          <p:cNvSpPr/>
          <p:nvPr/>
        </p:nvSpPr>
        <p:spPr>
          <a:xfrm>
            <a:off x="793790" y="2806422"/>
            <a:ext cx="3436501"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Maintaining Link Integrity</a:t>
            </a:r>
            <a:endParaRPr lang="en-US" sz="2800" b="1" dirty="0">
              <a:solidFill>
                <a:srgbClr val="FF0000"/>
              </a:solidFill>
            </a:endParaRPr>
          </a:p>
        </p:txBody>
      </p:sp>
      <p:sp>
        <p:nvSpPr>
          <p:cNvPr id="4" name="Text 2"/>
          <p:cNvSpPr/>
          <p:nvPr/>
        </p:nvSpPr>
        <p:spPr>
          <a:xfrm>
            <a:off x="793790" y="3387566"/>
            <a:ext cx="6244709" cy="1814513"/>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Cisco HDLC utilizes keepalive packets, typically sent from the Data Communications Equipment (DCE) to the Data Terminal Equipment (DTE), to continuously verify the operational status of the serial link. These small packets include sequence numbers.</a:t>
            </a:r>
            <a:endParaRPr lang="en-US" sz="2400" dirty="0"/>
          </a:p>
        </p:txBody>
      </p:sp>
      <p:sp>
        <p:nvSpPr>
          <p:cNvPr id="5" name="Text 3"/>
          <p:cNvSpPr/>
          <p:nvPr/>
        </p:nvSpPr>
        <p:spPr>
          <a:xfrm>
            <a:off x="786170" y="6087995"/>
            <a:ext cx="6244709" cy="1088708"/>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If the DTE fails to receive three consecutive keepalives, the link is automatically declared "down," prompting the interface to cease transmission and alert network administrators.</a:t>
            </a:r>
            <a:endParaRPr lang="en-US" sz="2400" dirty="0"/>
          </a:p>
        </p:txBody>
      </p:sp>
      <p:sp>
        <p:nvSpPr>
          <p:cNvPr id="6" name="Text 4"/>
          <p:cNvSpPr/>
          <p:nvPr/>
        </p:nvSpPr>
        <p:spPr>
          <a:xfrm>
            <a:off x="7599521" y="2806422"/>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FF0000"/>
                </a:solidFill>
                <a:latin typeface="Poppins Light" pitchFamily="34" charset="0"/>
                <a:ea typeface="Poppins Light" pitchFamily="34" charset="-122"/>
                <a:cs typeface="Poppins Light" pitchFamily="34" charset="-120"/>
              </a:rPr>
              <a:t>Diagnostic Tools</a:t>
            </a:r>
            <a:endParaRPr lang="en-US" sz="2800" b="1" dirty="0">
              <a:solidFill>
                <a:srgbClr val="FF0000"/>
              </a:solidFill>
            </a:endParaRPr>
          </a:p>
        </p:txBody>
      </p:sp>
      <p:sp>
        <p:nvSpPr>
          <p:cNvPr id="7" name="Text 5"/>
          <p:cNvSpPr/>
          <p:nvPr/>
        </p:nvSpPr>
        <p:spPr>
          <a:xfrm>
            <a:off x="7599521" y="3387566"/>
            <a:ext cx="6244709" cy="725805"/>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Network engineers rely on specific Cisco IOS commands to monitor HDLC link status:</a:t>
            </a:r>
            <a:endParaRPr lang="en-US" sz="2400" dirty="0"/>
          </a:p>
        </p:txBody>
      </p:sp>
      <p:sp>
        <p:nvSpPr>
          <p:cNvPr id="8" name="Text 6"/>
          <p:cNvSpPr/>
          <p:nvPr/>
        </p:nvSpPr>
        <p:spPr>
          <a:xfrm>
            <a:off x="7599521" y="4340185"/>
            <a:ext cx="6244709" cy="1096328"/>
          </a:xfrm>
          <a:prstGeom prst="rect">
            <a:avLst/>
          </a:prstGeom>
          <a:noFill/>
          <a:ln/>
        </p:spPr>
        <p:txBody>
          <a:bodyPr wrap="square" lIns="0" tIns="0" rIns="0" bIns="0" rtlCol="0" anchor="t"/>
          <a:lstStyle/>
          <a:p>
            <a:pPr marL="342900" indent="-342900" algn="l">
              <a:lnSpc>
                <a:spcPts val="2850"/>
              </a:lnSpc>
              <a:buSzPct val="100000"/>
              <a:buChar char="•"/>
            </a:pPr>
            <a:r>
              <a:rPr lang="en-US" sz="2400" dirty="0">
                <a:solidFill>
                  <a:srgbClr val="E5E0DF"/>
                </a:solidFill>
                <a:highlight>
                  <a:srgbClr val="121212"/>
                </a:highlight>
                <a:latin typeface="Consolas" pitchFamily="34" charset="0"/>
                <a:ea typeface="Consolas" pitchFamily="34" charset="-122"/>
                <a:cs typeface="Consolas" pitchFamily="34" charset="-120"/>
              </a:rPr>
              <a:t>show interfaces serial [interface-number]</a:t>
            </a:r>
            <a:r>
              <a:rPr lang="en-US" sz="2400" dirty="0">
                <a:solidFill>
                  <a:srgbClr val="E5E0DF"/>
                </a:solidFill>
                <a:latin typeface="Roboto Light" pitchFamily="34" charset="0"/>
                <a:ea typeface="Roboto Light" pitchFamily="34" charset="-122"/>
                <a:cs typeface="Roboto Light" pitchFamily="34" charset="-120"/>
              </a:rPr>
              <a:t>: Provides detailed interface status, including encapsulation type, link status, and keepalive information.</a:t>
            </a:r>
            <a:endParaRPr lang="en-US" sz="2400" dirty="0"/>
          </a:p>
        </p:txBody>
      </p:sp>
      <p:sp>
        <p:nvSpPr>
          <p:cNvPr id="9" name="Text 7"/>
          <p:cNvSpPr/>
          <p:nvPr/>
        </p:nvSpPr>
        <p:spPr>
          <a:xfrm>
            <a:off x="7599521" y="6150768"/>
            <a:ext cx="6244709" cy="1096328"/>
          </a:xfrm>
          <a:prstGeom prst="rect">
            <a:avLst/>
          </a:prstGeom>
          <a:noFill/>
          <a:ln/>
        </p:spPr>
        <p:txBody>
          <a:bodyPr wrap="square" lIns="0" tIns="0" rIns="0" bIns="0" rtlCol="0" anchor="t"/>
          <a:lstStyle/>
          <a:p>
            <a:pPr marL="342900" indent="-342900" algn="l">
              <a:lnSpc>
                <a:spcPts val="2850"/>
              </a:lnSpc>
              <a:buSzPct val="100000"/>
              <a:buChar char="•"/>
            </a:pPr>
            <a:r>
              <a:rPr lang="en-US" sz="2400" dirty="0">
                <a:solidFill>
                  <a:srgbClr val="E5E0DF"/>
                </a:solidFill>
                <a:highlight>
                  <a:srgbClr val="121212"/>
                </a:highlight>
                <a:latin typeface="Consolas" pitchFamily="34" charset="0"/>
                <a:ea typeface="Consolas" pitchFamily="34" charset="-122"/>
                <a:cs typeface="Consolas" pitchFamily="34" charset="-120"/>
              </a:rPr>
              <a:t>debug serial interface</a:t>
            </a:r>
            <a:r>
              <a:rPr lang="en-US" sz="2400" dirty="0">
                <a:solidFill>
                  <a:srgbClr val="E5E0DF"/>
                </a:solidFill>
                <a:latin typeface="Roboto Light" pitchFamily="34" charset="0"/>
                <a:ea typeface="Roboto Light" pitchFamily="34" charset="-122"/>
                <a:cs typeface="Roboto Light" pitchFamily="34" charset="-120"/>
              </a:rPr>
              <a:t>: Offers real-time insights into keepalive exchanges and other low-level events on the serial interface, invaluable for troubleshooting.</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30329" y="1072515"/>
            <a:ext cx="7256264" cy="651986"/>
          </a:xfrm>
          <a:prstGeom prst="rect">
            <a:avLst/>
          </a:prstGeom>
          <a:noFill/>
          <a:ln/>
        </p:spPr>
        <p:txBody>
          <a:bodyPr wrap="none" lIns="0" tIns="0" rIns="0" bIns="0" rtlCol="0" anchor="t"/>
          <a:lstStyle/>
          <a:p>
            <a:pPr marL="0" indent="0" algn="l">
              <a:lnSpc>
                <a:spcPts val="5100"/>
              </a:lnSpc>
              <a:buNone/>
            </a:pPr>
            <a:r>
              <a:rPr lang="en-US" sz="4100" dirty="0">
                <a:solidFill>
                  <a:srgbClr val="F2F2F3"/>
                </a:solidFill>
                <a:latin typeface="Poppins Light" pitchFamily="34" charset="0"/>
                <a:ea typeface="Poppins Light" pitchFamily="34" charset="-122"/>
                <a:cs typeface="Poppins Light" pitchFamily="34" charset="-120"/>
              </a:rPr>
              <a:t>HDLC vs PPP: Key Differences</a:t>
            </a:r>
            <a:endParaRPr lang="en-US" sz="4100" dirty="0"/>
          </a:p>
        </p:txBody>
      </p:sp>
      <p:sp>
        <p:nvSpPr>
          <p:cNvPr id="3" name="Shape 1"/>
          <p:cNvSpPr/>
          <p:nvPr/>
        </p:nvSpPr>
        <p:spPr>
          <a:xfrm>
            <a:off x="730329" y="2141815"/>
            <a:ext cx="13169741" cy="5930130"/>
          </a:xfrm>
          <a:prstGeom prst="roundRect">
            <a:avLst>
              <a:gd name="adj" fmla="val 1748"/>
            </a:avLst>
          </a:prstGeom>
          <a:noFill/>
          <a:ln w="7620">
            <a:solidFill>
              <a:srgbClr val="FFFFFF">
                <a:alpha val="24000"/>
              </a:srgbClr>
            </a:solidFill>
            <a:prstDash val="solid"/>
          </a:ln>
        </p:spPr>
      </p:sp>
      <p:sp>
        <p:nvSpPr>
          <p:cNvPr id="4" name="Shape 2"/>
          <p:cNvSpPr/>
          <p:nvPr/>
        </p:nvSpPr>
        <p:spPr>
          <a:xfrm>
            <a:off x="737949" y="2149435"/>
            <a:ext cx="13154501" cy="599361"/>
          </a:xfrm>
          <a:prstGeom prst="rect">
            <a:avLst/>
          </a:prstGeom>
          <a:solidFill>
            <a:srgbClr val="FFFFFF">
              <a:alpha val="4000"/>
            </a:srgbClr>
          </a:solidFill>
          <a:ln/>
        </p:spPr>
      </p:sp>
      <p:sp>
        <p:nvSpPr>
          <p:cNvPr id="5" name="Text 3"/>
          <p:cNvSpPr/>
          <p:nvPr/>
        </p:nvSpPr>
        <p:spPr>
          <a:xfrm>
            <a:off x="946666" y="2282190"/>
            <a:ext cx="3964662" cy="333851"/>
          </a:xfrm>
          <a:prstGeom prst="rect">
            <a:avLst/>
          </a:prstGeom>
          <a:noFill/>
          <a:ln/>
        </p:spPr>
        <p:txBody>
          <a:bodyPr wrap="none" lIns="0" tIns="0" rIns="0" bIns="0" rtlCol="0" anchor="t"/>
          <a:lstStyle/>
          <a:p>
            <a:pPr marL="0" indent="0" algn="l">
              <a:lnSpc>
                <a:spcPts val="2600"/>
              </a:lnSpc>
              <a:buNone/>
            </a:pPr>
            <a:endParaRPr lang="en-US" sz="1600" dirty="0"/>
          </a:p>
        </p:txBody>
      </p:sp>
      <p:sp>
        <p:nvSpPr>
          <p:cNvPr id="6" name="Text 4"/>
          <p:cNvSpPr/>
          <p:nvPr/>
        </p:nvSpPr>
        <p:spPr>
          <a:xfrm>
            <a:off x="5336143" y="2282190"/>
            <a:ext cx="3959543" cy="333851"/>
          </a:xfrm>
          <a:prstGeom prst="rect">
            <a:avLst/>
          </a:prstGeom>
          <a:noFill/>
          <a:ln/>
        </p:spPr>
        <p:txBody>
          <a:bodyPr wrap="none" lIns="0" tIns="0" rIns="0" bIns="0" rtlCol="0" anchor="t"/>
          <a:lstStyle/>
          <a:p>
            <a:pPr marL="0" indent="0" algn="l">
              <a:lnSpc>
                <a:spcPts val="2600"/>
              </a:lnSpc>
              <a:buNone/>
            </a:pPr>
            <a:r>
              <a:rPr lang="en-US" sz="3200" b="1" dirty="0">
                <a:solidFill>
                  <a:srgbClr val="FF0000"/>
                </a:solidFill>
                <a:latin typeface="Roboto Light" pitchFamily="34" charset="0"/>
                <a:ea typeface="Roboto Light" pitchFamily="34" charset="-122"/>
                <a:cs typeface="Roboto Light" pitchFamily="34" charset="-120"/>
              </a:rPr>
              <a:t>HDLC</a:t>
            </a:r>
            <a:endParaRPr lang="en-US" sz="1600" b="1" dirty="0">
              <a:solidFill>
                <a:srgbClr val="FF0000"/>
              </a:solidFill>
            </a:endParaRPr>
          </a:p>
        </p:txBody>
      </p:sp>
      <p:sp>
        <p:nvSpPr>
          <p:cNvPr id="7" name="Text 5"/>
          <p:cNvSpPr/>
          <p:nvPr/>
        </p:nvSpPr>
        <p:spPr>
          <a:xfrm>
            <a:off x="9720501" y="2282190"/>
            <a:ext cx="3963352" cy="333851"/>
          </a:xfrm>
          <a:prstGeom prst="rect">
            <a:avLst/>
          </a:prstGeom>
          <a:noFill/>
          <a:ln/>
        </p:spPr>
        <p:txBody>
          <a:bodyPr wrap="none" lIns="0" tIns="0" rIns="0" bIns="0" rtlCol="0" anchor="t"/>
          <a:lstStyle/>
          <a:p>
            <a:pPr marL="0" indent="0" algn="l">
              <a:lnSpc>
                <a:spcPts val="2600"/>
              </a:lnSpc>
              <a:buNone/>
            </a:pPr>
            <a:r>
              <a:rPr lang="en-US" sz="3200" b="1" dirty="0">
                <a:solidFill>
                  <a:srgbClr val="FF0000"/>
                </a:solidFill>
                <a:latin typeface="Roboto Light" pitchFamily="34" charset="0"/>
                <a:ea typeface="Roboto Light" pitchFamily="34" charset="-122"/>
                <a:cs typeface="Roboto Light" pitchFamily="34" charset="-120"/>
              </a:rPr>
              <a:t>PPP</a:t>
            </a:r>
            <a:endParaRPr lang="en-US" sz="1600" b="1" dirty="0">
              <a:solidFill>
                <a:srgbClr val="FF0000"/>
              </a:solidFill>
            </a:endParaRPr>
          </a:p>
        </p:txBody>
      </p:sp>
      <p:sp>
        <p:nvSpPr>
          <p:cNvPr id="8" name="Shape 6"/>
          <p:cNvSpPr/>
          <p:nvPr/>
        </p:nvSpPr>
        <p:spPr>
          <a:xfrm>
            <a:off x="737949" y="2748796"/>
            <a:ext cx="13154501" cy="933212"/>
          </a:xfrm>
          <a:prstGeom prst="rect">
            <a:avLst/>
          </a:prstGeom>
          <a:solidFill>
            <a:srgbClr val="000000">
              <a:alpha val="4000"/>
            </a:srgbClr>
          </a:solidFill>
          <a:ln/>
        </p:spPr>
      </p:sp>
      <p:sp>
        <p:nvSpPr>
          <p:cNvPr id="9" name="Text 7"/>
          <p:cNvSpPr/>
          <p:nvPr/>
        </p:nvSpPr>
        <p:spPr>
          <a:xfrm>
            <a:off x="946666" y="2881551"/>
            <a:ext cx="2608302" cy="325993"/>
          </a:xfrm>
          <a:prstGeom prst="rect">
            <a:avLst/>
          </a:prstGeom>
          <a:noFill/>
          <a:ln/>
        </p:spPr>
        <p:txBody>
          <a:bodyPr wrap="none" lIns="0" tIns="0" rIns="0" bIns="0" rtlCol="0" anchor="t"/>
          <a:lstStyle/>
          <a:p>
            <a:pPr marL="0" indent="0" algn="l">
              <a:lnSpc>
                <a:spcPts val="2550"/>
              </a:lnSpc>
              <a:buNone/>
            </a:pPr>
            <a:r>
              <a:rPr lang="en-US" sz="2400" b="1" dirty="0">
                <a:solidFill>
                  <a:srgbClr val="00B050"/>
                </a:solidFill>
                <a:latin typeface="Poppins Light" pitchFamily="34" charset="0"/>
                <a:ea typeface="Poppins Light" pitchFamily="34" charset="-122"/>
                <a:cs typeface="Poppins Light" pitchFamily="34" charset="-120"/>
              </a:rPr>
              <a:t>Standardization</a:t>
            </a:r>
            <a:endParaRPr lang="en-US" sz="2400" b="1" dirty="0">
              <a:solidFill>
                <a:srgbClr val="00B050"/>
              </a:solidFill>
            </a:endParaRPr>
          </a:p>
        </p:txBody>
      </p:sp>
      <p:sp>
        <p:nvSpPr>
          <p:cNvPr id="10" name="Text 8"/>
          <p:cNvSpPr/>
          <p:nvPr/>
        </p:nvSpPr>
        <p:spPr>
          <a:xfrm>
            <a:off x="4930140" y="2881551"/>
            <a:ext cx="3959543" cy="667703"/>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Simple, basic framing protocol. Cisco HDLC is proprietary.</a:t>
            </a:r>
            <a:endParaRPr lang="en-US" sz="2000" dirty="0"/>
          </a:p>
        </p:txBody>
      </p:sp>
      <p:sp>
        <p:nvSpPr>
          <p:cNvPr id="11" name="Text 9"/>
          <p:cNvSpPr/>
          <p:nvPr/>
        </p:nvSpPr>
        <p:spPr>
          <a:xfrm>
            <a:off x="9720501" y="2881551"/>
            <a:ext cx="3963352" cy="667703"/>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Industry-standard, widely adopted and interoperable.</a:t>
            </a:r>
            <a:endParaRPr lang="en-US" sz="2000" dirty="0"/>
          </a:p>
        </p:txBody>
      </p:sp>
      <p:sp>
        <p:nvSpPr>
          <p:cNvPr id="13" name="Text 11"/>
          <p:cNvSpPr/>
          <p:nvPr/>
        </p:nvSpPr>
        <p:spPr>
          <a:xfrm>
            <a:off x="946666" y="3814762"/>
            <a:ext cx="2608302" cy="325993"/>
          </a:xfrm>
          <a:prstGeom prst="rect">
            <a:avLst/>
          </a:prstGeom>
          <a:noFill/>
          <a:ln/>
        </p:spPr>
        <p:txBody>
          <a:bodyPr wrap="none" lIns="0" tIns="0" rIns="0" bIns="0" rtlCol="0" anchor="t"/>
          <a:lstStyle/>
          <a:p>
            <a:pPr marL="0" indent="0" algn="l">
              <a:lnSpc>
                <a:spcPts val="2550"/>
              </a:lnSpc>
              <a:buNone/>
            </a:pPr>
            <a:r>
              <a:rPr lang="en-US" sz="2400" b="1" dirty="0">
                <a:solidFill>
                  <a:srgbClr val="00B050"/>
                </a:solidFill>
                <a:latin typeface="Poppins Light" pitchFamily="34" charset="0"/>
                <a:ea typeface="Poppins Light" pitchFamily="34" charset="-122"/>
                <a:cs typeface="Poppins Light" pitchFamily="34" charset="-120"/>
              </a:rPr>
              <a:t>Authentication</a:t>
            </a:r>
            <a:endParaRPr lang="en-US" sz="2400" b="1" dirty="0">
              <a:solidFill>
                <a:srgbClr val="00B050"/>
              </a:solidFill>
            </a:endParaRPr>
          </a:p>
        </p:txBody>
      </p:sp>
      <p:sp>
        <p:nvSpPr>
          <p:cNvPr id="14" name="Text 12"/>
          <p:cNvSpPr/>
          <p:nvPr/>
        </p:nvSpPr>
        <p:spPr>
          <a:xfrm>
            <a:off x="4930140" y="3814762"/>
            <a:ext cx="3959543" cy="333851"/>
          </a:xfrm>
          <a:prstGeom prst="rect">
            <a:avLst/>
          </a:prstGeom>
          <a:noFill/>
          <a:ln/>
        </p:spPr>
        <p:txBody>
          <a:bodyPr wrap="non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No built-in authentication mechanisms.</a:t>
            </a:r>
            <a:endParaRPr lang="en-US" sz="2000" dirty="0"/>
          </a:p>
        </p:txBody>
      </p:sp>
      <p:sp>
        <p:nvSpPr>
          <p:cNvPr id="15" name="Text 13"/>
          <p:cNvSpPr/>
          <p:nvPr/>
        </p:nvSpPr>
        <p:spPr>
          <a:xfrm>
            <a:off x="9720501" y="3814762"/>
            <a:ext cx="3963352" cy="1335405"/>
          </a:xfrm>
          <a:prstGeom prst="rect">
            <a:avLst/>
          </a:prstGeom>
          <a:noFill/>
          <a:ln/>
        </p:spPr>
        <p:txBody>
          <a:bodyPr wrap="square" lIns="0" tIns="0" rIns="0" bIns="0" rtlCol="0" anchor="t"/>
          <a:lstStyle/>
          <a:p>
            <a:pPr marL="0" indent="0" algn="l">
              <a:lnSpc>
                <a:spcPts val="2600"/>
              </a:lnSpc>
              <a:buNone/>
            </a:pPr>
            <a:r>
              <a:rPr lang="en-US" sz="2000">
                <a:solidFill>
                  <a:srgbClr val="E5E0DF"/>
                </a:solidFill>
                <a:latin typeface="Roboto Light" pitchFamily="34" charset="0"/>
                <a:ea typeface="Roboto Light" pitchFamily="34" charset="-122"/>
                <a:cs typeface="Roboto Light" pitchFamily="34" charset="-120"/>
              </a:rPr>
              <a:t>Supports robust authentication protocols like PAP (Password Authentication Protocol) and CHAP (Challenge Handshake Authentication Protocol).</a:t>
            </a:r>
            <a:endParaRPr lang="en-US" sz="2000" dirty="0"/>
          </a:p>
        </p:txBody>
      </p:sp>
      <p:sp>
        <p:nvSpPr>
          <p:cNvPr id="17" name="Text 15"/>
          <p:cNvSpPr/>
          <p:nvPr/>
        </p:nvSpPr>
        <p:spPr>
          <a:xfrm>
            <a:off x="946666" y="5681186"/>
            <a:ext cx="2880479" cy="325993"/>
          </a:xfrm>
          <a:prstGeom prst="rect">
            <a:avLst/>
          </a:prstGeom>
          <a:noFill/>
          <a:ln/>
        </p:spPr>
        <p:txBody>
          <a:bodyPr wrap="none" lIns="0" tIns="0" rIns="0" bIns="0" rtlCol="0" anchor="t"/>
          <a:lstStyle/>
          <a:p>
            <a:pPr marL="0" indent="0" algn="l">
              <a:lnSpc>
                <a:spcPts val="2550"/>
              </a:lnSpc>
              <a:buNone/>
            </a:pPr>
            <a:r>
              <a:rPr lang="en-US" sz="2400" b="1" dirty="0">
                <a:solidFill>
                  <a:srgbClr val="00B050"/>
                </a:solidFill>
                <a:latin typeface="Poppins Light" pitchFamily="34" charset="0"/>
                <a:ea typeface="Poppins Light" pitchFamily="34" charset="-122"/>
                <a:cs typeface="Poppins Light" pitchFamily="34" charset="-120"/>
              </a:rPr>
              <a:t>Multi-Protocol Support</a:t>
            </a:r>
            <a:endParaRPr lang="en-US" sz="2400" b="1" dirty="0">
              <a:solidFill>
                <a:srgbClr val="00B050"/>
              </a:solidFill>
            </a:endParaRPr>
          </a:p>
        </p:txBody>
      </p:sp>
      <p:sp>
        <p:nvSpPr>
          <p:cNvPr id="18" name="Text 16"/>
          <p:cNvSpPr/>
          <p:nvPr/>
        </p:nvSpPr>
        <p:spPr>
          <a:xfrm>
            <a:off x="4930140" y="5681186"/>
            <a:ext cx="3959543" cy="667703"/>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Standard HDLC supports only one protocol; Cisco HDLC adds proprietary support.</a:t>
            </a:r>
            <a:endParaRPr lang="en-US" sz="2000" dirty="0"/>
          </a:p>
        </p:txBody>
      </p:sp>
      <p:sp>
        <p:nvSpPr>
          <p:cNvPr id="19" name="Text 17"/>
          <p:cNvSpPr/>
          <p:nvPr/>
        </p:nvSpPr>
        <p:spPr>
          <a:xfrm>
            <a:off x="9720501" y="5681186"/>
            <a:ext cx="3963352" cy="667703"/>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Includes a Protocol field enabling multiple network layer protocols over a single link.</a:t>
            </a:r>
            <a:endParaRPr lang="en-US" sz="2000" dirty="0"/>
          </a:p>
        </p:txBody>
      </p:sp>
      <p:sp>
        <p:nvSpPr>
          <p:cNvPr id="21" name="Text 19"/>
          <p:cNvSpPr/>
          <p:nvPr/>
        </p:nvSpPr>
        <p:spPr>
          <a:xfrm>
            <a:off x="946666" y="7024450"/>
            <a:ext cx="2608302" cy="325993"/>
          </a:xfrm>
          <a:prstGeom prst="rect">
            <a:avLst/>
          </a:prstGeom>
          <a:noFill/>
          <a:ln/>
        </p:spPr>
        <p:txBody>
          <a:bodyPr wrap="none" lIns="0" tIns="0" rIns="0" bIns="0" rtlCol="0" anchor="t"/>
          <a:lstStyle/>
          <a:p>
            <a:pPr marL="0" indent="0" algn="l">
              <a:lnSpc>
                <a:spcPts val="2550"/>
              </a:lnSpc>
              <a:buNone/>
            </a:pPr>
            <a:r>
              <a:rPr lang="en-US" sz="2400" b="1" dirty="0">
                <a:solidFill>
                  <a:srgbClr val="00B050"/>
                </a:solidFill>
                <a:latin typeface="Poppins Light" pitchFamily="34" charset="0"/>
                <a:ea typeface="Poppins Light" pitchFamily="34" charset="-122"/>
                <a:cs typeface="Poppins Light" pitchFamily="34" charset="-120"/>
              </a:rPr>
              <a:t>Error Recovery</a:t>
            </a:r>
            <a:endParaRPr lang="en-US" sz="2400" b="1" dirty="0">
              <a:solidFill>
                <a:srgbClr val="00B050"/>
              </a:solidFill>
            </a:endParaRPr>
          </a:p>
        </p:txBody>
      </p:sp>
      <p:sp>
        <p:nvSpPr>
          <p:cNvPr id="22" name="Text 20"/>
          <p:cNvSpPr/>
          <p:nvPr/>
        </p:nvSpPr>
        <p:spPr>
          <a:xfrm>
            <a:off x="4930140" y="7024450"/>
            <a:ext cx="3959543" cy="333851"/>
          </a:xfrm>
          <a:prstGeom prst="rect">
            <a:avLst/>
          </a:prstGeom>
          <a:noFill/>
          <a:ln/>
        </p:spPr>
        <p:txBody>
          <a:bodyPr wrap="non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Basic error detection via FCS.</a:t>
            </a:r>
            <a:endParaRPr lang="en-US" sz="2000" dirty="0"/>
          </a:p>
        </p:txBody>
      </p:sp>
      <p:sp>
        <p:nvSpPr>
          <p:cNvPr id="23" name="Text 21"/>
          <p:cNvSpPr/>
          <p:nvPr/>
        </p:nvSpPr>
        <p:spPr>
          <a:xfrm>
            <a:off x="9720501" y="7024450"/>
            <a:ext cx="3963352" cy="667703"/>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Roboto Light" pitchFamily="34" charset="0"/>
                <a:ea typeface="Roboto Light" pitchFamily="34" charset="-122"/>
                <a:cs typeface="Roboto Light" pitchFamily="34" charset="-120"/>
              </a:rPr>
              <a:t>Enhanced error detection and sophisticated error recovery mechanisms.</a:t>
            </a:r>
            <a:endParaRPr lang="en-US" sz="2000" dirty="0"/>
          </a:p>
        </p:txBody>
      </p:sp>
      <p:cxnSp>
        <p:nvCxnSpPr>
          <p:cNvPr id="25" name="Straight Connector 24">
            <a:extLst>
              <a:ext uri="{FF2B5EF4-FFF2-40B4-BE49-F238E27FC236}">
                <a16:creationId xmlns:a16="http://schemas.microsoft.com/office/drawing/2014/main" id="{0D9BFEBE-176A-923A-86AF-744EC13A338B}"/>
              </a:ext>
            </a:extLst>
          </p:cNvPr>
          <p:cNvCxnSpPr/>
          <p:nvPr/>
        </p:nvCxnSpPr>
        <p:spPr>
          <a:xfrm>
            <a:off x="737949" y="3682008"/>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3409F884-B68C-3463-6DB1-34AF2667F4B5}"/>
              </a:ext>
            </a:extLst>
          </p:cNvPr>
          <p:cNvCxnSpPr/>
          <p:nvPr/>
        </p:nvCxnSpPr>
        <p:spPr>
          <a:xfrm>
            <a:off x="730329" y="2767949"/>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FCD9CF83-20E8-DFAC-3FA5-EE0AEDEB9A59}"/>
              </a:ext>
            </a:extLst>
          </p:cNvPr>
          <p:cNvCxnSpPr/>
          <p:nvPr/>
        </p:nvCxnSpPr>
        <p:spPr>
          <a:xfrm>
            <a:off x="745569" y="5547594"/>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1060970B-6E30-8392-F14B-E144D44021B7}"/>
              </a:ext>
            </a:extLst>
          </p:cNvPr>
          <p:cNvCxnSpPr/>
          <p:nvPr/>
        </p:nvCxnSpPr>
        <p:spPr>
          <a:xfrm>
            <a:off x="730329" y="6835111"/>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F15CACF8-C984-FA2E-5EA0-EACC922E42FD}"/>
              </a:ext>
            </a:extLst>
          </p:cNvPr>
          <p:cNvCxnSpPr/>
          <p:nvPr/>
        </p:nvCxnSpPr>
        <p:spPr>
          <a:xfrm>
            <a:off x="745569" y="8071945"/>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7332A496-641B-3013-8B90-D62560B99A8B}"/>
              </a:ext>
            </a:extLst>
          </p:cNvPr>
          <p:cNvCxnSpPr/>
          <p:nvPr/>
        </p:nvCxnSpPr>
        <p:spPr>
          <a:xfrm>
            <a:off x="745569" y="2149435"/>
            <a:ext cx="13154501" cy="0"/>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FBAC3965-D8CB-DCA8-CD4B-9DA4CA4678FE}"/>
              </a:ext>
            </a:extLst>
          </p:cNvPr>
          <p:cNvCxnSpPr>
            <a:cxnSpLocks/>
          </p:cNvCxnSpPr>
          <p:nvPr/>
        </p:nvCxnSpPr>
        <p:spPr>
          <a:xfrm flipH="1">
            <a:off x="730329" y="2149435"/>
            <a:ext cx="15240" cy="5950362"/>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D196468C-074A-5240-4086-7BF6076B4F01}"/>
              </a:ext>
            </a:extLst>
          </p:cNvPr>
          <p:cNvCxnSpPr>
            <a:cxnSpLocks/>
          </p:cNvCxnSpPr>
          <p:nvPr/>
        </p:nvCxnSpPr>
        <p:spPr>
          <a:xfrm flipH="1">
            <a:off x="13907690" y="2121583"/>
            <a:ext cx="15240" cy="5950362"/>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10955B8D-C71C-2F03-A9E0-2DF8DD8EA4AB}"/>
              </a:ext>
            </a:extLst>
          </p:cNvPr>
          <p:cNvCxnSpPr>
            <a:cxnSpLocks/>
          </p:cNvCxnSpPr>
          <p:nvPr/>
        </p:nvCxnSpPr>
        <p:spPr>
          <a:xfrm flipH="1">
            <a:off x="9377124" y="2141815"/>
            <a:ext cx="15240" cy="5950362"/>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BBB64A74-E77C-1B95-13ED-3BC2DADEAACF}"/>
              </a:ext>
            </a:extLst>
          </p:cNvPr>
          <p:cNvCxnSpPr>
            <a:cxnSpLocks/>
          </p:cNvCxnSpPr>
          <p:nvPr/>
        </p:nvCxnSpPr>
        <p:spPr>
          <a:xfrm flipH="1">
            <a:off x="4610100" y="2121583"/>
            <a:ext cx="15240" cy="5950362"/>
          </a:xfrm>
          <a:prstGeom prst="line">
            <a:avLst/>
          </a:prstGeom>
          <a:ln w="38100">
            <a:solidFill>
              <a:schemeClr val="bg1"/>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8705" b="9935"/>
          <a:stretch>
            <a:fillRect/>
          </a:stretch>
        </p:blipFill>
        <p:spPr>
          <a:xfrm>
            <a:off x="95784" y="1321890"/>
            <a:ext cx="5830730" cy="6695603"/>
          </a:xfrm>
          <a:prstGeom prst="rect">
            <a:avLst/>
          </a:prstGeom>
        </p:spPr>
      </p:pic>
      <p:sp>
        <p:nvSpPr>
          <p:cNvPr id="3" name="Text 0"/>
          <p:cNvSpPr/>
          <p:nvPr/>
        </p:nvSpPr>
        <p:spPr>
          <a:xfrm>
            <a:off x="1231474" y="591773"/>
            <a:ext cx="11554359" cy="478393"/>
          </a:xfrm>
          <a:prstGeom prst="rect">
            <a:avLst/>
          </a:prstGeom>
          <a:noFill/>
          <a:ln/>
        </p:spPr>
        <p:txBody>
          <a:bodyPr wrap="none" lIns="0" tIns="0" rIns="0" bIns="0" rtlCol="0" anchor="t"/>
          <a:lstStyle/>
          <a:p>
            <a:pPr marL="0" indent="0" algn="l">
              <a:lnSpc>
                <a:spcPts val="3750"/>
              </a:lnSpc>
              <a:buNone/>
            </a:pPr>
            <a:r>
              <a:rPr lang="en-US" sz="4800" dirty="0">
                <a:solidFill>
                  <a:srgbClr val="F2F2F3"/>
                </a:solidFill>
                <a:latin typeface="Poppins Light" pitchFamily="34" charset="0"/>
                <a:ea typeface="Poppins Light" pitchFamily="34" charset="-122"/>
                <a:cs typeface="Poppins Light" pitchFamily="34" charset="-120"/>
              </a:rPr>
              <a:t>Common HDLC </a:t>
            </a:r>
            <a:r>
              <a:rPr lang="en-US" sz="4800">
                <a:solidFill>
                  <a:srgbClr val="F2F2F3"/>
                </a:solidFill>
                <a:latin typeface="Poppins Light" pitchFamily="34" charset="0"/>
                <a:ea typeface="Poppins Light" pitchFamily="34" charset="-122"/>
                <a:cs typeface="Poppins Light" pitchFamily="34" charset="-120"/>
              </a:rPr>
              <a:t>Troubleshooting Tips</a:t>
            </a:r>
            <a:endParaRPr lang="en-US" sz="4800" dirty="0"/>
          </a:p>
        </p:txBody>
      </p:sp>
      <p:sp>
        <p:nvSpPr>
          <p:cNvPr id="4" name="Shape 1"/>
          <p:cNvSpPr/>
          <p:nvPr/>
        </p:nvSpPr>
        <p:spPr>
          <a:xfrm>
            <a:off x="6022181" y="1985843"/>
            <a:ext cx="612338" cy="1126688"/>
          </a:xfrm>
          <a:prstGeom prst="roundRect">
            <a:avLst>
              <a:gd name="adj" fmla="val 360057"/>
            </a:avLst>
          </a:prstGeom>
          <a:solidFill>
            <a:srgbClr val="3D3D42"/>
          </a:solidFill>
          <a:ln w="7620">
            <a:solidFill>
              <a:srgbClr val="56565B"/>
            </a:solidFill>
            <a:prstDash val="solid"/>
          </a:ln>
        </p:spPr>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3515" y="2434352"/>
            <a:ext cx="229553" cy="229552"/>
          </a:xfrm>
          <a:prstGeom prst="rect">
            <a:avLst/>
          </a:prstGeom>
        </p:spPr>
      </p:pic>
      <p:sp>
        <p:nvSpPr>
          <p:cNvPr id="6" name="Text 2"/>
          <p:cNvSpPr/>
          <p:nvPr/>
        </p:nvSpPr>
        <p:spPr>
          <a:xfrm>
            <a:off x="6787515" y="2138839"/>
            <a:ext cx="2326719" cy="239078"/>
          </a:xfrm>
          <a:prstGeom prst="rect">
            <a:avLst/>
          </a:prstGeom>
          <a:noFill/>
          <a:ln/>
        </p:spPr>
        <p:txBody>
          <a:bodyPr wrap="none" lIns="0" tIns="0" rIns="0" bIns="0" rtlCol="0" anchor="t"/>
          <a:lstStyle/>
          <a:p>
            <a:pPr marL="0" indent="0" algn="l">
              <a:lnSpc>
                <a:spcPts val="1850"/>
              </a:lnSpc>
              <a:buNone/>
            </a:pPr>
            <a:r>
              <a:rPr lang="en-US" sz="2000" b="1" dirty="0">
                <a:solidFill>
                  <a:srgbClr val="FF0000"/>
                </a:solidFill>
                <a:latin typeface="Poppins Light" pitchFamily="34" charset="0"/>
                <a:ea typeface="Poppins Light" pitchFamily="34" charset="-122"/>
                <a:cs typeface="Poppins Light" pitchFamily="34" charset="-120"/>
              </a:rPr>
              <a:t>Encapsulation Mismatch</a:t>
            </a:r>
            <a:endParaRPr lang="en-US" sz="2000" b="1" dirty="0">
              <a:solidFill>
                <a:srgbClr val="FF0000"/>
              </a:solidFill>
            </a:endParaRPr>
          </a:p>
        </p:txBody>
      </p:sp>
      <p:sp>
        <p:nvSpPr>
          <p:cNvPr id="7" name="Text 3"/>
          <p:cNvSpPr/>
          <p:nvPr/>
        </p:nvSpPr>
        <p:spPr>
          <a:xfrm>
            <a:off x="6787515" y="2469713"/>
            <a:ext cx="7307104" cy="489823"/>
          </a:xfrm>
          <a:prstGeom prst="rect">
            <a:avLst/>
          </a:prstGeom>
          <a:noFill/>
          <a:ln/>
        </p:spPr>
        <p:txBody>
          <a:bodyPr wrap="square" lIns="0" tIns="0" rIns="0" bIns="0" rtlCol="0" anchor="t"/>
          <a:lstStyle/>
          <a:p>
            <a:pPr marL="0" indent="0" algn="l">
              <a:lnSpc>
                <a:spcPts val="1900"/>
              </a:lnSpc>
              <a:buNone/>
            </a:pPr>
            <a:r>
              <a:rPr lang="en-US" sz="2000" dirty="0">
                <a:solidFill>
                  <a:srgbClr val="E5E0DF"/>
                </a:solidFill>
                <a:latin typeface="Roboto Light" pitchFamily="34" charset="0"/>
                <a:ea typeface="Roboto Light" pitchFamily="34" charset="-122"/>
                <a:cs typeface="Roboto Light" pitchFamily="34" charset="-120"/>
              </a:rPr>
              <a:t>Ensure both ends of the serial link are configured with the same encapsulation type (e.g., both Cisco HDLC or both PPP). A mismatch is a common cause of link failure.</a:t>
            </a:r>
            <a:endParaRPr lang="en-US" sz="2000" dirty="0"/>
          </a:p>
        </p:txBody>
      </p:sp>
      <p:sp>
        <p:nvSpPr>
          <p:cNvPr id="8" name="Shape 4"/>
          <p:cNvSpPr/>
          <p:nvPr/>
        </p:nvSpPr>
        <p:spPr>
          <a:xfrm>
            <a:off x="6022181" y="3516666"/>
            <a:ext cx="612338" cy="1126688"/>
          </a:xfrm>
          <a:prstGeom prst="roundRect">
            <a:avLst>
              <a:gd name="adj" fmla="val 360057"/>
            </a:avLst>
          </a:prstGeom>
          <a:solidFill>
            <a:srgbClr val="3D3D42"/>
          </a:solidFill>
          <a:ln w="7620">
            <a:solidFill>
              <a:srgbClr val="56565B"/>
            </a:solidFill>
            <a:prstDash val="solid"/>
          </a:ln>
        </p:spPr>
        <p:txBody>
          <a:bodyPr/>
          <a:lstStyle/>
          <a:p>
            <a:endParaRPr lang="en-US"/>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3515" y="3855215"/>
            <a:ext cx="229553" cy="229552"/>
          </a:xfrm>
          <a:prstGeom prst="rect">
            <a:avLst/>
          </a:prstGeom>
        </p:spPr>
      </p:pic>
      <p:sp>
        <p:nvSpPr>
          <p:cNvPr id="10" name="Text 5"/>
          <p:cNvSpPr/>
          <p:nvPr/>
        </p:nvSpPr>
        <p:spPr>
          <a:xfrm>
            <a:off x="6787515" y="3559702"/>
            <a:ext cx="2438638" cy="239078"/>
          </a:xfrm>
          <a:prstGeom prst="rect">
            <a:avLst/>
          </a:prstGeom>
          <a:noFill/>
          <a:ln/>
        </p:spPr>
        <p:txBody>
          <a:bodyPr wrap="none" lIns="0" tIns="0" rIns="0" bIns="0" rtlCol="0" anchor="t"/>
          <a:lstStyle/>
          <a:p>
            <a:pPr marL="0" indent="0" algn="l">
              <a:lnSpc>
                <a:spcPts val="1850"/>
              </a:lnSpc>
              <a:buNone/>
            </a:pPr>
            <a:r>
              <a:rPr lang="en-US" sz="2000" b="1" dirty="0">
                <a:solidFill>
                  <a:srgbClr val="FF0000"/>
                </a:solidFill>
                <a:latin typeface="Poppins Light" pitchFamily="34" charset="0"/>
                <a:ea typeface="Poppins Light" pitchFamily="34" charset="-122"/>
                <a:cs typeface="Poppins Light" pitchFamily="34" charset="-120"/>
              </a:rPr>
              <a:t>Physical Layer Verification</a:t>
            </a:r>
            <a:endParaRPr lang="en-US" sz="2000" b="1" dirty="0">
              <a:solidFill>
                <a:srgbClr val="FF0000"/>
              </a:solidFill>
            </a:endParaRPr>
          </a:p>
        </p:txBody>
      </p:sp>
      <p:sp>
        <p:nvSpPr>
          <p:cNvPr id="11" name="Text 6"/>
          <p:cNvSpPr/>
          <p:nvPr/>
        </p:nvSpPr>
        <p:spPr>
          <a:xfrm>
            <a:off x="6787515" y="3890576"/>
            <a:ext cx="7307104" cy="489823"/>
          </a:xfrm>
          <a:prstGeom prst="rect">
            <a:avLst/>
          </a:prstGeom>
          <a:noFill/>
          <a:ln/>
        </p:spPr>
        <p:txBody>
          <a:bodyPr wrap="square" lIns="0" tIns="0" rIns="0" bIns="0" rtlCol="0" anchor="t"/>
          <a:lstStyle/>
          <a:p>
            <a:pPr marL="0" indent="0" algn="l">
              <a:lnSpc>
                <a:spcPts val="1900"/>
              </a:lnSpc>
              <a:buNone/>
            </a:pPr>
            <a:r>
              <a:rPr lang="en-US" sz="2000" dirty="0">
                <a:solidFill>
                  <a:srgbClr val="E5E0DF"/>
                </a:solidFill>
                <a:latin typeface="Roboto Light" pitchFamily="34" charset="0"/>
                <a:ea typeface="Roboto Light" pitchFamily="34" charset="-122"/>
                <a:cs typeface="Roboto Light" pitchFamily="34" charset="-120"/>
              </a:rPr>
              <a:t>Thoroughly inspect physical connections: check cables, CSU/DSU status, and ensure interface lights are green. A physical layer issue will prevent any Layer 2 protocol from functioning.</a:t>
            </a:r>
            <a:endParaRPr lang="en-US" sz="2000" dirty="0"/>
          </a:p>
        </p:txBody>
      </p:sp>
      <p:sp>
        <p:nvSpPr>
          <p:cNvPr id="12" name="Shape 7"/>
          <p:cNvSpPr/>
          <p:nvPr/>
        </p:nvSpPr>
        <p:spPr>
          <a:xfrm>
            <a:off x="6022181" y="4953012"/>
            <a:ext cx="612338" cy="1126688"/>
          </a:xfrm>
          <a:prstGeom prst="roundRect">
            <a:avLst>
              <a:gd name="adj" fmla="val 360057"/>
            </a:avLst>
          </a:prstGeom>
          <a:solidFill>
            <a:srgbClr val="3D3D42"/>
          </a:solidFill>
          <a:ln w="7620">
            <a:solidFill>
              <a:srgbClr val="56565B"/>
            </a:solidFill>
            <a:prstDash val="solid"/>
          </a:ln>
        </p:spPr>
        <p:txBody>
          <a:bodyPr/>
          <a:lstStyle/>
          <a:p>
            <a:endParaRPr lang="en-US"/>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3515" y="5483446"/>
            <a:ext cx="229553" cy="229552"/>
          </a:xfrm>
          <a:prstGeom prst="rect">
            <a:avLst/>
          </a:prstGeom>
        </p:spPr>
      </p:pic>
      <p:sp>
        <p:nvSpPr>
          <p:cNvPr id="14" name="Text 8"/>
          <p:cNvSpPr/>
          <p:nvPr/>
        </p:nvSpPr>
        <p:spPr>
          <a:xfrm>
            <a:off x="6787515" y="5106007"/>
            <a:ext cx="2780705" cy="239078"/>
          </a:xfrm>
          <a:prstGeom prst="rect">
            <a:avLst/>
          </a:prstGeom>
          <a:noFill/>
          <a:ln/>
        </p:spPr>
        <p:txBody>
          <a:bodyPr wrap="none" lIns="0" tIns="0" rIns="0" bIns="0" rtlCol="0" anchor="t"/>
          <a:lstStyle/>
          <a:p>
            <a:pPr marL="0" indent="0" algn="l">
              <a:lnSpc>
                <a:spcPts val="1850"/>
              </a:lnSpc>
              <a:buNone/>
            </a:pPr>
            <a:r>
              <a:rPr lang="en-US" sz="2000" b="1" dirty="0">
                <a:solidFill>
                  <a:srgbClr val="FF0000"/>
                </a:solidFill>
                <a:latin typeface="Poppins Light" pitchFamily="34" charset="0"/>
                <a:ea typeface="Poppins Light" pitchFamily="34" charset="-122"/>
                <a:cs typeface="Poppins Light" pitchFamily="34" charset="-120"/>
              </a:rPr>
              <a:t>Utilize Diagnostic Commands</a:t>
            </a:r>
            <a:endParaRPr lang="en-US" sz="2000" b="1" dirty="0">
              <a:solidFill>
                <a:srgbClr val="FF0000"/>
              </a:solidFill>
            </a:endParaRPr>
          </a:p>
        </p:txBody>
      </p:sp>
      <p:sp>
        <p:nvSpPr>
          <p:cNvPr id="15" name="Text 9"/>
          <p:cNvSpPr/>
          <p:nvPr/>
        </p:nvSpPr>
        <p:spPr>
          <a:xfrm>
            <a:off x="6787515" y="5436882"/>
            <a:ext cx="7307104" cy="489823"/>
          </a:xfrm>
          <a:prstGeom prst="rect">
            <a:avLst/>
          </a:prstGeom>
          <a:noFill/>
          <a:ln/>
        </p:spPr>
        <p:txBody>
          <a:bodyPr wrap="square" lIns="0" tIns="0" rIns="0" bIns="0" rtlCol="0" anchor="t"/>
          <a:lstStyle/>
          <a:p>
            <a:pPr marL="0" indent="0" algn="l">
              <a:lnSpc>
                <a:spcPts val="1900"/>
              </a:lnSpc>
              <a:buNone/>
            </a:pPr>
            <a:r>
              <a:rPr lang="en-US" sz="2000" dirty="0">
                <a:solidFill>
                  <a:srgbClr val="E5E0DF"/>
                </a:solidFill>
                <a:latin typeface="Roboto Light" pitchFamily="34" charset="0"/>
                <a:ea typeface="Roboto Light" pitchFamily="34" charset="-122"/>
                <a:cs typeface="Roboto Light" pitchFamily="34" charset="-120"/>
              </a:rPr>
              <a:t>Leverage </a:t>
            </a:r>
            <a:r>
              <a:rPr lang="en-US" sz="2000" dirty="0">
                <a:solidFill>
                  <a:srgbClr val="E5E0DF"/>
                </a:solidFill>
                <a:highlight>
                  <a:srgbClr val="121212"/>
                </a:highlight>
                <a:latin typeface="Consolas" pitchFamily="34" charset="0"/>
                <a:ea typeface="Consolas" pitchFamily="34" charset="-122"/>
                <a:cs typeface="Consolas" pitchFamily="34" charset="-120"/>
              </a:rPr>
              <a:t>show interfaces</a:t>
            </a:r>
            <a:r>
              <a:rPr lang="en-US" sz="2000" dirty="0">
                <a:solidFill>
                  <a:srgbClr val="E5E0DF"/>
                </a:solidFill>
                <a:latin typeface="Roboto Light" pitchFamily="34" charset="0"/>
                <a:ea typeface="Roboto Light" pitchFamily="34" charset="-122"/>
                <a:cs typeface="Roboto Light" pitchFamily="34" charset="-120"/>
              </a:rPr>
              <a:t> (for status), </a:t>
            </a:r>
            <a:r>
              <a:rPr lang="en-US" sz="2000" dirty="0">
                <a:solidFill>
                  <a:srgbClr val="E5E0DF"/>
                </a:solidFill>
                <a:highlight>
                  <a:srgbClr val="121212"/>
                </a:highlight>
                <a:latin typeface="Consolas" pitchFamily="34" charset="0"/>
                <a:ea typeface="Consolas" pitchFamily="34" charset="-122"/>
                <a:cs typeface="Consolas" pitchFamily="34" charset="-120"/>
              </a:rPr>
              <a:t>show controllers</a:t>
            </a:r>
            <a:r>
              <a:rPr lang="en-US" sz="2000" dirty="0">
                <a:solidFill>
                  <a:srgbClr val="E5E0DF"/>
                </a:solidFill>
                <a:latin typeface="Roboto Light" pitchFamily="34" charset="0"/>
                <a:ea typeface="Roboto Light" pitchFamily="34" charset="-122"/>
                <a:cs typeface="Roboto Light" pitchFamily="34" charset="-120"/>
              </a:rPr>
              <a:t> (for hardware details), and </a:t>
            </a:r>
            <a:r>
              <a:rPr lang="en-US" sz="2000" dirty="0">
                <a:solidFill>
                  <a:srgbClr val="E5E0DF"/>
                </a:solidFill>
                <a:highlight>
                  <a:srgbClr val="121212"/>
                </a:highlight>
                <a:latin typeface="Consolas" pitchFamily="34" charset="0"/>
                <a:ea typeface="Consolas" pitchFamily="34" charset="-122"/>
                <a:cs typeface="Consolas" pitchFamily="34" charset="-120"/>
              </a:rPr>
              <a:t>debug</a:t>
            </a:r>
            <a:r>
              <a:rPr lang="en-US" sz="2000" dirty="0">
                <a:solidFill>
                  <a:srgbClr val="E5E0DF"/>
                </a:solidFill>
                <a:latin typeface="Roboto Light" pitchFamily="34" charset="0"/>
                <a:ea typeface="Roboto Light" pitchFamily="34" charset="-122"/>
                <a:cs typeface="Roboto Light" pitchFamily="34" charset="-120"/>
              </a:rPr>
              <a:t> commands (for real-time events) to pinpoint issues.</a:t>
            </a:r>
            <a:endParaRPr lang="en-US" sz="2000" dirty="0"/>
          </a:p>
        </p:txBody>
      </p:sp>
      <p:sp>
        <p:nvSpPr>
          <p:cNvPr id="16" name="Shape 10"/>
          <p:cNvSpPr/>
          <p:nvPr/>
        </p:nvSpPr>
        <p:spPr>
          <a:xfrm>
            <a:off x="6022181" y="6355329"/>
            <a:ext cx="612338" cy="1126688"/>
          </a:xfrm>
          <a:prstGeom prst="roundRect">
            <a:avLst>
              <a:gd name="adj" fmla="val 360057"/>
            </a:avLst>
          </a:prstGeom>
          <a:solidFill>
            <a:srgbClr val="3D3D42"/>
          </a:solidFill>
          <a:ln w="7620">
            <a:solidFill>
              <a:srgbClr val="56565B"/>
            </a:solidFill>
            <a:prstDash val="solid"/>
          </a:ln>
        </p:spPr>
      </p:sp>
      <p:pic>
        <p:nvPicPr>
          <p:cNvPr id="17"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3515" y="6803837"/>
            <a:ext cx="229553" cy="229552"/>
          </a:xfrm>
          <a:prstGeom prst="rect">
            <a:avLst/>
          </a:prstGeom>
        </p:spPr>
      </p:pic>
      <p:sp>
        <p:nvSpPr>
          <p:cNvPr id="18" name="Text 11"/>
          <p:cNvSpPr/>
          <p:nvPr/>
        </p:nvSpPr>
        <p:spPr>
          <a:xfrm>
            <a:off x="6787515" y="6508324"/>
            <a:ext cx="1966555" cy="239078"/>
          </a:xfrm>
          <a:prstGeom prst="rect">
            <a:avLst/>
          </a:prstGeom>
          <a:noFill/>
          <a:ln/>
        </p:spPr>
        <p:txBody>
          <a:bodyPr wrap="none" lIns="0" tIns="0" rIns="0" bIns="0" rtlCol="0" anchor="t"/>
          <a:lstStyle/>
          <a:p>
            <a:pPr marL="0" indent="0" algn="l">
              <a:lnSpc>
                <a:spcPts val="1850"/>
              </a:lnSpc>
              <a:buNone/>
            </a:pPr>
            <a:r>
              <a:rPr lang="en-US" sz="2000" b="1" dirty="0">
                <a:solidFill>
                  <a:srgbClr val="FF0000"/>
                </a:solidFill>
                <a:latin typeface="Poppins Light" pitchFamily="34" charset="0"/>
                <a:ea typeface="Poppins Light" pitchFamily="34" charset="-122"/>
                <a:cs typeface="Poppins Light" pitchFamily="34" charset="-120"/>
              </a:rPr>
              <a:t>Cisco HDLC Specifics</a:t>
            </a:r>
            <a:endParaRPr lang="en-US" sz="2000" b="1" dirty="0">
              <a:solidFill>
                <a:srgbClr val="FF0000"/>
              </a:solidFill>
            </a:endParaRPr>
          </a:p>
        </p:txBody>
      </p:sp>
      <p:sp>
        <p:nvSpPr>
          <p:cNvPr id="19" name="Text 12"/>
          <p:cNvSpPr/>
          <p:nvPr/>
        </p:nvSpPr>
        <p:spPr>
          <a:xfrm>
            <a:off x="6787515" y="6839199"/>
            <a:ext cx="7307104" cy="489823"/>
          </a:xfrm>
          <a:prstGeom prst="rect">
            <a:avLst/>
          </a:prstGeom>
          <a:noFill/>
          <a:ln/>
        </p:spPr>
        <p:txBody>
          <a:bodyPr wrap="square" lIns="0" tIns="0" rIns="0" bIns="0" rtlCol="0" anchor="t"/>
          <a:lstStyle/>
          <a:p>
            <a:pPr marL="0" indent="0" algn="l">
              <a:lnSpc>
                <a:spcPts val="1900"/>
              </a:lnSpc>
              <a:buNone/>
            </a:pPr>
            <a:r>
              <a:rPr lang="en-US" sz="2000" dirty="0">
                <a:solidFill>
                  <a:srgbClr val="E5E0DF"/>
                </a:solidFill>
                <a:latin typeface="Roboto Light" pitchFamily="34" charset="0"/>
                <a:ea typeface="Roboto Light" pitchFamily="34" charset="-122"/>
                <a:cs typeface="Roboto Light" pitchFamily="34" charset="-120"/>
              </a:rPr>
              <a:t>Always remember that Cisco HDLC is proprietary and will only establish a functional link when connecting two Cisco devices. For non-Cisco connections, PPP is required.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793790" y="835462"/>
            <a:ext cx="8091368"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Summary: Why HDLC Matters</a:t>
            </a:r>
            <a:endParaRPr lang="en-US" sz="4450" dirty="0"/>
          </a:p>
        </p:txBody>
      </p:sp>
      <p:sp>
        <p:nvSpPr>
          <p:cNvPr id="3" name="Text 1"/>
          <p:cNvSpPr/>
          <p:nvPr/>
        </p:nvSpPr>
        <p:spPr>
          <a:xfrm>
            <a:off x="793790" y="1884402"/>
            <a:ext cx="226814" cy="283488"/>
          </a:xfrm>
          <a:prstGeom prst="rect">
            <a:avLst/>
          </a:prstGeom>
          <a:noFill/>
          <a:ln/>
        </p:spPr>
        <p:txBody>
          <a:bodyPr wrap="none" lIns="0" tIns="0" rIns="0" bIns="0" rtlCol="0" anchor="t"/>
          <a:lstStyle/>
          <a:p>
            <a:pPr marL="0" indent="0" algn="l">
              <a:lnSpc>
                <a:spcPts val="2850"/>
              </a:lnSpc>
              <a:buNone/>
            </a:pPr>
            <a:r>
              <a:rPr lang="en-US" sz="2800" b="1" dirty="0">
                <a:solidFill>
                  <a:srgbClr val="E5E0DF"/>
                </a:solidFill>
                <a:latin typeface="Poppins Light" pitchFamily="34" charset="0"/>
                <a:ea typeface="Poppins Light" pitchFamily="34" charset="-122"/>
                <a:cs typeface="Poppins Light" pitchFamily="34" charset="-120"/>
              </a:rPr>
              <a:t>01</a:t>
            </a:r>
            <a:endParaRPr lang="en-US" sz="2800" b="1" dirty="0"/>
          </a:p>
        </p:txBody>
      </p:sp>
      <p:sp>
        <p:nvSpPr>
          <p:cNvPr id="4" name="Shape 2"/>
          <p:cNvSpPr/>
          <p:nvPr/>
        </p:nvSpPr>
        <p:spPr>
          <a:xfrm>
            <a:off x="793790" y="2239447"/>
            <a:ext cx="6407944" cy="30480"/>
          </a:xfrm>
          <a:prstGeom prst="rect">
            <a:avLst/>
          </a:prstGeom>
          <a:solidFill>
            <a:srgbClr val="F2F2F3"/>
          </a:solidFill>
          <a:ln/>
        </p:spPr>
      </p:sp>
      <p:sp>
        <p:nvSpPr>
          <p:cNvPr id="5" name="Text 3"/>
          <p:cNvSpPr/>
          <p:nvPr/>
        </p:nvSpPr>
        <p:spPr>
          <a:xfrm>
            <a:off x="793790" y="2413754"/>
            <a:ext cx="4132659" cy="354330"/>
          </a:xfrm>
          <a:prstGeom prst="rect">
            <a:avLst/>
          </a:prstGeom>
          <a:noFill/>
          <a:ln/>
        </p:spPr>
        <p:txBody>
          <a:bodyPr wrap="non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Foundational Layer 2 Protocol</a:t>
            </a:r>
            <a:endParaRPr lang="en-US" sz="2400" b="1" dirty="0">
              <a:solidFill>
                <a:srgbClr val="FF0000"/>
              </a:solidFill>
            </a:endParaRPr>
          </a:p>
        </p:txBody>
      </p:sp>
      <p:sp>
        <p:nvSpPr>
          <p:cNvPr id="6" name="Text 4"/>
          <p:cNvSpPr/>
          <p:nvPr/>
        </p:nvSpPr>
        <p:spPr>
          <a:xfrm>
            <a:off x="793790" y="2904173"/>
            <a:ext cx="6407944" cy="1451610"/>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HDLC serves as a cornerstone Layer 2 protocol, vital for establishing and managing Wide Area Network (WAN) links within TCP/IP networks, particularly in traditional serial connections.</a:t>
            </a:r>
            <a:endParaRPr lang="en-US" sz="2400" dirty="0"/>
          </a:p>
        </p:txBody>
      </p:sp>
      <p:sp>
        <p:nvSpPr>
          <p:cNvPr id="7" name="Text 5"/>
          <p:cNvSpPr/>
          <p:nvPr/>
        </p:nvSpPr>
        <p:spPr>
          <a:xfrm>
            <a:off x="7428548" y="1884402"/>
            <a:ext cx="226814" cy="283488"/>
          </a:xfrm>
          <a:prstGeom prst="rect">
            <a:avLst/>
          </a:prstGeom>
          <a:noFill/>
          <a:ln/>
        </p:spPr>
        <p:txBody>
          <a:bodyPr wrap="none" lIns="0" tIns="0" rIns="0" bIns="0" rtlCol="0" anchor="t"/>
          <a:lstStyle/>
          <a:p>
            <a:pPr marL="0" indent="0" algn="l">
              <a:lnSpc>
                <a:spcPts val="2850"/>
              </a:lnSpc>
              <a:buNone/>
            </a:pPr>
            <a:r>
              <a:rPr lang="en-US" sz="2800" b="1" dirty="0">
                <a:solidFill>
                  <a:srgbClr val="E5E0DF"/>
                </a:solidFill>
                <a:latin typeface="Poppins Light" pitchFamily="34" charset="0"/>
                <a:ea typeface="Poppins Light" pitchFamily="34" charset="-122"/>
                <a:cs typeface="Poppins Light" pitchFamily="34" charset="-120"/>
              </a:rPr>
              <a:t>02</a:t>
            </a:r>
            <a:endParaRPr lang="en-US" sz="2800" b="1" dirty="0"/>
          </a:p>
        </p:txBody>
      </p:sp>
      <p:sp>
        <p:nvSpPr>
          <p:cNvPr id="8" name="Shape 6"/>
          <p:cNvSpPr/>
          <p:nvPr/>
        </p:nvSpPr>
        <p:spPr>
          <a:xfrm>
            <a:off x="7428548" y="2239447"/>
            <a:ext cx="6408063" cy="30480"/>
          </a:xfrm>
          <a:prstGeom prst="rect">
            <a:avLst/>
          </a:prstGeom>
          <a:solidFill>
            <a:srgbClr val="F2F2F3"/>
          </a:solidFill>
          <a:ln/>
        </p:spPr>
      </p:sp>
      <p:sp>
        <p:nvSpPr>
          <p:cNvPr id="9" name="Text 7"/>
          <p:cNvSpPr/>
          <p:nvPr/>
        </p:nvSpPr>
        <p:spPr>
          <a:xfrm>
            <a:off x="7428548" y="2413754"/>
            <a:ext cx="3158252" cy="354330"/>
          </a:xfrm>
          <a:prstGeom prst="rect">
            <a:avLst/>
          </a:prstGeom>
          <a:noFill/>
          <a:ln/>
        </p:spPr>
        <p:txBody>
          <a:bodyPr wrap="non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Ensuring Data Integrity</a:t>
            </a:r>
            <a:endParaRPr lang="en-US" sz="2400" b="1" dirty="0">
              <a:solidFill>
                <a:srgbClr val="FF0000"/>
              </a:solidFill>
            </a:endParaRPr>
          </a:p>
        </p:txBody>
      </p:sp>
      <p:sp>
        <p:nvSpPr>
          <p:cNvPr id="10" name="Text 8"/>
          <p:cNvSpPr/>
          <p:nvPr/>
        </p:nvSpPr>
        <p:spPr>
          <a:xfrm>
            <a:off x="7428548" y="2904173"/>
            <a:ext cx="6408063" cy="1088708"/>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It provides fundamental services like robust data framing, efficient error detection through FCS, and crucial flow control mechanisms, all essential for reliable communication.</a:t>
            </a:r>
            <a:endParaRPr lang="en-US" sz="2400" dirty="0"/>
          </a:p>
        </p:txBody>
      </p:sp>
      <p:sp>
        <p:nvSpPr>
          <p:cNvPr id="11" name="Text 9"/>
          <p:cNvSpPr/>
          <p:nvPr/>
        </p:nvSpPr>
        <p:spPr>
          <a:xfrm>
            <a:off x="793790" y="4752618"/>
            <a:ext cx="226814" cy="283488"/>
          </a:xfrm>
          <a:prstGeom prst="rect">
            <a:avLst/>
          </a:prstGeom>
          <a:noFill/>
          <a:ln/>
        </p:spPr>
        <p:txBody>
          <a:bodyPr wrap="none" lIns="0" tIns="0" rIns="0" bIns="0" rtlCol="0" anchor="t"/>
          <a:lstStyle/>
          <a:p>
            <a:pPr marL="0" indent="0" algn="l">
              <a:lnSpc>
                <a:spcPts val="2850"/>
              </a:lnSpc>
              <a:buNone/>
            </a:pPr>
            <a:r>
              <a:rPr lang="en-US" sz="2800" b="1" dirty="0">
                <a:solidFill>
                  <a:srgbClr val="E5E0DF"/>
                </a:solidFill>
                <a:latin typeface="Poppins Light" pitchFamily="34" charset="0"/>
                <a:ea typeface="Poppins Light" pitchFamily="34" charset="-122"/>
                <a:cs typeface="Poppins Light" pitchFamily="34" charset="-120"/>
              </a:rPr>
              <a:t>03</a:t>
            </a:r>
            <a:endParaRPr lang="en-US" sz="2800" b="1" dirty="0"/>
          </a:p>
        </p:txBody>
      </p:sp>
      <p:sp>
        <p:nvSpPr>
          <p:cNvPr id="12" name="Shape 10"/>
          <p:cNvSpPr/>
          <p:nvPr/>
        </p:nvSpPr>
        <p:spPr>
          <a:xfrm>
            <a:off x="793790" y="5107662"/>
            <a:ext cx="6407944" cy="30480"/>
          </a:xfrm>
          <a:prstGeom prst="rect">
            <a:avLst/>
          </a:prstGeom>
          <a:solidFill>
            <a:srgbClr val="F2F2F3"/>
          </a:solidFill>
          <a:ln/>
        </p:spPr>
      </p:sp>
      <p:sp>
        <p:nvSpPr>
          <p:cNvPr id="13" name="Text 11"/>
          <p:cNvSpPr/>
          <p:nvPr/>
        </p:nvSpPr>
        <p:spPr>
          <a:xfrm>
            <a:off x="793790" y="5281970"/>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Cisco HDLC's Role</a:t>
            </a:r>
            <a:endParaRPr lang="en-US" sz="2400" b="1" dirty="0">
              <a:solidFill>
                <a:srgbClr val="FF0000"/>
              </a:solidFill>
            </a:endParaRPr>
          </a:p>
        </p:txBody>
      </p:sp>
      <p:sp>
        <p:nvSpPr>
          <p:cNvPr id="14" name="Text 12"/>
          <p:cNvSpPr/>
          <p:nvPr/>
        </p:nvSpPr>
        <p:spPr>
          <a:xfrm>
            <a:off x="793790" y="5772388"/>
            <a:ext cx="6407944" cy="1088708"/>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While Standard HDLC is basic, Cisco HDLC introduces multi-protocol support but highlights the importance of understanding proprietary extensions and their interoperability implications.</a:t>
            </a:r>
            <a:endParaRPr lang="en-US" sz="2400" dirty="0"/>
          </a:p>
        </p:txBody>
      </p:sp>
      <p:sp>
        <p:nvSpPr>
          <p:cNvPr id="15" name="Text 13"/>
          <p:cNvSpPr/>
          <p:nvPr/>
        </p:nvSpPr>
        <p:spPr>
          <a:xfrm>
            <a:off x="7428548" y="4752618"/>
            <a:ext cx="226814" cy="283488"/>
          </a:xfrm>
          <a:prstGeom prst="rect">
            <a:avLst/>
          </a:prstGeom>
          <a:noFill/>
          <a:ln/>
        </p:spPr>
        <p:txBody>
          <a:bodyPr wrap="none" lIns="0" tIns="0" rIns="0" bIns="0" rtlCol="0" anchor="t"/>
          <a:lstStyle/>
          <a:p>
            <a:pPr marL="0" indent="0" algn="l">
              <a:lnSpc>
                <a:spcPts val="2850"/>
              </a:lnSpc>
              <a:buNone/>
            </a:pPr>
            <a:r>
              <a:rPr lang="en-US" sz="2800" b="1" dirty="0">
                <a:solidFill>
                  <a:srgbClr val="E5E0DF"/>
                </a:solidFill>
                <a:latin typeface="Poppins Light" pitchFamily="34" charset="0"/>
                <a:ea typeface="Poppins Light" pitchFamily="34" charset="-122"/>
                <a:cs typeface="Poppins Light" pitchFamily="34" charset="-120"/>
              </a:rPr>
              <a:t>04</a:t>
            </a:r>
            <a:endParaRPr lang="en-US" sz="2800" b="1" dirty="0"/>
          </a:p>
        </p:txBody>
      </p:sp>
      <p:sp>
        <p:nvSpPr>
          <p:cNvPr id="16" name="Shape 14"/>
          <p:cNvSpPr/>
          <p:nvPr/>
        </p:nvSpPr>
        <p:spPr>
          <a:xfrm>
            <a:off x="7428548" y="5107662"/>
            <a:ext cx="6408063" cy="30480"/>
          </a:xfrm>
          <a:prstGeom prst="rect">
            <a:avLst/>
          </a:prstGeom>
          <a:solidFill>
            <a:srgbClr val="F2F2F3"/>
          </a:solidFill>
          <a:ln/>
        </p:spPr>
      </p:sp>
      <p:sp>
        <p:nvSpPr>
          <p:cNvPr id="17" name="Text 15"/>
          <p:cNvSpPr/>
          <p:nvPr/>
        </p:nvSpPr>
        <p:spPr>
          <a:xfrm>
            <a:off x="7428548" y="5281970"/>
            <a:ext cx="4770358" cy="354330"/>
          </a:xfrm>
          <a:prstGeom prst="rect">
            <a:avLst/>
          </a:prstGeom>
          <a:noFill/>
          <a:ln/>
        </p:spPr>
        <p:txBody>
          <a:bodyPr wrap="none" lIns="0" tIns="0" rIns="0" bIns="0" rtlCol="0" anchor="t"/>
          <a:lstStyle/>
          <a:p>
            <a:pPr marL="0" indent="0" algn="l">
              <a:lnSpc>
                <a:spcPts val="2750"/>
              </a:lnSpc>
              <a:buNone/>
            </a:pPr>
            <a:r>
              <a:rPr lang="en-US" sz="2400" b="1" dirty="0">
                <a:solidFill>
                  <a:srgbClr val="FF0000"/>
                </a:solidFill>
                <a:latin typeface="Poppins Light" pitchFamily="34" charset="0"/>
                <a:ea typeface="Poppins Light" pitchFamily="34" charset="-122"/>
                <a:cs typeface="Poppins Light" pitchFamily="34" charset="-120"/>
              </a:rPr>
              <a:t>Essential for Network Professionals</a:t>
            </a:r>
            <a:endParaRPr lang="en-US" sz="2400" b="1" dirty="0">
              <a:solidFill>
                <a:srgbClr val="FF0000"/>
              </a:solidFill>
            </a:endParaRPr>
          </a:p>
        </p:txBody>
      </p:sp>
      <p:sp>
        <p:nvSpPr>
          <p:cNvPr id="18" name="Text 16"/>
          <p:cNvSpPr/>
          <p:nvPr/>
        </p:nvSpPr>
        <p:spPr>
          <a:xfrm>
            <a:off x="7428548" y="5772388"/>
            <a:ext cx="6408063" cy="1451610"/>
          </a:xfrm>
          <a:prstGeom prst="rect">
            <a:avLst/>
          </a:prstGeom>
          <a:noFill/>
          <a:ln/>
        </p:spPr>
        <p:txBody>
          <a:bodyPr wrap="square" lIns="0" tIns="0" rIns="0" bIns="0" rtlCol="0" anchor="t"/>
          <a:lstStyle/>
          <a:p>
            <a:pPr marL="0" indent="0" algn="l">
              <a:lnSpc>
                <a:spcPts val="2850"/>
              </a:lnSpc>
              <a:buNone/>
            </a:pPr>
            <a:r>
              <a:rPr lang="en-US" sz="2400" dirty="0">
                <a:solidFill>
                  <a:srgbClr val="E5E0DF"/>
                </a:solidFill>
                <a:latin typeface="Roboto Light" pitchFamily="34" charset="0"/>
                <a:ea typeface="Roboto Light" pitchFamily="34" charset="-122"/>
                <a:cs typeface="Roboto Light" pitchFamily="34" charset="-120"/>
              </a:rPr>
              <a:t>A solid grasp of HDLC's principles, frame structure, and operational nuances is indispensable for network engineers involved in configuring, managing, and troubleshooting serial WAN connections.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1138</Words>
  <Application>Microsoft Office PowerPoint</Application>
  <PresentationFormat>Custom</PresentationFormat>
  <Paragraphs>101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Poppins Light</vt:lpstr>
      <vt:lpstr>Consolas</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nirajadhikari987@gmail.com</cp:lastModifiedBy>
  <cp:revision>7</cp:revision>
  <dcterms:created xsi:type="dcterms:W3CDTF">2026-01-10T19:33:57Z</dcterms:created>
  <dcterms:modified xsi:type="dcterms:W3CDTF">2026-01-10T20:14:35Z</dcterms:modified>
</cp:coreProperties>
</file>