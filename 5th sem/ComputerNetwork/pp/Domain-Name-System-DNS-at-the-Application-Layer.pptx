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4050" r:id="rId1"/>
  </p:sldMasterIdLst>
  <p:notesMasterIdLst>
    <p:notesMasterId r:id="rId13"/>
  </p:notesMasterIdLst>
  <p:sldIdLst>
    <p:sldId id="256" r:id="rId2"/>
    <p:sldId id="279" r:id="rId3"/>
    <p:sldId id="269" r:id="rId4"/>
    <p:sldId id="259" r:id="rId5"/>
    <p:sldId id="267" r:id="rId6"/>
    <p:sldId id="270" r:id="rId7"/>
    <p:sldId id="271" r:id="rId8"/>
    <p:sldId id="275" r:id="rId9"/>
    <p:sldId id="273" r:id="rId10"/>
    <p:sldId id="276" r:id="rId11"/>
    <p:sldId id="281" r:id="rId12"/>
  </p:sldIdLst>
  <p:sldSz cx="14630400" cy="8229600"/>
  <p:notesSz cx="8229600" cy="14630400"/>
  <p:embeddedFontLst>
    <p:embeddedFont>
      <p:font typeface="Calisto MT" panose="02040603050505030304" pitchFamily="18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rata" panose="020B0604020202020204" charset="0"/>
      <p:regular r:id="rId22"/>
    </p:embeddedFont>
    <p:embeddedFont>
      <p:font typeface="Raleway" pitchFamily="2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  <p:embeddedFont>
      <p:font typeface="Wingdings 2" panose="05020102010507070707" pitchFamily="18" charset="2"/>
      <p:regular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38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2F1D9C-8827-40A4-A2E4-6FFFCC8EDBE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E19204-5F31-446D-A09E-D15CD8A3A9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A Record (IPv4) : </a:t>
          </a:r>
          <a:r>
            <a:rPr lang="en-US" dirty="0"/>
            <a:t>Maps a domain name to its corresponding IPv4 address for routing</a:t>
          </a:r>
        </a:p>
      </dgm:t>
    </dgm:pt>
    <dgm:pt modelId="{52B5BCD4-97DD-41E6-ABA6-154D6401060D}" type="parTrans" cxnId="{14ED09F7-5266-4E81-AAAA-47AF8C3C3B49}">
      <dgm:prSet/>
      <dgm:spPr/>
      <dgm:t>
        <a:bodyPr/>
        <a:lstStyle/>
        <a:p>
          <a:endParaRPr lang="en-US"/>
        </a:p>
      </dgm:t>
    </dgm:pt>
    <dgm:pt modelId="{C447BB13-C412-4887-B3EC-8C6C84A39CE0}" type="sibTrans" cxnId="{14ED09F7-5266-4E81-AAAA-47AF8C3C3B4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E5E2287-A35A-4678-94DE-D3CF188AE0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CNAME Record (Aliases):</a:t>
          </a:r>
          <a:r>
            <a:rPr lang="en-US" dirty="0"/>
            <a:t>Creates an alias pointing one domain name to another domain.</a:t>
          </a:r>
        </a:p>
        <a:p>
          <a:pPr>
            <a:lnSpc>
              <a:spcPct val="100000"/>
            </a:lnSpc>
          </a:pPr>
          <a:r>
            <a:rPr lang="en-US" dirty="0"/>
            <a:t>www.example.com → example.com</a:t>
          </a:r>
        </a:p>
      </dgm:t>
    </dgm:pt>
    <dgm:pt modelId="{94ABB87D-6D92-4981-B80C-90EC8DC8659F}" type="parTrans" cxnId="{32F97926-FBFE-49CD-A08F-9EBE3320A283}">
      <dgm:prSet/>
      <dgm:spPr/>
      <dgm:t>
        <a:bodyPr/>
        <a:lstStyle/>
        <a:p>
          <a:endParaRPr lang="en-US"/>
        </a:p>
      </dgm:t>
    </dgm:pt>
    <dgm:pt modelId="{8D3096A1-FDB7-413D-8E30-6F5669EF3862}" type="sibTrans" cxnId="{32F97926-FBFE-49CD-A08F-9EBE3320A28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F717E6C-9C50-45C4-B9DF-56B90E74B0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NS Record (Name Servers): </a:t>
          </a:r>
          <a:r>
            <a:rPr lang="en-US" dirty="0"/>
            <a:t>Indicates the authoritative name servers for a domain. </a:t>
          </a:r>
        </a:p>
        <a:p>
          <a:pPr>
            <a:lnSpc>
              <a:spcPct val="100000"/>
            </a:lnSpc>
          </a:pPr>
          <a:r>
            <a:rPr lang="en-US" dirty="0"/>
            <a:t>(np domain provider </a:t>
          </a:r>
          <a:r>
            <a:rPr lang="en-US" dirty="0">
              <a:sym typeface="Wingdings" panose="05000000000000000000" pitchFamily="2" charset="2"/>
            </a:rPr>
            <a:t></a:t>
          </a:r>
          <a:r>
            <a:rPr lang="en-US" dirty="0" err="1">
              <a:sym typeface="Wingdings" panose="05000000000000000000" pitchFamily="2" charset="2"/>
            </a:rPr>
            <a:t>cloudfair</a:t>
          </a:r>
          <a:r>
            <a:rPr lang="en-US" dirty="0"/>
            <a:t>  )</a:t>
          </a:r>
        </a:p>
      </dgm:t>
    </dgm:pt>
    <dgm:pt modelId="{AAB503B3-25D7-4C38-9BC3-ABCD5CDDBEAB}" type="parTrans" cxnId="{7E47FEB4-6231-43EA-9B11-EA1F408AD0DE}">
      <dgm:prSet/>
      <dgm:spPr/>
      <dgm:t>
        <a:bodyPr/>
        <a:lstStyle/>
        <a:p>
          <a:endParaRPr lang="en-US"/>
        </a:p>
      </dgm:t>
    </dgm:pt>
    <dgm:pt modelId="{458BB0C4-94AA-4532-844B-94ECAF503722}" type="sibTrans" cxnId="{7E47FEB4-6231-43EA-9B11-EA1F408AD0D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CA89C3D-8AE9-4293-9567-CD5BEFCD26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AAAA Record (IPv6):</a:t>
          </a:r>
        </a:p>
        <a:p>
          <a:pPr>
            <a:lnSpc>
              <a:spcPct val="100000"/>
            </a:lnSpc>
          </a:pPr>
          <a:r>
            <a:rPr lang="en-US" b="1" dirty="0"/>
            <a:t> </a:t>
          </a:r>
          <a:r>
            <a:rPr lang="en-US" dirty="0"/>
            <a:t>Maps a domain name to its IPv6 address for next-gen internet.</a:t>
          </a:r>
        </a:p>
      </dgm:t>
    </dgm:pt>
    <dgm:pt modelId="{712E23A3-D435-4DBC-B8A0-BFEDA0678D89}" type="parTrans" cxnId="{8465A2DE-4A91-4382-BFDE-EB8552227B01}">
      <dgm:prSet/>
      <dgm:spPr/>
      <dgm:t>
        <a:bodyPr/>
        <a:lstStyle/>
        <a:p>
          <a:endParaRPr lang="en-US"/>
        </a:p>
      </dgm:t>
    </dgm:pt>
    <dgm:pt modelId="{956E0E7B-696A-4827-B673-568EACA4EE0F}" type="sibTrans" cxnId="{8465A2DE-4A91-4382-BFDE-EB8552227B0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9157DBB-F983-4800-A11B-4A634D6E43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MX Record (Mail Servers): </a:t>
          </a:r>
          <a:r>
            <a:rPr lang="en-US" dirty="0"/>
            <a:t>Specifies the mail servers responsible for handling emails.</a:t>
          </a:r>
        </a:p>
        <a:p>
          <a:pPr>
            <a:lnSpc>
              <a:spcPct val="100000"/>
            </a:lnSpc>
          </a:pPr>
          <a:r>
            <a:rPr lang="en-US" dirty="0"/>
            <a:t>example.com → mail.example.com</a:t>
          </a:r>
        </a:p>
      </dgm:t>
    </dgm:pt>
    <dgm:pt modelId="{BD8270A8-7312-4074-9A55-DB414CF24AA6}" type="parTrans" cxnId="{0B1DB3E4-950F-4ABF-BAF2-29FB19D94E59}">
      <dgm:prSet/>
      <dgm:spPr/>
      <dgm:t>
        <a:bodyPr/>
        <a:lstStyle/>
        <a:p>
          <a:endParaRPr lang="en-US"/>
        </a:p>
      </dgm:t>
    </dgm:pt>
    <dgm:pt modelId="{3F7178A4-1F1A-4145-8B28-C4D470F2FDE0}" type="sibTrans" cxnId="{0B1DB3E4-950F-4ABF-BAF2-29FB19D94E59}">
      <dgm:prSet/>
      <dgm:spPr/>
      <dgm:t>
        <a:bodyPr/>
        <a:lstStyle/>
        <a:p>
          <a:endParaRPr lang="en-US"/>
        </a:p>
      </dgm:t>
    </dgm:pt>
    <dgm:pt modelId="{DE0F3F64-7BDE-4D90-AB90-CEEC47D8629C}" type="pres">
      <dgm:prSet presAssocID="{AE2F1D9C-8827-40A4-A2E4-6FFFCC8EDBE4}" presName="root" presStyleCnt="0">
        <dgm:presLayoutVars>
          <dgm:dir/>
          <dgm:resizeHandles val="exact"/>
        </dgm:presLayoutVars>
      </dgm:prSet>
      <dgm:spPr/>
    </dgm:pt>
    <dgm:pt modelId="{4C838E20-A27B-49AC-B843-719CEB48FE8C}" type="pres">
      <dgm:prSet presAssocID="{AE2F1D9C-8827-40A4-A2E4-6FFFCC8EDBE4}" presName="container" presStyleCnt="0">
        <dgm:presLayoutVars>
          <dgm:dir/>
          <dgm:resizeHandles val="exact"/>
        </dgm:presLayoutVars>
      </dgm:prSet>
      <dgm:spPr/>
    </dgm:pt>
    <dgm:pt modelId="{FD8DA7A1-3F09-4548-9406-2AA3AAB1F7AB}" type="pres">
      <dgm:prSet presAssocID="{16E19204-5F31-446D-A09E-D15CD8A3A96B}" presName="compNode" presStyleCnt="0"/>
      <dgm:spPr/>
    </dgm:pt>
    <dgm:pt modelId="{D1E313A0-E48A-418E-A23A-E3F9CB99B268}" type="pres">
      <dgm:prSet presAssocID="{16E19204-5F31-446D-A09E-D15CD8A3A96B}" presName="iconBgRect" presStyleLbl="bgShp" presStyleIdx="0" presStyleCnt="5"/>
      <dgm:spPr/>
    </dgm:pt>
    <dgm:pt modelId="{7F31D956-F566-43C4-8B4B-BFB213DC4C32}" type="pres">
      <dgm:prSet presAssocID="{16E19204-5F31-446D-A09E-D15CD8A3A96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5FA1713-705E-4410-AEBD-7234BFB7D989}" type="pres">
      <dgm:prSet presAssocID="{16E19204-5F31-446D-A09E-D15CD8A3A96B}" presName="spaceRect" presStyleCnt="0"/>
      <dgm:spPr/>
    </dgm:pt>
    <dgm:pt modelId="{BD982943-3B74-434F-969F-3D859F03D822}" type="pres">
      <dgm:prSet presAssocID="{16E19204-5F31-446D-A09E-D15CD8A3A96B}" presName="textRect" presStyleLbl="revTx" presStyleIdx="0" presStyleCnt="5">
        <dgm:presLayoutVars>
          <dgm:chMax val="1"/>
          <dgm:chPref val="1"/>
        </dgm:presLayoutVars>
      </dgm:prSet>
      <dgm:spPr/>
    </dgm:pt>
    <dgm:pt modelId="{300E37CC-86A8-4F68-95E6-3E00E4293505}" type="pres">
      <dgm:prSet presAssocID="{C447BB13-C412-4887-B3EC-8C6C84A39CE0}" presName="sibTrans" presStyleLbl="sibTrans2D1" presStyleIdx="0" presStyleCnt="0"/>
      <dgm:spPr/>
    </dgm:pt>
    <dgm:pt modelId="{B634CF7D-B582-424B-8524-2429EA94534C}" type="pres">
      <dgm:prSet presAssocID="{2E5E2287-A35A-4678-94DE-D3CF188AE0FE}" presName="compNode" presStyleCnt="0"/>
      <dgm:spPr/>
    </dgm:pt>
    <dgm:pt modelId="{92AC99A0-23F4-4C23-82DF-C00FAFDA66DD}" type="pres">
      <dgm:prSet presAssocID="{2E5E2287-A35A-4678-94DE-D3CF188AE0FE}" presName="iconBgRect" presStyleLbl="bgShp" presStyleIdx="1" presStyleCnt="5"/>
      <dgm:spPr/>
    </dgm:pt>
    <dgm:pt modelId="{0BC995BD-419B-4A6F-A3E9-90C1E815AECD}" type="pres">
      <dgm:prSet presAssocID="{2E5E2287-A35A-4678-94DE-D3CF188AE0F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3629344-670F-4E54-993D-BC8B066438EB}" type="pres">
      <dgm:prSet presAssocID="{2E5E2287-A35A-4678-94DE-D3CF188AE0FE}" presName="spaceRect" presStyleCnt="0"/>
      <dgm:spPr/>
    </dgm:pt>
    <dgm:pt modelId="{F99B6B5E-F65B-46B5-B534-B64CD676261E}" type="pres">
      <dgm:prSet presAssocID="{2E5E2287-A35A-4678-94DE-D3CF188AE0FE}" presName="textRect" presStyleLbl="revTx" presStyleIdx="1" presStyleCnt="5">
        <dgm:presLayoutVars>
          <dgm:chMax val="1"/>
          <dgm:chPref val="1"/>
        </dgm:presLayoutVars>
      </dgm:prSet>
      <dgm:spPr/>
    </dgm:pt>
    <dgm:pt modelId="{49C1B53C-7E65-4591-8851-5A63D097167C}" type="pres">
      <dgm:prSet presAssocID="{8D3096A1-FDB7-413D-8E30-6F5669EF3862}" presName="sibTrans" presStyleLbl="sibTrans2D1" presStyleIdx="0" presStyleCnt="0"/>
      <dgm:spPr/>
    </dgm:pt>
    <dgm:pt modelId="{9647F41D-A24F-4303-9CC2-8AA330990E99}" type="pres">
      <dgm:prSet presAssocID="{FF717E6C-9C50-45C4-B9DF-56B90E74B09C}" presName="compNode" presStyleCnt="0"/>
      <dgm:spPr/>
    </dgm:pt>
    <dgm:pt modelId="{A3F0CB35-BB66-4276-ABB6-4FF9DFC93D0C}" type="pres">
      <dgm:prSet presAssocID="{FF717E6C-9C50-45C4-B9DF-56B90E74B09C}" presName="iconBgRect" presStyleLbl="bgShp" presStyleIdx="2" presStyleCnt="5" custLinFactNeighborX="-8184" custLinFactNeighborY="909"/>
      <dgm:spPr/>
    </dgm:pt>
    <dgm:pt modelId="{D381B474-68D6-4541-A74D-CABB9F7742A5}" type="pres">
      <dgm:prSet presAssocID="{FF717E6C-9C50-45C4-B9DF-56B90E74B09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71BEF89-838B-4C7D-B745-FD7A18933DCA}" type="pres">
      <dgm:prSet presAssocID="{FF717E6C-9C50-45C4-B9DF-56B90E74B09C}" presName="spaceRect" presStyleCnt="0"/>
      <dgm:spPr/>
    </dgm:pt>
    <dgm:pt modelId="{4349B292-0CDC-4005-AA35-7401DB061667}" type="pres">
      <dgm:prSet presAssocID="{FF717E6C-9C50-45C4-B9DF-56B90E74B09C}" presName="textRect" presStyleLbl="revTx" presStyleIdx="2" presStyleCnt="5">
        <dgm:presLayoutVars>
          <dgm:chMax val="1"/>
          <dgm:chPref val="1"/>
        </dgm:presLayoutVars>
      </dgm:prSet>
      <dgm:spPr/>
    </dgm:pt>
    <dgm:pt modelId="{67405692-FC8D-4AAE-ACB3-B08CF8946D70}" type="pres">
      <dgm:prSet presAssocID="{458BB0C4-94AA-4532-844B-94ECAF503722}" presName="sibTrans" presStyleLbl="sibTrans2D1" presStyleIdx="0" presStyleCnt="0"/>
      <dgm:spPr/>
    </dgm:pt>
    <dgm:pt modelId="{D9FEC864-4647-462D-A51A-1423A6DC04EA}" type="pres">
      <dgm:prSet presAssocID="{ACA89C3D-8AE9-4293-9567-CD5BEFCD26D1}" presName="compNode" presStyleCnt="0"/>
      <dgm:spPr/>
    </dgm:pt>
    <dgm:pt modelId="{CD5E6D3B-E8AE-4D82-B089-DF0F301212F6}" type="pres">
      <dgm:prSet presAssocID="{ACA89C3D-8AE9-4293-9567-CD5BEFCD26D1}" presName="iconBgRect" presStyleLbl="bgShp" presStyleIdx="3" presStyleCnt="5"/>
      <dgm:spPr/>
    </dgm:pt>
    <dgm:pt modelId="{172930F4-3143-4024-B906-739D8C82DE7D}" type="pres">
      <dgm:prSet presAssocID="{ACA89C3D-8AE9-4293-9567-CD5BEFCD26D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7F68958-C100-4579-B4B0-A7171B7C7C94}" type="pres">
      <dgm:prSet presAssocID="{ACA89C3D-8AE9-4293-9567-CD5BEFCD26D1}" presName="spaceRect" presStyleCnt="0"/>
      <dgm:spPr/>
    </dgm:pt>
    <dgm:pt modelId="{84CA0AEA-C758-495F-82B3-94216AB90B48}" type="pres">
      <dgm:prSet presAssocID="{ACA89C3D-8AE9-4293-9567-CD5BEFCD26D1}" presName="textRect" presStyleLbl="revTx" presStyleIdx="3" presStyleCnt="5">
        <dgm:presLayoutVars>
          <dgm:chMax val="1"/>
          <dgm:chPref val="1"/>
        </dgm:presLayoutVars>
      </dgm:prSet>
      <dgm:spPr/>
    </dgm:pt>
    <dgm:pt modelId="{0E786FCD-0DA9-435C-9C97-843C46F4FD2D}" type="pres">
      <dgm:prSet presAssocID="{956E0E7B-696A-4827-B673-568EACA4EE0F}" presName="sibTrans" presStyleLbl="sibTrans2D1" presStyleIdx="0" presStyleCnt="0"/>
      <dgm:spPr/>
    </dgm:pt>
    <dgm:pt modelId="{8A8A9BF0-5E62-4A6A-AC50-A40A8B7038C5}" type="pres">
      <dgm:prSet presAssocID="{09157DBB-F983-4800-A11B-4A634D6E43AE}" presName="compNode" presStyleCnt="0"/>
      <dgm:spPr/>
    </dgm:pt>
    <dgm:pt modelId="{6CC4B2CE-6B2F-4025-AE83-FCD360FE411C}" type="pres">
      <dgm:prSet presAssocID="{09157DBB-F983-4800-A11B-4A634D6E43AE}" presName="iconBgRect" presStyleLbl="bgShp" presStyleIdx="4" presStyleCnt="5"/>
      <dgm:spPr/>
    </dgm:pt>
    <dgm:pt modelId="{4CC183CC-28D2-4E7A-9069-B86D9F6CA22B}" type="pres">
      <dgm:prSet presAssocID="{09157DBB-F983-4800-A11B-4A634D6E43A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E59DB13E-01A2-4014-8D9D-9CCD51A49079}" type="pres">
      <dgm:prSet presAssocID="{09157DBB-F983-4800-A11B-4A634D6E43AE}" presName="spaceRect" presStyleCnt="0"/>
      <dgm:spPr/>
    </dgm:pt>
    <dgm:pt modelId="{CFE973D2-F842-4DBA-8D6A-EFD08A535684}" type="pres">
      <dgm:prSet presAssocID="{09157DBB-F983-4800-A11B-4A634D6E43A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2F97926-FBFE-49CD-A08F-9EBE3320A283}" srcId="{AE2F1D9C-8827-40A4-A2E4-6FFFCC8EDBE4}" destId="{2E5E2287-A35A-4678-94DE-D3CF188AE0FE}" srcOrd="1" destOrd="0" parTransId="{94ABB87D-6D92-4981-B80C-90EC8DC8659F}" sibTransId="{8D3096A1-FDB7-413D-8E30-6F5669EF3862}"/>
    <dgm:cxn modelId="{8FE22635-6C7B-4D1A-9AFC-EC0687E427D2}" type="presOf" srcId="{FF717E6C-9C50-45C4-B9DF-56B90E74B09C}" destId="{4349B292-0CDC-4005-AA35-7401DB061667}" srcOrd="0" destOrd="0" presId="urn:microsoft.com/office/officeart/2018/2/layout/IconCircleList"/>
    <dgm:cxn modelId="{28AB8F38-1284-442F-83D6-4BBB237F4BAE}" type="presOf" srcId="{16E19204-5F31-446D-A09E-D15CD8A3A96B}" destId="{BD982943-3B74-434F-969F-3D859F03D822}" srcOrd="0" destOrd="0" presId="urn:microsoft.com/office/officeart/2018/2/layout/IconCircleList"/>
    <dgm:cxn modelId="{4ED6267C-91CB-447D-905E-A6CA008AF64C}" type="presOf" srcId="{09157DBB-F983-4800-A11B-4A634D6E43AE}" destId="{CFE973D2-F842-4DBA-8D6A-EFD08A535684}" srcOrd="0" destOrd="0" presId="urn:microsoft.com/office/officeart/2018/2/layout/IconCircleList"/>
    <dgm:cxn modelId="{98210682-E9F0-4252-AC03-4FD4F0BCEBD1}" type="presOf" srcId="{AE2F1D9C-8827-40A4-A2E4-6FFFCC8EDBE4}" destId="{DE0F3F64-7BDE-4D90-AB90-CEEC47D8629C}" srcOrd="0" destOrd="0" presId="urn:microsoft.com/office/officeart/2018/2/layout/IconCircleList"/>
    <dgm:cxn modelId="{2DBB549E-8D48-4173-B01C-F1EF41AFA451}" type="presOf" srcId="{ACA89C3D-8AE9-4293-9567-CD5BEFCD26D1}" destId="{84CA0AEA-C758-495F-82B3-94216AB90B48}" srcOrd="0" destOrd="0" presId="urn:microsoft.com/office/officeart/2018/2/layout/IconCircleList"/>
    <dgm:cxn modelId="{7358E5AB-9A49-487A-A2A7-DAC8D52A63F9}" type="presOf" srcId="{956E0E7B-696A-4827-B673-568EACA4EE0F}" destId="{0E786FCD-0DA9-435C-9C97-843C46F4FD2D}" srcOrd="0" destOrd="0" presId="urn:microsoft.com/office/officeart/2018/2/layout/IconCircleList"/>
    <dgm:cxn modelId="{7E47FEB4-6231-43EA-9B11-EA1F408AD0DE}" srcId="{AE2F1D9C-8827-40A4-A2E4-6FFFCC8EDBE4}" destId="{FF717E6C-9C50-45C4-B9DF-56B90E74B09C}" srcOrd="2" destOrd="0" parTransId="{AAB503B3-25D7-4C38-9BC3-ABCD5CDDBEAB}" sibTransId="{458BB0C4-94AA-4532-844B-94ECAF503722}"/>
    <dgm:cxn modelId="{9FB5EDD0-DC71-4657-B825-9BB82839A36A}" type="presOf" srcId="{2E5E2287-A35A-4678-94DE-D3CF188AE0FE}" destId="{F99B6B5E-F65B-46B5-B534-B64CD676261E}" srcOrd="0" destOrd="0" presId="urn:microsoft.com/office/officeart/2018/2/layout/IconCircleList"/>
    <dgm:cxn modelId="{6387FAD9-A8D1-443D-A9F6-DB153DFDBAC1}" type="presOf" srcId="{C447BB13-C412-4887-B3EC-8C6C84A39CE0}" destId="{300E37CC-86A8-4F68-95E6-3E00E4293505}" srcOrd="0" destOrd="0" presId="urn:microsoft.com/office/officeart/2018/2/layout/IconCircleList"/>
    <dgm:cxn modelId="{5C8289DA-1E24-4304-B2C0-EC09FA8FDF48}" type="presOf" srcId="{458BB0C4-94AA-4532-844B-94ECAF503722}" destId="{67405692-FC8D-4AAE-ACB3-B08CF8946D70}" srcOrd="0" destOrd="0" presId="urn:microsoft.com/office/officeart/2018/2/layout/IconCircleList"/>
    <dgm:cxn modelId="{8465A2DE-4A91-4382-BFDE-EB8552227B01}" srcId="{AE2F1D9C-8827-40A4-A2E4-6FFFCC8EDBE4}" destId="{ACA89C3D-8AE9-4293-9567-CD5BEFCD26D1}" srcOrd="3" destOrd="0" parTransId="{712E23A3-D435-4DBC-B8A0-BFEDA0678D89}" sibTransId="{956E0E7B-696A-4827-B673-568EACA4EE0F}"/>
    <dgm:cxn modelId="{0B1DB3E4-950F-4ABF-BAF2-29FB19D94E59}" srcId="{AE2F1D9C-8827-40A4-A2E4-6FFFCC8EDBE4}" destId="{09157DBB-F983-4800-A11B-4A634D6E43AE}" srcOrd="4" destOrd="0" parTransId="{BD8270A8-7312-4074-9A55-DB414CF24AA6}" sibTransId="{3F7178A4-1F1A-4145-8B28-C4D470F2FDE0}"/>
    <dgm:cxn modelId="{14ED09F7-5266-4E81-AAAA-47AF8C3C3B49}" srcId="{AE2F1D9C-8827-40A4-A2E4-6FFFCC8EDBE4}" destId="{16E19204-5F31-446D-A09E-D15CD8A3A96B}" srcOrd="0" destOrd="0" parTransId="{52B5BCD4-97DD-41E6-ABA6-154D6401060D}" sibTransId="{C447BB13-C412-4887-B3EC-8C6C84A39CE0}"/>
    <dgm:cxn modelId="{CFE7D4FD-7CC8-45CC-A7E6-98BFEA4A2F52}" type="presOf" srcId="{8D3096A1-FDB7-413D-8E30-6F5669EF3862}" destId="{49C1B53C-7E65-4591-8851-5A63D097167C}" srcOrd="0" destOrd="0" presId="urn:microsoft.com/office/officeart/2018/2/layout/IconCircleList"/>
    <dgm:cxn modelId="{1AFC2C50-F443-487F-AF6A-2C37380824E4}" type="presParOf" srcId="{DE0F3F64-7BDE-4D90-AB90-CEEC47D8629C}" destId="{4C838E20-A27B-49AC-B843-719CEB48FE8C}" srcOrd="0" destOrd="0" presId="urn:microsoft.com/office/officeart/2018/2/layout/IconCircleList"/>
    <dgm:cxn modelId="{2A06C12C-1661-4FBE-98BD-8A8E90F25486}" type="presParOf" srcId="{4C838E20-A27B-49AC-B843-719CEB48FE8C}" destId="{FD8DA7A1-3F09-4548-9406-2AA3AAB1F7AB}" srcOrd="0" destOrd="0" presId="urn:microsoft.com/office/officeart/2018/2/layout/IconCircleList"/>
    <dgm:cxn modelId="{6CB13B88-155D-4E86-A98A-72D6C4B469BC}" type="presParOf" srcId="{FD8DA7A1-3F09-4548-9406-2AA3AAB1F7AB}" destId="{D1E313A0-E48A-418E-A23A-E3F9CB99B268}" srcOrd="0" destOrd="0" presId="urn:microsoft.com/office/officeart/2018/2/layout/IconCircleList"/>
    <dgm:cxn modelId="{75BE65D9-8829-488F-8019-C2F623FBE06A}" type="presParOf" srcId="{FD8DA7A1-3F09-4548-9406-2AA3AAB1F7AB}" destId="{7F31D956-F566-43C4-8B4B-BFB213DC4C32}" srcOrd="1" destOrd="0" presId="urn:microsoft.com/office/officeart/2018/2/layout/IconCircleList"/>
    <dgm:cxn modelId="{82282943-6207-46DD-8F63-D40BDFDFFC55}" type="presParOf" srcId="{FD8DA7A1-3F09-4548-9406-2AA3AAB1F7AB}" destId="{45FA1713-705E-4410-AEBD-7234BFB7D989}" srcOrd="2" destOrd="0" presId="urn:microsoft.com/office/officeart/2018/2/layout/IconCircleList"/>
    <dgm:cxn modelId="{68F06BB4-BE42-4CA6-A88F-5C7F8723B075}" type="presParOf" srcId="{FD8DA7A1-3F09-4548-9406-2AA3AAB1F7AB}" destId="{BD982943-3B74-434F-969F-3D859F03D822}" srcOrd="3" destOrd="0" presId="urn:microsoft.com/office/officeart/2018/2/layout/IconCircleList"/>
    <dgm:cxn modelId="{696BC9AA-D937-4A7E-8AF9-E79CD5DD1665}" type="presParOf" srcId="{4C838E20-A27B-49AC-B843-719CEB48FE8C}" destId="{300E37CC-86A8-4F68-95E6-3E00E4293505}" srcOrd="1" destOrd="0" presId="urn:microsoft.com/office/officeart/2018/2/layout/IconCircleList"/>
    <dgm:cxn modelId="{F9744910-5CE2-4CDE-A183-AB5901B34D51}" type="presParOf" srcId="{4C838E20-A27B-49AC-B843-719CEB48FE8C}" destId="{B634CF7D-B582-424B-8524-2429EA94534C}" srcOrd="2" destOrd="0" presId="urn:microsoft.com/office/officeart/2018/2/layout/IconCircleList"/>
    <dgm:cxn modelId="{E0ECFD8A-A9EA-46F6-908D-D624C09BE6FB}" type="presParOf" srcId="{B634CF7D-B582-424B-8524-2429EA94534C}" destId="{92AC99A0-23F4-4C23-82DF-C00FAFDA66DD}" srcOrd="0" destOrd="0" presId="urn:microsoft.com/office/officeart/2018/2/layout/IconCircleList"/>
    <dgm:cxn modelId="{367F1A3F-9A27-4FCA-8BAD-A8D89D5BECFB}" type="presParOf" srcId="{B634CF7D-B582-424B-8524-2429EA94534C}" destId="{0BC995BD-419B-4A6F-A3E9-90C1E815AECD}" srcOrd="1" destOrd="0" presId="urn:microsoft.com/office/officeart/2018/2/layout/IconCircleList"/>
    <dgm:cxn modelId="{A84DAED2-6A87-4FEE-9C20-8624433C7CC1}" type="presParOf" srcId="{B634CF7D-B582-424B-8524-2429EA94534C}" destId="{93629344-670F-4E54-993D-BC8B066438EB}" srcOrd="2" destOrd="0" presId="urn:microsoft.com/office/officeart/2018/2/layout/IconCircleList"/>
    <dgm:cxn modelId="{A0FC6F5D-8619-4F8B-8378-64AB7051D663}" type="presParOf" srcId="{B634CF7D-B582-424B-8524-2429EA94534C}" destId="{F99B6B5E-F65B-46B5-B534-B64CD676261E}" srcOrd="3" destOrd="0" presId="urn:microsoft.com/office/officeart/2018/2/layout/IconCircleList"/>
    <dgm:cxn modelId="{9000DE9D-F8C9-4649-96DF-B97D82D938CD}" type="presParOf" srcId="{4C838E20-A27B-49AC-B843-719CEB48FE8C}" destId="{49C1B53C-7E65-4591-8851-5A63D097167C}" srcOrd="3" destOrd="0" presId="urn:microsoft.com/office/officeart/2018/2/layout/IconCircleList"/>
    <dgm:cxn modelId="{F205ACF7-6B74-4963-A9B2-45B60A6E2ADD}" type="presParOf" srcId="{4C838E20-A27B-49AC-B843-719CEB48FE8C}" destId="{9647F41D-A24F-4303-9CC2-8AA330990E99}" srcOrd="4" destOrd="0" presId="urn:microsoft.com/office/officeart/2018/2/layout/IconCircleList"/>
    <dgm:cxn modelId="{9F906C5C-45A1-4F02-BF7D-18DA428EFBB4}" type="presParOf" srcId="{9647F41D-A24F-4303-9CC2-8AA330990E99}" destId="{A3F0CB35-BB66-4276-ABB6-4FF9DFC93D0C}" srcOrd="0" destOrd="0" presId="urn:microsoft.com/office/officeart/2018/2/layout/IconCircleList"/>
    <dgm:cxn modelId="{E0D09362-CC12-42C4-8534-1F60AF0F39B2}" type="presParOf" srcId="{9647F41D-A24F-4303-9CC2-8AA330990E99}" destId="{D381B474-68D6-4541-A74D-CABB9F7742A5}" srcOrd="1" destOrd="0" presId="urn:microsoft.com/office/officeart/2018/2/layout/IconCircleList"/>
    <dgm:cxn modelId="{EA9E8EC3-1979-47E5-9B6C-FF946237602B}" type="presParOf" srcId="{9647F41D-A24F-4303-9CC2-8AA330990E99}" destId="{E71BEF89-838B-4C7D-B745-FD7A18933DCA}" srcOrd="2" destOrd="0" presId="urn:microsoft.com/office/officeart/2018/2/layout/IconCircleList"/>
    <dgm:cxn modelId="{FB132B4C-8AE5-457E-971B-5B4AB97CE24F}" type="presParOf" srcId="{9647F41D-A24F-4303-9CC2-8AA330990E99}" destId="{4349B292-0CDC-4005-AA35-7401DB061667}" srcOrd="3" destOrd="0" presId="urn:microsoft.com/office/officeart/2018/2/layout/IconCircleList"/>
    <dgm:cxn modelId="{94D0FAEE-0226-4C8A-91E1-1042AA32972B}" type="presParOf" srcId="{4C838E20-A27B-49AC-B843-719CEB48FE8C}" destId="{67405692-FC8D-4AAE-ACB3-B08CF8946D70}" srcOrd="5" destOrd="0" presId="urn:microsoft.com/office/officeart/2018/2/layout/IconCircleList"/>
    <dgm:cxn modelId="{0B324D1E-1D0A-452B-857C-6001F8CE6898}" type="presParOf" srcId="{4C838E20-A27B-49AC-B843-719CEB48FE8C}" destId="{D9FEC864-4647-462D-A51A-1423A6DC04EA}" srcOrd="6" destOrd="0" presId="urn:microsoft.com/office/officeart/2018/2/layout/IconCircleList"/>
    <dgm:cxn modelId="{7C41A0D7-C173-4897-AE12-2912AA186F1B}" type="presParOf" srcId="{D9FEC864-4647-462D-A51A-1423A6DC04EA}" destId="{CD5E6D3B-E8AE-4D82-B089-DF0F301212F6}" srcOrd="0" destOrd="0" presId="urn:microsoft.com/office/officeart/2018/2/layout/IconCircleList"/>
    <dgm:cxn modelId="{80EB10E8-82BB-4D46-99CE-BD8E477B9E51}" type="presParOf" srcId="{D9FEC864-4647-462D-A51A-1423A6DC04EA}" destId="{172930F4-3143-4024-B906-739D8C82DE7D}" srcOrd="1" destOrd="0" presId="urn:microsoft.com/office/officeart/2018/2/layout/IconCircleList"/>
    <dgm:cxn modelId="{06FD1287-6336-4C1C-A380-E0DFCD1C8FA2}" type="presParOf" srcId="{D9FEC864-4647-462D-A51A-1423A6DC04EA}" destId="{17F68958-C100-4579-B4B0-A7171B7C7C94}" srcOrd="2" destOrd="0" presId="urn:microsoft.com/office/officeart/2018/2/layout/IconCircleList"/>
    <dgm:cxn modelId="{8E9DB234-96B8-4DF2-B1E6-98FA1E6E7ED3}" type="presParOf" srcId="{D9FEC864-4647-462D-A51A-1423A6DC04EA}" destId="{84CA0AEA-C758-495F-82B3-94216AB90B48}" srcOrd="3" destOrd="0" presId="urn:microsoft.com/office/officeart/2018/2/layout/IconCircleList"/>
    <dgm:cxn modelId="{1FEB55BB-8C19-4EF9-B272-4986D05D8C9A}" type="presParOf" srcId="{4C838E20-A27B-49AC-B843-719CEB48FE8C}" destId="{0E786FCD-0DA9-435C-9C97-843C46F4FD2D}" srcOrd="7" destOrd="0" presId="urn:microsoft.com/office/officeart/2018/2/layout/IconCircleList"/>
    <dgm:cxn modelId="{E7D78B33-3F64-4FE5-BAAC-A1A2A40C4270}" type="presParOf" srcId="{4C838E20-A27B-49AC-B843-719CEB48FE8C}" destId="{8A8A9BF0-5E62-4A6A-AC50-A40A8B7038C5}" srcOrd="8" destOrd="0" presId="urn:microsoft.com/office/officeart/2018/2/layout/IconCircleList"/>
    <dgm:cxn modelId="{EB754DB9-C03F-4BAD-B23B-C9C9258BF8E6}" type="presParOf" srcId="{8A8A9BF0-5E62-4A6A-AC50-A40A8B7038C5}" destId="{6CC4B2CE-6B2F-4025-AE83-FCD360FE411C}" srcOrd="0" destOrd="0" presId="urn:microsoft.com/office/officeart/2018/2/layout/IconCircleList"/>
    <dgm:cxn modelId="{725B7F89-6A58-4AF0-ABB3-A33205297146}" type="presParOf" srcId="{8A8A9BF0-5E62-4A6A-AC50-A40A8B7038C5}" destId="{4CC183CC-28D2-4E7A-9069-B86D9F6CA22B}" srcOrd="1" destOrd="0" presId="urn:microsoft.com/office/officeart/2018/2/layout/IconCircleList"/>
    <dgm:cxn modelId="{9DCED042-8D4A-4CB8-BED2-8C23101584B4}" type="presParOf" srcId="{8A8A9BF0-5E62-4A6A-AC50-A40A8B7038C5}" destId="{E59DB13E-01A2-4014-8D9D-9CCD51A49079}" srcOrd="2" destOrd="0" presId="urn:microsoft.com/office/officeart/2018/2/layout/IconCircleList"/>
    <dgm:cxn modelId="{B2C37993-DE9C-4DA5-8EB7-9BC0D1C38ECE}" type="presParOf" srcId="{8A8A9BF0-5E62-4A6A-AC50-A40A8B7038C5}" destId="{CFE973D2-F842-4DBA-8D6A-EFD08A53568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313A0-E48A-418E-A23A-E3F9CB99B268}">
      <dsp:nvSpPr>
        <dsp:cNvPr id="0" name=""/>
        <dsp:cNvSpPr/>
      </dsp:nvSpPr>
      <dsp:spPr>
        <a:xfrm>
          <a:off x="2006299" y="90036"/>
          <a:ext cx="1336708" cy="133670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31D956-F566-43C4-8B4B-BFB213DC4C32}">
      <dsp:nvSpPr>
        <dsp:cNvPr id="0" name=""/>
        <dsp:cNvSpPr/>
      </dsp:nvSpPr>
      <dsp:spPr>
        <a:xfrm>
          <a:off x="2287008" y="370745"/>
          <a:ext cx="775290" cy="7752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982943-3B74-434F-969F-3D859F03D822}">
      <dsp:nvSpPr>
        <dsp:cNvPr id="0" name=""/>
        <dsp:cNvSpPr/>
      </dsp:nvSpPr>
      <dsp:spPr>
        <a:xfrm>
          <a:off x="3629445" y="90036"/>
          <a:ext cx="3150811" cy="1336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A Record (IPv4) : </a:t>
          </a:r>
          <a:r>
            <a:rPr lang="en-US" sz="1600" kern="1200" dirty="0"/>
            <a:t>Maps a domain name to its corresponding IPv4 address for routing</a:t>
          </a:r>
        </a:p>
      </dsp:txBody>
      <dsp:txXfrm>
        <a:off x="3629445" y="90036"/>
        <a:ext cx="3150811" cy="1336708"/>
      </dsp:txXfrm>
    </dsp:sp>
    <dsp:sp modelId="{92AC99A0-23F4-4C23-82DF-C00FAFDA66DD}">
      <dsp:nvSpPr>
        <dsp:cNvPr id="0" name=""/>
        <dsp:cNvSpPr/>
      </dsp:nvSpPr>
      <dsp:spPr>
        <a:xfrm>
          <a:off x="7329262" y="90036"/>
          <a:ext cx="1336708" cy="133670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C995BD-419B-4A6F-A3E9-90C1E815AECD}">
      <dsp:nvSpPr>
        <dsp:cNvPr id="0" name=""/>
        <dsp:cNvSpPr/>
      </dsp:nvSpPr>
      <dsp:spPr>
        <a:xfrm>
          <a:off x="7609970" y="370745"/>
          <a:ext cx="775290" cy="7752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9B6B5E-F65B-46B5-B534-B64CD676261E}">
      <dsp:nvSpPr>
        <dsp:cNvPr id="0" name=""/>
        <dsp:cNvSpPr/>
      </dsp:nvSpPr>
      <dsp:spPr>
        <a:xfrm>
          <a:off x="8952407" y="90036"/>
          <a:ext cx="3150811" cy="1336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CNAME Record (Aliases):</a:t>
          </a:r>
          <a:r>
            <a:rPr lang="en-US" sz="1600" kern="1200" dirty="0"/>
            <a:t>Creates an alias pointing one domain name to another domain.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www.example.com → example.com</a:t>
          </a:r>
        </a:p>
      </dsp:txBody>
      <dsp:txXfrm>
        <a:off x="8952407" y="90036"/>
        <a:ext cx="3150811" cy="1336708"/>
      </dsp:txXfrm>
    </dsp:sp>
    <dsp:sp modelId="{A3F0CB35-BB66-4276-ABB6-4FF9DFC93D0C}">
      <dsp:nvSpPr>
        <dsp:cNvPr id="0" name=""/>
        <dsp:cNvSpPr/>
      </dsp:nvSpPr>
      <dsp:spPr>
        <a:xfrm>
          <a:off x="1896903" y="2518189"/>
          <a:ext cx="1336708" cy="133670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1B474-68D6-4541-A74D-CABB9F7742A5}">
      <dsp:nvSpPr>
        <dsp:cNvPr id="0" name=""/>
        <dsp:cNvSpPr/>
      </dsp:nvSpPr>
      <dsp:spPr>
        <a:xfrm>
          <a:off x="2287008" y="2786747"/>
          <a:ext cx="775290" cy="7752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9B292-0CDC-4005-AA35-7401DB061667}">
      <dsp:nvSpPr>
        <dsp:cNvPr id="0" name=""/>
        <dsp:cNvSpPr/>
      </dsp:nvSpPr>
      <dsp:spPr>
        <a:xfrm>
          <a:off x="3629445" y="2506038"/>
          <a:ext cx="3150811" cy="1336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NS Record (Name Servers): </a:t>
          </a:r>
          <a:r>
            <a:rPr lang="en-US" sz="1600" kern="1200" dirty="0"/>
            <a:t>Indicates the authoritative name servers for a domain. 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(np domain provider </a:t>
          </a:r>
          <a:r>
            <a:rPr lang="en-US" sz="1600" kern="1200" dirty="0">
              <a:sym typeface="Wingdings" panose="05000000000000000000" pitchFamily="2" charset="2"/>
            </a:rPr>
            <a:t></a:t>
          </a:r>
          <a:r>
            <a:rPr lang="en-US" sz="1600" kern="1200" dirty="0" err="1">
              <a:sym typeface="Wingdings" panose="05000000000000000000" pitchFamily="2" charset="2"/>
            </a:rPr>
            <a:t>cloudfair</a:t>
          </a:r>
          <a:r>
            <a:rPr lang="en-US" sz="1600" kern="1200" dirty="0"/>
            <a:t>  )</a:t>
          </a:r>
        </a:p>
      </dsp:txBody>
      <dsp:txXfrm>
        <a:off x="3629445" y="2506038"/>
        <a:ext cx="3150811" cy="1336708"/>
      </dsp:txXfrm>
    </dsp:sp>
    <dsp:sp modelId="{CD5E6D3B-E8AE-4D82-B089-DF0F301212F6}">
      <dsp:nvSpPr>
        <dsp:cNvPr id="0" name=""/>
        <dsp:cNvSpPr/>
      </dsp:nvSpPr>
      <dsp:spPr>
        <a:xfrm>
          <a:off x="7329262" y="2506038"/>
          <a:ext cx="1336708" cy="133670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2930F4-3143-4024-B906-739D8C82DE7D}">
      <dsp:nvSpPr>
        <dsp:cNvPr id="0" name=""/>
        <dsp:cNvSpPr/>
      </dsp:nvSpPr>
      <dsp:spPr>
        <a:xfrm>
          <a:off x="7609970" y="2786747"/>
          <a:ext cx="775290" cy="7752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CA0AEA-C758-495F-82B3-94216AB90B48}">
      <dsp:nvSpPr>
        <dsp:cNvPr id="0" name=""/>
        <dsp:cNvSpPr/>
      </dsp:nvSpPr>
      <dsp:spPr>
        <a:xfrm>
          <a:off x="8952407" y="2506038"/>
          <a:ext cx="3150811" cy="1336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AAAA Record (IPv6):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 </a:t>
          </a:r>
          <a:r>
            <a:rPr lang="en-US" sz="1600" kern="1200" dirty="0"/>
            <a:t>Maps a domain name to its IPv6 address for next-gen internet.</a:t>
          </a:r>
        </a:p>
      </dsp:txBody>
      <dsp:txXfrm>
        <a:off x="8952407" y="2506038"/>
        <a:ext cx="3150811" cy="1336708"/>
      </dsp:txXfrm>
    </dsp:sp>
    <dsp:sp modelId="{6CC4B2CE-6B2F-4025-AE83-FCD360FE411C}">
      <dsp:nvSpPr>
        <dsp:cNvPr id="0" name=""/>
        <dsp:cNvSpPr/>
      </dsp:nvSpPr>
      <dsp:spPr>
        <a:xfrm>
          <a:off x="2006299" y="4922039"/>
          <a:ext cx="1336708" cy="133670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183CC-28D2-4E7A-9069-B86D9F6CA22B}">
      <dsp:nvSpPr>
        <dsp:cNvPr id="0" name=""/>
        <dsp:cNvSpPr/>
      </dsp:nvSpPr>
      <dsp:spPr>
        <a:xfrm>
          <a:off x="2287008" y="5202748"/>
          <a:ext cx="775290" cy="7752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E973D2-F842-4DBA-8D6A-EFD08A535684}">
      <dsp:nvSpPr>
        <dsp:cNvPr id="0" name=""/>
        <dsp:cNvSpPr/>
      </dsp:nvSpPr>
      <dsp:spPr>
        <a:xfrm>
          <a:off x="3629445" y="4922039"/>
          <a:ext cx="3150811" cy="1336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MX Record (Mail Servers): </a:t>
          </a:r>
          <a:r>
            <a:rPr lang="en-US" sz="1600" kern="1200" dirty="0"/>
            <a:t>Specifies the mail servers responsible for handling emails.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example.com → mail.example.com</a:t>
          </a:r>
        </a:p>
      </dsp:txBody>
      <dsp:txXfrm>
        <a:off x="3629445" y="4922039"/>
        <a:ext cx="3150811" cy="13367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873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4832" y="2123449"/>
            <a:ext cx="11328041" cy="2194561"/>
          </a:xfrm>
        </p:spPr>
        <p:txBody>
          <a:bodyPr anchor="b">
            <a:normAutofit/>
          </a:bodyPr>
          <a:lstStyle>
            <a:lvl1pPr algn="ctr"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4832" y="4318008"/>
            <a:ext cx="11328041" cy="1259840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4150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708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2113281"/>
            <a:ext cx="11508660" cy="2194576"/>
          </a:xfrm>
        </p:spPr>
        <p:txBody>
          <a:bodyPr anchor="b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4307855"/>
            <a:ext cx="11508660" cy="1808465"/>
          </a:xfrm>
        </p:spPr>
        <p:txBody>
          <a:bodyPr anchor="t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683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6555" y="2078939"/>
            <a:ext cx="6072596" cy="48705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3471" y="2078940"/>
            <a:ext cx="6077598" cy="487050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62097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54" y="2081408"/>
            <a:ext cx="6106886" cy="4978523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182" y="2081408"/>
            <a:ext cx="6106886" cy="497852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46" y="2202305"/>
            <a:ext cx="5851613" cy="653861"/>
          </a:xfrm>
        </p:spPr>
        <p:txBody>
          <a:bodyPr anchor="b">
            <a:noAutofit/>
          </a:bodyPr>
          <a:lstStyle>
            <a:lvl1pPr marL="0" indent="0" algn="ctr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46" y="2856165"/>
            <a:ext cx="5851613" cy="4093276"/>
          </a:xfrm>
        </p:spPr>
        <p:txBody>
          <a:bodyPr anchor="t"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53960" y="2202305"/>
            <a:ext cx="5874396" cy="653860"/>
          </a:xfrm>
        </p:spPr>
        <p:txBody>
          <a:bodyPr anchor="b">
            <a:noAutofit/>
          </a:bodyPr>
          <a:lstStyle>
            <a:lvl1pPr marL="0" indent="0" algn="ctr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53960" y="2856165"/>
            <a:ext cx="5874396" cy="4093276"/>
          </a:xfrm>
        </p:spPr>
        <p:txBody>
          <a:bodyPr anchor="t"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845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20565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9400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5" y="731520"/>
            <a:ext cx="4448267" cy="2186302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6760" y="731520"/>
            <a:ext cx="7694309" cy="621792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5" y="2917822"/>
            <a:ext cx="4448267" cy="4031617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1869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398" y="731520"/>
            <a:ext cx="4300999" cy="62457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5" y="731907"/>
            <a:ext cx="7121939" cy="2195206"/>
          </a:xfrm>
        </p:spPr>
        <p:txBody>
          <a:bodyPr anchor="b">
            <a:noAutofit/>
          </a:bodyPr>
          <a:lstStyle>
            <a:lvl1pPr algn="ctr">
              <a:defRPr sz="384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31062" y="916443"/>
            <a:ext cx="3930901" cy="5895386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5" y="2927113"/>
            <a:ext cx="7121939" cy="4051361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5538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660" y="657369"/>
            <a:ext cx="12170159" cy="45801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67" y="5478306"/>
            <a:ext cx="12426391" cy="652166"/>
          </a:xfrm>
        </p:spPr>
        <p:txBody>
          <a:bodyPr anchor="b">
            <a:normAutofit/>
          </a:bodyPr>
          <a:lstStyle>
            <a:lvl1pPr algn="ctr"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03219" y="834012"/>
            <a:ext cx="11814415" cy="4230805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548640" indent="0">
              <a:buNone/>
              <a:defRPr sz="2400"/>
            </a:lvl2pPr>
            <a:lvl3pPr marL="1097280" indent="0">
              <a:buNone/>
              <a:defRPr sz="240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4" y="6130474"/>
            <a:ext cx="12424514" cy="818966"/>
          </a:xfrm>
        </p:spPr>
        <p:txBody>
          <a:bodyPr anchor="t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26665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4" y="730124"/>
            <a:ext cx="12424514" cy="4241213"/>
          </a:xfrm>
        </p:spPr>
        <p:txBody>
          <a:bodyPr anchor="ctr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3" y="5154216"/>
            <a:ext cx="12424516" cy="1802191"/>
          </a:xfrm>
        </p:spPr>
        <p:txBody>
          <a:bodyPr anchor="ctr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8779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731520"/>
            <a:ext cx="11163302" cy="3591485"/>
          </a:xfrm>
        </p:spPr>
        <p:txBody>
          <a:bodyPr anchor="ctr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064773" y="4332039"/>
            <a:ext cx="10502759" cy="639299"/>
          </a:xfrm>
        </p:spPr>
        <p:txBody>
          <a:bodyPr anchor="t">
            <a:normAutofit/>
          </a:bodyPr>
          <a:lstStyle>
            <a:lvl1pPr marL="0" indent="0" algn="r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3" y="5165224"/>
            <a:ext cx="12424516" cy="17873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188720" y="1061755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05659" y="351391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665542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3" y="2552331"/>
            <a:ext cx="12424516" cy="3014202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41" y="5580667"/>
            <a:ext cx="12422639" cy="1368773"/>
          </a:xfrm>
        </p:spPr>
        <p:txBody>
          <a:bodyPr anchor="t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45593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096554" y="731520"/>
            <a:ext cx="12424514" cy="1164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96554" y="2263140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96554" y="3086100"/>
            <a:ext cx="3961181" cy="3863340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36053" y="2263140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329722" y="3086100"/>
            <a:ext cx="3961181" cy="3863340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59886" y="2263140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559886" y="3086100"/>
            <a:ext cx="3961181" cy="3863340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904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5" y="2181858"/>
            <a:ext cx="4007966" cy="221742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560" y="2181858"/>
            <a:ext cx="4007966" cy="221742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261" y="2181858"/>
            <a:ext cx="4007966" cy="221742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096553" y="731520"/>
            <a:ext cx="12424516" cy="1164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96554" y="4684927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221722" y="2326702"/>
            <a:ext cx="3710842" cy="1923545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96554" y="5376442"/>
            <a:ext cx="3961181" cy="157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31346" y="4684927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454891" y="2326913"/>
            <a:ext cx="3710842" cy="1929797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329722" y="5376441"/>
            <a:ext cx="3961181" cy="157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0036" y="4684927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690837" y="2321318"/>
            <a:ext cx="3710842" cy="1928753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59886" y="5376439"/>
            <a:ext cx="3961181" cy="1573002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60829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30944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9682" y="731520"/>
            <a:ext cx="2741384" cy="621792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6555" y="731520"/>
            <a:ext cx="9500246" cy="621792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7067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084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554" y="731520"/>
            <a:ext cx="12424514" cy="116454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54" y="2078940"/>
            <a:ext cx="12424514" cy="487050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14483" y="705993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764DE79-268F-4C1A-8933-263129D2AF9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6555" y="7059931"/>
            <a:ext cx="800743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16814" y="7059931"/>
            <a:ext cx="90425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461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1" r:id="rId1"/>
    <p:sldLayoutId id="2147484052" r:id="rId2"/>
    <p:sldLayoutId id="2147484053" r:id="rId3"/>
    <p:sldLayoutId id="2147484054" r:id="rId4"/>
    <p:sldLayoutId id="2147484055" r:id="rId5"/>
    <p:sldLayoutId id="2147484056" r:id="rId6"/>
    <p:sldLayoutId id="2147484057" r:id="rId7"/>
    <p:sldLayoutId id="2147484058" r:id="rId8"/>
    <p:sldLayoutId id="2147484059" r:id="rId9"/>
    <p:sldLayoutId id="2147484060" r:id="rId10"/>
    <p:sldLayoutId id="2147484061" r:id="rId11"/>
    <p:sldLayoutId id="2147484062" r:id="rId12"/>
    <p:sldLayoutId id="2147484063" r:id="rId13"/>
    <p:sldLayoutId id="2147484064" r:id="rId14"/>
    <p:sldLayoutId id="2147484065" r:id="rId15"/>
    <p:sldLayoutId id="2147484066" r:id="rId16"/>
    <p:sldLayoutId id="2147484067" r:id="rId17"/>
    <p:sldLayoutId id="2147484068" r:id="rId18"/>
  </p:sldLayoutIdLst>
  <p:hf sldNum="0" hdr="0" ftr="0" dt="0"/>
  <p:txStyles>
    <p:titleStyle>
      <a:lvl1pPr algn="ctr" defTabSz="548640" rtl="0" eaLnBrk="1" latinLnBrk="0" hangingPunct="1">
        <a:spcBef>
          <a:spcPct val="0"/>
        </a:spcBef>
        <a:buNone/>
        <a:defRPr sz="4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36720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2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864000" indent="-32400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"/>
        <a:defRPr sz="216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231200" indent="-25920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92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663200" indent="-25920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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2008800" indent="-25920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4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882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3346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727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example.com/" TargetMode="External"/><Relationship Id="rId4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e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96554" y="1508761"/>
            <a:ext cx="8007438" cy="52120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Prata" pitchFamily="34" charset="-120"/>
              </a:rPr>
              <a:t>Domain Name System (DNS) at the Application Layer</a:t>
            </a:r>
            <a:endParaRPr lang="en-US" sz="540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+mj-lt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793790" y="711398"/>
            <a:ext cx="1480423" cy="370642"/>
          </a:xfrm>
          <a:prstGeom prst="roundRect">
            <a:avLst>
              <a:gd name="adj" fmla="val 6609"/>
            </a:avLst>
          </a:prstGeom>
          <a:solidFill>
            <a:srgbClr val="443D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916186" y="772597"/>
            <a:ext cx="123563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916186" y="2532902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latin typeface="Prata" pitchFamily="34" charset="0"/>
                <a:ea typeface="Prata" pitchFamily="34" charset="-122"/>
                <a:cs typeface="Prata" pitchFamily="34" charset="-120"/>
              </a:rPr>
              <a:t>What is DNS?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266538" y="4315864"/>
            <a:ext cx="694944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Example:</a:t>
            </a: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When you type www.google.com, DNS translates it to 142.250.190.14 behind the scenes.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9F5266-CA5E-C098-84CA-DBAE371C0A4E}"/>
              </a:ext>
            </a:extLst>
          </p:cNvPr>
          <p:cNvSpPr txBox="1"/>
          <p:nvPr/>
        </p:nvSpPr>
        <p:spPr>
          <a:xfrm>
            <a:off x="793790" y="1287096"/>
            <a:ext cx="127833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1F1F1"/>
                </a:solidFill>
                <a:effectLst/>
                <a:latin typeface="Roboto" panose="02000000000000000000" pitchFamily="2" charset="0"/>
              </a:rPr>
              <a:t>Internet Computers always identify each other with unique numbers  called IP addresses.</a:t>
            </a:r>
          </a:p>
          <a:p>
            <a:endParaRPr lang="en-US" b="0" i="0" dirty="0">
              <a:solidFill>
                <a:srgbClr val="F1F1F1"/>
              </a:solidFill>
              <a:effectLst/>
              <a:latin typeface="Roboto" panose="02000000000000000000" pitchFamily="2" charset="0"/>
            </a:endParaRPr>
          </a:p>
          <a:p>
            <a:r>
              <a:rPr lang="en-US" dirty="0"/>
              <a:t>But how they load a website when we type its  address in the web browser's URL bar that's the place. where DNS comes in.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C811A2-3D64-2C56-A09A-7368F557EE81}"/>
              </a:ext>
            </a:extLst>
          </p:cNvPr>
          <p:cNvSpPr txBox="1"/>
          <p:nvPr/>
        </p:nvSpPr>
        <p:spPr>
          <a:xfrm>
            <a:off x="7315200" y="6580191"/>
            <a:ext cx="479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Human readable address to machine readable.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9EA445-88F6-53D1-8D9F-4C61548E7A0C}"/>
              </a:ext>
            </a:extLst>
          </p:cNvPr>
          <p:cNvSpPr txBox="1"/>
          <p:nvPr/>
        </p:nvSpPr>
        <p:spPr>
          <a:xfrm>
            <a:off x="1400537" y="3305012"/>
            <a:ext cx="7315200" cy="798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ts val="2850"/>
              </a:lnSpc>
              <a:buNone/>
            </a:pPr>
            <a:r>
              <a:rPr lang="en-US" sz="1800" kern="1200" dirty="0">
                <a:solidFill>
                  <a:srgbClr val="CFCBBF"/>
                </a:solidFill>
                <a:effectLst/>
                <a:latin typeface="Raleway" pitchFamily="2" charset="0"/>
                <a:ea typeface="Raleway" pitchFamily="2" charset="0"/>
                <a:cs typeface="Raleway" pitchFamily="2" charset="0"/>
              </a:rPr>
              <a:t>DNS operates at Layer 7, providing essential name resolution services to all Internet applications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78705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>
            <a:extLst>
              <a:ext uri="{FF2B5EF4-FFF2-40B4-BE49-F238E27FC236}">
                <a16:creationId xmlns:a16="http://schemas.microsoft.com/office/drawing/2014/main" id="{DBC2E7CF-D19B-3589-B6FE-84366DDF6093}"/>
              </a:ext>
            </a:extLst>
          </p:cNvPr>
          <p:cNvSpPr/>
          <p:nvPr/>
        </p:nvSpPr>
        <p:spPr>
          <a:xfrm>
            <a:off x="793790" y="850862"/>
            <a:ext cx="59074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Prata" pitchFamily="34" charset="0"/>
                <a:ea typeface="Prata" pitchFamily="34" charset="-122"/>
                <a:cs typeface="Prata" pitchFamily="34" charset="-120"/>
              </a:rPr>
              <a:t>Why DNS is Essential ?</a:t>
            </a:r>
            <a:endParaRPr lang="en-US" sz="4450" dirty="0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A0250486-C2BF-DE1D-3EA8-6A2BECE1A86D}"/>
              </a:ext>
            </a:extLst>
          </p:cNvPr>
          <p:cNvSpPr/>
          <p:nvPr/>
        </p:nvSpPr>
        <p:spPr>
          <a:xfrm>
            <a:off x="793790" y="1826439"/>
            <a:ext cx="4196358" cy="2969410"/>
          </a:xfrm>
          <a:prstGeom prst="roundRect">
            <a:avLst>
              <a:gd name="adj" fmla="val 1157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B0DB1E3A-93C7-8F6A-7732-5034E0371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02" y="2064551"/>
            <a:ext cx="687246" cy="687246"/>
          </a:xfrm>
          <a:prstGeom prst="rect">
            <a:avLst/>
          </a:prstGeom>
        </p:spPr>
      </p:pic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4E8C0528-082F-7FAC-CF62-A7BC96BE77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40" y="2253470"/>
            <a:ext cx="309171" cy="309171"/>
          </a:xfrm>
          <a:prstGeom prst="rect">
            <a:avLst/>
          </a:prstGeom>
        </p:spPr>
      </p:pic>
      <p:sp>
        <p:nvSpPr>
          <p:cNvPr id="26" name="Text 2">
            <a:extLst>
              <a:ext uri="{FF2B5EF4-FFF2-40B4-BE49-F238E27FC236}">
                <a16:creationId xmlns:a16="http://schemas.microsoft.com/office/drawing/2014/main" id="{2D4BBC38-7974-7B87-068C-561AB1C3ADF5}"/>
              </a:ext>
            </a:extLst>
          </p:cNvPr>
          <p:cNvSpPr/>
          <p:nvPr/>
        </p:nvSpPr>
        <p:spPr>
          <a:xfrm>
            <a:off x="1020604" y="2973439"/>
            <a:ext cx="2835235" cy="357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Human-Friendly</a:t>
            </a:r>
            <a:endParaRPr lang="en-US" sz="22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26394235-51AF-E546-3C41-75D44417B43A}"/>
              </a:ext>
            </a:extLst>
          </p:cNvPr>
          <p:cNvSpPr/>
          <p:nvPr/>
        </p:nvSpPr>
        <p:spPr>
          <a:xfrm>
            <a:off x="1020604" y="3460185"/>
            <a:ext cx="3742730" cy="1099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Humans remember names easily, while computers operate with numerical IP addresses</a:t>
            </a:r>
            <a:endParaRPr lang="en-US" sz="175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44AE40F7-4137-91A5-E8B0-942725EC4940}"/>
              </a:ext>
            </a:extLst>
          </p:cNvPr>
          <p:cNvSpPr/>
          <p:nvPr/>
        </p:nvSpPr>
        <p:spPr>
          <a:xfrm>
            <a:off x="795567" y="4616640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74754F44-05A4-F8FE-5CA7-8B988BE436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750" y="4846823"/>
            <a:ext cx="673705" cy="673705"/>
          </a:xfrm>
          <a:prstGeom prst="rect">
            <a:avLst/>
          </a:prstGeom>
        </p:spPr>
      </p:pic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2C5AA338-8828-8180-3EA3-3A96ABE02B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1063" y="5032017"/>
            <a:ext cx="303079" cy="303079"/>
          </a:xfrm>
          <a:prstGeom prst="rect">
            <a:avLst/>
          </a:prstGeom>
        </p:spPr>
      </p:pic>
      <p:sp>
        <p:nvSpPr>
          <p:cNvPr id="31" name="Text 5">
            <a:extLst>
              <a:ext uri="{FF2B5EF4-FFF2-40B4-BE49-F238E27FC236}">
                <a16:creationId xmlns:a16="http://schemas.microsoft.com/office/drawing/2014/main" id="{120CF793-EE1B-660F-9A26-890BA2D96213}"/>
              </a:ext>
            </a:extLst>
          </p:cNvPr>
          <p:cNvSpPr/>
          <p:nvPr/>
        </p:nvSpPr>
        <p:spPr>
          <a:xfrm>
            <a:off x="1022381" y="5752465"/>
            <a:ext cx="2835235" cy="350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29822CF2-EF5B-75FC-91D2-F174C26DBD8A}"/>
              </a:ext>
            </a:extLst>
          </p:cNvPr>
          <p:cNvSpPr/>
          <p:nvPr/>
        </p:nvSpPr>
        <p:spPr>
          <a:xfrm>
            <a:off x="1022381" y="6241129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Supports billions of domain names across a distributed global infrastructure</a:t>
            </a:r>
            <a:endParaRPr lang="en-US" sz="1750" dirty="0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392D6220-809F-17B3-7289-269744492DFD}"/>
              </a:ext>
            </a:extLst>
          </p:cNvPr>
          <p:cNvSpPr/>
          <p:nvPr/>
        </p:nvSpPr>
        <p:spPr>
          <a:xfrm>
            <a:off x="5324172" y="4498291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>
            <a:extLst>
              <a:ext uri="{FF2B5EF4-FFF2-40B4-BE49-F238E27FC236}">
                <a16:creationId xmlns:a16="http://schemas.microsoft.com/office/drawing/2014/main" id="{1CAFE2E0-1359-76BC-E1C2-FFD6F06BAD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0987" y="4725105"/>
            <a:ext cx="680442" cy="680442"/>
          </a:xfrm>
          <a:prstGeom prst="rect">
            <a:avLst/>
          </a:prstGeom>
        </p:spPr>
      </p:pic>
      <p:pic>
        <p:nvPicPr>
          <p:cNvPr id="35" name="Image 5" descr="preencoded.png">
            <a:extLst>
              <a:ext uri="{FF2B5EF4-FFF2-40B4-BE49-F238E27FC236}">
                <a16:creationId xmlns:a16="http://schemas.microsoft.com/office/drawing/2014/main" id="{A8A7E6B0-521A-5AC0-019B-65786D2197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38153" y="4912152"/>
            <a:ext cx="306110" cy="306110"/>
          </a:xfrm>
          <a:prstGeom prst="rect">
            <a:avLst/>
          </a:prstGeom>
        </p:spPr>
      </p:pic>
      <p:sp>
        <p:nvSpPr>
          <p:cNvPr id="36" name="Text 8">
            <a:extLst>
              <a:ext uri="{FF2B5EF4-FFF2-40B4-BE49-F238E27FC236}">
                <a16:creationId xmlns:a16="http://schemas.microsoft.com/office/drawing/2014/main" id="{4B004287-00A8-37D3-B90D-7CE490D67AEF}"/>
              </a:ext>
            </a:extLst>
          </p:cNvPr>
          <p:cNvSpPr/>
          <p:nvPr/>
        </p:nvSpPr>
        <p:spPr>
          <a:xfrm>
            <a:off x="5550987" y="56323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Flexibility</a:t>
            </a:r>
            <a:endParaRPr lang="en-US" sz="22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8A3C4470-C766-932D-3DB2-934716D8DACB}"/>
              </a:ext>
            </a:extLst>
          </p:cNvPr>
          <p:cNvSpPr/>
          <p:nvPr/>
        </p:nvSpPr>
        <p:spPr>
          <a:xfrm>
            <a:off x="5550987" y="6122780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IP addresses can change without affecting the domain name users rely on</a:t>
            </a:r>
            <a:endParaRPr lang="en-US" sz="175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5538A01C-77CB-4F83-9E30-300A7B0B4E6A}"/>
              </a:ext>
            </a:extLst>
          </p:cNvPr>
          <p:cNvSpPr/>
          <p:nvPr/>
        </p:nvSpPr>
        <p:spPr>
          <a:xfrm>
            <a:off x="793790" y="76611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DNS functions as the </a:t>
            </a:r>
            <a:r>
              <a:rPr lang="en-US" sz="17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phonebook of the Internet</a:t>
            </a: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making web navigation intuitive and accessible for everyone.</a:t>
            </a:r>
            <a:endParaRPr lang="en-US" sz="17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82244E4-0F0F-8178-EB70-7C140AD9E8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7618" y="-35667"/>
            <a:ext cx="6032782" cy="465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184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08024" y="543629"/>
            <a:ext cx="7013711" cy="1164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2">
                    <a:lumMod val="10000"/>
                    <a:lumOff val="90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Prata" pitchFamily="34" charset="-120"/>
              </a:rPr>
              <a:t>How does DNS work?</a:t>
            </a:r>
            <a:endParaRPr lang="en-US" sz="40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2">
                  <a:lumMod val="10000"/>
                  <a:lumOff val="90000"/>
                </a:schemeClr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+mj-lt"/>
              <a:ea typeface="+mj-ea"/>
            </a:endParaRPr>
          </a:p>
        </p:txBody>
      </p:sp>
      <p:pic>
        <p:nvPicPr>
          <p:cNvPr id="1043" name="Picture 19" descr="What is a Domain Name System (DNS)?">
            <a:extLst>
              <a:ext uri="{FF2B5EF4-FFF2-40B4-BE49-F238E27FC236}">
                <a16:creationId xmlns:a16="http://schemas.microsoft.com/office/drawing/2014/main" id="{B5463EB3-5EB4-096D-DE37-9967BD9FB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6280" y="2174612"/>
            <a:ext cx="5173835" cy="388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tangle 17">
            <a:extLst>
              <a:ext uri="{FF2B5EF4-FFF2-40B4-BE49-F238E27FC236}">
                <a16:creationId xmlns:a16="http://schemas.microsoft.com/office/drawing/2014/main" id="{941301CB-3B5B-53C7-5734-39632F5050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35366" y="2194561"/>
            <a:ext cx="7013712" cy="46392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342900" marR="0" lvl="0" indent="-342900" defTabSz="457200" fontAlgn="base">
              <a:lnSpc>
                <a:spcPct val="90000"/>
              </a:lnSpc>
              <a:spcAft>
                <a:spcPts val="600"/>
              </a:spcAft>
              <a:buFont typeface="Wingdings 2" charset="2"/>
              <a:buChar char="q"/>
              <a:tabLst/>
            </a:pPr>
            <a:r>
              <a:rPr kumimoji="0" lang="en-US" altLang="en-US" b="1" i="0" u="none" strike="noStrike" cap="none" normalizeH="0" baseline="0" dirty="0"/>
              <a:t>DNS is the phone book of the Internet</a:t>
            </a:r>
            <a:endParaRPr kumimoji="0" lang="en-US" altLang="en-US" b="0" i="0" u="none" strike="noStrike" cap="none" normalizeH="0" baseline="0" dirty="0"/>
          </a:p>
          <a:p>
            <a:pPr marL="342900" marR="0" lvl="0" indent="-342900" defTabSz="457200" fontAlgn="base">
              <a:lnSpc>
                <a:spcPct val="90000"/>
              </a:lnSpc>
              <a:spcAft>
                <a:spcPts val="600"/>
              </a:spcAft>
              <a:buFont typeface="Wingdings 2" charset="2"/>
              <a:buChar char="q"/>
              <a:tabLst/>
            </a:pPr>
            <a:r>
              <a:rPr kumimoji="0" lang="en-US" altLang="en-US" b="0" i="0" u="none" strike="noStrike" cap="none" normalizeH="0" baseline="0" dirty="0"/>
              <a:t>It converts </a:t>
            </a:r>
            <a:r>
              <a:rPr kumimoji="0" lang="en-US" altLang="en-US" b="1" i="0" u="none" strike="noStrike" cap="none" normalizeH="0" baseline="0" dirty="0"/>
              <a:t>website names</a:t>
            </a:r>
            <a:r>
              <a:rPr kumimoji="0" lang="en-US" altLang="en-US" b="0" i="0" u="none" strike="noStrike" cap="none" normalizeH="0" baseline="0" dirty="0"/>
              <a:t> into </a:t>
            </a:r>
            <a:r>
              <a:rPr kumimoji="0" lang="en-US" altLang="en-US" b="1" i="0" u="none" strike="noStrike" cap="none" normalizeH="0" baseline="0" dirty="0"/>
              <a:t>IP addresses</a:t>
            </a:r>
            <a:endParaRPr kumimoji="0" lang="en-US" altLang="en-US" b="0" i="0" u="none" strike="noStrike" cap="none" normalizeH="0" baseline="0" dirty="0"/>
          </a:p>
          <a:p>
            <a:pPr marL="342900" marR="0" lvl="0" indent="-342900" defTabSz="457200" fontAlgn="base">
              <a:lnSpc>
                <a:spcPct val="90000"/>
              </a:lnSpc>
              <a:spcAft>
                <a:spcPts val="600"/>
              </a:spcAft>
              <a:buFont typeface="Wingdings 2" charset="2"/>
              <a:buChar char="q"/>
              <a:tabLst/>
            </a:pPr>
            <a:r>
              <a:rPr kumimoji="0" lang="en-US" altLang="en-US" b="0" i="0" u="none" strike="noStrike" cap="none" normalizeH="0" baseline="0" dirty="0"/>
              <a:t>You type </a:t>
            </a:r>
            <a:r>
              <a:rPr kumimoji="0" lang="en-US" altLang="en-US" b="1" i="0" u="none" strike="noStrike" cap="none" normalizeH="0" baseline="0" dirty="0">
                <a:hlinkClick r:id="rId5"/>
              </a:rPr>
              <a:t>www.example.com</a:t>
            </a:r>
            <a:endParaRPr kumimoji="0" lang="en-US" altLang="en-US" b="0" i="0" u="none" strike="noStrike" cap="none" normalizeH="0" baseline="0" dirty="0"/>
          </a:p>
          <a:p>
            <a:pPr marL="342900" marR="0" lvl="0" indent="-342900" defTabSz="457200" fontAlgn="base">
              <a:lnSpc>
                <a:spcPct val="90000"/>
              </a:lnSpc>
              <a:spcAft>
                <a:spcPts val="600"/>
              </a:spcAft>
              <a:buFont typeface="Wingdings 2" charset="2"/>
              <a:buChar char="q"/>
              <a:tabLst/>
            </a:pPr>
            <a:r>
              <a:rPr kumimoji="0" lang="en-US" altLang="en-US" b="0" i="0" u="none" strike="noStrike" cap="none" normalizeH="0" baseline="0" dirty="0"/>
              <a:t>Browser needs the </a:t>
            </a:r>
            <a:r>
              <a:rPr kumimoji="0" lang="en-US" altLang="en-US" b="1" i="0" u="none" strike="noStrike" cap="none" normalizeH="0" baseline="0" dirty="0"/>
              <a:t>IP address</a:t>
            </a:r>
            <a:r>
              <a:rPr kumimoji="0" lang="en-US" altLang="en-US" b="0" i="0" u="none" strike="noStrike" cap="none" normalizeH="0" baseline="0" dirty="0"/>
              <a:t> (like finding a phone number)</a:t>
            </a:r>
          </a:p>
          <a:p>
            <a:pPr marL="0" marR="0" lvl="0" indent="0" defTabSz="457200" fontAlgn="base">
              <a:lnSpc>
                <a:spcPct val="90000"/>
              </a:lnSpc>
              <a:spcAft>
                <a:spcPts val="600"/>
              </a:spcAft>
              <a:buNone/>
              <a:tabLst/>
            </a:pPr>
            <a:r>
              <a:rPr kumimoji="0" lang="en-US" altLang="en-US" b="1" i="0" u="none" strike="noStrike" cap="none" normalizeH="0" baseline="0" dirty="0"/>
              <a:t>DNS process (behind the scenes):</a:t>
            </a:r>
            <a:endParaRPr kumimoji="0" lang="en-US" altLang="en-US" b="0" i="0" u="none" strike="noStrike" cap="none" normalizeH="0" baseline="0" dirty="0"/>
          </a:p>
          <a:p>
            <a:pPr marL="342900" marR="0" lvl="0" indent="-342900" defTabSz="457200" fontAlgn="base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/>
              <a:t>Browser asks a </a:t>
            </a:r>
            <a:r>
              <a:rPr kumimoji="0" lang="en-US" altLang="en-US" b="1" i="0" u="none" strike="noStrike" cap="none" normalizeH="0" baseline="0" dirty="0"/>
              <a:t>DNS resolver</a:t>
            </a:r>
            <a:endParaRPr kumimoji="0" lang="en-US" altLang="en-US" b="0" i="0" u="none" strike="noStrike" cap="none" normalizeH="0" baseline="0" dirty="0"/>
          </a:p>
          <a:p>
            <a:pPr marL="342900" marR="0" lvl="0" indent="-342900" defTabSz="457200" fontAlgn="base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/>
              <a:t>Resolver checks DNS servers</a:t>
            </a:r>
          </a:p>
          <a:p>
            <a:pPr marL="342900" marR="0" lvl="0" indent="-342900" defTabSz="457200" fontAlgn="base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/>
              <a:t>Gets the correct </a:t>
            </a:r>
            <a:r>
              <a:rPr kumimoji="0" lang="en-US" altLang="en-US" b="1" i="0" u="none" strike="noStrike" cap="none" normalizeH="0" baseline="0" dirty="0"/>
              <a:t>IP address</a:t>
            </a:r>
            <a:endParaRPr kumimoji="0" lang="en-US" altLang="en-US" b="0" i="0" u="none" strike="noStrike" cap="none" normalizeH="0" baseline="0" dirty="0"/>
          </a:p>
          <a:p>
            <a:pPr marL="342900" marR="0" lvl="0" indent="-342900" defTabSz="457200" fontAlgn="base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/>
              <a:t>Browser uses the IP address to load the website</a:t>
            </a:r>
          </a:p>
          <a:p>
            <a:pPr marL="342900" marR="0" lvl="0" indent="-342900" defTabSz="457200" fontAlgn="base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/>
              <a:t>Key point:</a:t>
            </a:r>
            <a:br>
              <a:rPr kumimoji="0" lang="en-US" altLang="en-US" b="0" i="0" u="none" strike="noStrike" cap="none" normalizeH="0" baseline="0" dirty="0"/>
            </a:br>
            <a:r>
              <a:rPr kumimoji="0" lang="en-US" altLang="en-US" b="0" i="0" u="none" strike="noStrike" cap="none" normalizeH="0" baseline="0" dirty="0"/>
              <a:t>DNS works automatically and makes websites easy to access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04FDFC-6B59-037A-D23B-1E7BC660CA65}"/>
              </a:ext>
            </a:extLst>
          </p:cNvPr>
          <p:cNvSpPr txBox="1"/>
          <p:nvPr/>
        </p:nvSpPr>
        <p:spPr>
          <a:xfrm>
            <a:off x="2521592" y="4344912"/>
            <a:ext cx="1060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Resolver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DA71B-A3DC-1870-1D03-657BCD127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08" y="442153"/>
            <a:ext cx="7173686" cy="1595515"/>
          </a:xfrm>
        </p:spPr>
        <p:txBody>
          <a:bodyPr>
            <a:normAutofit/>
          </a:bodyPr>
          <a:lstStyle/>
          <a:p>
            <a:pPr marL="342900" marR="0" lvl="0" indent="-342900" defTabSz="457200" fontAlgn="base">
              <a:spcAft>
                <a:spcPts val="600"/>
              </a:spcAft>
              <a:tabLst/>
            </a:pPr>
            <a:r>
              <a:rPr lang="en-US" altLang="en-US" b="1" dirty="0"/>
              <a:t>DNS resolver</a:t>
            </a:r>
            <a:endParaRPr lang="en-US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64C476-D408-CE7F-3417-AFBED3B495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554" y="1778606"/>
            <a:ext cx="7173686" cy="6143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sz="1800" b="1" dirty="0"/>
              <a:t>DNS Resolver (Recursive Resolver)</a:t>
            </a:r>
          </a:p>
          <a:p>
            <a:pPr marL="44280" indent="0">
              <a:buNone/>
            </a:pPr>
            <a:r>
              <a:rPr lang="en-US" sz="1800" b="1" dirty="0"/>
              <a:t>         First stop</a:t>
            </a:r>
            <a:r>
              <a:rPr lang="en-US" sz="1800" dirty="0"/>
              <a:t> in the DNS lookup process</a:t>
            </a:r>
          </a:p>
          <a:p>
            <a:pPr marL="44280" indent="0">
              <a:buNone/>
            </a:pPr>
            <a:r>
              <a:rPr lang="en-US" sz="1800" dirty="0"/>
              <a:t>           Receives request from the </a:t>
            </a:r>
            <a:r>
              <a:rPr lang="en-US" sz="1800" b="1" dirty="0"/>
              <a:t>DNS client (web browser)</a:t>
            </a:r>
            <a:endParaRPr lang="en-US" sz="1800" dirty="0"/>
          </a:p>
          <a:p>
            <a:r>
              <a:rPr lang="en-US" sz="1800" b="1" dirty="0"/>
              <a:t>Function:</a:t>
            </a:r>
            <a:endParaRPr lang="en-US" sz="1800" dirty="0"/>
          </a:p>
          <a:p>
            <a:pPr lvl="1"/>
            <a:r>
              <a:rPr lang="en-US" sz="1800" dirty="0"/>
              <a:t>Converts URL into an </a:t>
            </a:r>
            <a:r>
              <a:rPr lang="en-US" sz="1800" b="1" dirty="0"/>
              <a:t>IP address</a:t>
            </a:r>
            <a:endParaRPr lang="en-US" sz="1800" dirty="0"/>
          </a:p>
          <a:p>
            <a:pPr lvl="1"/>
            <a:r>
              <a:rPr lang="en-US" sz="1800" dirty="0"/>
              <a:t>Contacts other DNS servers to get the answer</a:t>
            </a:r>
          </a:p>
          <a:p>
            <a:r>
              <a:rPr lang="en-US" sz="1800" b="1" dirty="0"/>
              <a:t>DNS Query Types:</a:t>
            </a:r>
            <a:endParaRPr lang="en-US" sz="1800" dirty="0"/>
          </a:p>
          <a:p>
            <a:pPr lvl="1"/>
            <a:r>
              <a:rPr lang="en-US" sz="1800" b="1" dirty="0"/>
              <a:t>Recursive Query:</a:t>
            </a:r>
            <a:r>
              <a:rPr lang="en-US" sz="1800" dirty="0"/>
              <a:t> Client asks for final IP address</a:t>
            </a:r>
          </a:p>
          <a:p>
            <a:pPr lvl="1"/>
            <a:r>
              <a:rPr lang="en-US" sz="1800" b="1" dirty="0"/>
              <a:t>Iterative Query:</a:t>
            </a:r>
            <a:r>
              <a:rPr lang="en-US" sz="1800" dirty="0"/>
              <a:t> Resolver asks DNS servers step by step</a:t>
            </a:r>
          </a:p>
          <a:p>
            <a:r>
              <a:rPr lang="en-US" sz="1800" b="1" dirty="0"/>
              <a:t>Key Difference:</a:t>
            </a:r>
            <a:endParaRPr lang="en-US" sz="1800" dirty="0"/>
          </a:p>
          <a:p>
            <a:pPr lvl="1"/>
            <a:r>
              <a:rPr lang="en-US" sz="1800" dirty="0"/>
              <a:t>Recursive </a:t>
            </a:r>
            <a:r>
              <a:rPr lang="en-US" sz="1800" b="1" dirty="0"/>
              <a:t>query</a:t>
            </a:r>
            <a:r>
              <a:rPr lang="en-US" sz="1800" dirty="0"/>
              <a:t> → request</a:t>
            </a:r>
          </a:p>
          <a:p>
            <a:pPr lvl="1"/>
            <a:r>
              <a:rPr lang="en-US" sz="1800" dirty="0"/>
              <a:t>Recursive </a:t>
            </a:r>
            <a:r>
              <a:rPr lang="en-US" sz="1800" b="1" dirty="0"/>
              <a:t>resolver</a:t>
            </a:r>
            <a:r>
              <a:rPr lang="en-US" sz="1800" dirty="0"/>
              <a:t> → server handling the request</a:t>
            </a:r>
          </a:p>
          <a:p>
            <a:r>
              <a:rPr lang="en-US" sz="1800" b="1" dirty="0"/>
              <a:t>Flow:</a:t>
            </a:r>
            <a:endParaRPr lang="en-US" sz="1800" dirty="0"/>
          </a:p>
          <a:p>
            <a:pPr lvl="1"/>
            <a:r>
              <a:rPr lang="en-US" sz="1800" dirty="0"/>
              <a:t>DNS Client → DNS Recursive Resolver → DNS Servers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EE9CAC-347C-43C2-AE87-6BC5566E6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8679486" y="1"/>
            <a:ext cx="5950914" cy="8229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8E6F13-D9E4-0514-E875-8D9EE55FE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8732" y="1239910"/>
            <a:ext cx="5116770" cy="354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021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793790" y="623768"/>
            <a:ext cx="487513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latin typeface="Prata" pitchFamily="34" charset="0"/>
                <a:ea typeface="Prata" pitchFamily="34" charset="-122"/>
                <a:cs typeface="Prata" pitchFamily="34" charset="-120"/>
              </a:rPr>
              <a:t>DNS Hierarchy Structure</a:t>
            </a:r>
            <a:endParaRPr lang="en-US" sz="3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225" y="1342192"/>
            <a:ext cx="9129951" cy="446377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6007" y="3718076"/>
            <a:ext cx="285043" cy="285043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966414" y="1694879"/>
            <a:ext cx="1970077" cy="253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Root</a:t>
            </a:r>
            <a:endParaRPr lang="en-US" sz="1350" dirty="0"/>
          </a:p>
        </p:txBody>
      </p:sp>
      <p:sp>
        <p:nvSpPr>
          <p:cNvPr id="8" name="Text 2"/>
          <p:cNvSpPr/>
          <p:nvPr/>
        </p:nvSpPr>
        <p:spPr>
          <a:xfrm>
            <a:off x="2966414" y="2020642"/>
            <a:ext cx="1970077" cy="172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Dot at top of DNS tree  </a:t>
            </a:r>
            <a:endParaRPr lang="en-US" sz="1050" dirty="0"/>
          </a:p>
        </p:txBody>
      </p:sp>
      <p:sp>
        <p:nvSpPr>
          <p:cNvPr id="9" name="Text 3"/>
          <p:cNvSpPr/>
          <p:nvPr/>
        </p:nvSpPr>
        <p:spPr>
          <a:xfrm>
            <a:off x="2966414" y="2265246"/>
            <a:ext cx="1970077" cy="172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</a:rPr>
              <a:t>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9738" y="3718076"/>
            <a:ext cx="285043" cy="28504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686263" y="1694879"/>
            <a:ext cx="1970078" cy="253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Top-Level Domains</a:t>
            </a:r>
            <a:endParaRPr lang="en-US" sz="1350" dirty="0"/>
          </a:p>
        </p:txBody>
      </p:sp>
      <p:sp>
        <p:nvSpPr>
          <p:cNvPr id="12" name="Text 5"/>
          <p:cNvSpPr/>
          <p:nvPr/>
        </p:nvSpPr>
        <p:spPr>
          <a:xfrm>
            <a:off x="9686263" y="2020642"/>
            <a:ext cx="1970078" cy="172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.com .org .edu and others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3469" y="3718076"/>
            <a:ext cx="285043" cy="28504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2966414" y="4043135"/>
            <a:ext cx="1970077" cy="5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Second-Level Domains</a:t>
            </a:r>
            <a:endParaRPr lang="en-US" sz="1350" dirty="0"/>
          </a:p>
        </p:txBody>
      </p:sp>
      <p:sp>
        <p:nvSpPr>
          <p:cNvPr id="15" name="Text 7"/>
          <p:cNvSpPr/>
          <p:nvPr/>
        </p:nvSpPr>
        <p:spPr>
          <a:xfrm>
            <a:off x="2966414" y="4622519"/>
            <a:ext cx="1970077" cy="172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Example: google.com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6218" y="3718076"/>
            <a:ext cx="285043" cy="28504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677104" y="4043135"/>
            <a:ext cx="1970078" cy="253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Subdomains</a:t>
            </a:r>
            <a:endParaRPr lang="en-US" sz="1350" dirty="0"/>
          </a:p>
        </p:txBody>
      </p:sp>
      <p:sp>
        <p:nvSpPr>
          <p:cNvPr id="18" name="Text 9"/>
          <p:cNvSpPr/>
          <p:nvPr/>
        </p:nvSpPr>
        <p:spPr>
          <a:xfrm>
            <a:off x="9677104" y="4368897"/>
            <a:ext cx="1970078" cy="344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Example: mail.google.com</a:t>
            </a:r>
            <a:endParaRPr lang="en-US" sz="1050" dirty="0"/>
          </a:p>
        </p:txBody>
      </p:sp>
      <p:sp>
        <p:nvSpPr>
          <p:cNvPr id="19" name="Text 10"/>
          <p:cNvSpPr/>
          <p:nvPr/>
        </p:nvSpPr>
        <p:spPr>
          <a:xfrm>
            <a:off x="793790" y="5930979"/>
            <a:ext cx="13042821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DNS follows a </a:t>
            </a:r>
            <a:r>
              <a:rPr lang="en-US" sz="12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tree-like hierarchical structure</a:t>
            </a: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that starts at the root and branches down through increasingly specific domain levels. This organization enables efficient query routing and distributed management of the global domain name space.</a:t>
            </a:r>
            <a:endParaRPr lang="en-US" sz="1250" dirty="0"/>
          </a:p>
        </p:txBody>
      </p:sp>
      <p:sp>
        <p:nvSpPr>
          <p:cNvPr id="20" name="Shape 11"/>
          <p:cNvSpPr/>
          <p:nvPr/>
        </p:nvSpPr>
        <p:spPr>
          <a:xfrm>
            <a:off x="679490" y="6487954"/>
            <a:ext cx="6556415" cy="1119187"/>
          </a:xfrm>
          <a:prstGeom prst="roundRect">
            <a:avLst>
              <a:gd name="adj" fmla="val 2128"/>
            </a:avLst>
          </a:prstGeom>
          <a:solidFill>
            <a:srgbClr val="EEE2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2"/>
          <p:cNvSpPr/>
          <p:nvPr/>
        </p:nvSpPr>
        <p:spPr>
          <a:xfrm>
            <a:off x="838200" y="6599039"/>
            <a:ext cx="224385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Why Hierarchy Matters</a:t>
            </a:r>
            <a:endParaRPr lang="en-US" sz="1550" dirty="0"/>
          </a:p>
        </p:txBody>
      </p:sp>
      <p:sp>
        <p:nvSpPr>
          <p:cNvPr id="22" name="Text 13"/>
          <p:cNvSpPr/>
          <p:nvPr/>
        </p:nvSpPr>
        <p:spPr>
          <a:xfrm>
            <a:off x="838200" y="6958132"/>
            <a:ext cx="6238994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hierarchical design allows DNS to scale globally while distributing administrative responsibility across millions of organizations and domain owners.</a:t>
            </a:r>
            <a:endParaRPr lang="en-US" sz="1250" dirty="0"/>
          </a:p>
        </p:txBody>
      </p:sp>
      <p:sp>
        <p:nvSpPr>
          <p:cNvPr id="23" name="Text 14"/>
          <p:cNvSpPr/>
          <p:nvPr/>
        </p:nvSpPr>
        <p:spPr>
          <a:xfrm>
            <a:off x="7516416" y="6587966"/>
            <a:ext cx="6327815" cy="863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Root Level (.)</a:t>
            </a: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The foundation of all DNS queries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TLDs</a:t>
            </a: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Categories like .com, .org, .edu, .gov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Second-Level</a:t>
            </a: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Organization names like google.com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Subdomains</a:t>
            </a: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Specific services like mail.google.com</a:t>
            </a:r>
            <a:endParaRPr lang="en-US" sz="12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8C4A294-1489-5267-F319-D0B6F4FFA8CB}"/>
              </a:ext>
            </a:extLst>
          </p:cNvPr>
          <p:cNvSpPr/>
          <p:nvPr/>
        </p:nvSpPr>
        <p:spPr>
          <a:xfrm>
            <a:off x="2854654" y="2037080"/>
            <a:ext cx="81280" cy="828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96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793790" y="742712"/>
            <a:ext cx="846176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200" b="1" dirty="0"/>
              <a:t>DNS servers involved in loading a webpage: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117" y="1788682"/>
            <a:ext cx="1020723" cy="1457682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9255558" y="189169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Root Name Servers</a:t>
            </a:r>
            <a:endParaRPr lang="en-US" sz="2000" dirty="0"/>
          </a:p>
        </p:txBody>
      </p:sp>
      <p:sp>
        <p:nvSpPr>
          <p:cNvPr id="8" name="Text 2"/>
          <p:cNvSpPr/>
          <p:nvPr/>
        </p:nvSpPr>
        <p:spPr>
          <a:xfrm>
            <a:off x="9255558" y="2289215"/>
            <a:ext cx="635198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ea typeface="Raleway" pitchFamily="34" charset="-122"/>
                <a:cs typeface="Raleway" pitchFamily="34" charset="-120"/>
              </a:rPr>
              <a:t>First step in DNS lookup.  It  redirect the request to the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ea typeface="Raleway" pitchFamily="34" charset="-122"/>
                <a:cs typeface="Raleway" pitchFamily="34" charset="-120"/>
              </a:rPr>
              <a:t> correct TLD server.  which one  .org or gov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50" y="3139747"/>
            <a:ext cx="1020723" cy="1457682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303669" y="333554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Top Level </a:t>
            </a:r>
            <a:r>
              <a:rPr lang="en-US" sz="2000" dirty="0" err="1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DomainTLD</a:t>
            </a:r>
            <a:r>
              <a:rPr lang="en-US" sz="2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Servers</a:t>
            </a:r>
            <a:endParaRPr lang="en-US" sz="2000" dirty="0"/>
          </a:p>
        </p:txBody>
      </p:sp>
      <p:sp>
        <p:nvSpPr>
          <p:cNvPr id="11" name="Text 4"/>
          <p:cNvSpPr/>
          <p:nvPr/>
        </p:nvSpPr>
        <p:spPr>
          <a:xfrm>
            <a:off x="1199573" y="3797418"/>
            <a:ext cx="635198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top-level domains like </a:t>
            </a:r>
            <a:r>
              <a:rPr lang="en-US" dirty="0"/>
              <a:t>e.g., .com, .org </a:t>
            </a: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and direct queries to authoritative servers  which abc.com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319" y="3211058"/>
            <a:ext cx="1020723" cy="1457682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255558" y="3446570"/>
            <a:ext cx="258865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Authoritative Servers</a:t>
            </a:r>
            <a:endParaRPr lang="en-US" sz="2000" dirty="0"/>
          </a:p>
        </p:txBody>
      </p:sp>
      <p:sp>
        <p:nvSpPr>
          <p:cNvPr id="14" name="Text 6"/>
          <p:cNvSpPr/>
          <p:nvPr/>
        </p:nvSpPr>
        <p:spPr>
          <a:xfrm>
            <a:off x="9255558" y="3878743"/>
            <a:ext cx="635198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Provide definitive answers for specific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domain names they are responsible for managing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703" y="1513139"/>
            <a:ext cx="1020723" cy="1457682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199573" y="171947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Recursive Resolver</a:t>
            </a:r>
            <a:endParaRPr lang="en-US" sz="2000" dirty="0"/>
          </a:p>
        </p:txBody>
      </p:sp>
      <p:sp>
        <p:nvSpPr>
          <p:cNvPr id="17" name="Text 8"/>
          <p:cNvSpPr/>
          <p:nvPr/>
        </p:nvSpPr>
        <p:spPr>
          <a:xfrm>
            <a:off x="1199573" y="2207246"/>
            <a:ext cx="635198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dirty="0"/>
              <a:t>Receives request from the </a:t>
            </a:r>
            <a:r>
              <a:rPr lang="en-US" sz="1600" b="1" dirty="0"/>
              <a:t>browser. </a:t>
            </a:r>
            <a:endParaRPr lang="en-US" sz="1600" dirty="0"/>
          </a:p>
        </p:txBody>
      </p:sp>
      <p:pic>
        <p:nvPicPr>
          <p:cNvPr id="7170" name="Picture 2" descr="DNS Record Request Sequence - DNS Recursive Resolver gets request from client">
            <a:extLst>
              <a:ext uri="{FF2B5EF4-FFF2-40B4-BE49-F238E27FC236}">
                <a16:creationId xmlns:a16="http://schemas.microsoft.com/office/drawing/2014/main" id="{72A8BD4D-C841-08E6-9C7B-A34F00D94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137" y="4597429"/>
            <a:ext cx="10746169" cy="4266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867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1530BD9-52F9-4722-2F7E-EBEF1AD73A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l="1" t="-2601" r="-3749" b="-5581"/>
          <a:stretch>
            <a:fillRect/>
          </a:stretch>
        </p:blipFill>
        <p:spPr>
          <a:xfrm>
            <a:off x="20" y="-1987296"/>
            <a:ext cx="15178830" cy="10802112"/>
          </a:xfrm>
          <a:prstGeom prst="rect">
            <a:avLst/>
          </a:prstGeom>
        </p:spPr>
      </p:pic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2BC8672-264F-16C2-4A45-C436DE3C1C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6143841"/>
              </p:ext>
            </p:extLst>
          </p:nvPr>
        </p:nvGraphicFramePr>
        <p:xfrm>
          <a:off x="-196770" y="1226775"/>
          <a:ext cx="14109519" cy="63487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Rectangle 6">
            <a:extLst>
              <a:ext uri="{FF2B5EF4-FFF2-40B4-BE49-F238E27FC236}">
                <a16:creationId xmlns:a16="http://schemas.microsoft.com/office/drawing/2014/main" id="{61DBB804-7103-245D-754A-6CF831E577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755075" y="150019"/>
            <a:ext cx="12423775" cy="1163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Common DNS Resource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93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76118" y="185665"/>
            <a:ext cx="7833479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latin typeface="Prata" pitchFamily="34" charset="0"/>
                <a:ea typeface="Prata" pitchFamily="34" charset="-122"/>
                <a:cs typeface="Prata" pitchFamily="34" charset="-120"/>
              </a:rPr>
              <a:t>Transport Protocols Used by DNS</a:t>
            </a:r>
            <a:endParaRPr lang="en-US" sz="3750" dirty="0"/>
          </a:p>
        </p:txBody>
      </p:sp>
      <p:sp>
        <p:nvSpPr>
          <p:cNvPr id="5" name="Shape 1"/>
          <p:cNvSpPr/>
          <p:nvPr/>
        </p:nvSpPr>
        <p:spPr>
          <a:xfrm>
            <a:off x="793790" y="1729145"/>
            <a:ext cx="5562670" cy="2385655"/>
          </a:xfrm>
          <a:prstGeom prst="roundRect">
            <a:avLst>
              <a:gd name="adj" fmla="val 945"/>
            </a:avLst>
          </a:prstGeom>
          <a:solidFill>
            <a:srgbClr val="1B1C1D"/>
          </a:solidFill>
          <a:ln w="22860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816650" y="1752005"/>
            <a:ext cx="3015496" cy="578406"/>
          </a:xfrm>
          <a:prstGeom prst="roundRect">
            <a:avLst>
              <a:gd name="adj" fmla="val 257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4135" y="1896547"/>
            <a:ext cx="289203" cy="28920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9412" y="189654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UDP Port 53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009412" y="2484157"/>
            <a:ext cx="5855018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Primary protocol</a:t>
            </a:r>
            <a:r>
              <a:rPr lang="en-US" sz="1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for standard DNS queries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70516" y="2891867"/>
            <a:ext cx="6444684" cy="122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 and lightweight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Connectionless communication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Efficient for small query/response exchanges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Preferred for speed and minimal overhead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793790" y="4772585"/>
            <a:ext cx="5562670" cy="3120936"/>
          </a:xfrm>
          <a:prstGeom prst="roundRect">
            <a:avLst>
              <a:gd name="adj" fmla="val 945"/>
            </a:avLst>
          </a:prstGeom>
          <a:solidFill>
            <a:srgbClr val="1B1C1D"/>
          </a:solidFill>
          <a:ln w="22860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816650" y="4761031"/>
            <a:ext cx="2897833" cy="578406"/>
          </a:xfrm>
          <a:prstGeom prst="roundRect">
            <a:avLst>
              <a:gd name="adj" fmla="val 257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2712" y="4835640"/>
            <a:ext cx="277919" cy="2779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9412" y="4864371"/>
            <a:ext cx="231590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TCP Port 53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70516" y="5440113"/>
            <a:ext cx="5784210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Alternative protocol</a:t>
            </a:r>
            <a:r>
              <a:rPr lang="en-US" sz="1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for special cases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981286" y="6194570"/>
            <a:ext cx="5562670" cy="285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Used when responses exceed 512 bytes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Required for zone transfers between DNS servers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Provides reliable, connection-oriented delivery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Ensures complete data transmission</a:t>
            </a:r>
            <a:endParaRPr lang="en-US" sz="1500" dirty="0"/>
          </a:p>
        </p:txBody>
      </p:sp>
      <p:sp>
        <p:nvSpPr>
          <p:cNvPr id="19" name="AutoShape 2" descr="Transmission Control Protocol (TCP) - GeeksforGeeks">
            <a:extLst>
              <a:ext uri="{FF2B5EF4-FFF2-40B4-BE49-F238E27FC236}">
                <a16:creationId xmlns:a16="http://schemas.microsoft.com/office/drawing/2014/main" id="{FBB429F9-57C4-1788-78A2-F937E26FCD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AutoShape 6" descr="Transmission Control Protocol (TCP) - GeeksforGeeks">
            <a:extLst>
              <a:ext uri="{FF2B5EF4-FFF2-40B4-BE49-F238E27FC236}">
                <a16:creationId xmlns:a16="http://schemas.microsoft.com/office/drawing/2014/main" id="{2D3155A9-D479-C057-957F-A013065AAA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56" name="Picture 12" descr="What is Transmission Control Protocol (TCP)? Overview 2025">
            <a:extLst>
              <a:ext uri="{FF2B5EF4-FFF2-40B4-BE49-F238E27FC236}">
                <a16:creationId xmlns:a16="http://schemas.microsoft.com/office/drawing/2014/main" id="{B0E28277-C018-10DA-CB90-85D652D80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956" y="2769431"/>
            <a:ext cx="7620000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474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7BBF3FB-2E22-38C6-61CD-7308B87493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335366" y="731520"/>
            <a:ext cx="7013711" cy="11645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457200" fontAlgn="ctr"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>
                <a:cs typeface="Poppins" panose="00000500000000000000" pitchFamily="2" charset="0"/>
              </a:rPr>
              <a:t>DNS Security Challenges</a:t>
            </a:r>
          </a:p>
          <a:p>
            <a:pPr marL="0" marR="0" lvl="0" indent="0" defTabSz="457200" fontAlgn="base">
              <a:spcAft>
                <a:spcPct val="0"/>
              </a:spcAft>
              <a:buClrTx/>
              <a:buSzTx/>
              <a:tabLst/>
            </a:pPr>
            <a:endParaRPr kumimoji="0" lang="en-US" altLang="en-US" sz="4000" b="0" i="0" u="none" strike="noStrike" cap="none" normalizeH="0" baseline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405F23C-C82E-4181-95EA-321F3D891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2780" y="1"/>
            <a:ext cx="5960036" cy="8229600"/>
          </a:xfrm>
          <a:prstGeom prst="rect">
            <a:avLst/>
          </a:prstGeom>
        </p:spPr>
      </p:pic>
      <p:pic>
        <p:nvPicPr>
          <p:cNvPr id="13" name="Graphic 12" descr="Lock">
            <a:extLst>
              <a:ext uri="{FF2B5EF4-FFF2-40B4-BE49-F238E27FC236}">
                <a16:creationId xmlns:a16="http://schemas.microsoft.com/office/drawing/2014/main" id="{C4BE0E37-1CC8-23FD-E426-3D14C5745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378" y="1432265"/>
            <a:ext cx="4803831" cy="4803831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0AE3867-BCB2-1EF5-D1F8-AEDE55858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5366" y="2194561"/>
            <a:ext cx="7429402" cy="542543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q"/>
              <a:tabLst/>
            </a:pPr>
            <a:r>
              <a:rPr kumimoji="0" lang="en-US" altLang="en-US" sz="1500" b="1" i="0" u="none" strike="noStrike" cap="none" normalizeH="0" baseline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DNS Spoofing / Cache Poisoning</a:t>
            </a:r>
            <a:r>
              <a:rPr lang="en-US" altLang="en-US" sz="15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:</a:t>
            </a:r>
          </a:p>
          <a:p>
            <a:pPr marL="3257550" lvl="6" indent="-51435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AutoNum type="romanUcPeriod"/>
            </a:pPr>
            <a:r>
              <a:rPr kumimoji="0" lang="en-US" altLang="en-US" sz="1500" b="0" i="0" u="none" strike="noStrike" cap="none" normalizeH="0" baseline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Fake DNS records are inserted,</a:t>
            </a:r>
          </a:p>
          <a:p>
            <a:pPr marL="3257550" lvl="6" indent="-51435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AutoNum type="romanUcPeriod"/>
            </a:pPr>
            <a:r>
              <a:rPr kumimoji="0" lang="en-US" altLang="en-US" sz="1500" b="0" i="0" u="none" strike="noStrike" cap="none" normalizeH="0" baseline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Users are redirected to </a:t>
            </a:r>
            <a:r>
              <a:rPr kumimoji="0" lang="en-US" altLang="en-US" sz="1500" b="1" i="0" u="none" strike="noStrike" cap="none" normalizeH="0" baseline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malicious websites</a:t>
            </a:r>
          </a:p>
          <a:p>
            <a:pPr lvl="6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endParaRPr kumimoji="0" lang="en-US" altLang="en-US" sz="1500" b="0" i="0" u="none" strike="noStrike" cap="none" normalizeH="0" baseline="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marL="342900" marR="0" lvl="0" indent="-3429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q"/>
              <a:tabLst/>
            </a:pPr>
            <a:r>
              <a:rPr kumimoji="0" lang="en-US" altLang="en-US" sz="1500" b="1" i="0" u="none" strike="noStrike" cap="none" normalizeH="0" baseline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DDoS Attacks on DNS:</a:t>
            </a:r>
          </a:p>
          <a:p>
            <a:pPr marL="3257550" lvl="6" indent="-51435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AutoNum type="romanUcPeriod"/>
            </a:pPr>
            <a:r>
              <a:rPr kumimoji="0" lang="en-US" altLang="en-US" sz="1500" b="0" i="0" u="none" strike="noStrike" cap="none" normalizeH="0" baseline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DNS servers are flooded with traffic, </a:t>
            </a:r>
          </a:p>
          <a:p>
            <a:pPr marL="3257550" lvl="6" indent="-51435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AutoNum type="romanUcPeriod"/>
            </a:pPr>
            <a:r>
              <a:rPr kumimoji="0" lang="en-US" altLang="en-US" sz="1500" b="0" i="0" u="none" strike="noStrike" cap="none" normalizeH="0" baseline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Causes </a:t>
            </a:r>
            <a:r>
              <a:rPr kumimoji="0" lang="en-US" altLang="en-US" sz="1500" b="1" i="0" u="none" strike="noStrike" cap="none" normalizeH="0" baseline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service disruption</a:t>
            </a:r>
            <a:r>
              <a:rPr kumimoji="0" lang="en-US" altLang="en-US" sz="1500" b="0" i="0" u="none" strike="noStrike" cap="none" normalizeH="0" baseline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and slow or failed access</a:t>
            </a:r>
          </a:p>
          <a:p>
            <a:pPr lvl="6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endParaRPr kumimoji="0" lang="en-US" altLang="en-US" sz="1500" b="0" i="0" u="none" strike="noStrike" cap="none" normalizeH="0" baseline="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marL="342900" marR="0" lvl="0" indent="-3429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q"/>
              <a:tabLst/>
            </a:pPr>
            <a:r>
              <a:rPr kumimoji="0" lang="en-US" altLang="en-US" sz="1500" b="1" i="0" u="none" strike="noStrike" cap="none" normalizeH="0" baseline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Man-in-the-Middle (MITM) Attack:</a:t>
            </a:r>
          </a:p>
          <a:p>
            <a:pPr marL="3257550" lvl="6" indent="-51435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AutoNum type="romanUcPeriod"/>
            </a:pPr>
            <a:r>
              <a:rPr kumimoji="0" lang="en-US" altLang="en-US" sz="1500" b="1" i="0" u="none" strike="noStrike" cap="none" normalizeH="0" baseline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Attacker intercepts DNS queries</a:t>
            </a:r>
          </a:p>
          <a:p>
            <a:pPr marL="3257550" lvl="6" indent="-51435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AutoNum type="romanUcPeriod"/>
            </a:pPr>
            <a:r>
              <a:rPr kumimoji="0" lang="en-US" altLang="en-US" sz="1500" b="0" i="0" u="none" strike="noStrike" cap="none" normalizeH="0" baseline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Can </a:t>
            </a:r>
            <a:r>
              <a:rPr kumimoji="0" lang="en-US" altLang="en-US" sz="1500" b="1" i="0" u="none" strike="noStrike" cap="none" normalizeH="0" baseline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redirect traffic</a:t>
            </a:r>
            <a:r>
              <a:rPr kumimoji="0" lang="en-US" altLang="en-US" sz="1500" b="0" i="0" u="none" strike="noStrike" cap="none" normalizeH="0" baseline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or </a:t>
            </a:r>
            <a:r>
              <a:rPr kumimoji="0" lang="en-US" altLang="en-US" sz="1500" b="1" i="0" u="none" strike="noStrike" cap="none" normalizeH="0" baseline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steal information</a:t>
            </a:r>
            <a:endParaRPr kumimoji="0" lang="en-US" altLang="en-US" sz="1500" b="0" i="0" u="none" strike="noStrike" cap="none" normalizeH="0" baseline="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marL="0" marR="0" lvl="0" indent="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37945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471772-E57F-4CD9-9241-D264A2F78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85876" y="384048"/>
            <a:ext cx="13858647" cy="746150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54407D-F426-8DAD-8B85-68CDE1E90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3150" y="1156208"/>
            <a:ext cx="8219212" cy="59940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457200"/>
            <a:r>
              <a:rPr lang="en-US" sz="6200"/>
              <a:t>Thanku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CC7E9E-3FF6-4189-9B36-995A779F3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67069" y="2468878"/>
            <a:ext cx="0" cy="329184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87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215</TotalTime>
  <Words>785</Words>
  <Application>Microsoft Office PowerPoint</Application>
  <PresentationFormat>Custom</PresentationFormat>
  <Paragraphs>111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Raleway</vt:lpstr>
      <vt:lpstr>Poppins</vt:lpstr>
      <vt:lpstr>Roboto</vt:lpstr>
      <vt:lpstr>Arial</vt:lpstr>
      <vt:lpstr>Calisto MT</vt:lpstr>
      <vt:lpstr>Prata</vt:lpstr>
      <vt:lpstr>Wingdings 2</vt:lpstr>
      <vt:lpstr>Wingdings</vt:lpstr>
      <vt:lpstr>Slate</vt:lpstr>
      <vt:lpstr>PowerPoint Presentation</vt:lpstr>
      <vt:lpstr>PowerPoint Presentation</vt:lpstr>
      <vt:lpstr>PowerPoint Presentation</vt:lpstr>
      <vt:lpstr>PowerPoint Presentation</vt:lpstr>
      <vt:lpstr>DNS resolver</vt:lpstr>
      <vt:lpstr>PowerPoint Presentation</vt:lpstr>
      <vt:lpstr>PowerPoint Presentation</vt:lpstr>
      <vt:lpstr>Common DNS Resource Records </vt:lpstr>
      <vt:lpstr>PowerPoint Presentation</vt:lpstr>
      <vt:lpstr>DNS Security Challenges </vt:lpstr>
      <vt:lpstr>Thanku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raghav panthi</cp:lastModifiedBy>
  <cp:revision>5</cp:revision>
  <dcterms:created xsi:type="dcterms:W3CDTF">2026-01-29T11:31:59Z</dcterms:created>
  <dcterms:modified xsi:type="dcterms:W3CDTF">2026-01-29T09:24:03Z</dcterms:modified>
</cp:coreProperties>
</file>