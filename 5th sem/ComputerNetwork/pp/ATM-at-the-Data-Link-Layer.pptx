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  <p:sldId id="266" r:id="rId11"/>
  </p:sldIdLst>
  <p:sldSz cx="14630400" cy="8229600"/>
  <p:notesSz cx="8229600" cy="14630400"/>
  <p:embeddedFontLst>
    <p:embeddedFont>
      <p:font typeface="Amasis MT Pro Black" panose="02040A04050005020304" pitchFamily="18" charset="0"/>
      <p:bold r:id="rId13"/>
      <p:boldItalic r:id="rId14"/>
    </p:embeddedFont>
    <p:embeddedFont>
      <p:font typeface="Arimo" panose="020B0604020202020204" charset="0"/>
      <p:regular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461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0935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2395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accent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8437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194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1120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3855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5436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3643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367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7645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609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2316481" y="4525409"/>
            <a:ext cx="8735579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66180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8923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2243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31295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5523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3927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3009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394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0942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410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636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8148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5531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4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Relationship Id="rId30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3081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232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7" r:id="rId24"/>
    <p:sldLayoutId id="2147483798" r:id="rId25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46518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ATM </a:t>
            </a:r>
            <a:r>
              <a:rPr lang="en-US" sz="4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Asynchronous Transfer Mode </a:t>
            </a: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 the Data Link Layer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13366" y="7384186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By : Raghav Panthi  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2605921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ATM's Core Function at Layer 2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20154" y="3908583"/>
            <a:ext cx="7468553" cy="208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000" dirty="0"/>
              <a:t>ATM stands for </a:t>
            </a:r>
            <a:r>
              <a:rPr lang="en-US" sz="2000" b="1" dirty="0"/>
              <a:t>Asynchronous Transfer Mode</a:t>
            </a:r>
            <a:r>
              <a:rPr lang="en-US" sz="2000" dirty="0"/>
              <a:t>.</a:t>
            </a:r>
          </a:p>
          <a:p>
            <a:pPr>
              <a:lnSpc>
                <a:spcPts val="3000"/>
              </a:lnSpc>
            </a:pPr>
            <a:endParaRPr lang="en-US" sz="2000" dirty="0"/>
          </a:p>
          <a:p>
            <a:pPr>
              <a:lnSpc>
                <a:spcPts val="3000"/>
              </a:lnSpc>
            </a:pPr>
            <a:r>
              <a:rPr lang="en-US" sz="2000" dirty="0"/>
              <a:t>It is a </a:t>
            </a:r>
            <a:r>
              <a:rPr lang="en-US" sz="2000" b="1" dirty="0"/>
              <a:t>high-speed networking technology</a:t>
            </a:r>
            <a:r>
              <a:rPr lang="en-US" sz="2000" dirty="0"/>
              <a:t> used </a:t>
            </a:r>
          </a:p>
          <a:p>
            <a:pPr>
              <a:lnSpc>
                <a:spcPts val="3000"/>
              </a:lnSpc>
            </a:pPr>
            <a:r>
              <a:rPr lang="en-US" sz="2000" dirty="0"/>
              <a:t>to transfer data, voice, and video over a network.</a:t>
            </a:r>
            <a:endParaRPr lang="en-US" sz="1850" dirty="0"/>
          </a:p>
        </p:txBody>
      </p:sp>
      <p:sp>
        <p:nvSpPr>
          <p:cNvPr id="6" name="AutoShape 6" descr="Generated image">
            <a:extLst>
              <a:ext uri="{FF2B5EF4-FFF2-40B4-BE49-F238E27FC236}">
                <a16:creationId xmlns:a16="http://schemas.microsoft.com/office/drawing/2014/main" id="{4AAB2F21-0A61-3ECD-DDFB-7B0A9F643A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77892B-AFAD-FB7D-0F41-C338F5B6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509" y="1753123"/>
            <a:ext cx="7542230" cy="5028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695" y="629126"/>
            <a:ext cx="7178754" cy="538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</a:rPr>
              <a:t>Role of Atm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800695" y="1968103"/>
            <a:ext cx="6400086" cy="2036921"/>
          </a:xfrm>
          <a:prstGeom prst="roundRect">
            <a:avLst>
              <a:gd name="adj" fmla="val 7183"/>
            </a:avLst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0695" y="1937623"/>
            <a:ext cx="6400086" cy="121920"/>
          </a:xfrm>
          <a:prstGeom prst="roundRect">
            <a:avLst>
              <a:gd name="adj" fmla="val 2814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1624965"/>
            <a:ext cx="686276" cy="686276"/>
          </a:xfrm>
          <a:prstGeom prst="roundRect">
            <a:avLst>
              <a:gd name="adj" fmla="val 13324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63459" y="1796534"/>
            <a:ext cx="274439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59894" y="2539960"/>
            <a:ext cx="2691527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Framing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9894" y="3013591"/>
            <a:ext cx="5881687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Organizing data into distinct frames (cells) for transmission.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29500" y="1968104"/>
            <a:ext cx="6400205" cy="1956792"/>
          </a:xfrm>
          <a:prstGeom prst="roundRect">
            <a:avLst>
              <a:gd name="adj" fmla="val 7183"/>
            </a:avLst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29500" y="1937623"/>
            <a:ext cx="6400205" cy="121920"/>
          </a:xfrm>
          <a:prstGeom prst="roundRect">
            <a:avLst>
              <a:gd name="adj" fmla="val 2814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286405" y="1624965"/>
            <a:ext cx="686276" cy="686276"/>
          </a:xfrm>
          <a:prstGeom prst="roundRect">
            <a:avLst>
              <a:gd name="adj" fmla="val 13324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92264" y="1796534"/>
            <a:ext cx="274439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688699" y="2539960"/>
            <a:ext cx="2691527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Error Detection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88699" y="3013591"/>
            <a:ext cx="5881807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transmission errors are find out 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3436" y="4418052"/>
            <a:ext cx="6400086" cy="2036921"/>
          </a:xfrm>
          <a:prstGeom prst="roundRect">
            <a:avLst>
              <a:gd name="adj" fmla="val 7183"/>
            </a:avLst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0695" y="4546402"/>
            <a:ext cx="6400086" cy="121920"/>
          </a:xfrm>
          <a:prstGeom prst="roundRect">
            <a:avLst>
              <a:gd name="adj" fmla="val 2814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0" y="4233743"/>
            <a:ext cx="686276" cy="686276"/>
          </a:xfrm>
          <a:prstGeom prst="roundRect">
            <a:avLst>
              <a:gd name="adj" fmla="val 13324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63459" y="4405313"/>
            <a:ext cx="274439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1059894" y="5148739"/>
            <a:ext cx="2691527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Flow Control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59894" y="5622369"/>
            <a:ext cx="5881687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Managing data transmission rates between devices to prevent overflow.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429500" y="4576882"/>
            <a:ext cx="6400205" cy="2036921"/>
          </a:xfrm>
          <a:prstGeom prst="roundRect">
            <a:avLst>
              <a:gd name="adj" fmla="val 7183"/>
            </a:avLst>
          </a:prstGeom>
          <a:solidFill>
            <a:srgbClr val="0C0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29500" y="4546402"/>
            <a:ext cx="6400205" cy="121920"/>
          </a:xfrm>
          <a:prstGeom prst="roundRect">
            <a:avLst>
              <a:gd name="adj" fmla="val 28148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286405" y="4233743"/>
            <a:ext cx="686276" cy="686276"/>
          </a:xfrm>
          <a:prstGeom prst="roundRect">
            <a:avLst>
              <a:gd name="adj" fmla="val 13324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92264" y="4405313"/>
            <a:ext cx="274439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7688699" y="5148739"/>
            <a:ext cx="2691527" cy="336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Reliable Transfer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688699" y="5622369"/>
            <a:ext cx="5881807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Ensuring accurate and ordered data delivery between connected devices.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0695" y="6871097"/>
            <a:ext cx="13029009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ATM excels in these responsibilities by systematically breaking down data into small, manageable, fixed-size units known as "cells."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1252180"/>
            <a:ext cx="6991826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ATM Structure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37724" y="217443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000" dirty="0"/>
              <a:t>Central to ATM is its cell-based architecture  E</a:t>
            </a: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ach ATM cell consists of 53 bytes, divided into two main parts: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5" y="3209687"/>
            <a:ext cx="7079904" cy="1868269"/>
          </a:xfrm>
          <a:prstGeom prst="roundRect">
            <a:avLst>
              <a:gd name="adj" fmla="val 953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306275" y="3194149"/>
            <a:ext cx="6324125" cy="1883807"/>
          </a:xfrm>
          <a:prstGeom prst="roundRect">
            <a:avLst>
              <a:gd name="adj" fmla="val 190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77039" y="344900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Header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7039" y="3944541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 bytes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27708" y="4344294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Contains </a:t>
            </a:r>
            <a:r>
              <a:rPr lang="en-US" sz="2000" dirty="0"/>
              <a:t>addressing </a:t>
            </a: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 control information(error checking bit).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 flipV="1">
            <a:off x="837724" y="5047775"/>
            <a:ext cx="13792676" cy="45719"/>
          </a:xfrm>
          <a:prstGeom prst="roundRect">
            <a:avLst>
              <a:gd name="adj" fmla="val 117806"/>
            </a:avLst>
          </a:prstGeom>
          <a:solidFill>
            <a:srgbClr val="4442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24129" y="336576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Payload (Data)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824129" y="3808209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48 bytes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812891" y="4304646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Carries the actual user data.</a:t>
            </a:r>
            <a:endParaRPr lang="en-US" sz="1850" dirty="0"/>
          </a:p>
        </p:txBody>
      </p:sp>
      <p:pic>
        <p:nvPicPr>
          <p:cNvPr id="2050" name="Picture 2" descr="What is an ATM Cell &amp; What is its Structure?">
            <a:extLst>
              <a:ext uri="{FF2B5EF4-FFF2-40B4-BE49-F238E27FC236}">
                <a16:creationId xmlns:a16="http://schemas.microsoft.com/office/drawing/2014/main" id="{FECF4F03-8E6D-F2AF-2EA4-0CABE967F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926" y="5453599"/>
            <a:ext cx="10434918" cy="204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28242"/>
            <a:ext cx="6055162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the Fixed Cell Size?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3170277"/>
            <a:ext cx="718066" cy="7180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1875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Faster Processing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4683085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Predictable cell size allows for streamlined hardware processing.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55776" y="3170277"/>
            <a:ext cx="718066" cy="7180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5776" y="41875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Low Delay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55776" y="4683085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Reduces latency, making it ideal for real-time applications.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3828" y="3170277"/>
            <a:ext cx="718066" cy="7180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3828" y="41875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Converged Traffic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3828" y="4683085"/>
            <a:ext cx="411884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Optimized for integrating voice, video, and data efficiently.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7724" y="571833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design choice is critical for ATM's ability to handle diverse traffic types with consistent performance.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1281"/>
            <a:ext cx="8405574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00"/>
              </a:lnSpc>
            </a:pPr>
            <a:r>
              <a:rPr lang="en-US" sz="3600" dirty="0"/>
              <a:t>Working of ATM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780044"/>
            <a:ext cx="783939" cy="9407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5639" y="1971557"/>
            <a:ext cx="446043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dirty="0"/>
              <a:t>Large data is divided into small cells (53 bytes)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199568"/>
            <a:ext cx="783939" cy="9407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6096" y="3417807"/>
            <a:ext cx="435550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dirty="0"/>
              <a:t>Each cell is sent through a predefined path.</a:t>
            </a:r>
          </a:p>
          <a:p>
            <a:pPr>
              <a:lnSpc>
                <a:spcPts val="2750"/>
              </a:lnSpc>
            </a:pPr>
            <a:r>
              <a:rPr lang="en-US" sz="2000" dirty="0">
                <a:highlight>
                  <a:srgbClr val="008000"/>
                </a:highlight>
              </a:rPr>
              <a:t>Virtual circuit.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635819"/>
            <a:ext cx="783939" cy="9407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08103" y="4914694"/>
            <a:ext cx="115188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Cells traverse the network sequentially</a:t>
            </a:r>
            <a:endParaRPr lang="en-US" sz="2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25" y="6072068"/>
            <a:ext cx="783940" cy="9407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55639" y="6258043"/>
            <a:ext cx="115188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 the destination, cells are precisely </a:t>
            </a:r>
            <a:b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</a:b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reassembled into their original data streams.</a:t>
            </a:r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858546-A0A5-5D11-ECEB-E7716D9815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8252"/>
          <a:stretch>
            <a:fillRect/>
          </a:stretch>
        </p:blipFill>
        <p:spPr>
          <a:xfrm>
            <a:off x="7533042" y="2376097"/>
            <a:ext cx="7097358" cy="2921621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FF3208-EC8B-09F7-3792-560406F6A9BF}"/>
              </a:ext>
            </a:extLst>
          </p:cNvPr>
          <p:cNvSpPr/>
          <p:nvPr/>
        </p:nvSpPr>
        <p:spPr>
          <a:xfrm>
            <a:off x="7992932" y="3291840"/>
            <a:ext cx="1011219" cy="4779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Photo ,video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8919A3-A3FB-438F-5CF0-C3AE4CBB746D}"/>
              </a:ext>
            </a:extLst>
          </p:cNvPr>
          <p:cNvSpPr/>
          <p:nvPr/>
        </p:nvSpPr>
        <p:spPr>
          <a:xfrm>
            <a:off x="644009" y="506016"/>
            <a:ext cx="6658808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800" b="1" dirty="0"/>
              <a:t>ATM _ Virtual Circuits</a:t>
            </a:r>
            <a:endParaRPr lang="en-US" sz="27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C65DD0-7D0D-9BCE-3608-7ED189DC173D}"/>
              </a:ext>
            </a:extLst>
          </p:cNvPr>
          <p:cNvSpPr/>
          <p:nvPr/>
        </p:nvSpPr>
        <p:spPr>
          <a:xfrm>
            <a:off x="644009" y="1398864"/>
            <a:ext cx="6316189" cy="1344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1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latin typeface="Amasis MT Pro Black" panose="020F0502020204030204" pitchFamily="18" charset="0"/>
              </a:rPr>
              <a:t>ATM uses connection-oriented communication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Arial" panose="020B0604020202020204" pitchFamily="34" charset="0"/>
              </a:rPr>
              <a:t>A </a:t>
            </a:r>
            <a:r>
              <a:rPr lang="en-US" altLang="en-US" sz="1600" b="1" dirty="0">
                <a:latin typeface="Arial" panose="020B0604020202020204" pitchFamily="34" charset="0"/>
              </a:rPr>
              <a:t>fixed path</a:t>
            </a:r>
            <a:r>
              <a:rPr lang="en-US" altLang="en-US" sz="1600" dirty="0">
                <a:latin typeface="Arial" panose="020B0604020202020204" pitchFamily="34" charset="0"/>
              </a:rPr>
              <a:t> is created before data transmission starts.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600" dirty="0">
                <a:latin typeface="Arial" panose="020B0604020202020204" pitchFamily="34" charset="0"/>
              </a:rPr>
              <a:t>This fixed path is called a </a:t>
            </a:r>
            <a:r>
              <a:rPr lang="en-US" altLang="en-US" sz="1600" b="1" dirty="0">
                <a:latin typeface="Arial" panose="020B0604020202020204" pitchFamily="34" charset="0"/>
              </a:rPr>
              <a:t>Virtual Circuit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  <a:r>
              <a:rPr lang="en-US" sz="1600" b="1" dirty="0">
                <a:latin typeface="Amasis MT Pro Black" panose="020F0502020204030204" pitchFamily="18" charset="0"/>
              </a:rPr>
              <a:t> </a:t>
            </a:r>
          </a:p>
          <a:p>
            <a:pPr>
              <a:lnSpc>
                <a:spcPts val="2100"/>
              </a:lnSpc>
            </a:pPr>
            <a:endParaRPr lang="en-US" sz="1700" dirty="0">
              <a:latin typeface="Amasis MT Pro Black" panose="020F0502020204030204" pitchFamily="18" charset="0"/>
            </a:endParaRPr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9EF6952A-01CF-93AA-09B3-1A53DC4374E8}"/>
              </a:ext>
            </a:extLst>
          </p:cNvPr>
          <p:cNvSpPr/>
          <p:nvPr/>
        </p:nvSpPr>
        <p:spPr>
          <a:xfrm>
            <a:off x="660058" y="2743200"/>
            <a:ext cx="2653297" cy="69924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Virtual Path (VP):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547314-CA22-9072-1A4A-9EDD72E90551}"/>
              </a:ext>
            </a:extLst>
          </p:cNvPr>
          <p:cNvSpPr/>
          <p:nvPr/>
        </p:nvSpPr>
        <p:spPr>
          <a:xfrm>
            <a:off x="763792" y="4937390"/>
            <a:ext cx="2549563" cy="6992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Virtual Channel (VC):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35AB8DE4-7DAC-760C-9845-BD34921E7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58" y="5784250"/>
            <a:ext cx="77631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path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by ATM cells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Carries one stream of data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channels has only one type of data either </a:t>
            </a:r>
            <a:r>
              <a:rPr lang="en-US" altLang="en-US" dirty="0">
                <a:latin typeface="Arial" panose="020B0604020202020204" pitchFamily="34" charset="0"/>
              </a:rPr>
              <a:t>(voice, video, or text)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Acts like a car/buses </a:t>
            </a:r>
            <a:r>
              <a:rPr lang="en-US" altLang="en-US" dirty="0" err="1">
                <a:latin typeface="Arial" panose="020B0604020202020204" pitchFamily="34" charset="0"/>
              </a:rPr>
              <a:t>etc</a:t>
            </a:r>
            <a:r>
              <a:rPr lang="en-US" altLang="en-US" dirty="0">
                <a:latin typeface="Arial" panose="020B0604020202020204" pitchFamily="34" charset="0"/>
              </a:rPr>
              <a:t> to transfer data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BB6A89CA-77F8-C806-E0AE-935B39B90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09" y="3791635"/>
            <a:ext cx="35349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of Virtual Channels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like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road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frame.</a:t>
            </a:r>
          </a:p>
        </p:txBody>
      </p:sp>
      <p:pic>
        <p:nvPicPr>
          <p:cNvPr id="4107" name="Picture 11" descr="ATM logical connections.">
            <a:extLst>
              <a:ext uri="{FF2B5EF4-FFF2-40B4-BE49-F238E27FC236}">
                <a16:creationId xmlns:a16="http://schemas.microsoft.com/office/drawing/2014/main" id="{B78FA3FD-CAD4-2DB3-7940-DA22E69A6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241" y="2268733"/>
            <a:ext cx="7357017" cy="290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112C117-8DF4-B6D7-8929-786B641F1537}"/>
              </a:ext>
            </a:extLst>
          </p:cNvPr>
          <p:cNvSpPr txBox="1"/>
          <p:nvPr/>
        </p:nvSpPr>
        <p:spPr>
          <a:xfrm>
            <a:off x="1043491" y="7120867"/>
            <a:ext cx="10639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➡ </a:t>
            </a:r>
            <a:r>
              <a:rPr lang="en-US" b="1" dirty="0"/>
              <a:t>Once VP and VC are established</a:t>
            </a:r>
            <a:r>
              <a:rPr lang="en-US" dirty="0"/>
              <a:t>, </a:t>
            </a:r>
            <a:r>
              <a:rPr lang="en-US" b="1" dirty="0"/>
              <a:t>data flows continuously, quickly, and in order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701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76526"/>
            <a:ext cx="9704546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Features of ATM at Data Link Layer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837724" y="1818561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7039" y="205787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4445" y="2255282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039" y="30152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Fixed Cell Size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039" y="3510796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Standardized 53-byte cells ensure consistent performance.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34858" y="1818561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74173" y="205787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1579" y="2255282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4173" y="3015258"/>
            <a:ext cx="330612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Connection-Oriented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74173" y="3510796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Establishes a virtual circuit before data transmission begins.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837724" y="4755475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77039" y="4994791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4445" y="5192197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7039" y="59521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High Speed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77039" y="6447711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Designed for high-bandwidth broadband networks.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7434858" y="4755475"/>
            <a:ext cx="6357818" cy="2697599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674173" y="4994791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71579" y="5192197"/>
            <a:ext cx="323136" cy="3231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4173" y="59521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Supports QoS ( </a:t>
            </a:r>
            <a:r>
              <a:rPr lang="en-US" sz="2400" dirty="0"/>
              <a:t>Quality of Service</a:t>
            </a: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)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74173" y="6447711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Allows for differentiated service and prioritization of various traffic types.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009" y="506016"/>
            <a:ext cx="6658808" cy="43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800" b="1" dirty="0"/>
              <a:t>9. Applications of ATM</a:t>
            </a:r>
          </a:p>
        </p:txBody>
      </p:sp>
      <p:sp>
        <p:nvSpPr>
          <p:cNvPr id="3" name="Text 1"/>
          <p:cNvSpPr/>
          <p:nvPr/>
        </p:nvSpPr>
        <p:spPr>
          <a:xfrm>
            <a:off x="644009" y="1398865"/>
            <a:ext cx="2164913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b="1" dirty="0"/>
              <a:t>ATM was used in</a:t>
            </a:r>
            <a:r>
              <a:rPr lang="en-US" dirty="0"/>
              <a:t>:</a:t>
            </a:r>
          </a:p>
        </p:txBody>
      </p:sp>
      <p:sp>
        <p:nvSpPr>
          <p:cNvPr id="4" name="Text 2"/>
          <p:cNvSpPr/>
          <p:nvPr/>
        </p:nvSpPr>
        <p:spPr>
          <a:xfrm>
            <a:off x="192187" y="1862579"/>
            <a:ext cx="7854533" cy="496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1. Telephone Networks</a:t>
            </a:r>
          </a:p>
          <a:p>
            <a:r>
              <a:rPr lang="en-US" sz="2000" dirty="0"/>
              <a:t>        📞 </a:t>
            </a:r>
            <a:r>
              <a:rPr lang="en-US" sz="2000" b="1" dirty="0"/>
              <a:t>Used for:</a:t>
            </a:r>
            <a:r>
              <a:rPr lang="en-US" sz="2000" dirty="0"/>
              <a:t> Voice calls  </a:t>
            </a:r>
          </a:p>
          <a:p>
            <a:r>
              <a:rPr lang="en-US" sz="2000" dirty="0"/>
              <a:t>                            audio data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2. Broadband Services</a:t>
            </a:r>
          </a:p>
          <a:p>
            <a:r>
              <a:rPr lang="en-US" sz="2000" dirty="0"/>
              <a:t>        🌐 </a:t>
            </a:r>
            <a:r>
              <a:rPr lang="en-US" sz="2000" b="1" dirty="0"/>
              <a:t>Used for:</a:t>
            </a:r>
            <a:r>
              <a:rPr lang="en-US" sz="2000" dirty="0"/>
              <a:t> Internet access</a:t>
            </a:r>
          </a:p>
          <a:p>
            <a:r>
              <a:rPr lang="en-US" sz="2000" b="1" dirty="0"/>
              <a:t>                     Text data</a:t>
            </a:r>
            <a:r>
              <a:rPr lang="en-US" sz="2000" dirty="0"/>
              <a:t> ,</a:t>
            </a:r>
            <a:r>
              <a:rPr lang="en-US" sz="2000" b="1" dirty="0"/>
              <a:t>Image data 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 Video Conferencing</a:t>
            </a:r>
          </a:p>
          <a:p>
            <a:r>
              <a:rPr lang="en-US" sz="2000" dirty="0"/>
              <a:t>     🎥</a:t>
            </a:r>
            <a:r>
              <a:rPr lang="en-US" sz="2000" b="1" dirty="0"/>
              <a:t> Used for:</a:t>
            </a:r>
            <a:r>
              <a:rPr lang="en-US" sz="2000" dirty="0"/>
              <a:t> Online meetings and video calls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4. Early Internet Backbone Networks</a:t>
            </a:r>
          </a:p>
          <a:p>
            <a:r>
              <a:rPr lang="en-US" sz="2000" dirty="0"/>
              <a:t>       🌍 </a:t>
            </a:r>
            <a:r>
              <a:rPr lang="en-US" sz="2000" b="1" dirty="0"/>
              <a:t>Used for:</a:t>
            </a:r>
            <a:r>
              <a:rPr lang="en-US" sz="2000" dirty="0"/>
              <a:t> Main internet connections between </a:t>
            </a:r>
          </a:p>
          <a:p>
            <a:r>
              <a:rPr lang="en-US" sz="2000" dirty="0"/>
              <a:t>                            countries</a:t>
            </a:r>
          </a:p>
          <a:p>
            <a:r>
              <a:rPr lang="en-US" sz="2000" b="1" dirty="0"/>
              <a:t>                      Multimedia</a:t>
            </a:r>
            <a:r>
              <a:rPr lang="en-US" sz="2000" dirty="0"/>
              <a:t> (text, audio, video, images).</a:t>
            </a:r>
          </a:p>
          <a:p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253" y="1421844"/>
            <a:ext cx="6446758" cy="64467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5126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2"/>
            <a:ext cx="4844414" cy="5025978"/>
          </a:xfrm>
          <a:prstGeom prst="rect">
            <a:avLst/>
          </a:prstGeom>
        </p:spPr>
      </p:pic>
      <p:pic>
        <p:nvPicPr>
          <p:cNvPr id="5129" name="Picture 5128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6"/>
            <a:ext cx="1826894" cy="2838544"/>
          </a:xfrm>
          <a:prstGeom prst="rect">
            <a:avLst/>
          </a:prstGeom>
        </p:spPr>
      </p:pic>
      <p:sp>
        <p:nvSpPr>
          <p:cNvPr id="5131" name="Oval 5130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133" name="Picture 5132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4" y="0"/>
            <a:ext cx="1924064" cy="1369688"/>
          </a:xfrm>
          <a:prstGeom prst="rect">
            <a:avLst/>
          </a:prstGeom>
        </p:spPr>
      </p:pic>
      <p:pic>
        <p:nvPicPr>
          <p:cNvPr id="5135" name="Picture 5134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3" y="7315200"/>
            <a:ext cx="1192481" cy="914400"/>
          </a:xfrm>
          <a:prstGeom prst="rect">
            <a:avLst/>
          </a:prstGeom>
        </p:spPr>
      </p:pic>
      <p:sp>
        <p:nvSpPr>
          <p:cNvPr id="5137" name="Rectangle 5136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5139" name="Rectangle 5138">
            <a:extLst>
              <a:ext uri="{FF2B5EF4-FFF2-40B4-BE49-F238E27FC236}">
                <a16:creationId xmlns:a16="http://schemas.microsoft.com/office/drawing/2014/main" id="{4309F268-A45B-4517-B03F-2774BAE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a man in a green shirt says thank you in front of a car">
            <a:extLst>
              <a:ext uri="{FF2B5EF4-FFF2-40B4-BE49-F238E27FC236}">
                <a16:creationId xmlns:a16="http://schemas.microsoft.com/office/drawing/2014/main" id="{1E9D87AF-6DBE-7A2D-A676-6B4F8C680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4571" y="772160"/>
            <a:ext cx="9301257" cy="668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C518B6AE-9B3F-2441-8994-49513A26CB94}"/>
              </a:ext>
            </a:extLst>
          </p:cNvPr>
          <p:cNvSpPr/>
          <p:nvPr/>
        </p:nvSpPr>
        <p:spPr>
          <a:xfrm>
            <a:off x="10689159" y="772160"/>
            <a:ext cx="1292352" cy="123952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232</TotalTime>
  <Words>526</Words>
  <Application>Microsoft Office PowerPoint</Application>
  <PresentationFormat>Custom</PresentationFormat>
  <Paragraphs>91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Wingdings</vt:lpstr>
      <vt:lpstr>Century Gothic</vt:lpstr>
      <vt:lpstr>Arimo</vt:lpstr>
      <vt:lpstr>Wingdings 3</vt:lpstr>
      <vt:lpstr>Amasis MT Pro Black</vt:lpstr>
      <vt:lpstr>Syne Bold</vt:lpstr>
      <vt:lpstr>Arial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raghav panthi</dc:creator>
  <cp:lastModifiedBy>Raghav Panthi [BCA - 2024]</cp:lastModifiedBy>
  <cp:revision>5</cp:revision>
  <dcterms:created xsi:type="dcterms:W3CDTF">2026-01-09T04:17:24Z</dcterms:created>
  <dcterms:modified xsi:type="dcterms:W3CDTF">2026-01-10T16:24:09Z</dcterms:modified>
</cp:coreProperties>
</file>