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Patrick Hand" pitchFamily="2" charset="77"/>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97"/>
    <p:restoredTop sz="94610"/>
  </p:normalViewPr>
  <p:slideViewPr>
    <p:cSldViewPr snapToGrid="0" snapToObjects="1">
      <p:cViewPr varScale="1">
        <p:scale>
          <a:sx n="98" d="100"/>
          <a:sy n="98" d="100"/>
        </p:scale>
        <p:origin x="4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4487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8.sv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 Id="rId14" Type="http://schemas.openxmlformats.org/officeDocument/2006/relationships/image" Target="../media/image26.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452473" y="3239214"/>
            <a:ext cx="4830723" cy="603766"/>
          </a:xfrm>
          <a:prstGeom prst="rect">
            <a:avLst/>
          </a:prstGeom>
          <a:noFill/>
          <a:ln/>
        </p:spPr>
        <p:txBody>
          <a:bodyPr wrap="none" lIns="0" tIns="0" rIns="0" bIns="0" rtlCol="0" anchor="t"/>
          <a:lstStyle/>
          <a:p>
            <a:pPr marL="0" indent="0" algn="l">
              <a:lnSpc>
                <a:spcPts val="4750"/>
              </a:lnSpc>
              <a:buNone/>
            </a:pPr>
            <a:r>
              <a:rPr lang="en-US" sz="3800" dirty="0">
                <a:solidFill>
                  <a:srgbClr val="383838"/>
                </a:solidFill>
                <a:latin typeface="Patrick Hand" pitchFamily="34" charset="0"/>
                <a:ea typeface="Patrick Hand" pitchFamily="34" charset="-122"/>
                <a:cs typeface="Patrick Hand" pitchFamily="34" charset="-120"/>
              </a:rPr>
              <a:t>IMAP Protocol</a:t>
            </a:r>
            <a:endParaRPr lang="en-US" sz="3800" dirty="0"/>
          </a:p>
        </p:txBody>
      </p:sp>
      <p:sp>
        <p:nvSpPr>
          <p:cNvPr id="4" name="Text 1"/>
          <p:cNvSpPr/>
          <p:nvPr/>
        </p:nvSpPr>
        <p:spPr>
          <a:xfrm>
            <a:off x="6452473" y="3939540"/>
            <a:ext cx="2946083" cy="301943"/>
          </a:xfrm>
          <a:prstGeom prst="rect">
            <a:avLst/>
          </a:prstGeom>
          <a:noFill/>
          <a:ln/>
        </p:spPr>
        <p:txBody>
          <a:bodyPr wrap="none" lIns="0" tIns="0" rIns="0" bIns="0" rtlCol="0" anchor="t"/>
          <a:lstStyle/>
          <a:p>
            <a:pPr marL="0" indent="0" algn="l">
              <a:lnSpc>
                <a:spcPts val="2350"/>
              </a:lnSpc>
              <a:buNone/>
            </a:pPr>
            <a:r>
              <a:rPr lang="en-US" sz="1900" dirty="0">
                <a:solidFill>
                  <a:srgbClr val="383838"/>
                </a:solidFill>
                <a:latin typeface="Patrick Hand" pitchFamily="34" charset="0"/>
                <a:ea typeface="Patrick Hand" pitchFamily="34" charset="-122"/>
                <a:cs typeface="Patrick Hand" pitchFamily="34" charset="-120"/>
              </a:rPr>
              <a:t>Internet Message Access Protocol</a:t>
            </a:r>
            <a:endParaRPr lang="en-US" sz="1900" dirty="0"/>
          </a:p>
        </p:txBody>
      </p:sp>
      <p:sp>
        <p:nvSpPr>
          <p:cNvPr id="5" name="Text 2"/>
          <p:cNvSpPr/>
          <p:nvPr/>
        </p:nvSpPr>
        <p:spPr>
          <a:xfrm>
            <a:off x="6452473" y="4603790"/>
            <a:ext cx="7211854" cy="386477"/>
          </a:xfrm>
          <a:prstGeom prst="rect">
            <a:avLst/>
          </a:prstGeom>
          <a:noFill/>
          <a:ln>
            <a:solidFill>
              <a:schemeClr val="bg1">
                <a:lumMod val="95000"/>
              </a:schemeClr>
            </a:solidFill>
          </a:ln>
        </p:spPr>
        <p:txBody>
          <a:bodyPr wrap="none" lIns="0" tIns="0" rIns="0" bIns="0" rtlCol="0" anchor="t"/>
          <a:lstStyle/>
          <a:p>
            <a:pPr marL="0" indent="0" algn="l">
              <a:lnSpc>
                <a:spcPts val="3000"/>
              </a:lnSpc>
              <a:buNone/>
            </a:pPr>
            <a:r>
              <a:rPr lang="en-US" sz="1900" dirty="0">
                <a:solidFill>
                  <a:srgbClr val="383838"/>
                </a:solidFill>
                <a:latin typeface="Patrick Hand" pitchFamily="34" charset="0"/>
                <a:ea typeface="Patrick Hand" pitchFamily="34" charset="-122"/>
                <a:cs typeface="Patrick Hand" pitchFamily="34" charset="-120"/>
              </a:rPr>
              <a:t>A comprehensive guide to modern email retrieval and synchronization</a:t>
            </a:r>
            <a:endParaRPr lang="en-US" sz="1900" dirty="0"/>
          </a:p>
        </p:txBody>
      </p:sp>
      <p:sp>
        <p:nvSpPr>
          <p:cNvPr id="6" name="Rounded Rectangle 5">
            <a:extLst>
              <a:ext uri="{FF2B5EF4-FFF2-40B4-BE49-F238E27FC236}">
                <a16:creationId xmlns:a16="http://schemas.microsoft.com/office/drawing/2014/main" id="{E84D1AA0-BDA6-2A18-A0BC-CE202848C485}"/>
              </a:ext>
            </a:extLst>
          </p:cNvPr>
          <p:cNvSpPr/>
          <p:nvPr/>
        </p:nvSpPr>
        <p:spPr>
          <a:xfrm>
            <a:off x="12802178" y="7738620"/>
            <a:ext cx="1724297" cy="38647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66073" y="1373386"/>
            <a:ext cx="4830723" cy="603766"/>
          </a:xfrm>
          <a:prstGeom prst="rect">
            <a:avLst/>
          </a:prstGeom>
          <a:noFill/>
          <a:ln/>
        </p:spPr>
        <p:txBody>
          <a:bodyPr wrap="none" lIns="0" tIns="0" rIns="0" bIns="0" rtlCol="0" anchor="t"/>
          <a:lstStyle/>
          <a:p>
            <a:pPr marL="0" indent="0" algn="l">
              <a:lnSpc>
                <a:spcPts val="4750"/>
              </a:lnSpc>
              <a:buNone/>
            </a:pPr>
            <a:r>
              <a:rPr lang="en-US" sz="3800" dirty="0">
                <a:solidFill>
                  <a:srgbClr val="383838"/>
                </a:solidFill>
                <a:latin typeface="Patrick Hand" pitchFamily="34" charset="0"/>
                <a:ea typeface="Patrick Hand" pitchFamily="34" charset="-122"/>
                <a:cs typeface="Patrick Hand" pitchFamily="34" charset="-120"/>
              </a:rPr>
              <a:t>What is IMAP?</a:t>
            </a:r>
            <a:endParaRPr lang="en-US" sz="3800" dirty="0"/>
          </a:p>
        </p:txBody>
      </p:sp>
      <p:sp>
        <p:nvSpPr>
          <p:cNvPr id="3" name="Text 1"/>
          <p:cNvSpPr/>
          <p:nvPr/>
        </p:nvSpPr>
        <p:spPr>
          <a:xfrm>
            <a:off x="966073" y="2556748"/>
            <a:ext cx="7383304" cy="1932384"/>
          </a:xfrm>
          <a:prstGeom prst="rect">
            <a:avLst/>
          </a:prstGeom>
          <a:noFill/>
          <a:ln/>
        </p:spPr>
        <p:txBody>
          <a:bodyPr wrap="square" lIns="0" tIns="0" rIns="0" bIns="0" rtlCol="0" anchor="t"/>
          <a:lstStyle/>
          <a:p>
            <a:pPr marL="0" indent="0" algn="l">
              <a:lnSpc>
                <a:spcPts val="3000"/>
              </a:lnSpc>
              <a:buNone/>
            </a:pPr>
            <a:r>
              <a:rPr lang="en-US" sz="1900" dirty="0">
                <a:solidFill>
                  <a:srgbClr val="383838"/>
                </a:solidFill>
                <a:latin typeface="Patrick Hand" pitchFamily="34" charset="0"/>
                <a:ea typeface="Patrick Hand" pitchFamily="34" charset="-122"/>
                <a:cs typeface="Patrick Hand" pitchFamily="34" charset="-120"/>
              </a:rPr>
              <a:t>Internet Message Access Protocol (IMAP) is an email retrieval protocol that enables users to access and manage their email messages directly on a mail server, rather than downloading them to a local device. This fundamental difference sets IMAP apart from older email protocols and makes it the standard for modern email systems.</a:t>
            </a:r>
            <a:endParaRPr lang="en-US" sz="1900" dirty="0"/>
          </a:p>
        </p:txBody>
      </p:sp>
      <p:sp>
        <p:nvSpPr>
          <p:cNvPr id="4" name="Text 2"/>
          <p:cNvSpPr/>
          <p:nvPr/>
        </p:nvSpPr>
        <p:spPr>
          <a:xfrm>
            <a:off x="966073" y="4706422"/>
            <a:ext cx="7383304" cy="1932384"/>
          </a:xfrm>
          <a:prstGeom prst="rect">
            <a:avLst/>
          </a:prstGeom>
          <a:noFill/>
          <a:ln/>
        </p:spPr>
        <p:txBody>
          <a:bodyPr wrap="square" lIns="0" tIns="0" rIns="0" bIns="0" rtlCol="0" anchor="t"/>
          <a:lstStyle/>
          <a:p>
            <a:pPr marL="0" indent="0" algn="l">
              <a:lnSpc>
                <a:spcPts val="3000"/>
              </a:lnSpc>
              <a:buNone/>
            </a:pPr>
            <a:r>
              <a:rPr lang="en-US" sz="1900" dirty="0">
                <a:solidFill>
                  <a:srgbClr val="383838"/>
                </a:solidFill>
                <a:latin typeface="Patrick Hand" pitchFamily="34" charset="0"/>
                <a:ea typeface="Patrick Hand" pitchFamily="34" charset="-122"/>
                <a:cs typeface="Patrick Hand" pitchFamily="34" charset="-120"/>
              </a:rPr>
              <a:t>IMAP is the backbone of contemporary email services including Gmail, Outlook, Yahoo Mail and corporate email systems. It's particularly essential in environments where users need to access their email from multiple devices—laptops, smartphones, tablets and desktop computers—while maintaining a consistent, synchronized view of their inbox.</a:t>
            </a:r>
            <a:endParaRPr lang="en-US" sz="1900" dirty="0"/>
          </a:p>
        </p:txBody>
      </p:sp>
      <p:sp>
        <p:nvSpPr>
          <p:cNvPr id="5" name="Shape 3"/>
          <p:cNvSpPr/>
          <p:nvPr/>
        </p:nvSpPr>
        <p:spPr>
          <a:xfrm>
            <a:off x="8772287" y="2339459"/>
            <a:ext cx="5073491" cy="4516636"/>
          </a:xfrm>
          <a:prstGeom prst="roundRect">
            <a:avLst>
              <a:gd name="adj" fmla="val 3850"/>
            </a:avLst>
          </a:prstGeom>
          <a:solidFill>
            <a:srgbClr val="CCCCCC"/>
          </a:solidFill>
          <a:ln/>
        </p:spPr>
        <p:txBody>
          <a:bodyPr/>
          <a:lstStyle/>
          <a:p>
            <a:endParaRPr lang="en-US"/>
          </a:p>
        </p:txBody>
      </p:sp>
      <p:sp>
        <p:nvSpPr>
          <p:cNvPr id="6" name="Text 4"/>
          <p:cNvSpPr/>
          <p:nvPr/>
        </p:nvSpPr>
        <p:spPr>
          <a:xfrm>
            <a:off x="9013746" y="2580918"/>
            <a:ext cx="2415302" cy="301943"/>
          </a:xfrm>
          <a:prstGeom prst="rect">
            <a:avLst/>
          </a:prstGeom>
          <a:noFill/>
          <a:ln/>
        </p:spPr>
        <p:txBody>
          <a:bodyPr wrap="none" lIns="0" tIns="0" rIns="0" bIns="0" rtlCol="0" anchor="t"/>
          <a:lstStyle/>
          <a:p>
            <a:pPr marL="0" indent="0" algn="l">
              <a:lnSpc>
                <a:spcPts val="2350"/>
              </a:lnSpc>
              <a:buNone/>
            </a:pPr>
            <a:r>
              <a:rPr lang="en-US" sz="1900" dirty="0">
                <a:solidFill>
                  <a:srgbClr val="383838"/>
                </a:solidFill>
                <a:latin typeface="Patrick Hand" pitchFamily="34" charset="0"/>
                <a:ea typeface="Patrick Hand" pitchFamily="34" charset="-122"/>
                <a:cs typeface="Patrick Hand" pitchFamily="34" charset="-120"/>
              </a:rPr>
              <a:t>Key Applications</a:t>
            </a:r>
            <a:endParaRPr lang="en-US" sz="1900" dirty="0"/>
          </a:p>
        </p:txBody>
      </p:sp>
      <p:sp>
        <p:nvSpPr>
          <p:cNvPr id="7" name="Text 5"/>
          <p:cNvSpPr/>
          <p:nvPr/>
        </p:nvSpPr>
        <p:spPr>
          <a:xfrm>
            <a:off x="9013746" y="3124319"/>
            <a:ext cx="4590574" cy="1932318"/>
          </a:xfrm>
          <a:prstGeom prst="rect">
            <a:avLst/>
          </a:prstGeom>
          <a:noFill/>
          <a:ln/>
        </p:spPr>
        <p:txBody>
          <a:bodyPr wrap="square" lIns="0" tIns="0" rIns="0" bIns="0" rtlCol="0" anchor="t"/>
          <a:lstStyle/>
          <a:p>
            <a:pPr marL="342900" indent="-342900" algn="l">
              <a:lnSpc>
                <a:spcPts val="3000"/>
              </a:lnSpc>
              <a:buSzPct val="100000"/>
              <a:buChar char="•"/>
            </a:pPr>
            <a:r>
              <a:rPr lang="en-US" sz="1900" dirty="0">
                <a:solidFill>
                  <a:srgbClr val="383838"/>
                </a:solidFill>
                <a:latin typeface="Patrick Hand" pitchFamily="34" charset="0"/>
                <a:ea typeface="Patrick Hand" pitchFamily="34" charset="-122"/>
                <a:cs typeface="Patrick Hand" pitchFamily="34" charset="-120"/>
              </a:rPr>
              <a:t>Gmail and Google Workspace</a:t>
            </a:r>
            <a:endParaRPr lang="en-US" sz="1900" dirty="0"/>
          </a:p>
          <a:p>
            <a:pPr marL="342900" indent="-342900" algn="l">
              <a:lnSpc>
                <a:spcPts val="3000"/>
              </a:lnSpc>
              <a:buSzPct val="100000"/>
              <a:buChar char="•"/>
            </a:pPr>
            <a:r>
              <a:rPr lang="en-US" sz="1900" dirty="0">
                <a:solidFill>
                  <a:srgbClr val="383838"/>
                </a:solidFill>
                <a:latin typeface="Patrick Hand" pitchFamily="34" charset="0"/>
                <a:ea typeface="Patrick Hand" pitchFamily="34" charset="-122"/>
                <a:cs typeface="Patrick Hand" pitchFamily="34" charset="-120"/>
              </a:rPr>
              <a:t>Microsoft Outlook/Exchange</a:t>
            </a:r>
            <a:endParaRPr lang="en-US" sz="1900" dirty="0"/>
          </a:p>
          <a:p>
            <a:pPr marL="342900" indent="-342900" algn="l">
              <a:lnSpc>
                <a:spcPts val="3000"/>
              </a:lnSpc>
              <a:buSzPct val="100000"/>
              <a:buChar char="•"/>
            </a:pPr>
            <a:r>
              <a:rPr lang="en-US" sz="1900" dirty="0">
                <a:solidFill>
                  <a:srgbClr val="383838"/>
                </a:solidFill>
                <a:latin typeface="Patrick Hand" pitchFamily="34" charset="0"/>
                <a:ea typeface="Patrick Hand" pitchFamily="34" charset="-122"/>
                <a:cs typeface="Patrick Hand" pitchFamily="34" charset="-120"/>
              </a:rPr>
              <a:t>Yahoo Mail</a:t>
            </a:r>
            <a:endParaRPr lang="en-US" sz="1900" dirty="0"/>
          </a:p>
          <a:p>
            <a:pPr marL="342900" indent="-342900" algn="l">
              <a:lnSpc>
                <a:spcPts val="3000"/>
              </a:lnSpc>
              <a:buSzPct val="100000"/>
              <a:buChar char="•"/>
            </a:pPr>
            <a:r>
              <a:rPr lang="en-US" sz="1900" dirty="0">
                <a:solidFill>
                  <a:srgbClr val="383838"/>
                </a:solidFill>
                <a:latin typeface="Patrick Hand" pitchFamily="34" charset="0"/>
                <a:ea typeface="Patrick Hand" pitchFamily="34" charset="-122"/>
                <a:cs typeface="Patrick Hand" pitchFamily="34" charset="-120"/>
              </a:rPr>
              <a:t>Apple iCloud Mail</a:t>
            </a:r>
            <a:endParaRPr lang="en-US" sz="1900" dirty="0"/>
          </a:p>
          <a:p>
            <a:pPr marL="342900" indent="-342900" algn="l">
              <a:lnSpc>
                <a:spcPts val="3000"/>
              </a:lnSpc>
              <a:buSzPct val="100000"/>
              <a:buChar char="•"/>
            </a:pPr>
            <a:r>
              <a:rPr lang="en-US" sz="1900" dirty="0">
                <a:solidFill>
                  <a:srgbClr val="383838"/>
                </a:solidFill>
                <a:latin typeface="Patrick Hand" pitchFamily="34" charset="0"/>
                <a:ea typeface="Patrick Hand" pitchFamily="34" charset="-122"/>
                <a:cs typeface="Patrick Hand" pitchFamily="34" charset="-120"/>
              </a:rPr>
              <a:t>Corporate email systems</a:t>
            </a:r>
            <a:endParaRPr lang="en-US" sz="1900" dirty="0"/>
          </a:p>
        </p:txBody>
      </p:sp>
      <p:sp>
        <p:nvSpPr>
          <p:cNvPr id="8" name="Rounded Rectangle 7">
            <a:extLst>
              <a:ext uri="{FF2B5EF4-FFF2-40B4-BE49-F238E27FC236}">
                <a16:creationId xmlns:a16="http://schemas.microsoft.com/office/drawing/2014/main" id="{7B7427ED-8A8E-52D6-B2FC-ACD607D93E5B}"/>
              </a:ext>
            </a:extLst>
          </p:cNvPr>
          <p:cNvSpPr/>
          <p:nvPr/>
        </p:nvSpPr>
        <p:spPr>
          <a:xfrm>
            <a:off x="12802178" y="7738620"/>
            <a:ext cx="1724297" cy="38647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66073" y="761881"/>
            <a:ext cx="4347686" cy="543520"/>
          </a:xfrm>
          <a:prstGeom prst="rect">
            <a:avLst/>
          </a:prstGeom>
          <a:noFill/>
          <a:ln/>
        </p:spPr>
        <p:txBody>
          <a:bodyPr wrap="none" lIns="0" tIns="0" rIns="0" bIns="0" rtlCol="0" anchor="t"/>
          <a:lstStyle/>
          <a:p>
            <a:pPr marL="0" indent="0" algn="l">
              <a:lnSpc>
                <a:spcPts val="4250"/>
              </a:lnSpc>
              <a:buNone/>
            </a:pPr>
            <a:r>
              <a:rPr lang="en-US" sz="3400" dirty="0">
                <a:solidFill>
                  <a:srgbClr val="383838"/>
                </a:solidFill>
                <a:latin typeface="Patrick Hand" pitchFamily="34" charset="0"/>
                <a:ea typeface="Patrick Hand" pitchFamily="34" charset="-122"/>
                <a:cs typeface="Patrick Hand" pitchFamily="34" charset="-120"/>
              </a:rPr>
              <a:t>Purpose and Evolution</a:t>
            </a:r>
            <a:endParaRPr lang="en-US" sz="3400" dirty="0"/>
          </a:p>
        </p:txBody>
      </p:sp>
      <p:sp>
        <p:nvSpPr>
          <p:cNvPr id="3" name="Text 1"/>
          <p:cNvSpPr/>
          <p:nvPr/>
        </p:nvSpPr>
        <p:spPr>
          <a:xfrm>
            <a:off x="966073" y="1696641"/>
            <a:ext cx="12698254" cy="660797"/>
          </a:xfrm>
          <a:prstGeom prst="rect">
            <a:avLst/>
          </a:prstGeom>
          <a:noFill/>
          <a:ln/>
        </p:spPr>
        <p:txBody>
          <a:bodyPr wrap="squar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IMAP was specifically designed to overcome the significant limitations of older email retrieval methods, particularly POP3 (Post Office Protocol version 3). The protocol addresses the growing need for flexible, multi-device email access in our mobile-first world.</a:t>
            </a:r>
            <a:endParaRPr lang="en-US" sz="1700" dirty="0"/>
          </a:p>
        </p:txBody>
      </p:sp>
      <p:sp>
        <p:nvSpPr>
          <p:cNvPr id="4" name="Shape 2"/>
          <p:cNvSpPr/>
          <p:nvPr/>
        </p:nvSpPr>
        <p:spPr>
          <a:xfrm>
            <a:off x="966073" y="2577465"/>
            <a:ext cx="6251258" cy="2347317"/>
          </a:xfrm>
          <a:prstGeom prst="roundRect">
            <a:avLst>
              <a:gd name="adj" fmla="val 3890"/>
            </a:avLst>
          </a:prstGeom>
          <a:solidFill>
            <a:srgbClr val="E6E6E6"/>
          </a:solidFill>
          <a:ln w="7620">
            <a:solidFill>
              <a:srgbClr val="CCCCCC"/>
            </a:solidFill>
            <a:prstDash val="solid"/>
          </a:ln>
        </p:spPr>
        <p:txBody>
          <a:bodyPr/>
          <a:lstStyle/>
          <a:p>
            <a:endParaRPr lang="en-US"/>
          </a:p>
        </p:txBody>
      </p:sp>
      <p:sp>
        <p:nvSpPr>
          <p:cNvPr id="5" name="Shape 3"/>
          <p:cNvSpPr/>
          <p:nvPr/>
        </p:nvSpPr>
        <p:spPr>
          <a:xfrm>
            <a:off x="1190982" y="2802374"/>
            <a:ext cx="652105" cy="652105"/>
          </a:xfrm>
          <a:prstGeom prst="roundRect">
            <a:avLst>
              <a:gd name="adj" fmla="val 14020879"/>
            </a:avLst>
          </a:prstGeom>
          <a:solidFill>
            <a:srgbClr val="CCCCCC"/>
          </a:solidFill>
          <a:ln/>
        </p:spPr>
        <p:txBody>
          <a:bodyPr/>
          <a:lstStyle/>
          <a:p>
            <a:endParaRPr lang="en-US"/>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0290" y="2981682"/>
            <a:ext cx="293370" cy="293370"/>
          </a:xfrm>
          <a:prstGeom prst="rect">
            <a:avLst/>
          </a:prstGeom>
        </p:spPr>
      </p:pic>
      <p:sp>
        <p:nvSpPr>
          <p:cNvPr id="7" name="Text 4"/>
          <p:cNvSpPr/>
          <p:nvPr/>
        </p:nvSpPr>
        <p:spPr>
          <a:xfrm>
            <a:off x="1190982" y="3650099"/>
            <a:ext cx="2173843" cy="271701"/>
          </a:xfrm>
          <a:prstGeom prst="rect">
            <a:avLst/>
          </a:prstGeom>
          <a:noFill/>
          <a:ln/>
        </p:spPr>
        <p:txBody>
          <a:bodyPr wrap="none" lIns="0" tIns="0" rIns="0" bIns="0" rtlCol="0" anchor="t"/>
          <a:lstStyle/>
          <a:p>
            <a:pPr marL="0" indent="0" algn="l">
              <a:lnSpc>
                <a:spcPts val="2100"/>
              </a:lnSpc>
              <a:buNone/>
            </a:pPr>
            <a:r>
              <a:rPr lang="en-US" sz="1700" dirty="0">
                <a:solidFill>
                  <a:srgbClr val="383838"/>
                </a:solidFill>
                <a:latin typeface="Patrick Hand" pitchFamily="34" charset="0"/>
                <a:ea typeface="Patrick Hand" pitchFamily="34" charset="-122"/>
                <a:cs typeface="Patrick Hand" pitchFamily="34" charset="-120"/>
              </a:rPr>
              <a:t>Centralized Storage</a:t>
            </a:r>
            <a:endParaRPr lang="en-US" sz="1700" dirty="0"/>
          </a:p>
        </p:txBody>
      </p:sp>
      <p:sp>
        <p:nvSpPr>
          <p:cNvPr id="8" name="Text 5"/>
          <p:cNvSpPr/>
          <p:nvPr/>
        </p:nvSpPr>
        <p:spPr>
          <a:xfrm>
            <a:off x="1190982" y="4039076"/>
            <a:ext cx="5801439" cy="660797"/>
          </a:xfrm>
          <a:prstGeom prst="rect">
            <a:avLst/>
          </a:prstGeom>
          <a:noFill/>
          <a:ln/>
        </p:spPr>
        <p:txBody>
          <a:bodyPr wrap="squar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Keeps all email messages stored on the server, eliminating the need to download and store messages locally on each device.</a:t>
            </a:r>
            <a:endParaRPr lang="en-US" sz="1700" dirty="0"/>
          </a:p>
        </p:txBody>
      </p:sp>
      <p:sp>
        <p:nvSpPr>
          <p:cNvPr id="9" name="Shape 6"/>
          <p:cNvSpPr/>
          <p:nvPr/>
        </p:nvSpPr>
        <p:spPr>
          <a:xfrm>
            <a:off x="7412950" y="2577465"/>
            <a:ext cx="6251377" cy="2347317"/>
          </a:xfrm>
          <a:prstGeom prst="roundRect">
            <a:avLst>
              <a:gd name="adj" fmla="val 3890"/>
            </a:avLst>
          </a:prstGeom>
          <a:solidFill>
            <a:srgbClr val="E6E6E6"/>
          </a:solidFill>
          <a:ln w="7620">
            <a:solidFill>
              <a:srgbClr val="CCCCCC"/>
            </a:solidFill>
            <a:prstDash val="solid"/>
          </a:ln>
        </p:spPr>
        <p:txBody>
          <a:bodyPr/>
          <a:lstStyle/>
          <a:p>
            <a:endParaRPr lang="en-US"/>
          </a:p>
        </p:txBody>
      </p:sp>
      <p:sp>
        <p:nvSpPr>
          <p:cNvPr id="10" name="Shape 7"/>
          <p:cNvSpPr/>
          <p:nvPr/>
        </p:nvSpPr>
        <p:spPr>
          <a:xfrm>
            <a:off x="7637859" y="2802374"/>
            <a:ext cx="652105" cy="652105"/>
          </a:xfrm>
          <a:prstGeom prst="roundRect">
            <a:avLst>
              <a:gd name="adj" fmla="val 14020879"/>
            </a:avLst>
          </a:prstGeom>
          <a:solidFill>
            <a:srgbClr val="CCCCCC"/>
          </a:solidFill>
          <a:ln/>
        </p:spPr>
        <p:txBody>
          <a:bodyPr/>
          <a:lstStyle/>
          <a:p>
            <a:endParaRPr lang="en-US"/>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17168" y="2981682"/>
            <a:ext cx="293370" cy="293370"/>
          </a:xfrm>
          <a:prstGeom prst="rect">
            <a:avLst/>
          </a:prstGeom>
        </p:spPr>
      </p:pic>
      <p:sp>
        <p:nvSpPr>
          <p:cNvPr id="12" name="Text 8"/>
          <p:cNvSpPr/>
          <p:nvPr/>
        </p:nvSpPr>
        <p:spPr>
          <a:xfrm>
            <a:off x="7637859" y="3650099"/>
            <a:ext cx="2173843" cy="271701"/>
          </a:xfrm>
          <a:prstGeom prst="rect">
            <a:avLst/>
          </a:prstGeom>
          <a:noFill/>
          <a:ln/>
        </p:spPr>
        <p:txBody>
          <a:bodyPr wrap="none" lIns="0" tIns="0" rIns="0" bIns="0" rtlCol="0" anchor="t"/>
          <a:lstStyle/>
          <a:p>
            <a:pPr marL="0" indent="0" algn="l">
              <a:lnSpc>
                <a:spcPts val="2100"/>
              </a:lnSpc>
              <a:buNone/>
            </a:pPr>
            <a:r>
              <a:rPr lang="en-US" sz="1700" dirty="0">
                <a:solidFill>
                  <a:srgbClr val="383838"/>
                </a:solidFill>
                <a:latin typeface="Patrick Hand" pitchFamily="34" charset="0"/>
                <a:ea typeface="Patrick Hand" pitchFamily="34" charset="-122"/>
                <a:cs typeface="Patrick Hand" pitchFamily="34" charset="-120"/>
              </a:rPr>
              <a:t>Multi-Device Access</a:t>
            </a:r>
            <a:endParaRPr lang="en-US" sz="1700" dirty="0"/>
          </a:p>
        </p:txBody>
      </p:sp>
      <p:sp>
        <p:nvSpPr>
          <p:cNvPr id="13" name="Text 9"/>
          <p:cNvSpPr/>
          <p:nvPr/>
        </p:nvSpPr>
        <p:spPr>
          <a:xfrm>
            <a:off x="7637859" y="4039076"/>
            <a:ext cx="5801558" cy="660797"/>
          </a:xfrm>
          <a:prstGeom prst="rect">
            <a:avLst/>
          </a:prstGeom>
          <a:noFill/>
          <a:ln/>
        </p:spPr>
        <p:txBody>
          <a:bodyPr wrap="squar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Provides seamless access from smartphones, tablets, laptops and desktops while maintaining a unified view of your inbox.</a:t>
            </a:r>
            <a:endParaRPr lang="en-US" sz="1700" dirty="0"/>
          </a:p>
        </p:txBody>
      </p:sp>
      <p:sp>
        <p:nvSpPr>
          <p:cNvPr id="14" name="Shape 10"/>
          <p:cNvSpPr/>
          <p:nvPr/>
        </p:nvSpPr>
        <p:spPr>
          <a:xfrm>
            <a:off x="966073" y="5120402"/>
            <a:ext cx="6251258" cy="2347317"/>
          </a:xfrm>
          <a:prstGeom prst="roundRect">
            <a:avLst>
              <a:gd name="adj" fmla="val 3890"/>
            </a:avLst>
          </a:prstGeom>
          <a:solidFill>
            <a:srgbClr val="E6E6E6"/>
          </a:solidFill>
          <a:ln w="7620">
            <a:solidFill>
              <a:srgbClr val="CCCCCC"/>
            </a:solidFill>
            <a:prstDash val="solid"/>
          </a:ln>
        </p:spPr>
        <p:txBody>
          <a:bodyPr/>
          <a:lstStyle/>
          <a:p>
            <a:endParaRPr lang="en-US"/>
          </a:p>
        </p:txBody>
      </p:sp>
      <p:sp>
        <p:nvSpPr>
          <p:cNvPr id="15" name="Shape 11"/>
          <p:cNvSpPr/>
          <p:nvPr/>
        </p:nvSpPr>
        <p:spPr>
          <a:xfrm>
            <a:off x="1190982" y="5345311"/>
            <a:ext cx="652105" cy="652105"/>
          </a:xfrm>
          <a:prstGeom prst="roundRect">
            <a:avLst>
              <a:gd name="adj" fmla="val 14020879"/>
            </a:avLst>
          </a:prstGeom>
          <a:solidFill>
            <a:srgbClr val="CCCCCC"/>
          </a:solidFill>
          <a:ln/>
        </p:spPr>
        <p:txBody>
          <a:bodyPr/>
          <a:lstStyle/>
          <a:p>
            <a:endParaRPr lang="en-US"/>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70290" y="5524619"/>
            <a:ext cx="293370" cy="293370"/>
          </a:xfrm>
          <a:prstGeom prst="rect">
            <a:avLst/>
          </a:prstGeom>
        </p:spPr>
      </p:pic>
      <p:sp>
        <p:nvSpPr>
          <p:cNvPr id="17" name="Text 12"/>
          <p:cNvSpPr/>
          <p:nvPr/>
        </p:nvSpPr>
        <p:spPr>
          <a:xfrm>
            <a:off x="1190982" y="6193036"/>
            <a:ext cx="2173843" cy="271701"/>
          </a:xfrm>
          <a:prstGeom prst="rect">
            <a:avLst/>
          </a:prstGeom>
          <a:noFill/>
          <a:ln/>
        </p:spPr>
        <p:txBody>
          <a:bodyPr wrap="none" lIns="0" tIns="0" rIns="0" bIns="0" rtlCol="0" anchor="t"/>
          <a:lstStyle/>
          <a:p>
            <a:pPr marL="0" indent="0" algn="l">
              <a:lnSpc>
                <a:spcPts val="2100"/>
              </a:lnSpc>
              <a:buNone/>
            </a:pPr>
            <a:r>
              <a:rPr lang="en-US" sz="1700" dirty="0">
                <a:solidFill>
                  <a:srgbClr val="383838"/>
                </a:solidFill>
                <a:latin typeface="Patrick Hand" pitchFamily="34" charset="0"/>
                <a:ea typeface="Patrick Hand" pitchFamily="34" charset="-122"/>
                <a:cs typeface="Patrick Hand" pitchFamily="34" charset="-120"/>
              </a:rPr>
              <a:t>Real-Time Sync</a:t>
            </a:r>
            <a:endParaRPr lang="en-US" sz="1700" dirty="0"/>
          </a:p>
        </p:txBody>
      </p:sp>
      <p:sp>
        <p:nvSpPr>
          <p:cNvPr id="18" name="Text 13"/>
          <p:cNvSpPr/>
          <p:nvPr/>
        </p:nvSpPr>
        <p:spPr>
          <a:xfrm>
            <a:off x="1190982" y="6582013"/>
            <a:ext cx="5801439" cy="660797"/>
          </a:xfrm>
          <a:prstGeom prst="rect">
            <a:avLst/>
          </a:prstGeom>
          <a:noFill/>
          <a:ln/>
        </p:spPr>
        <p:txBody>
          <a:bodyPr wrap="squar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Any changes made on one device—deleting, moving or marking messages—are instantly reflected across all connected devices.</a:t>
            </a:r>
            <a:endParaRPr lang="en-US" sz="1700" dirty="0"/>
          </a:p>
        </p:txBody>
      </p:sp>
      <p:sp>
        <p:nvSpPr>
          <p:cNvPr id="19" name="Shape 14"/>
          <p:cNvSpPr/>
          <p:nvPr/>
        </p:nvSpPr>
        <p:spPr>
          <a:xfrm>
            <a:off x="7412950" y="5107339"/>
            <a:ext cx="6251377" cy="2347317"/>
          </a:xfrm>
          <a:prstGeom prst="roundRect">
            <a:avLst>
              <a:gd name="adj" fmla="val 3890"/>
            </a:avLst>
          </a:prstGeom>
          <a:solidFill>
            <a:srgbClr val="E6E6E6"/>
          </a:solidFill>
          <a:ln w="7620">
            <a:solidFill>
              <a:srgbClr val="CCCCCC"/>
            </a:solidFill>
            <a:prstDash val="solid"/>
          </a:ln>
        </p:spPr>
        <p:txBody>
          <a:bodyPr/>
          <a:lstStyle/>
          <a:p>
            <a:endParaRPr lang="en-US"/>
          </a:p>
        </p:txBody>
      </p:sp>
      <p:sp>
        <p:nvSpPr>
          <p:cNvPr id="20" name="Shape 15"/>
          <p:cNvSpPr/>
          <p:nvPr/>
        </p:nvSpPr>
        <p:spPr>
          <a:xfrm>
            <a:off x="7637859" y="5345311"/>
            <a:ext cx="652105" cy="652105"/>
          </a:xfrm>
          <a:prstGeom prst="roundRect">
            <a:avLst>
              <a:gd name="adj" fmla="val 14020879"/>
            </a:avLst>
          </a:prstGeom>
          <a:solidFill>
            <a:srgbClr val="CCCCCC"/>
          </a:solidFill>
          <a:ln/>
        </p:spPr>
        <p:txBody>
          <a:bodyPr/>
          <a:lstStyle/>
          <a:p>
            <a:endParaRPr lang="en-US"/>
          </a:p>
        </p:txBody>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17168" y="5524619"/>
            <a:ext cx="293370" cy="293370"/>
          </a:xfrm>
          <a:prstGeom prst="rect">
            <a:avLst/>
          </a:prstGeom>
        </p:spPr>
      </p:pic>
      <p:sp>
        <p:nvSpPr>
          <p:cNvPr id="22" name="Text 16"/>
          <p:cNvSpPr/>
          <p:nvPr/>
        </p:nvSpPr>
        <p:spPr>
          <a:xfrm>
            <a:off x="7637859" y="6193036"/>
            <a:ext cx="2173843" cy="271701"/>
          </a:xfrm>
          <a:prstGeom prst="rect">
            <a:avLst/>
          </a:prstGeom>
          <a:noFill/>
          <a:ln/>
        </p:spPr>
        <p:txBody>
          <a:bodyPr wrap="none" lIns="0" tIns="0" rIns="0" bIns="0" rtlCol="0" anchor="t"/>
          <a:lstStyle/>
          <a:p>
            <a:pPr marL="0" indent="0" algn="l">
              <a:lnSpc>
                <a:spcPts val="2100"/>
              </a:lnSpc>
              <a:buNone/>
            </a:pPr>
            <a:r>
              <a:rPr lang="en-US" sz="1700" dirty="0">
                <a:solidFill>
                  <a:srgbClr val="383838"/>
                </a:solidFill>
                <a:latin typeface="Patrick Hand" pitchFamily="34" charset="0"/>
                <a:ea typeface="Patrick Hand" pitchFamily="34" charset="-122"/>
                <a:cs typeface="Patrick Hand" pitchFamily="34" charset="-120"/>
              </a:rPr>
              <a:t>Efficient Management</a:t>
            </a:r>
            <a:endParaRPr lang="en-US" sz="1700" dirty="0"/>
          </a:p>
        </p:txBody>
      </p:sp>
      <p:sp>
        <p:nvSpPr>
          <p:cNvPr id="23" name="Text 17"/>
          <p:cNvSpPr/>
          <p:nvPr/>
        </p:nvSpPr>
        <p:spPr>
          <a:xfrm>
            <a:off x="7637859" y="6582013"/>
            <a:ext cx="5801558" cy="660797"/>
          </a:xfrm>
          <a:prstGeom prst="rect">
            <a:avLst/>
          </a:prstGeom>
          <a:noFill/>
          <a:ln/>
        </p:spPr>
        <p:txBody>
          <a:bodyPr wrap="squar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Supports advanced email organization with folders, labels, flags and selective message downloading for optimal performance.</a:t>
            </a:r>
            <a:endParaRPr lang="en-US" sz="1700" dirty="0"/>
          </a:p>
        </p:txBody>
      </p:sp>
      <p:sp>
        <p:nvSpPr>
          <p:cNvPr id="24" name="Rounded Rectangle 23">
            <a:extLst>
              <a:ext uri="{FF2B5EF4-FFF2-40B4-BE49-F238E27FC236}">
                <a16:creationId xmlns:a16="http://schemas.microsoft.com/office/drawing/2014/main" id="{5C469A4B-DF11-9E86-D728-D0200E4F0C6F}"/>
              </a:ext>
            </a:extLst>
          </p:cNvPr>
          <p:cNvSpPr/>
          <p:nvPr/>
        </p:nvSpPr>
        <p:spPr>
          <a:xfrm>
            <a:off x="12802178" y="7738620"/>
            <a:ext cx="1724297" cy="38647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66273"/>
          </a:xfrm>
          <a:prstGeom prst="rect">
            <a:avLst/>
          </a:prstGeom>
        </p:spPr>
      </p:pic>
      <p:sp>
        <p:nvSpPr>
          <p:cNvPr id="3" name="Text 0"/>
          <p:cNvSpPr/>
          <p:nvPr/>
        </p:nvSpPr>
        <p:spPr>
          <a:xfrm>
            <a:off x="966073" y="3326249"/>
            <a:ext cx="4379119" cy="513278"/>
          </a:xfrm>
          <a:prstGeom prst="rect">
            <a:avLst/>
          </a:prstGeom>
          <a:noFill/>
          <a:ln/>
        </p:spPr>
        <p:txBody>
          <a:bodyPr wrap="none" lIns="0" tIns="0" rIns="0" bIns="0" rtlCol="0" anchor="t"/>
          <a:lstStyle/>
          <a:p>
            <a:pPr marL="0" indent="0" algn="l">
              <a:lnSpc>
                <a:spcPts val="4000"/>
              </a:lnSpc>
              <a:buNone/>
            </a:pPr>
            <a:r>
              <a:rPr lang="en-US" sz="3200" dirty="0">
                <a:solidFill>
                  <a:srgbClr val="383838"/>
                </a:solidFill>
                <a:latin typeface="Patrick Hand" pitchFamily="34" charset="0"/>
                <a:ea typeface="Patrick Hand" pitchFamily="34" charset="-122"/>
                <a:cs typeface="Patrick Hand" pitchFamily="34" charset="-120"/>
              </a:rPr>
              <a:t>IMAP in Network Architecture</a:t>
            </a:r>
            <a:endParaRPr lang="en-US" sz="3200" dirty="0"/>
          </a:p>
        </p:txBody>
      </p:sp>
      <p:sp>
        <p:nvSpPr>
          <p:cNvPr id="4" name="Text 1"/>
          <p:cNvSpPr/>
          <p:nvPr/>
        </p:nvSpPr>
        <p:spPr>
          <a:xfrm>
            <a:off x="966073" y="4101227"/>
            <a:ext cx="205264" cy="256580"/>
          </a:xfrm>
          <a:prstGeom prst="rect">
            <a:avLst/>
          </a:prstGeom>
          <a:noFill/>
          <a:ln/>
        </p:spPr>
        <p:txBody>
          <a:bodyPr wrap="none" lIns="0" tIns="0" rIns="0" bIns="0" rtlCol="0" anchor="t"/>
          <a:lstStyle/>
          <a:p>
            <a:pPr marL="0" indent="0" algn="l">
              <a:lnSpc>
                <a:spcPts val="2350"/>
              </a:lnSpc>
              <a:buNone/>
            </a:pPr>
            <a:r>
              <a:rPr lang="en-US" sz="1600" dirty="0">
                <a:solidFill>
                  <a:srgbClr val="383838"/>
                </a:solidFill>
                <a:latin typeface="Patrick Hand Light" pitchFamily="34" charset="0"/>
                <a:ea typeface="Patrick Hand Light" pitchFamily="34" charset="-122"/>
                <a:cs typeface="Patrick Hand Light" pitchFamily="34" charset="-120"/>
              </a:rPr>
              <a:t>01</a:t>
            </a:r>
            <a:endParaRPr lang="en-US" sz="1600" dirty="0"/>
          </a:p>
        </p:txBody>
      </p:sp>
      <p:sp>
        <p:nvSpPr>
          <p:cNvPr id="5" name="Shape 2"/>
          <p:cNvSpPr/>
          <p:nvPr/>
        </p:nvSpPr>
        <p:spPr>
          <a:xfrm>
            <a:off x="966073" y="4427220"/>
            <a:ext cx="6261854" cy="22860"/>
          </a:xfrm>
          <a:prstGeom prst="rect">
            <a:avLst/>
          </a:prstGeom>
          <a:solidFill>
            <a:srgbClr val="CCCCCC"/>
          </a:solidFill>
          <a:ln/>
        </p:spPr>
        <p:txBody>
          <a:bodyPr/>
          <a:lstStyle/>
          <a:p>
            <a:endParaRPr lang="en-US"/>
          </a:p>
        </p:txBody>
      </p:sp>
      <p:sp>
        <p:nvSpPr>
          <p:cNvPr id="6" name="Text 3"/>
          <p:cNvSpPr/>
          <p:nvPr/>
        </p:nvSpPr>
        <p:spPr>
          <a:xfrm>
            <a:off x="966073" y="4575572"/>
            <a:ext cx="2052995" cy="256580"/>
          </a:xfrm>
          <a:prstGeom prst="rect">
            <a:avLst/>
          </a:prstGeom>
          <a:noFill/>
          <a:ln/>
        </p:spPr>
        <p:txBody>
          <a:bodyPr wrap="none" lIns="0" tIns="0" rIns="0" bIns="0" rtlCol="0" anchor="t"/>
          <a:lstStyle/>
          <a:p>
            <a:pPr marL="0" indent="0" algn="l">
              <a:lnSpc>
                <a:spcPts val="2000"/>
              </a:lnSpc>
              <a:buNone/>
            </a:pPr>
            <a:r>
              <a:rPr lang="en-US" sz="1600" dirty="0">
                <a:solidFill>
                  <a:srgbClr val="383838"/>
                </a:solidFill>
                <a:latin typeface="Patrick Hand" pitchFamily="34" charset="0"/>
                <a:ea typeface="Patrick Hand" pitchFamily="34" charset="-122"/>
                <a:cs typeface="Patrick Hand" pitchFamily="34" charset="-120"/>
              </a:rPr>
              <a:t>Application Layer Protocol</a:t>
            </a:r>
            <a:endParaRPr lang="en-US" sz="1600" dirty="0"/>
          </a:p>
        </p:txBody>
      </p:sp>
      <p:sp>
        <p:nvSpPr>
          <p:cNvPr id="7" name="Text 4"/>
          <p:cNvSpPr/>
          <p:nvPr/>
        </p:nvSpPr>
        <p:spPr>
          <a:xfrm>
            <a:off x="966073" y="4936808"/>
            <a:ext cx="6261854" cy="607457"/>
          </a:xfrm>
          <a:prstGeom prst="rect">
            <a:avLst/>
          </a:prstGeom>
          <a:noFill/>
          <a:ln/>
        </p:spPr>
        <p:txBody>
          <a:bodyPr wrap="square" lIns="0" tIns="0" rIns="0" bIns="0" rtlCol="0" anchor="t"/>
          <a:lstStyle/>
          <a:p>
            <a:pPr marL="0" indent="0" algn="l">
              <a:lnSpc>
                <a:spcPts val="2350"/>
              </a:lnSpc>
              <a:buNone/>
            </a:pPr>
            <a:r>
              <a:rPr lang="en-US" sz="1600" dirty="0">
                <a:solidFill>
                  <a:srgbClr val="383838"/>
                </a:solidFill>
                <a:latin typeface="Patrick Hand" pitchFamily="34" charset="0"/>
                <a:ea typeface="Patrick Hand" pitchFamily="34" charset="-122"/>
                <a:cs typeface="Patrick Hand" pitchFamily="34" charset="-120"/>
              </a:rPr>
              <a:t>IMAP operates at the Application Layer (Layer 7) of the OSI model, providing the interface between email clients and servers.</a:t>
            </a:r>
            <a:endParaRPr lang="en-US" sz="1600" dirty="0"/>
          </a:p>
        </p:txBody>
      </p:sp>
      <p:sp>
        <p:nvSpPr>
          <p:cNvPr id="8" name="Text 5"/>
          <p:cNvSpPr/>
          <p:nvPr/>
        </p:nvSpPr>
        <p:spPr>
          <a:xfrm>
            <a:off x="7402354" y="4101227"/>
            <a:ext cx="205264" cy="256580"/>
          </a:xfrm>
          <a:prstGeom prst="rect">
            <a:avLst/>
          </a:prstGeom>
          <a:noFill/>
          <a:ln/>
        </p:spPr>
        <p:txBody>
          <a:bodyPr wrap="none" lIns="0" tIns="0" rIns="0" bIns="0" rtlCol="0" anchor="t"/>
          <a:lstStyle/>
          <a:p>
            <a:pPr marL="0" indent="0" algn="l">
              <a:lnSpc>
                <a:spcPts val="2350"/>
              </a:lnSpc>
              <a:buNone/>
            </a:pPr>
            <a:r>
              <a:rPr lang="en-US" sz="1600" dirty="0">
                <a:solidFill>
                  <a:srgbClr val="383838"/>
                </a:solidFill>
                <a:latin typeface="Patrick Hand Light" pitchFamily="34" charset="0"/>
                <a:ea typeface="Patrick Hand Light" pitchFamily="34" charset="-122"/>
                <a:cs typeface="Patrick Hand Light" pitchFamily="34" charset="-120"/>
              </a:rPr>
              <a:t>02</a:t>
            </a:r>
            <a:endParaRPr lang="en-US" sz="1600" dirty="0"/>
          </a:p>
        </p:txBody>
      </p:sp>
      <p:sp>
        <p:nvSpPr>
          <p:cNvPr id="9" name="Shape 6"/>
          <p:cNvSpPr/>
          <p:nvPr/>
        </p:nvSpPr>
        <p:spPr>
          <a:xfrm>
            <a:off x="7402354" y="4427220"/>
            <a:ext cx="6261973" cy="22860"/>
          </a:xfrm>
          <a:prstGeom prst="rect">
            <a:avLst/>
          </a:prstGeom>
          <a:solidFill>
            <a:srgbClr val="CCCCCC"/>
          </a:solidFill>
          <a:ln/>
        </p:spPr>
        <p:txBody>
          <a:bodyPr/>
          <a:lstStyle/>
          <a:p>
            <a:endParaRPr lang="en-US"/>
          </a:p>
        </p:txBody>
      </p:sp>
      <p:sp>
        <p:nvSpPr>
          <p:cNvPr id="10" name="Text 7"/>
          <p:cNvSpPr/>
          <p:nvPr/>
        </p:nvSpPr>
        <p:spPr>
          <a:xfrm>
            <a:off x="7402354" y="4575572"/>
            <a:ext cx="2052995" cy="256580"/>
          </a:xfrm>
          <a:prstGeom prst="rect">
            <a:avLst/>
          </a:prstGeom>
          <a:noFill/>
          <a:ln/>
        </p:spPr>
        <p:txBody>
          <a:bodyPr wrap="none" lIns="0" tIns="0" rIns="0" bIns="0" rtlCol="0" anchor="t"/>
          <a:lstStyle/>
          <a:p>
            <a:pPr marL="0" indent="0" algn="l">
              <a:lnSpc>
                <a:spcPts val="2000"/>
              </a:lnSpc>
              <a:buNone/>
            </a:pPr>
            <a:r>
              <a:rPr lang="en-US" sz="1600" dirty="0">
                <a:solidFill>
                  <a:srgbClr val="383838"/>
                </a:solidFill>
                <a:latin typeface="Patrick Hand" pitchFamily="34" charset="0"/>
                <a:ea typeface="Patrick Hand" pitchFamily="34" charset="-122"/>
                <a:cs typeface="Patrick Hand" pitchFamily="34" charset="-120"/>
              </a:rPr>
              <a:t>TCP Transport</a:t>
            </a:r>
            <a:endParaRPr lang="en-US" sz="1600" dirty="0"/>
          </a:p>
        </p:txBody>
      </p:sp>
      <p:sp>
        <p:nvSpPr>
          <p:cNvPr id="11" name="Text 8"/>
          <p:cNvSpPr/>
          <p:nvPr/>
        </p:nvSpPr>
        <p:spPr>
          <a:xfrm>
            <a:off x="7402354" y="4936808"/>
            <a:ext cx="6261973" cy="607457"/>
          </a:xfrm>
          <a:prstGeom prst="rect">
            <a:avLst/>
          </a:prstGeom>
          <a:noFill/>
          <a:ln/>
        </p:spPr>
        <p:txBody>
          <a:bodyPr wrap="square" lIns="0" tIns="0" rIns="0" bIns="0" rtlCol="0" anchor="t"/>
          <a:lstStyle/>
          <a:p>
            <a:pPr marL="0" indent="0" algn="l">
              <a:lnSpc>
                <a:spcPts val="2350"/>
              </a:lnSpc>
              <a:buNone/>
            </a:pPr>
            <a:r>
              <a:rPr lang="en-US" sz="1600" dirty="0">
                <a:solidFill>
                  <a:srgbClr val="383838"/>
                </a:solidFill>
                <a:latin typeface="Patrick Hand" pitchFamily="34" charset="0"/>
                <a:ea typeface="Patrick Hand" pitchFamily="34" charset="-122"/>
                <a:cs typeface="Patrick Hand" pitchFamily="34" charset="-120"/>
              </a:rPr>
              <a:t>Uses TCP (Transmission Control Protocol) for reliable, connection-oriented data transmission, ensuring message integrity.</a:t>
            </a:r>
            <a:endParaRPr lang="en-US" sz="1600" dirty="0"/>
          </a:p>
        </p:txBody>
      </p:sp>
      <p:sp>
        <p:nvSpPr>
          <p:cNvPr id="12" name="Text 9"/>
          <p:cNvSpPr/>
          <p:nvPr/>
        </p:nvSpPr>
        <p:spPr>
          <a:xfrm>
            <a:off x="966073" y="5872639"/>
            <a:ext cx="205264" cy="256580"/>
          </a:xfrm>
          <a:prstGeom prst="rect">
            <a:avLst/>
          </a:prstGeom>
          <a:noFill/>
          <a:ln/>
        </p:spPr>
        <p:txBody>
          <a:bodyPr wrap="none" lIns="0" tIns="0" rIns="0" bIns="0" rtlCol="0" anchor="t"/>
          <a:lstStyle/>
          <a:p>
            <a:pPr marL="0" indent="0" algn="l">
              <a:lnSpc>
                <a:spcPts val="2350"/>
              </a:lnSpc>
              <a:buNone/>
            </a:pPr>
            <a:r>
              <a:rPr lang="en-US" sz="1600" dirty="0">
                <a:solidFill>
                  <a:srgbClr val="383838"/>
                </a:solidFill>
                <a:latin typeface="Patrick Hand Light" pitchFamily="34" charset="0"/>
                <a:ea typeface="Patrick Hand Light" pitchFamily="34" charset="-122"/>
                <a:cs typeface="Patrick Hand Light" pitchFamily="34" charset="-120"/>
              </a:rPr>
              <a:t>03</a:t>
            </a:r>
            <a:endParaRPr lang="en-US" sz="1600" dirty="0"/>
          </a:p>
        </p:txBody>
      </p:sp>
      <p:sp>
        <p:nvSpPr>
          <p:cNvPr id="13" name="Shape 10"/>
          <p:cNvSpPr/>
          <p:nvPr/>
        </p:nvSpPr>
        <p:spPr>
          <a:xfrm>
            <a:off x="966073" y="6198632"/>
            <a:ext cx="6261854" cy="22860"/>
          </a:xfrm>
          <a:prstGeom prst="rect">
            <a:avLst/>
          </a:prstGeom>
          <a:solidFill>
            <a:srgbClr val="CCCCCC"/>
          </a:solidFill>
          <a:ln/>
        </p:spPr>
        <p:txBody>
          <a:bodyPr/>
          <a:lstStyle/>
          <a:p>
            <a:endParaRPr lang="en-US"/>
          </a:p>
        </p:txBody>
      </p:sp>
      <p:sp>
        <p:nvSpPr>
          <p:cNvPr id="14" name="Text 11"/>
          <p:cNvSpPr/>
          <p:nvPr/>
        </p:nvSpPr>
        <p:spPr>
          <a:xfrm>
            <a:off x="966073" y="6346984"/>
            <a:ext cx="2052995" cy="256580"/>
          </a:xfrm>
          <a:prstGeom prst="rect">
            <a:avLst/>
          </a:prstGeom>
          <a:noFill/>
          <a:ln/>
        </p:spPr>
        <p:txBody>
          <a:bodyPr wrap="none" lIns="0" tIns="0" rIns="0" bIns="0" rtlCol="0" anchor="t"/>
          <a:lstStyle/>
          <a:p>
            <a:pPr marL="0" indent="0" algn="l">
              <a:lnSpc>
                <a:spcPts val="2000"/>
              </a:lnSpc>
              <a:buNone/>
            </a:pPr>
            <a:r>
              <a:rPr lang="en-US" sz="1600" dirty="0">
                <a:solidFill>
                  <a:srgbClr val="383838"/>
                </a:solidFill>
                <a:latin typeface="Patrick Hand" pitchFamily="34" charset="0"/>
                <a:ea typeface="Patrick Hand" pitchFamily="34" charset="-122"/>
                <a:cs typeface="Patrick Hand" pitchFamily="34" charset="-120"/>
              </a:rPr>
              <a:t>Client-Server Model</a:t>
            </a:r>
            <a:endParaRPr lang="en-US" sz="1600" dirty="0"/>
          </a:p>
        </p:txBody>
      </p:sp>
      <p:sp>
        <p:nvSpPr>
          <p:cNvPr id="15" name="Text 12"/>
          <p:cNvSpPr/>
          <p:nvPr/>
        </p:nvSpPr>
        <p:spPr>
          <a:xfrm>
            <a:off x="966073" y="6708219"/>
            <a:ext cx="6261854" cy="607457"/>
          </a:xfrm>
          <a:prstGeom prst="rect">
            <a:avLst/>
          </a:prstGeom>
          <a:noFill/>
          <a:ln/>
        </p:spPr>
        <p:txBody>
          <a:bodyPr wrap="square" lIns="0" tIns="0" rIns="0" bIns="0" rtlCol="0" anchor="t"/>
          <a:lstStyle/>
          <a:p>
            <a:pPr marL="0" indent="0" algn="l">
              <a:lnSpc>
                <a:spcPts val="2350"/>
              </a:lnSpc>
              <a:buNone/>
            </a:pPr>
            <a:r>
              <a:rPr lang="en-US" sz="1600" dirty="0">
                <a:solidFill>
                  <a:srgbClr val="383838"/>
                </a:solidFill>
                <a:latin typeface="Patrick Hand" pitchFamily="34" charset="0"/>
                <a:ea typeface="Patrick Hand" pitchFamily="34" charset="-122"/>
                <a:cs typeface="Patrick Hand" pitchFamily="34" charset="-120"/>
              </a:rPr>
              <a:t>Follows a clear client-server architecture where email clients connect to IMAP servers to retrieve and manage messages.</a:t>
            </a:r>
            <a:endParaRPr lang="en-US" sz="1600" dirty="0"/>
          </a:p>
        </p:txBody>
      </p:sp>
      <p:sp>
        <p:nvSpPr>
          <p:cNvPr id="16" name="Text 13"/>
          <p:cNvSpPr/>
          <p:nvPr/>
        </p:nvSpPr>
        <p:spPr>
          <a:xfrm>
            <a:off x="7402354" y="5872639"/>
            <a:ext cx="205264" cy="256580"/>
          </a:xfrm>
          <a:prstGeom prst="rect">
            <a:avLst/>
          </a:prstGeom>
          <a:noFill/>
          <a:ln/>
        </p:spPr>
        <p:txBody>
          <a:bodyPr wrap="none" lIns="0" tIns="0" rIns="0" bIns="0" rtlCol="0" anchor="t"/>
          <a:lstStyle/>
          <a:p>
            <a:pPr marL="0" indent="0" algn="l">
              <a:lnSpc>
                <a:spcPts val="2350"/>
              </a:lnSpc>
              <a:buNone/>
            </a:pPr>
            <a:r>
              <a:rPr lang="en-US" sz="1600" dirty="0">
                <a:solidFill>
                  <a:srgbClr val="383838"/>
                </a:solidFill>
                <a:latin typeface="Patrick Hand Light" pitchFamily="34" charset="0"/>
                <a:ea typeface="Patrick Hand Light" pitchFamily="34" charset="-122"/>
                <a:cs typeface="Patrick Hand Light" pitchFamily="34" charset="-120"/>
              </a:rPr>
              <a:t>04</a:t>
            </a:r>
            <a:endParaRPr lang="en-US" sz="1600" dirty="0"/>
          </a:p>
        </p:txBody>
      </p:sp>
      <p:sp>
        <p:nvSpPr>
          <p:cNvPr id="17" name="Shape 14"/>
          <p:cNvSpPr/>
          <p:nvPr/>
        </p:nvSpPr>
        <p:spPr>
          <a:xfrm>
            <a:off x="7402354" y="6198632"/>
            <a:ext cx="6261973" cy="22860"/>
          </a:xfrm>
          <a:prstGeom prst="rect">
            <a:avLst/>
          </a:prstGeom>
          <a:solidFill>
            <a:srgbClr val="CCCCCC"/>
          </a:solidFill>
          <a:ln/>
        </p:spPr>
        <p:txBody>
          <a:bodyPr/>
          <a:lstStyle/>
          <a:p>
            <a:endParaRPr lang="en-US"/>
          </a:p>
        </p:txBody>
      </p:sp>
      <p:sp>
        <p:nvSpPr>
          <p:cNvPr id="18" name="Text 15"/>
          <p:cNvSpPr/>
          <p:nvPr/>
        </p:nvSpPr>
        <p:spPr>
          <a:xfrm>
            <a:off x="7402354" y="6346984"/>
            <a:ext cx="2052995" cy="256580"/>
          </a:xfrm>
          <a:prstGeom prst="rect">
            <a:avLst/>
          </a:prstGeom>
          <a:noFill/>
          <a:ln/>
        </p:spPr>
        <p:txBody>
          <a:bodyPr wrap="none" lIns="0" tIns="0" rIns="0" bIns="0" rtlCol="0" anchor="t"/>
          <a:lstStyle/>
          <a:p>
            <a:pPr marL="0" indent="0" algn="l">
              <a:lnSpc>
                <a:spcPts val="2000"/>
              </a:lnSpc>
              <a:buNone/>
            </a:pPr>
            <a:r>
              <a:rPr lang="en-US" sz="1600" dirty="0">
                <a:solidFill>
                  <a:srgbClr val="383838"/>
                </a:solidFill>
                <a:latin typeface="Patrick Hand" pitchFamily="34" charset="0"/>
                <a:ea typeface="Patrick Hand" pitchFamily="34" charset="-122"/>
                <a:cs typeface="Patrick Hand" pitchFamily="34" charset="-120"/>
              </a:rPr>
              <a:t>Server-Centric Storage</a:t>
            </a:r>
            <a:endParaRPr lang="en-US" sz="1600" dirty="0"/>
          </a:p>
        </p:txBody>
      </p:sp>
      <p:sp>
        <p:nvSpPr>
          <p:cNvPr id="19" name="Text 16"/>
          <p:cNvSpPr/>
          <p:nvPr/>
        </p:nvSpPr>
        <p:spPr>
          <a:xfrm>
            <a:off x="7402354" y="6721282"/>
            <a:ext cx="6261973" cy="607457"/>
          </a:xfrm>
          <a:prstGeom prst="rect">
            <a:avLst/>
          </a:prstGeom>
          <a:noFill/>
          <a:ln/>
        </p:spPr>
        <p:txBody>
          <a:bodyPr wrap="square" lIns="0" tIns="0" rIns="0" bIns="0" rtlCol="0" anchor="t"/>
          <a:lstStyle/>
          <a:p>
            <a:pPr marL="0" indent="0" algn="l">
              <a:lnSpc>
                <a:spcPts val="2350"/>
              </a:lnSpc>
              <a:buNone/>
            </a:pPr>
            <a:r>
              <a:rPr lang="en-US" sz="1600" dirty="0">
                <a:solidFill>
                  <a:srgbClr val="383838"/>
                </a:solidFill>
                <a:latin typeface="Patrick Hand" pitchFamily="34" charset="0"/>
                <a:ea typeface="Patrick Hand" pitchFamily="34" charset="-122"/>
                <a:cs typeface="Patrick Hand" pitchFamily="34" charset="-120"/>
              </a:rPr>
              <a:t>Unlike POP3, IMAP keeps email data stored on the server indefinitely, allowing access from multiple locations and devices.</a:t>
            </a:r>
            <a:endParaRPr lang="en-US" sz="1600" dirty="0"/>
          </a:p>
        </p:txBody>
      </p:sp>
      <p:sp>
        <p:nvSpPr>
          <p:cNvPr id="20" name="Rounded Rectangle 19">
            <a:extLst>
              <a:ext uri="{FF2B5EF4-FFF2-40B4-BE49-F238E27FC236}">
                <a16:creationId xmlns:a16="http://schemas.microsoft.com/office/drawing/2014/main" id="{DA2B3162-3F28-65F5-2512-368AC03B3429}"/>
              </a:ext>
            </a:extLst>
          </p:cNvPr>
          <p:cNvSpPr/>
          <p:nvPr/>
        </p:nvSpPr>
        <p:spPr>
          <a:xfrm>
            <a:off x="12802178" y="7738620"/>
            <a:ext cx="1724297" cy="38647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66073" y="830818"/>
            <a:ext cx="3381494" cy="422672"/>
          </a:xfrm>
          <a:prstGeom prst="rect">
            <a:avLst/>
          </a:prstGeom>
          <a:noFill/>
          <a:ln/>
        </p:spPr>
        <p:txBody>
          <a:bodyPr wrap="none" lIns="0" tIns="0" rIns="0" bIns="0" rtlCol="0" anchor="t"/>
          <a:lstStyle/>
          <a:p>
            <a:pPr marL="0" indent="0" algn="l">
              <a:lnSpc>
                <a:spcPts val="3300"/>
              </a:lnSpc>
              <a:buNone/>
            </a:pPr>
            <a:r>
              <a:rPr lang="en-US" sz="2650" dirty="0">
                <a:solidFill>
                  <a:srgbClr val="383838"/>
                </a:solidFill>
                <a:latin typeface="Patrick Hand" pitchFamily="34" charset="0"/>
                <a:ea typeface="Patrick Hand" pitchFamily="34" charset="-122"/>
                <a:cs typeface="Patrick Hand" pitchFamily="34" charset="-120"/>
              </a:rPr>
              <a:t>How IMAP Works</a:t>
            </a:r>
            <a:endParaRPr lang="en-US" sz="2650" dirty="0"/>
          </a:p>
        </p:txBody>
      </p:sp>
      <p:sp>
        <p:nvSpPr>
          <p:cNvPr id="3" name="Text 1"/>
          <p:cNvSpPr/>
          <p:nvPr/>
        </p:nvSpPr>
        <p:spPr>
          <a:xfrm>
            <a:off x="966073" y="1490186"/>
            <a:ext cx="12698254" cy="229910"/>
          </a:xfrm>
          <a:prstGeom prst="rect">
            <a:avLst/>
          </a:prstGeom>
          <a:noFill/>
          <a:ln/>
        </p:spPr>
        <p:txBody>
          <a:bodyPr wrap="none" lIns="0" tIns="0" rIns="0" bIns="0" rtlCol="0" anchor="t"/>
          <a:lstStyle/>
          <a:p>
            <a:pPr marL="0" indent="0" algn="l">
              <a:lnSpc>
                <a:spcPts val="1800"/>
              </a:lnSpc>
              <a:buNone/>
            </a:pPr>
            <a:r>
              <a:rPr lang="en-US" sz="1300" dirty="0">
                <a:solidFill>
                  <a:srgbClr val="383838"/>
                </a:solidFill>
                <a:latin typeface="Patrick Hand" pitchFamily="34" charset="0"/>
                <a:ea typeface="Patrick Hand" pitchFamily="34" charset="-122"/>
                <a:cs typeface="Patrick Hand" pitchFamily="34" charset="-120"/>
              </a:rPr>
              <a:t>The IMAP protocol follows a structured process to establish connections, authenticate users, and synchronize email data across devices.</a:t>
            </a:r>
            <a:endParaRPr lang="en-US" sz="1300" dirty="0"/>
          </a:p>
        </p:txBody>
      </p:sp>
      <p:pic>
        <p:nvPicPr>
          <p:cNvPr id="4" name="Image 0" descr="preencoded.png"/>
          <p:cNvPicPr>
            <a:picLocks noChangeAspect="1"/>
          </p:cNvPicPr>
          <p:nvPr/>
        </p:nvPicPr>
        <p:blipFill>
          <a:blip r:embed="rId3"/>
          <a:stretch>
            <a:fillRect/>
          </a:stretch>
        </p:blipFill>
        <p:spPr>
          <a:xfrm>
            <a:off x="966073" y="1853208"/>
            <a:ext cx="507206" cy="1143000"/>
          </a:xfrm>
          <a:prstGeom prst="rect">
            <a:avLst/>
          </a:prstGeom>
        </p:spPr>
      </p:pic>
      <p:sp>
        <p:nvSpPr>
          <p:cNvPr id="5" name="Text 2"/>
          <p:cNvSpPr/>
          <p:nvPr/>
        </p:nvSpPr>
        <p:spPr>
          <a:xfrm>
            <a:off x="1591628" y="2022277"/>
            <a:ext cx="1690688" cy="211336"/>
          </a:xfrm>
          <a:prstGeom prst="rect">
            <a:avLst/>
          </a:prstGeom>
          <a:noFill/>
          <a:ln/>
        </p:spPr>
        <p:txBody>
          <a:bodyPr wrap="none" lIns="0" tIns="0" rIns="0" bIns="0" rtlCol="0" anchor="t"/>
          <a:lstStyle/>
          <a:p>
            <a:pPr marL="0" indent="0" algn="l">
              <a:lnSpc>
                <a:spcPts val="1650"/>
              </a:lnSpc>
              <a:buNone/>
            </a:pPr>
            <a:r>
              <a:rPr lang="en-US" sz="1300" dirty="0">
                <a:solidFill>
                  <a:srgbClr val="383838"/>
                </a:solidFill>
                <a:latin typeface="Patrick Hand" pitchFamily="34" charset="0"/>
                <a:ea typeface="Patrick Hand" pitchFamily="34" charset="-122"/>
                <a:cs typeface="Patrick Hand" pitchFamily="34" charset="-120"/>
              </a:rPr>
              <a:t>Connection Establishment</a:t>
            </a:r>
            <a:endParaRPr lang="en-US" sz="1300" dirty="0"/>
          </a:p>
        </p:txBody>
      </p:sp>
      <p:sp>
        <p:nvSpPr>
          <p:cNvPr id="6" name="Text 3"/>
          <p:cNvSpPr/>
          <p:nvPr/>
        </p:nvSpPr>
        <p:spPr>
          <a:xfrm>
            <a:off x="1591628" y="2304574"/>
            <a:ext cx="12072699" cy="229910"/>
          </a:xfrm>
          <a:prstGeom prst="rect">
            <a:avLst/>
          </a:prstGeom>
          <a:noFill/>
          <a:ln/>
        </p:spPr>
        <p:txBody>
          <a:bodyPr wrap="none" lIns="0" tIns="0" rIns="0" bIns="0" rtlCol="0" anchor="t"/>
          <a:lstStyle/>
          <a:p>
            <a:pPr marL="0" indent="0" algn="l">
              <a:lnSpc>
                <a:spcPts val="1800"/>
              </a:lnSpc>
              <a:buNone/>
            </a:pPr>
            <a:r>
              <a:rPr lang="en-US" sz="1300" dirty="0">
                <a:solidFill>
                  <a:srgbClr val="383838"/>
                </a:solidFill>
                <a:latin typeface="Patrick Hand" pitchFamily="34" charset="0"/>
                <a:ea typeface="Patrick Hand" pitchFamily="34" charset="-122"/>
                <a:cs typeface="Patrick Hand" pitchFamily="34" charset="-120"/>
              </a:rPr>
              <a:t>The email client initiates a TCP connection to the IMAP server using port 143 (unencrypted) or port 993 (encrypted with SSL/TLS).</a:t>
            </a:r>
            <a:endParaRPr lang="en-US" sz="1300" dirty="0"/>
          </a:p>
        </p:txBody>
      </p:sp>
      <p:pic>
        <p:nvPicPr>
          <p:cNvPr id="7" name="Image 1" descr="preencoded.png"/>
          <p:cNvPicPr>
            <a:picLocks noChangeAspect="1"/>
          </p:cNvPicPr>
          <p:nvPr/>
        </p:nvPicPr>
        <p:blipFill>
          <a:blip r:embed="rId3"/>
          <a:stretch>
            <a:fillRect/>
          </a:stretch>
        </p:blipFill>
        <p:spPr>
          <a:xfrm>
            <a:off x="1219676" y="2985968"/>
            <a:ext cx="507206" cy="1143000"/>
          </a:xfrm>
          <a:prstGeom prst="rect">
            <a:avLst/>
          </a:prstGeom>
        </p:spPr>
      </p:pic>
      <p:sp>
        <p:nvSpPr>
          <p:cNvPr id="8" name="Text 4"/>
          <p:cNvSpPr/>
          <p:nvPr/>
        </p:nvSpPr>
        <p:spPr>
          <a:xfrm>
            <a:off x="1845231" y="3155037"/>
            <a:ext cx="1690688" cy="211336"/>
          </a:xfrm>
          <a:prstGeom prst="rect">
            <a:avLst/>
          </a:prstGeom>
          <a:noFill/>
          <a:ln/>
        </p:spPr>
        <p:txBody>
          <a:bodyPr wrap="none" lIns="0" tIns="0" rIns="0" bIns="0" rtlCol="0" anchor="t"/>
          <a:lstStyle/>
          <a:p>
            <a:pPr marL="0" indent="0" algn="l">
              <a:lnSpc>
                <a:spcPts val="1650"/>
              </a:lnSpc>
              <a:buNone/>
            </a:pPr>
            <a:r>
              <a:rPr lang="en-US" sz="1300" dirty="0">
                <a:solidFill>
                  <a:srgbClr val="383838"/>
                </a:solidFill>
                <a:latin typeface="Patrick Hand" pitchFamily="34" charset="0"/>
                <a:ea typeface="Patrick Hand" pitchFamily="34" charset="-122"/>
                <a:cs typeface="Patrick Hand" pitchFamily="34" charset="-120"/>
              </a:rPr>
              <a:t>User Authentication</a:t>
            </a:r>
            <a:endParaRPr lang="en-US" sz="1300" dirty="0"/>
          </a:p>
        </p:txBody>
      </p:sp>
      <p:sp>
        <p:nvSpPr>
          <p:cNvPr id="9" name="Text 5"/>
          <p:cNvSpPr/>
          <p:nvPr/>
        </p:nvSpPr>
        <p:spPr>
          <a:xfrm>
            <a:off x="1845231" y="3437334"/>
            <a:ext cx="11819096" cy="229910"/>
          </a:xfrm>
          <a:prstGeom prst="rect">
            <a:avLst/>
          </a:prstGeom>
          <a:noFill/>
          <a:ln/>
        </p:spPr>
        <p:txBody>
          <a:bodyPr wrap="none" lIns="0" tIns="0" rIns="0" bIns="0" rtlCol="0" anchor="t"/>
          <a:lstStyle/>
          <a:p>
            <a:pPr marL="0" indent="0" algn="l">
              <a:lnSpc>
                <a:spcPts val="1800"/>
              </a:lnSpc>
              <a:buNone/>
            </a:pPr>
            <a:r>
              <a:rPr lang="en-US" sz="1300" dirty="0">
                <a:solidFill>
                  <a:srgbClr val="383838"/>
                </a:solidFill>
                <a:latin typeface="Patrick Hand" pitchFamily="34" charset="0"/>
                <a:ea typeface="Patrick Hand" pitchFamily="34" charset="-122"/>
                <a:cs typeface="Patrick Hand" pitchFamily="34" charset="-120"/>
              </a:rPr>
              <a:t>The client sends authentication credentials (username and password, or OAuth tokens) to verify user identity and establish secure access.</a:t>
            </a:r>
            <a:endParaRPr lang="en-US" sz="1300" dirty="0"/>
          </a:p>
        </p:txBody>
      </p:sp>
      <p:pic>
        <p:nvPicPr>
          <p:cNvPr id="10" name="Image 2" descr="preencoded.png"/>
          <p:cNvPicPr>
            <a:picLocks noChangeAspect="1"/>
          </p:cNvPicPr>
          <p:nvPr/>
        </p:nvPicPr>
        <p:blipFill>
          <a:blip r:embed="rId3"/>
          <a:stretch>
            <a:fillRect/>
          </a:stretch>
        </p:blipFill>
        <p:spPr>
          <a:xfrm>
            <a:off x="1473279" y="4118729"/>
            <a:ext cx="507206" cy="1143000"/>
          </a:xfrm>
          <a:prstGeom prst="rect">
            <a:avLst/>
          </a:prstGeom>
        </p:spPr>
      </p:pic>
      <p:sp>
        <p:nvSpPr>
          <p:cNvPr id="11" name="Text 6"/>
          <p:cNvSpPr/>
          <p:nvPr/>
        </p:nvSpPr>
        <p:spPr>
          <a:xfrm>
            <a:off x="2098834" y="4287798"/>
            <a:ext cx="1690688" cy="211336"/>
          </a:xfrm>
          <a:prstGeom prst="rect">
            <a:avLst/>
          </a:prstGeom>
          <a:noFill/>
          <a:ln/>
        </p:spPr>
        <p:txBody>
          <a:bodyPr wrap="none" lIns="0" tIns="0" rIns="0" bIns="0" rtlCol="0" anchor="t"/>
          <a:lstStyle/>
          <a:p>
            <a:pPr marL="0" indent="0" algn="l">
              <a:lnSpc>
                <a:spcPts val="1650"/>
              </a:lnSpc>
              <a:buNone/>
            </a:pPr>
            <a:r>
              <a:rPr lang="en-US" sz="1300" dirty="0">
                <a:solidFill>
                  <a:srgbClr val="383838"/>
                </a:solidFill>
                <a:latin typeface="Patrick Hand" pitchFamily="34" charset="0"/>
                <a:ea typeface="Patrick Hand" pitchFamily="34" charset="-122"/>
                <a:cs typeface="Patrick Hand" pitchFamily="34" charset="-120"/>
              </a:rPr>
              <a:t>Message Retrieval</a:t>
            </a:r>
            <a:endParaRPr lang="en-US" sz="1300" dirty="0"/>
          </a:p>
        </p:txBody>
      </p:sp>
      <p:sp>
        <p:nvSpPr>
          <p:cNvPr id="12" name="Text 7"/>
          <p:cNvSpPr/>
          <p:nvPr/>
        </p:nvSpPr>
        <p:spPr>
          <a:xfrm>
            <a:off x="2098834" y="4570095"/>
            <a:ext cx="11565493" cy="229910"/>
          </a:xfrm>
          <a:prstGeom prst="rect">
            <a:avLst/>
          </a:prstGeom>
          <a:noFill/>
          <a:ln/>
        </p:spPr>
        <p:txBody>
          <a:bodyPr wrap="none" lIns="0" tIns="0" rIns="0" bIns="0" rtlCol="0" anchor="t"/>
          <a:lstStyle/>
          <a:p>
            <a:pPr marL="0" indent="0" algn="l">
              <a:lnSpc>
                <a:spcPts val="1800"/>
              </a:lnSpc>
              <a:buNone/>
            </a:pPr>
            <a:r>
              <a:rPr lang="en-US" sz="1300" dirty="0">
                <a:solidFill>
                  <a:srgbClr val="383838"/>
                </a:solidFill>
                <a:latin typeface="Patrick Hand" pitchFamily="34" charset="0"/>
                <a:ea typeface="Patrick Hand" pitchFamily="34" charset="-122"/>
                <a:cs typeface="Patrick Hand" pitchFamily="34" charset="-120"/>
              </a:rPr>
              <a:t>The client can fetch email headers first (for quick inbox loading) or download full messages, attachments, and metadata as needed.</a:t>
            </a:r>
            <a:endParaRPr lang="en-US" sz="1300" dirty="0"/>
          </a:p>
        </p:txBody>
      </p:sp>
      <p:pic>
        <p:nvPicPr>
          <p:cNvPr id="13" name="Image 3" descr="preencoded.png"/>
          <p:cNvPicPr>
            <a:picLocks noChangeAspect="1"/>
          </p:cNvPicPr>
          <p:nvPr/>
        </p:nvPicPr>
        <p:blipFill>
          <a:blip r:embed="rId3"/>
          <a:stretch>
            <a:fillRect/>
          </a:stretch>
        </p:blipFill>
        <p:spPr>
          <a:xfrm>
            <a:off x="1726883" y="5251490"/>
            <a:ext cx="507206" cy="1143000"/>
          </a:xfrm>
          <a:prstGeom prst="rect">
            <a:avLst/>
          </a:prstGeom>
        </p:spPr>
      </p:pic>
      <p:sp>
        <p:nvSpPr>
          <p:cNvPr id="14" name="Text 8"/>
          <p:cNvSpPr/>
          <p:nvPr/>
        </p:nvSpPr>
        <p:spPr>
          <a:xfrm>
            <a:off x="2352437" y="5420558"/>
            <a:ext cx="1690688" cy="211336"/>
          </a:xfrm>
          <a:prstGeom prst="rect">
            <a:avLst/>
          </a:prstGeom>
          <a:noFill/>
          <a:ln/>
        </p:spPr>
        <p:txBody>
          <a:bodyPr wrap="none" lIns="0" tIns="0" rIns="0" bIns="0" rtlCol="0" anchor="t"/>
          <a:lstStyle/>
          <a:p>
            <a:pPr marL="0" indent="0" algn="l">
              <a:lnSpc>
                <a:spcPts val="1650"/>
              </a:lnSpc>
              <a:buNone/>
            </a:pPr>
            <a:r>
              <a:rPr lang="en-US" sz="1300" dirty="0">
                <a:solidFill>
                  <a:srgbClr val="383838"/>
                </a:solidFill>
                <a:latin typeface="Patrick Hand" pitchFamily="34" charset="0"/>
                <a:ea typeface="Patrick Hand" pitchFamily="34" charset="-122"/>
                <a:cs typeface="Patrick Hand" pitchFamily="34" charset="-120"/>
              </a:rPr>
              <a:t>Server Storage</a:t>
            </a:r>
            <a:endParaRPr lang="en-US" sz="1300" dirty="0"/>
          </a:p>
        </p:txBody>
      </p:sp>
      <p:sp>
        <p:nvSpPr>
          <p:cNvPr id="15" name="Text 9"/>
          <p:cNvSpPr/>
          <p:nvPr/>
        </p:nvSpPr>
        <p:spPr>
          <a:xfrm>
            <a:off x="2352437" y="5702856"/>
            <a:ext cx="11311890" cy="229910"/>
          </a:xfrm>
          <a:prstGeom prst="rect">
            <a:avLst/>
          </a:prstGeom>
          <a:noFill/>
          <a:ln/>
        </p:spPr>
        <p:txBody>
          <a:bodyPr wrap="none" lIns="0" tIns="0" rIns="0" bIns="0" rtlCol="0" anchor="t"/>
          <a:lstStyle/>
          <a:p>
            <a:pPr marL="0" indent="0" algn="l">
              <a:lnSpc>
                <a:spcPts val="1800"/>
              </a:lnSpc>
              <a:buNone/>
            </a:pPr>
            <a:r>
              <a:rPr lang="en-US" sz="1300" dirty="0">
                <a:solidFill>
                  <a:srgbClr val="383838"/>
                </a:solidFill>
                <a:latin typeface="Patrick Hand" pitchFamily="34" charset="0"/>
                <a:ea typeface="Patrick Hand" pitchFamily="34" charset="-122"/>
                <a:cs typeface="Patrick Hand" pitchFamily="34" charset="-120"/>
              </a:rPr>
              <a:t>Unlike POP3, all emails remain stored on the server, allowing access from other devices and preserving messages even if a device is lost.</a:t>
            </a:r>
            <a:endParaRPr lang="en-US" sz="1300" dirty="0"/>
          </a:p>
        </p:txBody>
      </p:sp>
      <p:pic>
        <p:nvPicPr>
          <p:cNvPr id="16" name="Image 4" descr="preencoded.png"/>
          <p:cNvPicPr>
            <a:picLocks noChangeAspect="1"/>
          </p:cNvPicPr>
          <p:nvPr/>
        </p:nvPicPr>
        <p:blipFill>
          <a:blip r:embed="rId3"/>
          <a:stretch>
            <a:fillRect/>
          </a:stretch>
        </p:blipFill>
        <p:spPr>
          <a:xfrm>
            <a:off x="1473279" y="6384250"/>
            <a:ext cx="507206" cy="1143000"/>
          </a:xfrm>
          <a:prstGeom prst="rect">
            <a:avLst/>
          </a:prstGeom>
        </p:spPr>
      </p:pic>
      <p:sp>
        <p:nvSpPr>
          <p:cNvPr id="17" name="Text 10"/>
          <p:cNvSpPr/>
          <p:nvPr/>
        </p:nvSpPr>
        <p:spPr>
          <a:xfrm>
            <a:off x="2098834" y="6553319"/>
            <a:ext cx="1690688" cy="211336"/>
          </a:xfrm>
          <a:prstGeom prst="rect">
            <a:avLst/>
          </a:prstGeom>
          <a:noFill/>
          <a:ln/>
        </p:spPr>
        <p:txBody>
          <a:bodyPr wrap="none" lIns="0" tIns="0" rIns="0" bIns="0" rtlCol="0" anchor="t"/>
          <a:lstStyle/>
          <a:p>
            <a:pPr marL="0" indent="0" algn="l">
              <a:lnSpc>
                <a:spcPts val="1650"/>
              </a:lnSpc>
              <a:buNone/>
            </a:pPr>
            <a:r>
              <a:rPr lang="en-US" sz="1300" dirty="0">
                <a:solidFill>
                  <a:srgbClr val="383838"/>
                </a:solidFill>
                <a:latin typeface="Patrick Hand" pitchFamily="34" charset="0"/>
                <a:ea typeface="Patrick Hand" pitchFamily="34" charset="-122"/>
                <a:cs typeface="Patrick Hand" pitchFamily="34" charset="-120"/>
              </a:rPr>
              <a:t>Synchronization</a:t>
            </a:r>
            <a:endParaRPr lang="en-US" sz="1300" dirty="0"/>
          </a:p>
        </p:txBody>
      </p:sp>
      <p:sp>
        <p:nvSpPr>
          <p:cNvPr id="18" name="Text 11"/>
          <p:cNvSpPr/>
          <p:nvPr/>
        </p:nvSpPr>
        <p:spPr>
          <a:xfrm>
            <a:off x="2098834" y="6835616"/>
            <a:ext cx="11565493" cy="229910"/>
          </a:xfrm>
          <a:prstGeom prst="rect">
            <a:avLst/>
          </a:prstGeom>
          <a:noFill/>
          <a:ln/>
        </p:spPr>
        <p:txBody>
          <a:bodyPr wrap="none" lIns="0" tIns="0" rIns="0" bIns="0" rtlCol="0" anchor="t"/>
          <a:lstStyle/>
          <a:p>
            <a:pPr marL="0" indent="0" algn="l">
              <a:lnSpc>
                <a:spcPts val="1800"/>
              </a:lnSpc>
              <a:buNone/>
            </a:pPr>
            <a:r>
              <a:rPr lang="en-US" sz="1300" dirty="0">
                <a:solidFill>
                  <a:srgbClr val="383838"/>
                </a:solidFill>
                <a:latin typeface="Patrick Hand" pitchFamily="34" charset="0"/>
                <a:ea typeface="Patrick Hand" pitchFamily="34" charset="-122"/>
                <a:cs typeface="Patrick Hand" pitchFamily="34" charset="-120"/>
              </a:rPr>
              <a:t>Any actions performed—reading, deleting, moving or flagging messages—are synchronized across all connected devices in real-time.</a:t>
            </a:r>
            <a:endParaRPr lang="en-US" sz="1300" dirty="0"/>
          </a:p>
        </p:txBody>
      </p:sp>
      <p:sp>
        <p:nvSpPr>
          <p:cNvPr id="19" name="Rounded Rectangle 18">
            <a:extLst>
              <a:ext uri="{FF2B5EF4-FFF2-40B4-BE49-F238E27FC236}">
                <a16:creationId xmlns:a16="http://schemas.microsoft.com/office/drawing/2014/main" id="{C7F2659B-2301-DF20-99A8-A2F42FF567B7}"/>
              </a:ext>
            </a:extLst>
          </p:cNvPr>
          <p:cNvSpPr/>
          <p:nvPr/>
        </p:nvSpPr>
        <p:spPr>
          <a:xfrm>
            <a:off x="12802178" y="7738620"/>
            <a:ext cx="1724297" cy="38647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966073" y="769263"/>
            <a:ext cx="4347686" cy="543520"/>
          </a:xfrm>
          <a:prstGeom prst="rect">
            <a:avLst/>
          </a:prstGeom>
          <a:noFill/>
          <a:ln/>
        </p:spPr>
        <p:txBody>
          <a:bodyPr wrap="none" lIns="0" tIns="0" rIns="0" bIns="0" rtlCol="0" anchor="t"/>
          <a:lstStyle/>
          <a:p>
            <a:pPr marL="0" indent="0" algn="l">
              <a:lnSpc>
                <a:spcPts val="4250"/>
              </a:lnSpc>
              <a:buNone/>
            </a:pPr>
            <a:r>
              <a:rPr lang="en-US" sz="3400" dirty="0">
                <a:solidFill>
                  <a:srgbClr val="383838"/>
                </a:solidFill>
                <a:latin typeface="Patrick Hand" pitchFamily="34" charset="0"/>
                <a:ea typeface="Patrick Hand" pitchFamily="34" charset="-122"/>
                <a:cs typeface="Patrick Hand" pitchFamily="34" charset="-120"/>
              </a:rPr>
              <a:t>Ports and Security</a:t>
            </a:r>
            <a:endParaRPr lang="en-US" sz="3400" dirty="0"/>
          </a:p>
        </p:txBody>
      </p:sp>
      <p:sp>
        <p:nvSpPr>
          <p:cNvPr id="4" name="Text 1"/>
          <p:cNvSpPr/>
          <p:nvPr/>
        </p:nvSpPr>
        <p:spPr>
          <a:xfrm>
            <a:off x="966073" y="1801773"/>
            <a:ext cx="2608540" cy="325993"/>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atrick Hand" pitchFamily="34" charset="0"/>
                <a:ea typeface="Patrick Hand" pitchFamily="34" charset="-122"/>
                <a:cs typeface="Patrick Hand" pitchFamily="34" charset="-120"/>
              </a:rPr>
              <a:t>Standard IMAP (Port 143)</a:t>
            </a:r>
            <a:endParaRPr lang="en-US" sz="2050" dirty="0"/>
          </a:p>
        </p:txBody>
      </p:sp>
      <p:sp>
        <p:nvSpPr>
          <p:cNvPr id="5" name="Text 2"/>
          <p:cNvSpPr/>
          <p:nvPr/>
        </p:nvSpPr>
        <p:spPr>
          <a:xfrm>
            <a:off x="966073" y="2323386"/>
            <a:ext cx="3340775" cy="330398"/>
          </a:xfrm>
          <a:prstGeom prst="rect">
            <a:avLst/>
          </a:prstGeom>
          <a:noFill/>
          <a:ln/>
        </p:spPr>
        <p:txBody>
          <a:bodyPr wrap="none" lIns="0" tIns="0" rIns="0" bIns="0" rtlCol="0" anchor="t"/>
          <a:lstStyle/>
          <a:p>
            <a:pPr marL="0" indent="0" algn="l">
              <a:lnSpc>
                <a:spcPts val="2600"/>
              </a:lnSpc>
              <a:buNone/>
            </a:pPr>
            <a:r>
              <a:rPr lang="en-US" sz="1700" b="1" dirty="0">
                <a:solidFill>
                  <a:srgbClr val="383838"/>
                </a:solidFill>
                <a:latin typeface="Patrick Hand" pitchFamily="34" charset="0"/>
                <a:ea typeface="Patrick Hand" pitchFamily="34" charset="-122"/>
                <a:cs typeface="Patrick Hand" pitchFamily="34" charset="-120"/>
              </a:rPr>
              <a:t>Port:</a:t>
            </a:r>
            <a:r>
              <a:rPr lang="en-US" sz="1700" dirty="0">
                <a:solidFill>
                  <a:srgbClr val="383838"/>
                </a:solidFill>
                <a:latin typeface="Patrick Hand" pitchFamily="34" charset="0"/>
                <a:ea typeface="Patrick Hand" pitchFamily="34" charset="-122"/>
                <a:cs typeface="Patrick Hand" pitchFamily="34" charset="-120"/>
              </a:rPr>
              <a:t> 143</a:t>
            </a:r>
            <a:endParaRPr lang="en-US" sz="1700" dirty="0"/>
          </a:p>
        </p:txBody>
      </p:sp>
      <p:sp>
        <p:nvSpPr>
          <p:cNvPr id="6" name="Text 3"/>
          <p:cNvSpPr/>
          <p:nvPr/>
        </p:nvSpPr>
        <p:spPr>
          <a:xfrm>
            <a:off x="966073" y="2829758"/>
            <a:ext cx="3340775" cy="330398"/>
          </a:xfrm>
          <a:prstGeom prst="rect">
            <a:avLst/>
          </a:prstGeom>
          <a:noFill/>
          <a:ln/>
        </p:spPr>
        <p:txBody>
          <a:bodyPr wrap="none" lIns="0" tIns="0" rIns="0" bIns="0" rtlCol="0" anchor="t"/>
          <a:lstStyle/>
          <a:p>
            <a:pPr marL="0" indent="0" algn="l">
              <a:lnSpc>
                <a:spcPts val="2600"/>
              </a:lnSpc>
              <a:buNone/>
            </a:pPr>
            <a:r>
              <a:rPr lang="en-US" sz="1700" b="1" dirty="0">
                <a:solidFill>
                  <a:srgbClr val="383838"/>
                </a:solidFill>
                <a:latin typeface="Patrick Hand" pitchFamily="34" charset="0"/>
                <a:ea typeface="Patrick Hand" pitchFamily="34" charset="-122"/>
                <a:cs typeface="Patrick Hand" pitchFamily="34" charset="-120"/>
              </a:rPr>
              <a:t>Protocol:</a:t>
            </a:r>
            <a:r>
              <a:rPr lang="en-US" sz="1700" dirty="0">
                <a:solidFill>
                  <a:srgbClr val="383838"/>
                </a:solidFill>
                <a:latin typeface="Patrick Hand" pitchFamily="34" charset="0"/>
                <a:ea typeface="Patrick Hand" pitchFamily="34" charset="-122"/>
                <a:cs typeface="Patrick Hand" pitchFamily="34" charset="-120"/>
              </a:rPr>
              <a:t> TCP</a:t>
            </a:r>
            <a:endParaRPr lang="en-US" sz="1700" dirty="0"/>
          </a:p>
        </p:txBody>
      </p:sp>
      <p:sp>
        <p:nvSpPr>
          <p:cNvPr id="7" name="Text 4"/>
          <p:cNvSpPr/>
          <p:nvPr/>
        </p:nvSpPr>
        <p:spPr>
          <a:xfrm>
            <a:off x="966073" y="3336131"/>
            <a:ext cx="3340775" cy="330398"/>
          </a:xfrm>
          <a:prstGeom prst="rect">
            <a:avLst/>
          </a:prstGeom>
          <a:noFill/>
          <a:ln/>
        </p:spPr>
        <p:txBody>
          <a:bodyPr wrap="none" lIns="0" tIns="0" rIns="0" bIns="0" rtlCol="0" anchor="t"/>
          <a:lstStyle/>
          <a:p>
            <a:pPr marL="0" indent="0" algn="l">
              <a:lnSpc>
                <a:spcPts val="2600"/>
              </a:lnSpc>
              <a:buNone/>
            </a:pPr>
            <a:r>
              <a:rPr lang="en-US" sz="1700" b="1" dirty="0">
                <a:solidFill>
                  <a:srgbClr val="383838"/>
                </a:solidFill>
                <a:latin typeface="Patrick Hand" pitchFamily="34" charset="0"/>
                <a:ea typeface="Patrick Hand" pitchFamily="34" charset="-122"/>
                <a:cs typeface="Patrick Hand" pitchFamily="34" charset="-120"/>
              </a:rPr>
              <a:t>Encryption:</a:t>
            </a:r>
            <a:r>
              <a:rPr lang="en-US" sz="1700" dirty="0">
                <a:solidFill>
                  <a:srgbClr val="383838"/>
                </a:solidFill>
                <a:latin typeface="Patrick Hand" pitchFamily="34" charset="0"/>
                <a:ea typeface="Patrick Hand" pitchFamily="34" charset="-122"/>
                <a:cs typeface="Patrick Hand" pitchFamily="34" charset="-120"/>
              </a:rPr>
              <a:t> None (unencrypted)</a:t>
            </a:r>
            <a:endParaRPr lang="en-US" sz="1700" dirty="0"/>
          </a:p>
        </p:txBody>
      </p:sp>
      <p:sp>
        <p:nvSpPr>
          <p:cNvPr id="8" name="Text 5"/>
          <p:cNvSpPr/>
          <p:nvPr/>
        </p:nvSpPr>
        <p:spPr>
          <a:xfrm>
            <a:off x="966073" y="3842504"/>
            <a:ext cx="3340775" cy="660797"/>
          </a:xfrm>
          <a:prstGeom prst="rect">
            <a:avLst/>
          </a:prstGeom>
          <a:noFill/>
          <a:ln/>
        </p:spPr>
        <p:txBody>
          <a:bodyPr wrap="square" lIns="0" tIns="0" rIns="0" bIns="0" rtlCol="0" anchor="t"/>
          <a:lstStyle/>
          <a:p>
            <a:pPr marL="0" indent="0" algn="l">
              <a:lnSpc>
                <a:spcPts val="2600"/>
              </a:lnSpc>
              <a:buNone/>
            </a:pPr>
            <a:r>
              <a:rPr lang="en-US" sz="1700" b="1" dirty="0">
                <a:solidFill>
                  <a:srgbClr val="383838"/>
                </a:solidFill>
                <a:latin typeface="Patrick Hand" pitchFamily="34" charset="0"/>
                <a:ea typeface="Patrick Hand" pitchFamily="34" charset="-122"/>
                <a:cs typeface="Patrick Hand" pitchFamily="34" charset="-120"/>
              </a:rPr>
              <a:t>Use Case:</a:t>
            </a:r>
            <a:r>
              <a:rPr lang="en-US" sz="1700" dirty="0">
                <a:solidFill>
                  <a:srgbClr val="383838"/>
                </a:solidFill>
                <a:latin typeface="Patrick Hand" pitchFamily="34" charset="0"/>
                <a:ea typeface="Patrick Hand" pitchFamily="34" charset="-122"/>
                <a:cs typeface="Patrick Hand" pitchFamily="34" charset="-120"/>
              </a:rPr>
              <a:t> Internal networks or when SSL/TLS is not available</a:t>
            </a:r>
            <a:endParaRPr lang="en-US" sz="1700" dirty="0"/>
          </a:p>
        </p:txBody>
      </p:sp>
      <p:sp>
        <p:nvSpPr>
          <p:cNvPr id="9" name="Shape 6"/>
          <p:cNvSpPr/>
          <p:nvPr/>
        </p:nvSpPr>
        <p:spPr>
          <a:xfrm>
            <a:off x="966073" y="4723328"/>
            <a:ext cx="3340775" cy="2516862"/>
          </a:xfrm>
          <a:prstGeom prst="roundRect">
            <a:avLst>
              <a:gd name="adj" fmla="val 3628"/>
            </a:avLst>
          </a:prstGeom>
          <a:solidFill>
            <a:srgbClr val="D9D9D9"/>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1183362" y="5048607"/>
            <a:ext cx="271701" cy="217289"/>
          </a:xfrm>
          <a:prstGeom prst="rect">
            <a:avLst/>
          </a:prstGeom>
        </p:spPr>
      </p:pic>
      <p:sp>
        <p:nvSpPr>
          <p:cNvPr id="11" name="Text 7"/>
          <p:cNvSpPr/>
          <p:nvPr/>
        </p:nvSpPr>
        <p:spPr>
          <a:xfrm>
            <a:off x="1672352" y="4973241"/>
            <a:ext cx="2417207" cy="1982391"/>
          </a:xfrm>
          <a:prstGeom prst="rect">
            <a:avLst/>
          </a:prstGeom>
          <a:noFill/>
          <a:ln/>
        </p:spPr>
        <p:txBody>
          <a:bodyPr wrap="square" lIns="0" tIns="0" rIns="0" bIns="0" rtlCol="0" anchor="t"/>
          <a:lstStyle/>
          <a:p>
            <a:pPr marL="0" indent="0" algn="l">
              <a:lnSpc>
                <a:spcPts val="2600"/>
              </a:lnSpc>
              <a:buNone/>
            </a:pPr>
            <a:r>
              <a:rPr lang="en-US" sz="1700" b="1" dirty="0">
                <a:solidFill>
                  <a:srgbClr val="000000"/>
                </a:solidFill>
                <a:latin typeface="Patrick Hand" pitchFamily="34" charset="0"/>
                <a:ea typeface="Patrick Hand" pitchFamily="34" charset="-122"/>
                <a:cs typeface="Patrick Hand" pitchFamily="34" charset="-120"/>
              </a:rPr>
              <a:t>Security Warning:</a:t>
            </a:r>
            <a:r>
              <a:rPr lang="en-US" sz="1700" dirty="0">
                <a:solidFill>
                  <a:srgbClr val="000000"/>
                </a:solidFill>
                <a:latin typeface="Patrick Hand" pitchFamily="34" charset="0"/>
                <a:ea typeface="Patrick Hand" pitchFamily="34" charset="-122"/>
                <a:cs typeface="Patrick Hand" pitchFamily="34" charset="-120"/>
              </a:rPr>
              <a:t> Credentials and email content are transmitted in plain text, making this port vulnerable to eavesdropping on public networks.</a:t>
            </a:r>
            <a:endParaRPr lang="en-US" sz="1700" dirty="0"/>
          </a:p>
        </p:txBody>
      </p:sp>
      <p:sp>
        <p:nvSpPr>
          <p:cNvPr id="12" name="Shape 8"/>
          <p:cNvSpPr/>
          <p:nvPr/>
        </p:nvSpPr>
        <p:spPr>
          <a:xfrm>
            <a:off x="4688205" y="1606153"/>
            <a:ext cx="3653909" cy="5854065"/>
          </a:xfrm>
          <a:prstGeom prst="roundRect">
            <a:avLst>
              <a:gd name="adj" fmla="val 4284"/>
            </a:avLst>
          </a:prstGeom>
          <a:solidFill>
            <a:srgbClr val="CCCCCC"/>
          </a:solidFill>
          <a:ln/>
        </p:spPr>
        <p:txBody>
          <a:bodyPr/>
          <a:lstStyle/>
          <a:p>
            <a:endParaRPr lang="en-US"/>
          </a:p>
        </p:txBody>
      </p:sp>
      <p:sp>
        <p:nvSpPr>
          <p:cNvPr id="13" name="Text 9"/>
          <p:cNvSpPr/>
          <p:nvPr/>
        </p:nvSpPr>
        <p:spPr>
          <a:xfrm>
            <a:off x="4905494" y="1801773"/>
            <a:ext cx="2608540" cy="325993"/>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atrick Hand" pitchFamily="34" charset="0"/>
                <a:ea typeface="Patrick Hand" pitchFamily="34" charset="-122"/>
                <a:cs typeface="Patrick Hand" pitchFamily="34" charset="-120"/>
              </a:rPr>
              <a:t>IMAPS (Port 993)</a:t>
            </a:r>
            <a:endParaRPr lang="en-US" sz="2050" dirty="0"/>
          </a:p>
        </p:txBody>
      </p:sp>
      <p:sp>
        <p:nvSpPr>
          <p:cNvPr id="14" name="Text 10"/>
          <p:cNvSpPr/>
          <p:nvPr/>
        </p:nvSpPr>
        <p:spPr>
          <a:xfrm>
            <a:off x="4905494" y="2323386"/>
            <a:ext cx="3219331" cy="330398"/>
          </a:xfrm>
          <a:prstGeom prst="rect">
            <a:avLst/>
          </a:prstGeom>
          <a:noFill/>
          <a:ln/>
        </p:spPr>
        <p:txBody>
          <a:bodyPr wrap="none" lIns="0" tIns="0" rIns="0" bIns="0" rtlCol="0" anchor="t"/>
          <a:lstStyle/>
          <a:p>
            <a:pPr marL="0" indent="0" algn="l">
              <a:lnSpc>
                <a:spcPts val="2600"/>
              </a:lnSpc>
              <a:buNone/>
            </a:pPr>
            <a:r>
              <a:rPr lang="en-US" sz="1700" b="1" dirty="0">
                <a:solidFill>
                  <a:srgbClr val="383838"/>
                </a:solidFill>
                <a:latin typeface="Patrick Hand" pitchFamily="34" charset="0"/>
                <a:ea typeface="Patrick Hand" pitchFamily="34" charset="-122"/>
                <a:cs typeface="Patrick Hand" pitchFamily="34" charset="-120"/>
              </a:rPr>
              <a:t>Port:</a:t>
            </a:r>
            <a:r>
              <a:rPr lang="en-US" sz="1700" dirty="0">
                <a:solidFill>
                  <a:srgbClr val="383838"/>
                </a:solidFill>
                <a:latin typeface="Patrick Hand" pitchFamily="34" charset="0"/>
                <a:ea typeface="Patrick Hand" pitchFamily="34" charset="-122"/>
                <a:cs typeface="Patrick Hand" pitchFamily="34" charset="-120"/>
              </a:rPr>
              <a:t> 993</a:t>
            </a:r>
            <a:endParaRPr lang="en-US" sz="1700" dirty="0"/>
          </a:p>
        </p:txBody>
      </p:sp>
      <p:sp>
        <p:nvSpPr>
          <p:cNvPr id="15" name="Text 11"/>
          <p:cNvSpPr/>
          <p:nvPr/>
        </p:nvSpPr>
        <p:spPr>
          <a:xfrm>
            <a:off x="4905494" y="2829758"/>
            <a:ext cx="3219331" cy="330398"/>
          </a:xfrm>
          <a:prstGeom prst="rect">
            <a:avLst/>
          </a:prstGeom>
          <a:noFill/>
          <a:ln/>
        </p:spPr>
        <p:txBody>
          <a:bodyPr wrap="none" lIns="0" tIns="0" rIns="0" bIns="0" rtlCol="0" anchor="t"/>
          <a:lstStyle/>
          <a:p>
            <a:pPr marL="0" indent="0" algn="l">
              <a:lnSpc>
                <a:spcPts val="2600"/>
              </a:lnSpc>
              <a:buNone/>
            </a:pPr>
            <a:r>
              <a:rPr lang="en-US" sz="1700" b="1" dirty="0">
                <a:solidFill>
                  <a:srgbClr val="383838"/>
                </a:solidFill>
                <a:latin typeface="Patrick Hand" pitchFamily="34" charset="0"/>
                <a:ea typeface="Patrick Hand" pitchFamily="34" charset="-122"/>
                <a:cs typeface="Patrick Hand" pitchFamily="34" charset="-120"/>
              </a:rPr>
              <a:t>Protocol:</a:t>
            </a:r>
            <a:r>
              <a:rPr lang="en-US" sz="1700" dirty="0">
                <a:solidFill>
                  <a:srgbClr val="383838"/>
                </a:solidFill>
                <a:latin typeface="Patrick Hand" pitchFamily="34" charset="0"/>
                <a:ea typeface="Patrick Hand" pitchFamily="34" charset="-122"/>
                <a:cs typeface="Patrick Hand" pitchFamily="34" charset="-120"/>
              </a:rPr>
              <a:t> TCP with SSL/TLS</a:t>
            </a:r>
            <a:endParaRPr lang="en-US" sz="1700" dirty="0"/>
          </a:p>
        </p:txBody>
      </p:sp>
      <p:sp>
        <p:nvSpPr>
          <p:cNvPr id="16" name="Text 12"/>
          <p:cNvSpPr/>
          <p:nvPr/>
        </p:nvSpPr>
        <p:spPr>
          <a:xfrm>
            <a:off x="4905494" y="3336131"/>
            <a:ext cx="3219331" cy="330398"/>
          </a:xfrm>
          <a:prstGeom prst="rect">
            <a:avLst/>
          </a:prstGeom>
          <a:noFill/>
          <a:ln/>
        </p:spPr>
        <p:txBody>
          <a:bodyPr wrap="none" lIns="0" tIns="0" rIns="0" bIns="0" rtlCol="0" anchor="t"/>
          <a:lstStyle/>
          <a:p>
            <a:pPr marL="0" indent="0" algn="l">
              <a:lnSpc>
                <a:spcPts val="2600"/>
              </a:lnSpc>
              <a:buNone/>
            </a:pPr>
            <a:r>
              <a:rPr lang="en-US" sz="1700" b="1" dirty="0">
                <a:solidFill>
                  <a:srgbClr val="383838"/>
                </a:solidFill>
                <a:latin typeface="Patrick Hand" pitchFamily="34" charset="0"/>
                <a:ea typeface="Patrick Hand" pitchFamily="34" charset="-122"/>
                <a:cs typeface="Patrick Hand" pitchFamily="34" charset="-120"/>
              </a:rPr>
              <a:t>Encryption:</a:t>
            </a:r>
            <a:r>
              <a:rPr lang="en-US" sz="1700" dirty="0">
                <a:solidFill>
                  <a:srgbClr val="383838"/>
                </a:solidFill>
                <a:latin typeface="Patrick Hand" pitchFamily="34" charset="0"/>
                <a:ea typeface="Patrick Hand" pitchFamily="34" charset="-122"/>
                <a:cs typeface="Patrick Hand" pitchFamily="34" charset="-120"/>
              </a:rPr>
              <a:t> Full SSL/TLS encryption</a:t>
            </a:r>
            <a:endParaRPr lang="en-US" sz="1700" dirty="0"/>
          </a:p>
        </p:txBody>
      </p:sp>
      <p:sp>
        <p:nvSpPr>
          <p:cNvPr id="17" name="Text 13"/>
          <p:cNvSpPr/>
          <p:nvPr/>
        </p:nvSpPr>
        <p:spPr>
          <a:xfrm>
            <a:off x="4905494" y="3842504"/>
            <a:ext cx="3219331" cy="660797"/>
          </a:xfrm>
          <a:prstGeom prst="rect">
            <a:avLst/>
          </a:prstGeom>
          <a:noFill/>
          <a:ln/>
        </p:spPr>
        <p:txBody>
          <a:bodyPr wrap="square" lIns="0" tIns="0" rIns="0" bIns="0" rtlCol="0" anchor="t"/>
          <a:lstStyle/>
          <a:p>
            <a:pPr marL="0" indent="0" algn="l">
              <a:lnSpc>
                <a:spcPts val="2600"/>
              </a:lnSpc>
              <a:buNone/>
            </a:pPr>
            <a:r>
              <a:rPr lang="en-US" sz="1700" b="1" dirty="0">
                <a:solidFill>
                  <a:srgbClr val="383838"/>
                </a:solidFill>
                <a:latin typeface="Patrick Hand" pitchFamily="34" charset="0"/>
                <a:ea typeface="Patrick Hand" pitchFamily="34" charset="-122"/>
                <a:cs typeface="Patrick Hand" pitchFamily="34" charset="-120"/>
              </a:rPr>
              <a:t>Use Case:</a:t>
            </a:r>
            <a:r>
              <a:rPr lang="en-US" sz="1700" dirty="0">
                <a:solidFill>
                  <a:srgbClr val="383838"/>
                </a:solidFill>
                <a:latin typeface="Patrick Hand" pitchFamily="34" charset="0"/>
                <a:ea typeface="Patrick Hand" pitchFamily="34" charset="-122"/>
                <a:cs typeface="Patrick Hand" pitchFamily="34" charset="-120"/>
              </a:rPr>
              <a:t> Modern systems, public networks, secure email access</a:t>
            </a:r>
            <a:endParaRPr lang="en-US" sz="1700" dirty="0"/>
          </a:p>
        </p:txBody>
      </p:sp>
      <p:sp>
        <p:nvSpPr>
          <p:cNvPr id="18" name="Shape 14"/>
          <p:cNvSpPr/>
          <p:nvPr/>
        </p:nvSpPr>
        <p:spPr>
          <a:xfrm>
            <a:off x="4905494" y="4723328"/>
            <a:ext cx="3219331" cy="2186464"/>
          </a:xfrm>
          <a:prstGeom prst="roundRect">
            <a:avLst>
              <a:gd name="adj" fmla="val 4176"/>
            </a:avLst>
          </a:prstGeom>
          <a:solidFill>
            <a:srgbClr val="D9D9D9"/>
          </a:solidFill>
          <a:ln/>
        </p:spPr>
        <p:txBody>
          <a:bodyPr/>
          <a:lstStyle/>
          <a:p>
            <a:endParaRPr lang="en-US"/>
          </a:p>
        </p:txBody>
      </p:sp>
      <p:pic>
        <p:nvPicPr>
          <p:cNvPr id="19" name="Image 2" descr="preencoded.png"/>
          <p:cNvPicPr>
            <a:picLocks noChangeAspect="1"/>
          </p:cNvPicPr>
          <p:nvPr/>
        </p:nvPicPr>
        <p:blipFill>
          <a:blip r:embed="rId4"/>
          <a:stretch>
            <a:fillRect/>
          </a:stretch>
        </p:blipFill>
        <p:spPr>
          <a:xfrm>
            <a:off x="5122783" y="5048607"/>
            <a:ext cx="271701" cy="217289"/>
          </a:xfrm>
          <a:prstGeom prst="rect">
            <a:avLst/>
          </a:prstGeom>
        </p:spPr>
      </p:pic>
      <p:sp>
        <p:nvSpPr>
          <p:cNvPr id="20" name="Text 15"/>
          <p:cNvSpPr/>
          <p:nvPr/>
        </p:nvSpPr>
        <p:spPr>
          <a:xfrm>
            <a:off x="5611773" y="4973241"/>
            <a:ext cx="2295763" cy="1651992"/>
          </a:xfrm>
          <a:prstGeom prst="rect">
            <a:avLst/>
          </a:prstGeom>
          <a:noFill/>
          <a:ln/>
        </p:spPr>
        <p:txBody>
          <a:bodyPr wrap="square" lIns="0" tIns="0" rIns="0" bIns="0" rtlCol="0" anchor="t"/>
          <a:lstStyle/>
          <a:p>
            <a:pPr marL="0" indent="0" algn="l">
              <a:lnSpc>
                <a:spcPts val="2600"/>
              </a:lnSpc>
              <a:buNone/>
            </a:pPr>
            <a:r>
              <a:rPr lang="en-US" sz="1700" b="1" dirty="0">
                <a:solidFill>
                  <a:srgbClr val="000000"/>
                </a:solidFill>
                <a:latin typeface="Patrick Hand" pitchFamily="34" charset="0"/>
                <a:ea typeface="Patrick Hand" pitchFamily="34" charset="-122"/>
                <a:cs typeface="Patrick Hand" pitchFamily="34" charset="-120"/>
              </a:rPr>
              <a:t>Best Practice:</a:t>
            </a:r>
            <a:r>
              <a:rPr lang="en-US" sz="1700" dirty="0">
                <a:solidFill>
                  <a:srgbClr val="000000"/>
                </a:solidFill>
                <a:latin typeface="Patrick Hand" pitchFamily="34" charset="0"/>
                <a:ea typeface="Patrick Hand" pitchFamily="34" charset="-122"/>
                <a:cs typeface="Patrick Hand" pitchFamily="34" charset="-120"/>
              </a:rPr>
              <a:t> Most modern email systems default to IMAPS on port 993 to ensure encrypted communication and protect sensitive data.</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60715" y="669131"/>
            <a:ext cx="3843218" cy="480417"/>
          </a:xfrm>
          <a:prstGeom prst="rect">
            <a:avLst/>
          </a:prstGeom>
          <a:noFill/>
          <a:ln/>
        </p:spPr>
        <p:txBody>
          <a:bodyPr wrap="none" lIns="0" tIns="0" rIns="0" bIns="0" rtlCol="0" anchor="t"/>
          <a:lstStyle/>
          <a:p>
            <a:pPr marL="0" indent="0" algn="l">
              <a:lnSpc>
                <a:spcPts val="3750"/>
              </a:lnSpc>
              <a:buNone/>
            </a:pPr>
            <a:r>
              <a:rPr lang="en-US" sz="3000" dirty="0">
                <a:solidFill>
                  <a:srgbClr val="383838"/>
                </a:solidFill>
                <a:latin typeface="Patrick Hand" pitchFamily="34" charset="0"/>
                <a:ea typeface="Patrick Hand" pitchFamily="34" charset="-122"/>
                <a:cs typeface="Patrick Hand" pitchFamily="34" charset="-120"/>
              </a:rPr>
              <a:t>Key Features of IMAP</a:t>
            </a:r>
            <a:endParaRPr lang="en-US" sz="300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0715" y="1455301"/>
            <a:ext cx="480298" cy="480298"/>
          </a:xfrm>
          <a:prstGeom prst="rect">
            <a:avLst/>
          </a:prstGeom>
        </p:spPr>
      </p:pic>
      <p:sp>
        <p:nvSpPr>
          <p:cNvPr id="4" name="Text 1"/>
          <p:cNvSpPr/>
          <p:nvPr/>
        </p:nvSpPr>
        <p:spPr>
          <a:xfrm>
            <a:off x="960715" y="2126694"/>
            <a:ext cx="1921550" cy="240149"/>
          </a:xfrm>
          <a:prstGeom prst="rect">
            <a:avLst/>
          </a:prstGeom>
          <a:noFill/>
          <a:ln/>
        </p:spPr>
        <p:txBody>
          <a:bodyPr wrap="none" lIns="0" tIns="0" rIns="0" bIns="0" rtlCol="0" anchor="t"/>
          <a:lstStyle/>
          <a:p>
            <a:pPr marL="0" indent="0" algn="l">
              <a:lnSpc>
                <a:spcPts val="1850"/>
              </a:lnSpc>
              <a:buNone/>
            </a:pPr>
            <a:r>
              <a:rPr lang="en-US" sz="1500" dirty="0">
                <a:solidFill>
                  <a:srgbClr val="383838"/>
                </a:solidFill>
                <a:latin typeface="Patrick Hand" pitchFamily="34" charset="0"/>
                <a:ea typeface="Patrick Hand" pitchFamily="34" charset="-122"/>
                <a:cs typeface="Patrick Hand" pitchFamily="34" charset="-120"/>
              </a:rPr>
              <a:t>Server-Based Storage</a:t>
            </a:r>
            <a:endParaRPr lang="en-US" sz="1500" dirty="0"/>
          </a:p>
        </p:txBody>
      </p:sp>
      <p:sp>
        <p:nvSpPr>
          <p:cNvPr id="5" name="Text 2"/>
          <p:cNvSpPr/>
          <p:nvPr/>
        </p:nvSpPr>
        <p:spPr>
          <a:xfrm>
            <a:off x="960715" y="2458522"/>
            <a:ext cx="6258878" cy="827961"/>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Messages remain on the server indefinitely, freeing local device storage and enabling access from any internet-connected device. Users can choose to download messages locally for offline access while maintaining server copies.</a:t>
            </a:r>
            <a:endParaRPr lang="en-US" sz="150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10688" y="1455301"/>
            <a:ext cx="480298" cy="480298"/>
          </a:xfrm>
          <a:prstGeom prst="rect">
            <a:avLst/>
          </a:prstGeom>
        </p:spPr>
      </p:pic>
      <p:sp>
        <p:nvSpPr>
          <p:cNvPr id="7" name="Text 3"/>
          <p:cNvSpPr/>
          <p:nvPr/>
        </p:nvSpPr>
        <p:spPr>
          <a:xfrm>
            <a:off x="7410688" y="2126694"/>
            <a:ext cx="1921550" cy="240149"/>
          </a:xfrm>
          <a:prstGeom prst="rect">
            <a:avLst/>
          </a:prstGeom>
          <a:noFill/>
          <a:ln/>
        </p:spPr>
        <p:txBody>
          <a:bodyPr wrap="none" lIns="0" tIns="0" rIns="0" bIns="0" rtlCol="0" anchor="t"/>
          <a:lstStyle/>
          <a:p>
            <a:pPr marL="0" indent="0" algn="l">
              <a:lnSpc>
                <a:spcPts val="1850"/>
              </a:lnSpc>
              <a:buNone/>
            </a:pPr>
            <a:r>
              <a:rPr lang="en-US" sz="1500" dirty="0">
                <a:solidFill>
                  <a:srgbClr val="383838"/>
                </a:solidFill>
                <a:latin typeface="Patrick Hand" pitchFamily="34" charset="0"/>
                <a:ea typeface="Patrick Hand" pitchFamily="34" charset="-122"/>
                <a:cs typeface="Patrick Hand" pitchFamily="34" charset="-120"/>
              </a:rPr>
              <a:t>Multi-Device Access</a:t>
            </a:r>
            <a:endParaRPr lang="en-US" sz="1500" dirty="0"/>
          </a:p>
        </p:txBody>
      </p:sp>
      <p:sp>
        <p:nvSpPr>
          <p:cNvPr id="8" name="Text 4"/>
          <p:cNvSpPr/>
          <p:nvPr/>
        </p:nvSpPr>
        <p:spPr>
          <a:xfrm>
            <a:off x="7410688" y="2458522"/>
            <a:ext cx="6258997" cy="827961"/>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Access your email from smartphones, tablets, laptops and desktop computers simultaneously. Changes made on one device instantly appear on all others, maintaining consistency across your digital ecosystem.</a:t>
            </a:r>
            <a:endParaRPr lang="en-US" sz="150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0715" y="3592235"/>
            <a:ext cx="480298" cy="480298"/>
          </a:xfrm>
          <a:prstGeom prst="rect">
            <a:avLst/>
          </a:prstGeom>
        </p:spPr>
      </p:pic>
      <p:sp>
        <p:nvSpPr>
          <p:cNvPr id="10" name="Text 5"/>
          <p:cNvSpPr/>
          <p:nvPr/>
        </p:nvSpPr>
        <p:spPr>
          <a:xfrm>
            <a:off x="960715" y="4263628"/>
            <a:ext cx="1921550" cy="240149"/>
          </a:xfrm>
          <a:prstGeom prst="rect">
            <a:avLst/>
          </a:prstGeom>
          <a:noFill/>
          <a:ln/>
        </p:spPr>
        <p:txBody>
          <a:bodyPr wrap="none" lIns="0" tIns="0" rIns="0" bIns="0" rtlCol="0" anchor="t"/>
          <a:lstStyle/>
          <a:p>
            <a:pPr marL="0" indent="0" algn="l">
              <a:lnSpc>
                <a:spcPts val="1850"/>
              </a:lnSpc>
              <a:buNone/>
            </a:pPr>
            <a:r>
              <a:rPr lang="en-US" sz="1500" dirty="0">
                <a:solidFill>
                  <a:srgbClr val="383838"/>
                </a:solidFill>
                <a:latin typeface="Patrick Hand" pitchFamily="34" charset="0"/>
                <a:ea typeface="Patrick Hand" pitchFamily="34" charset="-122"/>
                <a:cs typeface="Patrick Hand" pitchFamily="34" charset="-120"/>
              </a:rPr>
              <a:t>Folder and Label Support</a:t>
            </a:r>
            <a:endParaRPr lang="en-US" sz="1500" dirty="0"/>
          </a:p>
        </p:txBody>
      </p:sp>
      <p:sp>
        <p:nvSpPr>
          <p:cNvPr id="11" name="Text 6"/>
          <p:cNvSpPr/>
          <p:nvPr/>
        </p:nvSpPr>
        <p:spPr>
          <a:xfrm>
            <a:off x="960715" y="4595455"/>
            <a:ext cx="6258878" cy="827961"/>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Create and manage folders, subfolders and labels directly on the server. Organize messages into categories, apply color-coding and maintain consistent folder structures across all devices.</a:t>
            </a:r>
            <a:endParaRPr lang="en-US" sz="1500" dirty="0"/>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10688" y="3592235"/>
            <a:ext cx="480298" cy="480298"/>
          </a:xfrm>
          <a:prstGeom prst="rect">
            <a:avLst/>
          </a:prstGeom>
        </p:spPr>
      </p:pic>
      <p:sp>
        <p:nvSpPr>
          <p:cNvPr id="13" name="Text 7"/>
          <p:cNvSpPr/>
          <p:nvPr/>
        </p:nvSpPr>
        <p:spPr>
          <a:xfrm>
            <a:off x="7410688" y="4263628"/>
            <a:ext cx="1921550" cy="240149"/>
          </a:xfrm>
          <a:prstGeom prst="rect">
            <a:avLst/>
          </a:prstGeom>
          <a:noFill/>
          <a:ln/>
        </p:spPr>
        <p:txBody>
          <a:bodyPr wrap="none" lIns="0" tIns="0" rIns="0" bIns="0" rtlCol="0" anchor="t"/>
          <a:lstStyle/>
          <a:p>
            <a:pPr marL="0" indent="0" algn="l">
              <a:lnSpc>
                <a:spcPts val="1850"/>
              </a:lnSpc>
              <a:buNone/>
            </a:pPr>
            <a:r>
              <a:rPr lang="en-US" sz="1500" dirty="0">
                <a:solidFill>
                  <a:srgbClr val="383838"/>
                </a:solidFill>
                <a:latin typeface="Patrick Hand" pitchFamily="34" charset="0"/>
                <a:ea typeface="Patrick Hand" pitchFamily="34" charset="-122"/>
                <a:cs typeface="Patrick Hand" pitchFamily="34" charset="-120"/>
              </a:rPr>
              <a:t>Selective Message Download</a:t>
            </a:r>
            <a:endParaRPr lang="en-US" sz="1500" dirty="0"/>
          </a:p>
        </p:txBody>
      </p:sp>
      <p:sp>
        <p:nvSpPr>
          <p:cNvPr id="14" name="Text 8"/>
          <p:cNvSpPr/>
          <p:nvPr/>
        </p:nvSpPr>
        <p:spPr>
          <a:xfrm>
            <a:off x="7410688" y="4595455"/>
            <a:ext cx="6258997" cy="827961"/>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Choose to download only message headers initially for faster inbox loading, then download full messages and attachments on demand. This optimizes bandwidth usage and improves performance on slow connections.</a:t>
            </a:r>
            <a:endParaRPr lang="en-US" sz="1500" dirty="0"/>
          </a:p>
        </p:txBody>
      </p:sp>
      <p:pic>
        <p:nvPicPr>
          <p:cNvPr id="1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0715" y="5729168"/>
            <a:ext cx="480298" cy="480298"/>
          </a:xfrm>
          <a:prstGeom prst="rect">
            <a:avLst/>
          </a:prstGeom>
        </p:spPr>
      </p:pic>
      <p:sp>
        <p:nvSpPr>
          <p:cNvPr id="16" name="Text 9"/>
          <p:cNvSpPr/>
          <p:nvPr/>
        </p:nvSpPr>
        <p:spPr>
          <a:xfrm>
            <a:off x="960715" y="6400562"/>
            <a:ext cx="1921550" cy="240149"/>
          </a:xfrm>
          <a:prstGeom prst="rect">
            <a:avLst/>
          </a:prstGeom>
          <a:noFill/>
          <a:ln/>
        </p:spPr>
        <p:txBody>
          <a:bodyPr wrap="none" lIns="0" tIns="0" rIns="0" bIns="0" rtlCol="0" anchor="t"/>
          <a:lstStyle/>
          <a:p>
            <a:pPr marL="0" indent="0" algn="l">
              <a:lnSpc>
                <a:spcPts val="1850"/>
              </a:lnSpc>
              <a:buNone/>
            </a:pPr>
            <a:r>
              <a:rPr lang="en-US" sz="1500" dirty="0">
                <a:solidFill>
                  <a:srgbClr val="383838"/>
                </a:solidFill>
                <a:latin typeface="Patrick Hand" pitchFamily="34" charset="0"/>
                <a:ea typeface="Patrick Hand" pitchFamily="34" charset="-122"/>
                <a:cs typeface="Patrick Hand" pitchFamily="34" charset="-120"/>
              </a:rPr>
              <a:t>Real-Time Synchronization</a:t>
            </a:r>
            <a:endParaRPr lang="en-US" sz="1500" dirty="0"/>
          </a:p>
        </p:txBody>
      </p:sp>
      <p:sp>
        <p:nvSpPr>
          <p:cNvPr id="17" name="Text 10"/>
          <p:cNvSpPr/>
          <p:nvPr/>
        </p:nvSpPr>
        <p:spPr>
          <a:xfrm>
            <a:off x="960715" y="6732389"/>
            <a:ext cx="6258878" cy="827961"/>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Any modifications—reading messages, deleting, moving to folders or marking as important—are immediately synchronized with the server and propagated to all connected devices, ensuring everyone sees the same state.</a:t>
            </a:r>
            <a:endParaRPr lang="en-US" sz="1500" dirty="0"/>
          </a:p>
        </p:txBody>
      </p:sp>
      <p:pic>
        <p:nvPicPr>
          <p:cNvPr id="18"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410688" y="5729168"/>
            <a:ext cx="480298" cy="480298"/>
          </a:xfrm>
          <a:prstGeom prst="rect">
            <a:avLst/>
          </a:prstGeom>
        </p:spPr>
      </p:pic>
      <p:sp>
        <p:nvSpPr>
          <p:cNvPr id="19" name="Text 11"/>
          <p:cNvSpPr/>
          <p:nvPr/>
        </p:nvSpPr>
        <p:spPr>
          <a:xfrm>
            <a:off x="7410688" y="6400562"/>
            <a:ext cx="2217420" cy="240149"/>
          </a:xfrm>
          <a:prstGeom prst="rect">
            <a:avLst/>
          </a:prstGeom>
          <a:noFill/>
          <a:ln/>
        </p:spPr>
        <p:txBody>
          <a:bodyPr wrap="none" lIns="0" tIns="0" rIns="0" bIns="0" rtlCol="0" anchor="t"/>
          <a:lstStyle/>
          <a:p>
            <a:pPr marL="0" indent="0" algn="l">
              <a:lnSpc>
                <a:spcPts val="1850"/>
              </a:lnSpc>
              <a:buNone/>
            </a:pPr>
            <a:r>
              <a:rPr lang="en-US" sz="1500" dirty="0">
                <a:solidFill>
                  <a:srgbClr val="383838"/>
                </a:solidFill>
                <a:latin typeface="Patrick Hand" pitchFamily="34" charset="0"/>
                <a:ea typeface="Patrick Hand" pitchFamily="34" charset="-122"/>
                <a:cs typeface="Patrick Hand" pitchFamily="34" charset="-120"/>
              </a:rPr>
              <a:t>Offline Access Through Caching</a:t>
            </a:r>
            <a:endParaRPr lang="en-US" sz="1500" dirty="0"/>
          </a:p>
        </p:txBody>
      </p:sp>
      <p:sp>
        <p:nvSpPr>
          <p:cNvPr id="20" name="Text 12"/>
          <p:cNvSpPr/>
          <p:nvPr/>
        </p:nvSpPr>
        <p:spPr>
          <a:xfrm>
            <a:off x="7410688" y="6732389"/>
            <a:ext cx="6258997" cy="827961"/>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Email clients can cache messages locally, allowing users to read, compose and organize emails without an internet connection. Changes sync automatically when connectivity is restored.</a:t>
            </a:r>
            <a:endParaRPr lang="en-US" sz="1500" dirty="0"/>
          </a:p>
        </p:txBody>
      </p:sp>
      <p:sp>
        <p:nvSpPr>
          <p:cNvPr id="21" name="Rounded Rectangle 20">
            <a:extLst>
              <a:ext uri="{FF2B5EF4-FFF2-40B4-BE49-F238E27FC236}">
                <a16:creationId xmlns:a16="http://schemas.microsoft.com/office/drawing/2014/main" id="{57333A7C-68CA-C7A3-AFC4-117C512326B3}"/>
              </a:ext>
            </a:extLst>
          </p:cNvPr>
          <p:cNvSpPr/>
          <p:nvPr/>
        </p:nvSpPr>
        <p:spPr>
          <a:xfrm>
            <a:off x="12802178" y="7738620"/>
            <a:ext cx="1724297" cy="38647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66073" y="753666"/>
            <a:ext cx="4347686" cy="543520"/>
          </a:xfrm>
          <a:prstGeom prst="rect">
            <a:avLst/>
          </a:prstGeom>
          <a:noFill/>
          <a:ln/>
        </p:spPr>
        <p:txBody>
          <a:bodyPr wrap="none" lIns="0" tIns="0" rIns="0" bIns="0" rtlCol="0" anchor="t"/>
          <a:lstStyle/>
          <a:p>
            <a:pPr marL="0" indent="0" algn="l">
              <a:lnSpc>
                <a:spcPts val="4250"/>
              </a:lnSpc>
              <a:buNone/>
            </a:pPr>
            <a:r>
              <a:rPr lang="en-US" sz="3400" dirty="0">
                <a:solidFill>
                  <a:srgbClr val="383838"/>
                </a:solidFill>
                <a:latin typeface="Patrick Hand" pitchFamily="34" charset="0"/>
                <a:ea typeface="Patrick Hand" pitchFamily="34" charset="-122"/>
                <a:cs typeface="Patrick Hand" pitchFamily="34" charset="-120"/>
              </a:rPr>
              <a:t>IMAP vs POP3</a:t>
            </a:r>
            <a:endParaRPr lang="en-US" sz="3400" dirty="0"/>
          </a:p>
        </p:txBody>
      </p:sp>
      <p:sp>
        <p:nvSpPr>
          <p:cNvPr id="3" name="Text 1"/>
          <p:cNvSpPr/>
          <p:nvPr/>
        </p:nvSpPr>
        <p:spPr>
          <a:xfrm>
            <a:off x="966073" y="1688425"/>
            <a:ext cx="12698254"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Understanding the fundamental differences between IMAP and POP3 helps determine which protocol best suits your email needs.</a:t>
            </a:r>
            <a:endParaRPr lang="en-US" sz="1700" dirty="0"/>
          </a:p>
        </p:txBody>
      </p:sp>
      <p:sp>
        <p:nvSpPr>
          <p:cNvPr id="4" name="Shape 2"/>
          <p:cNvSpPr/>
          <p:nvPr/>
        </p:nvSpPr>
        <p:spPr>
          <a:xfrm>
            <a:off x="966073" y="2238851"/>
            <a:ext cx="12698254" cy="5236964"/>
          </a:xfrm>
          <a:prstGeom prst="roundRect">
            <a:avLst>
              <a:gd name="adj" fmla="val 1743"/>
            </a:avLst>
          </a:prstGeom>
          <a:noFill/>
          <a:ln w="7620">
            <a:solidFill>
              <a:srgbClr val="000000">
                <a:alpha val="8000"/>
              </a:srgbClr>
            </a:solidFill>
            <a:prstDash val="solid"/>
          </a:ln>
        </p:spPr>
        <p:txBody>
          <a:bodyPr/>
          <a:lstStyle/>
          <a:p>
            <a:endParaRPr lang="en-US"/>
          </a:p>
        </p:txBody>
      </p:sp>
      <p:sp>
        <p:nvSpPr>
          <p:cNvPr id="5" name="Shape 3"/>
          <p:cNvSpPr/>
          <p:nvPr/>
        </p:nvSpPr>
        <p:spPr>
          <a:xfrm>
            <a:off x="973693" y="2246471"/>
            <a:ext cx="12683014" cy="580192"/>
          </a:xfrm>
          <a:prstGeom prst="rect">
            <a:avLst/>
          </a:prstGeom>
          <a:solidFill>
            <a:srgbClr val="FFFFFF">
              <a:alpha val="4000"/>
            </a:srgbClr>
          </a:solidFill>
          <a:ln/>
        </p:spPr>
        <p:txBody>
          <a:bodyPr/>
          <a:lstStyle/>
          <a:p>
            <a:endParaRPr lang="en-US"/>
          </a:p>
        </p:txBody>
      </p:sp>
      <p:sp>
        <p:nvSpPr>
          <p:cNvPr id="6" name="Text 4"/>
          <p:cNvSpPr/>
          <p:nvPr/>
        </p:nvSpPr>
        <p:spPr>
          <a:xfrm>
            <a:off x="1191101" y="2371368"/>
            <a:ext cx="3366492" cy="330398"/>
          </a:xfrm>
          <a:prstGeom prst="rect">
            <a:avLst/>
          </a:prstGeom>
          <a:noFill/>
          <a:ln/>
        </p:spPr>
        <p:txBody>
          <a:bodyPr wrap="none" lIns="0" tIns="0" rIns="0" bIns="0" rtlCol="0" anchor="t"/>
          <a:lstStyle/>
          <a:p>
            <a:pPr marL="0" indent="0" algn="l">
              <a:lnSpc>
                <a:spcPts val="2600"/>
              </a:lnSpc>
              <a:buNone/>
            </a:pPr>
            <a:r>
              <a:rPr lang="en-US" sz="1700" b="1" dirty="0">
                <a:solidFill>
                  <a:srgbClr val="383838"/>
                </a:solidFill>
                <a:latin typeface="Patrick Hand" pitchFamily="34" charset="0"/>
                <a:ea typeface="Patrick Hand" pitchFamily="34" charset="-122"/>
                <a:cs typeface="Patrick Hand" pitchFamily="34" charset="-120"/>
              </a:rPr>
              <a:t>Feature</a:t>
            </a:r>
            <a:endParaRPr lang="en-US" sz="1700" dirty="0"/>
          </a:p>
        </p:txBody>
      </p:sp>
      <p:sp>
        <p:nvSpPr>
          <p:cNvPr id="7" name="Text 5"/>
          <p:cNvSpPr/>
          <p:nvPr/>
        </p:nvSpPr>
        <p:spPr>
          <a:xfrm>
            <a:off x="4999792" y="2371368"/>
            <a:ext cx="3996809" cy="330398"/>
          </a:xfrm>
          <a:prstGeom prst="rect">
            <a:avLst/>
          </a:prstGeom>
          <a:noFill/>
          <a:ln/>
        </p:spPr>
        <p:txBody>
          <a:bodyPr wrap="none" lIns="0" tIns="0" rIns="0" bIns="0" rtlCol="0" anchor="t"/>
          <a:lstStyle/>
          <a:p>
            <a:pPr marL="0" indent="0" algn="l">
              <a:lnSpc>
                <a:spcPts val="2600"/>
              </a:lnSpc>
              <a:buNone/>
            </a:pPr>
            <a:r>
              <a:rPr lang="en-US" sz="1700" b="1" dirty="0">
                <a:solidFill>
                  <a:srgbClr val="383838"/>
                </a:solidFill>
                <a:latin typeface="Patrick Hand" pitchFamily="34" charset="0"/>
                <a:ea typeface="Patrick Hand" pitchFamily="34" charset="-122"/>
                <a:cs typeface="Patrick Hand" pitchFamily="34" charset="-120"/>
              </a:rPr>
              <a:t>IMAP</a:t>
            </a:r>
            <a:endParaRPr lang="en-US" sz="1700" dirty="0"/>
          </a:p>
        </p:txBody>
      </p:sp>
      <p:sp>
        <p:nvSpPr>
          <p:cNvPr id="8" name="Text 6"/>
          <p:cNvSpPr/>
          <p:nvPr/>
        </p:nvSpPr>
        <p:spPr>
          <a:xfrm>
            <a:off x="9438799" y="2371368"/>
            <a:ext cx="4000619" cy="330398"/>
          </a:xfrm>
          <a:prstGeom prst="rect">
            <a:avLst/>
          </a:prstGeom>
          <a:noFill/>
          <a:ln/>
        </p:spPr>
        <p:txBody>
          <a:bodyPr wrap="none" lIns="0" tIns="0" rIns="0" bIns="0" rtlCol="0" anchor="t"/>
          <a:lstStyle/>
          <a:p>
            <a:pPr marL="0" indent="0" algn="l">
              <a:lnSpc>
                <a:spcPts val="2600"/>
              </a:lnSpc>
              <a:buNone/>
            </a:pPr>
            <a:r>
              <a:rPr lang="en-US" sz="1700" b="1" dirty="0">
                <a:solidFill>
                  <a:srgbClr val="383838"/>
                </a:solidFill>
                <a:latin typeface="Patrick Hand" pitchFamily="34" charset="0"/>
                <a:ea typeface="Patrick Hand" pitchFamily="34" charset="-122"/>
                <a:cs typeface="Patrick Hand" pitchFamily="34" charset="-120"/>
              </a:rPr>
              <a:t>POP3</a:t>
            </a:r>
            <a:endParaRPr lang="en-US" sz="1700" dirty="0"/>
          </a:p>
        </p:txBody>
      </p:sp>
      <p:sp>
        <p:nvSpPr>
          <p:cNvPr id="9" name="Shape 7"/>
          <p:cNvSpPr/>
          <p:nvPr/>
        </p:nvSpPr>
        <p:spPr>
          <a:xfrm>
            <a:off x="973693" y="2826663"/>
            <a:ext cx="12683014" cy="580192"/>
          </a:xfrm>
          <a:prstGeom prst="rect">
            <a:avLst/>
          </a:prstGeom>
          <a:solidFill>
            <a:srgbClr val="000000">
              <a:alpha val="4000"/>
            </a:srgbClr>
          </a:solidFill>
          <a:ln/>
        </p:spPr>
        <p:txBody>
          <a:bodyPr/>
          <a:lstStyle/>
          <a:p>
            <a:endParaRPr lang="en-US"/>
          </a:p>
        </p:txBody>
      </p:sp>
      <p:sp>
        <p:nvSpPr>
          <p:cNvPr id="10" name="Text 8"/>
          <p:cNvSpPr/>
          <p:nvPr/>
        </p:nvSpPr>
        <p:spPr>
          <a:xfrm>
            <a:off x="1191101" y="2951559"/>
            <a:ext cx="3366492"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Email Storage</a:t>
            </a:r>
            <a:endParaRPr lang="en-US" sz="1700" dirty="0"/>
          </a:p>
        </p:txBody>
      </p:sp>
      <p:sp>
        <p:nvSpPr>
          <p:cNvPr id="11" name="Text 9"/>
          <p:cNvSpPr/>
          <p:nvPr/>
        </p:nvSpPr>
        <p:spPr>
          <a:xfrm>
            <a:off x="4999792" y="2951559"/>
            <a:ext cx="3996809"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Server-based</a:t>
            </a:r>
            <a:endParaRPr lang="en-US" sz="1700" dirty="0"/>
          </a:p>
        </p:txBody>
      </p:sp>
      <p:sp>
        <p:nvSpPr>
          <p:cNvPr id="12" name="Text 10"/>
          <p:cNvSpPr/>
          <p:nvPr/>
        </p:nvSpPr>
        <p:spPr>
          <a:xfrm>
            <a:off x="9438799" y="2951559"/>
            <a:ext cx="4000619"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Local device</a:t>
            </a:r>
            <a:endParaRPr lang="en-US" sz="1700" dirty="0"/>
          </a:p>
        </p:txBody>
      </p:sp>
      <p:sp>
        <p:nvSpPr>
          <p:cNvPr id="13" name="Shape 11"/>
          <p:cNvSpPr/>
          <p:nvPr/>
        </p:nvSpPr>
        <p:spPr>
          <a:xfrm>
            <a:off x="973693" y="3406854"/>
            <a:ext cx="12683014" cy="580192"/>
          </a:xfrm>
          <a:prstGeom prst="rect">
            <a:avLst/>
          </a:prstGeom>
          <a:solidFill>
            <a:srgbClr val="FFFFFF">
              <a:alpha val="4000"/>
            </a:srgbClr>
          </a:solidFill>
          <a:ln/>
        </p:spPr>
        <p:txBody>
          <a:bodyPr/>
          <a:lstStyle/>
          <a:p>
            <a:endParaRPr lang="en-US"/>
          </a:p>
        </p:txBody>
      </p:sp>
      <p:sp>
        <p:nvSpPr>
          <p:cNvPr id="14" name="Text 12"/>
          <p:cNvSpPr/>
          <p:nvPr/>
        </p:nvSpPr>
        <p:spPr>
          <a:xfrm>
            <a:off x="1191101" y="3531751"/>
            <a:ext cx="3366492"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Multi-Device Access</a:t>
            </a:r>
            <a:endParaRPr lang="en-US" sz="1700" dirty="0"/>
          </a:p>
        </p:txBody>
      </p:sp>
      <p:sp>
        <p:nvSpPr>
          <p:cNvPr id="15" name="Text 13"/>
          <p:cNvSpPr/>
          <p:nvPr/>
        </p:nvSpPr>
        <p:spPr>
          <a:xfrm>
            <a:off x="4999792" y="3531751"/>
            <a:ext cx="3996809"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Supported</a:t>
            </a:r>
            <a:endParaRPr lang="en-US" sz="1700" dirty="0"/>
          </a:p>
        </p:txBody>
      </p:sp>
      <p:sp>
        <p:nvSpPr>
          <p:cNvPr id="16" name="Text 14"/>
          <p:cNvSpPr/>
          <p:nvPr/>
        </p:nvSpPr>
        <p:spPr>
          <a:xfrm>
            <a:off x="9438799" y="3531751"/>
            <a:ext cx="4000619"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Not supported</a:t>
            </a:r>
            <a:endParaRPr lang="en-US" sz="1700" dirty="0"/>
          </a:p>
        </p:txBody>
      </p:sp>
      <p:sp>
        <p:nvSpPr>
          <p:cNvPr id="17" name="Shape 15"/>
          <p:cNvSpPr/>
          <p:nvPr/>
        </p:nvSpPr>
        <p:spPr>
          <a:xfrm>
            <a:off x="973693" y="3987046"/>
            <a:ext cx="12683014" cy="580192"/>
          </a:xfrm>
          <a:prstGeom prst="rect">
            <a:avLst/>
          </a:prstGeom>
          <a:solidFill>
            <a:srgbClr val="000000">
              <a:alpha val="4000"/>
            </a:srgbClr>
          </a:solidFill>
          <a:ln/>
        </p:spPr>
        <p:txBody>
          <a:bodyPr/>
          <a:lstStyle/>
          <a:p>
            <a:endParaRPr lang="en-US"/>
          </a:p>
        </p:txBody>
      </p:sp>
      <p:sp>
        <p:nvSpPr>
          <p:cNvPr id="18" name="Text 16"/>
          <p:cNvSpPr/>
          <p:nvPr/>
        </p:nvSpPr>
        <p:spPr>
          <a:xfrm>
            <a:off x="1191101" y="4111943"/>
            <a:ext cx="3366492"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Synchronization</a:t>
            </a:r>
            <a:endParaRPr lang="en-US" sz="1700" dirty="0"/>
          </a:p>
        </p:txBody>
      </p:sp>
      <p:sp>
        <p:nvSpPr>
          <p:cNvPr id="19" name="Text 17"/>
          <p:cNvSpPr/>
          <p:nvPr/>
        </p:nvSpPr>
        <p:spPr>
          <a:xfrm>
            <a:off x="4999792" y="4111943"/>
            <a:ext cx="3996809"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Yes</a:t>
            </a:r>
            <a:endParaRPr lang="en-US" sz="1700" dirty="0"/>
          </a:p>
        </p:txBody>
      </p:sp>
      <p:sp>
        <p:nvSpPr>
          <p:cNvPr id="20" name="Text 18"/>
          <p:cNvSpPr/>
          <p:nvPr/>
        </p:nvSpPr>
        <p:spPr>
          <a:xfrm>
            <a:off x="9438799" y="4111943"/>
            <a:ext cx="4000619"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No</a:t>
            </a:r>
            <a:endParaRPr lang="en-US" sz="1700" dirty="0"/>
          </a:p>
        </p:txBody>
      </p:sp>
      <p:sp>
        <p:nvSpPr>
          <p:cNvPr id="21" name="Shape 19"/>
          <p:cNvSpPr/>
          <p:nvPr/>
        </p:nvSpPr>
        <p:spPr>
          <a:xfrm>
            <a:off x="973693" y="4567238"/>
            <a:ext cx="12683014" cy="580192"/>
          </a:xfrm>
          <a:prstGeom prst="rect">
            <a:avLst/>
          </a:prstGeom>
          <a:solidFill>
            <a:srgbClr val="FFFFFF">
              <a:alpha val="4000"/>
            </a:srgbClr>
          </a:solidFill>
          <a:ln/>
        </p:spPr>
        <p:txBody>
          <a:bodyPr/>
          <a:lstStyle/>
          <a:p>
            <a:endParaRPr lang="en-US"/>
          </a:p>
        </p:txBody>
      </p:sp>
      <p:sp>
        <p:nvSpPr>
          <p:cNvPr id="22" name="Text 20"/>
          <p:cNvSpPr/>
          <p:nvPr/>
        </p:nvSpPr>
        <p:spPr>
          <a:xfrm>
            <a:off x="1191101" y="4692134"/>
            <a:ext cx="3366492"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Email Organization</a:t>
            </a:r>
            <a:endParaRPr lang="en-US" sz="1700" dirty="0"/>
          </a:p>
        </p:txBody>
      </p:sp>
      <p:sp>
        <p:nvSpPr>
          <p:cNvPr id="23" name="Text 21"/>
          <p:cNvSpPr/>
          <p:nvPr/>
        </p:nvSpPr>
        <p:spPr>
          <a:xfrm>
            <a:off x="4999792" y="4692134"/>
            <a:ext cx="3996809"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Advanced (folders, labels)</a:t>
            </a:r>
            <a:endParaRPr lang="en-US" sz="1700" dirty="0"/>
          </a:p>
        </p:txBody>
      </p:sp>
      <p:sp>
        <p:nvSpPr>
          <p:cNvPr id="24" name="Text 22"/>
          <p:cNvSpPr/>
          <p:nvPr/>
        </p:nvSpPr>
        <p:spPr>
          <a:xfrm>
            <a:off x="9438799" y="4692134"/>
            <a:ext cx="4000619"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Limited</a:t>
            </a:r>
            <a:endParaRPr lang="en-US" sz="1700" dirty="0"/>
          </a:p>
        </p:txBody>
      </p:sp>
      <p:sp>
        <p:nvSpPr>
          <p:cNvPr id="25" name="Shape 23"/>
          <p:cNvSpPr/>
          <p:nvPr/>
        </p:nvSpPr>
        <p:spPr>
          <a:xfrm>
            <a:off x="973693" y="5147429"/>
            <a:ext cx="12683014" cy="580192"/>
          </a:xfrm>
          <a:prstGeom prst="rect">
            <a:avLst/>
          </a:prstGeom>
          <a:solidFill>
            <a:srgbClr val="000000">
              <a:alpha val="4000"/>
            </a:srgbClr>
          </a:solidFill>
          <a:ln/>
        </p:spPr>
        <p:txBody>
          <a:bodyPr/>
          <a:lstStyle/>
          <a:p>
            <a:endParaRPr lang="en-US"/>
          </a:p>
        </p:txBody>
      </p:sp>
      <p:sp>
        <p:nvSpPr>
          <p:cNvPr id="26" name="Text 24"/>
          <p:cNvSpPr/>
          <p:nvPr/>
        </p:nvSpPr>
        <p:spPr>
          <a:xfrm>
            <a:off x="1191101" y="5272326"/>
            <a:ext cx="3366492"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Internet Required</a:t>
            </a:r>
            <a:endParaRPr lang="en-US" sz="1700" dirty="0"/>
          </a:p>
        </p:txBody>
      </p:sp>
      <p:sp>
        <p:nvSpPr>
          <p:cNvPr id="27" name="Text 25"/>
          <p:cNvSpPr/>
          <p:nvPr/>
        </p:nvSpPr>
        <p:spPr>
          <a:xfrm>
            <a:off x="4999792" y="5272326"/>
            <a:ext cx="3996809"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For full functionality</a:t>
            </a:r>
            <a:endParaRPr lang="en-US" sz="1700" dirty="0"/>
          </a:p>
        </p:txBody>
      </p:sp>
      <p:sp>
        <p:nvSpPr>
          <p:cNvPr id="28" name="Text 26"/>
          <p:cNvSpPr/>
          <p:nvPr/>
        </p:nvSpPr>
        <p:spPr>
          <a:xfrm>
            <a:off x="9438799" y="5272326"/>
            <a:ext cx="4000619"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Only for download</a:t>
            </a:r>
            <a:endParaRPr lang="en-US" sz="1700" dirty="0"/>
          </a:p>
        </p:txBody>
      </p:sp>
      <p:sp>
        <p:nvSpPr>
          <p:cNvPr id="29" name="Shape 27"/>
          <p:cNvSpPr/>
          <p:nvPr/>
        </p:nvSpPr>
        <p:spPr>
          <a:xfrm>
            <a:off x="973693" y="5727621"/>
            <a:ext cx="12683014" cy="580192"/>
          </a:xfrm>
          <a:prstGeom prst="rect">
            <a:avLst/>
          </a:prstGeom>
          <a:solidFill>
            <a:srgbClr val="FFFFFF">
              <a:alpha val="4000"/>
            </a:srgbClr>
          </a:solidFill>
          <a:ln/>
        </p:spPr>
        <p:txBody>
          <a:bodyPr/>
          <a:lstStyle/>
          <a:p>
            <a:endParaRPr lang="en-US"/>
          </a:p>
        </p:txBody>
      </p:sp>
      <p:sp>
        <p:nvSpPr>
          <p:cNvPr id="30" name="Text 28"/>
          <p:cNvSpPr/>
          <p:nvPr/>
        </p:nvSpPr>
        <p:spPr>
          <a:xfrm>
            <a:off x="1191101" y="5852517"/>
            <a:ext cx="3366492"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Storage Space</a:t>
            </a:r>
            <a:endParaRPr lang="en-US" sz="1700" dirty="0"/>
          </a:p>
        </p:txBody>
      </p:sp>
      <p:sp>
        <p:nvSpPr>
          <p:cNvPr id="31" name="Text 29"/>
          <p:cNvSpPr/>
          <p:nvPr/>
        </p:nvSpPr>
        <p:spPr>
          <a:xfrm>
            <a:off x="4999792" y="5852517"/>
            <a:ext cx="3996809"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Server storage limits</a:t>
            </a:r>
            <a:endParaRPr lang="en-US" sz="1700" dirty="0"/>
          </a:p>
        </p:txBody>
      </p:sp>
      <p:sp>
        <p:nvSpPr>
          <p:cNvPr id="32" name="Text 30"/>
          <p:cNvSpPr/>
          <p:nvPr/>
        </p:nvSpPr>
        <p:spPr>
          <a:xfrm>
            <a:off x="9438799" y="5852517"/>
            <a:ext cx="4000619"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Device storage limits</a:t>
            </a:r>
            <a:endParaRPr lang="en-US" sz="1700" dirty="0"/>
          </a:p>
        </p:txBody>
      </p:sp>
      <p:sp>
        <p:nvSpPr>
          <p:cNvPr id="33" name="Shape 31"/>
          <p:cNvSpPr/>
          <p:nvPr/>
        </p:nvSpPr>
        <p:spPr>
          <a:xfrm>
            <a:off x="973693" y="6307812"/>
            <a:ext cx="12683014" cy="580192"/>
          </a:xfrm>
          <a:prstGeom prst="rect">
            <a:avLst/>
          </a:prstGeom>
          <a:solidFill>
            <a:srgbClr val="000000">
              <a:alpha val="4000"/>
            </a:srgbClr>
          </a:solidFill>
          <a:ln/>
        </p:spPr>
        <p:txBody>
          <a:bodyPr/>
          <a:lstStyle/>
          <a:p>
            <a:endParaRPr lang="en-US"/>
          </a:p>
        </p:txBody>
      </p:sp>
      <p:sp>
        <p:nvSpPr>
          <p:cNvPr id="34" name="Text 32"/>
          <p:cNvSpPr/>
          <p:nvPr/>
        </p:nvSpPr>
        <p:spPr>
          <a:xfrm>
            <a:off x="1191101" y="6432709"/>
            <a:ext cx="3366492"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Data Loss Risk</a:t>
            </a:r>
            <a:endParaRPr lang="en-US" sz="1700" dirty="0"/>
          </a:p>
        </p:txBody>
      </p:sp>
      <p:sp>
        <p:nvSpPr>
          <p:cNvPr id="35" name="Text 33"/>
          <p:cNvSpPr/>
          <p:nvPr/>
        </p:nvSpPr>
        <p:spPr>
          <a:xfrm>
            <a:off x="4999792" y="6432709"/>
            <a:ext cx="3996809"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Lower (server backup)</a:t>
            </a:r>
            <a:endParaRPr lang="en-US" sz="1700" dirty="0"/>
          </a:p>
        </p:txBody>
      </p:sp>
      <p:sp>
        <p:nvSpPr>
          <p:cNvPr id="36" name="Text 34"/>
          <p:cNvSpPr/>
          <p:nvPr/>
        </p:nvSpPr>
        <p:spPr>
          <a:xfrm>
            <a:off x="9438799" y="6432709"/>
            <a:ext cx="4000619"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Higher (device failure)</a:t>
            </a:r>
            <a:endParaRPr lang="en-US" sz="1700" dirty="0"/>
          </a:p>
        </p:txBody>
      </p:sp>
      <p:sp>
        <p:nvSpPr>
          <p:cNvPr id="37" name="Shape 35"/>
          <p:cNvSpPr/>
          <p:nvPr/>
        </p:nvSpPr>
        <p:spPr>
          <a:xfrm>
            <a:off x="973693" y="6888004"/>
            <a:ext cx="12683014" cy="580192"/>
          </a:xfrm>
          <a:prstGeom prst="rect">
            <a:avLst/>
          </a:prstGeom>
          <a:solidFill>
            <a:srgbClr val="FFFFFF">
              <a:alpha val="4000"/>
            </a:srgbClr>
          </a:solidFill>
          <a:ln/>
        </p:spPr>
        <p:txBody>
          <a:bodyPr/>
          <a:lstStyle/>
          <a:p>
            <a:endParaRPr lang="en-US"/>
          </a:p>
        </p:txBody>
      </p:sp>
      <p:sp>
        <p:nvSpPr>
          <p:cNvPr id="38" name="Text 36"/>
          <p:cNvSpPr/>
          <p:nvPr/>
        </p:nvSpPr>
        <p:spPr>
          <a:xfrm>
            <a:off x="1191101" y="7012900"/>
            <a:ext cx="3366492"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Bandwidth Usage</a:t>
            </a:r>
            <a:endParaRPr lang="en-US" sz="1700" dirty="0"/>
          </a:p>
        </p:txBody>
      </p:sp>
      <p:sp>
        <p:nvSpPr>
          <p:cNvPr id="39" name="Text 37"/>
          <p:cNvSpPr/>
          <p:nvPr/>
        </p:nvSpPr>
        <p:spPr>
          <a:xfrm>
            <a:off x="4999792" y="7012900"/>
            <a:ext cx="3996809"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Higher (constant sync)</a:t>
            </a:r>
            <a:endParaRPr lang="en-US" sz="1700" dirty="0"/>
          </a:p>
        </p:txBody>
      </p:sp>
      <p:sp>
        <p:nvSpPr>
          <p:cNvPr id="40" name="Text 38"/>
          <p:cNvSpPr/>
          <p:nvPr/>
        </p:nvSpPr>
        <p:spPr>
          <a:xfrm>
            <a:off x="9438799" y="7012900"/>
            <a:ext cx="4000619" cy="330398"/>
          </a:xfrm>
          <a:prstGeom prst="rect">
            <a:avLst/>
          </a:prstGeom>
          <a:noFill/>
          <a:ln/>
        </p:spPr>
        <p:txBody>
          <a:bodyPr wrap="none" lIns="0" tIns="0" rIns="0" bIns="0" rtlCol="0" anchor="t"/>
          <a:lstStyle/>
          <a:p>
            <a:pPr marL="0" indent="0" algn="l">
              <a:lnSpc>
                <a:spcPts val="2600"/>
              </a:lnSpc>
              <a:buNone/>
            </a:pPr>
            <a:r>
              <a:rPr lang="en-US" sz="1700" dirty="0">
                <a:solidFill>
                  <a:srgbClr val="383838"/>
                </a:solidFill>
                <a:latin typeface="Patrick Hand" pitchFamily="34" charset="0"/>
                <a:ea typeface="Patrick Hand" pitchFamily="34" charset="-122"/>
                <a:cs typeface="Patrick Hand" pitchFamily="34" charset="-120"/>
              </a:rPr>
              <a:t>Lower (download once)</a:t>
            </a:r>
            <a:endParaRPr lang="en-US" sz="1700" dirty="0"/>
          </a:p>
        </p:txBody>
      </p:sp>
      <p:sp>
        <p:nvSpPr>
          <p:cNvPr id="41" name="Rounded Rectangle 40">
            <a:extLst>
              <a:ext uri="{FF2B5EF4-FFF2-40B4-BE49-F238E27FC236}">
                <a16:creationId xmlns:a16="http://schemas.microsoft.com/office/drawing/2014/main" id="{E60FD518-E600-044B-2304-D44D1F9E64A3}"/>
              </a:ext>
            </a:extLst>
          </p:cNvPr>
          <p:cNvSpPr/>
          <p:nvPr/>
        </p:nvSpPr>
        <p:spPr>
          <a:xfrm>
            <a:off x="12802178" y="7738620"/>
            <a:ext cx="1724297" cy="38647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66073" y="709017"/>
            <a:ext cx="3623072" cy="452795"/>
          </a:xfrm>
          <a:prstGeom prst="rect">
            <a:avLst/>
          </a:prstGeom>
          <a:noFill/>
          <a:ln/>
        </p:spPr>
        <p:txBody>
          <a:bodyPr wrap="none" lIns="0" tIns="0" rIns="0" bIns="0" rtlCol="0" anchor="t"/>
          <a:lstStyle/>
          <a:p>
            <a:pPr marL="0" indent="0" algn="l">
              <a:lnSpc>
                <a:spcPts val="3550"/>
              </a:lnSpc>
              <a:buNone/>
            </a:pPr>
            <a:r>
              <a:rPr lang="en-US" sz="2850" dirty="0">
                <a:solidFill>
                  <a:srgbClr val="383838"/>
                </a:solidFill>
                <a:latin typeface="Patrick Hand" pitchFamily="34" charset="0"/>
                <a:ea typeface="Patrick Hand" pitchFamily="34" charset="-122"/>
                <a:cs typeface="Patrick Hand" pitchFamily="34" charset="-120"/>
              </a:rPr>
              <a:t>Advantages and Limitations</a:t>
            </a:r>
            <a:endParaRPr lang="en-US" sz="2850" dirty="0"/>
          </a:p>
        </p:txBody>
      </p:sp>
      <p:sp>
        <p:nvSpPr>
          <p:cNvPr id="3" name="Text 1"/>
          <p:cNvSpPr/>
          <p:nvPr/>
        </p:nvSpPr>
        <p:spPr>
          <a:xfrm>
            <a:off x="966073" y="1501378"/>
            <a:ext cx="2173843" cy="271701"/>
          </a:xfrm>
          <a:prstGeom prst="rect">
            <a:avLst/>
          </a:prstGeom>
          <a:noFill/>
          <a:ln/>
        </p:spPr>
        <p:txBody>
          <a:bodyPr wrap="none" lIns="0" tIns="0" rIns="0" bIns="0" rtlCol="0" anchor="t"/>
          <a:lstStyle/>
          <a:p>
            <a:pPr marL="0" indent="0" algn="l">
              <a:lnSpc>
                <a:spcPts val="2100"/>
              </a:lnSpc>
              <a:buNone/>
            </a:pPr>
            <a:r>
              <a:rPr lang="en-US" sz="1700" dirty="0">
                <a:solidFill>
                  <a:srgbClr val="CCCCCC"/>
                </a:solidFill>
                <a:latin typeface="Patrick Hand" pitchFamily="34" charset="0"/>
                <a:ea typeface="Patrick Hand" pitchFamily="34" charset="-122"/>
                <a:cs typeface="Patrick Hand" pitchFamily="34" charset="-120"/>
              </a:rPr>
              <a:t>✓</a:t>
            </a:r>
            <a:r>
              <a:rPr lang="en-US" sz="1700" dirty="0">
                <a:solidFill>
                  <a:srgbClr val="383838"/>
                </a:solidFill>
                <a:latin typeface="Patrick Hand" pitchFamily="34" charset="0"/>
                <a:ea typeface="Patrick Hand" pitchFamily="34" charset="-122"/>
                <a:cs typeface="Patrick Hand" pitchFamily="34" charset="-120"/>
              </a:rPr>
              <a:t> Advantages</a:t>
            </a:r>
            <a:endParaRPr lang="en-US" sz="1700" dirty="0"/>
          </a:p>
        </p:txBody>
      </p:sp>
      <p:sp>
        <p:nvSpPr>
          <p:cNvPr id="4" name="Shape 2"/>
          <p:cNvSpPr/>
          <p:nvPr/>
        </p:nvSpPr>
        <p:spPr>
          <a:xfrm>
            <a:off x="966073" y="2022038"/>
            <a:ext cx="90488" cy="90488"/>
          </a:xfrm>
          <a:prstGeom prst="roundRect">
            <a:avLst>
              <a:gd name="adj" fmla="val 505260"/>
            </a:avLst>
          </a:prstGeom>
          <a:solidFill>
            <a:srgbClr val="CCCCCC"/>
          </a:solidFill>
          <a:ln/>
        </p:spPr>
        <p:txBody>
          <a:bodyPr/>
          <a:lstStyle/>
          <a:p>
            <a:endParaRPr lang="en-US"/>
          </a:p>
        </p:txBody>
      </p:sp>
      <p:sp>
        <p:nvSpPr>
          <p:cNvPr id="5" name="Text 3"/>
          <p:cNvSpPr/>
          <p:nvPr/>
        </p:nvSpPr>
        <p:spPr>
          <a:xfrm>
            <a:off x="1192411" y="1925836"/>
            <a:ext cx="1811536" cy="226457"/>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atrick Hand" pitchFamily="34" charset="0"/>
                <a:ea typeface="Patrick Hand" pitchFamily="34" charset="-122"/>
                <a:cs typeface="Patrick Hand" pitchFamily="34" charset="-120"/>
              </a:rPr>
              <a:t>Universal Access</a:t>
            </a:r>
            <a:endParaRPr lang="en-US" sz="1400" dirty="0"/>
          </a:p>
        </p:txBody>
      </p:sp>
      <p:sp>
        <p:nvSpPr>
          <p:cNvPr id="6" name="Text 4"/>
          <p:cNvSpPr/>
          <p:nvPr/>
        </p:nvSpPr>
        <p:spPr>
          <a:xfrm>
            <a:off x="1192411" y="2288143"/>
            <a:ext cx="5901809" cy="507206"/>
          </a:xfrm>
          <a:prstGeom prst="rect">
            <a:avLst/>
          </a:prstGeom>
          <a:noFill/>
          <a:ln/>
        </p:spPr>
        <p:txBody>
          <a:bodyPr wrap="square" lIns="0" tIns="0" rIns="0" bIns="0" rtlCol="0" anchor="t"/>
          <a:lstStyle/>
          <a:p>
            <a:pPr marL="0" indent="0" algn="l">
              <a:lnSpc>
                <a:spcPts val="1950"/>
              </a:lnSpc>
              <a:buNone/>
            </a:pPr>
            <a:r>
              <a:rPr lang="en-US" sz="1400" dirty="0">
                <a:solidFill>
                  <a:srgbClr val="383838"/>
                </a:solidFill>
                <a:latin typeface="Patrick Hand" pitchFamily="34" charset="0"/>
                <a:ea typeface="Patrick Hand" pitchFamily="34" charset="-122"/>
                <a:cs typeface="Patrick Hand" pitchFamily="34" charset="-120"/>
              </a:rPr>
              <a:t>Emails accessible from anywhere with internet connectivity, on any device with proper credentials.</a:t>
            </a:r>
            <a:endParaRPr lang="en-US" sz="1400" dirty="0"/>
          </a:p>
        </p:txBody>
      </p:sp>
      <p:sp>
        <p:nvSpPr>
          <p:cNvPr id="7" name="Shape 5"/>
          <p:cNvSpPr/>
          <p:nvPr/>
        </p:nvSpPr>
        <p:spPr>
          <a:xfrm>
            <a:off x="966073" y="3163253"/>
            <a:ext cx="90488" cy="90488"/>
          </a:xfrm>
          <a:prstGeom prst="roundRect">
            <a:avLst>
              <a:gd name="adj" fmla="val 505260"/>
            </a:avLst>
          </a:prstGeom>
          <a:solidFill>
            <a:srgbClr val="CCCCCC"/>
          </a:solidFill>
          <a:ln/>
        </p:spPr>
        <p:txBody>
          <a:bodyPr/>
          <a:lstStyle/>
          <a:p>
            <a:endParaRPr lang="en-US"/>
          </a:p>
        </p:txBody>
      </p:sp>
      <p:sp>
        <p:nvSpPr>
          <p:cNvPr id="8" name="Text 6"/>
          <p:cNvSpPr/>
          <p:nvPr/>
        </p:nvSpPr>
        <p:spPr>
          <a:xfrm>
            <a:off x="1192411" y="3067050"/>
            <a:ext cx="1811536" cy="226457"/>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atrick Hand" pitchFamily="34" charset="0"/>
                <a:ea typeface="Patrick Hand" pitchFamily="34" charset="-122"/>
                <a:cs typeface="Patrick Hand" pitchFamily="34" charset="-120"/>
              </a:rPr>
              <a:t>Consistent View</a:t>
            </a:r>
            <a:endParaRPr lang="en-US" sz="1400" dirty="0"/>
          </a:p>
        </p:txBody>
      </p:sp>
      <p:sp>
        <p:nvSpPr>
          <p:cNvPr id="9" name="Text 7"/>
          <p:cNvSpPr/>
          <p:nvPr/>
        </p:nvSpPr>
        <p:spPr>
          <a:xfrm>
            <a:off x="1192411" y="3429357"/>
            <a:ext cx="5901809" cy="507206"/>
          </a:xfrm>
          <a:prstGeom prst="rect">
            <a:avLst/>
          </a:prstGeom>
          <a:noFill/>
          <a:ln/>
        </p:spPr>
        <p:txBody>
          <a:bodyPr wrap="square" lIns="0" tIns="0" rIns="0" bIns="0" rtlCol="0" anchor="t"/>
          <a:lstStyle/>
          <a:p>
            <a:pPr marL="0" indent="0" algn="l">
              <a:lnSpc>
                <a:spcPts val="1950"/>
              </a:lnSpc>
              <a:buNone/>
            </a:pPr>
            <a:r>
              <a:rPr lang="en-US" sz="1400" dirty="0">
                <a:solidFill>
                  <a:srgbClr val="383838"/>
                </a:solidFill>
                <a:latin typeface="Patrick Hand" pitchFamily="34" charset="0"/>
                <a:ea typeface="Patrick Hand" pitchFamily="34" charset="-122"/>
                <a:cs typeface="Patrick Hand" pitchFamily="34" charset="-120"/>
              </a:rPr>
              <a:t>Maintains identical inbox state across all devices, preventing confusion about message status.</a:t>
            </a:r>
            <a:endParaRPr lang="en-US" sz="1400" dirty="0"/>
          </a:p>
        </p:txBody>
      </p:sp>
      <p:sp>
        <p:nvSpPr>
          <p:cNvPr id="10" name="Shape 8"/>
          <p:cNvSpPr/>
          <p:nvPr/>
        </p:nvSpPr>
        <p:spPr>
          <a:xfrm>
            <a:off x="966073" y="4304467"/>
            <a:ext cx="90488" cy="90488"/>
          </a:xfrm>
          <a:prstGeom prst="roundRect">
            <a:avLst>
              <a:gd name="adj" fmla="val 505260"/>
            </a:avLst>
          </a:prstGeom>
          <a:solidFill>
            <a:srgbClr val="CCCCCC"/>
          </a:solidFill>
          <a:ln/>
        </p:spPr>
        <p:txBody>
          <a:bodyPr/>
          <a:lstStyle/>
          <a:p>
            <a:endParaRPr lang="en-US"/>
          </a:p>
        </p:txBody>
      </p:sp>
      <p:sp>
        <p:nvSpPr>
          <p:cNvPr id="11" name="Text 9"/>
          <p:cNvSpPr/>
          <p:nvPr/>
        </p:nvSpPr>
        <p:spPr>
          <a:xfrm>
            <a:off x="1192411" y="4208264"/>
            <a:ext cx="1811536" cy="226457"/>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atrick Hand" pitchFamily="34" charset="0"/>
                <a:ea typeface="Patrick Hand" pitchFamily="34" charset="-122"/>
                <a:cs typeface="Patrick Hand" pitchFamily="34" charset="-120"/>
              </a:rPr>
              <a:t>Data Protection</a:t>
            </a:r>
            <a:endParaRPr lang="en-US" sz="1400" dirty="0"/>
          </a:p>
        </p:txBody>
      </p:sp>
      <p:sp>
        <p:nvSpPr>
          <p:cNvPr id="12" name="Text 10"/>
          <p:cNvSpPr/>
          <p:nvPr/>
        </p:nvSpPr>
        <p:spPr>
          <a:xfrm>
            <a:off x="1192411" y="4570571"/>
            <a:ext cx="5901809" cy="507206"/>
          </a:xfrm>
          <a:prstGeom prst="rect">
            <a:avLst/>
          </a:prstGeom>
          <a:noFill/>
          <a:ln/>
        </p:spPr>
        <p:txBody>
          <a:bodyPr wrap="square" lIns="0" tIns="0" rIns="0" bIns="0" rtlCol="0" anchor="t"/>
          <a:lstStyle/>
          <a:p>
            <a:pPr marL="0" indent="0" algn="l">
              <a:lnSpc>
                <a:spcPts val="1950"/>
              </a:lnSpc>
              <a:buNone/>
            </a:pPr>
            <a:r>
              <a:rPr lang="en-US" sz="1400" dirty="0">
                <a:solidFill>
                  <a:srgbClr val="383838"/>
                </a:solidFill>
                <a:latin typeface="Patrick Hand" pitchFamily="34" charset="0"/>
                <a:ea typeface="Patrick Hand" pitchFamily="34" charset="-122"/>
                <a:cs typeface="Patrick Hand" pitchFamily="34" charset="-120"/>
              </a:rPr>
              <a:t>Reduced risk of permanent data loss since messages remain on servers with backup systems.</a:t>
            </a:r>
            <a:endParaRPr lang="en-US" sz="1400" dirty="0"/>
          </a:p>
        </p:txBody>
      </p:sp>
      <p:sp>
        <p:nvSpPr>
          <p:cNvPr id="13" name="Shape 11"/>
          <p:cNvSpPr/>
          <p:nvPr/>
        </p:nvSpPr>
        <p:spPr>
          <a:xfrm>
            <a:off x="966073" y="5445681"/>
            <a:ext cx="90488" cy="90488"/>
          </a:xfrm>
          <a:prstGeom prst="roundRect">
            <a:avLst>
              <a:gd name="adj" fmla="val 505260"/>
            </a:avLst>
          </a:prstGeom>
          <a:solidFill>
            <a:srgbClr val="CCCCCC"/>
          </a:solidFill>
          <a:ln/>
        </p:spPr>
        <p:txBody>
          <a:bodyPr/>
          <a:lstStyle/>
          <a:p>
            <a:endParaRPr lang="en-US"/>
          </a:p>
        </p:txBody>
      </p:sp>
      <p:sp>
        <p:nvSpPr>
          <p:cNvPr id="14" name="Text 12"/>
          <p:cNvSpPr/>
          <p:nvPr/>
        </p:nvSpPr>
        <p:spPr>
          <a:xfrm>
            <a:off x="1192411" y="5349478"/>
            <a:ext cx="1811536" cy="226457"/>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atrick Hand" pitchFamily="34" charset="0"/>
                <a:ea typeface="Patrick Hand" pitchFamily="34" charset="-122"/>
                <a:cs typeface="Patrick Hand" pitchFamily="34" charset="-120"/>
              </a:rPr>
              <a:t>Mobile-Ready</a:t>
            </a:r>
            <a:endParaRPr lang="en-US" sz="1400" dirty="0"/>
          </a:p>
        </p:txBody>
      </p:sp>
      <p:sp>
        <p:nvSpPr>
          <p:cNvPr id="15" name="Text 13"/>
          <p:cNvSpPr/>
          <p:nvPr/>
        </p:nvSpPr>
        <p:spPr>
          <a:xfrm>
            <a:off x="1192411" y="5711785"/>
            <a:ext cx="5901809" cy="507206"/>
          </a:xfrm>
          <a:prstGeom prst="rect">
            <a:avLst/>
          </a:prstGeom>
          <a:noFill/>
          <a:ln/>
        </p:spPr>
        <p:txBody>
          <a:bodyPr wrap="square" lIns="0" tIns="0" rIns="0" bIns="0" rtlCol="0" anchor="t"/>
          <a:lstStyle/>
          <a:p>
            <a:pPr marL="0" indent="0" algn="l">
              <a:lnSpc>
                <a:spcPts val="1950"/>
              </a:lnSpc>
              <a:buNone/>
            </a:pPr>
            <a:r>
              <a:rPr lang="en-US" sz="1400" dirty="0">
                <a:solidFill>
                  <a:srgbClr val="383838"/>
                </a:solidFill>
                <a:latin typeface="Patrick Hand" pitchFamily="34" charset="0"/>
                <a:ea typeface="Patrick Hand" pitchFamily="34" charset="-122"/>
                <a:cs typeface="Patrick Hand" pitchFamily="34" charset="-120"/>
              </a:rPr>
              <a:t>Ideal for mobile and cloud-based email systems, supporting modern work-from-anywhere requirements.</a:t>
            </a:r>
            <a:endParaRPr lang="en-US" sz="1400" dirty="0"/>
          </a:p>
        </p:txBody>
      </p:sp>
      <p:sp>
        <p:nvSpPr>
          <p:cNvPr id="16" name="Shape 14"/>
          <p:cNvSpPr/>
          <p:nvPr/>
        </p:nvSpPr>
        <p:spPr>
          <a:xfrm>
            <a:off x="966073" y="6586895"/>
            <a:ext cx="90488" cy="90488"/>
          </a:xfrm>
          <a:prstGeom prst="roundRect">
            <a:avLst>
              <a:gd name="adj" fmla="val 505260"/>
            </a:avLst>
          </a:prstGeom>
          <a:solidFill>
            <a:srgbClr val="CCCCCC"/>
          </a:solidFill>
          <a:ln/>
        </p:spPr>
        <p:txBody>
          <a:bodyPr/>
          <a:lstStyle/>
          <a:p>
            <a:endParaRPr lang="en-US"/>
          </a:p>
        </p:txBody>
      </p:sp>
      <p:sp>
        <p:nvSpPr>
          <p:cNvPr id="17" name="Text 15"/>
          <p:cNvSpPr/>
          <p:nvPr/>
        </p:nvSpPr>
        <p:spPr>
          <a:xfrm>
            <a:off x="1192411" y="6490692"/>
            <a:ext cx="1811536" cy="226457"/>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atrick Hand" pitchFamily="34" charset="0"/>
                <a:ea typeface="Patrick Hand" pitchFamily="34" charset="-122"/>
                <a:cs typeface="Patrick Hand" pitchFamily="34" charset="-120"/>
              </a:rPr>
              <a:t>Storage Management</a:t>
            </a:r>
            <a:endParaRPr lang="en-US" sz="1400" dirty="0"/>
          </a:p>
        </p:txBody>
      </p:sp>
      <p:sp>
        <p:nvSpPr>
          <p:cNvPr id="18" name="Text 16"/>
          <p:cNvSpPr/>
          <p:nvPr/>
        </p:nvSpPr>
        <p:spPr>
          <a:xfrm>
            <a:off x="1192411" y="6852999"/>
            <a:ext cx="5901809" cy="507206"/>
          </a:xfrm>
          <a:prstGeom prst="rect">
            <a:avLst/>
          </a:prstGeom>
          <a:noFill/>
          <a:ln/>
        </p:spPr>
        <p:txBody>
          <a:bodyPr wrap="square" lIns="0" tIns="0" rIns="0" bIns="0" rtlCol="0" anchor="t"/>
          <a:lstStyle/>
          <a:p>
            <a:pPr marL="0" indent="0" algn="l">
              <a:lnSpc>
                <a:spcPts val="1950"/>
              </a:lnSpc>
              <a:buNone/>
            </a:pPr>
            <a:r>
              <a:rPr lang="en-US" sz="1400" dirty="0">
                <a:solidFill>
                  <a:srgbClr val="383838"/>
                </a:solidFill>
                <a:latin typeface="Patrick Hand" pitchFamily="34" charset="0"/>
                <a:ea typeface="Patrick Hand" pitchFamily="34" charset="-122"/>
                <a:cs typeface="Patrick Hand" pitchFamily="34" charset="-120"/>
              </a:rPr>
              <a:t>Users can manage server storage by periodically archiving or deleting old messages to stay within limits.</a:t>
            </a:r>
            <a:endParaRPr lang="en-US" sz="1400" dirty="0"/>
          </a:p>
        </p:txBody>
      </p:sp>
      <p:sp>
        <p:nvSpPr>
          <p:cNvPr id="19" name="Shape 17"/>
          <p:cNvSpPr/>
          <p:nvPr/>
        </p:nvSpPr>
        <p:spPr>
          <a:xfrm>
            <a:off x="7413308" y="1365528"/>
            <a:ext cx="6389132" cy="6155055"/>
          </a:xfrm>
          <a:prstGeom prst="roundRect">
            <a:avLst>
              <a:gd name="adj" fmla="val 2119"/>
            </a:avLst>
          </a:prstGeom>
          <a:solidFill>
            <a:srgbClr val="E6E6E6"/>
          </a:solidFill>
          <a:ln/>
        </p:spPr>
        <p:txBody>
          <a:bodyPr/>
          <a:lstStyle/>
          <a:p>
            <a:endParaRPr lang="en-US"/>
          </a:p>
        </p:txBody>
      </p:sp>
      <p:sp>
        <p:nvSpPr>
          <p:cNvPr id="20" name="Text 18"/>
          <p:cNvSpPr/>
          <p:nvPr/>
        </p:nvSpPr>
        <p:spPr>
          <a:xfrm>
            <a:off x="7594402" y="1501378"/>
            <a:ext cx="2173843" cy="279321"/>
          </a:xfrm>
          <a:prstGeom prst="rect">
            <a:avLst/>
          </a:prstGeom>
          <a:noFill/>
          <a:ln/>
        </p:spPr>
        <p:txBody>
          <a:bodyPr wrap="none" lIns="0" tIns="0" rIns="0" bIns="0" rtlCol="0" anchor="t"/>
          <a:lstStyle/>
          <a:p>
            <a:pPr marL="0" indent="0" algn="l">
              <a:lnSpc>
                <a:spcPts val="2100"/>
              </a:lnSpc>
              <a:buNone/>
            </a:pPr>
            <a:r>
              <a:rPr lang="en-US" sz="1700" dirty="0">
                <a:solidFill>
                  <a:srgbClr val="000000"/>
                </a:solidFill>
                <a:latin typeface="Patrick Hand" pitchFamily="34" charset="0"/>
                <a:ea typeface="Patrick Hand" pitchFamily="34" charset="-122"/>
                <a:cs typeface="Patrick Hand" pitchFamily="34" charset="-120"/>
              </a:rPr>
              <a:t>⚠</a:t>
            </a:r>
            <a:r>
              <a:rPr lang="en-US" sz="1700" dirty="0">
                <a:solidFill>
                  <a:srgbClr val="383838"/>
                </a:solidFill>
                <a:latin typeface="Patrick Hand" pitchFamily="34" charset="0"/>
                <a:ea typeface="Patrick Hand" pitchFamily="34" charset="-122"/>
                <a:cs typeface="Patrick Hand" pitchFamily="34" charset="-120"/>
              </a:rPr>
              <a:t> Limitations</a:t>
            </a:r>
            <a:endParaRPr lang="en-US" sz="1700" dirty="0"/>
          </a:p>
        </p:txBody>
      </p:sp>
      <p:sp>
        <p:nvSpPr>
          <p:cNvPr id="21" name="Shape 19"/>
          <p:cNvSpPr/>
          <p:nvPr/>
        </p:nvSpPr>
        <p:spPr>
          <a:xfrm>
            <a:off x="7594402" y="2029658"/>
            <a:ext cx="90488" cy="90488"/>
          </a:xfrm>
          <a:prstGeom prst="roundRect">
            <a:avLst>
              <a:gd name="adj" fmla="val 505260"/>
            </a:avLst>
          </a:prstGeom>
          <a:solidFill>
            <a:srgbClr val="CCCCCC"/>
          </a:solidFill>
          <a:ln/>
        </p:spPr>
        <p:txBody>
          <a:bodyPr/>
          <a:lstStyle/>
          <a:p>
            <a:endParaRPr lang="en-US"/>
          </a:p>
        </p:txBody>
      </p:sp>
      <p:sp>
        <p:nvSpPr>
          <p:cNvPr id="22" name="Text 20"/>
          <p:cNvSpPr/>
          <p:nvPr/>
        </p:nvSpPr>
        <p:spPr>
          <a:xfrm>
            <a:off x="7820739" y="1933456"/>
            <a:ext cx="1811536" cy="226457"/>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atrick Hand" pitchFamily="34" charset="0"/>
                <a:ea typeface="Patrick Hand" pitchFamily="34" charset="-122"/>
                <a:cs typeface="Patrick Hand" pitchFamily="34" charset="-120"/>
              </a:rPr>
              <a:t>Internet Dependency</a:t>
            </a:r>
            <a:endParaRPr lang="en-US" sz="1400" dirty="0"/>
          </a:p>
        </p:txBody>
      </p:sp>
      <p:sp>
        <p:nvSpPr>
          <p:cNvPr id="23" name="Text 21"/>
          <p:cNvSpPr/>
          <p:nvPr/>
        </p:nvSpPr>
        <p:spPr>
          <a:xfrm>
            <a:off x="7820739" y="2295763"/>
            <a:ext cx="5800606" cy="507206"/>
          </a:xfrm>
          <a:prstGeom prst="rect">
            <a:avLst/>
          </a:prstGeom>
          <a:noFill/>
          <a:ln/>
        </p:spPr>
        <p:txBody>
          <a:bodyPr wrap="square" lIns="0" tIns="0" rIns="0" bIns="0" rtlCol="0" anchor="t"/>
          <a:lstStyle/>
          <a:p>
            <a:pPr marL="0" indent="0" algn="l">
              <a:lnSpc>
                <a:spcPts val="1950"/>
              </a:lnSpc>
              <a:buNone/>
            </a:pPr>
            <a:r>
              <a:rPr lang="en-US" sz="1400" dirty="0">
                <a:solidFill>
                  <a:srgbClr val="383838"/>
                </a:solidFill>
                <a:latin typeface="Patrick Hand" pitchFamily="34" charset="0"/>
                <a:ea typeface="Patrick Hand" pitchFamily="34" charset="-122"/>
                <a:cs typeface="Patrick Hand" pitchFamily="34" charset="-120"/>
              </a:rPr>
              <a:t>Requires continuous internet connection for full functionality, though offline caching provides limited relief.</a:t>
            </a:r>
            <a:endParaRPr lang="en-US" sz="1400" dirty="0"/>
          </a:p>
        </p:txBody>
      </p:sp>
      <p:sp>
        <p:nvSpPr>
          <p:cNvPr id="24" name="Shape 22"/>
          <p:cNvSpPr/>
          <p:nvPr/>
        </p:nvSpPr>
        <p:spPr>
          <a:xfrm>
            <a:off x="7594402" y="3170873"/>
            <a:ext cx="90488" cy="90488"/>
          </a:xfrm>
          <a:prstGeom prst="roundRect">
            <a:avLst>
              <a:gd name="adj" fmla="val 505260"/>
            </a:avLst>
          </a:prstGeom>
          <a:solidFill>
            <a:srgbClr val="CCCCCC"/>
          </a:solidFill>
          <a:ln/>
        </p:spPr>
        <p:txBody>
          <a:bodyPr/>
          <a:lstStyle/>
          <a:p>
            <a:endParaRPr lang="en-US"/>
          </a:p>
        </p:txBody>
      </p:sp>
      <p:sp>
        <p:nvSpPr>
          <p:cNvPr id="25" name="Text 23"/>
          <p:cNvSpPr/>
          <p:nvPr/>
        </p:nvSpPr>
        <p:spPr>
          <a:xfrm>
            <a:off x="7820739" y="3074670"/>
            <a:ext cx="1811536" cy="226457"/>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atrick Hand" pitchFamily="34" charset="0"/>
                <a:ea typeface="Patrick Hand" pitchFamily="34" charset="-122"/>
                <a:cs typeface="Patrick Hand" pitchFamily="34" charset="-120"/>
              </a:rPr>
              <a:t>Storage Quotas</a:t>
            </a:r>
            <a:endParaRPr lang="en-US" sz="1400" dirty="0"/>
          </a:p>
        </p:txBody>
      </p:sp>
      <p:sp>
        <p:nvSpPr>
          <p:cNvPr id="26" name="Text 24"/>
          <p:cNvSpPr/>
          <p:nvPr/>
        </p:nvSpPr>
        <p:spPr>
          <a:xfrm>
            <a:off x="7820739" y="3436977"/>
            <a:ext cx="5800606" cy="507206"/>
          </a:xfrm>
          <a:prstGeom prst="rect">
            <a:avLst/>
          </a:prstGeom>
          <a:noFill/>
          <a:ln/>
        </p:spPr>
        <p:txBody>
          <a:bodyPr wrap="square" lIns="0" tIns="0" rIns="0" bIns="0" rtlCol="0" anchor="t"/>
          <a:lstStyle/>
          <a:p>
            <a:pPr marL="0" indent="0" algn="l">
              <a:lnSpc>
                <a:spcPts val="1950"/>
              </a:lnSpc>
              <a:buNone/>
            </a:pPr>
            <a:r>
              <a:rPr lang="en-US" sz="1400" dirty="0">
                <a:solidFill>
                  <a:srgbClr val="383838"/>
                </a:solidFill>
                <a:latin typeface="Patrick Hand" pitchFamily="34" charset="0"/>
                <a:ea typeface="Patrick Hand" pitchFamily="34" charset="-122"/>
                <a:cs typeface="Patrick Hand" pitchFamily="34" charset="-120"/>
              </a:rPr>
              <a:t>Server storage limitations imposed by email providers may require regular mailbox cleanup to avoid exceeding quotas.</a:t>
            </a:r>
            <a:endParaRPr lang="en-US" sz="1400" dirty="0"/>
          </a:p>
        </p:txBody>
      </p:sp>
      <p:sp>
        <p:nvSpPr>
          <p:cNvPr id="27" name="Shape 25"/>
          <p:cNvSpPr/>
          <p:nvPr/>
        </p:nvSpPr>
        <p:spPr>
          <a:xfrm>
            <a:off x="7594402" y="4312087"/>
            <a:ext cx="90488" cy="90488"/>
          </a:xfrm>
          <a:prstGeom prst="roundRect">
            <a:avLst>
              <a:gd name="adj" fmla="val 505260"/>
            </a:avLst>
          </a:prstGeom>
          <a:solidFill>
            <a:srgbClr val="CCCCCC"/>
          </a:solidFill>
          <a:ln/>
        </p:spPr>
        <p:txBody>
          <a:bodyPr/>
          <a:lstStyle/>
          <a:p>
            <a:endParaRPr lang="en-US"/>
          </a:p>
        </p:txBody>
      </p:sp>
      <p:sp>
        <p:nvSpPr>
          <p:cNvPr id="28" name="Text 26"/>
          <p:cNvSpPr/>
          <p:nvPr/>
        </p:nvSpPr>
        <p:spPr>
          <a:xfrm>
            <a:off x="7820739" y="4215884"/>
            <a:ext cx="1811536" cy="226457"/>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atrick Hand" pitchFamily="34" charset="0"/>
                <a:ea typeface="Patrick Hand" pitchFamily="34" charset="-122"/>
                <a:cs typeface="Patrick Hand" pitchFamily="34" charset="-120"/>
              </a:rPr>
              <a:t>Server Resource Usage</a:t>
            </a:r>
            <a:endParaRPr lang="en-US" sz="1400" dirty="0"/>
          </a:p>
        </p:txBody>
      </p:sp>
      <p:sp>
        <p:nvSpPr>
          <p:cNvPr id="29" name="Text 27"/>
          <p:cNvSpPr/>
          <p:nvPr/>
        </p:nvSpPr>
        <p:spPr>
          <a:xfrm>
            <a:off x="7820739" y="4578191"/>
            <a:ext cx="5800606" cy="507206"/>
          </a:xfrm>
          <a:prstGeom prst="rect">
            <a:avLst/>
          </a:prstGeom>
          <a:noFill/>
          <a:ln/>
        </p:spPr>
        <p:txBody>
          <a:bodyPr wrap="square" lIns="0" tIns="0" rIns="0" bIns="0" rtlCol="0" anchor="t"/>
          <a:lstStyle/>
          <a:p>
            <a:pPr marL="0" indent="0" algn="l">
              <a:lnSpc>
                <a:spcPts val="1950"/>
              </a:lnSpc>
              <a:buNone/>
            </a:pPr>
            <a:r>
              <a:rPr lang="en-US" sz="1400" dirty="0">
                <a:solidFill>
                  <a:srgbClr val="383838"/>
                </a:solidFill>
                <a:latin typeface="Patrick Hand" pitchFamily="34" charset="0"/>
                <a:ea typeface="Patrick Hand" pitchFamily="34" charset="-122"/>
                <a:cs typeface="Patrick Hand" pitchFamily="34" charset="-120"/>
              </a:rPr>
              <a:t>Higher server resource consumption compared to POP3 due to constant synchronization and storage requirements.</a:t>
            </a:r>
            <a:endParaRPr lang="en-US" sz="1400" dirty="0"/>
          </a:p>
        </p:txBody>
      </p:sp>
      <p:sp>
        <p:nvSpPr>
          <p:cNvPr id="30" name="Shape 28"/>
          <p:cNvSpPr/>
          <p:nvPr/>
        </p:nvSpPr>
        <p:spPr>
          <a:xfrm>
            <a:off x="7594402" y="5453301"/>
            <a:ext cx="90488" cy="90488"/>
          </a:xfrm>
          <a:prstGeom prst="roundRect">
            <a:avLst>
              <a:gd name="adj" fmla="val 505260"/>
            </a:avLst>
          </a:prstGeom>
          <a:solidFill>
            <a:srgbClr val="CCCCCC"/>
          </a:solidFill>
          <a:ln/>
        </p:spPr>
        <p:txBody>
          <a:bodyPr/>
          <a:lstStyle/>
          <a:p>
            <a:endParaRPr lang="en-US"/>
          </a:p>
        </p:txBody>
      </p:sp>
      <p:sp>
        <p:nvSpPr>
          <p:cNvPr id="31" name="Text 29"/>
          <p:cNvSpPr/>
          <p:nvPr/>
        </p:nvSpPr>
        <p:spPr>
          <a:xfrm>
            <a:off x="7820739" y="5357098"/>
            <a:ext cx="1811536" cy="226457"/>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atrick Hand" pitchFamily="34" charset="0"/>
                <a:ea typeface="Patrick Hand" pitchFamily="34" charset="-122"/>
                <a:cs typeface="Patrick Hand" pitchFamily="34" charset="-120"/>
              </a:rPr>
              <a:t>Initial Setup Complexity</a:t>
            </a:r>
            <a:endParaRPr lang="en-US" sz="1400" dirty="0"/>
          </a:p>
        </p:txBody>
      </p:sp>
      <p:sp>
        <p:nvSpPr>
          <p:cNvPr id="32" name="Text 30"/>
          <p:cNvSpPr/>
          <p:nvPr/>
        </p:nvSpPr>
        <p:spPr>
          <a:xfrm>
            <a:off x="7820739" y="5719405"/>
            <a:ext cx="5800606" cy="507206"/>
          </a:xfrm>
          <a:prstGeom prst="rect">
            <a:avLst/>
          </a:prstGeom>
          <a:noFill/>
          <a:ln/>
        </p:spPr>
        <p:txBody>
          <a:bodyPr wrap="square" lIns="0" tIns="0" rIns="0" bIns="0" rtlCol="0" anchor="t"/>
          <a:lstStyle/>
          <a:p>
            <a:pPr marL="0" indent="0" algn="l">
              <a:lnSpc>
                <a:spcPts val="1950"/>
              </a:lnSpc>
              <a:buNone/>
            </a:pPr>
            <a:r>
              <a:rPr lang="en-US" sz="1400" dirty="0">
                <a:solidFill>
                  <a:srgbClr val="383838"/>
                </a:solidFill>
                <a:latin typeface="Patrick Hand" pitchFamily="34" charset="0"/>
                <a:ea typeface="Patrick Hand" pitchFamily="34" charset="-122"/>
                <a:cs typeface="Patrick Hand" pitchFamily="34" charset="-120"/>
              </a:rPr>
              <a:t>Configuration can be more complex than POP3, requiring correct server settings and authentication methods.</a:t>
            </a:r>
            <a:endParaRPr lang="en-US" sz="1400" dirty="0"/>
          </a:p>
        </p:txBody>
      </p:sp>
      <p:sp>
        <p:nvSpPr>
          <p:cNvPr id="33" name="Shape 31"/>
          <p:cNvSpPr/>
          <p:nvPr/>
        </p:nvSpPr>
        <p:spPr>
          <a:xfrm>
            <a:off x="7594402" y="6594515"/>
            <a:ext cx="90488" cy="90488"/>
          </a:xfrm>
          <a:prstGeom prst="roundRect">
            <a:avLst>
              <a:gd name="adj" fmla="val 505260"/>
            </a:avLst>
          </a:prstGeom>
          <a:solidFill>
            <a:srgbClr val="CCCCCC"/>
          </a:solidFill>
          <a:ln/>
        </p:spPr>
        <p:txBody>
          <a:bodyPr/>
          <a:lstStyle/>
          <a:p>
            <a:endParaRPr lang="en-US"/>
          </a:p>
        </p:txBody>
      </p:sp>
      <p:sp>
        <p:nvSpPr>
          <p:cNvPr id="34" name="Text 32"/>
          <p:cNvSpPr/>
          <p:nvPr/>
        </p:nvSpPr>
        <p:spPr>
          <a:xfrm>
            <a:off x="7820739" y="6498312"/>
            <a:ext cx="1811536" cy="226457"/>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atrick Hand" pitchFamily="34" charset="0"/>
                <a:ea typeface="Patrick Hand" pitchFamily="34" charset="-122"/>
                <a:cs typeface="Patrick Hand" pitchFamily="34" charset="-120"/>
              </a:rPr>
              <a:t>Bandwidth Consumption</a:t>
            </a:r>
            <a:endParaRPr lang="en-US" sz="1400" dirty="0"/>
          </a:p>
        </p:txBody>
      </p:sp>
      <p:sp>
        <p:nvSpPr>
          <p:cNvPr id="35" name="Text 33"/>
          <p:cNvSpPr/>
          <p:nvPr/>
        </p:nvSpPr>
        <p:spPr>
          <a:xfrm>
            <a:off x="7820739" y="6860619"/>
            <a:ext cx="5800606" cy="507206"/>
          </a:xfrm>
          <a:prstGeom prst="rect">
            <a:avLst/>
          </a:prstGeom>
          <a:noFill/>
          <a:ln/>
        </p:spPr>
        <p:txBody>
          <a:bodyPr wrap="square" lIns="0" tIns="0" rIns="0" bIns="0" rtlCol="0" anchor="t"/>
          <a:lstStyle/>
          <a:p>
            <a:pPr marL="0" indent="0" algn="l">
              <a:lnSpc>
                <a:spcPts val="1950"/>
              </a:lnSpc>
              <a:buNone/>
            </a:pPr>
            <a:r>
              <a:rPr lang="en-US" sz="1400" dirty="0">
                <a:solidFill>
                  <a:srgbClr val="383838"/>
                </a:solidFill>
                <a:latin typeface="Patrick Hand" pitchFamily="34" charset="0"/>
                <a:ea typeface="Patrick Hand" pitchFamily="34" charset="-122"/>
                <a:cs typeface="Patrick Hand" pitchFamily="34" charset="-120"/>
              </a:rPr>
              <a:t>Continuous synchronization uses more bandwidth than POP3's download-once approach, potentially affecting mobile data plans.</a:t>
            </a:r>
            <a:endParaRPr lang="en-US" sz="1400" dirty="0"/>
          </a:p>
        </p:txBody>
      </p:sp>
      <p:sp>
        <p:nvSpPr>
          <p:cNvPr id="36" name="Rounded Rectangle 35">
            <a:extLst>
              <a:ext uri="{FF2B5EF4-FFF2-40B4-BE49-F238E27FC236}">
                <a16:creationId xmlns:a16="http://schemas.microsoft.com/office/drawing/2014/main" id="{E3E912B2-0E55-2CF2-7A6B-BF46C1AC8D75}"/>
              </a:ext>
            </a:extLst>
          </p:cNvPr>
          <p:cNvSpPr/>
          <p:nvPr/>
        </p:nvSpPr>
        <p:spPr>
          <a:xfrm>
            <a:off x="12802178" y="7738620"/>
            <a:ext cx="1724297" cy="38647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7" name="Text 9">
            <a:extLst>
              <a:ext uri="{FF2B5EF4-FFF2-40B4-BE49-F238E27FC236}">
                <a16:creationId xmlns:a16="http://schemas.microsoft.com/office/drawing/2014/main" id="{CA63457C-816C-0B23-06F9-DE88DD48AC86}"/>
              </a:ext>
            </a:extLst>
          </p:cNvPr>
          <p:cNvSpPr/>
          <p:nvPr/>
        </p:nvSpPr>
        <p:spPr>
          <a:xfrm>
            <a:off x="1517631" y="199549"/>
            <a:ext cx="1811536" cy="226457"/>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atrick Hand" pitchFamily="34" charset="0"/>
                <a:ea typeface="Patrick Hand" pitchFamily="34" charset="-122"/>
                <a:cs typeface="Patrick Hand" pitchFamily="34" charset="-120"/>
              </a:rPr>
              <a:t>Data Protection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59882" y="669131"/>
            <a:ext cx="4799648" cy="599837"/>
          </a:xfrm>
          <a:prstGeom prst="rect">
            <a:avLst/>
          </a:prstGeom>
          <a:noFill/>
          <a:ln/>
        </p:spPr>
        <p:txBody>
          <a:bodyPr wrap="none" lIns="0" tIns="0" rIns="0" bIns="0" rtlCol="0" anchor="t"/>
          <a:lstStyle/>
          <a:p>
            <a:pPr marL="0" indent="0" algn="l">
              <a:lnSpc>
                <a:spcPts val="4700"/>
              </a:lnSpc>
              <a:buNone/>
            </a:pPr>
            <a:r>
              <a:rPr lang="en-US" sz="3750" dirty="0">
                <a:solidFill>
                  <a:srgbClr val="383838"/>
                </a:solidFill>
                <a:latin typeface="Patrick Hand" pitchFamily="34" charset="0"/>
                <a:ea typeface="Patrick Hand" pitchFamily="34" charset="-122"/>
                <a:cs typeface="Patrick Hand" pitchFamily="34" charset="-120"/>
              </a:rPr>
              <a:t>Conclusion</a:t>
            </a:r>
            <a:endParaRPr lang="en-US" sz="3750" dirty="0"/>
          </a:p>
        </p:txBody>
      </p:sp>
      <p:sp>
        <p:nvSpPr>
          <p:cNvPr id="3" name="Text 1"/>
          <p:cNvSpPr/>
          <p:nvPr/>
        </p:nvSpPr>
        <p:spPr>
          <a:xfrm>
            <a:off x="959882" y="1745813"/>
            <a:ext cx="12710636" cy="1148358"/>
          </a:xfrm>
          <a:prstGeom prst="rect">
            <a:avLst/>
          </a:prstGeom>
          <a:noFill/>
          <a:ln/>
        </p:spPr>
        <p:txBody>
          <a:bodyPr wrap="square" lIns="0" tIns="0" rIns="0" bIns="0" rtlCol="0" anchor="t"/>
          <a:lstStyle/>
          <a:p>
            <a:pPr marL="0" indent="0" algn="l">
              <a:lnSpc>
                <a:spcPts val="3000"/>
              </a:lnSpc>
              <a:buNone/>
            </a:pPr>
            <a:r>
              <a:rPr lang="en-US" sz="1850" dirty="0">
                <a:solidFill>
                  <a:srgbClr val="383838"/>
                </a:solidFill>
                <a:latin typeface="Patrick Hand" pitchFamily="34" charset="0"/>
                <a:ea typeface="Patrick Hand" pitchFamily="34" charset="-122"/>
                <a:cs typeface="Patrick Hand" pitchFamily="34" charset="-120"/>
              </a:rPr>
              <a:t>IMAP remains a reliable and widely adopted email retrieval protocol that effectively supports modern, multi-device communication needs. Its server-based architecture provides significant advantages over older protocols like POP3, particularly in environments where users access email from multiple devices and require consistent synchronization.</a:t>
            </a:r>
            <a:endParaRPr lang="en-US" sz="1850" dirty="0"/>
          </a:p>
        </p:txBody>
      </p:sp>
      <p:sp>
        <p:nvSpPr>
          <p:cNvPr id="4" name="Shape 2"/>
          <p:cNvSpPr/>
          <p:nvPr/>
        </p:nvSpPr>
        <p:spPr>
          <a:xfrm>
            <a:off x="959882" y="3162300"/>
            <a:ext cx="4077891" cy="2514957"/>
          </a:xfrm>
          <a:prstGeom prst="roundRect">
            <a:avLst>
              <a:gd name="adj" fmla="val 4008"/>
            </a:avLst>
          </a:prstGeom>
          <a:solidFill>
            <a:srgbClr val="F7F7F7"/>
          </a:solidFill>
          <a:ln w="30480">
            <a:solidFill>
              <a:srgbClr val="CCCCCC"/>
            </a:solidFill>
            <a:prstDash val="solid"/>
          </a:ln>
        </p:spPr>
        <p:txBody>
          <a:bodyPr/>
          <a:lstStyle/>
          <a:p>
            <a:endParaRPr lang="en-US"/>
          </a:p>
        </p:txBody>
      </p:sp>
      <p:sp>
        <p:nvSpPr>
          <p:cNvPr id="5" name="Text 3"/>
          <p:cNvSpPr/>
          <p:nvPr/>
        </p:nvSpPr>
        <p:spPr>
          <a:xfrm>
            <a:off x="1230273" y="3432691"/>
            <a:ext cx="2399824" cy="300038"/>
          </a:xfrm>
          <a:prstGeom prst="rect">
            <a:avLst/>
          </a:prstGeom>
          <a:noFill/>
          <a:ln/>
        </p:spPr>
        <p:txBody>
          <a:bodyPr wrap="none" lIns="0" tIns="0" rIns="0" bIns="0" rtlCol="0" anchor="t"/>
          <a:lstStyle/>
          <a:p>
            <a:pPr marL="0" indent="0" algn="l">
              <a:lnSpc>
                <a:spcPts val="2350"/>
              </a:lnSpc>
              <a:buNone/>
            </a:pPr>
            <a:r>
              <a:rPr lang="en-US" sz="1850" dirty="0">
                <a:solidFill>
                  <a:srgbClr val="383838"/>
                </a:solidFill>
                <a:latin typeface="Patrick Hand" pitchFamily="34" charset="0"/>
                <a:ea typeface="Patrick Hand" pitchFamily="34" charset="-122"/>
                <a:cs typeface="Patrick Hand" pitchFamily="34" charset="-120"/>
              </a:rPr>
              <a:t>Industry Standard</a:t>
            </a:r>
            <a:endParaRPr lang="en-US" sz="1850" dirty="0"/>
          </a:p>
        </p:txBody>
      </p:sp>
      <p:sp>
        <p:nvSpPr>
          <p:cNvPr id="6" name="Text 4"/>
          <p:cNvSpPr/>
          <p:nvPr/>
        </p:nvSpPr>
        <p:spPr>
          <a:xfrm>
            <a:off x="1230273" y="3875723"/>
            <a:ext cx="3537109" cy="1531144"/>
          </a:xfrm>
          <a:prstGeom prst="rect">
            <a:avLst/>
          </a:prstGeom>
          <a:noFill/>
          <a:ln/>
        </p:spPr>
        <p:txBody>
          <a:bodyPr wrap="square" lIns="0" tIns="0" rIns="0" bIns="0" rtlCol="0" anchor="t"/>
          <a:lstStyle/>
          <a:p>
            <a:pPr marL="0" indent="0" algn="l">
              <a:lnSpc>
                <a:spcPts val="3000"/>
              </a:lnSpc>
              <a:buNone/>
            </a:pPr>
            <a:r>
              <a:rPr lang="en-US" sz="1850" dirty="0">
                <a:solidFill>
                  <a:srgbClr val="383838"/>
                </a:solidFill>
                <a:latin typeface="Patrick Hand" pitchFamily="34" charset="0"/>
                <a:ea typeface="Patrick Hand" pitchFamily="34" charset="-122"/>
                <a:cs typeface="Patrick Hand" pitchFamily="34" charset="-120"/>
              </a:rPr>
              <a:t>IMAP has become the de facto standard for modern email systems, powering services used by billions of people worldwide.</a:t>
            </a:r>
            <a:endParaRPr lang="en-US" sz="1850" dirty="0"/>
          </a:p>
        </p:txBody>
      </p:sp>
      <p:sp>
        <p:nvSpPr>
          <p:cNvPr id="7" name="Shape 5"/>
          <p:cNvSpPr/>
          <p:nvPr/>
        </p:nvSpPr>
        <p:spPr>
          <a:xfrm>
            <a:off x="5276136" y="3162300"/>
            <a:ext cx="4078010" cy="2514957"/>
          </a:xfrm>
          <a:prstGeom prst="roundRect">
            <a:avLst>
              <a:gd name="adj" fmla="val 4008"/>
            </a:avLst>
          </a:prstGeom>
          <a:solidFill>
            <a:srgbClr val="F7F7F7"/>
          </a:solidFill>
          <a:ln w="30480">
            <a:solidFill>
              <a:srgbClr val="CCCCCC"/>
            </a:solidFill>
            <a:prstDash val="solid"/>
          </a:ln>
        </p:spPr>
        <p:txBody>
          <a:bodyPr/>
          <a:lstStyle/>
          <a:p>
            <a:endParaRPr lang="en-US"/>
          </a:p>
        </p:txBody>
      </p:sp>
      <p:sp>
        <p:nvSpPr>
          <p:cNvPr id="8" name="Text 6"/>
          <p:cNvSpPr/>
          <p:nvPr/>
        </p:nvSpPr>
        <p:spPr>
          <a:xfrm>
            <a:off x="5546527" y="3432691"/>
            <a:ext cx="2399824" cy="300038"/>
          </a:xfrm>
          <a:prstGeom prst="rect">
            <a:avLst/>
          </a:prstGeom>
          <a:noFill/>
          <a:ln/>
        </p:spPr>
        <p:txBody>
          <a:bodyPr wrap="none" lIns="0" tIns="0" rIns="0" bIns="0" rtlCol="0" anchor="t"/>
          <a:lstStyle/>
          <a:p>
            <a:pPr marL="0" indent="0" algn="l">
              <a:lnSpc>
                <a:spcPts val="2350"/>
              </a:lnSpc>
              <a:buNone/>
            </a:pPr>
            <a:r>
              <a:rPr lang="en-US" sz="1850" dirty="0">
                <a:solidFill>
                  <a:srgbClr val="383838"/>
                </a:solidFill>
                <a:latin typeface="Patrick Hand" pitchFamily="34" charset="0"/>
                <a:ea typeface="Patrick Hand" pitchFamily="34" charset="-122"/>
                <a:cs typeface="Patrick Hand" pitchFamily="34" charset="-120"/>
              </a:rPr>
              <a:t>Future-Proof</a:t>
            </a:r>
            <a:endParaRPr lang="en-US" sz="1850" dirty="0"/>
          </a:p>
        </p:txBody>
      </p:sp>
      <p:sp>
        <p:nvSpPr>
          <p:cNvPr id="9" name="Text 7"/>
          <p:cNvSpPr/>
          <p:nvPr/>
        </p:nvSpPr>
        <p:spPr>
          <a:xfrm>
            <a:off x="5546527" y="3875723"/>
            <a:ext cx="3537228" cy="1148358"/>
          </a:xfrm>
          <a:prstGeom prst="rect">
            <a:avLst/>
          </a:prstGeom>
          <a:noFill/>
          <a:ln/>
        </p:spPr>
        <p:txBody>
          <a:bodyPr wrap="square" lIns="0" tIns="0" rIns="0" bIns="0" rtlCol="0" anchor="t"/>
          <a:lstStyle/>
          <a:p>
            <a:pPr marL="0" indent="0" algn="l">
              <a:lnSpc>
                <a:spcPts val="3000"/>
              </a:lnSpc>
              <a:buNone/>
            </a:pPr>
            <a:r>
              <a:rPr lang="en-US" sz="1850" dirty="0">
                <a:solidFill>
                  <a:srgbClr val="383838"/>
                </a:solidFill>
                <a:latin typeface="Patrick Hand" pitchFamily="34" charset="0"/>
                <a:ea typeface="Patrick Hand" pitchFamily="34" charset="-122"/>
                <a:cs typeface="Patrick Hand" pitchFamily="34" charset="-120"/>
              </a:rPr>
              <a:t>As mobile and cloud-based email usage continues growing, IMAP's advantages become increasingly valuable.</a:t>
            </a:r>
            <a:endParaRPr lang="en-US" sz="1850" dirty="0"/>
          </a:p>
        </p:txBody>
      </p:sp>
      <p:sp>
        <p:nvSpPr>
          <p:cNvPr id="10" name="Shape 8"/>
          <p:cNvSpPr/>
          <p:nvPr/>
        </p:nvSpPr>
        <p:spPr>
          <a:xfrm>
            <a:off x="9592508" y="3162300"/>
            <a:ext cx="4077891" cy="2514957"/>
          </a:xfrm>
          <a:prstGeom prst="roundRect">
            <a:avLst>
              <a:gd name="adj" fmla="val 4008"/>
            </a:avLst>
          </a:prstGeom>
          <a:solidFill>
            <a:srgbClr val="F7F7F7"/>
          </a:solidFill>
          <a:ln w="30480">
            <a:solidFill>
              <a:srgbClr val="CCCCCC"/>
            </a:solidFill>
            <a:prstDash val="solid"/>
          </a:ln>
        </p:spPr>
        <p:txBody>
          <a:bodyPr/>
          <a:lstStyle/>
          <a:p>
            <a:endParaRPr lang="en-US"/>
          </a:p>
        </p:txBody>
      </p:sp>
      <p:sp>
        <p:nvSpPr>
          <p:cNvPr id="11" name="Text 9"/>
          <p:cNvSpPr/>
          <p:nvPr/>
        </p:nvSpPr>
        <p:spPr>
          <a:xfrm>
            <a:off x="9862899" y="3432691"/>
            <a:ext cx="2399824" cy="300038"/>
          </a:xfrm>
          <a:prstGeom prst="rect">
            <a:avLst/>
          </a:prstGeom>
          <a:noFill/>
          <a:ln/>
        </p:spPr>
        <p:txBody>
          <a:bodyPr wrap="none" lIns="0" tIns="0" rIns="0" bIns="0" rtlCol="0" anchor="t"/>
          <a:lstStyle/>
          <a:p>
            <a:pPr marL="0" indent="0" algn="l">
              <a:lnSpc>
                <a:spcPts val="2350"/>
              </a:lnSpc>
              <a:buNone/>
            </a:pPr>
            <a:r>
              <a:rPr lang="en-US" sz="1850" dirty="0">
                <a:solidFill>
                  <a:srgbClr val="383838"/>
                </a:solidFill>
                <a:latin typeface="Patrick Hand" pitchFamily="34" charset="0"/>
                <a:ea typeface="Patrick Hand" pitchFamily="34" charset="-122"/>
                <a:cs typeface="Patrick Hand" pitchFamily="34" charset="-120"/>
              </a:rPr>
              <a:t>Versatile Solution</a:t>
            </a:r>
            <a:endParaRPr lang="en-US" sz="1850" dirty="0"/>
          </a:p>
        </p:txBody>
      </p:sp>
      <p:sp>
        <p:nvSpPr>
          <p:cNvPr id="12" name="Text 10"/>
          <p:cNvSpPr/>
          <p:nvPr/>
        </p:nvSpPr>
        <p:spPr>
          <a:xfrm>
            <a:off x="9862899" y="3875723"/>
            <a:ext cx="3537109" cy="1531144"/>
          </a:xfrm>
          <a:prstGeom prst="rect">
            <a:avLst/>
          </a:prstGeom>
          <a:noFill/>
          <a:ln/>
        </p:spPr>
        <p:txBody>
          <a:bodyPr wrap="square" lIns="0" tIns="0" rIns="0" bIns="0" rtlCol="0" anchor="t"/>
          <a:lstStyle/>
          <a:p>
            <a:pPr marL="0" indent="0" algn="l">
              <a:lnSpc>
                <a:spcPts val="3000"/>
              </a:lnSpc>
              <a:buNone/>
            </a:pPr>
            <a:r>
              <a:rPr lang="en-US" sz="1850" dirty="0">
                <a:solidFill>
                  <a:srgbClr val="383838"/>
                </a:solidFill>
                <a:latin typeface="Patrick Hand" pitchFamily="34" charset="0"/>
                <a:ea typeface="Patrick Hand" pitchFamily="34" charset="-122"/>
                <a:cs typeface="Patrick Hand" pitchFamily="34" charset="-120"/>
              </a:rPr>
              <a:t>Suitable for both personal and professional email systems, from individual Gmail accounts to enterprise email platforms.</a:t>
            </a:r>
            <a:endParaRPr lang="en-US" sz="1850" dirty="0"/>
          </a:p>
        </p:txBody>
      </p:sp>
      <p:sp>
        <p:nvSpPr>
          <p:cNvPr id="13" name="Shape 11"/>
          <p:cNvSpPr/>
          <p:nvPr/>
        </p:nvSpPr>
        <p:spPr>
          <a:xfrm>
            <a:off x="959882" y="6065270"/>
            <a:ext cx="12710636" cy="37505"/>
          </a:xfrm>
          <a:prstGeom prst="rect">
            <a:avLst/>
          </a:prstGeom>
          <a:solidFill>
            <a:srgbClr val="383838">
              <a:alpha val="50000"/>
            </a:srgbClr>
          </a:solidFill>
          <a:ln/>
        </p:spPr>
        <p:txBody>
          <a:bodyPr/>
          <a:lstStyle/>
          <a:p>
            <a:endParaRPr lang="en-US"/>
          </a:p>
        </p:txBody>
      </p:sp>
      <p:sp>
        <p:nvSpPr>
          <p:cNvPr id="14" name="Text 12"/>
          <p:cNvSpPr/>
          <p:nvPr/>
        </p:nvSpPr>
        <p:spPr>
          <a:xfrm>
            <a:off x="6983134" y="6572202"/>
            <a:ext cx="2879765" cy="359926"/>
          </a:xfrm>
          <a:prstGeom prst="rect">
            <a:avLst/>
          </a:prstGeom>
          <a:noFill/>
          <a:ln/>
        </p:spPr>
        <p:txBody>
          <a:bodyPr wrap="none" lIns="0" tIns="0" rIns="0" bIns="0" rtlCol="0" anchor="t"/>
          <a:lstStyle/>
          <a:p>
            <a:pPr marL="0" indent="0" algn="l">
              <a:lnSpc>
                <a:spcPts val="2800"/>
              </a:lnSpc>
              <a:buNone/>
            </a:pPr>
            <a:r>
              <a:rPr lang="en-US" sz="2250" dirty="0">
                <a:solidFill>
                  <a:srgbClr val="383838"/>
                </a:solidFill>
                <a:latin typeface="Patrick Hand" pitchFamily="34" charset="0"/>
                <a:ea typeface="Patrick Hand" pitchFamily="34" charset="-122"/>
                <a:cs typeface="Patrick Hand" pitchFamily="34" charset="-120"/>
              </a:rPr>
              <a:t>Thank You</a:t>
            </a:r>
            <a:endParaRPr lang="en-US" sz="2250" dirty="0"/>
          </a:p>
        </p:txBody>
      </p:sp>
      <p:sp>
        <p:nvSpPr>
          <p:cNvPr id="15" name="Text 13"/>
          <p:cNvSpPr/>
          <p:nvPr/>
        </p:nvSpPr>
        <p:spPr>
          <a:xfrm>
            <a:off x="515745" y="7312938"/>
            <a:ext cx="12710636" cy="382786"/>
          </a:xfrm>
          <a:prstGeom prst="rect">
            <a:avLst/>
          </a:prstGeom>
          <a:noFill/>
          <a:ln/>
        </p:spPr>
        <p:txBody>
          <a:bodyPr wrap="none" lIns="0" tIns="0" rIns="0" bIns="0" rtlCol="0" anchor="t"/>
          <a:lstStyle/>
          <a:p>
            <a:pPr>
              <a:lnSpc>
                <a:spcPts val="3000"/>
              </a:lnSpc>
            </a:pPr>
            <a:r>
              <a:rPr lang="en-US" sz="1850" dirty="0"/>
              <a:t>                                                                                                              </a:t>
            </a:r>
            <a:r>
              <a:rPr lang="en-US" sz="1850" dirty="0">
                <a:solidFill>
                  <a:srgbClr val="383838"/>
                </a:solidFill>
                <a:latin typeface="Patrick Hand" pitchFamily="34" charset="0"/>
                <a:ea typeface="Patrick Hand" pitchFamily="34" charset="-122"/>
                <a:cs typeface="Patrick Hand" pitchFamily="34" charset="-120"/>
              </a:rPr>
              <a:t>Any Questions?         Feedback?</a:t>
            </a:r>
            <a:endParaRPr lang="en-US" sz="1850" dirty="0"/>
          </a:p>
          <a:p>
            <a:pPr marL="0" indent="0" algn="l">
              <a:lnSpc>
                <a:spcPts val="3000"/>
              </a:lnSpc>
              <a:buNone/>
            </a:pPr>
            <a:endParaRPr lang="en-US" sz="1850" dirty="0"/>
          </a:p>
        </p:txBody>
      </p:sp>
      <p:sp>
        <p:nvSpPr>
          <p:cNvPr id="16" name="Rounded Rectangle 15">
            <a:extLst>
              <a:ext uri="{FF2B5EF4-FFF2-40B4-BE49-F238E27FC236}">
                <a16:creationId xmlns:a16="http://schemas.microsoft.com/office/drawing/2014/main" id="{D8AD9782-6FF0-C965-06D4-17F8942F2BF1}"/>
              </a:ext>
            </a:extLst>
          </p:cNvPr>
          <p:cNvSpPr/>
          <p:nvPr/>
        </p:nvSpPr>
        <p:spPr>
          <a:xfrm>
            <a:off x="12808250" y="7724775"/>
            <a:ext cx="1724297" cy="38647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1258</Words>
  <Application>Microsoft Macintosh PowerPoint</Application>
  <PresentationFormat>Custom</PresentationFormat>
  <Paragraphs>146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Patrick Hand Light</vt:lpstr>
      <vt:lpstr>Patrick Hand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Raghav Panthi [BCA - 2024]</cp:lastModifiedBy>
  <cp:revision>5</cp:revision>
  <dcterms:created xsi:type="dcterms:W3CDTF">2026-01-29T09:44:51Z</dcterms:created>
  <dcterms:modified xsi:type="dcterms:W3CDTF">2026-01-29T15:45:09Z</dcterms:modified>
</cp:coreProperties>
</file>