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69" r:id="rId26"/>
    <p:sldId id="270" r:id="rId27"/>
    <p:sldId id="271" r:id="rId28"/>
    <p:sldId id="273" r:id="rId29"/>
    <p:sldId id="274" r:id="rId30"/>
    <p:sldId id="275" r:id="rId31"/>
    <p:sldId id="276" r:id="rId32"/>
    <p:sldId id="277" r:id="rId33"/>
    <p:sldId id="294" r:id="rId34"/>
    <p:sldId id="295" r:id="rId35"/>
    <p:sldId id="296" r:id="rId36"/>
    <p:sldId id="289" r:id="rId37"/>
    <p:sldId id="290" r:id="rId38"/>
    <p:sldId id="291" r:id="rId39"/>
    <p:sldId id="293" r:id="rId40"/>
    <p:sldId id="278" r:id="rId41"/>
    <p:sldId id="297" r:id="rId42"/>
    <p:sldId id="298" r:id="rId43"/>
    <p:sldId id="299" r:id="rId44"/>
    <p:sldId id="300" r:id="rId45"/>
    <p:sldId id="30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12105-BE74-0EFB-99FA-6719A7DE2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E71C2-B4C5-4E16-4D54-1FF8E09B7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AC2C8-B508-C7BF-D53F-469C6FC62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274B-AE01-4F11-9935-D65B65380E4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15A8A-F785-A657-9352-481CFEE3C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41C31-8524-8D06-32C2-F0040F8B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B84A-933D-4E65-8929-A2BB0D3B5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46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62D7-B0D2-D17D-2856-E8A9B1F0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9F707-B742-D414-145D-FC33C39E7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341B4-0DE9-F870-CBEC-07C81550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274B-AE01-4F11-9935-D65B65380E4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BE39F-0B2D-F339-FE77-85A535C8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FB905-5507-1251-02B3-EA315167A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B84A-933D-4E65-8929-A2BB0D3B5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0BD7-6832-1DDF-1EA1-4A5A2E7A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A1DE0-53F6-29B3-3BB5-D168DD106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0A54F-188C-9FD1-BE07-7DC93FD6E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274B-AE01-4F11-9935-D65B65380E4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8684B-D004-495C-0802-EE33805D3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4DED4-EBE7-8E60-619E-8A1955B70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B84A-933D-4E65-8929-A2BB0D3B5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575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A55EE-D877-469E-06CC-48178654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A38AC-2617-86DF-6986-83BDBE5010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41CCF-E948-F67C-1909-67700BD70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2128D-CDE2-01A8-0403-FBF96E30D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274B-AE01-4F11-9935-D65B65380E4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5E106-0452-551F-73FB-A35E64B3F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4FEF8-BE47-26A1-6336-8D799C198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B84A-933D-4E65-8929-A2BB0D3B5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88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F1EE7-9ED0-47AA-4448-C62F67C8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1AD62-D107-24B5-9B74-CE84DF23F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4F1CCC-CC57-D124-5C46-B13733FA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FCD07B-849E-68A4-BDEE-155DB5BE0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4EBCED-7AC6-08F3-E3BF-BA37BA6A7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2EA56-EA3D-DD5A-0EA7-D4CCF516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274B-AE01-4F11-9935-D65B65380E4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629ACD-B192-3EED-09F9-31D252347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E2A724-13CB-BFC1-B28D-B21A0EA89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B84A-933D-4E65-8929-A2BB0D3B5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2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9FD23-787F-E7DB-1050-1FBE6341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1F2A80-C5D6-4178-E1BC-042B84674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274B-AE01-4F11-9935-D65B65380E4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29A1D3-A18E-83DC-CF68-82546AE27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009AD2-9D89-A5A2-9426-69E8D47D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B84A-933D-4E65-8929-A2BB0D3B5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87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9A2F0-0C37-B672-0B93-859FA1FCC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274B-AE01-4F11-9935-D65B65380E4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397797-2BC4-A856-C0D5-4FAA67E18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09B84-E08A-3B15-1B8A-FEDD9FF1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B84A-933D-4E65-8929-A2BB0D3B5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96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730F-F276-CF73-AFF2-C4D67F21E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2A5B0-98BA-8603-9862-5D7E36023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280B2-C7A1-548C-6D5D-99CDC0EDA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06145-9E9E-488F-9DE3-931F6CE3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274B-AE01-4F11-9935-D65B65380E4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492AC-1D91-CB2D-5A39-7A43E0BB3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AD99D-0548-C869-F69D-090C08092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B84A-933D-4E65-8929-A2BB0D3B5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50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742F-9662-9D35-EB9D-D7F93C94D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22AF39-0470-F09D-B5A3-7BA419C30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6AF2A-A1B3-2369-8DAF-3CEF9D7C2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9BCFD-4876-C28A-B5AF-EC85C65FC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274B-AE01-4F11-9935-D65B65380E4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7EC66-8CAD-5C89-089A-8955B2DB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A87E8-899C-8AD6-DFA5-2035A876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B84A-933D-4E65-8929-A2BB0D3B5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37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9BD9A-9D1E-12FC-E6EC-677FF415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F8755-9687-72A9-47EE-EB7872F62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6808C-B175-69B5-AE79-0792FB079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274B-AE01-4F11-9935-D65B65380E4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1FF1F-DDC6-DD67-358D-C1BA07E0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411F5-0630-EDD1-A868-EAC4398BD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B84A-933D-4E65-8929-A2BB0D3B5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3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F980D-D0F7-6922-3E1A-B5F46418F0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6B3E3-869E-0006-16A0-0427DFB3F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3CFDF-5744-7ABC-2562-2629F1000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274B-AE01-4F11-9935-D65B65380E4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283D8-428D-896C-16C9-335A5885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F4D6A-0062-AD15-A868-ADA2E32C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B84A-933D-4E65-8929-A2BB0D3B5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712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DA08B-8A06-3833-2385-1FB39EB2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8250-BE84-CAA5-7822-E5553DC42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C7C8E-CE9A-DE3F-8EA1-28BD7AE0D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C274B-AE01-4F11-9935-D65B65380E4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56D1-6FDD-D2B9-1D15-6F24E0B84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23EF9-027A-5A78-205E-A15D9D211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B84A-933D-4E65-8929-A2BB0D3B5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38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baeldung.com/cs/bandwidth-packet-loss-latency-jitter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cs/security-mitm" TargetMode="External"/><Relationship Id="rId7" Type="http://schemas.openxmlformats.org/officeDocument/2006/relationships/hyperlink" Target="https://www.baeldung.com/cs/antiviruses" TargetMode="External"/><Relationship Id="rId2" Type="http://schemas.openxmlformats.org/officeDocument/2006/relationships/hyperlink" Target="https://www.baeldung.com/cs/dos-vs-ddos-attack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aeldung.com/cs/firewalls-stateless-vs-stateful" TargetMode="External"/><Relationship Id="rId5" Type="http://schemas.openxmlformats.org/officeDocument/2006/relationships/hyperlink" Target="https://www.baeldung.com/cs/ids-vs-ips" TargetMode="External"/><Relationship Id="rId4" Type="http://schemas.openxmlformats.org/officeDocument/2006/relationships/hyperlink" Target="https://www.baeldung.com/cs/dns-request-vpn#dns-leaks-and-transparent-dns-proxies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23E7-659B-FCCA-2901-B879B6B684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8FAC42-5982-6596-BA6F-A97D409AB4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3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A859DC-8E06-2816-52CD-E6D664516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035" y="824948"/>
            <a:ext cx="11083748" cy="5158409"/>
          </a:xfrm>
        </p:spPr>
      </p:pic>
    </p:spTree>
    <p:extLst>
      <p:ext uri="{BB962C8B-B14F-4D97-AF65-F5344CB8AC3E}">
        <p14:creationId xmlns:p14="http://schemas.microsoft.com/office/powerpoint/2010/main" val="113090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278FF-4959-F413-A327-1E115ABB8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Network Management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EAB70-CEA7-A906-EDD0-F9121C4F6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480930"/>
            <a:ext cx="12016409" cy="5257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management is the process of administering, operating, and maintaining computer networks.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helps ensure networks run </a:t>
            </a:r>
            <a:r>
              <a:rPr lang="en-US" b="1" dirty="0"/>
              <a:t>efficiently, securely, and reliably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 networks grow in size and complexity, effective management becomes essential.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Tools, Protocols, and Processes for Managing Computer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99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905149-02D9-206C-2A48-A4E47ECED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r>
              <a:rPr lang="en-US" b="1" dirty="0"/>
              <a:t>What is a Computer Network?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computer network connects two or more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Devices can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Computers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Servers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Routers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Mobile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Networks enable data sharing, communication, and resource access.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E05BB3-0225-EC7E-F956-10B5E4552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1712" y="0"/>
            <a:ext cx="5844210" cy="6858000"/>
          </a:xfrm>
        </p:spPr>
        <p:txBody>
          <a:bodyPr>
            <a:normAutofit/>
          </a:bodyPr>
          <a:lstStyle/>
          <a:p>
            <a:r>
              <a:rPr lang="en-US" b="1" dirty="0"/>
              <a:t>Need for Network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Growth from a few devices to hundreds or thousands increases complexity.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Enterprise networks support: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Business applications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End users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Cloud and remote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Poor management can cause: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Downtime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Security risks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Performance issues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925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2C600-ECBE-6799-449D-D808A97FE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Objectives of Network Management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 </a:t>
            </a:r>
            <a:r>
              <a:rPr lang="en-US" b="1" dirty="0"/>
              <a:t>network availability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</a:t>
            </a:r>
            <a:r>
              <a:rPr lang="en-US" b="1" dirty="0"/>
              <a:t>network performance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 </a:t>
            </a:r>
            <a:r>
              <a:rPr lang="en-US" b="1" dirty="0"/>
              <a:t>network security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</a:t>
            </a:r>
            <a:r>
              <a:rPr lang="en-US" b="1" dirty="0"/>
              <a:t>network visibility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 downtime and operational costs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1E489-ED58-A961-EA79-932A2AC20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0"/>
            <a:ext cx="6172200" cy="68580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Key Components of Network Management</a:t>
            </a:r>
          </a:p>
          <a:p>
            <a:r>
              <a:rPr lang="en-US" dirty="0"/>
              <a:t>Network management includes the following capabilities: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performance monitoring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monitoring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maintenance and troubleshooting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configuration management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provisioning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automation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005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2AC56-814D-552B-3F91-EB83DF7D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r>
              <a:rPr lang="en-US" b="1" dirty="0"/>
              <a:t>Network Performance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Measures network speed and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Bandwidth usage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Latency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Packet 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identify performance bottlenecks.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applications run smoothly.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C960C-3962-2AE1-5F5E-77F903169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0"/>
            <a:ext cx="6019798" cy="6858000"/>
          </a:xfrm>
        </p:spPr>
        <p:txBody>
          <a:bodyPr>
            <a:normAutofit/>
          </a:bodyPr>
          <a:lstStyle/>
          <a:p>
            <a:r>
              <a:rPr lang="en-US" b="1" dirty="0"/>
              <a:t>Network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Continuous observation of network devices and links.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Device failures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Traffic overload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Security threats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tools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SNMP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Network dashboards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quick response to issues.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132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60FF3-BDFD-8346-DEAD-B724E5FA8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r>
              <a:rPr lang="en-US" b="1" dirty="0"/>
              <a:t>Network Maintenance and Troubleshooting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Regular maintenance keeps the network stable.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Troubleshooting identifies and fixes problems.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activities: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Fault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Root cause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Hardware and software updates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downtime and service disruption.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66231-A1B6-02E0-4690-E6F08FB03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0"/>
            <a:ext cx="6172200" cy="6858000"/>
          </a:xfrm>
        </p:spPr>
        <p:txBody>
          <a:bodyPr>
            <a:normAutofit/>
          </a:bodyPr>
          <a:lstStyle/>
          <a:p>
            <a:r>
              <a:rPr lang="en-US" b="1" dirty="0"/>
              <a:t>Network Configuration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Manages network device configurations.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Setting IP addresses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Managing routing and switching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consistency across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in backup and recovery of configurations.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41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E08E8-5367-F6A5-3EC8-EFBC8B677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Network management infrastructure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management infrastructure refers to the </a:t>
            </a:r>
            <a:r>
              <a:rPr lang="en-US" b="1" dirty="0"/>
              <a:t>hardware, software, protocols, and people</a:t>
            </a:r>
            <a:r>
              <a:rPr lang="en-US" dirty="0"/>
              <a:t> involved in managing a network.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provides the foundation for monitoring, controlling, and optimizing network operations.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well-designed infrastructure ensures reliability, performance, and security.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D3CC2-A292-E61B-1629-00615DDF1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0"/>
            <a:ext cx="6172200" cy="6738730"/>
          </a:xfrm>
        </p:spPr>
        <p:txBody>
          <a:bodyPr>
            <a:normAutofit/>
          </a:bodyPr>
          <a:lstStyle/>
          <a:p>
            <a:r>
              <a:rPr lang="en-US" b="1" dirty="0"/>
              <a:t>Components of Network Management Infrastructure</a:t>
            </a:r>
          </a:p>
          <a:p>
            <a:r>
              <a:rPr lang="en-US" dirty="0"/>
              <a:t>The infrastructure consists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Management stations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management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Management protocols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Databases and logs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administrators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458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61CA6-C7E6-6513-4FDA-48DC66C76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788426"/>
          </a:xfrm>
        </p:spPr>
        <p:txBody>
          <a:bodyPr>
            <a:normAutofit/>
          </a:bodyPr>
          <a:lstStyle/>
          <a:p>
            <a:r>
              <a:rPr lang="en-US" b="1" dirty="0"/>
              <a:t>Network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Physical and logical components of the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Routers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Servers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Firewalls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Access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These devices generate data that is monitored and managed.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21823-0ACD-769F-535D-9A66BFD18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0"/>
            <a:ext cx="5257800" cy="6176963"/>
          </a:xfrm>
        </p:spPr>
        <p:txBody>
          <a:bodyPr>
            <a:normAutofit/>
          </a:bodyPr>
          <a:lstStyle/>
          <a:p>
            <a:r>
              <a:rPr lang="en-US" b="1" dirty="0"/>
              <a:t>Management Stations (NMS)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Central system used to manage the entire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Configuration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Fault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Runs Network Management Software.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Network Operations Center (NOC).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449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294AE-2D6B-EB51-DB85-2D307A25B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r>
              <a:rPr lang="en-US" b="1" dirty="0"/>
              <a:t>Network Management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Tools used to control and monitor network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Functions: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Performance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Fault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Security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SolarWinds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Nagios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Zabbix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PRTG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492FE-63C9-999F-9C21-3F2306451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0"/>
            <a:ext cx="5913781" cy="6689035"/>
          </a:xfrm>
        </p:spPr>
        <p:txBody>
          <a:bodyPr>
            <a:normAutofit/>
          </a:bodyPr>
          <a:lstStyle/>
          <a:p>
            <a:r>
              <a:rPr lang="en-US" b="1" dirty="0"/>
              <a:t>Network Management Protocols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communication between managed devices and management stations.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protocols: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SNMP (Simple Network Management Protocol)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NETCONF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REST APIs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ICMP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 data collection, alerts, and configuration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462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984F5-E36C-BD2F-AAE4-F8C6A5A8A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748670"/>
          </a:xfrm>
        </p:spPr>
        <p:txBody>
          <a:bodyPr/>
          <a:lstStyle/>
          <a:p>
            <a:r>
              <a:rPr lang="en-US" b="1" dirty="0"/>
              <a:t>Managed Devices and Agents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Managed devices contain </a:t>
            </a:r>
            <a:r>
              <a:rPr lang="en-US" b="1" dirty="0"/>
              <a:t>agents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Collect performance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Send alerts to NMS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Respond to management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Examples: SNMP agents on routers and switches.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A0B6E-8D3E-FF83-D6DC-4F5AFA407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799" y="0"/>
            <a:ext cx="6019799" cy="6748670"/>
          </a:xfrm>
        </p:spPr>
        <p:txBody>
          <a:bodyPr/>
          <a:lstStyle/>
          <a:p>
            <a:r>
              <a:rPr lang="en-US" b="1" dirty="0"/>
              <a:t>Management Information Base (MIB)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 that stores network management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Device statistics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Configuration details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Performance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by SNMP to retrieve and update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741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23C57-39D9-ED41-14DC-FBDA88F5D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728791"/>
          </a:xfrm>
        </p:spPr>
        <p:txBody>
          <a:bodyPr>
            <a:normAutofit/>
          </a:bodyPr>
          <a:lstStyle/>
          <a:p>
            <a:r>
              <a:rPr lang="en-US" b="1" dirty="0"/>
              <a:t>Databases and Log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historical and real-time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Event logs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Traffic logs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Security logs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Trend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Troubleshooting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Auditing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7FCDE-A1A8-1094-FFCF-918A09519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0"/>
            <a:ext cx="6172200" cy="6728791"/>
          </a:xfrm>
        </p:spPr>
        <p:txBody>
          <a:bodyPr>
            <a:normAutofit/>
          </a:bodyPr>
          <a:lstStyle/>
          <a:p>
            <a:r>
              <a:rPr lang="en-US" b="1" dirty="0"/>
              <a:t>Network Administrators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Human component of the infrastructure.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Responsibilities: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Network 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Configuration and maintenance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Security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Troubleshooting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 decisions based on collected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987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BCF8-D489-39C8-B233-786493082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698974"/>
          </a:xfrm>
        </p:spPr>
        <p:txBody>
          <a:bodyPr/>
          <a:lstStyle/>
          <a:p>
            <a:r>
              <a:rPr lang="en-US" b="1" dirty="0"/>
              <a:t>Network Management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Centralized Management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Single NMS controls all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Distributed Management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Multiple NMS systems manage different network segments.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Choice depends on network size and complexity.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CCC09-20AC-CB79-00CA-DF61EE784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0"/>
            <a:ext cx="5791200" cy="6698974"/>
          </a:xfrm>
        </p:spPr>
        <p:txBody>
          <a:bodyPr/>
          <a:lstStyle/>
          <a:p>
            <a:r>
              <a:rPr lang="en-US" b="1" dirty="0"/>
              <a:t>Security in Network Management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Secure access to management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Authentication and authorization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Encrypted protocols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Role-based access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 unauthorized network changes.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384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FF661-81B4-8DC9-17EB-311FDC13CE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99390"/>
            <a:ext cx="6019800" cy="6758609"/>
          </a:xfrm>
        </p:spPr>
        <p:txBody>
          <a:bodyPr/>
          <a:lstStyle/>
          <a:p>
            <a:r>
              <a:rPr lang="en-US" b="1" dirty="0"/>
              <a:t>Benefits of Proper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network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fault detection and resolution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performance and availability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Enhanced security and compliance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257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D7D3A-F9AE-6EC4-5FF1-E385A262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1353800" cy="695738"/>
          </a:xfrm>
        </p:spPr>
        <p:txBody>
          <a:bodyPr/>
          <a:lstStyle/>
          <a:p>
            <a:r>
              <a:rPr lang="en-US" b="1" dirty="0"/>
              <a:t>The FCAPS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68651-AEBA-2A87-7C51-A58A9D0C5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003852"/>
            <a:ext cx="12192000" cy="585414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International Organization for Standardization (ISO) released the FCAPS model in the early 1980s.</a:t>
            </a:r>
          </a:p>
          <a:p>
            <a:endParaRPr lang="en-US" dirty="0"/>
          </a:p>
          <a:p>
            <a:r>
              <a:rPr lang="en-US" dirty="0"/>
              <a:t> The main objective of creating this model was to guide the development of network management solutions and frameworks.</a:t>
            </a:r>
          </a:p>
          <a:p>
            <a:endParaRPr lang="en-US" dirty="0"/>
          </a:p>
          <a:p>
            <a:r>
              <a:rPr lang="en-US" dirty="0"/>
              <a:t>It provides a proactive, structured approach for administrators to monitor, manage, and optimize network infrastructure performance and security.</a:t>
            </a:r>
          </a:p>
          <a:p>
            <a:endParaRPr lang="en-US" dirty="0"/>
          </a:p>
          <a:p>
            <a:r>
              <a:rPr lang="en-US" dirty="0"/>
              <a:t>The FCAPS model aims to provide a guide for developers and operators on how to manage a networked environment. </a:t>
            </a:r>
          </a:p>
          <a:p>
            <a:endParaRPr lang="en-US" dirty="0"/>
          </a:p>
          <a:p>
            <a:r>
              <a:rPr lang="en-US" dirty="0"/>
              <a:t>This model approaches management holistically, defining five working levels: Fault, Configuration, Accounting, Performance, and Security.</a:t>
            </a:r>
          </a:p>
        </p:txBody>
      </p:sp>
    </p:spTree>
    <p:extLst>
      <p:ext uri="{BB962C8B-B14F-4D97-AF65-F5344CB8AC3E}">
        <p14:creationId xmlns:p14="http://schemas.microsoft.com/office/powerpoint/2010/main" val="1598199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51653-8CED-E152-44B4-7BC9E0E1B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75" y="145428"/>
            <a:ext cx="5950226" cy="66032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Fault Management</a:t>
            </a:r>
          </a:p>
          <a:p>
            <a:r>
              <a:rPr lang="en-US" dirty="0"/>
              <a:t>In a network, it is not unusual for faults happening.</a:t>
            </a:r>
          </a:p>
          <a:p>
            <a:endParaRPr lang="en-US" dirty="0"/>
          </a:p>
          <a:p>
            <a:r>
              <a:rPr lang="en-US" dirty="0"/>
              <a:t> Faults will eventually occur, even adopting several preventive actions against them.</a:t>
            </a:r>
          </a:p>
          <a:p>
            <a:endParaRPr lang="en-US" dirty="0"/>
          </a:p>
          <a:p>
            <a:r>
              <a:rPr lang="en-US" dirty="0"/>
              <a:t> In this way, fault management in FCAPS aims to detect these faults and mitigate their consequences, in addition to recovering the networked system.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92A92-299F-2128-A3F4-E6B3AB3CE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1" y="258417"/>
            <a:ext cx="5333999" cy="5918546"/>
          </a:xfrm>
        </p:spPr>
        <p:txBody>
          <a:bodyPr>
            <a:normAutofit/>
          </a:bodyPr>
          <a:lstStyle/>
          <a:p>
            <a:r>
              <a:rPr lang="en-US" b="1" dirty="0"/>
              <a:t>To deal with faults, the FCAPS model proposes a five-step cycled workflow: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D18325-0D80-7109-1203-B7ADF06B7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77278"/>
            <a:ext cx="4953000" cy="335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70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C457-46DF-2F93-DE36-2EC85E483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1" y="0"/>
            <a:ext cx="12056165" cy="6927574"/>
          </a:xfrm>
        </p:spPr>
        <p:txBody>
          <a:bodyPr>
            <a:normAutofit/>
          </a:bodyPr>
          <a:lstStyle/>
          <a:p>
            <a:r>
              <a:rPr lang="en-US" dirty="0"/>
              <a:t>In the fault management workflow, detection means the ability to identify that something goes wrong in the system. </a:t>
            </a:r>
          </a:p>
          <a:p>
            <a:endParaRPr lang="en-US" dirty="0"/>
          </a:p>
          <a:p>
            <a:r>
              <a:rPr lang="en-US" dirty="0"/>
              <a:t>Based on the detection, the next step consists of verifying the part of the system affected by the detected fault, which we call diagnosis and isolation. </a:t>
            </a:r>
          </a:p>
          <a:p>
            <a:endParaRPr lang="en-US" dirty="0"/>
          </a:p>
          <a:p>
            <a:r>
              <a:rPr lang="en-US" dirty="0"/>
              <a:t>Thus, potential problems and consequences of the fault are measured in the step called correlation and aggregation.</a:t>
            </a:r>
          </a:p>
          <a:p>
            <a:r>
              <a:rPr lang="en-US" dirty="0"/>
              <a:t>After that, the developers and operators can start working on mitigating and solving the problem, making the system fully functional. </a:t>
            </a:r>
          </a:p>
          <a:p>
            <a:r>
              <a:rPr lang="en-US" dirty="0"/>
              <a:t>We call this step restoration. </a:t>
            </a:r>
          </a:p>
          <a:p>
            <a:endParaRPr lang="en-US" dirty="0"/>
          </a:p>
          <a:p>
            <a:r>
              <a:rPr lang="en-US" dirty="0"/>
              <a:t>Finally, in the resolution step, the system is checked to confirm that the fault got fixed.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858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411D-7044-CD6B-7198-E571E0D58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452"/>
            <a:ext cx="12192000" cy="993913"/>
          </a:xfrm>
        </p:spPr>
        <p:txBody>
          <a:bodyPr>
            <a:normAutofit fontScale="90000"/>
          </a:bodyPr>
          <a:lstStyle/>
          <a:p>
            <a:r>
              <a:rPr lang="en-US" dirty="0"/>
              <a:t>3.Configuration management deals with hardware and software: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60ACF-1DDD-8BB9-244A-BC435DC94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172817"/>
            <a:ext cx="6698974" cy="5804453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On the hardware side, for example, we have inventory management that comprises all the machinery available for a networked system. </a:t>
            </a:r>
          </a:p>
          <a:p>
            <a:pPr algn="just"/>
            <a:r>
              <a:rPr lang="en-US" dirty="0"/>
              <a:t>Also, we have allocation management refereeing to the best physical placement of hardware resources and upgrading and scaling management to provide the proper amount of computational resources for the networked system.</a:t>
            </a:r>
          </a:p>
          <a:p>
            <a:pPr algn="just"/>
            <a:r>
              <a:rPr lang="en-US" dirty="0"/>
              <a:t>On the software side, we should attempt to find the best hardware machine for running the required programs regarding execution support and performance. </a:t>
            </a:r>
          </a:p>
          <a:p>
            <a:pPr algn="just"/>
            <a:r>
              <a:rPr lang="en-US" dirty="0"/>
              <a:t>Moreover, operators should manage the running software versioning, keeping it updated. </a:t>
            </a:r>
          </a:p>
          <a:p>
            <a:pPr algn="just"/>
            <a:r>
              <a:rPr lang="en-US" dirty="0"/>
              <a:t>Finally, configuring the system also includes defining which operators will have access to each part of it.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BBCB2E-F899-8A32-BF32-C6999B9D77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911548" y="2097158"/>
            <a:ext cx="4280452" cy="3180520"/>
          </a:xfrm>
        </p:spPr>
      </p:pic>
    </p:spTree>
    <p:extLst>
      <p:ext uri="{BB962C8B-B14F-4D97-AF65-F5344CB8AC3E}">
        <p14:creationId xmlns:p14="http://schemas.microsoft.com/office/powerpoint/2010/main" val="1506276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1901B-76C0-25D5-2AF8-47279285C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1" y="0"/>
            <a:ext cx="6609521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Accounting Management</a:t>
            </a:r>
          </a:p>
          <a:p>
            <a:r>
              <a:rPr lang="en-US" b="1" dirty="0"/>
              <a:t>Accounting management aims to optimize the distribution of resources among the network clients.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Thus, we can understand accounting management as administrative tasks involving network managers, operators, and clients.</a:t>
            </a:r>
          </a:p>
          <a:p>
            <a:endParaRPr lang="en-US" dirty="0"/>
          </a:p>
          <a:p>
            <a:r>
              <a:rPr lang="en-US" dirty="0"/>
              <a:t>The following figure depicts, on a high level, some tasks of accounting management: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32FF50-B1FE-3539-B66A-3F17D2420E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09521" y="2305878"/>
            <a:ext cx="5406887" cy="3061251"/>
          </a:xfrm>
        </p:spPr>
      </p:pic>
    </p:spTree>
    <p:extLst>
      <p:ext uri="{BB962C8B-B14F-4D97-AF65-F5344CB8AC3E}">
        <p14:creationId xmlns:p14="http://schemas.microsoft.com/office/powerpoint/2010/main" val="23656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59482-4DF2-7B34-4A75-8021C052E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7287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particular task of accounting management is creating an inventory of all available network resources.</a:t>
            </a:r>
          </a:p>
          <a:p>
            <a:endParaRPr lang="en-US" dirty="0"/>
          </a:p>
          <a:p>
            <a:r>
              <a:rPr lang="en-US" dirty="0"/>
              <a:t> In this way, while routines executed in configuration management update the machinery in this inventory, the accounting management focuses on updating the inventory itself.</a:t>
            </a:r>
          </a:p>
          <a:p>
            <a:endParaRPr lang="en-US" dirty="0"/>
          </a:p>
          <a:p>
            <a:r>
              <a:rPr lang="en-US" dirty="0"/>
              <a:t>Accounting management also works on billing management.</a:t>
            </a:r>
          </a:p>
          <a:p>
            <a:endParaRPr lang="en-US" dirty="0"/>
          </a:p>
          <a:p>
            <a:r>
              <a:rPr lang="en-US" dirty="0"/>
              <a:t> So, to do that, operators and managers typically generate statistics on clients’ registers, their network usage, and the impact of different network usage profiles.</a:t>
            </a:r>
          </a:p>
          <a:p>
            <a:endParaRPr lang="en-US" dirty="0"/>
          </a:p>
          <a:p>
            <a:r>
              <a:rPr lang="en-US" dirty="0"/>
              <a:t>Finally, it is also a task of accounting management to determine the proper permissions and access rights of each client in the network.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979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C294AB-4D5C-9C36-AF9F-BD635890FA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7176052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Performance Management</a:t>
            </a:r>
          </a:p>
          <a:p>
            <a:r>
              <a:rPr lang="en-US" b="1" dirty="0"/>
              <a:t>As the name suggests, performance management works on monitoring and trying to improve the overall performance of a network. </a:t>
            </a:r>
          </a:p>
          <a:p>
            <a:endParaRPr lang="en-US" b="1" dirty="0"/>
          </a:p>
          <a:p>
            <a:r>
              <a:rPr lang="en-US" dirty="0"/>
              <a:t>We can see </a:t>
            </a:r>
            <a:r>
              <a:rPr lang="en-US" dirty="0">
                <a:hlinkClick r:id="rId2"/>
              </a:rPr>
              <a:t>performance improvements in different manners</a:t>
            </a:r>
            <a:r>
              <a:rPr lang="en-US" dirty="0"/>
              <a:t>, such as maximizing throughput, minimizing latency, and avoiding bottlenecks.</a:t>
            </a:r>
          </a:p>
          <a:p>
            <a:endParaRPr lang="en-US" dirty="0"/>
          </a:p>
          <a:p>
            <a:r>
              <a:rPr lang="en-US" dirty="0"/>
              <a:t>The next figure show some usual monitoring routines and performance improvement actions of performance management: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EED762-C795-3189-C37B-E430DD70F2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17634" y="2564296"/>
            <a:ext cx="5148470" cy="2502428"/>
          </a:xfrm>
        </p:spPr>
      </p:pic>
    </p:spTree>
    <p:extLst>
      <p:ext uri="{BB962C8B-B14F-4D97-AF65-F5344CB8AC3E}">
        <p14:creationId xmlns:p14="http://schemas.microsoft.com/office/powerpoint/2010/main" val="3123398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5F1F11-357D-C4B2-9562-D49406266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778487"/>
          </a:xfrm>
        </p:spPr>
        <p:txBody>
          <a:bodyPr/>
          <a:lstStyle/>
          <a:p>
            <a:r>
              <a:rPr lang="en-US" dirty="0"/>
              <a:t>The central objective of performance management is improving the provided quality of service and experience for the clients.</a:t>
            </a:r>
          </a:p>
          <a:p>
            <a:endParaRPr lang="en-US" dirty="0"/>
          </a:p>
          <a:p>
            <a:r>
              <a:rPr lang="en-US" dirty="0"/>
              <a:t> But, more than that, performance management enables the managers and operators to understand the network necessities as the number of clients grows or decreases or the service level agreements change.</a:t>
            </a:r>
          </a:p>
        </p:txBody>
      </p:sp>
    </p:spTree>
    <p:extLst>
      <p:ext uri="{BB962C8B-B14F-4D97-AF65-F5344CB8AC3E}">
        <p14:creationId xmlns:p14="http://schemas.microsoft.com/office/powerpoint/2010/main" val="916335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DE63C-43BA-DB4D-4330-7AE18B539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778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5.Security Management</a:t>
            </a:r>
          </a:p>
          <a:p>
            <a:pPr algn="just"/>
            <a:r>
              <a:rPr lang="en-US" b="1" dirty="0"/>
              <a:t>The main idea of security management is controlling the access to the resources and equipment of a network, mainly the sensitive ones.</a:t>
            </a:r>
          </a:p>
          <a:p>
            <a:pPr algn="just"/>
            <a:r>
              <a:rPr lang="en-US" b="1" dirty="0"/>
              <a:t> </a:t>
            </a:r>
            <a:r>
              <a:rPr lang="en-US" dirty="0"/>
              <a:t>By avoiding improper accesses and modifications in the network, the operators and managers both keep the network active and the clients secure.</a:t>
            </a:r>
          </a:p>
          <a:p>
            <a:pPr algn="just"/>
            <a:r>
              <a:rPr lang="en-US" dirty="0"/>
              <a:t>Examples of typical attacks that may occur in a network are </a:t>
            </a:r>
            <a:r>
              <a:rPr lang="en-US" dirty="0">
                <a:hlinkClick r:id="rId2"/>
              </a:rPr>
              <a:t>denial of service</a:t>
            </a:r>
            <a:r>
              <a:rPr lang="en-US" dirty="0"/>
              <a:t>, </a:t>
            </a:r>
            <a:r>
              <a:rPr lang="en-US" dirty="0">
                <a:hlinkClick r:id="rId3"/>
              </a:rPr>
              <a:t>man-in-the-middle</a:t>
            </a:r>
            <a:r>
              <a:rPr lang="en-US" dirty="0"/>
              <a:t>, </a:t>
            </a:r>
            <a:r>
              <a:rPr lang="en-US" dirty="0">
                <a:hlinkClick r:id="rId4"/>
              </a:rPr>
              <a:t>and DNS poisoning</a:t>
            </a:r>
            <a:r>
              <a:rPr lang="en-US" dirty="0"/>
              <a:t>, among others.</a:t>
            </a:r>
          </a:p>
          <a:p>
            <a:pPr algn="just"/>
            <a:r>
              <a:rPr lang="en-US" dirty="0"/>
              <a:t>Security management starts in the core network itself. Relevant actions to securing a network consist of deploying network functions tailored to identify and mitigate attacks.</a:t>
            </a:r>
          </a:p>
          <a:p>
            <a:pPr algn="just"/>
            <a:r>
              <a:rPr lang="en-US" dirty="0"/>
              <a:t>Security function examples are </a:t>
            </a:r>
            <a:r>
              <a:rPr lang="en-US" dirty="0">
                <a:hlinkClick r:id="rId5"/>
              </a:rPr>
              <a:t>intrusion detection and prevention systems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firewalls</a:t>
            </a:r>
            <a:r>
              <a:rPr lang="en-US" dirty="0"/>
              <a:t>, </a:t>
            </a:r>
            <a:r>
              <a:rPr lang="en-US" dirty="0">
                <a:hlinkClick r:id="rId7"/>
              </a:rPr>
              <a:t>antivirus</a:t>
            </a:r>
            <a:r>
              <a:rPr lang="en-US" dirty="0"/>
              <a:t>, etc. The figure below shows a deployment of these functions in a simple network: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86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7FFBEA-F1BC-84D3-EAC7-91113CCFA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8843"/>
            <a:ext cx="12026348" cy="6530009"/>
          </a:xfrm>
        </p:spPr>
      </p:pic>
    </p:spTree>
    <p:extLst>
      <p:ext uri="{BB962C8B-B14F-4D97-AF65-F5344CB8AC3E}">
        <p14:creationId xmlns:p14="http://schemas.microsoft.com/office/powerpoint/2010/main" val="1750676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0020F-76E5-927B-065E-579F338DA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59027"/>
            <a:ext cx="11897139" cy="924338"/>
          </a:xfrm>
        </p:spPr>
        <p:txBody>
          <a:bodyPr/>
          <a:lstStyle/>
          <a:p>
            <a:r>
              <a:rPr lang="en-US" b="1" dirty="0"/>
              <a:t>Virtual Private Network (VPN)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3E369-6A60-CEEC-2C6F-F8768D98B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452" y="1262270"/>
            <a:ext cx="5930348" cy="5367129"/>
          </a:xfrm>
        </p:spPr>
        <p:txBody>
          <a:bodyPr>
            <a:normAutofit/>
          </a:bodyPr>
          <a:lstStyle/>
          <a:p>
            <a:r>
              <a:rPr lang="en-US" b="1" dirty="0"/>
              <a:t>VPN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Virtual Private Network (VPN)</a:t>
            </a:r>
            <a:r>
              <a:rPr lang="en-US" dirty="0"/>
              <a:t> is a technology that creates a </a:t>
            </a:r>
            <a:r>
              <a:rPr lang="en-US" b="1" dirty="0"/>
              <a:t>secure and encrypted connection</a:t>
            </a:r>
            <a:r>
              <a:rPr lang="en-US" dirty="0"/>
              <a:t> over a public network such as the Internet.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allows users to send and receive data as if their device were directly connected to a private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VPNs are widely used for </a:t>
            </a:r>
            <a:r>
              <a:rPr lang="en-US" b="1" dirty="0"/>
              <a:t>secure communication, privacy, and remote access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39596-E4B9-0835-0767-8D8952A8F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451113"/>
            <a:ext cx="5605668" cy="5178286"/>
          </a:xfrm>
        </p:spPr>
        <p:txBody>
          <a:bodyPr>
            <a:normAutofit/>
          </a:bodyPr>
          <a:lstStyle/>
          <a:p>
            <a:r>
              <a:rPr lang="en-US" b="1" dirty="0"/>
              <a:t>Why VPN is Needed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Public networks (Internet, public Wi-Fi) are not secure.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VPN protects: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Confidential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identity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Network resources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use cases: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Remote 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Secure business communication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Accessing private network resources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601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F301F-24A6-98B4-D228-2B5170B4C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r>
              <a:rPr lang="en-US" b="1" dirty="0"/>
              <a:t>How VPN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VPN creates a </a:t>
            </a:r>
            <a:r>
              <a:rPr lang="en-US" b="1" dirty="0"/>
              <a:t>secure tunnel</a:t>
            </a:r>
            <a:r>
              <a:rPr lang="en-US" dirty="0"/>
              <a:t> between the user and the VPN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Encrypted</a:t>
            </a:r>
            <a:r>
              <a:rPr lang="en-US" dirty="0"/>
              <a:t> before transmission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Decrypted</a:t>
            </a:r>
            <a:r>
              <a:rPr lang="en-US" dirty="0"/>
              <a:t> at the destination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user’s IP address is hidden and replaced by the VPN server’s IP.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1971C-BC24-4541-05E7-425B448E1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0"/>
            <a:ext cx="5940287" cy="6768548"/>
          </a:xfrm>
        </p:spPr>
        <p:txBody>
          <a:bodyPr>
            <a:normAutofit/>
          </a:bodyPr>
          <a:lstStyle/>
          <a:p>
            <a:r>
              <a:rPr lang="en-US" b="1" dirty="0"/>
              <a:t>Key Components of VPN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VPN Client</a:t>
            </a:r>
            <a:r>
              <a:rPr lang="en-US" dirty="0"/>
              <a:t> – Software on the user device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VPN Server</a:t>
            </a:r>
            <a:r>
              <a:rPr lang="en-US" dirty="0"/>
              <a:t> – Authenticates users and manages connections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Encryption Protocols</a:t>
            </a:r>
            <a:r>
              <a:rPr lang="en-US" dirty="0"/>
              <a:t> – Secure data transfer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Authentication Mechanism</a:t>
            </a:r>
            <a:r>
              <a:rPr lang="en-US" dirty="0"/>
              <a:t> – Verifies user identity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Tunneling Protocol</a:t>
            </a:r>
            <a:r>
              <a:rPr lang="en-US" dirty="0"/>
              <a:t> – Creates secure path for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397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B6B5D-3696-F78B-D80E-1DD210ADE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74867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Types of VPN</a:t>
            </a:r>
          </a:p>
          <a:p>
            <a:r>
              <a:rPr lang="en-US" b="1" dirty="0"/>
              <a:t>1. Remote Access VPN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Allows individual users to connect to a private network remotely.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for employees working from home.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Employee connecting to company network.</a:t>
            </a:r>
          </a:p>
          <a:p>
            <a:r>
              <a:rPr lang="en-US" b="1" dirty="0"/>
              <a:t>2. Site-to-Site VPN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Connects two or more networks securely.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by organizations with multiple branches.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Head office ↔ Branch office.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4E29A-F84A-09DF-B2A6-4435B63DC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39148"/>
            <a:ext cx="6019798" cy="671885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VPN Tunneling Protocols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PPTP (Point-to-Point Tunneling Protocol)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Fast but less secure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L2TP (Layer 2 Tunneling Protocol)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More secure when combined with IPsec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IPsec (Internet Protocol Security)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Strong security, widely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SSL/TLS VPN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Uses web browsers, flexible and secure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OpenVPN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Open-source, highly secure and reliable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7229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51EC-6F4E-57A8-0C56-F4E5B3B44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48" y="1"/>
            <a:ext cx="12052852" cy="109330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Firewall in Computer Network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F5C1F-58A9-ECF4-D646-263AC19A2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282148"/>
            <a:ext cx="6019800" cy="5575852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A firewall is a network security system, available as hardware or software, that monitors and controls incoming and outgoing traffic based on predefined rules.</a:t>
            </a:r>
          </a:p>
          <a:p>
            <a:pPr rtl="0"/>
            <a:r>
              <a:rPr lang="en-US" dirty="0"/>
              <a:t> It acts like a security guard, filtering data packets to either: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Accept:</a:t>
            </a:r>
            <a:r>
              <a:rPr lang="en-US" dirty="0"/>
              <a:t> Allow the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Reject:</a:t>
            </a:r>
            <a:r>
              <a:rPr lang="en-US" dirty="0"/>
              <a:t> Block with an error response.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Drop: </a:t>
            </a:r>
            <a:r>
              <a:rPr lang="en-US" dirty="0"/>
              <a:t>Block silently without response.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9A1A2CD-23CE-9B49-C556-05D8E7D9B1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361043" y="2097157"/>
            <a:ext cx="5516217" cy="3518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5153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9661D-690C-D4F1-99C8-17E735D3B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>
                <a:effectLst/>
              </a:rPr>
              <a:t>Importance of Firewalls</a:t>
            </a:r>
          </a:p>
          <a:p>
            <a:pPr rtl="0"/>
            <a:r>
              <a:rPr lang="en-US" dirty="0"/>
              <a:t>A firewall is the first line of defense in cybersecurity, acting as a security barrier between internal systems and external networks. </a:t>
            </a:r>
          </a:p>
          <a:p>
            <a:pPr rtl="0"/>
            <a:r>
              <a:rPr lang="en-US" dirty="0"/>
              <a:t>It forces all traffic through a single checkpoint, where data packets are monitored, filtered, and either allowed or blocked based on predefined rules. Firewalls are essential because they: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Prevent Unauthorized Access: </a:t>
            </a:r>
            <a:r>
              <a:rPr lang="en-US" dirty="0"/>
              <a:t>Like a locked door with a guard, only trusted users and traffic are allowed through.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Block Malicious Traffic:</a:t>
            </a:r>
            <a:r>
              <a:rPr lang="en-US" dirty="0"/>
              <a:t> Harmful data such as viruses, phishing attempts, or denial-of-service (DoS) attacks are stopped before reaching the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Protect Sensitive Information:</a:t>
            </a:r>
            <a:r>
              <a:rPr lang="en-US" dirty="0"/>
              <a:t> Safeguards personal and business data from theft or accidental leaks.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Control Network Usage:</a:t>
            </a:r>
            <a:r>
              <a:rPr lang="en-US" dirty="0"/>
              <a:t> Enforces policies such as parental controls, workplace restrictions, or government filtering.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Mitigate Insider Risks:</a:t>
            </a:r>
            <a:r>
              <a:rPr lang="en-US" dirty="0"/>
              <a:t> Detects suspicious applications or data exfiltration attempts from within the network.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831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E1B6A-C49D-6680-E0AE-B654E0C5F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788426"/>
          </a:xfrm>
        </p:spPr>
        <p:txBody>
          <a:bodyPr>
            <a:normAutofit fontScale="92500" lnSpcReduction="10000"/>
          </a:bodyPr>
          <a:lstStyle/>
          <a:p>
            <a:pPr rtl="0"/>
            <a:r>
              <a:rPr lang="en-US" dirty="0"/>
              <a:t>By combining prevention, monitoring, and control, firewalls provide customizable and comprehensive protection against both external and internal threats.</a:t>
            </a:r>
          </a:p>
          <a:p>
            <a:pPr algn="l"/>
            <a:r>
              <a:rPr lang="en-US" b="1" dirty="0">
                <a:effectLst/>
              </a:rPr>
              <a:t>Working of Firewall</a:t>
            </a:r>
          </a:p>
          <a:p>
            <a:pPr rtl="0"/>
            <a:r>
              <a:rPr lang="en-US" dirty="0"/>
              <a:t>A firewall inspects all incoming and outgoing traffic and decide whether to allow or block it.</a:t>
            </a:r>
          </a:p>
          <a:p>
            <a:pPr>
              <a:buFont typeface="+mj-lt"/>
              <a:buAutoNum type="arabicPeriod"/>
            </a:pPr>
            <a:r>
              <a:rPr lang="en-US" dirty="0"/>
              <a:t>All data packets entering or leaving the network must first pass through the firewall.</a:t>
            </a:r>
          </a:p>
          <a:p>
            <a:pPr>
              <a:buFont typeface="+mj-lt"/>
              <a:buAutoNum type="arabicPeriod" startAt="2"/>
            </a:pPr>
            <a:r>
              <a:rPr lang="en-US" dirty="0"/>
              <a:t>The firewall examines each packet against predefined security rules set by the organization.</a:t>
            </a:r>
          </a:p>
          <a:p>
            <a:pPr>
              <a:buFont typeface="+mj-lt"/>
              <a:buAutoNum type="arabicPeriod" startAt="3"/>
            </a:pPr>
            <a:r>
              <a:rPr lang="en-US" dirty="0"/>
              <a:t>If the packet matches safe rules, it is allowed; if it is suspicious, blacklisted, or contains malicious content, it is blocked.</a:t>
            </a:r>
          </a:p>
          <a:p>
            <a:pPr>
              <a:buFont typeface="+mj-lt"/>
              <a:buAutoNum type="arabicPeriod" startAt="4"/>
            </a:pPr>
            <a:r>
              <a:rPr lang="en-US" dirty="0"/>
              <a:t>Blocked or unusual traffic is recorded in logs, and real-time alerts may be generated for serious threats.</a:t>
            </a:r>
          </a:p>
          <a:p>
            <a:pPr>
              <a:buFont typeface="+mj-lt"/>
              <a:buAutoNum type="arabicPeriod" startAt="5"/>
            </a:pPr>
            <a:r>
              <a:rPr lang="en-US" dirty="0"/>
              <a:t>Since it is not possible to define every rule, the firewall applies a default policy (accept, reject, or drop). </a:t>
            </a:r>
          </a:p>
          <a:p>
            <a:pPr>
              <a:buFont typeface="+mj-lt"/>
              <a:buAutoNum type="arabicPeriod" startAt="5"/>
            </a:pPr>
            <a:r>
              <a:rPr lang="en-US" dirty="0"/>
              <a:t>Setting the default policy to drop or reject is considered best practice to prevent unauthorized access.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7747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CB069-B3B0-54D1-3284-EB6DB27E6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778487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effectLst/>
              </a:rPr>
              <a:t>Types of Firewall</a:t>
            </a:r>
          </a:p>
          <a:p>
            <a:pPr algn="just" rtl="0"/>
            <a:r>
              <a:rPr lang="en-US" dirty="0">
                <a:effectLst/>
              </a:rPr>
              <a:t>Firewalls can be categorized based on their generation.</a:t>
            </a:r>
          </a:p>
          <a:p>
            <a:pPr algn="l"/>
            <a:r>
              <a:rPr lang="en-US" b="1" dirty="0">
                <a:effectLst/>
              </a:rPr>
              <a:t>1) Network Placement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Packet Filtering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Stateful Inspection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Proxy Firewall (Application Level)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Circuit-Level Gateway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Application Firewall (WAF)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Next-Generation Firewall (NGFW)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7527A-000E-D1E0-16FB-49649C13A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-1"/>
            <a:ext cx="6019798" cy="6778487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effectLst/>
              </a:rPr>
              <a:t>2) Systems Protected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Host-Based Firewall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471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DC042-DC29-539D-2884-4ED9E1759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176963"/>
          </a:xfrm>
        </p:spPr>
        <p:txBody>
          <a:bodyPr/>
          <a:lstStyle/>
          <a:p>
            <a:pPr algn="l"/>
            <a:r>
              <a:rPr lang="en-US" b="1" dirty="0">
                <a:effectLst/>
              </a:rPr>
              <a:t>3) Data Filtering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Perimeter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Internal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Distributed Firewall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79AFC-359E-C9DC-B748-BD0A66058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pPr algn="l"/>
            <a:r>
              <a:rPr lang="en-US" b="1" dirty="0">
                <a:effectLst/>
              </a:rPr>
              <a:t>4) Form Factors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Hardware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Software Firewall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380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1C20-7AC7-A736-EF11-60F510DB2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934278"/>
          </a:xfrm>
        </p:spPr>
        <p:txBody>
          <a:bodyPr/>
          <a:lstStyle/>
          <a:p>
            <a:r>
              <a:rPr lang="en-US" dirty="0" err="1"/>
              <a:t>IPSec</a:t>
            </a:r>
            <a:r>
              <a:rPr lang="en-US" dirty="0"/>
              <a:t> (Internet Protocol Security)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91F3B-0A32-C155-1857-4CE468D4E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033670"/>
            <a:ext cx="12192000" cy="582432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/>
              <a:t>IPSec</a:t>
            </a:r>
            <a:r>
              <a:rPr lang="en-US" b="1" dirty="0"/>
              <a:t> (Internet Protocol Security)</a:t>
            </a:r>
            <a:r>
              <a:rPr lang="en-US" dirty="0"/>
              <a:t> is a set of protocols used to secure communication over an IP network by authenticating and encrypting each IP packet in a communication session.</a:t>
            </a:r>
          </a:p>
          <a:p>
            <a:endParaRPr lang="en-US" dirty="0"/>
          </a:p>
          <a:p>
            <a:r>
              <a:rPr lang="en-US" dirty="0"/>
              <a:t>It works at the </a:t>
            </a:r>
            <a:r>
              <a:rPr lang="en-US" b="1" dirty="0"/>
              <a:t>Network Layer (Layer 3)</a:t>
            </a:r>
            <a:r>
              <a:rPr lang="en-US" dirty="0"/>
              <a:t> of the OSI model.</a:t>
            </a:r>
          </a:p>
          <a:p>
            <a:endParaRPr lang="en-US" dirty="0"/>
          </a:p>
          <a:p>
            <a:r>
              <a:rPr lang="en-US" dirty="0" err="1"/>
              <a:t>IPSec</a:t>
            </a:r>
            <a:r>
              <a:rPr lang="en-US" dirty="0"/>
              <a:t> is widely used in: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VPNs (Virtual Private Networks)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Site-to-Site VPN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Remote Access VPN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Secure communication between servers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2935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243CC-7BFC-889E-7D19-FE0823CAC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Objectives of </a:t>
            </a:r>
            <a:r>
              <a:rPr lang="en-US" b="1" dirty="0" err="1"/>
              <a:t>IPSec</a:t>
            </a:r>
            <a:endParaRPr lang="en-US" b="1" dirty="0"/>
          </a:p>
          <a:p>
            <a:endParaRPr lang="en-US" b="1" dirty="0"/>
          </a:p>
          <a:p>
            <a:r>
              <a:rPr lang="en-US" dirty="0" err="1"/>
              <a:t>IPSec</a:t>
            </a:r>
            <a:r>
              <a:rPr lang="en-US" dirty="0"/>
              <a:t> provides the following security services: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Confidentiality</a:t>
            </a:r>
            <a:r>
              <a:rPr lang="en-US" dirty="0"/>
              <a:t> – Encrypts data so unauthorized users cannot read it.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Integrity</a:t>
            </a:r>
            <a:r>
              <a:rPr lang="en-US" dirty="0"/>
              <a:t> – Ensures data is not modified during transmission.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Authentication</a:t>
            </a:r>
            <a:r>
              <a:rPr lang="en-US" dirty="0"/>
              <a:t> – Verifies the identity of the sender.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Anti-replay protection</a:t>
            </a:r>
            <a:r>
              <a:rPr lang="en-US" dirty="0"/>
              <a:t> – Prevents attackers from reusing captured packets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ED975-76FF-586F-A9FF-31E25387E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9209"/>
            <a:ext cx="5933661" cy="66294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IPSec</a:t>
            </a:r>
            <a:r>
              <a:rPr lang="en-US" b="1" dirty="0"/>
              <a:t> Protocols</a:t>
            </a:r>
          </a:p>
          <a:p>
            <a:r>
              <a:rPr lang="en-US" dirty="0" err="1"/>
              <a:t>IPSec</a:t>
            </a:r>
            <a:r>
              <a:rPr lang="en-US" dirty="0"/>
              <a:t> uses two main protocols:</a:t>
            </a:r>
          </a:p>
          <a:p>
            <a:endParaRPr lang="en-US" dirty="0"/>
          </a:p>
          <a:p>
            <a:r>
              <a:rPr lang="en-US" b="1" dirty="0"/>
              <a:t>A. Authentication Header (AH)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authentication and integrity.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Does NOT provide encryption.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Protects against packet modification.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Adds a header to the IP packet.</a:t>
            </a:r>
          </a:p>
          <a:p>
            <a:r>
              <a:rPr lang="en-US" b="1" dirty="0"/>
              <a:t>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message integrity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sender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Protects against replay attacks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629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37D75-0A51-DED2-93B0-2294C7674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B. Encapsulating Security Payload (ESP)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encryption + authentication.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commonly used </a:t>
            </a:r>
            <a:r>
              <a:rPr lang="en-US" dirty="0" err="1"/>
              <a:t>IPSec</a:t>
            </a:r>
            <a:r>
              <a:rPr lang="en-US" dirty="0"/>
              <a:t> protocol.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Protects confidentiality, integrity, and authentication.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Encrypts payload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integrity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anti-replay protection</a:t>
            </a:r>
          </a:p>
          <a:p>
            <a:r>
              <a:rPr lang="en-US" dirty="0"/>
              <a:t>ESP is widely used in VPN implementations.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491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B92E-3678-E458-DCE8-E0CD0A940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Approach of Network Security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9D4E9-A0AD-61FD-6FDC-F2368174E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825625"/>
            <a:ext cx="6019800" cy="483359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layered approach of network security</a:t>
            </a:r>
            <a:r>
              <a:rPr lang="en-US" dirty="0"/>
              <a:t>, also called </a:t>
            </a:r>
            <a:r>
              <a:rPr lang="en-US" b="1" dirty="0"/>
              <a:t>Defense in Depth</a:t>
            </a:r>
            <a:r>
              <a:rPr lang="en-US" dirty="0"/>
              <a:t>, is a strategy where multiple security controls are placed at different layers of a network to protect data and systems.</a:t>
            </a:r>
          </a:p>
          <a:p>
            <a:endParaRPr lang="en-US" dirty="0"/>
          </a:p>
          <a:p>
            <a:r>
              <a:rPr lang="en-US" dirty="0"/>
              <a:t>If one security layer fails, other layers continue to provide protection.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B7B9D-9D92-3D0D-F631-8F7D3F6D5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620078"/>
            <a:ext cx="5864085" cy="503913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1. Physical Layer Security</a:t>
            </a:r>
          </a:p>
          <a:p>
            <a:r>
              <a:rPr lang="en-US" dirty="0"/>
              <a:t>Protects hardware and physical infrastructure.</a:t>
            </a:r>
          </a:p>
          <a:p>
            <a:r>
              <a:rPr lang="en-US" b="1" dirty="0"/>
              <a:t>Measures: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CCTV surveillance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Biometric or ID card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Locked server rooms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guards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Environmental controls (fire alarms, temperature control)</a:t>
            </a:r>
          </a:p>
          <a:p>
            <a:r>
              <a:rPr lang="en-US" b="1" dirty="0"/>
              <a:t>Purpose:</a:t>
            </a:r>
            <a:r>
              <a:rPr lang="en-US" dirty="0"/>
              <a:t> Prevent unauthorized physical access to network devices and servers.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838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D012A-2A59-9C87-2683-F32DDA5E0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17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Perimeter Security (Network Edge)</a:t>
            </a:r>
          </a:p>
          <a:p>
            <a:r>
              <a:rPr lang="en-US" dirty="0"/>
              <a:t>Protects the boundary between internal network and external networks (Internet).</a:t>
            </a:r>
          </a:p>
          <a:p>
            <a:r>
              <a:rPr lang="en-US" b="1" dirty="0"/>
              <a:t>Measures: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Firewalls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Proxy servers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Intrusion Detection Systems (IDS)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Intrusion Prevention Systems (IPS)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VPN gateways</a:t>
            </a:r>
          </a:p>
          <a:p>
            <a:r>
              <a:rPr lang="en-US" b="1" dirty="0"/>
              <a:t>Purpose:</a:t>
            </a:r>
            <a:r>
              <a:rPr lang="en-US" dirty="0"/>
              <a:t> Block unauthorized external access and filter incoming/outgoing traffic.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CCF83-8C9C-268F-B554-9E88722FB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0"/>
            <a:ext cx="5874024" cy="6599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Network Layer Security</a:t>
            </a:r>
          </a:p>
          <a:p>
            <a:r>
              <a:rPr lang="en-US" dirty="0"/>
              <a:t>Secures internal network traffic.</a:t>
            </a:r>
          </a:p>
          <a:p>
            <a:r>
              <a:rPr lang="en-US" b="1" dirty="0"/>
              <a:t>Measures: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segmentation (VLANs)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Control Lists (ACLs)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Access Control (NAC)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Secure routing protocols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IPsec encryption</a:t>
            </a:r>
          </a:p>
          <a:p>
            <a:r>
              <a:rPr lang="en-US" b="1" dirty="0"/>
              <a:t>Purpose:</a:t>
            </a:r>
            <a:r>
              <a:rPr lang="en-US" dirty="0"/>
              <a:t> Limit movement within the network and prevent internal attacks.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5757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C2FEA-F57D-C198-1364-3501CB8D8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r>
              <a:rPr lang="en-US" b="1" dirty="0"/>
              <a:t>4. Host (Endpoint) Security</a:t>
            </a:r>
          </a:p>
          <a:p>
            <a:r>
              <a:rPr lang="en-US" dirty="0"/>
              <a:t>Protects individual devices like computers and servers.</a:t>
            </a:r>
          </a:p>
          <a:p>
            <a:r>
              <a:rPr lang="en-US" b="1" dirty="0"/>
              <a:t>Measures: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Antivirus / Anti-malware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Endpoint Detection and Response (EDR)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Host-based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Patch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Disk encryption</a:t>
            </a:r>
          </a:p>
          <a:p>
            <a:r>
              <a:rPr lang="en-US" b="1" dirty="0"/>
              <a:t>Purpose:</a:t>
            </a:r>
            <a:r>
              <a:rPr lang="en-US" dirty="0"/>
              <a:t> Protect devices from malware and unauthorized access.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90616-0345-9795-410D-BB3396238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0"/>
            <a:ext cx="6096000" cy="6858000"/>
          </a:xfrm>
        </p:spPr>
        <p:txBody>
          <a:bodyPr>
            <a:normAutofit/>
          </a:bodyPr>
          <a:lstStyle/>
          <a:p>
            <a:r>
              <a:rPr lang="en-US" b="1" dirty="0"/>
              <a:t>5. Application Layer Security</a:t>
            </a:r>
          </a:p>
          <a:p>
            <a:r>
              <a:rPr lang="en-US" dirty="0"/>
              <a:t>Secures software applications and services.</a:t>
            </a:r>
          </a:p>
          <a:p>
            <a:r>
              <a:rPr lang="en-US" b="1" dirty="0"/>
              <a:t>Measures: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Secure coding practices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Application Firewall (WAF)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Authentication and authorization mechanisms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Regular security testing</a:t>
            </a:r>
          </a:p>
          <a:p>
            <a:r>
              <a:rPr lang="en-US" b="1" dirty="0"/>
              <a:t>Purpose:</a:t>
            </a:r>
            <a:r>
              <a:rPr lang="en-US" dirty="0"/>
              <a:t> Prevent attacks like SQL injection, XSS, and application exploits.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753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F9318-3A07-1BB8-E5C1-72DE78DAA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659217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Data Security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Protects sensitive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encryption (at rest &amp; in transit)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Loss Prevention (DLP)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Backup and recovery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control policies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 confidentiality, integrity, and availability of data.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904C6-C6B2-15C7-F90D-AD1F6E4AD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109330"/>
            <a:ext cx="6172200" cy="6748670"/>
          </a:xfrm>
        </p:spPr>
        <p:txBody>
          <a:bodyPr>
            <a:normAutofit/>
          </a:bodyPr>
          <a:lstStyle/>
          <a:p>
            <a:r>
              <a:rPr lang="en-US" b="1" dirty="0"/>
              <a:t>7. Human Layer (User Awareness)</a:t>
            </a:r>
          </a:p>
          <a:p>
            <a:r>
              <a:rPr lang="en-US" dirty="0"/>
              <a:t>Focuses on users and administrators.</a:t>
            </a:r>
          </a:p>
          <a:p>
            <a:r>
              <a:rPr lang="en-US" b="1" dirty="0"/>
              <a:t>Measures: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awareness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password policies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Multi-Factor Authentication (MFA)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Phishing simulations</a:t>
            </a:r>
          </a:p>
          <a:p>
            <a:r>
              <a:rPr lang="en-US" b="1" dirty="0"/>
              <a:t>Purpose:</a:t>
            </a:r>
            <a:r>
              <a:rPr lang="en-US" dirty="0"/>
              <a:t> Reduce human errors and social engineering attacks.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098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08F0D-6EBC-74D1-5D80-68BC1F53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1036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Cryptography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EAE63-F95B-9A60-4DF9-40A6F3788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12192000" cy="5864087"/>
          </a:xfrm>
        </p:spPr>
        <p:txBody>
          <a:bodyPr>
            <a:normAutofit/>
          </a:bodyPr>
          <a:lstStyle/>
          <a:p>
            <a:r>
              <a:rPr lang="en-US" b="1" dirty="0"/>
              <a:t>Cryptography</a:t>
            </a:r>
            <a:r>
              <a:rPr lang="en-US" dirty="0"/>
              <a:t> is the science of protecting information by converting it into a secure format so that only authorized people can read it.</a:t>
            </a:r>
          </a:p>
          <a:p>
            <a:r>
              <a:rPr lang="en-US" dirty="0"/>
              <a:t>It ensures: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Confidentiality</a:t>
            </a:r>
            <a:r>
              <a:rPr lang="en-US" dirty="0"/>
              <a:t> (secrecy)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Integrity</a:t>
            </a:r>
            <a:r>
              <a:rPr lang="en-US" dirty="0"/>
              <a:t> (no modification)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Authentication</a:t>
            </a:r>
            <a:r>
              <a:rPr lang="en-US" dirty="0"/>
              <a:t> (identity verification)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Non-repudiation</a:t>
            </a:r>
            <a:r>
              <a:rPr lang="en-US" dirty="0"/>
              <a:t> (sender cannot deny sending)</a:t>
            </a:r>
          </a:p>
          <a:p>
            <a:r>
              <a:rPr lang="en-US" dirty="0"/>
              <a:t>There are two main types of cryptography: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Symmetric Cryptography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Asymmetric Cryptography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0450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449B-127E-43C8-5E03-1D63642D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Symmetric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199D3-7662-66FC-4A6F-ACA3FCA98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Symmetric cryptography uses </a:t>
            </a:r>
            <a:r>
              <a:rPr lang="en-US" b="1" dirty="0"/>
              <a:t>one single key</a:t>
            </a:r>
            <a:r>
              <a:rPr lang="en-US" dirty="0"/>
              <a:t> for both encryption and decryption.</a:t>
            </a:r>
          </a:p>
          <a:p>
            <a:r>
              <a:rPr lang="en-US" dirty="0"/>
              <a:t>The sender and receiver must share the same secret key.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If key = 5</a:t>
            </a:r>
            <a:br>
              <a:rPr lang="en-US" dirty="0"/>
            </a:br>
            <a:r>
              <a:rPr lang="en-US" dirty="0"/>
              <a:t>HELLO → MJQQT (shift by 5 letters)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2065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16E61-645E-706F-8BE6-44F8297BA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Symmetric Algorithms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97D23-85F5-891E-9AD9-5938ED082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AES (Advanced Encryption Standard) – Most widely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 (Data Encryption Standard) – Old, insecure now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Blowfish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ChaCha20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9330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95BE52-7E3C-9B3C-6421-8305B11BC8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7287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encryption and decryption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Suitable for large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computational power required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6E09C4-B98C-A10D-117F-94C17161B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799" y="0"/>
            <a:ext cx="6019799" cy="67287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distribution problem (how to securely share the key?)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key is leaked, data is compromised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suitable for large networks without secure key management</a:t>
            </a:r>
          </a:p>
          <a:p>
            <a:r>
              <a:rPr lang="en-US" b="1" dirty="0"/>
              <a:t>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File encryption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Disk encryption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VPN data encryption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Wi-Fi security (WPA2 uses AES)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0256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89234D-A1AC-F423-9D21-3886A1CECB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Asymmetric Cryptography</a:t>
            </a:r>
          </a:p>
          <a:p>
            <a:r>
              <a:rPr lang="en-US" b="1" dirty="0"/>
              <a:t>Definition</a:t>
            </a:r>
          </a:p>
          <a:p>
            <a:r>
              <a:rPr lang="en-US" dirty="0"/>
              <a:t>Asymmetric cryptography uses </a:t>
            </a:r>
            <a:r>
              <a:rPr lang="en-US" b="1" dirty="0"/>
              <a:t>two different keys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Public Key (shared with everyone)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Private Key (kept secret)</a:t>
            </a:r>
          </a:p>
          <a:p>
            <a:r>
              <a:rPr lang="en-US" dirty="0"/>
              <a:t>Data encrypted with one key can only be decrypted with the other.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9AA731-3786-0586-0B67-4A9192B1C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0"/>
            <a:ext cx="6019799" cy="6858000"/>
          </a:xfrm>
        </p:spPr>
        <p:txBody>
          <a:bodyPr>
            <a:normAutofit/>
          </a:bodyPr>
          <a:lstStyle/>
          <a:p>
            <a:r>
              <a:rPr lang="en-US" b="1" dirty="0"/>
              <a:t>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publish your Public Key.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Anyone can send you encrypted messages.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your Private Key can decrypt them.</a:t>
            </a:r>
          </a:p>
          <a:p>
            <a:pPr marL="0" indent="0">
              <a:buNone/>
            </a:pPr>
            <a:r>
              <a:rPr lang="en-US" b="1" dirty="0"/>
              <a:t>Common Asymmetric Algorithms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RSA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ECC (Elliptic Curve Cryptography)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Diffie-Hellman (key exchange)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DSA (Digital Signature Algorithm)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7228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A2EBB-8DCC-D813-4DF1-F45309495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r>
              <a:rPr lang="en-US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Solves key distribution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digital signatures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authentication and non-repudiation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Slower than symmetric cryptography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 more computational power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efficient for encrypting large data directly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34EB8-E031-91F0-6804-93AEA0E11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1470" y="0"/>
            <a:ext cx="5900530" cy="6708913"/>
          </a:xfrm>
        </p:spPr>
        <p:txBody>
          <a:bodyPr>
            <a:normAutofit/>
          </a:bodyPr>
          <a:lstStyle/>
          <a:p>
            <a:r>
              <a:rPr lang="en-US" b="1" dirty="0"/>
              <a:t>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SSL/TLS certificates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Digital signatures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Secure email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Cryptocurrency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229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3145</Words>
  <Application>Microsoft Office PowerPoint</Application>
  <PresentationFormat>Widescreen</PresentationFormat>
  <Paragraphs>522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Office Theme</vt:lpstr>
      <vt:lpstr>UNIT 8</vt:lpstr>
      <vt:lpstr>PowerPoint Presentation</vt:lpstr>
      <vt:lpstr>Network Management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FCAPS Model</vt:lpstr>
      <vt:lpstr>PowerPoint Presentation</vt:lpstr>
      <vt:lpstr>PowerPoint Presentation</vt:lpstr>
      <vt:lpstr>3.Configuration management deals with hardware and software: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Virtual Private Network (VPN)</vt:lpstr>
      <vt:lpstr>PowerPoint Presentation</vt:lpstr>
      <vt:lpstr>PowerPoint Presentation</vt:lpstr>
      <vt:lpstr>Firewall in Computer Network </vt:lpstr>
      <vt:lpstr>PowerPoint Presentation</vt:lpstr>
      <vt:lpstr>PowerPoint Presentation</vt:lpstr>
      <vt:lpstr>PowerPoint Presentation</vt:lpstr>
      <vt:lpstr>PowerPoint Presentation</vt:lpstr>
      <vt:lpstr>IPSec (Internet Protocol Security)</vt:lpstr>
      <vt:lpstr>PowerPoint Presentation</vt:lpstr>
      <vt:lpstr>PowerPoint Presentation</vt:lpstr>
      <vt:lpstr>Layered Approach of Network Security </vt:lpstr>
      <vt:lpstr>PowerPoint Presentation</vt:lpstr>
      <vt:lpstr>PowerPoint Presentation</vt:lpstr>
      <vt:lpstr>PowerPoint Presentation</vt:lpstr>
      <vt:lpstr> Cryptography </vt:lpstr>
      <vt:lpstr>Symmetric Cryptography</vt:lpstr>
      <vt:lpstr>Common Symmetric Algorithms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16</cp:revision>
  <dcterms:created xsi:type="dcterms:W3CDTF">2026-01-30T07:54:26Z</dcterms:created>
  <dcterms:modified xsi:type="dcterms:W3CDTF">2026-02-06T02:47:48Z</dcterms:modified>
</cp:coreProperties>
</file>