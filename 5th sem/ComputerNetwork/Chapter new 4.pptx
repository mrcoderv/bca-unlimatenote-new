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73" r:id="rId3"/>
    <p:sldId id="278" r:id="rId4"/>
    <p:sldId id="279" r:id="rId5"/>
    <p:sldId id="280" r:id="rId6"/>
    <p:sldId id="281" r:id="rId7"/>
    <p:sldId id="282" r:id="rId8"/>
    <p:sldId id="283" r:id="rId9"/>
    <p:sldId id="284" r:id="rId10"/>
    <p:sldId id="285" r:id="rId11"/>
    <p:sldId id="286" r:id="rId12"/>
    <p:sldId id="288" r:id="rId13"/>
    <p:sldId id="287" r:id="rId14"/>
    <p:sldId id="289" r:id="rId15"/>
    <p:sldId id="290" r:id="rId16"/>
    <p:sldId id="259" r:id="rId17"/>
    <p:sldId id="260" r:id="rId18"/>
    <p:sldId id="261" r:id="rId19"/>
    <p:sldId id="262" r:id="rId20"/>
    <p:sldId id="263" r:id="rId21"/>
    <p:sldId id="276" r:id="rId22"/>
    <p:sldId id="277" r:id="rId23"/>
    <p:sldId id="264" r:id="rId24"/>
    <p:sldId id="274" r:id="rId25"/>
    <p:sldId id="275" r:id="rId26"/>
    <p:sldId id="291" r:id="rId27"/>
    <p:sldId id="292" r:id="rId28"/>
    <p:sldId id="293" r:id="rId29"/>
    <p:sldId id="295" r:id="rId30"/>
    <p:sldId id="296" r:id="rId31"/>
    <p:sldId id="297" r:id="rId32"/>
    <p:sldId id="298" r:id="rId33"/>
    <p:sldId id="299" r:id="rId34"/>
    <p:sldId id="300"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4" d="100"/>
          <a:sy n="64" d="100"/>
        </p:scale>
        <p:origin x="6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5A27EDA-AECB-4F4E-9244-8936ECA6BE08}"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4121817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A27EDA-AECB-4F4E-9244-8936ECA6BE08}"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10389748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5A27EDA-AECB-4F4E-9244-8936ECA6BE08}"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38795520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5A27EDA-AECB-4F4E-9244-8936ECA6BE08}"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3860308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5A27EDA-AECB-4F4E-9244-8936ECA6BE08}" type="datetimeFigureOut">
              <a:rPr lang="en-US" smtClean="0"/>
              <a:t>12/16/2025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4241991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5A27EDA-AECB-4F4E-9244-8936ECA6BE08}" type="datetimeFigureOut">
              <a:rPr lang="en-US" smtClean="0"/>
              <a:t>12/16/2025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10563659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A27EDA-AECB-4F4E-9244-8936ECA6BE08}" type="datetimeFigureOut">
              <a:rPr lang="en-US" smtClean="0"/>
              <a:t>12/16/2025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750237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5A27EDA-AECB-4F4E-9244-8936ECA6BE08}"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3365329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5A27EDA-AECB-4F4E-9244-8936ECA6BE08}" type="datetimeFigureOut">
              <a:rPr lang="en-US" smtClean="0"/>
              <a:t>12/16/2025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1173661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A27EDA-AECB-4F4E-9244-8936ECA6BE08}"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38121367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A27EDA-AECB-4F4E-9244-8936ECA6BE08}" type="datetimeFigureOut">
              <a:rPr lang="en-US" smtClean="0"/>
              <a:t>12/16/2025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1DB667-D31E-42DF-9D9D-E4FCEB22FD22}" type="slidenum">
              <a:rPr lang="en-US" smtClean="0"/>
              <a:t>‹#›</a:t>
            </a:fld>
            <a:endParaRPr lang="en-US"/>
          </a:p>
        </p:txBody>
      </p:sp>
    </p:spTree>
    <p:extLst>
      <p:ext uri="{BB962C8B-B14F-4D97-AF65-F5344CB8AC3E}">
        <p14:creationId xmlns:p14="http://schemas.microsoft.com/office/powerpoint/2010/main" val="28438172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A27EDA-AECB-4F4E-9244-8936ECA6BE08}" type="datetimeFigureOut">
              <a:rPr lang="en-US" smtClean="0"/>
              <a:t>12/16/2025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1DB667-D31E-42DF-9D9D-E4FCEB22FD22}" type="slidenum">
              <a:rPr lang="en-US" smtClean="0"/>
              <a:t>‹#›</a:t>
            </a:fld>
            <a:endParaRPr lang="en-US"/>
          </a:p>
        </p:txBody>
      </p:sp>
    </p:spTree>
    <p:extLst>
      <p:ext uri="{BB962C8B-B14F-4D97-AF65-F5344CB8AC3E}">
        <p14:creationId xmlns:p14="http://schemas.microsoft.com/office/powerpoint/2010/main" val="16423349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webp"/><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webp"/><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webp"/><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https://www.geeksforgeeks.org/computer-networks/differences-between-point-to-point-and-multi-point-communication/" TargetMode="External"/><Relationship Id="rId2" Type="http://schemas.openxmlformats.org/officeDocument/2006/relationships/hyperlink" Target="https://www.geeksforgeeks.org/computer-networks/dynamic-host-configuration-protocol-dhcp/" TargetMode="External"/><Relationship Id="rId1" Type="http://schemas.openxmlformats.org/officeDocument/2006/relationships/slideLayout" Target="../slideLayouts/slideLayout4.xml"/><Relationship Id="rId4" Type="http://schemas.openxmlformats.org/officeDocument/2006/relationships/image" Target="../media/image4.webp"/></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hyperlink" Target="https://www.geeksforgeeks.org/computer-networks/dynamic-host-configuration-protocol-dhcp/"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webp"/><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6.webp"/><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webp"/><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webp"/><Relationship Id="rId2" Type="http://schemas.openxmlformats.org/officeDocument/2006/relationships/hyperlink" Target="https://www.geeksforgeeks.org/physics/radio-wave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hyperlink" Target="https://www.google.com/search?q=wireless+router&amp;client=firefox-b-d&amp;sca_esv=e9f24c77f336a04c&amp;sxsrf=AE3TifNcfXXLpK5sgVVpE8Uj2M6jOWn_Jw%3A1765421414052&amp;ei=ZjE6adX7AtOQ4-EP7rXTqAM&amp;ved=2ahUKEwjtxPHAw7SRAxVPzDgGHf8bLcsQgK4QegQIARAE&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2" Type="http://schemas.openxmlformats.org/officeDocument/2006/relationships/hyperlink" Target="https://www.google.com/search?q=IEEE+802.11+standards&amp;client=firefox-b-d&amp;sca_esv=e9f24c77f336a04c&amp;sxsrf=AE3TifNcfXXLpK5sgVVpE8Uj2M6jOWn_Jw%3A1765421414052&amp;ei=ZjE6adX7AtOQ4-EP7rXTqAM&amp;ved=2ahUKEwjtxPHAw7SRAxVPzDgGHf8bLcsQgK4QegQIARAD&amp;uact=5&amp;oq=explain+abaout+wifi+&amp;gs_lp=Egxnd3Mtd2l6LXNlcnAiFGV4cGxhaW4gYWJhb3V0IHdpZmkgMgYQABgWGB4yBhAAGBYYHjIGEAAYFhgeMgYQABgWGB4yBhAAGBYYHjIGEAAYFhgeMgYQABgWGB4yBhAAGBYYHjIGEAAYFhgeMgYQABgWGB5I515QuARYiSdwAXgAkAEAmAGRAqABwB-qAQYwLjE1Lja4AQPIAQD4AQGYAhWgApcjwgIKEAAYsAMY1gQYR8ICChAjGIAEGCcYigXCAgsQABiABBiRAhiKBcICEBAuGIAEGNEDGEMYxwEYigXCAggQABiABBixA8ICCxAAGIAEGLEDGIMBwgIFEAAYgATCAhYQLhiABBixAxjRAxhDGMcBGMkDGIoFwgILEAAYgAQYkgMYigXCAg0QABiABBixAxhDGIoFwgISEAAYgAQYsQMYQxiKBRhGGPkBwgIsEAAYgAQYsQMYQxiKBRhGGPkBGJcFGIwFGN0EGEYY-QEY9AMY9QMY9gPYAQHCAgUQIRigAcICBxAAGIAEGA3CAgYQABgNGB6YAwDiAwUSATEgQIgGAZAGCLoGBggBEAEYE5IHCDEuNy4xMi4xoAeYnQGyBwgwLjcuMTIuMbgH2CLCBwkzLTkuOC4zLjHIB8sEgAgA&amp;sclient=gws-wiz-serp&amp;mstk=AUtExfCUDrH9hmphzLq-af_VyXKZbcE6_9KnGRHRbVGM3ex6Ta0uZYsdtBz5QTf7ohIyKuga-CHBRlt5kxitQTQjpnleKCdsXbf5UK_poN3bdHSXRcdPdIpjnkWF0R4LtQ9ELtzQzyNg2Qy2j-iDz2-HSLTKo5UhG2YXmqaCUId0hInYKOw0nzYZCdowNxpk1pDw7rkSgO-ckzi4eDRfk1k2sUh3LdCo3mgYSFLjEruLkWufyGXbugDHeOvmg0HjV0r4wq5eVpR1F10-9w0aiNxbkN3l&amp;csui=3"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832E-5FE4-1DFA-6E78-D333A36E5380}"/>
              </a:ext>
            </a:extLst>
          </p:cNvPr>
          <p:cNvSpPr>
            <a:spLocks noGrp="1"/>
          </p:cNvSpPr>
          <p:nvPr>
            <p:ph type="title"/>
          </p:nvPr>
        </p:nvSpPr>
        <p:spPr>
          <a:xfrm>
            <a:off x="838200" y="365125"/>
            <a:ext cx="10515600" cy="1597025"/>
          </a:xfrm>
        </p:spPr>
        <p:txBody>
          <a:bodyPr/>
          <a:lstStyle/>
          <a:p>
            <a:r>
              <a:rPr lang="en-US" dirty="0"/>
              <a:t>                     </a:t>
            </a:r>
            <a:r>
              <a:rPr lang="en-US"/>
              <a:t>Chapter 4</a:t>
            </a:r>
            <a:endParaRPr lang="en-US" dirty="0"/>
          </a:p>
        </p:txBody>
      </p:sp>
      <p:sp>
        <p:nvSpPr>
          <p:cNvPr id="5" name="TextBox 4">
            <a:extLst>
              <a:ext uri="{FF2B5EF4-FFF2-40B4-BE49-F238E27FC236}">
                <a16:creationId xmlns:a16="http://schemas.microsoft.com/office/drawing/2014/main" id="{E81D6808-D16F-50B0-9A63-A5E1A569A20B}"/>
              </a:ext>
            </a:extLst>
          </p:cNvPr>
          <p:cNvSpPr txBox="1"/>
          <p:nvPr/>
        </p:nvSpPr>
        <p:spPr>
          <a:xfrm>
            <a:off x="771525" y="3345027"/>
            <a:ext cx="10344150" cy="584775"/>
          </a:xfrm>
          <a:prstGeom prst="rect">
            <a:avLst/>
          </a:prstGeom>
          <a:noFill/>
        </p:spPr>
        <p:txBody>
          <a:bodyPr wrap="square">
            <a:spAutoFit/>
          </a:bodyPr>
          <a:lstStyle/>
          <a:p>
            <a:r>
              <a:rPr lang="en-US" sz="3200" kern="100" dirty="0">
                <a:solidFill>
                  <a:srgbClr val="000000"/>
                </a:solidFill>
                <a:effectLst/>
                <a:latin typeface="Times New Roman" panose="02020603050405020304" pitchFamily="18" charset="0"/>
                <a:ea typeface="Times New Roman" panose="02020603050405020304" pitchFamily="18" charset="0"/>
              </a:rPr>
              <a:t>Physical Layer Design Issues</a:t>
            </a:r>
            <a:endParaRPr lang="en-US" sz="3200" dirty="0"/>
          </a:p>
        </p:txBody>
      </p:sp>
    </p:spTree>
    <p:extLst>
      <p:ext uri="{BB962C8B-B14F-4D97-AF65-F5344CB8AC3E}">
        <p14:creationId xmlns:p14="http://schemas.microsoft.com/office/powerpoint/2010/main" val="2849474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74BABE-A1E1-51CD-EDF3-C9AEE49FA690}"/>
              </a:ext>
            </a:extLst>
          </p:cNvPr>
          <p:cNvSpPr>
            <a:spLocks noGrp="1"/>
          </p:cNvSpPr>
          <p:nvPr>
            <p:ph idx="1"/>
          </p:nvPr>
        </p:nvSpPr>
        <p:spPr>
          <a:xfrm>
            <a:off x="0" y="0"/>
            <a:ext cx="12192000" cy="6858000"/>
          </a:xfrm>
        </p:spPr>
        <p:txBody>
          <a:bodyPr>
            <a:normAutofit/>
          </a:bodyPr>
          <a:lstStyle/>
          <a:p>
            <a:pPr marL="8890" marR="0" indent="0" algn="l">
              <a:lnSpc>
                <a:spcPct val="107000"/>
              </a:lnSpc>
              <a:spcBef>
                <a:spcPts val="0"/>
              </a:spcBef>
              <a:spcAft>
                <a:spcPts val="0"/>
              </a:spcAft>
              <a:buNone/>
            </a:pPr>
            <a:r>
              <a:rPr lang="en-US" sz="2400" kern="100" dirty="0">
                <a:solidFill>
                  <a:srgbClr val="000000"/>
                </a:solidFill>
                <a:effectLst/>
                <a:latin typeface="Times New Roman" panose="02020603050405020304" pitchFamily="18" charset="0"/>
                <a:ea typeface="Times New Roman" panose="02020603050405020304" pitchFamily="18" charset="0"/>
              </a:rPr>
              <a:t>Unit 4: </a:t>
            </a:r>
          </a:p>
          <a:p>
            <a:pPr marL="8890" marR="0" indent="0" algn="l">
              <a:lnSpc>
                <a:spcPct val="107000"/>
              </a:lnSpc>
              <a:spcBef>
                <a:spcPts val="0"/>
              </a:spcBef>
              <a:spcAft>
                <a:spcPts val="0"/>
              </a:spcAft>
            </a:pPr>
            <a:endParaRPr lang="en-US" sz="2400" kern="100" dirty="0">
              <a:solidFill>
                <a:srgbClr val="000000"/>
              </a:solidFill>
              <a:latin typeface="Times New Roman" panose="02020603050405020304" pitchFamily="18" charset="0"/>
              <a:ea typeface="Times New Roman" panose="02020603050405020304" pitchFamily="18" charset="0"/>
            </a:endParaRPr>
          </a:p>
          <a:p>
            <a:pPr marL="8890" marR="0" indent="0" algn="l">
              <a:lnSpc>
                <a:spcPct val="107000"/>
              </a:lnSpc>
              <a:spcBef>
                <a:spcPts val="0"/>
              </a:spcBef>
              <a:spcAft>
                <a:spcPts val="0"/>
              </a:spcAft>
              <a:buNone/>
            </a:pPr>
            <a:r>
              <a:rPr lang="en-US" sz="2400" kern="100" dirty="0">
                <a:solidFill>
                  <a:srgbClr val="000000"/>
                </a:solidFill>
                <a:effectLst/>
                <a:latin typeface="Times New Roman" panose="02020603050405020304" pitchFamily="18" charset="0"/>
                <a:ea typeface="Times New Roman" panose="02020603050405020304" pitchFamily="18" charset="0"/>
              </a:rPr>
              <a:t>Physical Layer Design Issues (4 Hours)</a:t>
            </a:r>
          </a:p>
          <a:p>
            <a:pPr marL="8890" marR="0" indent="0" algn="l">
              <a:lnSpc>
                <a:spcPct val="107000"/>
              </a:lnSpc>
              <a:spcBef>
                <a:spcPts val="0"/>
              </a:spcBef>
              <a:spcAft>
                <a:spcPts val="0"/>
              </a:spcAft>
            </a:pPr>
            <a:endParaRPr lang="en-US" sz="2400" kern="100" dirty="0">
              <a:solidFill>
                <a:srgbClr val="000000"/>
              </a:solidFill>
              <a:effectLst/>
              <a:latin typeface="Times New Roman" panose="02020603050405020304" pitchFamily="18" charset="0"/>
              <a:ea typeface="Times New Roman" panose="02020603050405020304" pitchFamily="18" charset="0"/>
            </a:endParaRPr>
          </a:p>
          <a:p>
            <a:pPr marL="8890" marR="0" indent="0" algn="l">
              <a:lnSpc>
                <a:spcPct val="107000"/>
              </a:lnSpc>
              <a:spcBef>
                <a:spcPts val="0"/>
              </a:spcBef>
              <a:spcAft>
                <a:spcPts val="0"/>
              </a:spcAft>
            </a:pPr>
            <a:r>
              <a:rPr lang="en-US" sz="2400" kern="100" dirty="0">
                <a:solidFill>
                  <a:srgbClr val="000000"/>
                </a:solidFill>
                <a:effectLst/>
                <a:latin typeface="Times New Roman" panose="02020603050405020304" pitchFamily="18" charset="0"/>
                <a:ea typeface="Times New Roman" panose="02020603050405020304" pitchFamily="18" charset="0"/>
              </a:rPr>
              <a:t>4.1 Transmission Medium, Network Topologies</a:t>
            </a:r>
          </a:p>
          <a:p>
            <a:pPr marL="8890" marR="0" indent="0" algn="l">
              <a:lnSpc>
                <a:spcPct val="107000"/>
              </a:lnSpc>
              <a:spcBef>
                <a:spcPts val="0"/>
              </a:spcBef>
              <a:spcAft>
                <a:spcPts val="0"/>
              </a:spcAft>
            </a:pPr>
            <a:endParaRPr lang="en-US" sz="2400" kern="100" dirty="0">
              <a:solidFill>
                <a:srgbClr val="000000"/>
              </a:solidFill>
              <a:effectLst/>
              <a:latin typeface="Times New Roman" panose="02020603050405020304" pitchFamily="18" charset="0"/>
              <a:ea typeface="Times New Roman" panose="02020603050405020304" pitchFamily="18" charset="0"/>
            </a:endParaRPr>
          </a:p>
          <a:p>
            <a:pPr marL="228600" marR="0" indent="-219710" algn="l">
              <a:lnSpc>
                <a:spcPct val="98000"/>
              </a:lnSpc>
              <a:spcBef>
                <a:spcPts val="0"/>
              </a:spcBef>
              <a:spcAft>
                <a:spcPts val="0"/>
              </a:spcAft>
            </a:pPr>
            <a:r>
              <a:rPr lang="en-US" sz="2400" kern="100" dirty="0">
                <a:solidFill>
                  <a:srgbClr val="000000"/>
                </a:solidFill>
                <a:effectLst/>
                <a:latin typeface="Times New Roman" panose="02020603050405020304" pitchFamily="18" charset="0"/>
                <a:ea typeface="Times New Roman" panose="02020603050405020304" pitchFamily="18" charset="0"/>
              </a:rPr>
              <a:t>4.2 Guided Transmission Media (Twisted Pair, Coaxial, Optical Fiber)</a:t>
            </a:r>
          </a:p>
          <a:p>
            <a:pPr marL="228600" marR="0" indent="-219710" algn="l">
              <a:lnSpc>
                <a:spcPct val="98000"/>
              </a:lnSpc>
              <a:spcBef>
                <a:spcPts val="0"/>
              </a:spcBef>
              <a:spcAft>
                <a:spcPts val="0"/>
              </a:spcAft>
            </a:pPr>
            <a:endParaRPr lang="en-US" sz="2400" kern="100" dirty="0">
              <a:solidFill>
                <a:srgbClr val="000000"/>
              </a:solidFill>
              <a:effectLst/>
              <a:latin typeface="Times New Roman" panose="02020603050405020304" pitchFamily="18" charset="0"/>
              <a:ea typeface="Times New Roman" panose="02020603050405020304" pitchFamily="18" charset="0"/>
            </a:endParaRPr>
          </a:p>
          <a:p>
            <a:pPr marL="228600" marR="0" indent="-219710" algn="just">
              <a:lnSpc>
                <a:spcPct val="95000"/>
              </a:lnSpc>
              <a:spcBef>
                <a:spcPts val="0"/>
              </a:spcBef>
              <a:spcAft>
                <a:spcPts val="80"/>
              </a:spcAft>
            </a:pPr>
            <a:r>
              <a:rPr lang="en-US" sz="2400" kern="100" dirty="0">
                <a:solidFill>
                  <a:srgbClr val="000000"/>
                </a:solidFill>
                <a:effectLst/>
                <a:latin typeface="Times New Roman" panose="02020603050405020304" pitchFamily="18" charset="0"/>
                <a:ea typeface="Times New Roman" panose="02020603050405020304" pitchFamily="18" charset="0"/>
              </a:rPr>
              <a:t>4.3 Unguided Transmission Media (Bluetooth, Wi-Fi, Cellular, Microwave, Satellite)</a:t>
            </a:r>
          </a:p>
          <a:p>
            <a:pPr marL="8890" marR="0" indent="0" algn="just">
              <a:lnSpc>
                <a:spcPct val="95000"/>
              </a:lnSpc>
              <a:spcBef>
                <a:spcPts val="0"/>
              </a:spcBef>
              <a:spcAft>
                <a:spcPts val="80"/>
              </a:spcAft>
              <a:buNone/>
            </a:pPr>
            <a:endParaRPr lang="en-US" sz="2400" kern="100" dirty="0">
              <a:solidFill>
                <a:srgbClr val="000000"/>
              </a:solidFill>
              <a:effectLst/>
              <a:latin typeface="Times New Roman" panose="02020603050405020304" pitchFamily="18" charset="0"/>
              <a:ea typeface="Times New Roman" panose="02020603050405020304" pitchFamily="18" charset="0"/>
            </a:endParaRPr>
          </a:p>
          <a:p>
            <a:r>
              <a:rPr lang="en-US" sz="2400" dirty="0">
                <a:solidFill>
                  <a:srgbClr val="000000"/>
                </a:solidFill>
                <a:effectLst/>
                <a:latin typeface="Times New Roman" panose="02020603050405020304" pitchFamily="18" charset="0"/>
                <a:ea typeface="Times New Roman" panose="02020603050405020304" pitchFamily="18" charset="0"/>
              </a:rPr>
              <a:t>4.4 Twisted Pair Cabling, Labeling and Testing Standards</a:t>
            </a:r>
            <a:endParaRPr lang="en-US" sz="3600" dirty="0"/>
          </a:p>
        </p:txBody>
      </p:sp>
    </p:spTree>
    <p:extLst>
      <p:ext uri="{BB962C8B-B14F-4D97-AF65-F5344CB8AC3E}">
        <p14:creationId xmlns:p14="http://schemas.microsoft.com/office/powerpoint/2010/main" val="1717296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EFDECF-DE95-F079-BEF3-54E878559431}"/>
              </a:ext>
            </a:extLst>
          </p:cNvPr>
          <p:cNvSpPr>
            <a:spLocks noGrp="1"/>
          </p:cNvSpPr>
          <p:nvPr>
            <p:ph idx="1"/>
          </p:nvPr>
        </p:nvSpPr>
        <p:spPr>
          <a:xfrm>
            <a:off x="0" y="0"/>
            <a:ext cx="12192000" cy="6858000"/>
          </a:xfrm>
        </p:spPr>
        <p:txBody>
          <a:bodyPr/>
          <a:lstStyle/>
          <a:p>
            <a:pPr marL="0" indent="0" rtl="0">
              <a:buNone/>
            </a:pPr>
            <a:r>
              <a:rPr lang="en-US" sz="4000" b="1" dirty="0"/>
              <a:t>Network Topology</a:t>
            </a:r>
          </a:p>
          <a:p>
            <a:pPr rtl="0"/>
            <a:r>
              <a:rPr lang="en-US" dirty="0"/>
              <a:t>A network topology is the arrangement of devices (nodes) and connections (links) in a computer network. </a:t>
            </a:r>
          </a:p>
          <a:p>
            <a:pPr rtl="0"/>
            <a:endParaRPr lang="en-US" dirty="0"/>
          </a:p>
          <a:p>
            <a:pPr rtl="0"/>
            <a:r>
              <a:rPr lang="en-US" dirty="0"/>
              <a:t>It shows how computers, servers, and other devices are connected and how data flows between them.</a:t>
            </a:r>
          </a:p>
          <a:p>
            <a:pPr rtl="0"/>
            <a:endParaRPr lang="en-US" dirty="0"/>
          </a:p>
          <a:p>
            <a:pPr rtl="0"/>
            <a:r>
              <a:rPr lang="en-US" dirty="0"/>
              <a:t> There are two main types of topology:</a:t>
            </a:r>
          </a:p>
          <a:p>
            <a:pPr>
              <a:buFont typeface="Arial" panose="020B0604020202020204" pitchFamily="34" charset="0"/>
              <a:buChar char="•"/>
            </a:pPr>
            <a:r>
              <a:rPr lang="en-US" b="1" dirty="0"/>
              <a:t>Physical Topology: </a:t>
            </a:r>
            <a:r>
              <a:rPr lang="en-US" dirty="0"/>
              <a:t>The actual physical layout of cables and devices.</a:t>
            </a:r>
          </a:p>
          <a:p>
            <a:pPr>
              <a:buFont typeface="Arial" panose="020B0604020202020204" pitchFamily="34" charset="0"/>
              <a:buChar char="•"/>
            </a:pPr>
            <a:r>
              <a:rPr lang="en-US" b="1" dirty="0"/>
              <a:t>Logical Topology:</a:t>
            </a:r>
            <a:r>
              <a:rPr lang="en-US" dirty="0"/>
              <a:t> How data moves across the network, regardless of physical layout.</a:t>
            </a:r>
          </a:p>
          <a:p>
            <a:endParaRPr lang="en-US" dirty="0"/>
          </a:p>
        </p:txBody>
      </p:sp>
    </p:spTree>
    <p:extLst>
      <p:ext uri="{BB962C8B-B14F-4D97-AF65-F5344CB8AC3E}">
        <p14:creationId xmlns:p14="http://schemas.microsoft.com/office/powerpoint/2010/main" val="56190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C4DE9A-1C18-2553-AD5B-6EF60B627047}"/>
              </a:ext>
            </a:extLst>
          </p:cNvPr>
          <p:cNvSpPr>
            <a:spLocks noGrp="1"/>
          </p:cNvSpPr>
          <p:nvPr>
            <p:ph sz="half" idx="1"/>
          </p:nvPr>
        </p:nvSpPr>
        <p:spPr>
          <a:xfrm>
            <a:off x="23191" y="0"/>
            <a:ext cx="6019800" cy="6858000"/>
          </a:xfrm>
        </p:spPr>
        <p:txBody>
          <a:bodyPr/>
          <a:lstStyle/>
          <a:p>
            <a:pPr algn="l"/>
            <a:r>
              <a:rPr lang="en-US" b="1" dirty="0">
                <a:effectLst/>
              </a:rPr>
              <a:t>Point To Point Topology</a:t>
            </a:r>
          </a:p>
          <a:p>
            <a:pPr algn="l"/>
            <a:endParaRPr lang="en-US" b="1" dirty="0">
              <a:effectLst/>
            </a:endParaRPr>
          </a:p>
          <a:p>
            <a:pPr algn="just" rtl="0"/>
            <a:r>
              <a:rPr lang="en-US" dirty="0">
                <a:effectLst/>
              </a:rPr>
              <a:t>Point-to-point topology is a type of topology that works on the functionality of the sender and receiver.</a:t>
            </a:r>
          </a:p>
          <a:p>
            <a:pPr algn="just" rtl="0"/>
            <a:endParaRPr lang="en-US" dirty="0"/>
          </a:p>
          <a:p>
            <a:pPr algn="just" rtl="0"/>
            <a:r>
              <a:rPr lang="en-US" dirty="0">
                <a:effectLst/>
              </a:rPr>
              <a:t> It is the simplest communication between two nodes, in which one is the sender and the other one is the receiver. </a:t>
            </a:r>
          </a:p>
          <a:p>
            <a:pPr algn="just" rtl="0"/>
            <a:r>
              <a:rPr lang="en-US" dirty="0">
                <a:effectLst/>
              </a:rPr>
              <a:t>Point-to-Point provides high bandwidth. </a:t>
            </a:r>
          </a:p>
          <a:p>
            <a:endParaRPr lang="en-US" dirty="0"/>
          </a:p>
        </p:txBody>
      </p:sp>
      <p:pic>
        <p:nvPicPr>
          <p:cNvPr id="8" name="Content Placeholder 7">
            <a:extLst>
              <a:ext uri="{FF2B5EF4-FFF2-40B4-BE49-F238E27FC236}">
                <a16:creationId xmlns:a16="http://schemas.microsoft.com/office/drawing/2014/main" id="{DBAB7452-AD38-4481-2E0B-692FFCF47B1D}"/>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867938" y="1759226"/>
            <a:ext cx="5108713" cy="3786809"/>
          </a:xfrm>
        </p:spPr>
      </p:pic>
    </p:spTree>
    <p:extLst>
      <p:ext uri="{BB962C8B-B14F-4D97-AF65-F5344CB8AC3E}">
        <p14:creationId xmlns:p14="http://schemas.microsoft.com/office/powerpoint/2010/main" val="2974156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96736F7-7413-8246-47B1-421875DDEDDB}"/>
              </a:ext>
            </a:extLst>
          </p:cNvPr>
          <p:cNvSpPr>
            <a:spLocks noGrp="1"/>
          </p:cNvSpPr>
          <p:nvPr>
            <p:ph sz="half" idx="1"/>
          </p:nvPr>
        </p:nvSpPr>
        <p:spPr>
          <a:xfrm>
            <a:off x="0" y="0"/>
            <a:ext cx="6897757" cy="6858000"/>
          </a:xfrm>
        </p:spPr>
        <p:txBody>
          <a:bodyPr>
            <a:normAutofit/>
          </a:bodyPr>
          <a:lstStyle/>
          <a:p>
            <a:pPr algn="l"/>
            <a:r>
              <a:rPr lang="en-US" b="1" dirty="0">
                <a:effectLst/>
              </a:rPr>
              <a:t>Bus Topology </a:t>
            </a:r>
          </a:p>
          <a:p>
            <a:pPr algn="just" rtl="0"/>
            <a:r>
              <a:rPr lang="en-US" dirty="0">
                <a:effectLst/>
              </a:rPr>
              <a:t>Bus Topology is a network type in which every computer and network device is connected to a single cable.</a:t>
            </a:r>
          </a:p>
          <a:p>
            <a:pPr algn="just" rtl="0"/>
            <a:r>
              <a:rPr lang="en-US" dirty="0">
                <a:effectLst/>
              </a:rPr>
              <a:t> It is bi-directional. </a:t>
            </a:r>
          </a:p>
          <a:p>
            <a:pPr algn="just" rtl="0"/>
            <a:r>
              <a:rPr lang="en-US" dirty="0">
                <a:effectLst/>
              </a:rPr>
              <a:t>It is a multi-point connection and a non-robust topology because if the backbone fails the topology crashes.</a:t>
            </a:r>
          </a:p>
          <a:p>
            <a:pPr algn="just" rtl="0"/>
            <a:endParaRPr lang="en-US" dirty="0">
              <a:effectLst/>
            </a:endParaRPr>
          </a:p>
          <a:p>
            <a:pPr algn="just" rtl="0"/>
            <a:r>
              <a:rPr lang="en-US" dirty="0">
                <a:effectLst/>
              </a:rPr>
              <a:t> Bus-topology Ethernet uses only the CSMA/CD MAC protocol. </a:t>
            </a:r>
          </a:p>
          <a:p>
            <a:pPr algn="just" rtl="0"/>
            <a:endParaRPr lang="en-US" dirty="0"/>
          </a:p>
          <a:p>
            <a:pPr algn="just" rtl="0"/>
            <a:r>
              <a:rPr lang="en-US" dirty="0">
                <a:effectLst/>
              </a:rPr>
              <a:t>TDMA, CDMA, Pure ALOHA, and Slotted ALOHA were never used in Ethernet.</a:t>
            </a:r>
          </a:p>
          <a:p>
            <a:endParaRPr lang="en-US" dirty="0"/>
          </a:p>
        </p:txBody>
      </p:sp>
      <p:pic>
        <p:nvPicPr>
          <p:cNvPr id="8" name="Content Placeholder 7">
            <a:extLst>
              <a:ext uri="{FF2B5EF4-FFF2-40B4-BE49-F238E27FC236}">
                <a16:creationId xmlns:a16="http://schemas.microsoft.com/office/drawing/2014/main" id="{44AC3993-53C9-76C5-625C-9660111A628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335078" y="1798984"/>
            <a:ext cx="4018721" cy="3445392"/>
          </a:xfrm>
        </p:spPr>
      </p:pic>
    </p:spTree>
    <p:extLst>
      <p:ext uri="{BB962C8B-B14F-4D97-AF65-F5344CB8AC3E}">
        <p14:creationId xmlns:p14="http://schemas.microsoft.com/office/powerpoint/2010/main" val="4131378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0B6E0B-2142-9A8D-6048-1873A95B3A43}"/>
              </a:ext>
            </a:extLst>
          </p:cNvPr>
          <p:cNvSpPr>
            <a:spLocks noGrp="1"/>
          </p:cNvSpPr>
          <p:nvPr>
            <p:ph sz="half" idx="1"/>
          </p:nvPr>
        </p:nvSpPr>
        <p:spPr>
          <a:xfrm>
            <a:off x="0" y="0"/>
            <a:ext cx="6019800" cy="6718852"/>
          </a:xfrm>
        </p:spPr>
        <p:txBody>
          <a:bodyPr>
            <a:normAutofit fontScale="92500" lnSpcReduction="20000"/>
          </a:bodyPr>
          <a:lstStyle/>
          <a:p>
            <a:pPr algn="l"/>
            <a:r>
              <a:rPr lang="en-US" b="1" dirty="0">
                <a:effectLst/>
              </a:rPr>
              <a:t>Advantages of Bus Topology </a:t>
            </a:r>
          </a:p>
          <a:p>
            <a:pPr>
              <a:buFont typeface="Arial" panose="020B0604020202020204" pitchFamily="34" charset="0"/>
              <a:buChar char="•"/>
            </a:pPr>
            <a:r>
              <a:rPr lang="en-US" dirty="0"/>
              <a:t>If N devices are connected to each other in a bus topology, then the number of cables required to connect them is 1, known as backbone cable, and N drop lines are required.</a:t>
            </a:r>
          </a:p>
          <a:p>
            <a:pPr>
              <a:buFont typeface="Arial" panose="020B0604020202020204" pitchFamily="34" charset="0"/>
              <a:buChar char="•"/>
            </a:pPr>
            <a:r>
              <a:rPr lang="en-US" dirty="0"/>
              <a:t>Coaxial or twisted pair cables are mainly used in bus-based networks that support up to 10 Mbps.</a:t>
            </a:r>
          </a:p>
          <a:p>
            <a:pPr>
              <a:buFont typeface="Arial" panose="020B0604020202020204" pitchFamily="34" charset="0"/>
              <a:buChar char="•"/>
            </a:pPr>
            <a:r>
              <a:rPr lang="en-US" dirty="0"/>
              <a:t>The cost of the cable is less compared to other topologies, but it is used to build small networks.</a:t>
            </a:r>
          </a:p>
          <a:p>
            <a:pPr>
              <a:buFont typeface="Arial" panose="020B0604020202020204" pitchFamily="34" charset="0"/>
              <a:buChar char="•"/>
            </a:pPr>
            <a:r>
              <a:rPr lang="en-US" dirty="0"/>
              <a:t>Bus topology is familiar technology as installation and troubleshooting techniques are well known.</a:t>
            </a:r>
          </a:p>
          <a:p>
            <a:pPr>
              <a:buFont typeface="Arial" panose="020B0604020202020204" pitchFamily="34" charset="0"/>
              <a:buChar char="•"/>
            </a:pPr>
            <a:r>
              <a:rPr lang="en-US" dirty="0"/>
              <a:t>CSMA/CD was the only MAC method used in traditional bus Ethernet. Modern switched Ethernet does not use CSMA/CD because full-duplex operation eliminates collisions.</a:t>
            </a:r>
          </a:p>
          <a:p>
            <a:endParaRPr lang="en-US" dirty="0"/>
          </a:p>
        </p:txBody>
      </p:sp>
      <p:sp>
        <p:nvSpPr>
          <p:cNvPr id="4" name="Content Placeholder 3">
            <a:extLst>
              <a:ext uri="{FF2B5EF4-FFF2-40B4-BE49-F238E27FC236}">
                <a16:creationId xmlns:a16="http://schemas.microsoft.com/office/drawing/2014/main" id="{57537B00-A425-0150-13F6-7ACDC26EC827}"/>
              </a:ext>
            </a:extLst>
          </p:cNvPr>
          <p:cNvSpPr>
            <a:spLocks noGrp="1"/>
          </p:cNvSpPr>
          <p:nvPr>
            <p:ph sz="half" idx="2"/>
          </p:nvPr>
        </p:nvSpPr>
        <p:spPr>
          <a:xfrm>
            <a:off x="6095999" y="69574"/>
            <a:ext cx="6019799" cy="6649278"/>
          </a:xfrm>
        </p:spPr>
        <p:txBody>
          <a:bodyPr>
            <a:normAutofit fontScale="92500" lnSpcReduction="20000"/>
          </a:bodyPr>
          <a:lstStyle/>
          <a:p>
            <a:pPr algn="l"/>
            <a:r>
              <a:rPr lang="en-US" b="1" dirty="0">
                <a:effectLst/>
              </a:rPr>
              <a:t>Disadvantages of  Bus Topology </a:t>
            </a:r>
          </a:p>
          <a:p>
            <a:pPr>
              <a:buFont typeface="Arial" panose="020B0604020202020204" pitchFamily="34" charset="0"/>
              <a:buChar char="•"/>
            </a:pPr>
            <a:r>
              <a:rPr lang="en-US" dirty="0"/>
              <a:t>A bus topology is quite simpler, but still, it requires a lot of cabling.</a:t>
            </a:r>
          </a:p>
          <a:p>
            <a:pPr>
              <a:buFont typeface="Arial" panose="020B0604020202020204" pitchFamily="34" charset="0"/>
              <a:buChar char="•"/>
            </a:pPr>
            <a:r>
              <a:rPr lang="en-US" dirty="0"/>
              <a:t>If the common cable fails, then the whole system will crash down.</a:t>
            </a:r>
          </a:p>
          <a:p>
            <a:pPr>
              <a:buFont typeface="Arial" panose="020B0604020202020204" pitchFamily="34" charset="0"/>
              <a:buChar char="•"/>
            </a:pPr>
            <a:r>
              <a:rPr lang="en-US" dirty="0"/>
              <a:t>If the network traffic is heavy, it increases collisions in the network. To avoid this, various protocols are used in the MAC layer known as Pure Aloha, Slotted Aloha, CSMA/CD, etc.</a:t>
            </a:r>
          </a:p>
          <a:p>
            <a:pPr>
              <a:buFont typeface="Arial" panose="020B0604020202020204" pitchFamily="34" charset="0"/>
              <a:buChar char="•"/>
            </a:pPr>
            <a:r>
              <a:rPr lang="en-US" dirty="0"/>
              <a:t>Adding new devices to the network would slow down networks.</a:t>
            </a:r>
          </a:p>
          <a:p>
            <a:pPr>
              <a:buFont typeface="Arial" panose="020B0604020202020204" pitchFamily="34" charset="0"/>
              <a:buChar char="•"/>
            </a:pPr>
            <a:r>
              <a:rPr lang="en-US" dirty="0"/>
              <a:t>Security is very low.</a:t>
            </a:r>
          </a:p>
          <a:p>
            <a:endParaRPr lang="en-US" dirty="0"/>
          </a:p>
        </p:txBody>
      </p:sp>
    </p:spTree>
    <p:extLst>
      <p:ext uri="{BB962C8B-B14F-4D97-AF65-F5344CB8AC3E}">
        <p14:creationId xmlns:p14="http://schemas.microsoft.com/office/powerpoint/2010/main" val="1261125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902EDC-556E-875A-41F4-0B6FA8828E0C}"/>
              </a:ext>
            </a:extLst>
          </p:cNvPr>
          <p:cNvSpPr>
            <a:spLocks noGrp="1"/>
          </p:cNvSpPr>
          <p:nvPr>
            <p:ph sz="half" idx="1"/>
          </p:nvPr>
        </p:nvSpPr>
        <p:spPr>
          <a:xfrm>
            <a:off x="-1" y="0"/>
            <a:ext cx="6480313" cy="6858000"/>
          </a:xfrm>
        </p:spPr>
        <p:txBody>
          <a:bodyPr>
            <a:normAutofit fontScale="92500" lnSpcReduction="20000"/>
          </a:bodyPr>
          <a:lstStyle/>
          <a:p>
            <a:pPr marL="0" indent="0" algn="l">
              <a:buNone/>
            </a:pPr>
            <a:r>
              <a:rPr lang="en-US" b="1" dirty="0">
                <a:effectLst/>
              </a:rPr>
              <a:t>Ring Topology </a:t>
            </a:r>
          </a:p>
          <a:p>
            <a:pPr rtl="0"/>
            <a:r>
              <a:rPr lang="en-US" dirty="0"/>
              <a:t>In a Ring Topology, it forms a ring connecting devices with exactly two neighboring devices.</a:t>
            </a:r>
          </a:p>
          <a:p>
            <a:pPr rtl="0"/>
            <a:r>
              <a:rPr lang="en-US" dirty="0"/>
              <a:t> A number of repeaters are used for Ring topology with a large number of nodes, because if someone wants to send some data to the last node in the ring topology with 100 nodes, then the data will have to pass through 99 nodes to reach the 100th node.</a:t>
            </a:r>
          </a:p>
          <a:p>
            <a:pPr rtl="0"/>
            <a:r>
              <a:rPr lang="en-US" dirty="0"/>
              <a:t> Hence to prevent data loss repeaters are used in the network. </a:t>
            </a:r>
          </a:p>
          <a:p>
            <a:pPr rtl="0"/>
            <a:r>
              <a:rPr lang="en-US" dirty="0"/>
              <a:t>In-Ring Topology, the Token Ring Passing protocol is used by the workstations to transmit the data where, Token passing is a network access method in which a token is passed from one node to another node &amp; Token is a frame that circulates around the network. </a:t>
            </a:r>
          </a:p>
          <a:p>
            <a:endParaRPr lang="en-US" dirty="0"/>
          </a:p>
        </p:txBody>
      </p:sp>
      <p:pic>
        <p:nvPicPr>
          <p:cNvPr id="6" name="Content Placeholder 5">
            <a:extLst>
              <a:ext uri="{FF2B5EF4-FFF2-40B4-BE49-F238E27FC236}">
                <a16:creationId xmlns:a16="http://schemas.microsoft.com/office/drawing/2014/main" id="{88DEAC83-528F-F457-1FAF-ACF4625460C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738731" y="1689652"/>
            <a:ext cx="5138530" cy="3588026"/>
          </a:xfrm>
        </p:spPr>
      </p:pic>
    </p:spTree>
    <p:extLst>
      <p:ext uri="{BB962C8B-B14F-4D97-AF65-F5344CB8AC3E}">
        <p14:creationId xmlns:p14="http://schemas.microsoft.com/office/powerpoint/2010/main" val="1071532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3DFE56-18CC-5931-00D7-3EDA99EC5E53}"/>
              </a:ext>
            </a:extLst>
          </p:cNvPr>
          <p:cNvSpPr>
            <a:spLocks noGrp="1"/>
          </p:cNvSpPr>
          <p:nvPr>
            <p:ph sz="half" idx="1"/>
          </p:nvPr>
        </p:nvSpPr>
        <p:spPr>
          <a:xfrm>
            <a:off x="0" y="0"/>
            <a:ext cx="6082748" cy="6858000"/>
          </a:xfrm>
        </p:spPr>
        <p:txBody>
          <a:bodyPr>
            <a:normAutofit/>
          </a:bodyPr>
          <a:lstStyle/>
          <a:p>
            <a:pPr algn="l"/>
            <a:r>
              <a:rPr lang="en-US" b="1" dirty="0">
                <a:effectLst/>
              </a:rPr>
              <a:t>Advantages of Ring Topology </a:t>
            </a:r>
          </a:p>
          <a:p>
            <a:pPr>
              <a:buFont typeface="Arial" panose="020B0604020202020204" pitchFamily="34" charset="0"/>
              <a:buChar char="•"/>
            </a:pPr>
            <a:r>
              <a:rPr lang="en-US" dirty="0"/>
              <a:t>The data transmission is high-speed.</a:t>
            </a:r>
          </a:p>
          <a:p>
            <a:pPr>
              <a:buFont typeface="Arial" panose="020B0604020202020204" pitchFamily="34" charset="0"/>
              <a:buChar char="•"/>
            </a:pPr>
            <a:r>
              <a:rPr lang="en-US" dirty="0"/>
              <a:t>The possibility of collision is minimum in this type of topology.</a:t>
            </a:r>
          </a:p>
          <a:p>
            <a:pPr>
              <a:buFont typeface="Arial" panose="020B0604020202020204" pitchFamily="34" charset="0"/>
              <a:buChar char="•"/>
            </a:pPr>
            <a:r>
              <a:rPr lang="en-US" dirty="0"/>
              <a:t>Cheap to install and expand.</a:t>
            </a:r>
          </a:p>
          <a:p>
            <a:endParaRPr lang="en-US" dirty="0"/>
          </a:p>
        </p:txBody>
      </p:sp>
      <p:sp>
        <p:nvSpPr>
          <p:cNvPr id="4" name="Content Placeholder 3">
            <a:extLst>
              <a:ext uri="{FF2B5EF4-FFF2-40B4-BE49-F238E27FC236}">
                <a16:creationId xmlns:a16="http://schemas.microsoft.com/office/drawing/2014/main" id="{5C8F9858-946E-A8D9-6621-21F31A8DB029}"/>
              </a:ext>
            </a:extLst>
          </p:cNvPr>
          <p:cNvSpPr>
            <a:spLocks noGrp="1"/>
          </p:cNvSpPr>
          <p:nvPr>
            <p:ph sz="half" idx="2"/>
          </p:nvPr>
        </p:nvSpPr>
        <p:spPr>
          <a:xfrm>
            <a:off x="6311349" y="0"/>
            <a:ext cx="5880652" cy="6858000"/>
          </a:xfrm>
        </p:spPr>
        <p:txBody>
          <a:bodyPr>
            <a:normAutofit/>
          </a:bodyPr>
          <a:lstStyle/>
          <a:p>
            <a:pPr algn="l"/>
            <a:r>
              <a:rPr lang="en-US" b="1" dirty="0">
                <a:effectLst/>
              </a:rPr>
              <a:t>Disadvantages of Ring Topology </a:t>
            </a:r>
          </a:p>
          <a:p>
            <a:pPr>
              <a:buFont typeface="Arial" panose="020B0604020202020204" pitchFamily="34" charset="0"/>
              <a:buChar char="•"/>
            </a:pPr>
            <a:r>
              <a:rPr lang="en-US" dirty="0"/>
              <a:t>The failure of a single node in the network can cause the entire network to fail.</a:t>
            </a:r>
          </a:p>
          <a:p>
            <a:pPr>
              <a:buFont typeface="Arial" panose="020B0604020202020204" pitchFamily="34" charset="0"/>
              <a:buChar char="•"/>
            </a:pPr>
            <a:r>
              <a:rPr lang="en-US" dirty="0"/>
              <a:t>Troubleshooting is difficult in this topology.</a:t>
            </a:r>
          </a:p>
          <a:p>
            <a:pPr>
              <a:buFont typeface="Arial" panose="020B0604020202020204" pitchFamily="34" charset="0"/>
              <a:buChar char="•"/>
            </a:pPr>
            <a:r>
              <a:rPr lang="en-US" dirty="0"/>
              <a:t>Less secure.</a:t>
            </a:r>
          </a:p>
          <a:p>
            <a:endParaRPr lang="en-US" dirty="0"/>
          </a:p>
        </p:txBody>
      </p:sp>
    </p:spTree>
    <p:extLst>
      <p:ext uri="{BB962C8B-B14F-4D97-AF65-F5344CB8AC3E}">
        <p14:creationId xmlns:p14="http://schemas.microsoft.com/office/powerpoint/2010/main" val="335363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96DB06-11FF-442B-DC50-AFC132164614}"/>
              </a:ext>
            </a:extLst>
          </p:cNvPr>
          <p:cNvSpPr>
            <a:spLocks noGrp="1"/>
          </p:cNvSpPr>
          <p:nvPr>
            <p:ph sz="half" idx="1"/>
          </p:nvPr>
        </p:nvSpPr>
        <p:spPr>
          <a:xfrm>
            <a:off x="-1" y="0"/>
            <a:ext cx="6818243" cy="6858000"/>
          </a:xfrm>
        </p:spPr>
        <p:txBody>
          <a:bodyPr>
            <a:normAutofit lnSpcReduction="10000"/>
          </a:bodyPr>
          <a:lstStyle/>
          <a:p>
            <a:pPr algn="l"/>
            <a:r>
              <a:rPr lang="en-US" b="1" dirty="0">
                <a:effectLst/>
              </a:rPr>
              <a:t>Tree Topology </a:t>
            </a:r>
          </a:p>
          <a:p>
            <a:pPr rtl="0"/>
            <a:r>
              <a:rPr lang="en-US" dirty="0"/>
              <a:t>Tree topology is the variation of the Star topology. This topology has a hierarchical flow of data. In Tree Topology, protocols like </a:t>
            </a:r>
            <a:r>
              <a:rPr lang="en-US" dirty="0">
                <a:hlinkClick r:id="rId2"/>
              </a:rPr>
              <a:t>DHCP</a:t>
            </a:r>
            <a:r>
              <a:rPr lang="en-US" dirty="0"/>
              <a:t> and SAC (Standard Automatic Configuration) are used. </a:t>
            </a:r>
          </a:p>
          <a:p>
            <a:pPr>
              <a:buFont typeface="Arial" panose="020B0604020202020204" pitchFamily="34" charset="0"/>
              <a:buChar char="•"/>
            </a:pPr>
            <a:r>
              <a:rPr lang="en-US" dirty="0"/>
              <a:t>Here, various secondary hubs are connected to the central hub which contains the repeater. </a:t>
            </a:r>
          </a:p>
          <a:p>
            <a:pPr>
              <a:buFont typeface="Arial" panose="020B0604020202020204" pitchFamily="34" charset="0"/>
              <a:buChar char="•"/>
            </a:pPr>
            <a:r>
              <a:rPr lang="en-US" dirty="0"/>
              <a:t>This data flow from top to bottom i.e. from the central hub to the secondary and then to the devices or from bottom to top i.e. devices to the secondary hub and then to the central hub. </a:t>
            </a:r>
          </a:p>
          <a:p>
            <a:pPr>
              <a:buFont typeface="Arial" panose="020B0604020202020204" pitchFamily="34" charset="0"/>
              <a:buChar char="•"/>
            </a:pPr>
            <a:r>
              <a:rPr lang="en-US" dirty="0"/>
              <a:t>It is a </a:t>
            </a:r>
            <a:r>
              <a:rPr lang="en-US" dirty="0">
                <a:hlinkClick r:id="rId3"/>
              </a:rPr>
              <a:t>multi-point connection</a:t>
            </a:r>
            <a:r>
              <a:rPr lang="en-US" dirty="0"/>
              <a:t> and a non-robust topology because if the backbone fails the topology crashes. </a:t>
            </a:r>
          </a:p>
          <a:p>
            <a:endParaRPr lang="en-US" dirty="0"/>
          </a:p>
        </p:txBody>
      </p:sp>
      <p:pic>
        <p:nvPicPr>
          <p:cNvPr id="6" name="Content Placeholder 5">
            <a:extLst>
              <a:ext uri="{FF2B5EF4-FFF2-40B4-BE49-F238E27FC236}">
                <a16:creationId xmlns:a16="http://schemas.microsoft.com/office/drawing/2014/main" id="{75A4C088-9193-2CC9-42D0-B237E5A0AFFC}"/>
              </a:ext>
            </a:extLst>
          </p:cNvPr>
          <p:cNvPicPr>
            <a:picLocks noGrp="1" noChangeAspect="1"/>
          </p:cNvPicPr>
          <p:nvPr>
            <p:ph sz="half" idx="2"/>
          </p:nvPr>
        </p:nvPicPr>
        <p:blipFill>
          <a:blip r:embed="rId4">
            <a:extLst>
              <a:ext uri="{28A0092B-C50C-407E-A947-70E740481C1C}">
                <a14:useLocalDpi xmlns:a14="http://schemas.microsoft.com/office/drawing/2010/main" val="0"/>
              </a:ext>
            </a:extLst>
          </a:blip>
          <a:stretch>
            <a:fillRect/>
          </a:stretch>
        </p:blipFill>
        <p:spPr>
          <a:xfrm>
            <a:off x="7036904" y="1719470"/>
            <a:ext cx="4949686" cy="3577224"/>
          </a:xfrm>
        </p:spPr>
      </p:pic>
    </p:spTree>
    <p:extLst>
      <p:ext uri="{BB962C8B-B14F-4D97-AF65-F5344CB8AC3E}">
        <p14:creationId xmlns:p14="http://schemas.microsoft.com/office/powerpoint/2010/main" val="4198533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E4285C-6289-07F6-B7C7-64940630EEEA}"/>
              </a:ext>
            </a:extLst>
          </p:cNvPr>
          <p:cNvSpPr>
            <a:spLocks noGrp="1"/>
          </p:cNvSpPr>
          <p:nvPr>
            <p:ph sz="half" idx="1"/>
          </p:nvPr>
        </p:nvSpPr>
        <p:spPr>
          <a:xfrm>
            <a:off x="0" y="0"/>
            <a:ext cx="6019800" cy="6858000"/>
          </a:xfrm>
        </p:spPr>
        <p:txBody>
          <a:bodyPr>
            <a:normAutofit/>
          </a:bodyPr>
          <a:lstStyle/>
          <a:p>
            <a:pPr algn="l"/>
            <a:r>
              <a:rPr lang="en-US" b="1" dirty="0">
                <a:effectLst/>
              </a:rPr>
              <a:t>Advantages of Tree Topology</a:t>
            </a:r>
          </a:p>
          <a:p>
            <a:pPr>
              <a:buFont typeface="Arial" panose="020B0604020202020204" pitchFamily="34" charset="0"/>
              <a:buChar char="•"/>
            </a:pPr>
            <a:r>
              <a:rPr lang="en-US" dirty="0"/>
              <a:t>It allows more devices to be attached to a single central hub thus it decreases the distance that is traveled by the signal to come to the devices.</a:t>
            </a:r>
          </a:p>
          <a:p>
            <a:pPr>
              <a:buFont typeface="Arial" panose="020B0604020202020204" pitchFamily="34" charset="0"/>
              <a:buChar char="•"/>
            </a:pPr>
            <a:r>
              <a:rPr lang="en-US" dirty="0"/>
              <a:t>It allows the network to get isolated and also prioritize from different computers.</a:t>
            </a:r>
          </a:p>
          <a:p>
            <a:pPr>
              <a:buFont typeface="Arial" panose="020B0604020202020204" pitchFamily="34" charset="0"/>
              <a:buChar char="•"/>
            </a:pPr>
            <a:r>
              <a:rPr lang="en-US" dirty="0"/>
              <a:t>We can add new devices to the existing network. </a:t>
            </a:r>
          </a:p>
          <a:p>
            <a:endParaRPr lang="en-US" dirty="0"/>
          </a:p>
        </p:txBody>
      </p:sp>
      <p:sp>
        <p:nvSpPr>
          <p:cNvPr id="4" name="Content Placeholder 3">
            <a:extLst>
              <a:ext uri="{FF2B5EF4-FFF2-40B4-BE49-F238E27FC236}">
                <a16:creationId xmlns:a16="http://schemas.microsoft.com/office/drawing/2014/main" id="{05342095-9EC9-398C-3A8B-35CAB7B3AF41}"/>
              </a:ext>
            </a:extLst>
          </p:cNvPr>
          <p:cNvSpPr>
            <a:spLocks noGrp="1"/>
          </p:cNvSpPr>
          <p:nvPr>
            <p:ph sz="half" idx="2"/>
          </p:nvPr>
        </p:nvSpPr>
        <p:spPr>
          <a:xfrm>
            <a:off x="6172202" y="0"/>
            <a:ext cx="6019798" cy="6858000"/>
          </a:xfrm>
        </p:spPr>
        <p:txBody>
          <a:bodyPr>
            <a:normAutofit/>
          </a:bodyPr>
          <a:lstStyle/>
          <a:p>
            <a:pPr algn="l"/>
            <a:r>
              <a:rPr lang="en-US" b="1" dirty="0">
                <a:effectLst/>
              </a:rPr>
              <a:t>Disadvantages of Tree Topology</a:t>
            </a:r>
          </a:p>
          <a:p>
            <a:pPr>
              <a:buFont typeface="Arial" panose="020B0604020202020204" pitchFamily="34" charset="0"/>
              <a:buChar char="•"/>
            </a:pPr>
            <a:r>
              <a:rPr lang="en-US" dirty="0"/>
              <a:t>If the central hub gets fails the entire system fails.</a:t>
            </a:r>
          </a:p>
          <a:p>
            <a:pPr>
              <a:buFont typeface="Arial" panose="020B0604020202020204" pitchFamily="34" charset="0"/>
              <a:buChar char="•"/>
            </a:pPr>
            <a:r>
              <a:rPr lang="en-US" dirty="0"/>
              <a:t>The cost is high because of the cabling.</a:t>
            </a:r>
          </a:p>
          <a:p>
            <a:pPr>
              <a:buFont typeface="Arial" panose="020B0604020202020204" pitchFamily="34" charset="0"/>
              <a:buChar char="•"/>
            </a:pPr>
            <a:r>
              <a:rPr lang="en-US" dirty="0"/>
              <a:t>If new devices are added, it becomes difficult to reconfigure.</a:t>
            </a:r>
          </a:p>
          <a:p>
            <a:endParaRPr lang="en-US" dirty="0"/>
          </a:p>
        </p:txBody>
      </p:sp>
    </p:spTree>
    <p:extLst>
      <p:ext uri="{BB962C8B-B14F-4D97-AF65-F5344CB8AC3E}">
        <p14:creationId xmlns:p14="http://schemas.microsoft.com/office/powerpoint/2010/main" val="1018623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E6E5C8-EDF7-F072-7878-1E573FB64F84}"/>
              </a:ext>
            </a:extLst>
          </p:cNvPr>
          <p:cNvSpPr>
            <a:spLocks noGrp="1"/>
          </p:cNvSpPr>
          <p:nvPr>
            <p:ph idx="1"/>
          </p:nvPr>
        </p:nvSpPr>
        <p:spPr>
          <a:xfrm>
            <a:off x="0" y="0"/>
            <a:ext cx="12192000" cy="6858000"/>
          </a:xfrm>
        </p:spPr>
        <p:txBody>
          <a:bodyPr>
            <a:normAutofit lnSpcReduction="10000"/>
          </a:bodyPr>
          <a:lstStyle/>
          <a:p>
            <a:pPr marL="0" indent="0" algn="l">
              <a:buNone/>
            </a:pPr>
            <a:r>
              <a:rPr lang="en-US" sz="3200" b="1" dirty="0">
                <a:effectLst/>
              </a:rPr>
              <a:t>Mesh Topology</a:t>
            </a:r>
          </a:p>
          <a:p>
            <a:pPr algn="just" rtl="0"/>
            <a:r>
              <a:rPr lang="en-US" dirty="0">
                <a:effectLst/>
              </a:rPr>
              <a:t>In a mesh topology, every device is connected to another device via a particular channel. </a:t>
            </a:r>
          </a:p>
          <a:p>
            <a:pPr algn="just" rtl="0"/>
            <a:r>
              <a:rPr lang="en-US" dirty="0">
                <a:effectLst/>
              </a:rPr>
              <a:t>Every device is connected to another via dedicated channels. These channels are known as links. In Mesh Topology, the protocols used are AHCP (Ad Hoc Configuration Protocols), </a:t>
            </a:r>
            <a:r>
              <a:rPr lang="en-US" dirty="0">
                <a:effectLst/>
                <a:hlinkClick r:id="rId2"/>
              </a:rPr>
              <a:t>DHCP </a:t>
            </a:r>
            <a:r>
              <a:rPr lang="en-US" dirty="0">
                <a:effectLst/>
              </a:rPr>
              <a:t>(Dynamic Host Configuration Protocol), etc. </a:t>
            </a:r>
          </a:p>
          <a:p>
            <a:pPr>
              <a:buFont typeface="Arial" panose="020B0604020202020204" pitchFamily="34" charset="0"/>
              <a:buChar char="•"/>
            </a:pPr>
            <a:r>
              <a:rPr lang="en-US" dirty="0"/>
              <a:t>Suppose, the N number of devices are connected with each other in a mesh topology, the total number of ports that are required by each device is N−1</a:t>
            </a:r>
            <a:r>
              <a:rPr lang="en-US" dirty="0">
                <a:effectLst/>
              </a:rPr>
              <a:t>N</a:t>
            </a:r>
            <a:r>
              <a:rPr lang="en-US" dirty="0"/>
              <a:t>−1.</a:t>
            </a:r>
          </a:p>
          <a:p>
            <a:pPr>
              <a:buFont typeface="Arial" panose="020B0604020202020204" pitchFamily="34" charset="0"/>
              <a:buChar char="•"/>
            </a:pPr>
            <a:r>
              <a:rPr lang="en-US" dirty="0"/>
              <a:t> In Figure , there are 6 devices connected to each other, hence the total number of ports required by each device is 5. The total number of ports required = N * (N-1)= N * (N-1).</a:t>
            </a:r>
          </a:p>
          <a:p>
            <a:pPr>
              <a:buFont typeface="Arial" panose="020B0604020202020204" pitchFamily="34" charset="0"/>
              <a:buChar char="•"/>
            </a:pPr>
            <a:r>
              <a:rPr lang="en-US" dirty="0"/>
              <a:t>Suppose, N number of devices are connected with each other in a mesh topology, then the total number of dedicated links required to connect them is NC2</a:t>
            </a:r>
            <a:r>
              <a:rPr lang="en-US" dirty="0">
                <a:effectLst/>
              </a:rPr>
              <a:t>NC2</a:t>
            </a:r>
            <a:r>
              <a:rPr lang="en-US" dirty="0"/>
              <a:t>​ i.e. N * (N-1)/2N * (N-1)/2. </a:t>
            </a:r>
          </a:p>
          <a:p>
            <a:pPr>
              <a:buFont typeface="Arial" panose="020B0604020202020204" pitchFamily="34" charset="0"/>
              <a:buChar char="•"/>
            </a:pPr>
            <a:r>
              <a:rPr lang="en-US" dirty="0"/>
              <a:t>In Figure, there are 6 devices connected to each other, hence the total number of links required is 6 * 5/2 = 156 * 5/2 = 15. </a:t>
            </a:r>
          </a:p>
          <a:p>
            <a:endParaRPr lang="en-US" dirty="0"/>
          </a:p>
        </p:txBody>
      </p:sp>
    </p:spTree>
    <p:extLst>
      <p:ext uri="{BB962C8B-B14F-4D97-AF65-F5344CB8AC3E}">
        <p14:creationId xmlns:p14="http://schemas.microsoft.com/office/powerpoint/2010/main" val="3798387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73914A8-3FBC-6F60-3651-3FFD5BD88E2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8926" y="745435"/>
            <a:ext cx="11040648" cy="5431528"/>
          </a:xfrm>
        </p:spPr>
      </p:pic>
    </p:spTree>
    <p:extLst>
      <p:ext uri="{BB962C8B-B14F-4D97-AF65-F5344CB8AC3E}">
        <p14:creationId xmlns:p14="http://schemas.microsoft.com/office/powerpoint/2010/main" val="3983119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BADCE91-3FAF-7832-45D9-BDEC8C5D5BAF}"/>
              </a:ext>
            </a:extLst>
          </p:cNvPr>
          <p:cNvSpPr>
            <a:spLocks noGrp="1"/>
          </p:cNvSpPr>
          <p:nvPr>
            <p:ph sz="half" idx="1"/>
          </p:nvPr>
        </p:nvSpPr>
        <p:spPr>
          <a:xfrm>
            <a:off x="0" y="0"/>
            <a:ext cx="6019800" cy="6858000"/>
          </a:xfrm>
        </p:spPr>
        <p:txBody>
          <a:bodyPr>
            <a:normAutofit/>
          </a:bodyPr>
          <a:lstStyle/>
          <a:p>
            <a:pPr algn="l"/>
            <a:r>
              <a:rPr lang="en-US" b="1" dirty="0">
                <a:effectLst/>
              </a:rPr>
              <a:t>Advantages of Mesh Topology</a:t>
            </a:r>
          </a:p>
          <a:p>
            <a:pPr>
              <a:buFont typeface="Arial" panose="020B0604020202020204" pitchFamily="34" charset="0"/>
              <a:buChar char="•"/>
            </a:pPr>
            <a:r>
              <a:rPr lang="en-US" dirty="0"/>
              <a:t>Communication is very fast between the nodes.</a:t>
            </a:r>
          </a:p>
          <a:p>
            <a:pPr>
              <a:buFont typeface="Arial" panose="020B0604020202020204" pitchFamily="34" charset="0"/>
              <a:buChar char="•"/>
            </a:pPr>
            <a:r>
              <a:rPr lang="en-US" dirty="0"/>
              <a:t>Mesh Topology is robust.</a:t>
            </a:r>
          </a:p>
          <a:p>
            <a:pPr>
              <a:buFont typeface="Arial" panose="020B0604020202020204" pitchFamily="34" charset="0"/>
              <a:buChar char="•"/>
            </a:pPr>
            <a:r>
              <a:rPr lang="en-US" dirty="0"/>
              <a:t>The fault is diagnosed easily. Data is reliable because data is transferred among the devices through dedicated channels or links.</a:t>
            </a:r>
          </a:p>
          <a:p>
            <a:pPr>
              <a:buFont typeface="Arial" panose="020B0604020202020204" pitchFamily="34" charset="0"/>
              <a:buChar char="•"/>
            </a:pPr>
            <a:r>
              <a:rPr lang="en-US" dirty="0"/>
              <a:t>Provides security and privacy.</a:t>
            </a:r>
          </a:p>
          <a:p>
            <a:endParaRPr lang="en-US" dirty="0"/>
          </a:p>
        </p:txBody>
      </p:sp>
      <p:sp>
        <p:nvSpPr>
          <p:cNvPr id="6" name="Content Placeholder 5">
            <a:extLst>
              <a:ext uri="{FF2B5EF4-FFF2-40B4-BE49-F238E27FC236}">
                <a16:creationId xmlns:a16="http://schemas.microsoft.com/office/drawing/2014/main" id="{2AD0FED7-BA94-92F9-C2D0-3A23BD6CFA9F}"/>
              </a:ext>
            </a:extLst>
          </p:cNvPr>
          <p:cNvSpPr>
            <a:spLocks noGrp="1"/>
          </p:cNvSpPr>
          <p:nvPr>
            <p:ph sz="half" idx="2"/>
          </p:nvPr>
        </p:nvSpPr>
        <p:spPr>
          <a:xfrm>
            <a:off x="6019800" y="0"/>
            <a:ext cx="6172200" cy="6858000"/>
          </a:xfrm>
        </p:spPr>
        <p:txBody>
          <a:bodyPr>
            <a:normAutofit/>
          </a:bodyPr>
          <a:lstStyle/>
          <a:p>
            <a:pPr algn="l"/>
            <a:r>
              <a:rPr lang="en-US" b="1" dirty="0">
                <a:effectLst/>
              </a:rPr>
              <a:t>Disadvantages of Mesh Topology</a:t>
            </a:r>
          </a:p>
          <a:p>
            <a:pPr>
              <a:buFont typeface="Arial" panose="020B0604020202020204" pitchFamily="34" charset="0"/>
              <a:buChar char="•"/>
            </a:pPr>
            <a:r>
              <a:rPr lang="en-US" dirty="0"/>
              <a:t>Installation and configuration are difficult.</a:t>
            </a:r>
          </a:p>
          <a:p>
            <a:pPr>
              <a:buFont typeface="Arial" panose="020B0604020202020204" pitchFamily="34" charset="0"/>
              <a:buChar char="•"/>
            </a:pPr>
            <a:r>
              <a:rPr lang="en-US" dirty="0"/>
              <a:t>The cost of cables is high as bulk wiring is required, hence suitable for less number of devices.</a:t>
            </a:r>
          </a:p>
          <a:p>
            <a:pPr>
              <a:buFont typeface="Arial" panose="020B0604020202020204" pitchFamily="34" charset="0"/>
              <a:buChar char="•"/>
            </a:pPr>
            <a:r>
              <a:rPr lang="en-US" dirty="0"/>
              <a:t>The cost of maintenance is high.</a:t>
            </a:r>
          </a:p>
          <a:p>
            <a:endParaRPr lang="en-US" dirty="0"/>
          </a:p>
        </p:txBody>
      </p:sp>
    </p:spTree>
    <p:extLst>
      <p:ext uri="{BB962C8B-B14F-4D97-AF65-F5344CB8AC3E}">
        <p14:creationId xmlns:p14="http://schemas.microsoft.com/office/powerpoint/2010/main" val="39910996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AE1CC7-9598-AA3C-EEAB-3574739A8018}"/>
              </a:ext>
            </a:extLst>
          </p:cNvPr>
          <p:cNvSpPr>
            <a:spLocks noGrp="1"/>
          </p:cNvSpPr>
          <p:nvPr>
            <p:ph sz="half" idx="1"/>
          </p:nvPr>
        </p:nvSpPr>
        <p:spPr>
          <a:xfrm>
            <a:off x="0" y="0"/>
            <a:ext cx="6019800" cy="6858000"/>
          </a:xfrm>
        </p:spPr>
        <p:txBody>
          <a:bodyPr>
            <a:normAutofit lnSpcReduction="10000"/>
          </a:bodyPr>
          <a:lstStyle/>
          <a:p>
            <a:pPr algn="l"/>
            <a:r>
              <a:rPr lang="en-US" b="1" dirty="0">
                <a:effectLst/>
              </a:rPr>
              <a:t>Hybrid Topology</a:t>
            </a:r>
          </a:p>
          <a:p>
            <a:pPr rtl="0"/>
            <a:r>
              <a:rPr lang="en-US" dirty="0"/>
              <a:t>Hybrid Topology is the combination of all the various types of topologies we have studied above.</a:t>
            </a:r>
          </a:p>
          <a:p>
            <a:pPr rtl="0"/>
            <a:endParaRPr lang="en-US" dirty="0"/>
          </a:p>
          <a:p>
            <a:pPr rtl="0"/>
            <a:r>
              <a:rPr lang="en-US" dirty="0"/>
              <a:t> Hybrid Topology is used when the nodes are free to take any form.</a:t>
            </a:r>
          </a:p>
          <a:p>
            <a:pPr rtl="0"/>
            <a:endParaRPr lang="en-US" dirty="0"/>
          </a:p>
          <a:p>
            <a:pPr rtl="0"/>
            <a:r>
              <a:rPr lang="en-US" dirty="0"/>
              <a:t> It means these can be individuals such as Ring or Star topology or can be a combination of various types of topologies seen above. </a:t>
            </a:r>
          </a:p>
          <a:p>
            <a:pPr rtl="0"/>
            <a:endParaRPr lang="en-US" dirty="0"/>
          </a:p>
          <a:p>
            <a:pPr rtl="0"/>
            <a:r>
              <a:rPr lang="en-US" dirty="0"/>
              <a:t>Each individual topology uses the protocol that has been discussed earlier. </a:t>
            </a:r>
          </a:p>
          <a:p>
            <a:endParaRPr lang="en-US" dirty="0"/>
          </a:p>
        </p:txBody>
      </p:sp>
      <p:pic>
        <p:nvPicPr>
          <p:cNvPr id="6" name="Content Placeholder 5">
            <a:extLst>
              <a:ext uri="{FF2B5EF4-FFF2-40B4-BE49-F238E27FC236}">
                <a16:creationId xmlns:a16="http://schemas.microsoft.com/office/drawing/2014/main" id="{69698BAE-081D-21BF-0FA7-50622EF7AD6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2" y="1371601"/>
            <a:ext cx="5181598" cy="3925094"/>
          </a:xfrm>
        </p:spPr>
      </p:pic>
    </p:spTree>
    <p:extLst>
      <p:ext uri="{BB962C8B-B14F-4D97-AF65-F5344CB8AC3E}">
        <p14:creationId xmlns:p14="http://schemas.microsoft.com/office/powerpoint/2010/main" val="742561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85F55F-5947-92FA-4CC4-7D06795D91DD}"/>
              </a:ext>
            </a:extLst>
          </p:cNvPr>
          <p:cNvSpPr>
            <a:spLocks noGrp="1"/>
          </p:cNvSpPr>
          <p:nvPr>
            <p:ph sz="half" idx="1"/>
          </p:nvPr>
        </p:nvSpPr>
        <p:spPr>
          <a:xfrm>
            <a:off x="0" y="0"/>
            <a:ext cx="6019800" cy="6858000"/>
          </a:xfrm>
        </p:spPr>
        <p:txBody>
          <a:bodyPr>
            <a:normAutofit/>
          </a:bodyPr>
          <a:lstStyle/>
          <a:p>
            <a:pPr algn="l"/>
            <a:r>
              <a:rPr lang="en-US" b="1" dirty="0">
                <a:effectLst/>
              </a:rPr>
              <a:t>Advantages of Hybrid Topology </a:t>
            </a:r>
          </a:p>
          <a:p>
            <a:pPr>
              <a:buFont typeface="Arial" panose="020B0604020202020204" pitchFamily="34" charset="0"/>
              <a:buChar char="•"/>
            </a:pPr>
            <a:r>
              <a:rPr lang="en-US" dirty="0"/>
              <a:t>This topology is very flexible. </a:t>
            </a:r>
          </a:p>
          <a:p>
            <a:pPr>
              <a:buFont typeface="Arial" panose="020B0604020202020204" pitchFamily="34" charset="0"/>
              <a:buChar char="•"/>
            </a:pPr>
            <a:r>
              <a:rPr lang="en-US" dirty="0"/>
              <a:t>The size of the network can be easily expanded by adding new devices. </a:t>
            </a:r>
          </a:p>
          <a:p>
            <a:endParaRPr lang="en-US" dirty="0"/>
          </a:p>
        </p:txBody>
      </p:sp>
      <p:sp>
        <p:nvSpPr>
          <p:cNvPr id="4" name="Content Placeholder 3">
            <a:extLst>
              <a:ext uri="{FF2B5EF4-FFF2-40B4-BE49-F238E27FC236}">
                <a16:creationId xmlns:a16="http://schemas.microsoft.com/office/drawing/2014/main" id="{123CB7A9-BFF0-C9E1-B4AD-E5AB6674C11D}"/>
              </a:ext>
            </a:extLst>
          </p:cNvPr>
          <p:cNvSpPr>
            <a:spLocks noGrp="1"/>
          </p:cNvSpPr>
          <p:nvPr>
            <p:ph sz="half" idx="2"/>
          </p:nvPr>
        </p:nvSpPr>
        <p:spPr>
          <a:xfrm>
            <a:off x="6095999" y="0"/>
            <a:ext cx="6019799" cy="6788426"/>
          </a:xfrm>
        </p:spPr>
        <p:txBody>
          <a:bodyPr>
            <a:normAutofit/>
          </a:bodyPr>
          <a:lstStyle/>
          <a:p>
            <a:pPr algn="l"/>
            <a:r>
              <a:rPr lang="en-US" b="1" dirty="0">
                <a:effectLst/>
              </a:rPr>
              <a:t>Disadvantages of Hybrid Topology </a:t>
            </a:r>
          </a:p>
          <a:p>
            <a:pPr>
              <a:buFont typeface="Arial" panose="020B0604020202020204" pitchFamily="34" charset="0"/>
              <a:buChar char="•"/>
            </a:pPr>
            <a:r>
              <a:rPr lang="en-US" dirty="0"/>
              <a:t>It is challenging to design the architecture of the Hybrid Network. </a:t>
            </a:r>
          </a:p>
          <a:p>
            <a:pPr>
              <a:buFont typeface="Arial" panose="020B0604020202020204" pitchFamily="34" charset="0"/>
              <a:buChar char="•"/>
            </a:pPr>
            <a:r>
              <a:rPr lang="en-US" dirty="0"/>
              <a:t>Hubs used in this topology are very expensive. </a:t>
            </a:r>
          </a:p>
          <a:p>
            <a:pPr>
              <a:buFont typeface="Arial" panose="020B0604020202020204" pitchFamily="34" charset="0"/>
              <a:buChar char="•"/>
            </a:pPr>
            <a:r>
              <a:rPr lang="en-US" dirty="0"/>
              <a:t>The infrastructure cost is very high as a hybrid network requires a lot of cabling and network devices . </a:t>
            </a:r>
          </a:p>
          <a:p>
            <a:endParaRPr lang="en-US" dirty="0"/>
          </a:p>
        </p:txBody>
      </p:sp>
    </p:spTree>
    <p:extLst>
      <p:ext uri="{BB962C8B-B14F-4D97-AF65-F5344CB8AC3E}">
        <p14:creationId xmlns:p14="http://schemas.microsoft.com/office/powerpoint/2010/main" val="1653742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B8AE41-1112-C229-0F42-9307B2B6BC6E}"/>
              </a:ext>
            </a:extLst>
          </p:cNvPr>
          <p:cNvSpPr>
            <a:spLocks noGrp="1"/>
          </p:cNvSpPr>
          <p:nvPr>
            <p:ph idx="1"/>
          </p:nvPr>
        </p:nvSpPr>
        <p:spPr>
          <a:xfrm>
            <a:off x="0" y="0"/>
            <a:ext cx="12192000" cy="6858000"/>
          </a:xfrm>
        </p:spPr>
        <p:txBody>
          <a:bodyPr>
            <a:normAutofit lnSpcReduction="10000"/>
          </a:bodyPr>
          <a:lstStyle/>
          <a:p>
            <a:r>
              <a:rPr lang="en-US" b="1" dirty="0"/>
              <a:t>Bounded transmission media, </a:t>
            </a:r>
            <a:r>
              <a:rPr lang="en-US" dirty="0"/>
              <a:t>also known as guided media or wired media, refers to the physical media through which signals are transmitted in a computer network. </a:t>
            </a:r>
          </a:p>
          <a:p>
            <a:r>
              <a:rPr lang="en-US" dirty="0"/>
              <a:t>Unlike wireless transmission, bounded transmission media rely on physical cables or wires to carry data signals between network devices.</a:t>
            </a:r>
          </a:p>
          <a:p>
            <a:r>
              <a:rPr lang="en-US" dirty="0"/>
              <a:t> Here are some common types of bounded transmission media:</a:t>
            </a:r>
          </a:p>
          <a:p>
            <a:pPr>
              <a:buFont typeface="+mj-lt"/>
              <a:buAutoNum type="arabicPeriod"/>
            </a:pPr>
            <a:r>
              <a:rPr lang="en-US" b="1" dirty="0"/>
              <a:t>Twisted Pair Cable</a:t>
            </a:r>
            <a:r>
              <a:rPr lang="en-US" dirty="0"/>
              <a:t>: Twisted pair cable consists of pairs of insulated copper wires twisted together to reduce electromagnetic interference. </a:t>
            </a:r>
          </a:p>
          <a:p>
            <a:r>
              <a:rPr lang="en-US" dirty="0"/>
              <a:t>It is widely used for Ethernet networks and telephone systems. </a:t>
            </a:r>
          </a:p>
          <a:p>
            <a:r>
              <a:rPr lang="en-US" b="1" dirty="0"/>
              <a:t>There are two main types of twisted pair cables:</a:t>
            </a:r>
          </a:p>
          <a:p>
            <a:pPr marL="742950" lvl="1" indent="-285750">
              <a:buFont typeface="+mj-lt"/>
              <a:buAutoNum type="arabicPeriod"/>
            </a:pPr>
            <a:r>
              <a:rPr lang="en-US" b="1" dirty="0"/>
              <a:t>Unshielded Twisted Pair (UTP): </a:t>
            </a:r>
            <a:r>
              <a:rPr lang="en-US" dirty="0"/>
              <a:t>UTP cables are commonly used in Ethernet networks. They have no additional shielding and rely on the twisting of wire pairs to reduce        interference. </a:t>
            </a:r>
          </a:p>
          <a:p>
            <a:pPr lvl="1"/>
            <a:r>
              <a:rPr lang="en-US" dirty="0"/>
              <a:t> UTP cables are classified into different categories (e.g., Cat5e, Cat6) based on their        performance and data transmission capabilities.</a:t>
            </a:r>
          </a:p>
          <a:p>
            <a:pPr marL="457200" lvl="1" indent="0">
              <a:buNone/>
            </a:pPr>
            <a:r>
              <a:rPr lang="en-US" b="1" dirty="0"/>
              <a:t>2. Shielded Twisted Pair (STP): </a:t>
            </a:r>
            <a:r>
              <a:rPr lang="en-US" dirty="0"/>
              <a:t>STP cables have additional shielding to provide better   protection against electromagnetic interference. </a:t>
            </a:r>
          </a:p>
          <a:p>
            <a:pPr marL="457200" lvl="1" indent="0">
              <a:buNone/>
            </a:pPr>
            <a:r>
              <a:rPr lang="en-US" dirty="0"/>
              <a:t>    They are used in environments with high levels of interference, such as industrial settings.</a:t>
            </a:r>
          </a:p>
          <a:p>
            <a:endParaRPr lang="en-US" dirty="0"/>
          </a:p>
        </p:txBody>
      </p:sp>
    </p:spTree>
    <p:extLst>
      <p:ext uri="{BB962C8B-B14F-4D97-AF65-F5344CB8AC3E}">
        <p14:creationId xmlns:p14="http://schemas.microsoft.com/office/powerpoint/2010/main" val="3287829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FBD9E66D-61E7-0E2D-7A85-4A2F2BDCF17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6571" y="310243"/>
            <a:ext cx="11190515" cy="5698671"/>
          </a:xfrm>
        </p:spPr>
      </p:pic>
    </p:spTree>
    <p:extLst>
      <p:ext uri="{BB962C8B-B14F-4D97-AF65-F5344CB8AC3E}">
        <p14:creationId xmlns:p14="http://schemas.microsoft.com/office/powerpoint/2010/main" val="23905928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88186B-A6E5-6DAF-291D-96A7D1F3A5C7}"/>
              </a:ext>
            </a:extLst>
          </p:cNvPr>
          <p:cNvSpPr>
            <a:spLocks noGrp="1"/>
          </p:cNvSpPr>
          <p:nvPr>
            <p:ph sz="half" idx="1"/>
          </p:nvPr>
        </p:nvSpPr>
        <p:spPr>
          <a:xfrm>
            <a:off x="-1" y="0"/>
            <a:ext cx="6758609" cy="6858000"/>
          </a:xfrm>
        </p:spPr>
        <p:txBody>
          <a:bodyPr>
            <a:normAutofit/>
          </a:bodyPr>
          <a:lstStyle/>
          <a:p>
            <a:pPr marL="0" indent="0">
              <a:buNone/>
            </a:pPr>
            <a:r>
              <a:rPr lang="en-US" b="1" dirty="0"/>
              <a:t>2.Coaxial Cable: </a:t>
            </a:r>
            <a:r>
              <a:rPr lang="en-US" dirty="0"/>
              <a:t>Coaxial cable consists of a central conductor, an insulating layer, a      metallic shielding, and an outer insulating layer.</a:t>
            </a:r>
          </a:p>
          <a:p>
            <a:r>
              <a:rPr lang="en-US" dirty="0"/>
              <a:t> It is widely used in cable television (CATV) networks and broadband internet connections.</a:t>
            </a:r>
          </a:p>
          <a:p>
            <a:r>
              <a:rPr lang="en-US" dirty="0"/>
              <a:t> Coaxial cable provides better resistance to interference compared to twisted pair cable.</a:t>
            </a:r>
          </a:p>
        </p:txBody>
      </p:sp>
      <p:pic>
        <p:nvPicPr>
          <p:cNvPr id="6" name="Content Placeholder 5">
            <a:extLst>
              <a:ext uri="{FF2B5EF4-FFF2-40B4-BE49-F238E27FC236}">
                <a16:creationId xmlns:a16="http://schemas.microsoft.com/office/drawing/2014/main" id="{90AFB69C-F590-DC40-A3E9-7FB4F621A1ED}"/>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146235" y="1749287"/>
            <a:ext cx="4313582" cy="3995530"/>
          </a:xfrm>
          <a:prstGeom prst="rect">
            <a:avLst/>
          </a:prstGeom>
        </p:spPr>
      </p:pic>
    </p:spTree>
    <p:extLst>
      <p:ext uri="{BB962C8B-B14F-4D97-AF65-F5344CB8AC3E}">
        <p14:creationId xmlns:p14="http://schemas.microsoft.com/office/powerpoint/2010/main" val="1901204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D2098B-89F4-E6D1-1AF1-A97C22594353}"/>
              </a:ext>
            </a:extLst>
          </p:cNvPr>
          <p:cNvSpPr>
            <a:spLocks noGrp="1"/>
          </p:cNvSpPr>
          <p:nvPr>
            <p:ph sz="half" idx="1"/>
          </p:nvPr>
        </p:nvSpPr>
        <p:spPr>
          <a:xfrm>
            <a:off x="0" y="0"/>
            <a:ext cx="6579704" cy="6858000"/>
          </a:xfrm>
        </p:spPr>
        <p:txBody>
          <a:bodyPr>
            <a:normAutofit/>
          </a:bodyPr>
          <a:lstStyle/>
          <a:p>
            <a:pPr marL="0" indent="0">
              <a:buNone/>
            </a:pPr>
            <a:r>
              <a:rPr lang="en-US" b="1" dirty="0"/>
              <a:t>3.Fiber Optic Cable: </a:t>
            </a:r>
            <a:r>
              <a:rPr lang="en-US" dirty="0"/>
              <a:t>Fiber optic cable uses thin strands of glass or plastic fibers to    transmit data signals using light. </a:t>
            </a:r>
          </a:p>
          <a:p>
            <a:r>
              <a:rPr lang="en-US" dirty="0"/>
              <a:t>It offers high bandwidth, low signal loss, and immunity to electromagnetic interference. </a:t>
            </a:r>
          </a:p>
          <a:p>
            <a:r>
              <a:rPr lang="en-US" dirty="0"/>
              <a:t>Fiber optic cables are commonly used in long-distance telecommunications, high-speed internet connections, and data center networks.</a:t>
            </a:r>
          </a:p>
          <a:p>
            <a:endParaRPr lang="en-US" dirty="0"/>
          </a:p>
          <a:p>
            <a:endParaRPr lang="en-US" dirty="0"/>
          </a:p>
        </p:txBody>
      </p:sp>
      <p:pic>
        <p:nvPicPr>
          <p:cNvPr id="5" name="Content Placeholder 4">
            <a:extLst>
              <a:ext uri="{FF2B5EF4-FFF2-40B4-BE49-F238E27FC236}">
                <a16:creationId xmlns:a16="http://schemas.microsoft.com/office/drawing/2014/main" id="{5BE6E743-F5E3-7510-2DFF-636295EEB3C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957392" y="1202635"/>
            <a:ext cx="5234608" cy="4104861"/>
          </a:xfrm>
          <a:prstGeom prst="rect">
            <a:avLst/>
          </a:prstGeom>
        </p:spPr>
      </p:pic>
    </p:spTree>
    <p:extLst>
      <p:ext uri="{BB962C8B-B14F-4D97-AF65-F5344CB8AC3E}">
        <p14:creationId xmlns:p14="http://schemas.microsoft.com/office/powerpoint/2010/main" val="21252401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7B2D8F-1E00-56E4-38D3-C1468E7C5693}"/>
              </a:ext>
            </a:extLst>
          </p:cNvPr>
          <p:cNvSpPr>
            <a:spLocks noGrp="1"/>
          </p:cNvSpPr>
          <p:nvPr>
            <p:ph idx="1"/>
          </p:nvPr>
        </p:nvSpPr>
        <p:spPr>
          <a:xfrm>
            <a:off x="0" y="0"/>
            <a:ext cx="12118206" cy="6886875"/>
          </a:xfrm>
        </p:spPr>
        <p:txBody>
          <a:bodyPr>
            <a:normAutofit/>
          </a:bodyPr>
          <a:lstStyle/>
          <a:p>
            <a:r>
              <a:rPr lang="en-US" b="1" dirty="0"/>
              <a:t>Unbounded transmission media</a:t>
            </a:r>
            <a:r>
              <a:rPr lang="en-US" dirty="0"/>
              <a:t> (micro wave, satellite)</a:t>
            </a:r>
          </a:p>
          <a:p>
            <a:r>
              <a:rPr lang="en-US" dirty="0"/>
              <a:t>Unbounded transmission media, also known as unguided or wireless media, refers to the means of transmitting signals without the use of physical cables or wires. </a:t>
            </a:r>
          </a:p>
          <a:p>
            <a:r>
              <a:rPr lang="en-US" dirty="0"/>
              <a:t>Two common examples of unbounded transmission media are microwave and satellite communications:</a:t>
            </a:r>
          </a:p>
          <a:p>
            <a:endParaRPr lang="en-US" dirty="0"/>
          </a:p>
        </p:txBody>
      </p:sp>
    </p:spTree>
    <p:extLst>
      <p:ext uri="{BB962C8B-B14F-4D97-AF65-F5344CB8AC3E}">
        <p14:creationId xmlns:p14="http://schemas.microsoft.com/office/powerpoint/2010/main" val="9612716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157C5B0-C22D-D086-8D3D-5034C1B7D765}"/>
              </a:ext>
            </a:extLst>
          </p:cNvPr>
          <p:cNvSpPr>
            <a:spLocks noGrp="1"/>
          </p:cNvSpPr>
          <p:nvPr>
            <p:ph sz="half" idx="1"/>
          </p:nvPr>
        </p:nvSpPr>
        <p:spPr>
          <a:xfrm>
            <a:off x="-1" y="0"/>
            <a:ext cx="6818243" cy="6858000"/>
          </a:xfrm>
        </p:spPr>
        <p:txBody>
          <a:bodyPr>
            <a:normAutofit fontScale="77500" lnSpcReduction="20000"/>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2800" b="1" i="0" u="none" strike="noStrike" cap="none" normalizeH="0" baseline="0" dirty="0">
                <a:ln>
                  <a:noFill/>
                </a:ln>
                <a:solidFill>
                  <a:schemeClr val="tx1"/>
                </a:solidFill>
                <a:effectLst/>
                <a:latin typeface="Arial" panose="020B0604020202020204" pitchFamily="34" charset="0"/>
              </a:rPr>
              <a:t>Microwave Communication</a:t>
            </a:r>
            <a:r>
              <a:rPr kumimoji="0" lang="en-US" altLang="en-US" sz="2800" b="0" i="0" u="none" strike="noStrike" cap="none" normalizeH="0" baseline="0" dirty="0">
                <a:ln>
                  <a:noFill/>
                </a:ln>
                <a:solidFill>
                  <a:schemeClr val="tx1"/>
                </a:solidFill>
                <a:effectLst/>
                <a:latin typeface="Arial" panose="020B0604020202020204" pitchFamily="34" charset="0"/>
              </a:rPr>
              <a:t>: </a:t>
            </a:r>
          </a:p>
          <a:p>
            <a:pPr marL="0" marR="0" lvl="0" indent="0" algn="just" defTabSz="914400" rtl="0" eaLnBrk="0" fontAlgn="base" latinLnBrk="0" hangingPunct="0">
              <a:lnSpc>
                <a:spcPct val="100000"/>
              </a:lnSpc>
              <a:spcBef>
                <a:spcPct val="0"/>
              </a:spcBef>
              <a:spcAft>
                <a:spcPct val="0"/>
              </a:spcAft>
              <a:buClrTx/>
              <a:buSzTx/>
              <a:buNone/>
              <a:tabLst/>
            </a:pPr>
            <a:r>
              <a:rPr kumimoji="0" lang="en-US" altLang="en-US" sz="2800" b="0" i="0" u="none" strike="noStrike" cap="none" normalizeH="0" baseline="0" dirty="0">
                <a:ln>
                  <a:noFill/>
                </a:ln>
                <a:solidFill>
                  <a:schemeClr val="tx1"/>
                </a:solidFill>
                <a:effectLst/>
                <a:latin typeface="Arial" panose="020B0604020202020204" pitchFamily="34" charset="0"/>
              </a:rPr>
              <a:t>Microwave communication involves the use of high-frequency radio waves to transmit signals over the air. </a:t>
            </a:r>
          </a:p>
          <a:p>
            <a:pPr marL="0" marR="0" lvl="0" indent="0" algn="just" defTabSz="914400" rtl="0" eaLnBrk="0" fontAlgn="base" latinLnBrk="0" hangingPunct="0">
              <a:lnSpc>
                <a:spcPct val="100000"/>
              </a:lnSpc>
              <a:spcBef>
                <a:spcPct val="0"/>
              </a:spcBef>
              <a:spcAft>
                <a:spcPct val="0"/>
              </a:spcAft>
              <a:buClrTx/>
              <a:buSz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Arial" panose="020B0604020202020204" pitchFamily="34" charset="0"/>
              </a:rPr>
              <a:t>It requires line-of-sight propagation, where microwave antennas are placed at fixed locations to establish a communication link.</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Arial" panose="020B0604020202020204" pitchFamily="34" charset="0"/>
              </a:rPr>
              <a:t> Microwave communication is often used for point-to-point communication between two fixed locations, such as in long-distance telephone networks and wireless backhaul for cellular networks.</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algn="just"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Microwave communication offers high bandwidth and low latency, making it suitable for transmitting large amounts of data over long distances.</a:t>
            </a:r>
          </a:p>
          <a:p>
            <a:pPr algn="just" eaLnBrk="0" fontAlgn="base" hangingPunct="0">
              <a:lnSpc>
                <a:spcPct val="100000"/>
              </a:lnSpc>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algn="just"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 However, it is harmed  to interference from physical obstacles like buildings and natural obstructions, which can degrade the signal quality.</a:t>
            </a:r>
          </a:p>
          <a:p>
            <a:endParaRPr lang="en-US" dirty="0"/>
          </a:p>
        </p:txBody>
      </p:sp>
      <p:pic>
        <p:nvPicPr>
          <p:cNvPr id="7" name="Content Placeholder 6">
            <a:extLst>
              <a:ext uri="{FF2B5EF4-FFF2-40B4-BE49-F238E27FC236}">
                <a16:creationId xmlns:a16="http://schemas.microsoft.com/office/drawing/2014/main" id="{3B1FECE2-3EF6-C246-1C34-952AC4ED0A0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977270" y="1103244"/>
            <a:ext cx="5088834" cy="4114800"/>
          </a:xfrm>
        </p:spPr>
      </p:pic>
    </p:spTree>
    <p:extLst>
      <p:ext uri="{BB962C8B-B14F-4D97-AF65-F5344CB8AC3E}">
        <p14:creationId xmlns:p14="http://schemas.microsoft.com/office/powerpoint/2010/main" val="2492629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3D9B9F4-FBE4-E624-A1E5-85F33CC030FC}"/>
              </a:ext>
            </a:extLst>
          </p:cNvPr>
          <p:cNvSpPr>
            <a:spLocks noGrp="1"/>
          </p:cNvSpPr>
          <p:nvPr>
            <p:ph sz="half" idx="1"/>
          </p:nvPr>
        </p:nvSpPr>
        <p:spPr>
          <a:xfrm>
            <a:off x="0" y="0"/>
            <a:ext cx="6019800" cy="6738730"/>
          </a:xfrm>
        </p:spPr>
        <p:txBody>
          <a:bodyPr>
            <a:normAutofit/>
          </a:bodyPr>
          <a:lstStyle/>
          <a:p>
            <a:pPr rtl="0"/>
            <a:r>
              <a:rPr lang="en-US" b="1" dirty="0"/>
              <a:t>Advantages</a:t>
            </a:r>
            <a:r>
              <a:rPr lang="en-US" dirty="0"/>
              <a:t>:</a:t>
            </a:r>
          </a:p>
          <a:p>
            <a:pPr>
              <a:buFont typeface="Arial" panose="020B0604020202020204" pitchFamily="34" charset="0"/>
              <a:buChar char="•"/>
            </a:pPr>
            <a:r>
              <a:rPr lang="en-US" dirty="0"/>
              <a:t>Cheaper than using cables</a:t>
            </a:r>
          </a:p>
          <a:p>
            <a:pPr>
              <a:buFont typeface="Arial" panose="020B0604020202020204" pitchFamily="34" charset="0"/>
              <a:buChar char="•"/>
            </a:pPr>
            <a:r>
              <a:rPr lang="en-US" dirty="0"/>
              <a:t>Freedom from land acquisition</a:t>
            </a:r>
          </a:p>
          <a:p>
            <a:pPr>
              <a:buFont typeface="Arial" panose="020B0604020202020204" pitchFamily="34" charset="0"/>
              <a:buChar char="•"/>
            </a:pPr>
            <a:r>
              <a:rPr lang="en-US" dirty="0"/>
              <a:t>Ease of communication in difficult terrains</a:t>
            </a:r>
          </a:p>
          <a:p>
            <a:pPr>
              <a:buFont typeface="Arial" panose="020B0604020202020204" pitchFamily="34" charset="0"/>
              <a:buChar char="•"/>
            </a:pPr>
            <a:r>
              <a:rPr lang="en-US" dirty="0"/>
              <a:t>Communication over oceans</a:t>
            </a:r>
          </a:p>
          <a:p>
            <a:endParaRPr lang="en-US" dirty="0"/>
          </a:p>
        </p:txBody>
      </p:sp>
      <p:sp>
        <p:nvSpPr>
          <p:cNvPr id="6" name="Content Placeholder 5">
            <a:extLst>
              <a:ext uri="{FF2B5EF4-FFF2-40B4-BE49-F238E27FC236}">
                <a16:creationId xmlns:a16="http://schemas.microsoft.com/office/drawing/2014/main" id="{8FC4AC78-A358-9CC9-2D8F-3A603785BA13}"/>
              </a:ext>
            </a:extLst>
          </p:cNvPr>
          <p:cNvSpPr>
            <a:spLocks noGrp="1"/>
          </p:cNvSpPr>
          <p:nvPr>
            <p:ph sz="half" idx="2"/>
          </p:nvPr>
        </p:nvSpPr>
        <p:spPr>
          <a:xfrm>
            <a:off x="6609522" y="0"/>
            <a:ext cx="5582478" cy="6858000"/>
          </a:xfrm>
        </p:spPr>
        <p:txBody>
          <a:bodyPr>
            <a:normAutofit/>
          </a:bodyPr>
          <a:lstStyle/>
          <a:p>
            <a:pPr rtl="0"/>
            <a:r>
              <a:rPr lang="en-US" b="1" dirty="0"/>
              <a:t>Disadvantages:</a:t>
            </a:r>
            <a:endParaRPr lang="en-US" dirty="0"/>
          </a:p>
          <a:p>
            <a:pPr>
              <a:buFont typeface="Arial" panose="020B0604020202020204" pitchFamily="34" charset="0"/>
              <a:buChar char="•"/>
            </a:pPr>
            <a:r>
              <a:rPr lang="en-US" dirty="0"/>
              <a:t>Insecure communication.</a:t>
            </a:r>
          </a:p>
          <a:p>
            <a:pPr>
              <a:buFont typeface="Arial" panose="020B0604020202020204" pitchFamily="34" charset="0"/>
              <a:buChar char="•"/>
            </a:pPr>
            <a:r>
              <a:rPr lang="en-US" dirty="0"/>
              <a:t>Out of phase signal.</a:t>
            </a:r>
          </a:p>
          <a:p>
            <a:pPr>
              <a:buFont typeface="Arial" panose="020B0604020202020204" pitchFamily="34" charset="0"/>
              <a:buChar char="•"/>
            </a:pPr>
            <a:r>
              <a:rPr lang="en-US" dirty="0"/>
              <a:t>Susceptible to weather conditions.</a:t>
            </a:r>
          </a:p>
          <a:p>
            <a:pPr>
              <a:buFont typeface="Arial" panose="020B0604020202020204" pitchFamily="34" charset="0"/>
              <a:buChar char="•"/>
            </a:pPr>
            <a:r>
              <a:rPr lang="en-US" dirty="0"/>
              <a:t>Bandwidth is limited.</a:t>
            </a:r>
          </a:p>
          <a:p>
            <a:pPr>
              <a:buFont typeface="Arial" panose="020B0604020202020204" pitchFamily="34" charset="0"/>
              <a:buChar char="•"/>
            </a:pPr>
            <a:r>
              <a:rPr lang="en-US" dirty="0"/>
              <a:t>High cost of design, implementation, and maintenance.</a:t>
            </a:r>
          </a:p>
          <a:p>
            <a:endParaRPr lang="en-US" dirty="0"/>
          </a:p>
        </p:txBody>
      </p:sp>
    </p:spTree>
    <p:extLst>
      <p:ext uri="{BB962C8B-B14F-4D97-AF65-F5344CB8AC3E}">
        <p14:creationId xmlns:p14="http://schemas.microsoft.com/office/powerpoint/2010/main" val="1534148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E7A19C-CA58-D2E8-1799-7AF767AF694C}"/>
              </a:ext>
            </a:extLst>
          </p:cNvPr>
          <p:cNvSpPr>
            <a:spLocks noGrp="1"/>
          </p:cNvSpPr>
          <p:nvPr>
            <p:ph idx="1"/>
          </p:nvPr>
        </p:nvSpPr>
        <p:spPr>
          <a:xfrm>
            <a:off x="0" y="0"/>
            <a:ext cx="12192000" cy="6858000"/>
          </a:xfrm>
        </p:spPr>
        <p:txBody>
          <a:bodyPr>
            <a:normAutofit lnSpcReduction="10000"/>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Satellite Communication: </a:t>
            </a:r>
            <a:r>
              <a:rPr kumimoji="0" lang="en-US" altLang="en-US" sz="2800" b="0" i="0" u="none" strike="noStrike" cap="none" normalizeH="0" baseline="0" dirty="0">
                <a:ln>
                  <a:noFill/>
                </a:ln>
                <a:solidFill>
                  <a:schemeClr val="tx1"/>
                </a:solidFill>
                <a:effectLst/>
                <a:latin typeface="Arial" panose="020B0604020202020204" pitchFamily="34" charset="0"/>
              </a:rPr>
              <a:t>Satellite communication involves the use of communication satellites that orbit the Earth to transmit and receive signals over a wide coverage area.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0" i="0" u="none" strike="noStrike" cap="none" normalizeH="0" baseline="0" dirty="0">
                <a:ln>
                  <a:noFill/>
                </a:ln>
                <a:solidFill>
                  <a:schemeClr val="tx1"/>
                </a:solidFill>
                <a:effectLst/>
                <a:latin typeface="Arial" panose="020B0604020202020204" pitchFamily="34" charset="0"/>
              </a:rPr>
              <a:t>It relies on microwave signals for uplink (transmitting data from the ground to the satellite) and downlink (transmitting data from the satellite to the ground).</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In satellite communication, the ground-based transmitter and receiver communicate with a satellite, which acts as a relay station to transmit signals to other locations on Earth. </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Satellite communication enables long-distance communication across vast areas, making it valuable for global telecommunications, television broadcasting, and internet connectivity in remote regions.</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Satellite communication offers wide coverage, allowing communication in areas where terrestrial infrastructure is limited or nonexistent. </a:t>
            </a:r>
          </a:p>
          <a:p>
            <a:pPr eaLnBrk="0" fontAlgn="base" hangingPunct="0">
              <a:lnSpc>
                <a:spcPct val="100000"/>
              </a:lnSpc>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However, it introduces higher latency due to the longer distance the signals have to travel to reach the satellite and back to Earth.</a:t>
            </a:r>
          </a:p>
          <a:p>
            <a:endParaRPr lang="en-US" dirty="0"/>
          </a:p>
        </p:txBody>
      </p:sp>
    </p:spTree>
    <p:extLst>
      <p:ext uri="{BB962C8B-B14F-4D97-AF65-F5344CB8AC3E}">
        <p14:creationId xmlns:p14="http://schemas.microsoft.com/office/powerpoint/2010/main" val="30722880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0F747F-07A0-89DD-66E9-F276839CBE8F}"/>
              </a:ext>
            </a:extLst>
          </p:cNvPr>
          <p:cNvSpPr>
            <a:spLocks noGrp="1"/>
          </p:cNvSpPr>
          <p:nvPr>
            <p:ph sz="half" idx="1"/>
          </p:nvPr>
        </p:nvSpPr>
        <p:spPr>
          <a:xfrm>
            <a:off x="0" y="0"/>
            <a:ext cx="7633252" cy="6858000"/>
          </a:xfrm>
        </p:spPr>
        <p:txBody>
          <a:bodyPr>
            <a:normAutofit/>
          </a:bodyPr>
          <a:lstStyle/>
          <a:p>
            <a:pPr marL="0" indent="0" algn="l">
              <a:buNone/>
            </a:pPr>
            <a:r>
              <a:rPr lang="en-US" b="1" dirty="0">
                <a:effectLst/>
              </a:rPr>
              <a:t> Radio Waves </a:t>
            </a:r>
          </a:p>
          <a:p>
            <a:pPr rtl="0"/>
            <a:r>
              <a:rPr lang="en-US" dirty="0">
                <a:effectLst/>
                <a:hlinkClick r:id="rId2"/>
              </a:rPr>
              <a:t>Radio waves </a:t>
            </a:r>
            <a:r>
              <a:rPr lang="en-US" dirty="0">
                <a:effectLst/>
              </a:rPr>
              <a:t>are easy to generate and can penetrate through buildings. The sending and receiving antennas need not be aligned.</a:t>
            </a:r>
          </a:p>
          <a:p>
            <a:pPr rtl="0"/>
            <a:r>
              <a:rPr lang="en-US" dirty="0">
                <a:effectLst/>
              </a:rPr>
              <a:t>Frequency Range: 3KHz - 1GHz3KHz - 1GHz. AM and FM radios and cordless phones use Radio waves for transmission. </a:t>
            </a:r>
          </a:p>
          <a:p>
            <a:pPr rtl="0"/>
            <a:r>
              <a:rPr lang="en-US" b="1" dirty="0"/>
              <a:t>Types of Radio Waves:</a:t>
            </a:r>
            <a:endParaRPr lang="en-US" dirty="0"/>
          </a:p>
          <a:p>
            <a:pPr>
              <a:buFont typeface="Arial" panose="020B0604020202020204" pitchFamily="34" charset="0"/>
              <a:buChar char="•"/>
            </a:pPr>
            <a:r>
              <a:rPr lang="en-US" dirty="0"/>
              <a:t>Short Wave: AM Radio</a:t>
            </a:r>
          </a:p>
          <a:p>
            <a:pPr>
              <a:buFont typeface="Arial" panose="020B0604020202020204" pitchFamily="34" charset="0"/>
              <a:buChar char="•"/>
            </a:pPr>
            <a:r>
              <a:rPr lang="en-US" dirty="0"/>
              <a:t>VHF (Very High Frequency): FM Radio/TV</a:t>
            </a:r>
          </a:p>
          <a:p>
            <a:pPr>
              <a:buFont typeface="Arial" panose="020B0604020202020204" pitchFamily="34" charset="0"/>
              <a:buChar char="•"/>
            </a:pPr>
            <a:r>
              <a:rPr lang="en-US" dirty="0"/>
              <a:t>UHF (Ultra High Frequency): TV</a:t>
            </a:r>
          </a:p>
          <a:p>
            <a:pPr marL="0" indent="0" rtl="0">
              <a:buNone/>
            </a:pPr>
            <a:r>
              <a:rPr lang="en-US" b="1" dirty="0"/>
              <a:t>Radio Wave Components:</a:t>
            </a:r>
            <a:endParaRPr lang="en-US" dirty="0"/>
          </a:p>
          <a:p>
            <a:pPr>
              <a:buFont typeface="Arial" panose="020B0604020202020204" pitchFamily="34" charset="0"/>
              <a:buChar char="•"/>
            </a:pPr>
            <a:r>
              <a:rPr lang="en-US" dirty="0"/>
              <a:t>Transmitter: Responsible for encoding the signal.</a:t>
            </a:r>
          </a:p>
          <a:p>
            <a:pPr>
              <a:buFont typeface="Arial" panose="020B0604020202020204" pitchFamily="34" charset="0"/>
              <a:buChar char="•"/>
            </a:pPr>
            <a:r>
              <a:rPr lang="en-US" dirty="0"/>
              <a:t>Receiver: Responsible for decoding the signal.</a:t>
            </a:r>
          </a:p>
          <a:p>
            <a:endParaRPr lang="en-US" dirty="0"/>
          </a:p>
        </p:txBody>
      </p:sp>
      <p:pic>
        <p:nvPicPr>
          <p:cNvPr id="7" name="Content Placeholder 6">
            <a:extLst>
              <a:ext uri="{FF2B5EF4-FFF2-40B4-BE49-F238E27FC236}">
                <a16:creationId xmlns:a16="http://schemas.microsoft.com/office/drawing/2014/main" id="{B477E7FA-DE25-1579-47F2-9C12DA0EFB45}"/>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7851914" y="1868557"/>
            <a:ext cx="4340086" cy="3737113"/>
          </a:xfrm>
        </p:spPr>
      </p:pic>
    </p:spTree>
    <p:extLst>
      <p:ext uri="{BB962C8B-B14F-4D97-AF65-F5344CB8AC3E}">
        <p14:creationId xmlns:p14="http://schemas.microsoft.com/office/powerpoint/2010/main" val="3504627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118B122-4293-C8E0-0D39-526F3C7608D9}"/>
              </a:ext>
            </a:extLst>
          </p:cNvPr>
          <p:cNvSpPr>
            <a:spLocks noGrp="1"/>
          </p:cNvSpPr>
          <p:nvPr>
            <p:ph type="title"/>
          </p:nvPr>
        </p:nvSpPr>
        <p:spPr>
          <a:xfrm>
            <a:off x="419100" y="99598"/>
            <a:ext cx="11772900" cy="1162877"/>
          </a:xfrm>
        </p:spPr>
        <p:txBody>
          <a:bodyPr/>
          <a:lstStyle/>
          <a:p>
            <a:r>
              <a:rPr lang="en-US" dirty="0"/>
              <a:t>Wi-Fi</a:t>
            </a:r>
          </a:p>
        </p:txBody>
      </p:sp>
      <p:sp>
        <p:nvSpPr>
          <p:cNvPr id="6" name="Content Placeholder 5">
            <a:extLst>
              <a:ext uri="{FF2B5EF4-FFF2-40B4-BE49-F238E27FC236}">
                <a16:creationId xmlns:a16="http://schemas.microsoft.com/office/drawing/2014/main" id="{C384FD8A-73F2-E772-9692-A590D8C0D705}"/>
              </a:ext>
            </a:extLst>
          </p:cNvPr>
          <p:cNvSpPr>
            <a:spLocks noGrp="1"/>
          </p:cNvSpPr>
          <p:nvPr>
            <p:ph idx="1"/>
          </p:nvPr>
        </p:nvSpPr>
        <p:spPr>
          <a:xfrm>
            <a:off x="0" y="1570382"/>
            <a:ext cx="12192000" cy="5287617"/>
          </a:xfrm>
        </p:spPr>
        <p:txBody>
          <a:bodyPr/>
          <a:lstStyle/>
          <a:p>
            <a:r>
              <a:rPr lang="en-US" dirty="0"/>
              <a:t>Wi-Fi is a wireless technology using radio waves .</a:t>
            </a:r>
          </a:p>
          <a:p>
            <a:r>
              <a:rPr lang="en-US" dirty="0"/>
              <a:t>Based on </a:t>
            </a:r>
            <a:r>
              <a:rPr lang="en-US" dirty="0">
                <a:hlinkClick r:id="rId2"/>
              </a:rPr>
              <a:t>IEEE 802.11 standards</a:t>
            </a:r>
            <a:r>
              <a:rPr lang="en-US" dirty="0"/>
              <a:t>) to connect devices (phones, laptops, etc.) </a:t>
            </a:r>
          </a:p>
          <a:p>
            <a:r>
              <a:rPr lang="en-US" dirty="0"/>
              <a:t>To the internet and each other without cables, through a </a:t>
            </a:r>
            <a:r>
              <a:rPr lang="en-US" dirty="0">
                <a:hlinkClick r:id="rId3"/>
              </a:rPr>
              <a:t>wireless router</a:t>
            </a:r>
            <a:r>
              <a:rPr lang="en-US" dirty="0"/>
              <a:t> that broadcasts the signal, enabling high-speed data exchange for browsing, streaming, and communication in homes, businesses, and public spaces.</a:t>
            </a:r>
          </a:p>
          <a:p>
            <a:r>
              <a:rPr lang="en-US" dirty="0"/>
              <a:t> It's a method of local area networking (LAN) that's distinct from the internet itself but provides access to it</a:t>
            </a:r>
          </a:p>
        </p:txBody>
      </p:sp>
    </p:spTree>
    <p:extLst>
      <p:ext uri="{BB962C8B-B14F-4D97-AF65-F5344CB8AC3E}">
        <p14:creationId xmlns:p14="http://schemas.microsoft.com/office/powerpoint/2010/main" val="42552734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0A486C-5D6D-FA37-0ED5-FE6702EBCE5D}"/>
              </a:ext>
            </a:extLst>
          </p:cNvPr>
          <p:cNvSpPr>
            <a:spLocks noGrp="1"/>
          </p:cNvSpPr>
          <p:nvPr>
            <p:ph idx="1"/>
          </p:nvPr>
        </p:nvSpPr>
        <p:spPr>
          <a:xfrm>
            <a:off x="0" y="0"/>
            <a:ext cx="12192000" cy="6778487"/>
          </a:xfrm>
        </p:spPr>
        <p:txBody>
          <a:bodyPr>
            <a:normAutofit lnSpcReduction="10000"/>
          </a:bodyPr>
          <a:lstStyle/>
          <a:p>
            <a:r>
              <a:rPr lang="en-US" dirty="0"/>
              <a:t>How it Works</a:t>
            </a:r>
          </a:p>
          <a:p>
            <a:pPr>
              <a:buFont typeface="+mj-lt"/>
              <a:buAutoNum type="arabicPeriod"/>
            </a:pPr>
            <a:r>
              <a:rPr lang="en-US" b="1" dirty="0"/>
              <a:t>Internet Source</a:t>
            </a:r>
            <a:r>
              <a:rPr lang="en-US" dirty="0"/>
              <a:t>: An internet connection comes to your location via a modem, usually through a cable or fiber line.</a:t>
            </a:r>
          </a:p>
          <a:p>
            <a:pPr>
              <a:buFont typeface="+mj-lt"/>
              <a:buAutoNum type="arabicPeriod"/>
            </a:pPr>
            <a:endParaRPr lang="en-US" dirty="0"/>
          </a:p>
          <a:p>
            <a:pPr>
              <a:buFont typeface="+mj-lt"/>
              <a:buAutoNum type="arabicPeriod"/>
            </a:pPr>
            <a:r>
              <a:rPr lang="en-US" b="1" dirty="0"/>
              <a:t>Wireless Router</a:t>
            </a:r>
            <a:r>
              <a:rPr lang="en-US" dirty="0"/>
              <a:t>: The modem connects to a wireless router, which acts as the central hub.</a:t>
            </a:r>
          </a:p>
          <a:p>
            <a:pPr>
              <a:buFont typeface="+mj-lt"/>
              <a:buAutoNum type="arabicPeriod"/>
            </a:pPr>
            <a:endParaRPr lang="en-US" dirty="0"/>
          </a:p>
          <a:p>
            <a:pPr>
              <a:buFont typeface="+mj-lt"/>
              <a:buAutoNum type="arabicPeriod"/>
            </a:pPr>
            <a:r>
              <a:rPr lang="en-US" b="1" dirty="0"/>
              <a:t>Radio Waves</a:t>
            </a:r>
            <a:r>
              <a:rPr lang="en-US" dirty="0"/>
              <a:t>: The router converts the internet data into radio signals and broadcasts them.</a:t>
            </a:r>
          </a:p>
          <a:p>
            <a:pPr>
              <a:buFont typeface="+mj-lt"/>
              <a:buAutoNum type="arabicPeriod"/>
            </a:pPr>
            <a:endParaRPr lang="en-US" dirty="0"/>
          </a:p>
          <a:p>
            <a:pPr>
              <a:buFont typeface="+mj-lt"/>
              <a:buAutoNum type="arabicPeriod"/>
            </a:pPr>
            <a:r>
              <a:rPr lang="en-US" b="1" dirty="0"/>
              <a:t>Device Connection</a:t>
            </a:r>
            <a:r>
              <a:rPr lang="en-US" dirty="0"/>
              <a:t>: Your Wi-Fi-enabled device (phone, laptop) picks up these radio waves using its internal antenna, translating them back into usable data.</a:t>
            </a:r>
          </a:p>
          <a:p>
            <a:pPr>
              <a:buFont typeface="+mj-lt"/>
              <a:buAutoNum type="arabicPeriod"/>
            </a:pPr>
            <a:endParaRPr lang="en-US" dirty="0"/>
          </a:p>
          <a:p>
            <a:pPr>
              <a:buFont typeface="+mj-lt"/>
              <a:buAutoNum type="arabicPeriod"/>
            </a:pPr>
            <a:r>
              <a:rPr lang="en-US" b="1" dirty="0"/>
              <a:t>Two-Way Communication</a:t>
            </a:r>
            <a:r>
              <a:rPr lang="en-US" dirty="0"/>
              <a:t>: Your device sends data back to the router using the same radio waves, allowing you to browse, stream, and communicate. </a:t>
            </a:r>
          </a:p>
          <a:p>
            <a:endParaRPr lang="en-US" dirty="0"/>
          </a:p>
        </p:txBody>
      </p:sp>
    </p:spTree>
    <p:extLst>
      <p:ext uri="{BB962C8B-B14F-4D97-AF65-F5344CB8AC3E}">
        <p14:creationId xmlns:p14="http://schemas.microsoft.com/office/powerpoint/2010/main" val="29049302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0C80DD-86A2-0565-DBA4-6884D519325C}"/>
              </a:ext>
            </a:extLst>
          </p:cNvPr>
          <p:cNvSpPr>
            <a:spLocks noGrp="1"/>
          </p:cNvSpPr>
          <p:nvPr>
            <p:ph idx="1"/>
          </p:nvPr>
        </p:nvSpPr>
        <p:spPr>
          <a:xfrm>
            <a:off x="0" y="0"/>
            <a:ext cx="12192000" cy="6857999"/>
          </a:xfrm>
        </p:spPr>
        <p:txBody>
          <a:bodyPr>
            <a:normAutofit/>
          </a:bodyPr>
          <a:lstStyle/>
          <a:p>
            <a:r>
              <a:rPr lang="en-US" dirty="0"/>
              <a:t>Key Aspects</a:t>
            </a:r>
          </a:p>
          <a:p>
            <a:pPr>
              <a:buFont typeface="Arial" panose="020B0604020202020204" pitchFamily="34" charset="0"/>
              <a:buChar char="•"/>
            </a:pPr>
            <a:r>
              <a:rPr lang="en-US" b="1" dirty="0"/>
              <a:t>Standards</a:t>
            </a:r>
            <a:r>
              <a:rPr lang="en-US" dirty="0"/>
              <a:t>: Governed by IEEE 802.11 standards (like Wi-Fi 6, Wi-Fi 7), which define speed, range, and efficiency.</a:t>
            </a:r>
          </a:p>
          <a:p>
            <a:pPr>
              <a:buFont typeface="Arial" panose="020B0604020202020204" pitchFamily="34" charset="0"/>
              <a:buChar char="•"/>
            </a:pPr>
            <a:r>
              <a:rPr lang="en-US" b="1" dirty="0"/>
              <a:t>Frequencies</a:t>
            </a:r>
            <a:r>
              <a:rPr lang="en-US" dirty="0"/>
              <a:t>: Operates on specific radio frequencies, typically 2.4 GHz and 5 GHz (and 6 GHz for Wi-Fi 6E).</a:t>
            </a:r>
          </a:p>
          <a:p>
            <a:pPr>
              <a:buFont typeface="Arial" panose="020B0604020202020204" pitchFamily="34" charset="0"/>
              <a:buChar char="•"/>
            </a:pPr>
            <a:r>
              <a:rPr lang="en-US" b="1" dirty="0"/>
              <a:t>Accessibility</a:t>
            </a:r>
            <a:r>
              <a:rPr lang="en-US" dirty="0"/>
              <a:t>: Allows devices to connect from anywhere within the router's range, offering freedom from physical wires.</a:t>
            </a:r>
          </a:p>
          <a:p>
            <a:pPr>
              <a:buFont typeface="Arial" panose="020B0604020202020204" pitchFamily="34" charset="0"/>
              <a:buChar char="•"/>
            </a:pPr>
            <a:r>
              <a:rPr lang="en-US" b="1" dirty="0"/>
              <a:t>Wi-Fi vs. Internet</a:t>
            </a:r>
            <a:r>
              <a:rPr lang="en-US" dirty="0"/>
              <a:t>: Wi-Fi is the </a:t>
            </a:r>
            <a:r>
              <a:rPr lang="en-US" i="1" dirty="0"/>
              <a:t>access method</a:t>
            </a:r>
            <a:r>
              <a:rPr lang="en-US" dirty="0"/>
              <a:t> (wireless connection), while the </a:t>
            </a:r>
            <a:r>
              <a:rPr lang="en-US" i="1" dirty="0"/>
              <a:t>Internet</a:t>
            </a:r>
            <a:r>
              <a:rPr lang="en-US" dirty="0"/>
              <a:t> is the global network of information; you need both for online access. </a:t>
            </a:r>
          </a:p>
          <a:p>
            <a:endParaRPr lang="en-US" dirty="0"/>
          </a:p>
        </p:txBody>
      </p:sp>
    </p:spTree>
    <p:extLst>
      <p:ext uri="{BB962C8B-B14F-4D97-AF65-F5344CB8AC3E}">
        <p14:creationId xmlns:p14="http://schemas.microsoft.com/office/powerpoint/2010/main" val="39108193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0FAE6-151F-3189-5D71-8EBC800EF04C}"/>
              </a:ext>
            </a:extLst>
          </p:cNvPr>
          <p:cNvSpPr>
            <a:spLocks noGrp="1"/>
          </p:cNvSpPr>
          <p:nvPr>
            <p:ph type="title"/>
          </p:nvPr>
        </p:nvSpPr>
        <p:spPr>
          <a:xfrm>
            <a:off x="188843" y="1"/>
            <a:ext cx="12003157" cy="1033669"/>
          </a:xfrm>
        </p:spPr>
        <p:txBody>
          <a:bodyPr/>
          <a:lstStyle/>
          <a:p>
            <a:r>
              <a:rPr lang="en-US" dirty="0"/>
              <a:t>Bluetooth</a:t>
            </a:r>
          </a:p>
        </p:txBody>
      </p:sp>
      <p:sp>
        <p:nvSpPr>
          <p:cNvPr id="3" name="Content Placeholder 2">
            <a:extLst>
              <a:ext uri="{FF2B5EF4-FFF2-40B4-BE49-F238E27FC236}">
                <a16:creationId xmlns:a16="http://schemas.microsoft.com/office/drawing/2014/main" id="{449A837B-9E70-48A4-C69E-730EC006DE6D}"/>
              </a:ext>
            </a:extLst>
          </p:cNvPr>
          <p:cNvSpPr>
            <a:spLocks noGrp="1"/>
          </p:cNvSpPr>
          <p:nvPr>
            <p:ph idx="1"/>
          </p:nvPr>
        </p:nvSpPr>
        <p:spPr>
          <a:xfrm>
            <a:off x="0" y="1302026"/>
            <a:ext cx="12192000" cy="5555974"/>
          </a:xfrm>
        </p:spPr>
        <p:txBody>
          <a:bodyPr/>
          <a:lstStyle/>
          <a:p>
            <a:r>
              <a:rPr lang="en-US" dirty="0"/>
              <a:t>Bluetooth is a wireless technology standard used for short-range data exchange between devices like phones, headphones, and computers without cables. </a:t>
            </a:r>
          </a:p>
          <a:p>
            <a:r>
              <a:rPr lang="en-US" dirty="0"/>
              <a:t>It works by using low-power radio waves to create a personal area network, allowing compatible devices to pair and communicate.</a:t>
            </a:r>
          </a:p>
          <a:p>
            <a:r>
              <a:rPr lang="en-US" dirty="0"/>
              <a:t> This is useful for connecting devices such as headsets, speakers, and game controllers. </a:t>
            </a:r>
          </a:p>
        </p:txBody>
      </p:sp>
    </p:spTree>
    <p:extLst>
      <p:ext uri="{BB962C8B-B14F-4D97-AF65-F5344CB8AC3E}">
        <p14:creationId xmlns:p14="http://schemas.microsoft.com/office/powerpoint/2010/main" val="2029948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E897F6-73F1-5F33-AE62-D448390B511B}"/>
              </a:ext>
            </a:extLst>
          </p:cNvPr>
          <p:cNvSpPr>
            <a:spLocks noGrp="1"/>
          </p:cNvSpPr>
          <p:nvPr>
            <p:ph idx="1"/>
          </p:nvPr>
        </p:nvSpPr>
        <p:spPr>
          <a:xfrm>
            <a:off x="0" y="0"/>
            <a:ext cx="12192000" cy="6768548"/>
          </a:xfrm>
        </p:spPr>
        <p:txBody>
          <a:bodyPr>
            <a:normAutofit fontScale="92500" lnSpcReduction="20000"/>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rPr>
              <a:t>How it works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Discovery:</a:t>
            </a:r>
            <a:r>
              <a:rPr kumimoji="0" lang="en-US" altLang="en-US" sz="2800" b="0" i="0" u="none" strike="noStrike" cap="none" normalizeH="0" baseline="0" dirty="0">
                <a:ln>
                  <a:noFill/>
                </a:ln>
                <a:solidFill>
                  <a:schemeClr val="tx1"/>
                </a:solidFill>
                <a:effectLst/>
                <a:latin typeface="Arial" panose="020B0604020202020204" pitchFamily="34" charset="0"/>
              </a:rPr>
              <a:t> One device, a "discoverable device," makes itself available to connect to.</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Bonding:</a:t>
            </a:r>
            <a:r>
              <a:rPr kumimoji="0" lang="en-US" altLang="en-US" sz="2800" b="0" i="0" u="none" strike="noStrike" cap="none" normalizeH="0" baseline="0" dirty="0">
                <a:ln>
                  <a:noFill/>
                </a:ln>
                <a:solidFill>
                  <a:schemeClr val="tx1"/>
                </a:solidFill>
                <a:effectLst/>
                <a:latin typeface="Arial" panose="020B0604020202020204" pitchFamily="34" charset="0"/>
              </a:rPr>
              <a:t> The other device finds the discoverable device and initiates a pairing request. Once accepted, they exchange security keys and create a bond for future </a:t>
            </a:r>
            <a:r>
              <a:rPr kumimoji="0" lang="en-US" altLang="en-US" sz="2800" b="0" i="0" u="none" strike="noStrike" cap="none" normalizeH="0" baseline="0">
                <a:ln>
                  <a:noFill/>
                </a:ln>
                <a:solidFill>
                  <a:schemeClr val="tx1"/>
                </a:solidFill>
                <a:effectLst/>
                <a:latin typeface="Arial" panose="020B0604020202020204" pitchFamily="34" charset="0"/>
              </a:rPr>
              <a:t>connections.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FontTx/>
              <a:buChar char="•"/>
            </a:pPr>
            <a:r>
              <a:rPr kumimoji="0" lang="en-US" altLang="en-US" sz="2800" b="1" i="0" u="none" strike="noStrike" cap="none" normalizeH="0" baseline="0" dirty="0">
                <a:ln>
                  <a:noFill/>
                </a:ln>
                <a:solidFill>
                  <a:schemeClr val="tx1"/>
                </a:solidFill>
                <a:effectLst/>
                <a:latin typeface="Arial" panose="020B0604020202020204" pitchFamily="34" charset="0"/>
              </a:rPr>
              <a:t>Pairing:</a:t>
            </a:r>
            <a:r>
              <a:rPr kumimoji="0" lang="en-US" altLang="en-US" sz="2800" b="0" i="0" u="none" strike="noStrike" cap="none" normalizeH="0" baseline="0" dirty="0">
                <a:ln>
                  <a:noFill/>
                </a:ln>
                <a:solidFill>
                  <a:schemeClr val="tx1"/>
                </a:solidFill>
                <a:effectLst/>
                <a:latin typeface="Arial" panose="020B0604020202020204" pitchFamily="34" charset="0"/>
              </a:rPr>
              <a:t> For two devices to communicate, they must first be paired, which involves a one-time setup process.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Connection:</a:t>
            </a:r>
            <a:r>
              <a:rPr kumimoji="0" lang="en-US" altLang="en-US" sz="2800" b="0" i="0" u="none" strike="noStrike" cap="none" normalizeH="0" baseline="0" dirty="0">
                <a:ln>
                  <a:noFill/>
                </a:ln>
                <a:solidFill>
                  <a:schemeClr val="tx1"/>
                </a:solidFill>
                <a:effectLst/>
                <a:latin typeface="Arial" panose="020B0604020202020204" pitchFamily="34" charset="0"/>
              </a:rPr>
              <a:t> After pairing and bonding, the devices can exchange data as long as they are within range (typically up to 10 meters or about 30 feet).</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Automatic Reconnection:</a:t>
            </a:r>
            <a:r>
              <a:rPr kumimoji="0" lang="en-US" altLang="en-US" sz="2800" b="0" i="0" u="none" strike="noStrike" cap="none" normalizeH="0" baseline="0" dirty="0">
                <a:ln>
                  <a:noFill/>
                </a:ln>
                <a:solidFill>
                  <a:schemeClr val="tx1"/>
                </a:solidFill>
                <a:effectLst/>
                <a:latin typeface="Arial" panose="020B0604020202020204" pitchFamily="34" charset="0"/>
              </a:rPr>
              <a:t> Once bonded, the devices can reconnect automatically in the future without repeating the pairing process, as long as they are in range and have not been unpaired</a:t>
            </a:r>
          </a:p>
          <a:p>
            <a:endParaRPr lang="en-US" dirty="0"/>
          </a:p>
        </p:txBody>
      </p:sp>
    </p:spTree>
    <p:extLst>
      <p:ext uri="{BB962C8B-B14F-4D97-AF65-F5344CB8AC3E}">
        <p14:creationId xmlns:p14="http://schemas.microsoft.com/office/powerpoint/2010/main" val="725063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868E7B-122D-86CD-57DF-F0997D4E3E62}"/>
              </a:ext>
            </a:extLst>
          </p:cNvPr>
          <p:cNvSpPr>
            <a:spLocks noGrp="1"/>
          </p:cNvSpPr>
          <p:nvPr>
            <p:ph idx="1"/>
          </p:nvPr>
        </p:nvSpPr>
        <p:spPr>
          <a:xfrm>
            <a:off x="0" y="69574"/>
            <a:ext cx="12192000" cy="6788426"/>
          </a:xfrm>
        </p:spPr>
        <p:txBody>
          <a:bodyPr/>
          <a:lstStyle/>
          <a:p>
            <a:pPr marL="0" indent="0">
              <a:buNone/>
            </a:pPr>
            <a:r>
              <a:rPr lang="en-US" sz="3200" b="1" dirty="0">
                <a:effectLst/>
              </a:rPr>
              <a:t>Common uses</a:t>
            </a:r>
          </a:p>
          <a:p>
            <a:pPr>
              <a:buFont typeface="Arial" panose="020B0604020202020204" pitchFamily="34" charset="0"/>
              <a:buChar char="•"/>
            </a:pPr>
            <a:r>
              <a:rPr lang="en-US" dirty="0">
                <a:effectLst/>
              </a:rPr>
              <a:t>Wireless headsets and speakers</a:t>
            </a:r>
          </a:p>
          <a:p>
            <a:pPr>
              <a:buFont typeface="Arial" panose="020B0604020202020204" pitchFamily="34" charset="0"/>
              <a:buChar char="•"/>
            </a:pPr>
            <a:r>
              <a:rPr lang="en-US" dirty="0">
                <a:effectLst/>
              </a:rPr>
              <a:t>Connecting keyboards, mice, and controllers to computers and gaming consoles</a:t>
            </a:r>
          </a:p>
          <a:p>
            <a:pPr>
              <a:buFont typeface="Arial" panose="020B0604020202020204" pitchFamily="34" charset="0"/>
              <a:buChar char="•"/>
            </a:pPr>
            <a:r>
              <a:rPr lang="en-US" dirty="0">
                <a:effectLst/>
              </a:rPr>
              <a:t>Pairing smartwatches and fitness trackers with smartphones</a:t>
            </a:r>
          </a:p>
          <a:p>
            <a:pPr>
              <a:buFont typeface="Arial" panose="020B0604020202020204" pitchFamily="34" charset="0"/>
              <a:buChar char="•"/>
            </a:pPr>
            <a:r>
              <a:rPr lang="en-US" dirty="0">
                <a:effectLst/>
              </a:rPr>
              <a:t>Transferring files like photos between devices</a:t>
            </a:r>
          </a:p>
          <a:p>
            <a:pPr>
              <a:buFont typeface="Arial" panose="020B0604020202020204" pitchFamily="34" charset="0"/>
              <a:buChar char="•"/>
            </a:pPr>
            <a:r>
              <a:rPr lang="en-US" dirty="0">
                <a:effectLst/>
              </a:rPr>
              <a:t>Connecting a phone to a car's audio system for calls and music </a:t>
            </a:r>
          </a:p>
          <a:p>
            <a:endParaRPr lang="en-US" dirty="0"/>
          </a:p>
        </p:txBody>
      </p:sp>
    </p:spTree>
    <p:extLst>
      <p:ext uri="{BB962C8B-B14F-4D97-AF65-F5344CB8AC3E}">
        <p14:creationId xmlns:p14="http://schemas.microsoft.com/office/powerpoint/2010/main" val="15086049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700D52-3BDA-AD97-AF34-B14D85C15C8E}"/>
              </a:ext>
            </a:extLst>
          </p:cNvPr>
          <p:cNvSpPr>
            <a:spLocks noGrp="1"/>
          </p:cNvSpPr>
          <p:nvPr>
            <p:ph idx="1"/>
          </p:nvPr>
        </p:nvSpPr>
        <p:spPr>
          <a:xfrm>
            <a:off x="0" y="0"/>
            <a:ext cx="12192000" cy="6858000"/>
          </a:xfrm>
        </p:spPr>
        <p:txBody>
          <a:bodyPr/>
          <a:lstStyle/>
          <a:p>
            <a:r>
              <a:rPr lang="en-US" dirty="0">
                <a:effectLst/>
              </a:rPr>
              <a:t>Advantages and disadvantages</a:t>
            </a:r>
          </a:p>
          <a:p>
            <a:pPr>
              <a:buFont typeface="Arial" panose="020B0604020202020204" pitchFamily="34" charset="0"/>
              <a:buChar char="•"/>
            </a:pPr>
            <a:r>
              <a:rPr lang="en-US" b="1" dirty="0">
                <a:effectLst/>
              </a:rPr>
              <a:t>Advantages:</a:t>
            </a:r>
            <a:endParaRPr lang="en-US" dirty="0">
              <a:effectLst/>
            </a:endParaRPr>
          </a:p>
          <a:p>
            <a:pPr marL="742950" lvl="1" indent="-285750">
              <a:buFont typeface="Arial" panose="020B0604020202020204" pitchFamily="34" charset="0"/>
              <a:buChar char="•"/>
            </a:pPr>
            <a:r>
              <a:rPr lang="en-US" dirty="0">
                <a:effectLst/>
              </a:rPr>
              <a:t>Convenient and wire-free connections</a:t>
            </a:r>
          </a:p>
          <a:p>
            <a:pPr marL="742950" lvl="1" indent="-285750">
              <a:buFont typeface="Arial" panose="020B0604020202020204" pitchFamily="34" charset="0"/>
              <a:buChar char="•"/>
            </a:pPr>
            <a:r>
              <a:rPr lang="en-US" dirty="0">
                <a:effectLst/>
              </a:rPr>
              <a:t>Low power consumption, suitable for battery-powered devices</a:t>
            </a:r>
          </a:p>
          <a:p>
            <a:pPr marL="742950" lvl="1" indent="-285750">
              <a:buFont typeface="Arial" panose="020B0604020202020204" pitchFamily="34" charset="0"/>
              <a:buChar char="•"/>
            </a:pPr>
            <a:r>
              <a:rPr lang="en-US" dirty="0">
                <a:effectLst/>
              </a:rPr>
              <a:t>Widely supported across many devices</a:t>
            </a:r>
          </a:p>
          <a:p>
            <a:pPr marL="742950" lvl="1" indent="-285750">
              <a:buFont typeface="Arial" panose="020B0604020202020204" pitchFamily="34" charset="0"/>
              <a:buChar char="•"/>
            </a:pPr>
            <a:r>
              <a:rPr lang="en-US" dirty="0">
                <a:effectLst/>
              </a:rPr>
              <a:t>Secure and encrypted data transmission</a:t>
            </a:r>
          </a:p>
          <a:p>
            <a:pPr>
              <a:buFont typeface="Arial" panose="020B0604020202020204" pitchFamily="34" charset="0"/>
              <a:buChar char="•"/>
            </a:pPr>
            <a:r>
              <a:rPr lang="en-US" b="1" dirty="0">
                <a:effectLst/>
              </a:rPr>
              <a:t>Disadvantages:</a:t>
            </a:r>
            <a:endParaRPr lang="en-US" dirty="0">
              <a:effectLst/>
            </a:endParaRPr>
          </a:p>
          <a:p>
            <a:pPr marL="742950" lvl="1" indent="-285750">
              <a:buFont typeface="Arial" panose="020B0604020202020204" pitchFamily="34" charset="0"/>
              <a:buChar char="•"/>
            </a:pPr>
            <a:r>
              <a:rPr lang="en-US" dirty="0">
                <a:effectLst/>
              </a:rPr>
              <a:t>Limited range compared to Wi-Fi</a:t>
            </a:r>
          </a:p>
          <a:p>
            <a:pPr marL="742950" lvl="1" indent="-285750">
              <a:buFont typeface="Arial" panose="020B0604020202020204" pitchFamily="34" charset="0"/>
              <a:buChar char="•"/>
            </a:pPr>
            <a:r>
              <a:rPr lang="en-US" dirty="0">
                <a:effectLst/>
              </a:rPr>
              <a:t>Slower data transfer rates than some other wireless technologies</a:t>
            </a:r>
          </a:p>
          <a:p>
            <a:pPr marL="742950" lvl="1" indent="-285750">
              <a:buFont typeface="Arial" panose="020B0604020202020204" pitchFamily="34" charset="0"/>
              <a:buChar char="•"/>
            </a:pPr>
            <a:r>
              <a:rPr lang="en-US" dirty="0">
                <a:effectLst/>
              </a:rPr>
              <a:t>Can be vulnerable to hacking </a:t>
            </a:r>
          </a:p>
          <a:p>
            <a:endParaRPr lang="en-US" dirty="0"/>
          </a:p>
        </p:txBody>
      </p:sp>
    </p:spTree>
    <p:extLst>
      <p:ext uri="{BB962C8B-B14F-4D97-AF65-F5344CB8AC3E}">
        <p14:creationId xmlns:p14="http://schemas.microsoft.com/office/powerpoint/2010/main" val="21569593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08BCCC-2361-E08F-3213-E452E40F5B1E}"/>
              </a:ext>
            </a:extLst>
          </p:cNvPr>
          <p:cNvSpPr>
            <a:spLocks noGrp="1"/>
          </p:cNvSpPr>
          <p:nvPr>
            <p:ph idx="1"/>
          </p:nvPr>
        </p:nvSpPr>
        <p:spPr>
          <a:xfrm>
            <a:off x="0" y="0"/>
            <a:ext cx="12192000" cy="6858000"/>
          </a:xfrm>
        </p:spPr>
        <p:txBody>
          <a:bodyPr>
            <a:normAutofit fontScale="85000" lnSpcReduction="20000"/>
          </a:bodyPr>
          <a:lstStyle/>
          <a:p>
            <a:pPr marL="0" indent="0">
              <a:buNone/>
            </a:pPr>
            <a:r>
              <a:rPr lang="en-US" sz="3800" b="1" dirty="0"/>
              <a:t>Cabling Standards (TIA/EIA-568 and ISO/IEC 11801) </a:t>
            </a:r>
          </a:p>
          <a:p>
            <a:r>
              <a:rPr lang="en-US" dirty="0"/>
              <a:t>The primary standard for commercial building telecommunications cabling is the ANSI/TIA-568 series in North America, and the equivalent ISO/IEC 11801 series internationally.</a:t>
            </a:r>
          </a:p>
          <a:p>
            <a:r>
              <a:rPr lang="en-US" dirty="0"/>
              <a:t> These standards define performance requirements, cable categories, and installation practices. </a:t>
            </a:r>
          </a:p>
          <a:p>
            <a:pPr>
              <a:buFont typeface="Arial" panose="020B0604020202020204" pitchFamily="34" charset="0"/>
              <a:buChar char="•"/>
            </a:pPr>
            <a:r>
              <a:rPr lang="en-US" dirty="0"/>
              <a:t>Cable Categories/Classes: These standards define categories (Cat) in TIA and classes in ISO for balanced twisted-pair cables, specifying minimum performance requirements, bandwidth, and supported applications.</a:t>
            </a:r>
          </a:p>
          <a:p>
            <a:pPr>
              <a:buFont typeface="Arial" panose="020B0604020202020204" pitchFamily="34" charset="0"/>
              <a:buChar char="•"/>
            </a:pPr>
            <a:r>
              <a:rPr lang="en-US" dirty="0"/>
              <a:t> Common examples include Cat5e, Cat6, Cat6a, and Cat7, with higher numbers indicating better performance.</a:t>
            </a:r>
          </a:p>
          <a:p>
            <a:pPr>
              <a:buFont typeface="Arial" panose="020B0604020202020204" pitchFamily="34" charset="0"/>
              <a:buChar char="•"/>
            </a:pPr>
            <a:r>
              <a:rPr lang="en-US" dirty="0"/>
              <a:t>Maximum Lengths: A universal standard for horizontal cabling (permanent links) is a maximum length of 90 meters of installed cable, with a total channel length (including patch cords) not exceeding 100 meters.</a:t>
            </a:r>
          </a:p>
          <a:p>
            <a:pPr>
              <a:buFont typeface="Arial" panose="020B0604020202020204" pitchFamily="34" charset="0"/>
              <a:buChar char="•"/>
            </a:pPr>
            <a:r>
              <a:rPr lang="en-US" dirty="0"/>
              <a:t>Wiring Sequence (Pinouts): The TIA-568 standard defines two specific wiring sequences for terminating an eight-position RJ45 connector:</a:t>
            </a:r>
          </a:p>
          <a:p>
            <a:pPr marL="742950" lvl="1" indent="-285750">
              <a:buFont typeface="Arial" panose="020B0604020202020204" pitchFamily="34" charset="0"/>
              <a:buChar char="•"/>
            </a:pPr>
            <a:r>
              <a:rPr lang="en-US" dirty="0"/>
              <a:t>T568A: Follows a sequence of green-white/green, orange-white/blue, blue-white/orange, brown-white/brown.</a:t>
            </a:r>
          </a:p>
          <a:p>
            <a:pPr marL="742950" lvl="1" indent="-285750">
              <a:buFont typeface="Arial" panose="020B0604020202020204" pitchFamily="34" charset="0"/>
              <a:buChar char="•"/>
            </a:pPr>
            <a:r>
              <a:rPr lang="en-US" dirty="0"/>
              <a:t>T568B: Follows a sequence of orange-white/orange, green-white/blue, blue-white/green, brown-white/brown.</a:t>
            </a:r>
          </a:p>
          <a:p>
            <a:pPr marL="742950" lvl="1" indent="-285750">
              <a:buFont typeface="Arial" panose="020B0604020202020204" pitchFamily="34" charset="0"/>
              <a:buChar char="•"/>
            </a:pPr>
            <a:r>
              <a:rPr lang="en-US" dirty="0"/>
              <a:t>Both are technically equivalent; the only difference is the swapping of the orange and green pairs. The critical rule is to use the same standard (either A or B) on both ends for a straight-through cable, while a crossover cable uses one standard on each end. </a:t>
            </a:r>
          </a:p>
          <a:p>
            <a:endParaRPr lang="en-US" dirty="0"/>
          </a:p>
        </p:txBody>
      </p:sp>
    </p:spTree>
    <p:extLst>
      <p:ext uri="{BB962C8B-B14F-4D97-AF65-F5344CB8AC3E}">
        <p14:creationId xmlns:p14="http://schemas.microsoft.com/office/powerpoint/2010/main" val="10182527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CA81EC-8386-584B-ED50-2FF612ADA048}"/>
              </a:ext>
            </a:extLst>
          </p:cNvPr>
          <p:cNvSpPr>
            <a:spLocks noGrp="1"/>
          </p:cNvSpPr>
          <p:nvPr>
            <p:ph idx="1"/>
          </p:nvPr>
        </p:nvSpPr>
        <p:spPr>
          <a:xfrm>
            <a:off x="0" y="0"/>
            <a:ext cx="12095922" cy="6858000"/>
          </a:xfrm>
        </p:spPr>
        <p:txBody>
          <a:bodyPr>
            <a:normAutofit/>
          </a:bodyPr>
          <a:lstStyle/>
          <a:p>
            <a:pPr marL="0" indent="0">
              <a:buNone/>
            </a:pPr>
            <a:r>
              <a:rPr lang="en-US" sz="3600" b="1" dirty="0"/>
              <a:t>Labeling Standards (TIA-606-B/C/D)</a:t>
            </a:r>
          </a:p>
          <a:p>
            <a:r>
              <a:rPr lang="en-US" dirty="0"/>
              <a:t>The </a:t>
            </a:r>
            <a:r>
              <a:rPr lang="en-US" b="1" dirty="0"/>
              <a:t>ANSI/TIA-606</a:t>
            </a:r>
            <a:r>
              <a:rPr lang="en-US" dirty="0"/>
              <a:t> standard provides voluntary guidelines for administration, including labeling and record-keeping for cabling infrastructure. </a:t>
            </a:r>
          </a:p>
          <a:p>
            <a:pPr>
              <a:buFont typeface="Arial" panose="020B0604020202020204" pitchFamily="34" charset="0"/>
              <a:buChar char="•"/>
            </a:pPr>
            <a:r>
              <a:rPr lang="en-US" b="1" dirty="0"/>
              <a:t>Durability and Legibility:</a:t>
            </a:r>
            <a:r>
              <a:rPr lang="en-US" dirty="0"/>
              <a:t> Labels must be permanent, durable, and machine-printed for clarity (handwriting is a poor practice).</a:t>
            </a:r>
          </a:p>
          <a:p>
            <a:pPr>
              <a:buFont typeface="Arial" panose="020B0604020202020204" pitchFamily="34" charset="0"/>
              <a:buChar char="•"/>
            </a:pPr>
            <a:r>
              <a:rPr lang="en-US" b="1" dirty="0"/>
              <a:t>Placement:</a:t>
            </a:r>
            <a:r>
              <a:rPr lang="en-US" dirty="0"/>
              <a:t> All cables, patch panels, and termination points must be labeled at </a:t>
            </a:r>
            <a:r>
              <a:rPr lang="en-US" b="1" dirty="0"/>
              <a:t>both ends</a:t>
            </a:r>
            <a:r>
              <a:rPr lang="en-US" dirty="0"/>
              <a:t> to ensure efficient management and troubleshooting.</a:t>
            </a:r>
          </a:p>
          <a:p>
            <a:pPr>
              <a:buFont typeface="Arial" panose="020B0604020202020204" pitchFamily="34" charset="0"/>
              <a:buChar char="•"/>
            </a:pPr>
            <a:r>
              <a:rPr lang="en-US" b="1" dirty="0"/>
              <a:t>Content:</a:t>
            </a:r>
            <a:r>
              <a:rPr lang="en-US" dirty="0"/>
              <a:t> Labels should clearly identify the unique Cable ID, as well as the source and destination points. Including cable type (e.g., Cat6a) and length is considered a best practice.</a:t>
            </a:r>
          </a:p>
          <a:p>
            <a:pPr>
              <a:buFont typeface="Arial" panose="020B0604020202020204" pitchFamily="34" charset="0"/>
              <a:buChar char="•"/>
            </a:pPr>
            <a:r>
              <a:rPr lang="en-US" b="1" dirty="0"/>
              <a:t>Color-coding:</a:t>
            </a:r>
            <a:r>
              <a:rPr lang="en-US" dirty="0"/>
              <a:t> Color-coding schemes can be used on labels or cable jackets to quickly identify the type of cable or application (e.g., standard Ethernet, PoE)</a:t>
            </a:r>
          </a:p>
          <a:p>
            <a:endParaRPr lang="en-US" dirty="0"/>
          </a:p>
        </p:txBody>
      </p:sp>
    </p:spTree>
    <p:extLst>
      <p:ext uri="{BB962C8B-B14F-4D97-AF65-F5344CB8AC3E}">
        <p14:creationId xmlns:p14="http://schemas.microsoft.com/office/powerpoint/2010/main" val="383655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E05E4F-DB98-6326-DE15-585FB82BF16C}"/>
              </a:ext>
            </a:extLst>
          </p:cNvPr>
          <p:cNvSpPr>
            <a:spLocks noGrp="1"/>
          </p:cNvSpPr>
          <p:nvPr>
            <p:ph idx="1"/>
          </p:nvPr>
        </p:nvSpPr>
        <p:spPr>
          <a:xfrm>
            <a:off x="0" y="0"/>
            <a:ext cx="12192000" cy="6858000"/>
          </a:xfrm>
        </p:spPr>
        <p:txBody>
          <a:bodyPr>
            <a:normAutofit/>
          </a:bodyPr>
          <a:lstStyle/>
          <a:p>
            <a:pPr marL="0" indent="0">
              <a:buNone/>
            </a:pPr>
            <a:r>
              <a:rPr lang="en-US" sz="3600" b="1" dirty="0"/>
              <a:t>Testing Standards (TIA-1152 and IEC 61935-1)</a:t>
            </a:r>
          </a:p>
          <a:p>
            <a:r>
              <a:rPr lang="en-US" dirty="0"/>
              <a:t>Cabling installations must be verified through field certification testing to ensure they meet performance requirements and can support intended applications. The main standards for field testing are </a:t>
            </a:r>
            <a:r>
              <a:rPr lang="en-US" b="1" dirty="0"/>
              <a:t>ANSI/TIA-1152</a:t>
            </a:r>
            <a:r>
              <a:rPr lang="en-US" dirty="0"/>
              <a:t> (North America) and </a:t>
            </a:r>
            <a:r>
              <a:rPr lang="en-US" b="1" dirty="0"/>
              <a:t>IEC 61935-1</a:t>
            </a:r>
            <a:r>
              <a:rPr lang="en-US" dirty="0"/>
              <a:t> (International). </a:t>
            </a:r>
          </a:p>
          <a:p>
            <a:r>
              <a:rPr lang="en-US" dirty="0"/>
              <a:t>Key test parameters verified by certification testers include: </a:t>
            </a:r>
          </a:p>
          <a:p>
            <a:pPr>
              <a:buFont typeface="Arial" panose="020B0604020202020204" pitchFamily="34" charset="0"/>
              <a:buChar char="•"/>
            </a:pPr>
            <a:r>
              <a:rPr lang="en-US" b="1" dirty="0"/>
              <a:t>Length:</a:t>
            </a:r>
            <a:r>
              <a:rPr lang="en-US" dirty="0"/>
              <a:t> Ensures the cable link is within the 100m maximum channel length.</a:t>
            </a:r>
          </a:p>
          <a:p>
            <a:pPr>
              <a:buFont typeface="Arial" panose="020B0604020202020204" pitchFamily="34" charset="0"/>
              <a:buChar char="•"/>
            </a:pPr>
            <a:r>
              <a:rPr lang="en-US" b="1" dirty="0"/>
              <a:t>Attenuation:</a:t>
            </a:r>
            <a:r>
              <a:rPr lang="en-US" dirty="0"/>
              <a:t> Measures signal loss along the cable length.</a:t>
            </a:r>
          </a:p>
          <a:p>
            <a:pPr>
              <a:buFont typeface="Arial" panose="020B0604020202020204" pitchFamily="34" charset="0"/>
              <a:buChar char="•"/>
            </a:pPr>
            <a:r>
              <a:rPr lang="en-US" b="1" dirty="0"/>
              <a:t>Near-End Crosstalk (NEXT) &amp; Power Sum ACR (PS-ACR):</a:t>
            </a:r>
            <a:r>
              <a:rPr lang="en-US" dirty="0"/>
              <a:t> Measures signal coupling/interference between wire pairs within the cable.</a:t>
            </a:r>
          </a:p>
          <a:p>
            <a:pPr>
              <a:buFont typeface="Arial" panose="020B0604020202020204" pitchFamily="34" charset="0"/>
              <a:buChar char="•"/>
            </a:pPr>
            <a:r>
              <a:rPr lang="en-US" b="1" dirty="0"/>
              <a:t>Return Loss:</a:t>
            </a:r>
            <a:r>
              <a:rPr lang="en-US" dirty="0"/>
              <a:t> Measures reflections caused by impedance mismatches.</a:t>
            </a:r>
          </a:p>
          <a:p>
            <a:pPr>
              <a:buFont typeface="Arial" panose="020B0604020202020204" pitchFamily="34" charset="0"/>
              <a:buChar char="•"/>
            </a:pPr>
            <a:r>
              <a:rPr lang="en-US" b="1" dirty="0"/>
              <a:t>DC Resistance:</a:t>
            </a:r>
            <a:r>
              <a:rPr lang="en-US" dirty="0"/>
              <a:t> Measures the electrical resistance of the wire pairs, important for Power over Ethernet (PoE) applications. </a:t>
            </a:r>
          </a:p>
          <a:p>
            <a:endParaRPr lang="en-US" dirty="0"/>
          </a:p>
        </p:txBody>
      </p:sp>
    </p:spTree>
    <p:extLst>
      <p:ext uri="{BB962C8B-B14F-4D97-AF65-F5344CB8AC3E}">
        <p14:creationId xmlns:p14="http://schemas.microsoft.com/office/powerpoint/2010/main" val="5547845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TotalTime>
  <Words>3213</Words>
  <Application>Microsoft Office PowerPoint</Application>
  <PresentationFormat>Widescreen</PresentationFormat>
  <Paragraphs>236</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Calibri Light</vt:lpstr>
      <vt:lpstr>Times New Roman</vt:lpstr>
      <vt:lpstr>Office Theme</vt:lpstr>
      <vt:lpstr>                     Chapter 4</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Wi-Fi</vt:lpstr>
      <vt:lpstr>PowerPoint Presentation</vt:lpstr>
      <vt:lpstr>PowerPoint Presentation</vt:lpstr>
      <vt:lpstr>Bluetooth</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Chapter 4</dc:title>
  <dc:creator>dell</dc:creator>
  <cp:lastModifiedBy>Dell</cp:lastModifiedBy>
  <cp:revision>23</cp:revision>
  <dcterms:created xsi:type="dcterms:W3CDTF">2025-11-04T06:53:28Z</dcterms:created>
  <dcterms:modified xsi:type="dcterms:W3CDTF">2025-12-16T11:59:22Z</dcterms:modified>
</cp:coreProperties>
</file>