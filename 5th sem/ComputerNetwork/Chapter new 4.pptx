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6.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7.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34.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9.jpeg" ContentType="image/jpeg"/>
  <Override PartName="/ppt/media/image4.png" ContentType="image/png"/>
  <Override PartName="/ppt/media/image5.png" ContentType="image/png"/>
  <Override PartName="/ppt/media/image8.jpeg" ContentType="image/jpeg"/>
  <Override PartName="/ppt/media/image6.png" ContentType="image/png"/>
  <Override PartName="/ppt/media/image10.png" ContentType="image/png"/>
  <Override PartName="/ppt/media/image7.jpeg" ContentType="image/jpeg"/>
  <Override PartName="/ppt/media/image1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297A306-3DC6-47F2-9F71-0254D97F13E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4830DFD8-F811-4862-B1F2-3D0413BB3249}"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07081DF2-124E-4579-93E5-3E64764E31A3}"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838080" y="1825560"/>
            <a:ext cx="105148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351484F-C14E-4976-827A-14F4DF2E6437}"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275459B3-4CC2-4EDD-B0F1-55FC99B2FE8E}"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83808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622620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1B455D13-C03A-464E-B946-2C8CB6F8B310}"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B7D39AA-DE8D-42C0-9A9A-F75DC56A246C}"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B3B76BEB-AFFA-4DF7-8CD9-FF65B6240B39}"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E2AB43EA-ED38-46D3-8A75-2A7E7609E303}"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4E64C1BC-B96B-45D3-A12D-47281A52D119}"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37CD086E-4339-4EEB-9C0F-A84999D32ACE}"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4EE723D3-4490-4557-9416-B961460814D8}" type="slidenum">
              <a:rPr b="0" lang="en-US" sz="1200" spc="-1" strike="noStrike">
                <a:solidFill>
                  <a:schemeClr val="dk1">
                    <a:tint val="75000"/>
                  </a:schemeClr>
                </a:solidFill>
                <a:latin typeface="Calibri"/>
              </a:rPr>
              <a:t>34</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E024FD0-63C4-4677-A986-83F0ADD98A1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1549CCEB-2029-4B04-9BBC-F0D6F2157FC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838080" y="1825560"/>
            <a:ext cx="1051488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CA7ACCB-9182-4380-9B00-73CA651DF4A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3363CBB-716C-4DF3-82D0-C962AB9CE03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83808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622620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3928983-F66A-45AF-A5BD-0F9C96BC64B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45A27C16-3795-4512-A141-FD420B746C9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698971B4-59F0-411D-97E5-EBE45935BAA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F84ED010-6719-4E06-A6FF-BB9AFCCBA51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36CD70D0-36A7-422D-9985-97923AF8D0E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4"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D4805F42-DCDE-462B-B873-543CB06BA1F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7"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hyperlink" Target="https://www.geeksforgeeks.org/computer-networks/dynamic-host-configuration-protocol-dhcp/" TargetMode="External"/><Relationship Id="rId2" Type="http://schemas.openxmlformats.org/officeDocument/2006/relationships/hyperlink" Target="https://www.geeksforgeeks.org/computer-networks/differences-between-point-to-point-and-multi-point-communication/" TargetMode="External"/><Relationship Id="rId3" Type="http://schemas.openxmlformats.org/officeDocument/2006/relationships/image" Target="../media/image4.png"/><Relationship Id="rId4"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hyperlink" Target="https://www.geeksforgeeks.org/computer-networks/dynamic-host-configuration-protocol-dhcp/" TargetMode="External"/><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hyperlink" Target="https://www.geeksforgeeks.org/physics/radio-waves/" TargetMode="External"/><Relationship Id="rId2" Type="http://schemas.openxmlformats.org/officeDocument/2006/relationships/image" Target="../media/image11.png"/><Relationship Id="rId3"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hyperlink" Target="https://www.google.com/search?q=IEEE+802.11+standards&amp;client=firefox-b-d&amp;sca_esv=e9f24c77f336a04c&amp;sxsrf=AE3TifNcfXXLpK5sgVVpE8Uj2M6jOWn_Jw%3A1765421414052&amp;ei=ZjE6adX7AtOQ4-EP7rXTqAM&amp;ved=2ahUKEwjtxPHAw7SRAxVPzDgGHf8bLcsQgK4QegQIARAD&amp;uact=5&amp;oq=explain+abaout+wifi+&amp;gs_lp=Egxnd3Mtd2l6LXNlcnAiFGV4cGxhaW4gYWJhb3V0IHdpZmkgMgYQABgWGB4yBhAAGBYYHjIGEAAYFhgeMgYQABgWGB4yBhAAGBYYHjIGEAAYFhgeMgYQABgWGB4yBhAAGBYYHjIGEAAYFhgeMgYQABgWGB5I515QuARYiSdwAXgAkAEAmAGRAqABwB-qAQYwLjE1Lja4AQPIAQD4AQGYAhWgApcjwgIKEAAYsAMY1gQYR8ICChAjGIAEGCcYigXCAgsQABiABBiRAhiKBcICEBAuGIAEGNEDGEMYxwEYigXCAggQABiABBixA8ICCxAAGIAEGLEDGIMBwgIFEAAYgATCAhYQLhiABBixAxjRAxhDGMcBGMkDGIoFwgILEAAYgAQYkgMYigXCAg0QABiABBixAxhDGIoFwgISEAAYgAQYsQMYQxiKBRhGGPkBwgIsEAAYgAQYsQMYQxiKBRhGGPkBGJcFGIwFGN0EGEYY-QEY9AMY9QMY9gPYAQHCAgUQIRigAcICBxAAGIAEGA3CAgYQABgNGB6YAwDiAwUSATEgQIgGAZAGCLoGBggBEAEYE5IHCDEuNy4xMi4xoAeYnQGyBwgwLjcuMTIuMbgH2CLCBwkzLTkuOC4zLjHIB8sEgAgA&amp;sclient=gws-wiz-serp&amp;mstk=AUtExfCUDrH9hmphzLq-af_VyXKZbcE6_9KnGRHRbVGM3ex6Ta0uZYsdtBz5QTf7ohIyKuga-CHBRlt5kxitQTQjpnleKCdsXbf5UK_poN3bdHSXRcdPdIpjnkWF0R4LtQ9ELtzQzyNg2Qy2j-iDz2-HSLTKo5UhG2YXmqaCUId0hInYKOw0nzYZCdowNxpk1pDw7rkSgO-ckzi4eDRfk1k2sUh3LdCo3mgYSFLjEruLkWufyGXbugDHeOvmg0HjV0r4wq5eVpR1F10-9w0aiNxbkN3l&amp;csui=3" TargetMode="External"/><Relationship Id="rId2" Type="http://schemas.openxmlformats.org/officeDocument/2006/relationships/hyperlink" Target="https://www.google.com/search?q=wireless+router&amp;client=firefox-b-d&amp;sca_esv=e9f24c77f336a04c&amp;sxsrf=AE3TifNcfXXLpK5sgVVpE8Uj2M6jOWn_Jw%3A1765421414052&amp;ei=ZjE6adX7AtOQ4-EP7rXTqAM&amp;ved=2ahUKEwjtxPHAw7SRAxVPzDgGHf8bLcsQgK4QegQIARAE&amp;uact=5&amp;oq=explain+abaout+wifi+&amp;gs_lp=Egxnd3Mtd2l6LXNlcnAiFGV4cGxhaW4gYWJhb3V0IHdpZmkgMgYQABgWGB4yBhAAGBYYHjIGEAAYFhgeMgYQABgWGB4yBhAAGBYYHjIGEAAYFhgeMgYQABgWGB4yBhAAGBYYHjIGEAAYFhgeMgYQABgWGB5I515QuARYiSdwAXgAkAEAmAGRAqABwB-qAQYwLjE1Lja4AQPIAQD4AQGYAhWgApcjwgIKEAAYsAMY1gQYR8ICChAjGIAEGCcYigXCAgsQABiABBiRAhiKBcICEBAuGIAEGNEDGEMYxwEYigXCAggQABiABBixA8ICCxAAGIAEGLEDGIMBwgIFEAAYgATCAhYQLhiABBixAxjRAxhDGMcBGMkDGIoFwgILEAAYgAQYkgMYigXCAg0QABiABBixAxhDGIoFwgISEAAYgAQYsQMYQxiKBRhGGPkBwgIsEAAYgAQYsQMYQxiKBRhGGPkBGJcFGIwFGN0EGEYY-QEY9AMY9QMY9gPYAQHCAgUQIRigAcICBxAAGIAEGA3CAgYQABgNGB6YAwDiAwUSATEgQIgGAZAGCLoGBggBEAEYE5IHCDEuNy4xMi4xoAeYnQGyBwgwLjcuMTIuMbgH2CLCBwkzLTkuOC4zLjHIB8sEgAgA&amp;sclient=gws-wiz-serp&amp;mstk=AUtExfCUDrH9hmphzLq-af_VyXKZbcE6_9KnGRHRbVGM3ex6Ta0uZYsdtBz5QTf7ohIyKuga-CHBRlt5kxitQTQjpnleKCdsXbf5UK_poN3bdHSXRcdPdIpjnkWF0R4LtQ9ELtzQzyNg2Qy2j-iDz2-HSLTKo5UhG2YXmqaCUId0hInYKOw0nzYZCdowNxpk1pDw7rkSgO-ckzi4eDRfk1k2sUh3LdCo3mgYSFLjEruLkWufyGXbugDHeOvmg0HjV0r4wq5eVpR1F10-9w0aiNxbkN3l&amp;csui=3" TargetMode="External"/><Relationship Id="rId3"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4880" cy="15962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                     </a:t>
            </a:r>
            <a:r>
              <a:rPr b="0" lang="en-US" sz="4400" spc="-1" strike="noStrike">
                <a:solidFill>
                  <a:schemeClr val="dk1"/>
                </a:solidFill>
                <a:latin typeface="Calibri Light"/>
              </a:rPr>
              <a:t>Chapter 4</a:t>
            </a:r>
            <a:endParaRPr b="0" lang="en-US" sz="4400" spc="-1" strike="noStrike">
              <a:solidFill>
                <a:srgbClr val="000000"/>
              </a:solidFill>
              <a:latin typeface="Arial"/>
            </a:endParaRPr>
          </a:p>
        </p:txBody>
      </p:sp>
      <p:sp>
        <p:nvSpPr>
          <p:cNvPr id="49" name="TextBox 4"/>
          <p:cNvSpPr/>
          <p:nvPr/>
        </p:nvSpPr>
        <p:spPr>
          <a:xfrm>
            <a:off x="771480" y="3345120"/>
            <a:ext cx="10343520" cy="57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200" spc="-1" strike="noStrike">
                <a:solidFill>
                  <a:srgbClr val="000000"/>
                </a:solidFill>
                <a:latin typeface="Times New Roman"/>
                <a:ea typeface="Times New Roman"/>
              </a:rPr>
              <a:t>Physical Layer Design Issues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p:nvPr>
        </p:nvSpPr>
        <p:spPr>
          <a:xfrm>
            <a:off x="0" y="0"/>
            <a:ext cx="12191400" cy="6857280"/>
          </a:xfrm>
          <a:prstGeom prst="rect">
            <a:avLst/>
          </a:prstGeom>
          <a:noFill/>
          <a:ln w="0">
            <a:noFill/>
          </a:ln>
        </p:spPr>
        <p:txBody>
          <a:bodyPr lIns="91440" rIns="91440" tIns="45720" bIns="45720" anchor="t">
            <a:normAutofit/>
          </a:bodyPr>
          <a:p>
            <a:pPr marL="9000" indent="0" defTabSz="914400">
              <a:lnSpc>
                <a:spcPct val="107000"/>
              </a:lnSpc>
              <a:buNone/>
              <a:tabLst>
                <a:tab algn="l" pos="0"/>
              </a:tabLst>
            </a:pPr>
            <a:r>
              <a:rPr b="0" lang="en-US" sz="2400" spc="-1" strike="noStrike">
                <a:solidFill>
                  <a:srgbClr val="000000"/>
                </a:solidFill>
                <a:latin typeface="Times New Roman"/>
                <a:ea typeface="Times New Roman"/>
              </a:rPr>
              <a:t>Unit 4: </a:t>
            </a:r>
            <a:endParaRPr b="0" lang="en-US" sz="2400" spc="-1" strike="noStrike">
              <a:solidFill>
                <a:srgbClr val="000000"/>
              </a:solidFill>
              <a:latin typeface="Arial"/>
            </a:endParaRPr>
          </a:p>
          <a:p>
            <a:pPr marL="9000" indent="0" defTabSz="914400">
              <a:lnSpc>
                <a:spcPct val="107000"/>
              </a:lnSpc>
              <a:buNone/>
              <a:tabLst>
                <a:tab algn="l" pos="0"/>
              </a:tabLst>
            </a:pPr>
            <a:endParaRPr b="0" lang="en-US" sz="2400" spc="-1" strike="noStrike">
              <a:solidFill>
                <a:srgbClr val="000000"/>
              </a:solidFill>
              <a:latin typeface="Arial"/>
            </a:endParaRPr>
          </a:p>
          <a:p>
            <a:pPr marL="9000" indent="0" defTabSz="914400">
              <a:lnSpc>
                <a:spcPct val="107000"/>
              </a:lnSpc>
              <a:buNone/>
              <a:tabLst>
                <a:tab algn="l" pos="0"/>
              </a:tabLst>
            </a:pPr>
            <a:r>
              <a:rPr b="0" lang="en-US" sz="2400" spc="-1" strike="noStrike">
                <a:solidFill>
                  <a:srgbClr val="000000"/>
                </a:solidFill>
                <a:latin typeface="Times New Roman"/>
                <a:ea typeface="Times New Roman"/>
              </a:rPr>
              <a:t>Physical Layer Design Issues (4 Hours)</a:t>
            </a:r>
            <a:endParaRPr b="0" lang="en-US" sz="2400" spc="-1" strike="noStrike">
              <a:solidFill>
                <a:srgbClr val="000000"/>
              </a:solidFill>
              <a:latin typeface="Arial"/>
            </a:endParaRPr>
          </a:p>
          <a:p>
            <a:pPr marL="9000" indent="0" defTabSz="914400">
              <a:lnSpc>
                <a:spcPct val="107000"/>
              </a:lnSpc>
              <a:buNone/>
              <a:tabLst>
                <a:tab algn="l" pos="0"/>
              </a:tabLst>
            </a:pPr>
            <a:endParaRPr b="0" lang="en-US" sz="2400" spc="-1" strike="noStrike">
              <a:solidFill>
                <a:srgbClr val="000000"/>
              </a:solidFill>
              <a:latin typeface="Arial"/>
            </a:endParaRPr>
          </a:p>
          <a:p>
            <a:pPr marL="9000" indent="-324000" defTabSz="914400">
              <a:lnSpc>
                <a:spcPct val="107000"/>
              </a:lnSpc>
              <a:buClr>
                <a:srgbClr val="000000"/>
              </a:buClr>
              <a:buFont typeface="Arial"/>
              <a:buChar char="•"/>
              <a:tabLst>
                <a:tab algn="l" pos="0"/>
              </a:tabLst>
            </a:pPr>
            <a:r>
              <a:rPr b="0" lang="en-US" sz="2400" spc="-1" strike="noStrike">
                <a:solidFill>
                  <a:srgbClr val="000000"/>
                </a:solidFill>
                <a:latin typeface="Times New Roman"/>
                <a:ea typeface="Times New Roman"/>
              </a:rPr>
              <a:t>4.1 Transmission Medium, Network Topologies</a:t>
            </a:r>
            <a:endParaRPr b="0" lang="en-US" sz="2400" spc="-1" strike="noStrike">
              <a:solidFill>
                <a:srgbClr val="000000"/>
              </a:solidFill>
              <a:latin typeface="Arial"/>
            </a:endParaRPr>
          </a:p>
          <a:p>
            <a:pPr indent="0" defTabSz="914400">
              <a:lnSpc>
                <a:spcPct val="107000"/>
              </a:lnSpc>
              <a:buNone/>
              <a:tabLst>
                <a:tab algn="l" pos="0"/>
              </a:tabLst>
            </a:pPr>
            <a:endParaRPr b="0" lang="en-US" sz="2400" spc="-1" strike="noStrike">
              <a:solidFill>
                <a:srgbClr val="000000"/>
              </a:solidFill>
              <a:latin typeface="Arial"/>
            </a:endParaRPr>
          </a:p>
          <a:p>
            <a:pPr marL="228600" indent="-219600" defTabSz="914400">
              <a:lnSpc>
                <a:spcPct val="98000"/>
              </a:lnSpc>
              <a:buClr>
                <a:srgbClr val="000000"/>
              </a:buClr>
              <a:buFont typeface="Arial"/>
              <a:buChar char="•"/>
              <a:tabLst>
                <a:tab algn="l" pos="0"/>
              </a:tabLst>
            </a:pPr>
            <a:r>
              <a:rPr b="0" lang="en-US" sz="2400" spc="-1" strike="noStrike">
                <a:solidFill>
                  <a:srgbClr val="000000"/>
                </a:solidFill>
                <a:latin typeface="Times New Roman"/>
                <a:ea typeface="Times New Roman"/>
              </a:rPr>
              <a:t>4.2 Guided Transmission Media (Twisted Pair, Coaxial, Optical Fiber)</a:t>
            </a:r>
            <a:endParaRPr b="0" lang="en-US" sz="2400" spc="-1" strike="noStrike">
              <a:solidFill>
                <a:srgbClr val="000000"/>
              </a:solidFill>
              <a:latin typeface="Arial"/>
            </a:endParaRPr>
          </a:p>
          <a:p>
            <a:pPr indent="0" defTabSz="914400">
              <a:lnSpc>
                <a:spcPct val="98000"/>
              </a:lnSpc>
              <a:buNone/>
              <a:tabLst>
                <a:tab algn="l" pos="0"/>
              </a:tabLst>
            </a:pPr>
            <a:endParaRPr b="0" lang="en-US" sz="2400" spc="-1" strike="noStrike">
              <a:solidFill>
                <a:srgbClr val="000000"/>
              </a:solidFill>
              <a:latin typeface="Arial"/>
            </a:endParaRPr>
          </a:p>
          <a:p>
            <a:pPr marL="228600" indent="-219600" algn="just" defTabSz="914400">
              <a:lnSpc>
                <a:spcPct val="95000"/>
              </a:lnSpc>
              <a:spcAft>
                <a:spcPts val="79"/>
              </a:spcAft>
              <a:buClr>
                <a:srgbClr val="000000"/>
              </a:buClr>
              <a:buFont typeface="Arial"/>
              <a:buChar char="•"/>
              <a:tabLst>
                <a:tab algn="l" pos="0"/>
              </a:tabLst>
            </a:pPr>
            <a:r>
              <a:rPr b="0" lang="en-US" sz="2400" spc="-1" strike="noStrike">
                <a:solidFill>
                  <a:srgbClr val="000000"/>
                </a:solidFill>
                <a:latin typeface="Times New Roman"/>
                <a:ea typeface="Times New Roman"/>
              </a:rPr>
              <a:t>4.3 Unguided Transmission Media (Bluetooth, Wi-Fi, Cellular, Microwave, Satellite)</a:t>
            </a:r>
            <a:endParaRPr b="0" lang="en-US" sz="2400" spc="-1" strike="noStrike">
              <a:solidFill>
                <a:srgbClr val="000000"/>
              </a:solidFill>
              <a:latin typeface="Arial"/>
            </a:endParaRPr>
          </a:p>
          <a:p>
            <a:pPr marL="9000" indent="0" algn="just" defTabSz="914400">
              <a:lnSpc>
                <a:spcPct val="95000"/>
              </a:lnSpc>
              <a:spcAft>
                <a:spcPts val="79"/>
              </a:spcAft>
              <a:buNone/>
              <a:tabLst>
                <a:tab algn="l" pos="0"/>
              </a:tabLst>
            </a:pP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rgbClr val="000000"/>
                </a:solidFill>
                <a:latin typeface="Times New Roman"/>
                <a:ea typeface="Times New Roman"/>
              </a:rPr>
              <a:t>4.4 Twisted Pair Cabling, Labeling and Testing Standards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p:nvPr>
        </p:nvSpPr>
        <p:spPr>
          <a:xfrm>
            <a:off x="0" y="0"/>
            <a:ext cx="12191400" cy="685728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lang="en-US" sz="4000" spc="-1" strike="noStrike">
                <a:solidFill>
                  <a:schemeClr val="dk1"/>
                </a:solidFill>
                <a:latin typeface="Calibri"/>
              </a:rPr>
              <a:t>Network Topology</a:t>
            </a:r>
            <a:endParaRPr b="0" lang="en-US" sz="4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 network topology is the arrangement of devices (nodes) and connections (links) in a computer network.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It shows how computers, servers, and other devices are connected and how data flows between them.</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There are two main types of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Physical Topology: </a:t>
            </a:r>
            <a:r>
              <a:rPr b="0" lang="en-US" sz="2800" spc="-1" strike="noStrike">
                <a:solidFill>
                  <a:schemeClr val="dk1"/>
                </a:solidFill>
                <a:latin typeface="Calibri"/>
              </a:rPr>
              <a:t>The actual physical layout of cables and devices.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Logical Topology:</a:t>
            </a:r>
            <a:r>
              <a:rPr b="0" lang="en-US" sz="2800" spc="-1" strike="noStrike">
                <a:solidFill>
                  <a:schemeClr val="dk1"/>
                </a:solidFill>
                <a:latin typeface="Calibri"/>
              </a:rPr>
              <a:t> How data moves across the network, regardless of physical layout.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p:nvPr>
        </p:nvSpPr>
        <p:spPr>
          <a:xfrm>
            <a:off x="23040" y="0"/>
            <a:ext cx="6019200" cy="68572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Point To Point Topology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Point-to-point topology is a type of topology that works on the functionality of the sender and receiver.</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It is the simplest communication between two nodes, in which one is the sender and the other one is the receiver.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Point-to-Point provides high bandwidth.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53" name="Content Placeholder 7" descr=""/>
          <p:cNvPicPr/>
          <p:nvPr/>
        </p:nvPicPr>
        <p:blipFill>
          <a:blip r:embed="rId1"/>
          <a:stretch/>
        </p:blipFill>
        <p:spPr>
          <a:xfrm>
            <a:off x="6868080" y="1759320"/>
            <a:ext cx="5108040" cy="37861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p:nvPr>
        </p:nvSpPr>
        <p:spPr>
          <a:xfrm>
            <a:off x="0" y="0"/>
            <a:ext cx="689688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Bus Topology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Bus Topology is a network type in which every computer and network device is connected to a single cable.</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It is bi-directional.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It is a multi-point connection and a non-robust topology because if the backbone fails the topology crashes.</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Bus-topology Ethernet uses only the CSMA/CD MAC protocol. </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TDMA, CDMA, Pure ALOHA, and Slotted ALOHA were never used in Ethernet.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55" name="Content Placeholder 7" descr=""/>
          <p:cNvPicPr/>
          <p:nvPr/>
        </p:nvPicPr>
        <p:blipFill>
          <a:blip r:embed="rId1"/>
          <a:stretch/>
        </p:blipFill>
        <p:spPr>
          <a:xfrm>
            <a:off x="7335000" y="1798920"/>
            <a:ext cx="4017960" cy="34448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p:nvPr>
        </p:nvSpPr>
        <p:spPr>
          <a:xfrm>
            <a:off x="0" y="0"/>
            <a:ext cx="6019200" cy="6717960"/>
          </a:xfrm>
          <a:prstGeom prst="rect">
            <a:avLst/>
          </a:prstGeom>
          <a:noFill/>
          <a:ln w="0">
            <a:noFill/>
          </a:ln>
        </p:spPr>
        <p:txBody>
          <a:bodyPr lIns="91440" rIns="91440" tIns="45720" bIns="45720" anchor="t">
            <a:normAutofit fontScale="81111"/>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Advantages of Bus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If N devices are connected to each other in a bus topology, then the number of cables required to connect them is 1, known as backbone cable, and N drop lines are required.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Coaxial or twisted pair cables are mainly used in bus-based networks that support up to 10 Mbps.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cost of the cable is less compared to other topologies, but it is used to build small networks.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Bus topology is familiar technology as installation and troubleshooting techniques are well known.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CSMA/CD was the only MAC method used in traditional bus Ethernet. Modern switched Ethernet does not use CSMA/CD because full-duplex operation eliminates collisions.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57" name="PlaceHolder 2"/>
          <p:cNvSpPr>
            <a:spLocks noGrp="1"/>
          </p:cNvSpPr>
          <p:nvPr>
            <p:ph/>
          </p:nvPr>
        </p:nvSpPr>
        <p:spPr>
          <a:xfrm>
            <a:off x="6095880" y="69480"/>
            <a:ext cx="6019200" cy="66484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Disadvantages of  Bus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bus topology is quite simpler, but still, it requires a lot of cabling.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If the common cable fails, then the whole system will crash down.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If the network traffic is heavy, it increases collisions in the network. To avoid this, various protocols are used in the MAC layer known as Pure Aloha, Slotted Aloha, CSMA/CD, etc.</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Adding new devices to the network would slow down networks.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Security is very low.</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p:nvPr>
        </p:nvSpPr>
        <p:spPr>
          <a:xfrm>
            <a:off x="0" y="0"/>
            <a:ext cx="6479640" cy="6857280"/>
          </a:xfrm>
          <a:prstGeom prst="rect">
            <a:avLst/>
          </a:prstGeom>
          <a:noFill/>
          <a:ln w="0">
            <a:noFill/>
          </a:ln>
        </p:spPr>
        <p:txBody>
          <a:bodyPr lIns="91440" rIns="91440" tIns="45720" bIns="45720" anchor="t">
            <a:normAutofit fontScale="89999"/>
          </a:bodyPr>
          <a:p>
            <a:pPr indent="0" defTabSz="914400">
              <a:lnSpc>
                <a:spcPct val="90000"/>
              </a:lnSpc>
              <a:spcBef>
                <a:spcPts val="1001"/>
              </a:spcBef>
              <a:buNone/>
              <a:tabLst>
                <a:tab algn="l" pos="0"/>
              </a:tabLst>
            </a:pPr>
            <a:r>
              <a:rPr b="1" lang="en-US" sz="2800" spc="-1" strike="noStrike">
                <a:solidFill>
                  <a:schemeClr val="dk1"/>
                </a:solidFill>
                <a:latin typeface="Calibri"/>
              </a:rPr>
              <a:t>Ring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 a Ring Topology, it forms a ring connecting devices with exactly two neighboring devices.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A number of repeaters are used for Ring topology with a large number of nodes, because if someone wants to send some data to the last node in the ring topology with 100 nodes, then the data will have to pass through 99 nodes to reach the 100th node.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Hence to prevent data loss repeaters are used in the network.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In-Ring Topology, the Token Ring Passing protocol is used by the workstations to transmit the data where, Token passing is a network access method in which a token is passed from one node to another node &amp; Token is a frame that circulates around the network.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59" name="Content Placeholder 5" descr=""/>
          <p:cNvPicPr/>
          <p:nvPr/>
        </p:nvPicPr>
        <p:blipFill>
          <a:blip r:embed="rId1"/>
          <a:stretch/>
        </p:blipFill>
        <p:spPr>
          <a:xfrm>
            <a:off x="6738840" y="1689480"/>
            <a:ext cx="5137920" cy="35874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p:nvPr>
        </p:nvSpPr>
        <p:spPr>
          <a:xfrm>
            <a:off x="0" y="0"/>
            <a:ext cx="608220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Advantages of Ring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data transmission is high-speed.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possibility of collision is minimum in this type of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Cheap to install and expand.</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61" name="PlaceHolder 2"/>
          <p:cNvSpPr>
            <a:spLocks noGrp="1"/>
          </p:cNvSpPr>
          <p:nvPr>
            <p:ph/>
          </p:nvPr>
        </p:nvSpPr>
        <p:spPr>
          <a:xfrm>
            <a:off x="6311520" y="0"/>
            <a:ext cx="587988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Disadvantages of Ring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failure of a single node in the network can cause the entire network to fail.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Troubleshooting is difficult in this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Less secure.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p:nvPr>
        </p:nvSpPr>
        <p:spPr>
          <a:xfrm>
            <a:off x="0" y="0"/>
            <a:ext cx="6817680" cy="6857280"/>
          </a:xfrm>
          <a:prstGeom prst="rect">
            <a:avLst/>
          </a:prstGeom>
          <a:noFill/>
          <a:ln w="0">
            <a:noFill/>
          </a:ln>
        </p:spPr>
        <p:txBody>
          <a:bodyPr lIns="91440" rIns="91440" tIns="45720" bIns="45720" anchor="t">
            <a:normAutofit fontScale="93333"/>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Tree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Tree topology is the variation of the Star topology. This topology has a hierarchical flow of data. In Tree Topology, protocols like </a:t>
            </a:r>
            <a:r>
              <a:rPr b="0" lang="en-US" sz="2800" spc="-1" strike="noStrike" u="sng">
                <a:solidFill>
                  <a:schemeClr val="dk1"/>
                </a:solidFill>
                <a:uFillTx/>
                <a:latin typeface="Calibri"/>
                <a:hlinkClick r:id="rId1"/>
              </a:rPr>
              <a:t>DHCP</a:t>
            </a:r>
            <a:r>
              <a:rPr b="0" lang="en-US" sz="2800" spc="-1" strike="noStrike">
                <a:solidFill>
                  <a:schemeClr val="dk1"/>
                </a:solidFill>
                <a:latin typeface="Calibri"/>
              </a:rPr>
              <a:t> and SAC (Standard Automatic Configuration) are used.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Here, various secondary hubs are connected to the central hub which contains the repeater.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This data flow from top to bottom i.e. from the central hub to the secondary and then to the devices or from bottom to top i.e. devices to the secondary hub and then to the central hub.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It is a </a:t>
            </a:r>
            <a:r>
              <a:rPr b="0" lang="en-US" sz="2800" spc="-1" strike="noStrike" u="sng">
                <a:solidFill>
                  <a:schemeClr val="dk1"/>
                </a:solidFill>
                <a:uFillTx/>
                <a:latin typeface="Calibri"/>
                <a:hlinkClick r:id="rId2"/>
              </a:rPr>
              <a:t>multi-point connection</a:t>
            </a:r>
            <a:r>
              <a:rPr b="0" lang="en-US" sz="2800" spc="-1" strike="noStrike">
                <a:solidFill>
                  <a:schemeClr val="dk1"/>
                </a:solidFill>
                <a:latin typeface="Calibri"/>
              </a:rPr>
              <a:t> and a non-robust topology because if the backbone fails the topology crashes.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63" name="Content Placeholder 5" descr=""/>
          <p:cNvPicPr/>
          <p:nvPr/>
        </p:nvPicPr>
        <p:blipFill>
          <a:blip r:embed="rId3"/>
          <a:stretch/>
        </p:blipFill>
        <p:spPr>
          <a:xfrm>
            <a:off x="7036920" y="1719360"/>
            <a:ext cx="4948920" cy="35766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p:nvPr>
        </p:nvSpPr>
        <p:spPr>
          <a:xfrm>
            <a:off x="0" y="0"/>
            <a:ext cx="601920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Advantages of Tree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It allows more devices to be attached to a single central hub thus it decreases the distance that is traveled by the signal to come to the devices.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It allows the network to get isolated and also prioritize from different computers.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We can add new devices to the existing network.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65" name="PlaceHolder 2"/>
          <p:cNvSpPr>
            <a:spLocks noGrp="1"/>
          </p:cNvSpPr>
          <p:nvPr>
            <p:ph/>
          </p:nvPr>
        </p:nvSpPr>
        <p:spPr>
          <a:xfrm>
            <a:off x="6172200" y="0"/>
            <a:ext cx="601920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Disadvantages of Tree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If the central hub gets fails the entire system fails.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cost is high because of the cabling.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If new devices are added, it becomes difficult to reconfigure.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p:nvPr>
        </p:nvSpPr>
        <p:spPr>
          <a:xfrm>
            <a:off x="0" y="0"/>
            <a:ext cx="12191400" cy="6857280"/>
          </a:xfrm>
          <a:prstGeom prst="rect">
            <a:avLst/>
          </a:prstGeom>
          <a:noFill/>
          <a:ln w="0">
            <a:noFill/>
          </a:ln>
        </p:spPr>
        <p:txBody>
          <a:bodyPr lIns="91440" rIns="91440" tIns="45720" bIns="45720" anchor="t">
            <a:normAutofit fontScale="96666"/>
          </a:bodyPr>
          <a:p>
            <a:pPr indent="0" defTabSz="914400">
              <a:lnSpc>
                <a:spcPct val="90000"/>
              </a:lnSpc>
              <a:spcBef>
                <a:spcPts val="1001"/>
              </a:spcBef>
              <a:buNone/>
              <a:tabLst>
                <a:tab algn="l" pos="0"/>
              </a:tabLst>
            </a:pPr>
            <a:r>
              <a:rPr b="1" lang="en-US" sz="3200" spc="-1" strike="noStrike">
                <a:solidFill>
                  <a:schemeClr val="dk1"/>
                </a:solidFill>
                <a:latin typeface="Calibri"/>
              </a:rPr>
              <a:t>Mesh Topology</a:t>
            </a:r>
            <a:endParaRPr b="0" lang="en-US" sz="32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 a mesh topology, every device is connected to another device via a particular channel.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Every device is connected to another via dedicated channels. These channels are known as links. In Mesh Topology, the protocols used are AHCP (Ad Hoc Configuration Protocols), </a:t>
            </a:r>
            <a:r>
              <a:rPr b="0" lang="en-US" sz="2800" spc="-1" strike="noStrike" u="sng">
                <a:solidFill>
                  <a:schemeClr val="dk1"/>
                </a:solidFill>
                <a:uFillTx/>
                <a:latin typeface="Calibri"/>
                <a:hlinkClick r:id="rId1"/>
              </a:rPr>
              <a:t>DHCP </a:t>
            </a:r>
            <a:r>
              <a:rPr b="0" lang="en-US" sz="2800" spc="-1" strike="noStrike">
                <a:solidFill>
                  <a:schemeClr val="dk1"/>
                </a:solidFill>
                <a:latin typeface="Calibri"/>
              </a:rPr>
              <a:t>(Dynamic Host Configuration Protocol), etc.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Suppose, the N number of devices are connected with each other in a mesh topology, the total number of ports that are required by each device is N−1N−1.</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In Figure , there are 6 devices connected to each other, hence the total number of ports required by each device is 5. The total number of ports required = N * (N-1)= N * (N-1).</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Suppose, N number of devices are connected with each other in a mesh topology, then the total number of dedicated links required to connect them is NC2NC2​ i.e. N * (N-1)/2N * (N-1)/2.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 Figure, there are 6 devices connected to each other, hence the total number of links required is 6 * 5/2 = 156 * 5/2 = 15.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Content Placeholder 1" descr=""/>
          <p:cNvPicPr/>
          <p:nvPr/>
        </p:nvPicPr>
        <p:blipFill>
          <a:blip r:embed="rId1"/>
          <a:stretch/>
        </p:blipFill>
        <p:spPr>
          <a:xfrm>
            <a:off x="459000" y="745560"/>
            <a:ext cx="11039760" cy="54309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p:nvPr>
        </p:nvSpPr>
        <p:spPr>
          <a:xfrm>
            <a:off x="0" y="0"/>
            <a:ext cx="601920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Advantages of Mesh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Communication is very fast between the nodes.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Mesh Topology is robust.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fault is diagnosed easily. Data is reliable because data is transferred among the devices through dedicated channels or links.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Provides security and privacy.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69" name="PlaceHolder 2"/>
          <p:cNvSpPr>
            <a:spLocks noGrp="1"/>
          </p:cNvSpPr>
          <p:nvPr>
            <p:ph/>
          </p:nvPr>
        </p:nvSpPr>
        <p:spPr>
          <a:xfrm>
            <a:off x="6019920" y="0"/>
            <a:ext cx="617148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Disadvantages of Mesh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Installation and configuration are difficult.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cost of cables is high as bulk wiring is required, hence suitable for less number of devices.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cost of maintenance is high.</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p:nvPr>
        </p:nvSpPr>
        <p:spPr>
          <a:xfrm>
            <a:off x="0" y="0"/>
            <a:ext cx="6019200" cy="6857280"/>
          </a:xfrm>
          <a:prstGeom prst="rect">
            <a:avLst/>
          </a:prstGeom>
          <a:noFill/>
          <a:ln w="0">
            <a:noFill/>
          </a:ln>
        </p:spPr>
        <p:txBody>
          <a:bodyPr lIns="91440" rIns="91440" tIns="45720" bIns="45720" anchor="t">
            <a:normAutofit fontScale="96666"/>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Hybrid Topology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Hybrid Topology is the combination of all the various types of topologies we have studied above.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Hybrid Topology is used when the nodes are free to take any form.</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It means these can be individuals such as Ring or Star topology or can be a combination of various types of topologies seen above.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Each individual topology uses the protocol that has been discussed earlier.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71" name="Content Placeholder 5" descr=""/>
          <p:cNvPicPr/>
          <p:nvPr/>
        </p:nvPicPr>
        <p:blipFill>
          <a:blip r:embed="rId1"/>
          <a:stretch/>
        </p:blipFill>
        <p:spPr>
          <a:xfrm>
            <a:off x="6172200" y="1371600"/>
            <a:ext cx="5180760" cy="39243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p:nvPr>
        </p:nvSpPr>
        <p:spPr>
          <a:xfrm>
            <a:off x="0" y="0"/>
            <a:ext cx="601920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Advantages of Hybrid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This topology is very flexible.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size of the network can be easily expanded by adding new devices.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73" name="PlaceHolder 2"/>
          <p:cNvSpPr>
            <a:spLocks noGrp="1"/>
          </p:cNvSpPr>
          <p:nvPr>
            <p:ph/>
          </p:nvPr>
        </p:nvSpPr>
        <p:spPr>
          <a:xfrm>
            <a:off x="6095880" y="0"/>
            <a:ext cx="6019200" cy="6787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Disadvantages of Hybrid Topology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It is challenging to design the architecture of the Hybrid Network.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Hubs used in this topology are very expensive.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infrastructure cost is very high as a hybrid network requires a lot of cabling and network devices .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p:nvPr>
        </p:nvSpPr>
        <p:spPr>
          <a:xfrm>
            <a:off x="0" y="0"/>
            <a:ext cx="12191400" cy="6857280"/>
          </a:xfrm>
          <a:prstGeom prst="rect">
            <a:avLst/>
          </a:prstGeom>
          <a:noFill/>
          <a:ln w="0">
            <a:noFill/>
          </a:ln>
        </p:spPr>
        <p:txBody>
          <a:bodyPr lIns="91440" rIns="91440" tIns="45720" bIns="45720" anchor="t">
            <a:normAutofit fontScale="98333" lnSpcReduction="10000"/>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Bounded transmission media, </a:t>
            </a:r>
            <a:r>
              <a:rPr b="0" lang="en-US" sz="2800" spc="-1" strike="noStrike">
                <a:solidFill>
                  <a:schemeClr val="dk1"/>
                </a:solidFill>
                <a:latin typeface="Calibri"/>
              </a:rPr>
              <a:t>also known as guided media or wired media, refers to the physical media through which signals are transmitted in a computer network.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Unlike wireless transmission, bounded transmission media rely on physical cables or wires to carry data signals between network devices.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Here are some common types of bounded transmission media:</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Calibri Light"/>
              <a:buAutoNum type="arabicPeriod"/>
            </a:pPr>
            <a:r>
              <a:rPr b="1" lang="en-US" sz="2800" spc="-1" strike="noStrike">
                <a:solidFill>
                  <a:schemeClr val="dk1"/>
                </a:solidFill>
                <a:latin typeface="Calibri"/>
              </a:rPr>
              <a:t>Twisted Pair Cable</a:t>
            </a:r>
            <a:r>
              <a:rPr b="0" lang="en-US" sz="2800" spc="-1" strike="noStrike">
                <a:solidFill>
                  <a:schemeClr val="dk1"/>
                </a:solidFill>
                <a:latin typeface="Calibri"/>
              </a:rPr>
              <a:t>: Twisted pair cable consists of pairs of insulated copper wires twisted together to reduce electromagnetic interference.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It is widely used for Ethernet networks and telephone systems.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There are two main types of twisted pair cables:</a:t>
            </a:r>
            <a:endParaRPr b="0" lang="en-US" sz="2800" spc="-1" strike="noStrike">
              <a:solidFill>
                <a:srgbClr val="000000"/>
              </a:solidFill>
              <a:latin typeface="Arial"/>
            </a:endParaRPr>
          </a:p>
          <a:p>
            <a:pPr lvl="1" marL="743040" indent="-285840" defTabSz="914400">
              <a:lnSpc>
                <a:spcPct val="90000"/>
              </a:lnSpc>
              <a:spcBef>
                <a:spcPts val="499"/>
              </a:spcBef>
              <a:buClr>
                <a:srgbClr val="000000"/>
              </a:buClr>
              <a:buFont typeface="Calibri Light"/>
              <a:buAutoNum type="arabicPeriod"/>
            </a:pPr>
            <a:r>
              <a:rPr b="1" lang="en-US" sz="2400" spc="-1" strike="noStrike">
                <a:solidFill>
                  <a:schemeClr val="dk1"/>
                </a:solidFill>
                <a:latin typeface="Calibri"/>
              </a:rPr>
              <a:t>Unshielded Twisted Pair (UTP): </a:t>
            </a:r>
            <a:r>
              <a:rPr b="0" lang="en-US" sz="2400" spc="-1" strike="noStrike">
                <a:solidFill>
                  <a:schemeClr val="dk1"/>
                </a:solidFill>
                <a:latin typeface="Calibri"/>
              </a:rPr>
              <a:t>UTP cables are commonly used in Ethernet networks. They have no additional shielding and rely on the twisting of wire pairs to reduce        interference.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UTP cables are classified into different categories (e.g., Cat5e, Cat6) based on their        performance and data transmission capabilities.</a:t>
            </a:r>
            <a:endParaRPr b="0" lang="en-US" sz="2400" spc="-1" strike="noStrike">
              <a:solidFill>
                <a:srgbClr val="000000"/>
              </a:solidFill>
              <a:latin typeface="Arial"/>
            </a:endParaRPr>
          </a:p>
          <a:p>
            <a:pPr marL="457200" indent="0" defTabSz="914400">
              <a:lnSpc>
                <a:spcPct val="90000"/>
              </a:lnSpc>
              <a:spcBef>
                <a:spcPts val="499"/>
              </a:spcBef>
              <a:buNone/>
              <a:tabLst>
                <a:tab algn="l" pos="0"/>
              </a:tabLst>
            </a:pPr>
            <a:r>
              <a:rPr b="1" lang="en-US" sz="2400" spc="-1" strike="noStrike">
                <a:solidFill>
                  <a:schemeClr val="dk1"/>
                </a:solidFill>
                <a:latin typeface="Calibri"/>
              </a:rPr>
              <a:t>2. Shielded Twisted Pair (STP): </a:t>
            </a:r>
            <a:r>
              <a:rPr b="0" lang="en-US" sz="2400" spc="-1" strike="noStrike">
                <a:solidFill>
                  <a:schemeClr val="dk1"/>
                </a:solidFill>
                <a:latin typeface="Calibri"/>
              </a:rPr>
              <a:t>STP cables have additional shielding to provide better   protection against electromagnetic interference. </a:t>
            </a:r>
            <a:endParaRPr b="0" lang="en-US" sz="2400" spc="-1" strike="noStrike">
              <a:solidFill>
                <a:srgbClr val="000000"/>
              </a:solidFill>
              <a:latin typeface="Arial"/>
            </a:endParaRPr>
          </a:p>
          <a:p>
            <a:pPr marL="457200" indent="0" defTabSz="914400">
              <a:lnSpc>
                <a:spcPct val="90000"/>
              </a:lnSpc>
              <a:spcBef>
                <a:spcPts val="499"/>
              </a:spcBef>
              <a:buNone/>
              <a:tabLst>
                <a:tab algn="l" pos="0"/>
              </a:tabLst>
            </a:pPr>
            <a:r>
              <a:rPr b="0" lang="en-US" sz="2400" spc="-1" strike="noStrike">
                <a:solidFill>
                  <a:schemeClr val="dk1"/>
                </a:solidFill>
                <a:latin typeface="Calibri"/>
              </a:rPr>
              <a:t>    </a:t>
            </a:r>
            <a:r>
              <a:rPr b="0" lang="en-US" sz="2400" spc="-1" strike="noStrike">
                <a:solidFill>
                  <a:schemeClr val="dk1"/>
                </a:solidFill>
                <a:latin typeface="Calibri"/>
              </a:rPr>
              <a:t>They are used in environments with high levels of interference, such as industrial settings.</a:t>
            </a:r>
            <a:endParaRPr b="0" lang="en-US" sz="2400" spc="-1" strike="noStrike">
              <a:solidFill>
                <a:srgbClr val="000000"/>
              </a:solidFill>
              <a:latin typeface="Arial"/>
            </a:endParaRPr>
          </a:p>
          <a:p>
            <a:pPr marL="457200"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Content Placeholder 8" descr=""/>
          <p:cNvPicPr/>
          <p:nvPr/>
        </p:nvPicPr>
        <p:blipFill>
          <a:blip r:embed="rId1"/>
          <a:stretch/>
        </p:blipFill>
        <p:spPr>
          <a:xfrm>
            <a:off x="326520" y="310320"/>
            <a:ext cx="11189880" cy="56980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p:nvPr>
        </p:nvSpPr>
        <p:spPr>
          <a:xfrm>
            <a:off x="0" y="0"/>
            <a:ext cx="6757920" cy="6857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2800" spc="-1" strike="noStrike">
                <a:solidFill>
                  <a:schemeClr val="dk1"/>
                </a:solidFill>
                <a:latin typeface="Calibri"/>
              </a:rPr>
              <a:t>2.Coaxial Cable: </a:t>
            </a:r>
            <a:r>
              <a:rPr b="0" lang="en-US" sz="2800" spc="-1" strike="noStrike">
                <a:solidFill>
                  <a:schemeClr val="dk1"/>
                </a:solidFill>
                <a:latin typeface="Calibri"/>
              </a:rPr>
              <a:t>Coaxial cable consists of a central conductor, an insulating layer, a      metallic shielding, and an outer insulating layer.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It is widely used in cable television (CATV) networks and broadband internet connections.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Coaxial cable provides better resistance to interference compared to twisted pair cable.</a:t>
            </a:r>
            <a:endParaRPr b="0" lang="en-US" sz="2800" spc="-1" strike="noStrike">
              <a:solidFill>
                <a:srgbClr val="000000"/>
              </a:solidFill>
              <a:latin typeface="Arial"/>
            </a:endParaRPr>
          </a:p>
        </p:txBody>
      </p:sp>
      <p:pic>
        <p:nvPicPr>
          <p:cNvPr id="77" name="Content Placeholder 5" descr=""/>
          <p:cNvPicPr/>
          <p:nvPr/>
        </p:nvPicPr>
        <p:blipFill>
          <a:blip r:embed="rId1"/>
          <a:stretch/>
        </p:blipFill>
        <p:spPr>
          <a:xfrm>
            <a:off x="7146360" y="1749240"/>
            <a:ext cx="4312800" cy="39949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p:nvPr>
        </p:nvSpPr>
        <p:spPr>
          <a:xfrm>
            <a:off x="0" y="0"/>
            <a:ext cx="6579000" cy="6857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2800" spc="-1" strike="noStrike">
                <a:solidFill>
                  <a:schemeClr val="dk1"/>
                </a:solidFill>
                <a:latin typeface="Calibri"/>
              </a:rPr>
              <a:t>3.Fiber Optic Cable: </a:t>
            </a:r>
            <a:r>
              <a:rPr b="0" lang="en-US" sz="2800" spc="-1" strike="noStrike">
                <a:solidFill>
                  <a:schemeClr val="dk1"/>
                </a:solidFill>
                <a:latin typeface="Calibri"/>
              </a:rPr>
              <a:t>Fiber optic cable uses thin strands of glass or plastic fibers to    transmit data signals using light.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It offers high bandwidth, low signal loss, and immunity to electromagnetic interference.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Fiber optic cables are commonly used in long-distance telecommunications, high-speed internet connections, and data center networks.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79" name="Content Placeholder 4" descr=""/>
          <p:cNvPicPr/>
          <p:nvPr/>
        </p:nvPicPr>
        <p:blipFill>
          <a:blip r:embed="rId1"/>
          <a:stretch/>
        </p:blipFill>
        <p:spPr>
          <a:xfrm>
            <a:off x="6957360" y="1202760"/>
            <a:ext cx="5234040" cy="41040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p:nvPr>
        </p:nvSpPr>
        <p:spPr>
          <a:xfrm>
            <a:off x="0" y="0"/>
            <a:ext cx="12117600" cy="68860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Unbounded transmission media</a:t>
            </a:r>
            <a:r>
              <a:rPr b="0" lang="en-US" sz="2800" spc="-1" strike="noStrike">
                <a:solidFill>
                  <a:schemeClr val="dk1"/>
                </a:solidFill>
                <a:latin typeface="Calibri"/>
              </a:rPr>
              <a:t> (micro wave, satellite)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Unbounded transmission media, also known as unguided or wireless media, refers to the means of transmitting signals without the use of physical cables or wires.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Two common examples of unbounded transmission media are microwave and satellite communications: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p:nvPr>
        </p:nvSpPr>
        <p:spPr>
          <a:xfrm>
            <a:off x="0" y="0"/>
            <a:ext cx="6817680" cy="6857280"/>
          </a:xfrm>
          <a:prstGeom prst="rect">
            <a:avLst/>
          </a:prstGeom>
          <a:noFill/>
          <a:ln w="0">
            <a:noFill/>
          </a:ln>
        </p:spPr>
        <p:txBody>
          <a:bodyPr lIns="91440" rIns="91440" tIns="45720" bIns="45720" anchor="t">
            <a:normAutofit fontScale="77777" lnSpcReduction="10000"/>
          </a:bodyPr>
          <a:p>
            <a:pPr indent="0" defTabSz="914400">
              <a:lnSpc>
                <a:spcPct val="100000"/>
              </a:lnSpc>
              <a:buNone/>
              <a:tabLst>
                <a:tab algn="l" pos="0"/>
              </a:tabLst>
            </a:pPr>
            <a:r>
              <a:rPr b="1" lang="en-US" sz="2800" spc="-1" strike="noStrike">
                <a:solidFill>
                  <a:schemeClr val="dk1"/>
                </a:solidFill>
                <a:latin typeface="Arial"/>
              </a:rPr>
              <a:t>Microwave Communication</a:t>
            </a:r>
            <a:r>
              <a:rPr b="0" lang="en-US" sz="2800" spc="-1" strike="noStrike">
                <a:solidFill>
                  <a:schemeClr val="dk1"/>
                </a:solidFill>
                <a:latin typeface="Arial"/>
              </a:rPr>
              <a:t>: </a:t>
            </a:r>
            <a:endParaRPr b="0" lang="en-US" sz="2800" spc="-1" strike="noStrike">
              <a:solidFill>
                <a:srgbClr val="000000"/>
              </a:solidFill>
              <a:latin typeface="Arial"/>
            </a:endParaRPr>
          </a:p>
          <a:p>
            <a:pPr indent="0" algn="just" defTabSz="914400">
              <a:lnSpc>
                <a:spcPct val="100000"/>
              </a:lnSpc>
              <a:buNone/>
              <a:tabLst>
                <a:tab algn="l" pos="0"/>
              </a:tabLst>
            </a:pPr>
            <a:r>
              <a:rPr b="0" lang="en-US" sz="2800" spc="-1" strike="noStrike">
                <a:solidFill>
                  <a:schemeClr val="dk1"/>
                </a:solidFill>
                <a:latin typeface="Arial"/>
              </a:rPr>
              <a:t>Microwave communication involves the use of high-frequency radio waves to transmit signals over the air. </a:t>
            </a:r>
            <a:endParaRPr b="0" lang="en-US" sz="2800" spc="-1" strike="noStrike">
              <a:solidFill>
                <a:srgbClr val="000000"/>
              </a:solidFill>
              <a:latin typeface="Arial"/>
            </a:endParaRPr>
          </a:p>
          <a:p>
            <a:pPr indent="0" algn="just" defTabSz="914400">
              <a:lnSpc>
                <a:spcPct val="100000"/>
              </a:lnSpc>
              <a:buNone/>
              <a:tabLst>
                <a:tab algn="l" pos="0"/>
              </a:tabLst>
            </a:pPr>
            <a:endParaRPr b="0" lang="en-US" sz="2800" spc="-1" strike="noStrike">
              <a:solidFill>
                <a:srgbClr val="000000"/>
              </a:solidFill>
              <a:latin typeface="Arial"/>
            </a:endParaRPr>
          </a:p>
          <a:p>
            <a:pPr marL="432000" indent="-324000" algn="just" defTabSz="914400">
              <a:lnSpc>
                <a:spcPct val="100000"/>
              </a:lnSpc>
              <a:buClr>
                <a:srgbClr val="000000"/>
              </a:buClr>
              <a:buFont typeface="Arial"/>
              <a:buChar char="•"/>
              <a:tabLst>
                <a:tab algn="l" pos="0"/>
              </a:tabLst>
            </a:pPr>
            <a:r>
              <a:rPr b="0" lang="en-US" sz="2800" spc="-1" strike="noStrike">
                <a:solidFill>
                  <a:schemeClr val="dk1"/>
                </a:solidFill>
                <a:latin typeface="Arial"/>
              </a:rPr>
              <a:t>It requires line-of-sight propagation, where microwave antennas are placed at fixed locations to establish a communication link.</a:t>
            </a:r>
            <a:endParaRPr b="0" lang="en-US" sz="2800" spc="-1" strike="noStrike">
              <a:solidFill>
                <a:srgbClr val="000000"/>
              </a:solidFill>
              <a:latin typeface="Arial"/>
            </a:endParaRPr>
          </a:p>
          <a:p>
            <a:pPr indent="0" algn="just" defTabSz="914400">
              <a:lnSpc>
                <a:spcPct val="100000"/>
              </a:lnSpc>
              <a:buNone/>
              <a:tabLst>
                <a:tab algn="l" pos="0"/>
              </a:tabLst>
            </a:pPr>
            <a:endParaRPr b="0" lang="en-US" sz="2800" spc="-1" strike="noStrike">
              <a:solidFill>
                <a:srgbClr val="000000"/>
              </a:solidFill>
              <a:latin typeface="Arial"/>
            </a:endParaRPr>
          </a:p>
          <a:p>
            <a:pPr marL="432000" indent="-324000" algn="just" defTabSz="914400">
              <a:lnSpc>
                <a:spcPct val="100000"/>
              </a:lnSpc>
              <a:buClr>
                <a:srgbClr val="000000"/>
              </a:buClr>
              <a:buFont typeface="Arial"/>
              <a:buChar char="•"/>
              <a:tabLst>
                <a:tab algn="l" pos="0"/>
              </a:tabLst>
            </a:pPr>
            <a:r>
              <a:rPr b="0" lang="en-US" sz="2800" spc="-1" strike="noStrike">
                <a:solidFill>
                  <a:schemeClr val="dk1"/>
                </a:solidFill>
                <a:latin typeface="Arial"/>
              </a:rPr>
              <a:t> </a:t>
            </a:r>
            <a:r>
              <a:rPr b="0" lang="en-US" sz="2800" spc="-1" strike="noStrike">
                <a:solidFill>
                  <a:schemeClr val="dk1"/>
                </a:solidFill>
                <a:latin typeface="Arial"/>
              </a:rPr>
              <a:t>Microwave communication is often used for point-to-point communication between two fixed locations, such as in long-distance telephone networks and wireless backhaul for cellular networks.</a:t>
            </a:r>
            <a:endParaRPr b="0" lang="en-US" sz="2800" spc="-1" strike="noStrike">
              <a:solidFill>
                <a:srgbClr val="000000"/>
              </a:solidFill>
              <a:latin typeface="Arial"/>
            </a:endParaRPr>
          </a:p>
          <a:p>
            <a:pPr indent="0" algn="just" defTabSz="914400">
              <a:lnSpc>
                <a:spcPct val="100000"/>
              </a:lnSpc>
              <a:buNone/>
              <a:tabLst>
                <a:tab algn="l" pos="0"/>
              </a:tabLst>
            </a:pPr>
            <a:endParaRPr b="0" lang="en-US" sz="2800" spc="-1" strike="noStrike">
              <a:solidFill>
                <a:srgbClr val="000000"/>
              </a:solidFill>
              <a:latin typeface="Arial"/>
            </a:endParaRPr>
          </a:p>
          <a:p>
            <a:pPr marL="228600" indent="-228600" algn="just" defTabSz="914400">
              <a:lnSpc>
                <a:spcPct val="100000"/>
              </a:lnSpc>
              <a:buClr>
                <a:srgbClr val="000000"/>
              </a:buClr>
              <a:buFont typeface="Arial"/>
              <a:buChar char="•"/>
              <a:tabLst>
                <a:tab algn="l" pos="0"/>
              </a:tabLst>
            </a:pPr>
            <a:r>
              <a:rPr b="0" lang="en-US" sz="2800" spc="-1" strike="noStrike">
                <a:solidFill>
                  <a:schemeClr val="dk1"/>
                </a:solidFill>
                <a:latin typeface="Arial"/>
              </a:rPr>
              <a:t>Microwave communication offers high bandwidth and low latency, making it suitable for transmitting large amounts of data over long distances.</a:t>
            </a:r>
            <a:endParaRPr b="0" lang="en-US" sz="2800" spc="-1" strike="noStrike">
              <a:solidFill>
                <a:srgbClr val="000000"/>
              </a:solidFill>
              <a:latin typeface="Arial"/>
            </a:endParaRPr>
          </a:p>
          <a:p>
            <a:pPr indent="0" algn="just" defTabSz="914400">
              <a:lnSpc>
                <a:spcPct val="100000"/>
              </a:lnSpc>
              <a:buNone/>
              <a:tabLst>
                <a:tab algn="l" pos="0"/>
              </a:tabLst>
            </a:pPr>
            <a:endParaRPr b="0" lang="en-US" sz="2800" spc="-1" strike="noStrike">
              <a:solidFill>
                <a:srgbClr val="000000"/>
              </a:solidFill>
              <a:latin typeface="Arial"/>
            </a:endParaRPr>
          </a:p>
          <a:p>
            <a:pPr marL="228600" indent="-228600" algn="just" defTabSz="914400">
              <a:lnSpc>
                <a:spcPct val="100000"/>
              </a:lnSpc>
              <a:buClr>
                <a:srgbClr val="000000"/>
              </a:buClr>
              <a:buFont typeface="Arial"/>
              <a:buChar char="•"/>
              <a:tabLst>
                <a:tab algn="l" pos="0"/>
              </a:tabLst>
            </a:pPr>
            <a:r>
              <a:rPr b="0" lang="en-US" sz="2800" spc="-1" strike="noStrike">
                <a:solidFill>
                  <a:schemeClr val="dk1"/>
                </a:solidFill>
                <a:latin typeface="Arial"/>
              </a:rPr>
              <a:t> </a:t>
            </a:r>
            <a:r>
              <a:rPr b="0" lang="en-US" sz="2800" spc="-1" strike="noStrike">
                <a:solidFill>
                  <a:schemeClr val="dk1"/>
                </a:solidFill>
                <a:latin typeface="Arial"/>
              </a:rPr>
              <a:t>However, it is harmed  to interference from physical obstacles like buildings and natural obstructions, which can degrade the signal quality.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82" name="Content Placeholder 6" descr=""/>
          <p:cNvPicPr/>
          <p:nvPr/>
        </p:nvPicPr>
        <p:blipFill>
          <a:blip r:embed="rId1"/>
          <a:stretch/>
        </p:blipFill>
        <p:spPr>
          <a:xfrm>
            <a:off x="6977160" y="1103400"/>
            <a:ext cx="5088240" cy="41140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p:nvPr>
        </p:nvSpPr>
        <p:spPr>
          <a:xfrm>
            <a:off x="0" y="0"/>
            <a:ext cx="6019200" cy="67381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Advantages</a:t>
            </a:r>
            <a:r>
              <a:rPr b="0" lang="en-US" sz="2800" spc="-1" strike="noStrike">
                <a:solidFill>
                  <a:schemeClr val="dk1"/>
                </a:solidFill>
                <a:latin typeface="Calibri"/>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Cheaper than using cables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Freedom from land acquisition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Ease of communication in difficult terrains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Communication over oceans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84" name="PlaceHolder 2"/>
          <p:cNvSpPr>
            <a:spLocks noGrp="1"/>
          </p:cNvSpPr>
          <p:nvPr>
            <p:ph/>
          </p:nvPr>
        </p:nvSpPr>
        <p:spPr>
          <a:xfrm>
            <a:off x="6609600" y="0"/>
            <a:ext cx="558180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Disadvantages: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Insecure communication.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Out of phase signal.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Susceptible to weather conditions.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Bandwidth is limited.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High cost of design, implementation, and maintenance.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p:nvPr>
        </p:nvSpPr>
        <p:spPr>
          <a:xfrm>
            <a:off x="0" y="0"/>
            <a:ext cx="12191400" cy="6857280"/>
          </a:xfrm>
          <a:prstGeom prst="rect">
            <a:avLst/>
          </a:prstGeom>
          <a:noFill/>
          <a:ln w="0">
            <a:noFill/>
          </a:ln>
        </p:spPr>
        <p:txBody>
          <a:bodyPr lIns="91440" rIns="91440" tIns="45720" bIns="45720" anchor="t">
            <a:normAutofit fontScale="96666"/>
          </a:bodyPr>
          <a:p>
            <a:pPr marL="432000" indent="-324000" defTabSz="914400">
              <a:lnSpc>
                <a:spcPct val="100000"/>
              </a:lnSpc>
              <a:buClr>
                <a:srgbClr val="000000"/>
              </a:buClr>
              <a:buFont typeface="Symbol" charset="2"/>
              <a:buChar char=""/>
            </a:pPr>
            <a:r>
              <a:rPr b="1" lang="en-US" sz="2800" spc="-1" strike="noStrike">
                <a:solidFill>
                  <a:schemeClr val="dk1"/>
                </a:solidFill>
                <a:latin typeface="Arial"/>
              </a:rPr>
              <a:t>Satellite Communication: </a:t>
            </a:r>
            <a:r>
              <a:rPr b="0" lang="en-US" sz="2800" spc="-1" strike="noStrike">
                <a:solidFill>
                  <a:schemeClr val="dk1"/>
                </a:solidFill>
                <a:latin typeface="Arial"/>
              </a:rPr>
              <a:t>Satellite communication involves the use of communication satellites that orbit the Earth to transmit and receive signals over a wide coverage area. </a:t>
            </a: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pPr>
            <a:r>
              <a:rPr b="0" lang="en-US" sz="2800" spc="-1" strike="noStrike">
                <a:solidFill>
                  <a:schemeClr val="dk1"/>
                </a:solidFill>
                <a:latin typeface="Arial"/>
              </a:rPr>
              <a:t>It relies on microwave signals for uplink (transmitting data from the ground to the satellite) and downlink (transmitting data from the satellite to the ground).</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pPr>
            <a:r>
              <a:rPr b="0" lang="en-US" sz="2800" spc="-1" strike="noStrike">
                <a:solidFill>
                  <a:schemeClr val="dk1"/>
                </a:solidFill>
                <a:latin typeface="Arial"/>
              </a:rPr>
              <a:t>In satellite communication, the ground-based transmitter and receiver communicate with a satellite, which acts as a relay station to transmit signals to other locations on Earth. </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pPr>
            <a:r>
              <a:rPr b="0" lang="en-US" sz="2800" spc="-1" strike="noStrike">
                <a:solidFill>
                  <a:schemeClr val="dk1"/>
                </a:solidFill>
                <a:latin typeface="Arial"/>
              </a:rPr>
              <a:t>Satellite communication enables long-distance communication across vast areas, making it valuable for global telecommunications, television broadcasting, and internet connectivity in remote regions.</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pPr>
            <a:r>
              <a:rPr b="0" lang="en-US" sz="2800" spc="-1" strike="noStrike">
                <a:solidFill>
                  <a:schemeClr val="dk1"/>
                </a:solidFill>
                <a:latin typeface="Arial"/>
              </a:rPr>
              <a:t>Satellite communication offers wide coverage, allowing communication in areas where terrestrial infrastructure is limited or nonexistent. </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pPr>
            <a:r>
              <a:rPr b="0" lang="en-US" sz="2800" spc="-1" strike="noStrike">
                <a:solidFill>
                  <a:schemeClr val="dk1"/>
                </a:solidFill>
                <a:latin typeface="Arial"/>
              </a:rPr>
              <a:t>However, it introduces higher latency due to the longer distance the signals have to travel to reach the satellite and back to Earth.</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p:nvPr>
        </p:nvSpPr>
        <p:spPr>
          <a:xfrm>
            <a:off x="0" y="0"/>
            <a:ext cx="7632360" cy="6857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2800" spc="-1" strike="noStrike">
                <a:solidFill>
                  <a:schemeClr val="dk1"/>
                </a:solidFill>
                <a:latin typeface="Calibri"/>
              </a:rPr>
              <a:t> </a:t>
            </a:r>
            <a:r>
              <a:rPr b="1" lang="en-US" sz="2800" spc="-1" strike="noStrike">
                <a:solidFill>
                  <a:schemeClr val="dk1"/>
                </a:solidFill>
                <a:latin typeface="Calibri"/>
              </a:rPr>
              <a:t>Radio Waves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u="sng">
                <a:solidFill>
                  <a:schemeClr val="dk1"/>
                </a:solidFill>
                <a:uFillTx/>
                <a:latin typeface="Calibri"/>
                <a:hlinkClick r:id="rId1"/>
              </a:rPr>
              <a:t>Radio waves </a:t>
            </a:r>
            <a:r>
              <a:rPr b="0" lang="en-US" sz="2800" spc="-1" strike="noStrike">
                <a:solidFill>
                  <a:schemeClr val="dk1"/>
                </a:solidFill>
                <a:latin typeface="Calibri"/>
              </a:rPr>
              <a:t>are easy to generate and can penetrate through buildings. The sending and receiving antennas need not be aligned.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Frequency Range: 3KHz - 1GHz3KHz - 1GHz. AM and FM radios and cordless phones use Radio waves for transmission.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Types of Radio Waves: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Short Wave: AM Radio</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VHF (Very High Frequency): FM Radio/TV</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UHF (Ultra High Frequency): TV</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1" lang="en-US" sz="2800" spc="-1" strike="noStrike">
                <a:solidFill>
                  <a:schemeClr val="dk1"/>
                </a:solidFill>
                <a:latin typeface="Calibri"/>
              </a:rPr>
              <a:t>Radio Wave Components: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Transmitter: Responsible for encoding the signal.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Receiver: Responsible for decoding the signal.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87" name="Content Placeholder 6" descr=""/>
          <p:cNvPicPr/>
          <p:nvPr/>
        </p:nvPicPr>
        <p:blipFill>
          <a:blip r:embed="rId2"/>
          <a:stretch/>
        </p:blipFill>
        <p:spPr>
          <a:xfrm>
            <a:off x="7851960" y="1868400"/>
            <a:ext cx="4339440" cy="373644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19040" y="99720"/>
            <a:ext cx="11772360" cy="116208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Wi-Fi</a:t>
            </a:r>
            <a:endParaRPr b="0" lang="en-US" sz="4400" spc="-1" strike="noStrike">
              <a:solidFill>
                <a:srgbClr val="000000"/>
              </a:solidFill>
              <a:latin typeface="Arial"/>
            </a:endParaRPr>
          </a:p>
        </p:txBody>
      </p:sp>
      <p:sp>
        <p:nvSpPr>
          <p:cNvPr id="89" name="PlaceHolder 2"/>
          <p:cNvSpPr>
            <a:spLocks noGrp="1"/>
          </p:cNvSpPr>
          <p:nvPr>
            <p:ph/>
          </p:nvPr>
        </p:nvSpPr>
        <p:spPr>
          <a:xfrm>
            <a:off x="0" y="1570320"/>
            <a:ext cx="12191400" cy="5286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Wi-Fi is a wireless technology using radio waves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Based on </a:t>
            </a:r>
            <a:r>
              <a:rPr b="0" lang="en-US" sz="2800" spc="-1" strike="noStrike" u="sng">
                <a:solidFill>
                  <a:schemeClr val="dk1"/>
                </a:solidFill>
                <a:uFillTx/>
                <a:latin typeface="Calibri"/>
                <a:hlinkClick r:id="rId1"/>
              </a:rPr>
              <a:t>IEEE 802.11 standards</a:t>
            </a:r>
            <a:r>
              <a:rPr b="0" lang="en-US" sz="2800" spc="-1" strike="noStrike">
                <a:solidFill>
                  <a:schemeClr val="dk1"/>
                </a:solidFill>
                <a:latin typeface="Calibri"/>
              </a:rPr>
              <a:t>) to connect devices (phones, laptops, etc.)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To the internet and each other without cables, through a </a:t>
            </a:r>
            <a:r>
              <a:rPr b="0" lang="en-US" sz="2800" spc="-1" strike="noStrike" u="sng">
                <a:solidFill>
                  <a:schemeClr val="dk1"/>
                </a:solidFill>
                <a:uFillTx/>
                <a:latin typeface="Calibri"/>
                <a:hlinkClick r:id="rId2"/>
              </a:rPr>
              <a:t>wireless router</a:t>
            </a:r>
            <a:r>
              <a:rPr b="0" lang="en-US" sz="2800" spc="-1" strike="noStrike">
                <a:solidFill>
                  <a:schemeClr val="dk1"/>
                </a:solidFill>
                <a:latin typeface="Calibri"/>
              </a:rPr>
              <a:t> that broadcasts the signal, enabling high-speed data exchange for browsing, streaming, and communication in homes, businesses, and public spaces.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It's a method of local area networking (LAN) that's distinct from the internet itself but provides access to it</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p:nvPr>
        </p:nvSpPr>
        <p:spPr>
          <a:xfrm>
            <a:off x="0" y="0"/>
            <a:ext cx="12191400" cy="6777720"/>
          </a:xfrm>
          <a:prstGeom prst="rect">
            <a:avLst/>
          </a:prstGeom>
          <a:noFill/>
          <a:ln w="0">
            <a:noFill/>
          </a:ln>
        </p:spPr>
        <p:txBody>
          <a:bodyPr lIns="91440" rIns="91440" tIns="45720" bIns="45720" anchor="t">
            <a:normAutofit fontScale="96666"/>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How it Works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Calibri Light"/>
              <a:buAutoNum type="arabicPeriod"/>
            </a:pPr>
            <a:r>
              <a:rPr b="1" lang="en-US" sz="2800" spc="-1" strike="noStrike">
                <a:solidFill>
                  <a:schemeClr val="dk1"/>
                </a:solidFill>
                <a:latin typeface="Calibri"/>
              </a:rPr>
              <a:t>Internet Source</a:t>
            </a:r>
            <a:r>
              <a:rPr b="0" lang="en-US" sz="2800" spc="-1" strike="noStrike">
                <a:solidFill>
                  <a:schemeClr val="dk1"/>
                </a:solidFill>
                <a:latin typeface="Calibri"/>
              </a:rPr>
              <a:t>: An internet connection comes to your location via a modem, usually through a cable or fiber line.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Calibri Light"/>
              <a:buAutoNum type="arabicPeriod"/>
              <a:tabLst>
                <a:tab algn="l" pos="0"/>
              </a:tabLst>
            </a:pPr>
            <a:r>
              <a:rPr b="1" lang="en-US" sz="2800" spc="-1" strike="noStrike">
                <a:solidFill>
                  <a:schemeClr val="dk1"/>
                </a:solidFill>
                <a:latin typeface="Calibri"/>
              </a:rPr>
              <a:t>Wireless Router</a:t>
            </a:r>
            <a:r>
              <a:rPr b="0" lang="en-US" sz="2800" spc="-1" strike="noStrike">
                <a:solidFill>
                  <a:schemeClr val="dk1"/>
                </a:solidFill>
                <a:latin typeface="Calibri"/>
              </a:rPr>
              <a:t>: The modem connects to a wireless router, which acts as the central hub.</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Calibri Light"/>
              <a:buAutoNum type="arabicPeriod"/>
              <a:tabLst>
                <a:tab algn="l" pos="0"/>
              </a:tabLst>
            </a:pPr>
            <a:r>
              <a:rPr b="1" lang="en-US" sz="2800" spc="-1" strike="noStrike">
                <a:solidFill>
                  <a:schemeClr val="dk1"/>
                </a:solidFill>
                <a:latin typeface="Calibri"/>
              </a:rPr>
              <a:t>Radio Waves</a:t>
            </a:r>
            <a:r>
              <a:rPr b="0" lang="en-US" sz="2800" spc="-1" strike="noStrike">
                <a:solidFill>
                  <a:schemeClr val="dk1"/>
                </a:solidFill>
                <a:latin typeface="Calibri"/>
              </a:rPr>
              <a:t>: The router converts the internet data into radio signals and broadcasts them.</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Calibri Light"/>
              <a:buAutoNum type="arabicPeriod"/>
              <a:tabLst>
                <a:tab algn="l" pos="0"/>
              </a:tabLst>
            </a:pPr>
            <a:r>
              <a:rPr b="1" lang="en-US" sz="2800" spc="-1" strike="noStrike">
                <a:solidFill>
                  <a:schemeClr val="dk1"/>
                </a:solidFill>
                <a:latin typeface="Calibri"/>
              </a:rPr>
              <a:t>Device Connection</a:t>
            </a:r>
            <a:r>
              <a:rPr b="0" lang="en-US" sz="2800" spc="-1" strike="noStrike">
                <a:solidFill>
                  <a:schemeClr val="dk1"/>
                </a:solidFill>
                <a:latin typeface="Calibri"/>
              </a:rPr>
              <a:t>: Your Wi-Fi-enabled device (phone, laptop) picks up these radio waves using its internal antenna, translating them back into usable data.</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Calibri Light"/>
              <a:buAutoNum type="arabicPeriod"/>
              <a:tabLst>
                <a:tab algn="l" pos="0"/>
              </a:tabLst>
            </a:pPr>
            <a:r>
              <a:rPr b="1" lang="en-US" sz="2800" spc="-1" strike="noStrike">
                <a:solidFill>
                  <a:schemeClr val="dk1"/>
                </a:solidFill>
                <a:latin typeface="Calibri"/>
              </a:rPr>
              <a:t>Two-Way Communication</a:t>
            </a:r>
            <a:r>
              <a:rPr b="0" lang="en-US" sz="2800" spc="-1" strike="noStrike">
                <a:solidFill>
                  <a:schemeClr val="dk1"/>
                </a:solidFill>
                <a:latin typeface="Calibri"/>
              </a:rPr>
              <a:t>: Your device sends data back to the router using the same radio waves, allowing you to browse, stream, and communicate.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p:nvPr>
        </p:nvSpPr>
        <p:spPr>
          <a:xfrm>
            <a:off x="0" y="0"/>
            <a:ext cx="12191400" cy="68572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Key Aspects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Standards</a:t>
            </a:r>
            <a:r>
              <a:rPr b="0" lang="en-US" sz="2800" spc="-1" strike="noStrike">
                <a:solidFill>
                  <a:schemeClr val="dk1"/>
                </a:solidFill>
                <a:latin typeface="Calibri"/>
              </a:rPr>
              <a:t>: Governed by IEEE 802.11 standards (like Wi-Fi 6, Wi-Fi 7), which define speed, range, and efficiency.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Frequencies</a:t>
            </a:r>
            <a:r>
              <a:rPr b="0" lang="en-US" sz="2800" spc="-1" strike="noStrike">
                <a:solidFill>
                  <a:schemeClr val="dk1"/>
                </a:solidFill>
                <a:latin typeface="Calibri"/>
              </a:rPr>
              <a:t>: Operates on specific radio frequencies, typically 2.4 GHz and 5 GHz (and 6 GHz for Wi-Fi 6E).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Accessibility</a:t>
            </a:r>
            <a:r>
              <a:rPr b="0" lang="en-US" sz="2800" spc="-1" strike="noStrike">
                <a:solidFill>
                  <a:schemeClr val="dk1"/>
                </a:solidFill>
                <a:latin typeface="Calibri"/>
              </a:rPr>
              <a:t>: Allows devices to connect from anywhere within the router's range, offering freedom from physical wires.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Wi-Fi vs. Internet</a:t>
            </a:r>
            <a:r>
              <a:rPr b="0" lang="en-US" sz="2800" spc="-1" strike="noStrike">
                <a:solidFill>
                  <a:schemeClr val="dk1"/>
                </a:solidFill>
                <a:latin typeface="Calibri"/>
              </a:rPr>
              <a:t>: Wi-Fi is the </a:t>
            </a:r>
            <a:r>
              <a:rPr b="0" i="1" lang="en-US" sz="2800" spc="-1" strike="noStrike">
                <a:solidFill>
                  <a:schemeClr val="dk1"/>
                </a:solidFill>
                <a:latin typeface="Calibri"/>
              </a:rPr>
              <a:t>access method</a:t>
            </a:r>
            <a:r>
              <a:rPr b="0" lang="en-US" sz="2800" spc="-1" strike="noStrike">
                <a:solidFill>
                  <a:schemeClr val="dk1"/>
                </a:solidFill>
                <a:latin typeface="Calibri"/>
              </a:rPr>
              <a:t> (wireless connection), while the </a:t>
            </a:r>
            <a:r>
              <a:rPr b="0" i="1" lang="en-US" sz="2800" spc="-1" strike="noStrike">
                <a:solidFill>
                  <a:schemeClr val="dk1"/>
                </a:solidFill>
                <a:latin typeface="Calibri"/>
              </a:rPr>
              <a:t>Internet</a:t>
            </a:r>
            <a:r>
              <a:rPr b="0" lang="en-US" sz="2800" spc="-1" strike="noStrike">
                <a:solidFill>
                  <a:schemeClr val="dk1"/>
                </a:solidFill>
                <a:latin typeface="Calibri"/>
              </a:rPr>
              <a:t> is the global network of information; you need both for online access.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189000" y="0"/>
            <a:ext cx="12002400" cy="10328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Bluetooth</a:t>
            </a:r>
            <a:endParaRPr b="0" lang="en-US" sz="4400" spc="-1" strike="noStrike">
              <a:solidFill>
                <a:srgbClr val="000000"/>
              </a:solidFill>
              <a:latin typeface="Arial"/>
            </a:endParaRPr>
          </a:p>
        </p:txBody>
      </p:sp>
      <p:sp>
        <p:nvSpPr>
          <p:cNvPr id="93" name="PlaceHolder 2"/>
          <p:cNvSpPr>
            <a:spLocks noGrp="1"/>
          </p:cNvSpPr>
          <p:nvPr>
            <p:ph/>
          </p:nvPr>
        </p:nvSpPr>
        <p:spPr>
          <a:xfrm>
            <a:off x="0" y="1302120"/>
            <a:ext cx="12191400" cy="5555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Bluetooth is a wireless technology standard used for short-range data exchange between devices like phones, headphones, and computers without cables.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It works by using low-power radio waves to create a personal area network, allowing compatible devices to pair and communicate.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This is useful for connecting devices such as headsets, speakers, and game controllers.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p:nvPr>
        </p:nvSpPr>
        <p:spPr>
          <a:xfrm>
            <a:off x="0" y="0"/>
            <a:ext cx="12191400" cy="6768000"/>
          </a:xfrm>
          <a:prstGeom prst="rect">
            <a:avLst/>
          </a:prstGeom>
          <a:noFill/>
          <a:ln w="0">
            <a:noFill/>
          </a:ln>
        </p:spPr>
        <p:txBody>
          <a:bodyPr lIns="91440" rIns="91440" tIns="45720" bIns="45720" anchor="t">
            <a:normAutofit fontScale="87222"/>
          </a:bodyPr>
          <a:p>
            <a:pPr indent="0" defTabSz="914400">
              <a:lnSpc>
                <a:spcPct val="100000"/>
              </a:lnSpc>
              <a:buNone/>
              <a:tabLst>
                <a:tab algn="l" pos="0"/>
              </a:tabLst>
            </a:pPr>
            <a:r>
              <a:rPr b="1" lang="en-US" sz="2800" spc="-1" strike="noStrike">
                <a:solidFill>
                  <a:schemeClr val="dk1"/>
                </a:solidFill>
                <a:latin typeface="Arial"/>
              </a:rPr>
              <a:t>How it works</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tabLst>
                <a:tab algn="l" pos="0"/>
              </a:tabLst>
            </a:pPr>
            <a:r>
              <a:rPr b="1" lang="en-US" sz="2800" spc="-1" strike="noStrike">
                <a:solidFill>
                  <a:schemeClr val="dk1"/>
                </a:solidFill>
                <a:latin typeface="Arial"/>
              </a:rPr>
              <a:t>Discovery:</a:t>
            </a:r>
            <a:r>
              <a:rPr b="0" lang="en-US" sz="2800" spc="-1" strike="noStrike">
                <a:solidFill>
                  <a:schemeClr val="dk1"/>
                </a:solidFill>
                <a:latin typeface="Arial"/>
              </a:rPr>
              <a:t> One device, a "discoverable device," makes itself available to connect to.</a:t>
            </a:r>
            <a:endParaRPr b="0" lang="en-US" sz="2800" spc="-1" strike="noStrike">
              <a:solidFill>
                <a:srgbClr val="000000"/>
              </a:solidFill>
              <a:latin typeface="Arial"/>
            </a:endParaRPr>
          </a:p>
          <a:p>
            <a:pPr indent="0" defTabSz="914400">
              <a:lnSpc>
                <a:spcPct val="100000"/>
              </a:lnSpc>
              <a:buNone/>
              <a:tabLst>
                <a:tab algn="l" pos="0"/>
              </a:tabLst>
            </a:pPr>
            <a:r>
              <a:rPr b="0" lang="en-US" sz="2800" spc="-1" strike="noStrike">
                <a:solidFill>
                  <a:schemeClr val="dk1"/>
                </a:solidFill>
                <a:latin typeface="Arial"/>
              </a:rPr>
              <a:t> </a:t>
            </a: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tabLst>
                <a:tab algn="l" pos="0"/>
              </a:tabLst>
            </a:pPr>
            <a:r>
              <a:rPr b="1" lang="en-US" sz="2800" spc="-1" strike="noStrike">
                <a:solidFill>
                  <a:schemeClr val="dk1"/>
                </a:solidFill>
                <a:latin typeface="Arial"/>
              </a:rPr>
              <a:t>Pairing:</a:t>
            </a:r>
            <a:r>
              <a:rPr b="0" lang="en-US" sz="2800" spc="-1" strike="noStrike">
                <a:solidFill>
                  <a:schemeClr val="dk1"/>
                </a:solidFill>
                <a:latin typeface="Arial"/>
              </a:rPr>
              <a:t> For two devices to communicate, they must first be paired, which involves a one-time setup process.</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tabLst>
                <a:tab algn="l" pos="0"/>
              </a:tabLst>
            </a:pPr>
            <a:r>
              <a:rPr b="1" lang="en-US" sz="2800" spc="-1" strike="noStrike">
                <a:solidFill>
                  <a:schemeClr val="dk1"/>
                </a:solidFill>
                <a:latin typeface="Arial"/>
              </a:rPr>
              <a:t>Bonding:</a:t>
            </a:r>
            <a:r>
              <a:rPr b="0" lang="en-US" sz="2800" spc="-1" strike="noStrike">
                <a:solidFill>
                  <a:schemeClr val="dk1"/>
                </a:solidFill>
                <a:latin typeface="Arial"/>
              </a:rPr>
              <a:t> The other device finds the discoverable device and initiates a pairing request. Once accepted, they exchange security keys and create a bond for future connections.</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tabLst>
                <a:tab algn="l" pos="0"/>
              </a:tabLst>
            </a:pPr>
            <a:r>
              <a:rPr b="1" lang="en-US" sz="2800" spc="-1" strike="noStrike">
                <a:solidFill>
                  <a:schemeClr val="dk1"/>
                </a:solidFill>
                <a:latin typeface="Arial"/>
              </a:rPr>
              <a:t>Connection:</a:t>
            </a:r>
            <a:r>
              <a:rPr b="0" lang="en-US" sz="2800" spc="-1" strike="noStrike">
                <a:solidFill>
                  <a:schemeClr val="dk1"/>
                </a:solidFill>
                <a:latin typeface="Arial"/>
              </a:rPr>
              <a:t> After pairing and bonding, the devices can exchange data as long as they are within range (typically up to 10 meters or about 30 feet).</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432000" indent="-324000" defTabSz="914400">
              <a:lnSpc>
                <a:spcPct val="100000"/>
              </a:lnSpc>
              <a:buClr>
                <a:srgbClr val="000000"/>
              </a:buClr>
              <a:buFont typeface="Arial"/>
              <a:buChar char="•"/>
              <a:tabLst>
                <a:tab algn="l" pos="0"/>
              </a:tabLst>
            </a:pPr>
            <a:r>
              <a:rPr b="1" lang="en-US" sz="2800" spc="-1" strike="noStrike">
                <a:solidFill>
                  <a:schemeClr val="dk1"/>
                </a:solidFill>
                <a:latin typeface="Arial"/>
              </a:rPr>
              <a:t>Automatic Reconnection:</a:t>
            </a:r>
            <a:r>
              <a:rPr b="0" lang="en-US" sz="2800" spc="-1" strike="noStrike">
                <a:solidFill>
                  <a:schemeClr val="dk1"/>
                </a:solidFill>
                <a:latin typeface="Arial"/>
              </a:rPr>
              <a:t> Once bonded, the devices can reconnect automatically in the future without repeating the pairing process, as long as they are in range and have not been unpaired</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p:nvPr>
        </p:nvSpPr>
        <p:spPr>
          <a:xfrm>
            <a:off x="0" y="69480"/>
            <a:ext cx="12191400" cy="67878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lang="en-US" sz="3200" spc="-1" strike="noStrike">
                <a:solidFill>
                  <a:schemeClr val="dk1"/>
                </a:solidFill>
                <a:latin typeface="Calibri"/>
              </a:rPr>
              <a:t>Common uses</a:t>
            </a:r>
            <a:endParaRPr b="0" lang="en-US" sz="32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Wireless headsets and speakers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Connecting keyboards, mice, and controllers to computers and gaming consoles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Pairing smartwatches and fitness trackers with smartphones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Transferring files like photos between devices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Connecting a phone to a car's audio system for calls and music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p:nvPr>
        </p:nvSpPr>
        <p:spPr>
          <a:xfrm>
            <a:off x="0" y="0"/>
            <a:ext cx="12191400" cy="68572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Advantages and disadvantages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Advantages:</a:t>
            </a:r>
            <a:endParaRPr b="0" lang="en-US" sz="28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pPr>
            <a:r>
              <a:rPr b="0" lang="en-US" sz="2400" spc="-1" strike="noStrike">
                <a:solidFill>
                  <a:schemeClr val="dk1"/>
                </a:solidFill>
                <a:latin typeface="Calibri"/>
              </a:rPr>
              <a:t>Convenient and wire-free connections</a:t>
            </a:r>
            <a:endParaRPr b="0" lang="en-US" sz="24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pPr>
            <a:r>
              <a:rPr b="0" lang="en-US" sz="2400" spc="-1" strike="noStrike">
                <a:solidFill>
                  <a:schemeClr val="dk1"/>
                </a:solidFill>
                <a:latin typeface="Calibri"/>
              </a:rPr>
              <a:t>Low power consumption, suitable for battery-powered devices</a:t>
            </a:r>
            <a:endParaRPr b="0" lang="en-US" sz="24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pPr>
            <a:r>
              <a:rPr b="0" lang="en-US" sz="2400" spc="-1" strike="noStrike">
                <a:solidFill>
                  <a:schemeClr val="dk1"/>
                </a:solidFill>
                <a:latin typeface="Calibri"/>
              </a:rPr>
              <a:t>Widely supported across many devices</a:t>
            </a:r>
            <a:endParaRPr b="0" lang="en-US" sz="24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pPr>
            <a:r>
              <a:rPr b="0" lang="en-US" sz="2400" spc="-1" strike="noStrike">
                <a:solidFill>
                  <a:schemeClr val="dk1"/>
                </a:solidFill>
                <a:latin typeface="Calibri"/>
              </a:rPr>
              <a:t>Secure and encrypted data transmission</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Disadvantages:</a:t>
            </a:r>
            <a:endParaRPr b="0" lang="en-US" sz="28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pPr>
            <a:r>
              <a:rPr b="0" lang="en-US" sz="2400" spc="-1" strike="noStrike">
                <a:solidFill>
                  <a:schemeClr val="dk1"/>
                </a:solidFill>
                <a:latin typeface="Calibri"/>
              </a:rPr>
              <a:t>Limited range compared to Wi-Fi</a:t>
            </a:r>
            <a:endParaRPr b="0" lang="en-US" sz="24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pPr>
            <a:r>
              <a:rPr b="0" lang="en-US" sz="2400" spc="-1" strike="noStrike">
                <a:solidFill>
                  <a:schemeClr val="dk1"/>
                </a:solidFill>
                <a:latin typeface="Calibri"/>
              </a:rPr>
              <a:t>Slower data transfer rates than some other wireless technologies</a:t>
            </a:r>
            <a:endParaRPr b="0" lang="en-US" sz="24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pPr>
            <a:r>
              <a:rPr b="0" lang="en-US" sz="2400" spc="-1" strike="noStrike">
                <a:solidFill>
                  <a:schemeClr val="dk1"/>
                </a:solidFill>
                <a:latin typeface="Calibri"/>
              </a:rPr>
              <a:t>Can be vulnerable to hacking </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p:nvPr>
        </p:nvSpPr>
        <p:spPr>
          <a:xfrm>
            <a:off x="0" y="0"/>
            <a:ext cx="12191400" cy="6857280"/>
          </a:xfrm>
          <a:prstGeom prst="rect">
            <a:avLst/>
          </a:prstGeom>
          <a:noFill/>
          <a:ln w="0">
            <a:noFill/>
          </a:ln>
        </p:spPr>
        <p:txBody>
          <a:bodyPr lIns="91440" rIns="91440" tIns="45720" bIns="45720" anchor="t">
            <a:normAutofit fontScale="81111"/>
          </a:bodyPr>
          <a:p>
            <a:pPr indent="0" defTabSz="914400">
              <a:lnSpc>
                <a:spcPct val="90000"/>
              </a:lnSpc>
              <a:spcBef>
                <a:spcPts val="1001"/>
              </a:spcBef>
              <a:buNone/>
              <a:tabLst>
                <a:tab algn="l" pos="0"/>
              </a:tabLst>
            </a:pPr>
            <a:r>
              <a:rPr b="1" lang="en-US" sz="3800" spc="-1" strike="noStrike">
                <a:solidFill>
                  <a:schemeClr val="dk1"/>
                </a:solidFill>
                <a:latin typeface="Calibri"/>
              </a:rPr>
              <a:t>Cabling Standards (TIA/EIA-568 and ISO/IEC 11801) </a:t>
            </a:r>
            <a:endParaRPr b="0" lang="en-US" sz="3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 primary standard for commercial building telecommunications cabling is the ANSI/TIA-568 series in North America, and the equivalent ISO/IEC 11801 series internationally.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These standards define performance requirements, cable categories, and installation practices.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Cable Categories/Classes: These standards define categories (Cat) in TIA and classes in ISO for balanced twisted-pair cables, specifying minimum performance requirements, bandwidth, and supported applications.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Common examples include Cat5e, Cat6, Cat6a, and Cat7, with higher numbers indicating better performance.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Maximum Lengths: A universal standard for horizontal cabling (permanent links) is a maximum length of 90 meters of installed cable, with a total channel length (including patch cords) not exceeding 100 meters.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Wiring Sequence (Pinouts): The TIA-568 standard defines two specific wiring sequences for terminating an eight-position RJ45 connector:</a:t>
            </a:r>
            <a:endParaRPr b="0" lang="en-US" sz="28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T568A: Follows a sequence of green-white/green, orange-white/blue, blue-white/orange, brown-white/brown.</a:t>
            </a:r>
            <a:endParaRPr b="0" lang="en-US" sz="24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T568B: Follows a sequence of orange-white/orange, green-white/blue, blue-white/green, brown-white/brown.</a:t>
            </a:r>
            <a:endParaRPr b="0" lang="en-US" sz="2400" spc="-1" strike="noStrike">
              <a:solidFill>
                <a:srgbClr val="000000"/>
              </a:solidFill>
              <a:latin typeface="Arial"/>
            </a:endParaRPr>
          </a:p>
          <a:p>
            <a:pPr lvl="1" marL="743040" indent="-28584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Both are technically equivalent; the only difference is the swapping of the orange and green pairs. The critical rule is to use the same standard (either A or B) on both ends for a straight-through cable, while a crossover cable uses one standard on each end. </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0" y="0"/>
            <a:ext cx="12095280" cy="6857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3600" spc="-1" strike="noStrike">
                <a:solidFill>
                  <a:schemeClr val="dk1"/>
                </a:solidFill>
                <a:latin typeface="Calibri"/>
              </a:rPr>
              <a:t>Labeling Standards (TIA-606-B/C/D)</a:t>
            </a:r>
            <a:endParaRPr b="0" lang="en-US" sz="3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 </a:t>
            </a:r>
            <a:r>
              <a:rPr b="1" lang="en-US" sz="2800" spc="-1" strike="noStrike">
                <a:solidFill>
                  <a:schemeClr val="dk1"/>
                </a:solidFill>
                <a:latin typeface="Calibri"/>
              </a:rPr>
              <a:t>ANSI/TIA-606</a:t>
            </a:r>
            <a:r>
              <a:rPr b="0" lang="en-US" sz="2800" spc="-1" strike="noStrike">
                <a:solidFill>
                  <a:schemeClr val="dk1"/>
                </a:solidFill>
                <a:latin typeface="Calibri"/>
              </a:rPr>
              <a:t> standard provides voluntary guidelines for administration, including labeling and record-keeping for cabling infrastructure.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Durability and Legibility:</a:t>
            </a:r>
            <a:r>
              <a:rPr b="0" lang="en-US" sz="2800" spc="-1" strike="noStrike">
                <a:solidFill>
                  <a:schemeClr val="dk1"/>
                </a:solidFill>
                <a:latin typeface="Calibri"/>
              </a:rPr>
              <a:t> Labels must be permanent, durable, and machine-printed for clarity (handwriting is a poor practice).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Placement:</a:t>
            </a:r>
            <a:r>
              <a:rPr b="0" lang="en-US" sz="2800" spc="-1" strike="noStrike">
                <a:solidFill>
                  <a:schemeClr val="dk1"/>
                </a:solidFill>
                <a:latin typeface="Calibri"/>
              </a:rPr>
              <a:t> All cables, patch panels, and termination points must be labeled at </a:t>
            </a:r>
            <a:r>
              <a:rPr b="1" lang="en-US" sz="2800" spc="-1" strike="noStrike">
                <a:solidFill>
                  <a:schemeClr val="dk1"/>
                </a:solidFill>
                <a:latin typeface="Calibri"/>
              </a:rPr>
              <a:t>both ends</a:t>
            </a:r>
            <a:r>
              <a:rPr b="0" lang="en-US" sz="2800" spc="-1" strike="noStrike">
                <a:solidFill>
                  <a:schemeClr val="dk1"/>
                </a:solidFill>
                <a:latin typeface="Calibri"/>
              </a:rPr>
              <a:t> to ensure efficient management and troubleshooting.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Content:</a:t>
            </a:r>
            <a:r>
              <a:rPr b="0" lang="en-US" sz="2800" spc="-1" strike="noStrike">
                <a:solidFill>
                  <a:schemeClr val="dk1"/>
                </a:solidFill>
                <a:latin typeface="Calibri"/>
              </a:rPr>
              <a:t> Labels should clearly identify the unique Cable ID, as well as the source and destination points. Including cable type (e.g., Cat6a) and length is considered a best practice.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Color-coding:</a:t>
            </a:r>
            <a:r>
              <a:rPr b="0" lang="en-US" sz="2800" spc="-1" strike="noStrike">
                <a:solidFill>
                  <a:schemeClr val="dk1"/>
                </a:solidFill>
                <a:latin typeface="Calibri"/>
              </a:rPr>
              <a:t> Color-coding schemes can be used on labels or cable jackets to quickly identify the type of cable or application (e.g., standard Ethernet, PoE)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p:nvPr>
        </p:nvSpPr>
        <p:spPr>
          <a:xfrm>
            <a:off x="0" y="0"/>
            <a:ext cx="12191400" cy="6857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3600" spc="-1" strike="noStrike">
                <a:solidFill>
                  <a:schemeClr val="dk1"/>
                </a:solidFill>
                <a:latin typeface="Calibri"/>
              </a:rPr>
              <a:t>Testing Standards (TIA-1152 and IEC 61935-1)</a:t>
            </a:r>
            <a:endParaRPr b="0" lang="en-US" sz="3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Cabling installations must be verified through field certification testing to ensure they meet performance requirements and can support intended applications. The main standards for field testing are </a:t>
            </a:r>
            <a:r>
              <a:rPr b="1" lang="en-US" sz="2800" spc="-1" strike="noStrike">
                <a:solidFill>
                  <a:schemeClr val="dk1"/>
                </a:solidFill>
                <a:latin typeface="Calibri"/>
              </a:rPr>
              <a:t>ANSI/TIA-1152</a:t>
            </a:r>
            <a:r>
              <a:rPr b="0" lang="en-US" sz="2800" spc="-1" strike="noStrike">
                <a:solidFill>
                  <a:schemeClr val="dk1"/>
                </a:solidFill>
                <a:latin typeface="Calibri"/>
              </a:rPr>
              <a:t> (North America) and </a:t>
            </a:r>
            <a:r>
              <a:rPr b="1" lang="en-US" sz="2800" spc="-1" strike="noStrike">
                <a:solidFill>
                  <a:schemeClr val="dk1"/>
                </a:solidFill>
                <a:latin typeface="Calibri"/>
              </a:rPr>
              <a:t>IEC 61935-1</a:t>
            </a:r>
            <a:r>
              <a:rPr b="0" lang="en-US" sz="2800" spc="-1" strike="noStrike">
                <a:solidFill>
                  <a:schemeClr val="dk1"/>
                </a:solidFill>
                <a:latin typeface="Calibri"/>
              </a:rPr>
              <a:t> (International).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Key test parameters verified by certification testers include: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Length:</a:t>
            </a:r>
            <a:r>
              <a:rPr b="0" lang="en-US" sz="2800" spc="-1" strike="noStrike">
                <a:solidFill>
                  <a:schemeClr val="dk1"/>
                </a:solidFill>
                <a:latin typeface="Calibri"/>
              </a:rPr>
              <a:t> Ensures the cable link is within the 100m maximum channel length.</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Attenuation:</a:t>
            </a:r>
            <a:r>
              <a:rPr b="0" lang="en-US" sz="2800" spc="-1" strike="noStrike">
                <a:solidFill>
                  <a:schemeClr val="dk1"/>
                </a:solidFill>
                <a:latin typeface="Calibri"/>
              </a:rPr>
              <a:t> Measures signal loss along the cable length.</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Near-End Crosstalk (NEXT) &amp; Power Sum ACR (PS-ACR):</a:t>
            </a:r>
            <a:r>
              <a:rPr b="0" lang="en-US" sz="2800" spc="-1" strike="noStrike">
                <a:solidFill>
                  <a:schemeClr val="dk1"/>
                </a:solidFill>
                <a:latin typeface="Calibri"/>
              </a:rPr>
              <a:t> Measures signal coupling/interference between wire pairs within the cable.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Return Loss:</a:t>
            </a:r>
            <a:r>
              <a:rPr b="0" lang="en-US" sz="2800" spc="-1" strike="noStrike">
                <a:solidFill>
                  <a:schemeClr val="dk1"/>
                </a:solidFill>
                <a:latin typeface="Calibri"/>
              </a:rPr>
              <a:t> Measures reflections caused by impedance mismatches.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DC Resistance:</a:t>
            </a:r>
            <a:r>
              <a:rPr b="0" lang="en-US" sz="2800" spc="-1" strike="noStrike">
                <a:solidFill>
                  <a:schemeClr val="dk1"/>
                </a:solidFill>
                <a:latin typeface="Calibri"/>
              </a:rPr>
              <a:t> Measures the electrical resistance of the wire pairs, important for Power over Ethernet (PoE) applications.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209</TotalTime>
  <Application>LibreOffice/24.2.7.2$Linux_X86_64 LibreOffice_project/420$Build-2</Application>
  <AppVersion>15.0000</AppVersion>
  <Words>3213</Words>
  <Paragraphs>236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2025-11-04T06:53:28Z</dcterms:created>
  <dc:creator>dell</dc:creator>
  <dc:description/>
  <dc:language>en-US</dc:language>
  <cp:lastModifiedBy/>
  <dcterms:modified xsi:type="dcterms:W3CDTF">2026-02-12T18:46:11Z</dcterms:modified>
  <cp:revision>25</cp:revision>
  <dc:subject/>
  <dc:title>                     Chapter 4</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34</vt:i4>
  </property>
</Properties>
</file>