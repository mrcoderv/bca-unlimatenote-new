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5" r:id="rId10"/>
    <p:sldId id="266" r:id="rId11"/>
    <p:sldId id="267" r:id="rId12"/>
    <p:sldId id="268" r:id="rId13"/>
    <p:sldId id="269" r:id="rId14"/>
    <p:sldId id="303"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1" r:id="rId35"/>
    <p:sldId id="292" r:id="rId36"/>
    <p:sldId id="293" r:id="rId37"/>
    <p:sldId id="294" r:id="rId38"/>
    <p:sldId id="295" r:id="rId39"/>
    <p:sldId id="296" r:id="rId40"/>
    <p:sldId id="298" r:id="rId41"/>
    <p:sldId id="299" r:id="rId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3741" autoAdjust="0"/>
  </p:normalViewPr>
  <p:slideViewPr>
    <p:cSldViewPr snapToGrid="0">
      <p:cViewPr varScale="1">
        <p:scale>
          <a:sx n="63" d="100"/>
          <a:sy n="63" d="100"/>
        </p:scale>
        <p:origin x="804"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5A0EA6-88A1-4CB8-EC6B-897BB133025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04178A6-CF67-35CF-B61A-C0EC1A0AB8C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78CA305-8839-1BD6-09E9-8E180C50B522}"/>
              </a:ext>
            </a:extLst>
          </p:cNvPr>
          <p:cNvSpPr>
            <a:spLocks noGrp="1"/>
          </p:cNvSpPr>
          <p:nvPr>
            <p:ph type="dt" sz="half" idx="10"/>
          </p:nvPr>
        </p:nvSpPr>
        <p:spPr/>
        <p:txBody>
          <a:bodyPr/>
          <a:lstStyle/>
          <a:p>
            <a:fld id="{1626BC01-6FC5-428A-980A-5F7AD2DE10D3}" type="datetimeFigureOut">
              <a:rPr lang="en-US" smtClean="0"/>
              <a:t>11/18/2025</a:t>
            </a:fld>
            <a:endParaRPr lang="en-US"/>
          </a:p>
        </p:txBody>
      </p:sp>
      <p:sp>
        <p:nvSpPr>
          <p:cNvPr id="5" name="Footer Placeholder 4">
            <a:extLst>
              <a:ext uri="{FF2B5EF4-FFF2-40B4-BE49-F238E27FC236}">
                <a16:creationId xmlns:a16="http://schemas.microsoft.com/office/drawing/2014/main" id="{E3932902-50D5-F562-3D73-A4DBBE0323E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BF9B2E4-8990-0A8E-2BF4-5CE1A82B8C80}"/>
              </a:ext>
            </a:extLst>
          </p:cNvPr>
          <p:cNvSpPr>
            <a:spLocks noGrp="1"/>
          </p:cNvSpPr>
          <p:nvPr>
            <p:ph type="sldNum" sz="quarter" idx="12"/>
          </p:nvPr>
        </p:nvSpPr>
        <p:spPr/>
        <p:txBody>
          <a:bodyPr/>
          <a:lstStyle/>
          <a:p>
            <a:fld id="{00CA60FA-20DB-443C-A0EC-07CBCCECB2D7}" type="slidenum">
              <a:rPr lang="en-US" smtClean="0"/>
              <a:t>‹#›</a:t>
            </a:fld>
            <a:endParaRPr lang="en-US"/>
          </a:p>
        </p:txBody>
      </p:sp>
    </p:spTree>
    <p:extLst>
      <p:ext uri="{BB962C8B-B14F-4D97-AF65-F5344CB8AC3E}">
        <p14:creationId xmlns:p14="http://schemas.microsoft.com/office/powerpoint/2010/main" val="31472604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B42E40-47DB-8CFD-FF50-C74CA3C4456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3DE48C0-E014-E331-4529-05D646F5326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7841780-8BBC-B6ED-30A8-801182E4529B}"/>
              </a:ext>
            </a:extLst>
          </p:cNvPr>
          <p:cNvSpPr>
            <a:spLocks noGrp="1"/>
          </p:cNvSpPr>
          <p:nvPr>
            <p:ph type="dt" sz="half" idx="10"/>
          </p:nvPr>
        </p:nvSpPr>
        <p:spPr/>
        <p:txBody>
          <a:bodyPr/>
          <a:lstStyle/>
          <a:p>
            <a:fld id="{1626BC01-6FC5-428A-980A-5F7AD2DE10D3}" type="datetimeFigureOut">
              <a:rPr lang="en-US" smtClean="0"/>
              <a:t>11/18/2025</a:t>
            </a:fld>
            <a:endParaRPr lang="en-US"/>
          </a:p>
        </p:txBody>
      </p:sp>
      <p:sp>
        <p:nvSpPr>
          <p:cNvPr id="5" name="Footer Placeholder 4">
            <a:extLst>
              <a:ext uri="{FF2B5EF4-FFF2-40B4-BE49-F238E27FC236}">
                <a16:creationId xmlns:a16="http://schemas.microsoft.com/office/drawing/2014/main" id="{D63889F3-E25B-A9CC-27A1-B924D77A25A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1BC32C3-20B4-563F-1842-C6965C67CA0A}"/>
              </a:ext>
            </a:extLst>
          </p:cNvPr>
          <p:cNvSpPr>
            <a:spLocks noGrp="1"/>
          </p:cNvSpPr>
          <p:nvPr>
            <p:ph type="sldNum" sz="quarter" idx="12"/>
          </p:nvPr>
        </p:nvSpPr>
        <p:spPr/>
        <p:txBody>
          <a:bodyPr/>
          <a:lstStyle/>
          <a:p>
            <a:fld id="{00CA60FA-20DB-443C-A0EC-07CBCCECB2D7}" type="slidenum">
              <a:rPr lang="en-US" smtClean="0"/>
              <a:t>‹#›</a:t>
            </a:fld>
            <a:endParaRPr lang="en-US"/>
          </a:p>
        </p:txBody>
      </p:sp>
    </p:spTree>
    <p:extLst>
      <p:ext uri="{BB962C8B-B14F-4D97-AF65-F5344CB8AC3E}">
        <p14:creationId xmlns:p14="http://schemas.microsoft.com/office/powerpoint/2010/main" val="15164526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E344D-771C-A64D-5666-D53554C6823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D3F9BBF-B108-C70C-98D0-9CC9D8B9A6D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CF05515-0F35-9EBB-C776-EBC88408E24A}"/>
              </a:ext>
            </a:extLst>
          </p:cNvPr>
          <p:cNvSpPr>
            <a:spLocks noGrp="1"/>
          </p:cNvSpPr>
          <p:nvPr>
            <p:ph type="dt" sz="half" idx="10"/>
          </p:nvPr>
        </p:nvSpPr>
        <p:spPr/>
        <p:txBody>
          <a:bodyPr/>
          <a:lstStyle/>
          <a:p>
            <a:fld id="{1626BC01-6FC5-428A-980A-5F7AD2DE10D3}" type="datetimeFigureOut">
              <a:rPr lang="en-US" smtClean="0"/>
              <a:t>11/18/2025</a:t>
            </a:fld>
            <a:endParaRPr lang="en-US"/>
          </a:p>
        </p:txBody>
      </p:sp>
      <p:sp>
        <p:nvSpPr>
          <p:cNvPr id="5" name="Footer Placeholder 4">
            <a:extLst>
              <a:ext uri="{FF2B5EF4-FFF2-40B4-BE49-F238E27FC236}">
                <a16:creationId xmlns:a16="http://schemas.microsoft.com/office/drawing/2014/main" id="{7988A575-B290-D1FE-F182-3D0A2F4F9AC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E84B215-69FB-64C3-C737-5B7D359FFF0A}"/>
              </a:ext>
            </a:extLst>
          </p:cNvPr>
          <p:cNvSpPr>
            <a:spLocks noGrp="1"/>
          </p:cNvSpPr>
          <p:nvPr>
            <p:ph type="sldNum" sz="quarter" idx="12"/>
          </p:nvPr>
        </p:nvSpPr>
        <p:spPr/>
        <p:txBody>
          <a:bodyPr/>
          <a:lstStyle/>
          <a:p>
            <a:fld id="{00CA60FA-20DB-443C-A0EC-07CBCCECB2D7}" type="slidenum">
              <a:rPr lang="en-US" smtClean="0"/>
              <a:t>‹#›</a:t>
            </a:fld>
            <a:endParaRPr lang="en-US"/>
          </a:p>
        </p:txBody>
      </p:sp>
    </p:spTree>
    <p:extLst>
      <p:ext uri="{BB962C8B-B14F-4D97-AF65-F5344CB8AC3E}">
        <p14:creationId xmlns:p14="http://schemas.microsoft.com/office/powerpoint/2010/main" val="20875792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1AA043-9BC2-48E5-5E58-73D42496377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7FED2F5-BD7B-0F03-12F9-A09C72002B3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4D15280-0257-73FA-C42A-9A40F284BDC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9DB6393-24F9-5247-F518-A459B954D2B3}"/>
              </a:ext>
            </a:extLst>
          </p:cNvPr>
          <p:cNvSpPr>
            <a:spLocks noGrp="1"/>
          </p:cNvSpPr>
          <p:nvPr>
            <p:ph type="dt" sz="half" idx="10"/>
          </p:nvPr>
        </p:nvSpPr>
        <p:spPr/>
        <p:txBody>
          <a:bodyPr/>
          <a:lstStyle/>
          <a:p>
            <a:fld id="{1626BC01-6FC5-428A-980A-5F7AD2DE10D3}" type="datetimeFigureOut">
              <a:rPr lang="en-US" smtClean="0"/>
              <a:t>11/18/2025</a:t>
            </a:fld>
            <a:endParaRPr lang="en-US"/>
          </a:p>
        </p:txBody>
      </p:sp>
      <p:sp>
        <p:nvSpPr>
          <p:cNvPr id="6" name="Footer Placeholder 5">
            <a:extLst>
              <a:ext uri="{FF2B5EF4-FFF2-40B4-BE49-F238E27FC236}">
                <a16:creationId xmlns:a16="http://schemas.microsoft.com/office/drawing/2014/main" id="{49547894-2347-13C1-0582-AA039A1EF5D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FBCACCF-AC37-8CEE-2353-CC94227A5A32}"/>
              </a:ext>
            </a:extLst>
          </p:cNvPr>
          <p:cNvSpPr>
            <a:spLocks noGrp="1"/>
          </p:cNvSpPr>
          <p:nvPr>
            <p:ph type="sldNum" sz="quarter" idx="12"/>
          </p:nvPr>
        </p:nvSpPr>
        <p:spPr/>
        <p:txBody>
          <a:bodyPr/>
          <a:lstStyle/>
          <a:p>
            <a:fld id="{00CA60FA-20DB-443C-A0EC-07CBCCECB2D7}" type="slidenum">
              <a:rPr lang="en-US" smtClean="0"/>
              <a:t>‹#›</a:t>
            </a:fld>
            <a:endParaRPr lang="en-US"/>
          </a:p>
        </p:txBody>
      </p:sp>
    </p:spTree>
    <p:extLst>
      <p:ext uri="{BB962C8B-B14F-4D97-AF65-F5344CB8AC3E}">
        <p14:creationId xmlns:p14="http://schemas.microsoft.com/office/powerpoint/2010/main" val="31168997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3503D6-E9E9-2D5A-13F1-791F02587F5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07451B2-6899-8369-4924-2D282B9ED72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CC12F2E-F181-5DC1-15E7-8A3BBD73E4D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5A57E38-35B4-9052-AE0F-CD348CFCCE8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B3158A7-63E7-538E-84A4-641ACB04C5F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FBA3AAA-ACD9-0C94-EF85-C1FA171DB9C9}"/>
              </a:ext>
            </a:extLst>
          </p:cNvPr>
          <p:cNvSpPr>
            <a:spLocks noGrp="1"/>
          </p:cNvSpPr>
          <p:nvPr>
            <p:ph type="dt" sz="half" idx="10"/>
          </p:nvPr>
        </p:nvSpPr>
        <p:spPr/>
        <p:txBody>
          <a:bodyPr/>
          <a:lstStyle/>
          <a:p>
            <a:fld id="{1626BC01-6FC5-428A-980A-5F7AD2DE10D3}" type="datetimeFigureOut">
              <a:rPr lang="en-US" smtClean="0"/>
              <a:t>11/18/2025</a:t>
            </a:fld>
            <a:endParaRPr lang="en-US"/>
          </a:p>
        </p:txBody>
      </p:sp>
      <p:sp>
        <p:nvSpPr>
          <p:cNvPr id="8" name="Footer Placeholder 7">
            <a:extLst>
              <a:ext uri="{FF2B5EF4-FFF2-40B4-BE49-F238E27FC236}">
                <a16:creationId xmlns:a16="http://schemas.microsoft.com/office/drawing/2014/main" id="{C51EA3E0-B099-5121-6D59-62FD72B3BF8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74B6A2B-FD3E-2395-9889-042DA9C5CFD2}"/>
              </a:ext>
            </a:extLst>
          </p:cNvPr>
          <p:cNvSpPr>
            <a:spLocks noGrp="1"/>
          </p:cNvSpPr>
          <p:nvPr>
            <p:ph type="sldNum" sz="quarter" idx="12"/>
          </p:nvPr>
        </p:nvSpPr>
        <p:spPr/>
        <p:txBody>
          <a:bodyPr/>
          <a:lstStyle/>
          <a:p>
            <a:fld id="{00CA60FA-20DB-443C-A0EC-07CBCCECB2D7}" type="slidenum">
              <a:rPr lang="en-US" smtClean="0"/>
              <a:t>‹#›</a:t>
            </a:fld>
            <a:endParaRPr lang="en-US"/>
          </a:p>
        </p:txBody>
      </p:sp>
    </p:spTree>
    <p:extLst>
      <p:ext uri="{BB962C8B-B14F-4D97-AF65-F5344CB8AC3E}">
        <p14:creationId xmlns:p14="http://schemas.microsoft.com/office/powerpoint/2010/main" val="40441686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768479-4D16-F065-6E4C-A864F0646EC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B649938-9158-1EB9-081F-B21E14309788}"/>
              </a:ext>
            </a:extLst>
          </p:cNvPr>
          <p:cNvSpPr>
            <a:spLocks noGrp="1"/>
          </p:cNvSpPr>
          <p:nvPr>
            <p:ph type="dt" sz="half" idx="10"/>
          </p:nvPr>
        </p:nvSpPr>
        <p:spPr/>
        <p:txBody>
          <a:bodyPr/>
          <a:lstStyle/>
          <a:p>
            <a:fld id="{1626BC01-6FC5-428A-980A-5F7AD2DE10D3}" type="datetimeFigureOut">
              <a:rPr lang="en-US" smtClean="0"/>
              <a:t>11/18/2025</a:t>
            </a:fld>
            <a:endParaRPr lang="en-US"/>
          </a:p>
        </p:txBody>
      </p:sp>
      <p:sp>
        <p:nvSpPr>
          <p:cNvPr id="4" name="Footer Placeholder 3">
            <a:extLst>
              <a:ext uri="{FF2B5EF4-FFF2-40B4-BE49-F238E27FC236}">
                <a16:creationId xmlns:a16="http://schemas.microsoft.com/office/drawing/2014/main" id="{9BFF9965-A979-507A-6B8B-DA0441906BC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D52DAD8-5D47-C1A3-E4DD-708960CC99D2}"/>
              </a:ext>
            </a:extLst>
          </p:cNvPr>
          <p:cNvSpPr>
            <a:spLocks noGrp="1"/>
          </p:cNvSpPr>
          <p:nvPr>
            <p:ph type="sldNum" sz="quarter" idx="12"/>
          </p:nvPr>
        </p:nvSpPr>
        <p:spPr/>
        <p:txBody>
          <a:bodyPr/>
          <a:lstStyle/>
          <a:p>
            <a:fld id="{00CA60FA-20DB-443C-A0EC-07CBCCECB2D7}" type="slidenum">
              <a:rPr lang="en-US" smtClean="0"/>
              <a:t>‹#›</a:t>
            </a:fld>
            <a:endParaRPr lang="en-US"/>
          </a:p>
        </p:txBody>
      </p:sp>
    </p:spTree>
    <p:extLst>
      <p:ext uri="{BB962C8B-B14F-4D97-AF65-F5344CB8AC3E}">
        <p14:creationId xmlns:p14="http://schemas.microsoft.com/office/powerpoint/2010/main" val="19588493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125D0BF-E618-0184-F0B2-E7B3C76A8D1C}"/>
              </a:ext>
            </a:extLst>
          </p:cNvPr>
          <p:cNvSpPr>
            <a:spLocks noGrp="1"/>
          </p:cNvSpPr>
          <p:nvPr>
            <p:ph type="dt" sz="half" idx="10"/>
          </p:nvPr>
        </p:nvSpPr>
        <p:spPr/>
        <p:txBody>
          <a:bodyPr/>
          <a:lstStyle/>
          <a:p>
            <a:fld id="{1626BC01-6FC5-428A-980A-5F7AD2DE10D3}" type="datetimeFigureOut">
              <a:rPr lang="en-US" smtClean="0"/>
              <a:t>11/18/2025</a:t>
            </a:fld>
            <a:endParaRPr lang="en-US"/>
          </a:p>
        </p:txBody>
      </p:sp>
      <p:sp>
        <p:nvSpPr>
          <p:cNvPr id="3" name="Footer Placeholder 2">
            <a:extLst>
              <a:ext uri="{FF2B5EF4-FFF2-40B4-BE49-F238E27FC236}">
                <a16:creationId xmlns:a16="http://schemas.microsoft.com/office/drawing/2014/main" id="{DD525390-1D51-71D5-A521-FDB70A997C0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12AE375-0307-6117-01C1-2F1FEA8E7AEC}"/>
              </a:ext>
            </a:extLst>
          </p:cNvPr>
          <p:cNvSpPr>
            <a:spLocks noGrp="1"/>
          </p:cNvSpPr>
          <p:nvPr>
            <p:ph type="sldNum" sz="quarter" idx="12"/>
          </p:nvPr>
        </p:nvSpPr>
        <p:spPr/>
        <p:txBody>
          <a:bodyPr/>
          <a:lstStyle/>
          <a:p>
            <a:fld id="{00CA60FA-20DB-443C-A0EC-07CBCCECB2D7}" type="slidenum">
              <a:rPr lang="en-US" smtClean="0"/>
              <a:t>‹#›</a:t>
            </a:fld>
            <a:endParaRPr lang="en-US"/>
          </a:p>
        </p:txBody>
      </p:sp>
    </p:spTree>
    <p:extLst>
      <p:ext uri="{BB962C8B-B14F-4D97-AF65-F5344CB8AC3E}">
        <p14:creationId xmlns:p14="http://schemas.microsoft.com/office/powerpoint/2010/main" val="9760246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DC9C59-50A9-2156-C3AB-03D1D5160F6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20F6474-53D4-46B7-FCEB-A1159ACEFE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F75A20A-E938-7972-0688-9E78BF771F8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5C8ED53-93F4-97C7-FDDF-99C27998AC30}"/>
              </a:ext>
            </a:extLst>
          </p:cNvPr>
          <p:cNvSpPr>
            <a:spLocks noGrp="1"/>
          </p:cNvSpPr>
          <p:nvPr>
            <p:ph type="dt" sz="half" idx="10"/>
          </p:nvPr>
        </p:nvSpPr>
        <p:spPr/>
        <p:txBody>
          <a:bodyPr/>
          <a:lstStyle/>
          <a:p>
            <a:fld id="{1626BC01-6FC5-428A-980A-5F7AD2DE10D3}" type="datetimeFigureOut">
              <a:rPr lang="en-US" smtClean="0"/>
              <a:t>11/18/2025</a:t>
            </a:fld>
            <a:endParaRPr lang="en-US"/>
          </a:p>
        </p:txBody>
      </p:sp>
      <p:sp>
        <p:nvSpPr>
          <p:cNvPr id="6" name="Footer Placeholder 5">
            <a:extLst>
              <a:ext uri="{FF2B5EF4-FFF2-40B4-BE49-F238E27FC236}">
                <a16:creationId xmlns:a16="http://schemas.microsoft.com/office/drawing/2014/main" id="{ADCFA43F-6954-C7D7-C42C-8002406ECB3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A132939-DEFC-7071-0E47-E7FCDB951A25}"/>
              </a:ext>
            </a:extLst>
          </p:cNvPr>
          <p:cNvSpPr>
            <a:spLocks noGrp="1"/>
          </p:cNvSpPr>
          <p:nvPr>
            <p:ph type="sldNum" sz="quarter" idx="12"/>
          </p:nvPr>
        </p:nvSpPr>
        <p:spPr/>
        <p:txBody>
          <a:bodyPr/>
          <a:lstStyle/>
          <a:p>
            <a:fld id="{00CA60FA-20DB-443C-A0EC-07CBCCECB2D7}" type="slidenum">
              <a:rPr lang="en-US" smtClean="0"/>
              <a:t>‹#›</a:t>
            </a:fld>
            <a:endParaRPr lang="en-US"/>
          </a:p>
        </p:txBody>
      </p:sp>
    </p:spTree>
    <p:extLst>
      <p:ext uri="{BB962C8B-B14F-4D97-AF65-F5344CB8AC3E}">
        <p14:creationId xmlns:p14="http://schemas.microsoft.com/office/powerpoint/2010/main" val="38046757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AD7C66-D33C-073C-DAA4-AF2C138DC9D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70694F0-4B42-1C77-F870-FF982A57D82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2440DD5-C980-A8A7-351A-208F4134195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C232BA4-AB63-0187-5C35-120BBB7891B7}"/>
              </a:ext>
            </a:extLst>
          </p:cNvPr>
          <p:cNvSpPr>
            <a:spLocks noGrp="1"/>
          </p:cNvSpPr>
          <p:nvPr>
            <p:ph type="dt" sz="half" idx="10"/>
          </p:nvPr>
        </p:nvSpPr>
        <p:spPr/>
        <p:txBody>
          <a:bodyPr/>
          <a:lstStyle/>
          <a:p>
            <a:fld id="{1626BC01-6FC5-428A-980A-5F7AD2DE10D3}" type="datetimeFigureOut">
              <a:rPr lang="en-US" smtClean="0"/>
              <a:t>11/18/2025</a:t>
            </a:fld>
            <a:endParaRPr lang="en-US"/>
          </a:p>
        </p:txBody>
      </p:sp>
      <p:sp>
        <p:nvSpPr>
          <p:cNvPr id="6" name="Footer Placeholder 5">
            <a:extLst>
              <a:ext uri="{FF2B5EF4-FFF2-40B4-BE49-F238E27FC236}">
                <a16:creationId xmlns:a16="http://schemas.microsoft.com/office/drawing/2014/main" id="{8FCE5BA0-60D2-CB81-C694-EB444F094A3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56C077A-810B-4DB5-A317-E290C44B8217}"/>
              </a:ext>
            </a:extLst>
          </p:cNvPr>
          <p:cNvSpPr>
            <a:spLocks noGrp="1"/>
          </p:cNvSpPr>
          <p:nvPr>
            <p:ph type="sldNum" sz="quarter" idx="12"/>
          </p:nvPr>
        </p:nvSpPr>
        <p:spPr/>
        <p:txBody>
          <a:bodyPr/>
          <a:lstStyle/>
          <a:p>
            <a:fld id="{00CA60FA-20DB-443C-A0EC-07CBCCECB2D7}" type="slidenum">
              <a:rPr lang="en-US" smtClean="0"/>
              <a:t>‹#›</a:t>
            </a:fld>
            <a:endParaRPr lang="en-US"/>
          </a:p>
        </p:txBody>
      </p:sp>
    </p:spTree>
    <p:extLst>
      <p:ext uri="{BB962C8B-B14F-4D97-AF65-F5344CB8AC3E}">
        <p14:creationId xmlns:p14="http://schemas.microsoft.com/office/powerpoint/2010/main" val="21582427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AF05E2-0392-BCE1-82C4-E19EBD08026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AEDA353-4891-9095-616B-66C1EF2404B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A422F0A-9871-9972-743C-545EB7560C80}"/>
              </a:ext>
            </a:extLst>
          </p:cNvPr>
          <p:cNvSpPr>
            <a:spLocks noGrp="1"/>
          </p:cNvSpPr>
          <p:nvPr>
            <p:ph type="dt" sz="half" idx="10"/>
          </p:nvPr>
        </p:nvSpPr>
        <p:spPr/>
        <p:txBody>
          <a:bodyPr/>
          <a:lstStyle/>
          <a:p>
            <a:fld id="{1626BC01-6FC5-428A-980A-5F7AD2DE10D3}" type="datetimeFigureOut">
              <a:rPr lang="en-US" smtClean="0"/>
              <a:t>11/18/2025</a:t>
            </a:fld>
            <a:endParaRPr lang="en-US"/>
          </a:p>
        </p:txBody>
      </p:sp>
      <p:sp>
        <p:nvSpPr>
          <p:cNvPr id="5" name="Footer Placeholder 4">
            <a:extLst>
              <a:ext uri="{FF2B5EF4-FFF2-40B4-BE49-F238E27FC236}">
                <a16:creationId xmlns:a16="http://schemas.microsoft.com/office/drawing/2014/main" id="{0B4161DE-A5F5-4EDC-DDE4-88F691E27DF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237E84-C2C8-064D-89C7-FC58341F1FE9}"/>
              </a:ext>
            </a:extLst>
          </p:cNvPr>
          <p:cNvSpPr>
            <a:spLocks noGrp="1"/>
          </p:cNvSpPr>
          <p:nvPr>
            <p:ph type="sldNum" sz="quarter" idx="12"/>
          </p:nvPr>
        </p:nvSpPr>
        <p:spPr/>
        <p:txBody>
          <a:bodyPr/>
          <a:lstStyle/>
          <a:p>
            <a:fld id="{00CA60FA-20DB-443C-A0EC-07CBCCECB2D7}" type="slidenum">
              <a:rPr lang="en-US" smtClean="0"/>
              <a:t>‹#›</a:t>
            </a:fld>
            <a:endParaRPr lang="en-US"/>
          </a:p>
        </p:txBody>
      </p:sp>
    </p:spTree>
    <p:extLst>
      <p:ext uri="{BB962C8B-B14F-4D97-AF65-F5344CB8AC3E}">
        <p14:creationId xmlns:p14="http://schemas.microsoft.com/office/powerpoint/2010/main" val="3406352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AE7F897-D1A4-D887-1AB8-C61EC1DE93C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FD06229-F0AB-7B22-2D67-32AA2A4B1F0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BA6879F-3280-8386-F189-726BBA08F6CC}"/>
              </a:ext>
            </a:extLst>
          </p:cNvPr>
          <p:cNvSpPr>
            <a:spLocks noGrp="1"/>
          </p:cNvSpPr>
          <p:nvPr>
            <p:ph type="dt" sz="half" idx="10"/>
          </p:nvPr>
        </p:nvSpPr>
        <p:spPr/>
        <p:txBody>
          <a:bodyPr/>
          <a:lstStyle/>
          <a:p>
            <a:fld id="{1626BC01-6FC5-428A-980A-5F7AD2DE10D3}" type="datetimeFigureOut">
              <a:rPr lang="en-US" smtClean="0"/>
              <a:t>11/18/2025</a:t>
            </a:fld>
            <a:endParaRPr lang="en-US"/>
          </a:p>
        </p:txBody>
      </p:sp>
      <p:sp>
        <p:nvSpPr>
          <p:cNvPr id="5" name="Footer Placeholder 4">
            <a:extLst>
              <a:ext uri="{FF2B5EF4-FFF2-40B4-BE49-F238E27FC236}">
                <a16:creationId xmlns:a16="http://schemas.microsoft.com/office/drawing/2014/main" id="{2EC24B3C-B6D9-807E-D8DC-3CF823999FC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028DA1-41E3-23FD-0D65-4B3CA2E1AD1E}"/>
              </a:ext>
            </a:extLst>
          </p:cNvPr>
          <p:cNvSpPr>
            <a:spLocks noGrp="1"/>
          </p:cNvSpPr>
          <p:nvPr>
            <p:ph type="sldNum" sz="quarter" idx="12"/>
          </p:nvPr>
        </p:nvSpPr>
        <p:spPr/>
        <p:txBody>
          <a:bodyPr/>
          <a:lstStyle/>
          <a:p>
            <a:fld id="{00CA60FA-20DB-443C-A0EC-07CBCCECB2D7}" type="slidenum">
              <a:rPr lang="en-US" smtClean="0"/>
              <a:t>‹#›</a:t>
            </a:fld>
            <a:endParaRPr lang="en-US"/>
          </a:p>
        </p:txBody>
      </p:sp>
    </p:spTree>
    <p:extLst>
      <p:ext uri="{BB962C8B-B14F-4D97-AF65-F5344CB8AC3E}">
        <p14:creationId xmlns:p14="http://schemas.microsoft.com/office/powerpoint/2010/main" val="10480722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9CBAAAF-6B9E-4451-823D-66ED63D1970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AF49429-9C01-8C35-4F48-19C874FC45C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8F4D7E1-EA85-D2BD-C417-BAB08EDD4F0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626BC01-6FC5-428A-980A-5F7AD2DE10D3}" type="datetimeFigureOut">
              <a:rPr lang="en-US" smtClean="0"/>
              <a:t>11/18/2025</a:t>
            </a:fld>
            <a:endParaRPr lang="en-US"/>
          </a:p>
        </p:txBody>
      </p:sp>
      <p:sp>
        <p:nvSpPr>
          <p:cNvPr id="5" name="Footer Placeholder 4">
            <a:extLst>
              <a:ext uri="{FF2B5EF4-FFF2-40B4-BE49-F238E27FC236}">
                <a16:creationId xmlns:a16="http://schemas.microsoft.com/office/drawing/2014/main" id="{B474A836-23B2-B194-66E1-B0575B7B2D3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8E6193A-4156-D3C6-B5D6-0AFA1045264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0CA60FA-20DB-443C-A0EC-07CBCCECB2D7}" type="slidenum">
              <a:rPr lang="en-US" smtClean="0"/>
              <a:t>‹#›</a:t>
            </a:fld>
            <a:endParaRPr lang="en-US"/>
          </a:p>
        </p:txBody>
      </p:sp>
    </p:spTree>
    <p:extLst>
      <p:ext uri="{BB962C8B-B14F-4D97-AF65-F5344CB8AC3E}">
        <p14:creationId xmlns:p14="http://schemas.microsoft.com/office/powerpoint/2010/main" val="418113572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9983F6-F9B2-89DD-E6DC-B7BEC6D86598}"/>
              </a:ext>
            </a:extLst>
          </p:cNvPr>
          <p:cNvSpPr>
            <a:spLocks noGrp="1"/>
          </p:cNvSpPr>
          <p:nvPr>
            <p:ph type="ctrTitle"/>
          </p:nvPr>
        </p:nvSpPr>
        <p:spPr/>
        <p:txBody>
          <a:bodyPr/>
          <a:lstStyle/>
          <a:p>
            <a:r>
              <a:rPr lang="en-US" dirty="0"/>
              <a:t>2</a:t>
            </a:r>
            <a:r>
              <a:rPr lang="en-US" dirty="0" smtClean="0"/>
              <a:t> </a:t>
            </a:r>
            <a:r>
              <a:rPr lang="en-US" dirty="0"/>
              <a:t>chapter </a:t>
            </a:r>
          </a:p>
        </p:txBody>
      </p:sp>
    </p:spTree>
    <p:extLst>
      <p:ext uri="{BB962C8B-B14F-4D97-AF65-F5344CB8AC3E}">
        <p14:creationId xmlns:p14="http://schemas.microsoft.com/office/powerpoint/2010/main" val="2821108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1172DC9-C591-D3DE-5E9F-1B3B96760395}"/>
              </a:ext>
            </a:extLst>
          </p:cNvPr>
          <p:cNvSpPr>
            <a:spLocks noGrp="1"/>
          </p:cNvSpPr>
          <p:nvPr>
            <p:ph idx="1"/>
          </p:nvPr>
        </p:nvSpPr>
        <p:spPr>
          <a:xfrm>
            <a:off x="0" y="0"/>
            <a:ext cx="12192000" cy="6785811"/>
          </a:xfrm>
        </p:spPr>
        <p:txBody>
          <a:bodyPr/>
          <a:lstStyle/>
          <a:p>
            <a:r>
              <a:rPr lang="en-US" dirty="0"/>
              <a:t>2</a:t>
            </a:r>
            <a:r>
              <a:rPr lang="en-US" dirty="0" smtClean="0"/>
              <a:t> </a:t>
            </a:r>
            <a:r>
              <a:rPr lang="en-US" dirty="0"/>
              <a:t>Multiplexing and Switching </a:t>
            </a:r>
          </a:p>
          <a:p>
            <a:r>
              <a:rPr lang="en-US" dirty="0"/>
              <a:t>2</a:t>
            </a:r>
            <a:r>
              <a:rPr lang="en-US" dirty="0" smtClean="0"/>
              <a:t>.1 </a:t>
            </a:r>
            <a:r>
              <a:rPr lang="en-US" dirty="0"/>
              <a:t>Multiplexing ( Frequency division multiplexing, synchronous time division multiplexing, time division multiplexing) </a:t>
            </a:r>
          </a:p>
          <a:p>
            <a:r>
              <a:rPr lang="en-US" dirty="0" smtClean="0"/>
              <a:t>2.2 </a:t>
            </a:r>
            <a:r>
              <a:rPr lang="en-US" dirty="0"/>
              <a:t>Switching and its types</a:t>
            </a:r>
          </a:p>
        </p:txBody>
      </p:sp>
    </p:spTree>
    <p:extLst>
      <p:ext uri="{BB962C8B-B14F-4D97-AF65-F5344CB8AC3E}">
        <p14:creationId xmlns:p14="http://schemas.microsoft.com/office/powerpoint/2010/main" val="5910598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E1759E9-D30D-C89B-69E2-1D3171735A3C}"/>
              </a:ext>
            </a:extLst>
          </p:cNvPr>
          <p:cNvSpPr>
            <a:spLocks noGrp="1"/>
          </p:cNvSpPr>
          <p:nvPr>
            <p:ph idx="1"/>
          </p:nvPr>
        </p:nvSpPr>
        <p:spPr>
          <a:xfrm>
            <a:off x="0" y="0"/>
            <a:ext cx="12192000" cy="6858000"/>
          </a:xfrm>
        </p:spPr>
        <p:txBody>
          <a:bodyPr/>
          <a:lstStyle/>
          <a:p>
            <a:pPr marL="0" indent="0">
              <a:buNone/>
            </a:pPr>
            <a:r>
              <a:rPr lang="en-US" b="1" dirty="0"/>
              <a:t>What is Multiplexing?</a:t>
            </a:r>
          </a:p>
          <a:p>
            <a:r>
              <a:rPr lang="en-US" dirty="0"/>
              <a:t>Multiplexing is a technique used to combine and send the multiple data streams over a single medium.</a:t>
            </a:r>
          </a:p>
          <a:p>
            <a:endParaRPr lang="en-US" dirty="0"/>
          </a:p>
          <a:p>
            <a:r>
              <a:rPr lang="en-US" dirty="0"/>
              <a:t> The process of combining the data streams is known as multiplexing and hardware used for multiplexing is known as a multiplexer.</a:t>
            </a:r>
          </a:p>
          <a:p>
            <a:endParaRPr lang="en-US" dirty="0"/>
          </a:p>
          <a:p>
            <a:r>
              <a:rPr lang="en-US" dirty="0"/>
              <a:t>Multiplexing is achieved by using a device called Multiplexer (</a:t>
            </a:r>
            <a:r>
              <a:rPr lang="en-US" b="1" dirty="0"/>
              <a:t>MUX</a:t>
            </a:r>
            <a:r>
              <a:rPr lang="en-US" dirty="0"/>
              <a:t>) that combines n input lines to generate a single output line.</a:t>
            </a:r>
          </a:p>
          <a:p>
            <a:endParaRPr lang="en-US" dirty="0"/>
          </a:p>
          <a:p>
            <a:r>
              <a:rPr lang="en-US" dirty="0"/>
              <a:t>Multiplexing follows many-to-one, i.e., n input lines and one output line.</a:t>
            </a:r>
          </a:p>
          <a:p>
            <a:endParaRPr lang="en-US" dirty="0"/>
          </a:p>
          <a:p>
            <a:r>
              <a:rPr lang="en-US" dirty="0"/>
              <a:t>Demultiplexing is achieved by using a device called Demultiplexer (</a:t>
            </a:r>
            <a:r>
              <a:rPr lang="en-US" b="1" dirty="0"/>
              <a:t>DEMUX</a:t>
            </a:r>
            <a:r>
              <a:rPr lang="en-US" dirty="0"/>
              <a:t>) available at the receiving end. </a:t>
            </a:r>
          </a:p>
        </p:txBody>
      </p:sp>
    </p:spTree>
    <p:extLst>
      <p:ext uri="{BB962C8B-B14F-4D97-AF65-F5344CB8AC3E}">
        <p14:creationId xmlns:p14="http://schemas.microsoft.com/office/powerpoint/2010/main" val="8102724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72A1548-9166-13DE-5E93-967A077922F7}"/>
              </a:ext>
            </a:extLst>
          </p:cNvPr>
          <p:cNvSpPr>
            <a:spLocks noGrp="1"/>
          </p:cNvSpPr>
          <p:nvPr>
            <p:ph idx="1"/>
          </p:nvPr>
        </p:nvSpPr>
        <p:spPr>
          <a:xfrm>
            <a:off x="0" y="0"/>
            <a:ext cx="12192000" cy="6858000"/>
          </a:xfrm>
        </p:spPr>
        <p:txBody>
          <a:bodyPr/>
          <a:lstStyle/>
          <a:p>
            <a:pPr>
              <a:buFont typeface="Arial" panose="020B0604020202020204" pitchFamily="34" charset="0"/>
              <a:buChar char="•"/>
            </a:pPr>
            <a:r>
              <a:rPr lang="en-US" dirty="0"/>
              <a:t>Multiplexing technique is widely used in telecommunications in which several telephone calls are carried through a single wire.</a:t>
            </a:r>
          </a:p>
          <a:p>
            <a:pPr>
              <a:buFont typeface="Arial" panose="020B0604020202020204" pitchFamily="34" charset="0"/>
              <a:buChar char="•"/>
            </a:pPr>
            <a:endParaRPr lang="en-US" dirty="0"/>
          </a:p>
          <a:p>
            <a:pPr>
              <a:buFont typeface="Arial" panose="020B0604020202020204" pitchFamily="34" charset="0"/>
              <a:buChar char="•"/>
            </a:pPr>
            <a:r>
              <a:rPr lang="en-US" dirty="0"/>
              <a:t>Multiplexing originated in telegraphy in the early 1870s and is now widely used in communication.</a:t>
            </a:r>
          </a:p>
          <a:p>
            <a:pPr>
              <a:buFont typeface="Arial" panose="020B0604020202020204" pitchFamily="34" charset="0"/>
              <a:buChar char="•"/>
            </a:pPr>
            <a:endParaRPr lang="en-US" dirty="0"/>
          </a:p>
          <a:p>
            <a:pPr>
              <a:buFont typeface="Arial" panose="020B0604020202020204" pitchFamily="34" charset="0"/>
              <a:buChar char="•"/>
            </a:pPr>
            <a:r>
              <a:rPr lang="en-US" dirty="0"/>
              <a:t>George Owen  developed the </a:t>
            </a:r>
            <a:r>
              <a:rPr lang="en-US" b="1" dirty="0"/>
              <a:t>telephone carrier multiplexing</a:t>
            </a:r>
            <a:r>
              <a:rPr lang="en-US" dirty="0"/>
              <a:t> in 1910.</a:t>
            </a:r>
          </a:p>
          <a:p>
            <a:endParaRPr lang="en-US" dirty="0"/>
          </a:p>
        </p:txBody>
      </p:sp>
    </p:spTree>
    <p:extLst>
      <p:ext uri="{BB962C8B-B14F-4D97-AF65-F5344CB8AC3E}">
        <p14:creationId xmlns:p14="http://schemas.microsoft.com/office/powerpoint/2010/main" val="16204787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F3B5CBF-9D78-6EE1-6238-CFCA5DFC6329}"/>
              </a:ext>
            </a:extLst>
          </p:cNvPr>
          <p:cNvSpPr>
            <a:spLocks noGrp="1"/>
          </p:cNvSpPr>
          <p:nvPr>
            <p:ph idx="1"/>
          </p:nvPr>
        </p:nvSpPr>
        <p:spPr>
          <a:xfrm>
            <a:off x="0" y="0"/>
            <a:ext cx="12192000" cy="6858000"/>
          </a:xfrm>
        </p:spPr>
        <p:txBody>
          <a:bodyPr/>
          <a:lstStyle/>
          <a:p>
            <a:r>
              <a:rPr lang="en-US" b="1" dirty="0"/>
              <a:t>Concept of Multiplexing</a:t>
            </a:r>
          </a:p>
          <a:p>
            <a:endParaRPr lang="en-US" dirty="0"/>
          </a:p>
        </p:txBody>
      </p:sp>
      <p:pic>
        <p:nvPicPr>
          <p:cNvPr id="5" name="Picture 4">
            <a:extLst>
              <a:ext uri="{FF2B5EF4-FFF2-40B4-BE49-F238E27FC236}">
                <a16:creationId xmlns:a16="http://schemas.microsoft.com/office/drawing/2014/main" id="{72A5275D-AA84-3C86-05EE-2ACBB298BCB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0277" y="1124297"/>
            <a:ext cx="9875520" cy="2304703"/>
          </a:xfrm>
          <a:prstGeom prst="rect">
            <a:avLst/>
          </a:prstGeom>
        </p:spPr>
      </p:pic>
    </p:spTree>
    <p:extLst>
      <p:ext uri="{BB962C8B-B14F-4D97-AF65-F5344CB8AC3E}">
        <p14:creationId xmlns:p14="http://schemas.microsoft.com/office/powerpoint/2010/main" val="4311195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D3E72F9-BE5B-AD91-AB8E-A91347D02241}"/>
              </a:ext>
            </a:extLst>
          </p:cNvPr>
          <p:cNvSpPr>
            <a:spLocks noGrp="1"/>
          </p:cNvSpPr>
          <p:nvPr>
            <p:ph idx="1"/>
          </p:nvPr>
        </p:nvSpPr>
        <p:spPr>
          <a:xfrm>
            <a:off x="0" y="0"/>
            <a:ext cx="12192000" cy="6858000"/>
          </a:xfrm>
        </p:spPr>
        <p:txBody>
          <a:bodyPr/>
          <a:lstStyle/>
          <a:p>
            <a:pPr>
              <a:buFont typeface="Arial" panose="020B0604020202020204" pitchFamily="34" charset="0"/>
              <a:buChar char="•"/>
            </a:pPr>
            <a:r>
              <a:rPr lang="en-US" dirty="0"/>
              <a:t>The 'n' input lines are transmitted through a multiplexer and multiplexer combines the signals to form a composite signal.</a:t>
            </a:r>
          </a:p>
          <a:p>
            <a:pPr>
              <a:buFont typeface="Arial" panose="020B0604020202020204" pitchFamily="34" charset="0"/>
              <a:buChar char="•"/>
            </a:pPr>
            <a:r>
              <a:rPr lang="en-US" dirty="0"/>
              <a:t>The composite signal is passed through a Demultiplexer and demultiplexer separates a signal to component signals and transfers them to their respective destinations.</a:t>
            </a:r>
          </a:p>
          <a:p>
            <a:r>
              <a:rPr lang="en-US" b="1" dirty="0"/>
              <a:t>Advantages of Multiplexing:</a:t>
            </a:r>
          </a:p>
          <a:p>
            <a:pPr>
              <a:buFont typeface="Arial" panose="020B0604020202020204" pitchFamily="34" charset="0"/>
              <a:buChar char="•"/>
            </a:pPr>
            <a:r>
              <a:rPr lang="en-US" dirty="0"/>
              <a:t>More than one signal can be sent over a single medium.</a:t>
            </a:r>
          </a:p>
          <a:p>
            <a:pPr>
              <a:buFont typeface="Arial" panose="020B0604020202020204" pitchFamily="34" charset="0"/>
              <a:buChar char="•"/>
            </a:pPr>
            <a:r>
              <a:rPr lang="en-US" dirty="0"/>
              <a:t>The bandwidth of a medium can be utilized effectively.</a:t>
            </a:r>
          </a:p>
          <a:p>
            <a:pPr>
              <a:buFont typeface="Arial" panose="020B0604020202020204" pitchFamily="34" charset="0"/>
              <a:buChar char="•"/>
            </a:pPr>
            <a:endParaRPr lang="en-US" dirty="0"/>
          </a:p>
          <a:p>
            <a:endParaRPr lang="en-US" dirty="0"/>
          </a:p>
        </p:txBody>
      </p:sp>
    </p:spTree>
    <p:extLst>
      <p:ext uri="{BB962C8B-B14F-4D97-AF65-F5344CB8AC3E}">
        <p14:creationId xmlns:p14="http://schemas.microsoft.com/office/powerpoint/2010/main" val="38935062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F462555-C24C-5EA5-4F8F-C3920B605201}"/>
              </a:ext>
            </a:extLst>
          </p:cNvPr>
          <p:cNvSpPr>
            <a:spLocks noGrp="1"/>
          </p:cNvSpPr>
          <p:nvPr>
            <p:ph idx="1"/>
          </p:nvPr>
        </p:nvSpPr>
        <p:spPr>
          <a:xfrm>
            <a:off x="0" y="0"/>
            <a:ext cx="12192000" cy="6176963"/>
          </a:xfrm>
        </p:spPr>
        <p:txBody>
          <a:bodyPr/>
          <a:lstStyle/>
          <a:p>
            <a:r>
              <a:rPr lang="en-US" b="1" dirty="0"/>
              <a:t>Multiplexing Techniques</a:t>
            </a:r>
          </a:p>
          <a:p>
            <a:r>
              <a:rPr lang="en-US" dirty="0"/>
              <a:t>Multiplexing techniques can be classified as:</a:t>
            </a:r>
          </a:p>
          <a:p>
            <a:endParaRPr lang="en-US" dirty="0"/>
          </a:p>
        </p:txBody>
      </p:sp>
      <p:pic>
        <p:nvPicPr>
          <p:cNvPr id="5" name="Picture 4">
            <a:extLst>
              <a:ext uri="{FF2B5EF4-FFF2-40B4-BE49-F238E27FC236}">
                <a16:creationId xmlns:a16="http://schemas.microsoft.com/office/drawing/2014/main" id="{9CF22BBE-3ABB-61EA-C973-4C82E8A57C5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3768" y="1520408"/>
            <a:ext cx="11203806" cy="2616380"/>
          </a:xfrm>
          <a:prstGeom prst="rect">
            <a:avLst/>
          </a:prstGeom>
        </p:spPr>
      </p:pic>
    </p:spTree>
    <p:extLst>
      <p:ext uri="{BB962C8B-B14F-4D97-AF65-F5344CB8AC3E}">
        <p14:creationId xmlns:p14="http://schemas.microsoft.com/office/powerpoint/2010/main" val="1829706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8620399-DF66-1BF2-B2AE-21C7515F7683}"/>
              </a:ext>
            </a:extLst>
          </p:cNvPr>
          <p:cNvSpPr>
            <a:spLocks noGrp="1"/>
          </p:cNvSpPr>
          <p:nvPr>
            <p:ph idx="1"/>
          </p:nvPr>
        </p:nvSpPr>
        <p:spPr>
          <a:xfrm>
            <a:off x="0" y="0"/>
            <a:ext cx="12192000" cy="6858000"/>
          </a:xfrm>
        </p:spPr>
        <p:txBody>
          <a:bodyPr/>
          <a:lstStyle/>
          <a:p>
            <a:r>
              <a:rPr lang="en-US" b="1" dirty="0"/>
              <a:t>Frequency-division Multiplexing (FDM)</a:t>
            </a:r>
          </a:p>
          <a:p>
            <a:pPr>
              <a:buFont typeface="Arial" panose="020B0604020202020204" pitchFamily="34" charset="0"/>
              <a:buChar char="•"/>
            </a:pPr>
            <a:r>
              <a:rPr lang="en-US" dirty="0"/>
              <a:t>It is an analog technique.</a:t>
            </a:r>
          </a:p>
          <a:p>
            <a:pPr>
              <a:buFont typeface="Arial" panose="020B0604020202020204" pitchFamily="34" charset="0"/>
              <a:buChar char="•"/>
            </a:pPr>
            <a:r>
              <a:rPr lang="en-US" b="1" dirty="0"/>
              <a:t>Frequency Division Multiplexing</a:t>
            </a:r>
            <a:r>
              <a:rPr lang="en-US" dirty="0"/>
              <a:t> is a technique in which the available bandwidth of a single transmission medium is subdivided into several channels.</a:t>
            </a:r>
          </a:p>
          <a:p>
            <a:endParaRPr lang="en-US" dirty="0"/>
          </a:p>
        </p:txBody>
      </p:sp>
      <p:pic>
        <p:nvPicPr>
          <p:cNvPr id="5" name="Picture 4">
            <a:extLst>
              <a:ext uri="{FF2B5EF4-FFF2-40B4-BE49-F238E27FC236}">
                <a16:creationId xmlns:a16="http://schemas.microsoft.com/office/drawing/2014/main" id="{66AF108A-D770-D60F-A4FC-0668E0DB951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35191" y="2435192"/>
            <a:ext cx="6121667" cy="2367814"/>
          </a:xfrm>
          <a:prstGeom prst="rect">
            <a:avLst/>
          </a:prstGeom>
        </p:spPr>
      </p:pic>
    </p:spTree>
    <p:extLst>
      <p:ext uri="{BB962C8B-B14F-4D97-AF65-F5344CB8AC3E}">
        <p14:creationId xmlns:p14="http://schemas.microsoft.com/office/powerpoint/2010/main" val="5740014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63FA3D6-4D10-E154-5546-AC4A0ADD523E}"/>
              </a:ext>
            </a:extLst>
          </p:cNvPr>
          <p:cNvSpPr>
            <a:spLocks noGrp="1"/>
          </p:cNvSpPr>
          <p:nvPr>
            <p:ph idx="1"/>
          </p:nvPr>
        </p:nvSpPr>
        <p:spPr>
          <a:xfrm>
            <a:off x="0" y="1"/>
            <a:ext cx="12192000" cy="6858000"/>
          </a:xfrm>
        </p:spPr>
        <p:txBody>
          <a:bodyPr>
            <a:norm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In the above diagram, a single transmission medium is subdivided into several frequency channels, and each frequency channel is given to different devices.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Device 1 has a frequency channel of range from 1 to 5.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The input signals are translated into frequency bands by using modulation techniques, and they are combined by a multiplexer to form a composite signal.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The main aim of the FDM is to subdivide the available bandwidth into different frequency channels and allocate them to different devices.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Using the modulation technique, the input signals are transmitted into frequency bands and then combined to form a composite signal.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The carriers which are used for modulating the signals are known as </a:t>
            </a:r>
            <a:r>
              <a:rPr kumimoji="0" lang="en-US" altLang="en-US" sz="2800" b="1" i="0" u="none" strike="noStrike" cap="none" normalizeH="0" baseline="0" dirty="0">
                <a:ln>
                  <a:noFill/>
                </a:ln>
                <a:solidFill>
                  <a:schemeClr val="tx1"/>
                </a:solidFill>
                <a:effectLst/>
                <a:latin typeface="Arial" panose="020B0604020202020204" pitchFamily="34" charset="0"/>
              </a:rPr>
              <a:t>sub-carriers</a:t>
            </a:r>
            <a:r>
              <a:rPr kumimoji="0" lang="en-US" altLang="en-US" sz="2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They are represented as f1,f2..fn.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FDM</a:t>
            </a:r>
            <a:r>
              <a:rPr kumimoji="0" lang="en-US" altLang="en-US" sz="2800" b="0" i="0" u="none" strike="noStrike" cap="none" normalizeH="0" baseline="0" dirty="0">
                <a:ln>
                  <a:noFill/>
                </a:ln>
                <a:solidFill>
                  <a:schemeClr val="tx1"/>
                </a:solidFill>
                <a:effectLst/>
                <a:latin typeface="Arial" panose="020B0604020202020204" pitchFamily="34" charset="0"/>
              </a:rPr>
              <a:t> is mainly used in radio broadcasts and TV networks. </a:t>
            </a:r>
          </a:p>
          <a:p>
            <a:endParaRPr lang="en-US" dirty="0"/>
          </a:p>
        </p:txBody>
      </p:sp>
    </p:spTree>
    <p:extLst>
      <p:ext uri="{BB962C8B-B14F-4D97-AF65-F5344CB8AC3E}">
        <p14:creationId xmlns:p14="http://schemas.microsoft.com/office/powerpoint/2010/main" val="5947908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351949E4-95D8-8E2D-779B-670518CE519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32034" y="1232034"/>
            <a:ext cx="7979075" cy="4183920"/>
          </a:xfrm>
        </p:spPr>
      </p:pic>
    </p:spTree>
    <p:extLst>
      <p:ext uri="{BB962C8B-B14F-4D97-AF65-F5344CB8AC3E}">
        <p14:creationId xmlns:p14="http://schemas.microsoft.com/office/powerpoint/2010/main" val="36285453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A6AC646-F2EC-1AB8-CBBB-776AAAD5FFA7}"/>
              </a:ext>
            </a:extLst>
          </p:cNvPr>
          <p:cNvSpPr>
            <a:spLocks noGrp="1"/>
          </p:cNvSpPr>
          <p:nvPr>
            <p:ph idx="1"/>
          </p:nvPr>
        </p:nvSpPr>
        <p:spPr>
          <a:xfrm>
            <a:off x="0" y="0"/>
            <a:ext cx="12098956" cy="6858000"/>
          </a:xfrm>
        </p:spPr>
        <p:txBody>
          <a:bodyPr>
            <a:normAutofit/>
          </a:bodyPr>
          <a:lstStyle/>
          <a:p>
            <a:r>
              <a:rPr lang="en-US" b="1" dirty="0"/>
              <a:t>Advantages Of FDM:</a:t>
            </a:r>
            <a:endParaRPr lang="en-US" dirty="0"/>
          </a:p>
          <a:p>
            <a:pPr>
              <a:buFont typeface="Arial" panose="020B0604020202020204" pitchFamily="34" charset="0"/>
              <a:buChar char="•"/>
            </a:pPr>
            <a:r>
              <a:rPr lang="en-US" dirty="0"/>
              <a:t>FDM is used for analog signals.</a:t>
            </a:r>
          </a:p>
          <a:p>
            <a:pPr>
              <a:buFont typeface="Arial" panose="020B0604020202020204" pitchFamily="34" charset="0"/>
              <a:buChar char="•"/>
            </a:pPr>
            <a:r>
              <a:rPr lang="en-US" dirty="0"/>
              <a:t>FDM process is very simple and easy modulation.</a:t>
            </a:r>
          </a:p>
          <a:p>
            <a:pPr>
              <a:buFont typeface="Arial" panose="020B0604020202020204" pitchFamily="34" charset="0"/>
              <a:buChar char="•"/>
            </a:pPr>
            <a:r>
              <a:rPr lang="en-US" dirty="0"/>
              <a:t>A Large number of signals can be sent through an FDM simultaneously.</a:t>
            </a:r>
          </a:p>
          <a:p>
            <a:pPr>
              <a:buFont typeface="Arial" panose="020B0604020202020204" pitchFamily="34" charset="0"/>
              <a:buChar char="•"/>
            </a:pPr>
            <a:r>
              <a:rPr lang="en-US" dirty="0"/>
              <a:t>It does not require any synchronization between sender and receiver.</a:t>
            </a:r>
          </a:p>
          <a:p>
            <a:pPr marL="0" indent="0">
              <a:buNone/>
            </a:pPr>
            <a:endParaRPr lang="en-US" dirty="0"/>
          </a:p>
          <a:p>
            <a:endParaRPr lang="en-US" dirty="0"/>
          </a:p>
        </p:txBody>
      </p:sp>
    </p:spTree>
    <p:extLst>
      <p:ext uri="{BB962C8B-B14F-4D97-AF65-F5344CB8AC3E}">
        <p14:creationId xmlns:p14="http://schemas.microsoft.com/office/powerpoint/2010/main" val="11333625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1D5FB96-563F-1EE6-029F-D402FB71C3EF}"/>
              </a:ext>
            </a:extLst>
          </p:cNvPr>
          <p:cNvSpPr>
            <a:spLocks noGrp="1"/>
          </p:cNvSpPr>
          <p:nvPr>
            <p:ph idx="1"/>
          </p:nvPr>
        </p:nvSpPr>
        <p:spPr>
          <a:xfrm>
            <a:off x="67377" y="0"/>
            <a:ext cx="11286423" cy="6176963"/>
          </a:xfrm>
        </p:spPr>
        <p:txBody>
          <a:bodyPr/>
          <a:lstStyle/>
          <a:p>
            <a:r>
              <a:rPr lang="en-US" b="1" dirty="0"/>
              <a:t>Disadvantages Of FDM:</a:t>
            </a:r>
            <a:endParaRPr lang="en-US" dirty="0"/>
          </a:p>
          <a:p>
            <a:pPr>
              <a:buFont typeface="Arial" panose="020B0604020202020204" pitchFamily="34" charset="0"/>
              <a:buChar char="•"/>
            </a:pPr>
            <a:r>
              <a:rPr lang="en-US" dirty="0"/>
              <a:t>FDM technique is used only when low-speed channels are required.</a:t>
            </a:r>
          </a:p>
          <a:p>
            <a:pPr>
              <a:buFont typeface="Arial" panose="020B0604020202020204" pitchFamily="34" charset="0"/>
              <a:buChar char="•"/>
            </a:pPr>
            <a:r>
              <a:rPr lang="en-US" dirty="0"/>
              <a:t>It suffers the problem of crosstalk.</a:t>
            </a:r>
          </a:p>
          <a:p>
            <a:pPr>
              <a:buFont typeface="Arial" panose="020B0604020202020204" pitchFamily="34" charset="0"/>
              <a:buChar char="•"/>
            </a:pPr>
            <a:r>
              <a:rPr lang="en-US" dirty="0"/>
              <a:t>A Large number of modulators are required.</a:t>
            </a:r>
          </a:p>
          <a:p>
            <a:pPr>
              <a:buFont typeface="Arial" panose="020B0604020202020204" pitchFamily="34" charset="0"/>
              <a:buChar char="•"/>
            </a:pPr>
            <a:r>
              <a:rPr lang="en-US" dirty="0"/>
              <a:t>It requires a high bandwidth channel</a:t>
            </a:r>
          </a:p>
        </p:txBody>
      </p:sp>
    </p:spTree>
    <p:extLst>
      <p:ext uri="{BB962C8B-B14F-4D97-AF65-F5344CB8AC3E}">
        <p14:creationId xmlns:p14="http://schemas.microsoft.com/office/powerpoint/2010/main" val="2911349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3051EE8-C62D-547D-439F-1A6B023B3209}"/>
              </a:ext>
            </a:extLst>
          </p:cNvPr>
          <p:cNvSpPr>
            <a:spLocks noGrp="1"/>
          </p:cNvSpPr>
          <p:nvPr>
            <p:ph idx="1"/>
          </p:nvPr>
        </p:nvSpPr>
        <p:spPr>
          <a:xfrm>
            <a:off x="0" y="0"/>
            <a:ext cx="12192000" cy="6858000"/>
          </a:xfrm>
        </p:spPr>
        <p:txBody>
          <a:bodyPr/>
          <a:lstStyle/>
          <a:p>
            <a:r>
              <a:rPr lang="en-US" b="1" dirty="0"/>
              <a:t>Applications Of FDM:</a:t>
            </a:r>
            <a:endParaRPr lang="en-US" dirty="0"/>
          </a:p>
          <a:p>
            <a:pPr>
              <a:buFont typeface="Arial" panose="020B0604020202020204" pitchFamily="34" charset="0"/>
              <a:buChar char="•"/>
            </a:pPr>
            <a:r>
              <a:rPr lang="en-US" dirty="0"/>
              <a:t>FDM is commonly used in TV networks.</a:t>
            </a:r>
          </a:p>
          <a:p>
            <a:pPr>
              <a:buFont typeface="Arial" panose="020B0604020202020204" pitchFamily="34" charset="0"/>
              <a:buChar char="•"/>
            </a:pPr>
            <a:endParaRPr lang="en-US" dirty="0"/>
          </a:p>
          <a:p>
            <a:pPr>
              <a:buFont typeface="Arial" panose="020B0604020202020204" pitchFamily="34" charset="0"/>
              <a:buChar char="•"/>
            </a:pPr>
            <a:r>
              <a:rPr lang="en-US" dirty="0"/>
              <a:t>It is used in FM and AM broadcasting. </a:t>
            </a:r>
          </a:p>
          <a:p>
            <a:pPr>
              <a:buFont typeface="Arial" panose="020B0604020202020204" pitchFamily="34" charset="0"/>
              <a:buChar char="•"/>
            </a:pPr>
            <a:endParaRPr lang="en-US" dirty="0"/>
          </a:p>
          <a:p>
            <a:pPr>
              <a:buFont typeface="Arial" panose="020B0604020202020204" pitchFamily="34" charset="0"/>
              <a:buChar char="•"/>
            </a:pPr>
            <a:r>
              <a:rPr lang="en-US" dirty="0"/>
              <a:t>Each FM radio station has different frequencies, and they are multiplexed to form a composite signal.</a:t>
            </a:r>
          </a:p>
          <a:p>
            <a:pPr>
              <a:buFont typeface="Arial" panose="020B0604020202020204" pitchFamily="34" charset="0"/>
              <a:buChar char="•"/>
            </a:pPr>
            <a:endParaRPr lang="en-US" dirty="0"/>
          </a:p>
          <a:p>
            <a:pPr>
              <a:buFont typeface="Arial" panose="020B0604020202020204" pitchFamily="34" charset="0"/>
              <a:buChar char="•"/>
            </a:pPr>
            <a:r>
              <a:rPr lang="en-US" dirty="0"/>
              <a:t> The multiplexed signal is transmitted in the air.</a:t>
            </a:r>
          </a:p>
          <a:p>
            <a:endParaRPr lang="en-US" dirty="0"/>
          </a:p>
        </p:txBody>
      </p:sp>
    </p:spTree>
    <p:extLst>
      <p:ext uri="{BB962C8B-B14F-4D97-AF65-F5344CB8AC3E}">
        <p14:creationId xmlns:p14="http://schemas.microsoft.com/office/powerpoint/2010/main" val="23913601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F239AF-9C15-54BB-33C6-7372CCF73204}"/>
              </a:ext>
            </a:extLst>
          </p:cNvPr>
          <p:cNvSpPr>
            <a:spLocks noGrp="1"/>
          </p:cNvSpPr>
          <p:nvPr>
            <p:ph type="title"/>
          </p:nvPr>
        </p:nvSpPr>
        <p:spPr/>
        <p:txBody>
          <a:bodyPr/>
          <a:lstStyle/>
          <a:p>
            <a:r>
              <a:rPr lang="en-US" b="1" dirty="0"/>
              <a:t>Wavelength Division Multiplexing</a:t>
            </a:r>
          </a:p>
        </p:txBody>
      </p:sp>
      <p:pic>
        <p:nvPicPr>
          <p:cNvPr id="4" name="Content Placeholder 4">
            <a:extLst>
              <a:ext uri="{FF2B5EF4-FFF2-40B4-BE49-F238E27FC236}">
                <a16:creationId xmlns:a16="http://schemas.microsoft.com/office/drawing/2014/main" id="{3F472EE9-FB02-7A95-0A9B-8D42060D814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2184400"/>
            <a:ext cx="10515600" cy="3972560"/>
          </a:xfrm>
        </p:spPr>
      </p:pic>
    </p:spTree>
    <p:extLst>
      <p:ext uri="{BB962C8B-B14F-4D97-AF65-F5344CB8AC3E}">
        <p14:creationId xmlns:p14="http://schemas.microsoft.com/office/powerpoint/2010/main" val="29471607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8E4F445-4725-DD07-4FDA-B1B7C0385447}"/>
              </a:ext>
            </a:extLst>
          </p:cNvPr>
          <p:cNvSpPr>
            <a:spLocks noGrp="1"/>
          </p:cNvSpPr>
          <p:nvPr>
            <p:ph idx="1"/>
          </p:nvPr>
        </p:nvSpPr>
        <p:spPr>
          <a:xfrm>
            <a:off x="0" y="0"/>
            <a:ext cx="12192000" cy="6858000"/>
          </a:xfrm>
        </p:spPr>
        <p:txBody>
          <a:bodyPr>
            <a:normAutofit/>
          </a:bodyPr>
          <a:lstStyle/>
          <a:p>
            <a:pPr>
              <a:buFont typeface="Arial" panose="020B0604020202020204" pitchFamily="34" charset="0"/>
              <a:buChar char="•"/>
            </a:pPr>
            <a:r>
              <a:rPr lang="en-US" dirty="0"/>
              <a:t>Wavelength Division Multiplexing is same as FDM except that the optical signals are transmitted through the fiber optic cable.</a:t>
            </a:r>
          </a:p>
          <a:p>
            <a:pPr>
              <a:buFont typeface="Arial" panose="020B0604020202020204" pitchFamily="34" charset="0"/>
              <a:buChar char="•"/>
            </a:pPr>
            <a:r>
              <a:rPr lang="en-US" dirty="0"/>
              <a:t>WDM is used on fiber optics to increase the capacity of a single fiber.</a:t>
            </a:r>
          </a:p>
          <a:p>
            <a:pPr>
              <a:buFont typeface="Arial" panose="020B0604020202020204" pitchFamily="34" charset="0"/>
              <a:buChar char="•"/>
            </a:pPr>
            <a:r>
              <a:rPr lang="en-US" dirty="0"/>
              <a:t>It is used to utilize the high data rate capability of fiber optic cable.</a:t>
            </a:r>
          </a:p>
          <a:p>
            <a:pPr>
              <a:buFont typeface="Arial" panose="020B0604020202020204" pitchFamily="34" charset="0"/>
              <a:buChar char="•"/>
            </a:pPr>
            <a:r>
              <a:rPr lang="en-US" dirty="0"/>
              <a:t>It is an analog multiplexing technique.</a:t>
            </a:r>
          </a:p>
          <a:p>
            <a:pPr>
              <a:buFont typeface="Arial" panose="020B0604020202020204" pitchFamily="34" charset="0"/>
              <a:buChar char="•"/>
            </a:pPr>
            <a:r>
              <a:rPr lang="en-US" dirty="0"/>
              <a:t>Optical signals from different source are combined to form a wider band of light with the help of multiplexer.</a:t>
            </a:r>
          </a:p>
          <a:p>
            <a:pPr>
              <a:buFont typeface="Arial" panose="020B0604020202020204" pitchFamily="34" charset="0"/>
              <a:buChar char="•"/>
            </a:pPr>
            <a:r>
              <a:rPr lang="en-US" dirty="0"/>
              <a:t>At the receiving end, demultiplexer separates the signals to transmit them to their respective destinations.</a:t>
            </a:r>
          </a:p>
          <a:p>
            <a:pPr>
              <a:buFont typeface="Arial" panose="020B0604020202020204" pitchFamily="34" charset="0"/>
              <a:buChar char="•"/>
            </a:pPr>
            <a:r>
              <a:rPr lang="en-US" dirty="0"/>
              <a:t>Multiplexing and Demultiplexing can be achieved by using a prism.</a:t>
            </a:r>
          </a:p>
          <a:p>
            <a:pPr>
              <a:buFont typeface="Arial" panose="020B0604020202020204" pitchFamily="34" charset="0"/>
              <a:buChar char="•"/>
            </a:pPr>
            <a:r>
              <a:rPr lang="en-US" dirty="0"/>
              <a:t>Prism can perform a role of multiplexer by combining the various optical signals to form a composite signal, and the composite signal is transmitted through a fiber optical cable.</a:t>
            </a:r>
          </a:p>
          <a:p>
            <a:pPr>
              <a:buFont typeface="Arial" panose="020B0604020202020204" pitchFamily="34" charset="0"/>
              <a:buChar char="•"/>
            </a:pPr>
            <a:r>
              <a:rPr lang="en-US" dirty="0"/>
              <a:t>Prism also performs a reverse operation, i.e., demultiplexing the signal.</a:t>
            </a:r>
          </a:p>
          <a:p>
            <a:endParaRPr lang="en-US" dirty="0"/>
          </a:p>
        </p:txBody>
      </p:sp>
    </p:spTree>
    <p:extLst>
      <p:ext uri="{BB962C8B-B14F-4D97-AF65-F5344CB8AC3E}">
        <p14:creationId xmlns:p14="http://schemas.microsoft.com/office/powerpoint/2010/main" val="114054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F39FE3C8-2CC1-4A38-A2F2-230FD92CC50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22408" y="2184936"/>
            <a:ext cx="9095874" cy="3147460"/>
          </a:xfrm>
        </p:spPr>
      </p:pic>
    </p:spTree>
    <p:extLst>
      <p:ext uri="{BB962C8B-B14F-4D97-AF65-F5344CB8AC3E}">
        <p14:creationId xmlns:p14="http://schemas.microsoft.com/office/powerpoint/2010/main" val="33973786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2F89AC7-A09C-704F-6B11-73C167138B1C}"/>
              </a:ext>
            </a:extLst>
          </p:cNvPr>
          <p:cNvSpPr>
            <a:spLocks noGrp="1"/>
          </p:cNvSpPr>
          <p:nvPr>
            <p:ph idx="1"/>
          </p:nvPr>
        </p:nvSpPr>
        <p:spPr>
          <a:xfrm>
            <a:off x="0" y="0"/>
            <a:ext cx="12192000" cy="6858000"/>
          </a:xfrm>
        </p:spPr>
        <p:txBody>
          <a:bodyPr>
            <a:normAutofit fontScale="85000" lnSpcReduction="20000"/>
          </a:bodyPr>
          <a:lstStyle/>
          <a:p>
            <a:pPr marL="0" indent="0">
              <a:buNone/>
            </a:pPr>
            <a:r>
              <a:rPr lang="en-US" b="1" dirty="0"/>
              <a:t>Time Division Multiplexing</a:t>
            </a:r>
          </a:p>
          <a:p>
            <a:pPr>
              <a:buFont typeface="Arial" panose="020B0604020202020204" pitchFamily="34" charset="0"/>
              <a:buChar char="•"/>
            </a:pPr>
            <a:r>
              <a:rPr lang="en-US" dirty="0"/>
              <a:t>It is a digital technique.</a:t>
            </a:r>
          </a:p>
          <a:p>
            <a:pPr>
              <a:buFont typeface="Arial" panose="020B0604020202020204" pitchFamily="34" charset="0"/>
              <a:buChar char="•"/>
            </a:pPr>
            <a:r>
              <a:rPr lang="en-US" dirty="0"/>
              <a:t>In Frequency Division Multiplexing Technique, all signals operate at the same time with different frequency, but in case of Time Division Multiplexing technique, all signals operate at the same frequency with different time.</a:t>
            </a:r>
          </a:p>
          <a:p>
            <a:pPr>
              <a:buFont typeface="Arial" panose="020B0604020202020204" pitchFamily="34" charset="0"/>
              <a:buChar char="•"/>
            </a:pPr>
            <a:r>
              <a:rPr lang="en-US" dirty="0"/>
              <a:t>In </a:t>
            </a:r>
            <a:r>
              <a:rPr lang="en-US" b="1" dirty="0"/>
              <a:t>Time Division Multiplexing technique</a:t>
            </a:r>
            <a:r>
              <a:rPr lang="en-US" dirty="0"/>
              <a:t>, the total time available in the channel is distributed among different users.</a:t>
            </a:r>
          </a:p>
          <a:p>
            <a:pPr>
              <a:buFont typeface="Arial" panose="020B0604020202020204" pitchFamily="34" charset="0"/>
              <a:buChar char="•"/>
            </a:pPr>
            <a:r>
              <a:rPr lang="en-US" dirty="0"/>
              <a:t> Therefore, each user is allocated with different time interval known as a Time slot at which data is to be transmitted by the sender.</a:t>
            </a:r>
          </a:p>
          <a:p>
            <a:pPr>
              <a:buFont typeface="Arial" panose="020B0604020202020204" pitchFamily="34" charset="0"/>
              <a:buChar char="•"/>
            </a:pPr>
            <a:r>
              <a:rPr lang="en-US" dirty="0"/>
              <a:t>A user takes control of the channel for a fixed amount of time.</a:t>
            </a:r>
          </a:p>
          <a:p>
            <a:pPr>
              <a:buFont typeface="Arial" panose="020B0604020202020204" pitchFamily="34" charset="0"/>
              <a:buChar char="•"/>
            </a:pPr>
            <a:r>
              <a:rPr lang="en-US" dirty="0"/>
              <a:t>In Time Division Multiplexing technique, data is not transmitted simultaneously rather the data is transmitted one-by-one.</a:t>
            </a:r>
          </a:p>
          <a:p>
            <a:pPr>
              <a:buFont typeface="Arial" panose="020B0604020202020204" pitchFamily="34" charset="0"/>
              <a:buChar char="•"/>
            </a:pPr>
            <a:r>
              <a:rPr lang="en-US" dirty="0"/>
              <a:t>In TDM, the signal is transmitted in the form of frames. </a:t>
            </a:r>
          </a:p>
          <a:p>
            <a:pPr>
              <a:buFont typeface="Arial" panose="020B0604020202020204" pitchFamily="34" charset="0"/>
              <a:buChar char="•"/>
            </a:pPr>
            <a:r>
              <a:rPr lang="en-US" dirty="0"/>
              <a:t>Frames contain a cycle of time slots in which each frame contains one or more slots dedicated to each user.</a:t>
            </a:r>
          </a:p>
          <a:p>
            <a:pPr>
              <a:buFont typeface="Arial" panose="020B0604020202020204" pitchFamily="34" charset="0"/>
              <a:buChar char="•"/>
            </a:pPr>
            <a:r>
              <a:rPr lang="en-US" dirty="0"/>
              <a:t>It can be used to multiplex both digital and analog signals but mainly used to multiplex digital signals.</a:t>
            </a:r>
          </a:p>
          <a:p>
            <a:pPr marL="0" indent="0">
              <a:buNone/>
            </a:pPr>
            <a:r>
              <a:rPr lang="en-US" b="1" dirty="0"/>
              <a:t>There are two types of TDM:</a:t>
            </a:r>
            <a:endParaRPr lang="en-US" dirty="0"/>
          </a:p>
          <a:p>
            <a:pPr>
              <a:buFont typeface="Arial" panose="020B0604020202020204" pitchFamily="34" charset="0"/>
              <a:buChar char="•"/>
            </a:pPr>
            <a:r>
              <a:rPr lang="en-US" dirty="0"/>
              <a:t>Synchronous TDM</a:t>
            </a:r>
          </a:p>
          <a:p>
            <a:pPr>
              <a:buFont typeface="Arial" panose="020B0604020202020204" pitchFamily="34" charset="0"/>
              <a:buChar char="•"/>
            </a:pPr>
            <a:r>
              <a:rPr lang="en-US" dirty="0"/>
              <a:t>Asynchronous TDM</a:t>
            </a:r>
          </a:p>
          <a:p>
            <a:endParaRPr lang="en-US" dirty="0"/>
          </a:p>
        </p:txBody>
      </p:sp>
    </p:spTree>
    <p:extLst>
      <p:ext uri="{BB962C8B-B14F-4D97-AF65-F5344CB8AC3E}">
        <p14:creationId xmlns:p14="http://schemas.microsoft.com/office/powerpoint/2010/main" val="33441897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5E9BA34-D505-D30E-1A3D-FE4F28B3AF34}"/>
              </a:ext>
            </a:extLst>
          </p:cNvPr>
          <p:cNvSpPr>
            <a:spLocks noGrp="1"/>
          </p:cNvSpPr>
          <p:nvPr>
            <p:ph idx="1"/>
          </p:nvPr>
        </p:nvSpPr>
        <p:spPr>
          <a:xfrm>
            <a:off x="0" y="77002"/>
            <a:ext cx="12192000" cy="6780998"/>
          </a:xfrm>
        </p:spPr>
        <p:txBody>
          <a:bodyPr>
            <a:normAutofit/>
          </a:bodyPr>
          <a:lstStyle/>
          <a:p>
            <a:pPr marL="0" indent="0">
              <a:buNone/>
            </a:pPr>
            <a:r>
              <a:rPr lang="en-US" b="1" dirty="0"/>
              <a:t>Synchronous TDM</a:t>
            </a:r>
          </a:p>
          <a:p>
            <a:pPr>
              <a:buFont typeface="Arial" panose="020B0604020202020204" pitchFamily="34" charset="0"/>
              <a:buChar char="•"/>
            </a:pPr>
            <a:r>
              <a:rPr lang="en-US" dirty="0"/>
              <a:t>A Synchronous TDM is a technique in which time slot is preassigned to every device.</a:t>
            </a:r>
          </a:p>
          <a:p>
            <a:pPr>
              <a:buFont typeface="Arial" panose="020B0604020202020204" pitchFamily="34" charset="0"/>
              <a:buChar char="•"/>
            </a:pPr>
            <a:r>
              <a:rPr lang="en-US" dirty="0"/>
              <a:t>In Synchronous TDM, each device is given some time slot irrespective of the fact that the device contains the data or not.</a:t>
            </a:r>
          </a:p>
          <a:p>
            <a:pPr>
              <a:buFont typeface="Arial" panose="020B0604020202020204" pitchFamily="34" charset="0"/>
              <a:buChar char="•"/>
            </a:pPr>
            <a:r>
              <a:rPr lang="en-US" dirty="0"/>
              <a:t>If the device does not have any data, then the slot will remain empty.</a:t>
            </a:r>
          </a:p>
          <a:p>
            <a:pPr>
              <a:buFont typeface="Arial" panose="020B0604020202020204" pitchFamily="34" charset="0"/>
              <a:buChar char="•"/>
            </a:pPr>
            <a:r>
              <a:rPr lang="en-US" dirty="0"/>
              <a:t>In Synchronous TDM, signals are sent in the form of frames. Time slots are organized in the form of frames. If a device does not have data for a particular time slot, then the empty slot will be transmitted.</a:t>
            </a:r>
          </a:p>
          <a:p>
            <a:pPr>
              <a:buFont typeface="Arial" panose="020B0604020202020204" pitchFamily="34" charset="0"/>
              <a:buChar char="•"/>
            </a:pPr>
            <a:r>
              <a:rPr lang="en-US" dirty="0"/>
              <a:t>The most popular Synchronous TDM are T-1 multiplexing, ISDN multiplexing, and SONET multiplexing.</a:t>
            </a:r>
          </a:p>
          <a:p>
            <a:pPr>
              <a:buFont typeface="Arial" panose="020B0604020202020204" pitchFamily="34" charset="0"/>
              <a:buChar char="•"/>
            </a:pPr>
            <a:r>
              <a:rPr lang="en-US" dirty="0"/>
              <a:t>If there are n devices, then there are n slots.</a:t>
            </a:r>
          </a:p>
          <a:p>
            <a:endParaRPr lang="en-US" dirty="0"/>
          </a:p>
        </p:txBody>
      </p:sp>
    </p:spTree>
    <p:extLst>
      <p:ext uri="{BB962C8B-B14F-4D97-AF65-F5344CB8AC3E}">
        <p14:creationId xmlns:p14="http://schemas.microsoft.com/office/powerpoint/2010/main" val="34887184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0AE752E3-B1BE-CA9D-450E-B9F473E0181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91802" y="2383199"/>
            <a:ext cx="9287838" cy="2619741"/>
          </a:xfrm>
        </p:spPr>
      </p:pic>
    </p:spTree>
    <p:extLst>
      <p:ext uri="{BB962C8B-B14F-4D97-AF65-F5344CB8AC3E}">
        <p14:creationId xmlns:p14="http://schemas.microsoft.com/office/powerpoint/2010/main" val="8053381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679A7F50-C354-4A95-A1B3-355C44DB24A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93159" y="525901"/>
            <a:ext cx="10515599" cy="3111151"/>
          </a:xfrm>
        </p:spPr>
      </p:pic>
      <p:sp>
        <p:nvSpPr>
          <p:cNvPr id="7" name="TextBox 6">
            <a:extLst>
              <a:ext uri="{FF2B5EF4-FFF2-40B4-BE49-F238E27FC236}">
                <a16:creationId xmlns:a16="http://schemas.microsoft.com/office/drawing/2014/main" id="{B38BADCE-9DE1-62B3-8FC8-76A06994D5A0}"/>
              </a:ext>
            </a:extLst>
          </p:cNvPr>
          <p:cNvSpPr txBox="1"/>
          <p:nvPr/>
        </p:nvSpPr>
        <p:spPr>
          <a:xfrm rot="10800000" flipV="1">
            <a:off x="380143" y="3893233"/>
            <a:ext cx="11404314" cy="1200329"/>
          </a:xfrm>
          <a:prstGeom prst="rect">
            <a:avLst/>
          </a:prstGeom>
          <a:noFill/>
        </p:spPr>
        <p:txBody>
          <a:bodyPr wrap="square">
            <a:spAutoFit/>
          </a:bodyPr>
          <a:lstStyle/>
          <a:p>
            <a:r>
              <a:rPr lang="en-US" sz="2400" dirty="0"/>
              <a:t>In the above figure, the Synchronous TDM technique is implemented. Each device is allocated with some time slot. The time slots are transmitted irrespective of whether the sender has data to send or not.</a:t>
            </a:r>
          </a:p>
        </p:txBody>
      </p:sp>
    </p:spTree>
    <p:extLst>
      <p:ext uri="{BB962C8B-B14F-4D97-AF65-F5344CB8AC3E}">
        <p14:creationId xmlns:p14="http://schemas.microsoft.com/office/powerpoint/2010/main" val="8426608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8D22934-68CF-39AD-C680-BFCB06B54AA7}"/>
              </a:ext>
            </a:extLst>
          </p:cNvPr>
          <p:cNvSpPr>
            <a:spLocks noGrp="1"/>
          </p:cNvSpPr>
          <p:nvPr>
            <p:ph idx="1"/>
          </p:nvPr>
        </p:nvSpPr>
        <p:spPr>
          <a:xfrm>
            <a:off x="0" y="284480"/>
            <a:ext cx="12120880" cy="6573520"/>
          </a:xfrm>
        </p:spPr>
        <p:txBody>
          <a:bodyPr/>
          <a:lstStyle/>
          <a:p>
            <a:r>
              <a:rPr lang="en-US" dirty="0"/>
              <a:t>In the above figure, the Synchronous TDM technique is implemented.</a:t>
            </a:r>
          </a:p>
          <a:p>
            <a:r>
              <a:rPr lang="en-US" dirty="0"/>
              <a:t> Each device is allocated with some time slot.</a:t>
            </a:r>
          </a:p>
          <a:p>
            <a:r>
              <a:rPr lang="en-US" dirty="0"/>
              <a:t> The time slots are transmitted irrespective of whether the sender has data to send or not.</a:t>
            </a:r>
          </a:p>
          <a:p>
            <a:endParaRPr lang="en-US" dirty="0"/>
          </a:p>
        </p:txBody>
      </p:sp>
    </p:spTree>
    <p:extLst>
      <p:ext uri="{BB962C8B-B14F-4D97-AF65-F5344CB8AC3E}">
        <p14:creationId xmlns:p14="http://schemas.microsoft.com/office/powerpoint/2010/main" val="22167493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EA306FD-9514-802D-BEDA-C875497F7704}"/>
              </a:ext>
            </a:extLst>
          </p:cNvPr>
          <p:cNvSpPr>
            <a:spLocks noGrp="1"/>
          </p:cNvSpPr>
          <p:nvPr>
            <p:ph idx="1"/>
          </p:nvPr>
        </p:nvSpPr>
        <p:spPr>
          <a:xfrm>
            <a:off x="0" y="0"/>
            <a:ext cx="12192000" cy="6858000"/>
          </a:xfrm>
        </p:spPr>
        <p:txBody>
          <a:bodyPr>
            <a:normAutofit/>
          </a:bodyPr>
          <a:lstStyle/>
          <a:p>
            <a:pPr marL="0" indent="0">
              <a:buNone/>
            </a:pPr>
            <a:r>
              <a:rPr lang="en-US" b="1" dirty="0"/>
              <a:t>Asynchronous TDM</a:t>
            </a:r>
          </a:p>
          <a:p>
            <a:pPr>
              <a:buFont typeface="Arial" panose="020B0604020202020204" pitchFamily="34" charset="0"/>
              <a:buChar char="•"/>
            </a:pPr>
            <a:r>
              <a:rPr lang="en-US" dirty="0"/>
              <a:t>An asynchronous TDM is also known as Statistical TDM.</a:t>
            </a:r>
          </a:p>
          <a:p>
            <a:pPr>
              <a:buFont typeface="Arial" panose="020B0604020202020204" pitchFamily="34" charset="0"/>
              <a:buChar char="•"/>
            </a:pPr>
            <a:r>
              <a:rPr lang="en-US" dirty="0"/>
              <a:t>An asynchronous TDM is a technique in which time slots are not fixed as in the case of Synchronous TDM. Time slots are allocated to only those devices which have the data to send. Therefore, we can say that Asynchronous Time Division multiplexor transmits only the data from active workstations.</a:t>
            </a:r>
          </a:p>
          <a:p>
            <a:pPr>
              <a:buFont typeface="Arial" panose="020B0604020202020204" pitchFamily="34" charset="0"/>
              <a:buChar char="•"/>
            </a:pPr>
            <a:r>
              <a:rPr lang="en-US" dirty="0"/>
              <a:t>An asynchronous TDM technique dynamically allocates the time slots to the devices.</a:t>
            </a:r>
          </a:p>
          <a:p>
            <a:pPr>
              <a:buFont typeface="Arial" panose="020B0604020202020204" pitchFamily="34" charset="0"/>
              <a:buChar char="•"/>
            </a:pPr>
            <a:r>
              <a:rPr lang="en-US" dirty="0"/>
              <a:t>In Asynchronous TDM, total speed of the input lines can be greater than the capacity of the channel.</a:t>
            </a:r>
          </a:p>
          <a:p>
            <a:pPr>
              <a:buFont typeface="Arial" panose="020B0604020202020204" pitchFamily="34" charset="0"/>
              <a:buChar char="•"/>
            </a:pPr>
            <a:r>
              <a:rPr lang="en-US" dirty="0"/>
              <a:t>Asynchronous Time Division multiplexor accepts the incoming data streams and creates a frame that contains only data with no empty slots.</a:t>
            </a:r>
          </a:p>
          <a:p>
            <a:pPr>
              <a:buFont typeface="Arial" panose="020B0604020202020204" pitchFamily="34" charset="0"/>
              <a:buChar char="•"/>
            </a:pPr>
            <a:r>
              <a:rPr lang="en-US" dirty="0"/>
              <a:t>In Asynchronous TDM, each slot contains an address part that identifies the source of the data.</a:t>
            </a:r>
          </a:p>
          <a:p>
            <a:endParaRPr lang="en-US" dirty="0"/>
          </a:p>
        </p:txBody>
      </p:sp>
    </p:spTree>
    <p:extLst>
      <p:ext uri="{BB962C8B-B14F-4D97-AF65-F5344CB8AC3E}">
        <p14:creationId xmlns:p14="http://schemas.microsoft.com/office/powerpoint/2010/main" val="32723808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AEBB730-CC5A-95B8-5427-A191544855D8}"/>
              </a:ext>
            </a:extLst>
          </p:cNvPr>
          <p:cNvSpPr>
            <a:spLocks noGrp="1"/>
          </p:cNvSpPr>
          <p:nvPr>
            <p:ph idx="1"/>
          </p:nvPr>
        </p:nvSpPr>
        <p:spPr>
          <a:xfrm>
            <a:off x="0" y="82192"/>
            <a:ext cx="12192000" cy="6688477"/>
          </a:xfrm>
        </p:spPr>
        <p:txBody>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lvl="8" eaLnBrk="0" fontAlgn="base" hangingPunct="0">
              <a:spcBef>
                <a:spcPct val="0"/>
              </a:spcBef>
              <a:spcAft>
                <a:spcPct val="0"/>
              </a:spcAft>
              <a:buFontTx/>
              <a:buChar char="•"/>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difference between Asynchronous TDM and Synchronous TDM is that many slots in Synchronous TDM are unutilized, but in Asynchronous TDM, slots are fully utilized.</a:t>
            </a:r>
          </a:p>
          <a:p>
            <a:pPr lvl="8" eaLnBrk="0" fontAlgn="base" hangingPunct="0">
              <a:spcBef>
                <a:spcPct val="0"/>
              </a:spcBef>
              <a:spcAft>
                <a:spcPct val="0"/>
              </a:spcAft>
              <a:buFontTx/>
              <a:buChar char="•"/>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lvl="8" eaLnBrk="0" fontAlgn="base" hangingPunct="0">
              <a:spcBef>
                <a:spcPct val="0"/>
              </a:spcBef>
              <a:spcAft>
                <a:spcPct val="0"/>
              </a:spcAft>
              <a:buFontTx/>
              <a:buChar char="•"/>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This leads to the smaller transmission time and efficient utilization of the capacity of the channel. </a:t>
            </a:r>
          </a:p>
          <a:p>
            <a:pPr lvl="8" eaLnBrk="0" fontAlgn="base" hangingPunct="0">
              <a:spcBef>
                <a:spcPct val="0"/>
              </a:spcBef>
              <a:spcAft>
                <a:spcPct val="0"/>
              </a:spcAft>
              <a:buFontTx/>
              <a:buChar char="•"/>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 Synchronous TDM, if there are n sending devices, then there are n time slots. In Asynchronous TDM, if there are n sending devices, then there are m time slots where m is less than n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m&lt;n</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number of slots in a frame depends on the statistical analysis of the number of input lines. </a:t>
            </a:r>
          </a:p>
          <a:p>
            <a:endParaRPr lang="en-US" dirty="0"/>
          </a:p>
        </p:txBody>
      </p:sp>
      <p:pic>
        <p:nvPicPr>
          <p:cNvPr id="2050" name="Picture 2" descr="Multiplexing Techniques">
            <a:extLst>
              <a:ext uri="{FF2B5EF4-FFF2-40B4-BE49-F238E27FC236}">
                <a16:creationId xmlns:a16="http://schemas.microsoft.com/office/drawing/2014/main" id="{83FBFCFB-75F5-A8ED-0226-0CEDF3B612E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8385" y="681037"/>
            <a:ext cx="2124075" cy="2952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748358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555F165F-FBE1-301D-E62A-1CD054CC887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00721" y="1817924"/>
            <a:ext cx="8188502" cy="3062300"/>
          </a:xfrm>
        </p:spPr>
      </p:pic>
    </p:spTree>
    <p:extLst>
      <p:ext uri="{BB962C8B-B14F-4D97-AF65-F5344CB8AC3E}">
        <p14:creationId xmlns:p14="http://schemas.microsoft.com/office/powerpoint/2010/main" val="410001413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6CA82D93-E0F0-AC7D-B7DD-C8AB4262873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23982" y="1253448"/>
            <a:ext cx="10397448" cy="2588822"/>
          </a:xfrm>
        </p:spPr>
      </p:pic>
    </p:spTree>
    <p:extLst>
      <p:ext uri="{BB962C8B-B14F-4D97-AF65-F5344CB8AC3E}">
        <p14:creationId xmlns:p14="http://schemas.microsoft.com/office/powerpoint/2010/main" val="265826629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73668-A770-FBB4-9116-5FCADF9A7251}"/>
              </a:ext>
            </a:extLst>
          </p:cNvPr>
          <p:cNvSpPr>
            <a:spLocks noGrp="1"/>
          </p:cNvSpPr>
          <p:nvPr>
            <p:ph type="title"/>
          </p:nvPr>
        </p:nvSpPr>
        <p:spPr>
          <a:xfrm>
            <a:off x="82193" y="365125"/>
            <a:ext cx="11271607" cy="467995"/>
          </a:xfrm>
        </p:spPr>
        <p:txBody>
          <a:bodyPr>
            <a:normAutofit fontScale="90000"/>
          </a:bodyPr>
          <a:lstStyle/>
          <a:p>
            <a:r>
              <a:rPr lang="en-US" b="1" dirty="0"/>
              <a:t>Switching </a:t>
            </a:r>
            <a:br>
              <a:rPr lang="en-US" b="1" dirty="0"/>
            </a:br>
            <a:endParaRPr lang="en-US" dirty="0"/>
          </a:p>
        </p:txBody>
      </p:sp>
      <p:sp>
        <p:nvSpPr>
          <p:cNvPr id="3" name="Content Placeholder 2">
            <a:extLst>
              <a:ext uri="{FF2B5EF4-FFF2-40B4-BE49-F238E27FC236}">
                <a16:creationId xmlns:a16="http://schemas.microsoft.com/office/drawing/2014/main" id="{420E1FA7-E25A-FFF2-21EA-EA7039BC6FC9}"/>
              </a:ext>
            </a:extLst>
          </p:cNvPr>
          <p:cNvSpPr>
            <a:spLocks noGrp="1"/>
          </p:cNvSpPr>
          <p:nvPr>
            <p:ph idx="1"/>
          </p:nvPr>
        </p:nvSpPr>
        <p:spPr>
          <a:xfrm>
            <a:off x="82193" y="1448656"/>
            <a:ext cx="12109807" cy="4728307"/>
          </a:xfrm>
        </p:spPr>
        <p:txBody>
          <a:bodyPr/>
          <a:lstStyle/>
          <a:p>
            <a:r>
              <a:rPr lang="en-US" b="1" dirty="0"/>
              <a:t>Switching techniques</a:t>
            </a:r>
          </a:p>
          <a:p>
            <a:r>
              <a:rPr lang="en-US" dirty="0"/>
              <a:t>In large networks, there can be multiple paths from sender to receiver.</a:t>
            </a:r>
          </a:p>
          <a:p>
            <a:r>
              <a:rPr lang="en-US" dirty="0"/>
              <a:t> The switching technique will decide the best route for data transmission.</a:t>
            </a:r>
          </a:p>
          <a:p>
            <a:r>
              <a:rPr lang="en-US" dirty="0"/>
              <a:t>Switching technique is used to connect the systems for making one-to-one communication.</a:t>
            </a:r>
          </a:p>
          <a:p>
            <a:endParaRPr lang="en-US" dirty="0"/>
          </a:p>
        </p:txBody>
      </p:sp>
    </p:spTree>
    <p:extLst>
      <p:ext uri="{BB962C8B-B14F-4D97-AF65-F5344CB8AC3E}">
        <p14:creationId xmlns:p14="http://schemas.microsoft.com/office/powerpoint/2010/main" val="128498212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59C0D7-2973-0BCB-C029-C1E64F9768C3}"/>
              </a:ext>
            </a:extLst>
          </p:cNvPr>
          <p:cNvSpPr>
            <a:spLocks noGrp="1"/>
          </p:cNvSpPr>
          <p:nvPr>
            <p:ph type="title"/>
          </p:nvPr>
        </p:nvSpPr>
        <p:spPr/>
        <p:txBody>
          <a:bodyPr/>
          <a:lstStyle/>
          <a:p>
            <a:r>
              <a:rPr lang="en-US" b="1" dirty="0"/>
              <a:t>Classification Of Switching Techniques</a:t>
            </a:r>
            <a:r>
              <a:rPr lang="en-US" dirty="0"/>
              <a:t/>
            </a:r>
            <a:br>
              <a:rPr lang="en-US" dirty="0"/>
            </a:br>
            <a:endParaRPr lang="en-US" dirty="0"/>
          </a:p>
        </p:txBody>
      </p:sp>
      <p:pic>
        <p:nvPicPr>
          <p:cNvPr id="5" name="Content Placeholder 4">
            <a:extLst>
              <a:ext uri="{FF2B5EF4-FFF2-40B4-BE49-F238E27FC236}">
                <a16:creationId xmlns:a16="http://schemas.microsoft.com/office/drawing/2014/main" id="{09C19696-56C8-08D6-39D2-3A571F79E3F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89753" y="1613043"/>
            <a:ext cx="9791272" cy="4438436"/>
          </a:xfrm>
        </p:spPr>
      </p:pic>
    </p:spTree>
    <p:extLst>
      <p:ext uri="{BB962C8B-B14F-4D97-AF65-F5344CB8AC3E}">
        <p14:creationId xmlns:p14="http://schemas.microsoft.com/office/powerpoint/2010/main" val="261478313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A0C2B92-1517-D7E7-F4C5-AC088DF6C6AF}"/>
              </a:ext>
            </a:extLst>
          </p:cNvPr>
          <p:cNvSpPr>
            <a:spLocks noGrp="1"/>
          </p:cNvSpPr>
          <p:nvPr>
            <p:ph idx="1"/>
          </p:nvPr>
        </p:nvSpPr>
        <p:spPr>
          <a:xfrm>
            <a:off x="0" y="174660"/>
            <a:ext cx="12192000" cy="6683339"/>
          </a:xfrm>
        </p:spPr>
        <p:txBody>
          <a:bodyPr>
            <a:normAutofit/>
          </a:bodyPr>
          <a:lstStyle/>
          <a:p>
            <a:pPr marL="0" indent="0">
              <a:buNone/>
            </a:pPr>
            <a:r>
              <a:rPr lang="en-US" b="1" dirty="0"/>
              <a:t>Circuit Switching</a:t>
            </a:r>
          </a:p>
          <a:p>
            <a:pPr>
              <a:buFont typeface="Arial" panose="020B0604020202020204" pitchFamily="34" charset="0"/>
              <a:buChar char="•"/>
            </a:pPr>
            <a:r>
              <a:rPr lang="en-US" dirty="0"/>
              <a:t>Circuit switching is a switching technique that establishes a dedicated path between sender and receiver.</a:t>
            </a:r>
          </a:p>
          <a:p>
            <a:pPr>
              <a:buFont typeface="Arial" panose="020B0604020202020204" pitchFamily="34" charset="0"/>
              <a:buChar char="•"/>
            </a:pPr>
            <a:r>
              <a:rPr lang="en-US" dirty="0"/>
              <a:t>In the Circuit Switching Technique, once the connection is established then the dedicated path will remain to exist until the connection is terminated. </a:t>
            </a:r>
          </a:p>
          <a:p>
            <a:pPr>
              <a:buFont typeface="Arial" panose="020B0604020202020204" pitchFamily="34" charset="0"/>
              <a:buChar char="•"/>
            </a:pPr>
            <a:r>
              <a:rPr lang="en-US" dirty="0"/>
              <a:t>Circuit switching in a network operates in a similar way as the telephone works.</a:t>
            </a:r>
          </a:p>
          <a:p>
            <a:pPr>
              <a:buFont typeface="Arial" panose="020B0604020202020204" pitchFamily="34" charset="0"/>
              <a:buChar char="•"/>
            </a:pPr>
            <a:r>
              <a:rPr lang="en-US" dirty="0"/>
              <a:t>A complete end-to-end path must exist before the communication takes place.</a:t>
            </a:r>
          </a:p>
          <a:p>
            <a:pPr>
              <a:buFont typeface="Arial" panose="020B0604020202020204" pitchFamily="34" charset="0"/>
              <a:buChar char="•"/>
            </a:pPr>
            <a:r>
              <a:rPr lang="en-US" dirty="0"/>
              <a:t>In case of circuit switching technique, when any user wants to send the data, voice, video, a request signal is sent to the receiver then the receiver sends back the acknowledgment to ensure the availability of the dedicated path. </a:t>
            </a:r>
          </a:p>
          <a:p>
            <a:pPr>
              <a:buFont typeface="Arial" panose="020B0604020202020204" pitchFamily="34" charset="0"/>
              <a:buChar char="•"/>
            </a:pPr>
            <a:r>
              <a:rPr lang="en-US" dirty="0"/>
              <a:t>Circuit switching is used in public telephone network. It is used for voice transmission.</a:t>
            </a:r>
          </a:p>
          <a:p>
            <a:pPr>
              <a:buFont typeface="Arial" panose="020B0604020202020204" pitchFamily="34" charset="0"/>
              <a:buChar char="•"/>
            </a:pPr>
            <a:r>
              <a:rPr lang="en-US" dirty="0"/>
              <a:t>Fixed data can be transferred at a time in circuit switching technology.</a:t>
            </a:r>
          </a:p>
          <a:p>
            <a:endParaRPr lang="en-US" dirty="0"/>
          </a:p>
        </p:txBody>
      </p:sp>
    </p:spTree>
    <p:extLst>
      <p:ext uri="{BB962C8B-B14F-4D97-AF65-F5344CB8AC3E}">
        <p14:creationId xmlns:p14="http://schemas.microsoft.com/office/powerpoint/2010/main" val="89122584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89965AC-A237-5504-C102-549218C02C2C}"/>
              </a:ext>
            </a:extLst>
          </p:cNvPr>
          <p:cNvSpPr>
            <a:spLocks noGrp="1"/>
          </p:cNvSpPr>
          <p:nvPr>
            <p:ph idx="1"/>
          </p:nvPr>
        </p:nvSpPr>
        <p:spPr>
          <a:xfrm>
            <a:off x="0" y="0"/>
            <a:ext cx="12192000" cy="6858000"/>
          </a:xfrm>
        </p:spPr>
        <p:txBody>
          <a:bodyPr/>
          <a:lstStyle/>
          <a:p>
            <a:pPr marL="0" indent="0">
              <a:buNone/>
            </a:pPr>
            <a:r>
              <a:rPr lang="en-US" b="1" dirty="0"/>
              <a:t>Communication through circuit switching has 3 phases:</a:t>
            </a:r>
          </a:p>
          <a:p>
            <a:pPr>
              <a:buFont typeface="Arial" panose="020B0604020202020204" pitchFamily="34" charset="0"/>
              <a:buChar char="•"/>
            </a:pPr>
            <a:r>
              <a:rPr lang="en-US" dirty="0"/>
              <a:t>Circuit establishment</a:t>
            </a:r>
          </a:p>
          <a:p>
            <a:pPr>
              <a:buFont typeface="Arial" panose="020B0604020202020204" pitchFamily="34" charset="0"/>
              <a:buChar char="•"/>
            </a:pPr>
            <a:r>
              <a:rPr lang="en-US" dirty="0"/>
              <a:t>Data transfer</a:t>
            </a:r>
          </a:p>
          <a:p>
            <a:pPr>
              <a:buFont typeface="Arial" panose="020B0604020202020204" pitchFamily="34" charset="0"/>
              <a:buChar char="•"/>
            </a:pPr>
            <a:r>
              <a:rPr lang="en-US" dirty="0"/>
              <a:t>Circuit Disconnect</a:t>
            </a:r>
          </a:p>
          <a:p>
            <a:endParaRPr lang="en-US" dirty="0"/>
          </a:p>
        </p:txBody>
      </p:sp>
      <p:pic>
        <p:nvPicPr>
          <p:cNvPr id="5" name="Picture 4">
            <a:extLst>
              <a:ext uri="{FF2B5EF4-FFF2-40B4-BE49-F238E27FC236}">
                <a16:creationId xmlns:a16="http://schemas.microsoft.com/office/drawing/2014/main" id="{5AEE8F37-0AB3-28A6-E98A-98C3A355FA9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21005" y="2907586"/>
            <a:ext cx="6749990" cy="2712378"/>
          </a:xfrm>
          <a:prstGeom prst="rect">
            <a:avLst/>
          </a:prstGeom>
        </p:spPr>
      </p:pic>
    </p:spTree>
    <p:extLst>
      <p:ext uri="{BB962C8B-B14F-4D97-AF65-F5344CB8AC3E}">
        <p14:creationId xmlns:p14="http://schemas.microsoft.com/office/powerpoint/2010/main" val="405912499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BB7C7BB-4482-D7E0-CC93-FF24A04D2429}"/>
              </a:ext>
            </a:extLst>
          </p:cNvPr>
          <p:cNvSpPr>
            <a:spLocks noGrp="1"/>
          </p:cNvSpPr>
          <p:nvPr>
            <p:ph idx="1"/>
          </p:nvPr>
        </p:nvSpPr>
        <p:spPr>
          <a:xfrm>
            <a:off x="71919" y="0"/>
            <a:ext cx="12120081" cy="6858000"/>
          </a:xfrm>
        </p:spPr>
        <p:txBody>
          <a:bodyPr>
            <a:normAutofit/>
          </a:bodyPr>
          <a:lstStyle/>
          <a:p>
            <a:pPr marL="0" indent="0">
              <a:buNone/>
            </a:pPr>
            <a:r>
              <a:rPr lang="en-US" b="1" dirty="0"/>
              <a:t>Advantages Of Circuit Switching:</a:t>
            </a:r>
            <a:endParaRPr lang="en-US" dirty="0"/>
          </a:p>
          <a:p>
            <a:pPr>
              <a:buFont typeface="Arial" panose="020B0604020202020204" pitchFamily="34" charset="0"/>
              <a:buChar char="•"/>
            </a:pPr>
            <a:r>
              <a:rPr lang="en-US" dirty="0"/>
              <a:t>In the case of Circuit Switching technique, the communication channel is dedicated.</a:t>
            </a:r>
          </a:p>
          <a:p>
            <a:pPr>
              <a:buFont typeface="Arial" panose="020B0604020202020204" pitchFamily="34" charset="0"/>
              <a:buChar char="•"/>
            </a:pPr>
            <a:r>
              <a:rPr lang="en-US" dirty="0"/>
              <a:t>It has fixed bandwidth.</a:t>
            </a:r>
          </a:p>
          <a:p>
            <a:pPr marL="0" indent="0">
              <a:buNone/>
            </a:pPr>
            <a:r>
              <a:rPr lang="en-US" b="1" dirty="0"/>
              <a:t>Disadvantages Of Circuit Switching:</a:t>
            </a:r>
            <a:endParaRPr lang="en-US" dirty="0"/>
          </a:p>
          <a:p>
            <a:pPr>
              <a:buFont typeface="Arial" panose="020B0604020202020204" pitchFamily="34" charset="0"/>
              <a:buChar char="•"/>
            </a:pPr>
            <a:r>
              <a:rPr lang="en-US" dirty="0"/>
              <a:t>Once the dedicated path is established, the only delay occurs in the speed of data transmission.</a:t>
            </a:r>
          </a:p>
          <a:p>
            <a:pPr>
              <a:buFont typeface="Arial" panose="020B0604020202020204" pitchFamily="34" charset="0"/>
              <a:buChar char="•"/>
            </a:pPr>
            <a:r>
              <a:rPr lang="en-US" dirty="0"/>
              <a:t>It takes a long time to establish a connection </a:t>
            </a:r>
            <a:r>
              <a:rPr lang="en-US" dirty="0" err="1"/>
              <a:t>approx</a:t>
            </a:r>
            <a:r>
              <a:rPr lang="en-US" dirty="0"/>
              <a:t> 10 seconds during which no data can be transmitted.</a:t>
            </a:r>
          </a:p>
          <a:p>
            <a:pPr>
              <a:buFont typeface="Arial" panose="020B0604020202020204" pitchFamily="34" charset="0"/>
              <a:buChar char="•"/>
            </a:pPr>
            <a:r>
              <a:rPr lang="en-US" dirty="0"/>
              <a:t>It is more expensive than other switching techniques as a dedicated path is required for each connection.</a:t>
            </a:r>
          </a:p>
          <a:p>
            <a:endParaRPr lang="en-US" dirty="0"/>
          </a:p>
        </p:txBody>
      </p:sp>
    </p:spTree>
    <p:extLst>
      <p:ext uri="{BB962C8B-B14F-4D97-AF65-F5344CB8AC3E}">
        <p14:creationId xmlns:p14="http://schemas.microsoft.com/office/powerpoint/2010/main" val="140991917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ED21017-A781-51E3-D4CD-E62108A50874}"/>
              </a:ext>
            </a:extLst>
          </p:cNvPr>
          <p:cNvSpPr>
            <a:spLocks noGrp="1"/>
          </p:cNvSpPr>
          <p:nvPr>
            <p:ph idx="1"/>
          </p:nvPr>
        </p:nvSpPr>
        <p:spPr>
          <a:xfrm>
            <a:off x="-1" y="82192"/>
            <a:ext cx="12192001" cy="6775807"/>
          </a:xfrm>
        </p:spPr>
        <p:txBody>
          <a:bodyPr>
            <a:normAutofit/>
          </a:bodyPr>
          <a:lstStyle/>
          <a:p>
            <a:pPr marL="0" indent="0">
              <a:buNone/>
            </a:pPr>
            <a:r>
              <a:rPr lang="en-US" b="1" dirty="0"/>
              <a:t>Message Switching</a:t>
            </a:r>
          </a:p>
          <a:p>
            <a:pPr>
              <a:buFont typeface="Arial" panose="020B0604020202020204" pitchFamily="34" charset="0"/>
              <a:buChar char="•"/>
            </a:pPr>
            <a:r>
              <a:rPr lang="en-US" dirty="0"/>
              <a:t>Message Switching is a switching technique in which a message is transferred as a complete unit and routed through intermediate nodes at which it is stored and forwarded.</a:t>
            </a:r>
          </a:p>
          <a:p>
            <a:pPr>
              <a:buFont typeface="Arial" panose="020B0604020202020204" pitchFamily="34" charset="0"/>
              <a:buChar char="•"/>
            </a:pPr>
            <a:r>
              <a:rPr lang="en-US" dirty="0"/>
              <a:t>In Message Switching technique, there is no establishment of a dedicated path between the sender and receiver.</a:t>
            </a:r>
          </a:p>
          <a:p>
            <a:pPr>
              <a:buFont typeface="Arial" panose="020B0604020202020204" pitchFamily="34" charset="0"/>
              <a:buChar char="•"/>
            </a:pPr>
            <a:r>
              <a:rPr lang="en-US" dirty="0"/>
              <a:t>The destination address is appended to the message. Message Switching provides a dynamic routing as the message is routed through the intermediate nodes based on the information available in the message.</a:t>
            </a:r>
          </a:p>
          <a:p>
            <a:pPr>
              <a:buFont typeface="Arial" panose="020B0604020202020204" pitchFamily="34" charset="0"/>
              <a:buChar char="•"/>
            </a:pPr>
            <a:r>
              <a:rPr lang="en-US" dirty="0"/>
              <a:t>Message switches are programmed in such a way so that they can provide the most efficient routes.</a:t>
            </a:r>
          </a:p>
          <a:p>
            <a:pPr>
              <a:buFont typeface="Arial" panose="020B0604020202020204" pitchFamily="34" charset="0"/>
              <a:buChar char="•"/>
            </a:pPr>
            <a:r>
              <a:rPr lang="en-US" dirty="0"/>
              <a:t>Each and every node stores the entire message and then forward it to the next node. This type of network is known as </a:t>
            </a:r>
            <a:r>
              <a:rPr lang="en-US" b="1" dirty="0"/>
              <a:t>store and forward network.</a:t>
            </a:r>
          </a:p>
          <a:p>
            <a:pPr>
              <a:buFont typeface="Arial" panose="020B0604020202020204" pitchFamily="34" charset="0"/>
              <a:buChar char="•"/>
            </a:pPr>
            <a:r>
              <a:rPr lang="en-US" dirty="0"/>
              <a:t>Message switching treats each message as an independent entity.</a:t>
            </a:r>
          </a:p>
          <a:p>
            <a:endParaRPr lang="en-US" dirty="0"/>
          </a:p>
        </p:txBody>
      </p:sp>
    </p:spTree>
    <p:extLst>
      <p:ext uri="{BB962C8B-B14F-4D97-AF65-F5344CB8AC3E}">
        <p14:creationId xmlns:p14="http://schemas.microsoft.com/office/powerpoint/2010/main" val="16291651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3527F452-A11F-FCEA-86FA-CDDA402FB64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76736" y="628203"/>
            <a:ext cx="8589195" cy="1754326"/>
          </a:xfrm>
        </p:spPr>
      </p:pic>
      <p:sp>
        <p:nvSpPr>
          <p:cNvPr id="7" name="TextBox 6">
            <a:extLst>
              <a:ext uri="{FF2B5EF4-FFF2-40B4-BE49-F238E27FC236}">
                <a16:creationId xmlns:a16="http://schemas.microsoft.com/office/drawing/2014/main" id="{D7786657-4C37-074C-E9D8-C0B71D5B96C4}"/>
              </a:ext>
            </a:extLst>
          </p:cNvPr>
          <p:cNvSpPr txBox="1"/>
          <p:nvPr/>
        </p:nvSpPr>
        <p:spPr>
          <a:xfrm>
            <a:off x="71919" y="2948682"/>
            <a:ext cx="11897473" cy="3416320"/>
          </a:xfrm>
          <a:prstGeom prst="rect">
            <a:avLst/>
          </a:prstGeom>
          <a:noFill/>
        </p:spPr>
        <p:txBody>
          <a:bodyPr wrap="square">
            <a:spAutoFit/>
          </a:bodyPr>
          <a:lstStyle/>
          <a:p>
            <a:endParaRPr lang="en-US" sz="2400" b="1" dirty="0"/>
          </a:p>
          <a:p>
            <a:endParaRPr lang="en-US" sz="2400" b="1" dirty="0"/>
          </a:p>
          <a:p>
            <a:r>
              <a:rPr lang="en-US" sz="2400" b="1" dirty="0"/>
              <a:t>Advantages Of Message Switching</a:t>
            </a:r>
            <a:endParaRPr lang="en-US" sz="2400" dirty="0"/>
          </a:p>
          <a:p>
            <a:pPr>
              <a:buFont typeface="Arial" panose="020B0604020202020204" pitchFamily="34" charset="0"/>
              <a:buChar char="•"/>
            </a:pPr>
            <a:r>
              <a:rPr lang="en-US" sz="2400" dirty="0"/>
              <a:t>Data channels are shared among the communicating devices that improve the efficiency of using available bandwidth.</a:t>
            </a:r>
          </a:p>
          <a:p>
            <a:pPr>
              <a:buFont typeface="Arial" panose="020B0604020202020204" pitchFamily="34" charset="0"/>
              <a:buChar char="•"/>
            </a:pPr>
            <a:r>
              <a:rPr lang="en-US" sz="2400" dirty="0"/>
              <a:t>Traffic congestion can be reduced because the message is temporarily stored in the nodes.</a:t>
            </a:r>
          </a:p>
          <a:p>
            <a:pPr>
              <a:buFont typeface="Arial" panose="020B0604020202020204" pitchFamily="34" charset="0"/>
              <a:buChar char="•"/>
            </a:pPr>
            <a:r>
              <a:rPr lang="en-US" sz="2400" dirty="0"/>
              <a:t>Message priority can be used to manage the network.</a:t>
            </a:r>
          </a:p>
          <a:p>
            <a:pPr>
              <a:buFont typeface="Arial" panose="020B0604020202020204" pitchFamily="34" charset="0"/>
              <a:buChar char="•"/>
            </a:pPr>
            <a:r>
              <a:rPr lang="en-US" sz="2400" dirty="0"/>
              <a:t>The size of the message which is sent over the network can be varied. Therefore, it supports the data of unlimited size.</a:t>
            </a:r>
          </a:p>
        </p:txBody>
      </p:sp>
    </p:spTree>
    <p:extLst>
      <p:ext uri="{BB962C8B-B14F-4D97-AF65-F5344CB8AC3E}">
        <p14:creationId xmlns:p14="http://schemas.microsoft.com/office/powerpoint/2010/main" val="96571380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6214078-5E15-B51D-2CA9-CEC2C58686F9}"/>
              </a:ext>
            </a:extLst>
          </p:cNvPr>
          <p:cNvSpPr>
            <a:spLocks noGrp="1"/>
          </p:cNvSpPr>
          <p:nvPr>
            <p:ph idx="1"/>
          </p:nvPr>
        </p:nvSpPr>
        <p:spPr>
          <a:xfrm>
            <a:off x="0" y="0"/>
            <a:ext cx="12192000" cy="6176963"/>
          </a:xfrm>
        </p:spPr>
        <p:txBody>
          <a:bodyPr/>
          <a:lstStyle/>
          <a:p>
            <a:pPr marL="0" indent="0">
              <a:buNone/>
            </a:pPr>
            <a:r>
              <a:rPr lang="en-US" b="1" dirty="0"/>
              <a:t>Disadvantages Of Message Switching</a:t>
            </a:r>
            <a:endParaRPr lang="en-US" dirty="0"/>
          </a:p>
          <a:p>
            <a:pPr>
              <a:buFont typeface="Arial" panose="020B0604020202020204" pitchFamily="34" charset="0"/>
              <a:buChar char="•"/>
            </a:pPr>
            <a:r>
              <a:rPr lang="en-US" dirty="0"/>
              <a:t>The message switches must be equipped with sufficient storage to enable them to store the messages until the message is forwarded.</a:t>
            </a:r>
          </a:p>
          <a:p>
            <a:pPr>
              <a:buFont typeface="Arial" panose="020B0604020202020204" pitchFamily="34" charset="0"/>
              <a:buChar char="•"/>
            </a:pPr>
            <a:r>
              <a:rPr lang="en-US" dirty="0"/>
              <a:t>The Long delay can occur due to the storing and forwarding facility provided by the message switching technique.</a:t>
            </a:r>
          </a:p>
          <a:p>
            <a:endParaRPr lang="en-US" dirty="0"/>
          </a:p>
        </p:txBody>
      </p:sp>
    </p:spTree>
    <p:extLst>
      <p:ext uri="{BB962C8B-B14F-4D97-AF65-F5344CB8AC3E}">
        <p14:creationId xmlns:p14="http://schemas.microsoft.com/office/powerpoint/2010/main" val="60559113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CADAFF1-57A3-DAF9-99D0-5A6FAB2C09C0}"/>
              </a:ext>
            </a:extLst>
          </p:cNvPr>
          <p:cNvSpPr>
            <a:spLocks noGrp="1"/>
          </p:cNvSpPr>
          <p:nvPr>
            <p:ph idx="1"/>
          </p:nvPr>
        </p:nvSpPr>
        <p:spPr>
          <a:xfrm>
            <a:off x="0" y="0"/>
            <a:ext cx="12192000" cy="6858000"/>
          </a:xfrm>
        </p:spPr>
        <p:txBody>
          <a:bodyPr>
            <a:normAutofit/>
          </a:bodyPr>
          <a:lstStyle/>
          <a:p>
            <a:r>
              <a:rPr lang="en-US" b="1" dirty="0"/>
              <a:t>Packet Switching</a:t>
            </a:r>
          </a:p>
          <a:p>
            <a:pPr>
              <a:buFont typeface="Arial" panose="020B0604020202020204" pitchFamily="34" charset="0"/>
              <a:buChar char="•"/>
            </a:pPr>
            <a:r>
              <a:rPr lang="en-US" dirty="0"/>
              <a:t>The packet switching is a switching technique in which the message is sent in one go, but it is divided into smaller pieces, and they are sent individually.</a:t>
            </a:r>
          </a:p>
          <a:p>
            <a:pPr>
              <a:buFont typeface="Arial" panose="020B0604020202020204" pitchFamily="34" charset="0"/>
              <a:buChar char="•"/>
            </a:pPr>
            <a:r>
              <a:rPr lang="en-US" dirty="0"/>
              <a:t>The message splits into smaller pieces known as packets and packets are given a unique number to identify their order at the receiving end.</a:t>
            </a:r>
          </a:p>
          <a:p>
            <a:pPr>
              <a:buFont typeface="Arial" panose="020B0604020202020204" pitchFamily="34" charset="0"/>
              <a:buChar char="•"/>
            </a:pPr>
            <a:r>
              <a:rPr lang="en-US" dirty="0"/>
              <a:t>Every packet contains some information in its headers such as source address, destination address and sequence number.</a:t>
            </a:r>
          </a:p>
          <a:p>
            <a:pPr>
              <a:buFont typeface="Arial" panose="020B0604020202020204" pitchFamily="34" charset="0"/>
              <a:buChar char="•"/>
            </a:pPr>
            <a:r>
              <a:rPr lang="en-US" dirty="0"/>
              <a:t>Packets will travel across the network, taking the shortest path as possible.</a:t>
            </a:r>
          </a:p>
          <a:p>
            <a:pPr>
              <a:buFont typeface="Arial" panose="020B0604020202020204" pitchFamily="34" charset="0"/>
              <a:buChar char="•"/>
            </a:pPr>
            <a:r>
              <a:rPr lang="en-US" dirty="0"/>
              <a:t>All the packets are reassembled at the receiving end in correct order.</a:t>
            </a:r>
          </a:p>
          <a:p>
            <a:pPr>
              <a:buFont typeface="Arial" panose="020B0604020202020204" pitchFamily="34" charset="0"/>
              <a:buChar char="•"/>
            </a:pPr>
            <a:r>
              <a:rPr lang="en-US" dirty="0"/>
              <a:t>If any packet is missing or corrupted, then the message will be sent to resend the message.</a:t>
            </a:r>
          </a:p>
          <a:p>
            <a:pPr>
              <a:buFont typeface="Arial" panose="020B0604020202020204" pitchFamily="34" charset="0"/>
              <a:buChar char="•"/>
            </a:pPr>
            <a:r>
              <a:rPr lang="en-US" dirty="0"/>
              <a:t>If the correct order of the packets is reached, then the acknowledgment message will be sent.</a:t>
            </a:r>
          </a:p>
          <a:p>
            <a:endParaRPr lang="en-US" dirty="0"/>
          </a:p>
        </p:txBody>
      </p:sp>
    </p:spTree>
    <p:extLst>
      <p:ext uri="{BB962C8B-B14F-4D97-AF65-F5344CB8AC3E}">
        <p14:creationId xmlns:p14="http://schemas.microsoft.com/office/powerpoint/2010/main" val="377339589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5126C884-684F-BA3D-D31A-25D68245806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63721" y="2167848"/>
            <a:ext cx="9287839" cy="3148080"/>
          </a:xfrm>
        </p:spPr>
      </p:pic>
    </p:spTree>
    <p:extLst>
      <p:ext uri="{BB962C8B-B14F-4D97-AF65-F5344CB8AC3E}">
        <p14:creationId xmlns:p14="http://schemas.microsoft.com/office/powerpoint/2010/main" val="126183424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2A1688A-C976-6706-9AED-B1CF9EF69089}"/>
              </a:ext>
            </a:extLst>
          </p:cNvPr>
          <p:cNvSpPr>
            <a:spLocks noGrp="1"/>
          </p:cNvSpPr>
          <p:nvPr>
            <p:ph idx="1"/>
          </p:nvPr>
        </p:nvSpPr>
        <p:spPr>
          <a:xfrm>
            <a:off x="0" y="0"/>
            <a:ext cx="12192000" cy="6858000"/>
          </a:xfrm>
        </p:spPr>
        <p:txBody>
          <a:bodyPr>
            <a:normAutofit/>
          </a:bodyPr>
          <a:lstStyle/>
          <a:p>
            <a:pPr marL="0" indent="0">
              <a:buNone/>
            </a:pPr>
            <a:r>
              <a:rPr lang="en-US" b="1" dirty="0"/>
              <a:t>Approaches Of Packet Switching:</a:t>
            </a:r>
          </a:p>
          <a:p>
            <a:r>
              <a:rPr lang="en-US" dirty="0"/>
              <a:t>There are two approaches to Packet Switching:</a:t>
            </a:r>
          </a:p>
          <a:p>
            <a:r>
              <a:rPr lang="en-US" b="1" dirty="0"/>
              <a:t>Datagram Packet switching:</a:t>
            </a:r>
          </a:p>
          <a:p>
            <a:pPr>
              <a:buFont typeface="Arial" panose="020B0604020202020204" pitchFamily="34" charset="0"/>
              <a:buChar char="•"/>
            </a:pPr>
            <a:r>
              <a:rPr lang="en-US" dirty="0"/>
              <a:t>It is a packet switching technology in which packet is known as a datagram, is considered as an independent entity. </a:t>
            </a:r>
          </a:p>
          <a:p>
            <a:pPr>
              <a:buFont typeface="Arial" panose="020B0604020202020204" pitchFamily="34" charset="0"/>
              <a:buChar char="•"/>
            </a:pPr>
            <a:r>
              <a:rPr lang="en-US" dirty="0"/>
              <a:t>Each packet contains the information about the destination and switch uses this information to forward the packet to the correct destination.</a:t>
            </a:r>
          </a:p>
          <a:p>
            <a:pPr>
              <a:buFont typeface="Arial" panose="020B0604020202020204" pitchFamily="34" charset="0"/>
              <a:buChar char="•"/>
            </a:pPr>
            <a:r>
              <a:rPr lang="en-US" dirty="0"/>
              <a:t>The packets are reassembled at the receiving end in correct order.</a:t>
            </a:r>
          </a:p>
          <a:p>
            <a:pPr>
              <a:buFont typeface="Arial" panose="020B0604020202020204" pitchFamily="34" charset="0"/>
              <a:buChar char="•"/>
            </a:pPr>
            <a:r>
              <a:rPr lang="en-US" dirty="0"/>
              <a:t>In Datagram Packet Switching technique, the path is not fixed.</a:t>
            </a:r>
          </a:p>
          <a:p>
            <a:pPr>
              <a:buFont typeface="Arial" panose="020B0604020202020204" pitchFamily="34" charset="0"/>
              <a:buChar char="•"/>
            </a:pPr>
            <a:r>
              <a:rPr lang="en-US" dirty="0"/>
              <a:t>Intermediate nodes take the routing decisions to forward the packets.</a:t>
            </a:r>
          </a:p>
          <a:p>
            <a:pPr>
              <a:buFont typeface="Arial" panose="020B0604020202020204" pitchFamily="34" charset="0"/>
              <a:buChar char="•"/>
            </a:pPr>
            <a:r>
              <a:rPr lang="en-US" dirty="0"/>
              <a:t>Datagram Packet Switching is also known as connectionless switching.</a:t>
            </a:r>
          </a:p>
          <a:p>
            <a:endParaRPr lang="en-US" dirty="0"/>
          </a:p>
          <a:p>
            <a:endParaRPr lang="en-US" dirty="0"/>
          </a:p>
        </p:txBody>
      </p:sp>
    </p:spTree>
    <p:extLst>
      <p:ext uri="{BB962C8B-B14F-4D97-AF65-F5344CB8AC3E}">
        <p14:creationId xmlns:p14="http://schemas.microsoft.com/office/powerpoint/2010/main" val="54154370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B5A68F0-1048-FB0A-9D75-1958A08EBFE1}"/>
              </a:ext>
            </a:extLst>
          </p:cNvPr>
          <p:cNvSpPr>
            <a:spLocks noGrp="1"/>
          </p:cNvSpPr>
          <p:nvPr>
            <p:ph idx="1"/>
          </p:nvPr>
        </p:nvSpPr>
        <p:spPr>
          <a:xfrm>
            <a:off x="0" y="0"/>
            <a:ext cx="12192000" cy="6857999"/>
          </a:xfrm>
        </p:spPr>
        <p:txBody>
          <a:bodyPr/>
          <a:lstStyle/>
          <a:p>
            <a:pPr marL="0" indent="0">
              <a:buNone/>
            </a:pPr>
            <a:r>
              <a:rPr lang="en-US" b="1" dirty="0"/>
              <a:t>Virtual Circuit Switching</a:t>
            </a:r>
          </a:p>
          <a:p>
            <a:pPr>
              <a:buFont typeface="Arial" panose="020B0604020202020204" pitchFamily="34" charset="0"/>
              <a:buChar char="•"/>
            </a:pPr>
            <a:r>
              <a:rPr lang="en-US" dirty="0"/>
              <a:t>Virtual Circuit Switching is also known as connection-oriented switching.</a:t>
            </a:r>
          </a:p>
          <a:p>
            <a:pPr>
              <a:buFont typeface="Arial" panose="020B0604020202020204" pitchFamily="34" charset="0"/>
              <a:buChar char="•"/>
            </a:pPr>
            <a:r>
              <a:rPr lang="en-US" dirty="0"/>
              <a:t>In the case of Virtual circuit switching, a preplanned route is established before the messages are sent.</a:t>
            </a:r>
          </a:p>
          <a:p>
            <a:pPr>
              <a:buFont typeface="Arial" panose="020B0604020202020204" pitchFamily="34" charset="0"/>
              <a:buChar char="•"/>
            </a:pPr>
            <a:r>
              <a:rPr lang="en-US" dirty="0"/>
              <a:t>Call request and call accept packets are used to establish the connection between sender and receiver.</a:t>
            </a:r>
          </a:p>
          <a:p>
            <a:pPr>
              <a:buFont typeface="Arial" panose="020B0604020202020204" pitchFamily="34" charset="0"/>
              <a:buChar char="•"/>
            </a:pPr>
            <a:r>
              <a:rPr lang="en-US" dirty="0"/>
              <a:t>In this case, the path is fixed for the duration of a logical connection.</a:t>
            </a:r>
          </a:p>
          <a:p>
            <a:endParaRPr lang="en-US" dirty="0"/>
          </a:p>
        </p:txBody>
      </p:sp>
    </p:spTree>
    <p:extLst>
      <p:ext uri="{BB962C8B-B14F-4D97-AF65-F5344CB8AC3E}">
        <p14:creationId xmlns:p14="http://schemas.microsoft.com/office/powerpoint/2010/main" val="66359534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224529A-B399-90B4-5C29-658B211DAFEB}"/>
              </a:ext>
            </a:extLst>
          </p:cNvPr>
          <p:cNvSpPr>
            <a:spLocks noGrp="1"/>
          </p:cNvSpPr>
          <p:nvPr>
            <p:ph idx="1"/>
          </p:nvPr>
        </p:nvSpPr>
        <p:spPr>
          <a:xfrm>
            <a:off x="0" y="0"/>
            <a:ext cx="11353800" cy="6176963"/>
          </a:xfrm>
        </p:spPr>
        <p:txBody>
          <a:bodyPr/>
          <a:lstStyle/>
          <a:p>
            <a:r>
              <a:rPr lang="en-US" b="1" dirty="0"/>
              <a:t>Let's understand the concept of virtual circuit switching through a diagram:</a:t>
            </a:r>
          </a:p>
          <a:p>
            <a:endParaRPr lang="en-US" dirty="0"/>
          </a:p>
        </p:txBody>
      </p:sp>
      <p:pic>
        <p:nvPicPr>
          <p:cNvPr id="6" name="Picture 5">
            <a:extLst>
              <a:ext uri="{FF2B5EF4-FFF2-40B4-BE49-F238E27FC236}">
                <a16:creationId xmlns:a16="http://schemas.microsoft.com/office/drawing/2014/main" id="{61D558CC-728A-915C-E8A2-E8EE74EDDFE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37717" y="1694079"/>
            <a:ext cx="6072027" cy="3469841"/>
          </a:xfrm>
          <a:prstGeom prst="rect">
            <a:avLst/>
          </a:prstGeom>
        </p:spPr>
      </p:pic>
    </p:spTree>
    <p:extLst>
      <p:ext uri="{BB962C8B-B14F-4D97-AF65-F5344CB8AC3E}">
        <p14:creationId xmlns:p14="http://schemas.microsoft.com/office/powerpoint/2010/main" val="34197794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916FF3A-9C69-8907-11E6-B6F408752AD1}"/>
              </a:ext>
            </a:extLst>
          </p:cNvPr>
          <p:cNvSpPr>
            <a:spLocks noGrp="1"/>
          </p:cNvSpPr>
          <p:nvPr>
            <p:ph idx="1"/>
          </p:nvPr>
        </p:nvSpPr>
        <p:spPr>
          <a:xfrm>
            <a:off x="0" y="0"/>
            <a:ext cx="12192000" cy="6858000"/>
          </a:xfrm>
        </p:spPr>
        <p:txBody>
          <a:bodyPr/>
          <a:lstStyle/>
          <a:p>
            <a:pPr>
              <a:buFont typeface="Arial" panose="020B0604020202020204" pitchFamily="34" charset="0"/>
              <a:buChar char="•"/>
            </a:pPr>
            <a:r>
              <a:rPr lang="en-US" dirty="0"/>
              <a:t>In the above diagram, A and B are the sender and receiver respectively. 1 and 2 are the nodes.</a:t>
            </a:r>
          </a:p>
          <a:p>
            <a:pPr>
              <a:buFont typeface="Arial" panose="020B0604020202020204" pitchFamily="34" charset="0"/>
              <a:buChar char="•"/>
            </a:pPr>
            <a:endParaRPr lang="en-US" dirty="0"/>
          </a:p>
          <a:p>
            <a:pPr>
              <a:buFont typeface="Arial" panose="020B0604020202020204" pitchFamily="34" charset="0"/>
              <a:buChar char="•"/>
            </a:pPr>
            <a:r>
              <a:rPr lang="en-US" dirty="0"/>
              <a:t>Call request and call accept packets are used to establish a connection between the sender and receiver.</a:t>
            </a:r>
          </a:p>
          <a:p>
            <a:pPr>
              <a:buFont typeface="Arial" panose="020B0604020202020204" pitchFamily="34" charset="0"/>
              <a:buChar char="•"/>
            </a:pPr>
            <a:endParaRPr lang="en-US" dirty="0"/>
          </a:p>
          <a:p>
            <a:pPr>
              <a:buFont typeface="Arial" panose="020B0604020202020204" pitchFamily="34" charset="0"/>
              <a:buChar char="•"/>
            </a:pPr>
            <a:r>
              <a:rPr lang="en-US" dirty="0"/>
              <a:t>When a route is established, data will be transferred.</a:t>
            </a:r>
          </a:p>
          <a:p>
            <a:pPr>
              <a:buFont typeface="Arial" panose="020B0604020202020204" pitchFamily="34" charset="0"/>
              <a:buChar char="•"/>
            </a:pPr>
            <a:endParaRPr lang="en-US" dirty="0"/>
          </a:p>
          <a:p>
            <a:pPr>
              <a:buFont typeface="Arial" panose="020B0604020202020204" pitchFamily="34" charset="0"/>
              <a:buChar char="•"/>
            </a:pPr>
            <a:r>
              <a:rPr lang="en-US" dirty="0"/>
              <a:t>After transmission of data, an acknowledgment signal is sent by the receiver that the message has been received.</a:t>
            </a:r>
          </a:p>
          <a:p>
            <a:pPr>
              <a:buFont typeface="Arial" panose="020B0604020202020204" pitchFamily="34" charset="0"/>
              <a:buChar char="•"/>
            </a:pPr>
            <a:endParaRPr lang="en-US" dirty="0"/>
          </a:p>
          <a:p>
            <a:pPr>
              <a:buFont typeface="Arial" panose="020B0604020202020204" pitchFamily="34" charset="0"/>
              <a:buChar char="•"/>
            </a:pPr>
            <a:r>
              <a:rPr lang="en-US" dirty="0"/>
              <a:t>If the user wants to terminate the connection, a clear signal is sent for the termination.</a:t>
            </a:r>
          </a:p>
          <a:p>
            <a:endParaRPr lang="en-US" dirty="0"/>
          </a:p>
        </p:txBody>
      </p:sp>
    </p:spTree>
    <p:extLst>
      <p:ext uri="{BB962C8B-B14F-4D97-AF65-F5344CB8AC3E}">
        <p14:creationId xmlns:p14="http://schemas.microsoft.com/office/powerpoint/2010/main" val="101262113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D1FB9EF-B7A3-1B7E-2FFB-C88B750C92C0}"/>
              </a:ext>
            </a:extLst>
          </p:cNvPr>
          <p:cNvSpPr>
            <a:spLocks noGrp="1"/>
          </p:cNvSpPr>
          <p:nvPr>
            <p:ph idx="1"/>
          </p:nvPr>
        </p:nvSpPr>
        <p:spPr>
          <a:xfrm>
            <a:off x="0" y="0"/>
            <a:ext cx="12192000" cy="6858000"/>
          </a:xfrm>
        </p:spPr>
        <p:txBody>
          <a:bodyPr>
            <a:norm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dirty="0">
                <a:ln>
                  <a:noFill/>
                </a:ln>
                <a:solidFill>
                  <a:schemeClr val="tx1"/>
                </a:solidFill>
                <a:effectLst/>
                <a:latin typeface="Arial" panose="020B0604020202020204" pitchFamily="34" charset="0"/>
              </a:rPr>
              <a:t>Advantages Of Packet Switching:</a:t>
            </a: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Cost-effective:</a:t>
            </a:r>
            <a:r>
              <a:rPr kumimoji="0" lang="en-US" altLang="en-US" sz="2800" b="0" i="0" u="none" strike="noStrike" cap="none" normalizeH="0" baseline="0" dirty="0">
                <a:ln>
                  <a:noFill/>
                </a:ln>
                <a:solidFill>
                  <a:schemeClr val="tx1"/>
                </a:solidFill>
                <a:effectLst/>
                <a:latin typeface="Arial" panose="020B0604020202020204" pitchFamily="34" charset="0"/>
              </a:rPr>
              <a:t> In packet switching technique, switching devices do not require massive secondary storage to store the packets, so cost is minimized to some extent. Therefore, we can say that the packet switching technique is a cost-effective technique.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Reliable:</a:t>
            </a:r>
            <a:r>
              <a:rPr kumimoji="0" lang="en-US" altLang="en-US" sz="2800" b="0" i="0" u="none" strike="noStrike" cap="none" normalizeH="0" baseline="0" dirty="0">
                <a:ln>
                  <a:noFill/>
                </a:ln>
                <a:solidFill>
                  <a:schemeClr val="tx1"/>
                </a:solidFill>
                <a:effectLst/>
                <a:latin typeface="Arial" panose="020B0604020202020204" pitchFamily="34" charset="0"/>
              </a:rPr>
              <a:t> If any node is busy, then the packets can be rerouted. This ensures that the Packet Switching technique provides reliable communication.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Efficient:</a:t>
            </a:r>
            <a:r>
              <a:rPr kumimoji="0" lang="en-US" altLang="en-US" sz="2800" b="0" i="0" u="none" strike="noStrike" cap="none" normalizeH="0" baseline="0" dirty="0">
                <a:ln>
                  <a:noFill/>
                </a:ln>
                <a:solidFill>
                  <a:schemeClr val="tx1"/>
                </a:solidFill>
                <a:effectLst/>
                <a:latin typeface="Arial" panose="020B0604020202020204" pitchFamily="34" charset="0"/>
              </a:rPr>
              <a:t> Packet Switching is an efficient technique. It does not require any established path prior to the transmission, and many users can use the same communication channel simultaneously, hence makes use of available bandwidth very efficiently. </a:t>
            </a:r>
          </a:p>
          <a:p>
            <a:endParaRPr lang="en-US" dirty="0"/>
          </a:p>
        </p:txBody>
      </p:sp>
    </p:spTree>
    <p:extLst>
      <p:ext uri="{BB962C8B-B14F-4D97-AF65-F5344CB8AC3E}">
        <p14:creationId xmlns:p14="http://schemas.microsoft.com/office/powerpoint/2010/main" val="151589693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A34DD9B-3545-AADE-310C-A271D666D85F}"/>
              </a:ext>
            </a:extLst>
          </p:cNvPr>
          <p:cNvSpPr>
            <a:spLocks noGrp="1"/>
          </p:cNvSpPr>
          <p:nvPr>
            <p:ph idx="1"/>
          </p:nvPr>
        </p:nvSpPr>
        <p:spPr>
          <a:xfrm>
            <a:off x="0" y="71920"/>
            <a:ext cx="12192000" cy="6659848"/>
          </a:xfrm>
        </p:spPr>
        <p: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dirty="0">
                <a:ln>
                  <a:noFill/>
                </a:ln>
                <a:solidFill>
                  <a:schemeClr val="tx1"/>
                </a:solidFill>
                <a:effectLst/>
                <a:latin typeface="Arial" panose="020B0604020202020204" pitchFamily="34" charset="0"/>
              </a:rPr>
              <a:t>Disadvantages Of Packet Switching: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Packet Switching technique cannot be implemented in those applications that require low delay and high-quality services.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The protocols used in a packet switching technique are very complex and requires high implementation cost.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If the network is overloaded or corrupted, then it requires retransmission of lost packets. It can also lead to the loss of critical information if errors are nor recovered. </a:t>
            </a:r>
          </a:p>
          <a:p>
            <a:endParaRPr lang="en-US" dirty="0"/>
          </a:p>
        </p:txBody>
      </p:sp>
    </p:spTree>
    <p:extLst>
      <p:ext uri="{BB962C8B-B14F-4D97-AF65-F5344CB8AC3E}">
        <p14:creationId xmlns:p14="http://schemas.microsoft.com/office/powerpoint/2010/main" val="279803274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311</TotalTime>
  <Words>2502</Words>
  <Application>Microsoft Office PowerPoint</Application>
  <PresentationFormat>Widescreen</PresentationFormat>
  <Paragraphs>191</Paragraphs>
  <Slides>41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41</vt:i4>
      </vt:variant>
    </vt:vector>
  </HeadingPairs>
  <TitlesOfParts>
    <vt:vector size="46" baseType="lpstr">
      <vt:lpstr>Arial</vt:lpstr>
      <vt:lpstr>Calibri</vt:lpstr>
      <vt:lpstr>Calibri Light</vt:lpstr>
      <vt:lpstr>Times New Roman</vt:lpstr>
      <vt:lpstr>Office Theme</vt:lpstr>
      <vt:lpstr>2 chapter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Wavelength Division Multiplexing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Switching  </vt:lpstr>
      <vt:lpstr>Classification Of Switching Techniques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ASUS</dc:creator>
  <cp:lastModifiedBy>dell</cp:lastModifiedBy>
  <cp:revision>29</cp:revision>
  <dcterms:created xsi:type="dcterms:W3CDTF">2023-04-30T15:09:55Z</dcterms:created>
  <dcterms:modified xsi:type="dcterms:W3CDTF">2025-11-18T07:42:52Z</dcterms:modified>
</cp:coreProperties>
</file>