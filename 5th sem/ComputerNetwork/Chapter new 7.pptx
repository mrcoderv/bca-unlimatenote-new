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8" r:id="rId5"/>
    <p:sldId id="261" r:id="rId6"/>
    <p:sldId id="262" r:id="rId7"/>
    <p:sldId id="259" r:id="rId8"/>
    <p:sldId id="260" r:id="rId9"/>
    <p:sldId id="263" r:id="rId10"/>
    <p:sldId id="264" r:id="rId11"/>
    <p:sldId id="265" r:id="rId12"/>
    <p:sldId id="266" r:id="rId13"/>
    <p:sldId id="267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18F6-7DEC-6B7D-30F7-01F8A4411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2E3ED0-2815-21D3-E3D6-A21EB86974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9058-D632-B06F-0AF7-9CBD9E73D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17165-AA46-4E44-9C3A-056889CB08A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0ED6D-8374-8228-02CE-8C57CA9DE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9C765-FB9E-5266-2B5A-D3591670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EF2B3-1ACE-4D4A-BB27-28ACF362C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36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396F9-1FC5-0E42-C9A2-4D87CFDC3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A850A-C218-D305-8090-B3B45A0E3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003B4-0070-3196-66EF-4111BC22B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17165-AA46-4E44-9C3A-056889CB08A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58195-044A-3863-8F4D-FEF3EB410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4DAD2-D1F6-8569-5604-C353A0D93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EF2B3-1ACE-4D4A-BB27-28ACF362C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362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1237D-B3DE-25C8-F9DE-04E99FC1F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83AC7-9CC4-5643-4F1D-FA9BD0BC2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5EE4F-94B3-06AD-BFAC-A5F5F3AF1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17165-AA46-4E44-9C3A-056889CB08A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1FF04-E2E3-C1E9-F234-DD673DA30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84253-3132-B352-39FD-E2D62ED6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EF2B3-1ACE-4D4A-BB27-28ACF362C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05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77AB2-1657-8F82-F14F-26740A803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2F3F9-24A1-9ECF-8E6B-184CF59F5B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142E5-5D7C-7DEE-24DA-C46090CFB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BC1DC-1B21-3CBB-D1DF-300A6B08E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17165-AA46-4E44-9C3A-056889CB08A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63DF7-B796-C487-0B99-7DC6592B0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B1D12-E852-01C2-5D00-6099F2BD4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EF2B3-1ACE-4D4A-BB27-28ACF362C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261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57448-6CAF-2947-4679-A5A19CB73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6C9A5-B955-23A1-CD20-FFFBFC2A5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CAB9E7-BB26-D453-A3E8-E6734D4DC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BC8E2D-F715-586B-2497-8EE0CEB5FC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E63DFF-C17F-1EEE-1487-FA90B3729F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1082EC-90D3-DF3B-3DE3-7DCAF2A1F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17165-AA46-4E44-9C3A-056889CB08A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736475-6772-98AA-0F62-3EF09AB9B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759C2E-80C8-415A-0391-4F5F94EF4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EF2B3-1ACE-4D4A-BB27-28ACF362C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83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3CC3A-2A02-7B99-3A5B-D3A20E79B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CD6E3F-CA6F-D792-726F-B39FCA66B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17165-AA46-4E44-9C3A-056889CB08A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EDB822-4882-BBA6-34FC-49CC26B46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898D4F-0ACC-317F-6CE1-4028F5506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EF2B3-1ACE-4D4A-BB27-28ACF362C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87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9A8B23-94DA-3061-2B45-055D5ACA6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17165-AA46-4E44-9C3A-056889CB08A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EF7A0C-313D-1C44-A53F-1BC679625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3F00E-96B1-086D-07F3-76455C23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EF2B3-1ACE-4D4A-BB27-28ACF362C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30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EACCC-CED4-2AF6-B666-4DFF38BC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CC54B-35A0-C2F5-DA55-A24CAD7BE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B22D3-31D6-DF27-C095-2D68E3143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89C90-D82B-2458-4F86-AD6084166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17165-AA46-4E44-9C3A-056889CB08A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F0E74-EF8F-5EE1-BBB9-AE5F27BCA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7A2A0-3168-C3C7-2B96-9B87CFDD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EF2B3-1ACE-4D4A-BB27-28ACF362C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345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9609F-02CB-AC61-760B-DC629B052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53B287-39E0-4A16-0A2B-B7D7A948C8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FAD4F3-E332-19E0-3D8D-E12BA4679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B0203-F8BB-AF31-80B1-1B019C1F0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17165-AA46-4E44-9C3A-056889CB08A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4054B-4781-071A-0E2A-C5CADB98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9CB38-FAD4-6EF4-18E2-79D2EACEF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EF2B3-1ACE-4D4A-BB27-28ACF362C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8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4454D-B646-A849-2A8F-D71C3FE75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09540-5D62-4E73-B95A-86DF5D3BE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1E2A6-0EF3-772A-68BA-47E745751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17165-AA46-4E44-9C3A-056889CB08A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C0B6E-74F5-6A46-859A-EDBA8F4C1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FEA3-B249-BF42-D2A3-01DB2C811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EF2B3-1ACE-4D4A-BB27-28ACF362C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21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39629-343E-2D61-4B56-D131B99672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648E0-A59E-BCE6-D851-F1A54990E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254C6-19BA-F6CD-B52B-CF8DD5FE9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17165-AA46-4E44-9C3A-056889CB08A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02044-BD5A-91B6-9272-BF17083E0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1A496-EE97-D286-758F-5B81498EC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EF2B3-1ACE-4D4A-BB27-28ACF362C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172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FF5788-3CA7-7DB6-393D-16E23D758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8B77E-70B9-152E-D047-4E2563773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E1A64-0C9C-D2D9-4641-3C2FB51B99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17165-AA46-4E44-9C3A-056889CB08A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4E00C-B59F-46B1-B417-12F9418C6E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84977-CD99-D6E7-86C4-61EEE06CF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EF2B3-1ACE-4D4A-BB27-28ACF362C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48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computer-networks/what-is-transmission-control-protocol-tcp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computer-networks/user-datagram-protocol-udp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471CD-E0AD-0ED6-958F-5B6005A34B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7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F39E4A-DB5C-B4A5-14FC-737199A5A3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60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0E6D14-42AC-9600-E0EF-6B4DEF5FCD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180" y="159025"/>
            <a:ext cx="11775107" cy="6609523"/>
          </a:xfrm>
        </p:spPr>
      </p:pic>
    </p:spTree>
    <p:extLst>
      <p:ext uri="{BB962C8B-B14F-4D97-AF65-F5344CB8AC3E}">
        <p14:creationId xmlns:p14="http://schemas.microsoft.com/office/powerpoint/2010/main" val="4118168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B380F-E37C-E676-EDE5-079EC01C2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Transport Layer in OSI Model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D8D2A-BC26-40E2-485B-4E0256984C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182756"/>
            <a:ext cx="6019800" cy="5675243"/>
          </a:xfrm>
        </p:spPr>
        <p:txBody>
          <a:bodyPr>
            <a:normAutofit fontScale="70000" lnSpcReduction="20000"/>
          </a:bodyPr>
          <a:lstStyle/>
          <a:p>
            <a:pPr rtl="0"/>
            <a:r>
              <a:rPr lang="en-US" dirty="0"/>
              <a:t>The Transport Layer is the OSI Layer 4 responsible for providing reliable, efficient, and ordered end-to-end communication between applications on different hosts.</a:t>
            </a:r>
          </a:p>
          <a:p>
            <a:pPr rtl="0"/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Operates at Layer 4 (Transport Layer) of the OSI model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process-to-process communication using port numbers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reliability through error control, sequencing, and retransmission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flow control to prevent receiver overload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protocols like TCP, UDP, and SCTP for different application needs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B22625E-E8C6-C9DA-89AA-C919E515F6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430617" y="1898373"/>
            <a:ext cx="5555973" cy="4174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0816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89ED2-037E-5078-1FA9-BEAF2E8EC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effectLst/>
              </a:rPr>
              <a:t>Functions of Transport Layer</a:t>
            </a:r>
          </a:p>
          <a:p>
            <a:pPr algn="just" rtl="0"/>
            <a:r>
              <a:rPr lang="en-US" dirty="0">
                <a:effectLst/>
              </a:rPr>
              <a:t>The Transport Layer is responsible for end-to-end communication of data packets.</a:t>
            </a:r>
          </a:p>
          <a:p>
            <a:pPr algn="just" rtl="0"/>
            <a:r>
              <a:rPr lang="en-US" dirty="0">
                <a:effectLst/>
              </a:rPr>
              <a:t> It provides a number of important functions that are responsible for reliable, efficient, and organized data transfer between host systems in a networked environment.</a:t>
            </a:r>
          </a:p>
          <a:p>
            <a:pPr algn="just" rtl="0"/>
            <a:r>
              <a:rPr lang="en-US" dirty="0">
                <a:effectLst/>
              </a:rPr>
              <a:t>The primary functions of the Transport Layer 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end-to-end data delivery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reliable and ordered data transfer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Performs error detection and recovery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Controls data flow to prevent receiver overload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multiplexing and demultiplexing using port numbers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491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F43DC-39CE-5EEB-0420-03385FDF7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dirty="0">
                <a:effectLst/>
              </a:rPr>
              <a:t>Transport Layer Protocols</a:t>
            </a:r>
          </a:p>
          <a:p>
            <a:pPr algn="just" rtl="0"/>
            <a:r>
              <a:rPr lang="en-US" dirty="0">
                <a:effectLst/>
              </a:rPr>
              <a:t>Transport Layer Protocol uses different protocol for the better communication between two ends uses of protocol may differ from specifications. </a:t>
            </a:r>
          </a:p>
          <a:p>
            <a:pPr algn="just" rtl="0"/>
            <a:endParaRPr lang="en-US" dirty="0">
              <a:effectLst/>
            </a:endParaRPr>
          </a:p>
          <a:p>
            <a:pPr algn="just" rtl="0"/>
            <a:r>
              <a:rPr lang="en-US" dirty="0">
                <a:effectLst/>
              </a:rPr>
              <a:t>Below mention are some protocols used in Transport Layer</a:t>
            </a:r>
          </a:p>
          <a:p>
            <a:pPr algn="just" rtl="0"/>
            <a:endParaRPr lang="en-US" dirty="0">
              <a:effectLst/>
            </a:endParaRPr>
          </a:p>
          <a:p>
            <a:pPr marL="514350" indent="-514350" algn="l">
              <a:buAutoNum type="arabicPeriod"/>
            </a:pPr>
            <a:r>
              <a:rPr lang="en-US" b="1" dirty="0">
                <a:effectLst/>
              </a:rPr>
              <a:t>Transmission Control Protocol(TCP)</a:t>
            </a:r>
          </a:p>
          <a:p>
            <a:pPr marL="514350" indent="-514350" algn="l">
              <a:buAutoNum type="arabicPeriod"/>
            </a:pPr>
            <a:endParaRPr lang="en-US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TCP</a:t>
            </a:r>
            <a:r>
              <a:rPr lang="en-US" dirty="0"/>
              <a:t> is connection-oriented Protocol.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TCP is reliable protocol.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 </a:t>
            </a:r>
            <a:r>
              <a:rPr lang="en-US" dirty="0">
                <a:hlinkClick r:id="rId2"/>
              </a:rPr>
              <a:t>TCP </a:t>
            </a:r>
            <a:r>
              <a:rPr lang="en-US" dirty="0"/>
              <a:t>is connection-oriented protocol, so first the connection is established between two ends and then data is transferred and then the connection is terminated after all data being sent.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922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4603F-DDBF-7622-7B13-CF36651FB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768548"/>
          </a:xfrm>
        </p:spPr>
        <p:txBody>
          <a:bodyPr/>
          <a:lstStyle/>
          <a:p>
            <a:pPr marL="0" indent="0" algn="l">
              <a:buNone/>
            </a:pPr>
            <a:r>
              <a:rPr lang="en-US" b="1" dirty="0">
                <a:effectLst/>
              </a:rPr>
              <a:t>2. User Datagram Protocol (UDP)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UDP is not reliable protocol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protocol </a:t>
            </a:r>
            <a:r>
              <a:rPr lang="en-US" dirty="0">
                <a:hlinkClick r:id="rId2"/>
              </a:rPr>
              <a:t>UDP</a:t>
            </a:r>
            <a:r>
              <a:rPr lang="en-US" dirty="0"/>
              <a:t> is connectionless.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speed and size are more important than security and dependability, this kind of protocol is employed.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data from the higher layer is supplemented with transport-level addresses, checksum error control, and length information by UDP, an end-to-end transport level </a:t>
            </a:r>
            <a:r>
              <a:rPr lang="en-US"/>
              <a:t>protocol.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user datagram is the packet that the UDP protocol generates.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588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15E62-853D-EB2B-75C3-B673DAC6B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12105861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1" dirty="0">
                <a:effectLst/>
              </a:rPr>
              <a:t>3-Way Handshake</a:t>
            </a:r>
          </a:p>
          <a:p>
            <a:pPr rtl="0"/>
            <a:r>
              <a:rPr lang="en-US" dirty="0"/>
              <a:t>The 3-Way Handshake ensures both client and server are ready before data transmission begins:</a:t>
            </a:r>
          </a:p>
          <a:p>
            <a:pPr rtl="0"/>
            <a:r>
              <a:rPr lang="en-US" b="1" dirty="0"/>
              <a:t>Step 1: SYN (Client -&gt; Server)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Client sends a TCP segment with SYN=1, including its ISN (Initial Sequence Number).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Marks the request to initiate a connection</a:t>
            </a:r>
          </a:p>
          <a:p>
            <a:pPr rtl="0"/>
            <a:r>
              <a:rPr lang="en-US" b="1" dirty="0"/>
              <a:t>Step 2</a:t>
            </a:r>
            <a:r>
              <a:rPr lang="en-US" dirty="0"/>
              <a:t>: SYN‑ACK (Server -&gt; Client)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Server replies with SYN=1 &amp; ACK=1, containing its own ISN and ACK = </a:t>
            </a:r>
            <a:r>
              <a:rPr lang="en-US" dirty="0" err="1"/>
              <a:t>client_ISN</a:t>
            </a:r>
            <a:r>
              <a:rPr lang="en-US" dirty="0"/>
              <a:t> + 1.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Confirms receipt of client’s SYN and initiates its own sync </a:t>
            </a:r>
          </a:p>
          <a:p>
            <a:pPr rtl="0"/>
            <a:r>
              <a:rPr lang="en-US" b="1" dirty="0"/>
              <a:t>Step 3: ACK (Client -&gt; Server)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Client sends an ACK=1 segment with ACK = </a:t>
            </a:r>
            <a:r>
              <a:rPr lang="en-US" dirty="0" err="1"/>
              <a:t>server_ISN</a:t>
            </a:r>
            <a:r>
              <a:rPr lang="en-US" dirty="0"/>
              <a:t> + 1.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Completes synchronization; connection enters ESTABLISHED state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62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D6FF5-ACA3-7A31-2216-E17790BE5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1" y="0"/>
            <a:ext cx="6569765" cy="6858000"/>
          </a:xfrm>
        </p:spPr>
        <p:txBody>
          <a:bodyPr>
            <a:normAutofit fontScale="62500" lnSpcReduction="20000"/>
          </a:bodyPr>
          <a:lstStyle/>
          <a:p>
            <a:endParaRPr lang="en-US" dirty="0">
              <a:effectLst/>
            </a:endParaRPr>
          </a:p>
          <a:p>
            <a:r>
              <a:rPr lang="en-US" b="1" dirty="0">
                <a:effectLst/>
              </a:rPr>
              <a:t>Client-Server Model</a:t>
            </a:r>
          </a:p>
          <a:p>
            <a:endParaRPr lang="en-US" dirty="0"/>
          </a:p>
          <a:p>
            <a:r>
              <a:rPr lang="en-US" dirty="0"/>
              <a:t>The Client-Server Model is a distributed architecture where clients request services and servers provide them. </a:t>
            </a:r>
          </a:p>
          <a:p>
            <a:endParaRPr lang="en-US" dirty="0"/>
          </a:p>
          <a:p>
            <a:r>
              <a:rPr lang="en-US" dirty="0"/>
              <a:t>It underpins many modern systems, including websites, email, and cloud storage platforms.</a:t>
            </a:r>
          </a:p>
          <a:p>
            <a:pPr algn="l"/>
            <a:r>
              <a:rPr lang="en-US" b="1" dirty="0">
                <a:effectLst/>
              </a:rPr>
              <a:t>How Does the Client-Server Model Work?</a:t>
            </a:r>
          </a:p>
          <a:p>
            <a:pPr algn="l" rtl="0"/>
            <a:r>
              <a:rPr lang="en-US" b="1" dirty="0">
                <a:effectLst/>
              </a:rPr>
              <a:t>Client: </a:t>
            </a:r>
            <a:r>
              <a:rPr lang="en-US" dirty="0">
                <a:effectLst/>
              </a:rPr>
              <a:t>A client is any device or software that initiates communication by requesting data or services from a server.</a:t>
            </a:r>
          </a:p>
          <a:p>
            <a:pPr algn="l" rtl="0"/>
            <a:r>
              <a:rPr lang="en-US" dirty="0">
                <a:effectLst/>
              </a:rPr>
              <a:t> Common client applications include:</a:t>
            </a:r>
          </a:p>
          <a:p>
            <a:pPr rtl="0"/>
            <a:r>
              <a:rPr lang="en-US" dirty="0"/>
              <a:t>Web browsers (e.g., Chrome, Firefox)</a:t>
            </a:r>
          </a:p>
          <a:p>
            <a:pPr rtl="0"/>
            <a:r>
              <a:rPr lang="en-US" dirty="0"/>
              <a:t>Email apps (e.g., Gmail, Outlook)</a:t>
            </a:r>
          </a:p>
          <a:p>
            <a:pPr rtl="0"/>
            <a:r>
              <a:rPr lang="en-US" b="1" dirty="0"/>
              <a:t>Server: </a:t>
            </a:r>
            <a:r>
              <a:rPr lang="en-US" dirty="0"/>
              <a:t>A server is a powerful systems that listens for and responds to client requests by delivering data or performing tasks.</a:t>
            </a:r>
          </a:p>
          <a:p>
            <a:pPr rtl="0"/>
            <a:r>
              <a:rPr lang="en-US" dirty="0"/>
              <a:t> Servers often handle multiple simultaneous client requests. Common server applications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 Servers (e.g., Apache, Nginx)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Email Servers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 servers</a:t>
            </a:r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31466ED-3222-6D5B-79B8-031B67DE1B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38730" y="1540565"/>
            <a:ext cx="5347253" cy="4909931"/>
          </a:xfrm>
        </p:spPr>
      </p:pic>
    </p:spTree>
    <p:extLst>
      <p:ext uri="{BB962C8B-B14F-4D97-AF65-F5344CB8AC3E}">
        <p14:creationId xmlns:p14="http://schemas.microsoft.com/office/powerpoint/2010/main" val="778957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79A26-2032-87FA-8676-708D8238D5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1" y="0"/>
            <a:ext cx="6172199" cy="6858000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b="1" dirty="0">
                <a:effectLst/>
              </a:rPr>
              <a:t>Browser Interacts With the Servers</a:t>
            </a:r>
          </a:p>
          <a:p>
            <a:pPr rtl="0"/>
            <a:r>
              <a:rPr lang="en-US" dirty="0"/>
              <a:t>The process of interacting with servers through a browser involves several steps:</a:t>
            </a:r>
          </a:p>
          <a:p>
            <a:pPr rtl="0"/>
            <a:r>
              <a:rPr lang="en-US" b="1" dirty="0"/>
              <a:t>1. User Enters the URL (Uniform Resource Locator): </a:t>
            </a:r>
            <a:br>
              <a:rPr lang="en-US" dirty="0"/>
            </a:br>
            <a:r>
              <a:rPr lang="en-US" dirty="0"/>
              <a:t>The user types a website address (e.g., www.example.com) into the browser's address bar.</a:t>
            </a:r>
          </a:p>
          <a:p>
            <a:pPr rtl="0"/>
            <a:r>
              <a:rPr lang="en-US" b="1" dirty="0"/>
              <a:t>2. DNS (Domain Name System) Lookup: </a:t>
            </a:r>
            <a:br>
              <a:rPr lang="en-US" dirty="0"/>
            </a:br>
            <a:r>
              <a:rPr lang="en-US" dirty="0"/>
              <a:t>The browser contacts a DNS server to convert the domain into an IP address.</a:t>
            </a:r>
          </a:p>
          <a:p>
            <a:pPr rtl="0"/>
            <a:r>
              <a:rPr lang="en-US" b="1" dirty="0"/>
              <a:t>3. Establishing a Connection:</a:t>
            </a:r>
            <a:br>
              <a:rPr lang="en-US" dirty="0"/>
            </a:br>
            <a:r>
              <a:rPr lang="en-US" dirty="0"/>
              <a:t>The browser sends an HTTP/HTTPS request to the server using the resolved IP address.</a:t>
            </a:r>
          </a:p>
          <a:p>
            <a:pPr rtl="0"/>
            <a:r>
              <a:rPr lang="en-US" b="1" dirty="0"/>
              <a:t>4. Server Responds:</a:t>
            </a:r>
            <a:br>
              <a:rPr lang="en-US" dirty="0"/>
            </a:br>
            <a:r>
              <a:rPr lang="en-US" dirty="0"/>
              <a:t>The server sends back website files (HTML, CSS, JavaScript, images).</a:t>
            </a:r>
          </a:p>
          <a:p>
            <a:pPr rtl="0"/>
            <a:r>
              <a:rPr lang="en-US" b="1" dirty="0"/>
              <a:t>5. Browser Renders the Webpage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DOM interpreter:</a:t>
            </a:r>
            <a:r>
              <a:rPr lang="en-US" dirty="0"/>
              <a:t> Processes HTML to structure the page.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CSS interpreter: </a:t>
            </a:r>
            <a:r>
              <a:rPr lang="en-US" dirty="0"/>
              <a:t>Applies styles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JavaScript Engine:</a:t>
            </a:r>
            <a:r>
              <a:rPr lang="en-US" dirty="0"/>
              <a:t> Adds interactivity (using JIT compilation for performance).</a:t>
            </a:r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EAA1CA7-5CA0-2904-9BFE-D68C3496A3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199" y="596349"/>
            <a:ext cx="5910469" cy="5774634"/>
          </a:xfrm>
        </p:spPr>
      </p:pic>
    </p:spTree>
    <p:extLst>
      <p:ext uri="{BB962C8B-B14F-4D97-AF65-F5344CB8AC3E}">
        <p14:creationId xmlns:p14="http://schemas.microsoft.com/office/powerpoint/2010/main" val="2985460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9417AA-3EDD-C29A-E13D-905B4DEB9D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188" y="337930"/>
            <a:ext cx="12032812" cy="6003235"/>
          </a:xfrm>
        </p:spPr>
      </p:pic>
    </p:spTree>
    <p:extLst>
      <p:ext uri="{BB962C8B-B14F-4D97-AF65-F5344CB8AC3E}">
        <p14:creationId xmlns:p14="http://schemas.microsoft.com/office/powerpoint/2010/main" val="3885897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805AB-2044-7918-03F3-9455B9000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1353800" cy="676854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1" dirty="0">
                <a:effectLst/>
              </a:rPr>
              <a:t>Advantages of the Client-Server Model</a:t>
            </a:r>
          </a:p>
          <a:p>
            <a:pPr marL="0" indent="0" algn="l">
              <a:buNone/>
            </a:pPr>
            <a:endParaRPr lang="en-US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Centralized Data Management: Easy to maintain and back up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Cost Efficiency: Clients require less processing power.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Scalability: Servers and clients can scale independently.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Security: Centralized security policies and authentication.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Recovery: Easier backup and restore from a single source.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919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3DAD1-F089-F6E6-BC64-8EB4F96DB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12192001" cy="6748670"/>
          </a:xfrm>
        </p:spPr>
        <p:txBody>
          <a:bodyPr/>
          <a:lstStyle/>
          <a:p>
            <a:pPr algn="l"/>
            <a:r>
              <a:rPr lang="en-US" b="1" dirty="0">
                <a:effectLst/>
              </a:rPr>
              <a:t>Disadvantages of Client-Server Model</a:t>
            </a:r>
          </a:p>
          <a:p>
            <a:pPr algn="l"/>
            <a:endParaRPr lang="en-US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Client Vulnerability: Risk of malware if servers distribute unsafe files.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Server as a Target: Susceptible to DDoS (Denial of Service) attacks.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Spoofing: Unprotected data can be tampered with in transit.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MITM Attacks: Unsecured connections can be intercepted by attackers.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807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ngestion Control techniques in ...">
            <a:extLst>
              <a:ext uri="{FF2B5EF4-FFF2-40B4-BE49-F238E27FC236}">
                <a16:creationId xmlns:a16="http://schemas.microsoft.com/office/drawing/2014/main" id="{8AD9404F-8D49-D052-8A55-B0011B27852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9043" y="854765"/>
            <a:ext cx="8994914" cy="4909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4629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gestion Control Techniques ...">
            <a:extLst>
              <a:ext uri="{FF2B5EF4-FFF2-40B4-BE49-F238E27FC236}">
                <a16:creationId xmlns:a16="http://schemas.microsoft.com/office/drawing/2014/main" id="{C8E25E13-6441-1172-46AB-5458F300BF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04" y="983974"/>
            <a:ext cx="10684565" cy="5208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216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03BCE-0ACD-BA09-AE38-34A88AD76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58FB5-486B-639A-F4C6-5965281A9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29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855</Words>
  <Application>Microsoft Office PowerPoint</Application>
  <PresentationFormat>Widescreen</PresentationFormat>
  <Paragraphs>101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Unit 7 </vt:lpstr>
      <vt:lpstr>PowerPoint Presentation</vt:lpstr>
      <vt:lpstr>Transport Layer in OSI Model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7 </dc:title>
  <dc:creator>Dell</dc:creator>
  <cp:lastModifiedBy>Dell</cp:lastModifiedBy>
  <cp:revision>8</cp:revision>
  <dcterms:created xsi:type="dcterms:W3CDTF">2026-01-25T12:12:36Z</dcterms:created>
  <dcterms:modified xsi:type="dcterms:W3CDTF">2026-01-29T05:51:00Z</dcterms:modified>
</cp:coreProperties>
</file>