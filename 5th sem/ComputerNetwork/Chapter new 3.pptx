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slide38.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D666C9E-0D56-4F6A-9694-980FD417A5A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7285CE24-A584-4B76-AB29-554C148D9D01}"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3E4D988-8082-46BC-8ED7-BCC6F870DD13}"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52BD5D0-94D8-4515-AEDF-F4A4CAAB188A}"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ection Header">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83808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 name="PlaceHolder 3"/>
          <p:cNvSpPr>
            <a:spLocks noGrp="1"/>
          </p:cNvSpPr>
          <p:nvPr>
            <p:ph/>
          </p:nvPr>
        </p:nvSpPr>
        <p:spPr>
          <a:xfrm>
            <a:off x="622620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F183F953-76AA-438A-8C23-528B67850A02}"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83808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622620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ED741ECC-D908-4D40-8540-75770296344F}"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C86239BE-8F22-4C26-8264-24BCA5BD0204}" type="slidenum">
              <a:t>&lt;#&gt;</a:t>
            </a:fld>
          </a:p>
        </p:txBody>
      </p:sp>
      <p:sp>
        <p:nvSpPr>
          <p:cNvPr id="4" name="PlaceHolder 3"/>
          <p:cNvSpPr>
            <a:spLocks noGrp="1"/>
          </p:cNvSpPr>
          <p:nvPr>
            <p:ph type="dt" idx="2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551C80D-BD8F-4EA0-984D-2341028F381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body"/>
          </p:nvPr>
        </p:nvSpPr>
        <p:spPr>
          <a:xfrm>
            <a:off x="838080" y="1825560"/>
            <a:ext cx="10514520" cy="435024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 name="PlaceHolder 3"/>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4"/>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7035AA31-FCF1-42BB-8E96-70FA69F5B72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5"/>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4520" cy="1324440"/>
          </a:xfrm>
          <a:prstGeom prst="rect">
            <a:avLst/>
          </a:prstGeom>
          <a:noFill/>
          <a:ln w="0">
            <a:noFill/>
          </a:ln>
        </p:spPr>
        <p:txBody>
          <a:bodyPr lIns="0" rIns="0" tIns="0" bIns="0" anchor="ctr" vert="eaVert">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838080" y="1825560"/>
            <a:ext cx="10514520" cy="435024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4"/>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D4B8479E-9804-4122-8225-DE341C4D3C6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8" name="PlaceHolder 5"/>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 name="PlaceHolder 3"/>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4"/>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48ED7016-332F-4126-9B3B-EF383467928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5" name="PlaceHolder 5"/>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 name="PlaceHolder 2"/>
          <p:cNvSpPr>
            <a:spLocks noGrp="1"/>
          </p:cNvSpPr>
          <p:nvPr>
            <p:ph type="body"/>
          </p:nvPr>
        </p:nvSpPr>
        <p:spPr>
          <a:xfrm>
            <a:off x="83808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3"/>
          <p:cNvSpPr>
            <a:spLocks noGrp="1"/>
          </p:cNvSpPr>
          <p:nvPr>
            <p:ph type="body"/>
          </p:nvPr>
        </p:nvSpPr>
        <p:spPr>
          <a:xfrm>
            <a:off x="622620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 name="PlaceHolder 4"/>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5"/>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D373EBCB-8224-4128-844A-2A31BFC591F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6"/>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 name="PlaceHolder 2"/>
          <p:cNvSpPr>
            <a:spLocks noGrp="1"/>
          </p:cNvSpPr>
          <p:nvPr>
            <p:ph type="body"/>
          </p:nvPr>
        </p:nvSpPr>
        <p:spPr>
          <a:xfrm>
            <a:off x="83808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3"/>
          <p:cNvSpPr>
            <a:spLocks noGrp="1"/>
          </p:cNvSpPr>
          <p:nvPr>
            <p:ph type="body"/>
          </p:nvPr>
        </p:nvSpPr>
        <p:spPr>
          <a:xfrm>
            <a:off x="622620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4"/>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5"/>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8C8EFF42-6580-4D46-8E92-034BAB4B868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2" name="PlaceHolder 6"/>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1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 name="PlaceHolder 2"/>
          <p:cNvSpPr>
            <a:spLocks noGrp="1"/>
          </p:cNvSpPr>
          <p:nvPr>
            <p:ph type="sldNum" idx="20"/>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59413C8-2AC5-4764-AADB-936D0B60369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8" name="PlaceHolder 3"/>
          <p:cNvSpPr>
            <a:spLocks noGrp="1"/>
          </p:cNvSpPr>
          <p:nvPr>
            <p:ph type="dt" idx="21"/>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9"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hyperlink" Target="https://www.cloudflare.com/learning/network-layer/what-is-a-protocol/" TargetMode="External"/><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hyperlink" Target="https://www.simplilearn.com/understanding-ipsec-rar38-article" TargetMode="External"/><Relationship Id="rId2" Type="http://schemas.openxmlformats.org/officeDocument/2006/relationships/hyperlink" Target="https://www.simplilearn.com/tutorials/cyber-security-tutorial/what-is-an-ip-address" TargetMode="External"/><Relationship Id="rId3"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hyperlink" Target="https://en.wikipedia.org/wiki/Implementation" TargetMode="External"/><Relationship Id="rId2" Type="http://schemas.openxmlformats.org/officeDocument/2006/relationships/hyperlink" Target="https://en.wikipedia.org/wiki/Computer_network" TargetMode="External"/><Relationship Id="rId3"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xml"/>
</Relationships>
</file>

<file path=ppt/slides/_rels/slide34.xml.rels><?xml version="1.0" encoding="UTF-8"?>
<Relationships xmlns="http://schemas.openxmlformats.org/package/2006/relationships"><Relationship Id="rId1" Type="http://schemas.openxmlformats.org/officeDocument/2006/relationships/hyperlink" Target="https://www.geeksforgeeks.org/computer-networks/architecture-of-software-defined-networks-sdn/" TargetMode="External"/><Relationship Id="rId2"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hyperlink" Target="https://www.geeksforgeeks.org/ethical-hacking/intrusion-detection-system-ids/" TargetMode="External"/><Relationship Id="rId2" Type="http://schemas.openxmlformats.org/officeDocument/2006/relationships/hyperlink" Target="https://www.geeksforgeeks.org/computer-networks/introduction-of-firewall-in-computer-network/" TargetMode="External"/><Relationship Id="rId3" Type="http://schemas.openxmlformats.org/officeDocument/2006/relationships/hyperlink" Target="https://www.geeksforgeeks.org/dsa/load-balancing-on-servers-random-algorithm/" TargetMode="External"/><Relationship Id="rId4" Type="http://schemas.openxmlformats.org/officeDocument/2006/relationships/image" Target="../media/image7.png"/><Relationship Id="rId5"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hyperlink" Target="https://www.geeksforgeeks.org/computer-networks/multicasting-in-computer-network/" TargetMode="External"/><Relationship Id="rId2"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hyperlink" Target="https://www.geeksforgeeks.org/computer-networks/what-does-a-network-administrator-do/" TargetMode="External"/><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0" y="2048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chemeClr val="dk1"/>
                </a:solidFill>
                <a:latin typeface="Calibri Light"/>
              </a:rPr>
              <a:t>Unit 3: Reference Model (6 Hours)</a:t>
            </a:r>
            <a:br>
              <a:rPr sz="4400"/>
            </a:br>
            <a:endParaRPr b="0" lang="en-US" sz="4400" spc="-1" strike="noStrike">
              <a:solidFill>
                <a:srgbClr val="000000"/>
              </a:solidFill>
              <a:latin typeface="Arial"/>
            </a:endParaRPr>
          </a:p>
        </p:txBody>
      </p:sp>
      <p:sp>
        <p:nvSpPr>
          <p:cNvPr id="52" name="PlaceHolder 2"/>
          <p:cNvSpPr>
            <a:spLocks noGrp="1"/>
          </p:cNvSpPr>
          <p:nvPr>
            <p:ph/>
          </p:nvPr>
        </p:nvSpPr>
        <p:spPr>
          <a:xfrm>
            <a:off x="838080" y="1825560"/>
            <a:ext cx="10514520" cy="435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3.1 Protocol and Protocol Layers, Architecture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3.2 OSI Reference Model and functions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3.3 TCP/IP Protocol,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3.4 Cross layers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3.5 Devices different layers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3.6 Software defined networks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p:nvPr>
        </p:nvSpPr>
        <p:spPr>
          <a:xfrm>
            <a:off x="84960" y="763560"/>
            <a:ext cx="11735280" cy="5919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4400" spc="-1" strike="noStrike">
              <a:solidFill>
                <a:srgbClr val="000000"/>
              </a:solidFill>
              <a:latin typeface="Arial"/>
            </a:endParaRPr>
          </a:p>
          <a:p>
            <a:pPr indent="0" defTabSz="914400">
              <a:lnSpc>
                <a:spcPct val="90000"/>
              </a:lnSpc>
              <a:spcBef>
                <a:spcPts val="1001"/>
              </a:spcBef>
              <a:buNone/>
              <a:tabLst>
                <a:tab algn="l" pos="0"/>
              </a:tabLst>
            </a:pPr>
            <a:endParaRPr b="0" lang="en-US" sz="4400" spc="-1" strike="noStrike">
              <a:solidFill>
                <a:srgbClr val="000000"/>
              </a:solidFill>
              <a:latin typeface="Arial"/>
            </a:endParaRPr>
          </a:p>
          <a:p>
            <a:pPr indent="0" defTabSz="914400">
              <a:lnSpc>
                <a:spcPct val="90000"/>
              </a:lnSpc>
              <a:spcBef>
                <a:spcPts val="1001"/>
              </a:spcBef>
              <a:buNone/>
              <a:tabLst>
                <a:tab algn="l" pos="0"/>
              </a:tabLst>
            </a:pPr>
            <a:endParaRPr b="0" lang="en-US" sz="4400" spc="-1" strike="noStrike">
              <a:solidFill>
                <a:srgbClr val="000000"/>
              </a:solidFill>
              <a:latin typeface="Arial"/>
            </a:endParaRPr>
          </a:p>
          <a:p>
            <a:pPr indent="0" defTabSz="914400">
              <a:lnSpc>
                <a:spcPct val="90000"/>
              </a:lnSpc>
              <a:spcBef>
                <a:spcPts val="1001"/>
              </a:spcBef>
              <a:buNone/>
              <a:tabLst>
                <a:tab algn="l" pos="0"/>
              </a:tabLst>
            </a:pPr>
            <a:r>
              <a:rPr b="1" lang="en-US" sz="4400" spc="-1" strike="noStrike">
                <a:solidFill>
                  <a:schemeClr val="dk1"/>
                </a:solidFill>
                <a:latin typeface="Calibri"/>
              </a:rPr>
              <a:t>3.1 Protocol and Protocol Layers, Architecture</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0" y="0"/>
            <a:ext cx="12191040" cy="105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Layers Architecture</a:t>
            </a:r>
            <a:endParaRPr b="0" lang="en-US" sz="4400" spc="-1" strike="noStrike">
              <a:solidFill>
                <a:srgbClr val="000000"/>
              </a:solidFill>
              <a:latin typeface="Arial"/>
            </a:endParaRPr>
          </a:p>
        </p:txBody>
      </p:sp>
      <p:sp>
        <p:nvSpPr>
          <p:cNvPr id="55" name="PlaceHolder 2"/>
          <p:cNvSpPr>
            <a:spLocks noGrp="1"/>
          </p:cNvSpPr>
          <p:nvPr>
            <p:ph/>
          </p:nvPr>
        </p:nvSpPr>
        <p:spPr>
          <a:xfrm>
            <a:off x="0" y="1441080"/>
            <a:ext cx="12191040" cy="54158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Layered architecture in computer networks refers to dividing a network's functioning into different layers, each responsible for a certain communication component.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 major goal of this layered architecture is to separate the complex network communication process into manageable, smaller activities that can be better developed.</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p:nvPr>
        </p:nvSpPr>
        <p:spPr>
          <a:xfrm>
            <a:off x="79560" y="0"/>
            <a:ext cx="7413480" cy="6856920"/>
          </a:xfrm>
          <a:prstGeom prst="rect">
            <a:avLst/>
          </a:prstGeom>
          <a:noFill/>
          <a:ln w="0">
            <a:noFill/>
          </a:ln>
        </p:spPr>
        <p:txBody>
          <a:bodyPr lIns="91440" rIns="91440" tIns="45720" bIns="45720" anchor="t">
            <a:normAutofit fontScale="96666"/>
          </a:bodyPr>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Every network consists of a specific number of functions, layers, and tasks to perform.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Layered Architecture in a computer network is defined as a model where a whole network process is divided into various smaller sub-tasks.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These divided sub-tasks are then assigned to a specific layer to perform only the dedicated tasks.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A single layer performs only a specific type of task.</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To run the application and provide all types of services to clients a lower layer adds its services to the higher layer present above it.</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Therefore layered architecture provides interactions between the sub-systems.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If any type of modification is done in one layer it does not affect the next layer.</a:t>
            </a:r>
            <a:endParaRPr b="0" lang="en-US" sz="2800" spc="-1" strike="noStrike">
              <a:solidFill>
                <a:srgbClr val="000000"/>
              </a:solidFill>
              <a:latin typeface="Arial"/>
            </a:endParaRPr>
          </a:p>
        </p:txBody>
      </p:sp>
      <p:pic>
        <p:nvPicPr>
          <p:cNvPr id="57" name="Content Placeholder 7" descr=""/>
          <p:cNvPicPr/>
          <p:nvPr/>
        </p:nvPicPr>
        <p:blipFill>
          <a:blip r:embed="rId1"/>
          <a:stretch/>
        </p:blipFill>
        <p:spPr>
          <a:xfrm>
            <a:off x="7643160" y="566640"/>
            <a:ext cx="4328640" cy="54802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0" y="0"/>
            <a:ext cx="12191040" cy="585360"/>
          </a:xfrm>
          <a:prstGeom prst="rect">
            <a:avLst/>
          </a:prstGeom>
          <a:noFill/>
          <a:ln w="0">
            <a:noFill/>
          </a:ln>
        </p:spPr>
        <p:txBody>
          <a:bodyPr lIns="91440" rIns="91440" tIns="45720" bIns="45720" anchor="ctr">
            <a:normAutofit fontScale="27777"/>
          </a:bodyPr>
          <a:p>
            <a:pPr indent="0" defTabSz="914400">
              <a:lnSpc>
                <a:spcPct val="90000"/>
              </a:lnSpc>
              <a:buNone/>
              <a:tabLst>
                <a:tab algn="l" pos="0"/>
              </a:tabLst>
            </a:pPr>
            <a:br>
              <a:rPr sz="4400"/>
            </a:br>
            <a:r>
              <a:rPr b="1" lang="en-US" sz="4400" spc="-1" strike="noStrike">
                <a:solidFill>
                  <a:schemeClr val="dk1"/>
                </a:solidFill>
                <a:latin typeface="Calibri Light"/>
              </a:rPr>
              <a:t>Features of Layered Architecture</a:t>
            </a:r>
            <a:br>
              <a:rPr sz="4400"/>
            </a:br>
            <a:endParaRPr b="0" lang="en-US" sz="4400" spc="-1" strike="noStrike">
              <a:solidFill>
                <a:srgbClr val="000000"/>
              </a:solidFill>
              <a:latin typeface="Arial"/>
            </a:endParaRPr>
          </a:p>
        </p:txBody>
      </p:sp>
      <p:sp>
        <p:nvSpPr>
          <p:cNvPr id="59" name="PlaceHolder 2"/>
          <p:cNvSpPr>
            <a:spLocks noGrp="1"/>
          </p:cNvSpPr>
          <p:nvPr>
            <p:ph/>
          </p:nvPr>
        </p:nvSpPr>
        <p:spPr>
          <a:xfrm>
            <a:off x="0" y="884520"/>
            <a:ext cx="12191040" cy="59724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 of Layered architecture in computer network provides with the feature of modularity and distinct interfaces.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Layered architecture ensures independence between layers, by offering services to higher layers from the lower layers and without specifying how these services are implemented.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Layered architecture segments as larger and unmanageable design into small sub tasks.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layer architecture every network has different number of functions, layers and content.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layered architecture, the physical route provides with communication which is available under the layer 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layered architecture, the implementation done by one layer can be modified by another layer.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0" y="0"/>
            <a:ext cx="12191040" cy="933120"/>
          </a:xfrm>
          <a:prstGeom prst="rect">
            <a:avLst/>
          </a:prstGeom>
          <a:noFill/>
          <a:ln w="0">
            <a:noFill/>
          </a:ln>
        </p:spPr>
        <p:txBody>
          <a:bodyPr lIns="91440" rIns="91440" tIns="45720" bIns="45720" anchor="ctr">
            <a:normAutofit fontScale="44999"/>
          </a:bodyPr>
          <a:p>
            <a:pPr indent="0" defTabSz="914400">
              <a:lnSpc>
                <a:spcPct val="90000"/>
              </a:lnSpc>
              <a:buNone/>
              <a:tabLst>
                <a:tab algn="l" pos="0"/>
              </a:tabLst>
            </a:pPr>
            <a:br>
              <a:rPr sz="4400"/>
            </a:br>
            <a:r>
              <a:rPr b="1" lang="en-US" sz="4400" spc="-1" strike="noStrike">
                <a:solidFill>
                  <a:schemeClr val="dk1"/>
                </a:solidFill>
                <a:latin typeface="Calibri Light"/>
              </a:rPr>
              <a:t>Evolution of Layered Architecture</a:t>
            </a:r>
            <a:br>
              <a:rPr sz="4400"/>
            </a:br>
            <a:endParaRPr b="0" lang="en-US" sz="4400" spc="-1" strike="noStrike">
              <a:solidFill>
                <a:srgbClr val="000000"/>
              </a:solidFill>
              <a:latin typeface="Arial"/>
            </a:endParaRPr>
          </a:p>
        </p:txBody>
      </p:sp>
      <p:sp>
        <p:nvSpPr>
          <p:cNvPr id="61" name="PlaceHolder 2"/>
          <p:cNvSpPr>
            <a:spLocks noGrp="1"/>
          </p:cNvSpPr>
          <p:nvPr>
            <p:ph/>
          </p:nvPr>
        </p:nvSpPr>
        <p:spPr>
          <a:xfrm>
            <a:off x="0" y="1033560"/>
            <a:ext cx="12065040" cy="5694120"/>
          </a:xfrm>
          <a:prstGeom prst="rect">
            <a:avLst/>
          </a:prstGeom>
          <a:noFill/>
          <a:ln w="0">
            <a:noFill/>
          </a:ln>
        </p:spPr>
        <p:txBody>
          <a:bodyPr lIns="91440" rIns="91440" tIns="45720" bIns="45720" anchor="t">
            <a:noAutofit/>
          </a:bodyPr>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In computer networks, layered architecture is majorly used for communication.</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 two network models that makes use of layered architecture are:</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OSI Model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TCP/IP Model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p:nvPr>
        </p:nvSpPr>
        <p:spPr>
          <a:xfrm>
            <a:off x="0" y="0"/>
            <a:ext cx="12191040" cy="6856920"/>
          </a:xfrm>
          <a:prstGeom prst="rect">
            <a:avLst/>
          </a:prstGeom>
          <a:noFill/>
          <a:ln w="0">
            <a:noFill/>
          </a:ln>
        </p:spPr>
        <p:txBody>
          <a:bodyPr lIns="91440" rIns="91440" tIns="45720" bIns="45720" anchor="t">
            <a:normAutofit fontScale="75000" lnSpcReduction="20000"/>
          </a:bodyPr>
          <a:p>
            <a:pPr indent="0" defTabSz="914400">
              <a:lnSpc>
                <a:spcPct val="90000"/>
              </a:lnSpc>
              <a:spcBef>
                <a:spcPts val="1001"/>
              </a:spcBef>
              <a:buNone/>
              <a:tabLst>
                <a:tab algn="l" pos="0"/>
              </a:tabLst>
            </a:pPr>
            <a:r>
              <a:rPr b="1" lang="en-US" sz="4100" spc="-1" strike="noStrike">
                <a:solidFill>
                  <a:schemeClr val="dk1"/>
                </a:solidFill>
                <a:latin typeface="Calibri"/>
              </a:rPr>
              <a:t>3.2 OSI Reference Model and functions</a:t>
            </a:r>
            <a:endParaRPr b="0" lang="en-US" sz="41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The open systems interconnection (OSI) model is a conceptual model created by the International Organization for Standardization which enables diverse communication systems to communicate using standard </a:t>
            </a:r>
            <a:r>
              <a:rPr b="0" lang="en-US" sz="2800" spc="-1" strike="noStrike" u="sng">
                <a:solidFill>
                  <a:schemeClr val="dk1"/>
                </a:solidFill>
                <a:uFillTx/>
                <a:latin typeface="Times New Roman"/>
                <a:hlinkClick r:id="rId1"/>
              </a:rPr>
              <a:t>protocols</a:t>
            </a:r>
            <a:r>
              <a:rPr b="0" lang="en-US" sz="2800" spc="-1" strike="noStrike">
                <a:solidFill>
                  <a:schemeClr val="dk1"/>
                </a:solidFill>
                <a:latin typeface="Times New Roman"/>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 </a:t>
            </a:r>
            <a:r>
              <a:rPr b="0" lang="en-US" sz="2800" spc="-1" strike="noStrike">
                <a:solidFill>
                  <a:schemeClr val="dk1"/>
                </a:solidFill>
                <a:latin typeface="Times New Roman"/>
              </a:rPr>
              <a:t>It is a 7-layer architecture with each layer having specific functionality to perform.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All these 7 layers work collaboratively to transmit the data from one person to another across the globe.</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 </a:t>
            </a:r>
            <a:r>
              <a:rPr b="0" lang="en-US" sz="2800" spc="-1" strike="noStrike">
                <a:solidFill>
                  <a:schemeClr val="dk1"/>
                </a:solidFill>
                <a:latin typeface="Times New Roman"/>
              </a:rPr>
              <a:t>The OSI reference model was developed by </a:t>
            </a:r>
            <a:r>
              <a:rPr b="1" lang="en-US" sz="2800" spc="-1" strike="noStrike">
                <a:solidFill>
                  <a:schemeClr val="dk1"/>
                </a:solidFill>
                <a:latin typeface="Times New Roman"/>
              </a:rPr>
              <a:t>ISO – ‘International Organization for Standardization</a:t>
            </a:r>
            <a:r>
              <a:rPr b="0" lang="en-US" sz="2800" spc="-1" strike="noStrike">
                <a:solidFill>
                  <a:schemeClr val="dk1"/>
                </a:solidFill>
                <a:latin typeface="Times New Roman"/>
              </a:rPr>
              <a:t>‘, in the year 1984.</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The OSI model provides a </a:t>
            </a:r>
            <a:r>
              <a:rPr b="1" lang="en-US" sz="2800" spc="-1" strike="noStrike">
                <a:solidFill>
                  <a:schemeClr val="dk1"/>
                </a:solidFill>
                <a:latin typeface="Times New Roman"/>
              </a:rPr>
              <a:t>theoretical foundation</a:t>
            </a:r>
            <a:r>
              <a:rPr b="0" lang="en-US" sz="2800" spc="-1" strike="noStrike">
                <a:solidFill>
                  <a:schemeClr val="dk1"/>
                </a:solidFill>
                <a:latin typeface="Times New Roman"/>
              </a:rPr>
              <a:t> for understanding </a:t>
            </a:r>
            <a:r>
              <a:rPr b="1" lang="en-US" sz="2800" spc="-1" strike="noStrike">
                <a:solidFill>
                  <a:schemeClr val="dk1"/>
                </a:solidFill>
                <a:latin typeface="Times New Roman"/>
              </a:rPr>
              <a:t>network communication</a:t>
            </a:r>
            <a:r>
              <a:rPr b="0" lang="en-US" sz="2800" spc="-1" strike="noStrike">
                <a:solidFill>
                  <a:schemeClr val="dk1"/>
                </a:solidFill>
                <a:latin typeface="Times New Roman"/>
              </a:rPr>
              <a:t>.</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 </a:t>
            </a:r>
            <a:r>
              <a:rPr b="0" lang="en-US" sz="2800" spc="-1" strike="noStrike">
                <a:solidFill>
                  <a:schemeClr val="dk1"/>
                </a:solidFill>
                <a:latin typeface="Times New Roman"/>
              </a:rPr>
              <a:t>However, it is usually not directly implemented in its entirety in real-world </a:t>
            </a:r>
            <a:r>
              <a:rPr b="1" lang="en-US" sz="2800" spc="-1" strike="noStrike">
                <a:solidFill>
                  <a:schemeClr val="dk1"/>
                </a:solidFill>
                <a:latin typeface="Times New Roman"/>
              </a:rPr>
              <a:t>networking hardware</a:t>
            </a:r>
            <a:r>
              <a:rPr b="0" lang="en-US" sz="2800" spc="-1" strike="noStrike">
                <a:solidFill>
                  <a:schemeClr val="dk1"/>
                </a:solidFill>
                <a:latin typeface="Times New Roman"/>
              </a:rPr>
              <a:t> or </a:t>
            </a:r>
            <a:r>
              <a:rPr b="1" lang="en-US" sz="2800" spc="-1" strike="noStrike">
                <a:solidFill>
                  <a:schemeClr val="dk1"/>
                </a:solidFill>
                <a:latin typeface="Times New Roman"/>
              </a:rPr>
              <a:t>software.</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 </a:t>
            </a:r>
            <a:r>
              <a:rPr b="0" lang="en-US" sz="2800" spc="-1" strike="noStrike">
                <a:solidFill>
                  <a:schemeClr val="dk1"/>
                </a:solidFill>
                <a:latin typeface="Times New Roman"/>
              </a:rPr>
              <a:t>Instead, </a:t>
            </a:r>
            <a:r>
              <a:rPr b="1" lang="en-US" sz="2800" spc="-1" strike="noStrike">
                <a:solidFill>
                  <a:schemeClr val="dk1"/>
                </a:solidFill>
                <a:latin typeface="Times New Roman"/>
              </a:rPr>
              <a:t>specific protocols</a:t>
            </a:r>
            <a:r>
              <a:rPr b="0" lang="en-US" sz="2800" spc="-1" strike="noStrike">
                <a:solidFill>
                  <a:schemeClr val="dk1"/>
                </a:solidFill>
                <a:latin typeface="Times New Roman"/>
              </a:rPr>
              <a:t> and </a:t>
            </a:r>
            <a:r>
              <a:rPr b="1" lang="en-US" sz="2800" spc="-1" strike="noStrike">
                <a:solidFill>
                  <a:schemeClr val="dk1"/>
                </a:solidFill>
                <a:latin typeface="Times New Roman"/>
              </a:rPr>
              <a:t>technologies </a:t>
            </a:r>
            <a:r>
              <a:rPr b="0" lang="en-US" sz="2800" spc="-1" strike="noStrike">
                <a:solidFill>
                  <a:schemeClr val="dk1"/>
                </a:solidFill>
                <a:latin typeface="Times New Roman"/>
              </a:rPr>
              <a:t>are often designed based on the principles outlined in the </a:t>
            </a:r>
            <a:r>
              <a:rPr b="1" lang="en-US" sz="2800" spc="-1" strike="noStrike">
                <a:solidFill>
                  <a:schemeClr val="dk1"/>
                </a:solidFill>
                <a:latin typeface="Times New Roman"/>
              </a:rPr>
              <a:t>OSI model</a:t>
            </a:r>
            <a:r>
              <a:rPr b="0" lang="en-US" sz="2800" spc="-1" strike="noStrike">
                <a:solidFill>
                  <a:schemeClr val="dk1"/>
                </a:solidFill>
                <a:latin typeface="Times New Roman"/>
              </a:rPr>
              <a:t> to facilitate efficient data transmission and networking operations.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The OSI Model can be seen as a universal language for computer networking.</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Content Placeholder 4" descr=""/>
          <p:cNvPicPr/>
          <p:nvPr/>
        </p:nvPicPr>
        <p:blipFill>
          <a:blip r:embed="rId1"/>
          <a:stretch/>
        </p:blipFill>
        <p:spPr>
          <a:xfrm>
            <a:off x="838080" y="542880"/>
            <a:ext cx="10523880" cy="61617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Content Placeholder 4" descr=""/>
          <p:cNvPicPr/>
          <p:nvPr/>
        </p:nvPicPr>
        <p:blipFill>
          <a:blip r:embed="rId1"/>
          <a:stretch/>
        </p:blipFill>
        <p:spPr>
          <a:xfrm>
            <a:off x="963000" y="914400"/>
            <a:ext cx="10009800" cy="5652000"/>
          </a:xfrm>
          <a:prstGeom prst="rect">
            <a:avLst/>
          </a:prstGeom>
          <a:ln w="0">
            <a:noFill/>
          </a:ln>
        </p:spPr>
      </p:pic>
      <p:sp>
        <p:nvSpPr>
          <p:cNvPr id="65" name=""/>
          <p:cNvSpPr/>
          <p:nvPr/>
        </p:nvSpPr>
        <p:spPr>
          <a:xfrm>
            <a:off x="6400800" y="3657600"/>
            <a:ext cx="1142280" cy="45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packet</a:t>
            </a:r>
            <a:endParaRPr b="0" lang="en-US" sz="1800" spc="-1" strike="noStrike">
              <a:solidFill>
                <a:srgbClr val="000000"/>
              </a:solidFill>
              <a:latin typeface="Arial"/>
            </a:endParaRPr>
          </a:p>
        </p:txBody>
      </p:sp>
      <p:sp>
        <p:nvSpPr>
          <p:cNvPr id="66" name=""/>
          <p:cNvSpPr/>
          <p:nvPr/>
        </p:nvSpPr>
        <p:spPr>
          <a:xfrm>
            <a:off x="6172200" y="4343400"/>
            <a:ext cx="1142280" cy="45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message</a:t>
            </a:r>
            <a:endParaRPr b="0" lang="en-US" sz="1800" spc="-1" strike="noStrike">
              <a:solidFill>
                <a:srgbClr val="000000"/>
              </a:solidFill>
              <a:latin typeface="Arial"/>
            </a:endParaRPr>
          </a:p>
        </p:txBody>
      </p:sp>
      <p:sp>
        <p:nvSpPr>
          <p:cNvPr id="67" name=""/>
          <p:cNvSpPr/>
          <p:nvPr/>
        </p:nvSpPr>
        <p:spPr>
          <a:xfrm>
            <a:off x="6172200" y="5257800"/>
            <a:ext cx="1142280" cy="45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frame</a:t>
            </a:r>
            <a:endParaRPr b="0" lang="en-US" sz="1800" spc="-1" strike="noStrike">
              <a:solidFill>
                <a:srgbClr val="000000"/>
              </a:solidFill>
              <a:latin typeface="Arial"/>
            </a:endParaRPr>
          </a:p>
        </p:txBody>
      </p:sp>
      <p:sp>
        <p:nvSpPr>
          <p:cNvPr id="68" name=""/>
          <p:cNvSpPr/>
          <p:nvPr/>
        </p:nvSpPr>
        <p:spPr>
          <a:xfrm>
            <a:off x="6172200" y="5943600"/>
            <a:ext cx="1142280" cy="45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bit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p:nvPr>
        </p:nvSpPr>
        <p:spPr>
          <a:xfrm>
            <a:off x="0" y="0"/>
            <a:ext cx="12191040" cy="6929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 </a:t>
            </a:r>
            <a:r>
              <a:rPr b="1" lang="en-US" sz="2800" spc="-1" strike="noStrike">
                <a:solidFill>
                  <a:schemeClr val="dk1"/>
                </a:solidFill>
                <a:latin typeface="Calibri"/>
              </a:rPr>
              <a:t>Layers and Functions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For the OSI model, let’s start at the top layer and work our way down.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Layer 7 (Application): Most of what the user actually interacts with is at this layer. Web browsers and other internet-connected applications (like Skype or Outlook) use Layer 7 application protocols.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Layer 6 (Presentation): This layer converts data to and from the Application layer. In other words, it translates application formatting to network formatting and vice versa. This allows the different layers to understand each other.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Layer 5 (Session): This layer establishes and terminates connections between devices. It also determines which packets belong to which text and image files.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Layer 4 (Transport): This layer coordinates data transfer between system and hosts, including error-checking and data recovery.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Layer 3 (Network): This layer determines how data is sent to the receiving device. It’s responsible for packet forwarding, routing, and addressing.</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Layer 2 (Data Link): Translates binary (or BITs) into signals and allows upper layers to access media.</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Layer 1 (Physical): Actual hardware sits at this layer. It transmits signals over media.</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TCP/IP model, sometimes referred to as a protocol stack, can be considered a condensed version of the OSI model.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273240" y="452520"/>
            <a:ext cx="11079360" cy="572328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endParaRPr b="0" lang="en-US" sz="6000" spc="-1" strike="noStrike">
              <a:solidFill>
                <a:srgbClr val="000000"/>
              </a:solidFill>
              <a:latin typeface="Arial"/>
            </a:endParaRPr>
          </a:p>
          <a:p>
            <a:pPr indent="0" algn="ctr" defTabSz="914400">
              <a:lnSpc>
                <a:spcPct val="90000"/>
              </a:lnSpc>
              <a:spcBef>
                <a:spcPts val="1001"/>
              </a:spcBef>
              <a:buNone/>
              <a:tabLst>
                <a:tab algn="l" pos="0"/>
              </a:tabLst>
            </a:pPr>
            <a:endParaRPr b="0" lang="en-US" sz="6000" spc="-1" strike="noStrike">
              <a:solidFill>
                <a:srgbClr val="000000"/>
              </a:solidFill>
              <a:latin typeface="Arial"/>
            </a:endParaRPr>
          </a:p>
          <a:p>
            <a:pPr indent="0" algn="ctr" defTabSz="914400">
              <a:lnSpc>
                <a:spcPct val="90000"/>
              </a:lnSpc>
              <a:spcBef>
                <a:spcPts val="1001"/>
              </a:spcBef>
              <a:buNone/>
              <a:tabLst>
                <a:tab algn="l" pos="0"/>
              </a:tabLst>
            </a:pPr>
            <a:r>
              <a:rPr b="1" lang="en-US" sz="6000" spc="-1" strike="noStrike">
                <a:solidFill>
                  <a:schemeClr val="dk1"/>
                </a:solidFill>
                <a:latin typeface="Calibri"/>
              </a:rPr>
              <a:t>3.3 TCP/IP Protocol</a:t>
            </a:r>
            <a:endParaRPr b="0" lang="en-US" sz="6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0" y="0"/>
            <a:ext cx="12191040" cy="68569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These layers are divided in such a way that each layer uses the output of the layer right below it, performs the allocated functions, and prepares the input for the next layer, or vice versa.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This layered architecture is called the </a:t>
            </a:r>
            <a:r>
              <a:rPr b="1" lang="en-US" sz="2800" spc="-1" strike="noStrike">
                <a:solidFill>
                  <a:schemeClr val="dk1"/>
                </a:solidFill>
                <a:latin typeface="Calibri"/>
              </a:rPr>
              <a:t>four -layer internet protocol stack</a:t>
            </a:r>
            <a:r>
              <a:rPr b="0" lang="en-US" sz="2800" spc="-1" strike="noStrike">
                <a:solidFill>
                  <a:schemeClr val="dk1"/>
                </a:solidFill>
                <a:latin typeface="Calibri"/>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There are four layers in the internet protocol stack, as shown in the table below</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73" name="Picture 8" descr=""/>
          <p:cNvPicPr/>
          <p:nvPr/>
        </p:nvPicPr>
        <p:blipFill>
          <a:blip r:embed="rId1"/>
          <a:stretch/>
        </p:blipFill>
        <p:spPr>
          <a:xfrm>
            <a:off x="603360" y="3497400"/>
            <a:ext cx="10868040" cy="31852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0" y="0"/>
            <a:ext cx="11352600" cy="68569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Application layer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As suggested by its name, the </a:t>
            </a:r>
            <a:r>
              <a:rPr b="1" lang="en-US" sz="2800" spc="-1" strike="noStrike">
                <a:solidFill>
                  <a:schemeClr val="dk1"/>
                </a:solidFill>
                <a:latin typeface="Calibri"/>
              </a:rPr>
              <a:t>application layer</a:t>
            </a:r>
            <a:r>
              <a:rPr b="0" lang="en-US" sz="2800" spc="-1" strike="noStrike">
                <a:solidFill>
                  <a:schemeClr val="dk1"/>
                </a:solidFill>
                <a:latin typeface="Calibri"/>
              </a:rPr>
              <a:t> is responsible for communication between applications running on two different end systems.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 message or data transferred from one end is readable for the corresponding application on the other end. These applications include web browsers, email clients, etc.</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At the application layer, the data being transferred is called a </a:t>
            </a:r>
            <a:r>
              <a:rPr b="0" i="1" lang="en-US" sz="2800" spc="-1" strike="noStrike">
                <a:solidFill>
                  <a:schemeClr val="dk1"/>
                </a:solidFill>
                <a:latin typeface="Calibri"/>
              </a:rPr>
              <a:t>message</a:t>
            </a:r>
            <a:r>
              <a:rPr b="0" lang="en-US" sz="2800" spc="-1" strike="noStrike">
                <a:solidFill>
                  <a:schemeClr val="dk1"/>
                </a:solidFill>
                <a:latin typeface="Calibri"/>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protocols used at the application layer include: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Hypertext Transfer Protocol (HTTP): for transferring HTML web documents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File Transfer Protocol (FTP): for transferring files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Simple Mail Transfer Protocol (SMTP): for transferring e-mail messages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Domain Name System (DNS): for translation of human-friendly domain names into IP addresses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p:nvPr>
        </p:nvSpPr>
        <p:spPr>
          <a:xfrm>
            <a:off x="0" y="0"/>
            <a:ext cx="12309480" cy="675576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lang="en-US" sz="4200" spc="-1" strike="noStrike">
                <a:solidFill>
                  <a:schemeClr val="dk1"/>
                </a:solidFill>
                <a:latin typeface="Times New Roman"/>
              </a:rPr>
              <a:t>Transport layer</a:t>
            </a:r>
            <a:endParaRPr b="0" lang="en-US" sz="42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1" lang="en-US" sz="2600" spc="-1" strike="noStrike">
                <a:solidFill>
                  <a:schemeClr val="dk1"/>
                </a:solidFill>
                <a:latin typeface="Times New Roman"/>
              </a:rPr>
              <a:t>On the sending end, the </a:t>
            </a:r>
            <a:r>
              <a:rPr b="1" lang="en-US" sz="2800" spc="-1" strike="noStrike">
                <a:solidFill>
                  <a:schemeClr val="dk1"/>
                </a:solidFill>
                <a:latin typeface="Times New Roman"/>
              </a:rPr>
              <a:t>transport layer</a:t>
            </a:r>
            <a:r>
              <a:rPr b="0" lang="en-US" sz="2800" spc="-1" strike="noStrike">
                <a:solidFill>
                  <a:schemeClr val="dk1"/>
                </a:solidFill>
                <a:latin typeface="Times New Roman"/>
              </a:rPr>
              <a:t> is responsible for collecting the application layer message from the relevant end-point and transferring it to the network layer to be communicated over the network.</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 </a:t>
            </a:r>
            <a:r>
              <a:rPr b="0" lang="en-US" sz="2800" spc="-1" strike="noStrike">
                <a:solidFill>
                  <a:schemeClr val="dk1"/>
                </a:solidFill>
                <a:latin typeface="Times New Roman"/>
              </a:rPr>
              <a:t>The receiving end collects the message from the network layer and passes it on to the relevant end-point where the application layer can access that message.</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These end-points are called </a:t>
            </a:r>
            <a:r>
              <a:rPr b="0" i="1" lang="en-US" sz="2800" spc="-1" strike="noStrike">
                <a:solidFill>
                  <a:schemeClr val="dk1"/>
                </a:solidFill>
                <a:latin typeface="Times New Roman"/>
              </a:rPr>
              <a:t>sockets</a:t>
            </a:r>
            <a:r>
              <a:rPr b="0" lang="en-US" sz="2800" spc="-1" strike="noStrike">
                <a:solidFill>
                  <a:schemeClr val="dk1"/>
                </a:solidFill>
                <a:latin typeface="Times New Roman"/>
              </a:rPr>
              <a:t>. </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transport layer uses a unique identifier called a </a:t>
            </a:r>
            <a:r>
              <a:rPr b="0" i="1" lang="en-US" sz="2800" spc="-1" strike="noStrike">
                <a:solidFill>
                  <a:schemeClr val="dk1"/>
                </a:solidFill>
                <a:latin typeface="Times New Roman"/>
              </a:rPr>
              <a:t>port number</a:t>
            </a:r>
            <a:r>
              <a:rPr b="0" lang="en-US" sz="2800" spc="-1" strike="noStrike">
                <a:solidFill>
                  <a:schemeClr val="dk1"/>
                </a:solidFill>
                <a:latin typeface="Times New Roman"/>
              </a:rPr>
              <a:t> to identify the correct socket or application.</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p:nvPr>
        </p:nvSpPr>
        <p:spPr>
          <a:xfrm>
            <a:off x="0" y="95400"/>
            <a:ext cx="12191040" cy="6761520"/>
          </a:xfrm>
          <a:prstGeom prst="rect">
            <a:avLst/>
          </a:prstGeom>
          <a:noFill/>
          <a:ln w="0">
            <a:noFill/>
          </a:ln>
        </p:spPr>
        <p:txBody>
          <a:bodyPr lIns="91440" rIns="91440" tIns="45720" bIns="45720" anchor="t">
            <a:normAutofit/>
          </a:bodyPr>
          <a:p>
            <a:pPr marL="228600" indent="-228600" defTabSz="914400">
              <a:lnSpc>
                <a:spcPct val="100000"/>
              </a:lnSpc>
              <a:buClr>
                <a:srgbClr val="000000"/>
              </a:buClr>
              <a:buFont typeface="Arial"/>
              <a:buChar char="•"/>
            </a:pPr>
            <a:r>
              <a:rPr b="0" lang="en-US" sz="2800" spc="-1" strike="noStrike">
                <a:solidFill>
                  <a:schemeClr val="dk1"/>
                </a:solidFill>
                <a:latin typeface="Times New Roman"/>
              </a:rPr>
              <a:t>The message received from the application layer might be broken into chunks at this layer.</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transport layers add a header with its own information on top of the message received from the application layer. The unit of data at the transport layer is called a </a:t>
            </a:r>
            <a:r>
              <a:rPr b="0" i="1" lang="en-US" sz="2800" spc="-1" strike="noStrike">
                <a:solidFill>
                  <a:schemeClr val="dk1"/>
                </a:solidFill>
                <a:latin typeface="Times New Roman"/>
              </a:rPr>
              <a:t>segment</a:t>
            </a:r>
            <a:r>
              <a:rPr b="0" lang="en-US" sz="2800" spc="-1" strike="noStrike">
                <a:solidFill>
                  <a:schemeClr val="dk1"/>
                </a:solidFill>
                <a:latin typeface="Times New Roman"/>
              </a:rPr>
              <a:t>.</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indent="0" defTabSz="914400">
              <a:lnSpc>
                <a:spcPct val="100000"/>
              </a:lnSpc>
              <a:buNone/>
              <a:tabLst>
                <a:tab algn="l" pos="0"/>
              </a:tabLst>
            </a:pPr>
            <a:r>
              <a:rPr b="1" lang="en-US" sz="2800" spc="-1" strike="noStrike">
                <a:solidFill>
                  <a:schemeClr val="dk1"/>
                </a:solidFill>
                <a:latin typeface="Times New Roman"/>
              </a:rPr>
              <a:t>The two important protocols used in the transport layer are:</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Transmission Control Protocol (TCP): for reliable and connection-oriented data transfer </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User Datagram Protocol (UDP): for fast, unreliable, and connection-less data transfer </a:t>
            </a:r>
            <a:endParaRPr b="0" lang="en-US" sz="2800" spc="-1" strike="noStrike">
              <a:solidFill>
                <a:srgbClr val="000000"/>
              </a:solidFill>
              <a:latin typeface="Arial"/>
            </a:endParaRPr>
          </a:p>
          <a:p>
            <a:pPr indent="0" defTabSz="914400">
              <a:lnSpc>
                <a:spcPct val="100000"/>
              </a:lnSpc>
              <a:buNone/>
              <a:tabLst>
                <a:tab algn="l" pos="0"/>
              </a:tabLst>
            </a:pPr>
            <a:r>
              <a:rPr b="1" lang="en-US" sz="2800" spc="-1" strike="noStrike">
                <a:solidFill>
                  <a:schemeClr val="dk1"/>
                </a:solidFill>
                <a:latin typeface="Times New Roman"/>
              </a:rPr>
              <a:t>Connection-oriented</a:t>
            </a:r>
            <a:r>
              <a:rPr b="0" lang="en-US" sz="2800" spc="-1" strike="noStrike">
                <a:solidFill>
                  <a:schemeClr val="dk1"/>
                </a:solidFill>
                <a:latin typeface="Times New Roman"/>
              </a:rPr>
              <a:t> means that TCP establishes the connection first and then transmits the data. On the other hand, UDP is connection-less, which means that it just sends the data without checking if it is being received or not.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p:nvPr>
        </p:nvSpPr>
        <p:spPr>
          <a:xfrm>
            <a:off x="0" y="0"/>
            <a:ext cx="12191040" cy="6856920"/>
          </a:xfrm>
          <a:prstGeom prst="rect">
            <a:avLst/>
          </a:prstGeom>
          <a:noFill/>
          <a:ln w="0">
            <a:noFill/>
          </a:ln>
        </p:spPr>
        <p:txBody>
          <a:bodyPr lIns="91440" rIns="91440" tIns="45720" bIns="45720" anchor="t">
            <a:normAutofit fontScale="96666" lnSpcReduction="10000"/>
          </a:bodyPr>
          <a:p>
            <a:pPr marL="228600" indent="-228600" defTabSz="914400">
              <a:lnSpc>
                <a:spcPct val="90000"/>
              </a:lnSpc>
              <a:spcBef>
                <a:spcPts val="1001"/>
              </a:spcBef>
              <a:buClr>
                <a:srgbClr val="000000"/>
              </a:buClr>
              <a:buFont typeface="Arial"/>
              <a:buChar char="•"/>
            </a:pPr>
            <a:r>
              <a:rPr b="1" lang="en-US" sz="3600" spc="-1" strike="noStrike">
                <a:solidFill>
                  <a:schemeClr val="dk1"/>
                </a:solidFill>
                <a:latin typeface="Calibri"/>
              </a:rPr>
              <a:t>Internet Layer</a:t>
            </a:r>
            <a:endParaRPr b="0" lang="en-US" sz="3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a:t>
            </a:r>
            <a:r>
              <a:rPr b="0" lang="en-US" sz="2800" spc="-1" strike="noStrike" u="sng">
                <a:solidFill>
                  <a:schemeClr val="dk1"/>
                </a:solidFill>
                <a:uFillTx/>
                <a:latin typeface="Calibri"/>
                <a:hlinkClick r:id="rId1"/>
              </a:rPr>
              <a:t>Internet</a:t>
            </a:r>
            <a:r>
              <a:rPr b="0" lang="en-US" sz="2800" spc="-1" strike="noStrike">
                <a:solidFill>
                  <a:schemeClr val="dk1"/>
                </a:solidFill>
                <a:latin typeface="Calibri"/>
              </a:rPr>
              <a:t> layer performs the task of controlling the transmission of the data over the network modes and enacts protocols related to the various steps related to the transmission of data over the channel, which is in the form of packets sent by the previous layer.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This layer performs many important functions in the TCP/IP model, some of which are: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OpenSymbol"/>
              <a:buAutoNum type="arabicPeriod"/>
            </a:pPr>
            <a:r>
              <a:rPr b="0" lang="en-US" sz="2800" spc="-1" strike="noStrike">
                <a:solidFill>
                  <a:schemeClr val="dk1"/>
                </a:solidFill>
                <a:latin typeface="Calibri"/>
              </a:rPr>
              <a:t>It is responsible for specifying the path that the data packets will use for transmission.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OpenSymbol"/>
              <a:buAutoNum type="arabicPeriod"/>
            </a:pPr>
            <a:r>
              <a:rPr b="0" lang="en-US" sz="2800" spc="-1" strike="noStrike">
                <a:solidFill>
                  <a:schemeClr val="dk1"/>
                </a:solidFill>
                <a:latin typeface="Calibri"/>
              </a:rPr>
              <a:t>This layer is responsible for providing </a:t>
            </a:r>
            <a:r>
              <a:rPr b="0" lang="en-US" sz="2800" spc="-1" strike="noStrike" u="sng">
                <a:solidFill>
                  <a:schemeClr val="dk1"/>
                </a:solidFill>
                <a:uFillTx/>
                <a:latin typeface="Calibri"/>
                <a:hlinkClick r:id="rId2"/>
              </a:rPr>
              <a:t>IP addresses</a:t>
            </a:r>
            <a:r>
              <a:rPr b="0" lang="en-US" sz="2800" spc="-1" strike="noStrike">
                <a:solidFill>
                  <a:schemeClr val="dk1"/>
                </a:solidFill>
                <a:latin typeface="Calibri"/>
              </a:rPr>
              <a:t> to the system for the identification matters over the network channel.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Some of the protocols applied in this layer are: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IP: This protocol assigns your device with a unique address; the IP address is also responsible for routing the data over the communication channel.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ARP: This protocol refers to the Address Resolution Protocol that is responsible for finding the physical address using the IP address.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p:nvPr>
        </p:nvSpPr>
        <p:spPr>
          <a:xfrm>
            <a:off x="-67320" y="0"/>
            <a:ext cx="12258360" cy="68569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Times New Roman"/>
              </a:rPr>
              <a:t>IPv4</a:t>
            </a:r>
            <a:r>
              <a:rPr b="0" lang="en-US" sz="2800" spc="-1" strike="noStrike">
                <a:solidFill>
                  <a:schemeClr val="dk1"/>
                </a:solidFill>
                <a:latin typeface="Times New Roman"/>
              </a:rPr>
              <a:t>: widely used protocol for communication over the internet and uses a 32-bit IP address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Times New Roman"/>
              </a:rPr>
              <a:t>IPv6</a:t>
            </a:r>
            <a:r>
              <a:rPr b="0" lang="en-US" sz="2800" spc="-1" strike="noStrike">
                <a:solidFill>
                  <a:schemeClr val="dk1"/>
                </a:solidFill>
                <a:latin typeface="Times New Roman"/>
              </a:rPr>
              <a:t>: proposed to replace IPv4 with the IP addresses of 128-bits because 32-bit IP addresses will be insufficient with the high number of computers being connected to the internet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Times New Roman"/>
              </a:rPr>
              <a:t>Another protocol used at this layer for error-reporting is the </a:t>
            </a:r>
            <a:r>
              <a:rPr b="1" lang="en-US" sz="2800" spc="-1" strike="noStrike">
                <a:solidFill>
                  <a:schemeClr val="dk1"/>
                </a:solidFill>
                <a:latin typeface="Times New Roman"/>
              </a:rPr>
              <a:t>Internet Control Message Protocol</a:t>
            </a:r>
            <a:r>
              <a:rPr b="0" lang="en-US" sz="2800" spc="-1" strike="noStrike">
                <a:solidFill>
                  <a:schemeClr val="dk1"/>
                </a:solidFill>
                <a:latin typeface="Times New Roman"/>
              </a:rPr>
              <a:t> (ICMP).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Times New Roman"/>
              </a:rPr>
              <a:t>ICMP requests the sender to resend the data if the data is not received or received in the wrong order on the other end.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Times New Roman"/>
              </a:rPr>
              <a: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Times New Roman"/>
              </a:rPr>
              <a:t>It is simply a protocol that transfers information about the data, not the data itself.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Times New Roman"/>
              </a:rPr>
              <a:t>It is different from IPv4 or IPv6 as it does not rely on TCP or UDP. It does not ensure a reliable connection before sending a message.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3600" spc="-1" strike="noStrike">
                <a:solidFill>
                  <a:schemeClr val="dk1"/>
                </a:solidFill>
                <a:latin typeface="Calibri"/>
              </a:rPr>
              <a:t>Network Access Layer</a:t>
            </a:r>
            <a:endParaRPr b="0" lang="en-US" sz="36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This layer is the combination of data-link and physical layer, where it is responsible for maintaining the task of sending and receiving data in raw bits, i.e., in binary format over the physical communication modes in the network channel.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It uses the physical address of the system for mapping the path of transmission over the network channel.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Till this point in this tutorial on what is TCP/IP model, you understood the basic idea behind the model and details about its layers, now compare the model with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lang="en-US" sz="2800" spc="-1" strike="noStrike">
                <a:solidFill>
                  <a:schemeClr val="dk1"/>
                </a:solidFill>
                <a:latin typeface="Times New Roman"/>
              </a:rPr>
              <a:t>Data Link layer</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When a packet is being transferred over the internet, several intermediate devices are between the two end systems. These devices may be routers, switches, or other computers. </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a:t>
            </a:r>
            <a:r>
              <a:rPr b="1" lang="en-US" sz="2800" spc="-1" strike="noStrike">
                <a:solidFill>
                  <a:schemeClr val="dk1"/>
                </a:solidFill>
                <a:latin typeface="Times New Roman"/>
              </a:rPr>
              <a:t>link layer</a:t>
            </a:r>
            <a:r>
              <a:rPr b="0" lang="en-US" sz="2800" spc="-1" strike="noStrike">
                <a:solidFill>
                  <a:schemeClr val="dk1"/>
                </a:solidFill>
                <a:latin typeface="Times New Roman"/>
              </a:rPr>
              <a:t> is responsible for communication between one device and its immediate neighbor.</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protocols and methods used for one link might differ from the protocol used in the next immediate link, even if the destination and data packet remain the same.</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link layer adds a header with its information on top of the packet it receives from the network layer. </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data packet at the link layer is called a </a:t>
            </a:r>
            <a:r>
              <a:rPr b="0" i="1" lang="en-US" sz="2800" spc="-1" strike="noStrike">
                <a:solidFill>
                  <a:schemeClr val="dk1"/>
                </a:solidFill>
                <a:latin typeface="Times New Roman"/>
              </a:rPr>
              <a:t>frame</a:t>
            </a:r>
            <a:r>
              <a:rPr b="0" lang="en-US" sz="2800" spc="-1" strike="noStrike">
                <a:solidFill>
                  <a:schemeClr val="dk1"/>
                </a:solidFill>
                <a:latin typeface="Times New Roman"/>
              </a:rPr>
              <a:t>.</a:t>
            </a:r>
            <a:endParaRPr b="0" lang="en-US" sz="2800" spc="-1" strike="noStrike">
              <a:solidFill>
                <a:srgbClr val="000000"/>
              </a:solidFill>
              <a:latin typeface="Arial"/>
            </a:endParaRPr>
          </a:p>
          <a:p>
            <a:pPr marL="228600" indent="-228600" defTabSz="914400">
              <a:lnSpc>
                <a:spcPct val="100000"/>
              </a:lnSpc>
              <a:buClr>
                <a:srgbClr val="000000"/>
              </a:buClr>
              <a:buFont typeface="Arial"/>
              <a:buChar char="•"/>
              <a:tabLst>
                <a:tab algn="l" pos="0"/>
              </a:tabLst>
            </a:pPr>
            <a:r>
              <a:rPr b="0" lang="en-US" sz="2800" spc="-1" strike="noStrike">
                <a:solidFill>
                  <a:schemeClr val="dk1"/>
                </a:solidFill>
                <a:latin typeface="Times New Roman"/>
              </a:rPr>
              <a:t>The link-layer is mostly implemented in the network adapter/network interface card (NIC), and technologies like ethernet, Wi-Fi, token ring, etc., are associated with the link layer.</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en-US" sz="3200" spc="-1" strike="noStrike">
                <a:solidFill>
                  <a:schemeClr val="dk1"/>
                </a:solidFill>
                <a:latin typeface="Arial"/>
              </a:rPr>
              <a:t> </a:t>
            </a:r>
            <a:r>
              <a:rPr b="1" lang="en-US" sz="3200" spc="-1" strike="noStrike">
                <a:solidFill>
                  <a:schemeClr val="dk1"/>
                </a:solidFill>
                <a:latin typeface="Arial"/>
              </a:rPr>
              <a:t>Physical layer</a:t>
            </a:r>
            <a:endParaRPr b="0" lang="en-US" sz="3200" spc="-1" strike="noStrike">
              <a:solidFill>
                <a:srgbClr val="000000"/>
              </a:solidFill>
              <a:latin typeface="Arial"/>
            </a:endParaRPr>
          </a:p>
          <a:p>
            <a:pPr indent="0" defTabSz="914400">
              <a:lnSpc>
                <a:spcPct val="100000"/>
              </a:lnSpc>
              <a:buNone/>
              <a:tabLst>
                <a:tab algn="l" pos="0"/>
              </a:tabLst>
            </a:pPr>
            <a:endParaRPr b="0" lang="en-US" sz="1050" spc="-1" strike="noStrike">
              <a:solidFill>
                <a:srgbClr val="000000"/>
              </a:solidFill>
              <a:latin typeface="Arial"/>
            </a:endParaRPr>
          </a:p>
          <a:p>
            <a:pPr indent="0" defTabSz="914400">
              <a:lnSpc>
                <a:spcPct val="100000"/>
              </a:lnSpc>
              <a:buNone/>
              <a:tabLst>
                <a:tab algn="l" pos="0"/>
              </a:tabLst>
            </a:pPr>
            <a:r>
              <a:rPr b="1" lang="en-US" sz="2800" spc="-1" strike="noStrike">
                <a:solidFill>
                  <a:schemeClr val="dk1"/>
                </a:solidFill>
                <a:latin typeface="Arial"/>
              </a:rPr>
              <a:t>physical layer</a:t>
            </a:r>
            <a:r>
              <a:rPr b="0" lang="en-US" sz="2800" spc="-1" strike="noStrike">
                <a:solidFill>
                  <a:schemeClr val="dk1"/>
                </a:solidFill>
                <a:latin typeface="Arial"/>
              </a:rPr>
              <a:t> is responsible for breaking the data frame into bits, converting it into a form that can be transmitted over the physical communication line, and transferring it. </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indent="0" defTabSz="914400">
              <a:lnSpc>
                <a:spcPct val="100000"/>
              </a:lnSpc>
              <a:buNone/>
              <a:tabLst>
                <a:tab algn="l" pos="0"/>
              </a:tabLst>
            </a:pPr>
            <a:r>
              <a:rPr b="0" lang="en-US" sz="2800" spc="-1" strike="noStrike">
                <a:solidFill>
                  <a:schemeClr val="dk1"/>
                </a:solidFill>
                <a:latin typeface="Arial"/>
              </a:rPr>
              <a:t>This form could be light pulses (fiber-optic), radio waves (for wireless communication, or electric pulses (for wired communication).</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indent="0" defTabSz="914400">
              <a:lnSpc>
                <a:spcPct val="100000"/>
              </a:lnSpc>
              <a:buNone/>
              <a:tabLst>
                <a:tab algn="l" pos="0"/>
              </a:tabLst>
            </a:pPr>
            <a:r>
              <a:rPr b="0" lang="en-US" sz="2800" spc="-1" strike="noStrike">
                <a:solidFill>
                  <a:schemeClr val="dk1"/>
                </a:solidFill>
                <a:latin typeface="Arial"/>
              </a:rPr>
              <a:t>On the receiving end, the physical layer collects the stream of bits and reassembles it into a data frame that is then passed onto the link layer for further processing.</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indent="0" defTabSz="914400">
              <a:lnSpc>
                <a:spcPct val="100000"/>
              </a:lnSpc>
              <a:buNone/>
              <a:tabLst>
                <a:tab algn="l" pos="0"/>
              </a:tabLst>
            </a:pPr>
            <a:r>
              <a:rPr b="0" lang="en-US" sz="2800" spc="-1" strike="noStrike">
                <a:solidFill>
                  <a:schemeClr val="dk1"/>
                </a:solidFill>
                <a:latin typeface="Arial"/>
              </a:rPr>
              <a:t>The protocols and rules used at this layer are dependent on the kind of communication medium being used. For example, ethernet (link layer protocol)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p:nvPr>
        </p:nvSpPr>
        <p:spPr>
          <a:xfrm>
            <a:off x="0" y="0"/>
            <a:ext cx="12191040" cy="6856920"/>
          </a:xfrm>
          <a:prstGeom prst="rect">
            <a:avLst/>
          </a:prstGeom>
          <a:noFill/>
          <a:ln w="0">
            <a:noFill/>
          </a:ln>
        </p:spPr>
        <p:txBody>
          <a:bodyPr lIns="91440" rIns="91440" tIns="45720" bIns="45720" anchor="t">
            <a:normAutofit fontScale="87222"/>
          </a:bodyPr>
          <a:p>
            <a:pPr indent="0" algn="ctr" defTabSz="914400">
              <a:lnSpc>
                <a:spcPct val="90000"/>
              </a:lnSpc>
              <a:spcBef>
                <a:spcPts val="1001"/>
              </a:spcBef>
              <a:buNone/>
              <a:tabLst>
                <a:tab algn="l" pos="0"/>
              </a:tabLst>
            </a:pPr>
            <a:r>
              <a:rPr b="1" lang="en-US" sz="3500" spc="-1" strike="noStrike">
                <a:solidFill>
                  <a:schemeClr val="dk1"/>
                </a:solidFill>
                <a:latin typeface="Calibri"/>
              </a:rPr>
              <a:t>Network Protocol Stack: </a:t>
            </a:r>
            <a:endParaRPr b="0" lang="en-US" sz="35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alibri"/>
              </a:rPr>
              <a:t>The </a:t>
            </a:r>
            <a:r>
              <a:rPr b="1" lang="en-US" sz="2800" spc="-1" strike="noStrike">
                <a:solidFill>
                  <a:schemeClr val="dk1"/>
                </a:solidFill>
                <a:latin typeface="Calibri"/>
              </a:rPr>
              <a:t>protocol stack</a:t>
            </a:r>
            <a:r>
              <a:rPr b="0" lang="en-US" sz="2800" spc="-1" strike="noStrike">
                <a:solidFill>
                  <a:schemeClr val="dk1"/>
                </a:solidFill>
                <a:latin typeface="Calibri"/>
              </a:rPr>
              <a:t> or </a:t>
            </a:r>
            <a:r>
              <a:rPr b="1" lang="en-US" sz="2800" spc="-1" strike="noStrike">
                <a:solidFill>
                  <a:schemeClr val="dk1"/>
                </a:solidFill>
                <a:latin typeface="Calibri"/>
              </a:rPr>
              <a:t>network stack</a:t>
            </a:r>
            <a:r>
              <a:rPr b="0" lang="en-US" sz="2800" spc="-1" strike="noStrike">
                <a:solidFill>
                  <a:schemeClr val="dk1"/>
                </a:solidFill>
                <a:latin typeface="Calibri"/>
              </a:rPr>
              <a:t> is an </a:t>
            </a:r>
            <a:r>
              <a:rPr b="0" lang="en-US" sz="2800" spc="-1" strike="noStrike" u="sng">
                <a:solidFill>
                  <a:schemeClr val="dk1"/>
                </a:solidFill>
                <a:uFillTx/>
                <a:latin typeface="Calibri"/>
                <a:hlinkClick r:id="rId1"/>
              </a:rPr>
              <a:t>implementation</a:t>
            </a:r>
            <a:r>
              <a:rPr b="0" lang="en-US" sz="2800" spc="-1" strike="noStrike">
                <a:solidFill>
                  <a:schemeClr val="dk1"/>
                </a:solidFill>
                <a:latin typeface="Calibri"/>
              </a:rPr>
              <a:t> of a </a:t>
            </a:r>
            <a:r>
              <a:rPr b="0" lang="en-US" sz="2800" spc="-1" strike="noStrike" u="sng">
                <a:solidFill>
                  <a:schemeClr val="dk1"/>
                </a:solidFill>
                <a:uFillTx/>
                <a:latin typeface="Calibri"/>
                <a:hlinkClick r:id="rId2"/>
              </a:rPr>
              <a:t>computer networking</a:t>
            </a:r>
            <a:r>
              <a:rPr b="0" lang="en-US" sz="2800" spc="-1" strike="noStrike">
                <a:solidFill>
                  <a:schemeClr val="dk1"/>
                </a:solidFill>
                <a:latin typeface="Calibri"/>
              </a:rPr>
              <a:t> </a:t>
            </a:r>
            <a:r>
              <a:rPr b="1" lang="en-US" sz="2800" spc="-1" strike="noStrike">
                <a:solidFill>
                  <a:schemeClr val="dk1"/>
                </a:solidFill>
                <a:latin typeface="Calibri"/>
              </a:rPr>
              <a:t>protocol suite</a:t>
            </a:r>
            <a:r>
              <a:rPr b="0" lang="en-US" sz="2800" spc="-1" strike="noStrike">
                <a:solidFill>
                  <a:schemeClr val="dk1"/>
                </a:solidFill>
                <a:latin typeface="Calibri"/>
              </a:rPr>
              <a:t> or </a:t>
            </a:r>
            <a:r>
              <a:rPr b="1" lang="en-US" sz="2800" spc="-1" strike="noStrike">
                <a:solidFill>
                  <a:schemeClr val="dk1"/>
                </a:solidFill>
                <a:latin typeface="Calibri"/>
              </a:rPr>
              <a:t>protocol family</a:t>
            </a:r>
            <a:r>
              <a:rPr b="0" lang="en-US" sz="2800" spc="-1" strike="noStrike">
                <a:solidFill>
                  <a:schemeClr val="dk1"/>
                </a:solidFill>
                <a:latin typeface="Calibri"/>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A protocol stack or protocol suite is the architecture of a protocol that follows the layered architecture design principle.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functionality of the whole protocol is broken down into component protocols that are separately managed and can be treated and designed mostly independently from one another.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 protocol stack typically contains a set of protocols where each protocol in the stack performs a specific task and is responsible for a well-defined function.</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protocols are often referred to as layers with each layer providing services to the layer above it and receiving services from the layer below it.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 network protocol stack refers to the set of protocols and layers that define how data is transmitted and received over a network.</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 most commonly referenced protocol stack is the TCP/IP (Transmission Control Protocol/Internet Protocol) stack.</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consists of several layers, including:</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Application Layer (Layer 5): </a:t>
            </a:r>
            <a:r>
              <a:rPr b="0" lang="en-US" sz="2800" spc="-1" strike="noStrike">
                <a:solidFill>
                  <a:schemeClr val="dk1"/>
                </a:solidFill>
                <a:latin typeface="Calibri"/>
              </a:rPr>
              <a:t>This layer deals with application-specific protocols and services, such as HTTP (Hypertext Transfer Protocol), SMTP (Simple Mail Transfer Protocol), and DNS (Domain Name System).</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p:nvPr>
        </p:nvSpPr>
        <p:spPr>
          <a:xfrm>
            <a:off x="0" y="0"/>
            <a:ext cx="12191040" cy="6856920"/>
          </a:xfrm>
          <a:prstGeom prst="rect">
            <a:avLst/>
          </a:prstGeom>
          <a:noFill/>
          <a:ln w="0">
            <a:noFill/>
          </a:ln>
        </p:spPr>
        <p:txBody>
          <a:bodyPr lIns="91440" rIns="91440" tIns="45720" bIns="45720" anchor="t">
            <a:normAutofit fontScale="98333" lnSpcReduction="10000"/>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Transport Layer (Layer 4): </a:t>
            </a:r>
            <a:r>
              <a:rPr b="0" lang="en-US" sz="2800" spc="-1" strike="noStrike">
                <a:solidFill>
                  <a:schemeClr val="dk1"/>
                </a:solidFill>
                <a:latin typeface="Calibri"/>
              </a:rPr>
              <a:t>The transport layer provides end-to-end communication between devices.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Protocols like TCP (Transmission Control Protocol) and UDP (User Datagram Protocol) operate at this layer, managing reliable or unreliable data transfer.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Network Layer (Layer 3): </a:t>
            </a:r>
            <a:r>
              <a:rPr b="0" lang="en-US" sz="2800" spc="-1" strike="noStrike">
                <a:solidFill>
                  <a:schemeClr val="dk1"/>
                </a:solidFill>
                <a:latin typeface="Calibri"/>
              </a:rPr>
              <a:t>The network layer is responsible for addressing, routing, and logical network connections.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IP (Internet Protocol) is the primary protocol used at this layer.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Data Link Layer (Layer 2):</a:t>
            </a:r>
            <a:r>
              <a:rPr b="0" lang="en-US" sz="2800" spc="-1" strike="noStrike">
                <a:solidFill>
                  <a:schemeClr val="dk1"/>
                </a:solidFill>
                <a:latin typeface="Calibri"/>
              </a:rPr>
              <a:t> This layer ensures reliable transmission of data frames across a physical network. Ethernet is a common data link layer protocol.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Physical Layer (Layer 1): </a:t>
            </a:r>
            <a:r>
              <a:rPr b="0" lang="en-US" sz="2800" spc="-1" strike="noStrike">
                <a:solidFill>
                  <a:schemeClr val="dk1"/>
                </a:solidFill>
                <a:latin typeface="Calibri"/>
              </a:rPr>
              <a:t>The physical layer deals with the actual transmission of data bits over physical media, such as copper wires, fiber optics, or wireless signals.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p:nvPr>
        </p:nvSpPr>
        <p:spPr>
          <a:xfrm>
            <a:off x="0" y="0"/>
            <a:ext cx="11886120" cy="670140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endParaRPr b="0" lang="en-US" sz="4000" spc="-1" strike="noStrike">
              <a:solidFill>
                <a:srgbClr val="000000"/>
              </a:solidFill>
              <a:latin typeface="Arial"/>
            </a:endParaRPr>
          </a:p>
          <a:p>
            <a:pPr indent="0" algn="ctr" defTabSz="914400">
              <a:lnSpc>
                <a:spcPct val="90000"/>
              </a:lnSpc>
              <a:spcBef>
                <a:spcPts val="1001"/>
              </a:spcBef>
              <a:buNone/>
              <a:tabLst>
                <a:tab algn="l" pos="0"/>
              </a:tabLst>
            </a:pPr>
            <a:endParaRPr b="0" lang="en-US" sz="4000" spc="-1" strike="noStrike">
              <a:solidFill>
                <a:srgbClr val="000000"/>
              </a:solidFill>
              <a:latin typeface="Arial"/>
            </a:endParaRPr>
          </a:p>
          <a:p>
            <a:pPr indent="0" algn="ctr" defTabSz="914400">
              <a:lnSpc>
                <a:spcPct val="90000"/>
              </a:lnSpc>
              <a:spcBef>
                <a:spcPts val="1001"/>
              </a:spcBef>
              <a:buNone/>
              <a:tabLst>
                <a:tab algn="l" pos="0"/>
              </a:tabLst>
            </a:pPr>
            <a:endParaRPr b="0" lang="en-US" sz="4000" spc="-1" strike="noStrike">
              <a:solidFill>
                <a:srgbClr val="000000"/>
              </a:solidFill>
              <a:latin typeface="Arial"/>
            </a:endParaRPr>
          </a:p>
          <a:p>
            <a:pPr indent="0" algn="ctr" defTabSz="914400">
              <a:lnSpc>
                <a:spcPct val="90000"/>
              </a:lnSpc>
              <a:spcBef>
                <a:spcPts val="1001"/>
              </a:spcBef>
              <a:buNone/>
              <a:tabLst>
                <a:tab algn="l" pos="0"/>
              </a:tabLst>
            </a:pPr>
            <a:endParaRPr b="0" lang="en-US" sz="4000" spc="-1" strike="noStrike">
              <a:solidFill>
                <a:srgbClr val="000000"/>
              </a:solidFill>
              <a:latin typeface="Arial"/>
            </a:endParaRPr>
          </a:p>
          <a:p>
            <a:pPr indent="0" algn="ctr" defTabSz="914400">
              <a:lnSpc>
                <a:spcPct val="90000"/>
              </a:lnSpc>
              <a:spcBef>
                <a:spcPts val="1001"/>
              </a:spcBef>
              <a:buNone/>
              <a:tabLst>
                <a:tab algn="l" pos="0"/>
              </a:tabLst>
            </a:pPr>
            <a:endParaRPr b="0" lang="en-US" sz="4000" spc="-1" strike="noStrike">
              <a:solidFill>
                <a:srgbClr val="000000"/>
              </a:solidFill>
              <a:latin typeface="Arial"/>
            </a:endParaRPr>
          </a:p>
          <a:p>
            <a:pPr indent="0" algn="ctr" defTabSz="914400">
              <a:lnSpc>
                <a:spcPct val="90000"/>
              </a:lnSpc>
              <a:spcBef>
                <a:spcPts val="1001"/>
              </a:spcBef>
              <a:buNone/>
              <a:tabLst>
                <a:tab algn="l" pos="0"/>
              </a:tabLst>
            </a:pPr>
            <a:r>
              <a:rPr b="1" lang="en-US" sz="4000" spc="-1" strike="noStrike">
                <a:solidFill>
                  <a:schemeClr val="dk1"/>
                </a:solidFill>
                <a:latin typeface="Calibri"/>
              </a:rPr>
              <a:t>3.4 Cross layers</a:t>
            </a:r>
            <a:endParaRPr b="0" lang="en-US" sz="40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p:nvPr>
        </p:nvSpPr>
        <p:spPr>
          <a:xfrm>
            <a:off x="0" y="0"/>
            <a:ext cx="6018840" cy="6856920"/>
          </a:xfrm>
          <a:prstGeom prst="rect">
            <a:avLst/>
          </a:prstGeom>
          <a:noFill/>
          <a:ln w="0">
            <a:noFill/>
          </a:ln>
        </p:spPr>
        <p:txBody>
          <a:bodyPr lIns="91440" rIns="91440" tIns="45720" bIns="45720" anchor="t">
            <a:normAutofit fontScale="89999"/>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Cross-layer is a design approach in communication systems that allows communication and information sharing between different, usually separated, layers of the network stack to improve performance.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Instead of strictly adhering to a layered architecture like the OSI model, cross-layer design enables cooperation between layers to optimize things like data throughput, energy efficiency, and quality of service.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This is particularly useful in wireless and ad hoc networks where factors like the physical environment and energy consumption are critical. </a:t>
            </a:r>
            <a:endParaRPr b="0" lang="en-US" sz="2800" spc="-1" strike="noStrike">
              <a:solidFill>
                <a:srgbClr val="000000"/>
              </a:solidFill>
              <a:latin typeface="Arial"/>
            </a:endParaRPr>
          </a:p>
        </p:txBody>
      </p:sp>
      <p:pic>
        <p:nvPicPr>
          <p:cNvPr id="87" name="Content Placeholder 6" descr=""/>
          <p:cNvPicPr/>
          <p:nvPr/>
        </p:nvPicPr>
        <p:blipFill>
          <a:blip r:embed="rId1"/>
          <a:stretch/>
        </p:blipFill>
        <p:spPr>
          <a:xfrm>
            <a:off x="6934320" y="993960"/>
            <a:ext cx="4693680" cy="473112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en-US" sz="2800" spc="-1" strike="noStrike">
                <a:solidFill>
                  <a:schemeClr val="dk1"/>
                </a:solidFill>
                <a:latin typeface="Arial"/>
              </a:rPr>
              <a:t>How it works</a:t>
            </a: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1" lang="en-US" sz="2800" spc="-1" strike="noStrike">
                <a:solidFill>
                  <a:schemeClr val="dk1"/>
                </a:solidFill>
                <a:latin typeface="Arial"/>
              </a:rPr>
              <a:t>Information sharing:</a:t>
            </a:r>
            <a:r>
              <a:rPr b="0" lang="en-US" sz="2800" spc="-1" strike="noStrike">
                <a:solidFill>
                  <a:schemeClr val="dk1"/>
                </a:solidFill>
                <a:latin typeface="Arial"/>
              </a:rPr>
              <a:t> Layers share information with each other, either through direct communication or via a common database.</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1" lang="en-US" sz="2800" spc="-1" strike="noStrike">
                <a:solidFill>
                  <a:schemeClr val="dk1"/>
                </a:solidFill>
                <a:latin typeface="Arial"/>
              </a:rPr>
              <a:t>Inter-layer cooperation:</a:t>
            </a:r>
            <a:r>
              <a:rPr b="0" lang="en-US" sz="2800" spc="-1" strike="noStrike">
                <a:solidFill>
                  <a:schemeClr val="dk1"/>
                </a:solidFill>
                <a:latin typeface="Arial"/>
              </a:rPr>
              <a:t> Protocols from different layers can work together.</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Symbol" charset="2"/>
              <a:buChar char=""/>
              <a:tabLst>
                <a:tab algn="l" pos="0"/>
              </a:tabLst>
            </a:pPr>
            <a:r>
              <a:rPr b="0" lang="en-US" sz="2800" spc="-1" strike="noStrike">
                <a:solidFill>
                  <a:schemeClr val="dk1"/>
                </a:solidFill>
                <a:latin typeface="Arial"/>
              </a:rPr>
              <a:t>For example, the physical layer can provide information about the channel's condition to a higher layer, which can then use that information to adapt its data rate or coding scheme.</a:t>
            </a:r>
            <a:endParaRPr b="0" lang="en-US" sz="2800" spc="-1" strike="noStrike">
              <a:solidFill>
                <a:srgbClr val="000000"/>
              </a:solidFill>
              <a:latin typeface="Arial"/>
            </a:endParaRPr>
          </a:p>
          <a:p>
            <a:pPr indent="0" defTabSz="914400">
              <a:lnSpc>
                <a:spcPct val="100000"/>
              </a:lnSpc>
              <a:buNone/>
              <a:tabLst>
                <a:tab algn="l" pos="0"/>
              </a:tabLst>
            </a:pPr>
            <a:endParaRPr b="0" lang="en-US" sz="2800" spc="-1" strike="noStrike">
              <a:solidFill>
                <a:srgbClr val="000000"/>
              </a:solidFill>
              <a:latin typeface="Arial"/>
            </a:endParaRPr>
          </a:p>
          <a:p>
            <a:pPr marL="432000" indent="-324000" defTabSz="914400">
              <a:lnSpc>
                <a:spcPct val="100000"/>
              </a:lnSpc>
              <a:buClr>
                <a:srgbClr val="000000"/>
              </a:buClr>
              <a:buFont typeface="Arial"/>
              <a:buChar char="•"/>
              <a:tabLst>
                <a:tab algn="l" pos="0"/>
              </a:tabLst>
            </a:pPr>
            <a:r>
              <a:rPr b="1" lang="en-US" sz="2800" spc="-1" strike="noStrike">
                <a:solidFill>
                  <a:schemeClr val="dk1"/>
                </a:solidFill>
                <a:latin typeface="Arial"/>
              </a:rPr>
              <a:t>Optimization:</a:t>
            </a:r>
            <a:r>
              <a:rPr b="0" lang="en-US" sz="2800" spc="-1" strike="noStrike">
                <a:solidFill>
                  <a:schemeClr val="dk1"/>
                </a:solidFill>
                <a:latin typeface="Arial"/>
              </a:rPr>
              <a:t> The goal is to optimize overall system performance by making decisions based on a broader context than what a single layer can see.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3600" spc="-1" strike="noStrike">
                <a:solidFill>
                  <a:schemeClr val="dk1"/>
                </a:solidFill>
                <a:latin typeface="Calibri"/>
              </a:rPr>
              <a:t>                         </a:t>
            </a:r>
            <a:endParaRPr b="0" lang="en-US" sz="3600" spc="-1" strike="noStrike">
              <a:solidFill>
                <a:srgbClr val="000000"/>
              </a:solidFill>
              <a:latin typeface="Arial"/>
            </a:endParaRPr>
          </a:p>
          <a:p>
            <a:pPr indent="0" defTabSz="914400">
              <a:lnSpc>
                <a:spcPct val="90000"/>
              </a:lnSpc>
              <a:spcBef>
                <a:spcPts val="1001"/>
              </a:spcBef>
              <a:buNone/>
              <a:tabLst>
                <a:tab algn="l" pos="0"/>
              </a:tabLst>
            </a:pPr>
            <a:endParaRPr b="0" lang="en-US" sz="3600" spc="-1" strike="noStrike">
              <a:solidFill>
                <a:srgbClr val="000000"/>
              </a:solidFill>
              <a:latin typeface="Arial"/>
            </a:endParaRPr>
          </a:p>
          <a:p>
            <a:pPr indent="0" defTabSz="914400">
              <a:lnSpc>
                <a:spcPct val="90000"/>
              </a:lnSpc>
              <a:spcBef>
                <a:spcPts val="1001"/>
              </a:spcBef>
              <a:buNone/>
              <a:tabLst>
                <a:tab algn="l" pos="0"/>
              </a:tabLst>
            </a:pPr>
            <a:endParaRPr b="0" lang="en-US" sz="3600" spc="-1" strike="noStrike">
              <a:solidFill>
                <a:srgbClr val="000000"/>
              </a:solidFill>
              <a:latin typeface="Arial"/>
            </a:endParaRPr>
          </a:p>
          <a:p>
            <a:pPr indent="0" defTabSz="914400">
              <a:lnSpc>
                <a:spcPct val="90000"/>
              </a:lnSpc>
              <a:spcBef>
                <a:spcPts val="1001"/>
              </a:spcBef>
              <a:buNone/>
              <a:tabLst>
                <a:tab algn="l" pos="0"/>
              </a:tabLst>
            </a:pPr>
            <a:endParaRPr b="0" lang="en-US" sz="3600" spc="-1" strike="noStrike">
              <a:solidFill>
                <a:srgbClr val="000000"/>
              </a:solidFill>
              <a:latin typeface="Arial"/>
            </a:endParaRPr>
          </a:p>
          <a:p>
            <a:pPr indent="0" defTabSz="914400">
              <a:lnSpc>
                <a:spcPct val="90000"/>
              </a:lnSpc>
              <a:spcBef>
                <a:spcPts val="1001"/>
              </a:spcBef>
              <a:buNone/>
              <a:tabLst>
                <a:tab algn="l" pos="0"/>
              </a:tabLst>
            </a:pPr>
            <a:endParaRPr b="0" lang="en-US" sz="3600" spc="-1" strike="noStrike">
              <a:solidFill>
                <a:srgbClr val="000000"/>
              </a:solidFill>
              <a:latin typeface="Arial"/>
            </a:endParaRPr>
          </a:p>
          <a:p>
            <a:pPr indent="0" algn="ctr" defTabSz="914400">
              <a:lnSpc>
                <a:spcPct val="90000"/>
              </a:lnSpc>
              <a:spcBef>
                <a:spcPts val="1001"/>
              </a:spcBef>
              <a:buNone/>
              <a:tabLst>
                <a:tab algn="l" pos="0"/>
              </a:tabLst>
            </a:pPr>
            <a:r>
              <a:rPr b="1" lang="en-US" sz="3600" spc="-1" strike="noStrike">
                <a:solidFill>
                  <a:schemeClr val="dk1"/>
                </a:solidFill>
                <a:latin typeface="Calibri"/>
              </a:rPr>
              <a:t> </a:t>
            </a:r>
            <a:r>
              <a:rPr b="1" lang="en-US" sz="3600" spc="-1" strike="noStrike">
                <a:solidFill>
                  <a:schemeClr val="dk1"/>
                </a:solidFill>
                <a:latin typeface="Calibri"/>
              </a:rPr>
              <a:t>3.5 Devices different layers</a:t>
            </a:r>
            <a:endParaRPr b="0" lang="en-US" sz="36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p:nvPr>
        </p:nvSpPr>
        <p:spPr>
          <a:xfrm>
            <a:off x="0" y="0"/>
            <a:ext cx="12191040" cy="6720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In computer networking, various network entities and layers work together to enable communication between devices. </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alibri"/>
              </a:rPr>
              <a:t>Let's explore some of the key network entities and layers commonly used in networking protocols: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alibri"/>
              </a:rPr>
              <a:t>1.</a:t>
            </a:r>
            <a:r>
              <a:rPr b="1" lang="en-US" sz="2800" spc="-1" strike="noStrike">
                <a:solidFill>
                  <a:schemeClr val="dk1"/>
                </a:solidFill>
                <a:latin typeface="Calibri"/>
              </a:rPr>
              <a:t>Network Interface Card (NIC): </a:t>
            </a:r>
            <a:r>
              <a:rPr b="0" lang="en-US" sz="2800" spc="-1" strike="noStrike">
                <a:solidFill>
                  <a:schemeClr val="dk1"/>
                </a:solidFill>
                <a:latin typeface="Calibri"/>
              </a:rPr>
              <a:t>A Network Interface Card, also known as a network adapter or network interface controller, is a hardware component that connects a device (e.g., a computer or a server) to a network.</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enables the device to transmit and receive data over the network.</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p:nvPr>
        </p:nvSpPr>
        <p:spPr>
          <a:xfrm>
            <a:off x="0" y="0"/>
            <a:ext cx="12114720" cy="6856920"/>
          </a:xfrm>
          <a:prstGeom prst="rect">
            <a:avLst/>
          </a:prstGeom>
          <a:noFill/>
          <a:ln w="0">
            <a:noFill/>
          </a:ln>
        </p:spPr>
        <p:txBody>
          <a:bodyPr lIns="91440" rIns="91440" tIns="45720" bIns="45720" anchor="t">
            <a:normAutofit fontScale="93333" lnSpcReduction="10000"/>
          </a:bodyPr>
          <a:p>
            <a:pPr indent="0" defTabSz="914400">
              <a:lnSpc>
                <a:spcPct val="90000"/>
              </a:lnSpc>
              <a:spcBef>
                <a:spcPts val="1001"/>
              </a:spcBef>
              <a:buNone/>
              <a:tabLst>
                <a:tab algn="l" pos="0"/>
              </a:tabLst>
            </a:pPr>
            <a:r>
              <a:rPr b="0" lang="en-US" sz="2800" spc="-1" strike="noStrike">
                <a:solidFill>
                  <a:schemeClr val="dk1"/>
                </a:solidFill>
                <a:latin typeface="Calibri"/>
              </a:rPr>
              <a:t>2.</a:t>
            </a:r>
            <a:r>
              <a:rPr b="1" lang="en-US" sz="2800" spc="-1" strike="noStrike">
                <a:solidFill>
                  <a:schemeClr val="dk1"/>
                </a:solidFill>
                <a:latin typeface="Calibri"/>
              </a:rPr>
              <a:t>Switch</a:t>
            </a:r>
            <a:r>
              <a:rPr b="0" lang="en-US" sz="2800" spc="-1" strike="noStrike">
                <a:solidFill>
                  <a:schemeClr val="dk1"/>
                </a:solidFill>
                <a:latin typeface="Calibri"/>
              </a:rPr>
              <a:t>: A switch is a network device that operates at the data link layer (Layer 2) of the networking protocol stack.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receives incoming data frames and forwards them to the appropriate destination based on the MAC (Media Access Control) addresses of the devices connected to the switch.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Switches facilitate the creation of local area networks (LANs) by connecting multiple devices together.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chemeClr val="dk1"/>
                </a:solidFill>
                <a:latin typeface="Calibri"/>
              </a:rPr>
              <a:t>3.</a:t>
            </a:r>
            <a:r>
              <a:rPr b="1" lang="en-US" sz="2800" spc="-1" strike="noStrike">
                <a:solidFill>
                  <a:schemeClr val="dk1"/>
                </a:solidFill>
                <a:latin typeface="Calibri"/>
              </a:rPr>
              <a:t>Router: </a:t>
            </a:r>
            <a:r>
              <a:rPr b="0" lang="en-US" sz="2800" spc="-1" strike="noStrike">
                <a:solidFill>
                  <a:schemeClr val="dk1"/>
                </a:solidFill>
                <a:latin typeface="Calibri"/>
              </a:rPr>
              <a:t>A router operates at the network layer (Layer 3) and is responsible for forwarding data packets between different networks.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It examines the IP (Internet Protocol) addresses of packets to determine the optimal path for delivery.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Routers are crucial in connecting multiple networks together to form the internet.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p:nvPr>
        </p:nvSpPr>
        <p:spPr>
          <a:xfrm>
            <a:off x="0" y="0"/>
            <a:ext cx="12191040" cy="68569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2800" spc="-1" strike="noStrike">
                <a:solidFill>
                  <a:schemeClr val="dk1"/>
                </a:solidFill>
                <a:latin typeface="Calibri"/>
              </a:rPr>
              <a:t>4 Firewall: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A firewall is a security device or software that filters network traffic based on predetermined security rules.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It operates at various layers of the protocol stack, including the network, transport (Layer 4), and application (Layer 7) layers.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Firewalls help protect networks by controlling and monitoring incoming and outgoing traffic, preventing unauthorized access and potential threats.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p:nvPr>
        </p:nvSpPr>
        <p:spPr>
          <a:xfrm>
            <a:off x="292320" y="716400"/>
            <a:ext cx="11060640" cy="59094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4400" spc="-1" strike="noStrike">
              <a:solidFill>
                <a:srgbClr val="000000"/>
              </a:solidFill>
              <a:latin typeface="Arial"/>
            </a:endParaRPr>
          </a:p>
          <a:p>
            <a:pPr indent="0" defTabSz="914400">
              <a:lnSpc>
                <a:spcPct val="90000"/>
              </a:lnSpc>
              <a:spcBef>
                <a:spcPts val="1001"/>
              </a:spcBef>
              <a:buNone/>
              <a:tabLst>
                <a:tab algn="l" pos="0"/>
              </a:tabLst>
            </a:pPr>
            <a:endParaRPr b="0" lang="en-US" sz="4400" spc="-1" strike="noStrike">
              <a:solidFill>
                <a:srgbClr val="000000"/>
              </a:solidFill>
              <a:latin typeface="Arial"/>
            </a:endParaRPr>
          </a:p>
          <a:p>
            <a:pPr indent="0" algn="ctr" defTabSz="914400">
              <a:lnSpc>
                <a:spcPct val="90000"/>
              </a:lnSpc>
              <a:spcBef>
                <a:spcPts val="1001"/>
              </a:spcBef>
              <a:buNone/>
              <a:tabLst>
                <a:tab algn="l" pos="0"/>
              </a:tabLst>
            </a:pPr>
            <a:endParaRPr b="0" lang="en-US" sz="4400" spc="-1" strike="noStrike">
              <a:solidFill>
                <a:srgbClr val="000000"/>
              </a:solidFill>
              <a:latin typeface="Arial"/>
            </a:endParaRPr>
          </a:p>
          <a:p>
            <a:pPr indent="0" algn="ctr" defTabSz="914400">
              <a:lnSpc>
                <a:spcPct val="90000"/>
              </a:lnSpc>
              <a:spcBef>
                <a:spcPts val="1001"/>
              </a:spcBef>
              <a:buNone/>
              <a:tabLst>
                <a:tab algn="l" pos="0"/>
              </a:tabLst>
            </a:pPr>
            <a:r>
              <a:rPr b="1" lang="en-US" sz="4400" spc="-1" strike="noStrike">
                <a:solidFill>
                  <a:schemeClr val="dk1"/>
                </a:solidFill>
                <a:latin typeface="Calibri"/>
              </a:rPr>
              <a:t>3.6 Software defined networks</a:t>
            </a:r>
            <a:endParaRPr b="0" lang="en-US" sz="4400" spc="-1" strike="noStrike">
              <a:solidFill>
                <a:srgbClr val="000000"/>
              </a:solidFill>
              <a:latin typeface="Arial"/>
            </a:endParaRPr>
          </a:p>
          <a:p>
            <a:pPr indent="0" defTabSz="914400">
              <a:lnSpc>
                <a:spcPct val="90000"/>
              </a:lnSpc>
              <a:spcBef>
                <a:spcPts val="1001"/>
              </a:spcBef>
              <a:buNone/>
              <a:tabLst>
                <a:tab algn="l" pos="0"/>
              </a:tabLst>
            </a:pP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p:nvPr>
        </p:nvSpPr>
        <p:spPr>
          <a:xfrm>
            <a:off x="0" y="0"/>
            <a:ext cx="6896520" cy="6856920"/>
          </a:xfrm>
          <a:prstGeom prst="rect">
            <a:avLst/>
          </a:prstGeom>
          <a:noFill/>
          <a:ln w="0">
            <a:noFill/>
          </a:ln>
        </p:spPr>
        <p:txBody>
          <a:bodyPr lIns="91440" rIns="91440" tIns="45720" bIns="45720" anchor="t">
            <a:normAutofit fontScale="89999" lnSpcReduction="10000"/>
          </a:bodyPr>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Software defined networking (SDN)</a:t>
            </a: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Is  an approach to network management that enables dynamic, programmatically efficient network configuration to improve network performance and monitoring.</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 </a:t>
            </a:r>
            <a:r>
              <a:rPr b="0" lang="en-US" sz="2800" spc="-1" strike="noStrike">
                <a:solidFill>
                  <a:schemeClr val="dk1"/>
                </a:solidFill>
                <a:latin typeface="Calibri"/>
              </a:rPr>
              <a:t>It is a new way of managing computer networks that makes them easier and more flexible to control. </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traditional networks, the hardware (like routers and switches) decides how data moves through the network, but SDN changes this by moving the decision-making to a central software system.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This is done by separating the </a:t>
            </a:r>
            <a:r>
              <a:rPr b="1" lang="en-US" sz="2800" spc="-1" strike="noStrike">
                <a:solidFill>
                  <a:schemeClr val="dk1"/>
                </a:solidFill>
                <a:latin typeface="Calibri"/>
              </a:rPr>
              <a:t>control plane</a:t>
            </a:r>
            <a:r>
              <a:rPr b="0" lang="en-US" sz="2800" spc="-1" strike="noStrike">
                <a:solidFill>
                  <a:schemeClr val="dk1"/>
                </a:solidFill>
                <a:latin typeface="Calibri"/>
              </a:rPr>
              <a:t> (which decides where traffic is sent) from the </a:t>
            </a:r>
            <a:r>
              <a:rPr b="1" lang="en-US" sz="2800" spc="-1" strike="noStrike">
                <a:solidFill>
                  <a:schemeClr val="dk1"/>
                </a:solidFill>
                <a:latin typeface="Calibri"/>
              </a:rPr>
              <a:t>data plane</a:t>
            </a:r>
            <a:r>
              <a:rPr b="0" lang="en-US" sz="2800" spc="-1" strike="noStrike">
                <a:solidFill>
                  <a:schemeClr val="dk1"/>
                </a:solidFill>
                <a:latin typeface="Calibri"/>
              </a:rPr>
              <a:t> (which moves packets to the selected destination).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95" name="Content Placeholder 8" descr=""/>
          <p:cNvPicPr/>
          <p:nvPr/>
        </p:nvPicPr>
        <p:blipFill>
          <a:blip r:embed="rId1"/>
          <a:stretch/>
        </p:blipFill>
        <p:spPr>
          <a:xfrm>
            <a:off x="7086600" y="218520"/>
            <a:ext cx="5104440" cy="654876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0" y="0"/>
            <a:ext cx="12191040" cy="575280"/>
          </a:xfrm>
          <a:prstGeom prst="rect">
            <a:avLst/>
          </a:prstGeom>
          <a:noFill/>
          <a:ln w="0">
            <a:noFill/>
          </a:ln>
        </p:spPr>
        <p:txBody>
          <a:bodyPr lIns="91440" rIns="91440" tIns="45720" bIns="45720" anchor="ctr">
            <a:normAutofit fontScale="27777" lnSpcReduction="10000"/>
          </a:bodyPr>
          <a:p>
            <a:pPr indent="0" defTabSz="914400">
              <a:lnSpc>
                <a:spcPct val="90000"/>
              </a:lnSpc>
              <a:buNone/>
              <a:tabLst>
                <a:tab algn="l" pos="0"/>
              </a:tabLst>
            </a:pPr>
            <a:br>
              <a:rPr sz="4400"/>
            </a:br>
            <a:r>
              <a:rPr b="1" lang="en-US" sz="4400" spc="-1" strike="noStrike">
                <a:solidFill>
                  <a:schemeClr val="dk1"/>
                </a:solidFill>
                <a:latin typeface="Calibri Light"/>
              </a:rPr>
              <a:t>SDN Architecture</a:t>
            </a:r>
            <a:br>
              <a:rPr sz="4400"/>
            </a:br>
            <a:endParaRPr b="0" lang="en-US" sz="4400" spc="-1" strike="noStrike">
              <a:solidFill>
                <a:srgbClr val="000000"/>
              </a:solidFill>
              <a:latin typeface="Arial"/>
            </a:endParaRPr>
          </a:p>
        </p:txBody>
      </p:sp>
      <p:sp>
        <p:nvSpPr>
          <p:cNvPr id="97" name="PlaceHolder 2"/>
          <p:cNvSpPr>
            <a:spLocks noGrp="1"/>
          </p:cNvSpPr>
          <p:nvPr>
            <p:ph/>
          </p:nvPr>
        </p:nvSpPr>
        <p:spPr>
          <a:xfrm>
            <a:off x="0" y="725400"/>
            <a:ext cx="12114720" cy="6131520"/>
          </a:xfrm>
          <a:prstGeom prst="rect">
            <a:avLst/>
          </a:prstGeom>
          <a:noFill/>
          <a:ln w="0">
            <a:noFill/>
          </a:ln>
        </p:spPr>
        <p:txBody>
          <a:bodyPr lIns="91440" rIns="91440" tIns="45720" bIns="45720" anchor="t">
            <a:normAutofit fontScale="93333"/>
          </a:bodyPr>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In a traditional network, each switch has its own control plane and data plane.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Switches exchange topology information to build a forwarding table that decides where to send data packets.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In Software-Defined Networking (SDN), the control plane is removed from switches and assigned to a centralized SDN controller.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This allows network administrators to manage traffic from a single console instead of configuring each switch individually.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data plane remains in the switch, forwarding packets based on flow tables set by the controller.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These tables contain match fields (like input port and packet header) and instructions (forward, drop, or modify packets).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If a packet doesn’t match any entry, the switch contacts the controller, which provides a new flow entry to decide the packet’s path.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typical </a:t>
            </a:r>
            <a:r>
              <a:rPr b="0" lang="en-US" sz="2800" spc="-1" strike="noStrike" u="sng">
                <a:solidFill>
                  <a:schemeClr val="dk1"/>
                </a:solidFill>
                <a:uFillTx/>
                <a:latin typeface="Calibri"/>
                <a:hlinkClick r:id="rId1"/>
              </a:rPr>
              <a:t>SDN architecture</a:t>
            </a:r>
            <a:r>
              <a:rPr b="0" lang="en-US" sz="2800" spc="-1" strike="noStrike">
                <a:solidFill>
                  <a:schemeClr val="dk1"/>
                </a:solidFill>
                <a:latin typeface="Calibri"/>
              </a:rPr>
              <a:t> consists of three layers.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0" y="0"/>
            <a:ext cx="7582320" cy="68569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Application Layer:</a:t>
            </a:r>
            <a:r>
              <a:rPr b="0" lang="en-US" sz="2800" spc="-1" strike="noStrike">
                <a:solidFill>
                  <a:schemeClr val="dk1"/>
                </a:solidFill>
                <a:latin typeface="Calibri"/>
              </a:rPr>
              <a:t> It contains the typical network applications like </a:t>
            </a:r>
            <a:r>
              <a:rPr b="0" lang="en-US" sz="2800" spc="-1" strike="noStrike" u="sng">
                <a:solidFill>
                  <a:schemeClr val="dk1"/>
                </a:solidFill>
                <a:uFillTx/>
                <a:latin typeface="Calibri"/>
                <a:hlinkClick r:id="rId1"/>
              </a:rPr>
              <a:t>intrusion detection</a:t>
            </a:r>
            <a:r>
              <a:rPr b="0" lang="en-US" sz="2800" spc="-1" strike="noStrike">
                <a:solidFill>
                  <a:schemeClr val="dk1"/>
                </a:solidFill>
                <a:latin typeface="Calibri"/>
              </a:rPr>
              <a:t>, </a:t>
            </a:r>
            <a:r>
              <a:rPr b="0" lang="en-US" sz="2800" spc="-1" strike="noStrike" u="sng">
                <a:solidFill>
                  <a:schemeClr val="dk1"/>
                </a:solidFill>
                <a:uFillTx/>
                <a:latin typeface="Calibri"/>
                <a:hlinkClick r:id="rId2"/>
              </a:rPr>
              <a:t>firewall</a:t>
            </a:r>
            <a:r>
              <a:rPr b="0" lang="en-US" sz="2800" spc="-1" strike="noStrike">
                <a:solidFill>
                  <a:schemeClr val="dk1"/>
                </a:solidFill>
                <a:latin typeface="Calibri"/>
              </a:rPr>
              <a:t>, and </a:t>
            </a:r>
            <a:r>
              <a:rPr b="0" lang="en-US" sz="2800" spc="-1" strike="noStrike" u="sng">
                <a:solidFill>
                  <a:schemeClr val="dk1"/>
                </a:solidFill>
                <a:uFillTx/>
                <a:latin typeface="Calibri"/>
                <a:hlinkClick r:id="rId3"/>
              </a:rPr>
              <a:t>load balancing</a:t>
            </a:r>
            <a:r>
              <a:rPr b="0" lang="en-US" sz="2800" spc="-1" strike="noStrike">
                <a:solidFill>
                  <a:schemeClr val="dk1"/>
                </a:solidFill>
                <a:latin typeface="Calibri"/>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Control Layer:</a:t>
            </a:r>
            <a:r>
              <a:rPr b="0" lang="en-US" sz="2800" spc="-1" strike="noStrike">
                <a:solidFill>
                  <a:schemeClr val="dk1"/>
                </a:solidFill>
                <a:latin typeface="Calibri"/>
              </a:rPr>
              <a:t> It consists of the SDN controller which acts as the brain of the network. It also allows hardware abstraction to the applications written on top of it.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alibri"/>
              </a:rPr>
              <a:t>Infrastructure Layer:</a:t>
            </a:r>
            <a:r>
              <a:rPr b="0" lang="en-US" sz="2800" spc="-1" strike="noStrike">
                <a:solidFill>
                  <a:schemeClr val="dk1"/>
                </a:solidFill>
                <a:latin typeface="Calibri"/>
              </a:rPr>
              <a:t> This consists of physical switches which form the data plane and carries out the actual movement of data packets.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0" lang="en-US" sz="2800" spc="-1" strike="noStrike">
                <a:solidFill>
                  <a:schemeClr val="dk1"/>
                </a:solidFill>
                <a:latin typeface="Calibri"/>
              </a:rPr>
              <a:t>The layers communicate via a set of interfaces called the north-bound APIs(between the application and control layer) and southbound APIs(between the control and infrastructure layer).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99" name="Content Placeholder 7" descr=""/>
          <p:cNvPicPr/>
          <p:nvPr/>
        </p:nvPicPr>
        <p:blipFill>
          <a:blip r:embed="rId4"/>
          <a:stretch/>
        </p:blipFill>
        <p:spPr>
          <a:xfrm>
            <a:off x="7822080" y="1073520"/>
            <a:ext cx="3944880" cy="523692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0" y="0"/>
            <a:ext cx="12191040" cy="68569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2800" spc="-1" strike="noStrike">
                <a:solidFill>
                  <a:schemeClr val="dk1"/>
                </a:solidFill>
                <a:latin typeface="Calibri"/>
              </a:rPr>
              <a:t>Data Plane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All the activities involving and resulting from data packets sent by the end-user belong to this plane. </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Data Plane includes:</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Forwarding of packets.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Segmentation and reassembly of data.</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Replication of packets for </a:t>
            </a:r>
            <a:r>
              <a:rPr b="0" lang="en-US" sz="2800" spc="-1" strike="noStrike" u="sng">
                <a:solidFill>
                  <a:schemeClr val="dk1"/>
                </a:solidFill>
                <a:uFillTx/>
                <a:latin typeface="Calibri"/>
                <a:hlinkClick r:id="rId1"/>
              </a:rPr>
              <a:t>multicasting</a:t>
            </a:r>
            <a:r>
              <a:rPr b="0" lang="en-US" sz="2800" spc="-1" strike="noStrike">
                <a:solidFill>
                  <a:schemeClr val="dk1"/>
                </a:solidFill>
                <a:latin typeface="Calibri"/>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p:nvPr>
        </p:nvSpPr>
        <p:spPr>
          <a:xfrm>
            <a:off x="0" y="0"/>
            <a:ext cx="12191040" cy="68569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2800" spc="-1" strike="noStrike">
                <a:solidFill>
                  <a:schemeClr val="dk1"/>
                </a:solidFill>
                <a:latin typeface="Calibri"/>
              </a:rPr>
              <a:t> </a:t>
            </a:r>
            <a:r>
              <a:rPr b="1" lang="en-US" sz="2800" spc="-1" strike="noStrike">
                <a:solidFill>
                  <a:schemeClr val="dk1"/>
                </a:solidFill>
                <a:latin typeface="Calibri"/>
              </a:rPr>
              <a:t>Control Plane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All activities necessary to perform data plane activities but do not involve end-user data packets belong to this plane.</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In other words, this is the brain of the network. The activities of the control plane include:</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Making routing tables.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Setting packet handling policies.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0" y="0"/>
            <a:ext cx="12094920" cy="6856920"/>
          </a:xfrm>
          <a:prstGeom prst="rect">
            <a:avLst/>
          </a:prstGeom>
          <a:noFill/>
          <a:ln w="0">
            <a:noFill/>
          </a:ln>
        </p:spPr>
        <p:txBody>
          <a:bodyPr lIns="91440" rIns="91440" tIns="45720" bIns="45720" anchor="t">
            <a:normAutofit fontScale="93333"/>
          </a:bodyPr>
          <a:p>
            <a:pPr indent="0" defTabSz="914400">
              <a:lnSpc>
                <a:spcPct val="90000"/>
              </a:lnSpc>
              <a:spcBef>
                <a:spcPts val="1001"/>
              </a:spcBef>
              <a:buNone/>
              <a:tabLst>
                <a:tab algn="l" pos="0"/>
              </a:tabLst>
            </a:pPr>
            <a:r>
              <a:rPr b="1" lang="en-US" sz="2800" spc="-1" strike="noStrike">
                <a:solidFill>
                  <a:schemeClr val="dk1"/>
                </a:solidFill>
                <a:latin typeface="Calibri"/>
              </a:rPr>
              <a:t> </a:t>
            </a:r>
            <a:r>
              <a:rPr b="1" lang="en-US" sz="2800" spc="-1" strike="noStrike">
                <a:solidFill>
                  <a:schemeClr val="dk1"/>
                </a:solidFill>
                <a:latin typeface="Calibri"/>
              </a:rPr>
              <a:t>Software-Defined Networking (SDN) Works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Software-Defined Networking (SDN), the software that controls the network is separated from the hardware.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SDN moves the part that decides where to send data (control plane) to software, while the part that actually forwards the data (data plane) stays in the hardware.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This setup allows </a:t>
            </a:r>
            <a:r>
              <a:rPr b="0" lang="en-US" sz="2800" spc="-1" strike="noStrike" u="sng">
                <a:solidFill>
                  <a:schemeClr val="dk1"/>
                </a:solidFill>
                <a:uFillTx/>
                <a:latin typeface="Calibri"/>
                <a:hlinkClick r:id="rId1"/>
              </a:rPr>
              <a:t>network administrators</a:t>
            </a:r>
            <a:r>
              <a:rPr b="0" lang="en-US" sz="2800" spc="-1" strike="noStrike">
                <a:solidFill>
                  <a:schemeClr val="dk1"/>
                </a:solidFill>
                <a:latin typeface="Calibri"/>
              </a:rPr>
              <a:t> to manage and control the entire network using a single, unified interface.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Instead of configuring each device individually, they can program and adjust the network from one central place.</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This makes managing the network much easier and more efficient.</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 a network, physical or virtual devices move data from one place to another. Sometimes, virtual switches, which can be part of either software or hardware, take over the jobs of physical switches.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These virtual switches combine multiple functions into one smart switch.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They check the data packets and their destinations to make sure everything is correct, then move the packets to where they need to go.</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589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2023-05-09T01:44:52Z</dcterms:created>
  <dc:creator>ASUS</dc:creator>
  <dc:description/>
  <dc:language>en-US</dc:language>
  <cp:lastModifiedBy/>
  <dcterms:modified xsi:type="dcterms:W3CDTF">2026-03-31T14:25:20Z</dcterms:modified>
  <cp:revision>85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38</vt:r8>
  </property>
</Properties>
</file>