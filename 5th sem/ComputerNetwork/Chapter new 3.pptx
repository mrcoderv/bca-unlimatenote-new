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97" r:id="rId2"/>
    <p:sldId id="303" r:id="rId3"/>
    <p:sldId id="311" r:id="rId4"/>
    <p:sldId id="312" r:id="rId5"/>
    <p:sldId id="313" r:id="rId6"/>
    <p:sldId id="314" r:id="rId7"/>
    <p:sldId id="298" r:id="rId8"/>
    <p:sldId id="299" r:id="rId9"/>
    <p:sldId id="300" r:id="rId10"/>
    <p:sldId id="301" r:id="rId11"/>
    <p:sldId id="302" r:id="rId12"/>
    <p:sldId id="304" r:id="rId13"/>
    <p:sldId id="259" r:id="rId14"/>
    <p:sldId id="261" r:id="rId15"/>
    <p:sldId id="263" r:id="rId16"/>
    <p:sldId id="290" r:id="rId17"/>
    <p:sldId id="292" r:id="rId18"/>
    <p:sldId id="266" r:id="rId19"/>
    <p:sldId id="293" r:id="rId20"/>
    <p:sldId id="268" r:id="rId21"/>
    <p:sldId id="269" r:id="rId22"/>
    <p:sldId id="257" r:id="rId23"/>
    <p:sldId id="272" r:id="rId24"/>
    <p:sldId id="289" r:id="rId25"/>
    <p:sldId id="306" r:id="rId26"/>
    <p:sldId id="307" r:id="rId27"/>
    <p:sldId id="320" r:id="rId28"/>
    <p:sldId id="283" r:id="rId29"/>
    <p:sldId id="305" r:id="rId30"/>
    <p:sldId id="288" r:id="rId31"/>
    <p:sldId id="284" r:id="rId32"/>
    <p:sldId id="308" r:id="rId33"/>
    <p:sldId id="309" r:id="rId34"/>
    <p:sldId id="310" r:id="rId35"/>
    <p:sldId id="315" r:id="rId36"/>
    <p:sldId id="316" r:id="rId37"/>
    <p:sldId id="317" r:id="rId38"/>
    <p:sldId id="318"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4" d="100"/>
          <a:sy n="64" d="100"/>
        </p:scale>
        <p:origin x="6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C3305-D18B-8485-33D2-00808FB5E29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E2F84F-075C-6F2F-819F-4BEA54014D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3EEA24F-DD2B-58D5-C405-9018A8638808}"/>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5" name="Footer Placeholder 4">
            <a:extLst>
              <a:ext uri="{FF2B5EF4-FFF2-40B4-BE49-F238E27FC236}">
                <a16:creationId xmlns:a16="http://schemas.microsoft.com/office/drawing/2014/main" id="{0171E647-9ADC-0711-A7BE-EFC45251C1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1C9CE2-58E0-D577-5181-73EF57FEA563}"/>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28765102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B32D1-12BB-99FF-8523-6B431D5BD39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0154ED-350D-A5FC-4A83-13E2D2DB52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993CB7-0488-A0DA-050A-E17A6042B3F5}"/>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5" name="Footer Placeholder 4">
            <a:extLst>
              <a:ext uri="{FF2B5EF4-FFF2-40B4-BE49-F238E27FC236}">
                <a16:creationId xmlns:a16="http://schemas.microsoft.com/office/drawing/2014/main" id="{516B5CD1-E607-B16D-2BCE-E0C14D3E57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1AF796-9562-D5A9-B7D7-AC351F347F90}"/>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7958203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19783-F547-CE8E-51CC-E5A5AABD8B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CECE5E-AF19-77B4-FB02-D2CD318725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13B7564-4AA4-8A5F-3BE3-1496708CBD72}"/>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5" name="Footer Placeholder 4">
            <a:extLst>
              <a:ext uri="{FF2B5EF4-FFF2-40B4-BE49-F238E27FC236}">
                <a16:creationId xmlns:a16="http://schemas.microsoft.com/office/drawing/2014/main" id="{EFDAE9AD-2C22-A7FC-8EF9-C2A5778AD4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9FC8A2-70D3-0712-8F55-18972C90B15F}"/>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2914540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2598-E956-8CF3-54D9-0B22C7D434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080BAA8-1BDC-22D6-8117-6B70E925F7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C2422F1-CABA-CB68-F510-99D4A38CAA2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488D42C-F858-781A-9D07-DE2363EB3D75}"/>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6" name="Footer Placeholder 5">
            <a:extLst>
              <a:ext uri="{FF2B5EF4-FFF2-40B4-BE49-F238E27FC236}">
                <a16:creationId xmlns:a16="http://schemas.microsoft.com/office/drawing/2014/main" id="{37DC0C3A-4065-319C-5E90-E612977C1B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4C37AD-FED5-AD06-755F-32FED796F6DF}"/>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32655629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602FF-5CAB-2B17-252B-2A87A96465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F79327C-E2B9-900D-F40D-3006941A7F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67BBC0-B9AF-549E-058F-E958E620AF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2B25D60-8175-E27D-6E67-A496F38D09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81D91C-3C47-5C3C-A152-19A3C58D2A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3D2897B-E37B-573C-3A74-DFCA91FCF0C7}"/>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8" name="Footer Placeholder 7">
            <a:extLst>
              <a:ext uri="{FF2B5EF4-FFF2-40B4-BE49-F238E27FC236}">
                <a16:creationId xmlns:a16="http://schemas.microsoft.com/office/drawing/2014/main" id="{5944E7C7-FDFF-F0D4-DCCD-29B28230A0D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F74B1B-F8C1-98A5-5E96-EC87EB6BD6CD}"/>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928627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08C13-D11D-9E42-9661-7FC87C818FE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8B05015-A7A8-82DF-F6AA-F48759D10C7B}"/>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4" name="Footer Placeholder 3">
            <a:extLst>
              <a:ext uri="{FF2B5EF4-FFF2-40B4-BE49-F238E27FC236}">
                <a16:creationId xmlns:a16="http://schemas.microsoft.com/office/drawing/2014/main" id="{1FB7A30C-DCCC-8A6A-A631-E7EB1EF491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1965271-E4FC-0860-24F4-C2D33430354D}"/>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15298466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FF2524-160D-36FA-123E-A47C792F7A0E}"/>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3" name="Footer Placeholder 2">
            <a:extLst>
              <a:ext uri="{FF2B5EF4-FFF2-40B4-BE49-F238E27FC236}">
                <a16:creationId xmlns:a16="http://schemas.microsoft.com/office/drawing/2014/main" id="{EE957504-2582-DF8C-90A7-F689B7987E9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903AB3E-D93E-B136-7691-48CBECBAB0EE}"/>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38954796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ACCB8-E602-A7C4-8510-E7B8046034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8D2003C-9B25-8275-2CA1-5AB4F3F89A0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5F3DBF6-E1B2-C474-7003-4610865B7D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ACC079-DB56-BFE1-6CA8-246F33F1ECEA}"/>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6" name="Footer Placeholder 5">
            <a:extLst>
              <a:ext uri="{FF2B5EF4-FFF2-40B4-BE49-F238E27FC236}">
                <a16:creationId xmlns:a16="http://schemas.microsoft.com/office/drawing/2014/main" id="{2CB15DFB-1EB9-0BA9-8686-9FFADDABF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BA514-A1AF-BC1D-0FF4-EB04E0883740}"/>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37224746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1D931-0164-C602-55D3-C74CA8B023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6B6DF4F-C5E7-DFB7-B514-7A149F4C2E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9EE293A-6EFA-9023-4C1C-96FC9D7870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AD5798-CCD5-8CF2-B072-9E808A067A72}"/>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6" name="Footer Placeholder 5">
            <a:extLst>
              <a:ext uri="{FF2B5EF4-FFF2-40B4-BE49-F238E27FC236}">
                <a16:creationId xmlns:a16="http://schemas.microsoft.com/office/drawing/2014/main" id="{7150CD7D-9A96-D693-0BEC-32D7F4D7CF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5CCF25-CFDA-02D7-8FE7-91A7B39DEF8D}"/>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11814956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149B4-1292-F82D-793E-3967D95001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E0B2647-9F1B-E9B1-48B3-6BF5F1C2FC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59A79E0-9AAB-8E88-AA8C-D606F09ADBF1}"/>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5" name="Footer Placeholder 4">
            <a:extLst>
              <a:ext uri="{FF2B5EF4-FFF2-40B4-BE49-F238E27FC236}">
                <a16:creationId xmlns:a16="http://schemas.microsoft.com/office/drawing/2014/main" id="{8CA7E254-A69D-8E96-6D0A-E09F34DB5C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E92F2F-4A96-FFA6-AF0D-2E83D93C0691}"/>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41646496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4A812A-2417-AB1A-E282-92D60EA495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19813E8-F16E-E878-7009-638C3C192A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70CD1-4CEE-EF52-B5CF-2C1971B8FD60}"/>
              </a:ext>
            </a:extLst>
          </p:cNvPr>
          <p:cNvSpPr>
            <a:spLocks noGrp="1"/>
          </p:cNvSpPr>
          <p:nvPr>
            <p:ph type="dt" sz="half" idx="10"/>
          </p:nvPr>
        </p:nvSpPr>
        <p:spPr/>
        <p:txBody>
          <a:bodyPr/>
          <a:lstStyle/>
          <a:p>
            <a:fld id="{FA4C5F04-6C35-4A03-BC21-4A47C42DBA7C}" type="datetimeFigureOut">
              <a:rPr lang="en-US" smtClean="0"/>
              <a:t>12/3/2025</a:t>
            </a:fld>
            <a:endParaRPr lang="en-US"/>
          </a:p>
        </p:txBody>
      </p:sp>
      <p:sp>
        <p:nvSpPr>
          <p:cNvPr id="5" name="Footer Placeholder 4">
            <a:extLst>
              <a:ext uri="{FF2B5EF4-FFF2-40B4-BE49-F238E27FC236}">
                <a16:creationId xmlns:a16="http://schemas.microsoft.com/office/drawing/2014/main" id="{A201ED0A-7BC5-F096-FBF9-8DE5F0AAD8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894E66-A724-C521-6B15-BF63E6CC40DC}"/>
              </a:ext>
            </a:extLst>
          </p:cNvPr>
          <p:cNvSpPr>
            <a:spLocks noGrp="1"/>
          </p:cNvSpPr>
          <p:nvPr>
            <p:ph type="sldNum" sz="quarter" idx="12"/>
          </p:nvPr>
        </p:nvSpPr>
        <p:spPr/>
        <p:txBody>
          <a:bodyPr/>
          <a:lstStyle/>
          <a:p>
            <a:fld id="{58AAD950-4A3C-42ED-AAC6-8A2C9A69D301}" type="slidenum">
              <a:rPr lang="en-US" smtClean="0"/>
              <a:t>‹#›</a:t>
            </a:fld>
            <a:endParaRPr lang="en-US"/>
          </a:p>
        </p:txBody>
      </p:sp>
    </p:spTree>
    <p:extLst>
      <p:ext uri="{BB962C8B-B14F-4D97-AF65-F5344CB8AC3E}">
        <p14:creationId xmlns:p14="http://schemas.microsoft.com/office/powerpoint/2010/main" val="3333914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222DD8-E2BD-56A8-5AD3-9E4A34C9A5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E6D49F5-15EF-C5C0-79C8-C243F4DF097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BF7390-61D2-2075-D800-3574AD683E9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4C5F04-6C35-4A03-BC21-4A47C42DBA7C}" type="datetimeFigureOut">
              <a:rPr lang="en-US" smtClean="0"/>
              <a:t>12/3/2025</a:t>
            </a:fld>
            <a:endParaRPr lang="en-US"/>
          </a:p>
        </p:txBody>
      </p:sp>
      <p:sp>
        <p:nvSpPr>
          <p:cNvPr id="5" name="Footer Placeholder 4">
            <a:extLst>
              <a:ext uri="{FF2B5EF4-FFF2-40B4-BE49-F238E27FC236}">
                <a16:creationId xmlns:a16="http://schemas.microsoft.com/office/drawing/2014/main" id="{9D0C301D-9948-71A8-891B-FE87912EF8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1FA45F-F273-9FB3-D762-76FABD4DA8F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AAD950-4A3C-42ED-AAC6-8A2C9A69D301}" type="slidenum">
              <a:rPr lang="en-US" smtClean="0"/>
              <a:t>‹#›</a:t>
            </a:fld>
            <a:endParaRPr lang="en-US"/>
          </a:p>
        </p:txBody>
      </p:sp>
    </p:spTree>
    <p:extLst>
      <p:ext uri="{BB962C8B-B14F-4D97-AF65-F5344CB8AC3E}">
        <p14:creationId xmlns:p14="http://schemas.microsoft.com/office/powerpoint/2010/main" val="403602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www.cloudflare.com/learning/network-layer/what-is-a-protoco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simplilearn.com/tutorials/cyber-security-tutorial/what-is-an-ip-address" TargetMode="External"/><Relationship Id="rId2" Type="http://schemas.openxmlformats.org/officeDocument/2006/relationships/hyperlink" Target="https://www.simplilearn.com/understanding-ipsec-rar38-article"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Computer_network" TargetMode="External"/><Relationship Id="rId2" Type="http://schemas.openxmlformats.org/officeDocument/2006/relationships/hyperlink" Target="https://en.wikipedia.org/wiki/Implementation"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hyperlink" Target="https://www.geeksforgeeks.org/computer-networks/architecture-of-software-defined-networks-sdn/"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www.geeksforgeeks.org/computer-networks/introduction-of-firewall-in-computer-network/" TargetMode="External"/><Relationship Id="rId2" Type="http://schemas.openxmlformats.org/officeDocument/2006/relationships/hyperlink" Target="https://www.geeksforgeeks.org/ethical-hacking/intrusion-detection-system-ids/" TargetMode="Externa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hyperlink" Target="https://www.geeksforgeeks.org/dsa/load-balancing-on-servers-random-algorithm/" TargetMode="External"/></Relationships>
</file>

<file path=ppt/slides/_rels/slide36.xml.rels><?xml version="1.0" encoding="UTF-8" standalone="yes"?>
<Relationships xmlns="http://schemas.openxmlformats.org/package/2006/relationships"><Relationship Id="rId2" Type="http://schemas.openxmlformats.org/officeDocument/2006/relationships/hyperlink" Target="https://www.geeksforgeeks.org/computer-networks/multicasting-in-computer-network/"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www.geeksforgeeks.org/computer-networks/what-does-a-network-administrator-do/"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04869"/>
            <a:ext cx="10515600" cy="1325563"/>
          </a:xfrm>
        </p:spPr>
        <p:txBody>
          <a:bodyPr/>
          <a:lstStyle/>
          <a:p>
            <a:r>
              <a:rPr lang="en-US" b="1" dirty="0"/>
              <a:t>Unit 3: Reference Model (6 Hours)</a:t>
            </a:r>
            <a:br>
              <a:rPr lang="en-US" dirty="0"/>
            </a:br>
            <a:endParaRPr lang="en-US" b="1" dirty="0"/>
          </a:p>
        </p:txBody>
      </p:sp>
      <p:sp>
        <p:nvSpPr>
          <p:cNvPr id="3" name="Content Placeholder 2"/>
          <p:cNvSpPr>
            <a:spLocks noGrp="1"/>
          </p:cNvSpPr>
          <p:nvPr>
            <p:ph idx="1"/>
          </p:nvPr>
        </p:nvSpPr>
        <p:spPr/>
        <p:txBody>
          <a:bodyPr/>
          <a:lstStyle/>
          <a:p>
            <a:r>
              <a:rPr lang="en-US" dirty="0"/>
              <a:t>3.1 Protocol and Protocol Layers, Architecture</a:t>
            </a:r>
          </a:p>
          <a:p>
            <a:r>
              <a:rPr lang="en-US" dirty="0"/>
              <a:t>3.2 OSI Reference Model and functions</a:t>
            </a:r>
          </a:p>
          <a:p>
            <a:r>
              <a:rPr lang="en-US" dirty="0"/>
              <a:t>3.3 TCP/IP Protocol,</a:t>
            </a:r>
          </a:p>
          <a:p>
            <a:r>
              <a:rPr lang="en-US" dirty="0"/>
              <a:t>3.4 Cross layers</a:t>
            </a:r>
          </a:p>
          <a:p>
            <a:r>
              <a:rPr lang="en-US" dirty="0"/>
              <a:t>3.5 Devices different layers</a:t>
            </a:r>
          </a:p>
          <a:p>
            <a:r>
              <a:rPr lang="en-US" dirty="0"/>
              <a:t>3.6 Software defined networks</a:t>
            </a:r>
          </a:p>
        </p:txBody>
      </p:sp>
    </p:spTree>
    <p:extLst>
      <p:ext uri="{BB962C8B-B14F-4D97-AF65-F5344CB8AC3E}">
        <p14:creationId xmlns:p14="http://schemas.microsoft.com/office/powerpoint/2010/main" val="1229841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4841" y="763572"/>
            <a:ext cx="11736371" cy="5920032"/>
          </a:xfrm>
        </p:spPr>
        <p:txBody>
          <a:bodyPr>
            <a:normAutofit/>
          </a:bodyPr>
          <a:lstStyle/>
          <a:p>
            <a:pPr marL="0" indent="0">
              <a:buNone/>
            </a:pPr>
            <a:endParaRPr lang="en-US" sz="4400" b="1" dirty="0">
              <a:solidFill>
                <a:srgbClr val="FF0000"/>
              </a:solidFill>
            </a:endParaRPr>
          </a:p>
          <a:p>
            <a:pPr marL="0" indent="0">
              <a:buNone/>
            </a:pPr>
            <a:endParaRPr lang="en-US" sz="4400" b="1" dirty="0">
              <a:solidFill>
                <a:srgbClr val="FF0000"/>
              </a:solidFill>
            </a:endParaRPr>
          </a:p>
          <a:p>
            <a:pPr marL="0" indent="0">
              <a:buNone/>
            </a:pPr>
            <a:endParaRPr lang="en-US" sz="4400" b="1" dirty="0">
              <a:solidFill>
                <a:srgbClr val="FF0000"/>
              </a:solidFill>
            </a:endParaRPr>
          </a:p>
          <a:p>
            <a:pPr marL="0" indent="0">
              <a:buNone/>
            </a:pPr>
            <a:r>
              <a:rPr lang="en-US" sz="4400" b="1" dirty="0">
                <a:solidFill>
                  <a:srgbClr val="FF0000"/>
                </a:solidFill>
              </a:rPr>
              <a:t>3.1 Protocol and Protocol Layers, Architecture</a:t>
            </a:r>
          </a:p>
        </p:txBody>
      </p:sp>
    </p:spTree>
    <p:extLst>
      <p:ext uri="{BB962C8B-B14F-4D97-AF65-F5344CB8AC3E}">
        <p14:creationId xmlns:p14="http://schemas.microsoft.com/office/powerpoint/2010/main" val="28024934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37AC6-CC8A-7E82-6967-9817D63905A1}"/>
              </a:ext>
            </a:extLst>
          </p:cNvPr>
          <p:cNvSpPr>
            <a:spLocks noGrp="1"/>
          </p:cNvSpPr>
          <p:nvPr>
            <p:ph type="title"/>
          </p:nvPr>
        </p:nvSpPr>
        <p:spPr>
          <a:xfrm>
            <a:off x="0" y="1"/>
            <a:ext cx="12192000" cy="1053547"/>
          </a:xfrm>
        </p:spPr>
        <p:txBody>
          <a:bodyPr/>
          <a:lstStyle/>
          <a:p>
            <a:r>
              <a:rPr lang="en-US" dirty="0"/>
              <a:t>Layers Architecture</a:t>
            </a:r>
          </a:p>
        </p:txBody>
      </p:sp>
      <p:sp>
        <p:nvSpPr>
          <p:cNvPr id="3" name="Content Placeholder 2">
            <a:extLst>
              <a:ext uri="{FF2B5EF4-FFF2-40B4-BE49-F238E27FC236}">
                <a16:creationId xmlns:a16="http://schemas.microsoft.com/office/drawing/2014/main" id="{76AEA288-46B8-EE58-13EA-E855FA7FDDE1}"/>
              </a:ext>
            </a:extLst>
          </p:cNvPr>
          <p:cNvSpPr>
            <a:spLocks noGrp="1"/>
          </p:cNvSpPr>
          <p:nvPr>
            <p:ph idx="1"/>
          </p:nvPr>
        </p:nvSpPr>
        <p:spPr>
          <a:xfrm>
            <a:off x="0" y="1441174"/>
            <a:ext cx="12192000" cy="5416825"/>
          </a:xfrm>
        </p:spPr>
        <p:txBody>
          <a:bodyPr/>
          <a:lstStyle/>
          <a:p>
            <a:r>
              <a:rPr lang="en-US" dirty="0"/>
              <a:t>Layered architecture in computer networks refers to dividing a network's functioning into different layers, each responsible for a certain communication component.</a:t>
            </a:r>
          </a:p>
          <a:p>
            <a:endParaRPr lang="en-US" dirty="0"/>
          </a:p>
          <a:p>
            <a:r>
              <a:rPr lang="en-US" dirty="0"/>
              <a:t> The major goal of this layered architecture is to separate the complex network communication process into manageable, smaller activities that can be better developed.</a:t>
            </a:r>
          </a:p>
        </p:txBody>
      </p:sp>
    </p:spTree>
    <p:extLst>
      <p:ext uri="{BB962C8B-B14F-4D97-AF65-F5344CB8AC3E}">
        <p14:creationId xmlns:p14="http://schemas.microsoft.com/office/powerpoint/2010/main" val="167443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C858F28-7191-72E6-441E-4F09E65DD51D}"/>
              </a:ext>
            </a:extLst>
          </p:cNvPr>
          <p:cNvSpPr>
            <a:spLocks noGrp="1"/>
          </p:cNvSpPr>
          <p:nvPr>
            <p:ph sz="half" idx="1"/>
          </p:nvPr>
        </p:nvSpPr>
        <p:spPr>
          <a:xfrm>
            <a:off x="79513" y="0"/>
            <a:ext cx="7414591" cy="6858000"/>
          </a:xfrm>
        </p:spPr>
        <p:txBody>
          <a:bodyPr>
            <a:normAutofit lnSpcReduction="10000"/>
          </a:bodyPr>
          <a:lstStyle/>
          <a:p>
            <a:pPr algn="just"/>
            <a:r>
              <a:rPr lang="en-US" dirty="0"/>
              <a:t>Every network consists of a specific number of functions, layers, and tasks to perform. </a:t>
            </a:r>
          </a:p>
          <a:p>
            <a:pPr algn="just"/>
            <a:r>
              <a:rPr lang="en-US" dirty="0"/>
              <a:t>Layered Architecture in a computer network is defined as a model where a whole network process is divided into various smaller sub-tasks.</a:t>
            </a:r>
          </a:p>
          <a:p>
            <a:pPr algn="just"/>
            <a:r>
              <a:rPr lang="en-US" dirty="0"/>
              <a:t> These divided sub-tasks are then assigned to a specific layer to perform only the dedicated tasks.</a:t>
            </a:r>
          </a:p>
          <a:p>
            <a:pPr algn="just"/>
            <a:r>
              <a:rPr lang="en-US" dirty="0"/>
              <a:t> A single layer performs only a specific type of task.</a:t>
            </a:r>
          </a:p>
          <a:p>
            <a:pPr algn="just"/>
            <a:r>
              <a:rPr lang="en-US" dirty="0"/>
              <a:t> To run the application and provide all types of services to clients a lower layer adds its services to the higher layer present above it.</a:t>
            </a:r>
          </a:p>
          <a:p>
            <a:pPr algn="just"/>
            <a:r>
              <a:rPr lang="en-US" dirty="0"/>
              <a:t> Therefore layered architecture provides interactions between the sub-systems.</a:t>
            </a:r>
          </a:p>
          <a:p>
            <a:pPr algn="just"/>
            <a:r>
              <a:rPr lang="en-US" dirty="0"/>
              <a:t> If any type of modification is done in one layer it does not affect the next layer.</a:t>
            </a:r>
          </a:p>
        </p:txBody>
      </p:sp>
      <p:pic>
        <p:nvPicPr>
          <p:cNvPr id="8" name="Content Placeholder 7">
            <a:extLst>
              <a:ext uri="{FF2B5EF4-FFF2-40B4-BE49-F238E27FC236}">
                <a16:creationId xmlns:a16="http://schemas.microsoft.com/office/drawing/2014/main" id="{9C25FDFC-FB8D-8578-3415-185BEDC5E07E}"/>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643191" y="566531"/>
            <a:ext cx="4329724" cy="5481224"/>
          </a:xfrm>
        </p:spPr>
      </p:pic>
    </p:spTree>
    <p:extLst>
      <p:ext uri="{BB962C8B-B14F-4D97-AF65-F5344CB8AC3E}">
        <p14:creationId xmlns:p14="http://schemas.microsoft.com/office/powerpoint/2010/main" val="9136230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40304A9-3197-C5FF-7015-DD8A0A884111}"/>
              </a:ext>
            </a:extLst>
          </p:cNvPr>
          <p:cNvSpPr>
            <a:spLocks noGrp="1"/>
          </p:cNvSpPr>
          <p:nvPr>
            <p:ph type="title"/>
          </p:nvPr>
        </p:nvSpPr>
        <p:spPr>
          <a:xfrm>
            <a:off x="0" y="1"/>
            <a:ext cx="12192000" cy="586408"/>
          </a:xfrm>
        </p:spPr>
        <p:txBody>
          <a:bodyPr>
            <a:normAutofit fontScale="90000"/>
          </a:bodyPr>
          <a:lstStyle/>
          <a:p>
            <a:br>
              <a:rPr lang="en-US" b="1" dirty="0"/>
            </a:br>
            <a:r>
              <a:rPr lang="en-US" b="1" dirty="0"/>
              <a:t>Features of Layered Architecture</a:t>
            </a:r>
            <a:br>
              <a:rPr lang="en-US" b="1" dirty="0"/>
            </a:br>
            <a:endParaRPr lang="en-US" dirty="0"/>
          </a:p>
        </p:txBody>
      </p:sp>
      <p:sp>
        <p:nvSpPr>
          <p:cNvPr id="6" name="Content Placeholder 5">
            <a:extLst>
              <a:ext uri="{FF2B5EF4-FFF2-40B4-BE49-F238E27FC236}">
                <a16:creationId xmlns:a16="http://schemas.microsoft.com/office/drawing/2014/main" id="{71BBF047-70FD-B509-A78F-E87D711BE319}"/>
              </a:ext>
            </a:extLst>
          </p:cNvPr>
          <p:cNvSpPr>
            <a:spLocks noGrp="1"/>
          </p:cNvSpPr>
          <p:nvPr>
            <p:ph idx="1"/>
          </p:nvPr>
        </p:nvSpPr>
        <p:spPr>
          <a:xfrm>
            <a:off x="0" y="884583"/>
            <a:ext cx="12192000" cy="5973416"/>
          </a:xfrm>
        </p:spPr>
        <p:txBody>
          <a:bodyPr>
            <a:normAutofit/>
          </a:bodyPr>
          <a:lstStyle/>
          <a:p>
            <a:pPr>
              <a:buFont typeface="Arial" panose="020B0604020202020204" pitchFamily="34" charset="0"/>
              <a:buChar char="•"/>
            </a:pPr>
            <a:r>
              <a:rPr lang="en-US" dirty="0"/>
              <a:t>Use of Layered architecture in computer network provides with the feature of modularity and distinct interfaces.</a:t>
            </a:r>
          </a:p>
          <a:p>
            <a:pPr>
              <a:buFont typeface="Arial" panose="020B0604020202020204" pitchFamily="34" charset="0"/>
              <a:buChar char="•"/>
            </a:pPr>
            <a:r>
              <a:rPr lang="en-US" dirty="0"/>
              <a:t>Layered architecture ensures independence between layers, by offering services to higher layers from the lower layers and without specifying how these services are implemented.</a:t>
            </a:r>
          </a:p>
          <a:p>
            <a:pPr>
              <a:buFont typeface="Arial" panose="020B0604020202020204" pitchFamily="34" charset="0"/>
              <a:buChar char="•"/>
            </a:pPr>
            <a:r>
              <a:rPr lang="en-US" dirty="0"/>
              <a:t>Layered architecture segments as larger and unmanageable design into small sub tasks.</a:t>
            </a:r>
          </a:p>
          <a:p>
            <a:pPr>
              <a:buFont typeface="Arial" panose="020B0604020202020204" pitchFamily="34" charset="0"/>
              <a:buChar char="•"/>
            </a:pPr>
            <a:r>
              <a:rPr lang="en-US" dirty="0"/>
              <a:t>In layer architecture every network has different number of functions, layers and content.</a:t>
            </a:r>
          </a:p>
          <a:p>
            <a:pPr>
              <a:buFont typeface="Arial" panose="020B0604020202020204" pitchFamily="34" charset="0"/>
              <a:buChar char="•"/>
            </a:pPr>
            <a:r>
              <a:rPr lang="en-US" dirty="0"/>
              <a:t>In layered architecture, the physical route provides with communication which is available under the layer 1.</a:t>
            </a:r>
          </a:p>
          <a:p>
            <a:pPr>
              <a:buFont typeface="Arial" panose="020B0604020202020204" pitchFamily="34" charset="0"/>
              <a:buChar char="•"/>
            </a:pPr>
            <a:r>
              <a:rPr lang="en-US" dirty="0"/>
              <a:t>In layered architecture, the implementation done by one layer can be modified by another layer.</a:t>
            </a:r>
          </a:p>
          <a:p>
            <a:endParaRPr lang="en-US" dirty="0"/>
          </a:p>
        </p:txBody>
      </p:sp>
    </p:spTree>
    <p:extLst>
      <p:ext uri="{BB962C8B-B14F-4D97-AF65-F5344CB8AC3E}">
        <p14:creationId xmlns:p14="http://schemas.microsoft.com/office/powerpoint/2010/main" val="20006870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9228A3-AEBB-40B1-4DB1-21C1E7B16447}"/>
              </a:ext>
            </a:extLst>
          </p:cNvPr>
          <p:cNvSpPr>
            <a:spLocks noGrp="1"/>
          </p:cNvSpPr>
          <p:nvPr>
            <p:ph type="title"/>
          </p:nvPr>
        </p:nvSpPr>
        <p:spPr>
          <a:xfrm>
            <a:off x="0" y="1"/>
            <a:ext cx="12192000" cy="934277"/>
          </a:xfrm>
        </p:spPr>
        <p:txBody>
          <a:bodyPr>
            <a:normAutofit fontScale="90000"/>
          </a:bodyPr>
          <a:lstStyle/>
          <a:p>
            <a:br>
              <a:rPr lang="en-US" b="1" dirty="0"/>
            </a:br>
            <a:r>
              <a:rPr lang="en-US" b="1" dirty="0"/>
              <a:t>Evolution of Layered Architecture</a:t>
            </a:r>
            <a:br>
              <a:rPr lang="en-US" b="1" dirty="0"/>
            </a:br>
            <a:endParaRPr lang="en-US" dirty="0"/>
          </a:p>
        </p:txBody>
      </p:sp>
      <p:sp>
        <p:nvSpPr>
          <p:cNvPr id="3" name="Content Placeholder 2">
            <a:extLst>
              <a:ext uri="{FF2B5EF4-FFF2-40B4-BE49-F238E27FC236}">
                <a16:creationId xmlns:a16="http://schemas.microsoft.com/office/drawing/2014/main" id="{61B40102-9A3E-7B47-7F1A-8E0FCA966EDE}"/>
              </a:ext>
            </a:extLst>
          </p:cNvPr>
          <p:cNvSpPr>
            <a:spLocks noGrp="1"/>
          </p:cNvSpPr>
          <p:nvPr>
            <p:ph idx="1"/>
          </p:nvPr>
        </p:nvSpPr>
        <p:spPr>
          <a:xfrm>
            <a:off x="0" y="1033670"/>
            <a:ext cx="12066104" cy="5695121"/>
          </a:xfrm>
        </p:spPr>
        <p:txBody>
          <a:bodyPr/>
          <a:lstStyle/>
          <a:p>
            <a:pPr algn="just" rtl="0"/>
            <a:r>
              <a:rPr lang="en-US" dirty="0">
                <a:effectLst/>
              </a:rPr>
              <a:t>In computer networks, layered architecture is majorly used for communication.</a:t>
            </a:r>
          </a:p>
          <a:p>
            <a:pPr algn="just" rtl="0"/>
            <a:endParaRPr lang="en-US" dirty="0"/>
          </a:p>
          <a:p>
            <a:pPr algn="just" rtl="0"/>
            <a:r>
              <a:rPr lang="en-US" dirty="0">
                <a:effectLst/>
              </a:rPr>
              <a:t> The two network models that makes use of layered architecture are:</a:t>
            </a:r>
          </a:p>
          <a:p>
            <a:pPr algn="just" rtl="0"/>
            <a:endParaRPr lang="en-US" dirty="0">
              <a:effectLst/>
            </a:endParaRPr>
          </a:p>
          <a:p>
            <a:pPr>
              <a:buFont typeface="Arial" panose="020B0604020202020204" pitchFamily="34" charset="0"/>
              <a:buChar char="•"/>
            </a:pPr>
            <a:r>
              <a:rPr lang="en-US" dirty="0"/>
              <a:t>OSI Model</a:t>
            </a:r>
          </a:p>
          <a:p>
            <a:pPr>
              <a:buFont typeface="Arial" panose="020B0604020202020204" pitchFamily="34" charset="0"/>
              <a:buChar char="•"/>
            </a:pPr>
            <a:endParaRPr lang="en-US" dirty="0"/>
          </a:p>
          <a:p>
            <a:pPr>
              <a:buFont typeface="Arial" panose="020B0604020202020204" pitchFamily="34" charset="0"/>
              <a:buChar char="•"/>
            </a:pPr>
            <a:r>
              <a:rPr lang="en-US" dirty="0"/>
              <a:t>TCP/IP Model</a:t>
            </a:r>
          </a:p>
          <a:p>
            <a:endParaRPr lang="en-US" dirty="0"/>
          </a:p>
        </p:txBody>
      </p:sp>
    </p:spTree>
    <p:extLst>
      <p:ext uri="{BB962C8B-B14F-4D97-AF65-F5344CB8AC3E}">
        <p14:creationId xmlns:p14="http://schemas.microsoft.com/office/powerpoint/2010/main" val="235695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BA8145-1816-B0CB-F9AB-184E5067A7BA}"/>
              </a:ext>
            </a:extLst>
          </p:cNvPr>
          <p:cNvSpPr>
            <a:spLocks noGrp="1"/>
          </p:cNvSpPr>
          <p:nvPr>
            <p:ph idx="1"/>
          </p:nvPr>
        </p:nvSpPr>
        <p:spPr>
          <a:xfrm>
            <a:off x="0" y="0"/>
            <a:ext cx="12192000" cy="6858000"/>
          </a:xfrm>
        </p:spPr>
        <p:txBody>
          <a:bodyPr>
            <a:normAutofit fontScale="77500" lnSpcReduction="20000"/>
          </a:bodyPr>
          <a:lstStyle/>
          <a:p>
            <a:pPr marL="0" indent="0">
              <a:buNone/>
            </a:pPr>
            <a:r>
              <a:rPr lang="en-US" sz="4100" b="1" dirty="0"/>
              <a:t>3.2 OSI Reference Model and functions</a:t>
            </a:r>
          </a:p>
          <a:p>
            <a:endParaRPr lang="en-US" b="1" dirty="0"/>
          </a:p>
          <a:p>
            <a:r>
              <a:rPr lang="en-US" dirty="0">
                <a:latin typeface="Times New Roman" panose="02020603050405020304" pitchFamily="18" charset="0"/>
                <a:cs typeface="Times New Roman" panose="02020603050405020304" pitchFamily="18" charset="0"/>
              </a:rPr>
              <a:t>The open systems interconnection (OSI) model is a conceptual model created by the International Organization for Standardization which enables diverse communication systems to communicate using standard </a:t>
            </a:r>
            <a:r>
              <a:rPr lang="en-US" dirty="0">
                <a:latin typeface="Times New Roman" panose="02020603050405020304" pitchFamily="18" charset="0"/>
                <a:cs typeface="Times New Roman" panose="02020603050405020304" pitchFamily="18" charset="0"/>
                <a:hlinkClick r:id="rId2"/>
              </a:rPr>
              <a:t>protocols</a:t>
            </a:r>
            <a:r>
              <a:rPr lang="en-US" dirty="0">
                <a:latin typeface="Times New Roman" panose="02020603050405020304" pitchFamily="18" charset="0"/>
                <a:cs typeface="Times New Roman" panose="02020603050405020304" pitchFamily="18" charset="0"/>
              </a:rPr>
              <a:t>.</a:t>
            </a:r>
          </a:p>
          <a:p>
            <a:endParaRPr lang="en-US" dirty="0">
              <a:effectLst/>
              <a:latin typeface="Times New Roman" panose="02020603050405020304" pitchFamily="18" charset="0"/>
              <a:cs typeface="Times New Roman" panose="02020603050405020304" pitchFamily="18" charset="0"/>
            </a:endParaRPr>
          </a:p>
          <a:p>
            <a:pPr algn="just" rtl="0"/>
            <a:r>
              <a:rPr lang="en-US" dirty="0">
                <a:effectLst/>
                <a:latin typeface="Times New Roman" panose="02020603050405020304" pitchFamily="18" charset="0"/>
                <a:cs typeface="Times New Roman" panose="02020603050405020304" pitchFamily="18" charset="0"/>
              </a:rPr>
              <a:t> It is a 7-layer architecture with each layer having specific functionality to perform. </a:t>
            </a:r>
          </a:p>
          <a:p>
            <a:pPr algn="just" rtl="0"/>
            <a:r>
              <a:rPr lang="en-US" dirty="0">
                <a:effectLst/>
                <a:latin typeface="Times New Roman" panose="02020603050405020304" pitchFamily="18" charset="0"/>
                <a:cs typeface="Times New Roman" panose="02020603050405020304" pitchFamily="18" charset="0"/>
              </a:rPr>
              <a:t>All these 7 layers work collaboratively to transmit the data from one person to another across the globe.</a:t>
            </a:r>
          </a:p>
          <a:p>
            <a:pPr algn="just" rtl="0"/>
            <a:endParaRPr lang="en-US" dirty="0">
              <a:effectLst/>
              <a:latin typeface="Times New Roman" panose="02020603050405020304" pitchFamily="18" charset="0"/>
              <a:cs typeface="Times New Roman" panose="02020603050405020304" pitchFamily="18" charset="0"/>
            </a:endParaRPr>
          </a:p>
          <a:p>
            <a:pPr algn="just" rtl="0"/>
            <a:r>
              <a:rPr lang="en-US" dirty="0">
                <a:effectLst/>
                <a:latin typeface="Times New Roman" panose="02020603050405020304" pitchFamily="18" charset="0"/>
                <a:cs typeface="Times New Roman" panose="02020603050405020304" pitchFamily="18" charset="0"/>
              </a:rPr>
              <a:t> The OSI reference model was developed by </a:t>
            </a:r>
            <a:r>
              <a:rPr lang="en-US" b="1" dirty="0">
                <a:effectLst/>
                <a:latin typeface="Times New Roman" panose="02020603050405020304" pitchFamily="18" charset="0"/>
                <a:cs typeface="Times New Roman" panose="02020603050405020304" pitchFamily="18" charset="0"/>
              </a:rPr>
              <a:t>ISO – ‘International Organization for Standardization</a:t>
            </a:r>
            <a:r>
              <a:rPr lang="en-US" dirty="0">
                <a:effectLst/>
                <a:latin typeface="Times New Roman" panose="02020603050405020304" pitchFamily="18" charset="0"/>
                <a:cs typeface="Times New Roman" panose="02020603050405020304" pitchFamily="18" charset="0"/>
              </a:rPr>
              <a:t>‘, in the year 1984.</a:t>
            </a:r>
          </a:p>
          <a:p>
            <a:pPr algn="just" rtl="0"/>
            <a:endParaRPr lang="en-US" dirty="0">
              <a:effectLst/>
              <a:latin typeface="Times New Roman" panose="02020603050405020304" pitchFamily="18" charset="0"/>
              <a:cs typeface="Times New Roman" panose="02020603050405020304" pitchFamily="18" charset="0"/>
            </a:endParaRPr>
          </a:p>
          <a:p>
            <a:pPr algn="just" rtl="0"/>
            <a:r>
              <a:rPr lang="en-US" dirty="0">
                <a:effectLst/>
                <a:latin typeface="Times New Roman" panose="02020603050405020304" pitchFamily="18" charset="0"/>
                <a:cs typeface="Times New Roman" panose="02020603050405020304" pitchFamily="18" charset="0"/>
              </a:rPr>
              <a:t>The OSI model provides a </a:t>
            </a:r>
            <a:r>
              <a:rPr lang="en-US" b="1" dirty="0">
                <a:effectLst/>
                <a:latin typeface="Times New Roman" panose="02020603050405020304" pitchFamily="18" charset="0"/>
                <a:cs typeface="Times New Roman" panose="02020603050405020304" pitchFamily="18" charset="0"/>
              </a:rPr>
              <a:t>theoretical foundation</a:t>
            </a:r>
            <a:r>
              <a:rPr lang="en-US" dirty="0">
                <a:effectLst/>
                <a:latin typeface="Times New Roman" panose="02020603050405020304" pitchFamily="18" charset="0"/>
                <a:cs typeface="Times New Roman" panose="02020603050405020304" pitchFamily="18" charset="0"/>
              </a:rPr>
              <a:t> for understanding </a:t>
            </a:r>
            <a:r>
              <a:rPr lang="en-US" b="1" dirty="0">
                <a:effectLst/>
                <a:latin typeface="Times New Roman" panose="02020603050405020304" pitchFamily="18" charset="0"/>
                <a:cs typeface="Times New Roman" panose="02020603050405020304" pitchFamily="18" charset="0"/>
              </a:rPr>
              <a:t>network communication</a:t>
            </a:r>
            <a:r>
              <a:rPr lang="en-US" dirty="0">
                <a:effectLst/>
                <a:latin typeface="Times New Roman" panose="02020603050405020304" pitchFamily="18" charset="0"/>
                <a:cs typeface="Times New Roman" panose="02020603050405020304" pitchFamily="18" charset="0"/>
              </a:rPr>
              <a:t>.</a:t>
            </a:r>
          </a:p>
          <a:p>
            <a:pPr algn="just" rtl="0"/>
            <a:r>
              <a:rPr lang="en-US" dirty="0">
                <a:effectLst/>
                <a:latin typeface="Times New Roman" panose="02020603050405020304" pitchFamily="18" charset="0"/>
                <a:cs typeface="Times New Roman" panose="02020603050405020304" pitchFamily="18" charset="0"/>
              </a:rPr>
              <a:t> However, it is usually not directly implemented in its entirety in real-world </a:t>
            </a:r>
            <a:r>
              <a:rPr lang="en-US" b="1" dirty="0">
                <a:effectLst/>
                <a:latin typeface="Times New Roman" panose="02020603050405020304" pitchFamily="18" charset="0"/>
                <a:cs typeface="Times New Roman" panose="02020603050405020304" pitchFamily="18" charset="0"/>
              </a:rPr>
              <a:t>networking hardware</a:t>
            </a:r>
            <a:r>
              <a:rPr lang="en-US" dirty="0">
                <a:effectLst/>
                <a:latin typeface="Times New Roman" panose="02020603050405020304" pitchFamily="18" charset="0"/>
                <a:cs typeface="Times New Roman" panose="02020603050405020304" pitchFamily="18" charset="0"/>
              </a:rPr>
              <a:t> or </a:t>
            </a:r>
            <a:r>
              <a:rPr lang="en-US" b="1" dirty="0">
                <a:effectLst/>
                <a:latin typeface="Times New Roman" panose="02020603050405020304" pitchFamily="18" charset="0"/>
                <a:cs typeface="Times New Roman" panose="02020603050405020304" pitchFamily="18" charset="0"/>
              </a:rPr>
              <a:t>software.</a:t>
            </a:r>
          </a:p>
          <a:p>
            <a:pPr algn="just" rtl="0"/>
            <a:endParaRPr lang="en-US" b="1" dirty="0">
              <a:latin typeface="Times New Roman" panose="02020603050405020304" pitchFamily="18" charset="0"/>
              <a:cs typeface="Times New Roman" panose="02020603050405020304" pitchFamily="18" charset="0"/>
            </a:endParaRPr>
          </a:p>
          <a:p>
            <a:pPr algn="just" rtl="0"/>
            <a:r>
              <a:rPr lang="en-US" dirty="0">
                <a:effectLst/>
                <a:latin typeface="Times New Roman" panose="02020603050405020304" pitchFamily="18" charset="0"/>
                <a:cs typeface="Times New Roman" panose="02020603050405020304" pitchFamily="18" charset="0"/>
              </a:rPr>
              <a:t> Instead, </a:t>
            </a:r>
            <a:r>
              <a:rPr lang="en-US" b="1" dirty="0">
                <a:effectLst/>
                <a:latin typeface="Times New Roman" panose="02020603050405020304" pitchFamily="18" charset="0"/>
                <a:cs typeface="Times New Roman" panose="02020603050405020304" pitchFamily="18" charset="0"/>
              </a:rPr>
              <a:t>specific protocols</a:t>
            </a:r>
            <a:r>
              <a:rPr lang="en-US" dirty="0">
                <a:effectLst/>
                <a:latin typeface="Times New Roman" panose="02020603050405020304" pitchFamily="18" charset="0"/>
                <a:cs typeface="Times New Roman" panose="02020603050405020304" pitchFamily="18" charset="0"/>
              </a:rPr>
              <a:t> and </a:t>
            </a:r>
            <a:r>
              <a:rPr lang="en-US" b="1" dirty="0">
                <a:effectLst/>
                <a:latin typeface="Times New Roman" panose="02020603050405020304" pitchFamily="18" charset="0"/>
                <a:cs typeface="Times New Roman" panose="02020603050405020304" pitchFamily="18" charset="0"/>
              </a:rPr>
              <a:t>technologies </a:t>
            </a:r>
            <a:r>
              <a:rPr lang="en-US" dirty="0">
                <a:effectLst/>
                <a:latin typeface="Times New Roman" panose="02020603050405020304" pitchFamily="18" charset="0"/>
                <a:cs typeface="Times New Roman" panose="02020603050405020304" pitchFamily="18" charset="0"/>
              </a:rPr>
              <a:t>are often designed based on the principles outlined in the </a:t>
            </a:r>
            <a:r>
              <a:rPr lang="en-US" b="1" dirty="0">
                <a:effectLst/>
                <a:latin typeface="Times New Roman" panose="02020603050405020304" pitchFamily="18" charset="0"/>
                <a:cs typeface="Times New Roman" panose="02020603050405020304" pitchFamily="18" charset="0"/>
              </a:rPr>
              <a:t>OSI model</a:t>
            </a:r>
            <a:r>
              <a:rPr lang="en-US" dirty="0">
                <a:effectLst/>
                <a:latin typeface="Times New Roman" panose="02020603050405020304" pitchFamily="18" charset="0"/>
                <a:cs typeface="Times New Roman" panose="02020603050405020304" pitchFamily="18" charset="0"/>
              </a:rPr>
              <a:t> to facilitate efficient data transmission and networking operations.</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OSI Model can be seen as a universal language for computer networking.</a:t>
            </a:r>
          </a:p>
          <a:p>
            <a:endParaRPr lang="en-US" dirty="0">
              <a:latin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366108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DB405D4-EC7E-16D2-C27C-CB92D7A63D8B}"/>
              </a:ext>
            </a:extLst>
          </p:cNvPr>
          <p:cNvPicPr>
            <a:picLocks noGrp="1" noChangeAspect="1"/>
          </p:cNvPicPr>
          <p:nvPr>
            <p:ph idx="1"/>
          </p:nvPr>
        </p:nvPicPr>
        <p:blipFill>
          <a:blip r:embed="rId2" cstate="hqprint">
            <a:extLst>
              <a:ext uri="{28A0092B-C50C-407E-A947-70E740481C1C}">
                <a14:useLocalDpi xmlns:a14="http://schemas.microsoft.com/office/drawing/2010/main" val="0"/>
              </a:ext>
            </a:extLst>
          </a:blip>
          <a:stretch>
            <a:fillRect/>
          </a:stretch>
        </p:blipFill>
        <p:spPr>
          <a:xfrm>
            <a:off x="838199" y="542924"/>
            <a:ext cx="10525125" cy="6162675"/>
          </a:xfrm>
        </p:spPr>
      </p:pic>
    </p:spTree>
    <p:extLst>
      <p:ext uri="{BB962C8B-B14F-4D97-AF65-F5344CB8AC3E}">
        <p14:creationId xmlns:p14="http://schemas.microsoft.com/office/powerpoint/2010/main" val="435945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DD5D20C-DA1F-FC6D-D7CF-01A2BA03611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66776" y="628651"/>
            <a:ext cx="10010774" cy="5653088"/>
          </a:xfrm>
        </p:spPr>
      </p:pic>
    </p:spTree>
    <p:extLst>
      <p:ext uri="{BB962C8B-B14F-4D97-AF65-F5344CB8AC3E}">
        <p14:creationId xmlns:p14="http://schemas.microsoft.com/office/powerpoint/2010/main" val="3637054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EC9B96-5E7B-1478-3B52-81A595C9FBB9}"/>
              </a:ext>
            </a:extLst>
          </p:cNvPr>
          <p:cNvSpPr>
            <a:spLocks noGrp="1"/>
          </p:cNvSpPr>
          <p:nvPr>
            <p:ph idx="1"/>
          </p:nvPr>
        </p:nvSpPr>
        <p:spPr>
          <a:xfrm>
            <a:off x="0" y="0"/>
            <a:ext cx="12192000" cy="6930189"/>
          </a:xfrm>
        </p:spPr>
        <p:txBody>
          <a:bodyPr>
            <a:normAutofit/>
          </a:bodyPr>
          <a:lstStyle/>
          <a:p>
            <a:pPr marL="0" indent="0">
              <a:buNone/>
            </a:pPr>
            <a:r>
              <a:rPr lang="en-US" b="1" dirty="0"/>
              <a:t> Layers and Functions</a:t>
            </a:r>
          </a:p>
          <a:p>
            <a:endParaRPr lang="en-US" b="1" dirty="0"/>
          </a:p>
          <a:p>
            <a:r>
              <a:rPr lang="en-US" dirty="0"/>
              <a:t>For the OSI model, let’s start at the top layer and work our way down.</a:t>
            </a:r>
          </a:p>
          <a:p>
            <a:pPr>
              <a:buFont typeface="Arial" panose="020B0604020202020204" pitchFamily="34" charset="0"/>
              <a:buChar char="•"/>
            </a:pPr>
            <a:r>
              <a:rPr lang="en-US" dirty="0"/>
              <a:t>Layer 7 (Application): Most of what the user actually interacts with is at this layer. Web browsers and other internet-connected applications (like Skype or Outlook) use Layer 7 application protocols.</a:t>
            </a:r>
          </a:p>
          <a:p>
            <a:pPr>
              <a:buFont typeface="Arial" panose="020B0604020202020204" pitchFamily="34" charset="0"/>
              <a:buChar char="•"/>
            </a:pPr>
            <a:endParaRPr lang="en-US" dirty="0"/>
          </a:p>
          <a:p>
            <a:pPr>
              <a:buFont typeface="Arial" panose="020B0604020202020204" pitchFamily="34" charset="0"/>
              <a:buChar char="•"/>
            </a:pPr>
            <a:r>
              <a:rPr lang="en-US" dirty="0"/>
              <a:t>Layer 6 (Presentation): This layer converts data to and from the Application layer. In other words, it translates application formatting to network formatting and vice versa. This allows the different layers to understand each other.</a:t>
            </a:r>
          </a:p>
          <a:p>
            <a:pPr>
              <a:buFont typeface="Arial" panose="020B0604020202020204" pitchFamily="34" charset="0"/>
              <a:buChar char="•"/>
            </a:pPr>
            <a:endParaRPr lang="en-US" dirty="0"/>
          </a:p>
          <a:p>
            <a:pPr>
              <a:buFont typeface="Arial" panose="020B0604020202020204" pitchFamily="34" charset="0"/>
              <a:buChar char="•"/>
            </a:pPr>
            <a:r>
              <a:rPr lang="en-US" dirty="0"/>
              <a:t>Layer 5 (Session): This layer establishes and terminates connections between devices. It also determines which packets belong to which text and image files.</a:t>
            </a:r>
          </a:p>
          <a:p>
            <a:endParaRPr lang="en-US" dirty="0"/>
          </a:p>
        </p:txBody>
      </p:sp>
    </p:spTree>
    <p:extLst>
      <p:ext uri="{BB962C8B-B14F-4D97-AF65-F5344CB8AC3E}">
        <p14:creationId xmlns:p14="http://schemas.microsoft.com/office/powerpoint/2010/main" val="22995390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0ED8F-045B-8EB2-2027-E85791C0B58D}"/>
              </a:ext>
            </a:extLst>
          </p:cNvPr>
          <p:cNvSpPr>
            <a:spLocks noGrp="1"/>
          </p:cNvSpPr>
          <p:nvPr>
            <p:ph idx="1"/>
          </p:nvPr>
        </p:nvSpPr>
        <p:spPr>
          <a:xfrm>
            <a:off x="0" y="0"/>
            <a:ext cx="12192000" cy="6858000"/>
          </a:xfrm>
        </p:spPr>
        <p:txBody>
          <a:bodyPr>
            <a:normAutofit/>
          </a:bodyPr>
          <a:lstStyle/>
          <a:p>
            <a:pPr>
              <a:buFont typeface="Arial" panose="020B0604020202020204" pitchFamily="34" charset="0"/>
              <a:buChar char="•"/>
            </a:pPr>
            <a:r>
              <a:rPr lang="en-US" dirty="0"/>
              <a:t>Layer 4 (Transport): This layer coordinates data transfer between system and hosts, including error-checking and data recovery.</a:t>
            </a:r>
          </a:p>
          <a:p>
            <a:pPr>
              <a:buFont typeface="Arial" panose="020B0604020202020204" pitchFamily="34" charset="0"/>
              <a:buChar char="•"/>
            </a:pPr>
            <a:endParaRPr lang="en-US" dirty="0"/>
          </a:p>
          <a:p>
            <a:pPr>
              <a:buFont typeface="Arial" panose="020B0604020202020204" pitchFamily="34" charset="0"/>
              <a:buChar char="•"/>
            </a:pPr>
            <a:r>
              <a:rPr lang="en-US" dirty="0"/>
              <a:t>Layer 3 (Network): This layer determines how data is sent to the receiving device. It’s responsible for packet forwarding, routing, and addressing.</a:t>
            </a:r>
          </a:p>
          <a:p>
            <a:pPr>
              <a:buFont typeface="Arial" panose="020B0604020202020204" pitchFamily="34" charset="0"/>
              <a:buChar char="•"/>
            </a:pPr>
            <a:endParaRPr lang="en-US" dirty="0"/>
          </a:p>
          <a:p>
            <a:pPr>
              <a:buFont typeface="Arial" panose="020B0604020202020204" pitchFamily="34" charset="0"/>
              <a:buChar char="•"/>
            </a:pPr>
            <a:r>
              <a:rPr lang="en-US" dirty="0"/>
              <a:t>Layer 2 (Data Link): Translates binary (or BITs) into signals and allows upper layers to access media.</a:t>
            </a:r>
          </a:p>
          <a:p>
            <a:pPr>
              <a:buFont typeface="Arial" panose="020B0604020202020204" pitchFamily="34" charset="0"/>
              <a:buChar char="•"/>
            </a:pPr>
            <a:endParaRPr lang="en-US" dirty="0"/>
          </a:p>
          <a:p>
            <a:pPr>
              <a:buFont typeface="Arial" panose="020B0604020202020204" pitchFamily="34" charset="0"/>
              <a:buChar char="•"/>
            </a:pPr>
            <a:r>
              <a:rPr lang="en-US" dirty="0"/>
              <a:t>Layer 1 (Physical): Actual hardware sits at this layer. It transmits signals over media.</a:t>
            </a:r>
          </a:p>
          <a:p>
            <a:pPr>
              <a:buFont typeface="Arial" panose="020B0604020202020204" pitchFamily="34" charset="0"/>
              <a:buChar char="•"/>
            </a:pPr>
            <a:endParaRPr lang="en-US" dirty="0"/>
          </a:p>
          <a:p>
            <a:r>
              <a:rPr lang="en-US" dirty="0"/>
              <a:t>The TCP/IP model, sometimes referred to as a protocol stack, can be considered a condensed version of the OSI model.</a:t>
            </a:r>
          </a:p>
          <a:p>
            <a:endParaRPr lang="en-US" dirty="0"/>
          </a:p>
        </p:txBody>
      </p:sp>
    </p:spTree>
    <p:extLst>
      <p:ext uri="{BB962C8B-B14F-4D97-AF65-F5344CB8AC3E}">
        <p14:creationId xmlns:p14="http://schemas.microsoft.com/office/powerpoint/2010/main" val="267981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3377" y="452487"/>
            <a:ext cx="11080423" cy="5724476"/>
          </a:xfrm>
        </p:spPr>
        <p:txBody>
          <a:bodyPr>
            <a:normAutofit/>
          </a:bodyPr>
          <a:lstStyle/>
          <a:p>
            <a:pPr marL="0" indent="0" algn="ctr">
              <a:buNone/>
            </a:pPr>
            <a:endParaRPr lang="en-US" sz="6000" b="1" dirty="0">
              <a:solidFill>
                <a:srgbClr val="FF0000"/>
              </a:solidFill>
            </a:endParaRPr>
          </a:p>
          <a:p>
            <a:pPr marL="0" indent="0" algn="ctr">
              <a:buNone/>
            </a:pPr>
            <a:endParaRPr lang="en-US" sz="6000" b="1" dirty="0">
              <a:solidFill>
                <a:srgbClr val="FF0000"/>
              </a:solidFill>
            </a:endParaRPr>
          </a:p>
          <a:p>
            <a:pPr marL="0" indent="0" algn="ctr">
              <a:buNone/>
            </a:pPr>
            <a:r>
              <a:rPr lang="en-US" sz="6000" b="1" dirty="0">
                <a:solidFill>
                  <a:srgbClr val="FF0000"/>
                </a:solidFill>
              </a:rPr>
              <a:t>3.3 TCP/IP Protocol</a:t>
            </a:r>
          </a:p>
        </p:txBody>
      </p:sp>
    </p:spTree>
    <p:extLst>
      <p:ext uri="{BB962C8B-B14F-4D97-AF65-F5344CB8AC3E}">
        <p14:creationId xmlns:p14="http://schemas.microsoft.com/office/powerpoint/2010/main" val="4087729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B0DB62-DB99-D633-E746-A20DEF34B713}"/>
              </a:ext>
            </a:extLst>
          </p:cNvPr>
          <p:cNvSpPr>
            <a:spLocks noGrp="1"/>
          </p:cNvSpPr>
          <p:nvPr>
            <p:ph idx="1"/>
          </p:nvPr>
        </p:nvSpPr>
        <p:spPr>
          <a:xfrm>
            <a:off x="0" y="0"/>
            <a:ext cx="12192000" cy="6858000"/>
          </a:xfrm>
        </p:spPr>
        <p:txBody>
          <a:bodyPr/>
          <a:lstStyle/>
          <a:p>
            <a:r>
              <a:rPr lang="en-US" dirty="0"/>
              <a:t>These layers are divided in such a way that each layer uses the output of the layer right below it, performs the allocated functions, and prepares the input for the next layer, or vice versa. </a:t>
            </a:r>
          </a:p>
          <a:p>
            <a:r>
              <a:rPr lang="en-US" dirty="0"/>
              <a:t> </a:t>
            </a:r>
          </a:p>
          <a:p>
            <a:r>
              <a:rPr lang="en-US" dirty="0"/>
              <a:t>This layered architecture is called the </a:t>
            </a:r>
            <a:r>
              <a:rPr lang="en-US" b="1" dirty="0"/>
              <a:t>four -layer internet protocol stack</a:t>
            </a:r>
            <a:r>
              <a:rPr lang="en-US" dirty="0"/>
              <a:t>.</a:t>
            </a:r>
          </a:p>
          <a:p>
            <a:endParaRPr lang="en-US" dirty="0"/>
          </a:p>
          <a:p>
            <a:r>
              <a:rPr lang="en-US" dirty="0"/>
              <a:t>There are four layers in the internet protocol stack, as shown in the table below</a:t>
            </a:r>
          </a:p>
          <a:p>
            <a:endParaRPr lang="en-US" dirty="0"/>
          </a:p>
          <a:p>
            <a:endParaRPr lang="en-US" dirty="0"/>
          </a:p>
        </p:txBody>
      </p:sp>
      <p:pic>
        <p:nvPicPr>
          <p:cNvPr id="9" name="Picture 8">
            <a:extLst>
              <a:ext uri="{FF2B5EF4-FFF2-40B4-BE49-F238E27FC236}">
                <a16:creationId xmlns:a16="http://schemas.microsoft.com/office/drawing/2014/main" id="{B426F065-FC03-1645-1917-6BFB5CBB6C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3315" y="3497344"/>
            <a:ext cx="10869105" cy="3186260"/>
          </a:xfrm>
          <a:prstGeom prst="rect">
            <a:avLst/>
          </a:prstGeom>
        </p:spPr>
      </p:pic>
    </p:spTree>
    <p:extLst>
      <p:ext uri="{BB962C8B-B14F-4D97-AF65-F5344CB8AC3E}">
        <p14:creationId xmlns:p14="http://schemas.microsoft.com/office/powerpoint/2010/main" val="271608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1BF9DA-719B-1DA5-9BD8-E784B37FDF63}"/>
              </a:ext>
            </a:extLst>
          </p:cNvPr>
          <p:cNvSpPr>
            <a:spLocks noGrp="1"/>
          </p:cNvSpPr>
          <p:nvPr>
            <p:ph idx="1"/>
          </p:nvPr>
        </p:nvSpPr>
        <p:spPr>
          <a:xfrm>
            <a:off x="0" y="0"/>
            <a:ext cx="11353800" cy="6858000"/>
          </a:xfrm>
        </p:spPr>
        <p:txBody>
          <a:bodyPr>
            <a:normAutofit/>
          </a:bodyPr>
          <a:lstStyle/>
          <a:p>
            <a:pPr marL="0" indent="0">
              <a:buNone/>
            </a:pPr>
            <a:r>
              <a:rPr lang="en-US" b="1" dirty="0"/>
              <a:t>Application layer</a:t>
            </a:r>
          </a:p>
          <a:p>
            <a:r>
              <a:rPr lang="en-US" dirty="0"/>
              <a:t>As suggested by its name, the </a:t>
            </a:r>
            <a:r>
              <a:rPr lang="en-US" b="1" dirty="0"/>
              <a:t>application layer</a:t>
            </a:r>
            <a:r>
              <a:rPr lang="en-US" dirty="0"/>
              <a:t> is responsible for communication between applications running on two different end systems. </a:t>
            </a:r>
          </a:p>
          <a:p>
            <a:r>
              <a:rPr lang="en-US" dirty="0"/>
              <a:t>A message or data transferred from one end is readable for the corresponding application on the other end. These applications include web browsers, email clients, etc.</a:t>
            </a:r>
          </a:p>
          <a:p>
            <a:r>
              <a:rPr lang="en-US" dirty="0"/>
              <a:t>At the application layer, the data being transferred is called a </a:t>
            </a:r>
            <a:r>
              <a:rPr lang="en-US" i="1" dirty="0"/>
              <a:t>message</a:t>
            </a:r>
            <a:r>
              <a:rPr lang="en-US" dirty="0"/>
              <a:t>.</a:t>
            </a:r>
          </a:p>
          <a:p>
            <a:r>
              <a:rPr lang="en-US" dirty="0"/>
              <a:t>The protocols used at the application layer include:</a:t>
            </a:r>
          </a:p>
          <a:p>
            <a:pPr>
              <a:buFont typeface="Arial" panose="020B0604020202020204" pitchFamily="34" charset="0"/>
              <a:buChar char="•"/>
            </a:pPr>
            <a:r>
              <a:rPr lang="en-US" dirty="0"/>
              <a:t>Hypertext Transfer Protocol (HTTP): for transferring HTML web documents</a:t>
            </a:r>
          </a:p>
          <a:p>
            <a:pPr>
              <a:buFont typeface="Arial" panose="020B0604020202020204" pitchFamily="34" charset="0"/>
              <a:buChar char="•"/>
            </a:pPr>
            <a:r>
              <a:rPr lang="en-US" dirty="0"/>
              <a:t>File Transfer Protocol (FTP): for transferring files</a:t>
            </a:r>
          </a:p>
          <a:p>
            <a:pPr>
              <a:buFont typeface="Arial" panose="020B0604020202020204" pitchFamily="34" charset="0"/>
              <a:buChar char="•"/>
            </a:pPr>
            <a:r>
              <a:rPr lang="en-US" dirty="0"/>
              <a:t>Simple Mail Transfer Protocol (SMTP): for transferring e-mail messages</a:t>
            </a:r>
          </a:p>
          <a:p>
            <a:pPr>
              <a:buFont typeface="Arial" panose="020B0604020202020204" pitchFamily="34" charset="0"/>
              <a:buChar char="•"/>
            </a:pPr>
            <a:r>
              <a:rPr lang="en-US" dirty="0"/>
              <a:t>Domain Name System (DNS): for translation of human-friendly domain names into IP addresses</a:t>
            </a:r>
          </a:p>
          <a:p>
            <a:endParaRPr lang="en-US" dirty="0"/>
          </a:p>
        </p:txBody>
      </p:sp>
    </p:spTree>
    <p:extLst>
      <p:ext uri="{BB962C8B-B14F-4D97-AF65-F5344CB8AC3E}">
        <p14:creationId xmlns:p14="http://schemas.microsoft.com/office/powerpoint/2010/main" val="33971827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95C1CC-AC77-A377-D74E-8E4C080A32E3}"/>
              </a:ext>
            </a:extLst>
          </p:cNvPr>
          <p:cNvSpPr>
            <a:spLocks noGrp="1"/>
          </p:cNvSpPr>
          <p:nvPr>
            <p:ph idx="1"/>
          </p:nvPr>
        </p:nvSpPr>
        <p:spPr>
          <a:xfrm>
            <a:off x="0" y="0"/>
            <a:ext cx="12310712" cy="6756935"/>
          </a:xfrm>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Transport layer</a:t>
            </a:r>
          </a:p>
          <a:p>
            <a:pPr eaLnBrk="0" fontAlgn="base" hangingPunct="0">
              <a:lnSpc>
                <a:spcPct val="100000"/>
              </a:lnSpc>
              <a:spcBef>
                <a:spcPct val="0"/>
              </a:spcBef>
              <a:spcAft>
                <a:spcPct val="0"/>
              </a:spcAft>
            </a:pPr>
            <a:r>
              <a:rPr kumimoji="0" lang="en-US" altLang="en-US" sz="2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On the sending end, the </a:t>
            </a:r>
            <a:r>
              <a:rPr kumimoji="0" lang="en-US" altLang="en-US" sz="2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transport layer</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is responsible for collecting the application layer message from the relevant end-point and transferring it to the network layer to be communicated over the network.</a:t>
            </a:r>
          </a:p>
          <a:p>
            <a:pPr eaLnBrk="0" fontAlgn="base" hangingPunct="0">
              <a:lnSpc>
                <a:spcPct val="100000"/>
              </a:lnSpc>
              <a:spcBef>
                <a:spcPct val="0"/>
              </a:spcBef>
              <a:spcAft>
                <a:spcPct val="0"/>
              </a:spcAf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receiving end collects the message from the network layer and passes it on to the relevant end-point where the application layer can access that message.</a:t>
            </a:r>
          </a:p>
          <a:p>
            <a:pPr eaLnBrk="0" fontAlgn="base" hangingPunct="0">
              <a:lnSpc>
                <a:spcPct val="100000"/>
              </a:lnSpc>
              <a:spcBef>
                <a:spcPct val="0"/>
              </a:spcBef>
              <a:spcAft>
                <a:spcPct val="0"/>
              </a:spcAf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These end-points are called </a:t>
            </a:r>
            <a:r>
              <a:rPr kumimoji="0" lang="en-US" altLang="en-US" sz="2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sockets</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p>
          <a:p>
            <a:pPr eaLnBrk="0" fontAlgn="base" hangingPunct="0">
              <a:lnSpc>
                <a:spcPct val="100000"/>
              </a:lnSpc>
              <a:spcBef>
                <a:spcPct val="0"/>
              </a:spcBef>
              <a:spcAft>
                <a:spcPct val="0"/>
              </a:spcAf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transport layer uses a unique identifier called a </a:t>
            </a:r>
            <a:r>
              <a:rPr kumimoji="0" lang="en-US" altLang="en-US" sz="2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port number</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identify the correct socket or application.</a:t>
            </a:r>
          </a:p>
          <a:p>
            <a:endParaRPr lang="en-US" dirty="0"/>
          </a:p>
        </p:txBody>
      </p:sp>
    </p:spTree>
    <p:extLst>
      <p:ext uri="{BB962C8B-B14F-4D97-AF65-F5344CB8AC3E}">
        <p14:creationId xmlns:p14="http://schemas.microsoft.com/office/powerpoint/2010/main" val="42375635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783213-A89B-7353-1C7E-05DD209FC7CD}"/>
              </a:ext>
            </a:extLst>
          </p:cNvPr>
          <p:cNvSpPr>
            <a:spLocks noGrp="1"/>
          </p:cNvSpPr>
          <p:nvPr>
            <p:ph idx="1"/>
          </p:nvPr>
        </p:nvSpPr>
        <p:spPr>
          <a:xfrm>
            <a:off x="0" y="95250"/>
            <a:ext cx="12192000" cy="6762750"/>
          </a:xfrm>
        </p:spPr>
        <p:txBody>
          <a:bodyPr>
            <a:normAutofit/>
          </a:bodyPr>
          <a:lstStyle/>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message received from the application layer might be broken into chunks at this layer.</a:t>
            </a:r>
          </a:p>
          <a:p>
            <a:pPr eaLnBrk="0" fontAlgn="base" hangingPunct="0">
              <a:lnSpc>
                <a:spcPct val="100000"/>
              </a:lnSpc>
              <a:spcBef>
                <a:spcPct val="0"/>
              </a:spcBef>
              <a:spcAft>
                <a:spcPct val="0"/>
              </a:spcAf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transport layers add a header with its own information on top of the message received from the application layer. The unit of data at the transport layer is called a </a:t>
            </a:r>
            <a:r>
              <a:rPr kumimoji="0" lang="en-US" altLang="en-US" sz="2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segment</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eaLnBrk="0" fontAlgn="base" hangingPunct="0">
              <a:lnSpc>
                <a:spcPct val="100000"/>
              </a:lnSpc>
              <a:spcBef>
                <a:spcPct val="0"/>
              </a:spcBef>
              <a:spcAft>
                <a:spcPct val="0"/>
              </a:spcAf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two important protocols used in the transport layer are: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Transmission Control Protocol (TCP): for reliable and connection-oriented data transfer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 Datagram Protocol (UDP): for fast, unreliable, and connection-less data transfer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Connection-oriented</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means that TCP establishes the connection first and then transmits the data. On the other hand, UDP is connection-less, which means that it just sends the data without checking if it is being received or not.</a:t>
            </a:r>
          </a:p>
          <a:p>
            <a:endParaRPr lang="en-US" dirty="0"/>
          </a:p>
        </p:txBody>
      </p:sp>
    </p:spTree>
    <p:extLst>
      <p:ext uri="{BB962C8B-B14F-4D97-AF65-F5344CB8AC3E}">
        <p14:creationId xmlns:p14="http://schemas.microsoft.com/office/powerpoint/2010/main" val="1016129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36177-BB62-7429-8F3D-5B4EB137BC8E}"/>
              </a:ext>
            </a:extLst>
          </p:cNvPr>
          <p:cNvSpPr>
            <a:spLocks noGrp="1"/>
          </p:cNvSpPr>
          <p:nvPr>
            <p:ph sz="half" idx="1"/>
          </p:nvPr>
        </p:nvSpPr>
        <p:spPr>
          <a:xfrm>
            <a:off x="0" y="0"/>
            <a:ext cx="12192000" cy="6858000"/>
          </a:xfrm>
        </p:spPr>
        <p:txBody>
          <a:bodyPr>
            <a:normAutofit lnSpcReduction="10000"/>
          </a:bodyPr>
          <a:lstStyle/>
          <a:p>
            <a:r>
              <a:rPr lang="en-US" sz="3600" b="1" dirty="0"/>
              <a:t>Internet Layer</a:t>
            </a:r>
            <a:endParaRPr lang="en-US" sz="3600" dirty="0"/>
          </a:p>
          <a:p>
            <a:r>
              <a:rPr lang="en-US" dirty="0"/>
              <a:t>The </a:t>
            </a:r>
            <a:r>
              <a:rPr lang="en-US" dirty="0">
                <a:hlinkClick r:id="rId2" tooltip="Internet"/>
              </a:rPr>
              <a:t>Internet</a:t>
            </a:r>
            <a:r>
              <a:rPr lang="en-US" dirty="0"/>
              <a:t> layer performs the task of controlling the transmission of the data over the network modes and enacts protocols related to the various steps related to the transmission of data over the channel, which is in the form of packets sent by the previous layer.</a:t>
            </a:r>
          </a:p>
          <a:p>
            <a:r>
              <a:rPr lang="en-US" dirty="0"/>
              <a:t>This layer performs many important functions in the TCP/IP model, some of which are:</a:t>
            </a:r>
          </a:p>
          <a:p>
            <a:pPr>
              <a:buFont typeface="+mj-lt"/>
              <a:buAutoNum type="arabicPeriod"/>
            </a:pPr>
            <a:r>
              <a:rPr lang="en-US" dirty="0"/>
              <a:t>It is responsible for specifying the path that the data packets will use for transmission.</a:t>
            </a:r>
          </a:p>
          <a:p>
            <a:pPr>
              <a:buFont typeface="+mj-lt"/>
              <a:buAutoNum type="arabicPeriod"/>
            </a:pPr>
            <a:r>
              <a:rPr lang="en-US" dirty="0"/>
              <a:t>This layer is responsible for providing </a:t>
            </a:r>
            <a:r>
              <a:rPr lang="en-US" dirty="0">
                <a:hlinkClick r:id="rId3" tooltip="IP addresses"/>
              </a:rPr>
              <a:t>IP addresses</a:t>
            </a:r>
            <a:r>
              <a:rPr lang="en-US" dirty="0"/>
              <a:t> to the system for the identification matters over the network channel.</a:t>
            </a:r>
          </a:p>
          <a:p>
            <a:r>
              <a:rPr lang="en-US" dirty="0"/>
              <a:t>Some of the protocols applied in this layer are:</a:t>
            </a:r>
          </a:p>
          <a:p>
            <a:pPr>
              <a:buFont typeface="Arial" panose="020B0604020202020204" pitchFamily="34" charset="0"/>
              <a:buChar char="•"/>
            </a:pPr>
            <a:r>
              <a:rPr lang="en-US" dirty="0"/>
              <a:t>IP: This protocol assigns your device with a unique address; the IP address is also responsible for routing the data over the communication channel.</a:t>
            </a:r>
          </a:p>
          <a:p>
            <a:pPr>
              <a:buFont typeface="Arial" panose="020B0604020202020204" pitchFamily="34" charset="0"/>
              <a:buChar char="•"/>
            </a:pPr>
            <a:r>
              <a:rPr lang="en-US" dirty="0"/>
              <a:t>ARP: This protocol refers to the Address Resolution Protocol that is responsible for finding the physical address using the IP address.</a:t>
            </a:r>
          </a:p>
          <a:p>
            <a:endParaRPr lang="en-US" dirty="0"/>
          </a:p>
        </p:txBody>
      </p:sp>
    </p:spTree>
    <p:extLst>
      <p:ext uri="{BB962C8B-B14F-4D97-AF65-F5344CB8AC3E}">
        <p14:creationId xmlns:p14="http://schemas.microsoft.com/office/powerpoint/2010/main" val="2917916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42A481-CAD0-0646-C687-B61E6FC31483}"/>
              </a:ext>
            </a:extLst>
          </p:cNvPr>
          <p:cNvSpPr>
            <a:spLocks noGrp="1"/>
          </p:cNvSpPr>
          <p:nvPr>
            <p:ph idx="1"/>
          </p:nvPr>
        </p:nvSpPr>
        <p:spPr>
          <a:xfrm>
            <a:off x="-67377" y="0"/>
            <a:ext cx="12259377" cy="6858000"/>
          </a:xfrm>
        </p:spPr>
        <p:txBody>
          <a:bodyPr>
            <a:normAutofit/>
          </a:bodyPr>
          <a:lstStyle/>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IPv4</a:t>
            </a:r>
            <a:r>
              <a:rPr lang="en-US" dirty="0">
                <a:latin typeface="Times New Roman" panose="02020603050405020304" pitchFamily="18" charset="0"/>
                <a:cs typeface="Times New Roman" panose="02020603050405020304" pitchFamily="18" charset="0"/>
              </a:rPr>
              <a:t>: widely used protocol for communication over the internet and uses a 32-bit IP address</a:t>
            </a:r>
          </a:p>
          <a:p>
            <a:pPr>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IPv6</a:t>
            </a:r>
            <a:r>
              <a:rPr lang="en-US" dirty="0">
                <a:latin typeface="Times New Roman" panose="02020603050405020304" pitchFamily="18" charset="0"/>
                <a:cs typeface="Times New Roman" panose="02020603050405020304" pitchFamily="18" charset="0"/>
              </a:rPr>
              <a:t>: proposed to replace IPv4 with the IP addresses of 128-bits because 32-bit IP addresses will be insufficient with the high number of computers being connected to the internet</a:t>
            </a:r>
          </a:p>
          <a:p>
            <a:r>
              <a:rPr lang="en-US" dirty="0">
                <a:latin typeface="Times New Roman" panose="02020603050405020304" pitchFamily="18" charset="0"/>
                <a:cs typeface="Times New Roman" panose="02020603050405020304" pitchFamily="18" charset="0"/>
              </a:rPr>
              <a:t>Another protocol used at this layer for error-reporting is the </a:t>
            </a:r>
            <a:r>
              <a:rPr lang="en-US" b="1" dirty="0">
                <a:latin typeface="Times New Roman" panose="02020603050405020304" pitchFamily="18" charset="0"/>
                <a:cs typeface="Times New Roman" panose="02020603050405020304" pitchFamily="18" charset="0"/>
              </a:rPr>
              <a:t>Internet Control Message Protocol</a:t>
            </a:r>
            <a:r>
              <a:rPr lang="en-US" dirty="0">
                <a:latin typeface="Times New Roman" panose="02020603050405020304" pitchFamily="18" charset="0"/>
                <a:cs typeface="Times New Roman" panose="02020603050405020304" pitchFamily="18" charset="0"/>
              </a:rPr>
              <a:t> (ICMP). </a:t>
            </a:r>
          </a:p>
          <a:p>
            <a:r>
              <a:rPr lang="en-US" dirty="0">
                <a:latin typeface="Times New Roman" panose="02020603050405020304" pitchFamily="18" charset="0"/>
                <a:cs typeface="Times New Roman" panose="02020603050405020304" pitchFamily="18" charset="0"/>
              </a:rPr>
              <a:t>ICMP requests the sender to resend the data if the data is not received or received in the wrong order on the other end.</a:t>
            </a:r>
          </a:p>
          <a:p>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It is simply a protocol that transfers information about the data, not the data itself. </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It is different from IPv4 or IPv6 as it does not rely on TCP or UDP. It does not ensure a reliable connection before sending a message.</a:t>
            </a:r>
          </a:p>
          <a:p>
            <a:endParaRPr lang="en-US" dirty="0"/>
          </a:p>
        </p:txBody>
      </p:sp>
    </p:spTree>
    <p:extLst>
      <p:ext uri="{BB962C8B-B14F-4D97-AF65-F5344CB8AC3E}">
        <p14:creationId xmlns:p14="http://schemas.microsoft.com/office/powerpoint/2010/main" val="371736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7D8FFED-7078-B7EA-9DB9-E68F495BD549}"/>
              </a:ext>
            </a:extLst>
          </p:cNvPr>
          <p:cNvSpPr>
            <a:spLocks noGrp="1"/>
          </p:cNvSpPr>
          <p:nvPr>
            <p:ph idx="1"/>
          </p:nvPr>
        </p:nvSpPr>
        <p:spPr>
          <a:xfrm>
            <a:off x="0" y="0"/>
            <a:ext cx="12192000" cy="6858000"/>
          </a:xfrm>
        </p:spPr>
        <p:txBody>
          <a:bodyPr>
            <a:normAutofit/>
          </a:bodyPr>
          <a:lstStyle/>
          <a:p>
            <a:r>
              <a:rPr lang="en-US" sz="3600" b="1" dirty="0"/>
              <a:t>Network Access Layer</a:t>
            </a:r>
          </a:p>
          <a:p>
            <a:endParaRPr lang="en-US" dirty="0"/>
          </a:p>
          <a:p>
            <a:r>
              <a:rPr lang="en-US" dirty="0"/>
              <a:t>This layer is the combination of data-link and physical layer, where it is responsible for maintaining the task of sending and receiving data in raw bits, i.e., in binary format over the physical communication modes in the network channel.</a:t>
            </a:r>
          </a:p>
          <a:p>
            <a:endParaRPr lang="en-US" dirty="0"/>
          </a:p>
          <a:p>
            <a:pPr>
              <a:buFont typeface="Arial" panose="020B0604020202020204" pitchFamily="34" charset="0"/>
              <a:buChar char="•"/>
            </a:pPr>
            <a:r>
              <a:rPr lang="en-US" dirty="0"/>
              <a:t>It uses the physical address of the system for mapping the path of transmission over the network channel.</a:t>
            </a:r>
          </a:p>
          <a:p>
            <a:pPr>
              <a:buFont typeface="Arial" panose="020B0604020202020204" pitchFamily="34" charset="0"/>
              <a:buChar char="•"/>
            </a:pPr>
            <a:endParaRPr lang="en-US" dirty="0"/>
          </a:p>
          <a:p>
            <a:pPr>
              <a:buFont typeface="Arial" panose="020B0604020202020204" pitchFamily="34" charset="0"/>
              <a:buChar char="•"/>
            </a:pPr>
            <a:r>
              <a:rPr lang="en-US" dirty="0"/>
              <a:t>Till this point in this tutorial on what is TCP/IP model, you understood the basic idea behind the model and details about its layers, now compare the model with </a:t>
            </a:r>
          </a:p>
          <a:p>
            <a:endParaRPr lang="en-US" dirty="0"/>
          </a:p>
        </p:txBody>
      </p:sp>
    </p:spTree>
    <p:extLst>
      <p:ext uri="{BB962C8B-B14F-4D97-AF65-F5344CB8AC3E}">
        <p14:creationId xmlns:p14="http://schemas.microsoft.com/office/powerpoint/2010/main" val="15098862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739361-C73D-7A86-E36E-B2D6AFFA2D99}"/>
              </a:ext>
            </a:extLst>
          </p:cNvPr>
          <p:cNvSpPr>
            <a:spLocks noGrp="1"/>
          </p:cNvSpPr>
          <p:nvPr>
            <p:ph idx="1"/>
          </p:nvPr>
        </p:nvSpPr>
        <p:spPr>
          <a:xfrm>
            <a:off x="0" y="0"/>
            <a:ext cx="12192000" cy="6858000"/>
          </a:xfrm>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Link layer</a:t>
            </a:r>
          </a:p>
          <a:p>
            <a:pPr eaLnBrk="0" fontAlgn="base" hangingPunct="0">
              <a:lnSpc>
                <a:spcPct val="100000"/>
              </a:lnSpc>
              <a:spcBef>
                <a:spcPct val="0"/>
              </a:spcBef>
              <a:spcAft>
                <a:spcPct val="0"/>
              </a:spcAf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When a packet is being transferred over the internet, several intermediate devices are between the two end systems. These devices may be routers, switches, or other computers. </a:t>
            </a:r>
          </a:p>
          <a:p>
            <a:pPr eaLnBrk="0" fontAlgn="base" hangingPunct="0">
              <a:lnSpc>
                <a:spcPct val="100000"/>
              </a:lnSpc>
              <a:spcBef>
                <a:spcPct val="0"/>
              </a:spcBef>
              <a:spcAft>
                <a:spcPct val="0"/>
              </a:spcAf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a:t>
            </a: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link </a:t>
            </a:r>
            <a:r>
              <a:rPr kumimoji="0" lang="en-US" altLang="en-US" sz="2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layer</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is responsible for communication between one device and its immediate neighbor.</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protocols and methods used for one link might differ from the protocol used in the next immediate link, even if the destination and data packet remain the same.</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link layer adds a header with its information on top of the packet it receives from the network layer. </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data packet at the link layer is called a </a:t>
            </a:r>
            <a:r>
              <a:rPr kumimoji="0" lang="en-US" altLang="en-US" sz="2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frame</a:t>
            </a: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link-layer is mostly implemented in the network adapter/network interface card (NIC), and technologies like ethernet, Wi-Fi, token ring, etc., are associated with the link layer.</a:t>
            </a:r>
            <a:endPar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12161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0C41EE-CFAD-C323-4262-C633F32318EA}"/>
              </a:ext>
            </a:extLst>
          </p:cNvPr>
          <p:cNvSpPr>
            <a:spLocks noGrp="1"/>
          </p:cNvSpPr>
          <p:nvPr>
            <p:ph idx="1"/>
          </p:nvPr>
        </p:nvSpPr>
        <p:spPr>
          <a:xfrm>
            <a:off x="0" y="0"/>
            <a:ext cx="12192000" cy="6857999"/>
          </a:xfrm>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a:t>
            </a:r>
            <a:r>
              <a:rPr lang="en-US" altLang="en-US" sz="3200" b="1" dirty="0">
                <a:latin typeface="Arial" panose="020B0604020202020204" pitchFamily="34" charset="0"/>
              </a:rPr>
              <a:t>P</a:t>
            </a:r>
            <a:r>
              <a:rPr kumimoji="0" lang="en-US" altLang="en-US" sz="3200" b="1" i="0" u="none" strike="noStrike" cap="none" normalizeH="0" baseline="0" dirty="0">
                <a:ln>
                  <a:noFill/>
                </a:ln>
                <a:solidFill>
                  <a:schemeClr val="tx1"/>
                </a:solidFill>
                <a:effectLst/>
                <a:latin typeface="Arial" panose="020B0604020202020204" pitchFamily="34" charset="0"/>
              </a:rPr>
              <a:t>hysical layer</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5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rPr>
              <a:t>physical layer</a:t>
            </a:r>
            <a:r>
              <a:rPr kumimoji="0" lang="en-US" altLang="en-US" sz="2800" b="0" i="0" u="none" strike="noStrike" cap="none" normalizeH="0" baseline="0" dirty="0">
                <a:ln>
                  <a:noFill/>
                </a:ln>
                <a:solidFill>
                  <a:schemeClr val="tx1"/>
                </a:solidFill>
                <a:effectLst/>
                <a:latin typeface="Arial" panose="020B0604020202020204" pitchFamily="34" charset="0"/>
              </a:rPr>
              <a:t> is responsible for breaking the data frame into bits, converting it into a form that can be transmitted over the physical communication line, and transferring it.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Arial" panose="020B0604020202020204" pitchFamily="34" charset="0"/>
              </a:rPr>
              <a:t>This form could be light pulses (fiber-optic), radio waves (for wireless communication, or electric pulses (for wired communication).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Arial" panose="020B0604020202020204" pitchFamily="34" charset="0"/>
              </a:rPr>
              <a:t>On the receiving end, the physical layer collects the stream of bits and reassembles it into a data frame that is then passed onto the link layer for further processing.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Arial" panose="020B0604020202020204" pitchFamily="34" charset="0"/>
              </a:rPr>
              <a:t>The protocols and rules used at this layer are dependent on the kind of communication medium being used. For example, ethernet (link layer protocol)</a:t>
            </a:r>
            <a:endParaRPr lang="en-US" dirty="0"/>
          </a:p>
          <a:p>
            <a:endParaRPr lang="en-US" dirty="0"/>
          </a:p>
        </p:txBody>
      </p:sp>
    </p:spTree>
    <p:extLst>
      <p:ext uri="{BB962C8B-B14F-4D97-AF65-F5344CB8AC3E}">
        <p14:creationId xmlns:p14="http://schemas.microsoft.com/office/powerpoint/2010/main" val="34070185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DC598F1-08F1-5D54-A6D1-68973470B49E}"/>
              </a:ext>
            </a:extLst>
          </p:cNvPr>
          <p:cNvSpPr>
            <a:spLocks noGrp="1"/>
          </p:cNvSpPr>
          <p:nvPr>
            <p:ph idx="1"/>
          </p:nvPr>
        </p:nvSpPr>
        <p:spPr>
          <a:xfrm>
            <a:off x="0" y="0"/>
            <a:ext cx="12192000" cy="6857999"/>
          </a:xfrm>
        </p:spPr>
        <p:txBody>
          <a:bodyPr>
            <a:normAutofit fontScale="92500" lnSpcReduction="10000"/>
          </a:bodyPr>
          <a:lstStyle/>
          <a:p>
            <a:pPr marL="0" indent="0" algn="ctr">
              <a:buNone/>
            </a:pPr>
            <a:r>
              <a:rPr lang="en-US" sz="3500" b="1" dirty="0">
                <a:solidFill>
                  <a:srgbClr val="FF0000"/>
                </a:solidFill>
              </a:rPr>
              <a:t>Network Protocol Stack: </a:t>
            </a:r>
          </a:p>
          <a:p>
            <a:pPr marL="0" indent="0">
              <a:buNone/>
            </a:pPr>
            <a:endParaRPr lang="en-US" dirty="0"/>
          </a:p>
          <a:p>
            <a:pPr marL="0" indent="0">
              <a:buNone/>
            </a:pPr>
            <a:r>
              <a:rPr lang="en-US" dirty="0"/>
              <a:t>The </a:t>
            </a:r>
            <a:r>
              <a:rPr lang="en-US" b="1" dirty="0"/>
              <a:t>protocol stack</a:t>
            </a:r>
            <a:r>
              <a:rPr lang="en-US" dirty="0"/>
              <a:t> or </a:t>
            </a:r>
            <a:r>
              <a:rPr lang="en-US" b="1" dirty="0"/>
              <a:t>network stack</a:t>
            </a:r>
            <a:r>
              <a:rPr lang="en-US" dirty="0"/>
              <a:t> is an </a:t>
            </a:r>
            <a:r>
              <a:rPr lang="en-US" dirty="0">
                <a:hlinkClick r:id="rId2" tooltip="Implementation"/>
              </a:rPr>
              <a:t>implementation</a:t>
            </a:r>
            <a:r>
              <a:rPr lang="en-US" dirty="0"/>
              <a:t> of a </a:t>
            </a:r>
            <a:r>
              <a:rPr lang="en-US" dirty="0">
                <a:hlinkClick r:id="rId3" tooltip="Computer network"/>
              </a:rPr>
              <a:t>computer networking</a:t>
            </a:r>
            <a:r>
              <a:rPr lang="en-US" dirty="0"/>
              <a:t> </a:t>
            </a:r>
            <a:r>
              <a:rPr lang="en-US" b="1" dirty="0"/>
              <a:t>protocol suite</a:t>
            </a:r>
            <a:r>
              <a:rPr lang="en-US" dirty="0"/>
              <a:t> or </a:t>
            </a:r>
            <a:r>
              <a:rPr lang="en-US" b="1" dirty="0"/>
              <a:t>protocol family</a:t>
            </a:r>
            <a:r>
              <a:rPr lang="en-US" dirty="0"/>
              <a:t>.</a:t>
            </a:r>
          </a:p>
          <a:p>
            <a:endParaRPr lang="en-US" b="1" dirty="0"/>
          </a:p>
          <a:p>
            <a:r>
              <a:rPr lang="en-US" b="1" dirty="0"/>
              <a:t>A protocol stack or protocol suite is the architecture of a protocol that follows the layered architecture design principle.</a:t>
            </a:r>
          </a:p>
          <a:p>
            <a:endParaRPr lang="en-US" dirty="0"/>
          </a:p>
          <a:p>
            <a:r>
              <a:rPr lang="en-US" dirty="0"/>
              <a:t>The functionality of the whole protocol is broken down into component protocols that are separately managed and can be treated and designed mostly independently from one another.</a:t>
            </a:r>
          </a:p>
          <a:p>
            <a:endParaRPr lang="en-US" dirty="0"/>
          </a:p>
          <a:p>
            <a:r>
              <a:rPr lang="en-US" dirty="0"/>
              <a:t>A protocol stack typically contains a set of protocols where each protocol in the stack performs a specific task and is responsible for a well-defined function.</a:t>
            </a:r>
          </a:p>
          <a:p>
            <a:endParaRPr lang="en-US" dirty="0"/>
          </a:p>
          <a:p>
            <a:r>
              <a:rPr lang="en-US" dirty="0"/>
              <a:t>The protocols are often referred to as layers with each layer providing services to the layer above it and receiving services from the layer below it.</a:t>
            </a:r>
          </a:p>
          <a:p>
            <a:endParaRPr lang="en-US" dirty="0"/>
          </a:p>
        </p:txBody>
      </p:sp>
    </p:spTree>
    <p:extLst>
      <p:ext uri="{BB962C8B-B14F-4D97-AF65-F5344CB8AC3E}">
        <p14:creationId xmlns:p14="http://schemas.microsoft.com/office/powerpoint/2010/main" val="19426059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54B8F38-DAFD-D26E-33DC-BC111A4B48DC}"/>
              </a:ext>
            </a:extLst>
          </p:cNvPr>
          <p:cNvSpPr>
            <a:spLocks noGrp="1"/>
          </p:cNvSpPr>
          <p:nvPr>
            <p:ph idx="1"/>
          </p:nvPr>
        </p:nvSpPr>
        <p:spPr>
          <a:xfrm>
            <a:off x="0" y="0"/>
            <a:ext cx="12192000" cy="6858000"/>
          </a:xfrm>
        </p:spPr>
        <p:txBody>
          <a:bodyPr>
            <a:normAutofit/>
          </a:bodyPr>
          <a:lstStyle/>
          <a:p>
            <a:endParaRPr lang="en-US" b="1" dirty="0"/>
          </a:p>
          <a:p>
            <a:r>
              <a:rPr lang="en-US" dirty="0"/>
              <a:t>The network protocol stack refers to the set of protocols and layers that define how data is transmitted and received over a network.</a:t>
            </a:r>
          </a:p>
          <a:p>
            <a:endParaRPr lang="en-US" dirty="0"/>
          </a:p>
          <a:p>
            <a:r>
              <a:rPr lang="en-US" dirty="0"/>
              <a:t> The most commonly referenced protocol stack is the TCP/IP (Transmission Control Protocol/Internet Protocol) stack.</a:t>
            </a:r>
          </a:p>
          <a:p>
            <a:endParaRPr lang="en-US" dirty="0"/>
          </a:p>
          <a:p>
            <a:r>
              <a:rPr lang="en-US" dirty="0"/>
              <a:t> It consists of several layers, including:</a:t>
            </a:r>
          </a:p>
          <a:p>
            <a:endParaRPr lang="en-US" dirty="0"/>
          </a:p>
          <a:p>
            <a:pPr>
              <a:buFont typeface="Arial" panose="020B0604020202020204" pitchFamily="34" charset="0"/>
              <a:buChar char="•"/>
            </a:pPr>
            <a:r>
              <a:rPr lang="en-US" b="1" dirty="0"/>
              <a:t>Application Layer (Layer 5): </a:t>
            </a:r>
            <a:r>
              <a:rPr lang="en-US" dirty="0"/>
              <a:t>This layer deals with application-specific protocols and services, such as HTTP (Hypertext Transfer Protocol), SMTP (Simple Mail Transfer Protocol), and DNS (Domain Name System).</a:t>
            </a:r>
          </a:p>
          <a:p>
            <a:endParaRPr lang="en-US" dirty="0"/>
          </a:p>
        </p:txBody>
      </p:sp>
    </p:spTree>
    <p:extLst>
      <p:ext uri="{BB962C8B-B14F-4D97-AF65-F5344CB8AC3E}">
        <p14:creationId xmlns:p14="http://schemas.microsoft.com/office/powerpoint/2010/main" val="21311882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59ADE9-A055-600F-EBB2-C2F80B9765B1}"/>
              </a:ext>
            </a:extLst>
          </p:cNvPr>
          <p:cNvSpPr>
            <a:spLocks noGrp="1"/>
          </p:cNvSpPr>
          <p:nvPr>
            <p:ph idx="1"/>
          </p:nvPr>
        </p:nvSpPr>
        <p:spPr>
          <a:xfrm>
            <a:off x="0" y="0"/>
            <a:ext cx="12192000" cy="6858000"/>
          </a:xfrm>
        </p:spPr>
        <p:txBody>
          <a:bodyPr>
            <a:normAutofit lnSpcReduction="10000"/>
          </a:bodyPr>
          <a:lstStyle/>
          <a:p>
            <a:pPr>
              <a:buFont typeface="Arial" panose="020B0604020202020204" pitchFamily="34" charset="0"/>
              <a:buChar char="•"/>
            </a:pPr>
            <a:r>
              <a:rPr lang="en-US" b="1" dirty="0"/>
              <a:t>Transport Layer (Layer 4): </a:t>
            </a:r>
            <a:r>
              <a:rPr lang="en-US" dirty="0"/>
              <a:t>The transport layer provides end-to-end communication between devices.</a:t>
            </a:r>
          </a:p>
          <a:p>
            <a:pPr>
              <a:buFont typeface="Arial" panose="020B0604020202020204" pitchFamily="34" charset="0"/>
              <a:buChar char="•"/>
            </a:pPr>
            <a:endParaRPr lang="en-US" dirty="0"/>
          </a:p>
          <a:p>
            <a:pPr>
              <a:buFont typeface="Arial" panose="020B0604020202020204" pitchFamily="34" charset="0"/>
              <a:buChar char="•"/>
            </a:pPr>
            <a:r>
              <a:rPr lang="en-US" dirty="0"/>
              <a:t> Protocols like TCP (Transmission Control Protocol) and UDP (User Datagram Protocol) operate at this layer, managing reliable or unreliable data transfer.</a:t>
            </a:r>
          </a:p>
          <a:p>
            <a:pPr>
              <a:buFont typeface="Arial" panose="020B0604020202020204" pitchFamily="34" charset="0"/>
              <a:buChar char="•"/>
            </a:pPr>
            <a:endParaRPr lang="en-US" dirty="0"/>
          </a:p>
          <a:p>
            <a:pPr>
              <a:buFont typeface="Arial" panose="020B0604020202020204" pitchFamily="34" charset="0"/>
              <a:buChar char="•"/>
            </a:pPr>
            <a:r>
              <a:rPr lang="en-US" b="1" dirty="0"/>
              <a:t>Network Layer (Layer 3): </a:t>
            </a:r>
            <a:r>
              <a:rPr lang="en-US" dirty="0"/>
              <a:t>The network layer is responsible for addressing, routing, and logical network connections.</a:t>
            </a:r>
          </a:p>
          <a:p>
            <a:pPr>
              <a:buFont typeface="Arial" panose="020B0604020202020204" pitchFamily="34" charset="0"/>
              <a:buChar char="•"/>
            </a:pPr>
            <a:r>
              <a:rPr lang="en-US" dirty="0"/>
              <a:t> IP (Internet Protocol) is the primary protocol used at this layer.</a:t>
            </a:r>
          </a:p>
          <a:p>
            <a:pPr>
              <a:buFont typeface="Arial" panose="020B0604020202020204" pitchFamily="34" charset="0"/>
              <a:buChar char="•"/>
            </a:pPr>
            <a:endParaRPr lang="en-US" dirty="0"/>
          </a:p>
          <a:p>
            <a:pPr>
              <a:buFont typeface="Arial" panose="020B0604020202020204" pitchFamily="34" charset="0"/>
              <a:buChar char="•"/>
            </a:pPr>
            <a:r>
              <a:rPr lang="en-US" b="1" dirty="0"/>
              <a:t>Data Link Layer (Layer 2):</a:t>
            </a:r>
            <a:r>
              <a:rPr lang="en-US" dirty="0"/>
              <a:t> This layer ensures reliable transmission of data frames across a physical network. Ethernet is a common data link layer protocol.</a:t>
            </a:r>
          </a:p>
          <a:p>
            <a:pPr>
              <a:buFont typeface="Arial" panose="020B0604020202020204" pitchFamily="34" charset="0"/>
              <a:buChar char="•"/>
            </a:pPr>
            <a:endParaRPr lang="en-US" dirty="0"/>
          </a:p>
          <a:p>
            <a:pPr>
              <a:buFont typeface="Arial" panose="020B0604020202020204" pitchFamily="34" charset="0"/>
              <a:buChar char="•"/>
            </a:pPr>
            <a:r>
              <a:rPr lang="en-US" b="1" dirty="0"/>
              <a:t>Physical Layer (Layer 1): </a:t>
            </a:r>
            <a:r>
              <a:rPr lang="en-US" dirty="0"/>
              <a:t>The physical layer deals with the actual transmission of data bits over physical media, such as copper wires, fiber optics, or wireless signals.</a:t>
            </a:r>
          </a:p>
          <a:p>
            <a:endParaRPr lang="en-US" dirty="0"/>
          </a:p>
        </p:txBody>
      </p:sp>
    </p:spTree>
    <p:extLst>
      <p:ext uri="{BB962C8B-B14F-4D97-AF65-F5344CB8AC3E}">
        <p14:creationId xmlns:p14="http://schemas.microsoft.com/office/powerpoint/2010/main" val="3535235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1887200" cy="6702458"/>
          </a:xfrm>
        </p:spPr>
        <p:txBody>
          <a:bodyPr/>
          <a:lstStyle/>
          <a:p>
            <a:pPr marL="0" indent="0" algn="ctr">
              <a:buNone/>
            </a:pPr>
            <a:endParaRPr lang="en-US" sz="4000" b="1" dirty="0">
              <a:solidFill>
                <a:srgbClr val="FF0000"/>
              </a:solidFill>
            </a:endParaRPr>
          </a:p>
          <a:p>
            <a:pPr marL="0" indent="0" algn="ctr">
              <a:buNone/>
            </a:pPr>
            <a:endParaRPr lang="en-US" sz="4000" b="1" dirty="0">
              <a:solidFill>
                <a:srgbClr val="FF0000"/>
              </a:solidFill>
            </a:endParaRPr>
          </a:p>
          <a:p>
            <a:pPr marL="0" indent="0" algn="ctr">
              <a:buNone/>
            </a:pPr>
            <a:endParaRPr lang="en-US" sz="4000" b="1" dirty="0">
              <a:solidFill>
                <a:srgbClr val="FF0000"/>
              </a:solidFill>
            </a:endParaRPr>
          </a:p>
          <a:p>
            <a:pPr marL="0" indent="0" algn="ctr">
              <a:buNone/>
            </a:pPr>
            <a:endParaRPr lang="en-US" sz="4000" b="1" dirty="0">
              <a:solidFill>
                <a:srgbClr val="FF0000"/>
              </a:solidFill>
            </a:endParaRPr>
          </a:p>
          <a:p>
            <a:pPr marL="0" indent="0" algn="ctr">
              <a:buNone/>
            </a:pPr>
            <a:endParaRPr lang="en-US" sz="4000" b="1" dirty="0">
              <a:solidFill>
                <a:srgbClr val="FF0000"/>
              </a:solidFill>
            </a:endParaRPr>
          </a:p>
          <a:p>
            <a:pPr marL="0" indent="0" algn="ctr">
              <a:buNone/>
            </a:pPr>
            <a:r>
              <a:rPr lang="en-US" sz="4000" b="1" dirty="0">
                <a:solidFill>
                  <a:srgbClr val="FF0000"/>
                </a:solidFill>
              </a:rPr>
              <a:t>3.4 Cross layers</a:t>
            </a:r>
          </a:p>
          <a:p>
            <a:endParaRPr lang="en-US" dirty="0"/>
          </a:p>
        </p:txBody>
      </p:sp>
    </p:spTree>
    <p:extLst>
      <p:ext uri="{BB962C8B-B14F-4D97-AF65-F5344CB8AC3E}">
        <p14:creationId xmlns:p14="http://schemas.microsoft.com/office/powerpoint/2010/main" val="21057492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0" y="0"/>
            <a:ext cx="6019800" cy="6858000"/>
          </a:xfrm>
        </p:spPr>
        <p:txBody>
          <a:bodyPr>
            <a:normAutofit fontScale="92500" lnSpcReduction="10000"/>
          </a:bodyPr>
          <a:lstStyle/>
          <a:p>
            <a:r>
              <a:rPr lang="en-US" dirty="0">
                <a:effectLst/>
              </a:rPr>
              <a:t>Cross-layer is </a:t>
            </a:r>
            <a:r>
              <a:rPr lang="en-US" dirty="0"/>
              <a:t>a design approach in communication systems that allows communication and information sharing between different, usually separated, layers of the network stack to improve performance.</a:t>
            </a:r>
          </a:p>
          <a:p>
            <a:endParaRPr lang="en-US" dirty="0"/>
          </a:p>
          <a:p>
            <a:r>
              <a:rPr lang="en-US" dirty="0"/>
              <a:t> Instead of strictly adhering to a layered architecture like the OSI model, cross-layer design enables cooperation between layers to optimize things like data throughput, energy efficiency, and quality of service.</a:t>
            </a:r>
          </a:p>
          <a:p>
            <a:endParaRPr lang="en-US" dirty="0"/>
          </a:p>
          <a:p>
            <a:r>
              <a:rPr lang="en-US" dirty="0"/>
              <a:t> This is particularly useful in wireless and ad hoc networks where factors like the physical environment and energy consumption are critical. </a:t>
            </a:r>
          </a:p>
        </p:txBody>
      </p:sp>
      <p:pic>
        <p:nvPicPr>
          <p:cNvPr id="7" name="Content Placeholder 6">
            <a:extLst>
              <a:ext uri="{FF2B5EF4-FFF2-40B4-BE49-F238E27FC236}">
                <a16:creationId xmlns:a16="http://schemas.microsoft.com/office/drawing/2014/main" id="{D9A579CB-48E5-FD51-B5A6-09BAB701867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934199" y="993914"/>
            <a:ext cx="4694583" cy="4732026"/>
          </a:xfrm>
        </p:spPr>
      </p:pic>
    </p:spTree>
    <p:extLst>
      <p:ext uri="{BB962C8B-B14F-4D97-AF65-F5344CB8AC3E}">
        <p14:creationId xmlns:p14="http://schemas.microsoft.com/office/powerpoint/2010/main" val="2857057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E63903-3E71-4497-6112-E1466BFF6CC8}"/>
              </a:ext>
            </a:extLst>
          </p:cNvPr>
          <p:cNvSpPr>
            <a:spLocks noGrp="1"/>
          </p:cNvSpPr>
          <p:nvPr>
            <p:ph idx="1"/>
          </p:nvPr>
        </p:nvSpPr>
        <p:spPr>
          <a:xfrm>
            <a:off x="0" y="0"/>
            <a:ext cx="12192000" cy="6858000"/>
          </a:xfrm>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Arial" panose="020B0604020202020204" pitchFamily="34" charset="0"/>
              </a:rPr>
              <a:t>How it works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Information sharing:</a:t>
            </a:r>
            <a:r>
              <a:rPr kumimoji="0" lang="en-US" altLang="en-US" sz="2800" b="0" i="0" u="none" strike="noStrike" cap="none" normalizeH="0" baseline="0" dirty="0">
                <a:ln>
                  <a:noFill/>
                </a:ln>
                <a:solidFill>
                  <a:schemeClr val="tx1"/>
                </a:solidFill>
                <a:effectLst/>
                <a:latin typeface="Arial" panose="020B0604020202020204" pitchFamily="34" charset="0"/>
              </a:rPr>
              <a:t> Layers share information with each other, either through direct communication or via a common database.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Inter-layer cooperation:</a:t>
            </a:r>
            <a:r>
              <a:rPr kumimoji="0" lang="en-US" altLang="en-US" sz="2800" b="0" i="0" u="none" strike="noStrike" cap="none" normalizeH="0" baseline="0" dirty="0">
                <a:ln>
                  <a:noFill/>
                </a:ln>
                <a:solidFill>
                  <a:schemeClr val="tx1"/>
                </a:solidFill>
                <a:effectLst/>
                <a:latin typeface="Arial" panose="020B0604020202020204" pitchFamily="34" charset="0"/>
              </a:rPr>
              <a:t> Protocols from different layers can work together.</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Arial" panose="020B0604020202020204" pitchFamily="34" charset="0"/>
              </a:rPr>
              <a:t>For example, the physical layer can provide information about the channel's condition to a higher layer, which can then use that information to adapt its data rate or coding scheme.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Optimization:</a:t>
            </a:r>
            <a:r>
              <a:rPr kumimoji="0" lang="en-US" altLang="en-US" sz="2800" b="0" i="0" u="none" strike="noStrike" cap="none" normalizeH="0" baseline="0" dirty="0">
                <a:ln>
                  <a:noFill/>
                </a:ln>
                <a:solidFill>
                  <a:schemeClr val="tx1"/>
                </a:solidFill>
                <a:effectLst/>
                <a:latin typeface="Arial" panose="020B0604020202020204" pitchFamily="34" charset="0"/>
              </a:rPr>
              <a:t> The goal is to optimize overall system performance by making decisions based on a broader context than what a single layer can see.</a:t>
            </a:r>
          </a:p>
          <a:p>
            <a:endParaRPr lang="en-US" dirty="0"/>
          </a:p>
        </p:txBody>
      </p:sp>
    </p:spTree>
    <p:extLst>
      <p:ext uri="{BB962C8B-B14F-4D97-AF65-F5344CB8AC3E}">
        <p14:creationId xmlns:p14="http://schemas.microsoft.com/office/powerpoint/2010/main" val="26939063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0BF81E-93BF-D4C9-97FD-6D88CCD2B3EE}"/>
              </a:ext>
            </a:extLst>
          </p:cNvPr>
          <p:cNvSpPr>
            <a:spLocks noGrp="1"/>
          </p:cNvSpPr>
          <p:nvPr>
            <p:ph idx="1"/>
          </p:nvPr>
        </p:nvSpPr>
        <p:spPr>
          <a:xfrm>
            <a:off x="0" y="0"/>
            <a:ext cx="12192000" cy="6858000"/>
          </a:xfrm>
        </p:spPr>
        <p:txBody>
          <a:bodyPr>
            <a:normAutofit/>
          </a:bodyPr>
          <a:lstStyle/>
          <a:p>
            <a:pPr marL="0" indent="0">
              <a:buNone/>
            </a:pPr>
            <a:r>
              <a:rPr lang="en-US" sz="3600" b="1" dirty="0">
                <a:solidFill>
                  <a:srgbClr val="FF0000"/>
                </a:solidFill>
              </a:rPr>
              <a:t>                         </a:t>
            </a:r>
          </a:p>
          <a:p>
            <a:pPr marL="0" indent="0">
              <a:buNone/>
            </a:pPr>
            <a:endParaRPr lang="en-US" sz="3600" b="1" dirty="0">
              <a:solidFill>
                <a:srgbClr val="FF0000"/>
              </a:solidFill>
            </a:endParaRPr>
          </a:p>
          <a:p>
            <a:pPr marL="0" indent="0">
              <a:buNone/>
            </a:pPr>
            <a:endParaRPr lang="en-US" sz="3600" b="1" dirty="0">
              <a:solidFill>
                <a:srgbClr val="FF0000"/>
              </a:solidFill>
            </a:endParaRPr>
          </a:p>
          <a:p>
            <a:pPr marL="0" indent="0">
              <a:buNone/>
            </a:pPr>
            <a:endParaRPr lang="en-US" sz="3600" b="1" dirty="0">
              <a:solidFill>
                <a:srgbClr val="FF0000"/>
              </a:solidFill>
            </a:endParaRPr>
          </a:p>
          <a:p>
            <a:pPr marL="0" indent="0">
              <a:buNone/>
            </a:pPr>
            <a:endParaRPr lang="en-US" sz="3600" b="1" dirty="0">
              <a:solidFill>
                <a:srgbClr val="FF0000"/>
              </a:solidFill>
            </a:endParaRPr>
          </a:p>
          <a:p>
            <a:pPr marL="0" indent="0" algn="ctr">
              <a:buNone/>
            </a:pPr>
            <a:r>
              <a:rPr lang="en-US" sz="3600" b="1" dirty="0">
                <a:solidFill>
                  <a:srgbClr val="FF0000"/>
                </a:solidFill>
              </a:rPr>
              <a:t> 3.5 Devices different layers</a:t>
            </a:r>
          </a:p>
          <a:p>
            <a:pPr marL="0" indent="0">
              <a:buNone/>
            </a:pPr>
            <a:endParaRPr lang="en-US" b="1" dirty="0"/>
          </a:p>
        </p:txBody>
      </p:sp>
    </p:spTree>
    <p:extLst>
      <p:ext uri="{BB962C8B-B14F-4D97-AF65-F5344CB8AC3E}">
        <p14:creationId xmlns:p14="http://schemas.microsoft.com/office/powerpoint/2010/main" val="24096910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0"/>
            <a:ext cx="12192000" cy="6721311"/>
          </a:xfrm>
        </p:spPr>
        <p:txBody>
          <a:bodyPr>
            <a:normAutofit/>
          </a:bodyPr>
          <a:lstStyle/>
          <a:p>
            <a:pPr marL="0" indent="0">
              <a:buNone/>
            </a:pPr>
            <a:r>
              <a:rPr lang="en-US" b="1" dirty="0"/>
              <a:t>In computer networking, various network entities and layers work together to enable communication between devices. </a:t>
            </a:r>
          </a:p>
          <a:p>
            <a:pPr marL="0" indent="0">
              <a:buNone/>
            </a:pPr>
            <a:r>
              <a:rPr lang="en-US" dirty="0"/>
              <a:t>Let's explore some of the key network entities and layers commonly used in networking protocols:</a:t>
            </a:r>
          </a:p>
          <a:p>
            <a:pPr marL="0" indent="0">
              <a:buNone/>
            </a:pPr>
            <a:endParaRPr lang="en-US" dirty="0"/>
          </a:p>
          <a:p>
            <a:pPr marL="0" indent="0">
              <a:buNone/>
            </a:pPr>
            <a:r>
              <a:rPr lang="en-US" dirty="0"/>
              <a:t>1.</a:t>
            </a:r>
            <a:r>
              <a:rPr lang="en-US" b="1" dirty="0"/>
              <a:t>Network Interface Card (NIC): </a:t>
            </a:r>
            <a:r>
              <a:rPr lang="en-US" dirty="0"/>
              <a:t>A Network Interface Card, also known as a network adapter or network interface controller, is a hardware component that connects a device (e.g., a computer or a server) to a network.</a:t>
            </a:r>
          </a:p>
          <a:p>
            <a:pPr marL="0" indent="0">
              <a:buNone/>
            </a:pPr>
            <a:endParaRPr lang="en-US" dirty="0"/>
          </a:p>
          <a:p>
            <a:pPr marL="0" indent="0">
              <a:buNone/>
            </a:pPr>
            <a:r>
              <a:rPr lang="en-US" dirty="0"/>
              <a:t>  It enables the device to transmit and receive data over the network.</a:t>
            </a:r>
          </a:p>
          <a:p>
            <a:endParaRPr lang="en-US" dirty="0"/>
          </a:p>
          <a:p>
            <a:endParaRPr lang="en-US" dirty="0"/>
          </a:p>
        </p:txBody>
      </p:sp>
    </p:spTree>
    <p:extLst>
      <p:ext uri="{BB962C8B-B14F-4D97-AF65-F5344CB8AC3E}">
        <p14:creationId xmlns:p14="http://schemas.microsoft.com/office/powerpoint/2010/main" val="6136298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42EE7-327D-BAFE-E342-36F32CC09899}"/>
              </a:ext>
            </a:extLst>
          </p:cNvPr>
          <p:cNvSpPr>
            <a:spLocks noGrp="1"/>
          </p:cNvSpPr>
          <p:nvPr>
            <p:ph idx="1"/>
          </p:nvPr>
        </p:nvSpPr>
        <p:spPr>
          <a:xfrm>
            <a:off x="0" y="0"/>
            <a:ext cx="12115800" cy="6858000"/>
          </a:xfrm>
        </p:spPr>
        <p:txBody>
          <a:bodyPr>
            <a:normAutofit fontScale="92500" lnSpcReduction="10000"/>
          </a:bodyPr>
          <a:lstStyle/>
          <a:p>
            <a:pPr marL="0" indent="0">
              <a:buNone/>
            </a:pPr>
            <a:r>
              <a:rPr lang="en-US" dirty="0"/>
              <a:t>2.</a:t>
            </a:r>
            <a:r>
              <a:rPr lang="en-US" b="1" dirty="0"/>
              <a:t>Switch</a:t>
            </a:r>
            <a:r>
              <a:rPr lang="en-US" dirty="0"/>
              <a:t>: A switch is a network device that operates at the data link layer (Layer 2) of the networking protocol stack. </a:t>
            </a:r>
          </a:p>
          <a:p>
            <a:pPr marL="0" indent="0">
              <a:buNone/>
            </a:pPr>
            <a:endParaRPr lang="en-US" dirty="0"/>
          </a:p>
          <a:p>
            <a:r>
              <a:rPr lang="en-US" dirty="0"/>
              <a:t> It receives incoming data frames and forwards them to the appropriate destination based on the MAC (Media Access Control) addresses of the devices connected to the switch. </a:t>
            </a:r>
          </a:p>
          <a:p>
            <a:endParaRPr lang="en-US" dirty="0"/>
          </a:p>
          <a:p>
            <a:r>
              <a:rPr lang="en-US" dirty="0"/>
              <a:t>Switches facilitate the creation of local area networks (LANs) by connecting multiple devices together.</a:t>
            </a:r>
          </a:p>
          <a:p>
            <a:endParaRPr lang="en-US" dirty="0"/>
          </a:p>
          <a:p>
            <a:pPr marL="0" indent="0">
              <a:buNone/>
            </a:pPr>
            <a:r>
              <a:rPr lang="en-US" dirty="0"/>
              <a:t>3.</a:t>
            </a:r>
            <a:r>
              <a:rPr lang="en-US" b="1" dirty="0"/>
              <a:t>Router: </a:t>
            </a:r>
            <a:r>
              <a:rPr lang="en-US" dirty="0"/>
              <a:t>A router operates at the network layer (Layer 3) and is responsible for forwarding data packets between different networks.</a:t>
            </a:r>
          </a:p>
          <a:p>
            <a:pPr marL="0" indent="0">
              <a:buNone/>
            </a:pPr>
            <a:endParaRPr lang="en-US" dirty="0"/>
          </a:p>
          <a:p>
            <a:r>
              <a:rPr lang="en-US" dirty="0"/>
              <a:t> It examines the IP (Internet Protocol) addresses of packets to determine the optimal path for delivery. </a:t>
            </a:r>
          </a:p>
          <a:p>
            <a:endParaRPr lang="en-US" dirty="0"/>
          </a:p>
          <a:p>
            <a:r>
              <a:rPr lang="en-US" dirty="0"/>
              <a:t>Routers are crucial in connecting multiple networks together to form the internet.</a:t>
            </a:r>
          </a:p>
          <a:p>
            <a:endParaRPr lang="en-US" dirty="0"/>
          </a:p>
        </p:txBody>
      </p:sp>
    </p:spTree>
    <p:extLst>
      <p:ext uri="{BB962C8B-B14F-4D97-AF65-F5344CB8AC3E}">
        <p14:creationId xmlns:p14="http://schemas.microsoft.com/office/powerpoint/2010/main" val="1206098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D0D20F-396E-37A3-D02B-685C2D8C571E}"/>
              </a:ext>
            </a:extLst>
          </p:cNvPr>
          <p:cNvSpPr>
            <a:spLocks noGrp="1"/>
          </p:cNvSpPr>
          <p:nvPr>
            <p:ph idx="1"/>
          </p:nvPr>
        </p:nvSpPr>
        <p:spPr>
          <a:xfrm>
            <a:off x="0" y="0"/>
            <a:ext cx="12192000" cy="6858000"/>
          </a:xfrm>
        </p:spPr>
        <p:txBody>
          <a:bodyPr>
            <a:normAutofit/>
          </a:bodyPr>
          <a:lstStyle/>
          <a:p>
            <a:pPr marL="0" indent="0">
              <a:buNone/>
            </a:pPr>
            <a:r>
              <a:rPr lang="en-US" b="1" dirty="0"/>
              <a:t>4 Firewall:</a:t>
            </a:r>
          </a:p>
          <a:p>
            <a:r>
              <a:rPr lang="en-US" dirty="0"/>
              <a:t> A firewall is a security device or software that filters network traffic based on predetermined security rules. </a:t>
            </a:r>
          </a:p>
          <a:p>
            <a:endParaRPr lang="en-US" dirty="0"/>
          </a:p>
          <a:p>
            <a:r>
              <a:rPr lang="en-US" dirty="0"/>
              <a:t>It operates at various layers of the protocol stack, including the network, transport (Layer 4), and application (Layer 7) layers. </a:t>
            </a:r>
          </a:p>
          <a:p>
            <a:endParaRPr lang="en-US" dirty="0"/>
          </a:p>
          <a:p>
            <a:r>
              <a:rPr lang="en-US" dirty="0"/>
              <a:t>Firewalls help protect networks by controlling and monitoring incoming and outgoing traffic, preventing unauthorized access and potential threats.</a:t>
            </a:r>
          </a:p>
          <a:p>
            <a:endParaRPr lang="en-US" dirty="0"/>
          </a:p>
          <a:p>
            <a:endParaRPr lang="en-US" dirty="0"/>
          </a:p>
        </p:txBody>
      </p:sp>
    </p:spTree>
    <p:extLst>
      <p:ext uri="{BB962C8B-B14F-4D97-AF65-F5344CB8AC3E}">
        <p14:creationId xmlns:p14="http://schemas.microsoft.com/office/powerpoint/2010/main" val="37992222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92231" y="716437"/>
            <a:ext cx="11061569" cy="5910606"/>
          </a:xfrm>
        </p:spPr>
        <p:txBody>
          <a:bodyPr>
            <a:normAutofit/>
          </a:bodyPr>
          <a:lstStyle/>
          <a:p>
            <a:endParaRPr lang="en-US" sz="4400" b="1" dirty="0">
              <a:solidFill>
                <a:srgbClr val="FF0000"/>
              </a:solidFill>
            </a:endParaRPr>
          </a:p>
          <a:p>
            <a:endParaRPr lang="en-US" sz="4400" b="1" dirty="0">
              <a:solidFill>
                <a:srgbClr val="FF0000"/>
              </a:solidFill>
            </a:endParaRPr>
          </a:p>
          <a:p>
            <a:pPr marL="0" indent="0" algn="ctr">
              <a:buNone/>
            </a:pPr>
            <a:endParaRPr lang="en-US" sz="4400" b="1" dirty="0">
              <a:solidFill>
                <a:srgbClr val="FF0000"/>
              </a:solidFill>
            </a:endParaRPr>
          </a:p>
          <a:p>
            <a:pPr marL="0" indent="0" algn="ctr">
              <a:buNone/>
            </a:pPr>
            <a:r>
              <a:rPr lang="en-US" sz="4400" b="1" dirty="0">
                <a:solidFill>
                  <a:srgbClr val="FF0000"/>
                </a:solidFill>
              </a:rPr>
              <a:t>3.6 Software defined networks</a:t>
            </a:r>
          </a:p>
          <a:p>
            <a:endParaRPr lang="en-US" sz="4400" b="1" dirty="0">
              <a:solidFill>
                <a:srgbClr val="FF0000"/>
              </a:solidFill>
            </a:endParaRPr>
          </a:p>
        </p:txBody>
      </p:sp>
    </p:spTree>
    <p:extLst>
      <p:ext uri="{BB962C8B-B14F-4D97-AF65-F5344CB8AC3E}">
        <p14:creationId xmlns:p14="http://schemas.microsoft.com/office/powerpoint/2010/main" val="153775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2"/>
          </p:nvPr>
        </p:nvSpPr>
        <p:spPr>
          <a:xfrm>
            <a:off x="0" y="0"/>
            <a:ext cx="6897757" cy="6858000"/>
          </a:xfrm>
        </p:spPr>
        <p:txBody>
          <a:bodyPr>
            <a:normAutofit fontScale="92500" lnSpcReduction="20000"/>
          </a:bodyPr>
          <a:lstStyle/>
          <a:p>
            <a:pPr algn="just" rtl="0"/>
            <a:r>
              <a:rPr lang="en-US" b="1" dirty="0">
                <a:effectLst/>
              </a:rPr>
              <a:t>Software defined networking (SDN)</a:t>
            </a:r>
            <a:r>
              <a:rPr lang="en-US" dirty="0">
                <a:effectLst/>
              </a:rPr>
              <a:t> </a:t>
            </a:r>
            <a:endParaRPr lang="en-US" dirty="0"/>
          </a:p>
          <a:p>
            <a:pPr algn="just" rtl="0"/>
            <a:r>
              <a:rPr lang="en-US" dirty="0">
                <a:effectLst/>
              </a:rPr>
              <a:t>Is  an approach to network management that enables dynamic, programmatically efficient network configuration to improve network performance and monitoring.</a:t>
            </a:r>
          </a:p>
          <a:p>
            <a:pPr algn="just" rtl="0"/>
            <a:endParaRPr lang="en-US" dirty="0">
              <a:effectLst/>
            </a:endParaRPr>
          </a:p>
          <a:p>
            <a:pPr algn="just" rtl="0"/>
            <a:r>
              <a:rPr lang="en-US" b="1" dirty="0">
                <a:effectLst/>
              </a:rPr>
              <a:t> </a:t>
            </a:r>
            <a:r>
              <a:rPr lang="en-US" dirty="0">
                <a:effectLst/>
              </a:rPr>
              <a:t>It is a new way of managing computer networks that makes them easier and more flexible to control. </a:t>
            </a:r>
          </a:p>
          <a:p>
            <a:pPr algn="just" rtl="0"/>
            <a:endParaRPr lang="en-US" dirty="0">
              <a:effectLst/>
            </a:endParaRPr>
          </a:p>
          <a:p>
            <a:pPr rtl="0"/>
            <a:r>
              <a:rPr lang="en-US" dirty="0"/>
              <a:t>In traditional networks, the hardware (like routers and switches) decides how data moves through the network, but SDN changes this by moving the decision-making to a central software system. </a:t>
            </a:r>
          </a:p>
          <a:p>
            <a:pPr rtl="0"/>
            <a:endParaRPr lang="en-US" dirty="0"/>
          </a:p>
          <a:p>
            <a:pPr rtl="0"/>
            <a:r>
              <a:rPr lang="en-US" dirty="0"/>
              <a:t>This is done by separating the </a:t>
            </a:r>
            <a:r>
              <a:rPr lang="en-US" b="1" dirty="0"/>
              <a:t>control plane</a:t>
            </a:r>
            <a:r>
              <a:rPr lang="en-US" dirty="0"/>
              <a:t> (which decides where traffic is sent) from the </a:t>
            </a:r>
            <a:r>
              <a:rPr lang="en-US" b="1" dirty="0"/>
              <a:t>data plane</a:t>
            </a:r>
            <a:r>
              <a:rPr lang="en-US" dirty="0"/>
              <a:t> (which moves packets to the selected destination). </a:t>
            </a:r>
          </a:p>
          <a:p>
            <a:endParaRPr lang="en-US" dirty="0"/>
          </a:p>
        </p:txBody>
      </p:sp>
      <p:pic>
        <p:nvPicPr>
          <p:cNvPr id="9" name="Content Placeholder 8">
            <a:extLst>
              <a:ext uri="{FF2B5EF4-FFF2-40B4-BE49-F238E27FC236}">
                <a16:creationId xmlns:a16="http://schemas.microsoft.com/office/drawing/2014/main" id="{EC85E50C-F2C6-B48F-77A1-EB3C9B78C064}"/>
              </a:ext>
            </a:extLst>
          </p:cNvPr>
          <p:cNvPicPr>
            <a:picLocks noGrp="1" noChangeAspect="1"/>
          </p:cNvPicPr>
          <p:nvPr>
            <p:ph sz="quarter" idx="4"/>
          </p:nvPr>
        </p:nvPicPr>
        <p:blipFill>
          <a:blip r:embed="rId2">
            <a:extLst>
              <a:ext uri="{28A0092B-C50C-407E-A947-70E740481C1C}">
                <a14:useLocalDpi xmlns:a14="http://schemas.microsoft.com/office/drawing/2010/main" val="0"/>
              </a:ext>
            </a:extLst>
          </a:blip>
          <a:stretch>
            <a:fillRect/>
          </a:stretch>
        </p:blipFill>
        <p:spPr>
          <a:xfrm>
            <a:off x="7086600" y="218661"/>
            <a:ext cx="5105400" cy="6549887"/>
          </a:xfrm>
        </p:spPr>
      </p:pic>
    </p:spTree>
    <p:extLst>
      <p:ext uri="{BB962C8B-B14F-4D97-AF65-F5344CB8AC3E}">
        <p14:creationId xmlns:p14="http://schemas.microsoft.com/office/powerpoint/2010/main" val="907584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
            <a:ext cx="12192000" cy="576469"/>
          </a:xfrm>
        </p:spPr>
        <p:txBody>
          <a:bodyPr>
            <a:normAutofit fontScale="90000"/>
          </a:bodyPr>
          <a:lstStyle/>
          <a:p>
            <a:br>
              <a:rPr lang="en-US" b="1" dirty="0">
                <a:effectLst/>
              </a:rPr>
            </a:br>
            <a:r>
              <a:rPr lang="en-US" b="1" dirty="0">
                <a:effectLst/>
              </a:rPr>
              <a:t>SDN Architecture</a:t>
            </a:r>
            <a:br>
              <a:rPr lang="en-US" b="1" dirty="0">
                <a:effectLst/>
              </a:rPr>
            </a:br>
            <a:endParaRPr lang="en-US" dirty="0"/>
          </a:p>
        </p:txBody>
      </p:sp>
      <p:sp>
        <p:nvSpPr>
          <p:cNvPr id="3" name="Content Placeholder 2"/>
          <p:cNvSpPr>
            <a:spLocks noGrp="1"/>
          </p:cNvSpPr>
          <p:nvPr>
            <p:ph idx="1"/>
          </p:nvPr>
        </p:nvSpPr>
        <p:spPr>
          <a:xfrm>
            <a:off x="0" y="725556"/>
            <a:ext cx="12115800" cy="6132443"/>
          </a:xfrm>
        </p:spPr>
        <p:txBody>
          <a:bodyPr>
            <a:normAutofit lnSpcReduction="10000"/>
          </a:bodyPr>
          <a:lstStyle/>
          <a:p>
            <a:pPr algn="just" rtl="0"/>
            <a:r>
              <a:rPr lang="en-US" dirty="0">
                <a:effectLst/>
              </a:rPr>
              <a:t>In a traditional network, each switch has its own control plane and data plane.</a:t>
            </a:r>
          </a:p>
          <a:p>
            <a:pPr algn="just" rtl="0"/>
            <a:r>
              <a:rPr lang="en-US" dirty="0">
                <a:effectLst/>
              </a:rPr>
              <a:t> Switches exchange topology information to build a forwarding table that decides where to send data packets. </a:t>
            </a:r>
          </a:p>
          <a:p>
            <a:pPr algn="just" rtl="0"/>
            <a:r>
              <a:rPr lang="en-US" dirty="0">
                <a:effectLst/>
              </a:rPr>
              <a:t>In Software-Defined Networking (SDN), the control plane is removed from switches and assigned to a centralized SDN controller. </a:t>
            </a:r>
          </a:p>
          <a:p>
            <a:pPr algn="just" rtl="0"/>
            <a:r>
              <a:rPr lang="en-US" dirty="0">
                <a:effectLst/>
              </a:rPr>
              <a:t>This allows network administrators to manage traffic from a single console instead of configuring each switch individually.</a:t>
            </a:r>
          </a:p>
          <a:p>
            <a:pPr rtl="0"/>
            <a:r>
              <a:rPr lang="en-US" dirty="0"/>
              <a:t>The data plane remains in the switch, forwarding packets based on flow tables set by the controller. </a:t>
            </a:r>
          </a:p>
          <a:p>
            <a:pPr rtl="0"/>
            <a:r>
              <a:rPr lang="en-US" dirty="0"/>
              <a:t>These tables contain match fields (like input port and packet header) and instructions (forward, drop, or modify packets).</a:t>
            </a:r>
          </a:p>
          <a:p>
            <a:pPr rtl="0"/>
            <a:r>
              <a:rPr lang="en-US" dirty="0"/>
              <a:t> If a packet doesn’t match any entry, the switch contacts the controller, which provides a new flow entry to decide the packet’s path. </a:t>
            </a:r>
          </a:p>
          <a:p>
            <a:pPr rtl="0"/>
            <a:r>
              <a:rPr lang="en-US" dirty="0"/>
              <a:t>A typical </a:t>
            </a:r>
            <a:r>
              <a:rPr lang="en-US" dirty="0">
                <a:hlinkClick r:id="rId2"/>
              </a:rPr>
              <a:t>SDN architecture</a:t>
            </a:r>
            <a:r>
              <a:rPr lang="en-US" dirty="0"/>
              <a:t> consists of three layers.</a:t>
            </a:r>
          </a:p>
          <a:p>
            <a:endParaRPr lang="en-US" dirty="0"/>
          </a:p>
        </p:txBody>
      </p:sp>
    </p:spTree>
    <p:extLst>
      <p:ext uri="{BB962C8B-B14F-4D97-AF65-F5344CB8AC3E}">
        <p14:creationId xmlns:p14="http://schemas.microsoft.com/office/powerpoint/2010/main" val="7426547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997591-647C-D5BD-D9E6-1A94254ED235}"/>
              </a:ext>
            </a:extLst>
          </p:cNvPr>
          <p:cNvSpPr>
            <a:spLocks noGrp="1"/>
          </p:cNvSpPr>
          <p:nvPr>
            <p:ph sz="half" idx="1"/>
          </p:nvPr>
        </p:nvSpPr>
        <p:spPr>
          <a:xfrm>
            <a:off x="-1" y="0"/>
            <a:ext cx="7583557" cy="6858000"/>
          </a:xfrm>
        </p:spPr>
        <p:txBody>
          <a:bodyPr>
            <a:normAutofit/>
          </a:bodyPr>
          <a:lstStyle/>
          <a:p>
            <a:pPr>
              <a:buFont typeface="Arial" panose="020B0604020202020204" pitchFamily="34" charset="0"/>
              <a:buChar char="•"/>
            </a:pPr>
            <a:r>
              <a:rPr lang="en-US" b="1" dirty="0"/>
              <a:t>Application Layer:</a:t>
            </a:r>
            <a:r>
              <a:rPr lang="en-US" dirty="0"/>
              <a:t> It contains the typical network applications like </a:t>
            </a:r>
            <a:r>
              <a:rPr lang="en-US" dirty="0">
                <a:hlinkClick r:id="rId2"/>
              </a:rPr>
              <a:t>intrusion detection</a:t>
            </a:r>
            <a:r>
              <a:rPr lang="en-US" dirty="0"/>
              <a:t>, </a:t>
            </a:r>
            <a:r>
              <a:rPr lang="en-US" dirty="0">
                <a:hlinkClick r:id="rId3"/>
              </a:rPr>
              <a:t>firewall</a:t>
            </a:r>
            <a:r>
              <a:rPr lang="en-US" dirty="0"/>
              <a:t>, and </a:t>
            </a:r>
            <a:r>
              <a:rPr lang="en-US" dirty="0">
                <a:hlinkClick r:id="rId4"/>
              </a:rPr>
              <a:t>load balancing</a:t>
            </a:r>
            <a:r>
              <a:rPr lang="en-US" dirty="0"/>
              <a:t>.</a:t>
            </a:r>
          </a:p>
          <a:p>
            <a:pPr>
              <a:buFont typeface="Arial" panose="020B0604020202020204" pitchFamily="34" charset="0"/>
              <a:buChar char="•"/>
            </a:pPr>
            <a:r>
              <a:rPr lang="en-US" b="1" dirty="0"/>
              <a:t>Control Layer:</a:t>
            </a:r>
            <a:r>
              <a:rPr lang="en-US" dirty="0"/>
              <a:t> It consists of the SDN controller which acts as the brain of the network. It also allows hardware abstraction to the applications written on top of it.</a:t>
            </a:r>
          </a:p>
          <a:p>
            <a:pPr>
              <a:buFont typeface="Arial" panose="020B0604020202020204" pitchFamily="34" charset="0"/>
              <a:buChar char="•"/>
            </a:pPr>
            <a:r>
              <a:rPr lang="en-US" b="1" dirty="0"/>
              <a:t>Infrastructure Layer:</a:t>
            </a:r>
            <a:r>
              <a:rPr lang="en-US" dirty="0"/>
              <a:t> This consists of physical switches which form the data plane and carries out the actual movement of data packets.</a:t>
            </a:r>
          </a:p>
          <a:p>
            <a:pPr algn="just" rtl="0"/>
            <a:r>
              <a:rPr lang="en-US" dirty="0">
                <a:effectLst/>
              </a:rPr>
              <a:t>The layers communicate via a set of interfaces called the north-bound APIs(between the application and control layer) and southbound APIs(between the control and infrastructure layer).</a:t>
            </a:r>
          </a:p>
          <a:p>
            <a:endParaRPr lang="en-US" dirty="0"/>
          </a:p>
        </p:txBody>
      </p:sp>
      <p:pic>
        <p:nvPicPr>
          <p:cNvPr id="8" name="Content Placeholder 7">
            <a:extLst>
              <a:ext uri="{FF2B5EF4-FFF2-40B4-BE49-F238E27FC236}">
                <a16:creationId xmlns:a16="http://schemas.microsoft.com/office/drawing/2014/main" id="{CDDBF738-3CA6-D815-FCA3-4CE03C6B9637}"/>
              </a:ext>
            </a:extLst>
          </p:cNvPr>
          <p:cNvPicPr>
            <a:picLocks noGrp="1" noChangeAspect="1"/>
          </p:cNvPicPr>
          <p:nvPr>
            <p:ph sz="half" idx="2"/>
          </p:nvPr>
        </p:nvPicPr>
        <p:blipFill>
          <a:blip r:embed="rId5">
            <a:extLst>
              <a:ext uri="{28A0092B-C50C-407E-A947-70E740481C1C}">
                <a14:useLocalDpi xmlns:a14="http://schemas.microsoft.com/office/drawing/2010/main" val="0"/>
              </a:ext>
            </a:extLst>
          </a:blip>
          <a:stretch>
            <a:fillRect/>
          </a:stretch>
        </p:blipFill>
        <p:spPr>
          <a:xfrm>
            <a:off x="7822096" y="1073426"/>
            <a:ext cx="3945834" cy="5237922"/>
          </a:xfrm>
        </p:spPr>
      </p:pic>
    </p:spTree>
    <p:extLst>
      <p:ext uri="{BB962C8B-B14F-4D97-AF65-F5344CB8AC3E}">
        <p14:creationId xmlns:p14="http://schemas.microsoft.com/office/powerpoint/2010/main" val="27604678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404F3D9-7CC7-EFC3-9093-7EBCF688FC12}"/>
              </a:ext>
            </a:extLst>
          </p:cNvPr>
          <p:cNvSpPr>
            <a:spLocks noGrp="1"/>
          </p:cNvSpPr>
          <p:nvPr>
            <p:ph idx="1"/>
          </p:nvPr>
        </p:nvSpPr>
        <p:spPr>
          <a:xfrm>
            <a:off x="0" y="0"/>
            <a:ext cx="12192000" cy="6858000"/>
          </a:xfrm>
        </p:spPr>
        <p:txBody>
          <a:bodyPr/>
          <a:lstStyle/>
          <a:p>
            <a:pPr marL="0" indent="0" algn="l">
              <a:buNone/>
            </a:pPr>
            <a:r>
              <a:rPr lang="en-US" b="1" dirty="0">
                <a:effectLst/>
              </a:rPr>
              <a:t>Data Plane</a:t>
            </a:r>
          </a:p>
          <a:p>
            <a:pPr algn="l"/>
            <a:endParaRPr lang="en-US" b="1" dirty="0">
              <a:effectLst/>
            </a:endParaRPr>
          </a:p>
          <a:p>
            <a:pPr algn="just" rtl="0"/>
            <a:r>
              <a:rPr lang="en-US" dirty="0">
                <a:effectLst/>
              </a:rPr>
              <a:t>All the activities involving and resulting from data packets sent by the end-user belong to this plane. </a:t>
            </a:r>
          </a:p>
          <a:p>
            <a:pPr algn="just" rtl="0"/>
            <a:endParaRPr lang="en-US" dirty="0">
              <a:effectLst/>
            </a:endParaRPr>
          </a:p>
          <a:p>
            <a:pPr algn="just" rtl="0"/>
            <a:r>
              <a:rPr lang="en-US" dirty="0">
                <a:effectLst/>
              </a:rPr>
              <a:t>Data Plane includes:</a:t>
            </a:r>
          </a:p>
          <a:p>
            <a:pPr algn="just" rtl="0"/>
            <a:endParaRPr lang="en-US" dirty="0">
              <a:effectLst/>
            </a:endParaRPr>
          </a:p>
          <a:p>
            <a:pPr>
              <a:buFont typeface="Arial" panose="020B0604020202020204" pitchFamily="34" charset="0"/>
              <a:buChar char="•"/>
            </a:pPr>
            <a:r>
              <a:rPr lang="en-US" dirty="0"/>
              <a:t>Forwarding of packets.</a:t>
            </a:r>
          </a:p>
          <a:p>
            <a:pPr>
              <a:buFont typeface="Arial" panose="020B0604020202020204" pitchFamily="34" charset="0"/>
              <a:buChar char="•"/>
            </a:pPr>
            <a:endParaRPr lang="en-US" dirty="0"/>
          </a:p>
          <a:p>
            <a:pPr>
              <a:buFont typeface="Arial" panose="020B0604020202020204" pitchFamily="34" charset="0"/>
              <a:buChar char="•"/>
            </a:pPr>
            <a:r>
              <a:rPr lang="en-US" dirty="0"/>
              <a:t>Segmentation and reassembly of data.</a:t>
            </a:r>
          </a:p>
          <a:p>
            <a:pPr>
              <a:buFont typeface="Arial" panose="020B0604020202020204" pitchFamily="34" charset="0"/>
              <a:buChar char="•"/>
            </a:pPr>
            <a:endParaRPr lang="en-US" dirty="0"/>
          </a:p>
          <a:p>
            <a:pPr>
              <a:buFont typeface="Arial" panose="020B0604020202020204" pitchFamily="34" charset="0"/>
              <a:buChar char="•"/>
            </a:pPr>
            <a:r>
              <a:rPr lang="en-US" dirty="0"/>
              <a:t>Replication of packets for </a:t>
            </a:r>
            <a:r>
              <a:rPr lang="en-US" dirty="0">
                <a:hlinkClick r:id="rId2"/>
              </a:rPr>
              <a:t>multicasting</a:t>
            </a:r>
            <a:r>
              <a:rPr lang="en-US" dirty="0"/>
              <a:t>.</a:t>
            </a:r>
          </a:p>
          <a:p>
            <a:endParaRPr lang="en-US" dirty="0"/>
          </a:p>
        </p:txBody>
      </p:sp>
    </p:spTree>
    <p:extLst>
      <p:ext uri="{BB962C8B-B14F-4D97-AF65-F5344CB8AC3E}">
        <p14:creationId xmlns:p14="http://schemas.microsoft.com/office/powerpoint/2010/main" val="3266946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1B1D61A-515A-4125-3EB4-6F249DF52097}"/>
              </a:ext>
            </a:extLst>
          </p:cNvPr>
          <p:cNvSpPr>
            <a:spLocks noGrp="1"/>
          </p:cNvSpPr>
          <p:nvPr>
            <p:ph idx="1"/>
          </p:nvPr>
        </p:nvSpPr>
        <p:spPr>
          <a:xfrm>
            <a:off x="0" y="0"/>
            <a:ext cx="12192000" cy="6858000"/>
          </a:xfrm>
        </p:spPr>
        <p:txBody>
          <a:bodyPr/>
          <a:lstStyle/>
          <a:p>
            <a:pPr marL="0" indent="0" algn="l">
              <a:buNone/>
            </a:pPr>
            <a:r>
              <a:rPr lang="en-US" b="1" dirty="0">
                <a:effectLst/>
              </a:rPr>
              <a:t> Control Plane</a:t>
            </a:r>
          </a:p>
          <a:p>
            <a:pPr algn="just" rtl="0"/>
            <a:r>
              <a:rPr lang="en-US" dirty="0">
                <a:effectLst/>
              </a:rPr>
              <a:t>All activities necessary to perform data plane activities but do not involve end-user data packets belong to this plane.</a:t>
            </a:r>
          </a:p>
          <a:p>
            <a:pPr algn="just" rtl="0"/>
            <a:endParaRPr lang="en-US" dirty="0"/>
          </a:p>
          <a:p>
            <a:pPr algn="just" rtl="0"/>
            <a:r>
              <a:rPr lang="en-US" dirty="0">
                <a:effectLst/>
              </a:rPr>
              <a:t> In other words, this is the brain of the network. The activities of the control plane include:</a:t>
            </a:r>
          </a:p>
          <a:p>
            <a:pPr algn="just" rtl="0"/>
            <a:endParaRPr lang="en-US" dirty="0">
              <a:effectLst/>
            </a:endParaRPr>
          </a:p>
          <a:p>
            <a:pPr>
              <a:buFont typeface="Arial" panose="020B0604020202020204" pitchFamily="34" charset="0"/>
              <a:buChar char="•"/>
            </a:pPr>
            <a:r>
              <a:rPr lang="en-US" dirty="0"/>
              <a:t>Making routing tables.</a:t>
            </a:r>
          </a:p>
          <a:p>
            <a:pPr>
              <a:buFont typeface="Arial" panose="020B0604020202020204" pitchFamily="34" charset="0"/>
              <a:buChar char="•"/>
            </a:pPr>
            <a:endParaRPr lang="en-US" dirty="0"/>
          </a:p>
          <a:p>
            <a:pPr>
              <a:buFont typeface="Arial" panose="020B0604020202020204" pitchFamily="34" charset="0"/>
              <a:buChar char="•"/>
            </a:pPr>
            <a:r>
              <a:rPr lang="en-US" dirty="0"/>
              <a:t>Setting packet handling policies.</a:t>
            </a:r>
          </a:p>
          <a:p>
            <a:endParaRPr lang="en-US" dirty="0"/>
          </a:p>
        </p:txBody>
      </p:sp>
    </p:spTree>
    <p:extLst>
      <p:ext uri="{BB962C8B-B14F-4D97-AF65-F5344CB8AC3E}">
        <p14:creationId xmlns:p14="http://schemas.microsoft.com/office/powerpoint/2010/main" val="41631972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FBDE18-EA9F-B794-CBD3-6D8760A99000}"/>
              </a:ext>
            </a:extLst>
          </p:cNvPr>
          <p:cNvSpPr>
            <a:spLocks noGrp="1"/>
          </p:cNvSpPr>
          <p:nvPr>
            <p:ph idx="1"/>
          </p:nvPr>
        </p:nvSpPr>
        <p:spPr>
          <a:xfrm>
            <a:off x="0" y="0"/>
            <a:ext cx="12095922" cy="6858000"/>
          </a:xfrm>
        </p:spPr>
        <p:txBody>
          <a:bodyPr>
            <a:normAutofit fontScale="92500"/>
          </a:bodyPr>
          <a:lstStyle/>
          <a:p>
            <a:pPr marL="0" indent="0" algn="l">
              <a:buNone/>
            </a:pPr>
            <a:r>
              <a:rPr lang="en-US" b="1" dirty="0">
                <a:effectLst/>
              </a:rPr>
              <a:t> Software-Defined Networking (SDN) Works</a:t>
            </a:r>
          </a:p>
          <a:p>
            <a:pPr algn="just" rtl="0"/>
            <a:r>
              <a:rPr lang="en-US" dirty="0">
                <a:effectLst/>
              </a:rPr>
              <a:t>In Software-Defined Networking (SDN), the software that controls the network is separated from the hardware.</a:t>
            </a:r>
          </a:p>
          <a:p>
            <a:pPr algn="just" rtl="0"/>
            <a:r>
              <a:rPr lang="en-US" dirty="0">
                <a:effectLst/>
              </a:rPr>
              <a:t> SDN moves the part that decides where to send data (control plane) to software, while the part that actually forwards the data (data plane) stays in the hardware.</a:t>
            </a:r>
          </a:p>
          <a:p>
            <a:pPr algn="just" rtl="0"/>
            <a:r>
              <a:rPr lang="en-US" dirty="0">
                <a:effectLst/>
              </a:rPr>
              <a:t>This setup allows </a:t>
            </a:r>
            <a:r>
              <a:rPr lang="en-US" dirty="0">
                <a:effectLst/>
                <a:hlinkClick r:id="rId2"/>
              </a:rPr>
              <a:t>network administrators</a:t>
            </a:r>
            <a:r>
              <a:rPr lang="en-US" dirty="0">
                <a:effectLst/>
              </a:rPr>
              <a:t> to manage and control the entire network using a single, unified interface.</a:t>
            </a:r>
          </a:p>
          <a:p>
            <a:pPr algn="just" rtl="0"/>
            <a:r>
              <a:rPr lang="en-US" dirty="0">
                <a:effectLst/>
              </a:rPr>
              <a:t> Instead of configuring each device individually, they can program and adjust the network from one central place.</a:t>
            </a:r>
          </a:p>
          <a:p>
            <a:pPr algn="just" rtl="0"/>
            <a:r>
              <a:rPr lang="en-US" dirty="0">
                <a:effectLst/>
              </a:rPr>
              <a:t> This makes managing the network much easier and more efficient.</a:t>
            </a:r>
          </a:p>
          <a:p>
            <a:pPr algn="just" rtl="0"/>
            <a:r>
              <a:rPr lang="en-US" dirty="0">
                <a:effectLst/>
              </a:rPr>
              <a:t>In a network, physical or virtual devices move data from one place to another. Sometimes, virtual switches, which can be part of either software or hardware, take over the jobs of physical switches.</a:t>
            </a:r>
          </a:p>
          <a:p>
            <a:pPr algn="just" rtl="0"/>
            <a:r>
              <a:rPr lang="en-US" dirty="0">
                <a:effectLst/>
              </a:rPr>
              <a:t> These virtual switches combine multiple functions into one smart switch. </a:t>
            </a:r>
          </a:p>
          <a:p>
            <a:pPr algn="just" rtl="0"/>
            <a:r>
              <a:rPr lang="en-US" dirty="0">
                <a:effectLst/>
              </a:rPr>
              <a:t>They check the data packets and their destinations to make sure everything is correct, then move the packets to where they need to go.</a:t>
            </a:r>
          </a:p>
          <a:p>
            <a:endParaRPr lang="en-US" dirty="0"/>
          </a:p>
        </p:txBody>
      </p:sp>
    </p:spTree>
    <p:extLst>
      <p:ext uri="{BB962C8B-B14F-4D97-AF65-F5344CB8AC3E}">
        <p14:creationId xmlns:p14="http://schemas.microsoft.com/office/powerpoint/2010/main" val="5998988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488</TotalTime>
  <Words>3358</Words>
  <Application>Microsoft Office PowerPoint</Application>
  <PresentationFormat>Widescreen</PresentationFormat>
  <Paragraphs>271</Paragraphs>
  <Slides>38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Calibri</vt:lpstr>
      <vt:lpstr>Calibri Light</vt:lpstr>
      <vt:lpstr>Times New Roman</vt:lpstr>
      <vt:lpstr>Office Theme</vt:lpstr>
      <vt:lpstr>Unit 3: Reference Model (6 Hours) </vt:lpstr>
      <vt:lpstr>PowerPoint Presentation</vt:lpstr>
      <vt:lpstr>Layers Architecture</vt:lpstr>
      <vt:lpstr>PowerPoint Presentation</vt:lpstr>
      <vt:lpstr> Features of Layered Architecture </vt:lpstr>
      <vt:lpstr> Evolution of Layered Architecture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SDN Architecture </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ASUS</dc:creator>
  <cp:lastModifiedBy>Dell</cp:lastModifiedBy>
  <cp:revision>81</cp:revision>
  <dcterms:created xsi:type="dcterms:W3CDTF">2023-05-09T01:44:52Z</dcterms:created>
  <dcterms:modified xsi:type="dcterms:W3CDTF">2025-12-03T02:39:57Z</dcterms:modified>
</cp:coreProperties>
</file>