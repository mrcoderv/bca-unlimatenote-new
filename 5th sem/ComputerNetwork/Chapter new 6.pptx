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68" r:id="rId4"/>
    <p:sldId id="269" r:id="rId5"/>
    <p:sldId id="266" r:id="rId6"/>
    <p:sldId id="267" r:id="rId7"/>
    <p:sldId id="270" r:id="rId8"/>
    <p:sldId id="271" r:id="rId9"/>
    <p:sldId id="272" r:id="rId10"/>
    <p:sldId id="273" r:id="rId11"/>
    <p:sldId id="274" r:id="rId12"/>
    <p:sldId id="275" r:id="rId13"/>
    <p:sldId id="276" r:id="rId14"/>
    <p:sldId id="277" r:id="rId15"/>
    <p:sldId id="278" r:id="rId16"/>
    <p:sldId id="279" r:id="rId17"/>
    <p:sldId id="287" r:id="rId18"/>
    <p:sldId id="288" r:id="rId19"/>
    <p:sldId id="286" r:id="rId20"/>
    <p:sldId id="289" r:id="rId21"/>
    <p:sldId id="291" r:id="rId22"/>
    <p:sldId id="292" r:id="rId23"/>
    <p:sldId id="293" r:id="rId24"/>
    <p:sldId id="316" r:id="rId25"/>
    <p:sldId id="317" r:id="rId26"/>
    <p:sldId id="318" r:id="rId27"/>
    <p:sldId id="294" r:id="rId28"/>
    <p:sldId id="296" r:id="rId29"/>
    <p:sldId id="298" r:id="rId30"/>
    <p:sldId id="299"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9" r:id="rId47"/>
    <p:sldId id="320" r:id="rId48"/>
    <p:sldId id="321" r:id="rId49"/>
    <p:sldId id="322" r:id="rId50"/>
    <p:sldId id="323" r:id="rId51"/>
    <p:sldId id="324" r:id="rId52"/>
    <p:sldId id="325"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4" d="100"/>
          <a:sy n="64" d="100"/>
        </p:scale>
        <p:origin x="6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8EF44-D095-9AE3-F46D-B1467E1D3C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1A6D20-2481-D518-6ECD-6EDC94D045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527143-836C-7921-DA81-01329970EB5D}"/>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5" name="Footer Placeholder 4">
            <a:extLst>
              <a:ext uri="{FF2B5EF4-FFF2-40B4-BE49-F238E27FC236}">
                <a16:creationId xmlns:a16="http://schemas.microsoft.com/office/drawing/2014/main" id="{10FB6C6B-9C33-2C40-5509-1993D89104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774BB-A08E-E58F-CD5A-D82FE1AE34FA}"/>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2572024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397E-CB1A-BDEE-76D9-31EC687D13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B40DD-8DD3-F6E5-3226-51FC653516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496220-0710-FC09-7B08-2F58CA276D05}"/>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5" name="Footer Placeholder 4">
            <a:extLst>
              <a:ext uri="{FF2B5EF4-FFF2-40B4-BE49-F238E27FC236}">
                <a16:creationId xmlns:a16="http://schemas.microsoft.com/office/drawing/2014/main" id="{1214D094-488B-E3F1-4889-13878463C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F373F-3C67-6ACB-CD3F-4362BAA3296D}"/>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2545953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9B3BA-1E3C-806F-F482-8DBCB9A5E3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D54219-F2ED-EC56-7F8A-F1334EB0DD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429C0A-860D-3EDC-4BC6-20424B780D96}"/>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5" name="Footer Placeholder 4">
            <a:extLst>
              <a:ext uri="{FF2B5EF4-FFF2-40B4-BE49-F238E27FC236}">
                <a16:creationId xmlns:a16="http://schemas.microsoft.com/office/drawing/2014/main" id="{202F657F-BEA8-573B-0618-6481C859EA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4EA52-1C85-00D5-32A9-2ECD7409F555}"/>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1689734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C5657-2B13-3840-B479-C445CCCC17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57553E-4FAA-33AF-7690-2D62AF2F38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E31004C-1FD8-1AE8-F538-547E0DF53B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FF4188-B4EF-13B4-0CE4-E8653D796244}"/>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6" name="Footer Placeholder 5">
            <a:extLst>
              <a:ext uri="{FF2B5EF4-FFF2-40B4-BE49-F238E27FC236}">
                <a16:creationId xmlns:a16="http://schemas.microsoft.com/office/drawing/2014/main" id="{E4291437-9CF5-24AE-3111-CB8D4C405B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505BB5-7EEF-8897-2E6D-F20011835DD6}"/>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2718872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EB6F7-321A-F93E-6737-0495D37A2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3E77DE-CFB2-FCB7-DCA6-BE81521DF4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D65D4-3DA3-4DA8-916C-6D9AD1793D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6885DD-4231-8AF7-63E5-E7A75411F7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D95307-EC8D-BA14-1B74-E996B08384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00E6B4-FDC1-30D4-C57C-CC988AF89DFE}"/>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8" name="Footer Placeholder 7">
            <a:extLst>
              <a:ext uri="{FF2B5EF4-FFF2-40B4-BE49-F238E27FC236}">
                <a16:creationId xmlns:a16="http://schemas.microsoft.com/office/drawing/2014/main" id="{1629FEFE-D147-83DB-1BE4-66EA5374F3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2FEE60-CA5A-2AF1-2113-2E2B9DD536FA}"/>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3705847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C662-2802-C3C3-6D94-E8390D242B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EE815D-DD34-6470-8FE9-9FB63B9A3ACC}"/>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4" name="Footer Placeholder 3">
            <a:extLst>
              <a:ext uri="{FF2B5EF4-FFF2-40B4-BE49-F238E27FC236}">
                <a16:creationId xmlns:a16="http://schemas.microsoft.com/office/drawing/2014/main" id="{AC016D21-25BB-41F2-9CD3-B5D5434ED4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EFA0FC-9720-568E-DF67-2214E006BC60}"/>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265341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5FFE5A-0CC3-B196-A887-36B7CD529417}"/>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3" name="Footer Placeholder 2">
            <a:extLst>
              <a:ext uri="{FF2B5EF4-FFF2-40B4-BE49-F238E27FC236}">
                <a16:creationId xmlns:a16="http://schemas.microsoft.com/office/drawing/2014/main" id="{9500EA27-9590-25F7-8502-B9E4D3EE3D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629450-28E1-7A8D-D680-E084EFD5FB89}"/>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2929942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58377-AEBB-749E-40FE-4D75AA8963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B7ABAE-BFF5-6F7B-81F0-E3D1072C89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DBF8A0-4E00-4A72-8D74-BC5BFFEF2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AD25A-EFC6-7445-4388-4235E0367FB3}"/>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6" name="Footer Placeholder 5">
            <a:extLst>
              <a:ext uri="{FF2B5EF4-FFF2-40B4-BE49-F238E27FC236}">
                <a16:creationId xmlns:a16="http://schemas.microsoft.com/office/drawing/2014/main" id="{EDB381FC-FADE-2C90-EA9B-A5BB8630BD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11C83-33A6-55C0-0487-23E40396125A}"/>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3132757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04A8D-FB60-7FD9-0BFE-C371096DC5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056946-776A-CFCF-D545-9A3477A054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74F196-E3CA-E4DC-8078-DCAACC32C0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9A80C1-2EAC-1441-F275-601F8A47E49F}"/>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6" name="Footer Placeholder 5">
            <a:extLst>
              <a:ext uri="{FF2B5EF4-FFF2-40B4-BE49-F238E27FC236}">
                <a16:creationId xmlns:a16="http://schemas.microsoft.com/office/drawing/2014/main" id="{9EE4DB17-E717-2317-F545-A50976451B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03A0AB-EA93-3A29-0E6E-4E3C1D47545A}"/>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3316460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A8C23-B5D2-4393-5743-0160E72D14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1E3C908-21E1-1045-B02D-6BF513A0E6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3939E-C0B5-0718-FD4E-4DD4BFF54991}"/>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5" name="Footer Placeholder 4">
            <a:extLst>
              <a:ext uri="{FF2B5EF4-FFF2-40B4-BE49-F238E27FC236}">
                <a16:creationId xmlns:a16="http://schemas.microsoft.com/office/drawing/2014/main" id="{0CECCE4D-0FD8-5CA0-3A97-E1376E1F7D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7EA30F-C1D2-C444-942C-EA8F26BED63A}"/>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593087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8A26D3-24E7-D473-4B94-F8794AEB9D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54CF24-4FFC-09DC-A3C8-174051652D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07E715-8B08-6922-7108-9C054AEF5B86}"/>
              </a:ext>
            </a:extLst>
          </p:cNvPr>
          <p:cNvSpPr>
            <a:spLocks noGrp="1"/>
          </p:cNvSpPr>
          <p:nvPr>
            <p:ph type="dt" sz="half" idx="10"/>
          </p:nvPr>
        </p:nvSpPr>
        <p:spPr/>
        <p:txBody>
          <a:bodyPr/>
          <a:lstStyle/>
          <a:p>
            <a:fld id="{67ECA192-1BD1-45D9-B695-6FFA2E307754}" type="datetimeFigureOut">
              <a:rPr lang="en-US" smtClean="0"/>
              <a:t>1/26/2026</a:t>
            </a:fld>
            <a:endParaRPr lang="en-US"/>
          </a:p>
        </p:txBody>
      </p:sp>
      <p:sp>
        <p:nvSpPr>
          <p:cNvPr id="5" name="Footer Placeholder 4">
            <a:extLst>
              <a:ext uri="{FF2B5EF4-FFF2-40B4-BE49-F238E27FC236}">
                <a16:creationId xmlns:a16="http://schemas.microsoft.com/office/drawing/2014/main" id="{BF39E556-2240-B83D-8FAD-B604B5343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EA06B2-3560-F2C7-75AB-28A8ADD4E49F}"/>
              </a:ext>
            </a:extLst>
          </p:cNvPr>
          <p:cNvSpPr>
            <a:spLocks noGrp="1"/>
          </p:cNvSpPr>
          <p:nvPr>
            <p:ph type="sldNum" sz="quarter" idx="12"/>
          </p:nvPr>
        </p:nvSpPr>
        <p:spPr/>
        <p:txBody>
          <a:bodyPr/>
          <a:lstStyle/>
          <a:p>
            <a:fld id="{8906887E-FED9-41EE-B056-C40567F24F48}" type="slidenum">
              <a:rPr lang="en-US" smtClean="0"/>
              <a:t>‹#›</a:t>
            </a:fld>
            <a:endParaRPr lang="en-US"/>
          </a:p>
        </p:txBody>
      </p:sp>
    </p:spTree>
    <p:extLst>
      <p:ext uri="{BB962C8B-B14F-4D97-AF65-F5344CB8AC3E}">
        <p14:creationId xmlns:p14="http://schemas.microsoft.com/office/powerpoint/2010/main" val="1305651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A587D3-1415-9F2F-A6DF-EF40F00D71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DE2736-0E28-1E9B-AE33-B19D210B0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FDD1ED-09AB-5F36-49F6-70520A5E5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ECA192-1BD1-45D9-B695-6FFA2E307754}" type="datetimeFigureOut">
              <a:rPr lang="en-US" smtClean="0"/>
              <a:t>1/26/2026</a:t>
            </a:fld>
            <a:endParaRPr lang="en-US"/>
          </a:p>
        </p:txBody>
      </p:sp>
      <p:sp>
        <p:nvSpPr>
          <p:cNvPr id="5" name="Footer Placeholder 4">
            <a:extLst>
              <a:ext uri="{FF2B5EF4-FFF2-40B4-BE49-F238E27FC236}">
                <a16:creationId xmlns:a16="http://schemas.microsoft.com/office/drawing/2014/main" id="{522DFBD6-F1E3-5A6B-16CE-FE9D16B855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EED94C-00BB-2722-9480-79A526652B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06887E-FED9-41EE-B056-C40567F24F48}" type="slidenum">
              <a:rPr lang="en-US" smtClean="0"/>
              <a:t>‹#›</a:t>
            </a:fld>
            <a:endParaRPr lang="en-US"/>
          </a:p>
        </p:txBody>
      </p:sp>
    </p:spTree>
    <p:extLst>
      <p:ext uri="{BB962C8B-B14F-4D97-AF65-F5344CB8AC3E}">
        <p14:creationId xmlns:p14="http://schemas.microsoft.com/office/powerpoint/2010/main" val="2266732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manageengine.com/products/oputils/tech-topics/ipv6-addressing.html#multicast" TargetMode="External"/><Relationship Id="rId2" Type="http://schemas.openxmlformats.org/officeDocument/2006/relationships/hyperlink" Target="https://www.manageengine.com/products/oputils/tech-topics/ipv6-addressing.html#unicast" TargetMode="External"/><Relationship Id="rId1" Type="http://schemas.openxmlformats.org/officeDocument/2006/relationships/slideLayout" Target="../slideLayouts/slideLayout2.xml"/><Relationship Id="rId4" Type="http://schemas.openxmlformats.org/officeDocument/2006/relationships/hyperlink" Target="https://www.manageengine.com/products/oputils/tech-topics/ipv6-addressing.html#anycast"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www.google.com/search?client=firefox-b-d&amp;q=Tunneling&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AEAc" TargetMode="External"/><Relationship Id="rId2" Type="http://schemas.openxmlformats.org/officeDocument/2006/relationships/hyperlink" Target="https://www.google.com/search?client=firefox-b-d&amp;q=Dual-Stack&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AEAY" TargetMode="External"/><Relationship Id="rId1" Type="http://schemas.openxmlformats.org/officeDocument/2006/relationships/slideLayout" Target="../slideLayouts/slideLayout2.xml"/><Relationship Id="rId5" Type="http://schemas.openxmlformats.org/officeDocument/2006/relationships/hyperlink" Target="https://www.google.com/search?client=firefox-b-d&amp;q=NAT64&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AEAk" TargetMode="External"/><Relationship Id="rId4" Type="http://schemas.openxmlformats.org/officeDocument/2006/relationships/hyperlink" Target="https://www.google.com/search?client=firefox-b-d&amp;q=Translation&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AEAg"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google.com/search?client=firefox-b-d&amp;q=Tunneling&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DEAE" TargetMode="External"/><Relationship Id="rId2" Type="http://schemas.openxmlformats.org/officeDocument/2006/relationships/hyperlink" Target="https://www.google.com/search?client=firefox-b-d&amp;q=Dual-Stack&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AEA8" TargetMode="External"/><Relationship Id="rId1" Type="http://schemas.openxmlformats.org/officeDocument/2006/relationships/slideLayout" Target="../slideLayouts/slideLayout2.xml"/><Relationship Id="rId4" Type="http://schemas.openxmlformats.org/officeDocument/2006/relationships/hyperlink" Target="https://www.google.com/search?client=firefox-b-d&amp;q=Translation&amp;mstk=AUtExfBrb-FiM-r5W5m7CfcRiyiWsZh6R6TF29wocXiOD-2NpQaH7TFzto5wxeL0dIQXqbJsVTc6fbKdNhBpyJdkyOcFtp7IW4uibQ2kYq85NNo6yEFb3EW-975I3hrfiloUd6cX_P8P0XaZK3yg9qAxhXvrb5zlSsuaR9bvYZFsKeW-WYzaxalWHtQCsxyzD8l8PA72bGDkr0OKZtQVQHYNOMnDC6t7sBnBsTggiH6KUdnbI7JKEbn6oe6NFB5MQv7c_6-OPtbOzyr5XOaIajmnCQAT&amp;csui=3&amp;ved=2ahUKEwi-gdrVjJWSAxWtcGwGHVriIE8QgK4QegYIAQgEEA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www.google.com/search?q=Dual-Stack&amp;client=firefox-b-d&amp;hs=gKWU&amp;sca_esv=651164c6481fa95a&amp;sxsrf=ANbL-n7IWmu69UDrPTJrT2HrspPiuNIulg%3A1768739652934&amp;ei=RNNsab7POK3hseMP2sSD-QQ&amp;ved=2ahUKEwiM3_XXjZWSAxVsX2wGHUPtDYYQgK4QegQIARAD&amp;uact=5&amp;oq=Dual-Stack%0D%0A&amp;gs_lp=Egxnd3Mtd2l6LXNlcnAiC0R1YWwtU3RhY2sKMgoQABiwAxjWBBhHMgoQABiwAxjWBBhHMgoQABiwAxjWBBhHMgoQABiwAxjWBBhHMgoQABiwAxjWBBhHMgoQABiwAxjWBBhHMgoQABiwAxjWBBhHMgoQABiwAxjWBBhHSK4JUKcDWKcDcAF4AZABAJgBAKABAKoBALgBA8gBAPgBAvgBAZgCAaACH5gDAOIDBRIBMSBAiAYBkAYIkgcBMaAHALIHALgHAMIHAzQtMcgHFoAIAA&amp;sclient=gws-wiz-serp&amp;mstk=AUtExfALTplH-xNaiwwtfMjpvhW3OSfqIOmsFWDJiNhzTBvhdiNYLCieTlqgYKZzFW2AW-zKATTVnoe0V8YEYMwEzh9qy54NhxAyWyQN86W_9sUe8oe0doAL1JLF4gIuM0JiZFsJF3gj9ymN55amqSVYqFOmM9PHCmU0pjPktxRcwMRA0Rui8j9BuC7BPYHxDgXKyQSBVQ2QmDyBIOQBcncrrf6jyWNI2Y0GFjm_jQcCdg-oIrbJAqzqy6Xp2D09Pru2oAD4Zwj-eTh-JU7gfwJeVpiI&amp;csui=3" TargetMode="Externa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geeksforgeeks.org/computer-networks/tcp-ip-model/"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geeksforgeeks.org/computer-networks/what-is-a-loopback-address/" TargetMode="External"/><Relationship Id="rId2" Type="http://schemas.openxmlformats.org/officeDocument/2006/relationships/hyperlink" Target="https://www.geeksforgeeks.org/computer-networks/introduction-of-a-router/" TargetMode="External"/><Relationship Id="rId1" Type="http://schemas.openxmlformats.org/officeDocument/2006/relationships/slideLayout" Target="../slideLayouts/slideLayout2.xml"/><Relationship Id="rId6" Type="http://schemas.openxmlformats.org/officeDocument/2006/relationships/hyperlink" Target="https://www.geeksforgeeks.org/computer-networks/link-state-advertisement-lsa/" TargetMode="External"/><Relationship Id="rId5" Type="http://schemas.openxmlformats.org/officeDocument/2006/relationships/hyperlink" Target="https://www.geeksforgeeks.org/computer-networks/explain-ospf-dr-bdr-election/" TargetMode="External"/><Relationship Id="rId4" Type="http://schemas.openxmlformats.org/officeDocument/2006/relationships/hyperlink" Target="https://www.geeksforgeeks.org/computer-networks/open-shortest-path-first-ospf-protocol-fundamental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geeksforgeeks.org/computer-networks/types-of-routing/" TargetMode="Externa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hyperlink" Target="https://www.geeksforgeeks.org/computer-science-fundamentals/what-is-bandwidth-definition-working-importance-uses/"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9F21-9FF1-2ADF-1F30-F4316F5CE88F}"/>
              </a:ext>
            </a:extLst>
          </p:cNvPr>
          <p:cNvSpPr>
            <a:spLocks noGrp="1"/>
          </p:cNvSpPr>
          <p:nvPr>
            <p:ph type="ctrTitle"/>
          </p:nvPr>
        </p:nvSpPr>
        <p:spPr/>
        <p:txBody>
          <a:bodyPr/>
          <a:lstStyle/>
          <a:p>
            <a:r>
              <a:rPr lang="en-US" b="1" dirty="0"/>
              <a:t>Unit 6</a:t>
            </a:r>
          </a:p>
        </p:txBody>
      </p:sp>
      <p:sp>
        <p:nvSpPr>
          <p:cNvPr id="3" name="Subtitle 2">
            <a:extLst>
              <a:ext uri="{FF2B5EF4-FFF2-40B4-BE49-F238E27FC236}">
                <a16:creationId xmlns:a16="http://schemas.microsoft.com/office/drawing/2014/main" id="{669D231C-4B74-88A9-1AC6-008FF6BA40D3}"/>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956578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2055A3E-88CB-A25A-BA5D-02CF8F4DC9E9}"/>
              </a:ext>
            </a:extLst>
          </p:cNvPr>
          <p:cNvPicPr>
            <a:picLocks noGrp="1" noChangeAspect="1"/>
          </p:cNvPicPr>
          <p:nvPr>
            <p:ph idx="1"/>
          </p:nvPr>
        </p:nvPicPr>
        <p:blipFill>
          <a:blip r:embed="rId2"/>
          <a:stretch>
            <a:fillRect/>
          </a:stretch>
        </p:blipFill>
        <p:spPr>
          <a:xfrm>
            <a:off x="420617" y="447261"/>
            <a:ext cx="10681391" cy="5506278"/>
          </a:xfrm>
        </p:spPr>
      </p:pic>
    </p:spTree>
    <p:extLst>
      <p:ext uri="{BB962C8B-B14F-4D97-AF65-F5344CB8AC3E}">
        <p14:creationId xmlns:p14="http://schemas.microsoft.com/office/powerpoint/2010/main" val="339292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23FB9-57C0-BCEB-1D3A-DF40D6AD95F9}"/>
              </a:ext>
            </a:extLst>
          </p:cNvPr>
          <p:cNvSpPr>
            <a:spLocks noGrp="1"/>
          </p:cNvSpPr>
          <p:nvPr>
            <p:ph idx="1"/>
          </p:nvPr>
        </p:nvSpPr>
        <p:spPr>
          <a:xfrm>
            <a:off x="0" y="0"/>
            <a:ext cx="12192000" cy="6791325"/>
          </a:xfrm>
        </p:spPr>
        <p:txBody>
          <a:bodyPr/>
          <a:lstStyle/>
          <a:p>
            <a:r>
              <a:rPr lang="en-US" b="1" dirty="0">
                <a:solidFill>
                  <a:srgbClr val="FF0000"/>
                </a:solidFill>
              </a:rPr>
              <a:t>(IPv4).</a:t>
            </a:r>
          </a:p>
          <a:p>
            <a:r>
              <a:rPr lang="en-US" b="1" dirty="0"/>
              <a:t>IP</a:t>
            </a:r>
            <a:r>
              <a:rPr lang="en-US" dirty="0"/>
              <a:t> stands for </a:t>
            </a:r>
            <a:r>
              <a:rPr lang="en-US" b="1" dirty="0"/>
              <a:t>Internet Protocol</a:t>
            </a:r>
            <a:r>
              <a:rPr lang="en-US" dirty="0"/>
              <a:t> and </a:t>
            </a:r>
            <a:r>
              <a:rPr lang="en-US" b="1" dirty="0"/>
              <a:t>v4</a:t>
            </a:r>
            <a:r>
              <a:rPr lang="en-US" dirty="0"/>
              <a:t> stands for </a:t>
            </a:r>
            <a:r>
              <a:rPr lang="en-US" b="1" dirty="0"/>
              <a:t>Version Four</a:t>
            </a:r>
            <a:r>
              <a:rPr lang="en-US" dirty="0"/>
              <a:t> (IPv4). </a:t>
            </a:r>
          </a:p>
          <a:p>
            <a:endParaRPr lang="en-US" dirty="0"/>
          </a:p>
          <a:p>
            <a:r>
              <a:rPr lang="en-US" dirty="0"/>
              <a:t>IPv4 was the primary version brought into action for production within the ARPANET in 1983. </a:t>
            </a:r>
          </a:p>
          <a:p>
            <a:br>
              <a:rPr lang="en-US" dirty="0"/>
            </a:br>
            <a:r>
              <a:rPr lang="en-US" dirty="0"/>
              <a:t>IP version four addresses are 32-bit integers which will be expressed in decimal notation. </a:t>
            </a:r>
          </a:p>
          <a:p>
            <a:br>
              <a:rPr lang="en-US" dirty="0"/>
            </a:br>
            <a:r>
              <a:rPr lang="en-US" dirty="0"/>
              <a:t>Example- 192.0.2.126 could be an IPv4 address. </a:t>
            </a:r>
          </a:p>
        </p:txBody>
      </p:sp>
    </p:spTree>
    <p:extLst>
      <p:ext uri="{BB962C8B-B14F-4D97-AF65-F5344CB8AC3E}">
        <p14:creationId xmlns:p14="http://schemas.microsoft.com/office/powerpoint/2010/main" val="2390890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0AE09-FBC8-78D5-6E32-4E9445D96FB9}"/>
              </a:ext>
            </a:extLst>
          </p:cNvPr>
          <p:cNvSpPr>
            <a:spLocks noGrp="1"/>
          </p:cNvSpPr>
          <p:nvPr>
            <p:ph idx="1"/>
          </p:nvPr>
        </p:nvSpPr>
        <p:spPr>
          <a:xfrm>
            <a:off x="0" y="0"/>
            <a:ext cx="12192000" cy="6858000"/>
          </a:xfrm>
        </p:spPr>
        <p:txBody>
          <a:bodyPr>
            <a:normAutofit fontScale="77500" lnSpcReduction="20000"/>
          </a:bodyPr>
          <a:lstStyle/>
          <a:p>
            <a:r>
              <a:rPr lang="en-US" b="1" dirty="0"/>
              <a:t>Characteristics of IPv4</a:t>
            </a:r>
          </a:p>
          <a:p>
            <a:pPr>
              <a:buFont typeface="Arial" panose="020B0604020202020204" pitchFamily="34" charset="0"/>
              <a:buChar char="•"/>
            </a:pPr>
            <a:r>
              <a:rPr lang="en-US" dirty="0"/>
              <a:t>IPv4 could be a 32-Bit IP Address.</a:t>
            </a:r>
          </a:p>
          <a:p>
            <a:pPr>
              <a:buFont typeface="Arial" panose="020B0604020202020204" pitchFamily="34" charset="0"/>
              <a:buChar char="•"/>
            </a:pPr>
            <a:endParaRPr lang="en-US" dirty="0"/>
          </a:p>
          <a:p>
            <a:pPr>
              <a:buFont typeface="Arial" panose="020B0604020202020204" pitchFamily="34" charset="0"/>
              <a:buChar char="•"/>
            </a:pPr>
            <a:r>
              <a:rPr lang="en-US" dirty="0"/>
              <a:t>IPv4 could be a numeric address, and its bits are separated by a dot.</a:t>
            </a:r>
          </a:p>
          <a:p>
            <a:pPr>
              <a:buFont typeface="Arial" panose="020B0604020202020204" pitchFamily="34" charset="0"/>
              <a:buChar char="•"/>
            </a:pPr>
            <a:endParaRPr lang="en-US" dirty="0"/>
          </a:p>
          <a:p>
            <a:pPr>
              <a:buFont typeface="Arial" panose="020B0604020202020204" pitchFamily="34" charset="0"/>
              <a:buChar char="•"/>
            </a:pPr>
            <a:r>
              <a:rPr lang="en-US" dirty="0"/>
              <a:t>The number of header fields is twelve and the length of the header field is twenty.</a:t>
            </a:r>
          </a:p>
          <a:p>
            <a:pPr>
              <a:buFont typeface="Arial" panose="020B0604020202020204" pitchFamily="34" charset="0"/>
              <a:buChar char="•"/>
            </a:pPr>
            <a:endParaRPr lang="en-US" dirty="0"/>
          </a:p>
          <a:p>
            <a:pPr>
              <a:buFont typeface="Arial" panose="020B0604020202020204" pitchFamily="34" charset="0"/>
              <a:buChar char="•"/>
            </a:pPr>
            <a:r>
              <a:rPr lang="en-US" dirty="0"/>
              <a:t>It has Unicast, broadcast, and multicast style of addresses.</a:t>
            </a:r>
          </a:p>
          <a:p>
            <a:pPr>
              <a:buFont typeface="Arial" panose="020B0604020202020204" pitchFamily="34" charset="0"/>
              <a:buChar char="•"/>
            </a:pPr>
            <a:endParaRPr lang="en-US" dirty="0"/>
          </a:p>
          <a:p>
            <a:pPr>
              <a:buFont typeface="Arial" panose="020B0604020202020204" pitchFamily="34" charset="0"/>
              <a:buChar char="•"/>
            </a:pPr>
            <a:r>
              <a:rPr lang="en-US" dirty="0"/>
              <a:t>IPv4 supports VLSM (Virtual Length Subnet Mask).</a:t>
            </a:r>
          </a:p>
          <a:p>
            <a:pPr>
              <a:buFont typeface="Arial" panose="020B0604020202020204" pitchFamily="34" charset="0"/>
              <a:buChar char="•"/>
            </a:pPr>
            <a:endParaRPr lang="en-US" dirty="0"/>
          </a:p>
          <a:p>
            <a:pPr>
              <a:buFont typeface="Arial" panose="020B0604020202020204" pitchFamily="34" charset="0"/>
              <a:buChar char="•"/>
            </a:pPr>
            <a:r>
              <a:rPr lang="en-US" dirty="0"/>
              <a:t>IPv4 uses the Post Address Resolution Protocol to map to the MAC address.</a:t>
            </a:r>
          </a:p>
          <a:p>
            <a:pPr>
              <a:buFont typeface="Arial" panose="020B0604020202020204" pitchFamily="34" charset="0"/>
              <a:buChar char="•"/>
            </a:pPr>
            <a:endParaRPr lang="en-US" dirty="0"/>
          </a:p>
          <a:p>
            <a:pPr>
              <a:buFont typeface="Arial" panose="020B0604020202020204" pitchFamily="34" charset="0"/>
              <a:buChar char="•"/>
            </a:pPr>
            <a:r>
              <a:rPr lang="en-US" dirty="0"/>
              <a:t>RIP may be a routing protocol supported by the routed daemon.</a:t>
            </a:r>
          </a:p>
          <a:p>
            <a:pPr>
              <a:buFont typeface="Arial" panose="020B0604020202020204" pitchFamily="34" charset="0"/>
              <a:buChar char="•"/>
            </a:pPr>
            <a:endParaRPr lang="en-US" dirty="0"/>
          </a:p>
          <a:p>
            <a:pPr>
              <a:buFont typeface="Arial" panose="020B0604020202020204" pitchFamily="34" charset="0"/>
              <a:buChar char="•"/>
            </a:pPr>
            <a:r>
              <a:rPr lang="en-US" dirty="0"/>
              <a:t>Networks ought to be designed either manually or with DHCP.</a:t>
            </a:r>
          </a:p>
          <a:p>
            <a:pPr>
              <a:buFont typeface="Arial" panose="020B0604020202020204" pitchFamily="34" charset="0"/>
              <a:buChar char="•"/>
            </a:pPr>
            <a:endParaRPr lang="en-US" dirty="0"/>
          </a:p>
          <a:p>
            <a:pPr>
              <a:buFont typeface="Arial" panose="020B0604020202020204" pitchFamily="34" charset="0"/>
              <a:buChar char="•"/>
            </a:pPr>
            <a:r>
              <a:rPr lang="en-US" dirty="0"/>
              <a:t>Packet fragmentation permits from routers and causing host.</a:t>
            </a:r>
          </a:p>
          <a:p>
            <a:endParaRPr lang="en-US" dirty="0"/>
          </a:p>
        </p:txBody>
      </p:sp>
    </p:spTree>
    <p:extLst>
      <p:ext uri="{BB962C8B-B14F-4D97-AF65-F5344CB8AC3E}">
        <p14:creationId xmlns:p14="http://schemas.microsoft.com/office/powerpoint/2010/main" val="1952357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P Header">
            <a:extLst>
              <a:ext uri="{FF2B5EF4-FFF2-40B4-BE49-F238E27FC236}">
                <a16:creationId xmlns:a16="http://schemas.microsoft.com/office/drawing/2014/main" id="{5713E21C-29A6-40CD-0C4A-34EF2A0331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6250" y="735252"/>
            <a:ext cx="10877550" cy="5757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6056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0617EB-8FEE-ECCD-C3C4-B63B8F88A9D3}"/>
              </a:ext>
            </a:extLst>
          </p:cNvPr>
          <p:cNvSpPr>
            <a:spLocks noGrp="1"/>
          </p:cNvSpPr>
          <p:nvPr>
            <p:ph idx="1"/>
          </p:nvPr>
        </p:nvSpPr>
        <p:spPr>
          <a:xfrm>
            <a:off x="0" y="0"/>
            <a:ext cx="12192000" cy="6858000"/>
          </a:xfrm>
        </p:spPr>
        <p:txBody>
          <a:bodyPr>
            <a:normAutofit fontScale="70000" lnSpcReduction="20000"/>
          </a:bodyPr>
          <a:lstStyle/>
          <a:p>
            <a:r>
              <a:rPr lang="en-US" dirty="0"/>
              <a:t>IP header includes many relevant information including Version Number, which, in this context, is 4. Other details are as follows −</a:t>
            </a:r>
          </a:p>
          <a:p>
            <a:pPr>
              <a:buFont typeface="Arial" panose="020B0604020202020204" pitchFamily="34" charset="0"/>
              <a:buChar char="•"/>
            </a:pPr>
            <a:r>
              <a:rPr lang="en-US" b="1" dirty="0"/>
              <a:t>Version</a:t>
            </a:r>
            <a:r>
              <a:rPr lang="en-US" dirty="0"/>
              <a:t> − Version no. of Internet Protocol used (e.g. IPv4).</a:t>
            </a:r>
          </a:p>
          <a:p>
            <a:pPr>
              <a:buFont typeface="Arial" panose="020B0604020202020204" pitchFamily="34" charset="0"/>
              <a:buChar char="•"/>
            </a:pPr>
            <a:r>
              <a:rPr lang="en-US" b="1" dirty="0"/>
              <a:t>IHL</a:t>
            </a:r>
            <a:r>
              <a:rPr lang="en-US" dirty="0"/>
              <a:t> − Internet Header Length; Length of entire IP header.</a:t>
            </a:r>
          </a:p>
          <a:p>
            <a:pPr>
              <a:buFont typeface="Arial" panose="020B0604020202020204" pitchFamily="34" charset="0"/>
              <a:buChar char="•"/>
            </a:pPr>
            <a:r>
              <a:rPr lang="en-US" b="1" dirty="0"/>
              <a:t>DSCP</a:t>
            </a:r>
            <a:r>
              <a:rPr lang="en-US" dirty="0"/>
              <a:t> − Differentiated Services Code Point; this is Type of Service.</a:t>
            </a:r>
          </a:p>
          <a:p>
            <a:pPr>
              <a:buFont typeface="Arial" panose="020B0604020202020204" pitchFamily="34" charset="0"/>
              <a:buChar char="•"/>
            </a:pPr>
            <a:r>
              <a:rPr lang="en-US" b="1" dirty="0"/>
              <a:t>ECN</a:t>
            </a:r>
            <a:r>
              <a:rPr lang="en-US" dirty="0"/>
              <a:t> − Explicit Congestion Notification; It carries information about the congestion seen in the route.</a:t>
            </a:r>
          </a:p>
          <a:p>
            <a:pPr>
              <a:buFont typeface="Arial" panose="020B0604020202020204" pitchFamily="34" charset="0"/>
              <a:buChar char="•"/>
            </a:pPr>
            <a:r>
              <a:rPr lang="en-US" b="1" dirty="0"/>
              <a:t>Total Length</a:t>
            </a:r>
            <a:r>
              <a:rPr lang="en-US" dirty="0"/>
              <a:t> − Length of entire IP Packet (including IP header and IP Payload).</a:t>
            </a:r>
          </a:p>
          <a:p>
            <a:pPr>
              <a:buFont typeface="Arial" panose="020B0604020202020204" pitchFamily="34" charset="0"/>
              <a:buChar char="•"/>
            </a:pPr>
            <a:r>
              <a:rPr lang="en-US" b="1" dirty="0"/>
              <a:t>Identification</a:t>
            </a:r>
            <a:r>
              <a:rPr lang="en-US" dirty="0"/>
              <a:t> − If IP packet is fragmented during the transmission, all the fragments contain same identification number. to identify original IP packet they belong to.</a:t>
            </a:r>
          </a:p>
          <a:p>
            <a:pPr>
              <a:buFont typeface="Arial" panose="020B0604020202020204" pitchFamily="34" charset="0"/>
              <a:buChar char="•"/>
            </a:pPr>
            <a:r>
              <a:rPr lang="en-US" b="1" dirty="0"/>
              <a:t>Flags</a:t>
            </a:r>
            <a:r>
              <a:rPr lang="en-US" dirty="0"/>
              <a:t> − As required by the network resources, if IP Packet is too large to handle, these ‘flags’ tells if they can be fragmented or not. In this 3-bit flag, the MSB is always set to ‘0’.</a:t>
            </a:r>
          </a:p>
          <a:p>
            <a:pPr>
              <a:buFont typeface="Arial" panose="020B0604020202020204" pitchFamily="34" charset="0"/>
              <a:buChar char="•"/>
            </a:pPr>
            <a:r>
              <a:rPr lang="en-US" b="1" dirty="0"/>
              <a:t>Fragment Offset</a:t>
            </a:r>
            <a:r>
              <a:rPr lang="en-US" dirty="0"/>
              <a:t> − This offset tells the exact position of the fragment in the original IP Packet.</a:t>
            </a:r>
          </a:p>
          <a:p>
            <a:pPr>
              <a:buFont typeface="Arial" panose="020B0604020202020204" pitchFamily="34" charset="0"/>
              <a:buChar char="•"/>
            </a:pPr>
            <a:r>
              <a:rPr lang="en-US" b="1" dirty="0"/>
              <a:t>Time to Live</a:t>
            </a:r>
            <a:r>
              <a:rPr lang="en-US" dirty="0"/>
              <a:t> − To avoid looping in the network, every packet is sent with some TTL value set, which tells the network how many routers (hops) this packet can cross. At each hop, its value is decremented by one and when the value reaches zero, the packet is discarded.</a:t>
            </a:r>
          </a:p>
          <a:p>
            <a:pPr>
              <a:buFont typeface="Arial" panose="020B0604020202020204" pitchFamily="34" charset="0"/>
              <a:buChar char="•"/>
            </a:pPr>
            <a:r>
              <a:rPr lang="en-US" b="1" dirty="0"/>
              <a:t>Protocol</a:t>
            </a:r>
            <a:r>
              <a:rPr lang="en-US" dirty="0"/>
              <a:t> − Tells the Network layer at the destination host, to which Protocol this packet belongs to, i.e. the next level Protocol. For example protocol number of ICMP is 1, TCP is 6 and UDP is 17.</a:t>
            </a:r>
          </a:p>
          <a:p>
            <a:pPr>
              <a:buFont typeface="Arial" panose="020B0604020202020204" pitchFamily="34" charset="0"/>
              <a:buChar char="•"/>
            </a:pPr>
            <a:r>
              <a:rPr lang="en-US" b="1" dirty="0"/>
              <a:t>Header Checksum</a:t>
            </a:r>
            <a:r>
              <a:rPr lang="en-US" dirty="0"/>
              <a:t> − This field is used to keep checksum value of entire header which is then used to check if the packet is received error-free.</a:t>
            </a:r>
          </a:p>
          <a:p>
            <a:pPr>
              <a:buFont typeface="Arial" panose="020B0604020202020204" pitchFamily="34" charset="0"/>
              <a:buChar char="•"/>
            </a:pPr>
            <a:r>
              <a:rPr lang="en-US" b="1" dirty="0"/>
              <a:t>Source Address</a:t>
            </a:r>
            <a:r>
              <a:rPr lang="en-US" dirty="0"/>
              <a:t> − 32-bit address of the Sender (or source) of the packet.</a:t>
            </a:r>
          </a:p>
          <a:p>
            <a:pPr>
              <a:buFont typeface="Arial" panose="020B0604020202020204" pitchFamily="34" charset="0"/>
              <a:buChar char="•"/>
            </a:pPr>
            <a:r>
              <a:rPr lang="en-US" b="1" dirty="0"/>
              <a:t>Destination Address</a:t>
            </a:r>
            <a:r>
              <a:rPr lang="en-US" dirty="0"/>
              <a:t> − 32-bit address of the Receiver (or destination) of the packet.</a:t>
            </a:r>
          </a:p>
          <a:p>
            <a:pPr>
              <a:buFont typeface="Arial" panose="020B0604020202020204" pitchFamily="34" charset="0"/>
              <a:buChar char="•"/>
            </a:pPr>
            <a:r>
              <a:rPr lang="en-US" b="1" dirty="0"/>
              <a:t>Options</a:t>
            </a:r>
            <a:r>
              <a:rPr lang="en-US" dirty="0"/>
              <a:t> − This is optional field, which is used if the value of IHL is greater than 5. These options may contain values for options such as Security, Record Route, Time Stamp, etc.</a:t>
            </a:r>
          </a:p>
          <a:p>
            <a:endParaRPr lang="en-US" dirty="0"/>
          </a:p>
        </p:txBody>
      </p:sp>
    </p:spTree>
    <p:extLst>
      <p:ext uri="{BB962C8B-B14F-4D97-AF65-F5344CB8AC3E}">
        <p14:creationId xmlns:p14="http://schemas.microsoft.com/office/powerpoint/2010/main" val="2362751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18473"/>
            <a:ext cx="6019800" cy="6839527"/>
          </a:xfrm>
        </p:spPr>
        <p:txBody>
          <a:bodyPr/>
          <a:lstStyle/>
          <a:p>
            <a:pPr marL="0" indent="0">
              <a:buNone/>
            </a:pPr>
            <a:r>
              <a:rPr lang="en-US" sz="3600" b="1" dirty="0">
                <a:solidFill>
                  <a:srgbClr val="FF0000"/>
                </a:solidFill>
              </a:rPr>
              <a:t>IP version 6</a:t>
            </a:r>
          </a:p>
          <a:p>
            <a:r>
              <a:rPr lang="en-US" dirty="0"/>
              <a:t>IP version 6 is the new version of Internet Protocol, which is way better than IP version 4 in terms of complexity and efficiency.</a:t>
            </a:r>
          </a:p>
          <a:p>
            <a:endParaRPr lang="en-US" dirty="0"/>
          </a:p>
          <a:p>
            <a:r>
              <a:rPr lang="en-US" dirty="0"/>
              <a:t> The header of IP version 6 and understand how it is different from the IPv4 header. </a:t>
            </a:r>
          </a:p>
          <a:p>
            <a:endParaRPr lang="en-US" dirty="0"/>
          </a:p>
        </p:txBody>
      </p:sp>
      <p:pic>
        <p:nvPicPr>
          <p:cNvPr id="6" name="Content Placeholder 5">
            <a:extLst>
              <a:ext uri="{FF2B5EF4-FFF2-40B4-BE49-F238E27FC236}">
                <a16:creationId xmlns:a16="http://schemas.microsoft.com/office/drawing/2014/main" id="{827DBC2E-E26C-D3D0-B3B6-636A830A7EB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54255" y="849745"/>
            <a:ext cx="6437745" cy="4751982"/>
          </a:xfrm>
          <a:prstGeom prst="rect">
            <a:avLst/>
          </a:prstGeom>
        </p:spPr>
      </p:pic>
    </p:spTree>
    <p:extLst>
      <p:ext uri="{BB962C8B-B14F-4D97-AF65-F5344CB8AC3E}">
        <p14:creationId xmlns:p14="http://schemas.microsoft.com/office/powerpoint/2010/main" val="2301467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Version (4-bits):</a:t>
            </a:r>
            <a:r>
              <a:rPr lang="en-US" dirty="0"/>
              <a:t> Indicates version of Internet Protocol which contains bit sequence 0110. </a:t>
            </a:r>
          </a:p>
          <a:p>
            <a:endParaRPr lang="en-US" dirty="0"/>
          </a:p>
          <a:p>
            <a:r>
              <a:rPr lang="en-US" b="1" dirty="0"/>
              <a:t>Traffic Class (8-bits):</a:t>
            </a:r>
            <a:r>
              <a:rPr lang="en-US" dirty="0"/>
              <a:t> The Traffic Class field indicates  priority of IPv6 packet which is similar to </a:t>
            </a:r>
            <a:r>
              <a:rPr lang="en-US" i="1" dirty="0"/>
              <a:t>Service Field</a:t>
            </a:r>
            <a:r>
              <a:rPr lang="en-US" dirty="0"/>
              <a:t> in IPv4 packet. </a:t>
            </a:r>
          </a:p>
          <a:p>
            <a:endParaRPr lang="en-US" dirty="0"/>
          </a:p>
          <a:p>
            <a:r>
              <a:rPr lang="en-US" dirty="0"/>
              <a:t>It helps routers to handle the traffic based on the priority of the packet. If congestion occurs on the router then packets with the least priority will be discarded. </a:t>
            </a:r>
          </a:p>
          <a:p>
            <a:br>
              <a:rPr lang="en-US" dirty="0"/>
            </a:br>
            <a:r>
              <a:rPr lang="en-US" dirty="0"/>
              <a:t>As of now, only 4-bits are being used (and the remaining bits are under research), in which 0 to 7 are assigned to Congestion controlled traffic and 8 to 15 are assigned to Uncontrolled traffic. </a:t>
            </a:r>
          </a:p>
          <a:p>
            <a:endParaRPr lang="en-US" dirty="0"/>
          </a:p>
          <a:p>
            <a:endParaRPr lang="en-US" dirty="0"/>
          </a:p>
        </p:txBody>
      </p:sp>
    </p:spTree>
    <p:extLst>
      <p:ext uri="{BB962C8B-B14F-4D97-AF65-F5344CB8AC3E}">
        <p14:creationId xmlns:p14="http://schemas.microsoft.com/office/powerpoint/2010/main" val="2215377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US" b="1" dirty="0"/>
              <a:t>Flow Label (20-bits): </a:t>
            </a:r>
          </a:p>
          <a:p>
            <a:r>
              <a:rPr lang="en-US" dirty="0"/>
              <a:t>Flow Label field is used by a source to label the packets belonging to the same flow in order to request special handling by intermediate IPv6 routers, such as non-default quality of service or real-time service.</a:t>
            </a:r>
          </a:p>
          <a:p>
            <a:endParaRPr lang="en-US" dirty="0"/>
          </a:p>
          <a:p>
            <a:r>
              <a:rPr lang="en-US" dirty="0"/>
              <a:t> In order to distinguish the flow, an intermediate router can use the source address, a destination address, and flow label of the packets.</a:t>
            </a:r>
          </a:p>
          <a:p>
            <a:endParaRPr lang="en-US" dirty="0"/>
          </a:p>
          <a:p>
            <a:r>
              <a:rPr lang="en-US" dirty="0"/>
              <a:t> Between a source and destination, multiple flows may exist because many processes might be running at the same time. </a:t>
            </a:r>
          </a:p>
          <a:p>
            <a:endParaRPr lang="en-US" dirty="0"/>
          </a:p>
          <a:p>
            <a:r>
              <a:rPr lang="en-US" dirty="0"/>
              <a:t>Routers or Host that does not support the functionality of flow label field and for default router handling, flow label field is set to 0. </a:t>
            </a:r>
          </a:p>
          <a:p>
            <a:endParaRPr lang="en-US" dirty="0"/>
          </a:p>
          <a:p>
            <a:r>
              <a:rPr lang="en-US" dirty="0"/>
              <a:t>While setting up the flow label, the source is also supposed to specify the lifetime of the flow. </a:t>
            </a:r>
          </a:p>
          <a:p>
            <a:endParaRPr lang="en-US" dirty="0"/>
          </a:p>
        </p:txBody>
      </p:sp>
    </p:spTree>
    <p:extLst>
      <p:ext uri="{BB962C8B-B14F-4D97-AF65-F5344CB8AC3E}">
        <p14:creationId xmlns:p14="http://schemas.microsoft.com/office/powerpoint/2010/main" val="971378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b="1" dirty="0"/>
              <a:t>Payload Length (16-bits):</a:t>
            </a:r>
            <a:r>
              <a:rPr lang="en-US" dirty="0"/>
              <a:t> </a:t>
            </a:r>
          </a:p>
          <a:p>
            <a:r>
              <a:rPr lang="en-US" dirty="0"/>
              <a:t>It is a 16-bit (unsigned integer) field, indicates the total size of the payload which tells routers about the amount of information a particular packet contains in its payload. </a:t>
            </a:r>
          </a:p>
          <a:p>
            <a:r>
              <a:rPr lang="en-US" dirty="0"/>
              <a:t>The payload Length field includes extension headers(if any) and an upper-layer packet. </a:t>
            </a:r>
          </a:p>
          <a:p>
            <a:r>
              <a:rPr lang="en-US" dirty="0"/>
              <a:t>In case the length of the payload is greater than 65,535 bytes (payload up to 65,535 bytes can be indicated with 16-bits), then the payload length field will be set to 0 and the jumbo payload option is used in the Hop-by-Hop options extension header. </a:t>
            </a:r>
          </a:p>
          <a:p>
            <a:pPr marL="0" indent="0">
              <a:buNone/>
            </a:pPr>
            <a:r>
              <a:rPr lang="en-US" b="1" dirty="0"/>
              <a:t>Next Header (8-bits):</a:t>
            </a:r>
            <a:r>
              <a:rPr lang="en-US" dirty="0"/>
              <a:t> </a:t>
            </a:r>
          </a:p>
          <a:p>
            <a:pPr marL="0" indent="0">
              <a:buNone/>
            </a:pPr>
            <a:r>
              <a:rPr lang="en-US" dirty="0"/>
              <a:t>Next Header indicates the type of extension header(if present) immediately following the IPv6 header. </a:t>
            </a:r>
          </a:p>
          <a:p>
            <a:r>
              <a:rPr lang="en-US" dirty="0"/>
              <a:t>Whereas In some cases it indicates the protocols contained within upper-layer packets, such as TCP, UDP. </a:t>
            </a:r>
          </a:p>
          <a:p>
            <a:endParaRPr lang="en-US" dirty="0"/>
          </a:p>
          <a:p>
            <a:endParaRPr lang="en-US" dirty="0"/>
          </a:p>
        </p:txBody>
      </p:sp>
    </p:spTree>
    <p:extLst>
      <p:ext uri="{BB962C8B-B14F-4D97-AF65-F5344CB8AC3E}">
        <p14:creationId xmlns:p14="http://schemas.microsoft.com/office/powerpoint/2010/main" val="417661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Hop Limit (8-bits):</a:t>
            </a:r>
          </a:p>
          <a:p>
            <a:r>
              <a:rPr lang="en-US" dirty="0"/>
              <a:t> Hop Limit field is the same as TTL in IPv4 packets.</a:t>
            </a:r>
          </a:p>
          <a:p>
            <a:endParaRPr lang="en-US" dirty="0"/>
          </a:p>
          <a:p>
            <a:r>
              <a:rPr lang="en-US" dirty="0"/>
              <a:t> It indicates the maximum number of intermediate nodes IPv6 packet is allowed to travel.</a:t>
            </a:r>
          </a:p>
          <a:p>
            <a:endParaRPr lang="en-US" dirty="0"/>
          </a:p>
          <a:p>
            <a:r>
              <a:rPr lang="en-US" dirty="0"/>
              <a:t> Its value gets decremented by one, by each node that forwards the packet and the packet is discarded if the value decrements to 0. </a:t>
            </a:r>
          </a:p>
          <a:p>
            <a:endParaRPr lang="en-US" dirty="0"/>
          </a:p>
          <a:p>
            <a:r>
              <a:rPr lang="en-US" dirty="0"/>
              <a:t>This is used to discard the packets that are stuck in an infinite loop because of some routing error. </a:t>
            </a:r>
          </a:p>
          <a:p>
            <a:endParaRPr lang="en-US" dirty="0"/>
          </a:p>
          <a:p>
            <a:r>
              <a:rPr lang="en-US" b="1" dirty="0"/>
              <a:t>Source Address (128-bits):</a:t>
            </a:r>
            <a:r>
              <a:rPr lang="en-US" dirty="0"/>
              <a:t> Source Address is the 128-bit IPv6 address of the original source of the packet. </a:t>
            </a:r>
          </a:p>
          <a:p>
            <a:endParaRPr lang="en-US" dirty="0"/>
          </a:p>
        </p:txBody>
      </p:sp>
    </p:spTree>
    <p:extLst>
      <p:ext uri="{BB962C8B-B14F-4D97-AF65-F5344CB8AC3E}">
        <p14:creationId xmlns:p14="http://schemas.microsoft.com/office/powerpoint/2010/main" val="654848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Destination Address (128-bits):</a:t>
            </a:r>
            <a:r>
              <a:rPr lang="en-US" dirty="0"/>
              <a:t> </a:t>
            </a:r>
          </a:p>
          <a:p>
            <a:endParaRPr lang="en-US" dirty="0"/>
          </a:p>
          <a:p>
            <a:r>
              <a:rPr lang="en-US" dirty="0"/>
              <a:t>The destination Address field indicates the IPv6 address of the final destination(in most cases).</a:t>
            </a:r>
          </a:p>
          <a:p>
            <a:endParaRPr lang="en-US" dirty="0"/>
          </a:p>
          <a:p>
            <a:r>
              <a:rPr lang="en-US" dirty="0"/>
              <a:t> All the intermediate nodes can use this information in order to correctly route the packet. </a:t>
            </a:r>
          </a:p>
          <a:p>
            <a:r>
              <a:rPr lang="en-US" b="1" dirty="0"/>
              <a:t>Extension Headers:</a:t>
            </a:r>
            <a:r>
              <a:rPr lang="en-US" dirty="0"/>
              <a:t> </a:t>
            </a:r>
          </a:p>
          <a:p>
            <a:r>
              <a:rPr lang="en-US" dirty="0"/>
              <a:t>In order to rectify the limitations of the </a:t>
            </a:r>
            <a:r>
              <a:rPr lang="en-US" i="1" dirty="0"/>
              <a:t>IPv4 Option Field</a:t>
            </a:r>
            <a:r>
              <a:rPr lang="en-US" dirty="0"/>
              <a:t>, Extension Headers are introduced in IP version 6.</a:t>
            </a:r>
          </a:p>
          <a:p>
            <a:r>
              <a:rPr lang="en-US" dirty="0"/>
              <a:t> The extension header mechanism is a very important part of the IPv6 architecture. </a:t>
            </a:r>
          </a:p>
          <a:p>
            <a:r>
              <a:rPr lang="en-US" dirty="0"/>
              <a:t>The next Header field of IPv6 fixed header points to the first Extension Header and this first extension header points to the second extension header and so on</a:t>
            </a:r>
          </a:p>
          <a:p>
            <a:endParaRPr lang="en-US" dirty="0"/>
          </a:p>
        </p:txBody>
      </p:sp>
    </p:spTree>
    <p:extLst>
      <p:ext uri="{BB962C8B-B14F-4D97-AF65-F5344CB8AC3E}">
        <p14:creationId xmlns:p14="http://schemas.microsoft.com/office/powerpoint/2010/main" val="2795989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b="1" dirty="0"/>
              <a:t>The different types of addresses defined by IPv6</a:t>
            </a:r>
          </a:p>
          <a:p>
            <a:r>
              <a:rPr lang="en-US" dirty="0"/>
              <a:t>In IPv6, three types of network addresses are defined.</a:t>
            </a:r>
          </a:p>
          <a:p>
            <a:r>
              <a:rPr lang="en-US" dirty="0"/>
              <a:t> They are :</a:t>
            </a:r>
          </a:p>
          <a:p>
            <a:r>
              <a:rPr lang="en-US" b="1" dirty="0">
                <a:hlinkClick r:id="rId2"/>
              </a:rPr>
              <a:t>Unicast address</a:t>
            </a:r>
            <a:endParaRPr lang="en-US" b="1" dirty="0"/>
          </a:p>
          <a:p>
            <a:r>
              <a:rPr lang="en-US" b="1" dirty="0">
                <a:hlinkClick r:id="rId3"/>
              </a:rPr>
              <a:t>Multicast address</a:t>
            </a:r>
            <a:endParaRPr lang="en-US" b="1" dirty="0"/>
          </a:p>
          <a:p>
            <a:r>
              <a:rPr lang="en-US" b="1" dirty="0" err="1">
                <a:hlinkClick r:id="rId4"/>
              </a:rPr>
              <a:t>Anycast</a:t>
            </a:r>
            <a:r>
              <a:rPr lang="en-US" b="1" dirty="0">
                <a:hlinkClick r:id="rId4"/>
              </a:rPr>
              <a:t> address</a:t>
            </a:r>
            <a:endParaRPr lang="en-US" b="1" dirty="0"/>
          </a:p>
          <a:p>
            <a:endParaRPr lang="en-US" dirty="0"/>
          </a:p>
        </p:txBody>
      </p:sp>
    </p:spTree>
    <p:extLst>
      <p:ext uri="{BB962C8B-B14F-4D97-AF65-F5344CB8AC3E}">
        <p14:creationId xmlns:p14="http://schemas.microsoft.com/office/powerpoint/2010/main" val="3344139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1" y="0"/>
            <a:ext cx="6881091" cy="6858000"/>
          </a:xfrm>
        </p:spPr>
        <p:txBody>
          <a:bodyPr>
            <a:normAutofit/>
          </a:bodyPr>
          <a:lstStyle/>
          <a:p>
            <a:r>
              <a:rPr lang="en-US" b="1" dirty="0"/>
              <a:t>Unicast </a:t>
            </a:r>
          </a:p>
          <a:p>
            <a:endParaRPr lang="en-US" b="1" dirty="0"/>
          </a:p>
          <a:p>
            <a:r>
              <a:rPr lang="en-US" dirty="0"/>
              <a:t>When a computer that is the source wants to communicate with another computer which is the destination, it uses the unicast address as a destination. </a:t>
            </a:r>
          </a:p>
          <a:p>
            <a:endParaRPr lang="en-US" dirty="0"/>
          </a:p>
          <a:p>
            <a:r>
              <a:rPr lang="en-US" dirty="0"/>
              <a:t>Therefore, the unicast address refers to a single/individual host.</a:t>
            </a:r>
          </a:p>
          <a:p>
            <a:endParaRPr lang="en-US" dirty="0"/>
          </a:p>
          <a:p>
            <a:r>
              <a:rPr lang="en-US" dirty="0"/>
              <a:t>The unicast is used to send data to a single destination. </a:t>
            </a:r>
          </a:p>
          <a:p>
            <a:r>
              <a:rPr lang="en-US" dirty="0"/>
              <a:t>It communicates </a:t>
            </a:r>
            <a:r>
              <a:rPr lang="en-US" b="1" dirty="0"/>
              <a:t>one to one</a:t>
            </a:r>
            <a:r>
              <a:rPr lang="en-US" dirty="0"/>
              <a:t>.</a:t>
            </a:r>
          </a:p>
          <a:p>
            <a:endParaRPr lang="en-US" dirty="0"/>
          </a:p>
        </p:txBody>
      </p:sp>
      <p:pic>
        <p:nvPicPr>
          <p:cNvPr id="7" name="Content Placeholder 12">
            <a:extLst>
              <a:ext uri="{FF2B5EF4-FFF2-40B4-BE49-F238E27FC236}">
                <a16:creationId xmlns:a16="http://schemas.microsoft.com/office/drawing/2014/main" id="{02BF8A91-4B2C-273C-0145-7E7333298C9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10400" y="1274618"/>
            <a:ext cx="5181600" cy="4461164"/>
          </a:xfrm>
        </p:spPr>
      </p:pic>
    </p:spTree>
    <p:extLst>
      <p:ext uri="{BB962C8B-B14F-4D97-AF65-F5344CB8AC3E}">
        <p14:creationId xmlns:p14="http://schemas.microsoft.com/office/powerpoint/2010/main" val="646748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6019800" cy="6858000"/>
          </a:xfrm>
        </p:spPr>
        <p:txBody>
          <a:bodyPr>
            <a:normAutofit fontScale="85000" lnSpcReduction="20000"/>
          </a:bodyPr>
          <a:lstStyle/>
          <a:p>
            <a:r>
              <a:rPr lang="en-US" b="1" dirty="0"/>
              <a:t>Multicast </a:t>
            </a:r>
          </a:p>
          <a:p>
            <a:pPr algn="just"/>
            <a:r>
              <a:rPr lang="en-US" dirty="0"/>
              <a:t>A multicast address is used to deliver a package to a group of destinations.</a:t>
            </a:r>
          </a:p>
          <a:p>
            <a:pPr algn="just"/>
            <a:r>
              <a:rPr lang="en-US" dirty="0"/>
              <a:t> Therefore, a single source is able to communicate with many other destination hosts.</a:t>
            </a:r>
          </a:p>
          <a:p>
            <a:pPr algn="just"/>
            <a:r>
              <a:rPr lang="en-US" dirty="0"/>
              <a:t>The packet sent by the multicast address is delivered to every host that is a part of that specific group. </a:t>
            </a:r>
          </a:p>
          <a:p>
            <a:pPr algn="just"/>
            <a:r>
              <a:rPr lang="en-US" dirty="0"/>
              <a:t>The multicast has a </a:t>
            </a:r>
            <a:r>
              <a:rPr lang="en-US" b="1" dirty="0"/>
              <a:t>one-to-many</a:t>
            </a:r>
            <a:r>
              <a:rPr lang="en-US" dirty="0"/>
              <a:t> relationship. </a:t>
            </a:r>
          </a:p>
          <a:p>
            <a:pPr algn="just"/>
            <a:r>
              <a:rPr lang="en-US" dirty="0"/>
              <a:t>The range for the multicast address is</a:t>
            </a:r>
            <a:r>
              <a:rPr lang="en-US" b="1" dirty="0"/>
              <a:t> FF00::/8</a:t>
            </a:r>
            <a:r>
              <a:rPr lang="en-US" dirty="0"/>
              <a:t>.</a:t>
            </a:r>
          </a:p>
          <a:p>
            <a:pPr algn="just"/>
            <a:r>
              <a:rPr lang="en-US" dirty="0"/>
              <a:t>There is no need to make a different range for broadcasting a message. </a:t>
            </a:r>
          </a:p>
          <a:p>
            <a:pPr algn="just"/>
            <a:endParaRPr lang="en-US" dirty="0"/>
          </a:p>
          <a:p>
            <a:pPr algn="just"/>
            <a:r>
              <a:rPr lang="en-US" dirty="0"/>
              <a:t>The multicast can broadcast the message.</a:t>
            </a:r>
          </a:p>
          <a:p>
            <a:pPr algn="just"/>
            <a:endParaRPr lang="en-US" dirty="0"/>
          </a:p>
          <a:p>
            <a:pPr algn="just"/>
            <a:r>
              <a:rPr lang="en-US" dirty="0"/>
              <a:t>The broadcasting is done by using special multicast groups – all IPv6 devices and a </a:t>
            </a:r>
            <a:r>
              <a:rPr lang="en-US" b="1" dirty="0"/>
              <a:t>solicited-node </a:t>
            </a:r>
            <a:r>
              <a:rPr lang="en-US" dirty="0"/>
              <a:t>multicast address.</a:t>
            </a:r>
          </a:p>
          <a:p>
            <a:endParaRPr lang="en-US" dirty="0"/>
          </a:p>
          <a:p>
            <a:endParaRPr lang="en-US" dirty="0"/>
          </a:p>
        </p:txBody>
      </p:sp>
      <p:pic>
        <p:nvPicPr>
          <p:cNvPr id="5" name="Content Placeholder 7">
            <a:extLst>
              <a:ext uri="{FF2B5EF4-FFF2-40B4-BE49-F238E27FC236}">
                <a16:creationId xmlns:a16="http://schemas.microsoft.com/office/drawing/2014/main" id="{9993CA65-3354-56CA-E89E-2411C661E2E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662544"/>
            <a:ext cx="5715000" cy="4285673"/>
          </a:xfrm>
        </p:spPr>
      </p:pic>
    </p:spTree>
    <p:extLst>
      <p:ext uri="{BB962C8B-B14F-4D97-AF65-F5344CB8AC3E}">
        <p14:creationId xmlns:p14="http://schemas.microsoft.com/office/powerpoint/2010/main" val="1422225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0"/>
            <a:ext cx="6019800" cy="6858000"/>
          </a:xfrm>
        </p:spPr>
        <p:txBody>
          <a:bodyPr>
            <a:normAutofit fontScale="77500" lnSpcReduction="20000"/>
          </a:bodyPr>
          <a:lstStyle/>
          <a:p>
            <a:r>
              <a:rPr lang="en-US" b="1" dirty="0"/>
              <a:t>3. </a:t>
            </a:r>
            <a:r>
              <a:rPr lang="en-US" b="1" dirty="0" err="1"/>
              <a:t>Anycast</a:t>
            </a:r>
            <a:r>
              <a:rPr lang="en-US" b="1" dirty="0"/>
              <a:t> </a:t>
            </a:r>
          </a:p>
          <a:p>
            <a:pPr algn="just"/>
            <a:r>
              <a:rPr lang="en-US" dirty="0"/>
              <a:t>The </a:t>
            </a:r>
            <a:r>
              <a:rPr lang="en-US" dirty="0" err="1"/>
              <a:t>anycast</a:t>
            </a:r>
            <a:r>
              <a:rPr lang="en-US" dirty="0"/>
              <a:t> address is identical to the multicast address.</a:t>
            </a:r>
          </a:p>
          <a:p>
            <a:pPr algn="just"/>
            <a:r>
              <a:rPr lang="en-US" dirty="0"/>
              <a:t>The </a:t>
            </a:r>
            <a:r>
              <a:rPr lang="en-US" dirty="0" err="1"/>
              <a:t>anycast</a:t>
            </a:r>
            <a:r>
              <a:rPr lang="en-US" dirty="0"/>
              <a:t> address is different from other addresses in a way that it sends the same IP address to different devices/servers.</a:t>
            </a:r>
          </a:p>
          <a:p>
            <a:pPr algn="just"/>
            <a:r>
              <a:rPr lang="en-US" dirty="0"/>
              <a:t> Note that the IP address is not sent to the hosts.</a:t>
            </a:r>
          </a:p>
          <a:p>
            <a:pPr algn="just"/>
            <a:r>
              <a:rPr lang="en-US" dirty="0"/>
              <a:t>In other words, an </a:t>
            </a:r>
            <a:r>
              <a:rPr lang="en-US" dirty="0" err="1"/>
              <a:t>anycast</a:t>
            </a:r>
            <a:r>
              <a:rPr lang="en-US" dirty="0"/>
              <a:t> address is assigned to more than one interface or a group of interfaces.</a:t>
            </a:r>
          </a:p>
          <a:p>
            <a:pPr algn="just"/>
            <a:r>
              <a:rPr lang="en-US" dirty="0" err="1"/>
              <a:t>Anycast</a:t>
            </a:r>
            <a:r>
              <a:rPr lang="en-US" dirty="0"/>
              <a:t> address is mostly used in websites such as Google, where it hits the </a:t>
            </a:r>
            <a:r>
              <a:rPr lang="en-US" b="1" dirty="0"/>
              <a:t>nearest server</a:t>
            </a:r>
            <a:r>
              <a:rPr lang="en-US" dirty="0"/>
              <a:t> based on a location. </a:t>
            </a:r>
          </a:p>
          <a:p>
            <a:pPr algn="just"/>
            <a:r>
              <a:rPr lang="en-US" dirty="0"/>
              <a:t>For example, if you live in India, the router sends your request to the Indian servers of Google.</a:t>
            </a:r>
          </a:p>
          <a:p>
            <a:pPr algn="just"/>
            <a:endParaRPr lang="en-US" dirty="0"/>
          </a:p>
          <a:p>
            <a:pPr algn="just"/>
            <a:r>
              <a:rPr lang="en-US" dirty="0"/>
              <a:t>Therefore, assigning a unicast address to more than one interface makes a unicast address an </a:t>
            </a:r>
            <a:r>
              <a:rPr lang="en-US" dirty="0" err="1"/>
              <a:t>anycast</a:t>
            </a:r>
            <a:r>
              <a:rPr lang="en-US" dirty="0"/>
              <a:t> address. </a:t>
            </a:r>
          </a:p>
          <a:p>
            <a:pPr algn="just"/>
            <a:endParaRPr lang="en-US" dirty="0"/>
          </a:p>
          <a:p>
            <a:pPr algn="just"/>
            <a:r>
              <a:rPr lang="en-US" dirty="0" err="1"/>
              <a:t>Anycast</a:t>
            </a:r>
            <a:r>
              <a:rPr lang="en-US" dirty="0"/>
              <a:t> address delivers packets to its </a:t>
            </a:r>
            <a:r>
              <a:rPr lang="en-US" b="1" dirty="0"/>
              <a:t>nearest interface</a:t>
            </a:r>
            <a:r>
              <a:rPr lang="en-US" dirty="0"/>
              <a:t>.</a:t>
            </a:r>
          </a:p>
          <a:p>
            <a:pPr algn="just"/>
            <a:endParaRPr lang="en-US" dirty="0"/>
          </a:p>
          <a:p>
            <a:pPr algn="just"/>
            <a:endParaRPr lang="en-US" dirty="0"/>
          </a:p>
        </p:txBody>
      </p:sp>
      <p:pic>
        <p:nvPicPr>
          <p:cNvPr id="5" name="Picture 1" descr="TYPES OF IPv6 ADDRESSES- anycast IP address">
            <a:extLst>
              <a:ext uri="{FF2B5EF4-FFF2-40B4-BE49-F238E27FC236}">
                <a16:creationId xmlns:a16="http://schemas.microsoft.com/office/drawing/2014/main" id="{0B261E4B-8800-9A94-EC98-9D94340AB3B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13763" y="1413163"/>
            <a:ext cx="5779655" cy="3833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276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D240E-9B06-2F34-AC44-F4BB9E8C4179}"/>
              </a:ext>
            </a:extLst>
          </p:cNvPr>
          <p:cNvSpPr>
            <a:spLocks noGrp="1"/>
          </p:cNvSpPr>
          <p:nvPr>
            <p:ph type="title"/>
          </p:nvPr>
        </p:nvSpPr>
        <p:spPr>
          <a:xfrm>
            <a:off x="99391" y="119271"/>
            <a:ext cx="11254409" cy="1123120"/>
          </a:xfrm>
        </p:spPr>
        <p:txBody>
          <a:bodyPr/>
          <a:lstStyle/>
          <a:p>
            <a:r>
              <a:rPr lang="en-US" b="1" dirty="0"/>
              <a:t>                IPv6 migration strategies</a:t>
            </a:r>
          </a:p>
        </p:txBody>
      </p:sp>
      <p:sp>
        <p:nvSpPr>
          <p:cNvPr id="3" name="Content Placeholder 2">
            <a:extLst>
              <a:ext uri="{FF2B5EF4-FFF2-40B4-BE49-F238E27FC236}">
                <a16:creationId xmlns:a16="http://schemas.microsoft.com/office/drawing/2014/main" id="{34D9F53A-BE16-30D3-11F9-48D9475E5F3C}"/>
              </a:ext>
            </a:extLst>
          </p:cNvPr>
          <p:cNvSpPr>
            <a:spLocks noGrp="1"/>
          </p:cNvSpPr>
          <p:nvPr>
            <p:ph idx="1"/>
          </p:nvPr>
        </p:nvSpPr>
        <p:spPr>
          <a:xfrm>
            <a:off x="0" y="1490870"/>
            <a:ext cx="12192000" cy="5367130"/>
          </a:xfrm>
        </p:spPr>
        <p:txBody>
          <a:bodyPr/>
          <a:lstStyle/>
          <a:p>
            <a:r>
              <a:rPr lang="en-US" dirty="0"/>
              <a:t>IPv6 migration strategies primarily use </a:t>
            </a:r>
            <a:r>
              <a:rPr lang="en-US" b="1" dirty="0">
                <a:hlinkClick r:id="rId2"/>
              </a:rPr>
              <a:t>Dual-Stack</a:t>
            </a:r>
            <a:r>
              <a:rPr lang="en-US" dirty="0"/>
              <a:t>, running IPv4 and IPv6 side-by-side.</a:t>
            </a:r>
          </a:p>
          <a:p>
            <a:r>
              <a:rPr lang="en-US" dirty="0"/>
              <a:t> </a:t>
            </a:r>
            <a:r>
              <a:rPr lang="en-US" b="1" dirty="0">
                <a:hlinkClick r:id="rId3"/>
              </a:rPr>
              <a:t>Tunneling</a:t>
            </a:r>
            <a:r>
              <a:rPr lang="en-US" dirty="0"/>
              <a:t>, encapsulating IPv6 over IPv4 networks.</a:t>
            </a:r>
          </a:p>
          <a:p>
            <a:endParaRPr lang="en-US" dirty="0"/>
          </a:p>
          <a:p>
            <a:r>
              <a:rPr lang="en-US" dirty="0"/>
              <a:t> </a:t>
            </a:r>
            <a:r>
              <a:rPr lang="en-US" b="1" dirty="0">
                <a:hlinkClick r:id="rId4"/>
              </a:rPr>
              <a:t>Translation</a:t>
            </a:r>
            <a:r>
              <a:rPr lang="en-US" dirty="0"/>
              <a:t> (like </a:t>
            </a:r>
            <a:r>
              <a:rPr lang="en-US" dirty="0">
                <a:hlinkClick r:id="rId5"/>
              </a:rPr>
              <a:t>NAT64</a:t>
            </a:r>
            <a:r>
              <a:rPr lang="en-US" dirty="0"/>
              <a:t>) allows IPv6-only devices to talk to IPv4 services, while a full transition involves assessment, phased rollout (often starting with external services), thorough testing, and ongoing management for seamless interoperability as networks evolve</a:t>
            </a:r>
          </a:p>
        </p:txBody>
      </p:sp>
    </p:spTree>
    <p:extLst>
      <p:ext uri="{BB962C8B-B14F-4D97-AF65-F5344CB8AC3E}">
        <p14:creationId xmlns:p14="http://schemas.microsoft.com/office/powerpoint/2010/main" val="4098029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4B708-7FE6-6CA3-6741-0239FF3759D8}"/>
              </a:ext>
            </a:extLst>
          </p:cNvPr>
          <p:cNvSpPr>
            <a:spLocks noGrp="1"/>
          </p:cNvSpPr>
          <p:nvPr>
            <p:ph type="title"/>
          </p:nvPr>
        </p:nvSpPr>
        <p:spPr>
          <a:xfrm>
            <a:off x="188843" y="238540"/>
            <a:ext cx="11164957" cy="944218"/>
          </a:xfrm>
        </p:spPr>
        <p:txBody>
          <a:bodyPr/>
          <a:lstStyle/>
          <a:p>
            <a:r>
              <a:rPr lang="en-US" dirty="0"/>
              <a:t>Migration Mechanisms</a:t>
            </a:r>
          </a:p>
        </p:txBody>
      </p:sp>
      <p:sp>
        <p:nvSpPr>
          <p:cNvPr id="3" name="Content Placeholder 2">
            <a:extLst>
              <a:ext uri="{FF2B5EF4-FFF2-40B4-BE49-F238E27FC236}">
                <a16:creationId xmlns:a16="http://schemas.microsoft.com/office/drawing/2014/main" id="{E2189E55-CD94-E77B-F466-42E225F8D5AE}"/>
              </a:ext>
            </a:extLst>
          </p:cNvPr>
          <p:cNvSpPr>
            <a:spLocks noGrp="1"/>
          </p:cNvSpPr>
          <p:nvPr>
            <p:ph idx="1"/>
          </p:nvPr>
        </p:nvSpPr>
        <p:spPr>
          <a:xfrm>
            <a:off x="288235" y="1690688"/>
            <a:ext cx="11589026" cy="4928773"/>
          </a:xfrm>
        </p:spPr>
        <p:txBody>
          <a:bodyPr/>
          <a:lstStyle/>
          <a:p>
            <a:r>
              <a:rPr lang="en-US" dirty="0">
                <a:hlinkClick r:id="rId2">
                  <a:extLst>
                    <a:ext uri="{A12FA001-AC4F-418D-AE19-62706E023703}">
                      <ahyp:hlinkClr xmlns:ahyp="http://schemas.microsoft.com/office/drawing/2018/hyperlinkcolor" val="tx"/>
                    </a:ext>
                  </a:extLst>
                </a:hlinkClick>
              </a:rPr>
              <a:t>Dual-Stack</a:t>
            </a:r>
            <a:endParaRPr lang="en-US" dirty="0"/>
          </a:p>
          <a:p>
            <a:r>
              <a:rPr lang="en-US" dirty="0">
                <a:hlinkClick r:id="rId3">
                  <a:extLst>
                    <a:ext uri="{A12FA001-AC4F-418D-AE19-62706E023703}">
                      <ahyp:hlinkClr xmlns:ahyp="http://schemas.microsoft.com/office/drawing/2018/hyperlinkcolor" val="tx"/>
                    </a:ext>
                  </a:extLst>
                </a:hlinkClick>
              </a:rPr>
              <a:t>Tunneling</a:t>
            </a:r>
            <a:endParaRPr lang="en-US" dirty="0"/>
          </a:p>
          <a:p>
            <a:r>
              <a:rPr lang="en-US" dirty="0">
                <a:hlinkClick r:id="rId4">
                  <a:extLst>
                    <a:ext uri="{A12FA001-AC4F-418D-AE19-62706E023703}">
                      <ahyp:hlinkClr xmlns:ahyp="http://schemas.microsoft.com/office/drawing/2018/hyperlinkcolor" val="tx"/>
                    </a:ext>
                  </a:extLst>
                </a:hlinkClick>
              </a:rPr>
              <a:t>Translation</a:t>
            </a:r>
            <a:r>
              <a:rPr lang="en-US" dirty="0"/>
              <a:t> (NAT64</a:t>
            </a:r>
            <a:r>
              <a:rPr lang="en-US" b="1" dirty="0"/>
              <a:t>/DNS64)</a:t>
            </a:r>
            <a:endParaRPr lang="en-US" dirty="0"/>
          </a:p>
        </p:txBody>
      </p:sp>
    </p:spTree>
    <p:extLst>
      <p:ext uri="{BB962C8B-B14F-4D97-AF65-F5344CB8AC3E}">
        <p14:creationId xmlns:p14="http://schemas.microsoft.com/office/powerpoint/2010/main" val="360404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1E708-FDCB-AC19-DA76-9BD2233E1F21}"/>
              </a:ext>
            </a:extLst>
          </p:cNvPr>
          <p:cNvSpPr>
            <a:spLocks noGrp="1"/>
          </p:cNvSpPr>
          <p:nvPr>
            <p:ph sz="half" idx="1"/>
          </p:nvPr>
        </p:nvSpPr>
        <p:spPr>
          <a:xfrm>
            <a:off x="0" y="0"/>
            <a:ext cx="6019800" cy="6858000"/>
          </a:xfrm>
        </p:spPr>
        <p:txBody>
          <a:bodyPr/>
          <a:lstStyle/>
          <a:p>
            <a:r>
              <a:rPr lang="en-US" b="1" dirty="0"/>
              <a:t>What is IPv6 Transition?</a:t>
            </a:r>
          </a:p>
          <a:p>
            <a:r>
              <a:rPr lang="en-US" dirty="0"/>
              <a:t>IPv6 transition mechanisms are techniques used to allow </a:t>
            </a:r>
            <a:r>
              <a:rPr lang="en-US" b="1" dirty="0"/>
              <a:t>IPv4 and IPv6 networks to coexist</a:t>
            </a:r>
            <a:r>
              <a:rPr lang="en-US" dirty="0"/>
              <a:t> while the internet gradually moves from IPv4 to IPv6.</a:t>
            </a:r>
          </a:p>
          <a:p>
            <a:r>
              <a:rPr lang="en-US" b="1" dirty="0"/>
              <a:t>Dual Stack</a:t>
            </a:r>
            <a:r>
              <a:rPr lang="en-US" dirty="0"/>
              <a:t> is the </a:t>
            </a:r>
            <a:r>
              <a:rPr lang="en-US" b="1" dirty="0"/>
              <a:t>most important and commonly used</a:t>
            </a:r>
            <a:r>
              <a:rPr lang="en-US" dirty="0"/>
              <a:t> transition mechanism.</a:t>
            </a:r>
          </a:p>
          <a:p>
            <a:endParaRPr lang="en-US" dirty="0"/>
          </a:p>
        </p:txBody>
      </p:sp>
    </p:spTree>
    <p:extLst>
      <p:ext uri="{BB962C8B-B14F-4D97-AF65-F5344CB8AC3E}">
        <p14:creationId xmlns:p14="http://schemas.microsoft.com/office/powerpoint/2010/main" val="3783844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96B6F3-55FC-61F9-71A4-88C28AC41578}"/>
              </a:ext>
            </a:extLst>
          </p:cNvPr>
          <p:cNvSpPr>
            <a:spLocks noGrp="1"/>
          </p:cNvSpPr>
          <p:nvPr>
            <p:ph sz="half" idx="1"/>
          </p:nvPr>
        </p:nvSpPr>
        <p:spPr>
          <a:xfrm>
            <a:off x="0" y="0"/>
            <a:ext cx="12192000" cy="6738730"/>
          </a:xfrm>
        </p:spPr>
        <p:txBody>
          <a:bodyPr>
            <a:normAutofit fontScale="85000" lnSpcReduction="20000"/>
          </a:bodyPr>
          <a:lstStyle/>
          <a:p>
            <a:r>
              <a:rPr lang="en-US" b="1" dirty="0"/>
              <a:t>Dual Stack means running IPv4 and IPv6 at the same time on the same device and network.</a:t>
            </a:r>
          </a:p>
          <a:p>
            <a:endParaRPr lang="en-US" dirty="0"/>
          </a:p>
          <a:p>
            <a:r>
              <a:rPr lang="en-US" dirty="0"/>
              <a:t>A device (PC, server, router, mobile, etc.) is configured with:</a:t>
            </a:r>
          </a:p>
          <a:p>
            <a:pPr>
              <a:buFont typeface="Arial" panose="020B0604020202020204" pitchFamily="34" charset="0"/>
              <a:buChar char="•"/>
            </a:pPr>
            <a:r>
              <a:rPr lang="en-US" b="1" dirty="0"/>
              <a:t>One IPv4 address</a:t>
            </a:r>
            <a:endParaRPr lang="en-US" dirty="0"/>
          </a:p>
          <a:p>
            <a:pPr>
              <a:buFont typeface="Arial" panose="020B0604020202020204" pitchFamily="34" charset="0"/>
              <a:buChar char="•"/>
            </a:pPr>
            <a:r>
              <a:rPr lang="en-US" b="1" dirty="0"/>
              <a:t>One IPv6 address</a:t>
            </a:r>
            <a:endParaRPr lang="en-US" dirty="0"/>
          </a:p>
          <a:p>
            <a:r>
              <a:rPr lang="en-US" dirty="0"/>
              <a:t>So the device can communicate using </a:t>
            </a:r>
            <a:r>
              <a:rPr lang="en-US" b="1" dirty="0"/>
              <a:t>either protocol</a:t>
            </a:r>
            <a:r>
              <a:rPr lang="en-US" dirty="0"/>
              <a:t>, depending on what the destination supports.</a:t>
            </a:r>
          </a:p>
          <a:p>
            <a:pPr marL="0" indent="0">
              <a:buNone/>
            </a:pPr>
            <a:endParaRPr lang="en-US" dirty="0">
              <a:hlinkClick r:id="rId2">
                <a:extLst>
                  <a:ext uri="{A12FA001-AC4F-418D-AE19-62706E023703}">
                    <ahyp:hlinkClr xmlns:ahyp="http://schemas.microsoft.com/office/drawing/2018/hyperlinkcolor" val="tx"/>
                  </a:ext>
                </a:extLst>
              </a:hlinkClick>
            </a:endParaRPr>
          </a:p>
          <a:p>
            <a:r>
              <a:rPr lang="en-US" dirty="0">
                <a:hlinkClick r:id="rId2">
                  <a:extLst>
                    <a:ext uri="{A12FA001-AC4F-418D-AE19-62706E023703}">
                      <ahyp:hlinkClr xmlns:ahyp="http://schemas.microsoft.com/office/drawing/2018/hyperlinkcolor" val="tx"/>
                    </a:ext>
                  </a:extLst>
                </a:hlinkClick>
              </a:rPr>
              <a:t>Dual-Stack</a:t>
            </a:r>
            <a:r>
              <a:rPr lang="en-US" dirty="0"/>
              <a:t> refers to a networking approach where devices, routers, and applications support both IPv4 and IPv6 protocols simultaneously,</a:t>
            </a:r>
          </a:p>
          <a:p>
            <a:endParaRPr lang="en-US" dirty="0"/>
          </a:p>
          <a:p>
            <a:endParaRPr lang="en-US" dirty="0"/>
          </a:p>
          <a:p>
            <a:r>
              <a:rPr lang="en-US" dirty="0"/>
              <a:t>Allowing seamless communication across both older and newer addressing systems during the transition to IPv6, with devices typically preferring IPv6 but falling back to IPv4 if needed. </a:t>
            </a:r>
          </a:p>
          <a:p>
            <a:endParaRPr lang="en-US" dirty="0"/>
          </a:p>
          <a:p>
            <a:endParaRPr lang="en-US" dirty="0"/>
          </a:p>
          <a:p>
            <a:r>
              <a:rPr lang="en-US" dirty="0"/>
              <a:t>This enables gradual IPv6 adoption without disrupting existing IPv4 services, as devices maintain separate IPv4 and IPv6 configurations and can handle connections using either protocol independently</a:t>
            </a:r>
          </a:p>
        </p:txBody>
      </p:sp>
    </p:spTree>
    <p:extLst>
      <p:ext uri="{BB962C8B-B14F-4D97-AF65-F5344CB8AC3E}">
        <p14:creationId xmlns:p14="http://schemas.microsoft.com/office/powerpoint/2010/main" val="3125474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137CF2-3D36-3621-A578-0091415BE841}"/>
              </a:ext>
            </a:extLst>
          </p:cNvPr>
          <p:cNvSpPr>
            <a:spLocks noGrp="1"/>
          </p:cNvSpPr>
          <p:nvPr>
            <p:ph sz="half" idx="1"/>
          </p:nvPr>
        </p:nvSpPr>
        <p:spPr>
          <a:xfrm>
            <a:off x="0" y="0"/>
            <a:ext cx="6520070" cy="6778487"/>
          </a:xfrm>
        </p:spPr>
        <p:txBody>
          <a:bodyPr>
            <a:normAutofit fontScale="85000" lnSpcReduction="20000"/>
          </a:bodyPr>
          <a:lstStyle/>
          <a:p>
            <a:pPr marL="0" indent="0">
              <a:buNone/>
            </a:pPr>
            <a:r>
              <a:rPr lang="en-US" b="1" dirty="0"/>
              <a:t>1. Application Layer</a:t>
            </a:r>
          </a:p>
          <a:p>
            <a:pPr>
              <a:buFont typeface="Arial" panose="020B0604020202020204" pitchFamily="34" charset="0"/>
              <a:buChar char="•"/>
            </a:pPr>
            <a:r>
              <a:rPr lang="en-US" dirty="0"/>
              <a:t>Applications (web browser, email, FTP, etc.) </a:t>
            </a:r>
            <a:r>
              <a:rPr lang="en-US" b="1" dirty="0"/>
              <a:t>do not care</a:t>
            </a:r>
            <a:r>
              <a:rPr lang="en-US" dirty="0"/>
              <a:t> whether IPv4 or IPv6 is used.</a:t>
            </a:r>
          </a:p>
          <a:p>
            <a:pPr>
              <a:buFont typeface="Arial" panose="020B0604020202020204" pitchFamily="34" charset="0"/>
              <a:buChar char="•"/>
            </a:pPr>
            <a:r>
              <a:rPr lang="en-US" dirty="0"/>
              <a:t>They just request a connection.</a:t>
            </a:r>
          </a:p>
          <a:p>
            <a:pPr marL="0" indent="0">
              <a:buNone/>
            </a:pPr>
            <a:r>
              <a:rPr lang="en-US" b="1" dirty="0"/>
              <a:t>2. Transport Layer (TCP/UDP)</a:t>
            </a:r>
          </a:p>
          <a:p>
            <a:pPr>
              <a:buFont typeface="Arial" panose="020B0604020202020204" pitchFamily="34" charset="0"/>
              <a:buChar char="•"/>
            </a:pPr>
            <a:r>
              <a:rPr lang="en-US" dirty="0"/>
              <a:t>TCP and UDP work </a:t>
            </a:r>
            <a:r>
              <a:rPr lang="en-US" b="1" dirty="0"/>
              <a:t>the same way</a:t>
            </a:r>
            <a:r>
              <a:rPr lang="en-US" dirty="0"/>
              <a:t> for both IPv4 and IPv6.</a:t>
            </a:r>
          </a:p>
          <a:p>
            <a:pPr>
              <a:buFont typeface="Arial" panose="020B0604020202020204" pitchFamily="34" charset="0"/>
              <a:buChar char="•"/>
            </a:pPr>
            <a:r>
              <a:rPr lang="en-US" dirty="0"/>
              <a:t>No major change is required here.</a:t>
            </a:r>
          </a:p>
          <a:p>
            <a:pPr marL="0" indent="0">
              <a:buNone/>
            </a:pPr>
            <a:r>
              <a:rPr lang="en-US" b="1" dirty="0"/>
              <a:t>3. Network Layer (IPv4 and IPv6)</a:t>
            </a:r>
          </a:p>
          <a:p>
            <a:pPr>
              <a:buFont typeface="Arial" panose="020B0604020202020204" pitchFamily="34" charset="0"/>
              <a:buChar char="•"/>
            </a:pPr>
            <a:r>
              <a:rPr lang="en-US" b="1" dirty="0"/>
              <a:t>Both IPv4 and IPv6 stacks exist side-by-side</a:t>
            </a:r>
            <a:endParaRPr lang="en-US" dirty="0"/>
          </a:p>
          <a:p>
            <a:pPr>
              <a:buFont typeface="Arial" panose="020B0604020202020204" pitchFamily="34" charset="0"/>
              <a:buChar char="•"/>
            </a:pPr>
            <a:r>
              <a:rPr lang="en-US" dirty="0"/>
              <a:t>The operating system decides:</a:t>
            </a:r>
          </a:p>
          <a:p>
            <a:pPr marL="742950" lvl="1" indent="-285750">
              <a:buFont typeface="Arial" panose="020B0604020202020204" pitchFamily="34" charset="0"/>
              <a:buChar char="•"/>
            </a:pPr>
            <a:r>
              <a:rPr lang="en-US" dirty="0"/>
              <a:t>Use </a:t>
            </a:r>
            <a:r>
              <a:rPr lang="en-US" b="1" dirty="0"/>
              <a:t>IPv6</a:t>
            </a:r>
            <a:r>
              <a:rPr lang="en-US" dirty="0"/>
              <a:t> if the destination supports IPv6</a:t>
            </a:r>
          </a:p>
          <a:p>
            <a:pPr marL="742950" lvl="1" indent="-285750">
              <a:buFont typeface="Arial" panose="020B0604020202020204" pitchFamily="34" charset="0"/>
              <a:buChar char="•"/>
            </a:pPr>
            <a:r>
              <a:rPr lang="en-US" dirty="0"/>
              <a:t>Otherwise, fall back to </a:t>
            </a:r>
            <a:r>
              <a:rPr lang="en-US" b="1" dirty="0"/>
              <a:t>IPv4</a:t>
            </a:r>
            <a:endParaRPr lang="en-US" dirty="0"/>
          </a:p>
          <a:p>
            <a:pPr marL="0" indent="0">
              <a:buNone/>
            </a:pPr>
            <a:r>
              <a:rPr lang="en-US" b="1" dirty="0"/>
              <a:t>4. Driver / Network Interface</a:t>
            </a:r>
          </a:p>
          <a:p>
            <a:pPr>
              <a:buFont typeface="Arial" panose="020B0604020202020204" pitchFamily="34" charset="0"/>
              <a:buChar char="•"/>
            </a:pPr>
            <a:r>
              <a:rPr lang="en-US" dirty="0"/>
              <a:t>The same network hardware (NIC) supports both IPv4 and IPv6 traffic.</a:t>
            </a:r>
          </a:p>
          <a:p>
            <a:r>
              <a:rPr lang="en-US" b="1" dirty="0"/>
              <a:t>Arrow (IPv4 ↔ IPv6)</a:t>
            </a:r>
          </a:p>
          <a:p>
            <a:pPr>
              <a:buFont typeface="Arial" panose="020B0604020202020204" pitchFamily="34" charset="0"/>
              <a:buChar char="•"/>
            </a:pPr>
            <a:r>
              <a:rPr lang="en-US" dirty="0"/>
              <a:t>Shows that the system can send and receive </a:t>
            </a:r>
            <a:r>
              <a:rPr lang="en-US" b="1" dirty="0"/>
              <a:t>both IPv4 and IPv6 packets</a:t>
            </a:r>
            <a:r>
              <a:rPr lang="en-US" dirty="0"/>
              <a:t>.</a:t>
            </a:r>
          </a:p>
          <a:p>
            <a:endParaRPr lang="en-US" dirty="0"/>
          </a:p>
        </p:txBody>
      </p:sp>
      <p:pic>
        <p:nvPicPr>
          <p:cNvPr id="6" name="Content Placeholder 5">
            <a:extLst>
              <a:ext uri="{FF2B5EF4-FFF2-40B4-BE49-F238E27FC236}">
                <a16:creationId xmlns:a16="http://schemas.microsoft.com/office/drawing/2014/main" id="{5364BF56-22C1-ADD1-639B-174778171594}"/>
              </a:ext>
            </a:extLst>
          </p:cNvPr>
          <p:cNvPicPr>
            <a:picLocks noGrp="1" noChangeAspect="1"/>
          </p:cNvPicPr>
          <p:nvPr>
            <p:ph sz="half" idx="2"/>
          </p:nvPr>
        </p:nvPicPr>
        <p:blipFill>
          <a:blip r:embed="rId2"/>
          <a:stretch>
            <a:fillRect/>
          </a:stretch>
        </p:blipFill>
        <p:spPr>
          <a:xfrm>
            <a:off x="6768548" y="1192696"/>
            <a:ext cx="5168348" cy="5059017"/>
          </a:xfrm>
        </p:spPr>
      </p:pic>
    </p:spTree>
    <p:extLst>
      <p:ext uri="{BB962C8B-B14F-4D97-AF65-F5344CB8AC3E}">
        <p14:creationId xmlns:p14="http://schemas.microsoft.com/office/powerpoint/2010/main" val="2370004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62B303-78CE-94C1-863C-7BFDF50C36B9}"/>
              </a:ext>
            </a:extLst>
          </p:cNvPr>
          <p:cNvSpPr>
            <a:spLocks noGrp="1"/>
          </p:cNvSpPr>
          <p:nvPr>
            <p:ph sz="half" idx="1"/>
          </p:nvPr>
        </p:nvSpPr>
        <p:spPr>
          <a:xfrm>
            <a:off x="0" y="69574"/>
            <a:ext cx="6019800" cy="6589643"/>
          </a:xfrm>
        </p:spPr>
        <p:txBody>
          <a:bodyPr>
            <a:normAutofit lnSpcReduction="10000"/>
          </a:bodyPr>
          <a:lstStyle/>
          <a:p>
            <a:r>
              <a:rPr lang="en-US" b="1" dirty="0"/>
              <a:t>How Dual Stack Works (Step-by-Step Example)</a:t>
            </a:r>
          </a:p>
          <a:p>
            <a:r>
              <a:rPr lang="en-US" b="1" dirty="0"/>
              <a:t>Example:</a:t>
            </a:r>
          </a:p>
          <a:p>
            <a:r>
              <a:rPr lang="en-US" dirty="0"/>
              <a:t>You open a website: </a:t>
            </a:r>
            <a:r>
              <a:rPr lang="en-US" b="1" dirty="0"/>
              <a:t>www.example.com</a:t>
            </a:r>
            <a:endParaRPr lang="en-US" dirty="0"/>
          </a:p>
          <a:p>
            <a:pPr>
              <a:buFont typeface="+mj-lt"/>
              <a:buAutoNum type="arabicPeriod"/>
            </a:pPr>
            <a:r>
              <a:rPr lang="en-US" dirty="0"/>
              <a:t>Your computer asks DNS for the address.</a:t>
            </a:r>
          </a:p>
          <a:p>
            <a:pPr>
              <a:buFont typeface="+mj-lt"/>
              <a:buAutoNum type="arabicPeriod"/>
            </a:pPr>
            <a:r>
              <a:rPr lang="en-US" dirty="0"/>
              <a:t>DNS replies with:</a:t>
            </a:r>
          </a:p>
          <a:p>
            <a:pPr marL="742950" lvl="1" indent="-285750">
              <a:buFont typeface="+mj-lt"/>
              <a:buAutoNum type="arabicPeriod"/>
            </a:pPr>
            <a:r>
              <a:rPr lang="en-US" b="1" dirty="0"/>
              <a:t>AAAA record (IPv6)</a:t>
            </a:r>
            <a:r>
              <a:rPr lang="en-US" dirty="0"/>
              <a:t> → if available</a:t>
            </a:r>
          </a:p>
          <a:p>
            <a:pPr marL="742950" lvl="1" indent="-285750">
              <a:buFont typeface="+mj-lt"/>
              <a:buAutoNum type="arabicPeriod"/>
            </a:pPr>
            <a:r>
              <a:rPr lang="en-US" b="1" dirty="0"/>
              <a:t>A record (IPv4)</a:t>
            </a:r>
            <a:r>
              <a:rPr lang="en-US" dirty="0"/>
              <a:t> → if available</a:t>
            </a:r>
          </a:p>
          <a:p>
            <a:pPr>
              <a:buFont typeface="+mj-lt"/>
              <a:buAutoNum type="arabicPeriod"/>
            </a:pPr>
            <a:r>
              <a:rPr lang="en-US" dirty="0"/>
              <a:t>Your system prefers </a:t>
            </a:r>
            <a:r>
              <a:rPr lang="en-US" b="1" dirty="0"/>
              <a:t>IPv6</a:t>
            </a:r>
            <a:r>
              <a:rPr lang="en-US" dirty="0"/>
              <a:t>.</a:t>
            </a:r>
          </a:p>
          <a:p>
            <a:pPr>
              <a:buFont typeface="+mj-lt"/>
              <a:buAutoNum type="arabicPeriod"/>
            </a:pPr>
            <a:r>
              <a:rPr lang="en-US" dirty="0"/>
              <a:t>If IPv6 fails or is unavailable:</a:t>
            </a:r>
          </a:p>
          <a:p>
            <a:pPr marL="742950" lvl="1" indent="-285750">
              <a:buFont typeface="+mj-lt"/>
              <a:buAutoNum type="arabicPeriod"/>
            </a:pPr>
            <a:r>
              <a:rPr lang="en-US" dirty="0"/>
              <a:t>It automatically uses </a:t>
            </a:r>
            <a:r>
              <a:rPr lang="en-US" b="1" dirty="0"/>
              <a:t>IPv4</a:t>
            </a:r>
            <a:endParaRPr lang="en-US" dirty="0"/>
          </a:p>
          <a:p>
            <a:r>
              <a:rPr lang="en-US" dirty="0"/>
              <a:t>➡️ This process is </a:t>
            </a:r>
            <a:r>
              <a:rPr lang="en-US" b="1" dirty="0"/>
              <a:t>automatic and seamless</a:t>
            </a:r>
            <a:r>
              <a:rPr lang="en-US" dirty="0"/>
              <a:t>.</a:t>
            </a:r>
          </a:p>
          <a:p>
            <a:endParaRPr lang="en-US" dirty="0"/>
          </a:p>
        </p:txBody>
      </p:sp>
      <p:sp>
        <p:nvSpPr>
          <p:cNvPr id="4" name="Content Placeholder 3">
            <a:extLst>
              <a:ext uri="{FF2B5EF4-FFF2-40B4-BE49-F238E27FC236}">
                <a16:creationId xmlns:a16="http://schemas.microsoft.com/office/drawing/2014/main" id="{997267BA-99CA-41A3-8466-39E8342AC5CE}"/>
              </a:ext>
            </a:extLst>
          </p:cNvPr>
          <p:cNvSpPr>
            <a:spLocks noGrp="1"/>
          </p:cNvSpPr>
          <p:nvPr>
            <p:ph sz="half" idx="2"/>
          </p:nvPr>
        </p:nvSpPr>
        <p:spPr>
          <a:xfrm>
            <a:off x="6172199" y="218660"/>
            <a:ext cx="5844209" cy="6321287"/>
          </a:xfrm>
        </p:spPr>
        <p:txBody>
          <a:bodyPr>
            <a:normAutofit lnSpcReduction="10000"/>
          </a:bodyPr>
          <a:lstStyle/>
          <a:p>
            <a:r>
              <a:rPr lang="en-US" b="1" dirty="0"/>
              <a:t>Need v4/v6 Communication Support”</a:t>
            </a:r>
          </a:p>
          <a:p>
            <a:pPr>
              <a:buFont typeface="Arial" panose="020B0604020202020204" pitchFamily="34" charset="0"/>
              <a:buChar char="•"/>
            </a:pPr>
            <a:r>
              <a:rPr lang="en-US" dirty="0"/>
              <a:t>During transition, many servers are still IPv4-only.</a:t>
            </a:r>
          </a:p>
          <a:p>
            <a:pPr>
              <a:buFont typeface="Arial" panose="020B0604020202020204" pitchFamily="34" charset="0"/>
              <a:buChar char="•"/>
            </a:pPr>
            <a:r>
              <a:rPr lang="en-US" dirty="0"/>
              <a:t>Some are IPv6-only.</a:t>
            </a:r>
          </a:p>
          <a:p>
            <a:pPr>
              <a:buFont typeface="Arial" panose="020B0604020202020204" pitchFamily="34" charset="0"/>
              <a:buChar char="•"/>
            </a:pPr>
            <a:r>
              <a:rPr lang="en-US" dirty="0"/>
              <a:t>Dual Stack allows communication with </a:t>
            </a:r>
            <a:r>
              <a:rPr lang="en-US" b="1" dirty="0"/>
              <a:t>both types of networks</a:t>
            </a:r>
            <a:r>
              <a:rPr lang="en-US" dirty="0"/>
              <a:t>.</a:t>
            </a:r>
          </a:p>
          <a:p>
            <a:endParaRPr lang="en-US" dirty="0"/>
          </a:p>
        </p:txBody>
      </p:sp>
    </p:spTree>
    <p:extLst>
      <p:ext uri="{BB962C8B-B14F-4D97-AF65-F5344CB8AC3E}">
        <p14:creationId xmlns:p14="http://schemas.microsoft.com/office/powerpoint/2010/main" val="1100927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04C45-2FB3-207E-9860-EA97D8412E78}"/>
              </a:ext>
            </a:extLst>
          </p:cNvPr>
          <p:cNvSpPr>
            <a:spLocks noGrp="1"/>
          </p:cNvSpPr>
          <p:nvPr>
            <p:ph sz="half" idx="1"/>
          </p:nvPr>
        </p:nvSpPr>
        <p:spPr>
          <a:xfrm>
            <a:off x="0" y="79513"/>
            <a:ext cx="6019800" cy="6539948"/>
          </a:xfrm>
        </p:spPr>
        <p:txBody>
          <a:bodyPr/>
          <a:lstStyle/>
          <a:p>
            <a:pPr marL="0" indent="0">
              <a:buNone/>
            </a:pPr>
            <a:r>
              <a:rPr lang="en-US" sz="4000" b="1" dirty="0"/>
              <a:t>Tunneling</a:t>
            </a:r>
          </a:p>
          <a:p>
            <a:r>
              <a:rPr lang="en-US" dirty="0"/>
              <a:t>Tunneling enables isolated IPv6 networks to communicate across an existing IPv4 infrastructure by encapsulating IPv6 packets inside IPv4 packets. </a:t>
            </a:r>
          </a:p>
          <a:p>
            <a:endParaRPr lang="en-US" dirty="0"/>
          </a:p>
          <a:p>
            <a:r>
              <a:rPr lang="en-US" dirty="0"/>
              <a:t>This transition mechanism allows for connectivity without immediate, full-scale upgrading of intermediate routers, bridging gaps in IPv6 support</a:t>
            </a:r>
          </a:p>
        </p:txBody>
      </p:sp>
      <p:pic>
        <p:nvPicPr>
          <p:cNvPr id="1026" name="Picture 2" descr="IPv6 tunneling over IPv4 Configuration">
            <a:extLst>
              <a:ext uri="{FF2B5EF4-FFF2-40B4-BE49-F238E27FC236}">
                <a16:creationId xmlns:a16="http://schemas.microsoft.com/office/drawing/2014/main" id="{F8158FC2-CFF2-CCFB-7FD6-E880544D1F4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10738" y="834888"/>
            <a:ext cx="5546035" cy="4379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817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4F1654-8C09-EB90-8331-6CAAF7AC6C5E}"/>
              </a:ext>
            </a:extLst>
          </p:cNvPr>
          <p:cNvSpPr>
            <a:spLocks noGrp="1"/>
          </p:cNvSpPr>
          <p:nvPr>
            <p:ph sz="half" idx="1"/>
          </p:nvPr>
        </p:nvSpPr>
        <p:spPr>
          <a:xfrm>
            <a:off x="0" y="0"/>
            <a:ext cx="6019800" cy="6858000"/>
          </a:xfrm>
        </p:spPr>
        <p:txBody>
          <a:bodyPr>
            <a:normAutofit/>
          </a:bodyPr>
          <a:lstStyle/>
          <a:p>
            <a:pPr algn="just"/>
            <a:r>
              <a:rPr lang="en-US" dirty="0">
                <a:effectLst/>
              </a:rPr>
              <a:t>A technique of inter-networking called </a:t>
            </a:r>
            <a:r>
              <a:rPr lang="en-US" b="1" dirty="0">
                <a:effectLst/>
              </a:rPr>
              <a:t>Tunneling</a:t>
            </a:r>
            <a:r>
              <a:rPr lang="en-US" dirty="0">
                <a:effectLst/>
              </a:rPr>
              <a:t> is used when source and destination networks of the same type are to be connected through a network of different types.</a:t>
            </a:r>
          </a:p>
          <a:p>
            <a:pPr algn="just"/>
            <a:r>
              <a:rPr lang="en-US" dirty="0">
                <a:effectLst/>
              </a:rPr>
              <a:t> Tunneling uses a layered protocol model such as those of the OSI or </a:t>
            </a:r>
            <a:r>
              <a:rPr lang="en-US" dirty="0">
                <a:effectLst/>
                <a:hlinkClick r:id="rId2"/>
              </a:rPr>
              <a:t>TCP/IP</a:t>
            </a:r>
            <a:r>
              <a:rPr lang="en-US" dirty="0">
                <a:effectLst/>
              </a:rPr>
              <a:t> protocol suite. </a:t>
            </a:r>
          </a:p>
          <a:p>
            <a:pPr algn="just"/>
            <a:r>
              <a:rPr lang="en-US" dirty="0">
                <a:effectLst/>
              </a:rPr>
              <a:t>So, in other words, when data moves from host A to B it covers all the different levels of the specified protocol (OSI, TCP/IP, etc.) while moving between different levels, data conversion (Encapsulation) to suit different interfaces of the particular layer is called tunneling.</a:t>
            </a:r>
          </a:p>
          <a:p>
            <a:endParaRPr lang="en-US" dirty="0"/>
          </a:p>
        </p:txBody>
      </p:sp>
      <p:pic>
        <p:nvPicPr>
          <p:cNvPr id="6" name="Content Placeholder 5">
            <a:extLst>
              <a:ext uri="{FF2B5EF4-FFF2-40B4-BE49-F238E27FC236}">
                <a16:creationId xmlns:a16="http://schemas.microsoft.com/office/drawing/2014/main" id="{65840A73-00A2-51BE-6543-6CDB6F97B0F3}"/>
              </a:ext>
            </a:extLst>
          </p:cNvPr>
          <p:cNvPicPr>
            <a:picLocks noGrp="1" noChangeAspect="1"/>
          </p:cNvPicPr>
          <p:nvPr>
            <p:ph sz="half" idx="2"/>
          </p:nvPr>
        </p:nvPicPr>
        <p:blipFill>
          <a:blip r:embed="rId3"/>
          <a:stretch>
            <a:fillRect/>
          </a:stretch>
        </p:blipFill>
        <p:spPr>
          <a:xfrm>
            <a:off x="6639339" y="1520687"/>
            <a:ext cx="5237921" cy="3782775"/>
          </a:xfrm>
        </p:spPr>
      </p:pic>
    </p:spTree>
    <p:extLst>
      <p:ext uri="{BB962C8B-B14F-4D97-AF65-F5344CB8AC3E}">
        <p14:creationId xmlns:p14="http://schemas.microsoft.com/office/powerpoint/2010/main" val="1453286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FF7672-3293-3C7D-9EF5-0AD29A3756EE}"/>
              </a:ext>
            </a:extLst>
          </p:cNvPr>
          <p:cNvSpPr>
            <a:spLocks noGrp="1"/>
          </p:cNvSpPr>
          <p:nvPr>
            <p:ph sz="half" idx="1"/>
          </p:nvPr>
        </p:nvSpPr>
        <p:spPr>
          <a:xfrm>
            <a:off x="-1" y="0"/>
            <a:ext cx="12105861" cy="6858000"/>
          </a:xfrm>
        </p:spPr>
        <p:txBody>
          <a:bodyPr>
            <a:normAutofit/>
          </a:bodyPr>
          <a:lstStyle/>
          <a:p>
            <a:pPr algn="just"/>
            <a:r>
              <a:rPr lang="en-US" dirty="0">
                <a:effectLst/>
              </a:rPr>
              <a:t>The task is sent on an IP packet from host A of Ethernet-1 to host B of Ethernet-2 via a WAN. </a:t>
            </a:r>
          </a:p>
          <a:p>
            <a:pPr algn="just"/>
            <a:r>
              <a:rPr lang="en-US" b="1" dirty="0">
                <a:effectLst/>
              </a:rPr>
              <a:t>Steps</a:t>
            </a:r>
          </a:p>
          <a:p>
            <a:pPr algn="just">
              <a:buFont typeface="Arial" panose="020B0604020202020204" pitchFamily="34" charset="0"/>
              <a:buChar char="•"/>
            </a:pPr>
            <a:r>
              <a:rPr lang="en-US" dirty="0">
                <a:effectLst/>
              </a:rPr>
              <a:t>Host A constructs a packet that contains the IP address of Host B.</a:t>
            </a:r>
          </a:p>
          <a:p>
            <a:pPr algn="just">
              <a:buFont typeface="Arial" panose="020B0604020202020204" pitchFamily="34" charset="0"/>
              <a:buChar char="•"/>
            </a:pPr>
            <a:endParaRPr lang="en-US" dirty="0">
              <a:effectLst/>
            </a:endParaRPr>
          </a:p>
          <a:p>
            <a:pPr algn="just">
              <a:buFont typeface="Arial" panose="020B0604020202020204" pitchFamily="34" charset="0"/>
              <a:buChar char="•"/>
            </a:pPr>
            <a:r>
              <a:rPr lang="en-US" dirty="0">
                <a:effectLst/>
              </a:rPr>
              <a:t>It then inserts this IP packet into an Ethernet frame and this frame is addressed to the multiprotocol router M1</a:t>
            </a:r>
          </a:p>
          <a:p>
            <a:pPr algn="just">
              <a:buFont typeface="Arial" panose="020B0604020202020204" pitchFamily="34" charset="0"/>
              <a:buChar char="•"/>
            </a:pPr>
            <a:endParaRPr lang="en-US" dirty="0">
              <a:effectLst/>
            </a:endParaRPr>
          </a:p>
          <a:p>
            <a:pPr algn="just">
              <a:buFont typeface="Arial" panose="020B0604020202020204" pitchFamily="34" charset="0"/>
              <a:buChar char="•"/>
            </a:pPr>
            <a:r>
              <a:rPr lang="en-US" dirty="0">
                <a:effectLst/>
              </a:rPr>
              <a:t>Host A then puts this frame on Ethernet.</a:t>
            </a:r>
          </a:p>
          <a:p>
            <a:pPr algn="just">
              <a:buFont typeface="Arial" panose="020B0604020202020204" pitchFamily="34" charset="0"/>
              <a:buChar char="•"/>
            </a:pPr>
            <a:endParaRPr lang="en-US" dirty="0">
              <a:effectLst/>
            </a:endParaRPr>
          </a:p>
          <a:p>
            <a:pPr algn="just">
              <a:buFont typeface="Arial" panose="020B0604020202020204" pitchFamily="34" charset="0"/>
              <a:buChar char="•"/>
            </a:pPr>
            <a:r>
              <a:rPr lang="en-US" dirty="0">
                <a:effectLst/>
              </a:rPr>
              <a:t>When M1 receives this frame, it removes the IP packet, inserts it in the payload packet of the WAN network layer packet, and addresses the WAN packet to M2.</a:t>
            </a:r>
          </a:p>
          <a:p>
            <a:pPr algn="just">
              <a:buFont typeface="Arial" panose="020B0604020202020204" pitchFamily="34" charset="0"/>
              <a:buChar char="•"/>
            </a:pPr>
            <a:r>
              <a:rPr lang="en-US" dirty="0">
                <a:effectLst/>
              </a:rPr>
              <a:t> The multiprotocol router M2 removes the IP packet and sends it to host B in an Ethernet frame.</a:t>
            </a:r>
          </a:p>
          <a:p>
            <a:endParaRPr lang="en-US" dirty="0"/>
          </a:p>
        </p:txBody>
      </p:sp>
    </p:spTree>
    <p:extLst>
      <p:ext uri="{BB962C8B-B14F-4D97-AF65-F5344CB8AC3E}">
        <p14:creationId xmlns:p14="http://schemas.microsoft.com/office/powerpoint/2010/main" val="1228203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E5675-1E2A-68D8-8D5B-297539704895}"/>
              </a:ext>
            </a:extLst>
          </p:cNvPr>
          <p:cNvSpPr>
            <a:spLocks noGrp="1"/>
          </p:cNvSpPr>
          <p:nvPr>
            <p:ph sz="half" idx="1"/>
          </p:nvPr>
        </p:nvSpPr>
        <p:spPr>
          <a:xfrm>
            <a:off x="79513" y="198782"/>
            <a:ext cx="11877261" cy="6380921"/>
          </a:xfrm>
        </p:spPr>
        <p:txBody>
          <a:bodyPr>
            <a:normAutofit/>
          </a:bodyPr>
          <a:lstStyle/>
          <a:p>
            <a:pPr marL="0" indent="0" algn="just">
              <a:buNone/>
            </a:pPr>
            <a:r>
              <a:rPr lang="en-US" b="1" dirty="0">
                <a:effectLst/>
              </a:rPr>
              <a:t>How Does Encapsulation Work?</a:t>
            </a:r>
          </a:p>
          <a:p>
            <a:pPr algn="just"/>
            <a:r>
              <a:rPr lang="en-US" dirty="0">
                <a:effectLst/>
              </a:rPr>
              <a:t>Data travels from one place to another in the form of packets, and a packet has two parts, the first one is the header which consists of the destination address and the working protocol and the second thing is its contents.</a:t>
            </a:r>
          </a:p>
          <a:p>
            <a:pPr algn="just"/>
            <a:endParaRPr lang="en-US" dirty="0">
              <a:effectLst/>
            </a:endParaRPr>
          </a:p>
          <a:p>
            <a:pPr algn="just"/>
            <a:r>
              <a:rPr lang="en-US" dirty="0">
                <a:effectLst/>
              </a:rPr>
              <a:t>In simple terminology, Encapsulation is the process of adding a new packet within the existing packet or a packet inside a packet.</a:t>
            </a:r>
          </a:p>
          <a:p>
            <a:pPr algn="just"/>
            <a:endParaRPr lang="en-US" dirty="0"/>
          </a:p>
          <a:p>
            <a:pPr algn="just"/>
            <a:r>
              <a:rPr lang="en-US" dirty="0">
                <a:effectLst/>
              </a:rPr>
              <a:t> In an encapsulated packet, the header part of the first packet is remain surrounded by the payload section of the surrounding packet, which has actual contents.</a:t>
            </a:r>
          </a:p>
          <a:p>
            <a:endParaRPr lang="en-US" dirty="0"/>
          </a:p>
        </p:txBody>
      </p:sp>
    </p:spTree>
    <p:extLst>
      <p:ext uri="{BB962C8B-B14F-4D97-AF65-F5344CB8AC3E}">
        <p14:creationId xmlns:p14="http://schemas.microsoft.com/office/powerpoint/2010/main" val="981768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7975E-D817-A3C2-7492-DCDBD0B729DB}"/>
              </a:ext>
            </a:extLst>
          </p:cNvPr>
          <p:cNvSpPr>
            <a:spLocks noGrp="1"/>
          </p:cNvSpPr>
          <p:nvPr>
            <p:ph type="title"/>
          </p:nvPr>
        </p:nvSpPr>
        <p:spPr>
          <a:xfrm>
            <a:off x="0" y="2"/>
            <a:ext cx="12192000" cy="681036"/>
          </a:xfrm>
        </p:spPr>
        <p:txBody>
          <a:bodyPr>
            <a:normAutofit fontScale="90000"/>
          </a:bodyPr>
          <a:lstStyle/>
          <a:p>
            <a:r>
              <a:rPr lang="en-US" b="1" dirty="0"/>
              <a:t>Translation (NAT64/DNS64):</a:t>
            </a:r>
          </a:p>
        </p:txBody>
      </p:sp>
      <p:sp>
        <p:nvSpPr>
          <p:cNvPr id="3" name="Content Placeholder 2">
            <a:extLst>
              <a:ext uri="{FF2B5EF4-FFF2-40B4-BE49-F238E27FC236}">
                <a16:creationId xmlns:a16="http://schemas.microsoft.com/office/drawing/2014/main" id="{7AF56082-3EF3-D1D7-04BE-414281DD91E2}"/>
              </a:ext>
            </a:extLst>
          </p:cNvPr>
          <p:cNvSpPr>
            <a:spLocks noGrp="1"/>
          </p:cNvSpPr>
          <p:nvPr>
            <p:ph sz="half" idx="1"/>
          </p:nvPr>
        </p:nvSpPr>
        <p:spPr>
          <a:xfrm>
            <a:off x="0" y="934278"/>
            <a:ext cx="12192000" cy="5923722"/>
          </a:xfrm>
        </p:spPr>
        <p:txBody>
          <a:bodyPr/>
          <a:lstStyle/>
          <a:p>
            <a:r>
              <a:rPr lang="en-US" dirty="0"/>
              <a:t>NAT64 and DNS64 are complementary technologies used together to allow IPv6-only clients to communicate with IPv4-only servers, facilitating the transition from IPv4 to IPv6 without requiring a dual-stack network</a:t>
            </a:r>
          </a:p>
        </p:txBody>
      </p:sp>
    </p:spTree>
    <p:extLst>
      <p:ext uri="{BB962C8B-B14F-4D97-AF65-F5344CB8AC3E}">
        <p14:creationId xmlns:p14="http://schemas.microsoft.com/office/powerpoint/2010/main" val="989755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79A24-DB36-838C-A410-A3F959403E38}"/>
              </a:ext>
            </a:extLst>
          </p:cNvPr>
          <p:cNvSpPr>
            <a:spLocks noGrp="1"/>
          </p:cNvSpPr>
          <p:nvPr>
            <p:ph sz="half" idx="1"/>
          </p:nvPr>
        </p:nvSpPr>
        <p:spPr>
          <a:xfrm>
            <a:off x="0" y="0"/>
            <a:ext cx="6019800" cy="6768548"/>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NAT64 (Network Address Translation 64):</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stateful mechanism that translates IPv6 packets into IPv4 packets and vice versa.</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It operates at the edge of the network, using a pool of IPv4 addresses and port address translation (PAT) to map multiple IPv6 clients to one or more IPv4 addresses.</a:t>
            </a:r>
          </a:p>
          <a:p>
            <a:endParaRPr lang="en-US" dirty="0"/>
          </a:p>
        </p:txBody>
      </p:sp>
      <p:sp>
        <p:nvSpPr>
          <p:cNvPr id="4" name="Content Placeholder 3">
            <a:extLst>
              <a:ext uri="{FF2B5EF4-FFF2-40B4-BE49-F238E27FC236}">
                <a16:creationId xmlns:a16="http://schemas.microsoft.com/office/drawing/2014/main" id="{41E0C5D0-5C4B-65FE-BC95-FDEC09BF123D}"/>
              </a:ext>
            </a:extLst>
          </p:cNvPr>
          <p:cNvSpPr>
            <a:spLocks noGrp="1"/>
          </p:cNvSpPr>
          <p:nvPr>
            <p:ph sz="half" idx="2"/>
          </p:nvPr>
        </p:nvSpPr>
        <p:spPr>
          <a:xfrm>
            <a:off x="6019800" y="0"/>
            <a:ext cx="6172200" cy="6768548"/>
          </a:xfrm>
        </p:spPr>
        <p:txBody>
          <a:bodyPr>
            <a:normAutofit/>
          </a:bodyPr>
          <a:lstStyle/>
          <a:p>
            <a:r>
              <a:rPr kumimoji="0" lang="en-US" altLang="en-US" sz="2800" b="1" i="0" u="none" strike="noStrike" cap="none" normalizeH="0" baseline="0" dirty="0">
                <a:ln>
                  <a:noFill/>
                </a:ln>
                <a:solidFill>
                  <a:schemeClr val="tx1"/>
                </a:solidFill>
                <a:effectLst/>
                <a:latin typeface="Arial" panose="020B0604020202020204" pitchFamily="34" charset="0"/>
              </a:rPr>
              <a:t>DNS64 (DNS extensions for NAT64):</a:t>
            </a:r>
            <a:r>
              <a:rPr kumimoji="0" lang="en-US" altLang="en-US" sz="2800" b="0" i="0" u="none" strike="noStrike" cap="none" normalizeH="0" baseline="0" dirty="0">
                <a:ln>
                  <a:noFill/>
                </a:ln>
                <a:solidFill>
                  <a:schemeClr val="tx1"/>
                </a:solidFill>
                <a:effectLst/>
                <a:latin typeface="Arial" panose="020B0604020202020204" pitchFamily="34" charset="0"/>
              </a:rPr>
              <a:t> A DNS mechanism that synthesizes AAAA records (IPv6) from A records (IPv4). When an IPv6-only client requests the address of an IPv4-only server, the DNS64 server creates a synthetic IPv6 address (using a special prefix, commonly </a:t>
            </a:r>
            <a:r>
              <a:rPr kumimoji="0" lang="en-US" altLang="en-US" sz="4000" b="0" i="0" u="none" strike="noStrike" cap="none" normalizeH="0" baseline="0" dirty="0">
                <a:ln>
                  <a:noFill/>
                </a:ln>
                <a:solidFill>
                  <a:schemeClr val="tx1"/>
                </a:solidFill>
                <a:effectLst/>
                <a:latin typeface="Arial Unicode MS"/>
              </a:rPr>
              <a:t>64:ff9b::/96</a:t>
            </a:r>
            <a:r>
              <a:rPr kumimoji="0" lang="en-US" altLang="en-US" sz="3200" b="0" i="0" u="none" strike="noStrike" cap="none" normalizeH="0" baseline="0" dirty="0">
                <a:ln>
                  <a:noFill/>
                </a:ln>
                <a:solidFill>
                  <a:schemeClr val="tx1"/>
                </a:solidFill>
                <a:effectLst/>
              </a:rPr>
              <a:t>) that embeds the actual IPv4 addres</a:t>
            </a:r>
            <a:r>
              <a:rPr lang="en-US" altLang="en-US" sz="7200" dirty="0">
                <a:latin typeface="Arial" panose="020B0604020202020204" pitchFamily="34" charset="0"/>
              </a:rPr>
              <a:t>s</a:t>
            </a:r>
            <a:endParaRPr kumimoji="0" lang="en-US" altLang="en-US" sz="2800" b="0" i="0" u="none" strike="noStrike" cap="none" normalizeH="0" baseline="0" dirty="0">
              <a:ln>
                <a:noFill/>
              </a:ln>
              <a:solidFill>
                <a:schemeClr val="tx1"/>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3144034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F60413-1ACC-184B-F419-5F68B220D200}"/>
              </a:ext>
            </a:extLst>
          </p:cNvPr>
          <p:cNvSpPr>
            <a:spLocks noGrp="1"/>
          </p:cNvSpPr>
          <p:nvPr>
            <p:ph idx="1"/>
          </p:nvPr>
        </p:nvSpPr>
        <p:spPr>
          <a:xfrm>
            <a:off x="0" y="0"/>
            <a:ext cx="12192000" cy="685800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How the Translation Works (Flow)</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1" i="0" u="none" strike="noStrike" cap="none" normalizeH="0" baseline="0" dirty="0">
                <a:ln>
                  <a:noFill/>
                </a:ln>
                <a:solidFill>
                  <a:schemeClr val="tx1"/>
                </a:solidFill>
                <a:effectLst/>
                <a:latin typeface="Arial" panose="020B0604020202020204" pitchFamily="34" charset="0"/>
              </a:rPr>
              <a:t>Request:</a:t>
            </a:r>
            <a:r>
              <a:rPr kumimoji="0" lang="en-US" altLang="en-US" sz="2800" b="0" i="0" u="none" strike="noStrike" cap="none" normalizeH="0" baseline="0" dirty="0">
                <a:ln>
                  <a:noFill/>
                </a:ln>
                <a:solidFill>
                  <a:schemeClr val="tx1"/>
                </a:solidFill>
                <a:effectLst/>
                <a:latin typeface="Arial" panose="020B0604020202020204" pitchFamily="34" charset="0"/>
              </a:rPr>
              <a:t> An IPv6-only client tries to connect to an IPv4-only server (e.g., </a:t>
            </a:r>
            <a:r>
              <a:rPr kumimoji="0" lang="en-US" altLang="en-US" sz="2400" b="0" i="0" u="none" strike="noStrike" cap="none" normalizeH="0" baseline="0" dirty="0">
                <a:ln>
                  <a:noFill/>
                </a:ln>
                <a:solidFill>
                  <a:schemeClr val="tx1"/>
                </a:solidFill>
                <a:effectLst/>
                <a:latin typeface="Arial Unicode MS"/>
              </a:rPr>
              <a:t>example.com</a:t>
            </a:r>
            <a:r>
              <a:rPr kumimoji="0" lang="en-US" altLang="en-US" sz="1800" b="0" i="0" u="none" strike="noStrike" cap="none" normalizeH="0" baseline="0" dirty="0">
                <a:ln>
                  <a:noFill/>
                </a:ln>
                <a:solidFill>
                  <a:schemeClr val="tx1"/>
                </a:solidFill>
                <a:effectLst/>
              </a:rPr>
              <a:t>).</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800" b="1" i="0" u="none" strike="noStrike" cap="none" normalizeH="0" baseline="0" dirty="0">
                <a:ln>
                  <a:noFill/>
                </a:ln>
                <a:solidFill>
                  <a:schemeClr val="tx1"/>
                </a:solidFill>
                <a:effectLst/>
                <a:latin typeface="Arial" panose="020B0604020202020204" pitchFamily="34" charset="0"/>
              </a:rPr>
              <a:t>DNS64 Synthesis:</a:t>
            </a:r>
            <a:r>
              <a:rPr kumimoji="0" lang="en-US" altLang="en-US" sz="2800" b="0" i="0" u="none" strike="noStrike" cap="none" normalizeH="0" baseline="0" dirty="0">
                <a:ln>
                  <a:noFill/>
                </a:ln>
                <a:solidFill>
                  <a:schemeClr val="tx1"/>
                </a:solidFill>
                <a:effectLst/>
                <a:latin typeface="Arial" panose="020B0604020202020204" pitchFamily="34" charset="0"/>
              </a:rPr>
              <a:t> The client asks for the AAAA record. The DNS64 server receives no AAAA record, so it asks for the A record. </a:t>
            </a:r>
          </a:p>
          <a:p>
            <a:pPr eaLnBrk="0" fontAlgn="base" hangingPunct="0">
              <a:lnSpc>
                <a:spcPct val="100000"/>
              </a:lnSpc>
              <a:spcBef>
                <a:spcPct val="0"/>
              </a:spcBef>
              <a:spcAft>
                <a:spcPct val="0"/>
              </a:spcAft>
            </a:pPr>
            <a:r>
              <a:rPr lang="en-US" altLang="en-US" dirty="0">
                <a:latin typeface="Arial" panose="020B0604020202020204" pitchFamily="34" charset="0"/>
              </a:rPr>
              <a:t>IT</a:t>
            </a:r>
            <a:r>
              <a:rPr kumimoji="0" lang="en-US" altLang="en-US" sz="2800" b="0" i="0" u="none" strike="noStrike" cap="none" normalizeH="0" baseline="0" dirty="0">
                <a:ln>
                  <a:noFill/>
                </a:ln>
                <a:solidFill>
                  <a:schemeClr val="tx1"/>
                </a:solidFill>
                <a:effectLst/>
                <a:latin typeface="Arial" panose="020B0604020202020204" pitchFamily="34" charset="0"/>
              </a:rPr>
              <a:t> takes the IPv4 address, embeds it into the </a:t>
            </a:r>
            <a:r>
              <a:rPr kumimoji="0" lang="en-US" altLang="en-US" sz="2400" b="0" i="0" u="none" strike="noStrike" cap="none" normalizeH="0" baseline="0" dirty="0">
                <a:ln>
                  <a:noFill/>
                </a:ln>
                <a:solidFill>
                  <a:schemeClr val="tx1"/>
                </a:solidFill>
                <a:effectLst/>
                <a:latin typeface="Arial Unicode MS"/>
              </a:rPr>
              <a:t>64:ff9b::/96</a:t>
            </a:r>
            <a:r>
              <a:rPr kumimoji="0" lang="en-US" altLang="en-US" sz="1800" b="0" i="0" u="none" strike="noStrike" cap="none" normalizeH="0" baseline="0" dirty="0">
                <a:ln>
                  <a:noFill/>
                </a:ln>
                <a:solidFill>
                  <a:schemeClr val="tx1"/>
                </a:solidFill>
                <a:effectLst/>
              </a:rPr>
              <a:t> prefix, and returns this synthetic </a:t>
            </a:r>
            <a:r>
              <a:rPr kumimoji="0" lang="en-US" altLang="en-US" b="0" i="0" u="none" strike="noStrike" cap="none" normalizeH="0" baseline="0" dirty="0">
                <a:ln>
                  <a:noFill/>
                </a:ln>
                <a:solidFill>
                  <a:schemeClr val="tx1"/>
                </a:solidFill>
                <a:effectLst/>
              </a:rPr>
              <a:t>IPv6 address to the client.</a:t>
            </a:r>
            <a:endParaRPr kumimoji="0" lang="en-US" altLang="en-US" sz="6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800" b="1" i="0" u="none" strike="noStrike" cap="none" normalizeH="0" baseline="0" dirty="0">
                <a:ln>
                  <a:noFill/>
                </a:ln>
                <a:solidFill>
                  <a:schemeClr val="tx1"/>
                </a:solidFill>
                <a:effectLst/>
                <a:latin typeface="Arial" panose="020B0604020202020204" pitchFamily="34" charset="0"/>
              </a:rPr>
              <a:t>Routing:</a:t>
            </a:r>
            <a:r>
              <a:rPr kumimoji="0" lang="en-US" altLang="en-US" sz="2800" b="0" i="0" u="none" strike="noStrike" cap="none" normalizeH="0" baseline="0" dirty="0">
                <a:ln>
                  <a:noFill/>
                </a:ln>
                <a:solidFill>
                  <a:schemeClr val="tx1"/>
                </a:solidFill>
                <a:effectLst/>
                <a:latin typeface="Arial" panose="020B0604020202020204" pitchFamily="34" charset="0"/>
              </a:rPr>
              <a:t> The client sends IPv6 packets to this synthetic address. Network routing directs these packets to the NAT64 device.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800" b="1" i="0" u="none" strike="noStrike" cap="none" normalizeH="0" baseline="0" dirty="0">
                <a:ln>
                  <a:noFill/>
                </a:ln>
                <a:solidFill>
                  <a:schemeClr val="tx1"/>
                </a:solidFill>
                <a:effectLst/>
                <a:latin typeface="Arial" panose="020B0604020202020204" pitchFamily="34" charset="0"/>
              </a:rPr>
              <a:t>NAT64 Translation:</a:t>
            </a:r>
            <a:r>
              <a:rPr kumimoji="0" lang="en-US" altLang="en-US" sz="2800" b="0" i="0" u="none" strike="noStrike" cap="none" normalizeH="0" baseline="0" dirty="0">
                <a:ln>
                  <a:noFill/>
                </a:ln>
                <a:solidFill>
                  <a:schemeClr val="tx1"/>
                </a:solidFill>
                <a:effectLst/>
                <a:latin typeface="Arial" panose="020B0604020202020204" pitchFamily="34" charset="0"/>
              </a:rPr>
              <a:t> The NAT64 device removes the prefix to reveal the destination IPv4 address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800" b="0" i="0" u="none" strike="noStrike" cap="none" normalizeH="0" baseline="0" dirty="0">
                <a:ln>
                  <a:noFill/>
                </a:ln>
                <a:solidFill>
                  <a:schemeClr val="tx1"/>
                </a:solidFill>
                <a:effectLst/>
                <a:latin typeface="Arial" panose="020B0604020202020204" pitchFamily="34" charset="0"/>
              </a:rPr>
              <a:t> It translates the source IPv6 address to an IPv4 address (using its own pool) and translates the packet headers.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800" b="1" i="0" u="none" strike="noStrike" cap="none" normalizeH="0" baseline="0" dirty="0">
                <a:ln>
                  <a:noFill/>
                </a:ln>
                <a:solidFill>
                  <a:schemeClr val="tx1"/>
                </a:solidFill>
                <a:effectLst/>
                <a:latin typeface="Arial" panose="020B0604020202020204" pitchFamily="34" charset="0"/>
              </a:rPr>
              <a:t>Return Traffic:</a:t>
            </a:r>
            <a:r>
              <a:rPr kumimoji="0" lang="en-US" altLang="en-US" sz="2800" b="0" i="0" u="none" strike="noStrike" cap="none" normalizeH="0" baseline="0" dirty="0">
                <a:ln>
                  <a:noFill/>
                </a:ln>
                <a:solidFill>
                  <a:schemeClr val="tx1"/>
                </a:solidFill>
                <a:effectLst/>
                <a:latin typeface="Arial" panose="020B0604020202020204" pitchFamily="34" charset="0"/>
              </a:rPr>
              <a:t> When the IPv4 server replies, the NAT64 device uses its state table to map the IPv4 address back to the original IPv6 client address. </a:t>
            </a:r>
          </a:p>
          <a:p>
            <a:endParaRPr lang="en-US" dirty="0"/>
          </a:p>
        </p:txBody>
      </p:sp>
    </p:spTree>
    <p:extLst>
      <p:ext uri="{BB962C8B-B14F-4D97-AF65-F5344CB8AC3E}">
        <p14:creationId xmlns:p14="http://schemas.microsoft.com/office/powerpoint/2010/main" val="180203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B90C-E851-F844-3638-821E8CF81D63}"/>
              </a:ext>
            </a:extLst>
          </p:cNvPr>
          <p:cNvSpPr>
            <a:spLocks noGrp="1"/>
          </p:cNvSpPr>
          <p:nvPr>
            <p:ph type="title"/>
          </p:nvPr>
        </p:nvSpPr>
        <p:spPr/>
        <p:txBody>
          <a:bodyPr>
            <a:normAutofit fontScale="90000"/>
          </a:bodyPr>
          <a:lstStyle/>
          <a:p>
            <a:br>
              <a:rPr lang="en-US" b="1" dirty="0"/>
            </a:br>
            <a:r>
              <a:rPr lang="en-US" b="1" dirty="0"/>
              <a:t>Network Address Translation (NAT)</a:t>
            </a:r>
            <a:br>
              <a:rPr lang="en-US" b="1" dirty="0"/>
            </a:br>
            <a:endParaRPr lang="en-US" dirty="0"/>
          </a:p>
        </p:txBody>
      </p:sp>
      <p:sp>
        <p:nvSpPr>
          <p:cNvPr id="4" name="Content Placeholder 3">
            <a:extLst>
              <a:ext uri="{FF2B5EF4-FFF2-40B4-BE49-F238E27FC236}">
                <a16:creationId xmlns:a16="http://schemas.microsoft.com/office/drawing/2014/main" id="{426821C5-2549-CCAA-5335-82EE748792D5}"/>
              </a:ext>
            </a:extLst>
          </p:cNvPr>
          <p:cNvSpPr>
            <a:spLocks noGrp="1"/>
          </p:cNvSpPr>
          <p:nvPr>
            <p:ph sz="half" idx="1"/>
          </p:nvPr>
        </p:nvSpPr>
        <p:spPr>
          <a:xfrm>
            <a:off x="129209" y="1825624"/>
            <a:ext cx="6639339" cy="4962801"/>
          </a:xfrm>
        </p:spPr>
        <p:txBody>
          <a:bodyPr>
            <a:normAutofit lnSpcReduction="10000"/>
          </a:bodyPr>
          <a:lstStyle/>
          <a:p>
            <a:pPr rtl="0"/>
            <a:r>
              <a:rPr lang="en-US" dirty="0"/>
              <a:t>Network Address Translation (NAT) allows multiple devices in a private network to access the internet using a single public IP address.</a:t>
            </a:r>
          </a:p>
          <a:p>
            <a:pPr rtl="0"/>
            <a:r>
              <a:rPr lang="en-US" dirty="0"/>
              <a:t> It helps conserve IPv4 addresses and hides internal systems for added security.</a:t>
            </a:r>
          </a:p>
          <a:p>
            <a:pPr>
              <a:buFont typeface="Arial" panose="020B0604020202020204" pitchFamily="34" charset="0"/>
              <a:buChar char="•"/>
            </a:pPr>
            <a:r>
              <a:rPr lang="en-US" dirty="0"/>
              <a:t>Translates private IPs to public IPs and vice versa.</a:t>
            </a:r>
          </a:p>
          <a:p>
            <a:pPr>
              <a:buFont typeface="Arial" panose="020B0604020202020204" pitchFamily="34" charset="0"/>
              <a:buChar char="•"/>
            </a:pPr>
            <a:r>
              <a:rPr lang="en-US" dirty="0"/>
              <a:t>Prevents IPv4 address exhaustion</a:t>
            </a:r>
          </a:p>
          <a:p>
            <a:pPr>
              <a:buFont typeface="Arial" panose="020B0604020202020204" pitchFamily="34" charset="0"/>
              <a:buChar char="•"/>
            </a:pPr>
            <a:r>
              <a:rPr lang="en-US" dirty="0"/>
              <a:t>Adds security by masking internal devices</a:t>
            </a:r>
          </a:p>
          <a:p>
            <a:pPr>
              <a:buFont typeface="Arial" panose="020B0604020202020204" pitchFamily="34" charset="0"/>
              <a:buChar char="•"/>
            </a:pPr>
            <a:r>
              <a:rPr lang="en-US" dirty="0"/>
              <a:t>Allows thousands of devices to share one public IP</a:t>
            </a:r>
          </a:p>
          <a:p>
            <a:endParaRPr lang="en-US" dirty="0"/>
          </a:p>
        </p:txBody>
      </p:sp>
      <p:pic>
        <p:nvPicPr>
          <p:cNvPr id="1026" name="Picture 2" descr="7">
            <a:extLst>
              <a:ext uri="{FF2B5EF4-FFF2-40B4-BE49-F238E27FC236}">
                <a16:creationId xmlns:a16="http://schemas.microsoft.com/office/drawing/2014/main" id="{C2102A37-FEDB-6D69-E2D5-E3F692455C8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77878" y="2136912"/>
            <a:ext cx="5078896" cy="3140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083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188C2-B796-4BFC-BADF-358C2E025F66}"/>
              </a:ext>
            </a:extLst>
          </p:cNvPr>
          <p:cNvSpPr>
            <a:spLocks noGrp="1"/>
          </p:cNvSpPr>
          <p:nvPr>
            <p:ph idx="1"/>
          </p:nvPr>
        </p:nvSpPr>
        <p:spPr>
          <a:xfrm>
            <a:off x="0" y="308113"/>
            <a:ext cx="11353800" cy="5868850"/>
          </a:xfrm>
        </p:spPr>
        <p:txBody>
          <a:bodyPr/>
          <a:lstStyle/>
          <a:p>
            <a:endParaRPr kumimoji="0" lang="en-US" altLang="en-US" sz="2800" b="1" i="0" u="none" strike="noStrike" cap="none" normalizeH="0" baseline="0" dirty="0">
              <a:ln>
                <a:noFill/>
              </a:ln>
              <a:solidFill>
                <a:schemeClr val="tx1"/>
              </a:solidFill>
              <a:effectLst/>
              <a:latin typeface="Arial" panose="020B0604020202020204" pitchFamily="34" charset="0"/>
            </a:endParaRPr>
          </a:p>
          <a:p>
            <a:endParaRPr lang="en-US" altLang="en-US" b="1" dirty="0">
              <a:latin typeface="Arial" panose="020B0604020202020204" pitchFamily="34" charset="0"/>
            </a:endParaRPr>
          </a:p>
          <a:p>
            <a:r>
              <a:rPr kumimoji="0" lang="en-US" altLang="en-US" sz="2800" b="1" i="0" u="none" strike="noStrike" cap="none" normalizeH="0" baseline="0" dirty="0">
                <a:ln>
                  <a:noFill/>
                </a:ln>
                <a:solidFill>
                  <a:schemeClr val="tx1"/>
                </a:solidFill>
                <a:effectLst/>
                <a:latin typeface="Arial" panose="020B0604020202020204" pitchFamily="34" charset="0"/>
              </a:rPr>
              <a:t>Note: </a:t>
            </a:r>
            <a:r>
              <a:rPr kumimoji="0" lang="en-US" altLang="en-US" sz="2800" b="0" i="0" u="none" strike="noStrike" cap="none" normalizeH="0" baseline="0" dirty="0">
                <a:ln>
                  <a:noFill/>
                </a:ln>
                <a:solidFill>
                  <a:schemeClr val="tx1"/>
                </a:solidFill>
                <a:effectLst/>
                <a:latin typeface="Arial" panose="020B0604020202020204" pitchFamily="34" charset="0"/>
              </a:rPr>
              <a:t>IPv4 provides only 2³² (about 4.3 billion) addresses, which is insufficient considering the massive number of devices connected to the Internet. NAT prevents IP exhaustion by enabling thousands of private devices to share a limited number of public IP addresses.</a:t>
            </a:r>
          </a:p>
          <a:p>
            <a:endParaRPr lang="en-US" dirty="0"/>
          </a:p>
        </p:txBody>
      </p:sp>
    </p:spTree>
    <p:extLst>
      <p:ext uri="{BB962C8B-B14F-4D97-AF65-F5344CB8AC3E}">
        <p14:creationId xmlns:p14="http://schemas.microsoft.com/office/powerpoint/2010/main" val="3674366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7802D44-1CD2-42EC-5F38-5132F8051D5D}"/>
              </a:ext>
            </a:extLst>
          </p:cNvPr>
          <p:cNvSpPr>
            <a:spLocks noGrp="1"/>
          </p:cNvSpPr>
          <p:nvPr>
            <p:ph sz="half" idx="1"/>
          </p:nvPr>
        </p:nvSpPr>
        <p:spPr>
          <a:xfrm>
            <a:off x="0" y="0"/>
            <a:ext cx="6019800" cy="6858000"/>
          </a:xfrm>
        </p:spPr>
        <p:txBody>
          <a:bodyPr>
            <a:normAutofit/>
          </a:bodyPr>
          <a:lstStyle/>
          <a:p>
            <a:pPr algn="l"/>
            <a:r>
              <a:rPr lang="en-US" b="1" dirty="0">
                <a:effectLst/>
              </a:rPr>
              <a:t>Working of NAT</a:t>
            </a:r>
          </a:p>
          <a:p>
            <a:pPr rtl="0"/>
            <a:r>
              <a:rPr lang="en-US" dirty="0"/>
              <a:t>This explains how NAT functions:</a:t>
            </a:r>
          </a:p>
          <a:p>
            <a:pPr>
              <a:buFont typeface="+mj-lt"/>
              <a:buAutoNum type="arabicPeriod"/>
            </a:pPr>
            <a:r>
              <a:rPr lang="en-US" dirty="0"/>
              <a:t>A device sends a request → reaches the NAT-enabled router.</a:t>
            </a:r>
          </a:p>
          <a:p>
            <a:pPr>
              <a:buFont typeface="+mj-lt"/>
              <a:buAutoNum type="arabicPeriod" startAt="2"/>
            </a:pPr>
            <a:r>
              <a:rPr lang="en-US" dirty="0"/>
              <a:t>Router replaces the private IP with its public IP and assigns a unique port.</a:t>
            </a:r>
          </a:p>
          <a:p>
            <a:pPr>
              <a:buFont typeface="+mj-lt"/>
              <a:buAutoNum type="arabicPeriod" startAt="3"/>
            </a:pPr>
            <a:r>
              <a:rPr lang="en-US" dirty="0"/>
              <a:t>NAT stores this mapping in the NAT table.</a:t>
            </a:r>
          </a:p>
          <a:p>
            <a:pPr>
              <a:buFont typeface="+mj-lt"/>
              <a:buAutoNum type="arabicPeriod" startAt="4"/>
            </a:pPr>
            <a:r>
              <a:rPr lang="en-US" dirty="0"/>
              <a:t>When the server responds, NAT uses the stored entry to send the packet to the correct internal device.</a:t>
            </a:r>
          </a:p>
          <a:p>
            <a:endParaRPr lang="en-US" dirty="0"/>
          </a:p>
        </p:txBody>
      </p:sp>
      <p:sp>
        <p:nvSpPr>
          <p:cNvPr id="6" name="Content Placeholder 5">
            <a:extLst>
              <a:ext uri="{FF2B5EF4-FFF2-40B4-BE49-F238E27FC236}">
                <a16:creationId xmlns:a16="http://schemas.microsoft.com/office/drawing/2014/main" id="{18420012-9613-EA8C-BD81-20C0E1782540}"/>
              </a:ext>
            </a:extLst>
          </p:cNvPr>
          <p:cNvSpPr>
            <a:spLocks noGrp="1"/>
          </p:cNvSpPr>
          <p:nvPr>
            <p:ph sz="half" idx="2"/>
          </p:nvPr>
        </p:nvSpPr>
        <p:spPr>
          <a:xfrm>
            <a:off x="6172199" y="0"/>
            <a:ext cx="5933661" cy="6858000"/>
          </a:xfrm>
        </p:spPr>
        <p:txBody>
          <a:bodyPr>
            <a:normAutofit/>
          </a:bodyPr>
          <a:lstStyle/>
          <a:p>
            <a:pPr algn="l"/>
            <a:r>
              <a:rPr lang="en-US" b="1" dirty="0">
                <a:effectLst/>
              </a:rPr>
              <a:t>Why this works:</a:t>
            </a:r>
          </a:p>
          <a:p>
            <a:pPr>
              <a:buFont typeface="Arial" panose="020B0604020202020204" pitchFamily="34" charset="0"/>
              <a:buChar char="•"/>
            </a:pPr>
            <a:r>
              <a:rPr lang="en-US" dirty="0"/>
              <a:t>Many devices can share one public IP</a:t>
            </a:r>
          </a:p>
          <a:p>
            <a:pPr>
              <a:buFont typeface="Arial" panose="020B0604020202020204" pitchFamily="34" charset="0"/>
              <a:buChar char="•"/>
            </a:pPr>
            <a:endParaRPr lang="en-US" dirty="0"/>
          </a:p>
          <a:p>
            <a:pPr>
              <a:buFont typeface="Arial" panose="020B0604020202020204" pitchFamily="34" charset="0"/>
              <a:buChar char="•"/>
            </a:pPr>
            <a:r>
              <a:rPr lang="en-US" dirty="0"/>
              <a:t>Port numbers separate device traffic</a:t>
            </a:r>
          </a:p>
          <a:p>
            <a:pPr>
              <a:buFont typeface="Arial" panose="020B0604020202020204" pitchFamily="34" charset="0"/>
              <a:buChar char="•"/>
            </a:pPr>
            <a:endParaRPr lang="en-US" dirty="0"/>
          </a:p>
          <a:p>
            <a:pPr>
              <a:buFont typeface="Arial" panose="020B0604020202020204" pitchFamily="34" charset="0"/>
              <a:buChar char="•"/>
            </a:pPr>
            <a:r>
              <a:rPr lang="en-US" dirty="0"/>
              <a:t>Internal IPs stay hidden from the internet</a:t>
            </a:r>
          </a:p>
          <a:p>
            <a:endParaRPr lang="en-US" dirty="0"/>
          </a:p>
        </p:txBody>
      </p:sp>
    </p:spTree>
    <p:extLst>
      <p:ext uri="{BB962C8B-B14F-4D97-AF65-F5344CB8AC3E}">
        <p14:creationId xmlns:p14="http://schemas.microsoft.com/office/powerpoint/2010/main" val="1173773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F04022-E451-E3B0-FDC2-B11758E89DDA}"/>
              </a:ext>
            </a:extLst>
          </p:cNvPr>
          <p:cNvSpPr>
            <a:spLocks noGrp="1"/>
          </p:cNvSpPr>
          <p:nvPr>
            <p:ph sz="half" idx="1"/>
          </p:nvPr>
        </p:nvSpPr>
        <p:spPr>
          <a:xfrm>
            <a:off x="0" y="0"/>
            <a:ext cx="6096000" cy="6748670"/>
          </a:xfrm>
        </p:spPr>
        <p:txBody>
          <a:bodyPr>
            <a:normAutofit/>
          </a:bodyPr>
          <a:lstStyle/>
          <a:p>
            <a:pPr algn="l"/>
            <a:r>
              <a:rPr lang="en-US" b="1" dirty="0">
                <a:effectLst/>
              </a:rPr>
              <a:t>Examples of NAT Usage</a:t>
            </a:r>
          </a:p>
          <a:p>
            <a:pPr>
              <a:buFont typeface="Arial" panose="020B0604020202020204" pitchFamily="34" charset="0"/>
              <a:buChar char="•"/>
            </a:pPr>
            <a:r>
              <a:rPr lang="en-US" b="1" dirty="0"/>
              <a:t>Connecting Private Networks to the Internet</a:t>
            </a:r>
            <a:r>
              <a:rPr lang="en-US" dirty="0"/>
              <a:t>: </a:t>
            </a:r>
          </a:p>
          <a:p>
            <a:pPr>
              <a:buFont typeface="Arial" panose="020B0604020202020204" pitchFamily="34" charset="0"/>
              <a:buChar char="•"/>
            </a:pPr>
            <a:r>
              <a:rPr lang="en-US" dirty="0"/>
              <a:t>A NAT - enabled router translates all private IPs to a single public IP, allowing internal devices to access the Internet securely.</a:t>
            </a:r>
          </a:p>
          <a:p>
            <a:pPr>
              <a:buFont typeface="Arial" panose="020B0604020202020204" pitchFamily="34" charset="0"/>
              <a:buChar char="•"/>
            </a:pPr>
            <a:r>
              <a:rPr lang="en-US" b="1" dirty="0"/>
              <a:t>Linking Multiple Office Locations</a:t>
            </a:r>
            <a:r>
              <a:rPr lang="en-US" dirty="0"/>
              <a:t>: Organizations use NAT to translate IPs between branches, enabling communication across locations while maintaining private IP schemes internally.</a:t>
            </a:r>
          </a:p>
          <a:p>
            <a:endParaRPr lang="en-US" dirty="0"/>
          </a:p>
        </p:txBody>
      </p:sp>
      <p:pic>
        <p:nvPicPr>
          <p:cNvPr id="9" name="Content Placeholder 8">
            <a:extLst>
              <a:ext uri="{FF2B5EF4-FFF2-40B4-BE49-F238E27FC236}">
                <a16:creationId xmlns:a16="http://schemas.microsoft.com/office/drawing/2014/main" id="{A65F514A-764F-265F-F25F-74C2226EEE9F}"/>
              </a:ext>
            </a:extLst>
          </p:cNvPr>
          <p:cNvPicPr>
            <a:picLocks noGrp="1" noChangeAspect="1"/>
          </p:cNvPicPr>
          <p:nvPr>
            <p:ph sz="half" idx="2"/>
          </p:nvPr>
        </p:nvPicPr>
        <p:blipFill>
          <a:blip r:embed="rId2"/>
          <a:stretch>
            <a:fillRect/>
          </a:stretch>
        </p:blipFill>
        <p:spPr bwMode="auto">
          <a:xfrm>
            <a:off x="6321286" y="487017"/>
            <a:ext cx="5794514" cy="489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9707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BDAE91-1A7E-859C-B805-585A6B6C13B9}"/>
              </a:ext>
            </a:extLst>
          </p:cNvPr>
          <p:cNvSpPr>
            <a:spLocks noGrp="1"/>
          </p:cNvSpPr>
          <p:nvPr>
            <p:ph sz="half" idx="1"/>
          </p:nvPr>
        </p:nvSpPr>
        <p:spPr>
          <a:xfrm>
            <a:off x="-1" y="0"/>
            <a:ext cx="6708913" cy="6788426"/>
          </a:xfrm>
        </p:spPr>
        <p:txBody>
          <a:bodyPr>
            <a:normAutofit lnSpcReduction="10000"/>
          </a:bodyPr>
          <a:lstStyle/>
          <a:p>
            <a:pPr marL="0" indent="0">
              <a:buNone/>
            </a:pPr>
            <a:r>
              <a:rPr lang="en-US" b="1" dirty="0"/>
              <a:t>Why NAT Masks Port Numbers?</a:t>
            </a:r>
          </a:p>
          <a:p>
            <a:pPr rtl="0"/>
            <a:r>
              <a:rPr lang="en-US" dirty="0"/>
              <a:t>If two internal devices use the same port to reach the same destination, replies become indistinguishable. NAT fixes this by:</a:t>
            </a:r>
          </a:p>
          <a:p>
            <a:pPr>
              <a:buFont typeface="Arial" panose="020B0604020202020204" pitchFamily="34" charset="0"/>
              <a:buChar char="•"/>
            </a:pPr>
            <a:r>
              <a:rPr lang="en-US" dirty="0"/>
              <a:t>Changing both the private IP and source port</a:t>
            </a:r>
          </a:p>
          <a:p>
            <a:pPr>
              <a:buFont typeface="Arial" panose="020B0604020202020204" pitchFamily="34" charset="0"/>
              <a:buChar char="•"/>
            </a:pPr>
            <a:r>
              <a:rPr lang="en-US" dirty="0"/>
              <a:t>Storing a unique entry in the NAT table</a:t>
            </a:r>
          </a:p>
          <a:p>
            <a:pPr>
              <a:buFont typeface="Arial" panose="020B0604020202020204" pitchFamily="34" charset="0"/>
              <a:buChar char="•"/>
            </a:pPr>
            <a:r>
              <a:rPr lang="en-US" dirty="0"/>
              <a:t>Ensuring replies reach the correct device</a:t>
            </a:r>
          </a:p>
          <a:p>
            <a:pPr algn="l"/>
            <a:r>
              <a:rPr lang="en-US" b="1" dirty="0">
                <a:effectLst/>
              </a:rPr>
              <a:t>NAT Inside and Outside Addresses</a:t>
            </a:r>
          </a:p>
          <a:p>
            <a:pPr rtl="0"/>
            <a:r>
              <a:rPr lang="en-US" dirty="0"/>
              <a:t>Inside refers to the addresses which must be translated. </a:t>
            </a:r>
          </a:p>
          <a:p>
            <a:pPr rtl="0"/>
            <a:r>
              <a:rPr lang="en-US" dirty="0"/>
              <a:t>Outside refers to the addresses which are not in control of an organization.</a:t>
            </a:r>
          </a:p>
          <a:p>
            <a:pPr rtl="0"/>
            <a:r>
              <a:rPr lang="en-US" dirty="0"/>
              <a:t> These are the network addresses where the translation will occur.</a:t>
            </a:r>
          </a:p>
          <a:p>
            <a:endParaRPr lang="en-US" dirty="0"/>
          </a:p>
        </p:txBody>
      </p:sp>
      <p:pic>
        <p:nvPicPr>
          <p:cNvPr id="5" name="Content Placeholder 5">
            <a:extLst>
              <a:ext uri="{FF2B5EF4-FFF2-40B4-BE49-F238E27FC236}">
                <a16:creationId xmlns:a16="http://schemas.microsoft.com/office/drawing/2014/main" id="{C16B00DC-8A39-9767-8558-B5F524D56B71}"/>
              </a:ext>
            </a:extLst>
          </p:cNvPr>
          <p:cNvPicPr>
            <a:picLocks noGrp="1" noChangeAspect="1"/>
          </p:cNvPicPr>
          <p:nvPr>
            <p:ph sz="half" idx="2"/>
          </p:nvPr>
        </p:nvPicPr>
        <p:blipFill>
          <a:blip r:embed="rId2"/>
          <a:stretch>
            <a:fillRect/>
          </a:stretch>
        </p:blipFill>
        <p:spPr>
          <a:xfrm>
            <a:off x="6877878" y="2027583"/>
            <a:ext cx="5128592" cy="2971800"/>
          </a:xfrm>
        </p:spPr>
      </p:pic>
    </p:spTree>
    <p:extLst>
      <p:ext uri="{BB962C8B-B14F-4D97-AF65-F5344CB8AC3E}">
        <p14:creationId xmlns:p14="http://schemas.microsoft.com/office/powerpoint/2010/main" val="1414492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C39A2E21-6203-736E-B8FD-49FD3516475A}"/>
              </a:ext>
            </a:extLst>
          </p:cNvPr>
          <p:cNvGraphicFramePr>
            <a:graphicFrameLocks noGrp="1"/>
          </p:cNvGraphicFramePr>
          <p:nvPr>
            <p:ph sz="half" idx="1"/>
            <p:extLst>
              <p:ext uri="{D42A27DB-BD31-4B8C-83A1-F6EECF244321}">
                <p14:modId xmlns:p14="http://schemas.microsoft.com/office/powerpoint/2010/main" val="716908990"/>
              </p:ext>
            </p:extLst>
          </p:nvPr>
        </p:nvGraphicFramePr>
        <p:xfrm>
          <a:off x="0" y="69574"/>
          <a:ext cx="12115800" cy="6445061"/>
        </p:xfrm>
        <a:graphic>
          <a:graphicData uri="http://schemas.openxmlformats.org/drawingml/2006/table">
            <a:tbl>
              <a:tblPr/>
              <a:tblGrid>
                <a:gridCol w="6057900">
                  <a:extLst>
                    <a:ext uri="{9D8B030D-6E8A-4147-A177-3AD203B41FA5}">
                      <a16:colId xmlns:a16="http://schemas.microsoft.com/office/drawing/2014/main" val="3798415834"/>
                    </a:ext>
                  </a:extLst>
                </a:gridCol>
                <a:gridCol w="6057900">
                  <a:extLst>
                    <a:ext uri="{9D8B030D-6E8A-4147-A177-3AD203B41FA5}">
                      <a16:colId xmlns:a16="http://schemas.microsoft.com/office/drawing/2014/main" val="1179052090"/>
                    </a:ext>
                  </a:extLst>
                </a:gridCol>
              </a:tblGrid>
              <a:tr h="1282761">
                <a:tc>
                  <a:txBody>
                    <a:bodyPr/>
                    <a:lstStyle/>
                    <a:p>
                      <a:pPr algn="ctr"/>
                      <a:r>
                        <a:rPr lang="en-US" sz="2800" dirty="0">
                          <a:effectLst/>
                        </a:rPr>
                        <a:t>Term</a:t>
                      </a:r>
                    </a:p>
                  </a:txBody>
                  <a:tcPr marL="45057" marR="45057" marT="22529" marB="22529" anchor="ctr">
                    <a:lnL>
                      <a:noFill/>
                    </a:lnL>
                    <a:lnR>
                      <a:noFill/>
                    </a:lnR>
                    <a:lnT>
                      <a:noFill/>
                    </a:lnT>
                    <a:lnB>
                      <a:noFill/>
                    </a:lnB>
                  </a:tcPr>
                </a:tc>
                <a:tc>
                  <a:txBody>
                    <a:bodyPr/>
                    <a:lstStyle/>
                    <a:p>
                      <a:pPr algn="ctr"/>
                      <a:r>
                        <a:rPr lang="en-US" sz="2800" dirty="0">
                          <a:effectLst/>
                        </a:rPr>
                        <a:t>Meaning</a:t>
                      </a:r>
                    </a:p>
                  </a:txBody>
                  <a:tcPr marL="45057" marR="45057" marT="22529" marB="22529" anchor="ctr">
                    <a:lnL>
                      <a:noFill/>
                    </a:lnL>
                    <a:lnR>
                      <a:noFill/>
                    </a:lnR>
                    <a:lnT>
                      <a:noFill/>
                    </a:lnT>
                    <a:lnB>
                      <a:noFill/>
                    </a:lnB>
                  </a:tcPr>
                </a:tc>
                <a:extLst>
                  <a:ext uri="{0D108BD9-81ED-4DB2-BD59-A6C34878D82A}">
                    <a16:rowId xmlns:a16="http://schemas.microsoft.com/office/drawing/2014/main" val="1964785851"/>
                  </a:ext>
                </a:extLst>
              </a:tr>
              <a:tr h="1290575">
                <a:tc>
                  <a:txBody>
                    <a:bodyPr/>
                    <a:lstStyle/>
                    <a:p>
                      <a:pPr algn="ctr"/>
                      <a:r>
                        <a:rPr lang="en-US" sz="2800" b="1">
                          <a:effectLst/>
                        </a:rPr>
                        <a:t>Inside Local</a:t>
                      </a:r>
                      <a:endParaRPr lang="en-US" sz="2800">
                        <a:effectLst/>
                      </a:endParaRPr>
                    </a:p>
                  </a:txBody>
                  <a:tcPr marL="45057" marR="45057" marT="22529" marB="22529" anchor="ctr">
                    <a:lnL>
                      <a:noFill/>
                    </a:lnL>
                    <a:lnR>
                      <a:noFill/>
                    </a:lnR>
                    <a:lnT>
                      <a:noFill/>
                    </a:lnT>
                    <a:lnB>
                      <a:noFill/>
                    </a:lnB>
                  </a:tcPr>
                </a:tc>
                <a:tc>
                  <a:txBody>
                    <a:bodyPr/>
                    <a:lstStyle/>
                    <a:p>
                      <a:pPr algn="ctr"/>
                      <a:r>
                        <a:rPr lang="en-US" sz="2800" dirty="0">
                          <a:effectLst/>
                        </a:rPr>
                        <a:t>Private IP inside the network (actual host IP).</a:t>
                      </a:r>
                    </a:p>
                  </a:txBody>
                  <a:tcPr marL="45057" marR="45057" marT="22529" marB="22529" anchor="ctr">
                    <a:lnL>
                      <a:noFill/>
                    </a:lnL>
                    <a:lnR>
                      <a:noFill/>
                    </a:lnR>
                    <a:lnT>
                      <a:noFill/>
                    </a:lnT>
                    <a:lnB>
                      <a:noFill/>
                    </a:lnB>
                  </a:tcPr>
                </a:tc>
                <a:extLst>
                  <a:ext uri="{0D108BD9-81ED-4DB2-BD59-A6C34878D82A}">
                    <a16:rowId xmlns:a16="http://schemas.microsoft.com/office/drawing/2014/main" val="594222357"/>
                  </a:ext>
                </a:extLst>
              </a:tr>
              <a:tr h="1290575">
                <a:tc>
                  <a:txBody>
                    <a:bodyPr/>
                    <a:lstStyle/>
                    <a:p>
                      <a:pPr algn="ctr"/>
                      <a:r>
                        <a:rPr lang="en-US" sz="2800" b="1">
                          <a:effectLst/>
                        </a:rPr>
                        <a:t>Inside Global</a:t>
                      </a:r>
                      <a:endParaRPr lang="en-US" sz="2800">
                        <a:effectLst/>
                      </a:endParaRPr>
                    </a:p>
                  </a:txBody>
                  <a:tcPr marL="45057" marR="45057" marT="22529" marB="22529" anchor="ctr">
                    <a:lnL>
                      <a:noFill/>
                    </a:lnL>
                    <a:lnR>
                      <a:noFill/>
                    </a:lnR>
                    <a:lnT>
                      <a:noFill/>
                    </a:lnT>
                    <a:lnB>
                      <a:noFill/>
                    </a:lnB>
                  </a:tcPr>
                </a:tc>
                <a:tc>
                  <a:txBody>
                    <a:bodyPr/>
                    <a:lstStyle/>
                    <a:p>
                      <a:pPr algn="ctr"/>
                      <a:r>
                        <a:rPr lang="en-US" sz="2800" dirty="0">
                          <a:effectLst/>
                        </a:rPr>
                        <a:t>Public IP representing the inside host externally.</a:t>
                      </a:r>
                    </a:p>
                  </a:txBody>
                  <a:tcPr marL="45057" marR="45057" marT="22529" marB="22529" anchor="ctr">
                    <a:lnL>
                      <a:noFill/>
                    </a:lnL>
                    <a:lnR>
                      <a:noFill/>
                    </a:lnR>
                    <a:lnT>
                      <a:noFill/>
                    </a:lnT>
                    <a:lnB>
                      <a:noFill/>
                    </a:lnB>
                  </a:tcPr>
                </a:tc>
                <a:extLst>
                  <a:ext uri="{0D108BD9-81ED-4DB2-BD59-A6C34878D82A}">
                    <a16:rowId xmlns:a16="http://schemas.microsoft.com/office/drawing/2014/main" val="2858411627"/>
                  </a:ext>
                </a:extLst>
              </a:tr>
              <a:tr h="1290575">
                <a:tc>
                  <a:txBody>
                    <a:bodyPr/>
                    <a:lstStyle/>
                    <a:p>
                      <a:pPr algn="ctr"/>
                      <a:r>
                        <a:rPr lang="en-US" sz="2800" b="1" dirty="0">
                          <a:effectLst/>
                        </a:rPr>
                        <a:t>Outside Local</a:t>
                      </a:r>
                      <a:endParaRPr lang="en-US" sz="2800" dirty="0">
                        <a:effectLst/>
                      </a:endParaRPr>
                    </a:p>
                  </a:txBody>
                  <a:tcPr marL="45057" marR="45057" marT="22529" marB="22529" anchor="ctr">
                    <a:lnL>
                      <a:noFill/>
                    </a:lnL>
                    <a:lnR>
                      <a:noFill/>
                    </a:lnR>
                    <a:lnT>
                      <a:noFill/>
                    </a:lnT>
                    <a:lnB>
                      <a:noFill/>
                    </a:lnB>
                  </a:tcPr>
                </a:tc>
                <a:tc>
                  <a:txBody>
                    <a:bodyPr/>
                    <a:lstStyle/>
                    <a:p>
                      <a:pPr algn="ctr"/>
                      <a:r>
                        <a:rPr lang="en-US" sz="2800" dirty="0">
                          <a:effectLst/>
                        </a:rPr>
                        <a:t>Destination IP as seen inside the local network.</a:t>
                      </a:r>
                    </a:p>
                  </a:txBody>
                  <a:tcPr marL="45057" marR="45057" marT="22529" marB="22529" anchor="ctr">
                    <a:lnL>
                      <a:noFill/>
                    </a:lnL>
                    <a:lnR>
                      <a:noFill/>
                    </a:lnR>
                    <a:lnT>
                      <a:noFill/>
                    </a:lnT>
                    <a:lnB>
                      <a:noFill/>
                    </a:lnB>
                  </a:tcPr>
                </a:tc>
                <a:extLst>
                  <a:ext uri="{0D108BD9-81ED-4DB2-BD59-A6C34878D82A}">
                    <a16:rowId xmlns:a16="http://schemas.microsoft.com/office/drawing/2014/main" val="3418796516"/>
                  </a:ext>
                </a:extLst>
              </a:tr>
              <a:tr h="1290575">
                <a:tc>
                  <a:txBody>
                    <a:bodyPr/>
                    <a:lstStyle/>
                    <a:p>
                      <a:pPr algn="ctr"/>
                      <a:r>
                        <a:rPr lang="en-US" sz="2800" b="1">
                          <a:effectLst/>
                        </a:rPr>
                        <a:t>Outside Global</a:t>
                      </a:r>
                      <a:endParaRPr lang="en-US" sz="2800">
                        <a:effectLst/>
                      </a:endParaRPr>
                    </a:p>
                  </a:txBody>
                  <a:tcPr marL="45057" marR="45057" marT="22529" marB="22529" anchor="ctr">
                    <a:lnL>
                      <a:noFill/>
                    </a:lnL>
                    <a:lnR>
                      <a:noFill/>
                    </a:lnR>
                    <a:lnT>
                      <a:noFill/>
                    </a:lnT>
                    <a:lnB>
                      <a:noFill/>
                    </a:lnB>
                  </a:tcPr>
                </a:tc>
                <a:tc>
                  <a:txBody>
                    <a:bodyPr/>
                    <a:lstStyle/>
                    <a:p>
                      <a:pPr algn="ctr"/>
                      <a:r>
                        <a:rPr lang="en-US" sz="2800" dirty="0">
                          <a:effectLst/>
                        </a:rPr>
                        <a:t>Actual IP of the external destination host.</a:t>
                      </a:r>
                    </a:p>
                  </a:txBody>
                  <a:tcPr marL="45057" marR="45057" marT="22529" marB="22529" anchor="ctr">
                    <a:lnL>
                      <a:noFill/>
                    </a:lnL>
                    <a:lnR>
                      <a:noFill/>
                    </a:lnR>
                    <a:lnT>
                      <a:noFill/>
                    </a:lnT>
                    <a:lnB>
                      <a:noFill/>
                    </a:lnB>
                  </a:tcPr>
                </a:tc>
                <a:extLst>
                  <a:ext uri="{0D108BD9-81ED-4DB2-BD59-A6C34878D82A}">
                    <a16:rowId xmlns:a16="http://schemas.microsoft.com/office/drawing/2014/main" val="1368027729"/>
                  </a:ext>
                </a:extLst>
              </a:tr>
            </a:tbl>
          </a:graphicData>
        </a:graphic>
      </p:graphicFrame>
    </p:spTree>
    <p:extLst>
      <p:ext uri="{BB962C8B-B14F-4D97-AF65-F5344CB8AC3E}">
        <p14:creationId xmlns:p14="http://schemas.microsoft.com/office/powerpoint/2010/main" val="3727171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2F52111-4A49-2898-6A91-3B47956F18D8}"/>
              </a:ext>
            </a:extLst>
          </p:cNvPr>
          <p:cNvPicPr>
            <a:picLocks noGrp="1" noChangeAspect="1"/>
          </p:cNvPicPr>
          <p:nvPr>
            <p:ph idx="1"/>
          </p:nvPr>
        </p:nvPicPr>
        <p:blipFill>
          <a:blip r:embed="rId2"/>
          <a:stretch>
            <a:fillRect/>
          </a:stretch>
        </p:blipFill>
        <p:spPr>
          <a:xfrm>
            <a:off x="119270" y="824948"/>
            <a:ext cx="12072730" cy="5615609"/>
          </a:xfrm>
        </p:spPr>
      </p:pic>
    </p:spTree>
    <p:extLst>
      <p:ext uri="{BB962C8B-B14F-4D97-AF65-F5344CB8AC3E}">
        <p14:creationId xmlns:p14="http://schemas.microsoft.com/office/powerpoint/2010/main" val="1255260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286B3-4759-6832-EEEB-2697DB46709F}"/>
              </a:ext>
            </a:extLst>
          </p:cNvPr>
          <p:cNvSpPr>
            <a:spLocks noGrp="1"/>
          </p:cNvSpPr>
          <p:nvPr>
            <p:ph type="title"/>
          </p:nvPr>
        </p:nvSpPr>
        <p:spPr/>
        <p:txBody>
          <a:bodyPr/>
          <a:lstStyle/>
          <a:p>
            <a:r>
              <a:rPr lang="en-US" b="1" dirty="0">
                <a:effectLst/>
              </a:rPr>
              <a:t>1. Static NAT</a:t>
            </a:r>
            <a:br>
              <a:rPr lang="en-US" b="1" dirty="0">
                <a:effectLst/>
              </a:rPr>
            </a:br>
            <a:endParaRPr lang="en-US" dirty="0"/>
          </a:p>
        </p:txBody>
      </p:sp>
      <p:sp>
        <p:nvSpPr>
          <p:cNvPr id="3" name="Content Placeholder 2">
            <a:extLst>
              <a:ext uri="{FF2B5EF4-FFF2-40B4-BE49-F238E27FC236}">
                <a16:creationId xmlns:a16="http://schemas.microsoft.com/office/drawing/2014/main" id="{E784E41A-0074-AE57-18B0-9A31DE36DABC}"/>
              </a:ext>
            </a:extLst>
          </p:cNvPr>
          <p:cNvSpPr>
            <a:spLocks noGrp="1"/>
          </p:cNvSpPr>
          <p:nvPr>
            <p:ph idx="1"/>
          </p:nvPr>
        </p:nvSpPr>
        <p:spPr/>
        <p:txBody>
          <a:bodyPr/>
          <a:lstStyle/>
          <a:p>
            <a:pPr>
              <a:buFont typeface="Arial" panose="020B0604020202020204" pitchFamily="34" charset="0"/>
              <a:buChar char="•"/>
            </a:pPr>
            <a:r>
              <a:rPr lang="en-US" dirty="0"/>
              <a:t>Maps one private IP to one public IP (one - to - one mapping).</a:t>
            </a:r>
          </a:p>
          <a:p>
            <a:pPr>
              <a:buFont typeface="Arial" panose="020B0604020202020204" pitchFamily="34" charset="0"/>
              <a:buChar char="•"/>
            </a:pPr>
            <a:r>
              <a:rPr lang="en-US" dirty="0"/>
              <a:t>Commonly used in hosting, but not cost - effective for large organizations since each device requires a public IP.</a:t>
            </a:r>
          </a:p>
          <a:p>
            <a:endParaRPr lang="en-US" dirty="0"/>
          </a:p>
        </p:txBody>
      </p:sp>
    </p:spTree>
    <p:extLst>
      <p:ext uri="{BB962C8B-B14F-4D97-AF65-F5344CB8AC3E}">
        <p14:creationId xmlns:p14="http://schemas.microsoft.com/office/powerpoint/2010/main" val="3860714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C8214-1771-4E7E-B1DD-C9D25F0140EC}"/>
              </a:ext>
            </a:extLst>
          </p:cNvPr>
          <p:cNvSpPr>
            <a:spLocks noGrp="1"/>
          </p:cNvSpPr>
          <p:nvPr>
            <p:ph type="title"/>
          </p:nvPr>
        </p:nvSpPr>
        <p:spPr/>
        <p:txBody>
          <a:bodyPr/>
          <a:lstStyle/>
          <a:p>
            <a:r>
              <a:rPr lang="en-US" b="1" dirty="0">
                <a:effectLst/>
              </a:rPr>
              <a:t>2. Dynamic NAT</a:t>
            </a:r>
            <a:br>
              <a:rPr lang="en-US" b="1" dirty="0">
                <a:effectLst/>
              </a:rPr>
            </a:br>
            <a:endParaRPr lang="en-US" dirty="0"/>
          </a:p>
        </p:txBody>
      </p:sp>
      <p:sp>
        <p:nvSpPr>
          <p:cNvPr id="3" name="Content Placeholder 2">
            <a:extLst>
              <a:ext uri="{FF2B5EF4-FFF2-40B4-BE49-F238E27FC236}">
                <a16:creationId xmlns:a16="http://schemas.microsoft.com/office/drawing/2014/main" id="{5343F7AD-137C-C9A2-0EC8-EEB661236E96}"/>
              </a:ext>
            </a:extLst>
          </p:cNvPr>
          <p:cNvSpPr>
            <a:spLocks noGrp="1"/>
          </p:cNvSpPr>
          <p:nvPr>
            <p:ph idx="1"/>
          </p:nvPr>
        </p:nvSpPr>
        <p:spPr/>
        <p:txBody>
          <a:bodyPr/>
          <a:lstStyle/>
          <a:p>
            <a:pPr>
              <a:buFont typeface="Arial" panose="020B0604020202020204" pitchFamily="34" charset="0"/>
              <a:buChar char="•"/>
            </a:pPr>
            <a:r>
              <a:rPr lang="en-US" dirty="0"/>
              <a:t>Maps private IPs to public IPs from a predefined pool.</a:t>
            </a:r>
          </a:p>
          <a:p>
            <a:pPr>
              <a:buFont typeface="Arial" panose="020B0604020202020204" pitchFamily="34" charset="0"/>
              <a:buChar char="•"/>
            </a:pPr>
            <a:r>
              <a:rPr lang="en-US" dirty="0"/>
              <a:t>If the pool is exhausted, additional requests are dropped.</a:t>
            </a:r>
          </a:p>
          <a:p>
            <a:pPr>
              <a:buFont typeface="Arial" panose="020B0604020202020204" pitchFamily="34" charset="0"/>
              <a:buChar char="•"/>
            </a:pPr>
            <a:r>
              <a:rPr lang="en-US" dirty="0"/>
              <a:t>Suitable for networks with a limited number of users but still costly.</a:t>
            </a:r>
          </a:p>
          <a:p>
            <a:endParaRPr lang="en-US" dirty="0"/>
          </a:p>
        </p:txBody>
      </p:sp>
    </p:spTree>
    <p:extLst>
      <p:ext uri="{BB962C8B-B14F-4D97-AF65-F5344CB8AC3E}">
        <p14:creationId xmlns:p14="http://schemas.microsoft.com/office/powerpoint/2010/main" val="37737086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11CB2-2E14-62BD-98F9-96EC26870DF3}"/>
              </a:ext>
            </a:extLst>
          </p:cNvPr>
          <p:cNvSpPr>
            <a:spLocks noGrp="1"/>
          </p:cNvSpPr>
          <p:nvPr>
            <p:ph type="title"/>
          </p:nvPr>
        </p:nvSpPr>
        <p:spPr>
          <a:xfrm>
            <a:off x="119270" y="109331"/>
            <a:ext cx="11946834" cy="745434"/>
          </a:xfrm>
        </p:spPr>
        <p:txBody>
          <a:bodyPr>
            <a:normAutofit fontScale="90000"/>
          </a:bodyPr>
          <a:lstStyle/>
          <a:p>
            <a:br>
              <a:rPr lang="en-US" b="1" dirty="0">
                <a:effectLst/>
              </a:rPr>
            </a:br>
            <a:r>
              <a:rPr lang="en-US" b="1" dirty="0">
                <a:effectLst/>
              </a:rPr>
              <a:t>3. Port Address Translation (PAT)</a:t>
            </a:r>
            <a:br>
              <a:rPr lang="en-US" b="1" dirty="0">
                <a:effectLst/>
              </a:rPr>
            </a:br>
            <a:endParaRPr lang="en-US" dirty="0"/>
          </a:p>
        </p:txBody>
      </p:sp>
      <p:sp>
        <p:nvSpPr>
          <p:cNvPr id="3" name="Content Placeholder 2">
            <a:extLst>
              <a:ext uri="{FF2B5EF4-FFF2-40B4-BE49-F238E27FC236}">
                <a16:creationId xmlns:a16="http://schemas.microsoft.com/office/drawing/2014/main" id="{C3DBC7D2-57FA-56A0-30B9-6712438B04D5}"/>
              </a:ext>
            </a:extLst>
          </p:cNvPr>
          <p:cNvSpPr>
            <a:spLocks noGrp="1"/>
          </p:cNvSpPr>
          <p:nvPr>
            <p:ph idx="1"/>
          </p:nvPr>
        </p:nvSpPr>
        <p:spPr>
          <a:xfrm>
            <a:off x="59635" y="1063487"/>
            <a:ext cx="12006469" cy="5113476"/>
          </a:xfrm>
        </p:spPr>
        <p:txBody>
          <a:bodyPr/>
          <a:lstStyle/>
          <a:p>
            <a:pPr>
              <a:buFont typeface="Arial" panose="020B0604020202020204" pitchFamily="34" charset="0"/>
              <a:buChar char="•"/>
            </a:pPr>
            <a:r>
              <a:rPr lang="en-US" dirty="0"/>
              <a:t>Also called NAT Overload.</a:t>
            </a:r>
          </a:p>
          <a:p>
            <a:pPr>
              <a:buFont typeface="Arial" panose="020B0604020202020204" pitchFamily="34" charset="0"/>
              <a:buChar char="•"/>
            </a:pPr>
            <a:r>
              <a:rPr lang="en-US" dirty="0"/>
              <a:t>Multiple private IPs share a single public IP, with unique port numbers distinguishing traffic.</a:t>
            </a:r>
          </a:p>
          <a:p>
            <a:pPr>
              <a:buFont typeface="Arial" panose="020B0604020202020204" pitchFamily="34" charset="0"/>
              <a:buChar char="•"/>
            </a:pPr>
            <a:r>
              <a:rPr lang="en-US" dirty="0"/>
              <a:t>Most widely used because it’s cost - effective and supports thousands of users with a single public IP.</a:t>
            </a:r>
          </a:p>
          <a:p>
            <a:endParaRPr lang="en-US" dirty="0"/>
          </a:p>
        </p:txBody>
      </p:sp>
    </p:spTree>
    <p:extLst>
      <p:ext uri="{BB962C8B-B14F-4D97-AF65-F5344CB8AC3E}">
        <p14:creationId xmlns:p14="http://schemas.microsoft.com/office/powerpoint/2010/main" val="3275838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74865-3EAD-D508-8BA4-40ADE672CD83}"/>
              </a:ext>
            </a:extLst>
          </p:cNvPr>
          <p:cNvSpPr>
            <a:spLocks noGrp="1"/>
          </p:cNvSpPr>
          <p:nvPr>
            <p:ph type="title"/>
          </p:nvPr>
        </p:nvSpPr>
        <p:spPr>
          <a:xfrm>
            <a:off x="79513" y="149087"/>
            <a:ext cx="11966713" cy="834888"/>
          </a:xfrm>
        </p:spPr>
        <p:txBody>
          <a:bodyPr>
            <a:normAutofit/>
          </a:bodyPr>
          <a:lstStyle/>
          <a:p>
            <a:r>
              <a:rPr lang="en-US" dirty="0"/>
              <a:t>Routing Protocol </a:t>
            </a:r>
          </a:p>
        </p:txBody>
      </p:sp>
      <p:sp>
        <p:nvSpPr>
          <p:cNvPr id="3" name="Content Placeholder 2">
            <a:extLst>
              <a:ext uri="{FF2B5EF4-FFF2-40B4-BE49-F238E27FC236}">
                <a16:creationId xmlns:a16="http://schemas.microsoft.com/office/drawing/2014/main" id="{7838738D-542F-9852-9AE0-F1BE62E2E52E}"/>
              </a:ext>
            </a:extLst>
          </p:cNvPr>
          <p:cNvSpPr>
            <a:spLocks noGrp="1"/>
          </p:cNvSpPr>
          <p:nvPr>
            <p:ph idx="1"/>
          </p:nvPr>
        </p:nvSpPr>
        <p:spPr>
          <a:xfrm>
            <a:off x="0" y="1113183"/>
            <a:ext cx="12192000" cy="5625547"/>
          </a:xfrm>
        </p:spPr>
        <p:txBody>
          <a:bodyPr>
            <a:normAutofit/>
          </a:bodyPr>
          <a:lstStyle/>
          <a:p>
            <a:r>
              <a:rPr lang="en-US" b="1" dirty="0"/>
              <a:t>Routing Information Protocol (RIP)</a:t>
            </a:r>
          </a:p>
          <a:p>
            <a:pPr rtl="0"/>
            <a:r>
              <a:rPr lang="en-US" dirty="0"/>
              <a:t>The Routing Information Protocol (RIP) is designed to help routers determine the best path for sending data packets across a network. </a:t>
            </a:r>
          </a:p>
          <a:p>
            <a:pPr rtl="0"/>
            <a:r>
              <a:rPr lang="en-US" dirty="0"/>
              <a:t>It uses hop count as its routing metric and is primarily used in small to medium-sized networks due to its scalability limitations. </a:t>
            </a:r>
          </a:p>
          <a:p>
            <a:pPr>
              <a:buFont typeface="Arial" panose="020B0604020202020204" pitchFamily="34" charset="0"/>
              <a:buChar char="•"/>
            </a:pPr>
            <a:r>
              <a:rPr lang="en-US" dirty="0"/>
              <a:t>RIP operates at the Network Layer (Layer 3) of the OSI model and maintains routing tables on each router. </a:t>
            </a:r>
          </a:p>
          <a:p>
            <a:pPr>
              <a:buFont typeface="Arial" panose="020B0604020202020204" pitchFamily="34" charset="0"/>
              <a:buChar char="•"/>
            </a:pPr>
            <a:r>
              <a:rPr lang="en-US" dirty="0"/>
              <a:t>Every 30 seconds, routers exchange their complete routing tables with </a:t>
            </a:r>
            <a:r>
              <a:rPr lang="en-US" dirty="0" err="1"/>
              <a:t>neighbours</a:t>
            </a:r>
            <a:r>
              <a:rPr lang="en-US" dirty="0"/>
              <a:t> using periodic updates.</a:t>
            </a:r>
          </a:p>
          <a:p>
            <a:pPr>
              <a:buFont typeface="Arial" panose="020B0604020202020204" pitchFamily="34" charset="0"/>
              <a:buChar char="•"/>
            </a:pPr>
            <a:r>
              <a:rPr lang="en-US" dirty="0"/>
              <a:t>The hop count metric defines the number of routers a packet must pass through to reach its destination.</a:t>
            </a:r>
          </a:p>
          <a:p>
            <a:endParaRPr lang="en-US" dirty="0"/>
          </a:p>
        </p:txBody>
      </p:sp>
    </p:spTree>
    <p:extLst>
      <p:ext uri="{BB962C8B-B14F-4D97-AF65-F5344CB8AC3E}">
        <p14:creationId xmlns:p14="http://schemas.microsoft.com/office/powerpoint/2010/main" val="7948142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7CA19-4EEB-24E6-0841-2F559F74FFE7}"/>
              </a:ext>
            </a:extLst>
          </p:cNvPr>
          <p:cNvSpPr>
            <a:spLocks noGrp="1"/>
          </p:cNvSpPr>
          <p:nvPr>
            <p:ph idx="1"/>
          </p:nvPr>
        </p:nvSpPr>
        <p:spPr>
          <a:xfrm>
            <a:off x="0" y="0"/>
            <a:ext cx="12192000" cy="6778487"/>
          </a:xfrm>
        </p:spPr>
        <p:txBody>
          <a:bodyPr/>
          <a:lstStyle/>
          <a:p>
            <a:pPr algn="l"/>
            <a:r>
              <a:rPr lang="en-US" dirty="0"/>
              <a:t>IP supports a maximum hop count of 15, which limits its use in larger networks. A hop count of 16 is considered unreachable.</a:t>
            </a:r>
          </a:p>
          <a:p>
            <a:pPr algn="l"/>
            <a:endParaRPr lang="en-US" b="1" dirty="0">
              <a:effectLst/>
            </a:endParaRPr>
          </a:p>
          <a:p>
            <a:pPr algn="l"/>
            <a:r>
              <a:rPr lang="en-US" b="1" dirty="0">
                <a:effectLst/>
              </a:rPr>
              <a:t>Features of RIP</a:t>
            </a:r>
          </a:p>
          <a:p>
            <a:pPr>
              <a:buFont typeface="Arial" panose="020B0604020202020204" pitchFamily="34" charset="0"/>
              <a:buChar char="•"/>
            </a:pPr>
            <a:r>
              <a:rPr lang="en-US" dirty="0"/>
              <a:t>Exchanges updates periodically (every 30 seconds).</a:t>
            </a:r>
          </a:p>
          <a:p>
            <a:pPr>
              <a:buFont typeface="Arial" panose="020B0604020202020204" pitchFamily="34" charset="0"/>
              <a:buChar char="•"/>
            </a:pPr>
            <a:endParaRPr lang="en-US" dirty="0"/>
          </a:p>
          <a:p>
            <a:pPr>
              <a:buFont typeface="Arial" panose="020B0604020202020204" pitchFamily="34" charset="0"/>
              <a:buChar char="•"/>
            </a:pPr>
            <a:r>
              <a:rPr lang="en-US" dirty="0"/>
              <a:t>Broadcasts (RIPv1) or multicasts (RIPv2/</a:t>
            </a:r>
            <a:r>
              <a:rPr lang="en-US" dirty="0" err="1"/>
              <a:t>RIPng</a:t>
            </a:r>
            <a:r>
              <a:rPr lang="en-US" dirty="0"/>
              <a:t>) routing information.</a:t>
            </a:r>
          </a:p>
          <a:p>
            <a:pPr>
              <a:buFont typeface="Arial" panose="020B0604020202020204" pitchFamily="34" charset="0"/>
              <a:buChar char="•"/>
            </a:pPr>
            <a:endParaRPr lang="en-US" dirty="0"/>
          </a:p>
          <a:p>
            <a:pPr>
              <a:buFont typeface="Arial" panose="020B0604020202020204" pitchFamily="34" charset="0"/>
              <a:buChar char="•"/>
            </a:pPr>
            <a:r>
              <a:rPr lang="en-US" dirty="0"/>
              <a:t>Sends entire routing tables in updates.</a:t>
            </a:r>
          </a:p>
          <a:p>
            <a:pPr>
              <a:buFont typeface="Arial" panose="020B0604020202020204" pitchFamily="34" charset="0"/>
              <a:buChar char="•"/>
            </a:pPr>
            <a:endParaRPr lang="en-US" dirty="0"/>
          </a:p>
          <a:p>
            <a:pPr>
              <a:buFont typeface="Arial" panose="020B0604020202020204" pitchFamily="34" charset="0"/>
              <a:buChar char="•"/>
            </a:pPr>
            <a:r>
              <a:rPr lang="en-US" dirty="0"/>
              <a:t>Works on the principle of routing by rumor (trusting neighbors' information).</a:t>
            </a:r>
          </a:p>
          <a:p>
            <a:pPr>
              <a:buFont typeface="Arial" panose="020B0604020202020204" pitchFamily="34" charset="0"/>
              <a:buChar char="•"/>
            </a:pPr>
            <a:endParaRPr lang="en-US" dirty="0"/>
          </a:p>
          <a:p>
            <a:pPr>
              <a:buFont typeface="Arial" panose="020B0604020202020204" pitchFamily="34" charset="0"/>
              <a:buChar char="•"/>
            </a:pPr>
            <a:r>
              <a:rPr lang="en-US" dirty="0"/>
              <a:t>Uses route poisoning and split horizon to avoid routing loops.</a:t>
            </a:r>
          </a:p>
          <a:p>
            <a:endParaRPr lang="en-US" dirty="0"/>
          </a:p>
        </p:txBody>
      </p:sp>
    </p:spTree>
    <p:extLst>
      <p:ext uri="{BB962C8B-B14F-4D97-AF65-F5344CB8AC3E}">
        <p14:creationId xmlns:p14="http://schemas.microsoft.com/office/powerpoint/2010/main" val="17821423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2F5BE6-0D4C-315C-6368-FF7228DE7FB4}"/>
              </a:ext>
            </a:extLst>
          </p:cNvPr>
          <p:cNvSpPr>
            <a:spLocks noGrp="1"/>
          </p:cNvSpPr>
          <p:nvPr>
            <p:ph idx="1"/>
          </p:nvPr>
        </p:nvSpPr>
        <p:spPr>
          <a:xfrm>
            <a:off x="0" y="0"/>
            <a:ext cx="12192000" cy="6858000"/>
          </a:xfrm>
        </p:spPr>
        <p:txBody>
          <a:bodyPr>
            <a:normAutofit fontScale="92500"/>
          </a:bodyPr>
          <a:lstStyle/>
          <a:p>
            <a:pPr marL="0" indent="0" algn="l">
              <a:buNone/>
            </a:pPr>
            <a:r>
              <a:rPr lang="en-US" b="1" dirty="0">
                <a:effectLst/>
              </a:rPr>
              <a:t>Hop Count</a:t>
            </a:r>
          </a:p>
          <a:p>
            <a:pPr algn="l" rtl="0"/>
            <a:r>
              <a:rPr lang="en-US" dirty="0">
                <a:effectLst/>
              </a:rPr>
              <a:t>Hop count is a routing metric that represents the total number of routers a data packet must pass through to travel from the source device to the destination device.</a:t>
            </a:r>
          </a:p>
          <a:p>
            <a:pPr>
              <a:buFont typeface="Arial" panose="020B0604020202020204" pitchFamily="34" charset="0"/>
              <a:buChar char="•"/>
            </a:pPr>
            <a:r>
              <a:rPr lang="en-US" dirty="0"/>
              <a:t>Each router crossed by a packet is counted as one hop.</a:t>
            </a:r>
          </a:p>
          <a:p>
            <a:pPr>
              <a:buFont typeface="Arial" panose="020B0604020202020204" pitchFamily="34" charset="0"/>
              <a:buChar char="•"/>
            </a:pPr>
            <a:endParaRPr lang="en-US" dirty="0"/>
          </a:p>
          <a:p>
            <a:pPr>
              <a:buFont typeface="Arial" panose="020B0604020202020204" pitchFamily="34" charset="0"/>
              <a:buChar char="•"/>
            </a:pPr>
            <a:r>
              <a:rPr lang="en-US" dirty="0"/>
              <a:t>Used by routing protocols like RIP to determine the best path.</a:t>
            </a:r>
          </a:p>
          <a:p>
            <a:pPr>
              <a:buFont typeface="Arial" panose="020B0604020202020204" pitchFamily="34" charset="0"/>
              <a:buChar char="•"/>
            </a:pPr>
            <a:endParaRPr lang="en-US" dirty="0"/>
          </a:p>
          <a:p>
            <a:pPr>
              <a:buFont typeface="Arial" panose="020B0604020202020204" pitchFamily="34" charset="0"/>
              <a:buChar char="•"/>
            </a:pPr>
            <a:r>
              <a:rPr lang="en-US" dirty="0"/>
              <a:t>RIP selects the route with the lowest hop count as the optimal route.</a:t>
            </a:r>
          </a:p>
          <a:p>
            <a:pPr>
              <a:buFont typeface="Arial" panose="020B0604020202020204" pitchFamily="34" charset="0"/>
              <a:buChar char="•"/>
            </a:pPr>
            <a:endParaRPr lang="en-US" dirty="0"/>
          </a:p>
          <a:p>
            <a:pPr>
              <a:buFont typeface="Arial" panose="020B0604020202020204" pitchFamily="34" charset="0"/>
              <a:buChar char="•"/>
            </a:pPr>
            <a:r>
              <a:rPr lang="en-US" dirty="0"/>
              <a:t>The maximum hop count in RIP is 15; a hop count of 16 is considered unreachable.</a:t>
            </a:r>
          </a:p>
          <a:p>
            <a:pPr>
              <a:buFont typeface="Arial" panose="020B0604020202020204" pitchFamily="34" charset="0"/>
              <a:buChar char="•"/>
            </a:pPr>
            <a:endParaRPr lang="en-US" dirty="0"/>
          </a:p>
          <a:p>
            <a:pPr>
              <a:buFont typeface="Arial" panose="020B0604020202020204" pitchFamily="34" charset="0"/>
              <a:buChar char="•"/>
            </a:pPr>
            <a:r>
              <a:rPr lang="en-US" dirty="0"/>
              <a:t>Limiting the hop count helps prevent routing loops.</a:t>
            </a:r>
          </a:p>
          <a:p>
            <a:pPr>
              <a:buFont typeface="Arial" panose="020B0604020202020204" pitchFamily="34" charset="0"/>
              <a:buChar char="•"/>
            </a:pPr>
            <a:endParaRPr lang="en-US" dirty="0"/>
          </a:p>
          <a:p>
            <a:pPr>
              <a:buFont typeface="Arial" panose="020B0604020202020204" pitchFamily="34" charset="0"/>
              <a:buChar char="•"/>
            </a:pPr>
            <a:r>
              <a:rPr lang="en-US" dirty="0"/>
              <a:t>This limitation reduces RIP’s scalability, making it unsuitable for large networks.</a:t>
            </a:r>
          </a:p>
          <a:p>
            <a:endParaRPr lang="en-US" dirty="0"/>
          </a:p>
        </p:txBody>
      </p:sp>
    </p:spTree>
    <p:extLst>
      <p:ext uri="{BB962C8B-B14F-4D97-AF65-F5344CB8AC3E}">
        <p14:creationId xmlns:p14="http://schemas.microsoft.com/office/powerpoint/2010/main" val="22728964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CB650-CC47-2AB7-589A-3F3796E3F820}"/>
              </a:ext>
            </a:extLst>
          </p:cNvPr>
          <p:cNvSpPr>
            <a:spLocks noGrp="1"/>
          </p:cNvSpPr>
          <p:nvPr>
            <p:ph idx="1"/>
          </p:nvPr>
        </p:nvSpPr>
        <p:spPr>
          <a:xfrm>
            <a:off x="0" y="0"/>
            <a:ext cx="12192000" cy="6858000"/>
          </a:xfrm>
        </p:spPr>
        <p:txBody>
          <a:bodyPr>
            <a:normAutofit/>
          </a:bodyPr>
          <a:lstStyle/>
          <a:p>
            <a:pPr algn="l"/>
            <a:r>
              <a:rPr lang="en-US" b="1" dirty="0">
                <a:effectLst/>
              </a:rPr>
              <a:t>How RIP Works</a:t>
            </a:r>
          </a:p>
          <a:p>
            <a:pPr rtl="0"/>
            <a:r>
              <a:rPr lang="en-US" dirty="0"/>
              <a:t>Routing Information Protocol (RIP) is a distance-vector routing protocol that determines the best path to a destination network based on hop count.</a:t>
            </a:r>
          </a:p>
          <a:p>
            <a:pPr>
              <a:buFont typeface="Arial" panose="020B0604020202020204" pitchFamily="34" charset="0"/>
              <a:buChar char="•"/>
            </a:pPr>
            <a:r>
              <a:rPr lang="en-US" dirty="0"/>
              <a:t>Each router maintains a routing table containing distances to all known networks.</a:t>
            </a:r>
          </a:p>
          <a:p>
            <a:pPr>
              <a:buFont typeface="Arial" panose="020B0604020202020204" pitchFamily="34" charset="0"/>
              <a:buChar char="•"/>
            </a:pPr>
            <a:r>
              <a:rPr lang="en-US" dirty="0"/>
              <a:t>Routers periodically exchange routing information with neighboring routers.</a:t>
            </a:r>
          </a:p>
          <a:p>
            <a:pPr>
              <a:buFont typeface="Arial" panose="020B0604020202020204" pitchFamily="34" charset="0"/>
              <a:buChar char="•"/>
            </a:pPr>
            <a:r>
              <a:rPr lang="en-US" dirty="0"/>
              <a:t>Every 30 seconds, routers broadcast or multicast their entire routing table.</a:t>
            </a:r>
          </a:p>
          <a:p>
            <a:pPr>
              <a:buFont typeface="Arial" panose="020B0604020202020204" pitchFamily="34" charset="0"/>
              <a:buChar char="•"/>
            </a:pPr>
            <a:r>
              <a:rPr lang="en-US" dirty="0"/>
              <a:t>If a router learns a shorter path, it updates its routing table accordingly.</a:t>
            </a:r>
          </a:p>
          <a:p>
            <a:pPr>
              <a:buFont typeface="Arial" panose="020B0604020202020204" pitchFamily="34" charset="0"/>
              <a:buChar char="•"/>
            </a:pPr>
            <a:r>
              <a:rPr lang="en-US" dirty="0"/>
              <a:t>If a route is not updated within 180 seconds, it is marked as invalid.</a:t>
            </a:r>
          </a:p>
          <a:p>
            <a:pPr>
              <a:buFont typeface="Arial" panose="020B0604020202020204" pitchFamily="34" charset="0"/>
              <a:buChar char="•"/>
            </a:pPr>
            <a:r>
              <a:rPr lang="en-US" dirty="0"/>
              <a:t>If the route remains unused for 240 seconds, it is removed (flushed) from the routing table.</a:t>
            </a:r>
          </a:p>
          <a:p>
            <a:pPr>
              <a:buFont typeface="Arial" panose="020B0604020202020204" pitchFamily="34" charset="0"/>
              <a:buChar char="•"/>
            </a:pPr>
            <a:r>
              <a:rPr lang="en-US" dirty="0"/>
              <a:t>These timers help maintain accurate routing information and prevent stale routes.</a:t>
            </a:r>
          </a:p>
          <a:p>
            <a:endParaRPr lang="en-US" dirty="0"/>
          </a:p>
        </p:txBody>
      </p:sp>
    </p:spTree>
    <p:extLst>
      <p:ext uri="{BB962C8B-B14F-4D97-AF65-F5344CB8AC3E}">
        <p14:creationId xmlns:p14="http://schemas.microsoft.com/office/powerpoint/2010/main" val="15344008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AE6FAC-84F0-CD6A-529A-A2516F9063D8}"/>
              </a:ext>
            </a:extLst>
          </p:cNvPr>
          <p:cNvSpPr>
            <a:spLocks noGrp="1"/>
          </p:cNvSpPr>
          <p:nvPr>
            <p:ph idx="1"/>
          </p:nvPr>
        </p:nvSpPr>
        <p:spPr>
          <a:xfrm>
            <a:off x="0" y="0"/>
            <a:ext cx="12115800" cy="6689035"/>
          </a:xfrm>
        </p:spPr>
        <p:txBody>
          <a:bodyPr/>
          <a:lstStyle/>
          <a:p>
            <a:pPr marL="0" indent="0" algn="l">
              <a:buNone/>
            </a:pPr>
            <a:r>
              <a:rPr lang="en-US" b="1" dirty="0">
                <a:effectLst/>
              </a:rPr>
              <a:t>RIP Used?</a:t>
            </a:r>
          </a:p>
          <a:p>
            <a:pPr>
              <a:buFont typeface="Arial" panose="020B0604020202020204" pitchFamily="34" charset="0"/>
              <a:buChar char="•"/>
            </a:pPr>
            <a:r>
              <a:rPr lang="en-US" dirty="0"/>
              <a:t>Small to medium-sized networks with simple routing needs.</a:t>
            </a:r>
          </a:p>
          <a:p>
            <a:pPr>
              <a:buFont typeface="Arial" panose="020B0604020202020204" pitchFamily="34" charset="0"/>
              <a:buChar char="•"/>
            </a:pPr>
            <a:r>
              <a:rPr lang="en-US" dirty="0"/>
              <a:t>Legacy networks that were built before OSPF/EIGRP became standard.</a:t>
            </a:r>
          </a:p>
          <a:p>
            <a:pPr>
              <a:buFont typeface="Arial" panose="020B0604020202020204" pitchFamily="34" charset="0"/>
              <a:buChar char="•"/>
            </a:pPr>
            <a:r>
              <a:rPr lang="en-US" dirty="0"/>
              <a:t>Educational labs for training and learning routing basics.</a:t>
            </a:r>
          </a:p>
          <a:p>
            <a:pPr>
              <a:buFont typeface="Arial" panose="020B0604020202020204" pitchFamily="34" charset="0"/>
              <a:buChar char="•"/>
            </a:pPr>
            <a:r>
              <a:rPr lang="en-US" dirty="0"/>
              <a:t>Backup routing protocol in case the primary protocol fails.</a:t>
            </a:r>
          </a:p>
          <a:p>
            <a:endParaRPr lang="en-US" dirty="0"/>
          </a:p>
        </p:txBody>
      </p:sp>
    </p:spTree>
    <p:extLst>
      <p:ext uri="{BB962C8B-B14F-4D97-AF65-F5344CB8AC3E}">
        <p14:creationId xmlns:p14="http://schemas.microsoft.com/office/powerpoint/2010/main" val="41535035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1EF52-8306-787E-E7AA-AC21241AFFC7}"/>
              </a:ext>
            </a:extLst>
          </p:cNvPr>
          <p:cNvSpPr>
            <a:spLocks noGrp="1"/>
          </p:cNvSpPr>
          <p:nvPr>
            <p:ph type="title"/>
          </p:nvPr>
        </p:nvSpPr>
        <p:spPr>
          <a:xfrm>
            <a:off x="0" y="0"/>
            <a:ext cx="12192000" cy="934277"/>
          </a:xfrm>
        </p:spPr>
        <p:txBody>
          <a:bodyPr>
            <a:normAutofit fontScale="90000"/>
          </a:bodyPr>
          <a:lstStyle/>
          <a:p>
            <a:br>
              <a:rPr lang="en-US" b="1" dirty="0"/>
            </a:br>
            <a:r>
              <a:rPr lang="en-US" b="1" dirty="0"/>
              <a:t>Open Shortest Path First (OSPF) Protocol </a:t>
            </a:r>
            <a:br>
              <a:rPr lang="en-US" b="1" dirty="0"/>
            </a:br>
            <a:endParaRPr lang="en-US" dirty="0"/>
          </a:p>
        </p:txBody>
      </p:sp>
      <p:sp>
        <p:nvSpPr>
          <p:cNvPr id="3" name="Content Placeholder 2">
            <a:extLst>
              <a:ext uri="{FF2B5EF4-FFF2-40B4-BE49-F238E27FC236}">
                <a16:creationId xmlns:a16="http://schemas.microsoft.com/office/drawing/2014/main" id="{E09DD41F-67F3-29FC-CD10-E7349A4F8238}"/>
              </a:ext>
            </a:extLst>
          </p:cNvPr>
          <p:cNvSpPr>
            <a:spLocks noGrp="1"/>
          </p:cNvSpPr>
          <p:nvPr>
            <p:ph idx="1"/>
          </p:nvPr>
        </p:nvSpPr>
        <p:spPr>
          <a:xfrm>
            <a:off x="0" y="834886"/>
            <a:ext cx="12192000" cy="6023113"/>
          </a:xfrm>
        </p:spPr>
        <p:txBody>
          <a:bodyPr>
            <a:normAutofit fontScale="92500" lnSpcReduction="20000"/>
          </a:bodyPr>
          <a:lstStyle/>
          <a:p>
            <a:pPr algn="just" rtl="0"/>
            <a:r>
              <a:rPr lang="en-US" dirty="0">
                <a:effectLst/>
              </a:rPr>
              <a:t>Open Shortest Path First (OSPF) is a link-state routing protocol used to find the best path between routers within an Autonomous System (AS). </a:t>
            </a:r>
          </a:p>
          <a:p>
            <a:pPr algn="just" rtl="0"/>
            <a:r>
              <a:rPr lang="en-US" dirty="0">
                <a:effectLst/>
              </a:rPr>
              <a:t>OSPF routers establish neighbor relationships to exchange routing information, and these relationships play a crucial role in the formation of OSPF adjacencies.</a:t>
            </a:r>
          </a:p>
          <a:p>
            <a:pPr algn="just" rtl="0"/>
            <a:r>
              <a:rPr lang="en-US" dirty="0">
                <a:effectLst/>
              </a:rPr>
              <a:t> Understanding the transitions between OSPF protocol states is essential for optimizing network performance and troubleshooting.</a:t>
            </a:r>
          </a:p>
          <a:p>
            <a:pPr>
              <a:buFont typeface="Arial" panose="020B0604020202020204" pitchFamily="34" charset="0"/>
              <a:buChar char="•"/>
            </a:pPr>
            <a:r>
              <a:rPr lang="en-US" dirty="0"/>
              <a:t>OSPF uses Hello packets for neighbor discovery and to establish communication between routers.</a:t>
            </a:r>
          </a:p>
          <a:p>
            <a:pPr>
              <a:buFont typeface="Arial" panose="020B0604020202020204" pitchFamily="34" charset="0"/>
              <a:buChar char="•"/>
            </a:pPr>
            <a:r>
              <a:rPr lang="en-US" dirty="0"/>
              <a:t>Neighbor states are key in forming OSPF adjacencies, enabling efficient routing.</a:t>
            </a:r>
          </a:p>
          <a:p>
            <a:pPr>
              <a:buFont typeface="Arial" panose="020B0604020202020204" pitchFamily="34" charset="0"/>
              <a:buChar char="•"/>
            </a:pPr>
            <a:r>
              <a:rPr lang="en-US" dirty="0"/>
              <a:t>The main focus of this article is to understand OSPF state transitions and their significance in the network.</a:t>
            </a:r>
          </a:p>
          <a:p>
            <a:pPr>
              <a:buFont typeface="Arial" panose="020B0604020202020204" pitchFamily="34" charset="0"/>
              <a:buChar char="•"/>
            </a:pPr>
            <a:r>
              <a:rPr lang="en-US" dirty="0"/>
              <a:t>OSPF requires specific parameters like matching Area IDs, authentication, and timers for adjacencies to form.</a:t>
            </a:r>
          </a:p>
          <a:p>
            <a:pPr>
              <a:buFont typeface="Arial" panose="020B0604020202020204" pitchFamily="34" charset="0"/>
              <a:buChar char="•"/>
            </a:pPr>
            <a:r>
              <a:rPr lang="en-US" dirty="0"/>
              <a:t>Distinguishing between OSPF neighbors and adjacent routers is critical for proper network operation.</a:t>
            </a:r>
          </a:p>
          <a:p>
            <a:pPr>
              <a:buFont typeface="Arial" panose="020B0604020202020204" pitchFamily="34" charset="0"/>
              <a:buChar char="•"/>
            </a:pPr>
            <a:r>
              <a:rPr lang="en-US" dirty="0"/>
              <a:t>Proper management of OSPF states ensures stable and optimized packet routing.</a:t>
            </a:r>
          </a:p>
          <a:p>
            <a:endParaRPr lang="en-US" dirty="0"/>
          </a:p>
        </p:txBody>
      </p:sp>
    </p:spTree>
    <p:extLst>
      <p:ext uri="{BB962C8B-B14F-4D97-AF65-F5344CB8AC3E}">
        <p14:creationId xmlns:p14="http://schemas.microsoft.com/office/powerpoint/2010/main" val="1960559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CAD0A8-7365-7641-9401-60429E099D0A}"/>
              </a:ext>
            </a:extLst>
          </p:cNvPr>
          <p:cNvSpPr>
            <a:spLocks noGrp="1"/>
          </p:cNvSpPr>
          <p:nvPr>
            <p:ph idx="1"/>
          </p:nvPr>
        </p:nvSpPr>
        <p:spPr>
          <a:xfrm>
            <a:off x="0" y="0"/>
            <a:ext cx="12192000" cy="6858000"/>
          </a:xfrm>
        </p:spPr>
        <p:txBody>
          <a:bodyPr>
            <a:normAutofit/>
          </a:bodyPr>
          <a:lstStyle/>
          <a:p>
            <a:pPr algn="l"/>
            <a:r>
              <a:rPr lang="en-US" b="1" dirty="0">
                <a:effectLst/>
              </a:rPr>
              <a:t>Open Shortest Path First (OSPF) Terms</a:t>
            </a:r>
          </a:p>
          <a:p>
            <a:pPr>
              <a:buFont typeface="Arial" panose="020B0604020202020204" pitchFamily="34" charset="0"/>
              <a:buChar char="•"/>
            </a:pPr>
            <a:r>
              <a:rPr lang="en-US" b="1" dirty="0"/>
              <a:t>Router ID: </a:t>
            </a:r>
            <a:r>
              <a:rPr lang="en-US" dirty="0"/>
              <a:t>The </a:t>
            </a:r>
            <a:r>
              <a:rPr lang="en-US" dirty="0">
                <a:hlinkClick r:id="rId2"/>
              </a:rPr>
              <a:t>Router</a:t>
            </a:r>
            <a:r>
              <a:rPr lang="en-US" dirty="0"/>
              <a:t> ID is the highest active IP address on the router. The process first considers the highest </a:t>
            </a:r>
            <a:r>
              <a:rPr lang="en-US" dirty="0">
                <a:hlinkClick r:id="rId3"/>
              </a:rPr>
              <a:t>loopback address</a:t>
            </a:r>
            <a:r>
              <a:rPr lang="en-US" dirty="0"/>
              <a:t>.</a:t>
            </a:r>
          </a:p>
          <a:p>
            <a:pPr>
              <a:buFont typeface="Arial" panose="020B0604020202020204" pitchFamily="34" charset="0"/>
              <a:buChar char="•"/>
            </a:pPr>
            <a:r>
              <a:rPr lang="en-US" dirty="0"/>
              <a:t> If no loopback address is configured, the highest active IP address on the router's interfaces is used as the Router ID.</a:t>
            </a:r>
          </a:p>
          <a:p>
            <a:pPr>
              <a:buFont typeface="Arial" panose="020B0604020202020204" pitchFamily="34" charset="0"/>
              <a:buChar char="•"/>
            </a:pPr>
            <a:r>
              <a:rPr lang="en-US" b="1" dirty="0"/>
              <a:t>Router Priority: </a:t>
            </a:r>
            <a:r>
              <a:rPr lang="en-US" dirty="0"/>
              <a:t>The router priority is an 8-bit value assigned to a router running </a:t>
            </a:r>
            <a:r>
              <a:rPr lang="en-US" dirty="0">
                <a:hlinkClick r:id="rId4"/>
              </a:rPr>
              <a:t>OSPF</a:t>
            </a:r>
            <a:r>
              <a:rPr lang="en-US" dirty="0"/>
              <a:t>, which is used during the election of the </a:t>
            </a:r>
            <a:r>
              <a:rPr lang="en-US" dirty="0">
                <a:hlinkClick r:id="rId5"/>
              </a:rPr>
              <a:t>Designated Router (DR) and Backup Designated Router (BDR)</a:t>
            </a:r>
            <a:r>
              <a:rPr lang="en-US" dirty="0"/>
              <a:t> in a broadcast network.</a:t>
            </a:r>
          </a:p>
          <a:p>
            <a:pPr>
              <a:buFont typeface="Arial" panose="020B0604020202020204" pitchFamily="34" charset="0"/>
              <a:buChar char="•"/>
            </a:pPr>
            <a:r>
              <a:rPr lang="en-US" b="1" dirty="0"/>
              <a:t>Designated Router (DR): </a:t>
            </a:r>
            <a:r>
              <a:rPr lang="en-US" dirty="0"/>
              <a:t>The Designated Router (DR) is elected to minimize the number of OSPF adjacencies in a network. </a:t>
            </a:r>
          </a:p>
          <a:p>
            <a:pPr>
              <a:buFont typeface="Arial" panose="020B0604020202020204" pitchFamily="34" charset="0"/>
              <a:buChar char="•"/>
            </a:pPr>
            <a:r>
              <a:rPr lang="en-US" dirty="0"/>
              <a:t>It is responsible for distributing </a:t>
            </a:r>
            <a:r>
              <a:rPr lang="en-US" dirty="0">
                <a:hlinkClick r:id="rId6"/>
              </a:rPr>
              <a:t>Link State Advertisements (LSAs)</a:t>
            </a:r>
            <a:r>
              <a:rPr lang="en-US" dirty="0"/>
              <a:t> to all other routers.</a:t>
            </a:r>
          </a:p>
          <a:p>
            <a:pPr>
              <a:buFont typeface="Arial" panose="020B0604020202020204" pitchFamily="34" charset="0"/>
              <a:buChar char="•"/>
            </a:pPr>
            <a:r>
              <a:rPr lang="en-US" dirty="0"/>
              <a:t> In a broadcast network, the DR handles LSR (Link State Request) messages and responds with updates.</a:t>
            </a:r>
          </a:p>
          <a:p>
            <a:endParaRPr lang="en-US" dirty="0"/>
          </a:p>
        </p:txBody>
      </p:sp>
    </p:spTree>
    <p:extLst>
      <p:ext uri="{BB962C8B-B14F-4D97-AF65-F5344CB8AC3E}">
        <p14:creationId xmlns:p14="http://schemas.microsoft.com/office/powerpoint/2010/main" val="19407119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EDF9F-43E2-94D2-6636-E4858A05880C}"/>
              </a:ext>
            </a:extLst>
          </p:cNvPr>
          <p:cNvSpPr>
            <a:spLocks noGrp="1"/>
          </p:cNvSpPr>
          <p:nvPr>
            <p:ph idx="1"/>
          </p:nvPr>
        </p:nvSpPr>
        <p:spPr>
          <a:xfrm>
            <a:off x="0" y="0"/>
            <a:ext cx="12192000" cy="6858000"/>
          </a:xfrm>
        </p:spPr>
        <p:txBody>
          <a:bodyPr>
            <a:normAutofit/>
          </a:bodyPr>
          <a:lstStyle/>
          <a:p>
            <a:pPr marL="0" indent="0">
              <a:buNone/>
            </a:pPr>
            <a:r>
              <a:rPr lang="en-US" b="1" dirty="0"/>
              <a:t>Backup Designated Router (BDR): </a:t>
            </a:r>
            <a:r>
              <a:rPr lang="en-US" dirty="0"/>
              <a:t>The Backup Designated Router (BDR) serves as a backup to the DR in a broadcast network. </a:t>
            </a:r>
          </a:p>
          <a:p>
            <a:pPr>
              <a:buFont typeface="Arial" panose="020B0604020202020204" pitchFamily="34" charset="0"/>
              <a:buChar char="•"/>
            </a:pPr>
            <a:r>
              <a:rPr lang="en-US" dirty="0"/>
              <a:t>If the DR fails, the BDR assumes the role of DR and takes over its responsibilities.</a:t>
            </a:r>
          </a:p>
          <a:p>
            <a:pPr>
              <a:buFont typeface="Arial" panose="020B0604020202020204" pitchFamily="34" charset="0"/>
              <a:buChar char="•"/>
            </a:pPr>
            <a:r>
              <a:rPr lang="en-US" b="1" dirty="0"/>
              <a:t>DR and BDR Election:</a:t>
            </a:r>
            <a:r>
              <a:rPr lang="en-US" dirty="0"/>
              <a:t> The election of the DR and BDR occurs in broadcast or multi-access networks.</a:t>
            </a:r>
          </a:p>
          <a:p>
            <a:pPr>
              <a:buFont typeface="Arial" panose="020B0604020202020204" pitchFamily="34" charset="0"/>
              <a:buChar char="•"/>
            </a:pPr>
            <a:r>
              <a:rPr lang="en-US" dirty="0"/>
              <a:t> The following criteria are used for the election:</a:t>
            </a:r>
          </a:p>
          <a:p>
            <a:pPr>
              <a:buFont typeface="Arial" panose="020B0604020202020204" pitchFamily="34" charset="0"/>
              <a:buChar char="•"/>
            </a:pPr>
            <a:endParaRPr lang="en-US" dirty="0"/>
          </a:p>
          <a:p>
            <a:pPr marL="742950" lvl="1" indent="-285750">
              <a:buFont typeface="Arial" panose="020B0604020202020204" pitchFamily="34" charset="0"/>
              <a:buChar char="•"/>
            </a:pPr>
            <a:r>
              <a:rPr lang="en-US" dirty="0"/>
              <a:t>The router with the highest priority is elected as the DR.</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If there is a tie in the router priority, the router with the highest Router ID is chosen.</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 The Router ID is first determined by the highest loopback address, and if no loopback is configured, the highest active IP address on the router’s interfaces is considered.</a:t>
            </a:r>
          </a:p>
          <a:p>
            <a:endParaRPr lang="en-US" dirty="0"/>
          </a:p>
        </p:txBody>
      </p:sp>
    </p:spTree>
    <p:extLst>
      <p:ext uri="{BB962C8B-B14F-4D97-AF65-F5344CB8AC3E}">
        <p14:creationId xmlns:p14="http://schemas.microsoft.com/office/powerpoint/2010/main" val="26868834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E5C8C-ADEB-05F6-B894-A3A5FEDF21A3}"/>
              </a:ext>
            </a:extLst>
          </p:cNvPr>
          <p:cNvSpPr>
            <a:spLocks noGrp="1"/>
          </p:cNvSpPr>
          <p:nvPr>
            <p:ph type="title"/>
          </p:nvPr>
        </p:nvSpPr>
        <p:spPr/>
        <p:txBody>
          <a:bodyPr/>
          <a:lstStyle/>
          <a:p>
            <a:r>
              <a:rPr lang="en-US" b="1" dirty="0"/>
              <a:t>Static and Dynamic Routing</a:t>
            </a:r>
            <a:br>
              <a:rPr lang="en-US" b="1" dirty="0"/>
            </a:br>
            <a:endParaRPr lang="en-US" dirty="0"/>
          </a:p>
        </p:txBody>
      </p:sp>
      <p:sp>
        <p:nvSpPr>
          <p:cNvPr id="3" name="Content Placeholder 2">
            <a:extLst>
              <a:ext uri="{FF2B5EF4-FFF2-40B4-BE49-F238E27FC236}">
                <a16:creationId xmlns:a16="http://schemas.microsoft.com/office/drawing/2014/main" id="{C076F84F-B2ED-58F2-137F-F81875285772}"/>
              </a:ext>
            </a:extLst>
          </p:cNvPr>
          <p:cNvSpPr>
            <a:spLocks noGrp="1"/>
          </p:cNvSpPr>
          <p:nvPr>
            <p:ph idx="1"/>
          </p:nvPr>
        </p:nvSpPr>
        <p:spPr/>
        <p:txBody>
          <a:bodyPr/>
          <a:lstStyle/>
          <a:p>
            <a:pPr rtl="0"/>
            <a:r>
              <a:rPr lang="en-US" dirty="0"/>
              <a:t>Routing controls how data packets move from source to destination, ensuring efficient and reliable delivery. It can be done in the following two ways: </a:t>
            </a:r>
          </a:p>
          <a:p>
            <a:pPr>
              <a:buFont typeface="+mj-lt"/>
              <a:buAutoNum type="arabicPeriod"/>
            </a:pPr>
            <a:r>
              <a:rPr lang="en-US" dirty="0"/>
              <a:t>Static Routing</a:t>
            </a:r>
          </a:p>
          <a:p>
            <a:pPr>
              <a:buFont typeface="+mj-lt"/>
              <a:buAutoNum type="arabicPeriod" startAt="2"/>
            </a:pPr>
            <a:r>
              <a:rPr lang="en-US" dirty="0"/>
              <a:t>Dynamic Routing</a:t>
            </a:r>
          </a:p>
          <a:p>
            <a:endParaRPr lang="en-US" dirty="0"/>
          </a:p>
        </p:txBody>
      </p:sp>
    </p:spTree>
    <p:extLst>
      <p:ext uri="{BB962C8B-B14F-4D97-AF65-F5344CB8AC3E}">
        <p14:creationId xmlns:p14="http://schemas.microsoft.com/office/powerpoint/2010/main" val="720225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908A25C-BB62-283A-5A5D-AE3FC660379D}"/>
              </a:ext>
            </a:extLst>
          </p:cNvPr>
          <p:cNvSpPr>
            <a:spLocks noGrp="1"/>
          </p:cNvSpPr>
          <p:nvPr>
            <p:ph sz="half" idx="1"/>
          </p:nvPr>
        </p:nvSpPr>
        <p:spPr>
          <a:xfrm>
            <a:off x="-1" y="0"/>
            <a:ext cx="6410739" cy="6858000"/>
          </a:xfrm>
        </p:spPr>
        <p:txBody>
          <a:bodyPr>
            <a:normAutofit/>
          </a:bodyPr>
          <a:lstStyle/>
          <a:p>
            <a:pPr marL="514350" indent="-514350" algn="l">
              <a:buAutoNum type="arabicPeriod"/>
            </a:pPr>
            <a:r>
              <a:rPr lang="en-US" b="1" dirty="0">
                <a:effectLst/>
              </a:rPr>
              <a:t>Static Routing</a:t>
            </a:r>
          </a:p>
          <a:p>
            <a:pPr marL="514350" indent="-514350" algn="l">
              <a:buAutoNum type="arabicPeriod"/>
            </a:pPr>
            <a:endParaRPr lang="en-US" b="1" dirty="0">
              <a:effectLst/>
            </a:endParaRPr>
          </a:p>
          <a:p>
            <a:pPr algn="just" rtl="0"/>
            <a:r>
              <a:rPr lang="en-US" dirty="0">
                <a:effectLst/>
                <a:hlinkClick r:id="rId2"/>
              </a:rPr>
              <a:t>Static Routing</a:t>
            </a:r>
            <a:r>
              <a:rPr lang="en-US" dirty="0">
                <a:effectLst/>
              </a:rPr>
              <a:t> is also known as </a:t>
            </a:r>
            <a:r>
              <a:rPr lang="en-US" b="1" dirty="0">
                <a:effectLst/>
              </a:rPr>
              <a:t>non-adaptive</a:t>
            </a:r>
            <a:r>
              <a:rPr lang="en-US" dirty="0">
                <a:effectLst/>
              </a:rPr>
              <a:t> routing which doesn't change the routing table unless the network administrator changes or modifies them manually. </a:t>
            </a:r>
          </a:p>
          <a:p>
            <a:pPr algn="just" rtl="0"/>
            <a:endParaRPr lang="en-US" dirty="0">
              <a:effectLst/>
            </a:endParaRPr>
          </a:p>
          <a:p>
            <a:pPr algn="just" rtl="0"/>
            <a:r>
              <a:rPr lang="en-US" dirty="0">
                <a:effectLst/>
              </a:rPr>
              <a:t>Static routing does not use complex routing algorithms and It provides higher or more security than dynamic routing. </a:t>
            </a:r>
            <a:br>
              <a:rPr lang="en-US" dirty="0">
                <a:effectLst/>
              </a:rPr>
            </a:br>
            <a:endParaRPr lang="en-US" dirty="0">
              <a:effectLst/>
            </a:endParaRPr>
          </a:p>
          <a:p>
            <a:endParaRPr lang="en-US" dirty="0"/>
          </a:p>
        </p:txBody>
      </p:sp>
      <p:pic>
        <p:nvPicPr>
          <p:cNvPr id="1026" name="Picture 2" descr="Static routing">
            <a:extLst>
              <a:ext uri="{FF2B5EF4-FFF2-40B4-BE49-F238E27FC236}">
                <a16:creationId xmlns:a16="http://schemas.microsoft.com/office/drawing/2014/main" id="{DC046125-6023-DE3F-B572-8A86DCF821B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748462" y="1649896"/>
            <a:ext cx="5108921" cy="4265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5827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335DC9-B67D-E95B-71E0-8DDCCB718E3C}"/>
              </a:ext>
            </a:extLst>
          </p:cNvPr>
          <p:cNvSpPr>
            <a:spLocks noGrp="1"/>
          </p:cNvSpPr>
          <p:nvPr>
            <p:ph sz="half" idx="1"/>
          </p:nvPr>
        </p:nvSpPr>
        <p:spPr>
          <a:xfrm>
            <a:off x="0" y="0"/>
            <a:ext cx="12192000" cy="6858000"/>
          </a:xfrm>
        </p:spPr>
        <p:txBody>
          <a:bodyPr>
            <a:normAutofit/>
          </a:bodyPr>
          <a:lstStyle/>
          <a:p>
            <a:pPr algn="l"/>
            <a:r>
              <a:rPr lang="en-US" b="1" dirty="0">
                <a:effectLst/>
              </a:rPr>
              <a:t>Advantages of Static Routing</a:t>
            </a:r>
          </a:p>
          <a:p>
            <a:pPr>
              <a:buFont typeface="Arial" panose="020B0604020202020204" pitchFamily="34" charset="0"/>
              <a:buChar char="•"/>
            </a:pPr>
            <a:r>
              <a:rPr lang="en-US" dirty="0"/>
              <a:t>No CPU overhead on routers cheaper routers can be used.</a:t>
            </a:r>
          </a:p>
          <a:p>
            <a:pPr>
              <a:buFont typeface="Arial" panose="020B0604020202020204" pitchFamily="34" charset="0"/>
              <a:buChar char="•"/>
            </a:pPr>
            <a:r>
              <a:rPr lang="en-US" dirty="0"/>
              <a:t>More secure only the administrator controls allowed routes.</a:t>
            </a:r>
          </a:p>
          <a:p>
            <a:pPr>
              <a:buFont typeface="Arial" panose="020B0604020202020204" pitchFamily="34" charset="0"/>
              <a:buChar char="•"/>
            </a:pPr>
            <a:r>
              <a:rPr lang="en-US" dirty="0"/>
              <a:t>No bandwidth is consumed between routers.</a:t>
            </a:r>
          </a:p>
          <a:p>
            <a:pPr>
              <a:buFont typeface="Arial" panose="020B0604020202020204" pitchFamily="34" charset="0"/>
              <a:buChar char="•"/>
            </a:pPr>
            <a:endParaRPr lang="en-US" dirty="0"/>
          </a:p>
          <a:p>
            <a:pPr>
              <a:buFont typeface="Arial" panose="020B0604020202020204" pitchFamily="34" charset="0"/>
              <a:buChar char="•"/>
            </a:pPr>
            <a:endParaRPr lang="en-US" dirty="0"/>
          </a:p>
          <a:p>
            <a:pPr algn="l"/>
            <a:r>
              <a:rPr lang="en-US" b="1" dirty="0">
                <a:effectLst/>
              </a:rPr>
              <a:t>Disadvantage of Static Routing</a:t>
            </a:r>
          </a:p>
          <a:p>
            <a:pPr>
              <a:buFont typeface="Arial" panose="020B0604020202020204" pitchFamily="34" charset="0"/>
              <a:buChar char="•"/>
            </a:pPr>
            <a:r>
              <a:rPr lang="en-US" dirty="0"/>
              <a:t>Manually adding routes in large networks is time-consuming.</a:t>
            </a:r>
          </a:p>
          <a:p>
            <a:pPr>
              <a:buFont typeface="Arial" panose="020B0604020202020204" pitchFamily="34" charset="0"/>
              <a:buChar char="•"/>
            </a:pPr>
            <a:r>
              <a:rPr lang="en-US" dirty="0"/>
              <a:t>It requires detailed knowledge of the network topology.</a:t>
            </a:r>
          </a:p>
          <a:p>
            <a:pPr>
              <a:buFont typeface="Arial" panose="020B0604020202020204" pitchFamily="34" charset="0"/>
              <a:buChar char="•"/>
            </a:pPr>
            <a:r>
              <a:rPr lang="en-US" dirty="0"/>
              <a:t>New administrators must learn all routes to configure them correctly.</a:t>
            </a:r>
          </a:p>
          <a:p>
            <a:endParaRPr lang="en-US" dirty="0"/>
          </a:p>
        </p:txBody>
      </p:sp>
    </p:spTree>
    <p:extLst>
      <p:ext uri="{BB962C8B-B14F-4D97-AF65-F5344CB8AC3E}">
        <p14:creationId xmlns:p14="http://schemas.microsoft.com/office/powerpoint/2010/main" val="36139206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FB32E-1895-C3FB-B07A-95ACFDFD3F0B}"/>
              </a:ext>
            </a:extLst>
          </p:cNvPr>
          <p:cNvSpPr>
            <a:spLocks noGrp="1"/>
          </p:cNvSpPr>
          <p:nvPr>
            <p:ph sz="half" idx="1"/>
          </p:nvPr>
        </p:nvSpPr>
        <p:spPr>
          <a:xfrm>
            <a:off x="0" y="0"/>
            <a:ext cx="6019800" cy="6858000"/>
          </a:xfrm>
        </p:spPr>
        <p:txBody>
          <a:bodyPr>
            <a:normAutofit/>
          </a:bodyPr>
          <a:lstStyle/>
          <a:p>
            <a:pPr marL="0" indent="0" algn="l">
              <a:buNone/>
            </a:pPr>
            <a:r>
              <a:rPr lang="en-US" b="1" dirty="0">
                <a:effectLst/>
              </a:rPr>
              <a:t>2. Dynamic Routing</a:t>
            </a:r>
          </a:p>
          <a:p>
            <a:pPr algn="just" rtl="0"/>
            <a:r>
              <a:rPr lang="en-US" dirty="0">
                <a:effectLst/>
              </a:rPr>
              <a:t>Dynamic routing, also known as adaptive routing, automatically updates the routing table whenever there is a change in the network topology.</a:t>
            </a:r>
          </a:p>
          <a:p>
            <a:pPr algn="just" rtl="0"/>
            <a:r>
              <a:rPr lang="en-US" dirty="0">
                <a:effectLst/>
              </a:rPr>
              <a:t> It uses complex algorithms to calculate routes, but it is less secure compared to static routing.</a:t>
            </a:r>
          </a:p>
          <a:p>
            <a:pPr algn="just" rtl="0"/>
            <a:endParaRPr lang="en-US" dirty="0"/>
          </a:p>
          <a:p>
            <a:pPr algn="just" rtl="0"/>
            <a:r>
              <a:rPr lang="en-US" dirty="0">
                <a:effectLst/>
              </a:rPr>
              <a:t> When a change occurs, routers exchange messages and recalculate the routes to ensure updated routing information is shared across the network.</a:t>
            </a:r>
          </a:p>
          <a:p>
            <a:endParaRPr lang="en-US" dirty="0"/>
          </a:p>
        </p:txBody>
      </p:sp>
      <p:pic>
        <p:nvPicPr>
          <p:cNvPr id="2050" name="Picture 2" descr="Dynamic Routing">
            <a:extLst>
              <a:ext uri="{FF2B5EF4-FFF2-40B4-BE49-F238E27FC236}">
                <a16:creationId xmlns:a16="http://schemas.microsoft.com/office/drawing/2014/main" id="{08A40DC2-71CD-9BB4-9648-6AD13F9D87E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48059" y="1669774"/>
            <a:ext cx="4880114" cy="4253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7629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A74D45-6037-DCA8-AEDE-87BBB04E3718}"/>
              </a:ext>
            </a:extLst>
          </p:cNvPr>
          <p:cNvSpPr>
            <a:spLocks noGrp="1"/>
          </p:cNvSpPr>
          <p:nvPr>
            <p:ph sz="half" idx="1"/>
          </p:nvPr>
        </p:nvSpPr>
        <p:spPr>
          <a:xfrm>
            <a:off x="0" y="0"/>
            <a:ext cx="6019800" cy="6176963"/>
          </a:xfrm>
        </p:spPr>
        <p:txBody>
          <a:bodyPr>
            <a:normAutofit/>
          </a:bodyPr>
          <a:lstStyle/>
          <a:p>
            <a:pPr algn="l"/>
            <a:r>
              <a:rPr lang="en-US" b="1" dirty="0">
                <a:effectLst/>
              </a:rPr>
              <a:t>Advantages of Dynamic Routing</a:t>
            </a:r>
          </a:p>
          <a:p>
            <a:pPr algn="l"/>
            <a:endParaRPr lang="en-US" b="1" dirty="0">
              <a:effectLst/>
            </a:endParaRPr>
          </a:p>
          <a:p>
            <a:pPr>
              <a:buFont typeface="Arial" panose="020B0604020202020204" pitchFamily="34" charset="0"/>
              <a:buChar char="•"/>
            </a:pPr>
            <a:r>
              <a:rPr lang="en-US" dirty="0"/>
              <a:t>Easy to configure.</a:t>
            </a:r>
          </a:p>
          <a:p>
            <a:pPr>
              <a:buFont typeface="Arial" panose="020B0604020202020204" pitchFamily="34" charset="0"/>
              <a:buChar char="•"/>
            </a:pPr>
            <a:endParaRPr lang="en-US" dirty="0"/>
          </a:p>
          <a:p>
            <a:pPr>
              <a:buFont typeface="Arial" panose="020B0604020202020204" pitchFamily="34" charset="0"/>
              <a:buChar char="•"/>
            </a:pPr>
            <a:r>
              <a:rPr lang="en-US" dirty="0"/>
              <a:t>More effective at selecting the best route to a destination remote network and also for discovering remote networks.</a:t>
            </a:r>
          </a:p>
          <a:p>
            <a:endParaRPr lang="en-US" dirty="0"/>
          </a:p>
        </p:txBody>
      </p:sp>
      <p:sp>
        <p:nvSpPr>
          <p:cNvPr id="4" name="Content Placeholder 3">
            <a:extLst>
              <a:ext uri="{FF2B5EF4-FFF2-40B4-BE49-F238E27FC236}">
                <a16:creationId xmlns:a16="http://schemas.microsoft.com/office/drawing/2014/main" id="{34C9BD39-8628-5343-FD4D-AA6A5D1615FD}"/>
              </a:ext>
            </a:extLst>
          </p:cNvPr>
          <p:cNvSpPr>
            <a:spLocks noGrp="1"/>
          </p:cNvSpPr>
          <p:nvPr>
            <p:ph sz="half" idx="2"/>
          </p:nvPr>
        </p:nvSpPr>
        <p:spPr>
          <a:xfrm>
            <a:off x="6096000" y="0"/>
            <a:ext cx="6019800" cy="6858000"/>
          </a:xfrm>
        </p:spPr>
        <p:txBody>
          <a:bodyPr>
            <a:normAutofit/>
          </a:bodyPr>
          <a:lstStyle/>
          <a:p>
            <a:pPr algn="l"/>
            <a:r>
              <a:rPr lang="en-US" b="1" dirty="0">
                <a:effectLst/>
              </a:rPr>
              <a:t>Disadvantage of Dynamic Routing</a:t>
            </a:r>
          </a:p>
          <a:p>
            <a:pPr algn="l"/>
            <a:endParaRPr lang="en-US" b="1" dirty="0">
              <a:effectLst/>
            </a:endParaRPr>
          </a:p>
          <a:p>
            <a:pPr>
              <a:buFont typeface="Arial" panose="020B0604020202020204" pitchFamily="34" charset="0"/>
              <a:buChar char="•"/>
            </a:pPr>
            <a:r>
              <a:rPr lang="en-US" dirty="0"/>
              <a:t>Consumes </a:t>
            </a:r>
            <a:r>
              <a:rPr lang="en-US" dirty="0" err="1"/>
              <a:t>more</a:t>
            </a:r>
            <a:r>
              <a:rPr lang="en-US" dirty="0" err="1">
                <a:hlinkClick r:id="rId2"/>
              </a:rPr>
              <a:t>bandwidth</a:t>
            </a:r>
            <a:r>
              <a:rPr lang="en-US" dirty="0"/>
              <a:t> for communicating with other neighbors. </a:t>
            </a:r>
          </a:p>
          <a:p>
            <a:pPr>
              <a:buFont typeface="Arial" panose="020B0604020202020204" pitchFamily="34" charset="0"/>
              <a:buChar char="•"/>
            </a:pPr>
            <a:endParaRPr lang="en-US" dirty="0"/>
          </a:p>
          <a:p>
            <a:pPr>
              <a:buFont typeface="Arial" panose="020B0604020202020204" pitchFamily="34" charset="0"/>
              <a:buChar char="•"/>
            </a:pPr>
            <a:r>
              <a:rPr lang="en-US" dirty="0"/>
              <a:t>Less secure than static routing.</a:t>
            </a:r>
          </a:p>
          <a:p>
            <a:endParaRPr lang="en-US" dirty="0"/>
          </a:p>
        </p:txBody>
      </p:sp>
    </p:spTree>
    <p:extLst>
      <p:ext uri="{BB962C8B-B14F-4D97-AF65-F5344CB8AC3E}">
        <p14:creationId xmlns:p14="http://schemas.microsoft.com/office/powerpoint/2010/main" val="28601532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TotalTime>
  <Words>4470</Words>
  <Application>Microsoft Office PowerPoint</Application>
  <PresentationFormat>Widescreen</PresentationFormat>
  <Paragraphs>380</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Arial Unicode MS</vt:lpstr>
      <vt:lpstr>Calibri</vt:lpstr>
      <vt:lpstr>Calibri Light</vt:lpstr>
      <vt:lpstr>Office Theme</vt:lpstr>
      <vt:lpstr>Unit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IPv6 migration strategies</vt:lpstr>
      <vt:lpstr>Migration Mechanisms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Translation (NAT64/DNS64):</vt:lpstr>
      <vt:lpstr>PowerPoint Presentation</vt:lpstr>
      <vt:lpstr>PowerPoint Presentation</vt:lpstr>
      <vt:lpstr> Network Address Translation (NAT) </vt:lpstr>
      <vt:lpstr>PowerPoint Presentation</vt:lpstr>
      <vt:lpstr>PowerPoint Presentation</vt:lpstr>
      <vt:lpstr>PowerPoint Presentation</vt:lpstr>
      <vt:lpstr>PowerPoint Presentation</vt:lpstr>
      <vt:lpstr>PowerPoint Presentation</vt:lpstr>
      <vt:lpstr>PowerPoint Presentation</vt:lpstr>
      <vt:lpstr>1. Static NAT </vt:lpstr>
      <vt:lpstr>2. Dynamic NAT </vt:lpstr>
      <vt:lpstr> 3. Port Address Translation (PAT) </vt:lpstr>
      <vt:lpstr>Routing Protocol </vt:lpstr>
      <vt:lpstr>PowerPoint Presentation</vt:lpstr>
      <vt:lpstr>PowerPoint Presentation</vt:lpstr>
      <vt:lpstr>PowerPoint Presentation</vt:lpstr>
      <vt:lpstr>PowerPoint Presentation</vt:lpstr>
      <vt:lpstr> Open Shortest Path First (OSPF) Protocol  </vt:lpstr>
      <vt:lpstr>PowerPoint Presentation</vt:lpstr>
      <vt:lpstr>PowerPoint Presentation</vt:lpstr>
      <vt:lpstr>Static and Dynamic Routing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empties cmon</dc:creator>
  <cp:lastModifiedBy>Dell</cp:lastModifiedBy>
  <cp:revision>41</cp:revision>
  <dcterms:created xsi:type="dcterms:W3CDTF">2023-07-02T06:08:00Z</dcterms:created>
  <dcterms:modified xsi:type="dcterms:W3CDTF">2026-01-26T02:55:00Z</dcterms:modified>
</cp:coreProperties>
</file>