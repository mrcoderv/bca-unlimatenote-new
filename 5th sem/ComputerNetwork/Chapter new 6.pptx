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12.xml.rels" ContentType="application/vnd.openxmlformats-package.relationships+xml"/>
  <Override PartName="/ppt/slides/_rels/slide49.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52.xml.rels" ContentType="application/vnd.openxmlformats-package.relationships+xml"/>
  <Override PartName="/ppt/slides/_rels/slide51.xml.rels" ContentType="application/vnd.openxmlformats-package.relationships+xml"/>
  <Override PartName="/ppt/slides/_rels/slide13.xml.rels" ContentType="application/vnd.openxmlformats-package.relationships+xml"/>
  <Override PartName="/ppt/slides/_rels/slide50.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41.xml.rels" ContentType="application/vnd.openxmlformats-package.relationships+xml"/>
  <Override PartName="/ppt/slides/_rels/slide39.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39.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49.xml" ContentType="application/vnd.openxmlformats-officedocument.presentationml.slide+xml"/>
  <Override PartName="/ppt/slides/slide12.xml" ContentType="application/vnd.openxmlformats-officedocument.presentationml.slide+xml"/>
  <Override PartName="/ppt/_rels/presentation.xml.rels" ContentType="application/vnd.openxmlformats-package.relationships+xml"/>
  <Override PartName="/ppt/media/image10.jpeg" ContentType="image/jpeg"/>
  <Override PartName="/ppt/media/image9.png" ContentType="image/png"/>
  <Override PartName="/ppt/media/image1.png" ContentType="image/png"/>
  <Override PartName="/ppt/media/image2.jpeg" ContentType="image/jpeg"/>
  <Override PartName="/ppt/media/image14.png" ContentType="image/png"/>
  <Override PartName="/ppt/media/image5.png" ContentType="image/png"/>
  <Override PartName="/ppt/media/image15.png" ContentType="image/png"/>
  <Override PartName="/ppt/media/image6.png" ContentType="image/png"/>
  <Override PartName="/ppt/media/image7.png" ContentType="image/png"/>
  <Override PartName="/ppt/media/image11.png" ContentType="image/png"/>
  <Override PartName="/ppt/media/image8.png" ContentType="image/png"/>
  <Override PartName="/ppt/media/image12.png" ContentType="image/png"/>
  <Override PartName="/ppt/media/image3.png" ContentType="image/png"/>
  <Override PartName="/ppt/media/image4.png" ContentType="image/png"/>
  <Override PartName="/ppt/media/image13.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6" name="PlaceHolder 2"/>
          <p:cNvSpPr>
            <a:spLocks noGrp="1"/>
          </p:cNvSpPr>
          <p:nvPr>
            <p:ph type="subTitle"/>
          </p:nvPr>
        </p:nvSpPr>
        <p:spPr>
          <a:xfrm>
            <a:off x="838080" y="1825560"/>
            <a:ext cx="5181120" cy="43509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02C1851C-4BD9-46B5-A06E-28B77FAD9F74}"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16A019F5-0FEA-4179-9FD8-EB7D664D366D}"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882F9E51-50FE-4592-B574-2D8172FE7F79}"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3" name="PlaceHolder 2"/>
          <p:cNvSpPr>
            <a:spLocks noGrp="1"/>
          </p:cNvSpPr>
          <p:nvPr>
            <p:ph/>
          </p:nvPr>
        </p:nvSpPr>
        <p:spPr>
          <a:xfrm>
            <a:off x="838080" y="1825560"/>
            <a:ext cx="518112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41A7A20C-9698-4B22-A199-6EF708F0A596}"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A6B94639-F320-4D6D-BDCD-2DBAB75A2EF5}"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6" name="PlaceHolder 2"/>
          <p:cNvSpPr>
            <a:spLocks noGrp="1"/>
          </p:cNvSpPr>
          <p:nvPr>
            <p:ph/>
          </p:nvPr>
        </p:nvSpPr>
        <p:spPr>
          <a:xfrm>
            <a:off x="838080" y="1825560"/>
            <a:ext cx="25282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37" name="PlaceHolder 3"/>
          <p:cNvSpPr>
            <a:spLocks noGrp="1"/>
          </p:cNvSpPr>
          <p:nvPr>
            <p:ph/>
          </p:nvPr>
        </p:nvSpPr>
        <p:spPr>
          <a:xfrm>
            <a:off x="3493080" y="1825560"/>
            <a:ext cx="25282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D1BA5DEB-A3A8-4EBA-B8AD-574CEEE8C4F0}"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872C589D-D7D5-40D0-82C8-610FE5549E5F}"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EBCA9C36-8525-48D1-BDE1-DA39BE06A25A}"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1FC65688-5F65-4DF7-AD62-48B2684359CE}"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DB880231-12A6-484E-8B54-B4ED1293FA5C}"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B4476493-65DB-4046-9F37-6F5E7659C08F}"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1"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 </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5D704854-ACD7-4D83-B41F-66B8CAC98575}" type="slidenum">
              <a:rPr b="0" lang="en-US" sz="1200" spc="-1" strike="noStrike">
                <a:solidFill>
                  <a:schemeClr val="dk1">
                    <a:tint val="75000"/>
                  </a:schemeClr>
                </a:solidFill>
                <a:latin typeface="Calibri"/>
              </a:rPr>
              <a:t>43</a:t>
            </a:fld>
            <a:endParaRPr b="0" lang="en-US" sz="12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9"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0"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4861828C-5F09-45F8-A2A7-235B4AB6B62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3"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4"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5"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67A1B9BA-C948-4EA5-B0ED-D78D8EB5A0F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9"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0"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0559A061-7812-4628-A01A-3EEE0F1957A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25"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pc="-1" strike="noStrike">
                <a:solidFill>
                  <a:schemeClr val="dk1">
                    <a:tint val="75000"/>
                  </a:schemeClr>
                </a:solidFill>
                <a:latin typeface="Calibri"/>
              </a:rPr>
              <a:t>Click to edit Master text styles</a:t>
            </a:r>
            <a:endParaRPr b="0" lang="en-US" sz="2400" spc="-1" strike="noStrike">
              <a:solidFill>
                <a:schemeClr val="dk1"/>
              </a:solidFill>
              <a:latin typeface="Calibri"/>
            </a:endParaRPr>
          </a:p>
        </p:txBody>
      </p:sp>
      <p:sp>
        <p:nvSpPr>
          <p:cNvPr id="26"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7"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80876BB9-1C9D-49D3-AC19-FF0F571290E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0"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2"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3"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4"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DFA4EE91-4A71-43F8-A1AE-FD2662D91F7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9"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0"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1"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2"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3"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4"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1F3D8A69-8EE8-4BF6-9C81-8E170FEA997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47"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8"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E3105153-D6DB-4F0F-90FE-81DAAEDA441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2"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3481FA2E-EF87-4DAE-A981-3C81707964B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55"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6"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57"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8"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9"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525D947D-0559-429F-ADB3-612C3E9C983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61"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2"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63"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4"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F5B4FF8B-2DAE-4AD5-887F-FBDC227A388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6.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hyperlink" Target="https://www.manageengine.com/products/oputils/tech-topics/ipv6-addressing.html#unicast" TargetMode="External"/><Relationship Id="rId2" Type="http://schemas.openxmlformats.org/officeDocument/2006/relationships/hyperlink" Target="https://www.manageengine.com/products/oputils/tech-topics/ipv6-addressing.html#multicast" TargetMode="External"/><Relationship Id="rId3" Type="http://schemas.openxmlformats.org/officeDocument/2006/relationships/hyperlink" Target="https://www.manageengine.com/products/oputils/tech-topics/ipv6-addressing.html#anycast" TargetMode="External"/><Relationship Id="rId4" Type="http://schemas.openxmlformats.org/officeDocument/2006/relationships/hyperlink" Target="https://www.manageengine.com/products/oputils/tech-topics/ipv6-addressing.html#anycast" TargetMode="External"/><Relationship Id="rId5"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6.xml"/>
</Relationships>
</file>

<file path=ppt/slides/_rels/slide1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6.xml"/>
</Relationships>
</file>

<file path=ppt/slides/_rels/slide1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6.xml"/>
</Relationships>
</file>

<file path=ppt/slides/_rels/slide17.xml.rels><?xml version="1.0" encoding="UTF-8"?>
<Relationships xmlns="http://schemas.openxmlformats.org/package/2006/relationships"><Relationship Id="rId1" Type="http://schemas.openxmlformats.org/officeDocument/2006/relationships/hyperlink" Target="https://www.google.com/search?client=firefox-b-d&amp;q=Dual-Stack&amp;mstk=AUtExfBrb-FiM-r5W5m7CfcRiyiWsZh6R6TF29wocXiOD-2NpQaH7TFzto5wxeL0dIQXqbJsVTc6fbKdNhBpyJdkyOcFtp7IW4uibQ2kYq85NNo6yEFb3EW-975I3hrfiloUd6cX_P8P0XaZK3yg9qAxhXvrb5zlSsuaR9bvYZFsKeW-WYzaxalWHtQCsxyzD8l8PA72bGDkr0OKZtQVQHYNOMnDC6t7sBnBsTggiH6KUdnbI7JKEbn6oe6NFB5MQv7c_6-OPtbOzyr5XOaIajmnCQAT&amp;csui=3&amp;ved=2ahUKEwi-gdrVjJWSAxWtcGwGHVriIE8QgK4QegYIAQgAEAY" TargetMode="External"/><Relationship Id="rId2" Type="http://schemas.openxmlformats.org/officeDocument/2006/relationships/hyperlink" Target="https://www.google.com/search?client=firefox-b-d&amp;q=Tunneling&amp;mstk=AUtExfBrb-FiM-r5W5m7CfcRiyiWsZh6R6TF29wocXiOD-2NpQaH7TFzto5wxeL0dIQXqbJsVTc6fbKdNhBpyJdkyOcFtp7IW4uibQ2kYq85NNo6yEFb3EW-975I3hrfiloUd6cX_P8P0XaZK3yg9qAxhXvrb5zlSsuaR9bvYZFsKeW-WYzaxalWHtQCsxyzD8l8PA72bGDkr0OKZtQVQHYNOMnDC6t7sBnBsTggiH6KUdnbI7JKEbn6oe6NFB5MQv7c_6-OPtbOzyr5XOaIajmnCQAT&amp;csui=3&amp;ved=2ahUKEwi-gdrVjJWSAxWtcGwGHVriIE8QgK4QegYIAQgAEAc" TargetMode="External"/><Relationship Id="rId3" Type="http://schemas.openxmlformats.org/officeDocument/2006/relationships/hyperlink" Target="https://www.google.com/search?client=firefox-b-d&amp;q=Translation&amp;mstk=AUtExfBrb-FiM-r5W5m7CfcRiyiWsZh6R6TF29wocXiOD-2NpQaH7TFzto5wxeL0dIQXqbJsVTc6fbKdNhBpyJdkyOcFtp7IW4uibQ2kYq85NNo6yEFb3EW-975I3hrfiloUd6cX_P8P0XaZK3yg9qAxhXvrb5zlSsuaR9bvYZFsKeW-WYzaxalWHtQCsxyzD8l8PA72bGDkr0OKZtQVQHYNOMnDC6t7sBnBsTggiH6KUdnbI7JKEbn6oe6NFB5MQv7c_6-OPtbOzyr5XOaIajmnCQAT&amp;csui=3&amp;ved=2ahUKEwi-gdrVjJWSAxWtcGwGHVriIE8QgK4QegYIAQgAEAg" TargetMode="External"/><Relationship Id="rId4" Type="http://schemas.openxmlformats.org/officeDocument/2006/relationships/hyperlink" Target="https://www.google.com/search?client=firefox-b-d&amp;q=NAT64&amp;mstk=AUtExfBrb-FiM-r5W5m7CfcRiyiWsZh6R6TF29wocXiOD-2NpQaH7TFzto5wxeL0dIQXqbJsVTc6fbKdNhBpyJdkyOcFtp7IW4uibQ2kYq85NNo6yEFb3EW-975I3hrfiloUd6cX_P8P0XaZK3yg9qAxhXvrb5zlSsuaR9bvYZFsKeW-WYzaxalWHtQCsxyzD8l8PA72bGDkr0OKZtQVQHYNOMnDC6t7sBnBsTggiH6KUdnbI7JKEbn6oe6NFB5MQv7c_6-OPtbOzyr5XOaIajmnCQAT&amp;csui=3&amp;ved=2ahUKEwi-gdrVjJWSAxWtcGwGHVriIE8QgK4QegYIAQgAEAk" TargetMode="External"/><Relationship Id="rId5" Type="http://schemas.openxmlformats.org/officeDocument/2006/relationships/slideLayout" Target="../slideLayouts/slideLayout4.xml"/>
</Relationships>
</file>

<file path=ppt/slides/_rels/slide18.xml.rels><?xml version="1.0" encoding="UTF-8"?>
<Relationships xmlns="http://schemas.openxmlformats.org/package/2006/relationships"><Relationship Id="rId1" Type="http://schemas.openxmlformats.org/officeDocument/2006/relationships/hyperlink" Target="https://www.google.com/search?client=firefox-b-d&amp;q=Dual-Stack&amp;mstk=AUtExfBrb-FiM-r5W5m7CfcRiyiWsZh6R6TF29wocXiOD-2NpQaH7TFzto5wxeL0dIQXqbJsVTc6fbKdNhBpyJdkyOcFtp7IW4uibQ2kYq85NNo6yEFb3EW-975I3hrfiloUd6cX_P8P0XaZK3yg9qAxhXvrb5zlSsuaR9bvYZFsKeW-WYzaxalWHtQCsxyzD8l8PA72bGDkr0OKZtQVQHYNOMnDC6t7sBnBsTggiH6KUdnbI7JKEbn6oe6NFB5MQv7c_6-OPtbOzyr5XOaIajmnCQAT&amp;csui=3&amp;ved=2ahUKEwi-gdrVjJWSAxWtcGwGHVriIE8QgK4QegYIAQgAEA8" TargetMode="External"/><Relationship Id="rId2" Type="http://schemas.openxmlformats.org/officeDocument/2006/relationships/hyperlink" Target="https://www.google.com/search?client=firefox-b-d&amp;q=Tunneling&amp;mstk=AUtExfBrb-FiM-r5W5m7CfcRiyiWsZh6R6TF29wocXiOD-2NpQaH7TFzto5wxeL0dIQXqbJsVTc6fbKdNhBpyJdkyOcFtp7IW4uibQ2kYq85NNo6yEFb3EW-975I3hrfiloUd6cX_P8P0XaZK3yg9qAxhXvrb5zlSsuaR9bvYZFsKeW-WYzaxalWHtQCsxyzD8l8PA72bGDkr0OKZtQVQHYNOMnDC6t7sBnBsTggiH6KUdnbI7JKEbn6oe6NFB5MQv7c_6-OPtbOzyr5XOaIajmnCQAT&amp;csui=3&amp;ved=2ahUKEwi-gdrVjJWSAxWtcGwGHVriIE8QgK4QegYIAQgDEAE" TargetMode="External"/><Relationship Id="rId3" Type="http://schemas.openxmlformats.org/officeDocument/2006/relationships/hyperlink" Target="https://www.google.com/search?client=firefox-b-d&amp;q=Translation&amp;mstk=AUtExfBrb-FiM-r5W5m7CfcRiyiWsZh6R6TF29wocXiOD-2NpQaH7TFzto5wxeL0dIQXqbJsVTc6fbKdNhBpyJdkyOcFtp7IW4uibQ2kYq85NNo6yEFb3EW-975I3hrfiloUd6cX_P8P0XaZK3yg9qAxhXvrb5zlSsuaR9bvYZFsKeW-WYzaxalWHtQCsxyzD8l8PA72bGDkr0OKZtQVQHYNOMnDC6t7sBnBsTggiH6KUdnbI7JKEbn6oe6NFB5MQv7c_6-OPtbOzyr5XOaIajmnCQAT&amp;csui=3&amp;ved=2ahUKEwi-gdrVjJWSAxWtcGwGHVriIE8QgK4QegYIAQgEEAE" TargetMode="External"/><Relationship Id="rId4"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0.xml.rels><?xml version="1.0" encoding="UTF-8"?>
<Relationships xmlns="http://schemas.openxmlformats.org/package/2006/relationships"><Relationship Id="rId1" Type="http://schemas.openxmlformats.org/officeDocument/2006/relationships/hyperlink" Target="https://www.google.com/search?q=Dual-Stack&amp;client=firefox-b-d&amp;hs=gKWU&amp;sca_esv=651164c6481fa95a&amp;sxsrf=ANbL-n7IWmu69UDrPTJrT2HrspPiuNIulg%3A1768739652934&amp;ei=RNNsab7POK3hseMP2sSD-QQ&amp;ved=2ahUKEwiM3_XXjZWSAxVsX2wGHUPtDYYQgK4QegQIARAD&amp;uact=5&amp;oq=Dual-Stack%0D%0A&amp;gs_lp=Egxnd3Mtd2l6LXNlcnAiC0R1YWwtU3RhY2sKMgoQABiwAxjWBBhHMgoQABiwAxjWBBhHMgoQABiwAxjWBBhHMgoQABiwAxjWBBhHMgoQABiwAxjWBBhHMgoQABiwAxjWBBhHMgoQABiwAxjWBBhHMgoQABiwAxjWBBhHSK4JUKcDWKcDcAF4AZABAJgBAKABAKoBALgBA8gBAPgBAvgBAZgCAaACH5gDAOIDBRIBMSBAiAYBkAYIkgcBMaAHALIHALgHAMIHAzQtMcgHFoAIAA&amp;sclient=gws-wiz-serp&amp;mstk=AUtExfALTplH-xNaiwwtfMjpvhW3OSfqIOmsFWDJiNhzTBvhdiNYLCieTlqgYKZzFW2AW-zKATTVnoe0V8YEYMwEzh9qy54NhxAyWyQN86W_9sUe8oe0doAL1JLF4gIuM0JiZFsJF3gj9ymN55amqSVYqFOmM9PHCmU0pjPktxRcwMRA0Rui8j9BuC7BPYHxDgXKyQSBVQ2QmDyBIOQBcncrrf6jyWNI2Y0GFjm_jQcCdg-oIrbJAqzqy6Xp2D09Pru2oAD4Zwj-eTh-JU7gfwJeVpiI&amp;csui=3" TargetMode="External"/><Relationship Id="rId2" Type="http://schemas.openxmlformats.org/officeDocument/2006/relationships/slideLayout" Target="../slideLayouts/slideLayout6.xml"/>
</Relationships>
</file>

<file path=ppt/slides/_rels/slide2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6.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6.xml"/>
</Relationships>
</file>

<file path=ppt/slides/_rels/slide24.xml.rels><?xml version="1.0" encoding="UTF-8"?>
<Relationships xmlns="http://schemas.openxmlformats.org/package/2006/relationships"><Relationship Id="rId1" Type="http://schemas.openxmlformats.org/officeDocument/2006/relationships/hyperlink" Target="https://www.geeksforgeeks.org/computer-networks/tcp-ip-model/" TargetMode="External"/><Relationship Id="rId2" Type="http://schemas.openxmlformats.org/officeDocument/2006/relationships/image" Target="../media/image9.png"/><Relationship Id="rId3" Type="http://schemas.openxmlformats.org/officeDocument/2006/relationships/slideLayout" Target="../slideLayouts/slideLayout6.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
<Relationships xmlns="http://schemas.openxmlformats.org/package/2006/relationships"><Relationship Id="rId1" Type="http://schemas.openxmlformats.org/officeDocument/2006/relationships/image" Target="../media/image10.jpeg"/><Relationship Id="rId2" Type="http://schemas.openxmlformats.org/officeDocument/2006/relationships/slideLayout" Target="../slideLayouts/slideLayout6.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33.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6.xml"/>
</Relationships>
</file>

<file path=ppt/slides/_rels/slide34.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6.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3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4.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
<Relationships xmlns="http://schemas.openxmlformats.org/package/2006/relationships"><Relationship Id="rId1" Type="http://schemas.openxmlformats.org/officeDocument/2006/relationships/hyperlink" Target="https://www.geeksforgeeks.org/computer-networks/introduction-of-a-router/" TargetMode="External"/><Relationship Id="rId2" Type="http://schemas.openxmlformats.org/officeDocument/2006/relationships/hyperlink" Target="https://www.geeksforgeeks.org/computer-networks/what-is-a-loopback-address/" TargetMode="External"/><Relationship Id="rId3" Type="http://schemas.openxmlformats.org/officeDocument/2006/relationships/hyperlink" Target="https://www.geeksforgeeks.org/computer-networks/open-shortest-path-first-ospf-protocol-fundamentals/" TargetMode="External"/><Relationship Id="rId4" Type="http://schemas.openxmlformats.org/officeDocument/2006/relationships/hyperlink" Target="https://www.geeksforgeeks.org/computer-networks/explain-ospf-dr-bdr-election/" TargetMode="External"/><Relationship Id="rId5" Type="http://schemas.openxmlformats.org/officeDocument/2006/relationships/hyperlink" Target="https://www.geeksforgeeks.org/computer-networks/link-state-advertisement-lsa/" TargetMode="External"/><Relationship Id="rId6" Type="http://schemas.openxmlformats.org/officeDocument/2006/relationships/slideLayout" Target="../slideLayouts/slideLayout4.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
<Relationships xmlns="http://schemas.openxmlformats.org/package/2006/relationships"><Relationship Id="rId1" Type="http://schemas.openxmlformats.org/officeDocument/2006/relationships/hyperlink" Target="https://www.geeksforgeeks.org/computer-networks/types-of-routing/" TargetMode="External"/><Relationship Id="rId2" Type="http://schemas.openxmlformats.org/officeDocument/2006/relationships/image" Target="../media/image14.png"/><Relationship Id="rId3" Type="http://schemas.openxmlformats.org/officeDocument/2006/relationships/slideLayout" Target="../slideLayouts/slideLayout6.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51.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6.xml"/>
</Relationships>
</file>

<file path=ppt/slides/_rels/slide52.xml.rels><?xml version="1.0" encoding="UTF-8"?>
<Relationships xmlns="http://schemas.openxmlformats.org/package/2006/relationships"><Relationship Id="rId1" Type="http://schemas.openxmlformats.org/officeDocument/2006/relationships/hyperlink" Target="https://www.geeksforgeeks.org/computer-science-fundamentals/what-is-bandwidth-definition-working-importance-uses/" TargetMode="External"/><Relationship Id="rId2" Type="http://schemas.openxmlformats.org/officeDocument/2006/relationships/slideLayout" Target="../slideLayouts/slideLayout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1" lang="en-US" sz="6000" spc="-1" strike="noStrike">
                <a:solidFill>
                  <a:schemeClr val="dk1"/>
                </a:solidFill>
                <a:latin typeface="Calibri Light"/>
              </a:rPr>
              <a:t>Unit 6</a:t>
            </a:r>
            <a:endParaRPr b="0" lang="en-US" sz="6000" spc="-1" strike="noStrike">
              <a:solidFill>
                <a:schemeClr val="dk1"/>
              </a:solidFill>
              <a:latin typeface="Calibri"/>
            </a:endParaRPr>
          </a:p>
        </p:txBody>
      </p:sp>
      <p:sp>
        <p:nvSpPr>
          <p:cNvPr id="67" name="PlaceHolder 2"/>
          <p:cNvSpPr>
            <a:spLocks noGrp="1"/>
          </p:cNvSpPr>
          <p:nvPr>
            <p:ph type="subTitle"/>
          </p:nvPr>
        </p:nvSpPr>
        <p:spPr>
          <a:xfrm>
            <a:off x="1523880" y="3602160"/>
            <a:ext cx="9143640" cy="1655280"/>
          </a:xfrm>
          <a:prstGeom prst="rect">
            <a:avLst/>
          </a:prstGeom>
          <a:noFill/>
          <a:ln w="0">
            <a:noFill/>
          </a:ln>
        </p:spPr>
        <p:txBody>
          <a:bodyPr lIns="91440" rIns="91440" tIns="45720" bIns="45720" anchor="t">
            <a:noAutofit/>
          </a:bodyPr>
          <a:p>
            <a:pPr indent="0" algn="ctr">
              <a:buNone/>
            </a:pP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8" name="Content Placeholder 3" descr=""/>
          <p:cNvPicPr/>
          <p:nvPr/>
        </p:nvPicPr>
        <p:blipFill>
          <a:blip r:embed="rId1"/>
          <a:stretch/>
        </p:blipFill>
        <p:spPr>
          <a:xfrm>
            <a:off x="420480" y="447120"/>
            <a:ext cx="10681200" cy="550584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p:nvPr>
        </p:nvSpPr>
        <p:spPr>
          <a:xfrm>
            <a:off x="0" y="0"/>
            <a:ext cx="12191760" cy="67910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ff0000"/>
              </a:buClr>
              <a:buFont typeface="Arial"/>
              <a:buChar char="•"/>
            </a:pPr>
            <a:r>
              <a:rPr b="1" lang="en-US" sz="2800" spc="-1" strike="noStrike">
                <a:solidFill>
                  <a:srgbClr val="ff0000"/>
                </a:solidFill>
                <a:latin typeface="Calibri"/>
              </a:rPr>
              <a:t>(IPv4).</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IP</a:t>
            </a:r>
            <a:r>
              <a:rPr b="0" lang="en-US" sz="2800" spc="-1" strike="noStrike">
                <a:solidFill>
                  <a:schemeClr val="dk1"/>
                </a:solidFill>
                <a:latin typeface="Calibri"/>
              </a:rPr>
              <a:t> stands for </a:t>
            </a:r>
            <a:r>
              <a:rPr b="1" lang="en-US" sz="2800" spc="-1" strike="noStrike">
                <a:solidFill>
                  <a:schemeClr val="dk1"/>
                </a:solidFill>
                <a:latin typeface="Calibri"/>
              </a:rPr>
              <a:t>Internet Protocol</a:t>
            </a:r>
            <a:r>
              <a:rPr b="0" lang="en-US" sz="2800" spc="-1" strike="noStrike">
                <a:solidFill>
                  <a:schemeClr val="dk1"/>
                </a:solidFill>
                <a:latin typeface="Calibri"/>
              </a:rPr>
              <a:t> and </a:t>
            </a:r>
            <a:r>
              <a:rPr b="1" lang="en-US" sz="2800" spc="-1" strike="noStrike">
                <a:solidFill>
                  <a:schemeClr val="dk1"/>
                </a:solidFill>
                <a:latin typeface="Calibri"/>
              </a:rPr>
              <a:t>v4</a:t>
            </a:r>
            <a:r>
              <a:rPr b="0" lang="en-US" sz="2800" spc="-1" strike="noStrike">
                <a:solidFill>
                  <a:schemeClr val="dk1"/>
                </a:solidFill>
                <a:latin typeface="Calibri"/>
              </a:rPr>
              <a:t> </a:t>
            </a:r>
            <a:r>
              <a:rPr b="0" lang="en-US" sz="2800" spc="-1" strike="noStrike">
                <a:solidFill>
                  <a:schemeClr val="dk1"/>
                </a:solidFill>
                <a:latin typeface="Calibri"/>
              </a:rPr>
              <a:t>stands for </a:t>
            </a:r>
            <a:r>
              <a:rPr b="1" lang="en-US" sz="2800" spc="-1" strike="noStrike">
                <a:solidFill>
                  <a:schemeClr val="dk1"/>
                </a:solidFill>
                <a:latin typeface="Calibri"/>
              </a:rPr>
              <a:t>Version Four</a:t>
            </a:r>
            <a:r>
              <a:rPr b="0" lang="en-US" sz="2800" spc="-1" strike="noStrike">
                <a:solidFill>
                  <a:schemeClr val="dk1"/>
                </a:solidFill>
                <a:latin typeface="Calibri"/>
              </a:rPr>
              <a:t> (IPv4).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IPv4 was the primary version brought </a:t>
            </a:r>
            <a:r>
              <a:rPr b="0" lang="en-US" sz="2800" spc="-1" strike="noStrike">
                <a:solidFill>
                  <a:schemeClr val="dk1"/>
                </a:solidFill>
                <a:latin typeface="Calibri"/>
              </a:rPr>
              <a:t>into action for production within the </a:t>
            </a:r>
            <a:r>
              <a:rPr b="0" lang="en-US" sz="2800" spc="-1" strike="noStrike">
                <a:solidFill>
                  <a:schemeClr val="dk1"/>
                </a:solidFill>
                <a:latin typeface="Calibri"/>
              </a:rPr>
              <a:t>ARPANET in 1983.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br>
              <a:rPr sz="2800"/>
            </a:br>
            <a:r>
              <a:rPr b="0" lang="en-US" sz="2800" spc="-1" strike="noStrike">
                <a:solidFill>
                  <a:schemeClr val="dk1"/>
                </a:solidFill>
                <a:latin typeface="Calibri"/>
              </a:rPr>
              <a:t>IP version four addresses are 32-bit </a:t>
            </a:r>
            <a:r>
              <a:rPr b="0" lang="en-US" sz="2800" spc="-1" strike="noStrike">
                <a:solidFill>
                  <a:schemeClr val="dk1"/>
                </a:solidFill>
                <a:latin typeface="Calibri"/>
              </a:rPr>
              <a:t>integers which will be expressed in </a:t>
            </a:r>
            <a:r>
              <a:rPr b="0" lang="en-US" sz="2800" spc="-1" strike="noStrike">
                <a:solidFill>
                  <a:schemeClr val="dk1"/>
                </a:solidFill>
                <a:latin typeface="Calibri"/>
              </a:rPr>
              <a:t>decimal notation.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br>
              <a:rPr sz="2800"/>
            </a:br>
            <a:r>
              <a:rPr b="0" lang="en-US" sz="2800" spc="-1" strike="noStrike">
                <a:solidFill>
                  <a:schemeClr val="dk1"/>
                </a:solidFill>
                <a:latin typeface="Calibri"/>
              </a:rPr>
              <a:t>Example- 192.0.2.126 could be an IPv4 </a:t>
            </a:r>
            <a:r>
              <a:rPr b="0" lang="en-US" sz="2800" spc="-1" strike="noStrike">
                <a:solidFill>
                  <a:schemeClr val="dk1"/>
                </a:solidFill>
                <a:latin typeface="Calibri"/>
              </a:rPr>
              <a:t>address.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65342"/>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Characteristics of IPv4</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IPv4 could be a 32-Bit IP Address.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IPv4 could be a numeric address, and its bits are separated by a dot.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number of header fields is twelve and the length of the header field is twenty.</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has Unicast, broadcast, and multicast style of addresses.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IPv4 supports VLSM (Virtual Length Subnet Mask).</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IPv4 uses the Post Address Resolution Protocol to map to the MAC address.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RIP may be a routing protocol supported by the routed daemon.</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Networks ought to be designed either manually or with DHCP.</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Packet fragmentation permits from routers and causing host.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1" name="Picture 2" descr="IP Header"/>
          <p:cNvPicPr/>
          <p:nvPr/>
        </p:nvPicPr>
        <p:blipFill>
          <a:blip r:embed="rId1"/>
          <a:stretch/>
        </p:blipFill>
        <p:spPr>
          <a:xfrm>
            <a:off x="476280" y="735120"/>
            <a:ext cx="10877040" cy="575712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74983" lnSpcReduction="20000"/>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 header includes many relevant information including Version Number, which, in this context, is 4. Other details are as follows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Version</a:t>
            </a:r>
            <a:r>
              <a:rPr b="0" lang="en-US" sz="2800" spc="-1" strike="noStrike">
                <a:solidFill>
                  <a:schemeClr val="dk1"/>
                </a:solidFill>
                <a:latin typeface="Calibri"/>
              </a:rPr>
              <a:t> − Version no. of Internet Protocol used (e.g. IPv4).</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IHL</a:t>
            </a:r>
            <a:r>
              <a:rPr b="0" lang="en-US" sz="2800" spc="-1" strike="noStrike">
                <a:solidFill>
                  <a:schemeClr val="dk1"/>
                </a:solidFill>
                <a:latin typeface="Calibri"/>
              </a:rPr>
              <a:t> − Internet Header Length; Length of entire IP header.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DSCP</a:t>
            </a:r>
            <a:r>
              <a:rPr b="0" lang="en-US" sz="2800" spc="-1" strike="noStrike">
                <a:solidFill>
                  <a:schemeClr val="dk1"/>
                </a:solidFill>
                <a:latin typeface="Calibri"/>
              </a:rPr>
              <a:t> − Differentiated Services Code Point; this is Type of Service.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ECN</a:t>
            </a:r>
            <a:r>
              <a:rPr b="0" lang="en-US" sz="2800" spc="-1" strike="noStrike">
                <a:solidFill>
                  <a:schemeClr val="dk1"/>
                </a:solidFill>
                <a:latin typeface="Calibri"/>
              </a:rPr>
              <a:t> − Explicit Congestion Notification; It carries information about the congestion seen in the route.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Total Length</a:t>
            </a:r>
            <a:r>
              <a:rPr b="0" lang="en-US" sz="2800" spc="-1" strike="noStrike">
                <a:solidFill>
                  <a:schemeClr val="dk1"/>
                </a:solidFill>
                <a:latin typeface="Calibri"/>
              </a:rPr>
              <a:t> − Length of entire IP Packet (including IP header and IP Payload).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Identification</a:t>
            </a:r>
            <a:r>
              <a:rPr b="0" lang="en-US" sz="2800" spc="-1" strike="noStrike">
                <a:solidFill>
                  <a:schemeClr val="dk1"/>
                </a:solidFill>
                <a:latin typeface="Calibri"/>
              </a:rPr>
              <a:t> − If IP packet is fragmented during the transmission, all the fragments contain same identification number. to identify original IP packet they belong to.</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Flags</a:t>
            </a:r>
            <a:r>
              <a:rPr b="0" lang="en-US" sz="2800" spc="-1" strike="noStrike">
                <a:solidFill>
                  <a:schemeClr val="dk1"/>
                </a:solidFill>
                <a:latin typeface="Calibri"/>
              </a:rPr>
              <a:t> − As required by the network resources, if IP Packet is too large to handle, these ‘flags’ tells if they can be fragmented or not. In this 3-bit flag, the MSB is always set to ‘0’.</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Fragment Offset</a:t>
            </a:r>
            <a:r>
              <a:rPr b="0" lang="en-US" sz="2800" spc="-1" strike="noStrike">
                <a:solidFill>
                  <a:schemeClr val="dk1"/>
                </a:solidFill>
                <a:latin typeface="Calibri"/>
              </a:rPr>
              <a:t> − This offset tells the exact position of the fragment in the original IP Packet.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Time to Live</a:t>
            </a:r>
            <a:r>
              <a:rPr b="0" lang="en-US" sz="2800" spc="-1" strike="noStrike">
                <a:solidFill>
                  <a:schemeClr val="dk1"/>
                </a:solidFill>
                <a:latin typeface="Calibri"/>
              </a:rPr>
              <a:t> − To avoid looping in the network, every packet is sent with some TTL value set, which tells the network how many routers (hops) this packet can cross. At each hop, its value is decremented by one and when the value reaches zero, the packet is discarded.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Protocol</a:t>
            </a:r>
            <a:r>
              <a:rPr b="0" lang="en-US" sz="2800" spc="-1" strike="noStrike">
                <a:solidFill>
                  <a:schemeClr val="dk1"/>
                </a:solidFill>
                <a:latin typeface="Calibri"/>
              </a:rPr>
              <a:t> − Tells the Network layer at the destination host, to which Protocol this packet belongs to, i.e. the next level Protocol. For example protocol number of ICMP is 1, TCP is 6 and UDP is 17.</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Header Checksum</a:t>
            </a:r>
            <a:r>
              <a:rPr b="0" lang="en-US" sz="2800" spc="-1" strike="noStrike">
                <a:solidFill>
                  <a:schemeClr val="dk1"/>
                </a:solidFill>
                <a:latin typeface="Calibri"/>
              </a:rPr>
              <a:t> − This field is used to keep checksum value of entire header which is then used to check if the packet is received error-free.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Source Address</a:t>
            </a:r>
            <a:r>
              <a:rPr b="0" lang="en-US" sz="2800" spc="-1" strike="noStrike">
                <a:solidFill>
                  <a:schemeClr val="dk1"/>
                </a:solidFill>
                <a:latin typeface="Calibri"/>
              </a:rPr>
              <a:t> − 32-bit address of the Sender (or source) of the packet.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Destination Address</a:t>
            </a:r>
            <a:r>
              <a:rPr b="0" lang="en-US" sz="2800" spc="-1" strike="noStrike">
                <a:solidFill>
                  <a:schemeClr val="dk1"/>
                </a:solidFill>
                <a:latin typeface="Calibri"/>
              </a:rPr>
              <a:t> − 32-bit address of the Receiver (or destination) of the packet.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Options</a:t>
            </a:r>
            <a:r>
              <a:rPr b="0" lang="en-US" sz="2800" spc="-1" strike="noStrike">
                <a:solidFill>
                  <a:schemeClr val="dk1"/>
                </a:solidFill>
                <a:latin typeface="Calibri"/>
              </a:rPr>
              <a:t> − This is optional field, which is used if the value of IHL is greater than 5. These options may contain values for options such as Security, Record Route, Time Stamp, etc.</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p:nvPr>
        </p:nvSpPr>
        <p:spPr>
          <a:xfrm>
            <a:off x="0" y="18360"/>
            <a:ext cx="6019560" cy="6839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3600" spc="-1" strike="noStrike">
                <a:solidFill>
                  <a:srgbClr val="ff0000"/>
                </a:solidFill>
                <a:latin typeface="Calibri"/>
              </a:rPr>
              <a:t>IP version 6</a:t>
            </a:r>
            <a:endParaRPr b="0" lang="en-US" sz="36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IP version 6 is the new version of Internet Protocol, which is way better than IP version 4 in terms of complexity and efficiency.</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 header of IP version 6 and understand how it is different from the IPv4 header.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74" name="Content Placeholder 5" descr=""/>
          <p:cNvPicPr/>
          <p:nvPr/>
        </p:nvPicPr>
        <p:blipFill>
          <a:blip r:embed="rId1"/>
          <a:stretch/>
        </p:blipFill>
        <p:spPr>
          <a:xfrm>
            <a:off x="5754240" y="849600"/>
            <a:ext cx="6437520" cy="475164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Version (4-bits):</a:t>
            </a:r>
            <a:r>
              <a:rPr b="0" lang="en-US" sz="2800" spc="-1" strike="noStrike">
                <a:solidFill>
                  <a:schemeClr val="dk1"/>
                </a:solidFill>
                <a:latin typeface="Calibri"/>
              </a:rPr>
              <a:t> Indicates version of Internet Protocol which contains bit sequence 0110.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Traffic Class (8-bits):</a:t>
            </a:r>
            <a:r>
              <a:rPr b="0" lang="en-US" sz="2800" spc="-1" strike="noStrike">
                <a:solidFill>
                  <a:schemeClr val="dk1"/>
                </a:solidFill>
                <a:latin typeface="Calibri"/>
              </a:rPr>
              <a:t> The Traffic Class field indicates  priority of IPv6 packet which is similar to </a:t>
            </a:r>
            <a:r>
              <a:rPr b="0" i="1" lang="en-US" sz="2800" spc="-1" strike="noStrike">
                <a:solidFill>
                  <a:schemeClr val="dk1"/>
                </a:solidFill>
                <a:latin typeface="Calibri"/>
              </a:rPr>
              <a:t>Service Field</a:t>
            </a:r>
            <a:r>
              <a:rPr b="0" lang="en-US" sz="2800" spc="-1" strike="noStrike">
                <a:solidFill>
                  <a:schemeClr val="dk1"/>
                </a:solidFill>
                <a:latin typeface="Calibri"/>
              </a:rPr>
              <a:t> in IPv4 packet.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helps routers to handle the traffic based on the priority of the packet. If congestion occurs on the router then packets with the least priority will be discarded.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br>
              <a:rPr sz="2800"/>
            </a:br>
            <a:r>
              <a:rPr b="0" lang="en-US" sz="2800" spc="-1" strike="noStrike">
                <a:solidFill>
                  <a:schemeClr val="dk1"/>
                </a:solidFill>
                <a:latin typeface="Calibri"/>
              </a:rPr>
              <a:t>As of now, only 4-bits are being used (and the remaining bits are under research), in which 0 to 7 are assigned to Congestion controlled traffic and 8 to 15 are assigned to Uncontrolled traffic.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0336"/>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Flow Label (20-bits):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Flow Label field is used by a source to label the packets belonging to the same flow in order to request special handling by intermediate IPv6 routers, such as non-default quality of service or real-time service.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In order to distinguish the flow, an intermediate router can use the source address, a destination address, and flow label of the packets.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Between a source and destination, multiple flows may exist because many processes might be running at the same time.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Routers or Host that does not support the functionality of flow label field and for default router handling, flow label field is set to 0.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While setting up the flow label, the source is also supposed to specify the lifetime of the flow.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Payload Length (16-bits):</a:t>
            </a: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is a 16-bit (unsigned integer) field, indicates the total size of the payload which tells routers about the amount of information a particular packet contains in its payload.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payload Length field includes extension headers(if any) and an upper-layer packet.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case the length of the payload is greater than 65,535 bytes (payload up to 65,535 bytes can be indicated with 16-bits), then the payload length field will be set to 0 and the jumbo payload option is used in the Hop-by-Hop options extension header. </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Next Header (8-bits):</a:t>
            </a:r>
            <a:r>
              <a:rPr b="0" lang="en-US" sz="2800" spc="-1" strike="noStrike">
                <a:solidFill>
                  <a:schemeClr val="dk1"/>
                </a:solidFill>
                <a:latin typeface="Calibri"/>
              </a:rPr>
              <a:t> </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0" lang="en-US" sz="2800" spc="-1" strike="noStrike">
                <a:solidFill>
                  <a:schemeClr val="dk1"/>
                </a:solidFill>
                <a:latin typeface="Calibri"/>
              </a:rPr>
              <a:t>Next Header indicates the type of extension header(if present) immediately following the IPv6 header.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Whereas In some cases it indicates the protocols contained within upper-layer packets, such as TCP, UDP.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Hop Limit (8-bits):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Hop Limit field is the same as TTL in IPv4 packets.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indicates the maximum number of intermediate nodes IPv6 packet is allowed to travel.</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Its value gets decremented by one, by each node that forwards the packet and the packet is discarded if the value decrements to 0.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is used to discard the packets that are stuck in an infinite loop because of some routing error.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Source Address (128-bits):</a:t>
            </a:r>
            <a:r>
              <a:rPr b="0" lang="en-US" sz="2800" spc="-1" strike="noStrike">
                <a:solidFill>
                  <a:schemeClr val="dk1"/>
                </a:solidFill>
                <a:latin typeface="Calibri"/>
              </a:rPr>
              <a:t> Source Address is the 128-bit IPv6 address of the original source of the packet.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Destination Address (128-bits):</a:t>
            </a:r>
            <a:r>
              <a:rPr b="0" lang="en-US" sz="2800" spc="-1" strike="noStrike">
                <a:solidFill>
                  <a:schemeClr val="dk1"/>
                </a:solidFill>
                <a:latin typeface="Calibri"/>
              </a:rPr>
              <a:t>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destination Address field indicates the IPv6 address of the final destination(in most cases).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All the intermediate nodes can use this information in order to correctly route the packet.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Extension Headers:</a:t>
            </a: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order to rectify the limitations of the </a:t>
            </a:r>
            <a:r>
              <a:rPr b="0" i="1" lang="en-US" sz="2800" spc="-1" strike="noStrike">
                <a:solidFill>
                  <a:schemeClr val="dk1"/>
                </a:solidFill>
                <a:latin typeface="Calibri"/>
              </a:rPr>
              <a:t>IPv4 Option Field</a:t>
            </a:r>
            <a:r>
              <a:rPr b="0" lang="en-US" sz="2800" spc="-1" strike="noStrike">
                <a:solidFill>
                  <a:schemeClr val="dk1"/>
                </a:solidFill>
                <a:latin typeface="Calibri"/>
              </a:rPr>
              <a:t>, Extension Headers are introduced in IP version 6.</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 extension header mechanism is a very important part of the IPv6 architecture.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next Header field of IPv6 fixed header points to the first Extension Header and this first extension header points to the second extension header and so on</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The different types of addresses defined by IPv6</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IPv6, three types of network addresses are defined.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They are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u="sng">
                <a:solidFill>
                  <a:schemeClr val="dk1"/>
                </a:solidFill>
                <a:uFillTx/>
                <a:latin typeface="Calibri"/>
                <a:hlinkClick r:id="rId1"/>
              </a:rPr>
              <a:t>Unicast address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u="sng">
                <a:solidFill>
                  <a:schemeClr val="dk1"/>
                </a:solidFill>
                <a:uFillTx/>
                <a:latin typeface="Calibri"/>
                <a:hlinkClick r:id="rId2"/>
              </a:rPr>
              <a:t>Multicast address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u="sng">
                <a:solidFill>
                  <a:schemeClr val="dk1"/>
                </a:solidFill>
                <a:uFillTx/>
                <a:latin typeface="Calibri"/>
                <a:hlinkClick r:id="rId3"/>
              </a:rPr>
              <a:t>Anycast</a:t>
            </a:r>
            <a:r>
              <a:rPr b="1" lang="en-US" sz="2800" spc="-1" strike="noStrike" u="sng">
                <a:solidFill>
                  <a:schemeClr val="dk1"/>
                </a:solidFill>
                <a:uFillTx/>
                <a:latin typeface="Calibri"/>
                <a:hlinkClick r:id="rId4"/>
              </a:rPr>
              <a:t> address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p:nvPr>
        </p:nvSpPr>
        <p:spPr>
          <a:xfrm>
            <a:off x="0" y="0"/>
            <a:ext cx="688068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Unicast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When a computer that is the source wants to communicate with another computer which is the destination, it uses the unicast address as a destination.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Therefore, the unicast address refers to a single/individual host.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unicast is used to send data to a single destination.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communicates </a:t>
            </a:r>
            <a:r>
              <a:rPr b="1" lang="en-US" sz="2800" spc="-1" strike="noStrike">
                <a:solidFill>
                  <a:schemeClr val="dk1"/>
                </a:solidFill>
                <a:latin typeface="Calibri"/>
              </a:rPr>
              <a:t>one to one</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82" name="Content Placeholder 12" descr=""/>
          <p:cNvPicPr/>
          <p:nvPr/>
        </p:nvPicPr>
        <p:blipFill>
          <a:blip r:embed="rId1"/>
          <a:stretch/>
        </p:blipFill>
        <p:spPr>
          <a:xfrm>
            <a:off x="7010280" y="1274760"/>
            <a:ext cx="5181120" cy="446076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p:nvPr>
        </p:nvSpPr>
        <p:spPr>
          <a:xfrm>
            <a:off x="0" y="0"/>
            <a:ext cx="6019560" cy="6857640"/>
          </a:xfrm>
          <a:prstGeom prst="rect">
            <a:avLst/>
          </a:prstGeom>
          <a:noFill/>
          <a:ln w="0">
            <a:noFill/>
          </a:ln>
        </p:spPr>
        <p:txBody>
          <a:bodyPr lIns="91440" rIns="91440" tIns="45720" bIns="45720" anchor="t">
            <a:normAutofit fontScale="77839"/>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Multicast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A multicast address is used to deliver a package to a group of destinations.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Therefore, a single source is able to communicate with many other destination hosts.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packet sent by the multicast address is delivered to every host that is a part of that specific group.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multicast has a </a:t>
            </a:r>
            <a:r>
              <a:rPr b="1" lang="en-US" sz="2800" spc="-1" strike="noStrike">
                <a:solidFill>
                  <a:schemeClr val="dk1"/>
                </a:solidFill>
                <a:latin typeface="Calibri"/>
              </a:rPr>
              <a:t>one-to-many</a:t>
            </a:r>
            <a:r>
              <a:rPr b="0" lang="en-US" sz="2800" spc="-1" strike="noStrike">
                <a:solidFill>
                  <a:schemeClr val="dk1"/>
                </a:solidFill>
                <a:latin typeface="Calibri"/>
              </a:rPr>
              <a:t> relationship.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range for the multicast address is</a:t>
            </a:r>
            <a:r>
              <a:rPr b="1" lang="en-US" sz="2800" spc="-1" strike="noStrike">
                <a:solidFill>
                  <a:schemeClr val="dk1"/>
                </a:solidFill>
                <a:latin typeface="Calibri"/>
              </a:rPr>
              <a:t> FF00::/8</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There is no need to make a different range for broadcasting a message. </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multicast can broadcast the message.</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broadcasting is done by using special multicast groups – all IPv6 devices and a </a:t>
            </a:r>
            <a:r>
              <a:rPr b="1" lang="en-US" sz="2800" spc="-1" strike="noStrike">
                <a:solidFill>
                  <a:schemeClr val="dk1"/>
                </a:solidFill>
                <a:latin typeface="Calibri"/>
              </a:rPr>
              <a:t>solicited-node </a:t>
            </a:r>
            <a:r>
              <a:rPr b="0" lang="en-US" sz="2800" spc="-1" strike="noStrike">
                <a:solidFill>
                  <a:schemeClr val="dk1"/>
                </a:solidFill>
                <a:latin typeface="Calibri"/>
              </a:rPr>
              <a:t>multicast address.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84" name="Content Placeholder 7" descr=""/>
          <p:cNvPicPr/>
          <p:nvPr/>
        </p:nvPicPr>
        <p:blipFill>
          <a:blip r:embed="rId1"/>
          <a:stretch/>
        </p:blipFill>
        <p:spPr>
          <a:xfrm>
            <a:off x="6172200" y="1662480"/>
            <a:ext cx="5714640" cy="4285440"/>
          </a:xfrm>
          <a:prstGeom prst="rect">
            <a:avLst/>
          </a:prstGeom>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p:nvPr>
        </p:nvSpPr>
        <p:spPr>
          <a:xfrm>
            <a:off x="0" y="0"/>
            <a:ext cx="6019560" cy="6857640"/>
          </a:xfrm>
          <a:prstGeom prst="rect">
            <a:avLst/>
          </a:prstGeom>
          <a:noFill/>
          <a:ln w="0">
            <a:noFill/>
          </a:ln>
        </p:spPr>
        <p:txBody>
          <a:bodyPr lIns="91440" rIns="91440" tIns="45720" bIns="45720" anchor="t">
            <a:normAutofit fontScale="74983"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3. Anycast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anycast address is identical to the multicast address.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anycast address is different from other addresses in a way that it sends the same IP address to different devices/servers.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Note that the IP address is not sent to the hosts.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In other words, an anycast address is assigned to more than one interface or a group of interfaces.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Anycast address is mostly used in websites such as Google, where it hits the </a:t>
            </a:r>
            <a:r>
              <a:rPr b="1" lang="en-US" sz="2800" spc="-1" strike="noStrike">
                <a:solidFill>
                  <a:schemeClr val="dk1"/>
                </a:solidFill>
                <a:latin typeface="Calibri"/>
              </a:rPr>
              <a:t>nearest server</a:t>
            </a:r>
            <a:r>
              <a:rPr b="0" lang="en-US" sz="2800" spc="-1" strike="noStrike">
                <a:solidFill>
                  <a:schemeClr val="dk1"/>
                </a:solidFill>
                <a:latin typeface="Calibri"/>
              </a:rPr>
              <a:t> based on a location.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For example, if you live in India, the router sends your request to the Indian servers of Google.</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Therefore, assigning a unicast address to more than one interface makes a unicast address an anycast address. </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Anycast address delivers packets to its </a:t>
            </a:r>
            <a:r>
              <a:rPr b="1" lang="en-US" sz="2800" spc="-1" strike="noStrike">
                <a:solidFill>
                  <a:schemeClr val="dk1"/>
                </a:solidFill>
                <a:latin typeface="Calibri"/>
              </a:rPr>
              <a:t>nearest interface</a:t>
            </a:r>
            <a:r>
              <a:rPr b="0" lang="en-US" sz="2800" spc="-1" strike="noStrike">
                <a:solidFill>
                  <a:schemeClr val="dk1"/>
                </a:solidFill>
                <a:latin typeface="Calibri"/>
              </a:rPr>
              <a:t>.</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p:txBody>
      </p:sp>
      <p:pic>
        <p:nvPicPr>
          <p:cNvPr id="86" name="Picture 1" descr="TYPES OF IPv6 ADDRESSES- anycast IP address"/>
          <p:cNvPicPr/>
          <p:nvPr/>
        </p:nvPicPr>
        <p:blipFill>
          <a:blip r:embed="rId1"/>
          <a:stretch/>
        </p:blipFill>
        <p:spPr>
          <a:xfrm>
            <a:off x="6213600" y="1413000"/>
            <a:ext cx="5779440" cy="383256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99360" y="119160"/>
            <a:ext cx="11253960" cy="1122840"/>
          </a:xfrm>
          <a:prstGeom prst="rect">
            <a:avLst/>
          </a:prstGeom>
          <a:noFill/>
          <a:ln w="0">
            <a:noFill/>
          </a:ln>
        </p:spPr>
        <p:txBody>
          <a:bodyPr lIns="91440" rIns="91440" tIns="45720" bIns="45720" anchor="ctr">
            <a:noAutofit/>
          </a:bodyPr>
          <a:p>
            <a:pPr indent="0" defTabSz="914400">
              <a:lnSpc>
                <a:spcPct val="90000"/>
              </a:lnSpc>
              <a:buNone/>
            </a:pPr>
            <a:r>
              <a:rPr b="1" lang="en-US" sz="4400" spc="-1" strike="noStrike">
                <a:solidFill>
                  <a:schemeClr val="dk1"/>
                </a:solidFill>
                <a:latin typeface="Calibri Light"/>
              </a:rPr>
              <a:t>                </a:t>
            </a:r>
            <a:r>
              <a:rPr b="1" lang="en-US" sz="4400" spc="-1" strike="noStrike">
                <a:solidFill>
                  <a:schemeClr val="dk1"/>
                </a:solidFill>
                <a:latin typeface="Calibri Light"/>
              </a:rPr>
              <a:t>IPv6 migration strategies</a:t>
            </a:r>
            <a:endParaRPr b="0" lang="en-US" sz="4400" spc="-1" strike="noStrike">
              <a:solidFill>
                <a:schemeClr val="dk1"/>
              </a:solidFill>
              <a:latin typeface="Calibri"/>
            </a:endParaRPr>
          </a:p>
        </p:txBody>
      </p:sp>
      <p:sp>
        <p:nvSpPr>
          <p:cNvPr id="88" name="PlaceHolder 2"/>
          <p:cNvSpPr>
            <a:spLocks noGrp="1"/>
          </p:cNvSpPr>
          <p:nvPr>
            <p:ph/>
          </p:nvPr>
        </p:nvSpPr>
        <p:spPr>
          <a:xfrm>
            <a:off x="0" y="1490760"/>
            <a:ext cx="12191760" cy="53668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IPv6 migration strategies primarily use </a:t>
            </a:r>
            <a:r>
              <a:rPr b="1" lang="en-US" sz="2800" spc="-1" strike="noStrike" u="sng">
                <a:solidFill>
                  <a:schemeClr val="dk1"/>
                </a:solidFill>
                <a:uFillTx/>
                <a:latin typeface="Calibri"/>
                <a:hlinkClick r:id="rId1"/>
              </a:rPr>
              <a:t>Dual-Stack</a:t>
            </a:r>
            <a:r>
              <a:rPr b="0" lang="en-US" sz="2800" spc="-1" strike="noStrike">
                <a:solidFill>
                  <a:schemeClr val="dk1"/>
                </a:solidFill>
                <a:latin typeface="Calibri"/>
              </a:rPr>
              <a:t>, running IPv4 and IPv6 side-by-side.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1" lang="en-US" sz="2800" spc="-1" strike="noStrike" u="sng">
                <a:solidFill>
                  <a:schemeClr val="dk1"/>
                </a:solidFill>
                <a:uFillTx/>
                <a:latin typeface="Calibri"/>
                <a:hlinkClick r:id="rId2"/>
              </a:rPr>
              <a:t>Tunneling</a:t>
            </a:r>
            <a:r>
              <a:rPr b="0" lang="en-US" sz="2800" spc="-1" strike="noStrike">
                <a:solidFill>
                  <a:schemeClr val="dk1"/>
                </a:solidFill>
                <a:latin typeface="Calibri"/>
              </a:rPr>
              <a:t>, encapsulating IPv6 over IPv4 networks.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1" lang="en-US" sz="2800" spc="-1" strike="noStrike" u="sng">
                <a:solidFill>
                  <a:schemeClr val="dk1"/>
                </a:solidFill>
                <a:uFillTx/>
                <a:latin typeface="Calibri"/>
                <a:hlinkClick r:id="rId3"/>
              </a:rPr>
              <a:t>Translation</a:t>
            </a:r>
            <a:r>
              <a:rPr b="0" lang="en-US" sz="2800" spc="-1" strike="noStrike">
                <a:solidFill>
                  <a:schemeClr val="dk1"/>
                </a:solidFill>
                <a:latin typeface="Calibri"/>
              </a:rPr>
              <a:t> (like </a:t>
            </a:r>
            <a:r>
              <a:rPr b="0" lang="en-US" sz="2800" spc="-1" strike="noStrike" u="sng">
                <a:solidFill>
                  <a:schemeClr val="dk1"/>
                </a:solidFill>
                <a:uFillTx/>
                <a:latin typeface="Calibri"/>
                <a:hlinkClick r:id="rId4"/>
              </a:rPr>
              <a:t>NAT64</a:t>
            </a:r>
            <a:r>
              <a:rPr b="0" lang="en-US" sz="2800" spc="-1" strike="noStrike">
                <a:solidFill>
                  <a:schemeClr val="dk1"/>
                </a:solidFill>
                <a:latin typeface="Calibri"/>
              </a:rPr>
              <a:t>) allows IPv6-only devices to talk to IPv4 services, while a full transition involves assessment, phased rollout (often starting with external services), thorough testing, and ongoing management for seamless interoperability as networks evolve</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title"/>
          </p:nvPr>
        </p:nvSpPr>
        <p:spPr>
          <a:xfrm>
            <a:off x="189000" y="238680"/>
            <a:ext cx="11164680" cy="94392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Migration Mechanisms</a:t>
            </a:r>
            <a:endParaRPr b="0" lang="en-US" sz="4400" spc="-1" strike="noStrike">
              <a:solidFill>
                <a:schemeClr val="dk1"/>
              </a:solidFill>
              <a:latin typeface="Calibri"/>
            </a:endParaRPr>
          </a:p>
        </p:txBody>
      </p:sp>
      <p:sp>
        <p:nvSpPr>
          <p:cNvPr id="90" name="PlaceHolder 2"/>
          <p:cNvSpPr>
            <a:spLocks noGrp="1"/>
          </p:cNvSpPr>
          <p:nvPr>
            <p:ph/>
          </p:nvPr>
        </p:nvSpPr>
        <p:spPr>
          <a:xfrm>
            <a:off x="288360" y="1690560"/>
            <a:ext cx="11588760" cy="49284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u="sng">
                <a:solidFill>
                  <a:schemeClr val="dk1"/>
                </a:solidFill>
                <a:uFillTx/>
                <a:latin typeface="Calibri"/>
                <a:hlinkClick r:id="rId1"/>
              </a:rPr>
              <a:t>Dual-Stack</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u="sng">
                <a:solidFill>
                  <a:schemeClr val="dk1"/>
                </a:solidFill>
                <a:uFillTx/>
                <a:latin typeface="Calibri"/>
                <a:hlinkClick r:id="rId2"/>
              </a:rPr>
              <a:t>Tunneling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u="sng">
                <a:solidFill>
                  <a:schemeClr val="dk1"/>
                </a:solidFill>
                <a:uFillTx/>
                <a:latin typeface="Calibri"/>
                <a:hlinkClick r:id="rId3"/>
              </a:rPr>
              <a:t>Translation</a:t>
            </a:r>
            <a:r>
              <a:rPr b="0" lang="en-US" sz="2800" spc="-1" strike="noStrike">
                <a:solidFill>
                  <a:schemeClr val="dk1"/>
                </a:solidFill>
                <a:latin typeface="Calibri"/>
              </a:rPr>
              <a:t> (NAT64</a:t>
            </a:r>
            <a:r>
              <a:rPr b="1" lang="en-US" sz="2800" spc="-1" strike="noStrike">
                <a:solidFill>
                  <a:schemeClr val="dk1"/>
                </a:solidFill>
                <a:latin typeface="Calibri"/>
              </a:rPr>
              <a:t>/DNS64)</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p:nvPr>
        </p:nvSpPr>
        <p:spPr>
          <a:xfrm>
            <a:off x="0" y="0"/>
            <a:ext cx="6019560" cy="6857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What is IPv6 Transition?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IPv6 transition mechanisms are techniques used to allow </a:t>
            </a:r>
            <a:r>
              <a:rPr b="1" lang="en-US" sz="2800" spc="-1" strike="noStrike">
                <a:solidFill>
                  <a:schemeClr val="dk1"/>
                </a:solidFill>
                <a:latin typeface="Calibri"/>
              </a:rPr>
              <a:t>IPv4 and IPv6 networks to coexist</a:t>
            </a:r>
            <a:r>
              <a:rPr b="0" lang="en-US" sz="2800" spc="-1" strike="noStrike">
                <a:solidFill>
                  <a:schemeClr val="dk1"/>
                </a:solidFill>
                <a:latin typeface="Calibri"/>
              </a:rPr>
              <a:t> while the internet gradually moves from IPv4 to IPv6.</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Dual Stack</a:t>
            </a:r>
            <a:r>
              <a:rPr b="0" lang="en-US" sz="2800" spc="-1" strike="noStrike">
                <a:solidFill>
                  <a:schemeClr val="dk1"/>
                </a:solidFill>
                <a:latin typeface="Calibri"/>
              </a:rPr>
              <a:t> is the </a:t>
            </a:r>
            <a:r>
              <a:rPr b="1" lang="en-US" sz="2800" spc="-1" strike="noStrike">
                <a:solidFill>
                  <a:schemeClr val="dk1"/>
                </a:solidFill>
                <a:latin typeface="Calibri"/>
              </a:rPr>
              <a:t>most important and commonly used</a:t>
            </a:r>
            <a:r>
              <a:rPr b="0" lang="en-US" sz="2800" spc="-1" strike="noStrike">
                <a:solidFill>
                  <a:schemeClr val="dk1"/>
                </a:solidFill>
                <a:latin typeface="Calibri"/>
              </a:rPr>
              <a:t> transition mechanism.</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p:nvPr>
        </p:nvSpPr>
        <p:spPr>
          <a:xfrm>
            <a:off x="0" y="0"/>
            <a:ext cx="12191760" cy="6738480"/>
          </a:xfrm>
          <a:prstGeom prst="rect">
            <a:avLst/>
          </a:prstGeom>
          <a:noFill/>
          <a:ln w="0">
            <a:noFill/>
          </a:ln>
        </p:spPr>
        <p:txBody>
          <a:bodyPr lIns="91440" rIns="91440" tIns="45720" bIns="45720" anchor="t">
            <a:normAutofit fontScale="74983"/>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Dual Stack means running IPv4 and IPv6 at the same time on the same device and network.</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device (PC, server, router, mobile, etc.) is configured with:</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One IPv4 address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One IPv6 address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So the device can communicate using </a:t>
            </a:r>
            <a:r>
              <a:rPr b="1" lang="en-US" sz="2800" spc="-1" strike="noStrike">
                <a:solidFill>
                  <a:schemeClr val="dk1"/>
                </a:solidFill>
                <a:latin typeface="Calibri"/>
              </a:rPr>
              <a:t>either protocol</a:t>
            </a:r>
            <a:r>
              <a:rPr b="0" lang="en-US" sz="2800" spc="-1" strike="noStrike">
                <a:solidFill>
                  <a:schemeClr val="dk1"/>
                </a:solidFill>
                <a:latin typeface="Calibri"/>
              </a:rPr>
              <a:t>, depending on what the destination supports.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u="sng">
                <a:solidFill>
                  <a:schemeClr val="dk1"/>
                </a:solidFill>
                <a:uFillTx/>
                <a:latin typeface="Calibri"/>
                <a:hlinkClick r:id="rId1"/>
              </a:rPr>
              <a:t>Dual-Stack</a:t>
            </a:r>
            <a:r>
              <a:rPr b="0" lang="en-US" sz="2800" spc="-1" strike="noStrike">
                <a:solidFill>
                  <a:schemeClr val="dk1"/>
                </a:solidFill>
                <a:latin typeface="Calibri"/>
              </a:rPr>
              <a:t> refers to a networking approach where devices, routers, and applications support both IPv4 and IPv6 protocols simultaneously,</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Allowing seamless communication across both older and newer addressing systems during the transition to IPv6, with devices typically preferring IPv6 but falling back to IPv4 if needed.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enables gradual IPv6 adoption without disrupting existing IPv4 services, as devices maintain separate IPv4 and IPv6 configurations and can handle connections using either protocol independently</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p:nvPr>
        </p:nvSpPr>
        <p:spPr>
          <a:xfrm>
            <a:off x="0" y="0"/>
            <a:ext cx="6519600" cy="6778080"/>
          </a:xfrm>
          <a:prstGeom prst="rect">
            <a:avLst/>
          </a:prstGeom>
          <a:noFill/>
          <a:ln w="0">
            <a:noFill/>
          </a:ln>
        </p:spPr>
        <p:txBody>
          <a:bodyPr lIns="91440" rIns="91440" tIns="45720" bIns="45720" anchor="t">
            <a:normAutofit fontScale="73197"/>
          </a:bodyPr>
          <a:p>
            <a:pPr indent="0" defTabSz="914400">
              <a:lnSpc>
                <a:spcPct val="90000"/>
              </a:lnSpc>
              <a:spcBef>
                <a:spcPts val="1001"/>
              </a:spcBef>
              <a:buNone/>
              <a:tabLst>
                <a:tab algn="l" pos="0"/>
              </a:tabLst>
            </a:pPr>
            <a:r>
              <a:rPr b="1" lang="en-US" sz="2800" spc="-1" strike="noStrike">
                <a:solidFill>
                  <a:schemeClr val="dk1"/>
                </a:solidFill>
                <a:latin typeface="Calibri"/>
              </a:rPr>
              <a:t>1. Application Layer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Applications (web browser, email, FTP, etc.) </a:t>
            </a:r>
            <a:r>
              <a:rPr b="1" lang="en-US" sz="2800" spc="-1" strike="noStrike">
                <a:solidFill>
                  <a:schemeClr val="dk1"/>
                </a:solidFill>
                <a:latin typeface="Calibri"/>
              </a:rPr>
              <a:t>do not care</a:t>
            </a:r>
            <a:r>
              <a:rPr b="0" lang="en-US" sz="2800" spc="-1" strike="noStrike">
                <a:solidFill>
                  <a:schemeClr val="dk1"/>
                </a:solidFill>
                <a:latin typeface="Calibri"/>
              </a:rPr>
              <a:t> whether IPv4 or IPv6 is used.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They just request a connection.</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2. Transport Layer (TCP/UDP)</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TCP and UDP work </a:t>
            </a:r>
            <a:r>
              <a:rPr b="1" lang="en-US" sz="2800" spc="-1" strike="noStrike">
                <a:solidFill>
                  <a:schemeClr val="dk1"/>
                </a:solidFill>
                <a:latin typeface="Calibri"/>
              </a:rPr>
              <a:t>the same way</a:t>
            </a:r>
            <a:r>
              <a:rPr b="0" lang="en-US" sz="2800" spc="-1" strike="noStrike">
                <a:solidFill>
                  <a:schemeClr val="dk1"/>
                </a:solidFill>
                <a:latin typeface="Calibri"/>
              </a:rPr>
              <a:t> for both IPv4 and IPv6.</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No major change is required here.</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3. Network Layer (IPv4 and IPv6)</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Both IPv4 and IPv6 stacks exist side-by-side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operating system decides:</a:t>
            </a:r>
            <a:endParaRPr b="0" lang="en-US" sz="28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Use </a:t>
            </a:r>
            <a:r>
              <a:rPr b="1" lang="en-US" sz="2400" spc="-1" strike="noStrike">
                <a:solidFill>
                  <a:schemeClr val="dk1"/>
                </a:solidFill>
                <a:latin typeface="Calibri"/>
              </a:rPr>
              <a:t>IPv6</a:t>
            </a:r>
            <a:r>
              <a:rPr b="0" lang="en-US" sz="2400" spc="-1" strike="noStrike">
                <a:solidFill>
                  <a:schemeClr val="dk1"/>
                </a:solidFill>
                <a:latin typeface="Calibri"/>
              </a:rPr>
              <a:t> if the destination supports IPv6</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Otherwise, fall back to </a:t>
            </a:r>
            <a:r>
              <a:rPr b="1" lang="en-US" sz="2400" spc="-1" strike="noStrike">
                <a:solidFill>
                  <a:schemeClr val="dk1"/>
                </a:solidFill>
                <a:latin typeface="Calibri"/>
              </a:rPr>
              <a:t>IPv4</a:t>
            </a:r>
            <a:endParaRPr b="0" lang="en-US" sz="24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4. Driver / Network Interface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same network hardware (NIC) supports both IPv4 and IPv6 traffic.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Arrow (IPv4 ↔ IPv6)</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Shows that the system can send and receive </a:t>
            </a:r>
            <a:r>
              <a:rPr b="1" lang="en-US" sz="2800" spc="-1" strike="noStrike">
                <a:solidFill>
                  <a:schemeClr val="dk1"/>
                </a:solidFill>
                <a:latin typeface="Calibri"/>
              </a:rPr>
              <a:t>both IPv4 and IPv6 packets</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94" name="Content Placeholder 5" descr=""/>
          <p:cNvPicPr/>
          <p:nvPr/>
        </p:nvPicPr>
        <p:blipFill>
          <a:blip r:embed="rId1"/>
          <a:stretch/>
        </p:blipFill>
        <p:spPr>
          <a:xfrm>
            <a:off x="6768720" y="1192680"/>
            <a:ext cx="5168160" cy="505872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p:nvPr>
        </p:nvSpPr>
        <p:spPr>
          <a:xfrm>
            <a:off x="0" y="69480"/>
            <a:ext cx="6019560" cy="6589440"/>
          </a:xfrm>
          <a:prstGeom prst="rect">
            <a:avLst/>
          </a:prstGeom>
          <a:noFill/>
          <a:ln w="0">
            <a:noFill/>
          </a:ln>
        </p:spPr>
        <p:txBody>
          <a:bodyPr lIns="91440" rIns="91440" tIns="45720" bIns="45720" anchor="t">
            <a:normAutofit fontScale="98192"/>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How Dual Stack Works (Step-by-Step Example)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Example: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You open a website: </a:t>
            </a:r>
            <a:r>
              <a:rPr b="1" lang="en-US" sz="2800" spc="-1" strike="noStrike">
                <a:solidFill>
                  <a:schemeClr val="dk1"/>
                </a:solidFill>
                <a:latin typeface="Calibri"/>
              </a:rPr>
              <a:t>www.example.com</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Your computer asks DNS for the address.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DNS replies with:</a:t>
            </a:r>
            <a:endParaRPr b="0" lang="en-US" sz="2800" spc="-1" strike="noStrike">
              <a:solidFill>
                <a:schemeClr val="dk1"/>
              </a:solidFill>
              <a:latin typeface="Calibri"/>
            </a:endParaRPr>
          </a:p>
          <a:p>
            <a:pPr lvl="1" marL="743040" indent="-285840" defTabSz="914400">
              <a:lnSpc>
                <a:spcPct val="90000"/>
              </a:lnSpc>
              <a:spcBef>
                <a:spcPts val="499"/>
              </a:spcBef>
              <a:buClr>
                <a:srgbClr val="000000"/>
              </a:buClr>
              <a:buFont typeface="Calibri Light"/>
              <a:buAutoNum type="arabicPeriod"/>
            </a:pPr>
            <a:r>
              <a:rPr b="1" lang="en-US" sz="2400" spc="-1" strike="noStrike">
                <a:solidFill>
                  <a:schemeClr val="dk1"/>
                </a:solidFill>
                <a:latin typeface="Calibri"/>
              </a:rPr>
              <a:t>AAAA record (IPv6)</a:t>
            </a:r>
            <a:r>
              <a:rPr b="0" lang="en-US" sz="2400" spc="-1" strike="noStrike">
                <a:solidFill>
                  <a:schemeClr val="dk1"/>
                </a:solidFill>
                <a:latin typeface="Calibri"/>
              </a:rPr>
              <a:t> → if available</a:t>
            </a: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Calibri Light"/>
              <a:buAutoNum type="arabicPeriod"/>
            </a:pPr>
            <a:r>
              <a:rPr b="1" lang="en-US" sz="2400" spc="-1" strike="noStrike">
                <a:solidFill>
                  <a:schemeClr val="dk1"/>
                </a:solidFill>
                <a:latin typeface="Calibri"/>
              </a:rPr>
              <a:t>A record (IPv4)</a:t>
            </a:r>
            <a:r>
              <a:rPr b="0" lang="en-US" sz="2400" spc="-1" strike="noStrike">
                <a:solidFill>
                  <a:schemeClr val="dk1"/>
                </a:solidFill>
                <a:latin typeface="Calibri"/>
              </a:rPr>
              <a:t> → if available</a:t>
            </a:r>
            <a:endParaRPr b="0" lang="en-US" sz="24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Your system prefers </a:t>
            </a:r>
            <a:r>
              <a:rPr b="1" lang="en-US" sz="2800" spc="-1" strike="noStrike">
                <a:solidFill>
                  <a:schemeClr val="dk1"/>
                </a:solidFill>
                <a:latin typeface="Calibri"/>
              </a:rPr>
              <a:t>IPv6</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If IPv6 fails or is unavailable:</a:t>
            </a:r>
            <a:endParaRPr b="0" lang="en-US" sz="2800" spc="-1" strike="noStrike">
              <a:solidFill>
                <a:schemeClr val="dk1"/>
              </a:solidFill>
              <a:latin typeface="Calibri"/>
            </a:endParaRPr>
          </a:p>
          <a:p>
            <a:pPr lvl="1" marL="743040" indent="-285840" defTabSz="914400">
              <a:lnSpc>
                <a:spcPct val="90000"/>
              </a:lnSpc>
              <a:spcBef>
                <a:spcPts val="499"/>
              </a:spcBef>
              <a:buClr>
                <a:srgbClr val="000000"/>
              </a:buClr>
              <a:buFont typeface="Calibri Light"/>
              <a:buAutoNum type="arabicPeriod"/>
            </a:pPr>
            <a:r>
              <a:rPr b="0" lang="en-US" sz="2400" spc="-1" strike="noStrike">
                <a:solidFill>
                  <a:schemeClr val="dk1"/>
                </a:solidFill>
                <a:latin typeface="Calibri"/>
              </a:rPr>
              <a:t>It automatically uses </a:t>
            </a:r>
            <a:r>
              <a:rPr b="1" lang="en-US" sz="2400" spc="-1" strike="noStrike">
                <a:solidFill>
                  <a:schemeClr val="dk1"/>
                </a:solidFill>
                <a:latin typeface="Calibri"/>
              </a:rPr>
              <a:t>IPv4</a:t>
            </a:r>
            <a:endParaRPr b="0" lang="en-US" sz="24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This process is </a:t>
            </a:r>
            <a:r>
              <a:rPr b="1" lang="en-US" sz="2800" spc="-1" strike="noStrike">
                <a:solidFill>
                  <a:schemeClr val="dk1"/>
                </a:solidFill>
                <a:latin typeface="Calibri"/>
              </a:rPr>
              <a:t>automatic and seamless</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96" name="PlaceHolder 2"/>
          <p:cNvSpPr>
            <a:spLocks noGrp="1"/>
          </p:cNvSpPr>
          <p:nvPr>
            <p:ph/>
          </p:nvPr>
        </p:nvSpPr>
        <p:spPr>
          <a:xfrm>
            <a:off x="6172200" y="218520"/>
            <a:ext cx="5843880" cy="63208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Need v4/v6 Communication Support”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During transition, many servers are still IPv4-only.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Some are IPv6-only.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Dual Stack allows communication with </a:t>
            </a:r>
            <a:r>
              <a:rPr b="1" lang="en-US" sz="2800" spc="-1" strike="noStrike">
                <a:solidFill>
                  <a:schemeClr val="dk1"/>
                </a:solidFill>
                <a:latin typeface="Calibri"/>
              </a:rPr>
              <a:t>both types of networks</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p:nvPr>
        </p:nvSpPr>
        <p:spPr>
          <a:xfrm>
            <a:off x="0" y="79560"/>
            <a:ext cx="6019560" cy="653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4000" spc="-1" strike="noStrike">
                <a:solidFill>
                  <a:schemeClr val="dk1"/>
                </a:solidFill>
                <a:latin typeface="Calibri"/>
              </a:rPr>
              <a:t>Tunneling</a:t>
            </a:r>
            <a:endParaRPr b="0" lang="en-US" sz="40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Tunneling enables isolated IPv6 networks to communicate across an existing IPv4 infrastructure by encapsulating IPv6 packets inside IPv4 packets.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transition mechanism allows for connectivity without immediate, full-scale upgrading of intermediate routers, bridging gaps in IPv6 support</a:t>
            </a:r>
            <a:endParaRPr b="0" lang="en-US" sz="2800" spc="-1" strike="noStrike">
              <a:solidFill>
                <a:schemeClr val="dk1"/>
              </a:solidFill>
              <a:latin typeface="Calibri"/>
            </a:endParaRPr>
          </a:p>
        </p:txBody>
      </p:sp>
      <p:pic>
        <p:nvPicPr>
          <p:cNvPr id="98" name="Picture 2" descr="IPv6 tunneling over IPv4 Configuration"/>
          <p:cNvPicPr/>
          <p:nvPr/>
        </p:nvPicPr>
        <p:blipFill>
          <a:blip r:embed="rId1"/>
          <a:stretch/>
        </p:blipFill>
        <p:spPr>
          <a:xfrm>
            <a:off x="6410880" y="834840"/>
            <a:ext cx="5545800" cy="4379400"/>
          </a:xfrm>
          <a:prstGeom prst="rect">
            <a:avLst/>
          </a:prstGeom>
          <a:ln w="0">
            <a:noFill/>
          </a:ln>
        </p:spPr>
      </p:pic>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0" y="0"/>
            <a:ext cx="6019560" cy="6857640"/>
          </a:xfrm>
          <a:prstGeom prst="rect">
            <a:avLst/>
          </a:prstGeom>
          <a:noFill/>
          <a:ln w="0">
            <a:noFill/>
          </a:ln>
        </p:spPr>
        <p:txBody>
          <a:bodyPr lIns="91440" rIns="91440" tIns="45720" bIns="45720" anchor="t">
            <a:normAutofit/>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A technique of inter-networking called </a:t>
            </a:r>
            <a:r>
              <a:rPr b="1" lang="en-US" sz="2800" spc="-1" strike="noStrike">
                <a:solidFill>
                  <a:schemeClr val="dk1"/>
                </a:solidFill>
                <a:latin typeface="Calibri"/>
              </a:rPr>
              <a:t>Tunneling</a:t>
            </a:r>
            <a:r>
              <a:rPr b="0" lang="en-US" sz="2800" spc="-1" strike="noStrike">
                <a:solidFill>
                  <a:schemeClr val="dk1"/>
                </a:solidFill>
                <a:latin typeface="Calibri"/>
              </a:rPr>
              <a:t> is used when source and destination networks of the same type are to be connected through a network of different types.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Tunneling uses a layered protocol model such as those of the OSI or </a:t>
            </a:r>
            <a:r>
              <a:rPr b="0" lang="en-US" sz="2800" spc="-1" strike="noStrike" u="sng">
                <a:solidFill>
                  <a:schemeClr val="dk1"/>
                </a:solidFill>
                <a:uFillTx/>
                <a:latin typeface="Calibri"/>
                <a:hlinkClick r:id="rId1"/>
              </a:rPr>
              <a:t>TCP/IP</a:t>
            </a:r>
            <a:r>
              <a:rPr b="0" lang="en-US" sz="2800" spc="-1" strike="noStrike">
                <a:solidFill>
                  <a:schemeClr val="dk1"/>
                </a:solidFill>
                <a:latin typeface="Calibri"/>
              </a:rPr>
              <a:t> protocol suite.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So, in other words, when data moves from host A to B it covers all the different levels of the specified protocol (OSI, TCP/IP, etc.) while moving between different levels, data conversion (Encapsulation) to suit different interfaces of the particular layer is called tunneling.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100" name="Content Placeholder 5" descr=""/>
          <p:cNvPicPr/>
          <p:nvPr/>
        </p:nvPicPr>
        <p:blipFill>
          <a:blip r:embed="rId2"/>
          <a:stretch/>
        </p:blipFill>
        <p:spPr>
          <a:xfrm>
            <a:off x="6639480" y="1520640"/>
            <a:ext cx="5237640" cy="3782520"/>
          </a:xfrm>
          <a:prstGeom prst="rect">
            <a:avLst/>
          </a:prstGeom>
          <a:ln w="0">
            <a:noFill/>
          </a:ln>
        </p:spPr>
      </p:pic>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p:nvPr>
        </p:nvSpPr>
        <p:spPr>
          <a:xfrm>
            <a:off x="0" y="0"/>
            <a:ext cx="12105360" cy="6857640"/>
          </a:xfrm>
          <a:prstGeom prst="rect">
            <a:avLst/>
          </a:prstGeom>
          <a:noFill/>
          <a:ln w="0">
            <a:noFill/>
          </a:ln>
        </p:spPr>
        <p:txBody>
          <a:bodyPr lIns="91440" rIns="91440" tIns="45720" bIns="45720" anchor="t">
            <a:normAutofit/>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task is sent on an IP packet from host A of Ethernet-1 to host B of Ethernet-2 via a WAN.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Steps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Host A constructs a packet that contains the IP address of Host B.</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It then inserts this IP packet into an Ethernet frame and this frame is addressed to the multiprotocol router M1</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Host A then puts this frame on Ethernet.</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When M1 receives this frame, it removes the IP packet, inserts it in the payload packet of the WAN network layer packet, and addresses the WAN packet to M2.</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The multiprotocol router M2 removes the IP packet and sends it to host B in an Ethernet frame.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p:nvPr>
        </p:nvSpPr>
        <p:spPr>
          <a:xfrm>
            <a:off x="79560" y="198720"/>
            <a:ext cx="11876760" cy="6380640"/>
          </a:xfrm>
          <a:prstGeom prst="rect">
            <a:avLst/>
          </a:prstGeom>
          <a:noFill/>
          <a:ln w="0">
            <a:noFill/>
          </a:ln>
        </p:spPr>
        <p:txBody>
          <a:bodyPr lIns="91440" rIns="91440" tIns="45720" bIns="45720" anchor="t">
            <a:normAutofit/>
          </a:bodyPr>
          <a:p>
            <a:pPr indent="0" algn="just" defTabSz="914400">
              <a:lnSpc>
                <a:spcPct val="90000"/>
              </a:lnSpc>
              <a:spcBef>
                <a:spcPts val="1001"/>
              </a:spcBef>
              <a:buNone/>
              <a:tabLst>
                <a:tab algn="l" pos="0"/>
              </a:tabLst>
            </a:pPr>
            <a:r>
              <a:rPr b="1" lang="en-US" sz="2800" spc="-1" strike="noStrike">
                <a:solidFill>
                  <a:schemeClr val="dk1"/>
                </a:solidFill>
                <a:latin typeface="Calibri"/>
              </a:rPr>
              <a:t>How Does Encapsulation Work?</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Data travels from one place to another in the form of packets, and a packet has two parts, the first one is the header which consists of the destination address and the working protocol and the second thing is its contents.</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simple terminology, Encapsulation is the process of adding a new packet within the existing packet or a packet inside a packet.</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 an encapsulated packet, the header part of the first packet is remain surrounded by the payload section of the surrounding packet, which has actual contents.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0" y="0"/>
            <a:ext cx="12191760" cy="680760"/>
          </a:xfrm>
          <a:prstGeom prst="rect">
            <a:avLst/>
          </a:prstGeom>
          <a:noFill/>
          <a:ln w="0">
            <a:noFill/>
          </a:ln>
        </p:spPr>
        <p:txBody>
          <a:bodyPr lIns="91440" rIns="91440" tIns="45720" bIns="45720" anchor="ctr">
            <a:normAutofit/>
          </a:bodyPr>
          <a:p>
            <a:pPr indent="0" defTabSz="914400">
              <a:lnSpc>
                <a:spcPct val="90000"/>
              </a:lnSpc>
              <a:buNone/>
            </a:pPr>
            <a:r>
              <a:rPr b="1" lang="en-US" sz="4400" spc="-1" strike="noStrike">
                <a:solidFill>
                  <a:schemeClr val="dk1"/>
                </a:solidFill>
                <a:latin typeface="Calibri Light"/>
              </a:rPr>
              <a:t>Translation (NAT64/DNS64):</a:t>
            </a:r>
            <a:endParaRPr b="0" lang="en-US" sz="4400" spc="-1" strike="noStrike">
              <a:solidFill>
                <a:schemeClr val="dk1"/>
              </a:solidFill>
              <a:latin typeface="Calibri"/>
            </a:endParaRPr>
          </a:p>
        </p:txBody>
      </p:sp>
      <p:sp>
        <p:nvSpPr>
          <p:cNvPr id="104" name="PlaceHolder 2"/>
          <p:cNvSpPr>
            <a:spLocks noGrp="1"/>
          </p:cNvSpPr>
          <p:nvPr>
            <p:ph/>
          </p:nvPr>
        </p:nvSpPr>
        <p:spPr>
          <a:xfrm>
            <a:off x="152640" y="914400"/>
            <a:ext cx="12191760" cy="59234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NAT64 and DNS64 are complementary technologies used together to allow IPv6-only clients to communicate with IPv4-only servers, facilitating the transition from IPv4 to IPv6 without requiring a dual-stack network</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p:nvPr>
        </p:nvSpPr>
        <p:spPr>
          <a:xfrm>
            <a:off x="0" y="0"/>
            <a:ext cx="6019560" cy="6768360"/>
          </a:xfrm>
          <a:prstGeom prst="rect">
            <a:avLst/>
          </a:prstGeom>
          <a:noFill/>
          <a:ln w="0">
            <a:noFill/>
          </a:ln>
        </p:spPr>
        <p:txBody>
          <a:bodyPr lIns="91440" rIns="91440" tIns="45720" bIns="45720" anchor="t">
            <a:normAutofit/>
          </a:bodyPr>
          <a:p>
            <a:pPr defTabSz="914400">
              <a:lnSpc>
                <a:spcPct val="100000"/>
              </a:lnSpc>
              <a:buClr>
                <a:srgbClr val="000000"/>
              </a:buClr>
              <a:buFont typeface="Symbol" charset="2"/>
              <a:buChar char=""/>
            </a:pPr>
            <a:r>
              <a:rPr b="1" lang="en-US" sz="2800" spc="-1" strike="noStrike">
                <a:solidFill>
                  <a:schemeClr val="dk1"/>
                </a:solidFill>
                <a:latin typeface="Arial"/>
              </a:rPr>
              <a:t>NAT64 (Network Address Translation 64):</a:t>
            </a:r>
            <a:r>
              <a:rPr b="0" lang="en-US" sz="2800" spc="-1" strike="noStrike">
                <a:solidFill>
                  <a:schemeClr val="dk1"/>
                </a:solidFill>
                <a:latin typeface="Arial"/>
              </a:rPr>
              <a:t> </a:t>
            </a:r>
            <a:endParaRPr b="0" lang="en-US" sz="2800" spc="-1" strike="noStrike">
              <a:solidFill>
                <a:schemeClr val="dk1"/>
              </a:solidFill>
              <a:latin typeface="Calibri"/>
            </a:endParaRPr>
          </a:p>
          <a:p>
            <a:pPr indent="0" defTabSz="914400">
              <a:lnSpc>
                <a:spcPct val="100000"/>
              </a:lnSpc>
              <a:buNone/>
            </a:pPr>
            <a:endParaRPr b="0" lang="en-US" sz="2800" spc="-1" strike="noStrike">
              <a:solidFill>
                <a:schemeClr val="dk1"/>
              </a:solidFill>
              <a:latin typeface="Calibri"/>
            </a:endParaRPr>
          </a:p>
          <a:p>
            <a:pPr defTabSz="914400">
              <a:lnSpc>
                <a:spcPct val="100000"/>
              </a:lnSpc>
              <a:buClr>
                <a:srgbClr val="000000"/>
              </a:buClr>
              <a:buFont typeface="Symbol" charset="2"/>
              <a:buChar char=""/>
            </a:pPr>
            <a:r>
              <a:rPr b="0" lang="en-US" sz="2800" spc="-1" strike="noStrike">
                <a:solidFill>
                  <a:schemeClr val="dk1"/>
                </a:solidFill>
                <a:latin typeface="Arial"/>
              </a:rPr>
              <a:t>A stateful mechanism that translates IPv6 packets into IPv4 packets and vice versa.</a:t>
            </a:r>
            <a:endParaRPr b="0" lang="en-US" sz="2800" spc="-1" strike="noStrike">
              <a:solidFill>
                <a:schemeClr val="dk1"/>
              </a:solidFill>
              <a:latin typeface="Calibri"/>
            </a:endParaRPr>
          </a:p>
          <a:p>
            <a:pPr indent="0" defTabSz="914400">
              <a:lnSpc>
                <a:spcPct val="100000"/>
              </a:lnSpc>
              <a:buNone/>
            </a:pPr>
            <a:endParaRPr b="0" lang="en-US" sz="2800" spc="-1" strike="noStrike">
              <a:solidFill>
                <a:schemeClr val="dk1"/>
              </a:solidFill>
              <a:latin typeface="Calibri"/>
            </a:endParaRPr>
          </a:p>
          <a:p>
            <a:pPr defTabSz="914400">
              <a:lnSpc>
                <a:spcPct val="100000"/>
              </a:lnSpc>
              <a:buClr>
                <a:srgbClr val="000000"/>
              </a:buClr>
              <a:buFont typeface="Symbol" charset="2"/>
              <a:buChar char=""/>
            </a:pPr>
            <a:r>
              <a:rPr b="0" lang="en-US" sz="2800" spc="-1" strike="noStrike">
                <a:solidFill>
                  <a:schemeClr val="dk1"/>
                </a:solidFill>
                <a:latin typeface="Arial"/>
              </a:rPr>
              <a:t> </a:t>
            </a:r>
            <a:r>
              <a:rPr b="0" lang="en-US" sz="2800" spc="-1" strike="noStrike">
                <a:solidFill>
                  <a:schemeClr val="dk1"/>
                </a:solidFill>
                <a:latin typeface="Arial"/>
              </a:rPr>
              <a:t>It operates at the edge of the network, using a pool of IPv4 addresses and port address translation (PAT) to map multiple IPv6 clients to one or more IPv4 addresses.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106" name="PlaceHolder 2"/>
          <p:cNvSpPr>
            <a:spLocks noGrp="1"/>
          </p:cNvSpPr>
          <p:nvPr>
            <p:ph/>
          </p:nvPr>
        </p:nvSpPr>
        <p:spPr>
          <a:xfrm>
            <a:off x="6019920" y="0"/>
            <a:ext cx="6171840" cy="67683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Arial"/>
              </a:rPr>
              <a:t>DNS64 (DNS extensions for NAT64):</a:t>
            </a:r>
            <a:r>
              <a:rPr b="0" lang="en-US" sz="2800" spc="-1" strike="noStrike">
                <a:solidFill>
                  <a:schemeClr val="dk1"/>
                </a:solidFill>
                <a:latin typeface="Arial"/>
              </a:rPr>
              <a:t> A DNS mechanism that synthesizes AAAA records (IPv6) from A records (IPv4). When an IPv6-only client requests the address of an IPv4-only server, the DNS64 server creates a synthetic IPv6 address (using a special prefix, commonly </a:t>
            </a:r>
            <a:r>
              <a:rPr b="0" lang="en-US" sz="4000" spc="-1" strike="noStrike">
                <a:solidFill>
                  <a:schemeClr val="dk1"/>
                </a:solidFill>
                <a:latin typeface="Arial Unicode MS"/>
              </a:rPr>
              <a:t>64:ff9b::/96</a:t>
            </a:r>
            <a:r>
              <a:rPr b="0" lang="en-US" sz="3200" spc="-1" strike="noStrike">
                <a:solidFill>
                  <a:schemeClr val="dk1"/>
                </a:solidFill>
                <a:latin typeface="Calibri"/>
              </a:rPr>
              <a:t>) that embeds the actual IPv4 addres</a:t>
            </a:r>
            <a:r>
              <a:rPr b="0" lang="en-US" sz="7200" spc="-1" strike="noStrike">
                <a:solidFill>
                  <a:schemeClr val="dk1"/>
                </a:solidFill>
                <a:latin typeface="Arial"/>
              </a:rPr>
              <a:t>s</a:t>
            </a:r>
            <a:endParaRPr b="0" lang="en-US" sz="72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100000"/>
              </a:lnSpc>
              <a:buNone/>
              <a:tabLst>
                <a:tab algn="l" pos="0"/>
              </a:tabLst>
            </a:pPr>
            <a:r>
              <a:rPr b="1" lang="en-US" sz="2800" spc="-1" strike="noStrike">
                <a:solidFill>
                  <a:schemeClr val="dk1"/>
                </a:solidFill>
                <a:latin typeface="Arial"/>
              </a:rPr>
              <a:t>How the Translation Works (Flow)</a:t>
            </a:r>
            <a:endParaRPr b="0" lang="en-US" sz="2800" spc="-1" strike="noStrike">
              <a:solidFill>
                <a:schemeClr val="dk1"/>
              </a:solidFill>
              <a:latin typeface="Calibri"/>
            </a:endParaRPr>
          </a:p>
          <a:p>
            <a:pPr defTabSz="914400">
              <a:lnSpc>
                <a:spcPct val="100000"/>
              </a:lnSpc>
              <a:buClr>
                <a:srgbClr val="000000"/>
              </a:buClr>
              <a:buFont typeface="OpenSymbol"/>
              <a:buAutoNum type="arabicPeriod"/>
              <a:tabLst>
                <a:tab algn="l" pos="0"/>
              </a:tabLst>
            </a:pPr>
            <a:r>
              <a:rPr b="1" lang="en-US" sz="2800" spc="-1" strike="noStrike">
                <a:solidFill>
                  <a:schemeClr val="dk1"/>
                </a:solidFill>
                <a:latin typeface="Arial"/>
              </a:rPr>
              <a:t>Request:</a:t>
            </a:r>
            <a:r>
              <a:rPr b="0" lang="en-US" sz="2800" spc="-1" strike="noStrike">
                <a:solidFill>
                  <a:schemeClr val="dk1"/>
                </a:solidFill>
                <a:latin typeface="Arial"/>
              </a:rPr>
              <a:t> An IPv6-only client tries to connect to an IPv4-only server (e.g., </a:t>
            </a:r>
            <a:r>
              <a:rPr b="0" lang="en-US" sz="2400" spc="-1" strike="noStrike">
                <a:solidFill>
                  <a:schemeClr val="dk1"/>
                </a:solidFill>
                <a:latin typeface="Arial Unicode MS"/>
              </a:rPr>
              <a:t>example.com</a:t>
            </a:r>
            <a:r>
              <a:rPr b="0" lang="en-US" sz="1800" spc="-1" strike="noStrike">
                <a:solidFill>
                  <a:schemeClr val="dk1"/>
                </a:solidFill>
                <a:latin typeface="Calibri"/>
              </a:rPr>
              <a:t>).</a:t>
            </a:r>
            <a:endParaRPr b="0" lang="en-US" sz="1800" spc="-1" strike="noStrike">
              <a:solidFill>
                <a:schemeClr val="dk1"/>
              </a:solidFill>
              <a:latin typeface="Calibri"/>
            </a:endParaRPr>
          </a:p>
          <a:p>
            <a:pPr defTabSz="914400">
              <a:lnSpc>
                <a:spcPct val="100000"/>
              </a:lnSpc>
              <a:buClr>
                <a:srgbClr val="000000"/>
              </a:buClr>
              <a:buFont typeface="OpenSymbol"/>
              <a:buAutoNum type="arabicPeriod" startAt="2"/>
              <a:tabLst>
                <a:tab algn="l" pos="0"/>
              </a:tabLst>
            </a:pPr>
            <a:r>
              <a:rPr b="1" lang="en-US" sz="2800" spc="-1" strike="noStrike">
                <a:solidFill>
                  <a:schemeClr val="dk1"/>
                </a:solidFill>
                <a:latin typeface="Arial"/>
              </a:rPr>
              <a:t>DNS64 Synthesis:</a:t>
            </a:r>
            <a:r>
              <a:rPr b="0" lang="en-US" sz="2800" spc="-1" strike="noStrike">
                <a:solidFill>
                  <a:schemeClr val="dk1"/>
                </a:solidFill>
                <a:latin typeface="Arial"/>
              </a:rPr>
              <a:t> The client asks for the AAAA record. The DNS64 server receives no AAAA record, so it asks for the A record. </a:t>
            </a:r>
            <a:endParaRPr b="0" lang="en-US" sz="2800" spc="-1" strike="noStrike">
              <a:solidFill>
                <a:schemeClr val="dk1"/>
              </a:solidFill>
              <a:latin typeface="Calibri"/>
            </a:endParaRPr>
          </a:p>
          <a:p>
            <a:pPr marL="228600" indent="-228600" defTabSz="914400">
              <a:lnSpc>
                <a:spcPct val="100000"/>
              </a:lnSpc>
              <a:buClr>
                <a:srgbClr val="000000"/>
              </a:buClr>
              <a:buFont typeface="Arial"/>
              <a:buChar char="•"/>
              <a:tabLst>
                <a:tab algn="l" pos="0"/>
              </a:tabLst>
            </a:pPr>
            <a:r>
              <a:rPr b="0" lang="en-US" sz="2800" spc="-1" strike="noStrike">
                <a:solidFill>
                  <a:schemeClr val="dk1"/>
                </a:solidFill>
                <a:latin typeface="Arial"/>
              </a:rPr>
              <a:t>IT takes the IPv4 address, embeds it into the </a:t>
            </a:r>
            <a:r>
              <a:rPr b="0" lang="en-US" sz="2400" spc="-1" strike="noStrike">
                <a:solidFill>
                  <a:schemeClr val="dk1"/>
                </a:solidFill>
                <a:latin typeface="Arial Unicode MS"/>
              </a:rPr>
              <a:t>64:ff9b::/96</a:t>
            </a:r>
            <a:r>
              <a:rPr b="0" lang="en-US" sz="1800" spc="-1" strike="noStrike">
                <a:solidFill>
                  <a:schemeClr val="dk1"/>
                </a:solidFill>
                <a:latin typeface="Calibri"/>
              </a:rPr>
              <a:t> prefix, and returns this synthetic </a:t>
            </a:r>
            <a:r>
              <a:rPr b="0" lang="en-US" sz="2800" spc="-1" strike="noStrike">
                <a:solidFill>
                  <a:schemeClr val="dk1"/>
                </a:solidFill>
                <a:latin typeface="Calibri"/>
              </a:rPr>
              <a:t>IPv6 address to the client.</a:t>
            </a:r>
            <a:endParaRPr b="0" lang="en-US" sz="2800" spc="-1" strike="noStrike">
              <a:solidFill>
                <a:schemeClr val="dk1"/>
              </a:solidFill>
              <a:latin typeface="Calibri"/>
            </a:endParaRPr>
          </a:p>
          <a:p>
            <a:pPr defTabSz="914400">
              <a:lnSpc>
                <a:spcPct val="100000"/>
              </a:lnSpc>
              <a:buClr>
                <a:srgbClr val="000000"/>
              </a:buClr>
              <a:buFont typeface="Arial"/>
              <a:buAutoNum type="arabicPeriod" startAt="3"/>
              <a:tabLst>
                <a:tab algn="l" pos="0"/>
              </a:tabLst>
            </a:pPr>
            <a:r>
              <a:rPr b="1" lang="en-US" sz="2800" spc="-1" strike="noStrike">
                <a:solidFill>
                  <a:schemeClr val="dk1"/>
                </a:solidFill>
                <a:latin typeface="Arial"/>
              </a:rPr>
              <a:t>Routing:</a:t>
            </a:r>
            <a:r>
              <a:rPr b="0" lang="en-US" sz="2800" spc="-1" strike="noStrike">
                <a:solidFill>
                  <a:schemeClr val="dk1"/>
                </a:solidFill>
                <a:latin typeface="Arial"/>
              </a:rPr>
              <a:t> The client sends IPv6 packets to this synthetic address. Network routing directs these packets to the NAT64 device.</a:t>
            </a:r>
            <a:endParaRPr b="0" lang="en-US" sz="2800" spc="-1" strike="noStrike">
              <a:solidFill>
                <a:schemeClr val="dk1"/>
              </a:solidFill>
              <a:latin typeface="Calibri"/>
            </a:endParaRPr>
          </a:p>
          <a:p>
            <a:pPr defTabSz="914400">
              <a:lnSpc>
                <a:spcPct val="100000"/>
              </a:lnSpc>
              <a:buClr>
                <a:srgbClr val="000000"/>
              </a:buClr>
              <a:buFont typeface="Arial"/>
              <a:buAutoNum type="arabicPeriod" startAt="4"/>
              <a:tabLst>
                <a:tab algn="l" pos="0"/>
              </a:tabLst>
            </a:pPr>
            <a:r>
              <a:rPr b="1" lang="en-US" sz="2800" spc="-1" strike="noStrike">
                <a:solidFill>
                  <a:schemeClr val="dk1"/>
                </a:solidFill>
                <a:latin typeface="Arial"/>
              </a:rPr>
              <a:t>NAT64 Translation:</a:t>
            </a:r>
            <a:r>
              <a:rPr b="0" lang="en-US" sz="2800" spc="-1" strike="noStrike">
                <a:solidFill>
                  <a:schemeClr val="dk1"/>
                </a:solidFill>
                <a:latin typeface="Arial"/>
              </a:rPr>
              <a:t> The NAT64 device removes the prefix to reveal the destination IPv4 address</a:t>
            </a:r>
            <a:endParaRPr b="0" lang="en-US" sz="2800" spc="-1" strike="noStrike">
              <a:solidFill>
                <a:schemeClr val="dk1"/>
              </a:solidFill>
              <a:latin typeface="Calibri"/>
            </a:endParaRPr>
          </a:p>
          <a:p>
            <a:pPr indent="0" defTabSz="914400">
              <a:lnSpc>
                <a:spcPct val="100000"/>
              </a:lnSpc>
              <a:buNone/>
              <a:tabLst>
                <a:tab algn="l" pos="0"/>
              </a:tabLst>
            </a:pPr>
            <a:r>
              <a:rPr b="0" lang="en-US" sz="2800" spc="-1" strike="noStrike">
                <a:solidFill>
                  <a:schemeClr val="dk1"/>
                </a:solidFill>
                <a:latin typeface="Arial"/>
              </a:rPr>
              <a:t> </a:t>
            </a:r>
            <a:r>
              <a:rPr b="0" lang="en-US" sz="2800" spc="-1" strike="noStrike">
                <a:solidFill>
                  <a:schemeClr val="dk1"/>
                </a:solidFill>
                <a:latin typeface="Arial"/>
              </a:rPr>
              <a:t>It translates the source IPv6 address to an IPv4 address (using its own pool) and translates the packet headers.</a:t>
            </a:r>
            <a:endParaRPr b="0" lang="en-US" sz="2800" spc="-1" strike="noStrike">
              <a:solidFill>
                <a:schemeClr val="dk1"/>
              </a:solidFill>
              <a:latin typeface="Calibri"/>
            </a:endParaRPr>
          </a:p>
          <a:p>
            <a:pPr defTabSz="914400">
              <a:lnSpc>
                <a:spcPct val="100000"/>
              </a:lnSpc>
              <a:buClr>
                <a:srgbClr val="000000"/>
              </a:buClr>
              <a:buFont typeface="Arial"/>
              <a:buAutoNum type="arabicPeriod" startAt="5"/>
              <a:tabLst>
                <a:tab algn="l" pos="0"/>
              </a:tabLst>
            </a:pPr>
            <a:r>
              <a:rPr b="1" lang="en-US" sz="2800" spc="-1" strike="noStrike">
                <a:solidFill>
                  <a:schemeClr val="dk1"/>
                </a:solidFill>
                <a:latin typeface="Arial"/>
              </a:rPr>
              <a:t>Return Traffic:</a:t>
            </a:r>
            <a:r>
              <a:rPr b="0" lang="en-US" sz="2800" spc="-1" strike="noStrike">
                <a:solidFill>
                  <a:schemeClr val="dk1"/>
                </a:solidFill>
                <a:latin typeface="Arial"/>
              </a:rPr>
              <a:t> When the IPv4 server replies, the NAT64 device uses its state table to map the IPv4 address back to the original IPv6 client address.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rmAutofit fontScale="65236"/>
          </a:bodyPr>
          <a:p>
            <a:pPr indent="0" defTabSz="914400">
              <a:lnSpc>
                <a:spcPct val="90000"/>
              </a:lnSpc>
              <a:buNone/>
            </a:pPr>
            <a:br>
              <a:rPr sz="4400"/>
            </a:br>
            <a:r>
              <a:rPr b="1" lang="en-US" sz="4400" spc="-1" strike="noStrike">
                <a:solidFill>
                  <a:schemeClr val="dk1"/>
                </a:solidFill>
                <a:latin typeface="Calibri Light"/>
              </a:rPr>
              <a:t>Network Address Translation (NAT)</a:t>
            </a:r>
            <a:br>
              <a:rPr sz="4400"/>
            </a:br>
            <a:endParaRPr b="0" lang="en-US" sz="4400" spc="-1" strike="noStrike">
              <a:solidFill>
                <a:schemeClr val="dk1"/>
              </a:solidFill>
              <a:latin typeface="Calibri"/>
            </a:endParaRPr>
          </a:p>
        </p:txBody>
      </p:sp>
      <p:sp>
        <p:nvSpPr>
          <p:cNvPr id="109" name="PlaceHolder 2"/>
          <p:cNvSpPr>
            <a:spLocks noGrp="1"/>
          </p:cNvSpPr>
          <p:nvPr>
            <p:ph/>
          </p:nvPr>
        </p:nvSpPr>
        <p:spPr>
          <a:xfrm>
            <a:off x="129240" y="1825560"/>
            <a:ext cx="6639120" cy="4962600"/>
          </a:xfrm>
          <a:prstGeom prst="rect">
            <a:avLst/>
          </a:prstGeom>
          <a:noFill/>
          <a:ln w="0">
            <a:noFill/>
          </a:ln>
        </p:spPr>
        <p:txBody>
          <a:bodyPr lIns="91440" rIns="91440" tIns="45720" bIns="45720" anchor="t">
            <a:normAutofit fontScale="93550" lnSpcReduction="10000"/>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Network Address Translation (NAT) allows multiple devices in a private network to access the internet using a single public IP address.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helps conserve IPv4 addresses and hides internal systems for added security.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Translates private IPs to public IPs and vice versa.</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Prevents IPv4 address exhaustion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Adds security by masking internal devices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Allows thousands of devices to share one public IP</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110" name="Picture 2" descr="7"/>
          <p:cNvPicPr/>
          <p:nvPr/>
        </p:nvPicPr>
        <p:blipFill>
          <a:blip r:embed="rId1"/>
          <a:stretch/>
        </p:blipFill>
        <p:spPr>
          <a:xfrm>
            <a:off x="6877800" y="2136960"/>
            <a:ext cx="5078520" cy="3140280"/>
          </a:xfrm>
          <a:prstGeom prst="rect">
            <a:avLst/>
          </a:prstGeom>
          <a:ln w="0">
            <a:noFill/>
          </a:ln>
        </p:spPr>
      </p:pic>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p:nvPr>
        </p:nvSpPr>
        <p:spPr>
          <a:xfrm>
            <a:off x="0" y="308160"/>
            <a:ext cx="11353320" cy="5868360"/>
          </a:xfrm>
          <a:prstGeom prst="rect">
            <a:avLst/>
          </a:prstGeom>
          <a:noFill/>
          <a:ln w="0">
            <a:noFill/>
          </a:ln>
        </p:spPr>
        <p:txBody>
          <a:bodyPr lIns="91440" rIns="91440" tIns="45720" bIns="45720" anchor="t">
            <a:noAutofit/>
          </a:bodyPr>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Arial"/>
              </a:rPr>
              <a:t>Note: </a:t>
            </a:r>
            <a:r>
              <a:rPr b="0" lang="en-US" sz="2800" spc="-1" strike="noStrike">
                <a:solidFill>
                  <a:schemeClr val="dk1"/>
                </a:solidFill>
                <a:latin typeface="Arial"/>
              </a:rPr>
              <a:t>IPv4 provides only 2³² (about 4.3 billion) addresses, which is insufficient considering the massive number of devices connected to the Internet. NAT prevents IP exhaustion by enabling thousands of private devices to share a limited number of public IP addresses.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p:nvPr>
        </p:nvSpPr>
        <p:spPr>
          <a:xfrm>
            <a:off x="0" y="0"/>
            <a:ext cx="60195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Working of NAT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explains how NAT functions: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A device sends a request → reaches the NAT-enabled router.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2"/>
            </a:pPr>
            <a:r>
              <a:rPr b="0" lang="en-US" sz="2800" spc="-1" strike="noStrike">
                <a:solidFill>
                  <a:schemeClr val="dk1"/>
                </a:solidFill>
                <a:latin typeface="Calibri"/>
              </a:rPr>
              <a:t>Router replaces the private IP with its public IP and assigns a unique port.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3"/>
            </a:pPr>
            <a:r>
              <a:rPr b="0" lang="en-US" sz="2800" spc="-1" strike="noStrike">
                <a:solidFill>
                  <a:schemeClr val="dk1"/>
                </a:solidFill>
                <a:latin typeface="Calibri"/>
              </a:rPr>
              <a:t>NAT stores this mapping in the NAT table.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4"/>
            </a:pPr>
            <a:r>
              <a:rPr b="0" lang="en-US" sz="2800" spc="-1" strike="noStrike">
                <a:solidFill>
                  <a:schemeClr val="dk1"/>
                </a:solidFill>
                <a:latin typeface="Calibri"/>
              </a:rPr>
              <a:t>When the server responds, NAT uses the stored entry to send the packet to the correct internal device.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113" name="PlaceHolder 2"/>
          <p:cNvSpPr>
            <a:spLocks noGrp="1"/>
          </p:cNvSpPr>
          <p:nvPr>
            <p:ph/>
          </p:nvPr>
        </p:nvSpPr>
        <p:spPr>
          <a:xfrm>
            <a:off x="6172200" y="0"/>
            <a:ext cx="59331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Why this works: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Many devices can share one public IP</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Port numbers separate device traffic</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Internal IPs stay hidden from the internet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p:nvPr>
        </p:nvSpPr>
        <p:spPr>
          <a:xfrm>
            <a:off x="0" y="0"/>
            <a:ext cx="6095520" cy="674820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Examples of NAT Usage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Connecting Private Networks to the Internet</a:t>
            </a: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NAT - enabled router translates all private IPs to a single public IP, allowing internal devices to access the Internet securely.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Linking Multiple Office Locations</a:t>
            </a:r>
            <a:r>
              <a:rPr b="0" lang="en-US" sz="2800" spc="-1" strike="noStrike">
                <a:solidFill>
                  <a:schemeClr val="dk1"/>
                </a:solidFill>
                <a:latin typeface="Calibri"/>
              </a:rPr>
              <a:t>: Organizations use NAT to translate IPs between branches, enabling communication across locations while maintaining private IP schemes internally.</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115" name="Content Placeholder 8" descr=""/>
          <p:cNvPicPr/>
          <p:nvPr/>
        </p:nvPicPr>
        <p:blipFill>
          <a:blip r:embed="rId1"/>
          <a:stretch/>
        </p:blipFill>
        <p:spPr>
          <a:xfrm>
            <a:off x="6321240" y="487080"/>
            <a:ext cx="5794200" cy="4899600"/>
          </a:xfrm>
          <a:prstGeom prst="rect">
            <a:avLst/>
          </a:prstGeom>
          <a:ln w="0">
            <a:noFill/>
          </a:ln>
        </p:spPr>
      </p:pic>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p:nvPr>
        </p:nvSpPr>
        <p:spPr>
          <a:xfrm>
            <a:off x="0" y="0"/>
            <a:ext cx="6708600" cy="6788160"/>
          </a:xfrm>
          <a:prstGeom prst="rect">
            <a:avLst/>
          </a:prstGeom>
          <a:noFill/>
          <a:ln w="0">
            <a:noFill/>
          </a:ln>
        </p:spPr>
        <p:txBody>
          <a:bodyPr lIns="91440" rIns="91440" tIns="45720" bIns="45720" anchor="t">
            <a:normAutofit fontScale="96763"/>
          </a:bodyPr>
          <a:p>
            <a:pPr indent="0" defTabSz="914400">
              <a:lnSpc>
                <a:spcPct val="90000"/>
              </a:lnSpc>
              <a:spcBef>
                <a:spcPts val="1001"/>
              </a:spcBef>
              <a:buNone/>
              <a:tabLst>
                <a:tab algn="l" pos="0"/>
              </a:tabLst>
            </a:pPr>
            <a:r>
              <a:rPr b="1" lang="en-US" sz="2800" spc="-1" strike="noStrike">
                <a:solidFill>
                  <a:schemeClr val="dk1"/>
                </a:solidFill>
                <a:latin typeface="Calibri"/>
              </a:rPr>
              <a:t>Why NAT Masks Port Numbers?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If two internal devices use the same port to reach the same destination, replies become indistinguishable. NAT fixes this by: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Changing both the private IP and source port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Storing a unique entry in the NAT table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Ensuring replies reach the correct device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NAT Inside and Outside Addresses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Inside refers to the addresses which must be translated.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Outside refers to the addresses which are not in control of an organization.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These are the network addresses where the translation will occur.</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117" name="Content Placeholder 5" descr=""/>
          <p:cNvPicPr/>
          <p:nvPr/>
        </p:nvPicPr>
        <p:blipFill>
          <a:blip r:embed="rId1"/>
          <a:stretch/>
        </p:blipFill>
        <p:spPr>
          <a:xfrm>
            <a:off x="6877800" y="2027520"/>
            <a:ext cx="5128200" cy="2971440"/>
          </a:xfrm>
          <a:prstGeom prst="rect">
            <a:avLst/>
          </a:prstGeom>
          <a:ln w="0">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aphicFrame>
        <p:nvGraphicFramePr>
          <p:cNvPr id="118" name="Content Placeholder 8"/>
          <p:cNvGraphicFramePr/>
          <p:nvPr/>
        </p:nvGraphicFramePr>
        <p:xfrm>
          <a:off x="0" y="69480"/>
          <a:ext cx="12115440" cy="6444720"/>
        </p:xfrm>
        <a:graphic>
          <a:graphicData uri="http://schemas.openxmlformats.org/drawingml/2006/table">
            <a:tbl>
              <a:tblPr/>
              <a:tblGrid>
                <a:gridCol w="6057720"/>
                <a:gridCol w="6057720"/>
              </a:tblGrid>
              <a:tr h="1282680">
                <a:tc>
                  <a:txBody>
                    <a:bodyPr lIns="45000" rIns="45000" tIns="22320" bIns="22320" anchor="ctr">
                      <a:noAutofit/>
                    </a:bodyPr>
                    <a:p>
                      <a:pPr algn="ctr" defTabSz="914400">
                        <a:lnSpc>
                          <a:spcPct val="100000"/>
                        </a:lnSpc>
                      </a:pPr>
                      <a:r>
                        <a:rPr b="0" lang="en-US" sz="2800" spc="-1" strike="noStrike">
                          <a:solidFill>
                            <a:schemeClr val="dk1"/>
                          </a:solidFill>
                          <a:latin typeface="Calibri"/>
                        </a:rPr>
                        <a:t>Term</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c>
                  <a:txBody>
                    <a:bodyPr lIns="45000" rIns="45000" tIns="22320" bIns="22320" anchor="ctr">
                      <a:noAutofit/>
                    </a:bodyPr>
                    <a:p>
                      <a:pPr algn="ctr" defTabSz="914400">
                        <a:lnSpc>
                          <a:spcPct val="100000"/>
                        </a:lnSpc>
                      </a:pPr>
                      <a:r>
                        <a:rPr b="0" lang="en-US" sz="2800" spc="-1" strike="noStrike">
                          <a:solidFill>
                            <a:schemeClr val="dk1"/>
                          </a:solidFill>
                          <a:latin typeface="Calibri"/>
                        </a:rPr>
                        <a:t>Meaning</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r>
              <a:tr h="1290240">
                <a:tc>
                  <a:txBody>
                    <a:bodyPr lIns="45000" rIns="45000" tIns="22320" bIns="22320" anchor="ctr">
                      <a:noAutofit/>
                    </a:bodyPr>
                    <a:p>
                      <a:pPr algn="ctr" defTabSz="914400">
                        <a:lnSpc>
                          <a:spcPct val="100000"/>
                        </a:lnSpc>
                      </a:pPr>
                      <a:r>
                        <a:rPr b="1" lang="en-US" sz="2800" spc="-1" strike="noStrike">
                          <a:solidFill>
                            <a:schemeClr val="dk1"/>
                          </a:solidFill>
                          <a:latin typeface="Calibri"/>
                        </a:rPr>
                        <a:t>Inside Local</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c>
                  <a:txBody>
                    <a:bodyPr lIns="45000" rIns="45000" tIns="22320" bIns="22320" anchor="ctr">
                      <a:noAutofit/>
                    </a:bodyPr>
                    <a:p>
                      <a:pPr algn="ctr" defTabSz="914400">
                        <a:lnSpc>
                          <a:spcPct val="100000"/>
                        </a:lnSpc>
                      </a:pPr>
                      <a:r>
                        <a:rPr b="0" lang="en-US" sz="2800" spc="-1" strike="noStrike">
                          <a:solidFill>
                            <a:schemeClr val="dk1"/>
                          </a:solidFill>
                          <a:latin typeface="Calibri"/>
                        </a:rPr>
                        <a:t>Private IP inside the network (actual host IP).</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r>
              <a:tr h="1290240">
                <a:tc>
                  <a:txBody>
                    <a:bodyPr lIns="45000" rIns="45000" tIns="22320" bIns="22320" anchor="ctr">
                      <a:noAutofit/>
                    </a:bodyPr>
                    <a:p>
                      <a:pPr algn="ctr" defTabSz="914400">
                        <a:lnSpc>
                          <a:spcPct val="100000"/>
                        </a:lnSpc>
                      </a:pPr>
                      <a:r>
                        <a:rPr b="1" lang="en-US" sz="2800" spc="-1" strike="noStrike">
                          <a:solidFill>
                            <a:schemeClr val="dk1"/>
                          </a:solidFill>
                          <a:latin typeface="Calibri"/>
                        </a:rPr>
                        <a:t>Inside Global</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c>
                  <a:txBody>
                    <a:bodyPr lIns="45000" rIns="45000" tIns="22320" bIns="22320" anchor="ctr">
                      <a:noAutofit/>
                    </a:bodyPr>
                    <a:p>
                      <a:pPr algn="ctr" defTabSz="914400">
                        <a:lnSpc>
                          <a:spcPct val="100000"/>
                        </a:lnSpc>
                      </a:pPr>
                      <a:r>
                        <a:rPr b="0" lang="en-US" sz="2800" spc="-1" strike="noStrike">
                          <a:solidFill>
                            <a:schemeClr val="dk1"/>
                          </a:solidFill>
                          <a:latin typeface="Calibri"/>
                        </a:rPr>
                        <a:t>Public IP representing the inside host externally.</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r>
              <a:tr h="1290240">
                <a:tc>
                  <a:txBody>
                    <a:bodyPr lIns="45000" rIns="45000" tIns="22320" bIns="22320" anchor="ctr">
                      <a:noAutofit/>
                    </a:bodyPr>
                    <a:p>
                      <a:pPr algn="ctr" defTabSz="914400">
                        <a:lnSpc>
                          <a:spcPct val="100000"/>
                        </a:lnSpc>
                      </a:pPr>
                      <a:r>
                        <a:rPr b="1" lang="en-US" sz="2800" spc="-1" strike="noStrike">
                          <a:solidFill>
                            <a:schemeClr val="dk1"/>
                          </a:solidFill>
                          <a:latin typeface="Calibri"/>
                        </a:rPr>
                        <a:t>Outside Local</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c>
                  <a:txBody>
                    <a:bodyPr lIns="45000" rIns="45000" tIns="22320" bIns="22320" anchor="ctr">
                      <a:noAutofit/>
                    </a:bodyPr>
                    <a:p>
                      <a:pPr algn="ctr" defTabSz="914400">
                        <a:lnSpc>
                          <a:spcPct val="100000"/>
                        </a:lnSpc>
                      </a:pPr>
                      <a:r>
                        <a:rPr b="0" lang="en-US" sz="2800" spc="-1" strike="noStrike">
                          <a:solidFill>
                            <a:schemeClr val="dk1"/>
                          </a:solidFill>
                          <a:latin typeface="Calibri"/>
                        </a:rPr>
                        <a:t>Destination IP as seen inside the local network.</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r>
              <a:tr h="1290240">
                <a:tc>
                  <a:txBody>
                    <a:bodyPr lIns="45000" rIns="45000" tIns="22320" bIns="22320" anchor="ctr">
                      <a:noAutofit/>
                    </a:bodyPr>
                    <a:p>
                      <a:pPr algn="ctr" defTabSz="914400">
                        <a:lnSpc>
                          <a:spcPct val="100000"/>
                        </a:lnSpc>
                      </a:pPr>
                      <a:r>
                        <a:rPr b="1" lang="en-US" sz="2800" spc="-1" strike="noStrike">
                          <a:solidFill>
                            <a:schemeClr val="dk1"/>
                          </a:solidFill>
                          <a:latin typeface="Calibri"/>
                        </a:rPr>
                        <a:t>Outside Global</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c>
                  <a:txBody>
                    <a:bodyPr lIns="45000" rIns="45000" tIns="22320" bIns="22320" anchor="ctr">
                      <a:noAutofit/>
                    </a:bodyPr>
                    <a:p>
                      <a:pPr algn="ctr" defTabSz="914400">
                        <a:lnSpc>
                          <a:spcPct val="100000"/>
                        </a:lnSpc>
                      </a:pPr>
                      <a:r>
                        <a:rPr b="0" lang="en-US" sz="2800" spc="-1" strike="noStrike">
                          <a:solidFill>
                            <a:schemeClr val="dk1"/>
                          </a:solidFill>
                          <a:latin typeface="Calibri"/>
                        </a:rPr>
                        <a:t>Actual IP of the external destination host.</a:t>
                      </a:r>
                      <a:endParaRPr b="0" lang="en-US" sz="2800" spc="-1" strike="noStrike">
                        <a:solidFill>
                          <a:srgbClr val="000000"/>
                        </a:solidFill>
                        <a:latin typeface="Arial"/>
                      </a:endParaRPr>
                    </a:p>
                  </a:txBody>
                  <a:tcPr anchor="ctr" marL="45000" marR="45000">
                    <a:lnL w="12240">
                      <a:noFill/>
                      <a:prstDash val="solid"/>
                    </a:lnL>
                    <a:lnR w="12240">
                      <a:noFill/>
                      <a:prstDash val="solid"/>
                    </a:lnR>
                    <a:lnT w="12240">
                      <a:noFill/>
                      <a:prstDash val="solid"/>
                    </a:lnT>
                    <a:lnB w="12240">
                      <a:no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9" name="Content Placeholder 7" descr=""/>
          <p:cNvPicPr/>
          <p:nvPr/>
        </p:nvPicPr>
        <p:blipFill>
          <a:blip r:embed="rId1"/>
          <a:stretch/>
        </p:blipFill>
        <p:spPr>
          <a:xfrm>
            <a:off x="119160" y="825120"/>
            <a:ext cx="12072240" cy="5615280"/>
          </a:xfrm>
          <a:prstGeom prst="rect">
            <a:avLst/>
          </a:prstGeom>
          <a:ln w="0">
            <a:noFill/>
          </a:ln>
        </p:spPr>
      </p:pic>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1" lang="en-US" sz="4400" spc="-1" strike="noStrike">
                <a:solidFill>
                  <a:schemeClr val="dk1"/>
                </a:solidFill>
                <a:latin typeface="Calibri Light"/>
              </a:rPr>
              <a:t>1. Static NAT</a:t>
            </a:r>
            <a:br>
              <a:rPr sz="4400"/>
            </a:br>
            <a:endParaRPr b="0" lang="en-US" sz="4400" spc="-1" strike="noStrike">
              <a:solidFill>
                <a:schemeClr val="dk1"/>
              </a:solidFill>
              <a:latin typeface="Calibri"/>
            </a:endParaRPr>
          </a:p>
        </p:txBody>
      </p:sp>
      <p:sp>
        <p:nvSpPr>
          <p:cNvPr id="121" name="PlaceHolder 2"/>
          <p:cNvSpPr>
            <a:spLocks noGrp="1"/>
          </p:cNvSpPr>
          <p:nvPr>
            <p:ph/>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Maps one private IP to one public IP (one - to - one mapping).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Commonly used in hosting, but not cost - effective for large organizations since each device requires a public IP.</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1" lang="en-US" sz="4400" spc="-1" strike="noStrike">
                <a:solidFill>
                  <a:schemeClr val="dk1"/>
                </a:solidFill>
                <a:latin typeface="Calibri Light"/>
              </a:rPr>
              <a:t>2. Dynamic NAT</a:t>
            </a:r>
            <a:br>
              <a:rPr sz="4400"/>
            </a:br>
            <a:endParaRPr b="0" lang="en-US" sz="4400" spc="-1" strike="noStrike">
              <a:solidFill>
                <a:schemeClr val="dk1"/>
              </a:solidFill>
              <a:latin typeface="Calibri"/>
            </a:endParaRPr>
          </a:p>
        </p:txBody>
      </p:sp>
      <p:sp>
        <p:nvSpPr>
          <p:cNvPr id="123" name="PlaceHolder 2"/>
          <p:cNvSpPr>
            <a:spLocks noGrp="1"/>
          </p:cNvSpPr>
          <p:nvPr>
            <p:ph/>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Maps private IPs to public IPs from a predefined pool.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the pool is exhausted, additional requests are dropped.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Suitable for networks with a limited number of users but still costly.</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119160" y="109440"/>
            <a:ext cx="11946600" cy="745200"/>
          </a:xfrm>
          <a:prstGeom prst="rect">
            <a:avLst/>
          </a:prstGeom>
          <a:noFill/>
          <a:ln w="0">
            <a:noFill/>
          </a:ln>
        </p:spPr>
        <p:txBody>
          <a:bodyPr lIns="91440" rIns="91440" tIns="45720" bIns="45720" anchor="ctr">
            <a:normAutofit fontScale="34095"/>
          </a:bodyPr>
          <a:p>
            <a:pPr indent="0" defTabSz="914400">
              <a:lnSpc>
                <a:spcPct val="90000"/>
              </a:lnSpc>
              <a:buNone/>
            </a:pPr>
            <a:br>
              <a:rPr sz="4400"/>
            </a:br>
            <a:r>
              <a:rPr b="1" lang="en-US" sz="4400" spc="-1" strike="noStrike">
                <a:solidFill>
                  <a:schemeClr val="dk1"/>
                </a:solidFill>
                <a:latin typeface="Calibri Light"/>
              </a:rPr>
              <a:t>3. Port Address Translation (PAT)</a:t>
            </a:r>
            <a:br>
              <a:rPr sz="4400"/>
            </a:br>
            <a:endParaRPr b="0" lang="en-US" sz="4400" spc="-1" strike="noStrike">
              <a:solidFill>
                <a:schemeClr val="dk1"/>
              </a:solidFill>
              <a:latin typeface="Calibri"/>
            </a:endParaRPr>
          </a:p>
        </p:txBody>
      </p:sp>
      <p:sp>
        <p:nvSpPr>
          <p:cNvPr id="125" name="PlaceHolder 2"/>
          <p:cNvSpPr>
            <a:spLocks noGrp="1"/>
          </p:cNvSpPr>
          <p:nvPr>
            <p:ph/>
          </p:nvPr>
        </p:nvSpPr>
        <p:spPr>
          <a:xfrm>
            <a:off x="59760" y="1063440"/>
            <a:ext cx="12006000" cy="51130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Also called NAT Overload.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Multiple private IPs share a single public IP, with unique port numbers distinguishing traffic.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Most widely used because it’s cost - effective and supports thousands of users with a single public IP.</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79560" y="149040"/>
            <a:ext cx="11966400" cy="834480"/>
          </a:xfrm>
          <a:prstGeom prst="rect">
            <a:avLst/>
          </a:prstGeom>
          <a:noFill/>
          <a:ln w="0">
            <a:noFill/>
          </a:ln>
        </p:spPr>
        <p:txBody>
          <a:bodyPr lIns="91440" rIns="91440" tIns="45720" bIns="45720" anchor="ctr">
            <a:normAutofit/>
          </a:bodyPr>
          <a:p>
            <a:pPr indent="0" defTabSz="914400">
              <a:lnSpc>
                <a:spcPct val="90000"/>
              </a:lnSpc>
              <a:buNone/>
            </a:pPr>
            <a:r>
              <a:rPr b="0" lang="en-US" sz="4400" spc="-1" strike="noStrike">
                <a:solidFill>
                  <a:schemeClr val="dk1"/>
                </a:solidFill>
                <a:latin typeface="Calibri Light"/>
              </a:rPr>
              <a:t>Routing Protocol </a:t>
            </a:r>
            <a:endParaRPr b="0" lang="en-US" sz="4400" spc="-1" strike="noStrike">
              <a:solidFill>
                <a:schemeClr val="dk1"/>
              </a:solidFill>
              <a:latin typeface="Calibri"/>
            </a:endParaRPr>
          </a:p>
        </p:txBody>
      </p:sp>
      <p:sp>
        <p:nvSpPr>
          <p:cNvPr id="127" name="PlaceHolder 2"/>
          <p:cNvSpPr>
            <a:spLocks noGrp="1"/>
          </p:cNvSpPr>
          <p:nvPr>
            <p:ph/>
          </p:nvPr>
        </p:nvSpPr>
        <p:spPr>
          <a:xfrm>
            <a:off x="0" y="1113120"/>
            <a:ext cx="12191760" cy="56253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Routing Information Protocol (RIP)</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Routing Information Protocol (RIP) is designed to help routers determine the best path for sending data packets across a network.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uses hop count as its routing metric and is primarily used in small to medium-sized networks due to its scalability limitations.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RIP operates at the Network Layer (Layer 3) of the OSI model and maintains routing tables on each router.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Every 30 seconds, routers exchange their complete routing tables with neighbours using periodic updates.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hop count metric defines the number of routers a packet must pass through to reach its destination.</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p:nvPr>
        </p:nvSpPr>
        <p:spPr>
          <a:xfrm>
            <a:off x="0" y="0"/>
            <a:ext cx="12191760" cy="67780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IP supports a maximum hop count of 15, which limits its use in larger networks. A hop count of 16 is considered unreachable.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Features of RIP</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Exchanges updates periodically (every 30 seconds).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Broadcasts (RIPv1) or multicasts (RIPv2/RIPng) routing information.</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Sends entire routing tables in updates.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Works on the principle of routing by rumor (trusting neighbors' information).</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Uses route poisoning and split horizon to avoid routing loops.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6763"/>
          </a:bodyPr>
          <a:p>
            <a:pPr indent="0" defTabSz="914400">
              <a:lnSpc>
                <a:spcPct val="90000"/>
              </a:lnSpc>
              <a:spcBef>
                <a:spcPts val="1001"/>
              </a:spcBef>
              <a:buNone/>
              <a:tabLst>
                <a:tab algn="l" pos="0"/>
              </a:tabLst>
            </a:pPr>
            <a:r>
              <a:rPr b="1" lang="en-US" sz="2800" spc="-1" strike="noStrike">
                <a:solidFill>
                  <a:schemeClr val="dk1"/>
                </a:solidFill>
                <a:latin typeface="Calibri"/>
              </a:rPr>
              <a:t>Hop Count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Hop count is a routing metric that represents the total number of routers a data packet must pass through to travel from the source device to the destination device.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Each router crossed by a packet is counted as one hop.</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Used by routing protocols like RIP to determine the best path.</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RIP selects the route with the lowest hop count as the optimal route.</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maximum hop count in RIP is 15; a hop count of 16 is considered unreachable.</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Limiting the hop count helps prevent routing loops.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limitation reduces RIP’s scalability, making it unsuitable for large networks.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How RIP Works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Routing Information Protocol (RIP) is a distance-vector routing protocol that determines the best path to a destination network based on hop count.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Each router maintains a routing table containing distances to all known networks.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Routers periodically exchange routing information with neighboring routers.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Every 30 seconds, routers broadcast or multicast their entire routing table.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a router learns a shorter path, it updates its routing table accordingly.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a route is not updated within 180 seconds, it is marked as invalid.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the route remains unused for 240 seconds, it is removed (flushed) from the routing table.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These timers help maintain accurate routing information and prevent stale routes.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p:nvPr>
        </p:nvSpPr>
        <p:spPr>
          <a:xfrm>
            <a:off x="0" y="0"/>
            <a:ext cx="12115440" cy="668880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RIP Used?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Small to medium-sized networks with simple routing needs.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Legacy networks that were built before OSPF/EIGRP became standard.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Educational labs for training and learning routing basics.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Backup routing protocol in case the primary protocol fails.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type="title"/>
          </p:nvPr>
        </p:nvSpPr>
        <p:spPr>
          <a:xfrm>
            <a:off x="0" y="0"/>
            <a:ext cx="12191760" cy="933840"/>
          </a:xfrm>
          <a:prstGeom prst="rect">
            <a:avLst/>
          </a:prstGeom>
          <a:noFill/>
          <a:ln w="0">
            <a:noFill/>
          </a:ln>
        </p:spPr>
        <p:txBody>
          <a:bodyPr lIns="91440" rIns="91440" tIns="45720" bIns="45720" anchor="ctr">
            <a:normAutofit fontScale="45006"/>
          </a:bodyPr>
          <a:p>
            <a:pPr indent="0" defTabSz="914400">
              <a:lnSpc>
                <a:spcPct val="90000"/>
              </a:lnSpc>
              <a:buNone/>
            </a:pPr>
            <a:br>
              <a:rPr sz="4400"/>
            </a:br>
            <a:r>
              <a:rPr b="1" lang="en-US" sz="4400" spc="-1" strike="noStrike">
                <a:solidFill>
                  <a:schemeClr val="dk1"/>
                </a:solidFill>
                <a:latin typeface="Calibri Light"/>
              </a:rPr>
              <a:t>Open Shortest Path First (OSPF) Protocol </a:t>
            </a:r>
            <a:br>
              <a:rPr sz="4400"/>
            </a:br>
            <a:endParaRPr b="0" lang="en-US" sz="4400" spc="-1" strike="noStrike">
              <a:solidFill>
                <a:schemeClr val="dk1"/>
              </a:solidFill>
              <a:latin typeface="Calibri"/>
            </a:endParaRPr>
          </a:p>
        </p:txBody>
      </p:sp>
      <p:sp>
        <p:nvSpPr>
          <p:cNvPr id="133" name="PlaceHolder 2"/>
          <p:cNvSpPr>
            <a:spLocks noGrp="1"/>
          </p:cNvSpPr>
          <p:nvPr>
            <p:ph/>
          </p:nvPr>
        </p:nvSpPr>
        <p:spPr>
          <a:xfrm>
            <a:off x="0" y="834840"/>
            <a:ext cx="12191760" cy="6022800"/>
          </a:xfrm>
          <a:prstGeom prst="rect">
            <a:avLst/>
          </a:prstGeom>
          <a:noFill/>
          <a:ln w="0">
            <a:noFill/>
          </a:ln>
        </p:spPr>
        <p:txBody>
          <a:bodyPr lIns="91440" rIns="91440" tIns="45720" bIns="45720" anchor="t">
            <a:normAutofit fontScale="81053"/>
          </a:bodyPr>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Open Shortest Path First (OSPF) is a link-state routing protocol used to find the best path between routers within an Autonomous System (AS).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OSPF routers establish neighbor relationships to exchange routing information, and these relationships play a crucial role in the formation of OSPF adjacencies.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Understanding the transitions between OSPF protocol states is essential for optimizing network performance and troubleshooting.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OSPF uses Hello packets for neighbor discovery and to establish communication between routers.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Neighbor states are key in forming OSPF adjacencies, enabling efficient routing.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main focus of this article is to understand OSPF state transitions and their significance in the network.</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OSPF requires specific parameters like matching Area IDs, authentication, and timers for adjacencies to form.</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Distinguishing between OSPF neighbors and adjacent routers is critical for proper network operation.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Proper management of OSPF states ensures stable and optimized packet routing.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Open Shortest Path First (OSPF) Terms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Router ID: </a:t>
            </a:r>
            <a:r>
              <a:rPr b="0" lang="en-US" sz="2800" spc="-1" strike="noStrike">
                <a:solidFill>
                  <a:schemeClr val="dk1"/>
                </a:solidFill>
                <a:latin typeface="Calibri"/>
              </a:rPr>
              <a:t>The </a:t>
            </a:r>
            <a:r>
              <a:rPr b="0" lang="en-US" sz="2800" spc="-1" strike="noStrike" u="sng">
                <a:solidFill>
                  <a:schemeClr val="dk1"/>
                </a:solidFill>
                <a:uFillTx/>
                <a:latin typeface="Calibri"/>
                <a:hlinkClick r:id="rId1"/>
              </a:rPr>
              <a:t>Router</a:t>
            </a:r>
            <a:r>
              <a:rPr b="0" lang="en-US" sz="2800" spc="-1" strike="noStrike">
                <a:solidFill>
                  <a:schemeClr val="dk1"/>
                </a:solidFill>
                <a:latin typeface="Calibri"/>
              </a:rPr>
              <a:t> ID is the highest active IP address on the router. The process first considers the highest </a:t>
            </a:r>
            <a:r>
              <a:rPr b="0" lang="en-US" sz="2800" spc="-1" strike="noStrike" u="sng">
                <a:solidFill>
                  <a:schemeClr val="dk1"/>
                </a:solidFill>
                <a:uFillTx/>
                <a:latin typeface="Calibri"/>
                <a:hlinkClick r:id="rId2"/>
              </a:rPr>
              <a:t>loopback address</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If no loopback address is configured, the highest active IP address on the router's interfaces is used as the Router ID.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Router Priority: </a:t>
            </a:r>
            <a:r>
              <a:rPr b="0" lang="en-US" sz="2800" spc="-1" strike="noStrike">
                <a:solidFill>
                  <a:schemeClr val="dk1"/>
                </a:solidFill>
                <a:latin typeface="Calibri"/>
              </a:rPr>
              <a:t>The router priority is an 8-bit value assigned to a router running </a:t>
            </a:r>
            <a:r>
              <a:rPr b="0" lang="en-US" sz="2800" spc="-1" strike="noStrike" u="sng">
                <a:solidFill>
                  <a:schemeClr val="dk1"/>
                </a:solidFill>
                <a:uFillTx/>
                <a:latin typeface="Calibri"/>
                <a:hlinkClick r:id="rId3"/>
              </a:rPr>
              <a:t>OSPF</a:t>
            </a:r>
            <a:r>
              <a:rPr b="0" lang="en-US" sz="2800" spc="-1" strike="noStrike">
                <a:solidFill>
                  <a:schemeClr val="dk1"/>
                </a:solidFill>
                <a:latin typeface="Calibri"/>
              </a:rPr>
              <a:t>, which is used during the election of the </a:t>
            </a:r>
            <a:r>
              <a:rPr b="0" lang="en-US" sz="2800" spc="-1" strike="noStrike" u="sng">
                <a:solidFill>
                  <a:schemeClr val="dk1"/>
                </a:solidFill>
                <a:uFillTx/>
                <a:latin typeface="Calibri"/>
                <a:hlinkClick r:id="rId4"/>
              </a:rPr>
              <a:t>Designated Router (DR) and Backup Designated Router (BDR)</a:t>
            </a:r>
            <a:r>
              <a:rPr b="0" lang="en-US" sz="2800" spc="-1" strike="noStrike">
                <a:solidFill>
                  <a:schemeClr val="dk1"/>
                </a:solidFill>
                <a:latin typeface="Calibri"/>
              </a:rPr>
              <a:t> in a broadcast network.</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Designated Router (DR): </a:t>
            </a:r>
            <a:r>
              <a:rPr b="0" lang="en-US" sz="2800" spc="-1" strike="noStrike">
                <a:solidFill>
                  <a:schemeClr val="dk1"/>
                </a:solidFill>
                <a:latin typeface="Calibri"/>
              </a:rPr>
              <a:t>The Designated Router (DR) is elected to minimize the number of OSPF adjacencies in a network.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is responsible for distributing </a:t>
            </a:r>
            <a:r>
              <a:rPr b="0" lang="en-US" sz="2800" spc="-1" strike="noStrike" u="sng">
                <a:solidFill>
                  <a:schemeClr val="dk1"/>
                </a:solidFill>
                <a:uFillTx/>
                <a:latin typeface="Calibri"/>
                <a:hlinkClick r:id="rId5"/>
              </a:rPr>
              <a:t>Link State Advertisements (LSAs)</a:t>
            </a:r>
            <a:r>
              <a:rPr b="0" lang="en-US" sz="2800" spc="-1" strike="noStrike">
                <a:solidFill>
                  <a:schemeClr val="dk1"/>
                </a:solidFill>
                <a:latin typeface="Calibri"/>
              </a:rPr>
              <a:t> to all other routers.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In a broadcast network, the DR handles LSR (Link State Request) messages and responds with updates.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Backup Designated Router (BDR): </a:t>
            </a:r>
            <a:r>
              <a:rPr b="0" lang="en-US" sz="2800" spc="-1" strike="noStrike">
                <a:solidFill>
                  <a:schemeClr val="dk1"/>
                </a:solidFill>
                <a:latin typeface="Calibri"/>
              </a:rPr>
              <a:t>The Backup Designated Router (BDR) serves as a backup to the DR in a broadcast network.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If the DR fails, the BDR assumes the role of DR and takes over its responsibilities.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DR and BDR Election:</a:t>
            </a:r>
            <a:r>
              <a:rPr b="0" lang="en-US" sz="2800" spc="-1" strike="noStrike">
                <a:solidFill>
                  <a:schemeClr val="dk1"/>
                </a:solidFill>
                <a:latin typeface="Calibri"/>
              </a:rPr>
              <a:t> The election of the DR and BDR occurs in broadcast or multi-access networks.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 following criteria are used for the election:</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The router with the highest priority is elected as the DR.</a:t>
            </a:r>
            <a:endParaRPr b="0" lang="en-US" sz="2400" spc="-1" strike="noStrike">
              <a:solidFill>
                <a:schemeClr val="dk1"/>
              </a:solidFill>
              <a:latin typeface="Calibri"/>
            </a:endParaRPr>
          </a:p>
          <a:p>
            <a:pPr indent="0" defTabSz="914400">
              <a:lnSpc>
                <a:spcPct val="90000"/>
              </a:lnSpc>
              <a:spcBef>
                <a:spcPts val="499"/>
              </a:spcBef>
              <a:buNone/>
              <a:tabLst>
                <a:tab algn="l" pos="0"/>
              </a:tabLst>
            </a:pP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If there is a tie in the router priority, the router with the highest Router ID is chosen.</a:t>
            </a:r>
            <a:endParaRPr b="0" lang="en-US" sz="2400" spc="-1" strike="noStrike">
              <a:solidFill>
                <a:schemeClr val="dk1"/>
              </a:solidFill>
              <a:latin typeface="Calibri"/>
            </a:endParaRPr>
          </a:p>
          <a:p>
            <a:pPr indent="0" defTabSz="914400">
              <a:lnSpc>
                <a:spcPct val="90000"/>
              </a:lnSpc>
              <a:spcBef>
                <a:spcPts val="499"/>
              </a:spcBef>
              <a:buNone/>
              <a:tabLst>
                <a:tab algn="l" pos="0"/>
              </a:tabLst>
            </a:pPr>
            <a:endParaRPr b="0" lang="en-US" sz="2400" spc="-1" strike="noStrike">
              <a:solidFill>
                <a:schemeClr val="dk1"/>
              </a:solidFill>
              <a:latin typeface="Calibri"/>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 </a:t>
            </a:r>
            <a:r>
              <a:rPr b="0" lang="en-US" sz="2400" spc="-1" strike="noStrike">
                <a:solidFill>
                  <a:schemeClr val="dk1"/>
                </a:solidFill>
                <a:latin typeface="Calibri"/>
              </a:rPr>
              <a:t>The Router ID is first determined by the highest loopback address, and if no loopback is configured, the highest active IP address on the router’s interfaces is considered.</a:t>
            </a:r>
            <a:endParaRPr b="0" lang="en-US" sz="24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1" lang="en-US" sz="4400" spc="-1" strike="noStrike">
                <a:solidFill>
                  <a:schemeClr val="dk1"/>
                </a:solidFill>
                <a:latin typeface="Calibri Light"/>
              </a:rPr>
              <a:t>Static and Dynamic Routing</a:t>
            </a:r>
            <a:br>
              <a:rPr sz="4400"/>
            </a:br>
            <a:endParaRPr b="0" lang="en-US" sz="4400" spc="-1" strike="noStrike">
              <a:solidFill>
                <a:schemeClr val="dk1"/>
              </a:solidFill>
              <a:latin typeface="Calibri"/>
            </a:endParaRPr>
          </a:p>
        </p:txBody>
      </p:sp>
      <p:sp>
        <p:nvSpPr>
          <p:cNvPr id="137" name="PlaceHolder 2"/>
          <p:cNvSpPr>
            <a:spLocks noGrp="1"/>
          </p:cNvSpPr>
          <p:nvPr>
            <p:ph/>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Routing controls how data packets move from source to destination, ensuring efficient and reliable delivery. It can be done in the following two ways: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Static Routing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2"/>
            </a:pPr>
            <a:r>
              <a:rPr b="0" lang="en-US" sz="2800" spc="-1" strike="noStrike">
                <a:solidFill>
                  <a:schemeClr val="dk1"/>
                </a:solidFill>
                <a:latin typeface="Calibri"/>
              </a:rPr>
              <a:t>Dynamic Routing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p:nvPr>
        </p:nvSpPr>
        <p:spPr>
          <a:xfrm>
            <a:off x="0" y="0"/>
            <a:ext cx="6410520" cy="6857640"/>
          </a:xfrm>
          <a:prstGeom prst="rect">
            <a:avLst/>
          </a:prstGeom>
          <a:noFill/>
          <a:ln w="0">
            <a:noFill/>
          </a:ln>
        </p:spPr>
        <p:txBody>
          <a:bodyPr lIns="91440" rIns="91440" tIns="45720" bIns="45720" anchor="t">
            <a:normAutofit/>
          </a:bodyPr>
          <a:p>
            <a:pPr marL="514440" indent="-514440" defTabSz="914400">
              <a:lnSpc>
                <a:spcPct val="90000"/>
              </a:lnSpc>
              <a:spcBef>
                <a:spcPts val="1001"/>
              </a:spcBef>
              <a:buClr>
                <a:srgbClr val="000000"/>
              </a:buClr>
              <a:buFont typeface="Arial"/>
              <a:buAutoNum type="arabicPeriod"/>
            </a:pPr>
            <a:r>
              <a:rPr b="1" lang="en-US" sz="2800" spc="-1" strike="noStrike">
                <a:solidFill>
                  <a:schemeClr val="dk1"/>
                </a:solidFill>
                <a:latin typeface="Calibri"/>
              </a:rPr>
              <a:t>Static Routing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u="sng">
                <a:solidFill>
                  <a:schemeClr val="dk1"/>
                </a:solidFill>
                <a:uFillTx/>
                <a:latin typeface="Calibri"/>
                <a:hlinkClick r:id="rId1"/>
              </a:rPr>
              <a:t>Static Routing</a:t>
            </a:r>
            <a:r>
              <a:rPr b="0" lang="en-US" sz="2800" spc="-1" strike="noStrike">
                <a:solidFill>
                  <a:schemeClr val="dk1"/>
                </a:solidFill>
                <a:latin typeface="Calibri"/>
              </a:rPr>
              <a:t> is also known as </a:t>
            </a:r>
            <a:r>
              <a:rPr b="1" lang="en-US" sz="2800" spc="-1" strike="noStrike">
                <a:solidFill>
                  <a:schemeClr val="dk1"/>
                </a:solidFill>
                <a:latin typeface="Calibri"/>
              </a:rPr>
              <a:t>non-adaptive</a:t>
            </a:r>
            <a:r>
              <a:rPr b="0" lang="en-US" sz="2800" spc="-1" strike="noStrike">
                <a:solidFill>
                  <a:schemeClr val="dk1"/>
                </a:solidFill>
                <a:latin typeface="Calibri"/>
              </a:rPr>
              <a:t> routing which doesn't change the routing table unless the network administrator changes or modifies them manually. </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Static routing does not use complex routing algorithms and It provides higher or more security than dynamic routing. </a:t>
            </a:r>
            <a:br>
              <a:rPr sz="2800"/>
            </a:br>
            <a:r>
              <a:rPr b="0" lang="en-US" sz="2800" spc="-1" strike="noStrike">
                <a:solidFill>
                  <a:schemeClr val="dk1"/>
                </a:solidFill>
                <a:latin typeface="Calibri"/>
              </a:rPr>
              <a:t>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139" name="Picture 2" descr="Static routing"/>
          <p:cNvPicPr/>
          <p:nvPr/>
        </p:nvPicPr>
        <p:blipFill>
          <a:blip r:embed="rId2"/>
          <a:stretch/>
        </p:blipFill>
        <p:spPr>
          <a:xfrm>
            <a:off x="6748560" y="1649880"/>
            <a:ext cx="5108400" cy="4265640"/>
          </a:xfrm>
          <a:prstGeom prst="rect">
            <a:avLst/>
          </a:prstGeom>
          <a:ln w="0">
            <a:noFill/>
          </a:ln>
        </p:spPr>
      </p:pic>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Static Routing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No CPU overhead on routers cheaper routers can be used.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More secure only the administrator controls allowed routes.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No bandwidth is consumed between routers.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 of Static Routing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Manually adding routes in large networks is time-consuming.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requires detailed knowledge of the network topology.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New administrators must learn all routes to configure them correctly.</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p:nvPr>
        </p:nvSpPr>
        <p:spPr>
          <a:xfrm>
            <a:off x="0" y="0"/>
            <a:ext cx="60195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2. Dynamic Routing</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Dynamic routing, also known as adaptive routing, automatically updates the routing table whenever there is a change in the network topology.</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uses complex algorithms to calculate routes, but it is less secure compared to static routing.</a:t>
            </a:r>
            <a:endParaRPr b="0" lang="en-US" sz="2800" spc="-1" strike="noStrike">
              <a:solidFill>
                <a:schemeClr val="dk1"/>
              </a:solidFill>
              <a:latin typeface="Calibri"/>
            </a:endParaRPr>
          </a:p>
          <a:p>
            <a:pPr indent="0" algn="just"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When a change occurs, routers exchange messages and recalculate the routes to ensure updated routing information is shared across the network.</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142" name="Picture 2" descr="Dynamic Routing"/>
          <p:cNvPicPr/>
          <p:nvPr/>
        </p:nvPicPr>
        <p:blipFill>
          <a:blip r:embed="rId1"/>
          <a:stretch/>
        </p:blipFill>
        <p:spPr>
          <a:xfrm>
            <a:off x="6847920" y="1669680"/>
            <a:ext cx="4879800" cy="4253400"/>
          </a:xfrm>
          <a:prstGeom prst="rect">
            <a:avLst/>
          </a:prstGeom>
          <a:ln w="0">
            <a:noFill/>
          </a:ln>
        </p:spPr>
      </p:pic>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PlaceHolder 1"/>
          <p:cNvSpPr>
            <a:spLocks noGrp="1"/>
          </p:cNvSpPr>
          <p:nvPr>
            <p:ph/>
          </p:nvPr>
        </p:nvSpPr>
        <p:spPr>
          <a:xfrm>
            <a:off x="0" y="0"/>
            <a:ext cx="6019560" cy="61765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Dynamic Routing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Easy to configure.</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More effective at selecting the best route to a destination remote network and also for discovering remote networks.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144" name="PlaceHolder 2"/>
          <p:cNvSpPr>
            <a:spLocks noGrp="1"/>
          </p:cNvSpPr>
          <p:nvPr>
            <p:ph/>
          </p:nvPr>
        </p:nvSpPr>
        <p:spPr>
          <a:xfrm>
            <a:off x="6095880" y="0"/>
            <a:ext cx="60195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 of Dynamic Routing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Consumes more</a:t>
            </a:r>
            <a:r>
              <a:rPr b="0" lang="en-US" sz="2800" spc="-1" strike="noStrike" u="sng">
                <a:solidFill>
                  <a:schemeClr val="dk1"/>
                </a:solidFill>
                <a:uFillTx/>
                <a:latin typeface="Calibri"/>
                <a:hlinkClick r:id="rId1"/>
              </a:rPr>
              <a:t>bandwidth</a:t>
            </a:r>
            <a:r>
              <a:rPr b="0" lang="en-US" sz="2800" spc="-1" strike="noStrike">
                <a:solidFill>
                  <a:schemeClr val="dk1"/>
                </a:solidFill>
                <a:latin typeface="Calibri"/>
              </a:rPr>
              <a:t> for communicating with other neighbors.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Less secure than static routing.</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490</TotalTime>
  <Application>LibreOffice/24.2.7.2$Linux_X86_64 LibreOffice_project/420$Build-2</Application>
  <AppVersion>15.0000</AppVersion>
  <Words>4470</Words>
  <Paragraphs>380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2023-07-02T06:08:00Z</dcterms:created>
  <dc:creator>empties cmon</dc:creator>
  <dc:description/>
  <dc:language>en-US</dc:language>
  <cp:lastModifiedBy/>
  <dcterms:modified xsi:type="dcterms:W3CDTF">2026-04-01T13:40:09Z</dcterms:modified>
  <cp:revision>42</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52</vt:i4>
  </property>
</Properties>
</file>