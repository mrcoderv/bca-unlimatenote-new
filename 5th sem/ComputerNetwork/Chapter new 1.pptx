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93" r:id="rId3"/>
    <p:sldId id="295" r:id="rId4"/>
    <p:sldId id="294" r:id="rId5"/>
    <p:sldId id="258" r:id="rId6"/>
    <p:sldId id="259" r:id="rId7"/>
    <p:sldId id="263" r:id="rId8"/>
    <p:sldId id="264" r:id="rId9"/>
    <p:sldId id="265" r:id="rId10"/>
    <p:sldId id="266" r:id="rId11"/>
    <p:sldId id="267" r:id="rId12"/>
    <p:sldId id="268" r:id="rId13"/>
    <p:sldId id="282" r:id="rId14"/>
    <p:sldId id="296" r:id="rId15"/>
    <p:sldId id="297" r:id="rId16"/>
    <p:sldId id="298" r:id="rId17"/>
    <p:sldId id="305" r:id="rId18"/>
    <p:sldId id="299" r:id="rId19"/>
    <p:sldId id="300" r:id="rId20"/>
    <p:sldId id="301" r:id="rId21"/>
    <p:sldId id="302" r:id="rId22"/>
    <p:sldId id="303" r:id="rId23"/>
    <p:sldId id="304" r:id="rId24"/>
    <p:sldId id="261" r:id="rId25"/>
    <p:sldId id="270" r:id="rId26"/>
    <p:sldId id="271" r:id="rId27"/>
    <p:sldId id="272" r:id="rId28"/>
    <p:sldId id="273" r:id="rId29"/>
    <p:sldId id="286" r:id="rId30"/>
    <p:sldId id="287" r:id="rId31"/>
    <p:sldId id="306" r:id="rId32"/>
    <p:sldId id="307" r:id="rId33"/>
    <p:sldId id="308" r:id="rId34"/>
    <p:sldId id="310" r:id="rId35"/>
    <p:sldId id="288" r:id="rId36"/>
    <p:sldId id="289" r:id="rId37"/>
    <p:sldId id="290" r:id="rId38"/>
    <p:sldId id="291" r:id="rId39"/>
    <p:sldId id="292" r:id="rId40"/>
    <p:sldId id="311" r:id="rId41"/>
    <p:sldId id="312" r:id="rId42"/>
    <p:sldId id="313" r:id="rId43"/>
    <p:sldId id="314" r:id="rId44"/>
    <p:sldId id="315" r:id="rId45"/>
    <p:sldId id="316" r:id="rId46"/>
    <p:sldId id="317"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59" autoAdjust="0"/>
    <p:restoredTop sz="71565" autoAdjust="0"/>
  </p:normalViewPr>
  <p:slideViewPr>
    <p:cSldViewPr snapToGrid="0">
      <p:cViewPr varScale="1">
        <p:scale>
          <a:sx n="68" d="100"/>
          <a:sy n="68" d="100"/>
        </p:scale>
        <p:origin x="516" y="7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2914AF-3B77-4E19-8D52-FAAD67263E08}" type="datetimeFigureOut">
              <a:rPr lang="en-US" smtClean="0"/>
              <a:t>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A6A2F6-F853-4159-B970-291E4DA5077A}" type="slidenum">
              <a:rPr lang="en-US" smtClean="0"/>
              <a:t>‹#›</a:t>
            </a:fld>
            <a:endParaRPr lang="en-US"/>
          </a:p>
        </p:txBody>
      </p:sp>
    </p:spTree>
    <p:extLst>
      <p:ext uri="{BB962C8B-B14F-4D97-AF65-F5344CB8AC3E}">
        <p14:creationId xmlns:p14="http://schemas.microsoft.com/office/powerpoint/2010/main" val="2347682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A6A2F6-F853-4159-B970-291E4DA5077A}" type="slidenum">
              <a:rPr lang="en-US" smtClean="0"/>
              <a:t>7</a:t>
            </a:fld>
            <a:endParaRPr lang="en-US"/>
          </a:p>
        </p:txBody>
      </p:sp>
    </p:spTree>
    <p:extLst>
      <p:ext uri="{BB962C8B-B14F-4D97-AF65-F5344CB8AC3E}">
        <p14:creationId xmlns:p14="http://schemas.microsoft.com/office/powerpoint/2010/main" val="3902313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0CE1E-1FC5-E65A-3B94-23718A3BB1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E33152-932D-CD39-B4C4-527D6CC688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9EF78E-1E23-1C24-4190-9E6DF7A69616}"/>
              </a:ext>
            </a:extLst>
          </p:cNvPr>
          <p:cNvSpPr>
            <a:spLocks noGrp="1"/>
          </p:cNvSpPr>
          <p:nvPr>
            <p:ph type="dt" sz="half" idx="10"/>
          </p:nvPr>
        </p:nvSpPr>
        <p:spPr/>
        <p:txBody>
          <a:bodyPr/>
          <a:lstStyle/>
          <a:p>
            <a:fld id="{5487E75C-DF40-4D17-B488-2951EF201AFC}" type="datetimeFigureOut">
              <a:rPr lang="en-US" smtClean="0"/>
              <a:t>11/14/2025</a:t>
            </a:fld>
            <a:endParaRPr lang="en-US"/>
          </a:p>
        </p:txBody>
      </p:sp>
      <p:sp>
        <p:nvSpPr>
          <p:cNvPr id="5" name="Footer Placeholder 4">
            <a:extLst>
              <a:ext uri="{FF2B5EF4-FFF2-40B4-BE49-F238E27FC236}">
                <a16:creationId xmlns:a16="http://schemas.microsoft.com/office/drawing/2014/main" id="{626C8075-B1C7-E3FB-5895-FC13C77174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D00875-AAF1-11BC-AE59-6B02DEE9BACD}"/>
              </a:ext>
            </a:extLst>
          </p:cNvPr>
          <p:cNvSpPr>
            <a:spLocks noGrp="1"/>
          </p:cNvSpPr>
          <p:nvPr>
            <p:ph type="sldNum" sz="quarter" idx="12"/>
          </p:nvPr>
        </p:nvSpPr>
        <p:spPr/>
        <p:txBody>
          <a:bodyPr/>
          <a:lstStyle/>
          <a:p>
            <a:fld id="{C45D987D-E863-4D2C-B782-3572D73E342E}" type="slidenum">
              <a:rPr lang="en-US" smtClean="0"/>
              <a:t>‹#›</a:t>
            </a:fld>
            <a:endParaRPr lang="en-US"/>
          </a:p>
        </p:txBody>
      </p:sp>
    </p:spTree>
    <p:extLst>
      <p:ext uri="{BB962C8B-B14F-4D97-AF65-F5344CB8AC3E}">
        <p14:creationId xmlns:p14="http://schemas.microsoft.com/office/powerpoint/2010/main" val="1230159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A9BD1-E519-F860-9750-9A6E186D04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3570C4-2CA7-0389-FAE2-61077E92FD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81CCE8-676D-CD3E-F179-46F4D46A1502}"/>
              </a:ext>
            </a:extLst>
          </p:cNvPr>
          <p:cNvSpPr>
            <a:spLocks noGrp="1"/>
          </p:cNvSpPr>
          <p:nvPr>
            <p:ph type="dt" sz="half" idx="10"/>
          </p:nvPr>
        </p:nvSpPr>
        <p:spPr/>
        <p:txBody>
          <a:bodyPr/>
          <a:lstStyle/>
          <a:p>
            <a:fld id="{5487E75C-DF40-4D17-B488-2951EF201AFC}" type="datetimeFigureOut">
              <a:rPr lang="en-US" smtClean="0"/>
              <a:t>11/14/2025</a:t>
            </a:fld>
            <a:endParaRPr lang="en-US"/>
          </a:p>
        </p:txBody>
      </p:sp>
      <p:sp>
        <p:nvSpPr>
          <p:cNvPr id="5" name="Footer Placeholder 4">
            <a:extLst>
              <a:ext uri="{FF2B5EF4-FFF2-40B4-BE49-F238E27FC236}">
                <a16:creationId xmlns:a16="http://schemas.microsoft.com/office/drawing/2014/main" id="{FB0D2543-900D-CE6B-3ADA-0B13EC55DC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9A503F-813D-F982-1300-4D29AB012F70}"/>
              </a:ext>
            </a:extLst>
          </p:cNvPr>
          <p:cNvSpPr>
            <a:spLocks noGrp="1"/>
          </p:cNvSpPr>
          <p:nvPr>
            <p:ph type="sldNum" sz="quarter" idx="12"/>
          </p:nvPr>
        </p:nvSpPr>
        <p:spPr/>
        <p:txBody>
          <a:bodyPr/>
          <a:lstStyle/>
          <a:p>
            <a:fld id="{C45D987D-E863-4D2C-B782-3572D73E342E}" type="slidenum">
              <a:rPr lang="en-US" smtClean="0"/>
              <a:t>‹#›</a:t>
            </a:fld>
            <a:endParaRPr lang="en-US"/>
          </a:p>
        </p:txBody>
      </p:sp>
    </p:spTree>
    <p:extLst>
      <p:ext uri="{BB962C8B-B14F-4D97-AF65-F5344CB8AC3E}">
        <p14:creationId xmlns:p14="http://schemas.microsoft.com/office/powerpoint/2010/main" val="2548959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9832A-C86E-51BD-45DD-5274FEA066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06711E-1E33-D0E8-304F-76CE1791BF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7C0C8C-0C68-B724-76C6-064C1463A605}"/>
              </a:ext>
            </a:extLst>
          </p:cNvPr>
          <p:cNvSpPr>
            <a:spLocks noGrp="1"/>
          </p:cNvSpPr>
          <p:nvPr>
            <p:ph type="dt" sz="half" idx="10"/>
          </p:nvPr>
        </p:nvSpPr>
        <p:spPr/>
        <p:txBody>
          <a:bodyPr/>
          <a:lstStyle/>
          <a:p>
            <a:fld id="{5487E75C-DF40-4D17-B488-2951EF201AFC}" type="datetimeFigureOut">
              <a:rPr lang="en-US" smtClean="0"/>
              <a:t>11/14/2025</a:t>
            </a:fld>
            <a:endParaRPr lang="en-US"/>
          </a:p>
        </p:txBody>
      </p:sp>
      <p:sp>
        <p:nvSpPr>
          <p:cNvPr id="5" name="Footer Placeholder 4">
            <a:extLst>
              <a:ext uri="{FF2B5EF4-FFF2-40B4-BE49-F238E27FC236}">
                <a16:creationId xmlns:a16="http://schemas.microsoft.com/office/drawing/2014/main" id="{AFE0337E-FFFB-CD8D-1B4A-5C52454D5D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69139F-296E-9172-A4BA-24E7D57309A5}"/>
              </a:ext>
            </a:extLst>
          </p:cNvPr>
          <p:cNvSpPr>
            <a:spLocks noGrp="1"/>
          </p:cNvSpPr>
          <p:nvPr>
            <p:ph type="sldNum" sz="quarter" idx="12"/>
          </p:nvPr>
        </p:nvSpPr>
        <p:spPr/>
        <p:txBody>
          <a:bodyPr/>
          <a:lstStyle/>
          <a:p>
            <a:fld id="{C45D987D-E863-4D2C-B782-3572D73E342E}" type="slidenum">
              <a:rPr lang="en-US" smtClean="0"/>
              <a:t>‹#›</a:t>
            </a:fld>
            <a:endParaRPr lang="en-US"/>
          </a:p>
        </p:txBody>
      </p:sp>
    </p:spTree>
    <p:extLst>
      <p:ext uri="{BB962C8B-B14F-4D97-AF65-F5344CB8AC3E}">
        <p14:creationId xmlns:p14="http://schemas.microsoft.com/office/powerpoint/2010/main" val="1621617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DD8B4-4786-D916-576C-C3353F4136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9B6D02-20E2-3D84-B9AD-C190642A60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917A9D-3E70-69F2-1941-F19E80C08B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4BF34A-BD09-DF03-176A-5D7173160CD5}"/>
              </a:ext>
            </a:extLst>
          </p:cNvPr>
          <p:cNvSpPr>
            <a:spLocks noGrp="1"/>
          </p:cNvSpPr>
          <p:nvPr>
            <p:ph type="dt" sz="half" idx="10"/>
          </p:nvPr>
        </p:nvSpPr>
        <p:spPr/>
        <p:txBody>
          <a:bodyPr/>
          <a:lstStyle/>
          <a:p>
            <a:fld id="{5487E75C-DF40-4D17-B488-2951EF201AFC}" type="datetimeFigureOut">
              <a:rPr lang="en-US" smtClean="0"/>
              <a:t>11/14/2025</a:t>
            </a:fld>
            <a:endParaRPr lang="en-US"/>
          </a:p>
        </p:txBody>
      </p:sp>
      <p:sp>
        <p:nvSpPr>
          <p:cNvPr id="6" name="Footer Placeholder 5">
            <a:extLst>
              <a:ext uri="{FF2B5EF4-FFF2-40B4-BE49-F238E27FC236}">
                <a16:creationId xmlns:a16="http://schemas.microsoft.com/office/drawing/2014/main" id="{3C5EC39D-C157-DDEA-564D-5C67360E68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7DC453-A35E-D39B-079F-F44C4961AD82}"/>
              </a:ext>
            </a:extLst>
          </p:cNvPr>
          <p:cNvSpPr>
            <a:spLocks noGrp="1"/>
          </p:cNvSpPr>
          <p:nvPr>
            <p:ph type="sldNum" sz="quarter" idx="12"/>
          </p:nvPr>
        </p:nvSpPr>
        <p:spPr/>
        <p:txBody>
          <a:bodyPr/>
          <a:lstStyle/>
          <a:p>
            <a:fld id="{C45D987D-E863-4D2C-B782-3572D73E342E}" type="slidenum">
              <a:rPr lang="en-US" smtClean="0"/>
              <a:t>‹#›</a:t>
            </a:fld>
            <a:endParaRPr lang="en-US"/>
          </a:p>
        </p:txBody>
      </p:sp>
    </p:spTree>
    <p:extLst>
      <p:ext uri="{BB962C8B-B14F-4D97-AF65-F5344CB8AC3E}">
        <p14:creationId xmlns:p14="http://schemas.microsoft.com/office/powerpoint/2010/main" val="2641398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19294-CFE3-8090-EB85-EAE7F1FEE97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30E285-AD3A-9028-899A-2F59109383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D40D85-DE09-C908-D858-ACBB05D69A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05CDC7-6DB8-CA95-002B-400B71C3CE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0CCD17-ECB1-5AD8-4F67-76A991FE39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ADDD6A-3577-EC10-A2DD-2EE61868E273}"/>
              </a:ext>
            </a:extLst>
          </p:cNvPr>
          <p:cNvSpPr>
            <a:spLocks noGrp="1"/>
          </p:cNvSpPr>
          <p:nvPr>
            <p:ph type="dt" sz="half" idx="10"/>
          </p:nvPr>
        </p:nvSpPr>
        <p:spPr/>
        <p:txBody>
          <a:bodyPr/>
          <a:lstStyle/>
          <a:p>
            <a:fld id="{5487E75C-DF40-4D17-B488-2951EF201AFC}" type="datetimeFigureOut">
              <a:rPr lang="en-US" smtClean="0"/>
              <a:t>11/14/2025</a:t>
            </a:fld>
            <a:endParaRPr lang="en-US"/>
          </a:p>
        </p:txBody>
      </p:sp>
      <p:sp>
        <p:nvSpPr>
          <p:cNvPr id="8" name="Footer Placeholder 7">
            <a:extLst>
              <a:ext uri="{FF2B5EF4-FFF2-40B4-BE49-F238E27FC236}">
                <a16:creationId xmlns:a16="http://schemas.microsoft.com/office/drawing/2014/main" id="{8089AB50-C49F-3CAD-B01C-1AB5363251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F0A94D-A180-DF3D-FD9F-A98E2B20623D}"/>
              </a:ext>
            </a:extLst>
          </p:cNvPr>
          <p:cNvSpPr>
            <a:spLocks noGrp="1"/>
          </p:cNvSpPr>
          <p:nvPr>
            <p:ph type="sldNum" sz="quarter" idx="12"/>
          </p:nvPr>
        </p:nvSpPr>
        <p:spPr/>
        <p:txBody>
          <a:bodyPr/>
          <a:lstStyle/>
          <a:p>
            <a:fld id="{C45D987D-E863-4D2C-B782-3572D73E342E}" type="slidenum">
              <a:rPr lang="en-US" smtClean="0"/>
              <a:t>‹#›</a:t>
            </a:fld>
            <a:endParaRPr lang="en-US"/>
          </a:p>
        </p:txBody>
      </p:sp>
    </p:spTree>
    <p:extLst>
      <p:ext uri="{BB962C8B-B14F-4D97-AF65-F5344CB8AC3E}">
        <p14:creationId xmlns:p14="http://schemas.microsoft.com/office/powerpoint/2010/main" val="2662785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DACA2-3B1C-B10F-D653-FBA2C0DEBE3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2D7E4D-75DB-B130-EE31-22258253C836}"/>
              </a:ext>
            </a:extLst>
          </p:cNvPr>
          <p:cNvSpPr>
            <a:spLocks noGrp="1"/>
          </p:cNvSpPr>
          <p:nvPr>
            <p:ph type="dt" sz="half" idx="10"/>
          </p:nvPr>
        </p:nvSpPr>
        <p:spPr/>
        <p:txBody>
          <a:bodyPr/>
          <a:lstStyle/>
          <a:p>
            <a:fld id="{5487E75C-DF40-4D17-B488-2951EF201AFC}" type="datetimeFigureOut">
              <a:rPr lang="en-US" smtClean="0"/>
              <a:t>11/14/2025</a:t>
            </a:fld>
            <a:endParaRPr lang="en-US"/>
          </a:p>
        </p:txBody>
      </p:sp>
      <p:sp>
        <p:nvSpPr>
          <p:cNvPr id="4" name="Footer Placeholder 3">
            <a:extLst>
              <a:ext uri="{FF2B5EF4-FFF2-40B4-BE49-F238E27FC236}">
                <a16:creationId xmlns:a16="http://schemas.microsoft.com/office/drawing/2014/main" id="{7918F094-7CE2-234D-47F8-0C66B818D6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C5C023-4BD7-1480-0CDE-B0BA9EDDF8A1}"/>
              </a:ext>
            </a:extLst>
          </p:cNvPr>
          <p:cNvSpPr>
            <a:spLocks noGrp="1"/>
          </p:cNvSpPr>
          <p:nvPr>
            <p:ph type="sldNum" sz="quarter" idx="12"/>
          </p:nvPr>
        </p:nvSpPr>
        <p:spPr/>
        <p:txBody>
          <a:bodyPr/>
          <a:lstStyle/>
          <a:p>
            <a:fld id="{C45D987D-E863-4D2C-B782-3572D73E342E}" type="slidenum">
              <a:rPr lang="en-US" smtClean="0"/>
              <a:t>‹#›</a:t>
            </a:fld>
            <a:endParaRPr lang="en-US"/>
          </a:p>
        </p:txBody>
      </p:sp>
    </p:spTree>
    <p:extLst>
      <p:ext uri="{BB962C8B-B14F-4D97-AF65-F5344CB8AC3E}">
        <p14:creationId xmlns:p14="http://schemas.microsoft.com/office/powerpoint/2010/main" val="487247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506A98-468A-0A67-B2DA-C3CC23338821}"/>
              </a:ext>
            </a:extLst>
          </p:cNvPr>
          <p:cNvSpPr>
            <a:spLocks noGrp="1"/>
          </p:cNvSpPr>
          <p:nvPr>
            <p:ph type="dt" sz="half" idx="10"/>
          </p:nvPr>
        </p:nvSpPr>
        <p:spPr/>
        <p:txBody>
          <a:bodyPr/>
          <a:lstStyle/>
          <a:p>
            <a:fld id="{5487E75C-DF40-4D17-B488-2951EF201AFC}" type="datetimeFigureOut">
              <a:rPr lang="en-US" smtClean="0"/>
              <a:t>11/14/2025</a:t>
            </a:fld>
            <a:endParaRPr lang="en-US"/>
          </a:p>
        </p:txBody>
      </p:sp>
      <p:sp>
        <p:nvSpPr>
          <p:cNvPr id="3" name="Footer Placeholder 2">
            <a:extLst>
              <a:ext uri="{FF2B5EF4-FFF2-40B4-BE49-F238E27FC236}">
                <a16:creationId xmlns:a16="http://schemas.microsoft.com/office/drawing/2014/main" id="{3FE27794-3740-0F9C-18C2-0AE96A0E25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9E3FFC-1D8C-0420-8E47-808AA67D7505}"/>
              </a:ext>
            </a:extLst>
          </p:cNvPr>
          <p:cNvSpPr>
            <a:spLocks noGrp="1"/>
          </p:cNvSpPr>
          <p:nvPr>
            <p:ph type="sldNum" sz="quarter" idx="12"/>
          </p:nvPr>
        </p:nvSpPr>
        <p:spPr/>
        <p:txBody>
          <a:bodyPr/>
          <a:lstStyle/>
          <a:p>
            <a:fld id="{C45D987D-E863-4D2C-B782-3572D73E342E}" type="slidenum">
              <a:rPr lang="en-US" smtClean="0"/>
              <a:t>‹#›</a:t>
            </a:fld>
            <a:endParaRPr lang="en-US"/>
          </a:p>
        </p:txBody>
      </p:sp>
    </p:spTree>
    <p:extLst>
      <p:ext uri="{BB962C8B-B14F-4D97-AF65-F5344CB8AC3E}">
        <p14:creationId xmlns:p14="http://schemas.microsoft.com/office/powerpoint/2010/main" val="757052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4A9E0-473F-FA01-28DC-60EE60AEDB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C764B5-1E25-126A-0E7F-5902FA7346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2A1605-483C-3C13-E4CF-CA090F2C5B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2E7B05-B6CE-C0BA-FAD4-0687BAB98012}"/>
              </a:ext>
            </a:extLst>
          </p:cNvPr>
          <p:cNvSpPr>
            <a:spLocks noGrp="1"/>
          </p:cNvSpPr>
          <p:nvPr>
            <p:ph type="dt" sz="half" idx="10"/>
          </p:nvPr>
        </p:nvSpPr>
        <p:spPr/>
        <p:txBody>
          <a:bodyPr/>
          <a:lstStyle/>
          <a:p>
            <a:fld id="{5487E75C-DF40-4D17-B488-2951EF201AFC}" type="datetimeFigureOut">
              <a:rPr lang="en-US" smtClean="0"/>
              <a:t>11/14/2025</a:t>
            </a:fld>
            <a:endParaRPr lang="en-US"/>
          </a:p>
        </p:txBody>
      </p:sp>
      <p:sp>
        <p:nvSpPr>
          <p:cNvPr id="6" name="Footer Placeholder 5">
            <a:extLst>
              <a:ext uri="{FF2B5EF4-FFF2-40B4-BE49-F238E27FC236}">
                <a16:creationId xmlns:a16="http://schemas.microsoft.com/office/drawing/2014/main" id="{FED07941-E9D0-731F-B3B1-699D5C6AD4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2FDAE9-B666-10E1-0BD8-F3E9DF00EC56}"/>
              </a:ext>
            </a:extLst>
          </p:cNvPr>
          <p:cNvSpPr>
            <a:spLocks noGrp="1"/>
          </p:cNvSpPr>
          <p:nvPr>
            <p:ph type="sldNum" sz="quarter" idx="12"/>
          </p:nvPr>
        </p:nvSpPr>
        <p:spPr/>
        <p:txBody>
          <a:bodyPr/>
          <a:lstStyle/>
          <a:p>
            <a:fld id="{C45D987D-E863-4D2C-B782-3572D73E342E}" type="slidenum">
              <a:rPr lang="en-US" smtClean="0"/>
              <a:t>‹#›</a:t>
            </a:fld>
            <a:endParaRPr lang="en-US"/>
          </a:p>
        </p:txBody>
      </p:sp>
    </p:spTree>
    <p:extLst>
      <p:ext uri="{BB962C8B-B14F-4D97-AF65-F5344CB8AC3E}">
        <p14:creationId xmlns:p14="http://schemas.microsoft.com/office/powerpoint/2010/main" val="136016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6AC5-2416-19E4-DD07-BAF9C41EF7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1E8121-A6C4-8D83-B4FB-AF0E2358F1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C93E34-877E-8FA9-7A28-6BDD8B23F5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0A1812-F7BC-39E5-305D-FDA85C3EBBE0}"/>
              </a:ext>
            </a:extLst>
          </p:cNvPr>
          <p:cNvSpPr>
            <a:spLocks noGrp="1"/>
          </p:cNvSpPr>
          <p:nvPr>
            <p:ph type="dt" sz="half" idx="10"/>
          </p:nvPr>
        </p:nvSpPr>
        <p:spPr/>
        <p:txBody>
          <a:bodyPr/>
          <a:lstStyle/>
          <a:p>
            <a:fld id="{5487E75C-DF40-4D17-B488-2951EF201AFC}" type="datetimeFigureOut">
              <a:rPr lang="en-US" smtClean="0"/>
              <a:t>11/14/2025</a:t>
            </a:fld>
            <a:endParaRPr lang="en-US"/>
          </a:p>
        </p:txBody>
      </p:sp>
      <p:sp>
        <p:nvSpPr>
          <p:cNvPr id="6" name="Footer Placeholder 5">
            <a:extLst>
              <a:ext uri="{FF2B5EF4-FFF2-40B4-BE49-F238E27FC236}">
                <a16:creationId xmlns:a16="http://schemas.microsoft.com/office/drawing/2014/main" id="{BC84004A-C9A1-981F-978C-4CCA35AA26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CBC682-A24C-FB1B-B1D3-30443B4921A5}"/>
              </a:ext>
            </a:extLst>
          </p:cNvPr>
          <p:cNvSpPr>
            <a:spLocks noGrp="1"/>
          </p:cNvSpPr>
          <p:nvPr>
            <p:ph type="sldNum" sz="quarter" idx="12"/>
          </p:nvPr>
        </p:nvSpPr>
        <p:spPr/>
        <p:txBody>
          <a:bodyPr/>
          <a:lstStyle/>
          <a:p>
            <a:fld id="{C45D987D-E863-4D2C-B782-3572D73E342E}" type="slidenum">
              <a:rPr lang="en-US" smtClean="0"/>
              <a:t>‹#›</a:t>
            </a:fld>
            <a:endParaRPr lang="en-US"/>
          </a:p>
        </p:txBody>
      </p:sp>
    </p:spTree>
    <p:extLst>
      <p:ext uri="{BB962C8B-B14F-4D97-AF65-F5344CB8AC3E}">
        <p14:creationId xmlns:p14="http://schemas.microsoft.com/office/powerpoint/2010/main" val="1295583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6F601-D108-892E-3B25-46E266E8ED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932ED8-EC91-7960-69A7-050650B3ED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BEC3B2-2B31-2137-AFF6-47C77FEA8984}"/>
              </a:ext>
            </a:extLst>
          </p:cNvPr>
          <p:cNvSpPr>
            <a:spLocks noGrp="1"/>
          </p:cNvSpPr>
          <p:nvPr>
            <p:ph type="dt" sz="half" idx="10"/>
          </p:nvPr>
        </p:nvSpPr>
        <p:spPr/>
        <p:txBody>
          <a:bodyPr/>
          <a:lstStyle/>
          <a:p>
            <a:fld id="{5487E75C-DF40-4D17-B488-2951EF201AFC}" type="datetimeFigureOut">
              <a:rPr lang="en-US" smtClean="0"/>
              <a:t>11/14/2025</a:t>
            </a:fld>
            <a:endParaRPr lang="en-US"/>
          </a:p>
        </p:txBody>
      </p:sp>
      <p:sp>
        <p:nvSpPr>
          <p:cNvPr id="5" name="Footer Placeholder 4">
            <a:extLst>
              <a:ext uri="{FF2B5EF4-FFF2-40B4-BE49-F238E27FC236}">
                <a16:creationId xmlns:a16="http://schemas.microsoft.com/office/drawing/2014/main" id="{415F2CD1-8215-A7E2-D451-9EAB7CAD41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BF34A4-957F-EBCD-C1C7-62F25B4B5ED1}"/>
              </a:ext>
            </a:extLst>
          </p:cNvPr>
          <p:cNvSpPr>
            <a:spLocks noGrp="1"/>
          </p:cNvSpPr>
          <p:nvPr>
            <p:ph type="sldNum" sz="quarter" idx="12"/>
          </p:nvPr>
        </p:nvSpPr>
        <p:spPr/>
        <p:txBody>
          <a:bodyPr/>
          <a:lstStyle/>
          <a:p>
            <a:fld id="{C45D987D-E863-4D2C-B782-3572D73E342E}" type="slidenum">
              <a:rPr lang="en-US" smtClean="0"/>
              <a:t>‹#›</a:t>
            </a:fld>
            <a:endParaRPr lang="en-US"/>
          </a:p>
        </p:txBody>
      </p:sp>
    </p:spTree>
    <p:extLst>
      <p:ext uri="{BB962C8B-B14F-4D97-AF65-F5344CB8AC3E}">
        <p14:creationId xmlns:p14="http://schemas.microsoft.com/office/powerpoint/2010/main" val="3126637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3028CC-A9E5-BFF1-4CFE-9257F5E8A7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5D52A2-3DB5-13E8-A000-FEA31549DA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9B02FB-7745-33AF-EA24-940A12D455C7}"/>
              </a:ext>
            </a:extLst>
          </p:cNvPr>
          <p:cNvSpPr>
            <a:spLocks noGrp="1"/>
          </p:cNvSpPr>
          <p:nvPr>
            <p:ph type="dt" sz="half" idx="10"/>
          </p:nvPr>
        </p:nvSpPr>
        <p:spPr/>
        <p:txBody>
          <a:bodyPr/>
          <a:lstStyle/>
          <a:p>
            <a:fld id="{5487E75C-DF40-4D17-B488-2951EF201AFC}" type="datetimeFigureOut">
              <a:rPr lang="en-US" smtClean="0"/>
              <a:t>11/14/2025</a:t>
            </a:fld>
            <a:endParaRPr lang="en-US"/>
          </a:p>
        </p:txBody>
      </p:sp>
      <p:sp>
        <p:nvSpPr>
          <p:cNvPr id="5" name="Footer Placeholder 4">
            <a:extLst>
              <a:ext uri="{FF2B5EF4-FFF2-40B4-BE49-F238E27FC236}">
                <a16:creationId xmlns:a16="http://schemas.microsoft.com/office/drawing/2014/main" id="{F2945D6D-F896-9397-FEAD-8857499562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D8AFDC-0631-57E5-2EC0-993BE2931FC6}"/>
              </a:ext>
            </a:extLst>
          </p:cNvPr>
          <p:cNvSpPr>
            <a:spLocks noGrp="1"/>
          </p:cNvSpPr>
          <p:nvPr>
            <p:ph type="sldNum" sz="quarter" idx="12"/>
          </p:nvPr>
        </p:nvSpPr>
        <p:spPr/>
        <p:txBody>
          <a:bodyPr/>
          <a:lstStyle/>
          <a:p>
            <a:fld id="{C45D987D-E863-4D2C-B782-3572D73E342E}" type="slidenum">
              <a:rPr lang="en-US" smtClean="0"/>
              <a:t>‹#›</a:t>
            </a:fld>
            <a:endParaRPr lang="en-US"/>
          </a:p>
        </p:txBody>
      </p:sp>
    </p:spTree>
    <p:extLst>
      <p:ext uri="{BB962C8B-B14F-4D97-AF65-F5344CB8AC3E}">
        <p14:creationId xmlns:p14="http://schemas.microsoft.com/office/powerpoint/2010/main" val="861567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C79D14-0656-F215-E1DE-CC2E41F078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257F5B-F0F3-33B3-9DDF-A5FF284A81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0FBA04-8CB4-CD2C-8ABD-9B8C25148F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87E75C-DF40-4D17-B488-2951EF201AFC}" type="datetimeFigureOut">
              <a:rPr lang="en-US" smtClean="0"/>
              <a:t>11/14/2025</a:t>
            </a:fld>
            <a:endParaRPr lang="en-US"/>
          </a:p>
        </p:txBody>
      </p:sp>
      <p:sp>
        <p:nvSpPr>
          <p:cNvPr id="5" name="Footer Placeholder 4">
            <a:extLst>
              <a:ext uri="{FF2B5EF4-FFF2-40B4-BE49-F238E27FC236}">
                <a16:creationId xmlns:a16="http://schemas.microsoft.com/office/drawing/2014/main" id="{AFD279B8-5AC8-51E2-7434-B815D79FB3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0377B71-1325-1416-4D61-4192D803BF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5D987D-E863-4D2C-B782-3572D73E342E}" type="slidenum">
              <a:rPr lang="en-US" smtClean="0"/>
              <a:t>‹#›</a:t>
            </a:fld>
            <a:endParaRPr lang="en-US"/>
          </a:p>
        </p:txBody>
      </p:sp>
    </p:spTree>
    <p:extLst>
      <p:ext uri="{BB962C8B-B14F-4D97-AF65-F5344CB8AC3E}">
        <p14:creationId xmlns:p14="http://schemas.microsoft.com/office/powerpoint/2010/main" val="1797551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0F7B-E467-2390-B20B-30FE7E7C08CC}"/>
              </a:ext>
            </a:extLst>
          </p:cNvPr>
          <p:cNvSpPr>
            <a:spLocks noGrp="1"/>
          </p:cNvSpPr>
          <p:nvPr>
            <p:ph type="ctrTitle"/>
          </p:nvPr>
        </p:nvSpPr>
        <p:spPr/>
        <p:txBody>
          <a:bodyPr/>
          <a:lstStyle/>
          <a:p>
            <a:r>
              <a:rPr lang="en-US" b="1" dirty="0"/>
              <a:t>Data Communications</a:t>
            </a:r>
          </a:p>
        </p:txBody>
      </p:sp>
      <p:sp>
        <p:nvSpPr>
          <p:cNvPr id="3" name="Subtitle 2">
            <a:extLst>
              <a:ext uri="{FF2B5EF4-FFF2-40B4-BE49-F238E27FC236}">
                <a16:creationId xmlns:a16="http://schemas.microsoft.com/office/drawing/2014/main" id="{9234CD90-E4EF-BBDB-9CB9-5D3924C6181A}"/>
              </a:ext>
            </a:extLst>
          </p:cNvPr>
          <p:cNvSpPr>
            <a:spLocks noGrp="1"/>
          </p:cNvSpPr>
          <p:nvPr>
            <p:ph type="subTitle" idx="1"/>
          </p:nvPr>
        </p:nvSpPr>
        <p:spPr/>
        <p:txBody>
          <a:bodyPr>
            <a:normAutofit/>
          </a:bodyPr>
          <a:lstStyle/>
          <a:p>
            <a:r>
              <a:rPr lang="en-US" sz="3200" b="1" dirty="0"/>
              <a:t>Unit </a:t>
            </a:r>
            <a:r>
              <a:rPr lang="en-US" sz="3200" b="1" dirty="0" smtClean="0"/>
              <a:t>1 </a:t>
            </a:r>
            <a:endParaRPr lang="en-US" sz="3200" b="1" dirty="0"/>
          </a:p>
        </p:txBody>
      </p:sp>
    </p:spTree>
    <p:extLst>
      <p:ext uri="{BB962C8B-B14F-4D97-AF65-F5344CB8AC3E}">
        <p14:creationId xmlns:p14="http://schemas.microsoft.com/office/powerpoint/2010/main" val="1274756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12192000" cy="6674177"/>
          </a:xfrm>
        </p:spPr>
        <p:txBody>
          <a:bodyPr>
            <a:normAutofit/>
          </a:bodyPr>
          <a:lstStyle/>
          <a:p>
            <a:pPr marL="0" indent="0">
              <a:buNone/>
            </a:pPr>
            <a:r>
              <a:rPr lang="en-US" dirty="0"/>
              <a:t>Unit 1: Data Communications (8 Hours)</a:t>
            </a:r>
          </a:p>
          <a:p>
            <a:r>
              <a:rPr lang="en-US" dirty="0"/>
              <a:t>1.1 Definition, Components of Data Communication</a:t>
            </a:r>
          </a:p>
          <a:p>
            <a:r>
              <a:rPr lang="en-US" dirty="0"/>
              <a:t>1.2 Data Transmission Modes: Simplex, Half-Duplex, </a:t>
            </a:r>
            <a:r>
              <a:rPr lang="en-US" dirty="0" err="1"/>
              <a:t>FullDuplex</a:t>
            </a:r>
            <a:endParaRPr lang="en-US" dirty="0"/>
          </a:p>
          <a:p>
            <a:r>
              <a:rPr lang="en-US" dirty="0"/>
              <a:t>1.3 Data Representation: Analog and Digital</a:t>
            </a:r>
          </a:p>
          <a:p>
            <a:r>
              <a:rPr lang="en-US" dirty="0"/>
              <a:t>1.4 Analog and Digital Transmission</a:t>
            </a:r>
          </a:p>
          <a:p>
            <a:r>
              <a:rPr lang="en-US" dirty="0"/>
              <a:t>1.5 Serial and Parallel Communication</a:t>
            </a:r>
          </a:p>
          <a:p>
            <a:r>
              <a:rPr lang="en-US" dirty="0"/>
              <a:t>1.6 Asynchronous and Synchronous Transmission</a:t>
            </a:r>
          </a:p>
          <a:p>
            <a:r>
              <a:rPr lang="en-US" dirty="0"/>
              <a:t>I .7 Transmission Impairments</a:t>
            </a:r>
          </a:p>
          <a:p>
            <a:r>
              <a:rPr lang="en-US" dirty="0"/>
              <a:t>1.8 Bandwidth, Throughput, Baud Rate, Jitter</a:t>
            </a:r>
          </a:p>
          <a:p>
            <a:r>
              <a:rPr lang="en-US" dirty="0"/>
              <a:t>1.9 </a:t>
            </a:r>
            <a:r>
              <a:rPr lang="en-US" dirty="0" err="1"/>
              <a:t>Nyquist</a:t>
            </a:r>
            <a:r>
              <a:rPr lang="en-US" dirty="0"/>
              <a:t> and Shannon Capacity Theorem</a:t>
            </a:r>
          </a:p>
          <a:p>
            <a:r>
              <a:rPr lang="en-US" dirty="0"/>
              <a:t>I. 10 Digital Transmission Techniques</a:t>
            </a:r>
          </a:p>
        </p:txBody>
      </p:sp>
    </p:spTree>
    <p:extLst>
      <p:ext uri="{BB962C8B-B14F-4D97-AF65-F5344CB8AC3E}">
        <p14:creationId xmlns:p14="http://schemas.microsoft.com/office/powerpoint/2010/main" val="2270786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1" y="0"/>
            <a:ext cx="6862713" cy="6721311"/>
          </a:xfrm>
        </p:spPr>
        <p:txBody>
          <a:bodyPr>
            <a:normAutofit/>
          </a:bodyPr>
          <a:lstStyle/>
          <a:p>
            <a:pPr marL="0" indent="0">
              <a:buNone/>
            </a:pPr>
            <a:r>
              <a:rPr lang="en-US" sz="4000" b="1" dirty="0"/>
              <a:t>Data communication</a:t>
            </a:r>
            <a:endParaRPr lang="en-US" sz="4000" b="1" dirty="0" smtClean="0"/>
          </a:p>
          <a:p>
            <a:endParaRPr lang="en-US" dirty="0"/>
          </a:p>
          <a:p>
            <a:r>
              <a:rPr lang="en-US" dirty="0" smtClean="0"/>
              <a:t>Data </a:t>
            </a:r>
            <a:r>
              <a:rPr lang="en-US" dirty="0"/>
              <a:t>communication is the process of transferring digital data between two or more devices through a transmission medium, like a cable or wireless connection</a:t>
            </a:r>
            <a:r>
              <a:rPr lang="en-US" dirty="0" smtClean="0"/>
              <a:t>.</a:t>
            </a:r>
          </a:p>
          <a:p>
            <a:endParaRPr lang="en-US" dirty="0" smtClean="0"/>
          </a:p>
          <a:p>
            <a:r>
              <a:rPr lang="en-US" dirty="0" smtClean="0"/>
              <a:t> </a:t>
            </a:r>
            <a:r>
              <a:rPr lang="en-US" dirty="0"/>
              <a:t>It enables everything from sending an email to browsing the web and relies on a system of hardware, software, and established protocols to ensure data is sent, received, and interpreted correctly</a:t>
            </a:r>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004114" y="1725105"/>
            <a:ext cx="4349685" cy="3478670"/>
          </a:xfrm>
        </p:spPr>
      </p:pic>
    </p:spTree>
    <p:extLst>
      <p:ext uri="{BB962C8B-B14F-4D97-AF65-F5344CB8AC3E}">
        <p14:creationId xmlns:p14="http://schemas.microsoft.com/office/powerpoint/2010/main" val="998327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b="1" dirty="0"/>
              <a:t>Components of Data Communication </a:t>
            </a:r>
          </a:p>
          <a:p>
            <a:r>
              <a:rPr lang="en-US" dirty="0"/>
              <a:t>A communication system is made up of the following components:</a:t>
            </a:r>
          </a:p>
          <a:p>
            <a:r>
              <a:rPr lang="en-US" b="1" dirty="0"/>
              <a:t>Message:</a:t>
            </a:r>
            <a:r>
              <a:rPr lang="en-US" dirty="0"/>
              <a:t> A message is a piece of information that is to be transmitted from one person to another. It could be a text file, an audio file, a video file, etc.</a:t>
            </a:r>
          </a:p>
          <a:p>
            <a:r>
              <a:rPr lang="en-US" b="1" dirty="0"/>
              <a:t>Sender:</a:t>
            </a:r>
            <a:r>
              <a:rPr lang="en-US" dirty="0"/>
              <a:t> It is simply a device that sends data messages. It can be a computer, mobile, telephone, laptop, video camera, or workstation, etc.</a:t>
            </a:r>
          </a:p>
          <a:p>
            <a:r>
              <a:rPr lang="en-US" b="1" dirty="0"/>
              <a:t>Receiver: </a:t>
            </a:r>
            <a:r>
              <a:rPr lang="en-US" dirty="0"/>
              <a:t>It is a device that receives messages. It can be a computer, telephone mobile, workstation, etc.</a:t>
            </a:r>
          </a:p>
          <a:p>
            <a:r>
              <a:rPr lang="en-US" b="1" dirty="0"/>
              <a:t>Transmission Medium / Communication Channels: </a:t>
            </a:r>
            <a:r>
              <a:rPr lang="en-US" dirty="0"/>
              <a:t>Communication channels are the medium that connect two or more workstations. Workstations can be connected by either wired media or wireless media.</a:t>
            </a:r>
          </a:p>
          <a:p>
            <a:r>
              <a:rPr lang="en-US" b="1" dirty="0"/>
              <a:t>Set of rules (Protocol): </a:t>
            </a:r>
            <a:r>
              <a:rPr lang="en-US" dirty="0"/>
              <a:t>When someone sends the data (The sender), it should be understandable to the receiver also otherwise it is meaningless. For example, </a:t>
            </a:r>
            <a:r>
              <a:rPr lang="en-US" dirty="0" err="1"/>
              <a:t>Sonali</a:t>
            </a:r>
            <a:r>
              <a:rPr lang="en-US" dirty="0"/>
              <a:t> sends a message to </a:t>
            </a:r>
            <a:r>
              <a:rPr lang="en-US" dirty="0" err="1"/>
              <a:t>Chetan</a:t>
            </a:r>
            <a:r>
              <a:rPr lang="en-US" dirty="0"/>
              <a:t>. If </a:t>
            </a:r>
            <a:r>
              <a:rPr lang="en-US" dirty="0" err="1"/>
              <a:t>Sonali</a:t>
            </a:r>
            <a:r>
              <a:rPr lang="en-US" dirty="0"/>
              <a:t> writes in Hindi and </a:t>
            </a:r>
            <a:r>
              <a:rPr lang="en-US" dirty="0" err="1"/>
              <a:t>Chetan</a:t>
            </a:r>
            <a:r>
              <a:rPr lang="en-US" dirty="0"/>
              <a:t> cannot understand Hindi, it is a meaningless conversation.</a:t>
            </a:r>
          </a:p>
          <a:p>
            <a:endParaRPr lang="en-US" dirty="0"/>
          </a:p>
        </p:txBody>
      </p:sp>
    </p:spTree>
    <p:extLst>
      <p:ext uri="{BB962C8B-B14F-4D97-AF65-F5344CB8AC3E}">
        <p14:creationId xmlns:p14="http://schemas.microsoft.com/office/powerpoint/2010/main" val="1481708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008F1B-B624-CF0C-1E41-B8C9C1FCEA19}"/>
              </a:ext>
            </a:extLst>
          </p:cNvPr>
          <p:cNvSpPr>
            <a:spLocks noGrp="1"/>
          </p:cNvSpPr>
          <p:nvPr>
            <p:ph idx="1"/>
          </p:nvPr>
        </p:nvSpPr>
        <p:spPr>
          <a:xfrm>
            <a:off x="0" y="0"/>
            <a:ext cx="12192000" cy="6858000"/>
          </a:xfrm>
        </p:spPr>
        <p:txBody>
          <a:bodyPr/>
          <a:lstStyle/>
          <a:p>
            <a:pPr marL="0" indent="0">
              <a:buNone/>
            </a:pPr>
            <a:r>
              <a:rPr lang="en-US" b="1" dirty="0"/>
              <a:t>What is Data Transmission?</a:t>
            </a:r>
          </a:p>
          <a:p>
            <a:r>
              <a:rPr lang="en-US" dirty="0"/>
              <a:t>Data transmission is the transfer of data from one digital device to another. </a:t>
            </a:r>
          </a:p>
          <a:p>
            <a:endParaRPr lang="en-US" dirty="0"/>
          </a:p>
          <a:p>
            <a:r>
              <a:rPr lang="en-US" dirty="0"/>
              <a:t>This transfer occurs via point-to-point data streams or channels. </a:t>
            </a:r>
          </a:p>
          <a:p>
            <a:endParaRPr lang="en-US" dirty="0"/>
          </a:p>
          <a:p>
            <a:r>
              <a:rPr lang="en-US" dirty="0"/>
              <a:t>These channels may previously have been in the form of copper wires but are now much more likely to be part of a wireless network. </a:t>
            </a:r>
          </a:p>
          <a:p>
            <a:endParaRPr lang="en-US" dirty="0"/>
          </a:p>
          <a:p>
            <a:r>
              <a:rPr lang="en-US" dirty="0"/>
              <a:t>Data transmission methods can refer to both analog and digital data but in this guide, we will be focusing on digital modulation. </a:t>
            </a:r>
          </a:p>
          <a:p>
            <a:endParaRPr lang="en-US" dirty="0"/>
          </a:p>
          <a:p>
            <a:r>
              <a:rPr lang="en-US" dirty="0"/>
              <a:t>This modulation technique focuses on the encoding and decoding of digital signals via two main methods parallel and serial transmission.</a:t>
            </a:r>
          </a:p>
        </p:txBody>
      </p:sp>
    </p:spTree>
    <p:extLst>
      <p:ext uri="{BB962C8B-B14F-4D97-AF65-F5344CB8AC3E}">
        <p14:creationId xmlns:p14="http://schemas.microsoft.com/office/powerpoint/2010/main" val="415083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1B8355-BAF0-ADB2-50E3-16B56F7C085E}"/>
              </a:ext>
            </a:extLst>
          </p:cNvPr>
          <p:cNvSpPr>
            <a:spLocks noGrp="1"/>
          </p:cNvSpPr>
          <p:nvPr>
            <p:ph idx="1"/>
          </p:nvPr>
        </p:nvSpPr>
        <p:spPr>
          <a:xfrm>
            <a:off x="0" y="0"/>
            <a:ext cx="12192000" cy="6858000"/>
          </a:xfrm>
        </p:spPr>
        <p:txBody>
          <a:bodyPr/>
          <a:lstStyle/>
          <a:p>
            <a:endParaRPr lang="en-US" dirty="0"/>
          </a:p>
          <a:p>
            <a:pPr marL="0" marR="0" lvl="0" indent="0" algn="l" defTabSz="914400" rtl="0" eaLnBrk="0" fontAlgn="base" latinLnBrk="0" hangingPunct="0">
              <a:lnSpc>
                <a:spcPct val="100000"/>
              </a:lnSpc>
              <a:spcBef>
                <a:spcPct val="0"/>
              </a:spcBef>
              <a:spcAft>
                <a:spcPct val="0"/>
              </a:spcAft>
              <a:buClrTx/>
              <a:buSzTx/>
              <a:buFontTx/>
              <a:buNone/>
              <a:tabLst/>
            </a:pPr>
            <a:r>
              <a:rPr lang="en-US" dirty="0"/>
              <a:t> </a:t>
            </a:r>
            <a:r>
              <a:rPr kumimoji="0" lang="en-US" altLang="en-US" sz="2800" b="1" i="0" u="none" strike="noStrike" cap="none" normalizeH="0" baseline="0" dirty="0">
                <a:ln>
                  <a:noFill/>
                </a:ln>
                <a:solidFill>
                  <a:schemeClr val="tx1"/>
                </a:solidFill>
                <a:effectLst/>
                <a:latin typeface="Arial" panose="020B0604020202020204" pitchFamily="34" charset="0"/>
              </a:rPr>
              <a:t>The data transmission modes can be characterized in the following three types based on the direction of exchange of information: </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800" b="0" i="0" u="none" strike="noStrike" cap="none" normalizeH="0" baseline="0" dirty="0">
                <a:ln>
                  <a:noFill/>
                </a:ln>
                <a:solidFill>
                  <a:schemeClr val="tx1"/>
                </a:solidFill>
                <a:effectLst/>
                <a:latin typeface="Arial" panose="020B0604020202020204" pitchFamily="34" charset="0"/>
              </a:rPr>
              <a:t>Simplex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800" b="0" i="0" u="none" strike="noStrike" cap="none" normalizeH="0" baseline="0" dirty="0">
                <a:ln>
                  <a:noFill/>
                </a:ln>
                <a:solidFill>
                  <a:schemeClr val="tx1"/>
                </a:solidFill>
                <a:effectLst/>
                <a:latin typeface="Arial" panose="020B0604020202020204" pitchFamily="34" charset="0"/>
              </a:rPr>
              <a:t>Half-Duplex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800" b="0" i="0" u="none" strike="noStrike" cap="none" normalizeH="0" baseline="0" dirty="0">
                <a:ln>
                  <a:noFill/>
                </a:ln>
                <a:solidFill>
                  <a:schemeClr val="tx1"/>
                </a:solidFill>
                <a:effectLst/>
                <a:latin typeface="Arial" panose="020B0604020202020204" pitchFamily="34" charset="0"/>
              </a:rPr>
              <a:t>Full Duplex</a:t>
            </a:r>
            <a:endParaRPr lang="en-US" dirty="0"/>
          </a:p>
        </p:txBody>
      </p:sp>
      <p:sp>
        <p:nvSpPr>
          <p:cNvPr id="4" name="Rectangle 1">
            <a:extLst>
              <a:ext uri="{FF2B5EF4-FFF2-40B4-BE49-F238E27FC236}">
                <a16:creationId xmlns:a16="http://schemas.microsoft.com/office/drawing/2014/main" id="{0A6C21F5-9887-1218-3B11-CC68AE9E1910}"/>
              </a:ext>
            </a:extLst>
          </p:cNvPr>
          <p:cNvSpPr>
            <a:spLocks noChangeArrowheads="1"/>
          </p:cNvSpPr>
          <p:nvPr/>
        </p:nvSpPr>
        <p:spPr bwMode="auto">
          <a:xfrm>
            <a:off x="0" y="-9456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5103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9F998F-DA21-9CE6-C81F-22610619CCB3}"/>
              </a:ext>
            </a:extLst>
          </p:cNvPr>
          <p:cNvSpPr>
            <a:spLocks noGrp="1"/>
          </p:cNvSpPr>
          <p:nvPr>
            <p:ph idx="1"/>
          </p:nvPr>
        </p:nvSpPr>
        <p:spPr>
          <a:xfrm>
            <a:off x="0" y="0"/>
            <a:ext cx="12192000" cy="6858000"/>
          </a:xfrm>
        </p:spPr>
        <p:txBody>
          <a:bodyPr>
            <a:normAutofit fontScale="775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300" b="1" i="0" u="none" strike="noStrike" cap="none" normalizeH="0" baseline="0" dirty="0">
                <a:ln>
                  <a:noFill/>
                </a:ln>
                <a:solidFill>
                  <a:schemeClr val="tx1"/>
                </a:solidFill>
                <a:effectLst/>
                <a:latin typeface="Arial" panose="020B0604020202020204" pitchFamily="34" charset="0"/>
              </a:rPr>
              <a:t>According to the Direction of Exchange of Information: </a:t>
            </a:r>
            <a:endParaRPr kumimoji="0" lang="en-US" altLang="en-US" sz="33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3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1" i="0" u="none" strike="noStrike" cap="none" normalizeH="0" baseline="0" dirty="0" smtClean="0">
                <a:ln>
                  <a:noFill/>
                </a:ln>
                <a:solidFill>
                  <a:schemeClr val="tx1"/>
                </a:solidFill>
                <a:effectLst/>
                <a:latin typeface="Arial" panose="020B0604020202020204" pitchFamily="34" charset="0"/>
              </a:rPr>
              <a:t>1.Simplex </a:t>
            </a:r>
          </a:p>
          <a:p>
            <a:pPr marL="457200" marR="0" lvl="0" indent="-457200" algn="l" defTabSz="914400" rtl="0" eaLnBrk="0" fontAlgn="base" latinLnBrk="0" hangingPunct="0">
              <a:lnSpc>
                <a:spcPct val="100000"/>
              </a:lnSpc>
              <a:spcBef>
                <a:spcPct val="0"/>
              </a:spcBef>
              <a:spcAft>
                <a:spcPct val="0"/>
              </a:spcAft>
              <a:buClrTx/>
              <a:buSzTx/>
              <a:buFontTx/>
              <a:buAutoNum type="arabicPeriod"/>
              <a:tabLst/>
            </a:pPr>
            <a:endParaRPr kumimoji="0" lang="en-US" altLang="en-US" sz="2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Simplex is the data transmission mode in which the data can flow only in one direction, i.e., the communication is unidirectional</a:t>
            </a:r>
            <a:r>
              <a:rPr kumimoji="0" lang="en-US" altLang="en-US" sz="2200" b="1"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rPr>
              <a:t>In this mode, a sender can only send data but can not receive it. Similarly, a receiver can only receive data but can not send it.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467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a:ln>
                  <a:noFill/>
                </a:ln>
                <a:solidFill>
                  <a:schemeClr val="tx1"/>
                </a:solidFill>
                <a:effectLst/>
                <a:latin typeface="Arial" panose="020B0604020202020204" pitchFamily="34" charset="0"/>
              </a:rPr>
              <a:t> </a:t>
            </a:r>
          </a:p>
          <a:p>
            <a:endParaRPr lang="en-US" dirty="0"/>
          </a:p>
        </p:txBody>
      </p:sp>
      <p:pic>
        <p:nvPicPr>
          <p:cNvPr id="5" name="Picture 4">
            <a:extLst>
              <a:ext uri="{FF2B5EF4-FFF2-40B4-BE49-F238E27FC236}">
                <a16:creationId xmlns:a16="http://schemas.microsoft.com/office/drawing/2014/main" id="{14BEE12B-C00D-4AFF-90DC-ED9D49935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1777" y="3080209"/>
            <a:ext cx="6343650" cy="3355943"/>
          </a:xfrm>
          <a:prstGeom prst="rect">
            <a:avLst/>
          </a:prstGeom>
        </p:spPr>
      </p:pic>
    </p:spTree>
    <p:extLst>
      <p:ext uri="{BB962C8B-B14F-4D97-AF65-F5344CB8AC3E}">
        <p14:creationId xmlns:p14="http://schemas.microsoft.com/office/powerpoint/2010/main" val="2883451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98083C-28C4-125A-F55C-CD7D2522EC6B}"/>
              </a:ext>
            </a:extLst>
          </p:cNvPr>
          <p:cNvSpPr>
            <a:spLocks noGrp="1"/>
          </p:cNvSpPr>
          <p:nvPr>
            <p:ph idx="1"/>
          </p:nvPr>
        </p:nvSpPr>
        <p:spPr>
          <a:xfrm>
            <a:off x="0" y="0"/>
            <a:ext cx="12192000" cy="6857999"/>
          </a:xfrm>
        </p:spPr>
        <p:txBody>
          <a:bodyPr/>
          <a:lstStyle/>
          <a:p>
            <a:r>
              <a:rPr lang="en-US" dirty="0"/>
              <a:t>This transmission mode is not so popular .</a:t>
            </a:r>
          </a:p>
          <a:p>
            <a:r>
              <a:rPr lang="en-US" dirty="0"/>
              <a:t>It is mainly used in the business field as in sales that do not require any corresponding reply.</a:t>
            </a:r>
          </a:p>
          <a:p>
            <a:r>
              <a:rPr lang="en-US" dirty="0"/>
              <a:t> It is similar to a one-way street. </a:t>
            </a:r>
          </a:p>
          <a:p>
            <a:r>
              <a:rPr lang="en-US" dirty="0"/>
              <a:t>For Example, Radio and TV transmission, keyboard, mouse, etc. </a:t>
            </a:r>
          </a:p>
          <a:p>
            <a:r>
              <a:rPr lang="en-US" b="1" dirty="0"/>
              <a:t>Following are the advantages of using a Simplex transmission mode: </a:t>
            </a:r>
            <a:endParaRPr lang="en-US" dirty="0"/>
          </a:p>
          <a:p>
            <a:pPr>
              <a:buFont typeface="+mj-lt"/>
              <a:buAutoNum type="arabicPeriod"/>
            </a:pPr>
            <a:r>
              <a:rPr lang="en-US" dirty="0"/>
              <a:t>It utilizes the full capacity of the communication channel during data transmission. </a:t>
            </a:r>
          </a:p>
          <a:p>
            <a:r>
              <a:rPr lang="en-US" b="1" dirty="0"/>
              <a:t>Following are the disadvantages of using a Simplex transmission mode: </a:t>
            </a:r>
            <a:endParaRPr lang="en-US" dirty="0"/>
          </a:p>
          <a:p>
            <a:pPr>
              <a:buFont typeface="+mj-lt"/>
              <a:buAutoNum type="arabicPeriod"/>
            </a:pPr>
            <a:r>
              <a:rPr lang="en-US" dirty="0"/>
              <a:t>It is unidirectional in nature having no inter-communication between devices. </a:t>
            </a:r>
          </a:p>
          <a:p>
            <a:pPr>
              <a:buFont typeface="+mj-lt"/>
              <a:buAutoNum type="arabicPeriod"/>
            </a:pPr>
            <a:r>
              <a:rPr lang="en-US" dirty="0"/>
              <a:t>There is no mechanism for information to be transmitted back to the sender(No mechanism for acknowledgement). </a:t>
            </a:r>
          </a:p>
          <a:p>
            <a:pPr>
              <a:buFont typeface="+mj-lt"/>
              <a:buAutoNum type="arabicPeriod"/>
            </a:pPr>
            <a:endParaRPr lang="en-US" dirty="0"/>
          </a:p>
          <a:p>
            <a:endParaRPr lang="en-US" dirty="0"/>
          </a:p>
        </p:txBody>
      </p:sp>
    </p:spTree>
    <p:extLst>
      <p:ext uri="{BB962C8B-B14F-4D97-AF65-F5344CB8AC3E}">
        <p14:creationId xmlns:p14="http://schemas.microsoft.com/office/powerpoint/2010/main" val="487681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2DF006-EF8E-0F39-8744-0994C721061C}"/>
              </a:ext>
            </a:extLst>
          </p:cNvPr>
          <p:cNvSpPr>
            <a:spLocks noGrp="1"/>
          </p:cNvSpPr>
          <p:nvPr>
            <p:ph idx="1"/>
          </p:nvPr>
        </p:nvSpPr>
        <p:spPr>
          <a:xfrm>
            <a:off x="0" y="0"/>
            <a:ext cx="12192000" cy="6858000"/>
          </a:xfrm>
        </p:spPr>
        <p:txBody>
          <a:bodyPr/>
          <a:lstStyle/>
          <a:p>
            <a:pPr marL="0" indent="0">
              <a:buNone/>
            </a:pPr>
            <a:r>
              <a:rPr lang="en-US" b="1" dirty="0"/>
              <a:t>2. Half-Duplex </a:t>
            </a:r>
          </a:p>
          <a:p>
            <a:r>
              <a:rPr lang="en-US" b="1" dirty="0"/>
              <a:t>Half-Duplex is the data transmission mode in which the data can flow in both directions but in one direction at a time.</a:t>
            </a:r>
          </a:p>
          <a:p>
            <a:r>
              <a:rPr lang="en-US" b="1" dirty="0"/>
              <a:t> It is also referred to as Semi-Duplex. </a:t>
            </a:r>
          </a:p>
          <a:p>
            <a:r>
              <a:rPr lang="en-US" dirty="0"/>
              <a:t>In other words, each station can both transmit and receive the data but not at the same time.</a:t>
            </a:r>
          </a:p>
          <a:p>
            <a:r>
              <a:rPr lang="en-US" dirty="0"/>
              <a:t> When one device is sending the other can only receive and vice-versa. </a:t>
            </a:r>
          </a:p>
          <a:p>
            <a:endParaRPr lang="en-US" dirty="0"/>
          </a:p>
          <a:p>
            <a:endParaRPr lang="en-US" dirty="0"/>
          </a:p>
        </p:txBody>
      </p:sp>
      <p:pic>
        <p:nvPicPr>
          <p:cNvPr id="5" name="Picture 4">
            <a:extLst>
              <a:ext uri="{FF2B5EF4-FFF2-40B4-BE49-F238E27FC236}">
                <a16:creationId xmlns:a16="http://schemas.microsoft.com/office/drawing/2014/main" id="{F12FF741-9DCC-436D-1F16-CFA35CBAF1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4175" y="3513221"/>
            <a:ext cx="6343650" cy="3105552"/>
          </a:xfrm>
          <a:prstGeom prst="rect">
            <a:avLst/>
          </a:prstGeom>
        </p:spPr>
      </p:pic>
    </p:spTree>
    <p:extLst>
      <p:ext uri="{BB962C8B-B14F-4D97-AF65-F5344CB8AC3E}">
        <p14:creationId xmlns:p14="http://schemas.microsoft.com/office/powerpoint/2010/main" val="1525789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4204D9-7419-4E2C-CD67-661686F6E1EE}"/>
              </a:ext>
            </a:extLst>
          </p:cNvPr>
          <p:cNvSpPr>
            <a:spLocks noGrp="1"/>
          </p:cNvSpPr>
          <p:nvPr>
            <p:ph idx="1"/>
          </p:nvPr>
        </p:nvSpPr>
        <p:spPr>
          <a:xfrm>
            <a:off x="0" y="0"/>
            <a:ext cx="12192000" cy="6858000"/>
          </a:xfrm>
        </p:spPr>
        <p:txBody>
          <a:bodyPr/>
          <a:lstStyle/>
          <a:p>
            <a:r>
              <a:rPr lang="en-US" dirty="0"/>
              <a:t>In this type of transmission mode, the entire capacity of the channel can be utilized for each direction. </a:t>
            </a:r>
          </a:p>
          <a:p>
            <a:r>
              <a:rPr lang="en-US" dirty="0"/>
              <a:t>Transmission lines can carry data in both directions, but the data can be sent only in one direction at a time. </a:t>
            </a:r>
          </a:p>
          <a:p>
            <a:r>
              <a:rPr lang="en-US" dirty="0"/>
              <a:t>For Example, Walkie-Talkie, Internet Browsers, etc. </a:t>
            </a:r>
          </a:p>
          <a:p>
            <a:r>
              <a:rPr lang="en-US" b="1" dirty="0"/>
              <a:t>Following are the advantages of using a half-duplex transmission mode: </a:t>
            </a:r>
            <a:endParaRPr lang="en-US" dirty="0"/>
          </a:p>
          <a:p>
            <a:pPr>
              <a:buFont typeface="+mj-lt"/>
              <a:buAutoNum type="arabicPeriod"/>
            </a:pPr>
            <a:r>
              <a:rPr lang="en-US" dirty="0"/>
              <a:t>It facilitates the optimum use of the communication channel. </a:t>
            </a:r>
          </a:p>
          <a:p>
            <a:pPr>
              <a:buFont typeface="+mj-lt"/>
              <a:buAutoNum type="arabicPeriod"/>
            </a:pPr>
            <a:r>
              <a:rPr lang="en-US" dirty="0"/>
              <a:t>It provides two-way communication. </a:t>
            </a:r>
          </a:p>
          <a:p>
            <a:r>
              <a:rPr lang="en-US" b="1" dirty="0"/>
              <a:t>Following are the disadvantages of using a half-duplex transmission mode: </a:t>
            </a:r>
            <a:endParaRPr lang="en-US" dirty="0"/>
          </a:p>
          <a:p>
            <a:pPr>
              <a:buFont typeface="+mj-lt"/>
              <a:buAutoNum type="arabicPeriod"/>
            </a:pPr>
            <a:r>
              <a:rPr lang="en-US" dirty="0"/>
              <a:t>The two-way communication can not be established simultaneously at the same time. </a:t>
            </a:r>
          </a:p>
          <a:p>
            <a:pPr>
              <a:buFont typeface="+mj-lt"/>
              <a:buAutoNum type="arabicPeriod"/>
            </a:pPr>
            <a:r>
              <a:rPr lang="en-US" dirty="0"/>
              <a:t>Delay in transmission may occur as only one way communication can be possible at a time. </a:t>
            </a:r>
          </a:p>
          <a:p>
            <a:endParaRPr lang="en-US" dirty="0"/>
          </a:p>
        </p:txBody>
      </p:sp>
    </p:spTree>
    <p:extLst>
      <p:ext uri="{BB962C8B-B14F-4D97-AF65-F5344CB8AC3E}">
        <p14:creationId xmlns:p14="http://schemas.microsoft.com/office/powerpoint/2010/main" val="3547104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290825-BD61-912D-1758-D11DB810ADB9}"/>
              </a:ext>
            </a:extLst>
          </p:cNvPr>
          <p:cNvSpPr>
            <a:spLocks noGrp="1"/>
          </p:cNvSpPr>
          <p:nvPr>
            <p:ph idx="1"/>
          </p:nvPr>
        </p:nvSpPr>
        <p:spPr>
          <a:xfrm>
            <a:off x="0" y="0"/>
            <a:ext cx="12192000" cy="6858000"/>
          </a:xfrm>
        </p:spPr>
        <p:txBody>
          <a:bodyPr>
            <a:normAutofit lnSpcReduction="10000"/>
          </a:bodyPr>
          <a:lstStyle/>
          <a:p>
            <a:pPr marL="0" indent="0">
              <a:buNone/>
            </a:pPr>
            <a:r>
              <a:rPr lang="en-US" b="1" dirty="0"/>
              <a:t>3. Full-Duplex </a:t>
            </a:r>
          </a:p>
          <a:p>
            <a:r>
              <a:rPr lang="en-US" b="1" dirty="0"/>
              <a:t>Full-Duplex is the data transmission mode in which the data can flow in both directions at the same time. It is bi-directional in nature. </a:t>
            </a:r>
            <a:r>
              <a:rPr lang="en-US" dirty="0"/>
              <a:t>It is two-way communication in which both the stations can transmit and receive the data simultaneously. </a:t>
            </a:r>
          </a:p>
          <a:p>
            <a:endParaRPr lang="en-US" dirty="0"/>
          </a:p>
          <a:p>
            <a:endParaRPr lang="en-US" dirty="0"/>
          </a:p>
          <a:p>
            <a:endParaRPr lang="en-US" dirty="0"/>
          </a:p>
          <a:p>
            <a:endParaRPr lang="en-US" dirty="0"/>
          </a:p>
          <a:p>
            <a:endParaRPr lang="en-US" dirty="0"/>
          </a:p>
          <a:p>
            <a:endParaRPr lang="en-US" dirty="0"/>
          </a:p>
          <a:p>
            <a:r>
              <a:rPr lang="en-US" dirty="0"/>
              <a:t>Full-Duplex mode has double bandwidth as compared to the half-duplex.</a:t>
            </a:r>
          </a:p>
          <a:p>
            <a:r>
              <a:rPr lang="en-US" dirty="0"/>
              <a:t> The capacity of the channel is divided between the two directions of communication. </a:t>
            </a:r>
          </a:p>
          <a:p>
            <a:r>
              <a:rPr lang="en-US" dirty="0"/>
              <a:t>This mode is used when communication in both directions is required simultaneously. </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DB00A51D-4A4C-1264-4A88-E0C4B39351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9047" y="1722220"/>
            <a:ext cx="6343650" cy="2811279"/>
          </a:xfrm>
          <a:prstGeom prst="rect">
            <a:avLst/>
          </a:prstGeom>
        </p:spPr>
      </p:pic>
    </p:spTree>
    <p:extLst>
      <p:ext uri="{BB962C8B-B14F-4D97-AF65-F5344CB8AC3E}">
        <p14:creationId xmlns:p14="http://schemas.microsoft.com/office/powerpoint/2010/main" val="644337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A50A08-ACB5-D7A2-920F-DF7BF0F9E273}"/>
              </a:ext>
            </a:extLst>
          </p:cNvPr>
          <p:cNvSpPr>
            <a:spLocks noGrp="1"/>
          </p:cNvSpPr>
          <p:nvPr>
            <p:ph idx="1"/>
          </p:nvPr>
        </p:nvSpPr>
        <p:spPr>
          <a:xfrm>
            <a:off x="0" y="0"/>
            <a:ext cx="12192000" cy="6858000"/>
          </a:xfrm>
        </p:spPr>
        <p:txBody>
          <a:bodyPr>
            <a:normAutofit/>
          </a:bodyPr>
          <a:lstStyle/>
          <a:p>
            <a:r>
              <a:rPr lang="en-US" b="1" dirty="0"/>
              <a:t>Following are the advantages of using a full-duplex transmission mode: </a:t>
            </a:r>
            <a:endParaRPr lang="en-US" dirty="0"/>
          </a:p>
          <a:p>
            <a:pPr>
              <a:buFont typeface="+mj-lt"/>
              <a:buAutoNum type="arabicPeriod"/>
            </a:pPr>
            <a:r>
              <a:rPr lang="en-US" dirty="0"/>
              <a:t>The two-way communication can be carried out simultaneously in both directions. </a:t>
            </a:r>
          </a:p>
          <a:p>
            <a:pPr>
              <a:buFont typeface="+mj-lt"/>
              <a:buAutoNum type="arabicPeriod"/>
            </a:pPr>
            <a:r>
              <a:rPr lang="en-US" dirty="0"/>
              <a:t>It is the fastest mode of communication between devices. </a:t>
            </a:r>
          </a:p>
          <a:p>
            <a:r>
              <a:rPr lang="en-US" b="1" dirty="0"/>
              <a:t>Following are the disadvantages of using </a:t>
            </a:r>
            <a:r>
              <a:rPr lang="en-US" b="1"/>
              <a:t>a full-duplex </a:t>
            </a:r>
            <a:r>
              <a:rPr lang="en-US" b="1" dirty="0"/>
              <a:t>transmission mode: </a:t>
            </a:r>
            <a:endParaRPr lang="en-US" dirty="0"/>
          </a:p>
          <a:p>
            <a:pPr>
              <a:buFont typeface="+mj-lt"/>
              <a:buAutoNum type="arabicPeriod"/>
            </a:pPr>
            <a:r>
              <a:rPr lang="en-US" dirty="0"/>
              <a:t>The capacity of the communication channel is divided into two parts. Also, no dedicated path exists for data transfer. </a:t>
            </a:r>
          </a:p>
          <a:p>
            <a:pPr>
              <a:buFont typeface="+mj-lt"/>
              <a:buAutoNum type="arabicPeriod"/>
            </a:pPr>
            <a:r>
              <a:rPr lang="en-US" dirty="0"/>
              <a:t>It has improper channel bandwidth utilization as there exist two separate paths for two communicating devices. </a:t>
            </a:r>
          </a:p>
          <a:p>
            <a:endParaRPr lang="en-US" dirty="0"/>
          </a:p>
        </p:txBody>
      </p:sp>
    </p:spTree>
    <p:extLst>
      <p:ext uri="{BB962C8B-B14F-4D97-AF65-F5344CB8AC3E}">
        <p14:creationId xmlns:p14="http://schemas.microsoft.com/office/powerpoint/2010/main" val="181577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1A6C86-B92C-4103-F604-E9D585D0D989}"/>
              </a:ext>
            </a:extLst>
          </p:cNvPr>
          <p:cNvSpPr>
            <a:spLocks noGrp="1"/>
          </p:cNvSpPr>
          <p:nvPr>
            <p:ph idx="1"/>
          </p:nvPr>
        </p:nvSpPr>
        <p:spPr>
          <a:xfrm>
            <a:off x="0" y="0"/>
            <a:ext cx="12192000" cy="6858000"/>
          </a:xfrm>
        </p:spPr>
        <p:txBody>
          <a:bodyPr/>
          <a:lstStyle/>
          <a:p>
            <a:pPr marL="0" indent="0">
              <a:buNone/>
            </a:pPr>
            <a:r>
              <a:rPr lang="nn-NO" b="1" dirty="0"/>
              <a:t>Analog Signals and Digital Signals</a:t>
            </a:r>
          </a:p>
          <a:p>
            <a:pPr marL="0" indent="0">
              <a:buNone/>
            </a:pPr>
            <a:endParaRPr lang="nn-NO" dirty="0"/>
          </a:p>
          <a:p>
            <a:r>
              <a:rPr lang="en-US" dirty="0">
                <a:effectLst/>
              </a:rPr>
              <a:t>A signal is an electromagnetic or electrical current that carries data from one system or network to another. </a:t>
            </a:r>
          </a:p>
          <a:p>
            <a:endParaRPr lang="en-US" dirty="0">
              <a:effectLst/>
            </a:endParaRPr>
          </a:p>
          <a:p>
            <a:r>
              <a:rPr lang="en-US" dirty="0">
                <a:effectLst/>
              </a:rPr>
              <a:t>In electronics, a signal is often a time-varying voltage that is also an electromagnetic wave carrying information, though it can take on other forms, such as current. </a:t>
            </a:r>
          </a:p>
          <a:p>
            <a:endParaRPr lang="en-US" dirty="0">
              <a:effectLst/>
            </a:endParaRPr>
          </a:p>
          <a:p>
            <a:r>
              <a:rPr lang="en-US" dirty="0">
                <a:effectLst/>
              </a:rPr>
              <a:t>There are two main types of signals used in electronics: analog and digital signals. </a:t>
            </a:r>
          </a:p>
        </p:txBody>
      </p:sp>
    </p:spTree>
    <p:extLst>
      <p:ext uri="{BB962C8B-B14F-4D97-AF65-F5344CB8AC3E}">
        <p14:creationId xmlns:p14="http://schemas.microsoft.com/office/powerpoint/2010/main" val="3163137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0C41AB-6D44-C340-9308-CA9C3632877F}"/>
              </a:ext>
            </a:extLst>
          </p:cNvPr>
          <p:cNvSpPr>
            <a:spLocks noGrp="1"/>
          </p:cNvSpPr>
          <p:nvPr>
            <p:ph idx="1"/>
          </p:nvPr>
        </p:nvSpPr>
        <p:spPr>
          <a:xfrm>
            <a:off x="0" y="0"/>
            <a:ext cx="12192000" cy="6858000"/>
          </a:xfrm>
        </p:spPr>
        <p:txBody>
          <a:bodyPr>
            <a:normAutofit/>
          </a:bodyPr>
          <a:lstStyle/>
          <a:p>
            <a:pPr marL="0" indent="0">
              <a:buNone/>
            </a:pPr>
            <a:r>
              <a:rPr lang="en-US" b="1" dirty="0"/>
              <a:t>Analog Signal</a:t>
            </a:r>
          </a:p>
          <a:p>
            <a:r>
              <a:rPr lang="en-US" dirty="0">
                <a:effectLst/>
              </a:rPr>
              <a:t>An analog signal is time-varying and generally bound to a range (e.g. +12V to -12V), but there is an infinite number of values within that continuous range. </a:t>
            </a:r>
          </a:p>
          <a:p>
            <a:r>
              <a:rPr lang="en-US" dirty="0">
                <a:effectLst/>
              </a:rPr>
              <a:t>An analog signal uses a given property of the medium to convey the signal’s information, such as electricity moving through a wire.</a:t>
            </a:r>
          </a:p>
          <a:p>
            <a:r>
              <a:rPr lang="en-US" dirty="0">
                <a:effectLst/>
              </a:rPr>
              <a:t> In an electrical signal, the voltage, current, or frequency of the signal may be varied to represent the information. </a:t>
            </a:r>
          </a:p>
          <a:p>
            <a:r>
              <a:rPr lang="en-US" dirty="0">
                <a:effectLst/>
              </a:rPr>
              <a:t>Analog signals are often calculated responses to changes in light, sound, temperature, position, pressure, or other physical phenomena.</a:t>
            </a:r>
          </a:p>
          <a:p>
            <a:endParaRPr lang="en-US" dirty="0"/>
          </a:p>
          <a:p>
            <a:endParaRPr lang="en-US" dirty="0"/>
          </a:p>
        </p:txBody>
      </p:sp>
      <p:pic>
        <p:nvPicPr>
          <p:cNvPr id="5" name="Picture 4">
            <a:extLst>
              <a:ext uri="{FF2B5EF4-FFF2-40B4-BE49-F238E27FC236}">
                <a16:creationId xmlns:a16="http://schemas.microsoft.com/office/drawing/2014/main" id="{6CA0D3E6-1C7D-E017-3900-B27D772EA0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737" y="4504623"/>
            <a:ext cx="9195273" cy="2000799"/>
          </a:xfrm>
          <a:prstGeom prst="rect">
            <a:avLst/>
          </a:prstGeom>
        </p:spPr>
      </p:pic>
    </p:spTree>
    <p:extLst>
      <p:ext uri="{BB962C8B-B14F-4D97-AF65-F5344CB8AC3E}">
        <p14:creationId xmlns:p14="http://schemas.microsoft.com/office/powerpoint/2010/main" val="2904200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2B76F7-DE4C-4421-E44E-800925B2D51B}"/>
              </a:ext>
            </a:extLst>
          </p:cNvPr>
          <p:cNvSpPr>
            <a:spLocks noGrp="1"/>
          </p:cNvSpPr>
          <p:nvPr>
            <p:ph idx="1"/>
          </p:nvPr>
        </p:nvSpPr>
        <p:spPr>
          <a:xfrm>
            <a:off x="0" y="0"/>
            <a:ext cx="12192000" cy="6858000"/>
          </a:xfrm>
        </p:spPr>
        <p:txBody>
          <a:bodyPr>
            <a:normAutofit/>
          </a:bodyPr>
          <a:lstStyle/>
          <a:p>
            <a:pPr marL="0" indent="0">
              <a:buNone/>
            </a:pPr>
            <a:r>
              <a:rPr lang="en-US" b="1" dirty="0"/>
              <a:t>Digital Signal</a:t>
            </a:r>
          </a:p>
          <a:p>
            <a:pPr marL="0" indent="0">
              <a:buNone/>
            </a:pPr>
            <a:r>
              <a:rPr lang="en-US" dirty="0">
                <a:effectLst/>
              </a:rPr>
              <a:t>A digital signal is a signal that represents data as a sequence of discrete values. </a:t>
            </a:r>
          </a:p>
          <a:p>
            <a:pPr marL="0" indent="0">
              <a:buNone/>
            </a:pPr>
            <a:r>
              <a:rPr lang="en-US" dirty="0">
                <a:effectLst/>
              </a:rPr>
              <a:t>A digital signal can only take on one value from a finite set of possible values at a given time. </a:t>
            </a:r>
          </a:p>
          <a:p>
            <a:pPr marL="0" indent="0">
              <a:buNone/>
            </a:pPr>
            <a:r>
              <a:rPr lang="en-US" dirty="0">
                <a:effectLst/>
              </a:rPr>
              <a:t>With digital signals, the physical quantity representing the information can be many things:</a:t>
            </a:r>
            <a:endParaRPr lang="en-US" dirty="0"/>
          </a:p>
          <a:p>
            <a:pPr>
              <a:buFont typeface="Arial" panose="020B0604020202020204" pitchFamily="34" charset="0"/>
              <a:buChar char="•"/>
            </a:pPr>
            <a:r>
              <a:rPr lang="en-US" dirty="0">
                <a:effectLst/>
              </a:rPr>
              <a:t>Variable electric current or voltage</a:t>
            </a:r>
            <a:endParaRPr lang="en-US" dirty="0"/>
          </a:p>
          <a:p>
            <a:pPr>
              <a:buFont typeface="Arial" panose="020B0604020202020204" pitchFamily="34" charset="0"/>
              <a:buChar char="•"/>
            </a:pPr>
            <a:r>
              <a:rPr lang="en-US" dirty="0">
                <a:effectLst/>
              </a:rPr>
              <a:t>Phase or polarization of an electromagnetic field,</a:t>
            </a:r>
            <a:endParaRPr lang="en-US" dirty="0"/>
          </a:p>
          <a:p>
            <a:pPr>
              <a:buFont typeface="Arial" panose="020B0604020202020204" pitchFamily="34" charset="0"/>
              <a:buChar char="•"/>
            </a:pPr>
            <a:r>
              <a:rPr lang="en-US" dirty="0">
                <a:effectLst/>
              </a:rPr>
              <a:t>The magnetization of a magnetic storage media</a:t>
            </a:r>
            <a:endParaRPr lang="en-US" dirty="0"/>
          </a:p>
          <a:p>
            <a:r>
              <a:rPr lang="en-US" dirty="0">
                <a:effectLst/>
              </a:rPr>
              <a:t>Digital signals are used in all digital electronics, including computing equipment and data transmission devices. </a:t>
            </a:r>
          </a:p>
          <a:p>
            <a:r>
              <a:rPr lang="en-US" dirty="0">
                <a:effectLst/>
              </a:rPr>
              <a:t>When plotted on a voltage vs. time graph, digital signals are one of two values, and are usually between 0V and VCC (usually 1.8V, 3.3V, or 5V</a:t>
            </a:r>
            <a:endParaRPr lang="en-US" dirty="0"/>
          </a:p>
          <a:p>
            <a:endParaRPr lang="en-US" dirty="0"/>
          </a:p>
        </p:txBody>
      </p:sp>
    </p:spTree>
    <p:extLst>
      <p:ext uri="{BB962C8B-B14F-4D97-AF65-F5344CB8AC3E}">
        <p14:creationId xmlns:p14="http://schemas.microsoft.com/office/powerpoint/2010/main" val="3301491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4414228-EC05-1401-96CA-13E29CFBBD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88944" y="2518493"/>
            <a:ext cx="8014112" cy="2965602"/>
          </a:xfrm>
        </p:spPr>
      </p:pic>
    </p:spTree>
    <p:extLst>
      <p:ext uri="{BB962C8B-B14F-4D97-AF65-F5344CB8AC3E}">
        <p14:creationId xmlns:p14="http://schemas.microsoft.com/office/powerpoint/2010/main" val="2350094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22870" cy="6749592"/>
          </a:xfrm>
        </p:spPr>
        <p:txBody>
          <a:bodyPr/>
          <a:lstStyle/>
          <a:p>
            <a:pPr marL="0" lvl="0" indent="0" eaLnBrk="0" fontAlgn="base" hangingPunct="0">
              <a:lnSpc>
                <a:spcPct val="100000"/>
              </a:lnSpc>
              <a:spcBef>
                <a:spcPct val="0"/>
              </a:spcBef>
              <a:spcAft>
                <a:spcPct val="0"/>
              </a:spcAft>
              <a:buNone/>
            </a:pPr>
            <a:endParaRPr lang="en-US" altLang="en-US" b="1" dirty="0" smtClean="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b="1" dirty="0" smtClean="0">
                <a:latin typeface="Arial" panose="020B0604020202020204" pitchFamily="34" charset="0"/>
              </a:rPr>
              <a:t>The </a:t>
            </a:r>
            <a:r>
              <a:rPr lang="en-US" altLang="en-US" b="1" dirty="0">
                <a:latin typeface="Arial" panose="020B0604020202020204" pitchFamily="34" charset="0"/>
              </a:rPr>
              <a:t>data transmission modes can be characterized in the following two types based on the number of bits sent simultaneously in the network: </a:t>
            </a: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FontTx/>
              <a:buAutoNum type="arabicPeriod"/>
            </a:pPr>
            <a:r>
              <a:rPr lang="en-US" altLang="en-US" dirty="0">
                <a:latin typeface="Arial" panose="020B0604020202020204" pitchFamily="34" charset="0"/>
              </a:rPr>
              <a:t>Serial </a:t>
            </a:r>
          </a:p>
          <a:p>
            <a:pPr marL="0" lvl="0" indent="0" eaLnBrk="0" fontAlgn="base" hangingPunct="0">
              <a:lnSpc>
                <a:spcPct val="100000"/>
              </a:lnSpc>
              <a:spcBef>
                <a:spcPct val="0"/>
              </a:spcBef>
              <a:spcAft>
                <a:spcPct val="0"/>
              </a:spcAft>
              <a:buFontTx/>
              <a:buAutoNum type="arabicPeriod" startAt="2"/>
            </a:pPr>
            <a:r>
              <a:rPr lang="en-US" altLang="en-US" dirty="0">
                <a:latin typeface="Arial" panose="020B0604020202020204" pitchFamily="34" charset="0"/>
              </a:rPr>
              <a:t>Parallel </a:t>
            </a:r>
          </a:p>
          <a:p>
            <a:endParaRPr lang="en-US" dirty="0"/>
          </a:p>
        </p:txBody>
      </p:sp>
    </p:spTree>
    <p:extLst>
      <p:ext uri="{BB962C8B-B14F-4D97-AF65-F5344CB8AC3E}">
        <p14:creationId xmlns:p14="http://schemas.microsoft.com/office/powerpoint/2010/main" val="1745074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A31BD0-2741-756A-7390-F1FDA4D2F9CE}"/>
              </a:ext>
            </a:extLst>
          </p:cNvPr>
          <p:cNvSpPr>
            <a:spLocks noGrp="1"/>
          </p:cNvSpPr>
          <p:nvPr>
            <p:ph idx="1"/>
          </p:nvPr>
        </p:nvSpPr>
        <p:spPr>
          <a:xfrm>
            <a:off x="0" y="0"/>
            <a:ext cx="12192000" cy="6858000"/>
          </a:xfrm>
        </p:spPr>
        <p:txBody>
          <a:bodyPr>
            <a:normAutofit fontScale="325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0" b="1" i="1" u="none" strike="noStrike" cap="none" normalizeH="0" baseline="0" dirty="0">
                <a:ln>
                  <a:noFill/>
                </a:ln>
                <a:solidFill>
                  <a:schemeClr val="tx1"/>
                </a:solidFill>
                <a:effectLst/>
                <a:latin typeface="Arial" panose="020B0604020202020204" pitchFamily="34" charset="0"/>
              </a:rPr>
              <a:t>According to the number of bits sent simultaneously in the network: </a:t>
            </a:r>
            <a:endParaRPr kumimoji="0" lang="en-US" altLang="en-US" sz="7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0" b="1" i="0" u="none" strike="noStrike" cap="none" normalizeH="0" baseline="0" dirty="0">
                <a:ln>
                  <a:noFill/>
                </a:ln>
                <a:solidFill>
                  <a:schemeClr val="tx1"/>
                </a:solidFill>
                <a:effectLst/>
                <a:latin typeface="Arial" panose="020B0604020202020204" pitchFamily="34" charset="0"/>
              </a:rPr>
              <a:t>1. Serial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0" b="1" i="0" u="none" strike="noStrike" cap="none" normalizeH="0" baseline="0" dirty="0">
                <a:ln>
                  <a:noFill/>
                </a:ln>
                <a:solidFill>
                  <a:schemeClr val="tx1"/>
                </a:solidFill>
                <a:effectLst/>
                <a:latin typeface="Arial" panose="020B0604020202020204" pitchFamily="34" charset="0"/>
              </a:rPr>
              <a:t>The Serial data transmission mode is a mode in which the data bits are sent serially one after the other at a time over the transmission channel. </a:t>
            </a:r>
            <a:endParaRPr kumimoji="0" lang="en-US" altLang="en-US" sz="7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600" b="0" i="0" u="none" strike="noStrike" cap="none" normalizeH="0" baseline="0" dirty="0">
                <a:ln>
                  <a:noFill/>
                </a:ln>
                <a:solidFill>
                  <a:schemeClr val="tx1"/>
                </a:solidFill>
                <a:effectLst/>
                <a:latin typeface="Arial" panose="020B0604020202020204" pitchFamily="34" charset="0"/>
              </a:rPr>
              <a:t>  </a:t>
            </a:r>
            <a:r>
              <a:rPr kumimoji="0" lang="en-US" altLang="en-US" sz="105000" b="0" i="0" u="none" strike="noStrike" cap="none" normalizeH="0" baseline="0" dirty="0">
                <a:ln>
                  <a:noFill/>
                </a:ln>
                <a:solidFill>
                  <a:schemeClr val="tx1"/>
                </a:solidFill>
                <a:effectLst/>
                <a:latin typeface="Arial" panose="020B0604020202020204" pitchFamily="34" charset="0"/>
              </a:rPr>
              <a:t>      </a:t>
            </a:r>
            <a:r>
              <a:rPr kumimoji="0" lang="en-US" altLang="en-US" sz="6600" b="0" i="0" u="none" strike="noStrike" cap="none" normalizeH="0" baseline="0" dirty="0">
                <a:ln>
                  <a:noFill/>
                </a:ln>
                <a:solidFill>
                  <a:schemeClr val="tx1"/>
                </a:solidFill>
                <a:effectLst/>
                <a:latin typeface="Arial" panose="020B0604020202020204" pitchFamily="34" charset="0"/>
              </a:rPr>
              <a:t> </a:t>
            </a:r>
          </a:p>
          <a:p>
            <a:endParaRPr lang="en-US" dirty="0"/>
          </a:p>
        </p:txBody>
      </p:sp>
      <p:pic>
        <p:nvPicPr>
          <p:cNvPr id="4" name="Picture 4">
            <a:extLst>
              <a:ext uri="{FF2B5EF4-FFF2-40B4-BE49-F238E27FC236}">
                <a16:creationId xmlns:a16="http://schemas.microsoft.com/office/drawing/2014/main" id="{A0A78836-5CCF-355D-EBB8-DFDF8B378F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6888" y="2426241"/>
            <a:ext cx="6343650" cy="2950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9541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48B000-77A8-B3FA-D014-BED3D8AB900C}"/>
              </a:ext>
            </a:extLst>
          </p:cNvPr>
          <p:cNvSpPr>
            <a:spLocks noGrp="1"/>
          </p:cNvSpPr>
          <p:nvPr>
            <p:ph idx="1"/>
          </p:nvPr>
        </p:nvSpPr>
        <p:spPr>
          <a:xfrm>
            <a:off x="0" y="0"/>
            <a:ext cx="12192000" cy="6858000"/>
          </a:xfrm>
        </p:spPr>
        <p:txBody>
          <a:bodyPr>
            <a:normAutofit/>
          </a:bodyPr>
          <a:lstStyle/>
          <a:p>
            <a:r>
              <a:rPr lang="en-US" dirty="0"/>
              <a:t>It needs a single transmission line for communication.</a:t>
            </a:r>
          </a:p>
          <a:p>
            <a:r>
              <a:rPr lang="en-US" dirty="0"/>
              <a:t> The data bits are received in synchronization with one another. So, there is a challenge of synchronizing the transmitter and receiver. </a:t>
            </a:r>
          </a:p>
          <a:p>
            <a:r>
              <a:rPr lang="en-US" dirty="0"/>
              <a:t>In serial data transmission, the system takes several clock cycles to transmit the data stream. </a:t>
            </a:r>
          </a:p>
          <a:p>
            <a:r>
              <a:rPr lang="en-US" dirty="0"/>
              <a:t>In this mode, the data integrity is maintained, as it transmits the data bits in a specific order, one after the other. </a:t>
            </a:r>
          </a:p>
          <a:p>
            <a:r>
              <a:rPr lang="en-US" dirty="0"/>
              <a:t>This type of transmission mode is best suited for long-distance data transfer, or the amount of data being sent is relatively small. </a:t>
            </a:r>
          </a:p>
          <a:p>
            <a:r>
              <a:rPr lang="en-US" dirty="0"/>
              <a:t>For Example, Data transmission between two computers using serial ports. </a:t>
            </a:r>
          </a:p>
          <a:p>
            <a:endParaRPr lang="en-US" dirty="0"/>
          </a:p>
        </p:txBody>
      </p:sp>
    </p:spTree>
    <p:extLst>
      <p:ext uri="{BB962C8B-B14F-4D97-AF65-F5344CB8AC3E}">
        <p14:creationId xmlns:p14="http://schemas.microsoft.com/office/powerpoint/2010/main" val="950700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E9255C-307D-2871-A1CD-85541A3D77F2}"/>
              </a:ext>
            </a:extLst>
          </p:cNvPr>
          <p:cNvSpPr>
            <a:spLocks noGrp="1"/>
          </p:cNvSpPr>
          <p:nvPr>
            <p:ph idx="1"/>
          </p:nvPr>
        </p:nvSpPr>
        <p:spPr>
          <a:xfrm>
            <a:off x="-1" y="0"/>
            <a:ext cx="12146508" cy="6858000"/>
          </a:xfrm>
        </p:spPr>
        <p:txBody>
          <a:bodyPr/>
          <a:lstStyle/>
          <a:p>
            <a:r>
              <a:rPr lang="en-US" b="1" dirty="0"/>
              <a:t>Following are the advantages of using a serial transmission mode: </a:t>
            </a:r>
            <a:endParaRPr lang="en-US" dirty="0"/>
          </a:p>
          <a:p>
            <a:pPr>
              <a:buFont typeface="+mj-lt"/>
              <a:buAutoNum type="arabicPeriod"/>
            </a:pPr>
            <a:r>
              <a:rPr lang="en-US" dirty="0"/>
              <a:t>It can be used for long-distance data transmission as it is reliable. </a:t>
            </a:r>
          </a:p>
          <a:p>
            <a:pPr>
              <a:buFont typeface="+mj-lt"/>
              <a:buAutoNum type="arabicPeriod"/>
            </a:pPr>
            <a:r>
              <a:rPr lang="en-US" dirty="0"/>
              <a:t>The number of wires and complexity is less. </a:t>
            </a:r>
          </a:p>
          <a:p>
            <a:pPr>
              <a:buFont typeface="+mj-lt"/>
              <a:buAutoNum type="arabicPeriod"/>
            </a:pPr>
            <a:r>
              <a:rPr lang="en-US" dirty="0"/>
              <a:t>It is cost-effective. </a:t>
            </a:r>
          </a:p>
          <a:p>
            <a:r>
              <a:rPr lang="en-US" b="1" dirty="0"/>
              <a:t>Following are the disadvantages of using a serial transmission mode: </a:t>
            </a:r>
            <a:endParaRPr lang="en-US" dirty="0"/>
          </a:p>
          <a:p>
            <a:pPr>
              <a:buFont typeface="+mj-lt"/>
              <a:buAutoNum type="arabicPeriod"/>
            </a:pPr>
            <a:r>
              <a:rPr lang="en-US" dirty="0"/>
              <a:t>The Data transmission rate is slow due to a single transmission channel. </a:t>
            </a:r>
          </a:p>
          <a:p>
            <a:endParaRPr lang="en-US" dirty="0"/>
          </a:p>
        </p:txBody>
      </p:sp>
    </p:spTree>
    <p:extLst>
      <p:ext uri="{BB962C8B-B14F-4D97-AF65-F5344CB8AC3E}">
        <p14:creationId xmlns:p14="http://schemas.microsoft.com/office/powerpoint/2010/main" val="1467257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E5C88D-4B73-8A67-92DF-DA4B581EBD8D}"/>
              </a:ext>
            </a:extLst>
          </p:cNvPr>
          <p:cNvSpPr>
            <a:spLocks noGrp="1"/>
          </p:cNvSpPr>
          <p:nvPr>
            <p:ph idx="1"/>
          </p:nvPr>
        </p:nvSpPr>
        <p:spPr>
          <a:xfrm>
            <a:off x="0" y="0"/>
            <a:ext cx="12192000" cy="6858000"/>
          </a:xfrm>
        </p:spPr>
        <p:txBody>
          <a:bodyPr/>
          <a:lstStyle/>
          <a:p>
            <a:pPr marL="0" indent="0">
              <a:buNone/>
            </a:pPr>
            <a:r>
              <a:rPr lang="en-US" b="1" dirty="0"/>
              <a:t> Parallel </a:t>
            </a:r>
          </a:p>
          <a:p>
            <a:r>
              <a:rPr lang="en-US" b="1" dirty="0"/>
              <a:t>The Parallel data transmission mode is a mode in which the data bits are sent parallelly at a time. </a:t>
            </a:r>
            <a:r>
              <a:rPr lang="en-US" dirty="0"/>
              <a:t>In other words, there is a transmission of n-bits at the same time simultaneously. </a:t>
            </a:r>
          </a:p>
          <a:p>
            <a:endParaRPr lang="en-US" dirty="0"/>
          </a:p>
          <a:p>
            <a:endParaRPr lang="en-US" dirty="0"/>
          </a:p>
        </p:txBody>
      </p:sp>
      <p:pic>
        <p:nvPicPr>
          <p:cNvPr id="5" name="Picture 4">
            <a:extLst>
              <a:ext uri="{FF2B5EF4-FFF2-40B4-BE49-F238E27FC236}">
                <a16:creationId xmlns:a16="http://schemas.microsoft.com/office/drawing/2014/main" id="{DACBF846-AE8B-850F-5CE1-8E674C1349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252" y="3002506"/>
            <a:ext cx="7680135" cy="3643953"/>
          </a:xfrm>
          <a:prstGeom prst="rect">
            <a:avLst/>
          </a:prstGeom>
        </p:spPr>
      </p:pic>
    </p:spTree>
    <p:extLst>
      <p:ext uri="{BB962C8B-B14F-4D97-AF65-F5344CB8AC3E}">
        <p14:creationId xmlns:p14="http://schemas.microsoft.com/office/powerpoint/2010/main" val="3921239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5F8564-83B2-8CEE-626F-1759C16A34CC}"/>
              </a:ext>
            </a:extLst>
          </p:cNvPr>
          <p:cNvSpPr>
            <a:spLocks noGrp="1"/>
          </p:cNvSpPr>
          <p:nvPr>
            <p:ph idx="1"/>
          </p:nvPr>
        </p:nvSpPr>
        <p:spPr>
          <a:xfrm>
            <a:off x="0" y="0"/>
            <a:ext cx="12192000" cy="6858000"/>
          </a:xfrm>
        </p:spPr>
        <p:txBody>
          <a:bodyPr/>
          <a:lstStyle/>
          <a:p>
            <a:r>
              <a:rPr lang="en-US" dirty="0"/>
              <a:t>Multiple transmission lines are used in such modes of transmission.</a:t>
            </a:r>
          </a:p>
          <a:p>
            <a:r>
              <a:rPr lang="en-US" dirty="0"/>
              <a:t> So, multiple data bytes can be transmitted in a single system clock.</a:t>
            </a:r>
          </a:p>
          <a:p>
            <a:r>
              <a:rPr lang="en-US" dirty="0"/>
              <a:t>This mode of transmission is used when a large amount of data has to be sent in a shorter duration of time.</a:t>
            </a:r>
          </a:p>
          <a:p>
            <a:r>
              <a:rPr lang="en-US" dirty="0"/>
              <a:t> It is mostly used for short-distance communication. </a:t>
            </a:r>
          </a:p>
          <a:p>
            <a:r>
              <a:rPr lang="en-US" dirty="0"/>
              <a:t>For n-bits, we need n-transmission lines. So, the complexity of the network increases but the transmission speed is high.</a:t>
            </a:r>
          </a:p>
          <a:p>
            <a:r>
              <a:rPr lang="en-US" dirty="0"/>
              <a:t> If two or more transmission lines are too close to each other, then there may be a chance of interference in the data, degrading the signal quality. </a:t>
            </a:r>
          </a:p>
          <a:p>
            <a:r>
              <a:rPr lang="en-US" dirty="0"/>
              <a:t>For Example, Data transmission between computer and printer. </a:t>
            </a:r>
          </a:p>
          <a:p>
            <a:endParaRPr lang="en-US" dirty="0"/>
          </a:p>
          <a:p>
            <a:endParaRPr lang="en-US" dirty="0"/>
          </a:p>
          <a:p>
            <a:endParaRPr lang="en-US" dirty="0"/>
          </a:p>
        </p:txBody>
      </p:sp>
    </p:spTree>
    <p:extLst>
      <p:ext uri="{BB962C8B-B14F-4D97-AF65-F5344CB8AC3E}">
        <p14:creationId xmlns:p14="http://schemas.microsoft.com/office/powerpoint/2010/main" val="844195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D07760-FBEF-BE07-D309-B401ADB8360D}"/>
              </a:ext>
            </a:extLst>
          </p:cNvPr>
          <p:cNvSpPr>
            <a:spLocks noGrp="1"/>
          </p:cNvSpPr>
          <p:nvPr>
            <p:ph idx="1"/>
          </p:nvPr>
        </p:nvSpPr>
        <p:spPr>
          <a:xfrm>
            <a:off x="0" y="0"/>
            <a:ext cx="12192000" cy="6755642"/>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Following are the advantages of using a parallel transmission mode: </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800" b="0" i="0" u="none" strike="noStrike" cap="none" normalizeH="0" baseline="0" dirty="0">
                <a:ln>
                  <a:noFill/>
                </a:ln>
                <a:solidFill>
                  <a:schemeClr val="tx1"/>
                </a:solidFill>
                <a:effectLst/>
                <a:latin typeface="Arial" panose="020B0604020202020204" pitchFamily="34" charset="0"/>
              </a:rPr>
              <a:t>It is easy to program or implement.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800" b="0" i="0" u="none" strike="noStrike" cap="none" normalizeH="0" baseline="0" dirty="0">
                <a:ln>
                  <a:noFill/>
                </a:ln>
                <a:solidFill>
                  <a:schemeClr val="tx1"/>
                </a:solidFill>
                <a:effectLst/>
                <a:latin typeface="Arial" panose="020B0604020202020204" pitchFamily="34" charset="0"/>
              </a:rPr>
              <a:t>Data transmission speed is high due to the n-transmission channel.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Following are the disadvantages of using a parallel transmission mode: </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800" b="0" i="0" u="none" strike="noStrike" cap="none" normalizeH="0" baseline="0" dirty="0">
                <a:ln>
                  <a:noFill/>
                </a:ln>
                <a:solidFill>
                  <a:schemeClr val="tx1"/>
                </a:solidFill>
                <a:effectLst/>
                <a:latin typeface="Arial" panose="020B0604020202020204" pitchFamily="34" charset="0"/>
              </a:rPr>
              <a:t>It requires more transmission channels, and hence cost-ineffective.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800" b="0" i="0" u="none" strike="noStrike" cap="none" normalizeH="0" baseline="0" dirty="0">
                <a:ln>
                  <a:noFill/>
                </a:ln>
                <a:solidFill>
                  <a:schemeClr val="tx1"/>
                </a:solidFill>
                <a:effectLst/>
                <a:latin typeface="Arial" panose="020B0604020202020204" pitchFamily="34" charset="0"/>
              </a:rPr>
              <a:t>Interference in data bits, likewise in video conferencing.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Hence, after learning the various transmission modes, we can conclude that some points need to be considered when selecting a data transmission mode: </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Transmission Rate. </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The Distance that it covers. </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Cost and Ease of Installation. </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The resistance of environmental conditions. </a:t>
            </a:r>
            <a:endParaRPr kumimoji="0" lang="en-US" altLang="en-US" sz="2800" b="0" i="0" u="none" strike="noStrike" cap="none" normalizeH="0" baseline="0" dirty="0">
              <a:ln>
                <a:noFill/>
              </a:ln>
              <a:solidFill>
                <a:schemeClr val="tx1"/>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10140417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CE13A-7736-44A1-756B-5D0271833C1F}"/>
              </a:ext>
            </a:extLst>
          </p:cNvPr>
          <p:cNvSpPr>
            <a:spLocks noGrp="1"/>
          </p:cNvSpPr>
          <p:nvPr>
            <p:ph idx="1"/>
          </p:nvPr>
        </p:nvSpPr>
        <p:spPr>
          <a:xfrm>
            <a:off x="0" y="0"/>
            <a:ext cx="12192000" cy="6858000"/>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The data transmission modes can be characterized in the following two types based on the synchronization between the transmitter and the receiver: </a:t>
            </a:r>
            <a:r>
              <a:rPr kumimoji="0" lang="en-US" altLang="en-US" sz="2800" b="1" i="0" u="none" strike="noStrike" cap="none" normalizeH="0" baseline="0" dirty="0" smtClean="0">
                <a:ln>
                  <a:noFill/>
                </a:ln>
                <a:solidFill>
                  <a:schemeClr val="tx1"/>
                </a:solidFill>
                <a:effectLst/>
                <a:latin typeface="Arial" panose="020B0604020202020204" pitchFamily="34" charset="0"/>
              </a:rPr>
              <a:t>( Serial )</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800" b="0" i="0" u="none" strike="noStrike" cap="none" normalizeH="0" baseline="0" dirty="0">
                <a:ln>
                  <a:noFill/>
                </a:ln>
                <a:solidFill>
                  <a:schemeClr val="tx1"/>
                </a:solidFill>
                <a:effectLst/>
                <a:latin typeface="Arial" panose="020B0604020202020204" pitchFamily="34" charset="0"/>
              </a:rPr>
              <a:t>Synchronous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800" b="0" i="0" u="none" strike="noStrike" cap="none" normalizeH="0" baseline="0" dirty="0">
                <a:ln>
                  <a:noFill/>
                </a:ln>
                <a:solidFill>
                  <a:schemeClr val="tx1"/>
                </a:solidFill>
                <a:effectLst/>
                <a:latin typeface="Arial" panose="020B0604020202020204" pitchFamily="34" charset="0"/>
              </a:rPr>
              <a:t>Asynchronous </a:t>
            </a: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1576853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48A97B-7441-E019-BE76-8B61B67F6B7A}"/>
              </a:ext>
            </a:extLst>
          </p:cNvPr>
          <p:cNvSpPr>
            <a:spLocks noGrp="1"/>
          </p:cNvSpPr>
          <p:nvPr>
            <p:ph idx="1"/>
          </p:nvPr>
        </p:nvSpPr>
        <p:spPr>
          <a:xfrm>
            <a:off x="0" y="0"/>
            <a:ext cx="12192000" cy="6858000"/>
          </a:xfrm>
        </p:spPr>
        <p:txBody>
          <a:bodyPr>
            <a:normAutofit fontScale="92500"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According to the synchronization between the transmitter and the receiver: </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Synchronous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Synchronous transmission mode is a mode of communication in which the bits are sent one after another without any start/stop bits or gaps between them.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Actually, both the sender and receiver are paced by the same system clock.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this way, synchronization is achieved. </a:t>
            </a:r>
          </a:p>
          <a:p>
            <a:r>
              <a:rPr lang="en-US" dirty="0"/>
              <a:t>In a Synchronous mode of data transmission, bytes are transmitted as blocks in a continuous stream of bits. </a:t>
            </a:r>
          </a:p>
          <a:p>
            <a:r>
              <a:rPr lang="en-US" dirty="0"/>
              <a:t>Since there is no start and stop bits in the message block. </a:t>
            </a:r>
          </a:p>
          <a:p>
            <a:r>
              <a:rPr lang="en-US" dirty="0"/>
              <a:t>It is the responsibility of the receiver to group the bits correctly. </a:t>
            </a:r>
          </a:p>
          <a:p>
            <a:r>
              <a:rPr lang="en-US" dirty="0"/>
              <a:t>The receiver counts the bits as they arrive and groups them in eight bits unit. </a:t>
            </a:r>
          </a:p>
          <a:p>
            <a:r>
              <a:rPr lang="en-US" dirty="0"/>
              <a:t>The receiver continuously receives the information at the same rate that the transmitter has sent it.</a:t>
            </a:r>
          </a:p>
          <a:p>
            <a:r>
              <a:rPr lang="en-US" dirty="0"/>
              <a:t> It also listens to the messages even if no bits are transmitted. </a:t>
            </a:r>
          </a:p>
          <a:p>
            <a:r>
              <a:rPr lang="en-US" dirty="0"/>
              <a:t>In synchronous mode, the bits are sent successively with no separation between each character, so it becomes necessary to insert some synchronization elements with the message, this is called " </a:t>
            </a:r>
            <a:r>
              <a:rPr lang="en-US" b="1" dirty="0"/>
              <a:t>Character-Level Synchronization </a:t>
            </a:r>
            <a:r>
              <a:rPr lang="en-US" dirty="0"/>
              <a:t>". </a:t>
            </a:r>
          </a:p>
          <a:p>
            <a:pPr marL="0" indent="0">
              <a:buNone/>
            </a:pPr>
            <a:endParaRPr lang="en-US" dirty="0"/>
          </a:p>
        </p:txBody>
      </p:sp>
    </p:spTree>
    <p:extLst>
      <p:ext uri="{BB962C8B-B14F-4D97-AF65-F5344CB8AC3E}">
        <p14:creationId xmlns:p14="http://schemas.microsoft.com/office/powerpoint/2010/main" val="20430462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EE457B-B982-CA53-D69E-EBBAEFB0A056}"/>
              </a:ext>
            </a:extLst>
          </p:cNvPr>
          <p:cNvSpPr>
            <a:spLocks noGrp="1"/>
          </p:cNvSpPr>
          <p:nvPr>
            <p:ph idx="1"/>
          </p:nvPr>
        </p:nvSpPr>
        <p:spPr>
          <a:xfrm>
            <a:off x="0" y="0"/>
            <a:ext cx="12192000" cy="6858000"/>
          </a:xfrm>
        </p:spPr>
        <p:txBody>
          <a:bodyPr>
            <a:normAutofit lnSpcReduction="10000"/>
          </a:bodyPr>
          <a:lstStyle/>
          <a:p>
            <a:r>
              <a:rPr lang="en-US" dirty="0"/>
              <a:t>For Example, if there are two bytes of data, say(10001101, 11001011) then it will be transmitted in the synchronous mode as follows:</a:t>
            </a:r>
          </a:p>
          <a:p>
            <a:endParaRPr lang="en-US" dirty="0"/>
          </a:p>
          <a:p>
            <a:endParaRPr lang="en-US" dirty="0"/>
          </a:p>
          <a:p>
            <a:endParaRPr lang="en-US" dirty="0"/>
          </a:p>
          <a:p>
            <a:endParaRPr lang="en-US" dirty="0"/>
          </a:p>
          <a:p>
            <a:endParaRPr lang="en-US" dirty="0"/>
          </a:p>
          <a:p>
            <a:endParaRPr lang="en-US" dirty="0"/>
          </a:p>
          <a:p>
            <a:endParaRPr lang="en-US" dirty="0"/>
          </a:p>
          <a:p>
            <a:r>
              <a:rPr lang="en-US" dirty="0"/>
              <a:t>For Example, communication in CPU, RAM, etc. </a:t>
            </a:r>
          </a:p>
          <a:p>
            <a:r>
              <a:rPr lang="en-US" b="1" dirty="0"/>
              <a:t>Following are the advantages of using a Synchronous transmission mode: </a:t>
            </a:r>
            <a:endParaRPr lang="en-US" dirty="0"/>
          </a:p>
          <a:p>
            <a:pPr>
              <a:buFont typeface="+mj-lt"/>
              <a:buAutoNum type="arabicPeriod"/>
            </a:pPr>
            <a:r>
              <a:rPr lang="en-US" dirty="0"/>
              <a:t>Transmission speed is fast as there is no gap between the data bits. </a:t>
            </a:r>
          </a:p>
          <a:p>
            <a:r>
              <a:rPr lang="en-US" b="1" dirty="0"/>
              <a:t>Following are the disadvantages of using a Synchronous transmission mode: </a:t>
            </a:r>
            <a:endParaRPr lang="en-US" dirty="0"/>
          </a:p>
          <a:p>
            <a:pPr>
              <a:buFont typeface="+mj-lt"/>
              <a:buAutoNum type="arabicPeriod"/>
            </a:pPr>
            <a:r>
              <a:rPr lang="en-US" dirty="0"/>
              <a:t>It is very expensive. </a:t>
            </a:r>
          </a:p>
          <a:p>
            <a:endParaRPr lang="en-US" dirty="0"/>
          </a:p>
          <a:p>
            <a:endParaRPr lang="en-US" dirty="0"/>
          </a:p>
        </p:txBody>
      </p:sp>
      <p:pic>
        <p:nvPicPr>
          <p:cNvPr id="7" name="Picture 6">
            <a:extLst>
              <a:ext uri="{FF2B5EF4-FFF2-40B4-BE49-F238E27FC236}">
                <a16:creationId xmlns:a16="http://schemas.microsoft.com/office/drawing/2014/main" id="{69147C47-F33B-5895-37DE-CAAA931A13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4175" y="798897"/>
            <a:ext cx="6343650" cy="2993457"/>
          </a:xfrm>
          <a:prstGeom prst="rect">
            <a:avLst/>
          </a:prstGeom>
        </p:spPr>
      </p:pic>
    </p:spTree>
    <p:extLst>
      <p:ext uri="{BB962C8B-B14F-4D97-AF65-F5344CB8AC3E}">
        <p14:creationId xmlns:p14="http://schemas.microsoft.com/office/powerpoint/2010/main" val="41000653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1A44B0-4145-1CD8-6542-4FD99209236A}"/>
              </a:ext>
            </a:extLst>
          </p:cNvPr>
          <p:cNvSpPr>
            <a:spLocks noGrp="1"/>
          </p:cNvSpPr>
          <p:nvPr>
            <p:ph idx="1"/>
          </p:nvPr>
        </p:nvSpPr>
        <p:spPr>
          <a:xfrm>
            <a:off x="-1" y="0"/>
            <a:ext cx="12192001" cy="6858000"/>
          </a:xfrm>
        </p:spPr>
        <p:txBody>
          <a:bodyPr/>
          <a:lstStyle/>
          <a:p>
            <a:pPr marL="0" indent="0">
              <a:buNone/>
            </a:pPr>
            <a:r>
              <a:rPr lang="en-US" b="1" dirty="0"/>
              <a:t>2. Asynchronous </a:t>
            </a:r>
          </a:p>
          <a:p>
            <a:r>
              <a:rPr lang="en-US" b="1" dirty="0"/>
              <a:t>The Asynchronous transmission mode is a mode of communication in which a start and the stop bit is introduced in the message during transmission.</a:t>
            </a:r>
          </a:p>
          <a:p>
            <a:r>
              <a:rPr lang="en-US" b="1" dirty="0"/>
              <a:t> </a:t>
            </a:r>
            <a:r>
              <a:rPr lang="en-US" dirty="0"/>
              <a:t>The start and stop bits ensure that the data is transmitted correctly from the sender to the receiver. </a:t>
            </a:r>
          </a:p>
          <a:p>
            <a:r>
              <a:rPr lang="en-US" dirty="0"/>
              <a:t>Generally, the start bit is '0' and the end bit is '1'.Asynchronous here means 'asynchronous at the byte level', but the bits are still synchronized.</a:t>
            </a:r>
          </a:p>
          <a:p>
            <a:r>
              <a:rPr lang="en-US" dirty="0"/>
              <a:t> The time duration between each character is the same and synchronized. </a:t>
            </a:r>
          </a:p>
          <a:p>
            <a:r>
              <a:rPr lang="en-US" dirty="0"/>
              <a:t>In an asynchronous mode of communication, data bits can be sent at any point in time. </a:t>
            </a:r>
          </a:p>
          <a:p>
            <a:r>
              <a:rPr lang="en-US" dirty="0"/>
              <a:t>The messages are sent at irregular intervals and only one data byte can be sent at a time.</a:t>
            </a:r>
          </a:p>
          <a:p>
            <a:r>
              <a:rPr lang="en-US" dirty="0"/>
              <a:t> This type of transmission mode is best suited for short-distance data transfer. </a:t>
            </a:r>
          </a:p>
          <a:p>
            <a:endParaRPr lang="en-US" dirty="0"/>
          </a:p>
          <a:p>
            <a:endParaRPr lang="en-US" dirty="0"/>
          </a:p>
        </p:txBody>
      </p:sp>
    </p:spTree>
    <p:extLst>
      <p:ext uri="{BB962C8B-B14F-4D97-AF65-F5344CB8AC3E}">
        <p14:creationId xmlns:p14="http://schemas.microsoft.com/office/powerpoint/2010/main" val="179041973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24EC93-5D59-74E6-34FF-31CCBD0E8963}"/>
              </a:ext>
            </a:extLst>
          </p:cNvPr>
          <p:cNvSpPr>
            <a:spLocks noGrp="1"/>
          </p:cNvSpPr>
          <p:nvPr>
            <p:ph idx="1"/>
          </p:nvPr>
        </p:nvSpPr>
        <p:spPr>
          <a:xfrm>
            <a:off x="0" y="0"/>
            <a:ext cx="12192000" cy="6858000"/>
          </a:xfrm>
        </p:spPr>
        <p:txBody>
          <a:bodyPr>
            <a:normAutofit fontScale="92500" lnSpcReduction="20000"/>
          </a:bodyPr>
          <a:lstStyle/>
          <a:p>
            <a:r>
              <a:rPr lang="en-US" dirty="0"/>
              <a:t>For Example, if there are two bytes of data, say(10001101, 11001011) then it will be transmitted in the asynchronous mode as follows: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Example, Data input from a keyboard to the computer. </a:t>
            </a:r>
          </a:p>
          <a:p>
            <a:r>
              <a:rPr lang="en-US" b="1" dirty="0"/>
              <a:t>Following are the advantages of using an Asynchronous transmission mode: </a:t>
            </a:r>
            <a:endParaRPr lang="en-US" dirty="0"/>
          </a:p>
          <a:p>
            <a:pPr>
              <a:buFont typeface="+mj-lt"/>
              <a:buAutoNum type="arabicPeriod"/>
            </a:pPr>
            <a:r>
              <a:rPr lang="en-US" dirty="0"/>
              <a:t>It is a cheap and effective mode of transmission. </a:t>
            </a:r>
          </a:p>
          <a:p>
            <a:pPr>
              <a:buFont typeface="+mj-lt"/>
              <a:buAutoNum type="arabicPeriod"/>
            </a:pPr>
            <a:r>
              <a:rPr lang="en-US" dirty="0"/>
              <a:t>Data transmission accuracy is high due to the presence of start and stop bits. </a:t>
            </a:r>
          </a:p>
          <a:p>
            <a:r>
              <a:rPr lang="en-US" b="1" dirty="0"/>
              <a:t>Following are the disadvantages of using an Asynchronous transmission mode: </a:t>
            </a:r>
            <a:endParaRPr lang="en-US" dirty="0"/>
          </a:p>
          <a:p>
            <a:pPr>
              <a:buFont typeface="+mj-lt"/>
              <a:buAutoNum type="arabicPeriod"/>
            </a:pPr>
            <a:r>
              <a:rPr lang="en-US" dirty="0"/>
              <a:t>The data transmission can be slower due to the gaps present between different blocks of data. </a:t>
            </a:r>
          </a:p>
          <a:p>
            <a:endParaRPr lang="en-US" dirty="0"/>
          </a:p>
          <a:p>
            <a:endParaRPr lang="en-US" dirty="0"/>
          </a:p>
        </p:txBody>
      </p:sp>
      <p:pic>
        <p:nvPicPr>
          <p:cNvPr id="5" name="Picture 4">
            <a:extLst>
              <a:ext uri="{FF2B5EF4-FFF2-40B4-BE49-F238E27FC236}">
                <a16:creationId xmlns:a16="http://schemas.microsoft.com/office/drawing/2014/main" id="{B4F56C31-131E-2449-5642-23E29DBBCE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2281" y="721895"/>
            <a:ext cx="6343650" cy="2425566"/>
          </a:xfrm>
          <a:prstGeom prst="rect">
            <a:avLst/>
          </a:prstGeom>
        </p:spPr>
      </p:pic>
    </p:spTree>
    <p:extLst>
      <p:ext uri="{BB962C8B-B14F-4D97-AF65-F5344CB8AC3E}">
        <p14:creationId xmlns:p14="http://schemas.microsoft.com/office/powerpoint/2010/main" val="37087040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42220D-3EBA-C97D-2D8E-55D20076A39C}"/>
              </a:ext>
            </a:extLst>
          </p:cNvPr>
          <p:cNvSpPr>
            <a:spLocks noGrp="1"/>
          </p:cNvSpPr>
          <p:nvPr>
            <p:ph idx="1"/>
          </p:nvPr>
        </p:nvSpPr>
        <p:spPr>
          <a:xfrm>
            <a:off x="0" y="0"/>
            <a:ext cx="12192000" cy="6857999"/>
          </a:xfrm>
        </p:spPr>
        <p:txBody>
          <a:bodyPr>
            <a:normAutofit/>
          </a:bodyPr>
          <a:lstStyle/>
          <a:p>
            <a:pPr marL="0" indent="0">
              <a:buNone/>
            </a:pPr>
            <a:r>
              <a:rPr lang="en-US" b="1" dirty="0" smtClean="0"/>
              <a:t> Bandwidth</a:t>
            </a:r>
            <a:endParaRPr lang="en-US" b="1" dirty="0"/>
          </a:p>
          <a:p>
            <a:r>
              <a:rPr lang="en-US" dirty="0"/>
              <a:t>Wireless communications are normally carried out over a limited range of frequencies, known as a frequency band. </a:t>
            </a:r>
          </a:p>
          <a:p>
            <a:endParaRPr lang="en-US" dirty="0"/>
          </a:p>
          <a:p>
            <a:r>
              <a:rPr lang="en-US" dirty="0"/>
              <a:t>This frequency band is known as the bandwidth. </a:t>
            </a:r>
          </a:p>
          <a:p>
            <a:endParaRPr lang="en-US" dirty="0"/>
          </a:p>
          <a:p>
            <a:r>
              <a:rPr lang="en-US" dirty="0"/>
              <a:t>It is a networking term that refers to the maximum quantity of data that may be sent per unit of time.</a:t>
            </a:r>
          </a:p>
          <a:p>
            <a:endParaRPr lang="en-US" dirty="0"/>
          </a:p>
          <a:p>
            <a:r>
              <a:rPr lang="en-US" dirty="0"/>
              <a:t> In technical terms, bandwidth is frequency range within a given band that is typically used for signal transmission. </a:t>
            </a:r>
          </a:p>
          <a:p>
            <a:endParaRPr lang="en-US" dirty="0"/>
          </a:p>
          <a:p>
            <a:r>
              <a:rPr lang="en-US" dirty="0"/>
              <a:t>Signal bandwidth refers to the frequency range that makes up a specific signal.</a:t>
            </a:r>
          </a:p>
          <a:p>
            <a:endParaRPr lang="en-US" dirty="0"/>
          </a:p>
        </p:txBody>
      </p:sp>
    </p:spTree>
    <p:extLst>
      <p:ext uri="{BB962C8B-B14F-4D97-AF65-F5344CB8AC3E}">
        <p14:creationId xmlns:p14="http://schemas.microsoft.com/office/powerpoint/2010/main" val="270326877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490FED-786C-8E1F-95EE-62E76A9D64B5}"/>
              </a:ext>
            </a:extLst>
          </p:cNvPr>
          <p:cNvSpPr>
            <a:spLocks noGrp="1"/>
          </p:cNvSpPr>
          <p:nvPr>
            <p:ph idx="1"/>
          </p:nvPr>
        </p:nvSpPr>
        <p:spPr>
          <a:xfrm>
            <a:off x="0" y="0"/>
            <a:ext cx="12192000" cy="6858000"/>
          </a:xfrm>
        </p:spPr>
        <p:txBody>
          <a:bodyPr/>
          <a:lstStyle/>
          <a:p>
            <a:pPr marL="0" indent="0">
              <a:buNone/>
            </a:pPr>
            <a:r>
              <a:rPr lang="en-US" b="1" dirty="0" smtClean="0"/>
              <a:t>Frequency</a:t>
            </a:r>
            <a:endParaRPr lang="en-US" b="1" dirty="0"/>
          </a:p>
          <a:p>
            <a:r>
              <a:rPr lang="en-US" dirty="0"/>
              <a:t>The term </a:t>
            </a:r>
            <a:r>
              <a:rPr lang="en-US" b="1" i="1" dirty="0"/>
              <a:t>"frequency"</a:t>
            </a:r>
            <a:r>
              <a:rPr lang="en-US" dirty="0"/>
              <a:t> defines the number of oscillations that happen in a data transmission per second.</a:t>
            </a:r>
          </a:p>
          <a:p>
            <a:endParaRPr lang="en-US" dirty="0"/>
          </a:p>
          <a:p>
            <a:r>
              <a:rPr lang="en-US" dirty="0"/>
              <a:t> In terms of networking, the data is transmitted in the form of signals, which are composed of waves. </a:t>
            </a:r>
          </a:p>
          <a:p>
            <a:endParaRPr lang="en-US" dirty="0"/>
          </a:p>
          <a:p>
            <a:r>
              <a:rPr lang="en-US" dirty="0"/>
              <a:t>The number of oscillations per second specifies the signal frequency.</a:t>
            </a:r>
          </a:p>
          <a:p>
            <a:r>
              <a:rPr lang="en-US" dirty="0"/>
              <a:t>It is commonly measured in </a:t>
            </a:r>
            <a:r>
              <a:rPr lang="en-US" b="1" i="1" dirty="0"/>
              <a:t>Hertz (Hz)</a:t>
            </a:r>
            <a:r>
              <a:rPr lang="en-US" dirty="0"/>
              <a:t>. </a:t>
            </a:r>
          </a:p>
          <a:p>
            <a:endParaRPr lang="en-US" dirty="0"/>
          </a:p>
          <a:p>
            <a:r>
              <a:rPr lang="en-US" dirty="0"/>
              <a:t>In the event of sound, frequency is a measure of the pitch of the sound: High-frequency sounds have a high pitch </a:t>
            </a:r>
            <a:r>
              <a:rPr lang="en-US" b="1" i="1" dirty="0"/>
              <a:t>("treble")</a:t>
            </a:r>
            <a:r>
              <a:rPr lang="en-US" dirty="0"/>
              <a:t>, while low-frequency sounds have a low pitch </a:t>
            </a:r>
            <a:r>
              <a:rPr lang="en-US" b="1" i="1" dirty="0"/>
              <a:t>("bass")</a:t>
            </a:r>
            <a:r>
              <a:rPr lang="en-US" dirty="0"/>
              <a:t>.</a:t>
            </a:r>
          </a:p>
          <a:p>
            <a:endParaRPr lang="en-US" dirty="0"/>
          </a:p>
        </p:txBody>
      </p:sp>
    </p:spTree>
    <p:extLst>
      <p:ext uri="{BB962C8B-B14F-4D97-AF65-F5344CB8AC3E}">
        <p14:creationId xmlns:p14="http://schemas.microsoft.com/office/powerpoint/2010/main" val="8168485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b="1" dirty="0" smtClean="0"/>
              <a:t>Throughput</a:t>
            </a:r>
            <a:endParaRPr lang="en-US" b="1" dirty="0"/>
          </a:p>
          <a:p>
            <a:r>
              <a:rPr lang="en-US" b="1" dirty="0"/>
              <a:t>Definition:</a:t>
            </a:r>
            <a:r>
              <a:rPr lang="en-US" dirty="0"/>
              <a:t/>
            </a:r>
            <a:br>
              <a:rPr lang="en-US" dirty="0"/>
            </a:br>
            <a:r>
              <a:rPr lang="en-US" dirty="0"/>
              <a:t>Throughput is the </a:t>
            </a:r>
            <a:r>
              <a:rPr lang="en-US" b="1" dirty="0"/>
              <a:t>actual</a:t>
            </a:r>
            <a:r>
              <a:rPr lang="en-US" dirty="0"/>
              <a:t> amount of data successfully transmitted through a network in a given time.</a:t>
            </a:r>
          </a:p>
          <a:p>
            <a:r>
              <a:rPr lang="en-US" b="1" dirty="0"/>
              <a:t>Unit:</a:t>
            </a:r>
            <a:r>
              <a:rPr lang="en-US" dirty="0"/>
              <a:t/>
            </a:r>
            <a:br>
              <a:rPr lang="en-US" dirty="0"/>
            </a:br>
            <a:r>
              <a:rPr lang="en-US" dirty="0"/>
              <a:t>Also measured in </a:t>
            </a:r>
            <a:r>
              <a:rPr lang="en-US" b="1" dirty="0"/>
              <a:t>bps</a:t>
            </a:r>
            <a:r>
              <a:rPr lang="en-US" dirty="0"/>
              <a:t>, </a:t>
            </a:r>
            <a:r>
              <a:rPr lang="en-US" b="1" dirty="0"/>
              <a:t>Kbps</a:t>
            </a:r>
            <a:r>
              <a:rPr lang="en-US" dirty="0"/>
              <a:t>, </a:t>
            </a:r>
            <a:r>
              <a:rPr lang="en-US" b="1" dirty="0"/>
              <a:t>Mbps</a:t>
            </a:r>
            <a:r>
              <a:rPr lang="en-US" dirty="0"/>
              <a:t>, etc.</a:t>
            </a:r>
          </a:p>
          <a:p>
            <a:r>
              <a:rPr lang="en-US" b="1" dirty="0"/>
              <a:t>Example:</a:t>
            </a:r>
            <a:r>
              <a:rPr lang="en-US" dirty="0"/>
              <a:t/>
            </a:r>
            <a:br>
              <a:rPr lang="en-US" dirty="0"/>
            </a:br>
            <a:r>
              <a:rPr lang="en-US" dirty="0"/>
              <a:t>Even if your bandwidth is 100 Mbps, your throughput might only be 80 Mbps due to interference, congestion, or other network delays.</a:t>
            </a:r>
          </a:p>
          <a:p>
            <a:r>
              <a:rPr lang="en-US" b="1" dirty="0"/>
              <a:t>Analogy:</a:t>
            </a:r>
            <a:r>
              <a:rPr lang="en-US" dirty="0"/>
              <a:t/>
            </a:r>
            <a:br>
              <a:rPr lang="en-US" dirty="0"/>
            </a:br>
            <a:r>
              <a:rPr lang="en-US" dirty="0"/>
              <a:t>If bandwidth is the highway’s capacity, throughput is how many cars actually get through during rush hour.</a:t>
            </a:r>
          </a:p>
          <a:p>
            <a:endParaRPr lang="en-US" dirty="0"/>
          </a:p>
        </p:txBody>
      </p:sp>
    </p:spTree>
    <p:extLst>
      <p:ext uri="{BB962C8B-B14F-4D97-AF65-F5344CB8AC3E}">
        <p14:creationId xmlns:p14="http://schemas.microsoft.com/office/powerpoint/2010/main" val="198234118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b="1" dirty="0" smtClean="0"/>
              <a:t> </a:t>
            </a:r>
            <a:r>
              <a:rPr lang="en-US" b="1" dirty="0"/>
              <a:t>Baud Rate</a:t>
            </a:r>
          </a:p>
          <a:p>
            <a:r>
              <a:rPr lang="en-US" b="1" dirty="0"/>
              <a:t>Definition:</a:t>
            </a:r>
            <a:r>
              <a:rPr lang="en-US" dirty="0"/>
              <a:t/>
            </a:r>
            <a:br>
              <a:rPr lang="en-US" dirty="0"/>
            </a:br>
            <a:r>
              <a:rPr lang="en-US" dirty="0"/>
              <a:t>Baud rate is the number of </a:t>
            </a:r>
            <a:r>
              <a:rPr lang="en-US" b="1" dirty="0"/>
              <a:t>signal changes or symbols</a:t>
            </a:r>
            <a:r>
              <a:rPr lang="en-US" dirty="0"/>
              <a:t> sent per second over a communication channel.</a:t>
            </a:r>
          </a:p>
          <a:p>
            <a:r>
              <a:rPr lang="en-US" b="1" dirty="0"/>
              <a:t>Unit:</a:t>
            </a:r>
            <a:r>
              <a:rPr lang="en-US" dirty="0"/>
              <a:t/>
            </a:r>
            <a:br>
              <a:rPr lang="en-US" dirty="0"/>
            </a:br>
            <a:r>
              <a:rPr lang="en-US" dirty="0"/>
              <a:t>Measured in </a:t>
            </a:r>
            <a:r>
              <a:rPr lang="en-US" b="1" dirty="0"/>
              <a:t>Baud (</a:t>
            </a:r>
            <a:r>
              <a:rPr lang="en-US" b="1" dirty="0" err="1"/>
              <a:t>Bd</a:t>
            </a:r>
            <a:r>
              <a:rPr lang="en-US" b="1" dirty="0"/>
              <a:t>)</a:t>
            </a:r>
            <a:r>
              <a:rPr lang="en-US" dirty="0"/>
              <a:t> = symbols per second.</a:t>
            </a:r>
          </a:p>
          <a:p>
            <a:r>
              <a:rPr lang="en-US" b="1" dirty="0"/>
              <a:t>Example:</a:t>
            </a:r>
            <a:r>
              <a:rPr lang="en-US" dirty="0"/>
              <a:t/>
            </a:r>
            <a:br>
              <a:rPr lang="en-US" dirty="0"/>
            </a:br>
            <a:r>
              <a:rPr lang="en-US" dirty="0"/>
              <a:t>If a signal changes 1000 times per second, the baud rate is 1000 baud.</a:t>
            </a:r>
            <a:br>
              <a:rPr lang="en-US" dirty="0"/>
            </a:br>
            <a:r>
              <a:rPr lang="en-US" dirty="0"/>
              <a:t>If each symbol represents 2 bits, then data rate = 1000 × 2 = </a:t>
            </a:r>
            <a:r>
              <a:rPr lang="en-US" b="1" dirty="0"/>
              <a:t>2000 bps</a:t>
            </a:r>
            <a:r>
              <a:rPr lang="en-US" dirty="0"/>
              <a:t>.</a:t>
            </a:r>
          </a:p>
          <a:p>
            <a:r>
              <a:rPr lang="en-US" b="1" dirty="0"/>
              <a:t>Note:</a:t>
            </a:r>
            <a:r>
              <a:rPr lang="en-US" dirty="0"/>
              <a:t/>
            </a:r>
            <a:br>
              <a:rPr lang="en-US" dirty="0"/>
            </a:br>
            <a:r>
              <a:rPr lang="en-US" dirty="0"/>
              <a:t>Data rate (bits per second) = Baud rate × number of bits per symbol.</a:t>
            </a:r>
          </a:p>
          <a:p>
            <a:endParaRPr lang="en-US" dirty="0"/>
          </a:p>
        </p:txBody>
      </p:sp>
    </p:spTree>
    <p:extLst>
      <p:ext uri="{BB962C8B-B14F-4D97-AF65-F5344CB8AC3E}">
        <p14:creationId xmlns:p14="http://schemas.microsoft.com/office/powerpoint/2010/main" val="146626694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b="1" dirty="0" smtClean="0"/>
              <a:t>Jitter</a:t>
            </a:r>
            <a:endParaRPr lang="en-US" b="1" dirty="0"/>
          </a:p>
          <a:p>
            <a:r>
              <a:rPr lang="en-US" b="1" dirty="0"/>
              <a:t>Definition:</a:t>
            </a:r>
            <a:r>
              <a:rPr lang="en-US" dirty="0"/>
              <a:t/>
            </a:r>
            <a:br>
              <a:rPr lang="en-US" dirty="0"/>
            </a:br>
            <a:r>
              <a:rPr lang="en-US" dirty="0"/>
              <a:t>Jitter is the </a:t>
            </a:r>
            <a:r>
              <a:rPr lang="en-US" b="1" dirty="0"/>
              <a:t>variation in packet arrival time</a:t>
            </a:r>
            <a:r>
              <a:rPr lang="en-US" dirty="0"/>
              <a:t> during data transmission.</a:t>
            </a:r>
          </a:p>
          <a:p>
            <a:r>
              <a:rPr lang="en-US" b="1" dirty="0"/>
              <a:t>Unit:</a:t>
            </a:r>
            <a:r>
              <a:rPr lang="en-US" dirty="0"/>
              <a:t/>
            </a:r>
            <a:br>
              <a:rPr lang="en-US" dirty="0"/>
            </a:br>
            <a:r>
              <a:rPr lang="en-US" dirty="0"/>
              <a:t>Measured in </a:t>
            </a:r>
            <a:r>
              <a:rPr lang="en-US" b="1" dirty="0"/>
              <a:t>milliseconds (</a:t>
            </a:r>
            <a:r>
              <a:rPr lang="en-US" b="1" dirty="0" err="1"/>
              <a:t>ms</a:t>
            </a:r>
            <a:r>
              <a:rPr lang="en-US" b="1" dirty="0"/>
              <a:t>)</a:t>
            </a:r>
            <a:r>
              <a:rPr lang="en-US" dirty="0"/>
              <a:t>.</a:t>
            </a:r>
          </a:p>
          <a:p>
            <a:r>
              <a:rPr lang="en-US" b="1" dirty="0"/>
              <a:t>Example:</a:t>
            </a:r>
            <a:r>
              <a:rPr lang="en-US" dirty="0"/>
              <a:t/>
            </a:r>
            <a:br>
              <a:rPr lang="en-US" dirty="0"/>
            </a:br>
            <a:r>
              <a:rPr lang="en-US" dirty="0"/>
              <a:t>If packets are supposed to arrive every 10 </a:t>
            </a:r>
            <a:r>
              <a:rPr lang="en-US" dirty="0" err="1"/>
              <a:t>ms</a:t>
            </a:r>
            <a:r>
              <a:rPr lang="en-US" dirty="0"/>
              <a:t>, but some arrive at 8 </a:t>
            </a:r>
            <a:r>
              <a:rPr lang="en-US" dirty="0" err="1"/>
              <a:t>ms</a:t>
            </a:r>
            <a:r>
              <a:rPr lang="en-US" dirty="0"/>
              <a:t> or 15 </a:t>
            </a:r>
            <a:r>
              <a:rPr lang="en-US" dirty="0" err="1"/>
              <a:t>ms</a:t>
            </a:r>
            <a:r>
              <a:rPr lang="en-US" dirty="0"/>
              <a:t>, that variation is jitter.</a:t>
            </a:r>
          </a:p>
          <a:p>
            <a:r>
              <a:rPr lang="en-US" b="1" dirty="0"/>
              <a:t>Effect:</a:t>
            </a:r>
            <a:r>
              <a:rPr lang="en-US" dirty="0"/>
              <a:t/>
            </a:r>
            <a:br>
              <a:rPr lang="en-US" dirty="0"/>
            </a:br>
            <a:r>
              <a:rPr lang="en-US" dirty="0"/>
              <a:t>High jitter can cause problems in </a:t>
            </a:r>
            <a:r>
              <a:rPr lang="en-US" b="1" dirty="0"/>
              <a:t>real-time applications</a:t>
            </a:r>
            <a:r>
              <a:rPr lang="en-US" dirty="0"/>
              <a:t> like video calls, VoIP, or online gaming — leading to lag or choppy audio/video.</a:t>
            </a:r>
          </a:p>
          <a:p>
            <a:r>
              <a:rPr lang="en-US" b="1" dirty="0"/>
              <a:t>Analogy:</a:t>
            </a:r>
            <a:r>
              <a:rPr lang="en-US" dirty="0"/>
              <a:t/>
            </a:r>
            <a:br>
              <a:rPr lang="en-US" dirty="0"/>
            </a:br>
            <a:r>
              <a:rPr lang="en-US" dirty="0"/>
              <a:t>If you’re getting on a bus that’s supposed to come every 10 minutes, but it sometimes comes after 5 minutes or 15 minutes — that’s like network jitter.</a:t>
            </a:r>
          </a:p>
          <a:p>
            <a:endParaRPr lang="en-US" dirty="0"/>
          </a:p>
        </p:txBody>
      </p:sp>
    </p:spTree>
    <p:extLst>
      <p:ext uri="{BB962C8B-B14F-4D97-AF65-F5344CB8AC3E}">
        <p14:creationId xmlns:p14="http://schemas.microsoft.com/office/powerpoint/2010/main" val="373244811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4267" y="716437"/>
            <a:ext cx="11943761" cy="5674935"/>
          </a:xfrm>
          <a:prstGeom prst="rect">
            <a:avLst/>
          </a:prstGeom>
        </p:spPr>
      </p:pic>
    </p:spTree>
    <p:extLst>
      <p:ext uri="{BB962C8B-B14F-4D97-AF65-F5344CB8AC3E}">
        <p14:creationId xmlns:p14="http://schemas.microsoft.com/office/powerpoint/2010/main" val="259009540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3B246C-40FF-39B9-DD13-26D8CF8169F0}"/>
              </a:ext>
            </a:extLst>
          </p:cNvPr>
          <p:cNvSpPr>
            <a:spLocks noGrp="1"/>
          </p:cNvSpPr>
          <p:nvPr>
            <p:ph idx="1"/>
          </p:nvPr>
        </p:nvSpPr>
        <p:spPr>
          <a:xfrm>
            <a:off x="115503" y="0"/>
            <a:ext cx="12076497" cy="6740165"/>
          </a:xfrm>
        </p:spPr>
        <p:txBody>
          <a:bodyPr/>
          <a:lstStyle/>
          <a:p>
            <a:pPr marL="0" indent="0">
              <a:buNone/>
            </a:pPr>
            <a:r>
              <a:rPr lang="en-US" sz="3600" b="1" dirty="0"/>
              <a:t>Transmission impairment</a:t>
            </a:r>
          </a:p>
          <a:p>
            <a:r>
              <a:rPr lang="en-US" dirty="0" smtClean="0"/>
              <a:t>Transmission </a:t>
            </a:r>
            <a:r>
              <a:rPr lang="en-US" dirty="0"/>
              <a:t>impairment occurs when the received signal is different from the transmitted signal. </a:t>
            </a:r>
          </a:p>
          <a:p>
            <a:endParaRPr lang="en-US" dirty="0"/>
          </a:p>
          <a:p>
            <a:r>
              <a:rPr lang="en-US" dirty="0"/>
              <a:t>As we know, a signal can be transmitted as Analog signal or it can be transmitted as a digital signal.</a:t>
            </a:r>
          </a:p>
          <a:p>
            <a:endParaRPr lang="en-US" dirty="0"/>
          </a:p>
          <a:p>
            <a:r>
              <a:rPr lang="en-US" b="1" dirty="0"/>
              <a:t>There are various causes of transmission impairments −</a:t>
            </a:r>
          </a:p>
          <a:p>
            <a:pPr>
              <a:buFont typeface="Arial" panose="020B0604020202020204" pitchFamily="34" charset="0"/>
              <a:buChar char="•"/>
            </a:pPr>
            <a:r>
              <a:rPr lang="en-US" dirty="0"/>
              <a:t>Noise</a:t>
            </a:r>
          </a:p>
          <a:p>
            <a:pPr>
              <a:buFont typeface="Arial" panose="020B0604020202020204" pitchFamily="34" charset="0"/>
              <a:buChar char="•"/>
            </a:pPr>
            <a:r>
              <a:rPr lang="en-US" dirty="0"/>
              <a:t>Distortion</a:t>
            </a:r>
          </a:p>
          <a:p>
            <a:pPr>
              <a:buFont typeface="Arial" panose="020B0604020202020204" pitchFamily="34" charset="0"/>
              <a:buChar char="•"/>
            </a:pPr>
            <a:r>
              <a:rPr lang="en-US" dirty="0"/>
              <a:t>Attenuation</a:t>
            </a:r>
          </a:p>
          <a:p>
            <a:endParaRPr lang="en-US" dirty="0"/>
          </a:p>
        </p:txBody>
      </p:sp>
    </p:spTree>
    <p:extLst>
      <p:ext uri="{BB962C8B-B14F-4D97-AF65-F5344CB8AC3E}">
        <p14:creationId xmlns:p14="http://schemas.microsoft.com/office/powerpoint/2010/main" val="381921512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524A41-91B0-20AE-D6E8-CFE7360CEBCB}"/>
              </a:ext>
            </a:extLst>
          </p:cNvPr>
          <p:cNvSpPr>
            <a:spLocks noGrp="1"/>
          </p:cNvSpPr>
          <p:nvPr>
            <p:ph idx="1"/>
          </p:nvPr>
        </p:nvSpPr>
        <p:spPr>
          <a:xfrm>
            <a:off x="0" y="0"/>
            <a:ext cx="12192000" cy="6858000"/>
          </a:xfrm>
        </p:spPr>
        <p:txBody>
          <a:bodyPr/>
          <a:lstStyle/>
          <a:p>
            <a:pPr marL="0" indent="0">
              <a:buNone/>
            </a:pPr>
            <a:r>
              <a:rPr lang="en-US" b="1" dirty="0"/>
              <a:t>N</a:t>
            </a:r>
            <a:r>
              <a:rPr lang="en-US" b="1" dirty="0" smtClean="0"/>
              <a:t>oise</a:t>
            </a:r>
            <a:endParaRPr lang="en-US" b="1" dirty="0"/>
          </a:p>
          <a:p>
            <a:r>
              <a:rPr lang="en-US" dirty="0"/>
              <a:t>Noise is the major factor for the transmission distortion as any unwanted signal gets added to the transmitted signal by which the resulting transmitted signal gets modified and at the receiver side it is difficult to remove the unwanted noise signal. </a:t>
            </a:r>
          </a:p>
          <a:p>
            <a:r>
              <a:rPr lang="en-US" dirty="0"/>
              <a:t>These noises are various kinds like shot noise, impulse noise, thermal noise etc.</a:t>
            </a:r>
          </a:p>
          <a:p>
            <a:r>
              <a:rPr lang="en-US" dirty="0"/>
              <a:t>Noise is diagrammatically represented as follows −</a:t>
            </a:r>
          </a:p>
          <a:p>
            <a:endParaRPr lang="en-US" dirty="0"/>
          </a:p>
          <a:p>
            <a:endParaRPr lang="en-US" dirty="0"/>
          </a:p>
        </p:txBody>
      </p:sp>
      <p:pic>
        <p:nvPicPr>
          <p:cNvPr id="5" name="Picture 4">
            <a:extLst>
              <a:ext uri="{FF2B5EF4-FFF2-40B4-BE49-F238E27FC236}">
                <a16:creationId xmlns:a16="http://schemas.microsoft.com/office/drawing/2014/main" id="{F00923E4-D656-92ED-A438-A9C993BD0F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5625" y="3580598"/>
            <a:ext cx="6000750" cy="2520766"/>
          </a:xfrm>
          <a:prstGeom prst="rect">
            <a:avLst/>
          </a:prstGeom>
        </p:spPr>
      </p:pic>
    </p:spTree>
    <p:extLst>
      <p:ext uri="{BB962C8B-B14F-4D97-AF65-F5344CB8AC3E}">
        <p14:creationId xmlns:p14="http://schemas.microsoft.com/office/powerpoint/2010/main" val="404259188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E5D8AC-8103-6D8E-2FA6-4E5E99692454}"/>
              </a:ext>
            </a:extLst>
          </p:cNvPr>
          <p:cNvSpPr>
            <a:spLocks noGrp="1"/>
          </p:cNvSpPr>
          <p:nvPr>
            <p:ph idx="1"/>
          </p:nvPr>
        </p:nvSpPr>
        <p:spPr>
          <a:xfrm>
            <a:off x="0" y="0"/>
            <a:ext cx="12192000" cy="7998594"/>
          </a:xfrm>
        </p:spPr>
        <p:txBody>
          <a:bodyPr>
            <a:normAutofit/>
          </a:bodyPr>
          <a:lstStyle/>
          <a:p>
            <a:pPr marL="0" indent="0">
              <a:buNone/>
            </a:pPr>
            <a:r>
              <a:rPr lang="en-US" b="1" dirty="0"/>
              <a:t>Distortion</a:t>
            </a:r>
          </a:p>
          <a:p>
            <a:r>
              <a:rPr lang="en-US" dirty="0"/>
              <a:t>This kind of distortion is mainly appearing in case of composite signals in which a composite signal has various frequency components in it and each frequency component has some time constraint which makes a complete signal.</a:t>
            </a:r>
          </a:p>
          <a:p>
            <a:endParaRPr lang="en-US" dirty="0"/>
          </a:p>
          <a:p>
            <a:r>
              <a:rPr lang="en-US" dirty="0"/>
              <a:t>But while transmitting this composite signal, if a certain delay happens between the frequencies components, then there may be the chance that the frequency component will reach the receiver end with a different delay constraint from its original which leads to the change in shape of the signal. </a:t>
            </a:r>
          </a:p>
          <a:p>
            <a:endParaRPr lang="en-US" dirty="0"/>
          </a:p>
          <a:p>
            <a:r>
              <a:rPr lang="en-US" dirty="0"/>
              <a:t>The delay happens due to environmental parameters or from the distance between transmitter and receiver etc.</a:t>
            </a:r>
          </a:p>
          <a:p>
            <a:endParaRPr lang="en-US" dirty="0"/>
          </a:p>
          <a:p>
            <a:r>
              <a:rPr lang="en-US" dirty="0"/>
              <a:t>Distortion is diagrammatically represented as follows −</a:t>
            </a:r>
          </a:p>
          <a:p>
            <a:endParaRPr lang="en-US" dirty="0"/>
          </a:p>
        </p:txBody>
      </p:sp>
    </p:spTree>
    <p:extLst>
      <p:ext uri="{BB962C8B-B14F-4D97-AF65-F5344CB8AC3E}">
        <p14:creationId xmlns:p14="http://schemas.microsoft.com/office/powerpoint/2010/main" val="301583681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004DA4A-F8C7-4ED7-1A36-20249AE133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5782" y="1315143"/>
            <a:ext cx="8864866" cy="3524250"/>
          </a:xfrm>
        </p:spPr>
      </p:pic>
    </p:spTree>
    <p:extLst>
      <p:ext uri="{BB962C8B-B14F-4D97-AF65-F5344CB8AC3E}">
        <p14:creationId xmlns:p14="http://schemas.microsoft.com/office/powerpoint/2010/main" val="208449303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7903CE-B5C9-A672-226E-604F8C2511F6}"/>
              </a:ext>
            </a:extLst>
          </p:cNvPr>
          <p:cNvSpPr>
            <a:spLocks noGrp="1"/>
          </p:cNvSpPr>
          <p:nvPr>
            <p:ph idx="1"/>
          </p:nvPr>
        </p:nvSpPr>
        <p:spPr>
          <a:xfrm>
            <a:off x="0" y="0"/>
            <a:ext cx="12118206" cy="6858000"/>
          </a:xfrm>
        </p:spPr>
        <p:txBody>
          <a:bodyPr/>
          <a:lstStyle/>
          <a:p>
            <a:pPr marL="0" indent="0">
              <a:buNone/>
            </a:pPr>
            <a:r>
              <a:rPr lang="en-US" b="1" dirty="0" smtClean="0"/>
              <a:t>3.attenuation</a:t>
            </a:r>
            <a:endParaRPr lang="en-US" b="1" dirty="0"/>
          </a:p>
          <a:p>
            <a:endParaRPr lang="en-US" b="1" dirty="0"/>
          </a:p>
          <a:p>
            <a:r>
              <a:rPr lang="en-US" dirty="0"/>
              <a:t>Attenuation is a general term that refers to any reduction in the strength of a signal.</a:t>
            </a:r>
          </a:p>
          <a:p>
            <a:endParaRPr lang="en-US" dirty="0"/>
          </a:p>
          <a:p>
            <a:r>
              <a:rPr lang="en-US" dirty="0"/>
              <a:t> Attenuation occurs with any type of signal, whether digital or analog. Sometimes called </a:t>
            </a:r>
            <a:r>
              <a:rPr lang="en-US" i="1" dirty="0"/>
              <a:t>loss</a:t>
            </a:r>
            <a:r>
              <a:rPr lang="en-US" dirty="0"/>
              <a:t>, attenuation is a natural consequence of signal transmission over long distances.</a:t>
            </a:r>
          </a:p>
          <a:p>
            <a:endParaRPr lang="en-US" dirty="0"/>
          </a:p>
        </p:txBody>
      </p:sp>
    </p:spTree>
    <p:extLst>
      <p:ext uri="{BB962C8B-B14F-4D97-AF65-F5344CB8AC3E}">
        <p14:creationId xmlns:p14="http://schemas.microsoft.com/office/powerpoint/2010/main" val="60059745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0"/>
            <a:ext cx="12113443" cy="6787299"/>
          </a:xfrm>
        </p:spPr>
        <p:txBody>
          <a:bodyPr/>
          <a:lstStyle/>
          <a:p>
            <a:r>
              <a:rPr lang="en-US" b="1" dirty="0"/>
              <a:t>Digital Transmission Techniques</a:t>
            </a:r>
          </a:p>
          <a:p>
            <a:r>
              <a:rPr lang="en-US" dirty="0"/>
              <a:t>Digital transmission refers to sending </a:t>
            </a:r>
            <a:r>
              <a:rPr lang="en-US" b="1" dirty="0"/>
              <a:t>digital signals (0s and 1s)</a:t>
            </a:r>
            <a:r>
              <a:rPr lang="en-US" dirty="0"/>
              <a:t> over a communication medium (wire, fiber, wireless</a:t>
            </a:r>
            <a:r>
              <a:rPr lang="en-US" dirty="0" smtClean="0"/>
              <a:t>).</a:t>
            </a:r>
          </a:p>
          <a:p>
            <a:endParaRPr lang="en-US" dirty="0" smtClean="0"/>
          </a:p>
          <a:p>
            <a:r>
              <a:rPr lang="en-US" dirty="0" smtClean="0"/>
              <a:t> </a:t>
            </a:r>
            <a:r>
              <a:rPr lang="en-US" dirty="0"/>
              <a:t>To send digital data efficiently and correctly, several techniques are used</a:t>
            </a:r>
            <a:r>
              <a:rPr lang="en-US" dirty="0" smtClean="0"/>
              <a:t>.</a:t>
            </a:r>
          </a:p>
          <a:p>
            <a:endParaRPr lang="en-US" dirty="0"/>
          </a:p>
          <a:p>
            <a:r>
              <a:rPr lang="en-US" dirty="0"/>
              <a:t>Digital transmission techniques are mainly divided into:</a:t>
            </a:r>
          </a:p>
          <a:p>
            <a:endParaRPr lang="en-US" dirty="0"/>
          </a:p>
        </p:txBody>
      </p:sp>
    </p:spTree>
    <p:extLst>
      <p:ext uri="{BB962C8B-B14F-4D97-AF65-F5344CB8AC3E}">
        <p14:creationId xmlns:p14="http://schemas.microsoft.com/office/powerpoint/2010/main" val="415603113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77500" lnSpcReduction="20000"/>
          </a:bodyPr>
          <a:lstStyle/>
          <a:p>
            <a:pPr marL="0" indent="0">
              <a:buNone/>
            </a:pPr>
            <a:r>
              <a:rPr lang="en-US" b="1" dirty="0"/>
              <a:t>1. Line Coding</a:t>
            </a:r>
          </a:p>
          <a:p>
            <a:r>
              <a:rPr lang="en-US" dirty="0"/>
              <a:t>Line coding means </a:t>
            </a:r>
            <a:r>
              <a:rPr lang="en-US" b="1" dirty="0"/>
              <a:t>converting digital data (bits)</a:t>
            </a:r>
            <a:r>
              <a:rPr lang="en-US" dirty="0"/>
              <a:t> into a </a:t>
            </a:r>
            <a:r>
              <a:rPr lang="en-US" b="1" dirty="0"/>
              <a:t>digital signal</a:t>
            </a:r>
            <a:r>
              <a:rPr lang="en-US" dirty="0"/>
              <a:t> that can be sent over a channel.</a:t>
            </a:r>
          </a:p>
          <a:p>
            <a:r>
              <a:rPr lang="en-US" b="1" dirty="0"/>
              <a:t>Common Line Coding Schemes:</a:t>
            </a:r>
          </a:p>
          <a:p>
            <a:pPr marL="0" indent="0">
              <a:buNone/>
            </a:pPr>
            <a:r>
              <a:rPr lang="en-US" b="1" dirty="0"/>
              <a:t>a) Unipolar NRZ</a:t>
            </a:r>
          </a:p>
          <a:p>
            <a:r>
              <a:rPr lang="en-US" dirty="0"/>
              <a:t>1 = positive voltage</a:t>
            </a:r>
          </a:p>
          <a:p>
            <a:r>
              <a:rPr lang="en-US" dirty="0"/>
              <a:t>0 = zero voltage</a:t>
            </a:r>
          </a:p>
          <a:p>
            <a:r>
              <a:rPr lang="en-US" dirty="0"/>
              <a:t>Simple but has DC component.</a:t>
            </a:r>
          </a:p>
          <a:p>
            <a:pPr marL="0" indent="0">
              <a:buNone/>
            </a:pPr>
            <a:r>
              <a:rPr lang="en-US" b="1" dirty="0"/>
              <a:t>b) Polar NRZ</a:t>
            </a:r>
          </a:p>
          <a:p>
            <a:r>
              <a:rPr lang="en-US" dirty="0"/>
              <a:t>1 = positive voltage</a:t>
            </a:r>
          </a:p>
          <a:p>
            <a:r>
              <a:rPr lang="en-US" dirty="0"/>
              <a:t>0 = negative voltage</a:t>
            </a:r>
          </a:p>
          <a:p>
            <a:r>
              <a:rPr lang="en-US" dirty="0"/>
              <a:t>Better than unipolar.</a:t>
            </a:r>
          </a:p>
          <a:p>
            <a:pPr marL="0" indent="0">
              <a:buNone/>
            </a:pPr>
            <a:r>
              <a:rPr lang="en-US" b="1" dirty="0"/>
              <a:t>c) Manchester Coding</a:t>
            </a:r>
          </a:p>
          <a:p>
            <a:r>
              <a:rPr lang="en-US" dirty="0"/>
              <a:t>Each bit has a transition in the middle.</a:t>
            </a:r>
          </a:p>
          <a:p>
            <a:r>
              <a:rPr lang="en-US" dirty="0"/>
              <a:t>1 = high → low</a:t>
            </a:r>
          </a:p>
          <a:p>
            <a:r>
              <a:rPr lang="en-US" dirty="0"/>
              <a:t>0 = low → high</a:t>
            </a:r>
          </a:p>
          <a:p>
            <a:r>
              <a:rPr lang="en-US" b="1" dirty="0"/>
              <a:t>Self-clocking</a:t>
            </a:r>
            <a:r>
              <a:rPr lang="en-US" dirty="0"/>
              <a:t>, easy to decode.</a:t>
            </a:r>
          </a:p>
          <a:p>
            <a:pPr marL="0" indent="0">
              <a:buNone/>
            </a:pPr>
            <a:r>
              <a:rPr lang="en-US" b="1" dirty="0"/>
              <a:t>d) Differential Manchester</a:t>
            </a:r>
          </a:p>
          <a:p>
            <a:r>
              <a:rPr lang="en-US" dirty="0"/>
              <a:t>Always a mid-bit transition.</a:t>
            </a:r>
          </a:p>
          <a:p>
            <a:r>
              <a:rPr lang="en-US" dirty="0"/>
              <a:t>Difference of start transition determines 0 or 1.</a:t>
            </a:r>
          </a:p>
          <a:p>
            <a:endParaRPr lang="en-US" dirty="0"/>
          </a:p>
        </p:txBody>
      </p:sp>
    </p:spTree>
    <p:extLst>
      <p:ext uri="{BB962C8B-B14F-4D97-AF65-F5344CB8AC3E}">
        <p14:creationId xmlns:p14="http://schemas.microsoft.com/office/powerpoint/2010/main" val="50941588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04016" cy="6858000"/>
          </a:xfrm>
        </p:spPr>
        <p:txBody>
          <a:bodyPr/>
          <a:lstStyle/>
          <a:p>
            <a:pPr marL="0" indent="0">
              <a:buNone/>
            </a:pPr>
            <a:r>
              <a:rPr lang="en-US" b="1" dirty="0"/>
              <a:t>2. Block Coding</a:t>
            </a:r>
          </a:p>
          <a:p>
            <a:r>
              <a:rPr lang="en-US" dirty="0"/>
              <a:t>Block coding adds </a:t>
            </a:r>
            <a:r>
              <a:rPr lang="en-US" b="1" dirty="0"/>
              <a:t>redundancy</a:t>
            </a:r>
            <a:r>
              <a:rPr lang="en-US" dirty="0"/>
              <a:t> to detect errors.</a:t>
            </a:r>
          </a:p>
          <a:p>
            <a:r>
              <a:rPr lang="en-US" dirty="0"/>
              <a:t>Example: </a:t>
            </a:r>
            <a:r>
              <a:rPr lang="en-US" b="1" dirty="0"/>
              <a:t>4B/5B coding</a:t>
            </a:r>
            <a:endParaRPr lang="en-US" dirty="0"/>
          </a:p>
          <a:p>
            <a:r>
              <a:rPr lang="en-US" dirty="0"/>
              <a:t>4 data bits → 5-bit code</a:t>
            </a:r>
          </a:p>
          <a:p>
            <a:r>
              <a:rPr lang="en-US" dirty="0"/>
              <a:t>Ensures enough transitions for synchronization.</a:t>
            </a:r>
          </a:p>
          <a:p>
            <a:endParaRPr lang="en-US" dirty="0"/>
          </a:p>
        </p:txBody>
      </p:sp>
    </p:spTree>
    <p:extLst>
      <p:ext uri="{BB962C8B-B14F-4D97-AF65-F5344CB8AC3E}">
        <p14:creationId xmlns:p14="http://schemas.microsoft.com/office/powerpoint/2010/main" val="40036490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0"/>
            <a:ext cx="12113443" cy="6858000"/>
          </a:xfrm>
        </p:spPr>
        <p:txBody>
          <a:bodyPr/>
          <a:lstStyle/>
          <a:p>
            <a:pPr marL="0" indent="0">
              <a:buNone/>
            </a:pPr>
            <a:r>
              <a:rPr lang="en-US" b="1" dirty="0"/>
              <a:t>3. Scrambling</a:t>
            </a:r>
          </a:p>
          <a:p>
            <a:r>
              <a:rPr lang="en-US" dirty="0"/>
              <a:t>Scrambling eliminates long sequences of 0s or 1s so that clock recovery becomes easier.</a:t>
            </a:r>
          </a:p>
          <a:p>
            <a:r>
              <a:rPr lang="en-US" dirty="0"/>
              <a:t>Examples:</a:t>
            </a:r>
          </a:p>
          <a:p>
            <a:r>
              <a:rPr lang="en-US" b="1" dirty="0"/>
              <a:t>B8ZS (Bipolar 8-Zero Substitution)</a:t>
            </a:r>
            <a:endParaRPr lang="en-US" dirty="0"/>
          </a:p>
          <a:p>
            <a:r>
              <a:rPr lang="en-US" b="1" dirty="0"/>
              <a:t>HDB3 (High-Density Bipolar 3)</a:t>
            </a:r>
            <a:endParaRPr lang="en-US" dirty="0"/>
          </a:p>
          <a:p>
            <a:r>
              <a:rPr lang="en-US" dirty="0"/>
              <a:t>Used in telephone networks.</a:t>
            </a:r>
          </a:p>
          <a:p>
            <a:endParaRPr lang="en-US" dirty="0"/>
          </a:p>
        </p:txBody>
      </p:sp>
    </p:spTree>
    <p:extLst>
      <p:ext uri="{BB962C8B-B14F-4D97-AF65-F5344CB8AC3E}">
        <p14:creationId xmlns:p14="http://schemas.microsoft.com/office/powerpoint/2010/main" val="166992202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62500" lnSpcReduction="20000"/>
          </a:bodyPr>
          <a:lstStyle/>
          <a:p>
            <a:pPr marL="0" indent="0">
              <a:buNone/>
            </a:pPr>
            <a:r>
              <a:rPr lang="en-US" b="1" dirty="0"/>
              <a:t>4. Digital Modulation Techniques</a:t>
            </a:r>
          </a:p>
          <a:p>
            <a:r>
              <a:rPr lang="en-US" dirty="0"/>
              <a:t>Used to send digital data </a:t>
            </a:r>
            <a:r>
              <a:rPr lang="en-US" b="1" dirty="0"/>
              <a:t>over analog channels</a:t>
            </a:r>
            <a:r>
              <a:rPr lang="en-US" dirty="0"/>
              <a:t> (like radio, telephone lines).</a:t>
            </a:r>
          </a:p>
          <a:p>
            <a:r>
              <a:rPr lang="en-US" dirty="0"/>
              <a:t>There are 3 main categories:</a:t>
            </a:r>
          </a:p>
          <a:p>
            <a:pPr marL="0" indent="0">
              <a:buNone/>
            </a:pPr>
            <a:r>
              <a:rPr lang="en-US" b="1" dirty="0"/>
              <a:t>a) ASK (Amplitude Shift Keying)</a:t>
            </a:r>
          </a:p>
          <a:p>
            <a:r>
              <a:rPr lang="en-US" dirty="0"/>
              <a:t>Amplitude changes with bit.</a:t>
            </a:r>
          </a:p>
          <a:p>
            <a:r>
              <a:rPr lang="en-US" dirty="0"/>
              <a:t>1 = high amplitude</a:t>
            </a:r>
          </a:p>
          <a:p>
            <a:r>
              <a:rPr lang="en-US" dirty="0"/>
              <a:t>0 = low amplitude</a:t>
            </a:r>
          </a:p>
          <a:p>
            <a:pPr marL="0" indent="0">
              <a:buNone/>
            </a:pPr>
            <a:r>
              <a:rPr lang="en-US" b="1" dirty="0"/>
              <a:t>b) FSK (Frequency Shift Keying)</a:t>
            </a:r>
          </a:p>
          <a:p>
            <a:r>
              <a:rPr lang="en-US" dirty="0"/>
              <a:t>Frequency changes.</a:t>
            </a:r>
          </a:p>
          <a:p>
            <a:r>
              <a:rPr lang="en-US" dirty="0"/>
              <a:t>1 = high frequency</a:t>
            </a:r>
          </a:p>
          <a:p>
            <a:r>
              <a:rPr lang="en-US" dirty="0"/>
              <a:t>0 = low frequency</a:t>
            </a:r>
          </a:p>
          <a:p>
            <a:pPr marL="0" indent="0">
              <a:buNone/>
            </a:pPr>
            <a:r>
              <a:rPr lang="en-US" b="1" dirty="0"/>
              <a:t>c) PSK (Phase Shift Keying)</a:t>
            </a:r>
          </a:p>
          <a:p>
            <a:r>
              <a:rPr lang="en-US" dirty="0"/>
              <a:t>Phase changes.</a:t>
            </a:r>
          </a:p>
          <a:p>
            <a:r>
              <a:rPr lang="en-US" dirty="0"/>
              <a:t>Most reliable for modern systems.</a:t>
            </a:r>
          </a:p>
          <a:p>
            <a:r>
              <a:rPr lang="en-US" dirty="0"/>
              <a:t>Variants:</a:t>
            </a:r>
          </a:p>
          <a:p>
            <a:pPr lvl="1"/>
            <a:r>
              <a:rPr lang="en-US" b="1" dirty="0"/>
              <a:t>BPSK</a:t>
            </a:r>
            <a:r>
              <a:rPr lang="en-US" dirty="0"/>
              <a:t> (1 bit per symbol)</a:t>
            </a:r>
          </a:p>
          <a:p>
            <a:pPr lvl="1"/>
            <a:r>
              <a:rPr lang="en-US" b="1" dirty="0"/>
              <a:t>QPSK</a:t>
            </a:r>
            <a:r>
              <a:rPr lang="en-US" dirty="0"/>
              <a:t> (2 bits per symbol)</a:t>
            </a:r>
          </a:p>
          <a:p>
            <a:pPr lvl="1"/>
            <a:r>
              <a:rPr lang="en-US" b="1" dirty="0"/>
              <a:t>8-PSK</a:t>
            </a:r>
            <a:r>
              <a:rPr lang="en-US" dirty="0"/>
              <a:t>, </a:t>
            </a:r>
            <a:r>
              <a:rPr lang="en-US" b="1" dirty="0"/>
              <a:t>16-PSK</a:t>
            </a:r>
            <a:endParaRPr lang="en-US" dirty="0"/>
          </a:p>
          <a:p>
            <a:pPr marL="0" indent="0">
              <a:buNone/>
            </a:pPr>
            <a:r>
              <a:rPr lang="en-US" b="1" dirty="0"/>
              <a:t>d) QAM (Quadrature Amplitude Modulation)</a:t>
            </a:r>
          </a:p>
          <a:p>
            <a:r>
              <a:rPr lang="en-US" dirty="0"/>
              <a:t>Combines amplitude + phase.</a:t>
            </a:r>
          </a:p>
          <a:p>
            <a:r>
              <a:rPr lang="en-US" dirty="0"/>
              <a:t>Used in </a:t>
            </a:r>
            <a:r>
              <a:rPr lang="en-US" dirty="0" err="1"/>
              <a:t>WiFi</a:t>
            </a:r>
            <a:r>
              <a:rPr lang="en-US" dirty="0"/>
              <a:t>, 4G/5G, cable TV.</a:t>
            </a:r>
          </a:p>
          <a:p>
            <a:r>
              <a:rPr lang="en-US" dirty="0"/>
              <a:t>Examples: 16-QAM, 64-QAM, 256-QAM.</a:t>
            </a:r>
          </a:p>
          <a:p>
            <a:endParaRPr lang="en-US" dirty="0"/>
          </a:p>
        </p:txBody>
      </p:sp>
    </p:spTree>
    <p:extLst>
      <p:ext uri="{BB962C8B-B14F-4D97-AF65-F5344CB8AC3E}">
        <p14:creationId xmlns:p14="http://schemas.microsoft.com/office/powerpoint/2010/main" val="208322825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0"/>
            <a:ext cx="12192001" cy="6858000"/>
          </a:xfrm>
        </p:spPr>
        <p:txBody>
          <a:bodyPr/>
          <a:lstStyle/>
          <a:p>
            <a:r>
              <a:rPr lang="en-US" b="1" dirty="0"/>
              <a:t>5. Pulse Shaping</a:t>
            </a:r>
          </a:p>
          <a:p>
            <a:r>
              <a:rPr lang="en-US" dirty="0"/>
              <a:t>Used to reduce </a:t>
            </a:r>
            <a:r>
              <a:rPr lang="en-US" dirty="0" err="1"/>
              <a:t>intersymbol</a:t>
            </a:r>
            <a:r>
              <a:rPr lang="en-US" dirty="0"/>
              <a:t> interference.</a:t>
            </a:r>
          </a:p>
          <a:p>
            <a:r>
              <a:rPr lang="en-US" dirty="0"/>
              <a:t>Examples:</a:t>
            </a:r>
          </a:p>
          <a:p>
            <a:r>
              <a:rPr lang="en-US" b="1" dirty="0"/>
              <a:t>NRZ pulses</a:t>
            </a:r>
            <a:endParaRPr lang="en-US" dirty="0"/>
          </a:p>
          <a:p>
            <a:r>
              <a:rPr lang="en-US" b="1" dirty="0"/>
              <a:t>RZ pulses</a:t>
            </a:r>
            <a:endParaRPr lang="en-US" dirty="0"/>
          </a:p>
          <a:p>
            <a:r>
              <a:rPr lang="en-US" b="1" dirty="0"/>
              <a:t>Raised Cosine Filter</a:t>
            </a:r>
            <a:endParaRPr lang="en-US" dirty="0"/>
          </a:p>
          <a:p>
            <a:endParaRPr lang="en-US" dirty="0"/>
          </a:p>
        </p:txBody>
      </p:sp>
    </p:spTree>
    <p:extLst>
      <p:ext uri="{BB962C8B-B14F-4D97-AF65-F5344CB8AC3E}">
        <p14:creationId xmlns:p14="http://schemas.microsoft.com/office/powerpoint/2010/main" val="331831566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marL="0" indent="0">
              <a:buNone/>
            </a:pPr>
            <a:r>
              <a:rPr lang="en-US" b="1" dirty="0"/>
              <a:t>6. Multiplexing</a:t>
            </a:r>
          </a:p>
          <a:p>
            <a:r>
              <a:rPr lang="en-US" dirty="0"/>
              <a:t>Used to transmit multiple signals over a single channel.</a:t>
            </a:r>
          </a:p>
          <a:p>
            <a:r>
              <a:rPr lang="en-US" dirty="0"/>
              <a:t>Types:</a:t>
            </a:r>
          </a:p>
          <a:p>
            <a:r>
              <a:rPr lang="en-US" b="1" dirty="0"/>
              <a:t>TDM (Time Division Multiplexing)</a:t>
            </a:r>
            <a:endParaRPr lang="en-US" dirty="0"/>
          </a:p>
          <a:p>
            <a:r>
              <a:rPr lang="en-US" b="1" dirty="0"/>
              <a:t>FDM (Frequency Division Multiplexing)</a:t>
            </a:r>
            <a:endParaRPr lang="en-US" dirty="0"/>
          </a:p>
          <a:p>
            <a:r>
              <a:rPr lang="en-US" b="1" dirty="0"/>
              <a:t>CDMA (Code Division Multiple Access)</a:t>
            </a:r>
            <a:endParaRPr lang="en-US" dirty="0"/>
          </a:p>
          <a:p>
            <a:endParaRPr lang="en-US" dirty="0"/>
          </a:p>
        </p:txBody>
      </p:sp>
    </p:spTree>
    <p:extLst>
      <p:ext uri="{BB962C8B-B14F-4D97-AF65-F5344CB8AC3E}">
        <p14:creationId xmlns:p14="http://schemas.microsoft.com/office/powerpoint/2010/main" val="38935263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564</TotalTime>
  <Words>3005</Words>
  <Application>Microsoft Office PowerPoint</Application>
  <PresentationFormat>Widescreen</PresentationFormat>
  <Paragraphs>339</Paragraphs>
  <Slides>46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Calibri Light</vt:lpstr>
      <vt:lpstr>Times New Roman</vt:lpstr>
      <vt:lpstr>Office Theme</vt:lpstr>
      <vt:lpstr>Data Communications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dell</cp:lastModifiedBy>
  <cp:revision>40</cp:revision>
  <dcterms:created xsi:type="dcterms:W3CDTF">2023-04-19T15:56:34Z</dcterms:created>
  <dcterms:modified xsi:type="dcterms:W3CDTF">2025-11-14T04:48:41Z</dcterms:modified>
</cp:coreProperties>
</file>